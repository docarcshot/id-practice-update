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8406979b7a47e0" /><Relationship Type="http://schemas.openxmlformats.org/officeDocument/2006/relationships/extended-properties" Target="/docProps/app.xml" Id="R6015e7f334b24c54" /><Relationship Type="http://schemas.openxmlformats.org/officeDocument/2006/relationships/officeDocument" Target="/ppt/presentation.xml" Id="R200c8e011ac74c97" /></Relationships>
</file>

<file path=ppt/presentation.xml><?xml version="1.0" encoding="utf-8"?>
<p:presentation xmlns:p="http://schemas.openxmlformats.org/presentationml/2006/main">
  <p:sldMasterIdLst>
    <p:sldMasterId xmlns:r="http://schemas.openxmlformats.org/officeDocument/2006/relationships" id="2147483648" r:id="R997294ba04674283"/>
  </p:sldMasterIdLst>
  <p:notesMasterIdLst>
    <p:notesMasterId xmlns:r="http://schemas.openxmlformats.org/officeDocument/2006/relationships" r:id="R427990b9f8584094"/>
  </p:notesMasterIdLst>
  <p:sldIdLst>
    <p:sldId xmlns:r="http://schemas.openxmlformats.org/officeDocument/2006/relationships" id="256" r:id="Rf5859f34977e4a03"/>
    <p:sldId xmlns:r="http://schemas.openxmlformats.org/officeDocument/2006/relationships" id="257" r:id="R564192dd3157437e"/>
    <p:sldId xmlns:r="http://schemas.openxmlformats.org/officeDocument/2006/relationships" id="258" r:id="Rf9dd12f971df47da"/>
    <p:sldId xmlns:r="http://schemas.openxmlformats.org/officeDocument/2006/relationships" id="259" r:id="R69b09f7149af4d7b"/>
    <p:sldId xmlns:r="http://schemas.openxmlformats.org/officeDocument/2006/relationships" id="260" r:id="R1d0900f46dc14f8f"/>
    <p:sldId xmlns:r="http://schemas.openxmlformats.org/officeDocument/2006/relationships" id="261" r:id="Re00af23567934141"/>
    <p:sldId xmlns:r="http://schemas.openxmlformats.org/officeDocument/2006/relationships" id="262" r:id="Rc3ec09d235aa4e55"/>
    <p:sldId xmlns:r="http://schemas.openxmlformats.org/officeDocument/2006/relationships" id="263" r:id="R03e12810b7454df0"/>
    <p:sldId xmlns:r="http://schemas.openxmlformats.org/officeDocument/2006/relationships" id="264" r:id="R805a20a5e87941ec"/>
    <p:sldId xmlns:r="http://schemas.openxmlformats.org/officeDocument/2006/relationships" id="265" r:id="R4c93581c2a8344c5"/>
    <p:sldId xmlns:r="http://schemas.openxmlformats.org/officeDocument/2006/relationships" id="266" r:id="Rab74d3c241ad4612"/>
    <p:sldId xmlns:r="http://schemas.openxmlformats.org/officeDocument/2006/relationships" id="267" r:id="R6e293b0b3c9b4f39"/>
    <p:sldId xmlns:r="http://schemas.openxmlformats.org/officeDocument/2006/relationships" id="268" r:id="Rdc0cb00fbcc34402"/>
    <p:sldId xmlns:r="http://schemas.openxmlformats.org/officeDocument/2006/relationships" id="269" r:id="R2717fce373c14707"/>
    <p:sldId xmlns:r="http://schemas.openxmlformats.org/officeDocument/2006/relationships" id="270" r:id="Re7022e0ca7414fa0"/>
    <p:sldId xmlns:r="http://schemas.openxmlformats.org/officeDocument/2006/relationships" id="271" r:id="R6f47d07f8ec64e6c"/>
    <p:sldId xmlns:r="http://schemas.openxmlformats.org/officeDocument/2006/relationships" id="272" r:id="Rdb49c814c50a4ebf"/>
    <p:sldId xmlns:r="http://schemas.openxmlformats.org/officeDocument/2006/relationships" id="273" r:id="Rfbc12fa87b7a4b47"/>
    <p:sldId xmlns:r="http://schemas.openxmlformats.org/officeDocument/2006/relationships" id="274" r:id="Rbe507207cd664474"/>
    <p:sldId xmlns:r="http://schemas.openxmlformats.org/officeDocument/2006/relationships" id="275" r:id="Rb06708aad47a4cfa"/>
    <p:sldId xmlns:r="http://schemas.openxmlformats.org/officeDocument/2006/relationships" id="276" r:id="R093c010566184523"/>
    <p:sldId xmlns:r="http://schemas.openxmlformats.org/officeDocument/2006/relationships" id="277" r:id="R3ae0a09c60a44442"/>
    <p:sldId xmlns:r="http://schemas.openxmlformats.org/officeDocument/2006/relationships" id="278" r:id="Rea7d8fdd0fe74a64"/>
    <p:sldId xmlns:r="http://schemas.openxmlformats.org/officeDocument/2006/relationships" id="279" r:id="R9a951556f24946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9e1cffc2b040e9" /><Relationship Type="http://schemas.openxmlformats.org/officeDocument/2006/relationships/slideMaster" Target="/ppt/slideMasters/slideMaster1.xml" Id="R997294ba04674283" /><Relationship Type="http://schemas.openxmlformats.org/officeDocument/2006/relationships/notesMaster" Target="/ppt/notesMasters/notesMaster1.xml" Id="R427990b9f8584094" /><Relationship Type="http://schemas.openxmlformats.org/officeDocument/2006/relationships/presProps" Target="/ppt/presProps.xml" Id="R006ac3ac50f1454c" /><Relationship Type="http://schemas.openxmlformats.org/officeDocument/2006/relationships/tableStyles" Target="/ppt/tableStyles.xml" Id="R823a4e64d37540c8" /><Relationship Type="http://schemas.openxmlformats.org/officeDocument/2006/relationships/slide" Target="/ppt/slides/slide1.xml" Id="Rf5859f34977e4a03" /><Relationship Type="http://schemas.openxmlformats.org/officeDocument/2006/relationships/slide" Target="/ppt/slides/slide2.xml" Id="R564192dd3157437e" /><Relationship Type="http://schemas.openxmlformats.org/officeDocument/2006/relationships/slide" Target="/ppt/slides/slide3.xml" Id="Rf9dd12f971df47da" /><Relationship Type="http://schemas.openxmlformats.org/officeDocument/2006/relationships/slide" Target="/ppt/slides/slide4.xml" Id="R69b09f7149af4d7b" /><Relationship Type="http://schemas.openxmlformats.org/officeDocument/2006/relationships/slide" Target="/ppt/slides/slide5.xml" Id="R1d0900f46dc14f8f" /><Relationship Type="http://schemas.openxmlformats.org/officeDocument/2006/relationships/slide" Target="/ppt/slides/slide6.xml" Id="Re00af23567934141" /><Relationship Type="http://schemas.openxmlformats.org/officeDocument/2006/relationships/slide" Target="/ppt/slides/slide7.xml" Id="Rc3ec09d235aa4e55" /><Relationship Type="http://schemas.openxmlformats.org/officeDocument/2006/relationships/slide" Target="/ppt/slides/slide8.xml" Id="R03e12810b7454df0" /><Relationship Type="http://schemas.openxmlformats.org/officeDocument/2006/relationships/slide" Target="/ppt/slides/slide9.xml" Id="R805a20a5e87941ec" /><Relationship Type="http://schemas.openxmlformats.org/officeDocument/2006/relationships/slide" Target="/ppt/slides/slide10.xml" Id="R4c93581c2a8344c5" /><Relationship Type="http://schemas.openxmlformats.org/officeDocument/2006/relationships/slide" Target="/ppt/slides/slide11.xml" Id="Rab74d3c241ad4612" /><Relationship Type="http://schemas.openxmlformats.org/officeDocument/2006/relationships/slide" Target="/ppt/slides/slide12.xml" Id="R6e293b0b3c9b4f39" /><Relationship Type="http://schemas.openxmlformats.org/officeDocument/2006/relationships/slide" Target="/ppt/slides/slide13.xml" Id="Rdc0cb00fbcc34402" /><Relationship Type="http://schemas.openxmlformats.org/officeDocument/2006/relationships/slide" Target="/ppt/slides/slide14.xml" Id="R2717fce373c14707" /><Relationship Type="http://schemas.openxmlformats.org/officeDocument/2006/relationships/slide" Target="/ppt/slides/slide15.xml" Id="Re7022e0ca7414fa0" /><Relationship Type="http://schemas.openxmlformats.org/officeDocument/2006/relationships/slide" Target="/ppt/slides/slide16.xml" Id="R6f47d07f8ec64e6c" /><Relationship Type="http://schemas.openxmlformats.org/officeDocument/2006/relationships/slide" Target="/ppt/slides/slide17.xml" Id="Rdb49c814c50a4ebf" /><Relationship Type="http://schemas.openxmlformats.org/officeDocument/2006/relationships/slide" Target="/ppt/slides/slide18.xml" Id="Rfbc12fa87b7a4b47" /><Relationship Type="http://schemas.openxmlformats.org/officeDocument/2006/relationships/slide" Target="/ppt/slides/slide19.xml" Id="Rbe507207cd664474" /><Relationship Type="http://schemas.openxmlformats.org/officeDocument/2006/relationships/slide" Target="/ppt/slides/slide20.xml" Id="Rb06708aad47a4cfa" /><Relationship Type="http://schemas.openxmlformats.org/officeDocument/2006/relationships/slide" Target="/ppt/slides/slide21.xml" Id="R093c010566184523" /><Relationship Type="http://schemas.openxmlformats.org/officeDocument/2006/relationships/slide" Target="/ppt/slides/slide22.xml" Id="R3ae0a09c60a44442" /><Relationship Type="http://schemas.openxmlformats.org/officeDocument/2006/relationships/slide" Target="/ppt/slides/slide23.xml" Id="Rea7d8fdd0fe74a64" /><Relationship Type="http://schemas.openxmlformats.org/officeDocument/2006/relationships/slide" Target="/ppt/slides/slide24.xml" Id="R9a951556f24946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894c41bf6f4a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a67161d7214086" /><Relationship Type="http://schemas.openxmlformats.org/officeDocument/2006/relationships/notesMaster" Target="/ppt/notesMasters/notesMaster1.xml" Id="Rf6b9fc53805745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b3f98285fe463e" /><Relationship Type="http://schemas.openxmlformats.org/officeDocument/2006/relationships/notesMaster" Target="/ppt/notesMasters/notesMaster1.xml" Id="R52cea3b8d0ba45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0d91faa4b14a5a" /><Relationship Type="http://schemas.openxmlformats.org/officeDocument/2006/relationships/notesMaster" Target="/ppt/notesMasters/notesMaster1.xml" Id="R12dcca268b17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2531af60254a48" /><Relationship Type="http://schemas.openxmlformats.org/officeDocument/2006/relationships/notesMaster" Target="/ppt/notesMasters/notesMaster1.xml" Id="Rb0590dc3a6f140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34cbc0ad4244db" /><Relationship Type="http://schemas.openxmlformats.org/officeDocument/2006/relationships/notesMaster" Target="/ppt/notesMasters/notesMaster1.xml" Id="R8635c73c1abe4e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f40be389c04b03" /><Relationship Type="http://schemas.openxmlformats.org/officeDocument/2006/relationships/notesMaster" Target="/ppt/notesMasters/notesMaster1.xml" Id="Rc95b33d161b841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a87c5ad2bc4cbf" /><Relationship Type="http://schemas.openxmlformats.org/officeDocument/2006/relationships/notesMaster" Target="/ppt/notesMasters/notesMaster1.xml" Id="R580d9356ccc74e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aa79cf8bc3453a" /><Relationship Type="http://schemas.openxmlformats.org/officeDocument/2006/relationships/notesMaster" Target="/ppt/notesMasters/notesMaster1.xml" Id="Rcfd571bdca1340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8f0f8406434a9f" /><Relationship Type="http://schemas.openxmlformats.org/officeDocument/2006/relationships/notesMaster" Target="/ppt/notesMasters/notesMaster1.xml" Id="R89e68e86f85044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e39b24711444c4" /><Relationship Type="http://schemas.openxmlformats.org/officeDocument/2006/relationships/notesMaster" Target="/ppt/notesMasters/notesMaster1.xml" Id="R2c550e820de649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a208a2bca74075" /><Relationship Type="http://schemas.openxmlformats.org/officeDocument/2006/relationships/notesMaster" Target="/ppt/notesMasters/notesMaster1.xml" Id="Rf865512e8e8143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bf535576fb94d32" /><Relationship Type="http://schemas.openxmlformats.org/officeDocument/2006/relationships/notesMaster" Target="/ppt/notesMasters/notesMaster1.xml" Id="R290b5bf2336e43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194c4d69e34d17" /><Relationship Type="http://schemas.openxmlformats.org/officeDocument/2006/relationships/notesMaster" Target="/ppt/notesMasters/notesMaster1.xml" Id="R4e15f3e935fa422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940ea0bf6342df" /><Relationship Type="http://schemas.openxmlformats.org/officeDocument/2006/relationships/notesMaster" Target="/ppt/notesMasters/notesMaster1.xml" Id="R1659af42f5cb42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d95afe3829441c" /><Relationship Type="http://schemas.openxmlformats.org/officeDocument/2006/relationships/notesMaster" Target="/ppt/notesMasters/notesMaster1.xml" Id="R99fef35415d343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b8a6ba451f45af" /><Relationship Type="http://schemas.openxmlformats.org/officeDocument/2006/relationships/notesMaster" Target="/ppt/notesMasters/notesMaster1.xml" Id="R25e1257e70074b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0a628feac9400f" /><Relationship Type="http://schemas.openxmlformats.org/officeDocument/2006/relationships/notesMaster" Target="/ppt/notesMasters/notesMaster1.xml" Id="R8bcbc64889a2421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46d42e96bc4b25" /><Relationship Type="http://schemas.openxmlformats.org/officeDocument/2006/relationships/notesMaster" Target="/ppt/notesMasters/notesMaster1.xml" Id="Rc14d485512e94f8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304cec7a872413e" /><Relationship Type="http://schemas.openxmlformats.org/officeDocument/2006/relationships/notesMaster" Target="/ppt/notesMasters/notesMaster1.xml" Id="R07955ab404e84a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2bb10ad87f14bc8" /><Relationship Type="http://schemas.openxmlformats.org/officeDocument/2006/relationships/notesMaster" Target="/ppt/notesMasters/notesMaster1.xml" Id="Rf8e7e7f5c6464a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b82698dfdf43b8" /><Relationship Type="http://schemas.openxmlformats.org/officeDocument/2006/relationships/notesMaster" Target="/ppt/notesMasters/notesMaster1.xml" Id="R90426c2e90124e5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8194e6f0ad4bb2" /><Relationship Type="http://schemas.openxmlformats.org/officeDocument/2006/relationships/notesMaster" Target="/ppt/notesMasters/notesMaster1.xml" Id="R5ca5fc7cfc44433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7d3b17f48254ebf" /><Relationship Type="http://schemas.openxmlformats.org/officeDocument/2006/relationships/notesMaster" Target="/ppt/notesMasters/notesMaster1.xml" Id="Red207a283ffc49a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25693a31e2549d2" /><Relationship Type="http://schemas.openxmlformats.org/officeDocument/2006/relationships/notesMaster" Target="/ppt/notesMasters/notesMaster1.xml" Id="R3b8f2b50403c43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https://docarcshot.github.io/id-practice-update/lectures/OPAT_Primer_Short_Module.html</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Decide whether the patient needs outpatient IV treatment A 59-year-old is improving after drainage of an infection. The team requests a PICC for discharge tomorrow. Final susceptibilities are pending, the intended duration is not documented, and no outpatient clinician has accepted the laboratory results. Discuss before reading on. Which decisions are still missing? Would placing the line solve any of them? Outpatient parenteral antimicrobial therapy (OPAT) delivers IV treatment outside inpatient care. First establish the diagnosis, source control, intended duration, and whether an effective oral regimen is appropriate. Clinical improvement alone does not establish oral eligibility; the infection, susceptibilities, absorption, interactions, and ability to take treatment must fit. [1] [2]</a:t>
            </a:r>
          </a:p>
          <a:p xmlns:a="http://schemas.openxmlformats.org/drawingml/2006/main">
            <a:r>
              <a:t/>
            </a:r>
          </a:p>
          <a:p xmlns:a="http://schemas.openxmlformats.org/drawingml/2006/main">
            <a:r>
              <a:t>Module section: https://docarcshot.github.io/id-practice-update/lectures/OPAT_Primer_Short_Module.html#core-1</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Decide whether the patient needs outpatient IV treatment A 59-year-old is improving after drainage of an infection. The team requests a PICC for discharge tomorrow. Final susceptibilities are pending, the intended duration is not documented, and no outpatient clinician has accepted the laboratory results. Discuss before reading on. Which decisions are still missing? Would placing the line solve any of them? Outpatient parenteral antimicrobial therapy (OPAT) delivers IV treatment outside inpatient care. First establish the diagnosis, source control, intended duration, and whether an effective oral regimen is appropriate. Clinical improvement alone does not establish oral eligibility; the infection, susceptibilities, absorption, interactions, and ability to take treatment must fit. [1] [2]</a:t>
            </a:r>
          </a:p>
          <a:p xmlns:a="http://schemas.openxmlformats.org/drawingml/2006/main">
            <a:r>
              <a:t/>
            </a:r>
          </a:p>
          <a:p xmlns:a="http://schemas.openxmlformats.org/drawingml/2006/main">
            <a:r>
              <a:t>Module section: https://docarcshot.github.io/id-practice-update/lectures/OPAT_Primer_Short_Module.html#core-1</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Match the plan to both the infection and the patient Discharge planning includes the patient and the receiving team. Question What must be established Is the patient ready? Clinical stability, a source-control plan, and no unresolved need for inpatient care. Can the regimen be delivered? Home, infusion-center, or facility capacity; caregiver ability when needed; training, transport, supplies, and cost. Is the prescription appropriate? Drug, dose, interval, infusion method, renal adjustment, and a defined duration based on the infection. Who will manage problems? An accepting OPAT/ID team, a route for urgent contact, and an agreed response to missed doses or adverse events. Do not lengthen a dosing interval simply because the infusion center is open once daily. Pharmacy must verify that any alternative regimen or pump method provides appropriate exposure and stability. [2]</a:t>
            </a:r>
          </a:p>
          <a:p xmlns:a="http://schemas.openxmlformats.org/drawingml/2006/main">
            <a:r>
              <a:t/>
            </a:r>
          </a:p>
          <a:p xmlns:a="http://schemas.openxmlformats.org/drawingml/2006/main">
            <a:r>
              <a:t>Module section: https://docarcshot.github.io/id-practice-update/lectures/OPAT_Primer_Short_Module.html#core-2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Match the plan to both the infection and the patient Discharge planning includes the patient and the receiving team. Question What must be established Is the patient ready? Clinical stability, a source-control plan, and no unresolved need for inpatient care. Can the regimen be delivered? Home, infusion-center, or facility capacity; caregiver ability when needed; training, transport, supplies, and cost. Is the prescription appropriate? Drug, dose, interval, infusion method, renal adjustment, and a defined duration based on the infection. Who will manage problems? An accepting OPAT/ID team, a route for urgent contact, and an agreed response to missed doses or adverse events. Do not lengthen a dosing interval simply because the infusion center is open once daily. Pharmacy must verify that any alternative regimen or pump method provides appropriate exposure and stability. [2]</a:t>
            </a:r>
          </a:p>
          <a:p xmlns:a="http://schemas.openxmlformats.org/drawingml/2006/main">
            <a:r>
              <a:t/>
            </a:r>
          </a:p>
          <a:p xmlns:a="http://schemas.openxmlformats.org/drawingml/2006/main">
            <a:r>
              <a:t>Module section: https://docarcshot.github.io/id-practice-update/lectures/OPAT_Primer_Short_Module.html#core-2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Match the plan to both the infection and the patient Discharge planning includes the patient and the receiving team. Question What must be established Is the patient ready? Clinical stability, a source-control plan, and no unresolved need for inpatient care. Can the regimen be delivered? Home, infusion-center, or facility capacity; caregiver ability when needed; training, transport, supplies, and cost. Is the prescription appropriate? Drug, dose, interval, infusion method, renal adjustment, and a defined duration based on the infection. Who will manage problems? An accepting OPAT/ID team, a route for urgent contact, and an agreed response to missed doses or adverse events. Do not lengthen a dosing interval simply because the infusion center is open once daily. Pharmacy must verify that any alternative regimen or pump method provides appropriate exposure and stability. [2]</a:t>
            </a:r>
          </a:p>
          <a:p xmlns:a="http://schemas.openxmlformats.org/drawingml/2006/main">
            <a:r>
              <a:t/>
            </a:r>
          </a:p>
          <a:p xmlns:a="http://schemas.openxmlformats.org/drawingml/2006/main">
            <a:r>
              <a:t>Module section: https://docarcshot.github.io/id-practice-update/lectures/OPAT_Primer_Short_Module.html#core-2</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vascular access after choosing the treatment A PICC is not automatic. IDSA allows a midline for selected adult courses shorter than 14 days, but the infusate and local vascular-access policy also matter. In advanced chronic kidney disease, discuss vein preservation and alternatives with nephrology before PICC placement. [1] If a new central catheter is needed after catheter-related bloodstream infection, timing depends on the organism and documented clearance. For S. aureus catheter-related infection, IDSA advises waiting until additional blood cultures show no growth. [3] Document when and by whom the line will be removed. Do not leave it in place after treatment simply because removal was omitted from the discharge plan. [4]</a:t>
            </a:r>
          </a:p>
          <a:p xmlns:a="http://schemas.openxmlformats.org/drawingml/2006/main">
            <a:r>
              <a:t/>
            </a:r>
          </a:p>
          <a:p xmlns:a="http://schemas.openxmlformats.org/drawingml/2006/main">
            <a:r>
              <a:t>Module section: https://docarcshot.github.io/id-practice-update/lectures/OPAT_Primer_Short_Module.html#core-3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Choose vascular access after choosing the treatment A PICC is not automatic. IDSA allows a midline for selected adult courses shorter than 14 days, but the infusate and local vascular-access policy also matter. In advanced chronic kidney disease, discuss vein preservation and alternatives with nephrology before PICC placement. [1] If a new central catheter is needed after catheter-related bloodstream infection, timing depends on the organism and documented clearance. For S. aureus catheter-related infection, IDSA advises waiting until additional blood cultures show no growth. [3] Document when and by whom the line will be removed. Do not leave it in place after treatment simply because removal was omitted from the discharge plan. [4]</a:t>
            </a:r>
          </a:p>
          <a:p xmlns:a="http://schemas.openxmlformats.org/drawingml/2006/main">
            <a:r>
              <a:t/>
            </a:r>
          </a:p>
          <a:p xmlns:a="http://schemas.openxmlformats.org/drawingml/2006/main">
            <a:r>
              <a:t>Module section: https://docarcshot.github.io/id-practice-update/lectures/OPAT_Primer_Short_Module.html#core-3</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Order monitoring and identify who will act on it The order must include the test, timing, recipient, and response responsibility. Treatment Monitoring considerations Most IV regimens Baseline CBC with differential, renal function and relevant chemistries; liver tests as appropriate. Weekly CBC and chemistry/liver testing is a common OPAT starting plan, individualized to the drug and patient. Vancomycin Renal function and appropriately timed levels. Confirm the treating service’s monitoring method, target, draw timing, and pharmacy workflow. Daptomycin Baseline and at least weekly creatine kinase (CK), with more frequent monitoring for renal impairment or increased myopathy risk. Ask about muscle pain or weakness. Any regimen with changing renal function or new symptoms Reassess promptly. Do not wait for the next routine weekly laboratory draw. IDSA recommends serial laboratory monitoring but does not establish one evidence-based schedule for every drug. The 2026 UK OPAT guidance recommends at least weekly blood testing during IV OPAT. Use earlier testing when clinical risk warrants. [1] [2] Daptomycin can cause eosinophilic pneumonia. New fever, dyspnea, and hypoxemia require prompt evaluation and drug reassessment. [5]</a:t>
            </a:r>
          </a:p>
          <a:p xmlns:a="http://schemas.openxmlformats.org/drawingml/2006/main">
            <a:r>
              <a:t/>
            </a:r>
          </a:p>
          <a:p xmlns:a="http://schemas.openxmlformats.org/drawingml/2006/main">
            <a:r>
              <a:t>Module section: https://docarcshot.github.io/id-practice-update/lectures/OPAT_Primer_Short_Module.html#core-4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Order monitoring and identify who will act on it The order must include the test, timing, recipient, and response responsibility. Treatment Monitoring considerations Most IV regimens Baseline CBC with differential, renal function and relevant chemistries; liver tests as appropriate. Weekly CBC and chemistry/liver testing is a common OPAT starting plan, individualized to the drug and patient. Vancomycin Renal function and appropriately timed levels. Confirm the treating service’s monitoring method, target, draw timing, and pharmacy workflow. Daptomycin Baseline and at least weekly creatine kinase (CK), with more frequent monitoring for renal impairment or increased myopathy risk. Ask about muscle pain or weakness. Any regimen with changing renal function or new symptoms Reassess promptly. Do not wait for the next routine weekly laboratory draw. IDSA recommends serial laboratory monitoring but does not establish one evidence-based schedule for every drug. The 2026 UK OPAT guidance recommends at least weekly blood testing during IV OPAT. Use earlier testing when clinical risk warrants. [1] [2] Daptomycin can cause eosinophilic pneumonia. New fever, dyspnea, and hypoxemia require prompt evaluation and drug reassessment. [5]</a:t>
            </a:r>
          </a:p>
          <a:p xmlns:a="http://schemas.openxmlformats.org/drawingml/2006/main">
            <a:r>
              <a:t/>
            </a:r>
          </a:p>
          <a:p xmlns:a="http://schemas.openxmlformats.org/drawingml/2006/main">
            <a:r>
              <a:t>Module section: https://docarcshot.github.io/id-practice-update/lectures/OPAT_Primer_Short_Module.html#core-4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Order monitoring and identify who will act on it The order must include the test, timing, recipient, and response responsibility. Treatment Monitoring considerations Most IV regimens Baseline CBC with differential, renal function and relevant chemistries; liver tests as appropriate. Weekly CBC and chemistry/liver testing is a common OPAT starting plan, individualized to the drug and patient. Vancomycin Renal function and appropriately timed levels. Confirm the treating service’s monitoring method, target, draw timing, and pharmacy workflow. Daptomycin Baseline and at least weekly creatine kinase (CK), with more frequent monitoring for renal impairment or increased myopathy risk. Ask about muscle pain or weakness. Any regimen with changing renal function or new symptoms Reassess promptly. Do not wait for the next routine weekly laboratory draw. IDSA recommends serial laboratory monitoring but does not establish one evidence-based schedule for every drug. The 2026 UK OPAT guidance recommends at least weekly blood testing during IV OPAT. Use earlier testing when clinical risk warrants. [1] [2] Daptomycin can cause eosinophilic pneumonia. New fever, dyspnea, and hypoxemia require prompt evaluation and drug reassessment. [5]</a:t>
            </a:r>
          </a:p>
          <a:p xmlns:a="http://schemas.openxmlformats.org/drawingml/2006/main">
            <a:r>
              <a:t/>
            </a:r>
          </a:p>
          <a:p xmlns:a="http://schemas.openxmlformats.org/drawingml/2006/main">
            <a:r>
              <a:t>Module section: https://docarcshot.github.io/id-practice-update/lectures/OPAT_Primer_Short_Module.html#core-4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Order monitoring and identify who will act on it The order must include the test, timing, recipient, and response responsibility. Treatment Monitoring considerations Most IV regimens Baseline CBC with differential, renal function and relevant chemistries; liver tests as appropriate. Weekly CBC and chemistry/liver testing is a common OPAT starting plan, individualized to the drug and patient. Vancomycin Renal function and appropriately timed levels. Confirm the treating service’s monitoring method, target, draw timing, and pharmacy workflow. Daptomycin Baseline and at least weekly creatine kinase (CK), with more frequent monitoring for renal impairment or increased myopathy risk. Ask about muscle pain or weakness. Any regimen with changing renal function or new symptoms Reassess promptly. Do not wait for the next routine weekly laboratory draw. IDSA recommends serial laboratory monitoring but does not establish one evidence-based schedule for every drug. The 2026 UK OPAT guidance recommends at least weekly blood testing during IV OPAT. Use earlier testing when clinical risk warrants. [1] [2] Daptomycin can cause eosinophilic pneumonia. New fever, dyspnea, and hypoxemia require prompt evaluation and drug reassessment. [5]</a:t>
            </a:r>
          </a:p>
          <a:p xmlns:a="http://schemas.openxmlformats.org/drawingml/2006/main">
            <a:r>
              <a:t/>
            </a:r>
          </a:p>
          <a:p xmlns:a="http://schemas.openxmlformats.org/drawingml/2006/main">
            <a:r>
              <a:t>Module section: https://docarcshot.github.io/id-practice-update/lectures/OPAT_Primer_Short_Module.html#core-4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Order monitoring and identify who will act on it The order must include the test, timing, recipient, and response responsibility. Treatment Monitoring considerations Most IV regimens Baseline CBC with differential, renal function and relevant chemistries; liver tests as appropriate. Weekly CBC and chemistry/liver testing is a common OPAT starting plan, individualized to the drug and patient. Vancomycin Renal function and appropriately timed levels. Confirm the treating service’s monitoring method, target, draw timing, and pharmacy workflow. Daptomycin Baseline and at least weekly creatine kinase (CK), with more frequent monitoring for renal impairment or increased myopathy risk. Ask about muscle pain or weakness. Any regimen with changing renal function or new symptoms Reassess promptly. Do not wait for the next routine weekly laboratory draw. IDSA recommends serial laboratory monitoring but does not establish one evidence-based schedule for every drug. The 2026 UK OPAT guidance recommends at least weekly blood testing during IV OPAT. Use earlier testing when clinical risk warrants. [1] [2] Daptomycin can cause eosinophilic pneumonia. New fever, dyspnea, and hypoxemia require prompt evaluation and drug reassessment. [5]</a:t>
            </a:r>
          </a:p>
          <a:p xmlns:a="http://schemas.openxmlformats.org/drawingml/2006/main">
            <a:r>
              <a:t/>
            </a:r>
          </a:p>
          <a:p xmlns:a="http://schemas.openxmlformats.org/drawingml/2006/main">
            <a:r>
              <a:t>Module section: https://docarcshot.github.io/id-practice-update/lectures/OPAT_Primer_Short_Module.html#core-4</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Write a discharge plan that the next team can execute Document the infection and organism; relevant source-control procedure; drug, dose, route, interval and infusion method; treatment start and planned stop or review date; access and line-care plan; tests and timing; named result reviewer; follow-up appointment; pending studies; urgent contact; and line-removal responsibility. [1] [2] Use patient teach-back for administration and line care. Explain how to obtain urgent help for rigors during infusion, line-site inflammation, arm swelling, rash, breathing difficulty, or inability to administer treatment. Severe symptoms require emergency evaluation. [2] [4] [5] For the opening case, clarify the final regimen and treatment endpoint and confirm that a team accepts follow-up before discharge. The line choice follows that decision. If an oral regimen is suitable, the PICC may be unnecessary. [1] [2]</a:t>
            </a:r>
          </a:p>
          <a:p xmlns:a="http://schemas.openxmlformats.org/drawingml/2006/main">
            <a:r>
              <a:t/>
            </a:r>
          </a:p>
          <a:p xmlns:a="http://schemas.openxmlformats.org/drawingml/2006/main">
            <a:r>
              <a:t>Module section: https://docarcshot.github.io/id-practice-update/lectures/OPAT_Primer_Short_Module.html#core-5</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Write a discharge plan that the next team can execute Document the infection and organism; relevant source-control procedure; drug, dose, route, interval and infusion method; treatment start and planned stop or review date; access and line-care plan; tests and timing; named result reviewer; follow-up appointment; pending studies; urgent contact; and line-removal responsibility. [1] [2] Use patient teach-back for administration and line care. Explain how to obtain urgent help for rigors during infusion, line-site inflammation, arm swelling, rash, breathing difficulty, or inability to administer treatment. Severe symptoms require emergency evaluation. [2] [4] [5] For the opening case, clarify the final regimen and treatment endpoint and confirm that a team accepts follow-up before discharge. The line choice follows that decision. If an oral regimen is suitable, the PICC may be unnecessary. [1] [2]</a:t>
            </a:r>
          </a:p>
          <a:p xmlns:a="http://schemas.openxmlformats.org/drawingml/2006/main">
            <a:r>
              <a:t/>
            </a:r>
          </a:p>
          <a:p xmlns:a="http://schemas.openxmlformats.org/drawingml/2006/main">
            <a:r>
              <a:t>Module section: https://docarcshot.github.io/id-practice-update/lectures/OPAT_Primer_Short_Module.html#core-5</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Apply this on the next consult Confirm the need for IV therapy, make delivery feasible, and assign responsibility for results. Every discharge needs a treatment endpoint, follow-up, and an access-removal plan.</a:t>
            </a:r>
          </a:p>
          <a:p xmlns:a="http://schemas.openxmlformats.org/drawingml/2006/main">
            <a:r>
              <a:t/>
            </a:r>
          </a:p>
          <a:p xmlns:a="http://schemas.openxmlformats.org/drawingml/2006/main">
            <a:r>
              <a:t>Module section: https://docarcshot.github.io/id-practice-update/lectures/OPAT_Primer_Short_Module.html#take-home</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receiving service must be able to deliver the agreed plan Review the actual infusion schedule with the receiving pharmacy or facility. A hospital prescription does not establish home-drug stability, refrigeration needs, pump compatibility, or nursing availability. Include the patient in choosing a feasible setting. [2] Injection drug use is not an automatic exclusion from OPAT. IDSA recommends case-by-case decisions; assess the available supports and involve addiction care where appropriate. [1] Oral therapy and long-acting IV agents can reduce access burdens in selected infections, but each still requires a defined indication, monitoring, and follow-up. They are not substitutes for source control or review of the supporting infection-specific evidence. [2] Discussion variation. The home nurse reports a substantial creatinine increase during vancomycin treatment. Which clinician reviews the result today, who adjusts or holds dosing, and who contacts the patient? A plan that only says "weekly labs" does not answer those questions.</a:t>
            </a:r>
          </a:p>
          <a:p xmlns:a="http://schemas.openxmlformats.org/drawingml/2006/main">
            <a:r>
              <a:t/>
            </a:r>
          </a:p>
          <a:p xmlns:a="http://schemas.openxmlformats.org/drawingml/2006/main">
            <a:r>
              <a:t>Module section: https://docarcshot.github.io/id-practice-update/lectures/OPAT_Primer_Short_Module.html#fellow</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The receiving service must be able to deliver the agreed plan Review the actual infusion schedule with the receiving pharmacy or facility. A hospital prescription does not establish home-drug stability, refrigeration needs, pump compatibility, or nursing availability. Include the patient in choosing a feasible setting. [2] Injection drug use is not an automatic exclusion from OPAT. IDSA recommends case-by-case decisions; assess the available supports and involve addiction care where appropriate. [1] Oral therapy and long-acting IV agents can reduce access burdens in selected infections, but each still requires a defined indication, monitoring, and follow-up. They are not substitutes for source control or review of the supporting infection-specific evidence. [2] Discussion variation. The home nurse reports a substantial creatinine increase during vancomycin treatment. Which clinician reviews the result today, who adjusts or holds dosing, and who contacts the patient? A plan that only says "weekly labs" does not answer those questions.</a:t>
            </a:r>
          </a:p>
          <a:p xmlns:a="http://schemas.openxmlformats.org/drawingml/2006/main">
            <a:r>
              <a:t/>
            </a:r>
          </a:p>
          <a:p xmlns:a="http://schemas.openxmlformats.org/drawingml/2006/main">
            <a:r>
              <a:t>Module section: https://docarcshot.github.io/id-practice-update/lectures/OPAT_Primer_Short_Module.html#fellow</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Norris AH, et al. IDSA OPAT guideline. 2018. 2. Noble AL, et al. Updated UK OPAT good practice recommendations. JAC Antimicrob Resist. 2026. 3. Mermel LA, et al. IDSA intravascular catheter-related infection guideline. 2009. 4. CDC. Prevention of intravascular catheter-related infections, summary recommendations. 5. CUBICIN prescribing information. Myopathy, renal impairment, and eosinophilic pneumonia.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https://docarcshot.github.io/id-practice-update/lectures/OPAT_Primer_Short_Module.html#source-1</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Norris AH, et al. IDSA OPAT guideline. 2018. 2. Noble AL, et al. Updated UK OPAT good practice recommendations. JAC Antimicrob Resist. 2026. 3. Mermel LA, et al. IDSA intravascular catheter-related infection guideline. 2009. 4. CDC. Prevention of intravascular catheter-related infections, summary recommendations. 5. CUBICIN prescribing information. Myopathy, renal impairment, and eosinophilic pneumonia.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https://docarcshot.github.io/id-practice-update/lectures/OPAT_Primer_Short_Module.html#source-2</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Norris AH, et al. IDSA OPAT guideline. 2018. 2. Noble AL, et al. Updated UK OPAT good practice recommendations. JAC Antimicrob Resist. 2026. 3. Mermel LA, et al. IDSA intravascular catheter-related infection guideline. 2009. 4. CDC. Prevention of intravascular catheter-related infections, summary recommendations. 5. CUBICIN prescribing information. Myopathy, renal impairment, and eosinophilic pneumonia.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https://docarcshot.github.io/id-practice-update/lectures/OPAT_Primer_Short_Module.html#source-3</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Norris AH, et al. IDSA OPAT guideline. 2018. 2. Noble AL, et al. Updated UK OPAT good practice recommendations. JAC Antimicrob Resist. 2026. 3. Mermel LA, et al. IDSA intravascular catheter-related infection guideline. 2009. 4. CDC. Prevention of intravascular catheter-related infections, summary recommendations. 5. CUBICIN prescribing information. Myopathy, renal impairment, and eosinophilic pneumonia.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https://docarcshot.github.io/id-practice-update/lectures/OPAT_Primer_Short_Module.html#source-4</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Norris AH, et al. IDSA OPAT guideline. 2018. 2. Noble AL, et al. Updated UK OPAT good practice recommendations. JAC Antimicrob Resist. 2026. 3. Mermel LA, et al. IDSA intravascular catheter-related infection guideline. 2009. 4. CDC. Prevention of intravascular catheter-related infections, summary recommendations. 5. CUBICIN prescribing information. Myopathy, renal impairment, and eosinophilic pneumonia.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https://docarcshot.github.io/id-practice-update/lectures/OPAT_Primer_Short_Module.html#source-5</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Sources and further reading 1. Norris AH, et al. IDSA OPAT guideline. 2018. 2. Noble AL, et al. Updated UK OPAT good practice recommendations. JAC Antimicrob Resist. 2026. 3. Mermel LA, et al. IDSA intravascular catheter-related infection guideline. 2009. 4. CDC. Prevention of intravascular catheter-related infections, summary recommendations. 5. CUBICIN prescribing information. Myopathy, renal impairment, and eosinophilic pneumonia. Teaching cases are fictional. Recommendations are paraphrased from the linked sources. Use current patient-specific guidance and local protocols when prescribing.</a:t>
            </a:r>
          </a:p>
          <a:p xmlns:a="http://schemas.openxmlformats.org/drawingml/2006/main">
            <a:r>
              <a:t/>
            </a:r>
          </a:p>
          <a:p xmlns:a="http://schemas.openxmlformats.org/drawingml/2006/main">
            <a:r>
              <a:t>Module section: https://docarcshot.github.io/id-practice-update/lectures/OPAT_Primer_Short_Module.html#sources</a:t>
            </a:r>
          </a:p>
          <a:p xmlns:a="http://schemas.openxmlformats.org/drawingml/2006/main">
            <a:r>
              <a:t/>
            </a:r>
          </a:p>
          <a:p xmlns:a="http://schemas.openxmlformats.org/drawingml/2006/main">
            <a:r>
              <a:t>Public sources and related reading:</a:t>
            </a:r>
          </a:p>
          <a:p xmlns:a="http://schemas.openxmlformats.org/drawingml/2006/main">
            <a:r>
              <a:t>https://www.idsociety.org/practice-guideline/outpatient-antimicrobial-parenteral-therapy/</a:t>
            </a:r>
          </a:p>
          <a:p xmlns:a="http://schemas.openxmlformats.org/drawingml/2006/main">
            <a:r>
              <a:t>https://doi.org/10.1093/jacamr/dlag044</a:t>
            </a:r>
          </a:p>
          <a:p xmlns:a="http://schemas.openxmlformats.org/drawingml/2006/main">
            <a:r>
              <a:t>https://www.idsociety.org/practice-guideline/iv-catheter/</a:t>
            </a:r>
          </a:p>
          <a:p xmlns:a="http://schemas.openxmlformats.org/drawingml/2006/main">
            <a:r>
              <a:t>https://www.cdc.gov/infection-control/hcp/intravascular-catheter-related-infections/summary-recommendations.html</a:t>
            </a:r>
          </a:p>
          <a:p xmlns:a="http://schemas.openxmlformats.org/drawingml/2006/main">
            <a:r>
              <a:t>https://www.merck.com/product/usa/pi_circulars/c/cubicin/cubicin_pi.pdf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40afa00f1449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5d5a41c186441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29942e8c2343b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2696eddbcab4c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601441195e248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9ddf37827943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6B73DD-A4D5-4008-A468-E5AA42CB93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0AA27D-6BEF-4D06-9EB4-D96FC36E27C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4BB61E-69AC-41EC-8611-C847BE928D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6F7E61-E2D5-4F52-AA70-C74B769B7E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FD232D-C3A6-40AD-973E-4A9A817EFA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349767-8CEC-4F2F-8198-ED595685F7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61B5675-CBDE-4B95-9133-8A17B7C8C8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DAC0988-0182-447F-8D79-3DB98149A8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9402DA-C46C-49BB-A1A4-163C1751F2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301779-DE70-499E-B26A-AD58567CA6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c5b2c1ef12450b" /><Relationship Type="http://schemas.openxmlformats.org/officeDocument/2006/relationships/slideLayout" Target="/ppt/slideLayouts/slideLayout1.xml" Id="R026d9dfae0544d09" /><Relationship Type="http://schemas.openxmlformats.org/officeDocument/2006/relationships/slideLayout" Target="/ppt/slideLayouts/slideLayout2.xml" Id="Rd0027760e77740f8" /><Relationship Type="http://schemas.openxmlformats.org/officeDocument/2006/relationships/slideLayout" Target="/ppt/slideLayouts/slideLayout3.xml" Id="R534a975464ed485b" /><Relationship Type="http://schemas.openxmlformats.org/officeDocument/2006/relationships/slideLayout" Target="/ppt/slideLayouts/slideLayout4.xml" Id="Rd263d5cf537244ff" /><Relationship Type="http://schemas.openxmlformats.org/officeDocument/2006/relationships/slideLayout" Target="/ppt/slideLayouts/slideLayout5.xml" Id="Rab61347ffa1d40f2" /><Relationship Type="http://schemas.openxmlformats.org/officeDocument/2006/relationships/slideLayout" Target="/ppt/slideLayouts/slideLayout6.xml" Id="R07445e6dfe53429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6d9dfae0544d09"/>
    <p:sldLayoutId xmlns:r="http://schemas.openxmlformats.org/officeDocument/2006/relationships" id="2147483650" r:id="Rd0027760e77740f8"/>
    <p:sldLayoutId xmlns:r="http://schemas.openxmlformats.org/officeDocument/2006/relationships" id="2147483651" r:id="R534a975464ed485b"/>
    <p:sldLayoutId xmlns:r="http://schemas.openxmlformats.org/officeDocument/2006/relationships" id="2147483652" r:id="Rd263d5cf537244ff"/>
    <p:sldLayoutId xmlns:r="http://schemas.openxmlformats.org/officeDocument/2006/relationships" id="2147483653" r:id="Rab61347ffa1d40f2"/>
    <p:sldLayoutId xmlns:r="http://schemas.openxmlformats.org/officeDocument/2006/relationships" id="2147483654" r:id="R07445e6dfe53429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65d56caf6d3401e" /><Relationship Type="http://schemas.openxmlformats.org/officeDocument/2006/relationships/notesSlide" Target="/ppt/notesSlides/notesSlide1.xml" Id="Ra2f673ac467f40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5f950fe5a54506" /><Relationship Type="http://schemas.openxmlformats.org/officeDocument/2006/relationships/notesSlide" Target="/ppt/notesSlides/notesSlide2.xml" Id="Rfe9aab876c1c40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9ffc64b0044ae0" /><Relationship Type="http://schemas.openxmlformats.org/officeDocument/2006/relationships/notesSlide" Target="/ppt/notesSlides/notesSlide3.xml" Id="R1d03756f16fe4a5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449fca773a74694" /><Relationship Type="http://schemas.openxmlformats.org/officeDocument/2006/relationships/notesSlide" Target="/ppt/notesSlides/notesSlide4.xml" Id="R248c4fde01e142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5b99a64f75b4264" /><Relationship Type="http://schemas.openxmlformats.org/officeDocument/2006/relationships/notesSlide" Target="/ppt/notesSlides/notesSlide5.xml" Id="Rd2513fecd1e44d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c5970a517e340ca" /><Relationship Type="http://schemas.openxmlformats.org/officeDocument/2006/relationships/notesSlide" Target="/ppt/notesSlides/notesSlide6.xml" Id="R7989ad739a774a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fcbe522fd2f4904" /><Relationship Type="http://schemas.openxmlformats.org/officeDocument/2006/relationships/notesSlide" Target="/ppt/notesSlides/notesSlide7.xml" Id="R3f810ad23d7f49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86921f984fe472a" /><Relationship Type="http://schemas.openxmlformats.org/officeDocument/2006/relationships/notesSlide" Target="/ppt/notesSlides/notesSlide8.xml" Id="Rdef857d2d59045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bc37f3f352414b" /><Relationship Type="http://schemas.openxmlformats.org/officeDocument/2006/relationships/notesSlide" Target="/ppt/notesSlides/notesSlide9.xml" Id="R2d7c36c91af343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c747e921cc4d0b" /><Relationship Type="http://schemas.openxmlformats.org/officeDocument/2006/relationships/notesSlide" Target="/ppt/notesSlides/notesSlide10.xml" Id="R5ed06e4095bc4b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3a0b748b0f4482" /><Relationship Type="http://schemas.openxmlformats.org/officeDocument/2006/relationships/notesSlide" Target="/ppt/notesSlides/notesSlide11.xml" Id="R551046849ce54c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3a1f0dc5fc4739" /><Relationship Type="http://schemas.openxmlformats.org/officeDocument/2006/relationships/notesSlide" Target="/ppt/notesSlides/notesSlide12.xml" Id="Rfdcc484f288e457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ec6237cf3384ef9" /><Relationship Type="http://schemas.openxmlformats.org/officeDocument/2006/relationships/notesSlide" Target="/ppt/notesSlides/notesSlide13.xml" Id="Rd973e629353449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a3e00d742724898" /><Relationship Type="http://schemas.openxmlformats.org/officeDocument/2006/relationships/notesSlide" Target="/ppt/notesSlides/notesSlide14.xml" Id="R68e31314089041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9261ebfc82d4df4" /><Relationship Type="http://schemas.openxmlformats.org/officeDocument/2006/relationships/notesSlide" Target="/ppt/notesSlides/notesSlide15.xml" Id="R4a38b0704c354f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6a1de6b8f6f4264" /><Relationship Type="http://schemas.openxmlformats.org/officeDocument/2006/relationships/notesSlide" Target="/ppt/notesSlides/notesSlide16.xml" Id="Rbfff349b15f447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4111b172d84ab9" /><Relationship Type="http://schemas.openxmlformats.org/officeDocument/2006/relationships/notesSlide" Target="/ppt/notesSlides/notesSlide17.xml" Id="R1a6dc6e46ea348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6240772de184a1d" /><Relationship Type="http://schemas.openxmlformats.org/officeDocument/2006/relationships/notesSlide" Target="/ppt/notesSlides/notesSlide18.xml" Id="R8cbf40a25f0a4c0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27d454ac8fe481e" /><Relationship Type="http://schemas.openxmlformats.org/officeDocument/2006/relationships/notesSlide" Target="/ppt/notesSlides/notesSlide19.xml" Id="R86f96655df3c407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6da8517aeeb43c9" /><Relationship Type="http://schemas.openxmlformats.org/officeDocument/2006/relationships/notesSlide" Target="/ppt/notesSlides/notesSlide20.xml" Id="R48c9a28ab19043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41d9643a0d243e9" /><Relationship Type="http://schemas.openxmlformats.org/officeDocument/2006/relationships/notesSlide" Target="/ppt/notesSlides/notesSlide21.xml" Id="R48670121a9fd4ce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b0e43f6841e46a6" /><Relationship Type="http://schemas.openxmlformats.org/officeDocument/2006/relationships/notesSlide" Target="/ppt/notesSlides/notesSlide22.xml" Id="Rf88a1ec98b0340b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83655963e364d58" /><Relationship Type="http://schemas.openxmlformats.org/officeDocument/2006/relationships/notesSlide" Target="/ppt/notesSlides/notesSlide23.xml" Id="R2dbb1df796c248f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a1b808abd674f1c" /><Relationship Type="http://schemas.openxmlformats.org/officeDocument/2006/relationships/notesSlide" Target="/ppt/notesSlides/notesSlide24.xml" Id="Rab8c96f2b83f4f86"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A46C37-2357-4A3B-A370-D0C3BA4CC46D}"/>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An OPAT primer</a:t>
            </a:r>
          </a:p>
        </p:txBody>
      </p:sp>
      <p:sp>
        <p:nvSpPr>
          <p:cNvPr id="2" name="subtitle">
            <a:extLst xmlns:a="http://schemas.openxmlformats.org/drawingml/2006/main">
              <a:ext uri="{FF2B5EF4-FFF2-40B4-BE49-F238E27FC236}">
                <a16:creationId xmlns:a16="http://schemas.microsoft.com/office/drawing/2014/main" id="{1C26F353-8EF8-44D6-B0D0-A3AC9CE36BC2}"/>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8629301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CEE5688-6F08-4FCF-8AE1-890571136A4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Decide whether the patient needs outpatient IV treatment</a:t>
            </a:r>
          </a:p>
        </p:txBody>
      </p:sp>
      <p:sp>
        <p:nvSpPr>
          <p:cNvPr id="2" name="paragraph-0">
            <a:extLst xmlns:a="http://schemas.openxmlformats.org/drawingml/2006/main">
              <a:ext uri="{FF2B5EF4-FFF2-40B4-BE49-F238E27FC236}">
                <a16:creationId xmlns:a16="http://schemas.microsoft.com/office/drawing/2014/main" id="{C8CCE6D2-7C56-4B87-AA95-87F5314463C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59-year-old is improving after drainage of an infection. The team requests a PICC for discharge tomorrow. Final susceptibilities are pending, the intended duration is not documented, and no outpatient clinician has accepted the laboratory results.</a:t>
            </a:r>
          </a:p>
        </p:txBody>
      </p:sp>
      <p:sp>
        <p:nvSpPr>
          <p:cNvPr id="3" name="paragraph-1">
            <a:extLst xmlns:a="http://schemas.openxmlformats.org/drawingml/2006/main">
              <a:ext uri="{FF2B5EF4-FFF2-40B4-BE49-F238E27FC236}">
                <a16:creationId xmlns:a16="http://schemas.microsoft.com/office/drawing/2014/main" id="{E6D3007E-2075-4B4E-BC43-6984F30864D2}"/>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before reading on. Which decisions are still missing? Would placing the line solve any of them?</a:t>
            </a:r>
          </a:p>
        </p:txBody>
      </p:sp>
      <p:sp>
        <p:nvSpPr>
          <p:cNvPr id="4" name="footer">
            <a:extLst xmlns:a="http://schemas.openxmlformats.org/drawingml/2006/main">
              <a:ext uri="{FF2B5EF4-FFF2-40B4-BE49-F238E27FC236}">
                <a16:creationId xmlns:a16="http://schemas.microsoft.com/office/drawing/2014/main" id="{8AB4BF10-8852-42C4-B15C-616DA2591F7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7D03BA2-4D48-44F7-B644-00D35D193D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9035904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D979101-A6EE-4AA9-A683-74BCEB2CADE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Decide whether the patient needs outpatient IV treatment</a:t>
            </a:r>
          </a:p>
        </p:txBody>
      </p:sp>
      <p:sp>
        <p:nvSpPr>
          <p:cNvPr id="2" name="paragraph-0">
            <a:extLst xmlns:a="http://schemas.openxmlformats.org/drawingml/2006/main">
              <a:ext uri="{FF2B5EF4-FFF2-40B4-BE49-F238E27FC236}">
                <a16:creationId xmlns:a16="http://schemas.microsoft.com/office/drawing/2014/main" id="{8DAA9A98-3167-4D91-85A5-C4815155F9B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Outpatient parenteral antimicrobial therapy (OPAT) delivers IV treatment outside inpatient care. First establish the diagnosis, source control, intended duration, and whether an effective oral regimen is appropriate. Clinical improvement alone does not establish oral eligibility; the infection, susceptibilities, absorption, interactions, and ability to take treatment must fit. [1] [2]</a:t>
            </a:r>
          </a:p>
        </p:txBody>
      </p:sp>
      <p:sp>
        <p:nvSpPr>
          <p:cNvPr id="3" name="footer">
            <a:extLst xmlns:a="http://schemas.openxmlformats.org/drawingml/2006/main">
              <a:ext uri="{FF2B5EF4-FFF2-40B4-BE49-F238E27FC236}">
                <a16:creationId xmlns:a16="http://schemas.microsoft.com/office/drawing/2014/main" id="{57895915-3779-4EB9-8811-2F7B5C2D8E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943C30-055F-4921-B983-0F383641B1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6491555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F08D1A-E5EF-4614-87B3-2674E68C763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the plan to both the infection and the patient</a:t>
            </a:r>
          </a:p>
        </p:txBody>
      </p:sp>
      <p:graphicFrame>
        <p:nvGraphicFramePr>
          <p:cNvPr id="2" name="">
            <a:extLst xmlns:a="http://schemas.openxmlformats.org/drawingml/2006/main">
              <a:ext uri="{FF2B5EF4-FFF2-40B4-BE49-F238E27FC236}">
                <a16:creationId xmlns:a16="http://schemas.microsoft.com/office/drawing/2014/main" id="{EAB9AE2B-F48D-4176-87E5-8F1A406334AB}"/>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Question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What must be established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Is the patient ready?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Clinical stability, a source-control plan, and no unresolved need for inpatient care.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Can the regimen be delivered?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Home, infusion-center, or facility capacity; caregiver ability when needed; training, transport, supplies, and cost.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Is the prescription appropriate?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Drug, dose, interval, infusion method, renal adjustment, and a defined duration based on the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9C351F7-CA97-4A2C-B566-B7D223977DE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D99164-166F-4A98-9FFA-7E20C5BA1A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1305377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CB53EF-1C4C-4A43-B102-20803D9DDEF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the plan to both the infection and the patient</a:t>
            </a:r>
          </a:p>
        </p:txBody>
      </p:sp>
      <p:graphicFrame>
        <p:nvGraphicFramePr>
          <p:cNvPr id="2" name="">
            <a:extLst xmlns:a="http://schemas.openxmlformats.org/drawingml/2006/main">
              <a:ext uri="{FF2B5EF4-FFF2-40B4-BE49-F238E27FC236}">
                <a16:creationId xmlns:a16="http://schemas.microsoft.com/office/drawing/2014/main" id="{5BB2634A-BBA3-438C-84B9-F25526E6612D}"/>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4362450"/>
                <a:gridCol w="6534150"/>
              </a:tblGrid>
              <a:tr h="538163">
                <a:tc>
                  <a:txBody>
                    <a:bodyPr lIns="114300" tIns="114300" rIns="114300" bIns="114300">
                      <a:noAutofit/>
                    </a:bodyPr>
                    <a:lstStyle/>
                    <a:p>
                      <a:r>
                        <a:rPr sz="1950" b="1">
                          <a:solidFill>
                            <a:srgbClr val="FFFFFF"/>
                          </a:solidFill>
                          <a:latin typeface="DejaVu Sans"/>
                          <a:ea typeface="DejaVu Sans"/>
                          <a:cs typeface="DejaVu Sans"/>
                        </a:rPr>
                        <a:t>Question</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What must be established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Who will manage problems?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An accepting OPAT/ID team, a route for urgent contact, and an agreed response to missed doses or adverse events.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2E3F404-1ACD-4231-BE69-458D25D7BF8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8E36767-9BD9-4FA1-A675-233997082B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7466604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66F4A38-00F8-488D-942F-4FB0E08C413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Match the plan to both the infection and the patient</a:t>
            </a:r>
          </a:p>
        </p:txBody>
      </p:sp>
      <p:sp>
        <p:nvSpPr>
          <p:cNvPr id="2" name="paragraph-0">
            <a:extLst xmlns:a="http://schemas.openxmlformats.org/drawingml/2006/main">
              <a:ext uri="{FF2B5EF4-FFF2-40B4-BE49-F238E27FC236}">
                <a16:creationId xmlns:a16="http://schemas.microsoft.com/office/drawing/2014/main" id="{1EAD9E07-8CFD-4F2C-907A-7EFCD6FC3F0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lengthen a dosing interval simply because the infusion center is open once daily. Pharmacy must verify that any alternative regimen or pump method provides appropriate exposure and stability. [2]</a:t>
            </a:r>
          </a:p>
        </p:txBody>
      </p:sp>
      <p:sp>
        <p:nvSpPr>
          <p:cNvPr id="3" name="footer">
            <a:extLst xmlns:a="http://schemas.openxmlformats.org/drawingml/2006/main">
              <a:ext uri="{FF2B5EF4-FFF2-40B4-BE49-F238E27FC236}">
                <a16:creationId xmlns:a16="http://schemas.microsoft.com/office/drawing/2014/main" id="{F9945FD3-2FB5-4283-BF00-7952BFA1CC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358D09A-73BD-4F6D-9C96-DAF12D38146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83316869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01DAD8-E7E3-431C-AD73-C929A41635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vascular access after choosing the treatment</a:t>
            </a:r>
          </a:p>
        </p:txBody>
      </p:sp>
      <p:sp>
        <p:nvSpPr>
          <p:cNvPr id="2" name="paragraph-0">
            <a:extLst xmlns:a="http://schemas.openxmlformats.org/drawingml/2006/main">
              <a:ext uri="{FF2B5EF4-FFF2-40B4-BE49-F238E27FC236}">
                <a16:creationId xmlns:a16="http://schemas.microsoft.com/office/drawing/2014/main" id="{E154BEED-0FEE-428B-AAC7-B05E52E6EAB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PICC is not automatic. IDSA allows a midline for selected adult courses shorter than 14 days, but the infusate and local vascular-access policy also matter. In advanced chronic kidney disease, discuss vein preservation and alternatives with nephrology before PICC placement. [1]</a:t>
            </a:r>
          </a:p>
        </p:txBody>
      </p:sp>
      <p:sp>
        <p:nvSpPr>
          <p:cNvPr id="3" name="paragraph-1">
            <a:extLst xmlns:a="http://schemas.openxmlformats.org/drawingml/2006/main">
              <a:ext uri="{FF2B5EF4-FFF2-40B4-BE49-F238E27FC236}">
                <a16:creationId xmlns:a16="http://schemas.microsoft.com/office/drawing/2014/main" id="{AC428AF9-C973-4F01-BA51-9B6A7E30C48A}"/>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a new central catheter is needed after catheter-related bloodstream infection, timing depends on the organism and documented clearance. For S. aureus catheter-related infection, IDSA advises waiting until additional blood cultures show no growth. [3]</a:t>
            </a:r>
          </a:p>
        </p:txBody>
      </p:sp>
      <p:sp>
        <p:nvSpPr>
          <p:cNvPr id="4" name="footer">
            <a:extLst xmlns:a="http://schemas.openxmlformats.org/drawingml/2006/main">
              <a:ext uri="{FF2B5EF4-FFF2-40B4-BE49-F238E27FC236}">
                <a16:creationId xmlns:a16="http://schemas.microsoft.com/office/drawing/2014/main" id="{D4FE4997-6D23-4045-A5D2-8A2E6EABDC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3D8F054A-FE0D-483A-B6C3-F81C6D5096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244120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B23953E-1C78-40C5-92CE-8384B88B26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Choose vascular access after choosing the treatment</a:t>
            </a:r>
          </a:p>
        </p:txBody>
      </p:sp>
      <p:sp>
        <p:nvSpPr>
          <p:cNvPr id="2" name="paragraph-0">
            <a:extLst xmlns:a="http://schemas.openxmlformats.org/drawingml/2006/main">
              <a:ext uri="{FF2B5EF4-FFF2-40B4-BE49-F238E27FC236}">
                <a16:creationId xmlns:a16="http://schemas.microsoft.com/office/drawing/2014/main" id="{60278ECD-B23F-4C78-9951-4B859D108F4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when and by whom the line will be removed. Do not leave it in place after treatment simply because removal was omitted from the discharge plan. [4]</a:t>
            </a:r>
          </a:p>
        </p:txBody>
      </p:sp>
      <p:sp>
        <p:nvSpPr>
          <p:cNvPr id="3" name="footer">
            <a:extLst xmlns:a="http://schemas.openxmlformats.org/drawingml/2006/main">
              <a:ext uri="{FF2B5EF4-FFF2-40B4-BE49-F238E27FC236}">
                <a16:creationId xmlns:a16="http://schemas.microsoft.com/office/drawing/2014/main" id="{6C62FA60-CBCA-47AD-9D8A-E372EFA822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0004098-A2FA-4003-942A-FA71EF8D51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9120855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3EAA6FB-4722-4576-949F-6B0551BC2E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Order monitoring and identify who will act on it</a:t>
            </a:r>
          </a:p>
        </p:txBody>
      </p:sp>
      <p:graphicFrame>
        <p:nvGraphicFramePr>
          <p:cNvPr id="2" name="">
            <a:extLst xmlns:a="http://schemas.openxmlformats.org/drawingml/2006/main">
              <a:ext uri="{FF2B5EF4-FFF2-40B4-BE49-F238E27FC236}">
                <a16:creationId xmlns:a16="http://schemas.microsoft.com/office/drawing/2014/main" id="{1C501AB3-1D74-453D-B013-4A2E68D9B104}"/>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Most IV regimens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Monitoring considerations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Baseline CBC with differential, renal function and relevant chemistries; liver tests as appropriate. Weekly CBC and chemistry/liver testing is a common OPAT starting plan, individualized to the drug and patient.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816B0C6-A88E-4BE6-91F2-9E6BB23EE1B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30806B7-7C13-4B57-A267-A36895E9400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1841627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B4896F-F9EF-4AC7-9491-8EA4B42636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Order monitoring and identify who will act on it</a:t>
            </a:r>
          </a:p>
        </p:txBody>
      </p:sp>
      <p:graphicFrame>
        <p:nvGraphicFramePr>
          <p:cNvPr id="2" name="">
            <a:extLst xmlns:a="http://schemas.openxmlformats.org/drawingml/2006/main">
              <a:ext uri="{FF2B5EF4-FFF2-40B4-BE49-F238E27FC236}">
                <a16:creationId xmlns:a16="http://schemas.microsoft.com/office/drawing/2014/main" id="{27FC7625-8148-4BF5-B990-D1CF02C6D19F}"/>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Vancomycin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considerations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Renal function and appropriately timed levels. Confirm the treating service’s monitoring method, target, draw timing, and pharmacy workflow.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7F58F90-DAD6-46F2-9330-AACEA5EF65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EF40C5E-F9D1-4270-AC71-C352914BB3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9917266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06D3E7-CBA8-4857-8ACE-5A2A425957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Order monitoring and identify who will act on it</a:t>
            </a:r>
          </a:p>
        </p:txBody>
      </p:sp>
      <p:graphicFrame>
        <p:nvGraphicFramePr>
          <p:cNvPr id="2" name="">
            <a:extLst xmlns:a="http://schemas.openxmlformats.org/drawingml/2006/main">
              <a:ext uri="{FF2B5EF4-FFF2-40B4-BE49-F238E27FC236}">
                <a16:creationId xmlns:a16="http://schemas.microsoft.com/office/drawing/2014/main" id="{C33AE429-4D7B-4901-B49B-DD6DCEB7242D}"/>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Daptomycin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Monitoring considerations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Baseline and at least weekly creatine kinase (CK), with more frequent monitoring for renal impairment or increased myopathy risk. Ask about muscle pain or weakness.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68C6A3C-0C47-4580-B4BC-EEA1123BA8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4A44882-6DD6-48E7-8141-B006E143BA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9835562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EFCAC0E-A2E5-4C8D-A4F9-04940B4C1A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Order monitoring and identify who will act on it</a:t>
            </a:r>
          </a:p>
        </p:txBody>
      </p:sp>
      <p:graphicFrame>
        <p:nvGraphicFramePr>
          <p:cNvPr id="2" name="">
            <a:extLst xmlns:a="http://schemas.openxmlformats.org/drawingml/2006/main">
              <a:ext uri="{FF2B5EF4-FFF2-40B4-BE49-F238E27FC236}">
                <a16:creationId xmlns:a16="http://schemas.microsoft.com/office/drawing/2014/main" id="{5A600A78-242F-46E6-9DD9-C5FCC34D78F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Any regimen with changing renal function or new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Monitoring considerations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Reassess promptly. Do not wait for the next routine weekly laboratory draw.</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07DA916-F18B-4B3F-A281-79A7BBB1262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ABAD4B0-5A55-42BF-AEC0-94D4893473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2156783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06A83F6-8EDC-4D23-BCD2-1A517861DB6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Order monitoring and identify who will act on it</a:t>
            </a:r>
          </a:p>
        </p:txBody>
      </p:sp>
      <p:sp>
        <p:nvSpPr>
          <p:cNvPr id="2" name="paragraph-0">
            <a:extLst xmlns:a="http://schemas.openxmlformats.org/drawingml/2006/main">
              <a:ext uri="{FF2B5EF4-FFF2-40B4-BE49-F238E27FC236}">
                <a16:creationId xmlns:a16="http://schemas.microsoft.com/office/drawing/2014/main" id="{8940CA97-8019-4446-B9F8-1A680B5212C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recommends serial laboratory monitoring but does not establish one evidence-based schedule for every drug. The 2026 UK OPAT guidance recommends at least weekly blood testing during IV OPAT. Use earlier testing when clinical risk warrants. [1] [2]</a:t>
            </a:r>
          </a:p>
        </p:txBody>
      </p:sp>
      <p:sp>
        <p:nvSpPr>
          <p:cNvPr id="3" name="paragraph-1">
            <a:extLst xmlns:a="http://schemas.openxmlformats.org/drawingml/2006/main">
              <a:ext uri="{FF2B5EF4-FFF2-40B4-BE49-F238E27FC236}">
                <a16:creationId xmlns:a16="http://schemas.microsoft.com/office/drawing/2014/main" id="{CEAD6CD7-CED0-4592-B2CB-42DF9A9EA0A4}"/>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Daptomycin can cause eosinophilic pneumonia. New fever, dyspnea, and hypoxemia require prompt evaluation and drug reassessment. [5]</a:t>
            </a:r>
          </a:p>
        </p:txBody>
      </p:sp>
      <p:sp>
        <p:nvSpPr>
          <p:cNvPr id="4" name="footer">
            <a:extLst xmlns:a="http://schemas.openxmlformats.org/drawingml/2006/main">
              <a:ext uri="{FF2B5EF4-FFF2-40B4-BE49-F238E27FC236}">
                <a16:creationId xmlns:a16="http://schemas.microsoft.com/office/drawing/2014/main" id="{7C2EC729-3B8B-4D7D-B5CD-DCB88B5B57F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6635A114-8E7E-417B-AED7-B177AA0B576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2666052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F67E0C7-CA29-47A6-B867-31EBB52BDE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Write a discharge plan that the next team can execute</a:t>
            </a:r>
          </a:p>
        </p:txBody>
      </p:sp>
      <p:sp>
        <p:nvSpPr>
          <p:cNvPr id="2" name="paragraph-0">
            <a:extLst xmlns:a="http://schemas.openxmlformats.org/drawingml/2006/main">
              <a:ext uri="{FF2B5EF4-FFF2-40B4-BE49-F238E27FC236}">
                <a16:creationId xmlns:a16="http://schemas.microsoft.com/office/drawing/2014/main" id="{A243387F-26EC-4250-8CDB-5F4F4DBF1CF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the infection and organism; relevant source-control procedure; drug, dose, route, interval and infusion method; treatment start and planned stop or review date; access and line-care plan; tests and timing; named result reviewer; follow-up appointment; pending studies; urgent contact; and line-removal responsibility. [1] [2]</a:t>
            </a:r>
          </a:p>
        </p:txBody>
      </p:sp>
      <p:sp>
        <p:nvSpPr>
          <p:cNvPr id="3" name="paragraph-1">
            <a:extLst xmlns:a="http://schemas.openxmlformats.org/drawingml/2006/main">
              <a:ext uri="{FF2B5EF4-FFF2-40B4-BE49-F238E27FC236}">
                <a16:creationId xmlns:a16="http://schemas.microsoft.com/office/drawing/2014/main" id="{F293A7E6-6F74-4AC7-8C67-730C43BDCAF9}"/>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patient teach-back for administration and line care. Explain how to obtain urgent help for rigors during infusion, line-site inflammation, arm swelling, rash, breathing difficulty, or inability to administer treatment. Severe symptoms require emergency evaluation. [2] [4] [5]</a:t>
            </a:r>
          </a:p>
        </p:txBody>
      </p:sp>
      <p:sp>
        <p:nvSpPr>
          <p:cNvPr id="4" name="footer">
            <a:extLst xmlns:a="http://schemas.openxmlformats.org/drawingml/2006/main">
              <a:ext uri="{FF2B5EF4-FFF2-40B4-BE49-F238E27FC236}">
                <a16:creationId xmlns:a16="http://schemas.microsoft.com/office/drawing/2014/main" id="{B40AD9BB-5BF5-47CA-BB37-3E4D3AE784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194B427D-30F5-423F-9DBB-800DEDAFE4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74205741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2B1D06-83B8-4015-95CE-43571585362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Write a discharge plan that the next team can execute</a:t>
            </a:r>
          </a:p>
        </p:txBody>
      </p:sp>
      <p:sp>
        <p:nvSpPr>
          <p:cNvPr id="2" name="paragraph-0">
            <a:extLst xmlns:a="http://schemas.openxmlformats.org/drawingml/2006/main">
              <a:ext uri="{FF2B5EF4-FFF2-40B4-BE49-F238E27FC236}">
                <a16:creationId xmlns:a16="http://schemas.microsoft.com/office/drawing/2014/main" id="{D9007346-6CCC-4EB0-8248-3582E71912A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the opening case, clarify the final regimen and treatment endpoint and confirm that a team accepts follow-up before discharge. The line choice follows that decision. If an oral regimen is suitable, the PICC may be unnecessary. [1] [2]</a:t>
            </a:r>
          </a:p>
        </p:txBody>
      </p:sp>
      <p:sp>
        <p:nvSpPr>
          <p:cNvPr id="3" name="footer">
            <a:extLst xmlns:a="http://schemas.openxmlformats.org/drawingml/2006/main">
              <a:ext uri="{FF2B5EF4-FFF2-40B4-BE49-F238E27FC236}">
                <a16:creationId xmlns:a16="http://schemas.microsoft.com/office/drawing/2014/main" id="{5DFA5F21-9FB7-479E-8861-7CAD6EE90E3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D487D63-E84D-4CC9-9193-0D9AD8F79C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7362986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F74995-62C0-44D5-B9C0-7DD16156A1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Apply this on the next consult</a:t>
            </a:r>
          </a:p>
        </p:txBody>
      </p:sp>
      <p:sp>
        <p:nvSpPr>
          <p:cNvPr id="2" name="paragraph-0">
            <a:extLst xmlns:a="http://schemas.openxmlformats.org/drawingml/2006/main">
              <a:ext uri="{FF2B5EF4-FFF2-40B4-BE49-F238E27FC236}">
                <a16:creationId xmlns:a16="http://schemas.microsoft.com/office/drawing/2014/main" id="{10F4C4BC-7798-4F64-9BA4-811464B3D4D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the need for IV therapy, make delivery feasible, and assign responsibility for results. Every discharge needs a treatment endpoint, follow-up, and an access-removal plan.</a:t>
            </a:r>
          </a:p>
        </p:txBody>
      </p:sp>
      <p:sp>
        <p:nvSpPr>
          <p:cNvPr id="3" name="footer">
            <a:extLst xmlns:a="http://schemas.openxmlformats.org/drawingml/2006/main">
              <a:ext uri="{FF2B5EF4-FFF2-40B4-BE49-F238E27FC236}">
                <a16:creationId xmlns:a16="http://schemas.microsoft.com/office/drawing/2014/main" id="{ED7E9946-96B2-4CA6-94D2-69C6186143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CDB38DB-E0D7-43A4-AE9A-73C0F0C8D05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2779548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19D343E-11B9-4636-80DF-B5430831BFD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receiving service must be able to deliver the agreed plan</a:t>
            </a:r>
          </a:p>
        </p:txBody>
      </p:sp>
      <p:sp>
        <p:nvSpPr>
          <p:cNvPr id="2" name="paragraph-0">
            <a:extLst xmlns:a="http://schemas.openxmlformats.org/drawingml/2006/main">
              <a:ext uri="{FF2B5EF4-FFF2-40B4-BE49-F238E27FC236}">
                <a16:creationId xmlns:a16="http://schemas.microsoft.com/office/drawing/2014/main" id="{ACC3CDCB-8F8B-4862-BB56-E8A3D4F46DB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Review the actual infusion schedule with the receiving pharmacy or facility. A hospital prescription does not establish home-drug stability, refrigeration needs, pump compatibility, or nursing availability. Include the patient in choosing a feasible setting. [2]</a:t>
            </a:r>
          </a:p>
        </p:txBody>
      </p:sp>
      <p:sp>
        <p:nvSpPr>
          <p:cNvPr id="3" name="paragraph-1">
            <a:extLst xmlns:a="http://schemas.openxmlformats.org/drawingml/2006/main">
              <a:ext uri="{FF2B5EF4-FFF2-40B4-BE49-F238E27FC236}">
                <a16:creationId xmlns:a16="http://schemas.microsoft.com/office/drawing/2014/main" id="{C5442080-945E-4D83-9D28-6AAE5FFF6202}"/>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Injection drug use is not an automatic exclusion from OPAT. IDSA recommends case-by-case decisions; assess the available supports and involve addiction care where appropriate. [1]</a:t>
            </a:r>
          </a:p>
        </p:txBody>
      </p:sp>
      <p:sp>
        <p:nvSpPr>
          <p:cNvPr id="4" name="footer">
            <a:extLst xmlns:a="http://schemas.openxmlformats.org/drawingml/2006/main">
              <a:ext uri="{FF2B5EF4-FFF2-40B4-BE49-F238E27FC236}">
                <a16:creationId xmlns:a16="http://schemas.microsoft.com/office/drawing/2014/main" id="{942DF387-634B-495F-BB9B-D1EF1305EB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ECC22E77-B5BA-461C-AD90-3B04A03488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38870035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66A4E2C-55E9-4A97-B752-7C8FAB2C0F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receiving service must be able to deliver the agreed plan</a:t>
            </a:r>
          </a:p>
        </p:txBody>
      </p:sp>
      <p:sp>
        <p:nvSpPr>
          <p:cNvPr id="2" name="paragraph-0">
            <a:extLst xmlns:a="http://schemas.openxmlformats.org/drawingml/2006/main">
              <a:ext uri="{FF2B5EF4-FFF2-40B4-BE49-F238E27FC236}">
                <a16:creationId xmlns:a16="http://schemas.microsoft.com/office/drawing/2014/main" id="{8D89BEDC-FB5D-4FA7-BC9B-B421303D08C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therapy and long-acting IV agents can reduce access burdens in selected infections, but each still requires a defined indication, monitoring, and follow-up. They are not substitutes for source control or review of the supporting infection-specific evidence. [2]</a:t>
            </a:r>
          </a:p>
        </p:txBody>
      </p:sp>
      <p:sp>
        <p:nvSpPr>
          <p:cNvPr id="3" name="paragraph-1">
            <a:extLst xmlns:a="http://schemas.openxmlformats.org/drawingml/2006/main">
              <a:ext uri="{FF2B5EF4-FFF2-40B4-BE49-F238E27FC236}">
                <a16:creationId xmlns:a16="http://schemas.microsoft.com/office/drawing/2014/main" id="{90CE742E-0D91-4615-ABB8-B193E50364DE}"/>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Discussion variation. The home nurse reports a substantial creatinine increase during vancomycin treatment. Which clinician reviews the result today, who adjusts or holds dosing, and who contacts the patient? A plan that only says "weekly labs" does not answer those questions.</a:t>
            </a:r>
          </a:p>
        </p:txBody>
      </p:sp>
      <p:sp>
        <p:nvSpPr>
          <p:cNvPr id="4" name="footer">
            <a:extLst xmlns:a="http://schemas.openxmlformats.org/drawingml/2006/main">
              <a:ext uri="{FF2B5EF4-FFF2-40B4-BE49-F238E27FC236}">
                <a16:creationId xmlns:a16="http://schemas.microsoft.com/office/drawing/2014/main" id="{19ACF54A-B4B9-4CFF-8637-C709226881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0CEF762-AB88-496D-AF08-755A5BCCC9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8731816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160E1F-2EFE-4C97-8B22-0142CC9E0A7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97F434FA-DC62-4F42-80C4-35105AA9796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Norris AH, et al. IDSA OPAT guideline. 2018.</a:t>
            </a:r>
          </a:p>
        </p:txBody>
      </p:sp>
      <p:sp>
        <p:nvSpPr>
          <p:cNvPr id="3" name="footer">
            <a:extLst xmlns:a="http://schemas.openxmlformats.org/drawingml/2006/main">
              <a:ext uri="{FF2B5EF4-FFF2-40B4-BE49-F238E27FC236}">
                <a16:creationId xmlns:a16="http://schemas.microsoft.com/office/drawing/2014/main" id="{53F8F6BA-0B00-46DD-B687-B84186A96A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129B521-62D5-4E12-85F3-ED86EF6664F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126381680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AE75DF-07FD-40F3-B84D-814518DA4F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E7EA01B3-8493-46B2-B55A-463FA46D3D7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Noble AL, et al. Updated UK OPAT good practice recommendations. JAC Antimicrob Resist. 2026.</a:t>
            </a:r>
          </a:p>
        </p:txBody>
      </p:sp>
      <p:sp>
        <p:nvSpPr>
          <p:cNvPr id="3" name="footer">
            <a:extLst xmlns:a="http://schemas.openxmlformats.org/drawingml/2006/main">
              <a:ext uri="{FF2B5EF4-FFF2-40B4-BE49-F238E27FC236}">
                <a16:creationId xmlns:a16="http://schemas.microsoft.com/office/drawing/2014/main" id="{3CE62226-43D4-4AFF-B551-B46960BDAB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CD3A5BB-192A-437F-B622-067C44359B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6362833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D1DC65-2AF8-432A-821D-92CA8C6BE0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A5AFC83F-986B-4CC9-99E3-98B52AC0ADF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Mermel LA, et al. IDSA intravascular catheter-related infection guideline. 2009.</a:t>
            </a:r>
          </a:p>
        </p:txBody>
      </p:sp>
      <p:sp>
        <p:nvSpPr>
          <p:cNvPr id="3" name="footer">
            <a:extLst xmlns:a="http://schemas.openxmlformats.org/drawingml/2006/main">
              <a:ext uri="{FF2B5EF4-FFF2-40B4-BE49-F238E27FC236}">
                <a16:creationId xmlns:a16="http://schemas.microsoft.com/office/drawing/2014/main" id="{D13932AC-305B-4947-BF84-6B56C1188C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55EE4B2-6AB9-4F7F-B321-20C181A6D40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9751512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D863DC9-5BC7-4D05-B2CD-1E55D6EE10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016B82F9-605E-4B1D-90E8-A9BF6691FDA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CDC. Prevention of intravascular catheter-related infections, summary recommendations.</a:t>
            </a:r>
          </a:p>
        </p:txBody>
      </p:sp>
      <p:sp>
        <p:nvSpPr>
          <p:cNvPr id="3" name="footer">
            <a:extLst xmlns:a="http://schemas.openxmlformats.org/drawingml/2006/main">
              <a:ext uri="{FF2B5EF4-FFF2-40B4-BE49-F238E27FC236}">
                <a16:creationId xmlns:a16="http://schemas.microsoft.com/office/drawing/2014/main" id="{CF3658BA-0AF6-43E1-9D81-72F91508BC4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BB4FAB9-99E3-4646-98DD-F287BCE280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30792706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862C84-DD45-4C3E-B2D8-03FE94A82C6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90C085D1-E6A3-4984-A84E-95C311D7C78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CUBICIN prescribing information. Myopathy, renal impairment, and eosinophilic pneumonia.</a:t>
            </a:r>
          </a:p>
        </p:txBody>
      </p:sp>
      <p:sp>
        <p:nvSpPr>
          <p:cNvPr id="3" name="footer">
            <a:extLst xmlns:a="http://schemas.openxmlformats.org/drawingml/2006/main">
              <a:ext uri="{FF2B5EF4-FFF2-40B4-BE49-F238E27FC236}">
                <a16:creationId xmlns:a16="http://schemas.microsoft.com/office/drawing/2014/main" id="{1A71D6AB-983C-4FCE-A4BA-B9173E7FFF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83DF153-2EBC-46FD-BF12-C6E88787CBC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25398740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DCBC5A-0327-4DB6-9D20-8620ACAD6C8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Sources and further reading</a:t>
            </a:r>
          </a:p>
        </p:txBody>
      </p:sp>
      <p:sp>
        <p:nvSpPr>
          <p:cNvPr id="2" name="paragraph-0">
            <a:extLst xmlns:a="http://schemas.openxmlformats.org/drawingml/2006/main">
              <a:ext uri="{FF2B5EF4-FFF2-40B4-BE49-F238E27FC236}">
                <a16:creationId xmlns:a16="http://schemas.microsoft.com/office/drawing/2014/main" id="{4F3C6978-9E10-46D5-9376-D04AA1A9036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cases are fictional. Recommendations are paraphrased from the linked sources. Use current patient-specific guidance and local protocols when prescribing.</a:t>
            </a:r>
          </a:p>
        </p:txBody>
      </p:sp>
      <p:sp>
        <p:nvSpPr>
          <p:cNvPr id="3" name="footer">
            <a:extLst xmlns:a="http://schemas.openxmlformats.org/drawingml/2006/main">
              <a:ext uri="{FF2B5EF4-FFF2-40B4-BE49-F238E27FC236}">
                <a16:creationId xmlns:a16="http://schemas.microsoft.com/office/drawing/2014/main" id="{DFF4476B-7BE0-4A76-B8EB-57679FABD36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BB91AA9-BE0A-4325-B74D-8821D159C7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495223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2026-10-28T18:29:25.5610000Z</dcterms:created>
  <dcterms:modified xsi:type="dcterms:W3CDTF">2026-10-28T18:29:25.5610000Z</dcterms:modified>
</coreProperties>
</file>