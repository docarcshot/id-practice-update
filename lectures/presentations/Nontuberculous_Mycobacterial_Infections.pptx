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23631d2b0445c9" /><Relationship Type="http://schemas.openxmlformats.org/officeDocument/2006/relationships/extended-properties" Target="/docProps/app.xml" Id="Re39c4efbe1da440d" /><Relationship Type="http://schemas.openxmlformats.org/officeDocument/2006/relationships/officeDocument" Target="/ppt/presentation.xml" Id="Ra6ae7d6ee52840f3" /></Relationships>
</file>

<file path=ppt/presentation.xml><?xml version="1.0" encoding="utf-8"?>
<p:presentation xmlns:p="http://schemas.openxmlformats.org/presentationml/2006/main">
  <p:sldMasterIdLst>
    <p:sldMasterId xmlns:r="http://schemas.openxmlformats.org/officeDocument/2006/relationships" id="2147483648" r:id="R8c4331f76488472c"/>
  </p:sldMasterIdLst>
  <p:notesMasterIdLst>
    <p:notesMasterId xmlns:r="http://schemas.openxmlformats.org/officeDocument/2006/relationships" r:id="R015e867da82a4e28"/>
  </p:notesMasterIdLst>
  <p:sldIdLst>
    <p:sldId xmlns:r="http://schemas.openxmlformats.org/officeDocument/2006/relationships" id="256" r:id="R83b5560d4bf54233"/>
    <p:sldId xmlns:r="http://schemas.openxmlformats.org/officeDocument/2006/relationships" id="257" r:id="R18b1692a77e841dc"/>
    <p:sldId xmlns:r="http://schemas.openxmlformats.org/officeDocument/2006/relationships" id="258" r:id="Rfd414ab9d5434881"/>
    <p:sldId xmlns:r="http://schemas.openxmlformats.org/officeDocument/2006/relationships" id="259" r:id="Re965dce2483740c7"/>
    <p:sldId xmlns:r="http://schemas.openxmlformats.org/officeDocument/2006/relationships" id="260" r:id="Rfb65cc97fe4645f4"/>
    <p:sldId xmlns:r="http://schemas.openxmlformats.org/officeDocument/2006/relationships" id="261" r:id="R376c0ad2d5ca45da"/>
    <p:sldId xmlns:r="http://schemas.openxmlformats.org/officeDocument/2006/relationships" id="262" r:id="R3074ca7e0e104dcf"/>
    <p:sldId xmlns:r="http://schemas.openxmlformats.org/officeDocument/2006/relationships" id="263" r:id="R7454bb016b3443de"/>
    <p:sldId xmlns:r="http://schemas.openxmlformats.org/officeDocument/2006/relationships" id="264" r:id="Rbfca877e71cb4846"/>
    <p:sldId xmlns:r="http://schemas.openxmlformats.org/officeDocument/2006/relationships" id="265" r:id="R027b875eecf04f9f"/>
    <p:sldId xmlns:r="http://schemas.openxmlformats.org/officeDocument/2006/relationships" id="266" r:id="Rc76dc6c039b44daa"/>
    <p:sldId xmlns:r="http://schemas.openxmlformats.org/officeDocument/2006/relationships" id="267" r:id="R1bb422c1a2694fe1"/>
    <p:sldId xmlns:r="http://schemas.openxmlformats.org/officeDocument/2006/relationships" id="268" r:id="R1b071f069e0d410c"/>
    <p:sldId xmlns:r="http://schemas.openxmlformats.org/officeDocument/2006/relationships" id="269" r:id="R2c802020f4f14eba"/>
    <p:sldId xmlns:r="http://schemas.openxmlformats.org/officeDocument/2006/relationships" id="270" r:id="R1bf0059421ec4ca5"/>
    <p:sldId xmlns:r="http://schemas.openxmlformats.org/officeDocument/2006/relationships" id="271" r:id="R979116a832af48bc"/>
    <p:sldId xmlns:r="http://schemas.openxmlformats.org/officeDocument/2006/relationships" id="272" r:id="Rf470bf49cb1c43ab"/>
    <p:sldId xmlns:r="http://schemas.openxmlformats.org/officeDocument/2006/relationships" id="273" r:id="R6fd75eb6a60a4ad9"/>
    <p:sldId xmlns:r="http://schemas.openxmlformats.org/officeDocument/2006/relationships" id="274" r:id="R233ba93cbaa74a6c"/>
    <p:sldId xmlns:r="http://schemas.openxmlformats.org/officeDocument/2006/relationships" id="275" r:id="Rd696d63393974b53"/>
    <p:sldId xmlns:r="http://schemas.openxmlformats.org/officeDocument/2006/relationships" id="276" r:id="Rf6e61a1e3aee446a"/>
    <p:sldId xmlns:r="http://schemas.openxmlformats.org/officeDocument/2006/relationships" id="277" r:id="R0dc35c1e108f4db2"/>
    <p:sldId xmlns:r="http://schemas.openxmlformats.org/officeDocument/2006/relationships" id="278" r:id="R36b742c1d4f6403f"/>
    <p:sldId xmlns:r="http://schemas.openxmlformats.org/officeDocument/2006/relationships" id="279" r:id="Rd825482e33cc4014"/>
    <p:sldId xmlns:r="http://schemas.openxmlformats.org/officeDocument/2006/relationships" id="280" r:id="R09bafdc500164f83"/>
    <p:sldId xmlns:r="http://schemas.openxmlformats.org/officeDocument/2006/relationships" id="281" r:id="R4e7b103adbfc4753"/>
    <p:sldId xmlns:r="http://schemas.openxmlformats.org/officeDocument/2006/relationships" id="282" r:id="R9a277e7515844df8"/>
    <p:sldId xmlns:r="http://schemas.openxmlformats.org/officeDocument/2006/relationships" id="283" r:id="R457d095d803b4e75"/>
    <p:sldId xmlns:r="http://schemas.openxmlformats.org/officeDocument/2006/relationships" id="284" r:id="R314fe6945da64bd9"/>
    <p:sldId xmlns:r="http://schemas.openxmlformats.org/officeDocument/2006/relationships" id="285" r:id="R342ae679ff1044bd"/>
    <p:sldId xmlns:r="http://schemas.openxmlformats.org/officeDocument/2006/relationships" id="286" r:id="R70ed1059afc547b0"/>
    <p:sldId xmlns:r="http://schemas.openxmlformats.org/officeDocument/2006/relationships" id="287" r:id="R309c8a7235714a25"/>
    <p:sldId xmlns:r="http://schemas.openxmlformats.org/officeDocument/2006/relationships" id="288" r:id="Ra1f16eb10d114dc7"/>
    <p:sldId xmlns:r="http://schemas.openxmlformats.org/officeDocument/2006/relationships" id="289" r:id="Rba4a402f628a4f0d"/>
    <p:sldId xmlns:r="http://schemas.openxmlformats.org/officeDocument/2006/relationships" id="290" r:id="Rad8474cface84384"/>
    <p:sldId xmlns:r="http://schemas.openxmlformats.org/officeDocument/2006/relationships" id="291" r:id="Rf7da0e1368564d74"/>
    <p:sldId xmlns:r="http://schemas.openxmlformats.org/officeDocument/2006/relationships" id="292" r:id="Raeb6d6026b444c45"/>
    <p:sldId xmlns:r="http://schemas.openxmlformats.org/officeDocument/2006/relationships" id="293" r:id="R7ab14a2549534d61"/>
    <p:sldId xmlns:r="http://schemas.openxmlformats.org/officeDocument/2006/relationships" id="294" r:id="Ra94768a4acdc43c6"/>
    <p:sldId xmlns:r="http://schemas.openxmlformats.org/officeDocument/2006/relationships" id="295" r:id="R3b66e1d8cf5c4543"/>
    <p:sldId xmlns:r="http://schemas.openxmlformats.org/officeDocument/2006/relationships" id="296" r:id="Ra54e9f578cff4101"/>
    <p:sldId xmlns:r="http://schemas.openxmlformats.org/officeDocument/2006/relationships" id="297" r:id="R2bb42bfd9edd42c5"/>
    <p:sldId xmlns:r="http://schemas.openxmlformats.org/officeDocument/2006/relationships" id="298" r:id="Rca56eaa5d4b1467b"/>
    <p:sldId xmlns:r="http://schemas.openxmlformats.org/officeDocument/2006/relationships" id="299" r:id="R66817f476337460f"/>
    <p:sldId xmlns:r="http://schemas.openxmlformats.org/officeDocument/2006/relationships" id="300" r:id="R040817910375421d"/>
    <p:sldId xmlns:r="http://schemas.openxmlformats.org/officeDocument/2006/relationships" id="301" r:id="R60d7c82977784750"/>
    <p:sldId xmlns:r="http://schemas.openxmlformats.org/officeDocument/2006/relationships" id="302" r:id="Rb462b57e70ce4de3"/>
    <p:sldId xmlns:r="http://schemas.openxmlformats.org/officeDocument/2006/relationships" id="303" r:id="R161d660d7ae64999"/>
    <p:sldId xmlns:r="http://schemas.openxmlformats.org/officeDocument/2006/relationships" id="304" r:id="Rb664214e0e9544a2"/>
    <p:sldId xmlns:r="http://schemas.openxmlformats.org/officeDocument/2006/relationships" id="305" r:id="R2bbf0344ecc545f8"/>
    <p:sldId xmlns:r="http://schemas.openxmlformats.org/officeDocument/2006/relationships" id="306" r:id="R4c86cf29059f4705"/>
    <p:sldId xmlns:r="http://schemas.openxmlformats.org/officeDocument/2006/relationships" id="307" r:id="R7af70ade17324656"/>
    <p:sldId xmlns:r="http://schemas.openxmlformats.org/officeDocument/2006/relationships" id="308" r:id="Rdd7daf30fc204acf"/>
    <p:sldId xmlns:r="http://schemas.openxmlformats.org/officeDocument/2006/relationships" id="309" r:id="Rca945f5c5c4c4861"/>
    <p:sldId xmlns:r="http://schemas.openxmlformats.org/officeDocument/2006/relationships" id="310" r:id="R6fbccfbfb6cc4be1"/>
    <p:sldId xmlns:r="http://schemas.openxmlformats.org/officeDocument/2006/relationships" id="311" r:id="R66c37b219e354ed6"/>
    <p:sldId xmlns:r="http://schemas.openxmlformats.org/officeDocument/2006/relationships" id="312" r:id="R585ed902dc2c46c5"/>
    <p:sldId xmlns:r="http://schemas.openxmlformats.org/officeDocument/2006/relationships" id="313" r:id="R1ed84d90731b49fc"/>
    <p:sldId xmlns:r="http://schemas.openxmlformats.org/officeDocument/2006/relationships" id="314" r:id="R3418605f91c84727"/>
    <p:sldId xmlns:r="http://schemas.openxmlformats.org/officeDocument/2006/relationships" id="315" r:id="Rc9a948ed34254269"/>
    <p:sldId xmlns:r="http://schemas.openxmlformats.org/officeDocument/2006/relationships" id="316" r:id="R3cdcac9163854e84"/>
    <p:sldId xmlns:r="http://schemas.openxmlformats.org/officeDocument/2006/relationships" id="317" r:id="R3e45c31c65a44164"/>
    <p:sldId xmlns:r="http://schemas.openxmlformats.org/officeDocument/2006/relationships" id="318" r:id="Rb1d91158f8264168"/>
    <p:sldId xmlns:r="http://schemas.openxmlformats.org/officeDocument/2006/relationships" id="319" r:id="R72023742a6a14d5a"/>
    <p:sldId xmlns:r="http://schemas.openxmlformats.org/officeDocument/2006/relationships" id="320" r:id="R594bf1ec0dc94359"/>
    <p:sldId xmlns:r="http://schemas.openxmlformats.org/officeDocument/2006/relationships" id="321" r:id="Rd70e79b74ef14070"/>
    <p:sldId xmlns:r="http://schemas.openxmlformats.org/officeDocument/2006/relationships" id="322" r:id="R2a639450e2454353"/>
    <p:sldId xmlns:r="http://schemas.openxmlformats.org/officeDocument/2006/relationships" id="323" r:id="R474fb2105ce8482d"/>
    <p:sldId xmlns:r="http://schemas.openxmlformats.org/officeDocument/2006/relationships" id="324" r:id="R7f7ecf4ddffd469e"/>
    <p:sldId xmlns:r="http://schemas.openxmlformats.org/officeDocument/2006/relationships" id="325" r:id="Rb6f8d6ca47ce4a52"/>
    <p:sldId xmlns:r="http://schemas.openxmlformats.org/officeDocument/2006/relationships" id="326" r:id="Rf4d31051a8de411a"/>
    <p:sldId xmlns:r="http://schemas.openxmlformats.org/officeDocument/2006/relationships" id="327" r:id="R55ed5aee1e194902"/>
    <p:sldId xmlns:r="http://schemas.openxmlformats.org/officeDocument/2006/relationships" id="328" r:id="R6e19ac4eea864bc4"/>
    <p:sldId xmlns:r="http://schemas.openxmlformats.org/officeDocument/2006/relationships" id="329" r:id="R696dcb69fb344ff5"/>
    <p:sldId xmlns:r="http://schemas.openxmlformats.org/officeDocument/2006/relationships" id="330" r:id="R50c3ab83eb9d4efa"/>
    <p:sldId xmlns:r="http://schemas.openxmlformats.org/officeDocument/2006/relationships" id="331" r:id="Rabe674f538414927"/>
    <p:sldId xmlns:r="http://schemas.openxmlformats.org/officeDocument/2006/relationships" id="332" r:id="Rb301198b6bc54629"/>
    <p:sldId xmlns:r="http://schemas.openxmlformats.org/officeDocument/2006/relationships" id="333" r:id="Rc0c9d998a3dd4c06"/>
    <p:sldId xmlns:r="http://schemas.openxmlformats.org/officeDocument/2006/relationships" id="334" r:id="R35eb46eafbdb47bb"/>
    <p:sldId xmlns:r="http://schemas.openxmlformats.org/officeDocument/2006/relationships" id="335" r:id="R05a58bca19e2424b"/>
    <p:sldId xmlns:r="http://schemas.openxmlformats.org/officeDocument/2006/relationships" id="336" r:id="Rdbd9170e5cd14d3c"/>
    <p:sldId xmlns:r="http://schemas.openxmlformats.org/officeDocument/2006/relationships" id="337" r:id="R54d6628fbaef47d0"/>
    <p:sldId xmlns:r="http://schemas.openxmlformats.org/officeDocument/2006/relationships" id="338" r:id="R75b977d1262646a8"/>
    <p:sldId xmlns:r="http://schemas.openxmlformats.org/officeDocument/2006/relationships" id="339" r:id="R8c8284689451498a"/>
    <p:sldId xmlns:r="http://schemas.openxmlformats.org/officeDocument/2006/relationships" id="340" r:id="R271c4370879c43fa"/>
    <p:sldId xmlns:r="http://schemas.openxmlformats.org/officeDocument/2006/relationships" id="341" r:id="Ra7b7a435c96a43c1"/>
    <p:sldId xmlns:r="http://schemas.openxmlformats.org/officeDocument/2006/relationships" id="342" r:id="R6578209fc8fd425c"/>
    <p:sldId xmlns:r="http://schemas.openxmlformats.org/officeDocument/2006/relationships" id="343" r:id="R6327e66d8d084db6"/>
    <p:sldId xmlns:r="http://schemas.openxmlformats.org/officeDocument/2006/relationships" id="344" r:id="R6d05871ec0a6440c"/>
    <p:sldId xmlns:r="http://schemas.openxmlformats.org/officeDocument/2006/relationships" id="345" r:id="Rcd5d40519faf4b66"/>
    <p:sldId xmlns:r="http://schemas.openxmlformats.org/officeDocument/2006/relationships" id="346" r:id="Rfaed6a4ce1134ac2"/>
    <p:sldId xmlns:r="http://schemas.openxmlformats.org/officeDocument/2006/relationships" id="347" r:id="Rd7aad6a7a02d4760"/>
    <p:sldId xmlns:r="http://schemas.openxmlformats.org/officeDocument/2006/relationships" id="348" r:id="R550ae66416a34156"/>
    <p:sldId xmlns:r="http://schemas.openxmlformats.org/officeDocument/2006/relationships" id="349" r:id="Rbcf8053880e84866"/>
    <p:sldId xmlns:r="http://schemas.openxmlformats.org/officeDocument/2006/relationships" id="350" r:id="Rfd803ced17dd40bc"/>
    <p:sldId xmlns:r="http://schemas.openxmlformats.org/officeDocument/2006/relationships" id="351" r:id="Rfc82f07db61b4f33"/>
    <p:sldId xmlns:r="http://schemas.openxmlformats.org/officeDocument/2006/relationships" id="352" r:id="Rdb97c2757b214426"/>
    <p:sldId xmlns:r="http://schemas.openxmlformats.org/officeDocument/2006/relationships" id="353" r:id="Rc19d765f0c2d4d6f"/>
    <p:sldId xmlns:r="http://schemas.openxmlformats.org/officeDocument/2006/relationships" id="354" r:id="R2e836999ca8f4ae1"/>
    <p:sldId xmlns:r="http://schemas.openxmlformats.org/officeDocument/2006/relationships" id="355" r:id="R173a6a7d0e9140ea"/>
    <p:sldId xmlns:r="http://schemas.openxmlformats.org/officeDocument/2006/relationships" id="356" r:id="R92aceed29c9440f1"/>
    <p:sldId xmlns:r="http://schemas.openxmlformats.org/officeDocument/2006/relationships" id="357" r:id="R96caa59463634ddc"/>
    <p:sldId xmlns:r="http://schemas.openxmlformats.org/officeDocument/2006/relationships" id="358" r:id="R1eb83874b0f245b5"/>
    <p:sldId xmlns:r="http://schemas.openxmlformats.org/officeDocument/2006/relationships" id="359" r:id="Rc18c5125e27a46f9"/>
    <p:sldId xmlns:r="http://schemas.openxmlformats.org/officeDocument/2006/relationships" id="360" r:id="R454aa4bcd02f4dfd"/>
    <p:sldId xmlns:r="http://schemas.openxmlformats.org/officeDocument/2006/relationships" id="361" r:id="R6c019b15f2724768"/>
    <p:sldId xmlns:r="http://schemas.openxmlformats.org/officeDocument/2006/relationships" id="362" r:id="Rfa694eaee9904bdc"/>
    <p:sldId xmlns:r="http://schemas.openxmlformats.org/officeDocument/2006/relationships" id="363" r:id="R495f925ca4604ca0"/>
    <p:sldId xmlns:r="http://schemas.openxmlformats.org/officeDocument/2006/relationships" id="364" r:id="R4d4dbb571e2547b4"/>
    <p:sldId xmlns:r="http://schemas.openxmlformats.org/officeDocument/2006/relationships" id="365" r:id="R26cff5fa6b7a48de"/>
    <p:sldId xmlns:r="http://schemas.openxmlformats.org/officeDocument/2006/relationships" id="366" r:id="R8a6831dd29324030"/>
    <p:sldId xmlns:r="http://schemas.openxmlformats.org/officeDocument/2006/relationships" id="367" r:id="R05c919b03c494d7c"/>
    <p:sldId xmlns:r="http://schemas.openxmlformats.org/officeDocument/2006/relationships" id="368" r:id="Rf1862143c5344d11"/>
    <p:sldId xmlns:r="http://schemas.openxmlformats.org/officeDocument/2006/relationships" id="369" r:id="R9679532c9da24ffc"/>
    <p:sldId xmlns:r="http://schemas.openxmlformats.org/officeDocument/2006/relationships" id="370" r:id="Rdf459e70bf754062"/>
    <p:sldId xmlns:r="http://schemas.openxmlformats.org/officeDocument/2006/relationships" id="371" r:id="R6e1e7c0f58c84b21"/>
    <p:sldId xmlns:r="http://schemas.openxmlformats.org/officeDocument/2006/relationships" id="372" r:id="Rbee519fb4da44cc7"/>
    <p:sldId xmlns:r="http://schemas.openxmlformats.org/officeDocument/2006/relationships" id="373" r:id="Ra890b4ca4a6a4fe3"/>
    <p:sldId xmlns:r="http://schemas.openxmlformats.org/officeDocument/2006/relationships" id="374" r:id="R56b88d36639046bb"/>
    <p:sldId xmlns:r="http://schemas.openxmlformats.org/officeDocument/2006/relationships" id="375" r:id="Rd0ac5f917d294517"/>
    <p:sldId xmlns:r="http://schemas.openxmlformats.org/officeDocument/2006/relationships" id="376" r:id="R5c1b97ad783c4a2d"/>
    <p:sldId xmlns:r="http://schemas.openxmlformats.org/officeDocument/2006/relationships" id="377" r:id="R1c07ac1faa234b04"/>
    <p:sldId xmlns:r="http://schemas.openxmlformats.org/officeDocument/2006/relationships" id="378" r:id="Ra50b45f8b58642d4"/>
    <p:sldId xmlns:r="http://schemas.openxmlformats.org/officeDocument/2006/relationships" id="379" r:id="R8aa4b1d15de64f8d"/>
    <p:sldId xmlns:r="http://schemas.openxmlformats.org/officeDocument/2006/relationships" id="380" r:id="R81acf863831243d1"/>
    <p:sldId xmlns:r="http://schemas.openxmlformats.org/officeDocument/2006/relationships" id="381" r:id="Rbb9b5f6d6dfe4a9d"/>
    <p:sldId xmlns:r="http://schemas.openxmlformats.org/officeDocument/2006/relationships" id="382" r:id="R6284a5ea02924a18"/>
    <p:sldId xmlns:r="http://schemas.openxmlformats.org/officeDocument/2006/relationships" id="383" r:id="R3968c8dde5b341b5"/>
    <p:sldId xmlns:r="http://schemas.openxmlformats.org/officeDocument/2006/relationships" id="384" r:id="Rdc991f1d577f4e74"/>
    <p:sldId xmlns:r="http://schemas.openxmlformats.org/officeDocument/2006/relationships" id="385" r:id="Ra3baebd2e5964fac"/>
    <p:sldId xmlns:r="http://schemas.openxmlformats.org/officeDocument/2006/relationships" id="386" r:id="R90af4aacbe544e4e"/>
    <p:sldId xmlns:r="http://schemas.openxmlformats.org/officeDocument/2006/relationships" id="387" r:id="Ra0693c8c44624aad"/>
    <p:sldId xmlns:r="http://schemas.openxmlformats.org/officeDocument/2006/relationships" id="388" r:id="R880d016fb795456e"/>
    <p:sldId xmlns:r="http://schemas.openxmlformats.org/officeDocument/2006/relationships" id="389" r:id="R9b584b61ce114c89"/>
    <p:sldId xmlns:r="http://schemas.openxmlformats.org/officeDocument/2006/relationships" id="390" r:id="Rbd53e7d903c54d53"/>
    <p:sldId xmlns:r="http://schemas.openxmlformats.org/officeDocument/2006/relationships" id="391" r:id="R390bed13e2514d46"/>
    <p:sldId xmlns:r="http://schemas.openxmlformats.org/officeDocument/2006/relationships" id="392" r:id="R95fbcd937b8342e9"/>
    <p:sldId xmlns:r="http://schemas.openxmlformats.org/officeDocument/2006/relationships" id="393" r:id="Re3931446374f4968"/>
    <p:sldId xmlns:r="http://schemas.openxmlformats.org/officeDocument/2006/relationships" id="394" r:id="Rd52fe9a786014e3b"/>
    <p:sldId xmlns:r="http://schemas.openxmlformats.org/officeDocument/2006/relationships" id="395" r:id="Rb582d5169e5d4b83"/>
    <p:sldId xmlns:r="http://schemas.openxmlformats.org/officeDocument/2006/relationships" id="396" r:id="R5fa56506f584400e"/>
    <p:sldId xmlns:r="http://schemas.openxmlformats.org/officeDocument/2006/relationships" id="397" r:id="R65dbc3caaf164572"/>
    <p:sldId xmlns:r="http://schemas.openxmlformats.org/officeDocument/2006/relationships" id="398" r:id="R0093766f6ee444d8"/>
    <p:sldId xmlns:r="http://schemas.openxmlformats.org/officeDocument/2006/relationships" id="399" r:id="R6f5a2108fe764a09"/>
    <p:sldId xmlns:r="http://schemas.openxmlformats.org/officeDocument/2006/relationships" id="400" r:id="R9ba482e3367740cd"/>
    <p:sldId xmlns:r="http://schemas.openxmlformats.org/officeDocument/2006/relationships" id="401" r:id="R834fab867db34a40"/>
    <p:sldId xmlns:r="http://schemas.openxmlformats.org/officeDocument/2006/relationships" id="402" r:id="R080a7c9de5d349e0"/>
    <p:sldId xmlns:r="http://schemas.openxmlformats.org/officeDocument/2006/relationships" id="403" r:id="R4536fb76f2ec4647"/>
    <p:sldId xmlns:r="http://schemas.openxmlformats.org/officeDocument/2006/relationships" id="404" r:id="R12b044a80987478d"/>
    <p:sldId xmlns:r="http://schemas.openxmlformats.org/officeDocument/2006/relationships" id="405" r:id="Ra99415280fc5434e"/>
    <p:sldId xmlns:r="http://schemas.openxmlformats.org/officeDocument/2006/relationships" id="406" r:id="Rc1958c2bc28f4762"/>
    <p:sldId xmlns:r="http://schemas.openxmlformats.org/officeDocument/2006/relationships" id="407" r:id="R3cbec69a5ab6430a"/>
    <p:sldId xmlns:r="http://schemas.openxmlformats.org/officeDocument/2006/relationships" id="408" r:id="Rd7dbc6175d54480d"/>
    <p:sldId xmlns:r="http://schemas.openxmlformats.org/officeDocument/2006/relationships" id="409" r:id="R1a368e4ad1774d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b2ca43fad74c2e" /><Relationship Type="http://schemas.openxmlformats.org/officeDocument/2006/relationships/slideMaster" Target="/ppt/slideMasters/slideMaster1.xml" Id="R8c4331f76488472c" /><Relationship Type="http://schemas.openxmlformats.org/officeDocument/2006/relationships/notesMaster" Target="/ppt/notesMasters/notesMaster1.xml" Id="R015e867da82a4e28" /><Relationship Type="http://schemas.openxmlformats.org/officeDocument/2006/relationships/presProps" Target="/ppt/presProps.xml" Id="R57acc78e8a7a4810" /><Relationship Type="http://schemas.openxmlformats.org/officeDocument/2006/relationships/tableStyles" Target="/ppt/tableStyles.xml" Id="R2a2346cebd514109" /><Relationship Type="http://schemas.openxmlformats.org/officeDocument/2006/relationships/slide" Target="/ppt/slides/slide1.xml" Id="R83b5560d4bf54233" /><Relationship Type="http://schemas.openxmlformats.org/officeDocument/2006/relationships/slide" Target="/ppt/slides/slide2.xml" Id="R18b1692a77e841dc" /><Relationship Type="http://schemas.openxmlformats.org/officeDocument/2006/relationships/slide" Target="/ppt/slides/slide3.xml" Id="Rfd414ab9d5434881" /><Relationship Type="http://schemas.openxmlformats.org/officeDocument/2006/relationships/slide" Target="/ppt/slides/slide4.xml" Id="Re965dce2483740c7" /><Relationship Type="http://schemas.openxmlformats.org/officeDocument/2006/relationships/slide" Target="/ppt/slides/slide5.xml" Id="Rfb65cc97fe4645f4" /><Relationship Type="http://schemas.openxmlformats.org/officeDocument/2006/relationships/slide" Target="/ppt/slides/slide6.xml" Id="R376c0ad2d5ca45da" /><Relationship Type="http://schemas.openxmlformats.org/officeDocument/2006/relationships/slide" Target="/ppt/slides/slide7.xml" Id="R3074ca7e0e104dcf" /><Relationship Type="http://schemas.openxmlformats.org/officeDocument/2006/relationships/slide" Target="/ppt/slides/slide8.xml" Id="R7454bb016b3443de" /><Relationship Type="http://schemas.openxmlformats.org/officeDocument/2006/relationships/slide" Target="/ppt/slides/slide9.xml" Id="Rbfca877e71cb4846" /><Relationship Type="http://schemas.openxmlformats.org/officeDocument/2006/relationships/slide" Target="/ppt/slides/slide10.xml" Id="R027b875eecf04f9f" /><Relationship Type="http://schemas.openxmlformats.org/officeDocument/2006/relationships/slide" Target="/ppt/slides/slide11.xml" Id="Rc76dc6c039b44daa" /><Relationship Type="http://schemas.openxmlformats.org/officeDocument/2006/relationships/slide" Target="/ppt/slides/slide12.xml" Id="R1bb422c1a2694fe1" /><Relationship Type="http://schemas.openxmlformats.org/officeDocument/2006/relationships/slide" Target="/ppt/slides/slide13.xml" Id="R1b071f069e0d410c" /><Relationship Type="http://schemas.openxmlformats.org/officeDocument/2006/relationships/slide" Target="/ppt/slides/slide14.xml" Id="R2c802020f4f14eba" /><Relationship Type="http://schemas.openxmlformats.org/officeDocument/2006/relationships/slide" Target="/ppt/slides/slide15.xml" Id="R1bf0059421ec4ca5" /><Relationship Type="http://schemas.openxmlformats.org/officeDocument/2006/relationships/slide" Target="/ppt/slides/slide16.xml" Id="R979116a832af48bc" /><Relationship Type="http://schemas.openxmlformats.org/officeDocument/2006/relationships/slide" Target="/ppt/slides/slide17.xml" Id="Rf470bf49cb1c43ab" /><Relationship Type="http://schemas.openxmlformats.org/officeDocument/2006/relationships/slide" Target="/ppt/slides/slide18.xml" Id="R6fd75eb6a60a4ad9" /><Relationship Type="http://schemas.openxmlformats.org/officeDocument/2006/relationships/slide" Target="/ppt/slides/slide19.xml" Id="R233ba93cbaa74a6c" /><Relationship Type="http://schemas.openxmlformats.org/officeDocument/2006/relationships/slide" Target="/ppt/slides/slide20.xml" Id="Rd696d63393974b53" /><Relationship Type="http://schemas.openxmlformats.org/officeDocument/2006/relationships/slide" Target="/ppt/slides/slide21.xml" Id="Rf6e61a1e3aee446a" /><Relationship Type="http://schemas.openxmlformats.org/officeDocument/2006/relationships/slide" Target="/ppt/slides/slide22.xml" Id="R0dc35c1e108f4db2" /><Relationship Type="http://schemas.openxmlformats.org/officeDocument/2006/relationships/slide" Target="/ppt/slides/slide23.xml" Id="R36b742c1d4f6403f" /><Relationship Type="http://schemas.openxmlformats.org/officeDocument/2006/relationships/slide" Target="/ppt/slides/slide24.xml" Id="Rd825482e33cc4014" /><Relationship Type="http://schemas.openxmlformats.org/officeDocument/2006/relationships/slide" Target="/ppt/slides/slide25.xml" Id="R09bafdc500164f83" /><Relationship Type="http://schemas.openxmlformats.org/officeDocument/2006/relationships/slide" Target="/ppt/slides/slide26.xml" Id="R4e7b103adbfc4753" /><Relationship Type="http://schemas.openxmlformats.org/officeDocument/2006/relationships/slide" Target="/ppt/slides/slide27.xml" Id="R9a277e7515844df8" /><Relationship Type="http://schemas.openxmlformats.org/officeDocument/2006/relationships/slide" Target="/ppt/slides/slide28.xml" Id="R457d095d803b4e75" /><Relationship Type="http://schemas.openxmlformats.org/officeDocument/2006/relationships/slide" Target="/ppt/slides/slide29.xml" Id="R314fe6945da64bd9" /><Relationship Type="http://schemas.openxmlformats.org/officeDocument/2006/relationships/slide" Target="/ppt/slides/slide30.xml" Id="R342ae679ff1044bd" /><Relationship Type="http://schemas.openxmlformats.org/officeDocument/2006/relationships/slide" Target="/ppt/slides/slide31.xml" Id="R70ed1059afc547b0" /><Relationship Type="http://schemas.openxmlformats.org/officeDocument/2006/relationships/slide" Target="/ppt/slides/slide32.xml" Id="R309c8a7235714a25" /><Relationship Type="http://schemas.openxmlformats.org/officeDocument/2006/relationships/slide" Target="/ppt/slides/slide33.xml" Id="Ra1f16eb10d114dc7" /><Relationship Type="http://schemas.openxmlformats.org/officeDocument/2006/relationships/slide" Target="/ppt/slides/slide34.xml" Id="Rba4a402f628a4f0d" /><Relationship Type="http://schemas.openxmlformats.org/officeDocument/2006/relationships/slide" Target="/ppt/slides/slide35.xml" Id="Rad8474cface84384" /><Relationship Type="http://schemas.openxmlformats.org/officeDocument/2006/relationships/slide" Target="/ppt/slides/slide36.xml" Id="Rf7da0e1368564d74" /><Relationship Type="http://schemas.openxmlformats.org/officeDocument/2006/relationships/slide" Target="/ppt/slides/slide37.xml" Id="Raeb6d6026b444c45" /><Relationship Type="http://schemas.openxmlformats.org/officeDocument/2006/relationships/slide" Target="/ppt/slides/slide38.xml" Id="R7ab14a2549534d61" /><Relationship Type="http://schemas.openxmlformats.org/officeDocument/2006/relationships/slide" Target="/ppt/slides/slide39.xml" Id="Ra94768a4acdc43c6" /><Relationship Type="http://schemas.openxmlformats.org/officeDocument/2006/relationships/slide" Target="/ppt/slides/slide40.xml" Id="R3b66e1d8cf5c4543" /><Relationship Type="http://schemas.openxmlformats.org/officeDocument/2006/relationships/slide" Target="/ppt/slides/slide41.xml" Id="Ra54e9f578cff4101" /><Relationship Type="http://schemas.openxmlformats.org/officeDocument/2006/relationships/slide" Target="/ppt/slides/slide42.xml" Id="R2bb42bfd9edd42c5" /><Relationship Type="http://schemas.openxmlformats.org/officeDocument/2006/relationships/slide" Target="/ppt/slides/slide43.xml" Id="Rca56eaa5d4b1467b" /><Relationship Type="http://schemas.openxmlformats.org/officeDocument/2006/relationships/slide" Target="/ppt/slides/slide44.xml" Id="R66817f476337460f" /><Relationship Type="http://schemas.openxmlformats.org/officeDocument/2006/relationships/slide" Target="/ppt/slides/slide45.xml" Id="R040817910375421d" /><Relationship Type="http://schemas.openxmlformats.org/officeDocument/2006/relationships/slide" Target="/ppt/slides/slide46.xml" Id="R60d7c82977784750" /><Relationship Type="http://schemas.openxmlformats.org/officeDocument/2006/relationships/slide" Target="/ppt/slides/slide47.xml" Id="Rb462b57e70ce4de3" /><Relationship Type="http://schemas.openxmlformats.org/officeDocument/2006/relationships/slide" Target="/ppt/slides/slide48.xml" Id="R161d660d7ae64999" /><Relationship Type="http://schemas.openxmlformats.org/officeDocument/2006/relationships/slide" Target="/ppt/slides/slide49.xml" Id="Rb664214e0e9544a2" /><Relationship Type="http://schemas.openxmlformats.org/officeDocument/2006/relationships/slide" Target="/ppt/slides/slide50.xml" Id="R2bbf0344ecc545f8" /><Relationship Type="http://schemas.openxmlformats.org/officeDocument/2006/relationships/slide" Target="/ppt/slides/slide51.xml" Id="R4c86cf29059f4705" /><Relationship Type="http://schemas.openxmlformats.org/officeDocument/2006/relationships/slide" Target="/ppt/slides/slide52.xml" Id="R7af70ade17324656" /><Relationship Type="http://schemas.openxmlformats.org/officeDocument/2006/relationships/slide" Target="/ppt/slides/slide53.xml" Id="Rdd7daf30fc204acf" /><Relationship Type="http://schemas.openxmlformats.org/officeDocument/2006/relationships/slide" Target="/ppt/slides/slide54.xml" Id="Rca945f5c5c4c4861" /><Relationship Type="http://schemas.openxmlformats.org/officeDocument/2006/relationships/slide" Target="/ppt/slides/slide55.xml" Id="R6fbccfbfb6cc4be1" /><Relationship Type="http://schemas.openxmlformats.org/officeDocument/2006/relationships/slide" Target="/ppt/slides/slide56.xml" Id="R66c37b219e354ed6" /><Relationship Type="http://schemas.openxmlformats.org/officeDocument/2006/relationships/slide" Target="/ppt/slides/slide57.xml" Id="R585ed902dc2c46c5" /><Relationship Type="http://schemas.openxmlformats.org/officeDocument/2006/relationships/slide" Target="/ppt/slides/slide58.xml" Id="R1ed84d90731b49fc" /><Relationship Type="http://schemas.openxmlformats.org/officeDocument/2006/relationships/slide" Target="/ppt/slides/slide59.xml" Id="R3418605f91c84727" /><Relationship Type="http://schemas.openxmlformats.org/officeDocument/2006/relationships/slide" Target="/ppt/slides/slide60.xml" Id="Rc9a948ed34254269" /><Relationship Type="http://schemas.openxmlformats.org/officeDocument/2006/relationships/slide" Target="/ppt/slides/slide61.xml" Id="R3cdcac9163854e84" /><Relationship Type="http://schemas.openxmlformats.org/officeDocument/2006/relationships/slide" Target="/ppt/slides/slide62.xml" Id="R3e45c31c65a44164" /><Relationship Type="http://schemas.openxmlformats.org/officeDocument/2006/relationships/slide" Target="/ppt/slides/slide63.xml" Id="Rb1d91158f8264168" /><Relationship Type="http://schemas.openxmlformats.org/officeDocument/2006/relationships/slide" Target="/ppt/slides/slide64.xml" Id="R72023742a6a14d5a" /><Relationship Type="http://schemas.openxmlformats.org/officeDocument/2006/relationships/slide" Target="/ppt/slides/slide65.xml" Id="R594bf1ec0dc94359" /><Relationship Type="http://schemas.openxmlformats.org/officeDocument/2006/relationships/slide" Target="/ppt/slides/slide66.xml" Id="Rd70e79b74ef14070" /><Relationship Type="http://schemas.openxmlformats.org/officeDocument/2006/relationships/slide" Target="/ppt/slides/slide67.xml" Id="R2a639450e2454353" /><Relationship Type="http://schemas.openxmlformats.org/officeDocument/2006/relationships/slide" Target="/ppt/slides/slide68.xml" Id="R474fb2105ce8482d" /><Relationship Type="http://schemas.openxmlformats.org/officeDocument/2006/relationships/slide" Target="/ppt/slides/slide69.xml" Id="R7f7ecf4ddffd469e" /><Relationship Type="http://schemas.openxmlformats.org/officeDocument/2006/relationships/slide" Target="/ppt/slides/slide70.xml" Id="Rb6f8d6ca47ce4a52" /><Relationship Type="http://schemas.openxmlformats.org/officeDocument/2006/relationships/slide" Target="/ppt/slides/slide71.xml" Id="Rf4d31051a8de411a" /><Relationship Type="http://schemas.openxmlformats.org/officeDocument/2006/relationships/slide" Target="/ppt/slides/slide72.xml" Id="R55ed5aee1e194902" /><Relationship Type="http://schemas.openxmlformats.org/officeDocument/2006/relationships/slide" Target="/ppt/slides/slide73.xml" Id="R6e19ac4eea864bc4" /><Relationship Type="http://schemas.openxmlformats.org/officeDocument/2006/relationships/slide" Target="/ppt/slides/slide74.xml" Id="R696dcb69fb344ff5" /><Relationship Type="http://schemas.openxmlformats.org/officeDocument/2006/relationships/slide" Target="/ppt/slides/slide75.xml" Id="R50c3ab83eb9d4efa" /><Relationship Type="http://schemas.openxmlformats.org/officeDocument/2006/relationships/slide" Target="/ppt/slides/slide76.xml" Id="Rabe674f538414927" /><Relationship Type="http://schemas.openxmlformats.org/officeDocument/2006/relationships/slide" Target="/ppt/slides/slide77.xml" Id="Rb301198b6bc54629" /><Relationship Type="http://schemas.openxmlformats.org/officeDocument/2006/relationships/slide" Target="/ppt/slides/slide78.xml" Id="Rc0c9d998a3dd4c06" /><Relationship Type="http://schemas.openxmlformats.org/officeDocument/2006/relationships/slide" Target="/ppt/slides/slide79.xml" Id="R35eb46eafbdb47bb" /><Relationship Type="http://schemas.openxmlformats.org/officeDocument/2006/relationships/slide" Target="/ppt/slides/slide80.xml" Id="R05a58bca19e2424b" /><Relationship Type="http://schemas.openxmlformats.org/officeDocument/2006/relationships/slide" Target="/ppt/slides/slide81.xml" Id="Rdbd9170e5cd14d3c" /><Relationship Type="http://schemas.openxmlformats.org/officeDocument/2006/relationships/slide" Target="/ppt/slides/slide82.xml" Id="R54d6628fbaef47d0" /><Relationship Type="http://schemas.openxmlformats.org/officeDocument/2006/relationships/slide" Target="/ppt/slides/slide83.xml" Id="R75b977d1262646a8" /><Relationship Type="http://schemas.openxmlformats.org/officeDocument/2006/relationships/slide" Target="/ppt/slides/slide84.xml" Id="R8c8284689451498a" /><Relationship Type="http://schemas.openxmlformats.org/officeDocument/2006/relationships/slide" Target="/ppt/slides/slide85.xml" Id="R271c4370879c43fa" /><Relationship Type="http://schemas.openxmlformats.org/officeDocument/2006/relationships/slide" Target="/ppt/slides/slide86.xml" Id="Ra7b7a435c96a43c1" /><Relationship Type="http://schemas.openxmlformats.org/officeDocument/2006/relationships/slide" Target="/ppt/slides/slide87.xml" Id="R6578209fc8fd425c" /><Relationship Type="http://schemas.openxmlformats.org/officeDocument/2006/relationships/slide" Target="/ppt/slides/slide88.xml" Id="R6327e66d8d084db6" /><Relationship Type="http://schemas.openxmlformats.org/officeDocument/2006/relationships/slide" Target="/ppt/slides/slide89.xml" Id="R6d05871ec0a6440c" /><Relationship Type="http://schemas.openxmlformats.org/officeDocument/2006/relationships/slide" Target="/ppt/slides/slide90.xml" Id="Rcd5d40519faf4b66" /><Relationship Type="http://schemas.openxmlformats.org/officeDocument/2006/relationships/slide" Target="/ppt/slides/slide91.xml" Id="Rfaed6a4ce1134ac2" /><Relationship Type="http://schemas.openxmlformats.org/officeDocument/2006/relationships/slide" Target="/ppt/slides/slide92.xml" Id="Rd7aad6a7a02d4760" /><Relationship Type="http://schemas.openxmlformats.org/officeDocument/2006/relationships/slide" Target="/ppt/slides/slide93.xml" Id="R550ae66416a34156" /><Relationship Type="http://schemas.openxmlformats.org/officeDocument/2006/relationships/slide" Target="/ppt/slides/slide94.xml" Id="Rbcf8053880e84866" /><Relationship Type="http://schemas.openxmlformats.org/officeDocument/2006/relationships/slide" Target="/ppt/slides/slide95.xml" Id="Rfd803ced17dd40bc" /><Relationship Type="http://schemas.openxmlformats.org/officeDocument/2006/relationships/slide" Target="/ppt/slides/slide96.xml" Id="Rfc82f07db61b4f33" /><Relationship Type="http://schemas.openxmlformats.org/officeDocument/2006/relationships/slide" Target="/ppt/slides/slide97.xml" Id="Rdb97c2757b214426" /><Relationship Type="http://schemas.openxmlformats.org/officeDocument/2006/relationships/slide" Target="/ppt/slides/slide98.xml" Id="Rc19d765f0c2d4d6f" /><Relationship Type="http://schemas.openxmlformats.org/officeDocument/2006/relationships/slide" Target="/ppt/slides/slide99.xml" Id="R2e836999ca8f4ae1" /><Relationship Type="http://schemas.openxmlformats.org/officeDocument/2006/relationships/slide" Target="/ppt/slides/slide100.xml" Id="R173a6a7d0e9140ea" /><Relationship Type="http://schemas.openxmlformats.org/officeDocument/2006/relationships/slide" Target="/ppt/slides/slide101.xml" Id="R92aceed29c9440f1" /><Relationship Type="http://schemas.openxmlformats.org/officeDocument/2006/relationships/slide" Target="/ppt/slides/slide102.xml" Id="R96caa59463634ddc" /><Relationship Type="http://schemas.openxmlformats.org/officeDocument/2006/relationships/slide" Target="/ppt/slides/slide103.xml" Id="R1eb83874b0f245b5" /><Relationship Type="http://schemas.openxmlformats.org/officeDocument/2006/relationships/slide" Target="/ppt/slides/slide104.xml" Id="Rc18c5125e27a46f9" /><Relationship Type="http://schemas.openxmlformats.org/officeDocument/2006/relationships/slide" Target="/ppt/slides/slide105.xml" Id="R454aa4bcd02f4dfd" /><Relationship Type="http://schemas.openxmlformats.org/officeDocument/2006/relationships/slide" Target="/ppt/slides/slide106.xml" Id="R6c019b15f2724768" /><Relationship Type="http://schemas.openxmlformats.org/officeDocument/2006/relationships/slide" Target="/ppt/slides/slide107.xml" Id="Rfa694eaee9904bdc" /><Relationship Type="http://schemas.openxmlformats.org/officeDocument/2006/relationships/slide" Target="/ppt/slides/slide108.xml" Id="R495f925ca4604ca0" /><Relationship Type="http://schemas.openxmlformats.org/officeDocument/2006/relationships/slide" Target="/ppt/slides/slide109.xml" Id="R4d4dbb571e2547b4" /><Relationship Type="http://schemas.openxmlformats.org/officeDocument/2006/relationships/slide" Target="/ppt/slides/slide110.xml" Id="R26cff5fa6b7a48de" /><Relationship Type="http://schemas.openxmlformats.org/officeDocument/2006/relationships/slide" Target="/ppt/slides/slide111.xml" Id="R8a6831dd29324030" /><Relationship Type="http://schemas.openxmlformats.org/officeDocument/2006/relationships/slide" Target="/ppt/slides/slide112.xml" Id="R05c919b03c494d7c" /><Relationship Type="http://schemas.openxmlformats.org/officeDocument/2006/relationships/slide" Target="/ppt/slides/slide113.xml" Id="Rf1862143c5344d11" /><Relationship Type="http://schemas.openxmlformats.org/officeDocument/2006/relationships/slide" Target="/ppt/slides/slide114.xml" Id="R9679532c9da24ffc" /><Relationship Type="http://schemas.openxmlformats.org/officeDocument/2006/relationships/slide" Target="/ppt/slides/slide115.xml" Id="Rdf459e70bf754062" /><Relationship Type="http://schemas.openxmlformats.org/officeDocument/2006/relationships/slide" Target="/ppt/slides/slide116.xml" Id="R6e1e7c0f58c84b21" /><Relationship Type="http://schemas.openxmlformats.org/officeDocument/2006/relationships/slide" Target="/ppt/slides/slide117.xml" Id="Rbee519fb4da44cc7" /><Relationship Type="http://schemas.openxmlformats.org/officeDocument/2006/relationships/slide" Target="/ppt/slides/slide118.xml" Id="Ra890b4ca4a6a4fe3" /><Relationship Type="http://schemas.openxmlformats.org/officeDocument/2006/relationships/slide" Target="/ppt/slides/slide119.xml" Id="R56b88d36639046bb" /><Relationship Type="http://schemas.openxmlformats.org/officeDocument/2006/relationships/slide" Target="/ppt/slides/slide120.xml" Id="Rd0ac5f917d294517" /><Relationship Type="http://schemas.openxmlformats.org/officeDocument/2006/relationships/slide" Target="/ppt/slides/slide121.xml" Id="R5c1b97ad783c4a2d" /><Relationship Type="http://schemas.openxmlformats.org/officeDocument/2006/relationships/slide" Target="/ppt/slides/slide122.xml" Id="R1c07ac1faa234b04" /><Relationship Type="http://schemas.openxmlformats.org/officeDocument/2006/relationships/slide" Target="/ppt/slides/slide123.xml" Id="Ra50b45f8b58642d4" /><Relationship Type="http://schemas.openxmlformats.org/officeDocument/2006/relationships/slide" Target="/ppt/slides/slide124.xml" Id="R8aa4b1d15de64f8d" /><Relationship Type="http://schemas.openxmlformats.org/officeDocument/2006/relationships/slide" Target="/ppt/slides/slide125.xml" Id="R81acf863831243d1" /><Relationship Type="http://schemas.openxmlformats.org/officeDocument/2006/relationships/slide" Target="/ppt/slides/slide126.xml" Id="Rbb9b5f6d6dfe4a9d" /><Relationship Type="http://schemas.openxmlformats.org/officeDocument/2006/relationships/slide" Target="/ppt/slides/slide127.xml" Id="R6284a5ea02924a18" /><Relationship Type="http://schemas.openxmlformats.org/officeDocument/2006/relationships/slide" Target="/ppt/slides/slide128.xml" Id="R3968c8dde5b341b5" /><Relationship Type="http://schemas.openxmlformats.org/officeDocument/2006/relationships/slide" Target="/ppt/slides/slide129.xml" Id="Rdc991f1d577f4e74" /><Relationship Type="http://schemas.openxmlformats.org/officeDocument/2006/relationships/slide" Target="/ppt/slides/slide130.xml" Id="Ra3baebd2e5964fac" /><Relationship Type="http://schemas.openxmlformats.org/officeDocument/2006/relationships/slide" Target="/ppt/slides/slide131.xml" Id="R90af4aacbe544e4e" /><Relationship Type="http://schemas.openxmlformats.org/officeDocument/2006/relationships/slide" Target="/ppt/slides/slide132.xml" Id="Ra0693c8c44624aad" /><Relationship Type="http://schemas.openxmlformats.org/officeDocument/2006/relationships/slide" Target="/ppt/slides/slide133.xml" Id="R880d016fb795456e" /><Relationship Type="http://schemas.openxmlformats.org/officeDocument/2006/relationships/slide" Target="/ppt/slides/slide134.xml" Id="R9b584b61ce114c89" /><Relationship Type="http://schemas.openxmlformats.org/officeDocument/2006/relationships/slide" Target="/ppt/slides/slide135.xml" Id="Rbd53e7d903c54d53" /><Relationship Type="http://schemas.openxmlformats.org/officeDocument/2006/relationships/slide" Target="/ppt/slides/slide136.xml" Id="R390bed13e2514d46" /><Relationship Type="http://schemas.openxmlformats.org/officeDocument/2006/relationships/slide" Target="/ppt/slides/slide137.xml" Id="R95fbcd937b8342e9" /><Relationship Type="http://schemas.openxmlformats.org/officeDocument/2006/relationships/slide" Target="/ppt/slides/slide138.xml" Id="Re3931446374f4968" /><Relationship Type="http://schemas.openxmlformats.org/officeDocument/2006/relationships/slide" Target="/ppt/slides/slide139.xml" Id="Rd52fe9a786014e3b" /><Relationship Type="http://schemas.openxmlformats.org/officeDocument/2006/relationships/slide" Target="/ppt/slides/slide140.xml" Id="Rb582d5169e5d4b83" /><Relationship Type="http://schemas.openxmlformats.org/officeDocument/2006/relationships/slide" Target="/ppt/slides/slide141.xml" Id="R5fa56506f584400e" /><Relationship Type="http://schemas.openxmlformats.org/officeDocument/2006/relationships/slide" Target="/ppt/slides/slide142.xml" Id="R65dbc3caaf164572" /><Relationship Type="http://schemas.openxmlformats.org/officeDocument/2006/relationships/slide" Target="/ppt/slides/slide143.xml" Id="R0093766f6ee444d8" /><Relationship Type="http://schemas.openxmlformats.org/officeDocument/2006/relationships/slide" Target="/ppt/slides/slide144.xml" Id="R6f5a2108fe764a09" /><Relationship Type="http://schemas.openxmlformats.org/officeDocument/2006/relationships/slide" Target="/ppt/slides/slide145.xml" Id="R9ba482e3367740cd" /><Relationship Type="http://schemas.openxmlformats.org/officeDocument/2006/relationships/slide" Target="/ppt/slides/slide146.xml" Id="R834fab867db34a40" /><Relationship Type="http://schemas.openxmlformats.org/officeDocument/2006/relationships/slide" Target="/ppt/slides/slide147.xml" Id="R080a7c9de5d349e0" /><Relationship Type="http://schemas.openxmlformats.org/officeDocument/2006/relationships/slide" Target="/ppt/slides/slide148.xml" Id="R4536fb76f2ec4647" /><Relationship Type="http://schemas.openxmlformats.org/officeDocument/2006/relationships/slide" Target="/ppt/slides/slide149.xml" Id="R12b044a80987478d" /><Relationship Type="http://schemas.openxmlformats.org/officeDocument/2006/relationships/slide" Target="/ppt/slides/slide150.xml" Id="Ra99415280fc5434e" /><Relationship Type="http://schemas.openxmlformats.org/officeDocument/2006/relationships/slide" Target="/ppt/slides/slide151.xml" Id="Rc1958c2bc28f4762" /><Relationship Type="http://schemas.openxmlformats.org/officeDocument/2006/relationships/slide" Target="/ppt/slides/slide152.xml" Id="R3cbec69a5ab6430a" /><Relationship Type="http://schemas.openxmlformats.org/officeDocument/2006/relationships/slide" Target="/ppt/slides/slide153.xml" Id="Rd7dbc6175d54480d" /><Relationship Type="http://schemas.openxmlformats.org/officeDocument/2006/relationships/slide" Target="/ppt/slides/slide154.xml" Id="R1a368e4ad1774d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d5be42a41041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c953eda7864899" /><Relationship Type="http://schemas.openxmlformats.org/officeDocument/2006/relationships/notesMaster" Target="/ppt/notesMasters/notesMaster1.xml" Id="Rb36ed0c6c0c141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9b50a1beb94ce4" /><Relationship Type="http://schemas.openxmlformats.org/officeDocument/2006/relationships/notesMaster" Target="/ppt/notesMasters/notesMaster1.xml" Id="Rffe4ddd38d9544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7d6c9e0264399" /><Relationship Type="http://schemas.openxmlformats.org/officeDocument/2006/relationships/notesMaster" Target="/ppt/notesMasters/notesMaster1.xml" Id="Rea7756e4ba0a43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91b3beb99c44ec" /><Relationship Type="http://schemas.openxmlformats.org/officeDocument/2006/relationships/notesMaster" Target="/ppt/notesMasters/notesMaster1.xml" Id="R59eb8324606a47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bd7fae1c264eab" /><Relationship Type="http://schemas.openxmlformats.org/officeDocument/2006/relationships/notesMaster" Target="/ppt/notesMasters/notesMaster1.xml" Id="R23b8dad95e3c4f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1711e88ec4b1e" /><Relationship Type="http://schemas.openxmlformats.org/officeDocument/2006/relationships/notesMaster" Target="/ppt/notesMasters/notesMaster1.xml" Id="Rdfa9d1dff21a4d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1d146dd82144b1" /><Relationship Type="http://schemas.openxmlformats.org/officeDocument/2006/relationships/notesMaster" Target="/ppt/notesMasters/notesMaster1.xml" Id="R6ca9ebb80b5346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0ec3a058234f3e" /><Relationship Type="http://schemas.openxmlformats.org/officeDocument/2006/relationships/notesMaster" Target="/ppt/notesMasters/notesMaster1.xml" Id="Ra79ca929b6f84c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2563fc91c84f8e" /><Relationship Type="http://schemas.openxmlformats.org/officeDocument/2006/relationships/notesMaster" Target="/ppt/notesMasters/notesMaster1.xml" Id="R0fbed168eae64a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2a264edf0c44ac" /><Relationship Type="http://schemas.openxmlformats.org/officeDocument/2006/relationships/notesMaster" Target="/ppt/notesMasters/notesMaster1.xml" Id="R20fda9f93c0142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f30ca59aac429a" /><Relationship Type="http://schemas.openxmlformats.org/officeDocument/2006/relationships/notesMaster" Target="/ppt/notesMasters/notesMaster1.xml" Id="R72e96516564c47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5ab67dee24466" /><Relationship Type="http://schemas.openxmlformats.org/officeDocument/2006/relationships/notesMaster" Target="/ppt/notesMasters/notesMaster1.xml" Id="R4763449d06c648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d6053336aa45c7" /><Relationship Type="http://schemas.openxmlformats.org/officeDocument/2006/relationships/notesMaster" Target="/ppt/notesMasters/notesMaster1.xml" Id="R642bcac8e6f841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e13e2bc28b49cd" /><Relationship Type="http://schemas.openxmlformats.org/officeDocument/2006/relationships/notesMaster" Target="/ppt/notesMasters/notesMaster1.xml" Id="R91ebff730b8d42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b5f31ea6044415" /><Relationship Type="http://schemas.openxmlformats.org/officeDocument/2006/relationships/notesMaster" Target="/ppt/notesMasters/notesMaster1.xml" Id="R87a218c044f747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bd4f8052cb4446" /><Relationship Type="http://schemas.openxmlformats.org/officeDocument/2006/relationships/notesMaster" Target="/ppt/notesMasters/notesMaster1.xml" Id="R306021a82902443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b7c3ee586749c8" /><Relationship Type="http://schemas.openxmlformats.org/officeDocument/2006/relationships/notesMaster" Target="/ppt/notesMasters/notesMaster1.xml" Id="R9de26f92618748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a191b55aac4b5f" /><Relationship Type="http://schemas.openxmlformats.org/officeDocument/2006/relationships/notesMaster" Target="/ppt/notesMasters/notesMaster1.xml" Id="Rbb19fea144ad45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5f792c200b4c07" /><Relationship Type="http://schemas.openxmlformats.org/officeDocument/2006/relationships/notesMaster" Target="/ppt/notesMasters/notesMaster1.xml" Id="R19a75a5f081445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360261340a4c75" /><Relationship Type="http://schemas.openxmlformats.org/officeDocument/2006/relationships/notesMaster" Target="/ppt/notesMasters/notesMaster1.xml" Id="R7ebf6fda37e442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a1657b165ee4cf2" /><Relationship Type="http://schemas.openxmlformats.org/officeDocument/2006/relationships/notesMaster" Target="/ppt/notesMasters/notesMaster1.xml" Id="Radbb25b5e6a546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e56e02a6414e55" /><Relationship Type="http://schemas.openxmlformats.org/officeDocument/2006/relationships/notesMaster" Target="/ppt/notesMasters/notesMaster1.xml" Id="Rc1cc3dc507d747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4e245354004e8a" /><Relationship Type="http://schemas.openxmlformats.org/officeDocument/2006/relationships/notesMaster" Target="/ppt/notesMasters/notesMaster1.xml" Id="R2ba8c735e0814b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db2345ec81f41c4" /><Relationship Type="http://schemas.openxmlformats.org/officeDocument/2006/relationships/notesMaster" Target="/ppt/notesMasters/notesMaster1.xml" Id="R213549cd0516427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1223ac4aa64fff" /><Relationship Type="http://schemas.openxmlformats.org/officeDocument/2006/relationships/notesMaster" Target="/ppt/notesMasters/notesMaster1.xml" Id="R57b4bdefd18640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24913de9b04f31" /><Relationship Type="http://schemas.openxmlformats.org/officeDocument/2006/relationships/notesMaster" Target="/ppt/notesMasters/notesMaster1.xml" Id="R62bae9627ee549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6dcc6ec6ab42a1" /><Relationship Type="http://schemas.openxmlformats.org/officeDocument/2006/relationships/notesMaster" Target="/ppt/notesMasters/notesMaster1.xml" Id="Rc3d2e601fac64a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7e061c7097b4274" /><Relationship Type="http://schemas.openxmlformats.org/officeDocument/2006/relationships/notesMaster" Target="/ppt/notesMasters/notesMaster1.xml" Id="R343474038449429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677c64fdfbe4d04" /><Relationship Type="http://schemas.openxmlformats.org/officeDocument/2006/relationships/notesMaster" Target="/ppt/notesMasters/notesMaster1.xml" Id="Rc87e886f79fe4c9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42034765c348c4" /><Relationship Type="http://schemas.openxmlformats.org/officeDocument/2006/relationships/notesMaster" Target="/ppt/notesMasters/notesMaster1.xml" Id="R55262d700bf640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5e4687879bd4ce3" /><Relationship Type="http://schemas.openxmlformats.org/officeDocument/2006/relationships/notesMaster" Target="/ppt/notesMasters/notesMaster1.xml" Id="Rca3740a8c4994f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d25adb95914b70" /><Relationship Type="http://schemas.openxmlformats.org/officeDocument/2006/relationships/notesMaster" Target="/ppt/notesMasters/notesMaster1.xml" Id="R51fdce29ddcc49d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fe73e0664d34908" /><Relationship Type="http://schemas.openxmlformats.org/officeDocument/2006/relationships/notesMaster" Target="/ppt/notesMasters/notesMaster1.xml" Id="R86fae8894eea43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b6b31c6ed44e60" /><Relationship Type="http://schemas.openxmlformats.org/officeDocument/2006/relationships/notesMaster" Target="/ppt/notesMasters/notesMaster1.xml" Id="R015346ef2dfe4b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ffad66e8bbe424e" /><Relationship Type="http://schemas.openxmlformats.org/officeDocument/2006/relationships/notesMaster" Target="/ppt/notesMasters/notesMaster1.xml" Id="R26f66f2397a8454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e62fd3249042c9" /><Relationship Type="http://schemas.openxmlformats.org/officeDocument/2006/relationships/notesMaster" Target="/ppt/notesMasters/notesMaster1.xml" Id="Ra7b47aa9bfd441d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cd1dd50cb25409a" /><Relationship Type="http://schemas.openxmlformats.org/officeDocument/2006/relationships/notesMaster" Target="/ppt/notesMasters/notesMaster1.xml" Id="R13b650eec633426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688c49388544eae" /><Relationship Type="http://schemas.openxmlformats.org/officeDocument/2006/relationships/notesMaster" Target="/ppt/notesMasters/notesMaster1.xml" Id="Re78146aa8f2d496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1fa3ba8d9124af4" /><Relationship Type="http://schemas.openxmlformats.org/officeDocument/2006/relationships/notesMaster" Target="/ppt/notesMasters/notesMaster1.xml" Id="Rfa29908c738c4f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14ce37ddabf499a" /><Relationship Type="http://schemas.openxmlformats.org/officeDocument/2006/relationships/notesMaster" Target="/ppt/notesMasters/notesMaster1.xml" Id="Rfb837f565c704f8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165035969d4634" /><Relationship Type="http://schemas.openxmlformats.org/officeDocument/2006/relationships/notesMaster" Target="/ppt/notesMasters/notesMaster1.xml" Id="R28849476d3a943a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d2ad10cc994e2c" /><Relationship Type="http://schemas.openxmlformats.org/officeDocument/2006/relationships/notesMaster" Target="/ppt/notesMasters/notesMaster1.xml" Id="R12f3e374dca2411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6f457bde9554f98" /><Relationship Type="http://schemas.openxmlformats.org/officeDocument/2006/relationships/notesMaster" Target="/ppt/notesMasters/notesMaster1.xml" Id="R3b3f1724d89c49c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25956945b74614" /><Relationship Type="http://schemas.openxmlformats.org/officeDocument/2006/relationships/notesMaster" Target="/ppt/notesMasters/notesMaster1.xml" Id="Ra1cda64830794f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b0069b4a1a341b5" /><Relationship Type="http://schemas.openxmlformats.org/officeDocument/2006/relationships/notesMaster" Target="/ppt/notesMasters/notesMaster1.xml" Id="Rca37b3c78f7d42c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a3f51e0111346c5" /><Relationship Type="http://schemas.openxmlformats.org/officeDocument/2006/relationships/notesMaster" Target="/ppt/notesMasters/notesMaster1.xml" Id="R4e41118c5fa14d1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b1070323c9740a6" /><Relationship Type="http://schemas.openxmlformats.org/officeDocument/2006/relationships/notesMaster" Target="/ppt/notesMasters/notesMaster1.xml" Id="Rec786023400c412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1409f79a60343d0" /><Relationship Type="http://schemas.openxmlformats.org/officeDocument/2006/relationships/notesMaster" Target="/ppt/notesMasters/notesMaster1.xml" Id="Rd5cc144b17754ed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c7b653b5fb54db8" /><Relationship Type="http://schemas.openxmlformats.org/officeDocument/2006/relationships/notesMaster" Target="/ppt/notesMasters/notesMaster1.xml" Id="R3d7856a12376468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1139a5fbb474907" /><Relationship Type="http://schemas.openxmlformats.org/officeDocument/2006/relationships/notesMaster" Target="/ppt/notesMasters/notesMaster1.xml" Id="Rd0f45b13cbbe4f0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d81d112c5bb4424" /><Relationship Type="http://schemas.openxmlformats.org/officeDocument/2006/relationships/notesMaster" Target="/ppt/notesMasters/notesMaster1.xml" Id="Rf5fff8824d5d40d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660ccdd90ff459d" /><Relationship Type="http://schemas.openxmlformats.org/officeDocument/2006/relationships/notesMaster" Target="/ppt/notesMasters/notesMaster1.xml" Id="R0c6be3918441444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1a9fcc29fa5485d" /><Relationship Type="http://schemas.openxmlformats.org/officeDocument/2006/relationships/notesMaster" Target="/ppt/notesMasters/notesMaster1.xml" Id="Ra1abcba64ee0434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2c24313ebb94ce8" /><Relationship Type="http://schemas.openxmlformats.org/officeDocument/2006/relationships/notesMaster" Target="/ppt/notesMasters/notesMaster1.xml" Id="R2a68c3101fbc434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e0dfb7827f24431" /><Relationship Type="http://schemas.openxmlformats.org/officeDocument/2006/relationships/notesMaster" Target="/ppt/notesMasters/notesMaster1.xml" Id="R354a56497c4f47d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0646346b66b4f2b" /><Relationship Type="http://schemas.openxmlformats.org/officeDocument/2006/relationships/notesMaster" Target="/ppt/notesMasters/notesMaster1.xml" Id="Rcf22add3a6174df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7bb0f70f4964713" /><Relationship Type="http://schemas.openxmlformats.org/officeDocument/2006/relationships/notesMaster" Target="/ppt/notesMasters/notesMaster1.xml" Id="R3fbcfd45fe804c1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28effc0e7264556" /><Relationship Type="http://schemas.openxmlformats.org/officeDocument/2006/relationships/notesMaster" Target="/ppt/notesMasters/notesMaster1.xml" Id="Rae00e871c2ce47b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6d280658ebf4325" /><Relationship Type="http://schemas.openxmlformats.org/officeDocument/2006/relationships/notesMaster" Target="/ppt/notesMasters/notesMaster1.xml" Id="R03bf19ab106f4fc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eda90f4196944df" /><Relationship Type="http://schemas.openxmlformats.org/officeDocument/2006/relationships/notesMaster" Target="/ppt/notesMasters/notesMaster1.xml" Id="Rb83394149a74447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d8e0e1d1c2b4ed2" /><Relationship Type="http://schemas.openxmlformats.org/officeDocument/2006/relationships/notesMaster" Target="/ppt/notesMasters/notesMaster1.xml" Id="R40d6f0f1f0b347b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ecb21e22c1e4a52" /><Relationship Type="http://schemas.openxmlformats.org/officeDocument/2006/relationships/notesMaster" Target="/ppt/notesMasters/notesMaster1.xml" Id="R1c17ffcaa10640c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149d4ad5035476c" /><Relationship Type="http://schemas.openxmlformats.org/officeDocument/2006/relationships/notesMaster" Target="/ppt/notesMasters/notesMaster1.xml" Id="Rb8a0ddb547a9466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9a093185ab4410f" /><Relationship Type="http://schemas.openxmlformats.org/officeDocument/2006/relationships/notesMaster" Target="/ppt/notesMasters/notesMaster1.xml" Id="R2be39fdf393b424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082363402184028" /><Relationship Type="http://schemas.openxmlformats.org/officeDocument/2006/relationships/notesMaster" Target="/ppt/notesMasters/notesMaster1.xml" Id="Ra485e677522a48f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656a3da556649c1" /><Relationship Type="http://schemas.openxmlformats.org/officeDocument/2006/relationships/notesMaster" Target="/ppt/notesMasters/notesMaster1.xml" Id="R3e23bf72752d4b4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04be216653e46ac" /><Relationship Type="http://schemas.openxmlformats.org/officeDocument/2006/relationships/notesMaster" Target="/ppt/notesMasters/notesMaster1.xml" Id="R6c7d1ebc5b394a3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36fd7d303054424" /><Relationship Type="http://schemas.openxmlformats.org/officeDocument/2006/relationships/notesMaster" Target="/ppt/notesMasters/notesMaster1.xml" Id="R254e63b3a7634b5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4bf50dcab1a4083" /><Relationship Type="http://schemas.openxmlformats.org/officeDocument/2006/relationships/notesMaster" Target="/ppt/notesMasters/notesMaster1.xml" Id="R44b8d686f5d9495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42bf2c19641489d" /><Relationship Type="http://schemas.openxmlformats.org/officeDocument/2006/relationships/notesMaster" Target="/ppt/notesMasters/notesMaster1.xml" Id="Re60479973ad84f8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f567300751c4dfe" /><Relationship Type="http://schemas.openxmlformats.org/officeDocument/2006/relationships/notesMaster" Target="/ppt/notesMasters/notesMaster1.xml" Id="Rede1fc0c7fb1479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c3a99340440438a" /><Relationship Type="http://schemas.openxmlformats.org/officeDocument/2006/relationships/notesMaster" Target="/ppt/notesMasters/notesMaster1.xml" Id="Rd3db2a771cb24ae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7d717274ad4a4d91" /><Relationship Type="http://schemas.openxmlformats.org/officeDocument/2006/relationships/notesMaster" Target="/ppt/notesMasters/notesMaster1.xml" Id="R17db58446d274d7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637eb64e5aa476b" /><Relationship Type="http://schemas.openxmlformats.org/officeDocument/2006/relationships/notesMaster" Target="/ppt/notesMasters/notesMaster1.xml" Id="R10b881267090491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6b1d4fbd5f34083" /><Relationship Type="http://schemas.openxmlformats.org/officeDocument/2006/relationships/notesMaster" Target="/ppt/notesMasters/notesMaster1.xml" Id="R18305152d69b435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75c67b18ab7496e" /><Relationship Type="http://schemas.openxmlformats.org/officeDocument/2006/relationships/notesMaster" Target="/ppt/notesMasters/notesMaster1.xml" Id="R9914d066a4ae426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4487368365d42bb" /><Relationship Type="http://schemas.openxmlformats.org/officeDocument/2006/relationships/notesMaster" Target="/ppt/notesMasters/notesMaster1.xml" Id="R67c8bc833a404cd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3b3c14069704a38" /><Relationship Type="http://schemas.openxmlformats.org/officeDocument/2006/relationships/notesMaster" Target="/ppt/notesMasters/notesMaster1.xml" Id="R68b731f92864407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cb1664406794c66" /><Relationship Type="http://schemas.openxmlformats.org/officeDocument/2006/relationships/notesMaster" Target="/ppt/notesMasters/notesMaster1.xml" Id="R396eb308e324432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5072c85bc844db5" /><Relationship Type="http://schemas.openxmlformats.org/officeDocument/2006/relationships/notesMaster" Target="/ppt/notesMasters/notesMaster1.xml" Id="R7ce13af9588543c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dec4e26371834b3d" /><Relationship Type="http://schemas.openxmlformats.org/officeDocument/2006/relationships/notesMaster" Target="/ppt/notesMasters/notesMaster1.xml" Id="R9cb97d7752a6466d"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2031608216c472d" /><Relationship Type="http://schemas.openxmlformats.org/officeDocument/2006/relationships/notesMaster" Target="/ppt/notesMasters/notesMaster1.xml" Id="R4bd3939340ab41d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85c15bace96d441e" /><Relationship Type="http://schemas.openxmlformats.org/officeDocument/2006/relationships/notesMaster" Target="/ppt/notesMasters/notesMaster1.xml" Id="Rdfcd10e40234452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6ccae133e1f416d" /><Relationship Type="http://schemas.openxmlformats.org/officeDocument/2006/relationships/notesMaster" Target="/ppt/notesMasters/notesMaster1.xml" Id="R2a72cc4b8e704388"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7cb5c920a984084" /><Relationship Type="http://schemas.openxmlformats.org/officeDocument/2006/relationships/notesMaster" Target="/ppt/notesMasters/notesMaster1.xml" Id="Rf62671669efb4dfb"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bb21fed41024ed5" /><Relationship Type="http://schemas.openxmlformats.org/officeDocument/2006/relationships/notesMaster" Target="/ppt/notesMasters/notesMaster1.xml" Id="Ra9057c05c9f54534"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24ea5cc34284592" /><Relationship Type="http://schemas.openxmlformats.org/officeDocument/2006/relationships/notesMaster" Target="/ppt/notesMasters/notesMaster1.xml" Id="Rfa5cd388e2ef4a9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afcda986466408f" /><Relationship Type="http://schemas.openxmlformats.org/officeDocument/2006/relationships/notesMaster" Target="/ppt/notesMasters/notesMaster1.xml" Id="Raf7cb62e555740c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705ee2f1fe740f8" /><Relationship Type="http://schemas.openxmlformats.org/officeDocument/2006/relationships/notesMaster" Target="/ppt/notesMasters/notesMaster1.xml" Id="R721785ea0b5849f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5482e35aa4f45ff" /><Relationship Type="http://schemas.openxmlformats.org/officeDocument/2006/relationships/notesMaster" Target="/ppt/notesMasters/notesMaster1.xml" Id="R3788eb14a3734e0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271eec78ec24a3b" /><Relationship Type="http://schemas.openxmlformats.org/officeDocument/2006/relationships/notesMaster" Target="/ppt/notesMasters/notesMaster1.xml" Id="R3b7bcf09646c47f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28be4fd8a5e34ba3" /><Relationship Type="http://schemas.openxmlformats.org/officeDocument/2006/relationships/notesMaster" Target="/ppt/notesMasters/notesMaster1.xml" Id="R2234713b46fe442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a01b29e3fd2c4e3d" /><Relationship Type="http://schemas.openxmlformats.org/officeDocument/2006/relationships/notesMaster" Target="/ppt/notesMasters/notesMaster1.xml" Id="R3fe39296e25a4ce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6a9c976f55184671" /><Relationship Type="http://schemas.openxmlformats.org/officeDocument/2006/relationships/notesMaster" Target="/ppt/notesMasters/notesMaster1.xml" Id="Rab1dd69db44e4309"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b508e2b54d3749ef" /><Relationship Type="http://schemas.openxmlformats.org/officeDocument/2006/relationships/notesMaster" Target="/ppt/notesMasters/notesMaster1.xml" Id="R14fee09f794e464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f9d4e29bc87e4a26" /><Relationship Type="http://schemas.openxmlformats.org/officeDocument/2006/relationships/notesMaster" Target="/ppt/notesMasters/notesMaster1.xml" Id="R148ba18eea3745aa"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764b6c978be4ebf" /><Relationship Type="http://schemas.openxmlformats.org/officeDocument/2006/relationships/notesMaster" Target="/ppt/notesMasters/notesMaster1.xml" Id="R68aa4dcdfa89469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c97808ae6f9d420c" /><Relationship Type="http://schemas.openxmlformats.org/officeDocument/2006/relationships/notesMaster" Target="/ppt/notesMasters/notesMaster1.xml" Id="Raf7b7b387ce847ee"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354feceb1eba48e2" /><Relationship Type="http://schemas.openxmlformats.org/officeDocument/2006/relationships/notesMaster" Target="/ppt/notesMasters/notesMaster1.xml" Id="R6e7dcfc95b5f4ad3"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fd157580bb8406e" /><Relationship Type="http://schemas.openxmlformats.org/officeDocument/2006/relationships/notesMaster" Target="/ppt/notesMasters/notesMaster1.xml" Id="Rd7ef06cce5254311"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f4b1423c646b4631" /><Relationship Type="http://schemas.openxmlformats.org/officeDocument/2006/relationships/notesMaster" Target="/ppt/notesMasters/notesMaster1.xml" Id="Re3926eee86484fa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e952b716109461f" /><Relationship Type="http://schemas.openxmlformats.org/officeDocument/2006/relationships/notesMaster" Target="/ppt/notesMasters/notesMaster1.xml" Id="R8f55f92a78b74f4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45f18293713143fd" /><Relationship Type="http://schemas.openxmlformats.org/officeDocument/2006/relationships/notesMaster" Target="/ppt/notesMasters/notesMaster1.xml" Id="R02f6223255854499"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784eb10bddfe4a0a" /><Relationship Type="http://schemas.openxmlformats.org/officeDocument/2006/relationships/notesMaster" Target="/ppt/notesMasters/notesMaster1.xml" Id="R19342fe8b43940c2"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24977f90938745fd" /><Relationship Type="http://schemas.openxmlformats.org/officeDocument/2006/relationships/notesMaster" Target="/ppt/notesMasters/notesMaster1.xml" Id="R9a9e92c2425c4c68"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8df3b3ed18614f2d" /><Relationship Type="http://schemas.openxmlformats.org/officeDocument/2006/relationships/notesMaster" Target="/ppt/notesMasters/notesMaster1.xml" Id="Ra323dc064ace4e6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cb5a1b0ff264c1a" /><Relationship Type="http://schemas.openxmlformats.org/officeDocument/2006/relationships/notesMaster" Target="/ppt/notesMasters/notesMaster1.xml" Id="R3ef086492c024f6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4f5a175102f74522" /><Relationship Type="http://schemas.openxmlformats.org/officeDocument/2006/relationships/notesMaster" Target="/ppt/notesMasters/notesMaster1.xml" Id="Rdac9b14a3a6749ac"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f32ac60febc4c44" /><Relationship Type="http://schemas.openxmlformats.org/officeDocument/2006/relationships/notesMaster" Target="/ppt/notesMasters/notesMaster1.xml" Id="R0ca2334ab2f0406a"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63278233c66c42aa" /><Relationship Type="http://schemas.openxmlformats.org/officeDocument/2006/relationships/notesMaster" Target="/ppt/notesMasters/notesMaster1.xml" Id="R626c7875a2874e7b"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f78cd6e4fefe4d34" /><Relationship Type="http://schemas.openxmlformats.org/officeDocument/2006/relationships/notesMaster" Target="/ppt/notesMasters/notesMaster1.xml" Id="Rf85a9889909f4f80"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cd5c6da613c42f3" /><Relationship Type="http://schemas.openxmlformats.org/officeDocument/2006/relationships/notesMaster" Target="/ppt/notesMasters/notesMaster1.xml" Id="R3073549823f1419f"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5ac09ce76bb647cf" /><Relationship Type="http://schemas.openxmlformats.org/officeDocument/2006/relationships/notesMaster" Target="/ppt/notesMasters/notesMaster1.xml" Id="R6b53bc1d682e4653"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5b489f28333e4da3" /><Relationship Type="http://schemas.openxmlformats.org/officeDocument/2006/relationships/notesMaster" Target="/ppt/notesMasters/notesMaster1.xml" Id="R8069def458f246c8"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de34c97539a4063" /><Relationship Type="http://schemas.openxmlformats.org/officeDocument/2006/relationships/notesMaster" Target="/ppt/notesMasters/notesMaster1.xml" Id="R148cfd21d68b42c9"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356645ea07f24574" /><Relationship Type="http://schemas.openxmlformats.org/officeDocument/2006/relationships/notesMaster" Target="/ppt/notesMasters/notesMaster1.xml" Id="Rc51683721b2c4377"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dd1f363c633740d7" /><Relationship Type="http://schemas.openxmlformats.org/officeDocument/2006/relationships/notesMaster" Target="/ppt/notesMasters/notesMaster1.xml" Id="R50f12f96be414a8a"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f65da6884c8f4267" /><Relationship Type="http://schemas.openxmlformats.org/officeDocument/2006/relationships/notesMaster" Target="/ppt/notesMasters/notesMaster1.xml" Id="R5371ec7ea5fc4960"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1e1a113b0ab242b7" /><Relationship Type="http://schemas.openxmlformats.org/officeDocument/2006/relationships/notesMaster" Target="/ppt/notesMasters/notesMaster1.xml" Id="R82516e7833d649b1"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8aad23e8dfa849ad" /><Relationship Type="http://schemas.openxmlformats.org/officeDocument/2006/relationships/notesMaster" Target="/ppt/notesMasters/notesMaster1.xml" Id="R50c2b0a997d84a90"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d1f1295ebedc4b64" /><Relationship Type="http://schemas.openxmlformats.org/officeDocument/2006/relationships/notesMaster" Target="/ppt/notesMasters/notesMaster1.xml" Id="R8745c0127896497c"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0494644bd8904044" /><Relationship Type="http://schemas.openxmlformats.org/officeDocument/2006/relationships/notesMaster" Target="/ppt/notesMasters/notesMaster1.xml" Id="R07f9d5a026d54ff3"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2653d8236ce14d6a" /><Relationship Type="http://schemas.openxmlformats.org/officeDocument/2006/relationships/notesMaster" Target="/ppt/notesMasters/notesMaster1.xml" Id="Ra857d2fa7b9e4f4b"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b48a1f0b505b4286" /><Relationship Type="http://schemas.openxmlformats.org/officeDocument/2006/relationships/notesMaster" Target="/ppt/notesMasters/notesMaster1.xml" Id="R5cf41dcbfa0d4c9a"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aebf7cd6e6304b6d" /><Relationship Type="http://schemas.openxmlformats.org/officeDocument/2006/relationships/notesMaster" Target="/ppt/notesMasters/notesMaster1.xml" Id="Ra31bf0f8c6e04b34"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c9a05c52fa5e4d56" /><Relationship Type="http://schemas.openxmlformats.org/officeDocument/2006/relationships/notesMaster" Target="/ppt/notesMasters/notesMaster1.xml" Id="Re7e11c4af4e247f8"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59c637b60add41f5" /><Relationship Type="http://schemas.openxmlformats.org/officeDocument/2006/relationships/notesMaster" Target="/ppt/notesMasters/notesMaster1.xml" Id="R8d9a5d4c00be4708"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e7d9a5aba70a432a" /><Relationship Type="http://schemas.openxmlformats.org/officeDocument/2006/relationships/notesMaster" Target="/ppt/notesMasters/notesMaster1.xml" Id="R26834c0943c14b65"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859e12b0bfcd434e" /><Relationship Type="http://schemas.openxmlformats.org/officeDocument/2006/relationships/notesMaster" Target="/ppt/notesMasters/notesMaster1.xml" Id="R6d2230b22fc8464d"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ba92f025cb464743" /><Relationship Type="http://schemas.openxmlformats.org/officeDocument/2006/relationships/notesMaster" Target="/ppt/notesMasters/notesMaster1.xml" Id="R437e523e218a4693"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7143f1f92aa94180" /><Relationship Type="http://schemas.openxmlformats.org/officeDocument/2006/relationships/notesMaster" Target="/ppt/notesMasters/notesMaster1.xml" Id="Rbf7e2b7576a44342"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376d040ce5114227" /><Relationship Type="http://schemas.openxmlformats.org/officeDocument/2006/relationships/notesMaster" Target="/ppt/notesMasters/notesMaster1.xml" Id="R8b927647e7cf4697"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adbdb04ffc1d4f99" /><Relationship Type="http://schemas.openxmlformats.org/officeDocument/2006/relationships/notesMaster" Target="/ppt/notesMasters/notesMaster1.xml" Id="R3959e8c8e2c74c51"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a98becbcec2a481f" /><Relationship Type="http://schemas.openxmlformats.org/officeDocument/2006/relationships/notesMaster" Target="/ppt/notesMasters/notesMaster1.xml" Id="R2d846416e3da4f9a"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105be8e806424e1a" /><Relationship Type="http://schemas.openxmlformats.org/officeDocument/2006/relationships/notesMaster" Target="/ppt/notesMasters/notesMaster1.xml" Id="R40d72435ad6b40f8"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328b87fd500a4335" /><Relationship Type="http://schemas.openxmlformats.org/officeDocument/2006/relationships/notesMaster" Target="/ppt/notesMasters/notesMaster1.xml" Id="R57c3a2fd510846b7"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684356d7ebf747ab" /><Relationship Type="http://schemas.openxmlformats.org/officeDocument/2006/relationships/notesMaster" Target="/ppt/notesMasters/notesMaster1.xml" Id="R0a5a6dccf40c4f4c"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2d24484b1cc94149" /><Relationship Type="http://schemas.openxmlformats.org/officeDocument/2006/relationships/notesMaster" Target="/ppt/notesMasters/notesMaster1.xml" Id="R35650187e2f04a8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5f352a52b7d34bce" /><Relationship Type="http://schemas.openxmlformats.org/officeDocument/2006/relationships/notesMaster" Target="/ppt/notesMasters/notesMaster1.xml" Id="Rcc285309d1584d9c"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08ead0716436482a" /><Relationship Type="http://schemas.openxmlformats.org/officeDocument/2006/relationships/notesMaster" Target="/ppt/notesMasters/notesMaster1.xml" Id="R2f9aa8b4c4084367"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b501ef7581b49e3" /><Relationship Type="http://schemas.openxmlformats.org/officeDocument/2006/relationships/notesMaster" Target="/ppt/notesMasters/notesMaster1.xml" Id="R3e9c5b23146245c2"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ca8724010b37425b" /><Relationship Type="http://schemas.openxmlformats.org/officeDocument/2006/relationships/notesMaster" Target="/ppt/notesMasters/notesMaster1.xml" Id="Rf81db6f14f5b4d66"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b08616d70a4e4c5a" /><Relationship Type="http://schemas.openxmlformats.org/officeDocument/2006/relationships/notesMaster" Target="/ppt/notesMasters/notesMaster1.xml" Id="R873544f1a5c04bf3"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c2237c0637a0422e" /><Relationship Type="http://schemas.openxmlformats.org/officeDocument/2006/relationships/notesMaster" Target="/ppt/notesMasters/notesMaster1.xml" Id="Ra7bdb95e5693486e"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ccb93d8e1dec46ce" /><Relationship Type="http://schemas.openxmlformats.org/officeDocument/2006/relationships/notesMaster" Target="/ppt/notesMasters/notesMaster1.xml" Id="R4a2adc8607a3477d"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1718b9a538cb4df1" /><Relationship Type="http://schemas.openxmlformats.org/officeDocument/2006/relationships/notesMaster" Target="/ppt/notesMasters/notesMaster1.xml" Id="R7612a56b6719472e"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c8e386b230ec433b" /><Relationship Type="http://schemas.openxmlformats.org/officeDocument/2006/relationships/notesMaster" Target="/ppt/notesMasters/notesMaster1.xml" Id="R2b8256ea8b6c4ece"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6fbd91986e36480a" /><Relationship Type="http://schemas.openxmlformats.org/officeDocument/2006/relationships/notesMaster" Target="/ppt/notesMasters/notesMaster1.xml" Id="R0c9e278de7914fbb"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eecb4326bc924fb3" /><Relationship Type="http://schemas.openxmlformats.org/officeDocument/2006/relationships/notesMaster" Target="/ppt/notesMasters/notesMaster1.xml" Id="Rf81967568ac5488c"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4d6b238de9df47a1" /><Relationship Type="http://schemas.openxmlformats.org/officeDocument/2006/relationships/notesMaster" Target="/ppt/notesMasters/notesMaster1.xml" Id="R3f51b3bbe69d4128"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2712a14f22b74ef7" /><Relationship Type="http://schemas.openxmlformats.org/officeDocument/2006/relationships/notesMaster" Target="/ppt/notesMasters/notesMaster1.xml" Id="Rf9aee3e66dc94c8e"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467df6781e4b47a9" /><Relationship Type="http://schemas.openxmlformats.org/officeDocument/2006/relationships/notesMaster" Target="/ppt/notesMasters/notesMaster1.xml" Id="R6bad3ba410184832"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95ccaca35371455c" /><Relationship Type="http://schemas.openxmlformats.org/officeDocument/2006/relationships/notesMaster" Target="/ppt/notesMasters/notesMaster1.xml" Id="R6e2bc91fe65b45d9"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5fd18f5f3171481e" /><Relationship Type="http://schemas.openxmlformats.org/officeDocument/2006/relationships/notesMaster" Target="/ppt/notesMasters/notesMaster1.xml" Id="Rb204edec5d3a43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https://docarcshot.github.io/id-practice-update/lectures/Nontuberculous_Mycobacterial_Infections.html</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Determine whether the isolate is causing disease Resident core Decide whether NTM is causing disease, whether to treat, which species-specific regimen is appropriate, and how to follow efficacy and toxicity. Advanced teaching Resistance, treatment failure, mixed isolates, organ dysfunction, surgery, drug levels and newer evidence. Jump to fellow section The main focus is pulmonary disease in adults. Skin, bone, joint, device and disseminated infections require different specimens, source control and treatment endpoints. HIV-associated disseminated MAC and TB | TB treatment module An AFB-positive smear does not distinguish NTM from tuberculosis. Use the TB diagnostic and airborne-precaution pathway when pulmonary TB remains plausible. Do not give a partial TB regimen while assuming the isolate is NTM. Sources [1] [13]</a:t>
            </a:r>
          </a:p>
          <a:p xmlns:a="http://schemas.openxmlformats.org/drawingml/2006/main">
            <a:r>
              <a:t/>
            </a:r>
          </a:p>
          <a:p xmlns:a="http://schemas.openxmlformats.org/drawingml/2006/main">
            <a:r>
              <a:t>Module section: https://docarcshot.github.io/id-practice-update/lectures/Nontuberculous_Mycobacterial_Infections.html#start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Determine whether the isolate is causing disease Resident core Decide whether NTM is causing disease, whether to treat, which species-specific regimen is appropriate, and how to follow efficacy and toxicity. Advanced teaching Resistance, treatment failure, mixed isolates, organ dysfunction, surgery, drug levels and newer evidence. Jump to fellow section The main focus is pulmonary disease in adults. Skin, bone, joint, device and disseminated infections require different specimens, source control and treatment endpoints. HIV-associated disseminated MAC and TB | TB treatment module An AFB-positive smear does not distinguish NTM from tuberculosis. Use the TB diagnostic and airborne-precaution pathway when pulmonary TB remains plausible. Do not give a partial TB regimen while assuming the isolate is NTM. Sources [1] [13]</a:t>
            </a:r>
          </a:p>
          <a:p xmlns:a="http://schemas.openxmlformats.org/drawingml/2006/main">
            <a:r>
              <a:t/>
            </a:r>
          </a:p>
          <a:p xmlns:a="http://schemas.openxmlformats.org/drawingml/2006/main">
            <a:r>
              <a:t>Module section: https://docarcshot.github.io/id-practice-update/lectures/Nontuberculous_Mycobacterial_Infections.html#start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Determine whether the isolate is causing disease Resident core Decide whether NTM is causing disease, whether to treat, which species-specific regimen is appropriate, and how to follow efficacy and toxicity. Advanced teaching Resistance, treatment failure, mixed isolates, organ dysfunction, surgery, drug levels and newer evidence. Jump to fellow section The main focus is pulmonary disease in adults. Skin, bone, joint, device and disseminated infections require different specimens, source control and treatment endpoints. HIV-associated disseminated MAC and TB | TB treatment module An AFB-positive smear does not distinguish NTM from tuberculosis. Use the TB diagnostic and airborne-precaution pathway when pulmonary TB remains plausible. Do not give a partial TB regimen while assuming the isolate is NTM. Sources [1] [13]</a:t>
            </a:r>
          </a:p>
          <a:p xmlns:a="http://schemas.openxmlformats.org/drawingml/2006/main">
            <a:r>
              <a:t/>
            </a:r>
          </a:p>
          <a:p xmlns:a="http://schemas.openxmlformats.org/drawingml/2006/main">
            <a:r>
              <a:t>Module section: https://docarcshot.github.io/id-practice-update/lectures/Nontuberculous_Mycobacterial_Infections.html#start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Establish clinical, radiographic and microbiologic evidence Clinical illness Chronic cough, sputum, fatigue, weight loss, hemoptysis or impaired function. Identify which symptoms could instead reflect bronchiectasis, aspiration or another infection. Compatible imaging Nodular-bronchiectatic disease with small nodules or tree-in-bud changes, or fibrocavitary disease. Neither pattern is specific for NTM. Microbiologic confirmation Usually at least two separate sputum cultures with the same species, or one positive bronchial wash/BAL. M. abscessus requires agreement at the subspecies level. 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 Ask the laboratory for species identification, clinically relevant susceptibilities and M. abscessus subspeciation. A negative smear does not exclude disease. IGRA is not an NTM diagnostic test; some species, including M. kansasii and M. marinum, can cross-react. The species changes the meaning of a positive culture Finding Interpretation and next step One sputum culture with MAC, mild symptoms and stable CT Repeat cultures and assess competing causes before committing to prolonged therapy. Repeated MAC isolation with progressive cavities and smear positivity High concern for clinically important disease. Arrange treatment promptly after baseline testing. M. kansasii in a compatible cavitary syndrome More pathogenic than many other NTM. A single isolate may be sufficient in the right context; do not apply the MAC single-isolate rule mechanically. M. gordonae in one respiratory specimen Often contamination or transient isolation. Require unusually convincing repeated microbiology and clinical evidence before attributing disease. Sources [1] [8]</a:t>
            </a:r>
          </a:p>
          <a:p xmlns:a="http://schemas.openxmlformats.org/drawingml/2006/main">
            <a:r>
              <a:t/>
            </a:r>
          </a:p>
          <a:p xmlns:a="http://schemas.openxmlformats.org/drawingml/2006/main">
            <a:r>
              <a:t>Module section: https://docarcshot.github.io/id-practice-update/lectures/Nontuberculous_Mycobacterial_Infections.html#diagnosis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Some respiratory NTM isolates are much less likely to represent disease 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 Interpretation applies to sputum and BAL, not automatically to other sites Organism Usual respiratory interpretation Important exception or next step M. gordonae Classic low-pathogenicity, water-associated contaminant. A single isolate rarely explains pulmonary illness. Require repeated recovery and strong clinical/radiographic evidence before attributing disease. Rare true infection occurs, including in immunocompromised patients. M. mucogenicum Respiratory recovery is usually contamination or otherwise clinically insignificant. This interpretation does not apply to blood or catheter cultures, where it is a recognized pathogen. M. terrae complex Usually a contaminant in respiratory specimens; pulmonary disease is uncommon. Confirm identification and corroborating evidence. Members of this group can cause genuine tenosynovitis and other deep infections. M. fortuitum complex Lower pulmonary pathogenicity than the major pulmonary NTM; an isolated culture may not represent disease. Persistent isolation with compatible disease needs evaluation. Do not dismiss wound, device or deep-tissue isolates using the respiratory interpretation. MAC or M. abscessus complex Established pulmonary pathogens, but recovery alone is insufficient to diagnose disease. Apply the clinical, imaging and microbiologic criteria. An isolated MAC sputum culture often warrants repeat sampling before treatment. M. kansasii Higher concern for true disease in a compatible syndrome. A single positive culture may be clinically meaningful. Do not group it with the usual low-pathogenicity contaminants. 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 Sources [1] [8] [15] One positive BAL meets the microbiologic criterion, not the entire diagnosis Compatible symptoms and imaging, exclusion of alternative explanations, and assessment of the species are still required. BAL is not immune to contamination. A low-pathogenicity organism from one BAL should not trigger treatment simply because the specimen came from bronchoscopy. 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 Sources [1] [15] Look for a collection or bronchoscopy problem when results cluster 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 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 Sources [16] [17] M. gordonae from BAL during a malignancy workup A patient with a solitary lung mass has one smear-negative BAL culture growing M. gordonae, without a compatible diffuse nodular-bronchiectatic or cavitary syndrome. The culture does not establish NTM disease or explain the mass. Continue the mass evaluation, review collection/procedure concerns and obtain follow-up respiratory cultures if clinically indicated. Avoid starting an NTM regimen on this result alone.</a:t>
            </a:r>
          </a:p>
          <a:p xmlns:a="http://schemas.openxmlformats.org/drawingml/2006/main">
            <a:r>
              <a:t/>
            </a:r>
          </a:p>
          <a:p xmlns:a="http://schemas.openxmlformats.org/drawingml/2006/main">
            <a:r>
              <a:t>Module section: https://docarcshot.github.io/id-practice-update/lectures/Nontuberculous_Mycobacterial_Infections.html#respiratory-isolates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treatment or structured observation with the patient Factors favoring treatment Cavitation, positive AFB smears, radiographic progression, substantial symptoms or weight loss, extensive disease, immune suppression, and a more pathogenic or treatable species. Factors favoring observation Mild stable noncavitary disease, uncertain attribution of symptoms, high toxicity risk and patient preference. Meeting diagnostic criteria alone does not mandate antibiotics. Observation needs an explicit plan for longitudinal assessment of symptoms, cultures and imaging. Individualize follow-up and document the findings that would trigger treatment. Treat the underlying lung disease in either pathway Arrange individualized airway clearance with respiratory therapy, exercise as tolerated, nutritional assessment and smoking cessation. Assess aspiration or reflux when suggested by the history. Review the indication for corticosteroids and other immunosuppression. Consider an underlying bronchiectasis cause, including immune deficiency or CF when the phenotype warrants it. Avoid macrolide monotherapy for bronchiectasis in someone with potentially active MAC or M. abscessus disease. It can select resistance to a key treatment drug. Airway clearance and nutrition are supportive care. Observational associations do not prove they prevent NTM recurrence or replace antibiotics in progressive disease. Sources [1] [2] [14]</a:t>
            </a:r>
          </a:p>
          <a:p xmlns:a="http://schemas.openxmlformats.org/drawingml/2006/main">
            <a:r>
              <a:t/>
            </a:r>
          </a:p>
          <a:p xmlns:a="http://schemas.openxmlformats.org/drawingml/2006/main">
            <a:r>
              <a:t>Module section: https://docarcshot.github.io/id-practice-update/lectures/Nontuberculous_Mycobacterial_Infections.html#decision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treatment or structured observation with the patient Factors favoring treatment Cavitation, positive AFB smears, radiographic progression, substantial symptoms or weight loss, extensive disease, immune suppression, and a more pathogenic or treatable species. Factors favoring observation Mild stable noncavitary disease, uncertain attribution of symptoms, high toxicity risk and patient preference. Meeting diagnostic criteria alone does not mandate antibiotics. Observation needs an explicit plan for longitudinal assessment of symptoms, cultures and imaging. Individualize follow-up and document the findings that would trigger treatment. Treat the underlying lung disease in either pathway Arrange individualized airway clearance with respiratory therapy, exercise as tolerated, nutritional assessment and smoking cessation. Assess aspiration or reflux when suggested by the history. Review the indication for corticosteroids and other immunosuppression. Consider an underlying bronchiectasis cause, including immune deficiency or CF when the phenotype warrants it. Avoid macrolide monotherapy for bronchiectasis in someone with potentially active MAC or M. abscessus disease. It can select resistance to a key treatment drug. Airway clearance and nutrition are supportive care. Observational associations do not prove they prevent NTM recurrence or replace antibiotics in progressive disease. Sources [1] [2] [14]</a:t>
            </a:r>
          </a:p>
          <a:p xmlns:a="http://schemas.openxmlformats.org/drawingml/2006/main">
            <a:r>
              <a:t/>
            </a:r>
          </a:p>
          <a:p xmlns:a="http://schemas.openxmlformats.org/drawingml/2006/main">
            <a:r>
              <a:t>Module section: https://docarcshot.github.io/id-practice-update/lectures/Nontuberculous_Mycobacterial_Infections.html#decision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treatment or structured observation with the patient Factors favoring treatment Cavitation, positive AFB smears, radiographic progression, substantial symptoms or weight loss, extensive disease, immune suppression, and a more pathogenic or treatable species. Factors favoring observation Mild stable noncavitary disease, uncertain attribution of symptoms, high toxicity risk and patient preference. Meeting diagnostic criteria alone does not mandate antibiotics. Observation needs an explicit plan for longitudinal assessment of symptoms, cultures and imaging. Individualize follow-up and document the findings that would trigger treatment. Treat the underlying lung disease in either pathway Arrange individualized airway clearance with respiratory therapy, exercise as tolerated, nutritional assessment and smoking cessation. Assess aspiration or reflux when suggested by the history. Review the indication for corticosteroids and other immunosuppression. Consider an underlying bronchiectasis cause, including immune deficiency or CF when the phenotype warrants it. Avoid macrolide monotherapy for bronchiectasis in someone with potentially active MAC or M. abscessus disease. It can select resistance to a key treatment drug. Airway clearance and nutrition are supportive care. Observational associations do not prove they prevent NTM recurrence or replace antibiotics in progressive disease. Sources [1] [2] [14]</a:t>
            </a:r>
          </a:p>
          <a:p xmlns:a="http://schemas.openxmlformats.org/drawingml/2006/main">
            <a:r>
              <a:t/>
            </a:r>
          </a:p>
          <a:p xmlns:a="http://schemas.openxmlformats.org/drawingml/2006/main">
            <a:r>
              <a:t>Module section: https://docarcshot.github.io/id-practice-update/lectures/Nontuberculous_Mycobacterial_Infections.html#decision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treatment or structured observation with the patient Factors favoring treatment Cavitation, positive AFB smears, radiographic progression, substantial symptoms or weight loss, extensive disease, immune suppression, and a more pathogenic or treatable species. Factors favoring observation Mild stable noncavitary disease, uncertain attribution of symptoms, high toxicity risk and patient preference. Meeting diagnostic criteria alone does not mandate antibiotics. Observation needs an explicit plan for longitudinal assessment of symptoms, cultures and imaging. Individualize follow-up and document the findings that would trigger treatment. Treat the underlying lung disease in either pathway Arrange individualized airway clearance with respiratory therapy, exercise as tolerated, nutritional assessment and smoking cessation. Assess aspiration or reflux when suggested by the history. Review the indication for corticosteroids and other immunosuppression. Consider an underlying bronchiectasis cause, including immune deficiency or CF when the phenotype warrants it. Avoid macrolide monotherapy for bronchiectasis in someone with potentially active MAC or M. abscessus disease. It can select resistance to a key treatment drug. Airway clearance and nutrition are supportive care. Observational associations do not prove they prevent NTM recurrence or replace antibiotics in progressive disease. Sources [1] [2] [14]</a:t>
            </a:r>
          </a:p>
          <a:p xmlns:a="http://schemas.openxmlformats.org/drawingml/2006/main">
            <a:r>
              <a:t/>
            </a:r>
          </a:p>
          <a:p xmlns:a="http://schemas.openxmlformats.org/drawingml/2006/main">
            <a:r>
              <a:t>Module section: https://docarcshot.github.io/id-practice-update/lectures/Nontuberculous_Mycobacterial_Infections.html#decision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MAC treatment depends on severity and macrolide susceptibility Start with the pulmonary MAC phenotype Pulmonary MAC phenotype Initial approach Duration and reassessment Macrolide-susceptible, noncavitary nodular-bronchiectatic disease without advanced severity Azithromycin + ethambutol + rifampin, three times weekly. Daily treatment is also used when the clinical situation warrants it. Continue for at least 12 months after culture conversion, not 12 months from the first dose. Cavitary or advanced/severe bronchiectatic disease Daily azithromycin + ethambutol + rifampin; add IV amikacin or streptomycin initially, usually for 2-3 months, individualized to response and toxicity. Obtain serial cultures and monitor aminoglycoside toxicity. Intermittent oral therapy is not appropriate for cavitary MAC. Persistent positive cultures after at least 6 months of an adequate regimen Reassess adherence, doses, interactions and susceptibility. Add amikacin liposome inhalation suspension (ALIS) to an appropriate background regimen when indicated. ALIS 590 mg inhaled once daily is an add-on for refractory disease, not a replacement for companion drugs. Use its dedicated nebulizer system; it is not interchangeable with nebulized IV amikacin. Macrolide-resistant MAC Obtain expert consultation and rebuild a multidrug regimen, often including parenteral amikacin when active. Consider resection for selected localized disease. Do not count the macrolide as active or simply add one oral drug to a failing regimen. 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 Test macrolide and amikacin susceptibility. Do not treat every reported MIC as equally predictive of MAC treatment response. Sources [1] [4] Usual adult MAC doses before renal, hepatic and interaction adjustments Adult oral drug Daily MAC regimen Three-times-weekly MAC regimen Azithromycin 250-500 mg once daily 500 mg per dose Ethambutol 15 mg/kg once daily 25 mg/kg per dose Rifampin 10 mg/kg once daily, maximum 600 mg 600 mg per dose 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 Sources [3] What about two-drug MAC treatment? 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 Acquired macrolide resistance occurred in 2/18 nonconverters with paired isolates, not 2/108 systematically tested patients. 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 Maintain ethambutol, serial cultures and reassessment for resistance if response fails. Sources [1] [6] [18] [19]</a:t>
            </a:r>
          </a:p>
          <a:p xmlns:a="http://schemas.openxmlformats.org/drawingml/2006/main">
            <a:r>
              <a:t/>
            </a:r>
          </a:p>
          <a:p xmlns:a="http://schemas.openxmlformats.org/drawingml/2006/main">
            <a:r>
              <a:t>Module section: https://docarcshot.github.io/id-practice-update/lectures/Nontuberculous_Mycobacterial_Infections.html#mac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 abscessus requires subspecies and resistance interpretation M. abscessus complex includes subspecies abscessus, massiliense and bolletii. Subspecies massiliense usually has a nonfunctional erm(41) gene and is more likely to retain macrolide activity. Subspecies identification alone cannot exclude acquired resistance. A preliminary susceptible result may change Laboratory result What it means Treatment implication Macrolide susceptible early, resistant after extended incubation Inducible resistance, usually from functional erm(41). Do not count azithromycin or clarithromycin as active. Macrolide resistant early, or resistance-associated rrl mutation Constitutive/acquired resistance. Macrolide is not an active component even if the subspecies is massiliense. No inducible or mutational resistance Macrolide activity is retained. Include a macrolide in the active multidrug regimen. Ask for extended macrolide testing, generally through 14 days, and/or molecular assessment of erm(41), plus evaluation for mutational resistance. Test amikacin and the other candidate drugs using a reference laboratory when needed. 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 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 A macrolide sometimes remains in a resistant M. abscessus regimen for immunomodulation. It does not count toward the active-drug total. Monitor for other NTM species that could acquire resistance during that exposure. Sources [1] [14] M. abscessus regimen examples These are specialist-guided starting frameworks for adult pulmonary disease. They assume amikacin susceptibility and adequate exposure. See the adult doses before prescribing; the number of named drugs is not necessarily the number of active drugs. M. abscessus combination examples Resistance pattern Initial IV-containing phase Continuation options Macrolide active: no inducible or mutational resistance Azithromycin + IV amikacin + imipenem (or cefoxitin) + clofazimine is one framework. Target at least 3 active agents. Tigecycline or linezolid may replace or supplement a poorly tolerated or unsuitable component. Azithromycin + clofazimine + inhaled amikacin is one possible framework. Linezolid is another companion option. Retain at least 2-3 active drugs. Inducible or mutational macrolide resistance IV amikacin + imipenem (or cefoxitin) + tigecycline + clofazimine is one framework, aiming for at least 4 active agents when possible. Linezolid may be an additional or substitute companion if activity and tolerability support it. Clofazimine + linezolid + inhaled amikacin may be feasible if sufficiently active and tolerated. If this leaves too few active drugs, revise or continue IV therapy rather than force an inadequate oral/inhaled phase. 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 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 Sources [1], Table 5 [3] [7]</a:t>
            </a:r>
          </a:p>
          <a:p xmlns:a="http://schemas.openxmlformats.org/drawingml/2006/main">
            <a:r>
              <a:t/>
            </a:r>
          </a:p>
          <a:p xmlns:a="http://schemas.openxmlformats.org/drawingml/2006/main">
            <a:r>
              <a:t>Module section: https://docarcshot.github.io/id-practice-update/lectures/Nontuberculous_Mycobacterial_Infections.html#abscessus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species require distinct treatment decisions Recognize the species before extrapolating a regimen Species Typical clinical setting Treatment approach and pitfall M. kansasii Cavitary lung disease, often with structural lung disease. For rifampin-susceptible disease, rifampin + ethambutol + either isoniazid or a macrolide. Treat at least 12 months total; this differs from the MAC post-conversion rule. If cultures have not converted by 4 months, obtain expert consultation and reassess the regimen. M. xenopi Pulmonary disease that may be cavitary and severe. Daily rifampin + ethambutol + a macrolide and/or moxifloxacin; at least three drugs. Consider parenteral amikacin for severe disease. Continue at least 12 months after conversion. M. fortuitum complex Postprocedural wounds, device infections and occasional lung disease. Use at least two active drugs for significant infection, selected by susceptibility. Potential options include a fluoroquinolone, TMP-SMX, doxycycline or amikacin. Do not assume macrolide activity; inducible resistance is important. M. chelonae Skin nodules or disseminated skin disease, particularly with immunosuppression. A susceptible macrolide is often central, with additional active therapy for serious disease. Tobramycin can be more active than amikacin; cefoxitin is generally unreliable. Newly described erm(55) means inducible macrolide resistance cannot be categorically excluded. M. marinum Aquatic inoculation, sporotrichoid skin lesions, tenosynovitis. For more than minimal disease, a macrolide + ethambutol is a common combination; deeper disease may need rifampin and surgery. See extrapulmonary section. M. chimaera A MAC member causing lung disease; also invasive infection after cardiac surgery. Pulmonary disease follows MAC principles. Prosthetic cardiovascular infection requires a separate source-control and dissemination evaluation. 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 Sources [1] [8] [10] [12]</a:t>
            </a:r>
          </a:p>
          <a:p xmlns:a="http://schemas.openxmlformats.org/drawingml/2006/main">
            <a:r>
              <a:t/>
            </a:r>
          </a:p>
          <a:p xmlns:a="http://schemas.openxmlformats.org/drawingml/2006/main">
            <a:r>
              <a:t>Module section: https://docarcshot.github.io/id-practice-update/lectures/Nontuberculous_Mycobacterial_Infections.html#species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Follow symptoms, cultures and toxicity separately Before treatment, record weight, functional limitations, sputum burden, CT findings and baseline cultures. Obtain CBC, creatinine/electrolytes and hepatic tests. Add ECG, visual acuity/color testing and audiometry according to the planned drugs. Reconcile all medications and supplements. A monitoring schedule must lead to an action When What to review What the result should change Every clinical contact Weight, respiratory symptoms, appetite, nausea, diarrhea, missed doses, airway clearance and patient goals. Add drug-specific questions: hearing/balance with ototoxic agents; vision with ethambutol or linezolid; neuropathy with linezolid or isoniazid. Address intolerance early. New symptoms may reflect drug injury, bronchiectasis or coinfection rather than NTM progression. During IV treatment Usually weekly CBC and hepatic tests; renal function/electrolytes at least weekly, often twice weekly with amikacin or higher risk. Obtain amikacin levels under a defined pharmacy plan. Change doses or intervals for evolving organ dysfunction. Do not wait for the next scheduled visit if toxicity develops. During stable oral treatment A practical starting schedule is CBC, renal/electrolyte and hepatic testing every 1-3 months; test sooner after initiation or regimen changes and with symptoms. Individualize to the drug combination. Long-term linezolid requires more frequent CBC monitoring. Every 1-2 months during pulmonary treatment Sputum AFB cultures; use induction if needed. Date conversion from the first negative in a sustained series. A single negative sample is insufficient. At clinical milestones Use clinical, radiographic and microbiologic findings together to assess response. Repeat imaging when needed to evaluate progression or response; no fixed interim CT schedule is specified here. CT improvement supports response but does not replace cultures or establish microbiologic cure. After completing treatment BTS guidance recommends sputum cultures every 4-12 weeks for 12 months after treatment completion. Continue clinical assessment and investigate recurrent symptoms. Re-identify recurrent isolates and consider new infection as well as relapse. 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 Sources [1] [2] [3]</a:t>
            </a:r>
          </a:p>
          <a:p xmlns:a="http://schemas.openxmlformats.org/drawingml/2006/main">
            <a:r>
              <a:t/>
            </a:r>
          </a:p>
          <a:p xmlns:a="http://schemas.openxmlformats.org/drawingml/2006/main">
            <a:r>
              <a:t>Module section: https://docarcshot.github.io/id-practice-update/lectures/Nontuberculous_Mycobacterial_Infections.html#monitoring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Symptoms that require prompt assessment Toxicity surveillance is part of treatment delivery Drug or class Problem to anticipate Response Ethambutol Blurred vision, reduced color discrimination or central visual change. Renal impairment increases exposure. Assess visual acuity and color discrimination before treatment and periodically during therapy, with frequency individualized to risk. New visual symptoms require holding ethambutol and urgent assessment. IV or inhaled amikacin Tinnitus, hearing loss, imbalance; kidney injury. Inhaled treatment can cause dysphonia, cough, bronchospasm or hemoptysis. Obtain baseline audiometry and repeat during therapy according to risk and symptoms. Published pharmacotherapy guidance suggests considering monthly audiograms during IV amikacin treatment. New tinnitus or imbalance needs prompt assessment even when creatinine is normal. Macrolides, clofazimine, moxifloxacin, bedaquiline QT prolongation, additive interactions and gastrointestinal intolerance. Macrolides can also cause hearing loss; ask about hearing symptoms and use audiometry according to exposure, symptoms and risk. Review ECG and K/Mg before combining agents; repeat after initiation or changes, often at about 2 weeks, sooner for high risk or symptoms. Clofazimine and bedaquiline need ongoing monitoring as exposure accumulates. Rifampin or rifabutin Hepatic injury, cytopenias and major interactions; rifabutin can cause uveitis. Review anticoagulants, ART, transplant immunosuppression and azole antifungals. Anticipate interaction changes when starting and stopping the rifamycin. Linezolid Cytopenias, peripheral/optic neuropathy, lactic acidosis and serotonergic interactions. 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 Tigecycline or omadacycline Nausea, poor intake and weight loss; hepatic abnormalities. Tigecycline can cause pancreatitis. Track weight and intake, not laboratory results alone. Reassess severe abdominal symptoms. Oral omadacycline requires careful fasting and cation separation. Cefoxitin or imipenem Cytopenias, hepatic abnormalities and renal-dose issues; imipenem can cause neurotoxicity. Review weekly safety labs and renal dosing; investigate confusion or myoclonus. Do not leave the patient taking only the easiest drug while stopping the rest. A serious adverse reaction may require a coordinated interruption and reconstruction of the full regimen. Prolonged unplanned monotherapy can sacrifice future treatment options. Sources [1] [3] [4]</a:t>
            </a:r>
          </a:p>
          <a:p xmlns:a="http://schemas.openxmlformats.org/drawingml/2006/main">
            <a:r>
              <a:t/>
            </a:r>
          </a:p>
          <a:p xmlns:a="http://schemas.openxmlformats.org/drawingml/2006/main">
            <a:r>
              <a:t>Module section: https://docarcshot.github.io/id-practice-update/lectures/Nontuberculous_Mycobacterial_Infections.html#toxicity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Outside the lung, tissue diagnosis and source control become central 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 Match the specimen and endpoint to the site Syndrome Workup Management Postoperative, injection-associated or cosmetic-procedure infection Consider rapid growers when nodules, draining sinuses or abscesses persist despite usual antibiotics. Obtain deep specimens and assess retained foreign material. Drain/debride and remove infected material when feasible. Use species- and susceptibility-directed combination therapy. Significant rapid-grower skin disease commonly needs months of treatment, often around 4-6 months, individualized to depth and source control. Aquarium-associated hand lesion or tenosynovitis Suspect M. marinum; request lower-temperature culture. Assess tendon sheath, joint and bone involvement. Macrolide + ethambutol is a common approach; deep infection may require rifampin and operative debridement. Continue treatment 1-2 months beyond clinical resolution; deep disease needs longer than a superficial lesion. Osteomyelitis, septic arthritis or hardware infection Obtain multiple operative specimens and assess implant involvement. Identify the species before selecting a long regimen. Combine surgery with active drugs; courses often last 6-12 months or longer. This is low-quality, species-dependent evidence, not a universal duration. Hardware retention can limit cure. Cervical lymphadenitis, especially in children Obtain tissue diagnosis and distinguish TB, malignancy and bacterial adenitis. Complete excision may be curative for localized NTM lymphadenitis. Involve ENT because facial nerve injury and fistula risk affect the decision; medical treatment is individualized. Catheter-associated bloodstream infection Rapid growers should not automatically be dismissed as contaminants. Repeat cultures, identify the species and look for metastatic sites if persistent. Remove the implicated catheter when feasible and use active systemic therapy. Duration depends on species, clearance and complications; do not apply a short routine bacterial line-infection course reflexively. Disseminated disease or prosthetic cardiovascular infection Obtain mycobacterial blood cultures and involved-tissue samples. Assess HIV, immunosuppression and organ involvement. Prior cardiac surgery raises concern for M. chimaera. Specialist combination therapy plus source control where possible. Involve cardiac surgery for infected prosthetic material and infection prevention for a possible healthcare-associated exposure. 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 Sources [8] [9] [13] [11] [12]</a:t>
            </a:r>
          </a:p>
          <a:p xmlns:a="http://schemas.openxmlformats.org/drawingml/2006/main">
            <a:r>
              <a:t/>
            </a:r>
          </a:p>
          <a:p xmlns:a="http://schemas.openxmlformats.org/drawingml/2006/main">
            <a:r>
              <a:t>Module section: https://docarcshot.github.io/id-practice-update/lectures/Nontuberculous_Mycobacterial_Infections.html#extrapulmonary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One positive MAC culture A patient with mild bronchiectasis has stable weight and CT findings, and MAC in one of three sputum cultures. Repeat cultures, optimize airway clearance and look for other causes of symptoms. The current evidence does not justify committing to prolonged MAC therapy solely on that result. Still culture-positive at month seven A patient taking daily MAC treatment reports missing ethambutol most days because of visual concerns. Address the possible eye toxicity immediately, repeat susceptibility testing and reconstruct the actual regimen. Evaluate ALIS for refractory disease, but adding it does not correct unrecognized toxicity, resistance or poor drug delivery. A susceptibility result changes M. abscessus is clarithromycin-susceptible at the early reading and resistant at day 14. This is inducible resistance. The macrolide cannot be counted as active. Rebuild the active-drug count with expert input before proceeding. Sources [1]</a:t>
            </a:r>
          </a:p>
          <a:p xmlns:a="http://schemas.openxmlformats.org/drawingml/2006/main">
            <a:r>
              <a:t/>
            </a:r>
          </a:p>
          <a:p xmlns:a="http://schemas.openxmlformats.org/drawingml/2006/main">
            <a:r>
              <a:t>Module section: https://docarcshot.github.io/id-practice-update/lectures/Nontuberculous_Mycobacterial_Infections.html#cases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One positive MAC culture A patient with mild bronchiectasis has stable weight and CT findings, and MAC in one of three sputum cultures. Repeat cultures, optimize airway clearance and look for other causes of symptoms. The current evidence does not justify committing to prolonged MAC therapy solely on that result. Still culture-positive at month seven A patient taking daily MAC treatment reports missing ethambutol most days because of visual concerns. Address the possible eye toxicity immediately, repeat susceptibility testing and reconstruct the actual regimen. Evaluate ALIS for refractory disease, but adding it does not correct unrecognized toxicity, resistance or poor drug delivery. A susceptibility result changes M. abscessus is clarithromycin-susceptible at the early reading and resistant at day 14. This is inducible resistance. The macrolide cannot be counted as active. Rebuild the active-drug count with expert input before proceeding. Sources [1]</a:t>
            </a:r>
          </a:p>
          <a:p xmlns:a="http://schemas.openxmlformats.org/drawingml/2006/main">
            <a:r>
              <a:t/>
            </a:r>
          </a:p>
          <a:p xmlns:a="http://schemas.openxmlformats.org/drawingml/2006/main">
            <a:r>
              <a:t>Module section: https://docarcshot.github.io/id-practice-update/lectures/Nontuberculous_Mycobacterial_Infections.html#cases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One positive MAC culture A patient with mild bronchiectasis has stable weight and CT findings, and MAC in one of three sputum cultures. Repeat cultures, optimize airway clearance and look for other causes of symptoms. The current evidence does not justify committing to prolonged MAC therapy solely on that result. Still culture-positive at month seven A patient taking daily MAC treatment reports missing ethambutol most days because of visual concerns. Address the possible eye toxicity immediately, repeat susceptibility testing and reconstruct the actual regimen. Evaluate ALIS for refractory disease, but adding it does not correct unrecognized toxicity, resistance or poor drug delivery. A susceptibility result changes M. abscessus is clarithromycin-susceptible at the early reading and resistant at day 14. This is inducible resistance. The macrolide cannot be counted as active. Rebuild the active-drug count with expert input before proceeding. Sources [1]</a:t>
            </a:r>
          </a:p>
          <a:p xmlns:a="http://schemas.openxmlformats.org/drawingml/2006/main">
            <a:r>
              <a:t/>
            </a:r>
          </a:p>
          <a:p xmlns:a="http://schemas.openxmlformats.org/drawingml/2006/main">
            <a:r>
              <a:t>Module section: https://docarcshot.github.io/id-practice-update/lectures/Nontuberculous_Mycobacterial_Infections.html#cases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Determine whether the isolate is causing disease Resident core Decide whether NTM is causing disease, whether to treat, which species-specific regimen is appropriate, and how to follow efficacy and toxicity. Advanced teaching Resistance, treatment failure, mixed isolates, organ dysfunction, surgery, drug levels and newer evidence. Jump to fellow section The main focus is pulmonary disease in adults. Skin, bone, joint, device and disseminated infections require different specimens, source control and treatment endpoints. HIV-associated disseminated MAC and TB | TB treatment module An AFB-positive smear does not distinguish NTM from tuberculosis. Use the TB diagnostic and airborne-precaution pathway when pulmonary TB remains plausible. Do not give a partial TB regimen while assuming the isolate is NTM. Sources [1] [13]</a:t>
            </a:r>
          </a:p>
          <a:p xmlns:a="http://schemas.openxmlformats.org/drawingml/2006/main">
            <a:r>
              <a:t/>
            </a:r>
          </a:p>
          <a:p xmlns:a="http://schemas.openxmlformats.org/drawingml/2006/main">
            <a:r>
              <a:t>Module section: https://docarcshot.github.io/id-practice-update/lectures/Nontuberculous_Mycobacterial_Infections.html#start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Complex disease starts with a reassessment of the diagnosis Optional fellow section Before escalating, reconstruct the course from culture dates, species, smear burden, CT changes, actual doses and interruptions. Review absorption, access, interactions and whether the patient is taking the intended regimen. Persistent symptoms are not synonymous with persistent NTM Evaluate bacterial bronchiectasis exacerbation, aspiration, malignancy, drug toxicity and Aspergillus-related disease when suggested by the presentation. Aspergillus isolation or BAL galactomannan alone does not establish chronic pulmonary aspergillosis or ABPA. Use the appropriate clinical, radiographic and immunologic criteria. Rifamycins can make azole treatment ineffective. Mixed MAC and M. abscessus cultures Identify each isolate and reassess whether it meets criteria for clinically significant disease. The pulmonary NTM guideline advises surveillance for other NTM species during treatment, particularly when a macrolide is used for immunomodulation in macrolide-resistant M. abscessus disease. Concurrent disease warrants expert consultation. Macrolide activity must be interpreted for each organism. Do not count a macrolide as active against an inducibly or mutationally resistant M. abscessus isolate. Recurrence after apparent cure Reculture and repeat species identification and relevant susceptibility testing. Reinfection with a new strain is common in structural lung disease; recurrence does not prove nonadherence or inadequate prior duration. Distinguishing same-species relapse from reinfection can require comparison of stored isolates with molecular typing. Sources [1] [2]</a:t>
            </a:r>
          </a:p>
          <a:p xmlns:a="http://schemas.openxmlformats.org/drawingml/2006/main">
            <a:r>
              <a:t/>
            </a:r>
          </a:p>
          <a:p xmlns:a="http://schemas.openxmlformats.org/drawingml/2006/main">
            <a:r>
              <a:t>Module section: https://docarcshot.github.io/id-practice-update/lectures/Nontuberculous_Mycobacterial_Infections.html#fellow-detail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Complex disease starts with a reassessment of the diagnosis Optional fellow section Before escalating, reconstruct the course from culture dates, species, smear burden, CT changes, actual doses and interruptions. Review absorption, access, interactions and whether the patient is taking the intended regimen. Persistent symptoms are not synonymous with persistent NTM Evaluate bacterial bronchiectasis exacerbation, aspiration, malignancy, drug toxicity and Aspergillus-related disease when suggested by the presentation. Aspergillus isolation or BAL galactomannan alone does not establish chronic pulmonary aspergillosis or ABPA. Use the appropriate clinical, radiographic and immunologic criteria. Rifamycins can make azole treatment ineffective. Mixed MAC and M. abscessus cultures Identify each isolate and reassess whether it meets criteria for clinically significant disease. The pulmonary NTM guideline advises surveillance for other NTM species during treatment, particularly when a macrolide is used for immunomodulation in macrolide-resistant M. abscessus disease. Concurrent disease warrants expert consultation. Macrolide activity must be interpreted for each organism. Do not count a macrolide as active against an inducibly or mutationally resistant M. abscessus isolate. Recurrence after apparent cure Reculture and repeat species identification and relevant susceptibility testing. Reinfection with a new strain is common in structural lung disease; recurrence does not prove nonadherence or inadequate prior duration. Distinguishing same-species relapse from reinfection can require comparison of stored isolates with molecular typing. Sources [1] [2]</a:t>
            </a:r>
          </a:p>
          <a:p xmlns:a="http://schemas.openxmlformats.org/drawingml/2006/main">
            <a:r>
              <a:t/>
            </a:r>
          </a:p>
          <a:p xmlns:a="http://schemas.openxmlformats.org/drawingml/2006/main">
            <a:r>
              <a:t>Module section: https://docarcshot.github.io/id-practice-update/lectures/Nontuberculous_Mycobacterial_Infections.html#fellow-detail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Complex disease starts with a reassessment of the diagnosis Optional fellow section Before escalating, reconstruct the course from culture dates, species, smear burden, CT changes, actual doses and interruptions. Review absorption, access, interactions and whether the patient is taking the intended regimen. Persistent symptoms are not synonymous with persistent NTM Evaluate bacterial bronchiectasis exacerbation, aspiration, malignancy, drug toxicity and Aspergillus-related disease when suggested by the presentation. Aspergillus isolation or BAL galactomannan alone does not establish chronic pulmonary aspergillosis or ABPA. Use the appropriate clinical, radiographic and immunologic criteria. Rifamycins can make azole treatment ineffective. Mixed MAC and M. abscessus cultures Identify each isolate and reassess whether it meets criteria for clinically significant disease. The pulmonary NTM guideline advises surveillance for other NTM species during treatment, particularly when a macrolide is used for immunomodulation in macrolide-resistant M. abscessus disease. Concurrent disease warrants expert consultation. Macrolide activity must be interpreted for each organism. Do not count a macrolide as active against an inducibly or mutationally resistant M. abscessus isolate. Recurrence after apparent cure Reculture and repeat species identification and relevant susceptibility testing. Reinfection with a new strain is common in structural lung disease; recurrence does not prove nonadherence or inadequate prior duration. Distinguishing same-species relapse from reinfection can require comparison of stored isolates with molecular typing. Sources [1] [2]</a:t>
            </a:r>
          </a:p>
          <a:p xmlns:a="http://schemas.openxmlformats.org/drawingml/2006/main">
            <a:r>
              <a:t/>
            </a:r>
          </a:p>
          <a:p xmlns:a="http://schemas.openxmlformats.org/drawingml/2006/main">
            <a:r>
              <a:t>Module section: https://docarcshot.github.io/id-practice-update/lectures/Nontuberculous_Mycobacterial_Infections.html#fellow-detail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Complex disease starts with a reassessment of the diagnosis Optional fellow section Before escalating, reconstruct the course from culture dates, species, smear burden, CT changes, actual doses and interruptions. Review absorption, access, interactions and whether the patient is taking the intended regimen. Persistent symptoms are not synonymous with persistent NTM Evaluate bacterial bronchiectasis exacerbation, aspiration, malignancy, drug toxicity and Aspergillus-related disease when suggested by the presentation. Aspergillus isolation or BAL galactomannan alone does not establish chronic pulmonary aspergillosis or ABPA. Use the appropriate clinical, radiographic and immunologic criteria. Rifamycins can make azole treatment ineffective. Mixed MAC and M. abscessus cultures Identify each isolate and reassess whether it meets criteria for clinically significant disease. The pulmonary NTM guideline advises surveillance for other NTM species during treatment, particularly when a macrolide is used for immunomodulation in macrolide-resistant M. abscessus disease. Concurrent disease warrants expert consultation. Macrolide activity must be interpreted for each organism. Do not count a macrolide as active against an inducibly or mutationally resistant M. abscessus isolate. Recurrence after apparent cure Reculture and repeat species identification and relevant susceptibility testing. Reinfection with a new strain is common in structural lung disease; recurrence does not prove nonadherence or inadequate prior duration. Distinguishing same-species relapse from reinfection can require comparison of stored isolates with molecular typing. Sources [1] [2]</a:t>
            </a:r>
          </a:p>
          <a:p xmlns:a="http://schemas.openxmlformats.org/drawingml/2006/main">
            <a:r>
              <a:t/>
            </a:r>
          </a:p>
          <a:p xmlns:a="http://schemas.openxmlformats.org/drawingml/2006/main">
            <a:r>
              <a:t>Module section: https://docarcshot.github.io/id-practice-update/lectures/Nontuberculous_Mycobacterial_Infections.html#fellow-detail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Adult doses and adjustments 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 Usual adult doses and practical adjustments Drug and route Usual dose Adjustment or administration issue Azithromycin, PO 250-500 mg daily; selected MAC: 500 mg three times weekly Usually no renal adjustment. Review QT-active combinations and hearing symptoms. Clarithromycin, PO 500 mg every 12 hours Alternative to azithromycin; more interactions. Halve dose when CrCl &lt;30 mL/min. Ethambutol, PO 15 mg/kg daily; selected MAC: 25 mg/kg three times weekly With significant renal impairment, extend interval (e.g., 15-25 mg/kg three times weekly) with pharmacy input. Baseline and serial vision assessment. Rifampin, PO 10 mg/kg daily, maximum 600 mg; selected MAC: 600 mg three times weekly Usually no renal adjustment. Review enzyme-induction interactions and liver tests. Prefer empty stomach if tolerated. Rifabutin, PO 150-300 mg daily; often 150 mg daily with clarithromycin Dose depends heavily on interacting drugs, especially ART. Reduce 50% for CrCl &lt;30 mL/min. Monitor cytopenias and uveitis. Clofazimine, PO Usually 100 mg daily Take with food. Monitor QT and gastrointestinal effects; counsel about skin discoloration. Access requires advance planning in the US. Amikacin, IV 10-15 mg/kg daily OR 15-25 mg/kg per dose three times weekly Individualize weight scalar, dose and interval with pharmacy. Reduce dose or extend interval for renal dysfunction. Levels, renal/electrolytes and audiometry required; see TDM. Imipenem/cilastatin, IV 500-1,000 mg (imipenem component) every 8-12 hours Adjust for renal function; assess seizure/neurotoxicity risk. Select dose and infusion logistics with pharmacy. Cefoxitin, IV 2-4 g every 8-12 hours; maximum 12 g/day Adjust dose or interval for renal impairment. Monitor CBC and liver tests during prolonged use. Tigecycline, IV 25-50 mg once or twice daily, individualized Dose escalation/tolerability often determines delivery; once-daily dosing is used by experts. No usual renal adjustment; reduce in severe hepatic dysfunction. Monitor nausea, intake, liver tests and pancreatitis symptoms. Linezolid, PO or IV Usually 600 mg once daily; 300 mg daily may be used after exposure/toxicity review Prolonged NTM treatment commonly uses once-daily dosing. No routine label renal adjustment, but renal dysfunction increases toxicity concern. Consider trough TDM and dose adjustment; monitor CBC and neurologic/visual symptoms. Omadacycline, PO or IV Off-label NTM maintenance: 300 mg PO daily or 100 mg IV daily No usual renal adjustment. Take tablets with water after at least 4 hours fasting; then avoid food/drink other than water for 2 hours and dairy, antacids or multivitamins for 4 hours. Individualize loading with the specialist. Not automatically equivalent to tigecycline. Amikacin liposome inhalation suspension (ALIS) 590 mg inhaled once daily Use dedicated Lamira system. Established role is add-on for refractory MAC; M. abscessus use is off-label. Respiratory, auditory and renal toxicity monitoring remains necessary. Nebulized parenteral amikacin formulation 250-500 mg inhaled daily in published guidance Off-label; formulation, nebulizer and dose need specialist/pharmacy planning. Not interchangeable with ALIS and not a substitute for IV therapy in severe initial disease. Moxifloxacin, PO or IV 400 mg daily Selected species/salvage role. No usual renal adjustment. QT review; separate oral dose from polyvalent cations per label. Isoniazid, PO 5 mg/kg daily, maximum 300 mg, with pyridoxine 25-50 mg daily Option in rifampin-susceptible M. kansasii combinations. No usual renal adjustment. Monitor liver injury and neuropathy. 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 Sources [1], Tables 3 and 5 [3] [4] [23] .</a:t>
            </a:r>
          </a:p>
          <a:p xmlns:a="http://schemas.openxmlformats.org/drawingml/2006/main">
            <a:r>
              <a:t/>
            </a:r>
          </a:p>
          <a:p xmlns:a="http://schemas.openxmlformats.org/drawingml/2006/main">
            <a:r>
              <a:t>Module section: https://docarcshot.github.io/id-practice-update/lectures/Nontuberculous_Mycobacterial_Infections.html#dosing</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Drug levels answer specific exposure and toxicity questions Routine TDM is most established for IV aminoglycosides. For oral drugs, consider it when poor response, malabsorption, major interactions or toxicity raises a specific question. A target concentration is not a guarantee of cure. Use drug levels with a defined clinical question Situation Practical interpretation IV amikacin Use a pharmacy-designed dose, interval and sampling plan. Guideline reference doses are 10-15 mg/kg daily or 15-25 mg/kg three times weekly, adjusted by levels and renal function. Older/frail patients may require lower exposure. Amikacin concentrations Reference peak targets differ by schedule: about 35-45 mcg/mL with daily dosing and 65-80 mcg/mL with intermittent dosing. The guideline gives a trough below 5 mcg/mL; many NTM centers target an undetectable trough. Specify which approach is being used. Timing of amikacin levels 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 Long-term linezolid 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 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 Continue CBC, vision and neuropathy surveillance even when levels are low. Lowering an elevated level does not establish that toxicity risk has resolved. Selected oral-agent TDM Consider for unexpected failure or absorption/interactions. A low early level may reflect delayed absorption; paired later sampling can help. Coordinate assay availability and interpretation before ordering. 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 Sources [1] [3] Where to send drug levels When the assay is unavailable in-house, arrange a send-out through the local laboratory before collection. The following are verified reference-laboratory options, not confirmation of an institution’s contracted destination or local order code. Public reference-laboratory options for linezolid TDM Laboratory Test and ordering resource Collection planning National Jewish Health, Advanced Diagnostic Laboratories Linezolid level: PKLZD; current test instructions . Telephone 800-550-6227. Plain red-top serum; preferred 2 mL serum, minimum 0.25 mL. Separate promptly, freeze and ship on dry ice according to current instructions. Listed analytical turnaround 2-3 days excludes transit. University of Florida, Infectious Disease Pharmacokinetics Laboratory (IDPL) Linezolid: LNZL. Current catalog and requisition ; telephone 352-273-6710. Confirm assay-specific volume and current collection/shipping requirements . The catalog includes other antimycobacterial drug assays. 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 Sources [24] [20] [21] [22]</a:t>
            </a:r>
          </a:p>
          <a:p xmlns:a="http://schemas.openxmlformats.org/drawingml/2006/main">
            <a:r>
              <a:t/>
            </a:r>
          </a:p>
          <a:p xmlns:a="http://schemas.openxmlformats.org/drawingml/2006/main">
            <a:r>
              <a:t>Module section: https://docarcshot.github.io/id-practice-update/lectures/Nontuberculous_Mycobacterial_Infections.html#tdm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Salvage treatment requires evidence and realistic goals Evidence for selected treatment options Option What supports it Limit of the evidence ALIS for refractory MAC In CONVERT, culture conversion by month six occurred in 29.0% with ALIS plus background therapy versus 8.9% with background therapy alone. The study enrolled refractory MAC, not all new NTM disease. Respiratory adverse effects are frequent. The 2026 FDA label retains the refractory-MAC indication; use in M. abscessus is off-label. Clofazimine replacing rifampin in MAC A small open-label randomized trial enrolled 40 patients. Six-month conversion was 62% with clofazimine and 58% with rifampin, each combined with ethambutol and a macrolide. Useful support for a selected alternative, not proof of universal interchangeability. Diarrhea, pigmentation, QT effects and access matter. Do not extrapolate pulmonary MAC findings to HIV-associated disseminated MAC. Omadacycline for M. abscessus A 2026 phase 2 trial randomized 66 adults to 300 mg daily or placebo for 84 days. Symptom-response estimates favored omadacycline; nausea and discontinuation remained relevant. Short-term monotherapy research does not establish durable cure or justify routine clinical monotherapy. Use as a specialist-selected off-label component when appropriate. When to consider pulmonary surgery 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 Balance the potential benefit of resection against operative risk and the distribution of disease. Seek a surgical team experienced in NTM disease. When cure is not a realistic near-term endpoint The multisociety guideline recommends discussing treatment goals, potential benefits, adverse effects and the patient's ability and willingness to undertake therapy. Individualize decisions with expert consultation when an effective regimen cannot be tolerated. Associations between culture conversion and survival are subject to confounding. Neither an observational mortality comparison nor a single successful case proves that a particular regimen prolongs survival. Sources [5] [4] [6] [7] [1]</a:t>
            </a:r>
          </a:p>
          <a:p xmlns:a="http://schemas.openxmlformats.org/drawingml/2006/main">
            <a:r>
              <a:t/>
            </a:r>
          </a:p>
          <a:p xmlns:a="http://schemas.openxmlformats.org/drawingml/2006/main">
            <a:r>
              <a:t>Module section: https://docarcshot.github.io/id-practice-update/lectures/Nontuberculous_Mycobacterial_Infections.html#salvage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Salvage treatment requires evidence and realistic goals Evidence for selected treatment options Option What supports it Limit of the evidence ALIS for refractory MAC In CONVERT, culture conversion by month six occurred in 29.0% with ALIS plus background therapy versus 8.9% with background therapy alone. The study enrolled refractory MAC, not all new NTM disease. Respiratory adverse effects are frequent. The 2026 FDA label retains the refractory-MAC indication; use in M. abscessus is off-label. Clofazimine replacing rifampin in MAC A small open-label randomized trial enrolled 40 patients. Six-month conversion was 62% with clofazimine and 58% with rifampin, each combined with ethambutol and a macrolide. Useful support for a selected alternative, not proof of universal interchangeability. Diarrhea, pigmentation, QT effects and access matter. Do not extrapolate pulmonary MAC findings to HIV-associated disseminated MAC. Omadacycline for M. abscessus A 2026 phase 2 trial randomized 66 adults to 300 mg daily or placebo for 84 days. Symptom-response estimates favored omadacycline; nausea and discontinuation remained relevant. Short-term monotherapy research does not establish durable cure or justify routine clinical monotherapy. Use as a specialist-selected off-label component when appropriate. When to consider pulmonary surgery 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 Balance the potential benefit of resection against operative risk and the distribution of disease. Seek a surgical team experienced in NTM disease. When cure is not a realistic near-term endpoint The multisociety guideline recommends discussing treatment goals, potential benefits, adverse effects and the patient's ability and willingness to undertake therapy. Individualize decisions with expert consultation when an effective regimen cannot be tolerated. Associations between culture conversion and survival are subject to confounding. Neither an observational mortality comparison nor a single successful case proves that a particular regimen prolongs survival. Sources [5] [4] [6] [7] [1]</a:t>
            </a:r>
          </a:p>
          <a:p xmlns:a="http://schemas.openxmlformats.org/drawingml/2006/main">
            <a:r>
              <a:t/>
            </a:r>
          </a:p>
          <a:p xmlns:a="http://schemas.openxmlformats.org/drawingml/2006/main">
            <a:r>
              <a:t>Module section: https://docarcshot.github.io/id-practice-update/lectures/Nontuberculous_Mycobacterial_Infections.html#salvage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Salvage treatment requires evidence and realistic goals Evidence for selected treatment options Option What supports it Limit of the evidence ALIS for refractory MAC In CONVERT, culture conversion by month six occurred in 29.0% with ALIS plus background therapy versus 8.9% with background therapy alone. The study enrolled refractory MAC, not all new NTM disease. Respiratory adverse effects are frequent. The 2026 FDA label retains the refractory-MAC indication; use in M. abscessus is off-label. Clofazimine replacing rifampin in MAC A small open-label randomized trial enrolled 40 patients. Six-month conversion was 62% with clofazimine and 58% with rifampin, each combined with ethambutol and a macrolide. Useful support for a selected alternative, not proof of universal interchangeability. Diarrhea, pigmentation, QT effects and access matter. Do not extrapolate pulmonary MAC findings to HIV-associated disseminated MAC. Omadacycline for M. abscessus A 2026 phase 2 trial randomized 66 adults to 300 mg daily or placebo for 84 days. Symptom-response estimates favored omadacycline; nausea and discontinuation remained relevant. Short-term monotherapy research does not establish durable cure or justify routine clinical monotherapy. Use as a specialist-selected off-label component when appropriate. When to consider pulmonary surgery 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 Balance the potential benefit of resection against operative risk and the distribution of disease. Seek a surgical team experienced in NTM disease. When cure is not a realistic near-term endpoint The multisociety guideline recommends discussing treatment goals, potential benefits, adverse effects and the patient's ability and willingness to undertake therapy. Individualize decisions with expert consultation when an effective regimen cannot be tolerated. Associations between culture conversion and survival are subject to confounding. Neither an observational mortality comparison nor a single successful case proves that a particular regimen prolongs survival. Sources [5] [4] [6] [7] [1]</a:t>
            </a:r>
          </a:p>
          <a:p xmlns:a="http://schemas.openxmlformats.org/drawingml/2006/main">
            <a:r>
              <a:t/>
            </a:r>
          </a:p>
          <a:p xmlns:a="http://schemas.openxmlformats.org/drawingml/2006/main">
            <a:r>
              <a:t>Module section: https://docarcshot.github.io/id-practice-update/lectures/Nontuberculous_Mycobacterial_Infections.html#salvage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Salvage treatment requires evidence and realistic goals Evidence for selected treatment options Option What supports it Limit of the evidence ALIS for refractory MAC In CONVERT, culture conversion by month six occurred in 29.0% with ALIS plus background therapy versus 8.9% with background therapy alone. The study enrolled refractory MAC, not all new NTM disease. Respiratory adverse effects are frequent. The 2026 FDA label retains the refractory-MAC indication; use in M. abscessus is off-label. Clofazimine replacing rifampin in MAC A small open-label randomized trial enrolled 40 patients. Six-month conversion was 62% with clofazimine and 58% with rifampin, each combined with ethambutol and a macrolide. Useful support for a selected alternative, not proof of universal interchangeability. Diarrhea, pigmentation, QT effects and access matter. Do not extrapolate pulmonary MAC findings to HIV-associated disseminated MAC. Omadacycline for M. abscessus A 2026 phase 2 trial randomized 66 adults to 300 mg daily or placebo for 84 days. Symptom-response estimates favored omadacycline; nausea and discontinuation remained relevant. Short-term monotherapy research does not establish durable cure or justify routine clinical monotherapy. Use as a specialist-selected off-label component when appropriate. When to consider pulmonary surgery 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 Balance the potential benefit of resection against operative risk and the distribution of disease. Seek a surgical team experienced in NTM disease. When cure is not a realistic near-term endpoint The multisociety guideline recommends discussing treatment goals, potential benefits, adverse effects and the patient's ability and willingness to undertake therapy. Individualize decisions with expert consultation when an effective regimen cannot be tolerated. Associations between culture conversion and survival are subject to confounding. Neither an observational mortality comparison nor a single successful case proves that a particular regimen prolongs survival. Sources [5] [4] [6] [7] [1]</a:t>
            </a:r>
          </a:p>
          <a:p xmlns:a="http://schemas.openxmlformats.org/drawingml/2006/main">
            <a:r>
              <a:t/>
            </a:r>
          </a:p>
          <a:p xmlns:a="http://schemas.openxmlformats.org/drawingml/2006/main">
            <a:r>
              <a:t>Module section: https://docarcshot.github.io/id-practice-update/lectures/Nontuberculous_Mycobacterial_Infections.html#salvage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Salvage treatment requires evidence and realistic goals Evidence for selected treatment options Option What supports it Limit of the evidence ALIS for refractory MAC In CONVERT, culture conversion by month six occurred in 29.0% with ALIS plus background therapy versus 8.9% with background therapy alone. The study enrolled refractory MAC, not all new NTM disease. Respiratory adverse effects are frequent. The 2026 FDA label retains the refractory-MAC indication; use in M. abscessus is off-label. Clofazimine replacing rifampin in MAC A small open-label randomized trial enrolled 40 patients. Six-month conversion was 62% with clofazimine and 58% with rifampin, each combined with ethambutol and a macrolide. Useful support for a selected alternative, not proof of universal interchangeability. Diarrhea, pigmentation, QT effects and access matter. Do not extrapolate pulmonary MAC findings to HIV-associated disseminated MAC. Omadacycline for M. abscessus A 2026 phase 2 trial randomized 66 adults to 300 mg daily or placebo for 84 days. Symptom-response estimates favored omadacycline; nausea and discontinuation remained relevant. Short-term monotherapy research does not establish durable cure or justify routine clinical monotherapy. Use as a specialist-selected off-label component when appropriate. When to consider pulmonary surgery 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 Balance the potential benefit of resection against operative risk and the distribution of disease. Seek a surgical team experienced in NTM disease. When cure is not a realistic near-term endpoint The multisociety guideline recommends discussing treatment goals, potential benefits, adverse effects and the patient's ability and willingness to undertake therapy. Individualize decisions with expert consultation when an effective regimen cannot be tolerated. Associations between culture conversion and survival are subject to confounding. Neither an observational mortality comparison nor a single successful case proves that a particular regimen prolongs survival. Sources [5] [4] [6] [7] [1]</a:t>
            </a:r>
          </a:p>
          <a:p xmlns:a="http://schemas.openxmlformats.org/drawingml/2006/main">
            <a:r>
              <a:t/>
            </a:r>
          </a:p>
          <a:p xmlns:a="http://schemas.openxmlformats.org/drawingml/2006/main">
            <a:r>
              <a:t>Module section: https://docarcshot.github.io/id-practice-update/lectures/Nontuberculous_Mycobacterial_Infections.html#salvage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NTM rounds reference Establish disease Symptoms + compatible imaging + microbiology; usually two same-species sputum cultures or one BAL. Exclude TB and mimics. Choose an endpoint Treatment or observation, with explicit goals and follow-up. Cavities, smear positivity and progression favor treatment. MAC Azithromycin + ethambutol + rifamycin. Intermittent for selected noncavitary disease; daily plus initial IV amikacin for severe disease. At least 12 months after conversion. M. abscessus Subspeciate and clarify inducible/acquired resistance. Count active drugs. Specialist-designed initial and continuation phases. M. kansasii Rifampin + ethambutol + isoniazid or macrolide when rifampin-susceptible. At least 12 months total; no pyrazinamide. Monitoring Serial cultures, weight, functional status and adherence. Ask about hearing/balance with ototoxic drugs, vision with ethambutol or linezolid, and neuropathy with linezolid or isoniazid. Extrapulmonary Deep specimens, species identification and source control. Pulmonary diagnostic and duration rules do not automatically apply. Apparent failure Check drug delivery, resistance, coinfection and toxicity before escalating. Refractory MAC may benefit from ALIS; selected localized disease may benefit from surgery.</a:t>
            </a:r>
          </a:p>
          <a:p xmlns:a="http://schemas.openxmlformats.org/drawingml/2006/main">
            <a:r>
              <a:t/>
            </a:r>
          </a:p>
          <a:p xmlns:a="http://schemas.openxmlformats.org/drawingml/2006/main">
            <a:r>
              <a:t>Module section: https://docarcshot.github.io/id-practice-update/lectures/Nontuberculous_Mycobacterial_Infections.html#cheat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NTM rounds reference Establish disease Symptoms + compatible imaging + microbiology; usually two same-species sputum cultures or one BAL. Exclude TB and mimics. Choose an endpoint Treatment or observation, with explicit goals and follow-up. Cavities, smear positivity and progression favor treatment. MAC Azithromycin + ethambutol + rifamycin. Intermittent for selected noncavitary disease; daily plus initial IV amikacin for severe disease. At least 12 months after conversion. M. abscessus Subspeciate and clarify inducible/acquired resistance. Count active drugs. Specialist-designed initial and continuation phases. M. kansasii Rifampin + ethambutol + isoniazid or macrolide when rifampin-susceptible. At least 12 months total; no pyrazinamide. Monitoring Serial cultures, weight, functional status and adherence. Ask about hearing/balance with ototoxic drugs, vision with ethambutol or linezolid, and neuropathy with linezolid or isoniazid. Extrapulmonary Deep specimens, species identification and source control. Pulmonary diagnostic and duration rules do not automatically apply. Apparent failure Check drug delivery, resistance, coinfection and toxicity before escalating. Refractory MAC may benefit from ALIS; selected localized disease may benefit from surgery.</a:t>
            </a:r>
          </a:p>
          <a:p xmlns:a="http://schemas.openxmlformats.org/drawingml/2006/main">
            <a:r>
              <a:t/>
            </a:r>
          </a:p>
          <a:p xmlns:a="http://schemas.openxmlformats.org/drawingml/2006/main">
            <a:r>
              <a:t>Module section: https://docarcshot.github.io/id-practice-update/lectures/Nontuberculous_Mycobacterial_Infections.html#cheat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NTM rounds reference Establish disease Symptoms + compatible imaging + microbiology; usually two same-species sputum cultures or one BAL. Exclude TB and mimics. Choose an endpoint Treatment or observation, with explicit goals and follow-up. Cavities, smear positivity and progression favor treatment. MAC Azithromycin + ethambutol + rifamycin. Intermittent for selected noncavitary disease; daily plus initial IV amikacin for severe disease. At least 12 months after conversion. M. abscessus Subspeciate and clarify inducible/acquired resistance. Count active drugs. Specialist-designed initial and continuation phases. M. kansasii Rifampin + ethambutol + isoniazid or macrolide when rifampin-susceptible. At least 12 months total; no pyrazinamide. Monitoring Serial cultures, weight, functional status and adherence. Ask about hearing/balance with ototoxic drugs, vision with ethambutol or linezolid, and neuropathy with linezolid or isoniazid. Extrapulmonary Deep specimens, species identification and source control. Pulmonary diagnostic and duration rules do not automatically apply. Apparent failure Check drug delivery, resistance, coinfection and toxicity before escalating. Refractory MAC may benefit from ALIS; selected localized disease may benefit from surgery.</a:t>
            </a:r>
          </a:p>
          <a:p xmlns:a="http://schemas.openxmlformats.org/drawingml/2006/main">
            <a:r>
              <a:t/>
            </a:r>
          </a:p>
          <a:p xmlns:a="http://schemas.openxmlformats.org/drawingml/2006/main">
            <a:r>
              <a:t>Module section: https://docarcshot.github.io/id-practice-update/lectures/Nontuberculous_Mycobacterial_Infections.html#cheat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https://docarcshot.github.io/id-practice-update/lectures/Nontuberculous_Mycobacterial_Infections.html#references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https://docarcshot.github.io/id-practice-update/lectures/Nontuberculous_Mycobacterial_Infections.html#ref-guideline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https://docarcshot.github.io/id-practice-update/lectures/Nontuberculous_Mycobacterial_Infections.html#ref-bts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https://docarcshot.github.io/id-practice-update/lectures/Nontuberculous_Mycobacterial_Infections.html#ref-pharm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https://docarcshot.github.io/id-practice-update/lectures/Nontuberculous_Mycobacterial_Infections.html#ref-alis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https://docarcshot.github.io/id-practice-update/lectures/Nontuberculous_Mycobacterial_Infections.html#ref-convert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https://docarcshot.github.io/id-practice-update/lectures/Nontuberculous_Mycobacterial_Infections.html#ref-clofa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https://docarcshot.github.io/id-practice-update/lectures/Nontuberculous_Mycobacterial_Infections.html#ref-oma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https://docarcshot.github.io/id-practice-update/lectures/Nontuberculous_Mycobacterial_Infections.html#ref-old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https://docarcshot.github.io/id-practice-update/lectures/Nontuberculous_Mycobacterial_Infections.html#ref-marinum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https://docarcshot.github.io/id-practice-update/lectures/Nontuberculous_Mycobacterial_Infections.html#ref-erm55</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https://docarcshot.github.io/id-practice-update/lectures/Nontuberculous_Mycobacterial_Infections.html#ref-hiv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https://docarcshot.github.io/id-practice-update/lectures/Nontuberculous_Mycobacterial_Infections.html#ref-chimaera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https://docarcshot.github.io/id-practice-update/lectures/Nontuberculous_Mycobacterial_Infections.html#ref-cdc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https://docarcshot.github.io/id-practice-update/lectures/Nontuberculous_Mycobacterial_Infections.html#ref-cf</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https://docarcshot.github.io/id-practice-update/lectures/Nontuberculous_Mycobacterial_Infections.html#ref-respiratory-cohort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https://docarcshot.github.io/id-practice-update/lectures/Nontuberculous_Mycobacterial_Infections.html#ref-water</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https://docarcshot.github.io/id-practice-update/lectures/Nontuberculous_Mycobacterial_Infections.html#ref-bal-pseudo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https://docarcshot.github.io/id-practice-update/lectures/Nontuberculous_Mycobacterial_Infections.html#ref-dual-trial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https://docarcshot.github.io/id-practice-update/lectures/Nontuberculous_Mycobacterial_Infections.html#ref-dual-cohort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https://docarcshot.github.io/id-practice-update/lectures/Nontuberculous_Mycobacterial_Infections.html#ref-linezolid-exposure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https://docarcshot.github.io/id-practice-update/lectures/Nontuberculous_Mycobacterial_Infections.html#ref-njh</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https://docarcshot.github.io/id-practice-update/lectures/Nontuberculous_Mycobacterial_Infections.html#ref-uf</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https://docarcshot.github.io/id-practice-update/lectures/Nontuberculous_Mycobacterial_Infections.html#ref-oma-label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limits 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 ATS/ERS/ESCMID/IDSA, 2020. Adult pulmonary NTM treatment guideline. Excludes HIV and cystic fibrosis. British Thoracic Society, 2017. NTM pulmonary disease guideline, including response monitoring. Cimino et al., 2024. Pharmacotherapeutic considerations, dosing, interactions and monitoring. FDA, 2026. ARIKAYCE prescribing information, indication, dose and safety. Griffith et al., 2018. CONVERT randomized trial in refractory pulmonary MAC. Zweijpfenning et al., 2024. Randomized clofazimine versus rifampicin trial in pulmonary MAC. Winthrop et al., 2026. Phase 2 randomized omadacycline trial in M. abscessus pulmonary disease. ATS/IDSA, 2007. Extrapulmonary species-specific guidance; older evidence with important limitations. 2022 cohort. Treatment and outcome of culture-confirmed M. marinum disease. Brown-Elliott et al., 2023. Inducible macrolide resistance in M. chelonae due to erm(55). NIH. Disseminated MAC in adults and adolescents with HIV, current online guidance. CDC, 2016. M. chimaera contamination of heater-cooler devices used in cardiac surgery. CDC. Clinical overview of NTM, specimen collection, healthcare-associated infection and prevention. Cystic Fibrosis Foundation / European Cystic Fibrosis Society. NTM clinical care recommendations. 2019. Clinical relevance of NTM isolated from respiratory specimens, seven-year UK hospital cohort. CDC. Environmental infection control, water-associated NTM and pseudo-outbreaks. 2016. Bronchoscopy-associated M. gordonae pseudo-outbreak investigation. Miwa et al., 2014. Preliminary randomized two- versus three-drug pulmonary MAC study. Im et al., 2025. Outcomes with macrolide plus ethambutol in pulmonary MAC; uncontrolled cohort. 2023. Linezolid trough exposure and severe toxicity in multidrug-resistant tuberculosis; extrapolation to NTM requires caution. National Jewish Health. Linezolid level PKLZD, public test directory. University of Florida IDPL. Current test catalog and requisition resources. NUZYRA prescribing information, revised May 2026. Oral administration and dosing. ATS/CDC/ERS/IDSA, 2025. TB treatment update, including linezolid TDM safety guidance; not an NTM efficacy target.</a:t>
            </a:r>
          </a:p>
          <a:p xmlns:a="http://schemas.openxmlformats.org/drawingml/2006/main">
            <a:r>
              <a:t/>
            </a:r>
          </a:p>
          <a:p xmlns:a="http://schemas.openxmlformats.org/drawingml/2006/main">
            <a:r>
              <a:t>Module section: https://docarcshot.github.io/id-practice-update/lectures/Nontuberculous_Mycobacterial_Infections.html#ref-tb-tdm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https://docarcshot.github.io/id-practice-update/lectures/HIV_Diagnosis_ART_Prevention_and_Opportunistic_Infections.html#disseminated</a:t>
            </a:r>
          </a:p>
          <a:p xmlns:a="http://schemas.openxmlformats.org/drawingml/2006/main">
            <a:r>
              <a:t>https://docarcshot.github.io/id-practice-update/lectures/Tuberculosis_Standard_Treatment_and_Newer_Avenues.html#core-treatment</a:t>
            </a:r>
          </a:p>
          <a:p xmlns:a="http://schemas.openxmlformats.org/drawingml/2006/main">
            <a:r>
              <a:t>https://docarcshot.github.io/id-practice-update/lectures/HIV_Diagnosis_ART_Prevention_and_Opportunistic_Infections.html#prophylaxis</a:t>
            </a:r>
          </a:p>
          <a:p xmlns:a="http://schemas.openxmlformats.org/drawingml/2006/main">
            <a:r>
              <a:t>https://www.nationaljewish.org/for-professionals/diagnostic-testing/advanced-diagnostic-laboratories/linezolid-level</a:t>
            </a:r>
          </a:p>
          <a:p xmlns:a="http://schemas.openxmlformats.org/drawingml/2006/main">
            <a:r>
              <a:t>https://idpl.pharmacy.ufl.edu/forms-and-catalog/</a:t>
            </a:r>
          </a:p>
          <a:p xmlns:a="http://schemas.openxmlformats.org/drawingml/2006/main">
            <a:r>
              <a:t>https://idpl.pharmacy.ufl.edu/sample-handling-instructions/</a:t>
            </a:r>
          </a:p>
          <a:p xmlns:a="http://schemas.openxmlformats.org/drawingml/2006/main">
            <a:r>
              <a:t>https://www.idsociety.org/practice-guideline/nontuberculous-mycobacterial-ntm-diseases/</a:t>
            </a:r>
          </a:p>
          <a:p xmlns:a="http://schemas.openxmlformats.org/drawingml/2006/main">
            <a:r>
              <a:t>https://doi.org/10.1136/bmjresp-2017-000242</a:t>
            </a:r>
          </a:p>
          <a:p xmlns:a="http://schemas.openxmlformats.org/drawingml/2006/main">
            <a:r>
              <a:t>https://doi.org/10.1093/ofid/ofae128</a:t>
            </a:r>
          </a:p>
          <a:p xmlns:a="http://schemas.openxmlformats.org/drawingml/2006/main">
            <a:r>
              <a:t>https://www.accessdata.fda.gov/drugsatfda_docs/label/2026/207356s025lbl.pdf</a:t>
            </a:r>
          </a:p>
          <a:p xmlns:a="http://schemas.openxmlformats.org/drawingml/2006/main">
            <a:r>
              <a:t>https://pubmed.ncbi.nlm.nih.gov/30216086/</a:t>
            </a:r>
          </a:p>
          <a:p xmlns:a="http://schemas.openxmlformats.org/drawingml/2006/main">
            <a:r>
              <a:t>https://pubmed.ncbi.nlm.nih.gov/38040054/</a:t>
            </a:r>
          </a:p>
          <a:p xmlns:a="http://schemas.openxmlformats.org/drawingml/2006/main">
            <a:r>
              <a:t>https://pubmed.ncbi.nlm.nih.gov/41773873/</a:t>
            </a:r>
          </a:p>
          <a:p xmlns:a="http://schemas.openxmlformats.org/drawingml/2006/main">
            <a:r>
              <a:t>https://www.thoracic.org/statements/resources/mtpi/nontuberculous-mycobacterial-diseases.pdf</a:t>
            </a:r>
          </a:p>
          <a:p xmlns:a="http://schemas.openxmlformats.org/drawingml/2006/main">
            <a:r>
              <a:t>https://doi.org/10.1093/ofid/ofac077</a:t>
            </a:r>
          </a:p>
          <a:p xmlns:a="http://schemas.openxmlformats.org/drawingml/2006/main">
            <a:r>
              <a:t>https://doi.org/10.1128/jcm.00428-23</a:t>
            </a:r>
          </a:p>
          <a:p xmlns:a="http://schemas.openxmlformats.org/drawingml/2006/main">
            <a:r>
              <a:t>https://clinicalinfo.hiv.gov/en/guidelines/hiv-clinical-guidelines-adult-and-adolescent-opportunistic-infections/disseminated</a:t>
            </a:r>
          </a:p>
          <a:p xmlns:a="http://schemas.openxmlformats.org/drawingml/2006/main">
            <a:r>
              <a:t>https://www.cdc.gov/mmwr/volumes/65/wr/mm6540a6.htm</a:t>
            </a:r>
          </a:p>
          <a:p xmlns:a="http://schemas.openxmlformats.org/drawingml/2006/main">
            <a:r>
              <a:t>https://www.cdc.gov/nontuberculous-mycobacteria/hcp/clinical-overview/</a:t>
            </a:r>
          </a:p>
          <a:p xmlns:a="http://schemas.openxmlformats.org/drawingml/2006/main">
            <a:r>
              <a:t>https://www.cff.org/medical-professionals/nontuberculous-mycobacteria-clinical-care-guidelines</a:t>
            </a:r>
          </a:p>
          <a:p xmlns:a="http://schemas.openxmlformats.org/drawingml/2006/main">
            <a:r>
              <a:t>https://www.nature.com/articles/s41598-018-37350-8</a:t>
            </a:r>
          </a:p>
          <a:p xmlns:a="http://schemas.openxmlformats.org/drawingml/2006/main">
            <a:r>
              <a:t>https://www.cdc.gov/infection-control/hcp/environmental-control/water.html</a:t>
            </a:r>
          </a:p>
          <a:p xmlns:a="http://schemas.openxmlformats.org/drawingml/2006/main">
            <a:r>
              <a:t>https://pubmed.ncbi.nlm.nih.gov/26922983/</a:t>
            </a:r>
          </a:p>
          <a:p xmlns:a="http://schemas.openxmlformats.org/drawingml/2006/main">
            <a:r>
              <a:t>https://pubmed.ncbi.nlm.nih.gov/24298907/</a:t>
            </a:r>
          </a:p>
          <a:p xmlns:a="http://schemas.openxmlformats.org/drawingml/2006/main">
            <a:r>
              <a:t>https://pubmed.ncbi.nlm.nih.gov/40453874/</a:t>
            </a:r>
          </a:p>
          <a:p xmlns:a="http://schemas.openxmlformats.org/drawingml/2006/main">
            <a:r>
              <a:t>https://pubmed.ncbi.nlm.nih.gov/35717636/</a:t>
            </a:r>
          </a:p>
          <a:p xmlns:a="http://schemas.openxmlformats.org/drawingml/2006/main">
            <a:r>
              <a:t>https://dailymed.nlm.nih.gov/dailymed/drugInfo.cfm?setid=51591524-4703-44c6-8bde-dce3e6a463d1</a:t>
            </a:r>
          </a:p>
          <a:p xmlns:a="http://schemas.openxmlformats.org/drawingml/2006/main">
            <a:r>
              <a:t>https://www.idsociety.org/practice-guideline/treatment-of-drug-susceptible-tb/treatment-of-drug-resistant-and-drug-susceptible-tb-2025-update/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2399923a5f4c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81ec36828b4b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6da5b6b71c4c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02a40bd16d45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292a50ebbf44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c771e7a72148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2973E9-D58C-46C9-9326-733E81B7D7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00A57E-99D9-4161-A2BF-EE323AEF0A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75031C-8DB8-40F3-8D9A-0E5B53B72D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252BA8-A3FE-442B-ACEF-8EEA3ACFC4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8CBE03-ADF7-4F19-9631-DA099865A5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FF508C-A7C2-443D-9B89-DCC245FD7B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57F12D-4C00-43BD-A957-DB39DB32F8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039E54-E174-4912-AE0F-9D33E56C1E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AB0D50-64DB-4989-B201-721C4DD643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4A8509-220E-4FA6-9151-52F1B1B6F0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50e674bd5a434a" /><Relationship Type="http://schemas.openxmlformats.org/officeDocument/2006/relationships/slideLayout" Target="/ppt/slideLayouts/slideLayout1.xml" Id="R66c7d8db787142be" /><Relationship Type="http://schemas.openxmlformats.org/officeDocument/2006/relationships/slideLayout" Target="/ppt/slideLayouts/slideLayout2.xml" Id="Rb642d9cda4dc4368" /><Relationship Type="http://schemas.openxmlformats.org/officeDocument/2006/relationships/slideLayout" Target="/ppt/slideLayouts/slideLayout3.xml" Id="R8f1fd7d25ca94bf3" /><Relationship Type="http://schemas.openxmlformats.org/officeDocument/2006/relationships/slideLayout" Target="/ppt/slideLayouts/slideLayout4.xml" Id="R173983d7fb2a457b" /><Relationship Type="http://schemas.openxmlformats.org/officeDocument/2006/relationships/slideLayout" Target="/ppt/slideLayouts/slideLayout5.xml" Id="R510cec7dc1ff4c54" /><Relationship Type="http://schemas.openxmlformats.org/officeDocument/2006/relationships/slideLayout" Target="/ppt/slideLayouts/slideLayout6.xml" Id="R90e98bfb0b924e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c7d8db787142be"/>
    <p:sldLayoutId xmlns:r="http://schemas.openxmlformats.org/officeDocument/2006/relationships" id="2147483650" r:id="Rb642d9cda4dc4368"/>
    <p:sldLayoutId xmlns:r="http://schemas.openxmlformats.org/officeDocument/2006/relationships" id="2147483651" r:id="R8f1fd7d25ca94bf3"/>
    <p:sldLayoutId xmlns:r="http://schemas.openxmlformats.org/officeDocument/2006/relationships" id="2147483652" r:id="R173983d7fb2a457b"/>
    <p:sldLayoutId xmlns:r="http://schemas.openxmlformats.org/officeDocument/2006/relationships" id="2147483653" r:id="R510cec7dc1ff4c54"/>
    <p:sldLayoutId xmlns:r="http://schemas.openxmlformats.org/officeDocument/2006/relationships" id="2147483654" r:id="R90e98bfb0b924e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12261d3a7f44c2" /><Relationship Type="http://schemas.openxmlformats.org/officeDocument/2006/relationships/notesSlide" Target="/ppt/notesSlides/notesSlide1.xml" Id="R21cb4227a95b46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4027e96794490b" /><Relationship Type="http://schemas.openxmlformats.org/officeDocument/2006/relationships/notesSlide" Target="/ppt/notesSlides/notesSlide2.xml" Id="R0995a8f7e95f47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4e1047716945eb" /><Relationship Type="http://schemas.openxmlformats.org/officeDocument/2006/relationships/notesSlide" Target="/ppt/notesSlides/notesSlide3.xml" Id="R87ae683ab6584e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23f696fd4b4a54" /><Relationship Type="http://schemas.openxmlformats.org/officeDocument/2006/relationships/notesSlide" Target="/ppt/notesSlides/notesSlide4.xml" Id="R606c182e8b4242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793aacc1904621" /><Relationship Type="http://schemas.openxmlformats.org/officeDocument/2006/relationships/notesSlide" Target="/ppt/notesSlides/notesSlide5.xml" Id="R4e32af496a0f4a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46a5a340424304" /><Relationship Type="http://schemas.openxmlformats.org/officeDocument/2006/relationships/notesSlide" Target="/ppt/notesSlides/notesSlide6.xml" Id="R1df2589d77e144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46d5f189734753" /><Relationship Type="http://schemas.openxmlformats.org/officeDocument/2006/relationships/notesSlide" Target="/ppt/notesSlides/notesSlide7.xml" Id="R87d3f0bb88154b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dfe46414fc4782" /><Relationship Type="http://schemas.openxmlformats.org/officeDocument/2006/relationships/notesSlide" Target="/ppt/notesSlides/notesSlide8.xml" Id="Rd6644b112f1b43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80de47aa514801" /><Relationship Type="http://schemas.openxmlformats.org/officeDocument/2006/relationships/notesSlide" Target="/ppt/notesSlides/notesSlide9.xml" Id="R5d7216b4a41a43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d24acc396b4882" /><Relationship Type="http://schemas.openxmlformats.org/officeDocument/2006/relationships/notesSlide" Target="/ppt/notesSlides/notesSlide10.xml" Id="R6fcf1f12357c46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904ff038154c73" /><Relationship Type="http://schemas.openxmlformats.org/officeDocument/2006/relationships/notesSlide" Target="/ppt/notesSlides/notesSlide11.xml" Id="R12c282d1d6294c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dd29ca265244da" /><Relationship Type="http://schemas.openxmlformats.org/officeDocument/2006/relationships/notesSlide" Target="/ppt/notesSlides/notesSlide12.xml" Id="R1d71a0c4207a4a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4b49b54843b41a8" /><Relationship Type="http://schemas.openxmlformats.org/officeDocument/2006/relationships/notesSlide" Target="/ppt/notesSlides/notesSlide13.xml" Id="Rcb48d84bc27542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24cf321ac9484e" /><Relationship Type="http://schemas.openxmlformats.org/officeDocument/2006/relationships/notesSlide" Target="/ppt/notesSlides/notesSlide14.xml" Id="Rc6a3788e6f3a40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f27f42b2f14221" /><Relationship Type="http://schemas.openxmlformats.org/officeDocument/2006/relationships/notesSlide" Target="/ppt/notesSlides/notesSlide15.xml" Id="Red4f5d6205ef4f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a256f3605ba470b" /><Relationship Type="http://schemas.openxmlformats.org/officeDocument/2006/relationships/notesSlide" Target="/ppt/notesSlides/notesSlide16.xml" Id="R64f23508350a44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a828996505470c" /><Relationship Type="http://schemas.openxmlformats.org/officeDocument/2006/relationships/notesSlide" Target="/ppt/notesSlides/notesSlide17.xml" Id="R26bb897bed2e41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74a5bea87e47da" /><Relationship Type="http://schemas.openxmlformats.org/officeDocument/2006/relationships/notesSlide" Target="/ppt/notesSlides/notesSlide18.xml" Id="R4627e35676ae4a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f9e28b91614240" /><Relationship Type="http://schemas.openxmlformats.org/officeDocument/2006/relationships/notesSlide" Target="/ppt/notesSlides/notesSlide19.xml" Id="R28fc6112f8c04c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a30a4327a0f4e9f" /><Relationship Type="http://schemas.openxmlformats.org/officeDocument/2006/relationships/notesSlide" Target="/ppt/notesSlides/notesSlide20.xml" Id="R729d4d13be4b46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5fbaa212efd42e7" /><Relationship Type="http://schemas.openxmlformats.org/officeDocument/2006/relationships/notesSlide" Target="/ppt/notesSlides/notesSlide21.xml" Id="R111eb379dc1840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6123be66f6f41c4" /><Relationship Type="http://schemas.openxmlformats.org/officeDocument/2006/relationships/notesSlide" Target="/ppt/notesSlides/notesSlide22.xml" Id="Racd4624faf73422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9980c78ac6d40b1" /><Relationship Type="http://schemas.openxmlformats.org/officeDocument/2006/relationships/notesSlide" Target="/ppt/notesSlides/notesSlide23.xml" Id="Rc42fcd4941f74a3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680f5b776fc45a2" /><Relationship Type="http://schemas.openxmlformats.org/officeDocument/2006/relationships/notesSlide" Target="/ppt/notesSlides/notesSlide24.xml" Id="R50ea2daf79b545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78a9efe46b24075" /><Relationship Type="http://schemas.openxmlformats.org/officeDocument/2006/relationships/notesSlide" Target="/ppt/notesSlides/notesSlide25.xml" Id="Rffd5c65c75a6476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510de1d8aa746e7" /><Relationship Type="http://schemas.openxmlformats.org/officeDocument/2006/relationships/notesSlide" Target="/ppt/notesSlides/notesSlide26.xml" Id="R52853aa5b6c3401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bda412dd10e4eaf" /><Relationship Type="http://schemas.openxmlformats.org/officeDocument/2006/relationships/notesSlide" Target="/ppt/notesSlides/notesSlide27.xml" Id="Rdd3669d087b4464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e510af50ac64e10" /><Relationship Type="http://schemas.openxmlformats.org/officeDocument/2006/relationships/notesSlide" Target="/ppt/notesSlides/notesSlide28.xml" Id="R0f2509aa360f4f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1ee1a0fcfee4a82" /><Relationship Type="http://schemas.openxmlformats.org/officeDocument/2006/relationships/notesSlide" Target="/ppt/notesSlides/notesSlide29.xml" Id="Rce5e5f89197743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3462bcfdfc04cc0" /><Relationship Type="http://schemas.openxmlformats.org/officeDocument/2006/relationships/notesSlide" Target="/ppt/notesSlides/notesSlide30.xml" Id="Rc7444792746b401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bd63af265db413c" /><Relationship Type="http://schemas.openxmlformats.org/officeDocument/2006/relationships/notesSlide" Target="/ppt/notesSlides/notesSlide31.xml" Id="R8ab859790db0454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7a003acc8a94e19" /><Relationship Type="http://schemas.openxmlformats.org/officeDocument/2006/relationships/notesSlide" Target="/ppt/notesSlides/notesSlide32.xml" Id="Re9420be8784c47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9384b1dca034e0a" /><Relationship Type="http://schemas.openxmlformats.org/officeDocument/2006/relationships/notesSlide" Target="/ppt/notesSlides/notesSlide33.xml" Id="R710064ce04294fb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4e8feb922804305" /><Relationship Type="http://schemas.openxmlformats.org/officeDocument/2006/relationships/notesSlide" Target="/ppt/notesSlides/notesSlide34.xml" Id="Ra14336ca364a4f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74e29ea7e2b4be1" /><Relationship Type="http://schemas.openxmlformats.org/officeDocument/2006/relationships/notesSlide" Target="/ppt/notesSlides/notesSlide35.xml" Id="R516f989a5bd3422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14f3e07d10f44e2" /><Relationship Type="http://schemas.openxmlformats.org/officeDocument/2006/relationships/notesSlide" Target="/ppt/notesSlides/notesSlide36.xml" Id="R6acd4f6cfa6d476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2f069a5876646a0" /><Relationship Type="http://schemas.openxmlformats.org/officeDocument/2006/relationships/notesSlide" Target="/ppt/notesSlides/notesSlide37.xml" Id="R01377cc71b3d480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c987149bccc4c93" /><Relationship Type="http://schemas.openxmlformats.org/officeDocument/2006/relationships/notesSlide" Target="/ppt/notesSlides/notesSlide38.xml" Id="R62a89a2f36aa4d7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55ed343aed84bdd" /><Relationship Type="http://schemas.openxmlformats.org/officeDocument/2006/relationships/notesSlide" Target="/ppt/notesSlides/notesSlide39.xml" Id="R19441203810e447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6288fa5372445e0" /><Relationship Type="http://schemas.openxmlformats.org/officeDocument/2006/relationships/notesSlide" Target="/ppt/notesSlides/notesSlide40.xml" Id="Re37697c69a4c42d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cb739fd5106439a" /><Relationship Type="http://schemas.openxmlformats.org/officeDocument/2006/relationships/notesSlide" Target="/ppt/notesSlides/notesSlide41.xml" Id="R81b5ac4b306442b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2ceaa071f764b8a" /><Relationship Type="http://schemas.openxmlformats.org/officeDocument/2006/relationships/notesSlide" Target="/ppt/notesSlides/notesSlide42.xml" Id="R46a0125239194d7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8fc1a1ac5e441de" /><Relationship Type="http://schemas.openxmlformats.org/officeDocument/2006/relationships/notesSlide" Target="/ppt/notesSlides/notesSlide43.xml" Id="R0d1173dfa6594af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4d9fbad0b894df6" /><Relationship Type="http://schemas.openxmlformats.org/officeDocument/2006/relationships/notesSlide" Target="/ppt/notesSlides/notesSlide44.xml" Id="R3baea8a09a1e4b0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b30fac495f343d4" /><Relationship Type="http://schemas.openxmlformats.org/officeDocument/2006/relationships/notesSlide" Target="/ppt/notesSlides/notesSlide45.xml" Id="R8cd55a6870d8411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00852cf34494903" /><Relationship Type="http://schemas.openxmlformats.org/officeDocument/2006/relationships/notesSlide" Target="/ppt/notesSlides/notesSlide46.xml" Id="Rc6d7f9950ccf490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b5919c33c51401b" /><Relationship Type="http://schemas.openxmlformats.org/officeDocument/2006/relationships/notesSlide" Target="/ppt/notesSlides/notesSlide47.xml" Id="Re9c6740d34f64ae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0aac3bcbb224e29" /><Relationship Type="http://schemas.openxmlformats.org/officeDocument/2006/relationships/notesSlide" Target="/ppt/notesSlides/notesSlide48.xml" Id="R645d5e0b7d1642e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1ff6855965b45d4" /><Relationship Type="http://schemas.openxmlformats.org/officeDocument/2006/relationships/notesSlide" Target="/ppt/notesSlides/notesSlide49.xml" Id="Rea6103e478ff445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a0dbd7611e9480d" /><Relationship Type="http://schemas.openxmlformats.org/officeDocument/2006/relationships/notesSlide" Target="/ppt/notesSlides/notesSlide50.xml" Id="Re62000f2115a438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4a2d558cf174276" /><Relationship Type="http://schemas.openxmlformats.org/officeDocument/2006/relationships/notesSlide" Target="/ppt/notesSlides/notesSlide51.xml" Id="R0b37a26eae504a0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b04000a985240c8" /><Relationship Type="http://schemas.openxmlformats.org/officeDocument/2006/relationships/notesSlide" Target="/ppt/notesSlides/notesSlide52.xml" Id="Ra494cbb5bc584a8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983bf439766e402c" /><Relationship Type="http://schemas.openxmlformats.org/officeDocument/2006/relationships/notesSlide" Target="/ppt/notesSlides/notesSlide53.xml" Id="R3798d7643cb048b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24e1d20a5c2a4727" /><Relationship Type="http://schemas.openxmlformats.org/officeDocument/2006/relationships/notesSlide" Target="/ppt/notesSlides/notesSlide54.xml" Id="R3d5b13e100c648a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88bfd04c600471c" /><Relationship Type="http://schemas.openxmlformats.org/officeDocument/2006/relationships/notesSlide" Target="/ppt/notesSlides/notesSlide55.xml" Id="Rf1249c5c1000453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008d029727824c58" /><Relationship Type="http://schemas.openxmlformats.org/officeDocument/2006/relationships/notesSlide" Target="/ppt/notesSlides/notesSlide56.xml" Id="Rc529cc282b74480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7fd7ed3c14f74ca3" /><Relationship Type="http://schemas.openxmlformats.org/officeDocument/2006/relationships/notesSlide" Target="/ppt/notesSlides/notesSlide57.xml" Id="Raf41c037305c4d9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7d9853f351154a10" /><Relationship Type="http://schemas.openxmlformats.org/officeDocument/2006/relationships/notesSlide" Target="/ppt/notesSlides/notesSlide58.xml" Id="Re9fcc50db7cc410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8ccf5d554eed4401" /><Relationship Type="http://schemas.openxmlformats.org/officeDocument/2006/relationships/notesSlide" Target="/ppt/notesSlides/notesSlide59.xml" Id="R6442e79f091845a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df84f66103a497c" /><Relationship Type="http://schemas.openxmlformats.org/officeDocument/2006/relationships/notesSlide" Target="/ppt/notesSlides/notesSlide60.xml" Id="R1a12711918154c0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fe17a03ee2a4c1a" /><Relationship Type="http://schemas.openxmlformats.org/officeDocument/2006/relationships/notesSlide" Target="/ppt/notesSlides/notesSlide61.xml" Id="R13f0578c20914bb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5edb91cb5944f3a" /><Relationship Type="http://schemas.openxmlformats.org/officeDocument/2006/relationships/notesSlide" Target="/ppt/notesSlides/notesSlide62.xml" Id="Rf27435015faa446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6752036772646f8" /><Relationship Type="http://schemas.openxmlformats.org/officeDocument/2006/relationships/notesSlide" Target="/ppt/notesSlides/notesSlide63.xml" Id="Rdad8c38a455e4ea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50109fb1301e46ea" /><Relationship Type="http://schemas.openxmlformats.org/officeDocument/2006/relationships/notesSlide" Target="/ppt/notesSlides/notesSlide64.xml" Id="R244babf2da4c420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3cba4cb7e954dd0" /><Relationship Type="http://schemas.openxmlformats.org/officeDocument/2006/relationships/notesSlide" Target="/ppt/notesSlides/notesSlide65.xml" Id="R2c09306f80934c6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8b226cbdf2584e32" /><Relationship Type="http://schemas.openxmlformats.org/officeDocument/2006/relationships/notesSlide" Target="/ppt/notesSlides/notesSlide66.xml" Id="R7fdcf908262f4cb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8f87313629944ed" /><Relationship Type="http://schemas.openxmlformats.org/officeDocument/2006/relationships/notesSlide" Target="/ppt/notesSlides/notesSlide67.xml" Id="R3fe2078c247f491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dd7f76ffdeed47ed" /><Relationship Type="http://schemas.openxmlformats.org/officeDocument/2006/relationships/notesSlide" Target="/ppt/notesSlides/notesSlide68.xml" Id="R69d90d7f5f2c4159"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87b5a9b07d444c2" /><Relationship Type="http://schemas.openxmlformats.org/officeDocument/2006/relationships/notesSlide" Target="/ppt/notesSlides/notesSlide69.xml" Id="Rfad260bf12f5407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5648586d43344adc" /><Relationship Type="http://schemas.openxmlformats.org/officeDocument/2006/relationships/notesSlide" Target="/ppt/notesSlides/notesSlide70.xml" Id="R6107fae93234489d"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c61adee8847947f0" /><Relationship Type="http://schemas.openxmlformats.org/officeDocument/2006/relationships/notesSlide" Target="/ppt/notesSlides/notesSlide71.xml" Id="R027303a9a97b4f9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cefd335eeb224e0d" /><Relationship Type="http://schemas.openxmlformats.org/officeDocument/2006/relationships/notesSlide" Target="/ppt/notesSlides/notesSlide72.xml" Id="R83050be35a2d459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63a2d7aaae574303" /><Relationship Type="http://schemas.openxmlformats.org/officeDocument/2006/relationships/notesSlide" Target="/ppt/notesSlides/notesSlide73.xml" Id="Rd0f7e59576ae4e2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9dc06d7300c64308" /><Relationship Type="http://schemas.openxmlformats.org/officeDocument/2006/relationships/notesSlide" Target="/ppt/notesSlides/notesSlide74.xml" Id="R7fd373a7446d4a5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29474de9ae064648" /><Relationship Type="http://schemas.openxmlformats.org/officeDocument/2006/relationships/notesSlide" Target="/ppt/notesSlides/notesSlide75.xml" Id="R3adf24c750ec416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4c3f17c1964c43cd" /><Relationship Type="http://schemas.openxmlformats.org/officeDocument/2006/relationships/notesSlide" Target="/ppt/notesSlides/notesSlide76.xml" Id="Ra5cd1ea825684c4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ff3584f1f4204056" /><Relationship Type="http://schemas.openxmlformats.org/officeDocument/2006/relationships/notesSlide" Target="/ppt/notesSlides/notesSlide77.xml" Id="R86c76deb0279415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e8d96f91e2ad4aa3" /><Relationship Type="http://schemas.openxmlformats.org/officeDocument/2006/relationships/notesSlide" Target="/ppt/notesSlides/notesSlide78.xml" Id="R51bc9dd0b5784f7c"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eb6acb8d2bec4c0f" /><Relationship Type="http://schemas.openxmlformats.org/officeDocument/2006/relationships/notesSlide" Target="/ppt/notesSlides/notesSlide79.xml" Id="R9c11b66be2ab408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96b1c952477b4184" /><Relationship Type="http://schemas.openxmlformats.org/officeDocument/2006/relationships/notesSlide" Target="/ppt/notesSlides/notesSlide80.xml" Id="R1ae7923bf75f420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911983a44b124435" /><Relationship Type="http://schemas.openxmlformats.org/officeDocument/2006/relationships/notesSlide" Target="/ppt/notesSlides/notesSlide81.xml" Id="R0c68a8ebc036405f"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87455a9a4b0e442c" /><Relationship Type="http://schemas.openxmlformats.org/officeDocument/2006/relationships/notesSlide" Target="/ppt/notesSlides/notesSlide82.xml" Id="R123d76c03dec4eb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50cd3821e874159" /><Relationship Type="http://schemas.openxmlformats.org/officeDocument/2006/relationships/notesSlide" Target="/ppt/notesSlides/notesSlide83.xml" Id="R9bc2c6c293524b9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e26fab7bed9e4798" /><Relationship Type="http://schemas.openxmlformats.org/officeDocument/2006/relationships/notesSlide" Target="/ppt/notesSlides/notesSlide84.xml" Id="Rac8bb695ccdb4b7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be84547d7f2c434e" /><Relationship Type="http://schemas.openxmlformats.org/officeDocument/2006/relationships/notesSlide" Target="/ppt/notesSlides/notesSlide85.xml" Id="R9cac75e1a2a540b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0bfb0d3107eb4832" /><Relationship Type="http://schemas.openxmlformats.org/officeDocument/2006/relationships/notesSlide" Target="/ppt/notesSlides/notesSlide86.xml" Id="Rc1a6019dd2b54a59"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acbf0b07d49f4c9f" /><Relationship Type="http://schemas.openxmlformats.org/officeDocument/2006/relationships/notesSlide" Target="/ppt/notesSlides/notesSlide87.xml" Id="Rf2000b806bbf4755"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6e320f2b2edb4603" /><Relationship Type="http://schemas.openxmlformats.org/officeDocument/2006/relationships/notesSlide" Target="/ppt/notesSlides/notesSlide88.xml" Id="R656fd437f72548af"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c740fc3dbf5544ba" /><Relationship Type="http://schemas.openxmlformats.org/officeDocument/2006/relationships/notesSlide" Target="/ppt/notesSlides/notesSlide89.xml" Id="Reab31c471191412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3c94779c21864038" /><Relationship Type="http://schemas.openxmlformats.org/officeDocument/2006/relationships/notesSlide" Target="/ppt/notesSlides/notesSlide90.xml" Id="Rb7909c4f92e4431f"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b15acdcf67cb4ad8" /><Relationship Type="http://schemas.openxmlformats.org/officeDocument/2006/relationships/notesSlide" Target="/ppt/notesSlides/notesSlide91.xml" Id="Rdf105ba90e97486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bee4a14b72324698" /><Relationship Type="http://schemas.openxmlformats.org/officeDocument/2006/relationships/notesSlide" Target="/ppt/notesSlides/notesSlide92.xml" Id="R73ce53d8911142b9"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ed64b3092e5e45fa" /><Relationship Type="http://schemas.openxmlformats.org/officeDocument/2006/relationships/notesSlide" Target="/ppt/notesSlides/notesSlide93.xml" Id="R5be817620c944772"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61a00f7992814143" /><Relationship Type="http://schemas.openxmlformats.org/officeDocument/2006/relationships/notesSlide" Target="/ppt/notesSlides/notesSlide94.xml" Id="R796df46939f34f17"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2d7bd2b5bf6b4936" /><Relationship Type="http://schemas.openxmlformats.org/officeDocument/2006/relationships/notesSlide" Target="/ppt/notesSlides/notesSlide95.xml" Id="R252f2302110d48f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ba71f2503379431a" /><Relationship Type="http://schemas.openxmlformats.org/officeDocument/2006/relationships/notesSlide" Target="/ppt/notesSlides/notesSlide96.xml" Id="R169148a26434437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b82540e94f784b84" /><Relationship Type="http://schemas.openxmlformats.org/officeDocument/2006/relationships/notesSlide" Target="/ppt/notesSlides/notesSlide97.xml" Id="Rd3e6c6b89f4c40d4"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d8c1a045057d429e" /><Relationship Type="http://schemas.openxmlformats.org/officeDocument/2006/relationships/notesSlide" Target="/ppt/notesSlides/notesSlide98.xml" Id="R1b1521086cde4d25"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a0cb90a74766400e" /><Relationship Type="http://schemas.openxmlformats.org/officeDocument/2006/relationships/notesSlide" Target="/ppt/notesSlides/notesSlide99.xml" Id="Rcf212cd7fa584367"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485ed51271f9481b" /><Relationship Type="http://schemas.openxmlformats.org/officeDocument/2006/relationships/notesSlide" Target="/ppt/notesSlides/notesSlide100.xml" Id="Rd17794a415f34fd5"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6c030942b6d84039" /><Relationship Type="http://schemas.openxmlformats.org/officeDocument/2006/relationships/notesSlide" Target="/ppt/notesSlides/notesSlide101.xml" Id="R47870202b018431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365f70da415647c2" /><Relationship Type="http://schemas.openxmlformats.org/officeDocument/2006/relationships/notesSlide" Target="/ppt/notesSlides/notesSlide102.xml" Id="Rebfc6127ab5f43c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42fe5b911d3345ff" /><Relationship Type="http://schemas.openxmlformats.org/officeDocument/2006/relationships/notesSlide" Target="/ppt/notesSlides/notesSlide103.xml" Id="R96d9a5439b244419"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a74866ab4b3444ff" /><Relationship Type="http://schemas.openxmlformats.org/officeDocument/2006/relationships/notesSlide" Target="/ppt/notesSlides/notesSlide104.xml" Id="R3cbeabb31dc1480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8f496ea911f24066" /><Relationship Type="http://schemas.openxmlformats.org/officeDocument/2006/relationships/notesSlide" Target="/ppt/notesSlides/notesSlide105.xml" Id="R3ef45c3362024f97"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34b752fefbd14f8d" /><Relationship Type="http://schemas.openxmlformats.org/officeDocument/2006/relationships/notesSlide" Target="/ppt/notesSlides/notesSlide106.xml" Id="Re15b84a438bc43f3"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e0e840023769462d" /><Relationship Type="http://schemas.openxmlformats.org/officeDocument/2006/relationships/notesSlide" Target="/ppt/notesSlides/notesSlide107.xml" Id="R2c3b84ae45cf478d"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421e9b1459824d6e" /><Relationship Type="http://schemas.openxmlformats.org/officeDocument/2006/relationships/notesSlide" Target="/ppt/notesSlides/notesSlide108.xml" Id="Rc77fd43b93e74628"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216f92df2b184519" /><Relationship Type="http://schemas.openxmlformats.org/officeDocument/2006/relationships/notesSlide" Target="/ppt/notesSlides/notesSlide109.xml" Id="Rc35d835839c741e3"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6574bb89bd494f8c" /><Relationship Type="http://schemas.openxmlformats.org/officeDocument/2006/relationships/notesSlide" Target="/ppt/notesSlides/notesSlide110.xml" Id="R9ec3b65e0fc24878"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aa6ba0214314487f" /><Relationship Type="http://schemas.openxmlformats.org/officeDocument/2006/relationships/notesSlide" Target="/ppt/notesSlides/notesSlide111.xml" Id="R21fc78da3e3341eb"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61a7fcbe24b040cc" /><Relationship Type="http://schemas.openxmlformats.org/officeDocument/2006/relationships/notesSlide" Target="/ppt/notesSlides/notesSlide112.xml" Id="Ra66868b776834231"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1f748f09c8004f84" /><Relationship Type="http://schemas.openxmlformats.org/officeDocument/2006/relationships/notesSlide" Target="/ppt/notesSlides/notesSlide113.xml" Id="R632070e09fe6456e"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35ed40b275164f58" /><Relationship Type="http://schemas.openxmlformats.org/officeDocument/2006/relationships/notesSlide" Target="/ppt/notesSlides/notesSlide114.xml" Id="Rc9e1e896aed9464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96facb615a96422d" /><Relationship Type="http://schemas.openxmlformats.org/officeDocument/2006/relationships/notesSlide" Target="/ppt/notesSlides/notesSlide115.xml" Id="R4e39bd65bc1e4a48"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845e2eb6371d49af" /><Relationship Type="http://schemas.openxmlformats.org/officeDocument/2006/relationships/notesSlide" Target="/ppt/notesSlides/notesSlide116.xml" Id="Rafa59ce37c09414b"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86ca9d3869e44237" /><Relationship Type="http://schemas.openxmlformats.org/officeDocument/2006/relationships/notesSlide" Target="/ppt/notesSlides/notesSlide117.xml" Id="R8181d13a311c4479"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01f98814afc14b25" /><Relationship Type="http://schemas.openxmlformats.org/officeDocument/2006/relationships/notesSlide" Target="/ppt/notesSlides/notesSlide118.xml" Id="R6ed1bacb567f424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6afe0a1738f5463a" /><Relationship Type="http://schemas.openxmlformats.org/officeDocument/2006/relationships/notesSlide" Target="/ppt/notesSlides/notesSlide119.xml" Id="Rd2189f1ab507470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bf3e5ac0c78d429d" /><Relationship Type="http://schemas.openxmlformats.org/officeDocument/2006/relationships/notesSlide" Target="/ppt/notesSlides/notesSlide120.xml" Id="R77628f436e58477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52f5825d84e64a50" /><Relationship Type="http://schemas.openxmlformats.org/officeDocument/2006/relationships/notesSlide" Target="/ppt/notesSlides/notesSlide121.xml" Id="Rb6c214b30a294052"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5b12611a8a4543c0" /><Relationship Type="http://schemas.openxmlformats.org/officeDocument/2006/relationships/notesSlide" Target="/ppt/notesSlides/notesSlide122.xml" Id="Raccda493892c4aff"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fd8893610e59470d" /><Relationship Type="http://schemas.openxmlformats.org/officeDocument/2006/relationships/notesSlide" Target="/ppt/notesSlides/notesSlide123.xml" Id="R33a5c098440f40c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bc8411e2ab714620" /><Relationship Type="http://schemas.openxmlformats.org/officeDocument/2006/relationships/notesSlide" Target="/ppt/notesSlides/notesSlide124.xml" Id="Rd0cbc915d5904f13"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d371200682de4a78" /><Relationship Type="http://schemas.openxmlformats.org/officeDocument/2006/relationships/notesSlide" Target="/ppt/notesSlides/notesSlide125.xml" Id="R67fb4926574743ff"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8c9ed65de7144552" /><Relationship Type="http://schemas.openxmlformats.org/officeDocument/2006/relationships/notesSlide" Target="/ppt/notesSlides/notesSlide126.xml" Id="R15051ceef95e474d"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db012f727feb40f1" /><Relationship Type="http://schemas.openxmlformats.org/officeDocument/2006/relationships/notesSlide" Target="/ppt/notesSlides/notesSlide127.xml" Id="R02433cebe4d941ca"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29aaa9bde5954ac3" /><Relationship Type="http://schemas.openxmlformats.org/officeDocument/2006/relationships/notesSlide" Target="/ppt/notesSlides/notesSlide128.xml" Id="Rc25db17e2be9487d"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0048e98963eb4dd4" /><Relationship Type="http://schemas.openxmlformats.org/officeDocument/2006/relationships/notesSlide" Target="/ppt/notesSlides/notesSlide129.xml" Id="R749da7ba10c541e7"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82514047d58a4440" /><Relationship Type="http://schemas.openxmlformats.org/officeDocument/2006/relationships/notesSlide" Target="/ppt/notesSlides/notesSlide130.xml" Id="R77038e340dd346b0"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22a3f1bfc15b40d6" /><Relationship Type="http://schemas.openxmlformats.org/officeDocument/2006/relationships/notesSlide" Target="/ppt/notesSlides/notesSlide131.xml" Id="R0f8ccf8c1da54840"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fe1f77140f85419b" /><Relationship Type="http://schemas.openxmlformats.org/officeDocument/2006/relationships/notesSlide" Target="/ppt/notesSlides/notesSlide132.xml" Id="R6aa0087f31404c33"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a661bbc73a404119" /><Relationship Type="http://schemas.openxmlformats.org/officeDocument/2006/relationships/notesSlide" Target="/ppt/notesSlides/notesSlide133.xml" Id="Ra832f2aa31464afd"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5fd2798060e141ac" /><Relationship Type="http://schemas.openxmlformats.org/officeDocument/2006/relationships/notesSlide" Target="/ppt/notesSlides/notesSlide134.xml" Id="R9fe7645e14d14daa"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a6b35d492e6a493f" /><Relationship Type="http://schemas.openxmlformats.org/officeDocument/2006/relationships/notesSlide" Target="/ppt/notesSlides/notesSlide135.xml" Id="Re329fbad6f2d41c6"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6b030dbdcb004314" /><Relationship Type="http://schemas.openxmlformats.org/officeDocument/2006/relationships/notesSlide" Target="/ppt/notesSlides/notesSlide136.xml" Id="Rabed763b7c664ee1"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9b5fee88a25943dd" /><Relationship Type="http://schemas.openxmlformats.org/officeDocument/2006/relationships/notesSlide" Target="/ppt/notesSlides/notesSlide137.xml" Id="Rdd86b36b6a7a4c37"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6eb364ff814642a9" /><Relationship Type="http://schemas.openxmlformats.org/officeDocument/2006/relationships/notesSlide" Target="/ppt/notesSlides/notesSlide138.xml" Id="R891b5a896297442d"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5622757b3f404783" /><Relationship Type="http://schemas.openxmlformats.org/officeDocument/2006/relationships/notesSlide" Target="/ppt/notesSlides/notesSlide139.xml" Id="R2b2ce257ba7d4249"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ca5a7a28edb94ccb" /><Relationship Type="http://schemas.openxmlformats.org/officeDocument/2006/relationships/notesSlide" Target="/ppt/notesSlides/notesSlide140.xml" Id="Rac381cff239e495f"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56cd99b0624f437f" /><Relationship Type="http://schemas.openxmlformats.org/officeDocument/2006/relationships/notesSlide" Target="/ppt/notesSlides/notesSlide141.xml" Id="Rcf35b1b1b77743b9"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beddbc9f21ef4763" /><Relationship Type="http://schemas.openxmlformats.org/officeDocument/2006/relationships/notesSlide" Target="/ppt/notesSlides/notesSlide142.xml" Id="Rc0e8aaed6a9247b7"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cca9ecb92c62477f" /><Relationship Type="http://schemas.openxmlformats.org/officeDocument/2006/relationships/notesSlide" Target="/ppt/notesSlides/notesSlide143.xml" Id="Re08c3bf71822450d"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e915e9d6f1024e38" /><Relationship Type="http://schemas.openxmlformats.org/officeDocument/2006/relationships/notesSlide" Target="/ppt/notesSlides/notesSlide144.xml" Id="R1cac5475ab1b410d"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c87fe4596be54a24" /><Relationship Type="http://schemas.openxmlformats.org/officeDocument/2006/relationships/notesSlide" Target="/ppt/notesSlides/notesSlide145.xml" Id="R36c60b21d4cd4871"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167cb6344a4c46ab" /><Relationship Type="http://schemas.openxmlformats.org/officeDocument/2006/relationships/notesSlide" Target="/ppt/notesSlides/notesSlide146.xml" Id="R72f70a6eb7a044ed"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5e43f18d95db45bc" /><Relationship Type="http://schemas.openxmlformats.org/officeDocument/2006/relationships/notesSlide" Target="/ppt/notesSlides/notesSlide147.xml" Id="R587c652cdec74f6c"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a23db4f1148e4985" /><Relationship Type="http://schemas.openxmlformats.org/officeDocument/2006/relationships/notesSlide" Target="/ppt/notesSlides/notesSlide148.xml" Id="Rf653d96533d34a5f"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3d79639560f8465d" /><Relationship Type="http://schemas.openxmlformats.org/officeDocument/2006/relationships/notesSlide" Target="/ppt/notesSlides/notesSlide149.xml" Id="R2aa7206858ff473e"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05a4966c5a7748de" /><Relationship Type="http://schemas.openxmlformats.org/officeDocument/2006/relationships/notesSlide" Target="/ppt/notesSlides/notesSlide150.xml" Id="R111685d2f0b346b6"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1501d38ddc204051" /><Relationship Type="http://schemas.openxmlformats.org/officeDocument/2006/relationships/notesSlide" Target="/ppt/notesSlides/notesSlide151.xml" Id="R0a659b70afc34b7e"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ba5a697580eb4bb5" /><Relationship Type="http://schemas.openxmlformats.org/officeDocument/2006/relationships/notesSlide" Target="/ppt/notesSlides/notesSlide152.xml" Id="R43dbea4b1ece4ffa"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5adacbeb2a144789" /><Relationship Type="http://schemas.openxmlformats.org/officeDocument/2006/relationships/notesSlide" Target="/ppt/notesSlides/notesSlide153.xml" Id="R657891f3ef944f9d"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ef3f081272e94004" /><Relationship Type="http://schemas.openxmlformats.org/officeDocument/2006/relationships/notesSlide" Target="/ppt/notesSlides/notesSlide154.xml" Id="R5782e1ccdbdf4b15"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EC8FFB-AA8B-493E-B487-663749A96627}"/>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Nontuberculous Mycobacterial Infections</a:t>
            </a:r>
          </a:p>
        </p:txBody>
      </p:sp>
      <p:sp>
        <p:nvSpPr>
          <p:cNvPr id="2" name="subtitle">
            <a:extLst xmlns:a="http://schemas.openxmlformats.org/drawingml/2006/main">
              <a:ext uri="{FF2B5EF4-FFF2-40B4-BE49-F238E27FC236}">
                <a16:creationId xmlns:a16="http://schemas.microsoft.com/office/drawing/2014/main" id="{1AEF55E9-79ED-4B79-AAAF-E9631BFBA086}"/>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8990334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3357DC-14E9-4618-B8A6-8BF223CAE0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core</a:t>
            </a:r>
          </a:p>
        </p:txBody>
      </p:sp>
      <p:sp>
        <p:nvSpPr>
          <p:cNvPr id="2" name="paragraph-0">
            <a:extLst xmlns:a="http://schemas.openxmlformats.org/drawingml/2006/main">
              <a:ext uri="{FF2B5EF4-FFF2-40B4-BE49-F238E27FC236}">
                <a16:creationId xmlns:a16="http://schemas.microsoft.com/office/drawing/2014/main" id="{58599596-AE53-4538-BD49-EEE08FCC906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Decide whether NTM is causing disease, whether to treat, which species-specific regimen is appropriate, and how to follow efficacy and toxicity.</a:t>
            </a:r>
          </a:p>
        </p:txBody>
      </p:sp>
      <p:sp>
        <p:nvSpPr>
          <p:cNvPr id="3" name="footer">
            <a:extLst xmlns:a="http://schemas.openxmlformats.org/drawingml/2006/main">
              <a:ext uri="{FF2B5EF4-FFF2-40B4-BE49-F238E27FC236}">
                <a16:creationId xmlns:a16="http://schemas.microsoft.com/office/drawing/2014/main" id="{B96249AF-73CC-4BAC-97E6-FFB480DABC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3EE4EC-1466-4F34-9C1C-5EDA9E389E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4040206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CE6F86A-6B51-492B-A3A3-AFFB3C5476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teaching</a:t>
            </a:r>
          </a:p>
        </p:txBody>
      </p:sp>
      <p:sp>
        <p:nvSpPr>
          <p:cNvPr id="2" name="paragraph-0">
            <a:extLst xmlns:a="http://schemas.openxmlformats.org/drawingml/2006/main">
              <a:ext uri="{FF2B5EF4-FFF2-40B4-BE49-F238E27FC236}">
                <a16:creationId xmlns:a16="http://schemas.microsoft.com/office/drawing/2014/main" id="{B389CD96-8A60-422A-99AE-E9BF509BEF5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main focus is pulmonary disease in adults. Skin, bone, joint, device and disseminated infections require different specimens, source control and treatment endpoints.</a:t>
            </a:r>
          </a:p>
        </p:txBody>
      </p:sp>
      <p:sp>
        <p:nvSpPr>
          <p:cNvPr id="3" name="paragraph-1">
            <a:extLst xmlns:a="http://schemas.openxmlformats.org/drawingml/2006/main">
              <a:ext uri="{FF2B5EF4-FFF2-40B4-BE49-F238E27FC236}">
                <a16:creationId xmlns:a16="http://schemas.microsoft.com/office/drawing/2014/main" id="{23711C8B-95DE-429A-85EE-F118FD4C9CF5}"/>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HIV-associated disseminated MAC and TB | TB treatment module</a:t>
            </a:r>
          </a:p>
        </p:txBody>
      </p:sp>
      <p:sp>
        <p:nvSpPr>
          <p:cNvPr id="4" name="paragraph-2">
            <a:extLst xmlns:a="http://schemas.openxmlformats.org/drawingml/2006/main">
              <a:ext uri="{FF2B5EF4-FFF2-40B4-BE49-F238E27FC236}">
                <a16:creationId xmlns:a16="http://schemas.microsoft.com/office/drawing/2014/main" id="{4F6434B6-83EC-402A-A536-DA1E66E24027}"/>
              </a:ext>
            </a:extLst>
          </p:cNvPr>
          <p:cNvSpPr>
            <a:spLocks xmlns:a="http://schemas.openxmlformats.org/drawingml/2006/main" noGrp="1"/>
          </p:cNvSpPr>
          <p:nvPr/>
        </p:nvSpPr>
        <p:spPr>
          <a:xfrm xmlns:a="http://schemas.openxmlformats.org/drawingml/2006/main">
            <a:off x="647700" y="38766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AFB-positive smear does not distinguish NTM from tuberculosis. Use the TB diagnostic and airborne-precaution pathway when pulmonary TB remains plausible. Do not give a partial TB regimen while assuming the isolate is NTM.</a:t>
            </a:r>
          </a:p>
        </p:txBody>
      </p:sp>
      <p:sp>
        <p:nvSpPr>
          <p:cNvPr id="5" name="footer">
            <a:extLst xmlns:a="http://schemas.openxmlformats.org/drawingml/2006/main">
              <a:ext uri="{FF2B5EF4-FFF2-40B4-BE49-F238E27FC236}">
                <a16:creationId xmlns:a16="http://schemas.microsoft.com/office/drawing/2014/main" id="{13731FFA-897B-4452-A1B1-511EEA7B116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06B041A3-9944-46A6-A1F9-0CF30FCBF6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2431935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581C00-5572-4E28-8698-2BA49151AE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teaching</a:t>
            </a:r>
          </a:p>
        </p:txBody>
      </p:sp>
      <p:sp>
        <p:nvSpPr>
          <p:cNvPr id="2" name="paragraph-0">
            <a:extLst xmlns:a="http://schemas.openxmlformats.org/drawingml/2006/main">
              <a:ext uri="{FF2B5EF4-FFF2-40B4-BE49-F238E27FC236}">
                <a16:creationId xmlns:a16="http://schemas.microsoft.com/office/drawing/2014/main" id="{6A4CF838-4DD1-499F-8773-08BD948AEBB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[13]</a:t>
            </a:r>
          </a:p>
        </p:txBody>
      </p:sp>
      <p:sp>
        <p:nvSpPr>
          <p:cNvPr id="3" name="footer">
            <a:extLst xmlns:a="http://schemas.openxmlformats.org/drawingml/2006/main">
              <a:ext uri="{FF2B5EF4-FFF2-40B4-BE49-F238E27FC236}">
                <a16:creationId xmlns:a16="http://schemas.microsoft.com/office/drawing/2014/main" id="{1391E9F8-C947-4D0A-B4A6-3B1E395A58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79A6604-4E9C-4BE0-AF47-510423503D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1572058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EF7537-CF17-4682-844B-82D69DEF99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illness</a:t>
            </a:r>
          </a:p>
        </p:txBody>
      </p:sp>
      <p:sp>
        <p:nvSpPr>
          <p:cNvPr id="2" name="paragraph-0">
            <a:extLst xmlns:a="http://schemas.openxmlformats.org/drawingml/2006/main">
              <a:ext uri="{FF2B5EF4-FFF2-40B4-BE49-F238E27FC236}">
                <a16:creationId xmlns:a16="http://schemas.microsoft.com/office/drawing/2014/main" id="{34E22F30-05EF-44D1-9D1F-740DE6277E4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Chronic cough, sputum, fatigue, weight loss, hemoptysis or impaired function. Identify which symptoms could instead reflect bronchiectasis, aspiration or another infection.</a:t>
            </a:r>
          </a:p>
        </p:txBody>
      </p:sp>
      <p:sp>
        <p:nvSpPr>
          <p:cNvPr id="3" name="footer">
            <a:extLst xmlns:a="http://schemas.openxmlformats.org/drawingml/2006/main">
              <a:ext uri="{FF2B5EF4-FFF2-40B4-BE49-F238E27FC236}">
                <a16:creationId xmlns:a16="http://schemas.microsoft.com/office/drawing/2014/main" id="{61F9DDD2-EB53-4508-B0FA-F37E73EE58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52ED0F0-1721-48F3-A14D-080581E2A2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5645845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699002-7838-469B-872E-9FD5B26E3E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Compatible imaging</a:t>
            </a:r>
          </a:p>
        </p:txBody>
      </p:sp>
      <p:sp>
        <p:nvSpPr>
          <p:cNvPr id="2" name="paragraph-0">
            <a:extLst xmlns:a="http://schemas.openxmlformats.org/drawingml/2006/main">
              <a:ext uri="{FF2B5EF4-FFF2-40B4-BE49-F238E27FC236}">
                <a16:creationId xmlns:a16="http://schemas.microsoft.com/office/drawing/2014/main" id="{16780D74-0412-471A-98A7-3078C55D44F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Nodular-bronchiectatic disease with small nodules or tree-in-bud changes, or fibrocavitary disease. Neither pattern is specific for NTM.</a:t>
            </a:r>
          </a:p>
        </p:txBody>
      </p:sp>
      <p:sp>
        <p:nvSpPr>
          <p:cNvPr id="3" name="footer">
            <a:extLst xmlns:a="http://schemas.openxmlformats.org/drawingml/2006/main">
              <a:ext uri="{FF2B5EF4-FFF2-40B4-BE49-F238E27FC236}">
                <a16:creationId xmlns:a16="http://schemas.microsoft.com/office/drawing/2014/main" id="{88F65F3B-5262-4E3E-8844-50E6A813A5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CD861D3-FC11-43AA-A1A7-641751C92A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9369373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3BCE734-27CA-49CE-A8E0-21A40148359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sp>
        <p:nvSpPr>
          <p:cNvPr id="2" name="paragraph-0">
            <a:extLst xmlns:a="http://schemas.openxmlformats.org/drawingml/2006/main">
              <a:ext uri="{FF2B5EF4-FFF2-40B4-BE49-F238E27FC236}">
                <a16:creationId xmlns:a16="http://schemas.microsoft.com/office/drawing/2014/main" id="{935A34DB-8F36-4A1C-8094-AE08C1C2FEB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Usually at least two separate sputum cultures with the same species, or one positive bronchial wash/BAL. M. abscessus requires agreement at the subspecies level.</a:t>
            </a:r>
          </a:p>
        </p:txBody>
      </p:sp>
      <p:sp>
        <p:nvSpPr>
          <p:cNvPr id="3" name="paragraph-1">
            <a:extLst xmlns:a="http://schemas.openxmlformats.org/drawingml/2006/main">
              <a:ext uri="{FF2B5EF4-FFF2-40B4-BE49-F238E27FC236}">
                <a16:creationId xmlns:a16="http://schemas.microsoft.com/office/drawing/2014/main" id="{76572FE5-3EAD-4408-B37D-4F511010ECA8}"/>
              </a:ext>
            </a:extLst>
          </p:cNvPr>
          <p:cNvSpPr>
            <a:spLocks xmlns:a="http://schemas.openxmlformats.org/drawingml/2006/main" noGrp="1"/>
          </p:cNvSpPr>
          <p:nvPr/>
        </p:nvSpPr>
        <p:spPr>
          <a:xfrm xmlns:a="http://schemas.openxmlformats.org/drawingml/2006/main">
            <a:off x="647700" y="326707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at least three respiratory samples over at least a week when evaluating chronic NTM disease. Use induced sputum if needed; bronchoscopy is usually reserved for patients unable to produce specimens despite induction. Biopsy can meet criteria when mycobacterial histologic features are accompanied by a positive tissue culture, or by a positive respiratory culture. Exclude competing diagnoses.</a:t>
            </a:r>
          </a:p>
        </p:txBody>
      </p:sp>
      <p:sp>
        <p:nvSpPr>
          <p:cNvPr id="4" name="footer">
            <a:extLst xmlns:a="http://schemas.openxmlformats.org/drawingml/2006/main">
              <a:ext uri="{FF2B5EF4-FFF2-40B4-BE49-F238E27FC236}">
                <a16:creationId xmlns:a16="http://schemas.microsoft.com/office/drawing/2014/main" id="{09815E25-EAE1-4ABB-A7D1-9FF3965411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8E63DD6-CB8D-4196-A3D1-F3F20B0CB7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9908272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FEF430-8F94-4C3E-B6C0-DB75E963D0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sp>
        <p:nvSpPr>
          <p:cNvPr id="2" name="paragraph-0">
            <a:extLst xmlns:a="http://schemas.openxmlformats.org/drawingml/2006/main">
              <a:ext uri="{FF2B5EF4-FFF2-40B4-BE49-F238E27FC236}">
                <a16:creationId xmlns:a16="http://schemas.microsoft.com/office/drawing/2014/main" id="{A12CAE48-1B5A-4AF3-ADF1-0E9DB0562ED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the laboratory for species identification, clinically relevant susceptibilities and M. abscessus subspeciation. A negative smear does not exclude disease. IGRA is not an NTM diagnostic test; some species, including M. kansasii and M. marinum, can cross-react.</a:t>
            </a:r>
          </a:p>
        </p:txBody>
      </p:sp>
      <p:sp>
        <p:nvSpPr>
          <p:cNvPr id="3" name="footer">
            <a:extLst xmlns:a="http://schemas.openxmlformats.org/drawingml/2006/main">
              <a:ext uri="{FF2B5EF4-FFF2-40B4-BE49-F238E27FC236}">
                <a16:creationId xmlns:a16="http://schemas.microsoft.com/office/drawing/2014/main" id="{8BBF9646-91A4-4AAD-AB9D-0CCF473709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A7F84B5-B025-4508-83EE-2074AFC6D0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6773904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2A0A73-EA95-415A-9239-A2E96EF527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graphicFrame>
        <p:nvGraphicFramePr>
          <p:cNvPr id="2" name="">
            <a:extLst xmlns:a="http://schemas.openxmlformats.org/drawingml/2006/main">
              <a:ext uri="{FF2B5EF4-FFF2-40B4-BE49-F238E27FC236}">
                <a16:creationId xmlns:a16="http://schemas.microsoft.com/office/drawing/2014/main" id="{D87A6543-3AFC-4B2B-9CD5-CCCCD66B1E6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One sputum culture with MAC, mild symptoms and stable CT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 and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cultures and assess competing causes before committing to prolonged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373A583-0B7F-4FC4-A5C8-6CE761094A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1D3237C-E368-437B-A382-4717767AE8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398025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7E4B11-8EB2-435B-AFA9-E85BF417E3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graphicFrame>
        <p:nvGraphicFramePr>
          <p:cNvPr id="2" name="">
            <a:extLst xmlns:a="http://schemas.openxmlformats.org/drawingml/2006/main">
              <a:ext uri="{FF2B5EF4-FFF2-40B4-BE49-F238E27FC236}">
                <a16:creationId xmlns:a16="http://schemas.microsoft.com/office/drawing/2014/main" id="{1E9AA27C-00D7-4DF1-B135-905C82A2FBB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Repeated MAC isolation with progressive cavities and smear positivity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 and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 concern for clinically important disease. Arrange treatment promptly after baseline testing.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81397ED-9926-47F6-8F9A-E0284C4FE80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D277DC4-3D4B-43B3-B56D-B44530D249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4478870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5409F8-211A-425C-B73F-2776E92514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graphicFrame>
        <p:nvGraphicFramePr>
          <p:cNvPr id="2" name="">
            <a:extLst xmlns:a="http://schemas.openxmlformats.org/drawingml/2006/main">
              <a:ext uri="{FF2B5EF4-FFF2-40B4-BE49-F238E27FC236}">
                <a16:creationId xmlns:a16="http://schemas.microsoft.com/office/drawing/2014/main" id="{C00050FB-6296-46A8-8378-7F5CD6B5500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kansasii in a compatible cavitary syndrome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More pathogenic than many other NTM. A single isolate may be sufficient in the right context; do not apply the MAC single-isolate rule mechanically.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F21254B-8E46-494D-8E88-F9DED3D1652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CE8CE46-F876-4B5A-BD7E-4492C7677A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574556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E8FECE-533D-4968-B171-71D62EBA89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graphicFrame>
        <p:nvGraphicFramePr>
          <p:cNvPr id="2" name="">
            <a:extLst xmlns:a="http://schemas.openxmlformats.org/drawingml/2006/main">
              <a:ext uri="{FF2B5EF4-FFF2-40B4-BE49-F238E27FC236}">
                <a16:creationId xmlns:a16="http://schemas.microsoft.com/office/drawing/2014/main" id="{53585605-650E-46FD-8A0E-6EAB32C2C9A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gordonae in one respiratory specimen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contamination or transient isolation. Require unusually convincing repeated microbiology and clinical evidence before attributing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135E9E0-AE07-461A-85C4-E102516C1F6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F1C4B3C-B980-40C2-AC89-43524C6DD3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4053212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446DC6A-CDBD-4AFA-9275-25839C7D60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Microbiologic confirmation</a:t>
            </a:r>
          </a:p>
        </p:txBody>
      </p:sp>
      <p:sp>
        <p:nvSpPr>
          <p:cNvPr id="2" name="paragraph-0">
            <a:extLst xmlns:a="http://schemas.openxmlformats.org/drawingml/2006/main">
              <a:ext uri="{FF2B5EF4-FFF2-40B4-BE49-F238E27FC236}">
                <a16:creationId xmlns:a16="http://schemas.microsoft.com/office/drawing/2014/main" id="{82AA7A2B-81EC-43CB-AA78-E4447E898F1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[8]</a:t>
            </a:r>
          </a:p>
        </p:txBody>
      </p:sp>
      <p:sp>
        <p:nvSpPr>
          <p:cNvPr id="3" name="footer">
            <a:extLst xmlns:a="http://schemas.openxmlformats.org/drawingml/2006/main">
              <a:ext uri="{FF2B5EF4-FFF2-40B4-BE49-F238E27FC236}">
                <a16:creationId xmlns:a16="http://schemas.microsoft.com/office/drawing/2014/main" id="{F228B0C4-DE2D-42F7-B2E9-807C376B9F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C0F8087-D1A6-4275-81BB-0BA31F94E2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21317535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C73FFB3-79D3-440E-A93F-6DE12F54ED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sp>
        <p:nvSpPr>
          <p:cNvPr id="2" name="paragraph-0">
            <a:extLst xmlns:a="http://schemas.openxmlformats.org/drawingml/2006/main">
              <a:ext uri="{FF2B5EF4-FFF2-40B4-BE49-F238E27FC236}">
                <a16:creationId xmlns:a16="http://schemas.microsoft.com/office/drawing/2014/main" id="{451F1FBE-5DBE-4479-B28B-F6C2F4B6DB0B}"/>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Contamination means the organism entered the specimen during collection, processing or bronchoscopy. Transient respiratory isolation means it was recovered from the airway without established disease. Neither can always be distinguished from early infection on the first culture. Document "NTM isolated; pulmonary disease not established" when that is what the evidence supports.</a:t>
            </a:r>
          </a:p>
        </p:txBody>
      </p:sp>
      <p:sp>
        <p:nvSpPr>
          <p:cNvPr id="3" name="footer">
            <a:extLst xmlns:a="http://schemas.openxmlformats.org/drawingml/2006/main">
              <a:ext uri="{FF2B5EF4-FFF2-40B4-BE49-F238E27FC236}">
                <a16:creationId xmlns:a16="http://schemas.microsoft.com/office/drawing/2014/main" id="{289D442E-230B-4892-B4E0-C770799988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3304247-20B2-43BF-9D4D-9C678FDF97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3834163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07EACE-287A-40ED-A2F8-213984D2C0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9C81D48E-4EDE-4EC5-9515-F77D8373801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gordonae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Classic low-pathogenicity, water-associated contaminant. A single isolate rarely explains pulmonary illness.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Require repeated recovery and strong clinical/radiographic evidence before attributing disease. Rare true infection occurs, including in immunocompromised patients.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02655B4-1796-47CF-920F-AF2B0B4AF1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C1081DE-3629-428F-9318-560AA8F16C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7686584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234BF59-6147-4755-865E-C25577C21E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61A880E3-DBAF-422E-8E1F-31BB06D6FD4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mucogenicum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Respiratory recovery is usually contamination or otherwise clinically insignificant.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This interpretation does not apply to blood or catheter cultures, where it is a recognized pathogen.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E62A360-8FAA-40D2-BE7B-ED5CA62949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364333C-F055-4E10-A93A-697EEF4509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9181931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7F3D0D-2D3F-4CB7-9871-7A6E92AC57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50B51C4C-AF28-4BB0-863D-A60F74B5E28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terrae complex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 contaminant in respiratory specimens; pulmonary disease is uncommon.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identification and corroborating evidence. Members of this group can cause genuine tenosynovitis and other deep infections.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F0DE7BA-75ED-4F81-93D7-96753C3074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DE7E18-A4E8-4684-B3D2-E3E267F63A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4923141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320115-33E0-403B-ADB0-5879F33921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0E3D8DE3-10AC-4773-A4F9-998553111CB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fortuitum complex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Lower pulmonary pathogenicity than the major pulmonary NTM; an isolated culture may not represent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Persistent isolation with compatible disease needs evaluation. Do not dismiss wound, device or deep-tissue isolates using the respiratory interpretation.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E03D78A-1E4E-4599-9BFE-349706818F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3E7541-CD87-4650-8F6A-9B385627FD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6993084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579538D-5DD9-4947-8149-EF533688EE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969D2948-5832-48FB-99BF-570F44D4BB35}"/>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MAC or M. abscessus complex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Established pulmonary pathogens, but recovery alone is insufficient to diagnose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Apply the clinical, imaging and microbiologic criteria. An isolated MAC sputum culture often warrants repeat sampling before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3DFCEC2-F1E6-4CF7-91C1-04046D4355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E611C8D-DBCC-4180-A040-EB0488D045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4277763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F1D19B7-1716-4C71-BBB6-863A6A5ED5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graphicFrame>
        <p:nvGraphicFramePr>
          <p:cNvPr id="2" name="">
            <a:extLst xmlns:a="http://schemas.openxmlformats.org/drawingml/2006/main">
              <a:ext uri="{FF2B5EF4-FFF2-40B4-BE49-F238E27FC236}">
                <a16:creationId xmlns:a16="http://schemas.microsoft.com/office/drawing/2014/main" id="{6ADB8961-0AFB-4C9A-9211-6CB75CC5E60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kansasii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Usual respiratory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Higher concern for true disease in a compatible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exception or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single positive culture may be clinically meaningful. Do not group it with the usual low-pathogenicity contaminants.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DE51650-553B-4BB7-9529-5FB90ADFCC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B5AE4F7-6E28-47DE-8EAD-455F2C110DC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9343845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56587A7-5914-4AAC-A6D5-E06DCF630F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Some respiratory NTM isolates are much less likely to represent disease</a:t>
            </a:r>
          </a:p>
        </p:txBody>
      </p:sp>
      <p:sp>
        <p:nvSpPr>
          <p:cNvPr id="2" name="paragraph-0">
            <a:extLst xmlns:a="http://schemas.openxmlformats.org/drawingml/2006/main">
              <a:ext uri="{FF2B5EF4-FFF2-40B4-BE49-F238E27FC236}">
                <a16:creationId xmlns:a16="http://schemas.microsoft.com/office/drawing/2014/main" id="{D8ABC031-5748-4424-99EA-A93EC9FAC93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are probability judgments, not a list of organisms that can never cause infection. Species identification, immune status and geographic epidemiology matter. Published respiratory cohorts support particularly low clinical relevance for M. gordonae and M. mucogenicum; their proportions are not universal diagnostic cutoffs.</a:t>
            </a:r>
          </a:p>
        </p:txBody>
      </p:sp>
      <p:sp>
        <p:nvSpPr>
          <p:cNvPr id="3" name="paragraph-1">
            <a:extLst xmlns:a="http://schemas.openxmlformats.org/drawingml/2006/main">
              <a:ext uri="{FF2B5EF4-FFF2-40B4-BE49-F238E27FC236}">
                <a16:creationId xmlns:a16="http://schemas.microsoft.com/office/drawing/2014/main" id="{0145FA5A-987A-418F-8DE3-1BE551C3F023}"/>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[8] [15]</a:t>
            </a:r>
          </a:p>
        </p:txBody>
      </p:sp>
      <p:sp>
        <p:nvSpPr>
          <p:cNvPr id="4" name="footer">
            <a:extLst xmlns:a="http://schemas.openxmlformats.org/drawingml/2006/main">
              <a:ext uri="{FF2B5EF4-FFF2-40B4-BE49-F238E27FC236}">
                <a16:creationId xmlns:a16="http://schemas.microsoft.com/office/drawing/2014/main" id="{B14539CB-AE14-42CC-9CDB-54EC9EA173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41DE1DF-583F-475F-9A7F-B49DAA783C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7907274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430355E-5A91-41AA-A01C-76A351BFAA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One positive BAL meets the microbiologic criterion, not the entire diagnosis</a:t>
            </a:r>
          </a:p>
        </p:txBody>
      </p:sp>
      <p:sp>
        <p:nvSpPr>
          <p:cNvPr id="2" name="paragraph-0">
            <a:extLst xmlns:a="http://schemas.openxmlformats.org/drawingml/2006/main">
              <a:ext uri="{FF2B5EF4-FFF2-40B4-BE49-F238E27FC236}">
                <a16:creationId xmlns:a16="http://schemas.microsoft.com/office/drawing/2014/main" id="{A8DD3B4C-A450-44B1-9F4F-C0BAA49533F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Compatible symptoms and imaging, exclusion of alternative explanations, and assessment of the species are still required. BAL is not immune to contamination. A low-pathogenicity organism from one BAL should not trigger treatment simply because the specimen came from bronchoscopy.</a:t>
            </a:r>
          </a:p>
        </p:txBody>
      </p:sp>
      <p:sp>
        <p:nvSpPr>
          <p:cNvPr id="3" name="paragraph-1">
            <a:extLst xmlns:a="http://schemas.openxmlformats.org/drawingml/2006/main">
              <a:ext uri="{FF2B5EF4-FFF2-40B4-BE49-F238E27FC236}">
                <a16:creationId xmlns:a16="http://schemas.microsoft.com/office/drawing/2014/main" id="{6D193072-2789-410D-AA0C-AC1CB52A2567}"/>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 stable patient with a discordant result, review prior cultures and CT evolution, confirm the identification with microbiology, and obtain separate expectorated or induced sputum samples when feasible. Do not repeat bronchoscopy solely to satisfy a culture count when less invasive sampling is available. Progressive disease or substantial immune suppression warrants more urgent assessment.</a:t>
            </a:r>
          </a:p>
        </p:txBody>
      </p:sp>
      <p:sp>
        <p:nvSpPr>
          <p:cNvPr id="4" name="footer">
            <a:extLst xmlns:a="http://schemas.openxmlformats.org/drawingml/2006/main">
              <a:ext uri="{FF2B5EF4-FFF2-40B4-BE49-F238E27FC236}">
                <a16:creationId xmlns:a16="http://schemas.microsoft.com/office/drawing/2014/main" id="{F91D5C7B-C810-4DC5-9F48-454A623F9D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5CD2101-710F-4834-879E-1D638CC329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3797677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49DC18E-33FC-4974-895E-B23A3C4461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One positive BAL meets the microbiologic criterion, not the entire diagnosis</a:t>
            </a:r>
          </a:p>
        </p:txBody>
      </p:sp>
      <p:sp>
        <p:nvSpPr>
          <p:cNvPr id="2" name="paragraph-0">
            <a:extLst xmlns:a="http://schemas.openxmlformats.org/drawingml/2006/main">
              <a:ext uri="{FF2B5EF4-FFF2-40B4-BE49-F238E27FC236}">
                <a16:creationId xmlns:a16="http://schemas.microsoft.com/office/drawing/2014/main" id="{01411EF2-15AE-45E6-A7BD-AD692B923F8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[15]</a:t>
            </a:r>
          </a:p>
        </p:txBody>
      </p:sp>
      <p:sp>
        <p:nvSpPr>
          <p:cNvPr id="3" name="footer">
            <a:extLst xmlns:a="http://schemas.openxmlformats.org/drawingml/2006/main">
              <a:ext uri="{FF2B5EF4-FFF2-40B4-BE49-F238E27FC236}">
                <a16:creationId xmlns:a16="http://schemas.microsoft.com/office/drawing/2014/main" id="{E5003A65-DD62-4DE3-90FC-AA5BE950056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7FC9E3F-30AB-47D8-8151-5C66140A77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0989215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A98E36-73F5-4850-ABBE-F2A3960EFD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collection or bronchoscopy problem when results cluster</a:t>
            </a:r>
          </a:p>
        </p:txBody>
      </p:sp>
      <p:sp>
        <p:nvSpPr>
          <p:cNvPr id="2" name="paragraph-0">
            <a:extLst xmlns:a="http://schemas.openxmlformats.org/drawingml/2006/main">
              <a:ext uri="{FF2B5EF4-FFF2-40B4-BE49-F238E27FC236}">
                <a16:creationId xmlns:a16="http://schemas.microsoft.com/office/drawing/2014/main" id="{408180FE-3B8A-44C0-A6CE-35525AFD368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Tap water, rinse water and contaminated bronchoscopy equipment can produce false-positive respiratory cultures. CDC describes bronchoscopy-associated pseudo-outbreaks involving M. gordonae, M. chelonae and M. xenopi. The latter two can also cause real disease; a reported pseudo-outbreak association does not make every isolate a contaminant.</a:t>
            </a:r>
          </a:p>
        </p:txBody>
      </p:sp>
      <p:sp>
        <p:nvSpPr>
          <p:cNvPr id="3" name="footer">
            <a:extLst xmlns:a="http://schemas.openxmlformats.org/drawingml/2006/main">
              <a:ext uri="{FF2B5EF4-FFF2-40B4-BE49-F238E27FC236}">
                <a16:creationId xmlns:a16="http://schemas.microsoft.com/office/drawing/2014/main" id="{918FDA02-3923-4522-9CE8-A69C84C41F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81EA510-1DDD-407D-87CB-3809C00192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3754999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339A4FA-AE11-43B6-84F1-4DC6CDDCAE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collection or bronchoscopy problem when results cluster</a:t>
            </a:r>
          </a:p>
        </p:txBody>
      </p:sp>
      <p:sp>
        <p:nvSpPr>
          <p:cNvPr id="2" name="paragraph-0">
            <a:extLst xmlns:a="http://schemas.openxmlformats.org/drawingml/2006/main">
              <a:ext uri="{FF2B5EF4-FFF2-40B4-BE49-F238E27FC236}">
                <a16:creationId xmlns:a16="http://schemas.microsoft.com/office/drawing/2014/main" id="{FD4F08E7-A501-48E1-A2BD-C4A0A4D57A12}"/>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several patients have an unexpected species after a shared procedure, or microbiology conflicts sharply with the clinical findings, involve microbiology and infection prevention. Review collection technique, water exposure, procedure dates and equipment/reprocessing records. A pseudo-outbreak is a cluster of positive results without corresponding infection; procedural contamination can also cause true infection, so assess each patient.</a:t>
            </a:r>
          </a:p>
        </p:txBody>
      </p:sp>
      <p:sp>
        <p:nvSpPr>
          <p:cNvPr id="3" name="paragraph-1">
            <a:extLst xmlns:a="http://schemas.openxmlformats.org/drawingml/2006/main">
              <a:ext uri="{FF2B5EF4-FFF2-40B4-BE49-F238E27FC236}">
                <a16:creationId xmlns:a16="http://schemas.microsoft.com/office/drawing/2014/main" id="{F644024A-53D3-4D61-8E94-63288C34C700}"/>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[16] [17]</a:t>
            </a:r>
          </a:p>
        </p:txBody>
      </p:sp>
      <p:sp>
        <p:nvSpPr>
          <p:cNvPr id="4" name="footer">
            <a:extLst xmlns:a="http://schemas.openxmlformats.org/drawingml/2006/main">
              <a:ext uri="{FF2B5EF4-FFF2-40B4-BE49-F238E27FC236}">
                <a16:creationId xmlns:a16="http://schemas.microsoft.com/office/drawing/2014/main" id="{7B768AC8-5076-4DD0-8140-850350D67C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0428FE8-FD89-4DB2-9CBC-52CAC1B588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9500017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804291B-1AB0-4365-A743-33EB263CD7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gordonae from BAL during a malignancy workup</a:t>
            </a:r>
          </a:p>
        </p:txBody>
      </p:sp>
      <p:sp>
        <p:nvSpPr>
          <p:cNvPr id="2" name="paragraph-0">
            <a:extLst xmlns:a="http://schemas.openxmlformats.org/drawingml/2006/main">
              <a:ext uri="{FF2B5EF4-FFF2-40B4-BE49-F238E27FC236}">
                <a16:creationId xmlns:a16="http://schemas.microsoft.com/office/drawing/2014/main" id="{BFF948DB-89C6-46C3-9603-CF7A437AD64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a solitary lung mass has one smear-negative BAL culture growing M. gordonae, without a compatible diffuse nodular-bronchiectatic or cavitary syndrome.</a:t>
            </a:r>
          </a:p>
        </p:txBody>
      </p:sp>
      <p:sp>
        <p:nvSpPr>
          <p:cNvPr id="3" name="paragraph-1">
            <a:extLst xmlns:a="http://schemas.openxmlformats.org/drawingml/2006/main">
              <a:ext uri="{FF2B5EF4-FFF2-40B4-BE49-F238E27FC236}">
                <a16:creationId xmlns:a16="http://schemas.microsoft.com/office/drawing/2014/main" id="{26C9FA24-78F8-4614-9053-4E631091D44A}"/>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culture does not establish NTM disease or explain the mass. Continue the mass evaluation, review collection/procedure concerns and obtain follow-up respiratory cultures if clinically indicated. Avoid starting an NTM regimen on this result alone.</a:t>
            </a:r>
          </a:p>
        </p:txBody>
      </p:sp>
      <p:sp>
        <p:nvSpPr>
          <p:cNvPr id="4" name="footer">
            <a:extLst xmlns:a="http://schemas.openxmlformats.org/drawingml/2006/main">
              <a:ext uri="{FF2B5EF4-FFF2-40B4-BE49-F238E27FC236}">
                <a16:creationId xmlns:a16="http://schemas.microsoft.com/office/drawing/2014/main" id="{1AF6A8AD-ACE1-43FC-A36E-4273E207F3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39D45B1-5CE3-4457-95CF-76F0E368C8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174807400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C4043B-3006-4BAC-BB8A-C243431390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Factors favoring treatment</a:t>
            </a:r>
          </a:p>
        </p:txBody>
      </p:sp>
      <p:sp>
        <p:nvSpPr>
          <p:cNvPr id="2" name="paragraph-0">
            <a:extLst xmlns:a="http://schemas.openxmlformats.org/drawingml/2006/main">
              <a:ext uri="{FF2B5EF4-FFF2-40B4-BE49-F238E27FC236}">
                <a16:creationId xmlns:a16="http://schemas.microsoft.com/office/drawing/2014/main" id="{29423925-4FA6-44B6-B260-B6CBE8CB830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Cavitation, positive AFB smears, radiographic progression, substantial symptoms or weight loss, extensive disease, immune suppression, and a more pathogenic or treatable species.</a:t>
            </a:r>
          </a:p>
        </p:txBody>
      </p:sp>
      <p:sp>
        <p:nvSpPr>
          <p:cNvPr id="3" name="footer">
            <a:extLst xmlns:a="http://schemas.openxmlformats.org/drawingml/2006/main">
              <a:ext uri="{FF2B5EF4-FFF2-40B4-BE49-F238E27FC236}">
                <a16:creationId xmlns:a16="http://schemas.microsoft.com/office/drawing/2014/main" id="{05FA9B81-65A6-4C4C-8BA4-E1A6F64942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3DF1F8E-C4F6-4228-940D-15E2B15B51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5098014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884CC17-B07D-4A7C-A21A-6568D3E170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Factors favoring observation</a:t>
            </a:r>
          </a:p>
        </p:txBody>
      </p:sp>
      <p:sp>
        <p:nvSpPr>
          <p:cNvPr id="2" name="paragraph-0">
            <a:extLst xmlns:a="http://schemas.openxmlformats.org/drawingml/2006/main">
              <a:ext uri="{FF2B5EF4-FFF2-40B4-BE49-F238E27FC236}">
                <a16:creationId xmlns:a16="http://schemas.microsoft.com/office/drawing/2014/main" id="{D3D8B18B-067E-4D52-88EC-9B1F8224A56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Mild stable noncavitary disease, uncertain attribution of symptoms, high toxicity risk and patient preference. Meeting diagnostic criteria alone does not mandate antibiotics.</a:t>
            </a:r>
          </a:p>
        </p:txBody>
      </p:sp>
      <p:sp>
        <p:nvSpPr>
          <p:cNvPr id="3" name="paragraph-1">
            <a:extLst xmlns:a="http://schemas.openxmlformats.org/drawingml/2006/main">
              <a:ext uri="{FF2B5EF4-FFF2-40B4-BE49-F238E27FC236}">
                <a16:creationId xmlns:a16="http://schemas.microsoft.com/office/drawing/2014/main" id="{15753E2F-AAFB-4B82-A751-A9938975A117}"/>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Observation needs an explicit plan for longitudinal assessment of symptoms, cultures and imaging. Individualize follow-up and document the findings that would trigger treatment.</a:t>
            </a:r>
          </a:p>
        </p:txBody>
      </p:sp>
      <p:sp>
        <p:nvSpPr>
          <p:cNvPr id="4" name="footer">
            <a:extLst xmlns:a="http://schemas.openxmlformats.org/drawingml/2006/main">
              <a:ext uri="{FF2B5EF4-FFF2-40B4-BE49-F238E27FC236}">
                <a16:creationId xmlns:a16="http://schemas.microsoft.com/office/drawing/2014/main" id="{6436C578-27B8-4D7F-94D4-CA8D160A448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5599E81-DA9E-4381-A226-C825A4BC72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8965344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4544D1D-169B-41E8-9961-8918771315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the underlying lung disease in either pathway</a:t>
            </a:r>
          </a:p>
        </p:txBody>
      </p:sp>
      <p:sp>
        <p:nvSpPr>
          <p:cNvPr id="2" name="paragraph-0">
            <a:extLst xmlns:a="http://schemas.openxmlformats.org/drawingml/2006/main">
              <a:ext uri="{FF2B5EF4-FFF2-40B4-BE49-F238E27FC236}">
                <a16:creationId xmlns:a16="http://schemas.microsoft.com/office/drawing/2014/main" id="{82A15A67-1280-4E25-932F-310643C9C93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Arrange individualized airway clearance with respiratory therapy, exercise as tolerated, nutritional assessment and smoking cessation. Assess aspiration or reflux when suggested by the history. Review the indication for corticosteroids and other immunosuppression. Consider an underlying bronchiectasis cause, including immune deficiency or CF when the phenotype warrants it.</a:t>
            </a:r>
          </a:p>
        </p:txBody>
      </p:sp>
      <p:sp>
        <p:nvSpPr>
          <p:cNvPr id="3" name="paragraph-1">
            <a:extLst xmlns:a="http://schemas.openxmlformats.org/drawingml/2006/main">
              <a:ext uri="{FF2B5EF4-FFF2-40B4-BE49-F238E27FC236}">
                <a16:creationId xmlns:a16="http://schemas.microsoft.com/office/drawing/2014/main" id="{06DD9E9F-86BA-48D4-A12C-5229877D20F7}"/>
              </a:ext>
            </a:extLst>
          </p:cNvPr>
          <p:cNvSpPr>
            <a:spLocks xmlns:a="http://schemas.openxmlformats.org/drawingml/2006/main" noGrp="1"/>
          </p:cNvSpPr>
          <p:nvPr/>
        </p:nvSpPr>
        <p:spPr>
          <a:xfrm xmlns:a="http://schemas.openxmlformats.org/drawingml/2006/main">
            <a:off x="647700" y="43243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Avoid macrolide monotherapy for bronchiectasis in someone with potentially active MAC or M. abscessus disease. It can select resistance to a key treatment drug.</a:t>
            </a:r>
          </a:p>
        </p:txBody>
      </p:sp>
      <p:sp>
        <p:nvSpPr>
          <p:cNvPr id="4" name="footer">
            <a:extLst xmlns:a="http://schemas.openxmlformats.org/drawingml/2006/main">
              <a:ext uri="{FF2B5EF4-FFF2-40B4-BE49-F238E27FC236}">
                <a16:creationId xmlns:a16="http://schemas.microsoft.com/office/drawing/2014/main" id="{10DAE0EB-749C-41A6-93CE-3307D4C125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3B2610C-FF90-4860-A37A-A54B6D2CDA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213529386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1FC28BD-FF39-4B88-ACEB-5D24A96811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the underlying lung disease in either pathway</a:t>
            </a:r>
          </a:p>
        </p:txBody>
      </p:sp>
      <p:sp>
        <p:nvSpPr>
          <p:cNvPr id="2" name="paragraph-0">
            <a:extLst xmlns:a="http://schemas.openxmlformats.org/drawingml/2006/main">
              <a:ext uri="{FF2B5EF4-FFF2-40B4-BE49-F238E27FC236}">
                <a16:creationId xmlns:a16="http://schemas.microsoft.com/office/drawing/2014/main" id="{D41BE413-DB10-444C-BB7C-D54CDB4E872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Airway clearance and nutrition are supportive care. Observational associations do not prove they prevent NTM recurrence or replace antibiotics in progressive disease.</a:t>
            </a:r>
          </a:p>
        </p:txBody>
      </p:sp>
      <p:sp>
        <p:nvSpPr>
          <p:cNvPr id="3" name="paragraph-1">
            <a:extLst xmlns:a="http://schemas.openxmlformats.org/drawingml/2006/main">
              <a:ext uri="{FF2B5EF4-FFF2-40B4-BE49-F238E27FC236}">
                <a16:creationId xmlns:a16="http://schemas.microsoft.com/office/drawing/2014/main" id="{ABDE98DC-55F3-4C71-92D2-FDA9A24372FE}"/>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[2] [14]</a:t>
            </a:r>
          </a:p>
        </p:txBody>
      </p:sp>
      <p:sp>
        <p:nvSpPr>
          <p:cNvPr id="4" name="footer">
            <a:extLst xmlns:a="http://schemas.openxmlformats.org/drawingml/2006/main">
              <a:ext uri="{FF2B5EF4-FFF2-40B4-BE49-F238E27FC236}">
                <a16:creationId xmlns:a16="http://schemas.microsoft.com/office/drawing/2014/main" id="{BE8AAD07-A808-4576-8C18-0771928EBF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0755436-A99F-4041-9F43-D0B9DF2560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41820908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D4EC06-7D9E-4AF7-BFF0-08366A258E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graphicFrame>
        <p:nvGraphicFramePr>
          <p:cNvPr id="2" name="">
            <a:extLst xmlns:a="http://schemas.openxmlformats.org/drawingml/2006/main">
              <a:ext uri="{FF2B5EF4-FFF2-40B4-BE49-F238E27FC236}">
                <a16:creationId xmlns:a16="http://schemas.microsoft.com/office/drawing/2014/main" id="{1126E3E2-D93A-4F48-9743-8567DD06375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Macrolide-susceptible, noncavitary nodular-bronchiectatic disease without advanced severity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Azithromycin + ethambutol + rifampin, three times weekly. Daily treatment is also used when the clinical situation warrants 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Duration and reassessment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Continue for at least 12 months after culture conversion, not 12 months from the first dose.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AA1023C-6F04-4C74-9E26-6ADDDE3D8C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CBCAE74-8513-4A95-BD3C-0557D97493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96934546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2C4AC8-EAA7-4A9D-949A-ADD619BF8C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graphicFrame>
        <p:nvGraphicFramePr>
          <p:cNvPr id="2" name="">
            <a:extLst xmlns:a="http://schemas.openxmlformats.org/drawingml/2006/main">
              <a:ext uri="{FF2B5EF4-FFF2-40B4-BE49-F238E27FC236}">
                <a16:creationId xmlns:a16="http://schemas.microsoft.com/office/drawing/2014/main" id="{6D9068DB-D4A0-4E97-88A0-1EF1F78BC70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Cavitary or advanced/severe bronchiectatic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Daily azithromycin + ethambutol + rifampin; add IV amikacin or streptomycin initially, usually for 2-3 months, individualized to response and toxicity.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Duration and reassessment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serial cultures and monitor aminoglycoside toxicity. Intermittent oral therapy is not appropriate for cavitary MAC.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6235067-9999-4640-A055-516FDF703D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E60103F-1D79-4BEE-B199-1D5F6296BF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203394270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A2172B-38E7-479F-9DF0-7B580552F8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graphicFrame>
        <p:nvGraphicFramePr>
          <p:cNvPr id="2" name="">
            <a:extLst xmlns:a="http://schemas.openxmlformats.org/drawingml/2006/main">
              <a:ext uri="{FF2B5EF4-FFF2-40B4-BE49-F238E27FC236}">
                <a16:creationId xmlns:a16="http://schemas.microsoft.com/office/drawing/2014/main" id="{4A59DAE2-AD4C-48F5-A794-5D5949DE4CED}"/>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Persistent positive cultures after at least 6 months of an adequate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Reassess adherence, doses, interactions and susceptibility. Add amikacin liposome inhalation suspension (ALIS) to an appropriate background regimen when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Duration and reassessment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ALIS 590 mg inhaled once daily is an add-on for refractory disease, not a replacement for companion drugs. Use its dedicated nebulizer system; it is not interchangeable with nebulized IV amikacin.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6F50EDA-4C3F-4B86-A5C1-85DCFDC153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4AE8325-314B-4DE3-B2A6-D01D57D14A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78147758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387638-F9E6-43A0-AF92-EF6ABB5260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graphicFrame>
        <p:nvGraphicFramePr>
          <p:cNvPr id="2" name="">
            <a:extLst xmlns:a="http://schemas.openxmlformats.org/drawingml/2006/main">
              <a:ext uri="{FF2B5EF4-FFF2-40B4-BE49-F238E27FC236}">
                <a16:creationId xmlns:a16="http://schemas.microsoft.com/office/drawing/2014/main" id="{4E6220AD-B53A-482A-841F-7A627782ACB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Macrolide-resistant MAC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expert consultation and rebuild a multidrug regimen, often including parenteral amikacin when active. Consider resection for selected localized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Duration and reassessment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count the macrolide as active or simply add one oral drug to a failing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5E57548-8B3B-451A-8753-CDF6A0FDA8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4BD60C7-BF96-4366-A92B-79EF7BE40A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33575621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9296121-FB88-4A18-9925-3095EFC1A5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sp>
        <p:nvSpPr>
          <p:cNvPr id="2" name="paragraph-0">
            <a:extLst xmlns:a="http://schemas.openxmlformats.org/drawingml/2006/main">
              <a:ext uri="{FF2B5EF4-FFF2-40B4-BE49-F238E27FC236}">
                <a16:creationId xmlns:a16="http://schemas.microsoft.com/office/drawing/2014/main" id="{A4849163-0DA7-4E3E-BD89-65D727F2FF5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Azithromycin is generally preferred over clarithromycin for tolerability and fewer interactions. Ethambutol is particularly important for protecting the macrolide from acquired resistance. If ethambutol must stop, redesign the regimen before allowing prolonged inadequate companion therapy.</a:t>
            </a:r>
          </a:p>
        </p:txBody>
      </p:sp>
      <p:sp>
        <p:nvSpPr>
          <p:cNvPr id="3" name="paragraph-1">
            <a:extLst xmlns:a="http://schemas.openxmlformats.org/drawingml/2006/main">
              <a:ext uri="{FF2B5EF4-FFF2-40B4-BE49-F238E27FC236}">
                <a16:creationId xmlns:a16="http://schemas.microsoft.com/office/drawing/2014/main" id="{BEE8BE95-D9F8-40F6-92DF-7B82040E2A2D}"/>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Test macrolide and amikacin susceptibility. Do not treat every reported MIC as equally predictive of MAC treatment response.</a:t>
            </a:r>
          </a:p>
        </p:txBody>
      </p:sp>
      <p:sp>
        <p:nvSpPr>
          <p:cNvPr id="4" name="paragraph-2">
            <a:extLst xmlns:a="http://schemas.openxmlformats.org/drawingml/2006/main">
              <a:ext uri="{FF2B5EF4-FFF2-40B4-BE49-F238E27FC236}">
                <a16:creationId xmlns:a16="http://schemas.microsoft.com/office/drawing/2014/main" id="{C3D4CCAA-3256-410C-893B-784C48A54D9A}"/>
              </a:ext>
            </a:extLst>
          </p:cNvPr>
          <p:cNvSpPr>
            <a:spLocks xmlns:a="http://schemas.openxmlformats.org/drawingml/2006/main" noGrp="1"/>
          </p:cNvSpPr>
          <p:nvPr/>
        </p:nvSpPr>
        <p:spPr>
          <a:xfrm xmlns:a="http://schemas.openxmlformats.org/drawingml/2006/main">
            <a:off x="647700" y="49339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[4]</a:t>
            </a:r>
          </a:p>
        </p:txBody>
      </p:sp>
      <p:sp>
        <p:nvSpPr>
          <p:cNvPr id="5" name="footer">
            <a:extLst xmlns:a="http://schemas.openxmlformats.org/drawingml/2006/main">
              <a:ext uri="{FF2B5EF4-FFF2-40B4-BE49-F238E27FC236}">
                <a16:creationId xmlns:a16="http://schemas.microsoft.com/office/drawing/2014/main" id="{835FC962-118A-4D7F-8737-171F537485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027B9CF0-1DC2-4191-A0D4-1B85969631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6023539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6A0694-A5D6-4808-B11A-0E886F5231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graphicFrame>
        <p:nvGraphicFramePr>
          <p:cNvPr id="2" name="">
            <a:extLst xmlns:a="http://schemas.openxmlformats.org/drawingml/2006/main">
              <a:ext uri="{FF2B5EF4-FFF2-40B4-BE49-F238E27FC236}">
                <a16:creationId xmlns:a16="http://schemas.microsoft.com/office/drawing/2014/main" id="{4624054E-03CC-4A67-B9AF-4BE86824ACDA}"/>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3632200"/>
                <a:gridCol w="3632200"/>
                <a:gridCol w="3632200"/>
              </a:tblGrid>
              <a:tr h="847725">
                <a:tc>
                  <a:txBody>
                    <a:bodyPr lIns="114300" tIns="114300" rIns="114300" bIns="114300">
                      <a:noAutofit/>
                    </a:bodyPr>
                    <a:lstStyle/>
                    <a:p>
                      <a:r>
                        <a:rPr sz="1950" b="1">
                          <a:solidFill>
                            <a:srgbClr val="FFFFFF"/>
                          </a:solidFill>
                          <a:latin typeface="DejaVu Sans"/>
                          <a:ea typeface="DejaVu Sans"/>
                          <a:cs typeface="DejaVu Sans"/>
                        </a:rPr>
                        <a:t>Adult oral drug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Daily MAC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Three-times-weekly MAC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Azithromycin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250-500 mg once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500 mg per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Ethambutol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15 mg/kg once daily</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25 mg/kg per dose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Rifampin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 mg/kg once daily, maximum 600 mg</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600 mg per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46FD0C9-3B21-4795-AE8E-23387B3D4E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7A0A699-216A-46FC-81DD-49B1CCDD17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200053918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0D51507-21FD-4E99-A575-BD574F0683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MAC treatment depends on severity and macrolide susceptibility</a:t>
            </a:r>
          </a:p>
        </p:txBody>
      </p:sp>
      <p:sp>
        <p:nvSpPr>
          <p:cNvPr id="2" name="paragraph-0">
            <a:extLst xmlns:a="http://schemas.openxmlformats.org/drawingml/2006/main">
              <a:ext uri="{FF2B5EF4-FFF2-40B4-BE49-F238E27FC236}">
                <a16:creationId xmlns:a16="http://schemas.microsoft.com/office/drawing/2014/main" id="{FDD7B3B5-E3D3-45D2-9A22-2740DC0A7A8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All three drugs follow the selected schedule. Intermittent means three doses each week, not every third day. These doses do not cover pregnancy, dialysis, severe organ dysfunction or major drug interactions. Rifabutin is an alternative rifamycin in selected patients, with its own dose and interaction review.</a:t>
            </a:r>
          </a:p>
        </p:txBody>
      </p:sp>
      <p:sp>
        <p:nvSpPr>
          <p:cNvPr id="3" name="paragraph-1">
            <a:extLst xmlns:a="http://schemas.openxmlformats.org/drawingml/2006/main">
              <a:ext uri="{FF2B5EF4-FFF2-40B4-BE49-F238E27FC236}">
                <a16:creationId xmlns:a16="http://schemas.microsoft.com/office/drawing/2014/main" id="{D4489739-B7E0-47C5-AE1A-0C5F59E3E94B}"/>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[3]</a:t>
            </a:r>
          </a:p>
        </p:txBody>
      </p:sp>
      <p:sp>
        <p:nvSpPr>
          <p:cNvPr id="4" name="footer">
            <a:extLst xmlns:a="http://schemas.openxmlformats.org/drawingml/2006/main">
              <a:ext uri="{FF2B5EF4-FFF2-40B4-BE49-F238E27FC236}">
                <a16:creationId xmlns:a16="http://schemas.microsoft.com/office/drawing/2014/main" id="{8DAE8077-032E-479A-B851-14D75A8F53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104C959-D077-4E06-914F-9A61C17041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07858436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E8F4788-4E51-4060-A87A-D92E513A40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about two-drug MAC treatment?</a:t>
            </a:r>
          </a:p>
        </p:txBody>
      </p:sp>
      <p:sp>
        <p:nvSpPr>
          <p:cNvPr id="2" name="paragraph-0">
            <a:extLst xmlns:a="http://schemas.openxmlformats.org/drawingml/2006/main">
              <a:ext uri="{FF2B5EF4-FFF2-40B4-BE49-F238E27FC236}">
                <a16:creationId xmlns:a16="http://schemas.microsoft.com/office/drawing/2014/main" id="{A0C6F866-C386-4912-9CC3-8757CD5A09C8}"/>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There are published data for a macrolide plus ethambutol. A small open-label randomized study (Miwa, 2014) reported conversion in 55.0% with two drugs versus 40.6% with three. Its size, dosing and rifampin-related pharmacokinetic limitations prevent a confident conclusion about equivalence or resistance protection. A 2025 uncontrolled cohort reported microbiologic cure in 72/108 patients (67%) treated for at least 12 months; restricting analysis to patients treated for at least 12 months limits generalizability.</a:t>
            </a:r>
          </a:p>
        </p:txBody>
      </p:sp>
      <p:sp>
        <p:nvSpPr>
          <p:cNvPr id="3" name="paragraph-1">
            <a:extLst xmlns:a="http://schemas.openxmlformats.org/drawingml/2006/main">
              <a:ext uri="{FF2B5EF4-FFF2-40B4-BE49-F238E27FC236}">
                <a16:creationId xmlns:a16="http://schemas.microsoft.com/office/drawing/2014/main" id="{4B78E876-9599-4D0A-8887-7DEC3A847ABD}"/>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Acquired macrolide resistance occurred in 2/18 nonconverters with paired isolates, not 2/108 systematically tested patients.</a:t>
            </a:r>
          </a:p>
        </p:txBody>
      </p:sp>
      <p:sp>
        <p:nvSpPr>
          <p:cNvPr id="4" name="footer">
            <a:extLst xmlns:a="http://schemas.openxmlformats.org/drawingml/2006/main">
              <a:ext uri="{FF2B5EF4-FFF2-40B4-BE49-F238E27FC236}">
                <a16:creationId xmlns:a16="http://schemas.microsoft.com/office/drawing/2014/main" id="{D867AFDB-7C2E-496D-A111-FB866E2F23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716B877-1E40-4AF5-AB50-68FAB4EC3E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91108647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BB8053-9FBF-44D1-984B-B9548B0D5B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about two-drug MAC treatment?</a:t>
            </a:r>
          </a:p>
        </p:txBody>
      </p:sp>
      <p:sp>
        <p:nvSpPr>
          <p:cNvPr id="2" name="paragraph-0">
            <a:extLst xmlns:a="http://schemas.openxmlformats.org/drawingml/2006/main">
              <a:ext uri="{FF2B5EF4-FFF2-40B4-BE49-F238E27FC236}">
                <a16:creationId xmlns:a16="http://schemas.microsoft.com/office/drawing/2014/main" id="{E125D6E7-3AE7-4A00-A4DF-F1E818E0552B}"/>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2020 guideline suggests at least three drugs, including a macrolide and ethambutol; this is a conditional recommendation based on very low-certainty evidence. The role of the third drug in preventing acquired macrolide resistance remains an important uncertainty. In selected macrolide-susceptible, noncavitary disease with rifamycin intolerance or interactions, discuss two drugs with an NTM specialist, alongside a clofazimine-containing three-drug alternative. Do not extrapolate these findings to cavitary/severe or macrolide-resistant disease, or to disseminated HIV-associated MAC.</a:t>
            </a:r>
          </a:p>
        </p:txBody>
      </p:sp>
      <p:sp>
        <p:nvSpPr>
          <p:cNvPr id="3" name="footer">
            <a:extLst xmlns:a="http://schemas.openxmlformats.org/drawingml/2006/main">
              <a:ext uri="{FF2B5EF4-FFF2-40B4-BE49-F238E27FC236}">
                <a16:creationId xmlns:a16="http://schemas.microsoft.com/office/drawing/2014/main" id="{03850FAA-D487-49F0-BD02-01BA58DA96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3F95AFB-681F-4240-8072-2B83D1080E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84879455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4932BFC-9FF6-4C0E-ABDD-EBDD9BAC6C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about two-drug MAC treatment?</a:t>
            </a:r>
          </a:p>
        </p:txBody>
      </p:sp>
      <p:sp>
        <p:nvSpPr>
          <p:cNvPr id="2" name="paragraph-0">
            <a:extLst xmlns:a="http://schemas.openxmlformats.org/drawingml/2006/main">
              <a:ext uri="{FF2B5EF4-FFF2-40B4-BE49-F238E27FC236}">
                <a16:creationId xmlns:a16="http://schemas.microsoft.com/office/drawing/2014/main" id="{F2ACED04-1ED9-4090-86B9-18D0C36C737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Maintain ethambutol, serial cultures and reassessment for resistance if response fails.</a:t>
            </a:r>
          </a:p>
        </p:txBody>
      </p:sp>
      <p:sp>
        <p:nvSpPr>
          <p:cNvPr id="3" name="paragraph-1">
            <a:extLst xmlns:a="http://schemas.openxmlformats.org/drawingml/2006/main">
              <a:ext uri="{FF2B5EF4-FFF2-40B4-BE49-F238E27FC236}">
                <a16:creationId xmlns:a16="http://schemas.microsoft.com/office/drawing/2014/main" id="{811894DA-5973-4B98-A52A-526BF09B31CA}"/>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[6] [18] [19]</a:t>
            </a:r>
          </a:p>
        </p:txBody>
      </p:sp>
      <p:sp>
        <p:nvSpPr>
          <p:cNvPr id="4" name="footer">
            <a:extLst xmlns:a="http://schemas.openxmlformats.org/drawingml/2006/main">
              <a:ext uri="{FF2B5EF4-FFF2-40B4-BE49-F238E27FC236}">
                <a16:creationId xmlns:a16="http://schemas.microsoft.com/office/drawing/2014/main" id="{641DB22B-8900-49D1-8E6F-DA538FD22D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44A1822-7696-4FC5-A05E-7F7B3900C7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126562448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682C63-E523-4000-A42A-79AB7B5AA3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sp>
        <p:nvSpPr>
          <p:cNvPr id="2" name="paragraph-0">
            <a:extLst xmlns:a="http://schemas.openxmlformats.org/drawingml/2006/main">
              <a:ext uri="{FF2B5EF4-FFF2-40B4-BE49-F238E27FC236}">
                <a16:creationId xmlns:a16="http://schemas.microsoft.com/office/drawing/2014/main" id="{9F36013A-B3A3-4454-9177-F62D5E4E933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 abscessus complex includes subspecies abscessus, massiliense and bolletii. Subspecies massiliense usually has a nonfunctional erm(41) gene and is more likely to retain macrolide activity. Subspecies identification alone cannot exclude acquired resistance.</a:t>
            </a:r>
          </a:p>
        </p:txBody>
      </p:sp>
      <p:sp>
        <p:nvSpPr>
          <p:cNvPr id="3" name="footer">
            <a:extLst xmlns:a="http://schemas.openxmlformats.org/drawingml/2006/main">
              <a:ext uri="{FF2B5EF4-FFF2-40B4-BE49-F238E27FC236}">
                <a16:creationId xmlns:a16="http://schemas.microsoft.com/office/drawing/2014/main" id="{5BA21914-14F0-4A5D-80C7-498A75431F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0B89EE2-F169-48F1-82F6-8843C352EB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06619141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E76A23-60A3-4DF1-9DCA-E1D218974B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graphicFrame>
        <p:nvGraphicFramePr>
          <p:cNvPr id="2" name="">
            <a:extLst xmlns:a="http://schemas.openxmlformats.org/drawingml/2006/main">
              <a:ext uri="{FF2B5EF4-FFF2-40B4-BE49-F238E27FC236}">
                <a16:creationId xmlns:a16="http://schemas.microsoft.com/office/drawing/2014/main" id="{BA9D964E-D18C-455E-B509-48D5CDFA0D1E}"/>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Laboratory result</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What it means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Treatment implication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Macrolide susceptible early, resistant after extended incubation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Inducible resistance, usually from functional erm(41).</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count azithromycin or clarithromycin as active.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Macrolide resistant early, or resistance-associated rrl mutation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Constitutive/acquired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Macrolide is not an active component even if the subspecies is massiliense.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16349B7-0784-471F-B9FB-D58196EDC4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BD6CC0F-5103-451B-8FF2-B2BF60EFDF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20109695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4C9FA99-3760-43B3-BAD5-3C31CF834D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graphicFrame>
        <p:nvGraphicFramePr>
          <p:cNvPr id="2" name="">
            <a:extLst xmlns:a="http://schemas.openxmlformats.org/drawingml/2006/main">
              <a:ext uri="{FF2B5EF4-FFF2-40B4-BE49-F238E27FC236}">
                <a16:creationId xmlns:a16="http://schemas.microsoft.com/office/drawing/2014/main" id="{0A3B145D-6DF4-4070-B81F-408EC91D62F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Laboratory result</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What it means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Treatment implication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No inducible or mutational resistance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Macrolide activity is retained.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Include a macrolide in the active multidrug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381F004-9FD3-444C-91BD-B5C3BFF819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29F75DD-1844-4639-B52F-43AF779843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1445757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2E395B-C0E1-4E0C-9381-429B659067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sp>
        <p:nvSpPr>
          <p:cNvPr id="2" name="paragraph-0">
            <a:extLst xmlns:a="http://schemas.openxmlformats.org/drawingml/2006/main">
              <a:ext uri="{FF2B5EF4-FFF2-40B4-BE49-F238E27FC236}">
                <a16:creationId xmlns:a16="http://schemas.microsoft.com/office/drawing/2014/main" id="{082B70A0-C6DA-4282-88D9-A3AD6B74A43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for extended macrolide testing, generally through 14 days, and/or molecular assessment of erm(41), plus evaluation for mutational resistance. Test amikacin and the other candidate drugs using a reference laboratory when needed.</a:t>
            </a:r>
          </a:p>
        </p:txBody>
      </p:sp>
      <p:sp>
        <p:nvSpPr>
          <p:cNvPr id="3" name="footer">
            <a:extLst xmlns:a="http://schemas.openxmlformats.org/drawingml/2006/main">
              <a:ext uri="{FF2B5EF4-FFF2-40B4-BE49-F238E27FC236}">
                <a16:creationId xmlns:a16="http://schemas.microsoft.com/office/drawing/2014/main" id="{D8AA1B0A-DB02-4529-AA79-8FF607E714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6441386-FF59-41FE-A925-E0DFD0F3BC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83494995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1E29401-799D-4212-ADD8-074F63DFB4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sp>
        <p:nvSpPr>
          <p:cNvPr id="2" name="paragraph-0">
            <a:extLst xmlns:a="http://schemas.openxmlformats.org/drawingml/2006/main">
              <a:ext uri="{FF2B5EF4-FFF2-40B4-BE49-F238E27FC236}">
                <a16:creationId xmlns:a16="http://schemas.microsoft.com/office/drawing/2014/main" id="{DFD69551-BFE0-4E37-A173-45F65B30D9D8}"/>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initial phase typically combines IV agents with oral companions. When the macrolide is active, use at least three active drugs initially. With inducible or mutational macrolide resistance, aim for at least four active drugs when possible. IV amikacin, imipenem or cefoxitin, and tigecycline are common options; oral choices may include clofazimine or linezolid. Selection depends on susceptibility, exposure and tolerability.</a:t>
            </a:r>
          </a:p>
        </p:txBody>
      </p:sp>
      <p:sp>
        <p:nvSpPr>
          <p:cNvPr id="3" name="footer">
            <a:extLst xmlns:a="http://schemas.openxmlformats.org/drawingml/2006/main">
              <a:ext uri="{FF2B5EF4-FFF2-40B4-BE49-F238E27FC236}">
                <a16:creationId xmlns:a16="http://schemas.microsoft.com/office/drawing/2014/main" id="{A6878CA8-6E90-4EB1-9987-845E14BB50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825F507-494B-4E28-86E3-5CBC5C1FE5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8308873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D3684A-F528-471E-9456-8494326679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sp>
        <p:nvSpPr>
          <p:cNvPr id="2" name="paragraph-0">
            <a:extLst xmlns:a="http://schemas.openxmlformats.org/drawingml/2006/main">
              <a:ext uri="{FF2B5EF4-FFF2-40B4-BE49-F238E27FC236}">
                <a16:creationId xmlns:a16="http://schemas.microsoft.com/office/drawing/2014/main" id="{6E47A031-7724-46A0-ABBA-0408F7E2250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the IV phase, continuation therapy usually retains at least two to three active agents, sometimes including inhaled amikacin. Neither the IV-phase length nor the total treatment duration has a well-established universal standard. Plan both with an NTM specialist. Do not present the MAC duration rule as proven for M. abscessus.</a:t>
            </a:r>
          </a:p>
        </p:txBody>
      </p:sp>
      <p:sp>
        <p:nvSpPr>
          <p:cNvPr id="3" name="paragraph-1">
            <a:extLst xmlns:a="http://schemas.openxmlformats.org/drawingml/2006/main">
              <a:ext uri="{FF2B5EF4-FFF2-40B4-BE49-F238E27FC236}">
                <a16:creationId xmlns:a16="http://schemas.microsoft.com/office/drawing/2014/main" id="{D8F248C8-32D3-4FA8-8C31-FF4B2AF62166}"/>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macrolide sometimes remains in a resistant M. abscessus regimen for immunomodulation. It does not count toward the active-drug total. Monitor for other NTM species that could acquire resistance during that exposure.</a:t>
            </a:r>
          </a:p>
        </p:txBody>
      </p:sp>
      <p:sp>
        <p:nvSpPr>
          <p:cNvPr id="4" name="footer">
            <a:extLst xmlns:a="http://schemas.openxmlformats.org/drawingml/2006/main">
              <a:ext uri="{FF2B5EF4-FFF2-40B4-BE49-F238E27FC236}">
                <a16:creationId xmlns:a16="http://schemas.microsoft.com/office/drawing/2014/main" id="{80C8626F-F0E2-4BC4-B5FD-B1CDF0DEA2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80BDBF4-7CEE-4F76-A003-B74B0808DD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20912865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B90D78-2070-409D-B60B-15404DC594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requires subspecies and resistance interpretation</a:t>
            </a:r>
          </a:p>
        </p:txBody>
      </p:sp>
      <p:sp>
        <p:nvSpPr>
          <p:cNvPr id="2" name="paragraph-0">
            <a:extLst xmlns:a="http://schemas.openxmlformats.org/drawingml/2006/main">
              <a:ext uri="{FF2B5EF4-FFF2-40B4-BE49-F238E27FC236}">
                <a16:creationId xmlns:a16="http://schemas.microsoft.com/office/drawing/2014/main" id="{4DFE2BEF-77B8-4DED-B1F2-40DAAA1BCF4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[14]</a:t>
            </a:r>
          </a:p>
        </p:txBody>
      </p:sp>
      <p:sp>
        <p:nvSpPr>
          <p:cNvPr id="3" name="footer">
            <a:extLst xmlns:a="http://schemas.openxmlformats.org/drawingml/2006/main">
              <a:ext uri="{FF2B5EF4-FFF2-40B4-BE49-F238E27FC236}">
                <a16:creationId xmlns:a16="http://schemas.microsoft.com/office/drawing/2014/main" id="{D6BEDFD1-182D-4726-B3D1-AFB64BE891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AB659F-22C4-41C3-9539-EB440F894D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99384176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164432-25FB-4B11-AAF9-BBC21577B1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regimen examples</a:t>
            </a:r>
          </a:p>
        </p:txBody>
      </p:sp>
      <p:sp>
        <p:nvSpPr>
          <p:cNvPr id="2" name="paragraph-0">
            <a:extLst xmlns:a="http://schemas.openxmlformats.org/drawingml/2006/main">
              <a:ext uri="{FF2B5EF4-FFF2-40B4-BE49-F238E27FC236}">
                <a16:creationId xmlns:a16="http://schemas.microsoft.com/office/drawing/2014/main" id="{76A304EE-40E7-4669-A580-D8BEED937AD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are specialist-guided starting frameworks for adult pulmonary disease. They assume amikacin susceptibility and adequate exposure. See the adult doses before prescribing; the number of named drugs is not necessarily the number of active drugs.</a:t>
            </a:r>
          </a:p>
        </p:txBody>
      </p:sp>
      <p:sp>
        <p:nvSpPr>
          <p:cNvPr id="3" name="footer">
            <a:extLst xmlns:a="http://schemas.openxmlformats.org/drawingml/2006/main">
              <a:ext uri="{FF2B5EF4-FFF2-40B4-BE49-F238E27FC236}">
                <a16:creationId xmlns:a16="http://schemas.microsoft.com/office/drawing/2014/main" id="{EA6E90FD-B74E-44AE-BCC6-491200FF90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5345906-CCB6-4DFB-B21D-AED1EEACA3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90148890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095CA1-8E7A-442A-BD2C-A9B50121D5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regimen examples</a:t>
            </a:r>
          </a:p>
        </p:txBody>
      </p:sp>
      <p:graphicFrame>
        <p:nvGraphicFramePr>
          <p:cNvPr id="2" name="">
            <a:extLst xmlns:a="http://schemas.openxmlformats.org/drawingml/2006/main">
              <a:ext uri="{FF2B5EF4-FFF2-40B4-BE49-F238E27FC236}">
                <a16:creationId xmlns:a16="http://schemas.microsoft.com/office/drawing/2014/main" id="{DD8C917C-8EE1-4F10-9677-FB1F6B4F7090}"/>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Macrolide active: no inducible or mutational resistance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Initial IV-containing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Azithromycin + IV amikacin + imipenem (or cefoxitin) + clofazimine is one framework. Target at least 3 active agents. Tigecycline or linezolid may replace or supplement a poorly tolerated or unsuitable component.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Continuation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Azithromycin + clofazimine + inhaled amikacin is one possible framework. Linezolid is another companion option. Retain at least 2-3 active drugs.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AB1E118-0381-4988-898D-819D99A710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ABEE288-E782-422F-AB41-BD15021018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51344759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CCEF1F-576E-40CA-A9EA-937843835C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regimen examples</a:t>
            </a:r>
          </a:p>
        </p:txBody>
      </p:sp>
      <p:graphicFrame>
        <p:nvGraphicFramePr>
          <p:cNvPr id="2" name="">
            <a:extLst xmlns:a="http://schemas.openxmlformats.org/drawingml/2006/main">
              <a:ext uri="{FF2B5EF4-FFF2-40B4-BE49-F238E27FC236}">
                <a16:creationId xmlns:a16="http://schemas.microsoft.com/office/drawing/2014/main" id="{C08F33D4-C745-4127-828F-B2ED6BB1C337}"/>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Inducible or mutational macrolide resistance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Initial IV-containing phase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IV amikacin + imipenem (or cefoxitin) + tigecycline + clofazimine is one framework, aiming for at least 4 active agents when possible. Linezolid may be an additional or substitute companion if activity and tolerability support 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Continuation options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Clofazimine + linezolid + inhaled amikacin may be feasible if sufficiently active and tolerated. If this leaves too few active drugs, revise or continue IV therapy rather than force an inadequate oral/inhaled phase.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BA59391-97A3-444E-9A8E-A06A0F5FE9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F9B241F-C988-42C7-913C-5E1C4E7BB5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91254520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EDDBDE-C909-4BB4-9EAB-34836D6BAC1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regimen examples</a:t>
            </a:r>
          </a:p>
        </p:txBody>
      </p:sp>
      <p:sp>
        <p:nvSpPr>
          <p:cNvPr id="2" name="paragraph-0">
            <a:extLst xmlns:a="http://schemas.openxmlformats.org/drawingml/2006/main">
              <a:ext uri="{FF2B5EF4-FFF2-40B4-BE49-F238E27FC236}">
                <a16:creationId xmlns:a16="http://schemas.microsoft.com/office/drawing/2014/main" id="{3E70DBBA-B7DB-42FF-9FAC-AF18EF8EB51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retained macrolide in resistant disease is for immunomodulation and does not count as active. Clofazimine, tigecycline and omadacycline MICs lack validated clinical breakpoints; beta-lactam and linezolid MICs also have limited outcome correlation. Interpret the whole regimen with an experienced laboratory and NTM clinician. Imipenem and cefoxitin are alternatives, not routinely a dual-beta-lactam combination.</a:t>
            </a:r>
          </a:p>
        </p:txBody>
      </p:sp>
      <p:sp>
        <p:nvSpPr>
          <p:cNvPr id="3" name="footer">
            <a:extLst xmlns:a="http://schemas.openxmlformats.org/drawingml/2006/main">
              <a:ext uri="{FF2B5EF4-FFF2-40B4-BE49-F238E27FC236}">
                <a16:creationId xmlns:a16="http://schemas.microsoft.com/office/drawing/2014/main" id="{7C81AA36-DA6E-4C2A-A330-0A6050DE49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6A88A63-4948-4ADF-923E-114AED3F0F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201797251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1D528A-EDE0-466A-9032-B5E5AF54D6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 abscessus regimen examples</a:t>
            </a:r>
          </a:p>
        </p:txBody>
      </p:sp>
      <p:sp>
        <p:nvSpPr>
          <p:cNvPr id="2" name="paragraph-0">
            <a:extLst xmlns:a="http://schemas.openxmlformats.org/drawingml/2006/main">
              <a:ext uri="{FF2B5EF4-FFF2-40B4-BE49-F238E27FC236}">
                <a16:creationId xmlns:a16="http://schemas.microsoft.com/office/drawing/2014/main" id="{85D2EE58-98EA-4E62-B88F-ADB68A110F8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omadacycline is an off-label option when a tetracycline component is needed and prolonged IV tigecycline is impractical or intolerable. Published clinical evidence is evolving; it is not a proven interchangeable substitute. Neither the number of IV weeks nor the total duration has a universal evidence-based prescription.</a:t>
            </a:r>
          </a:p>
        </p:txBody>
      </p:sp>
      <p:sp>
        <p:nvSpPr>
          <p:cNvPr id="3" name="paragraph-1">
            <a:extLst xmlns:a="http://schemas.openxmlformats.org/drawingml/2006/main">
              <a:ext uri="{FF2B5EF4-FFF2-40B4-BE49-F238E27FC236}">
                <a16:creationId xmlns:a16="http://schemas.microsoft.com/office/drawing/2014/main" id="{8E16D014-C2CE-4722-A386-8D512A7A68B7}"/>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Table 5 [3] [7]</a:t>
            </a:r>
          </a:p>
        </p:txBody>
      </p:sp>
      <p:sp>
        <p:nvSpPr>
          <p:cNvPr id="4" name="footer">
            <a:extLst xmlns:a="http://schemas.openxmlformats.org/drawingml/2006/main">
              <a:ext uri="{FF2B5EF4-FFF2-40B4-BE49-F238E27FC236}">
                <a16:creationId xmlns:a16="http://schemas.microsoft.com/office/drawing/2014/main" id="{4253B81E-EB87-4593-84E5-21FAD39070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2D899AC-45C0-4423-A298-B36D14839A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210078448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890918-1131-48C4-B7B8-32BC6BCF45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5C674A53-4BD3-4584-9E8F-6D1B2333837A}"/>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kansasii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Cavitary lung disease, often with structural lung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rifampin-susceptible disease, rifampin + ethambutol + either isoniazid or a macrolide. Treat at least 12 months total; this differs from the MAC post-conversion rule. If cultures have not converted by 4 months, obtain expert consultation and reassess the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BB69026-3C36-4921-A67C-576CD933DA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D2156F4-83CC-4EF7-9314-228FB35249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200495664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59DEFC-F824-4C18-B197-D481020ECA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ECC7C22D-6EE7-42FB-8332-9412F72D8F1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xenopi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Pulmonary disease that may be cavitary and severe.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Daily rifampin + ethambutol + a macrolide and/or moxifloxacin; at least three drugs. Consider parenteral amikacin for severe disease. Continue at least 12 months after conversion.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A0084F0-D645-412C-BC5E-85AC059342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FE441CF-5EE0-438B-BB22-6F09D06B62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77186810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941F13-E589-40B2-B15E-9FC1EDA4B2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A82AB60D-7F6A-44D4-8FFB-2A220C57115A}"/>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fortuitum complex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Postprocedural wounds, device infections and occasional lung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at least two active drugs for significant infection, selected by susceptibility. Potential options include a fluoroquinolone, TMP-SMX, doxycycline or amikacin. Do not assume macrolide activity; inducible resistance is important.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A9D5B09-8D04-4634-B8E5-C2F72E14EB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C90AB96-CB01-42E3-A630-5A7CED67EF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52521779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CA3FDC-2441-4738-9DC0-331F79086B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91149A99-4B38-48F3-9CAA-9AF72E6F28E0}"/>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chelonae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Skin nodules or disseminated skin disease, particularly with immunosuppression.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susceptible macrolide is often central, with additional active therapy for serious disease. Tobramycin can be more active than amikacin; cefoxitin is generally unreliable. Newly described erm(55) means inducible macrolide resistance cannot be categorically excluded.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EBBE4D5-19A9-47F5-B22E-439E26DA9D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14E8F1D-5B7E-40F1-B91C-D52BCD150C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96041088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FDE764-E549-4CFF-936E-DE9E5548DC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8346C1AB-FA63-4139-A839-E4696ABCA45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marinum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Aquatic inoculation, sporotrichoid skin lesions, tenosynovitis.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more than minimal disease, a macrolide + ethambutol is a common combination; deeper disease may need rifampin and surgery. See extrapulmonary section.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6D263A1-64B8-4008-9AF4-BC6D700730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212DA4-255A-4660-AB93-1F2AA69C43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96252714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EECF93-66FB-40EF-AB1A-685058BCF3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graphicFrame>
        <p:nvGraphicFramePr>
          <p:cNvPr id="2" name="">
            <a:extLst xmlns:a="http://schemas.openxmlformats.org/drawingml/2006/main">
              <a:ext uri="{FF2B5EF4-FFF2-40B4-BE49-F238E27FC236}">
                <a16:creationId xmlns:a16="http://schemas.microsoft.com/office/drawing/2014/main" id="{436CBDE5-5ACE-4C1D-BBD6-286DD40447A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 chimaera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clinical setting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MAC member causing lung disease; also invasive infection after cardiac surgery.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 approach and 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Pulmonary disease follows MAC principles. Prosthetic cardiovascular infection requires a separate source-control and dissemination evaluation.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8EEE513-96F6-4BE1-A73B-CB6B49F311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49BAD74-7D89-4FD4-B98C-495A850DF56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81600979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6BD19C3-141B-4C47-B6CC-1414057401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Other species require distinct treatment decisions</a:t>
            </a:r>
          </a:p>
        </p:txBody>
      </p:sp>
      <p:sp>
        <p:nvSpPr>
          <p:cNvPr id="2" name="paragraph-0">
            <a:extLst xmlns:a="http://schemas.openxmlformats.org/drawingml/2006/main">
              <a:ext uri="{FF2B5EF4-FFF2-40B4-BE49-F238E27FC236}">
                <a16:creationId xmlns:a16="http://schemas.microsoft.com/office/drawing/2014/main" id="{5DED7505-3909-435F-9832-39B485FEF3C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M. kansasii, test rifampin susceptibility. Daily therapy is used for cavitary disease and for isoniazid-containing regimens. A macrolide-containing regimen may be intermittent for selected noncavitary disease. Isoniazid is usually 300 mg daily in adults, with pyridoxine; use weight-based dosing when appropriate. Pyrazinamide has no role. If rifampin resistance or intolerance prevents a standard regimen, obtain expert advice rather than treating as drug-susceptible TB.</a:t>
            </a:r>
          </a:p>
        </p:txBody>
      </p:sp>
      <p:sp>
        <p:nvSpPr>
          <p:cNvPr id="3" name="paragraph-1">
            <a:extLst xmlns:a="http://schemas.openxmlformats.org/drawingml/2006/main">
              <a:ext uri="{FF2B5EF4-FFF2-40B4-BE49-F238E27FC236}">
                <a16:creationId xmlns:a16="http://schemas.microsoft.com/office/drawing/2014/main" id="{503DE7E6-E412-42C9-8EE0-19816C18C983}"/>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[8] [10] [12]</a:t>
            </a:r>
          </a:p>
        </p:txBody>
      </p:sp>
      <p:sp>
        <p:nvSpPr>
          <p:cNvPr id="4" name="footer">
            <a:extLst xmlns:a="http://schemas.openxmlformats.org/drawingml/2006/main">
              <a:ext uri="{FF2B5EF4-FFF2-40B4-BE49-F238E27FC236}">
                <a16:creationId xmlns:a16="http://schemas.microsoft.com/office/drawing/2014/main" id="{9EE070F7-1EE4-4397-8E89-3510FF6FA6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E9D29F2-4DB5-4510-A9C7-35F486A496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73113778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62E399-590C-4FC0-B7FB-C45FFC1FB5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sp>
        <p:nvSpPr>
          <p:cNvPr id="2" name="paragraph-0">
            <a:extLst xmlns:a="http://schemas.openxmlformats.org/drawingml/2006/main">
              <a:ext uri="{FF2B5EF4-FFF2-40B4-BE49-F238E27FC236}">
                <a16:creationId xmlns:a16="http://schemas.microsoft.com/office/drawing/2014/main" id="{ECC4EB81-D3D2-445C-A44C-7850A43A78A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treatment, record weight, functional limitations, sputum burden, CT findings and baseline cultures. Obtain CBC, creatinine/electrolytes and hepatic tests. Add ECG, visual acuity/color testing and audiometry according to the planned drugs. Reconcile all medications and supplements.</a:t>
            </a:r>
          </a:p>
        </p:txBody>
      </p:sp>
      <p:sp>
        <p:nvSpPr>
          <p:cNvPr id="3" name="footer">
            <a:extLst xmlns:a="http://schemas.openxmlformats.org/drawingml/2006/main">
              <a:ext uri="{FF2B5EF4-FFF2-40B4-BE49-F238E27FC236}">
                <a16:creationId xmlns:a16="http://schemas.microsoft.com/office/drawing/2014/main" id="{3B130FBC-204F-44C1-9064-128BF62C10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FD47CB0-BB05-407A-BC78-197264B0DB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213313035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41982F-DA64-47CF-940F-CE0B9235D7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5462FF0B-5568-41E9-925F-ABB902D15E1D}"/>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Every clinical contact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Weight, respiratory symptoms, appetite, nausea, diarrhea, missed doses, airway clearance and patient goals. Add drug-specific questions: hearing/balance with ototoxic agents; vision with ethambutol or linezolid; neuropathy with linezolid or isoniazid.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Address intolerance early. New symptoms may reflect drug injury, bronchiectasis or coinfection rather than NTM progression.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6C4C297-A2A1-4007-B787-BF2BF71C53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E193703-2DAF-4C37-99A7-FBCB916E32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21925407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49CC09-911E-4D20-B24D-08270E50AB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DAB7208C-4D73-40F2-BCE0-FD9F72A28D57}"/>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During IV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weekly CBC and hepatic tests; renal function/electrolytes at least weekly, often twice weekly with amikacin or higher risk. Obtain amikacin levels under a defined pharmacy plan.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Change doses or intervals for evolving organ dysfunction. Do not wait for the next scheduled visit if toxicity develops.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E01D566-5C87-4298-924C-33C49CA5D29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8A5D5A-97CE-4C9D-ACAC-D60FA33CC3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28221422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CDB0C9-306A-472C-90F1-02FD4B73E9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3C3C7809-4466-4C8E-9D63-A67C610ACF3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During stable oral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practical starting schedule is CBC, renal/electrolyte and hepatic testing every 1-3 months; test sooner after initiation or regimen changes and with symptoms.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Individualize to the drug combination. Long-term linezolid requires more frequent CBC monitoring.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0FBD30E-67C5-48BB-B4B4-DDA2D4416F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A7BD614-50E7-4BDC-8A06-52A4C4CE9E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67582179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6E3DFF-DDB1-45F8-8757-5F86512948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8F6C3288-8B3C-4130-AB48-CD0794BFCD3C}"/>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Every 1-2 months during pulmonary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Sputum AFB cultures; use induction if needed.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Date conversion from the first negative in a sustained series. A single negative sample is insufficient.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8FCFD8D-12A2-4410-BC4B-DE66B26ACC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75AAF27-B0D4-43D4-A070-D95721BB856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213511591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CB43AB-75FA-4C89-8591-98B73BF630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8A427C05-93C2-423E-9E55-9003F5892A8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At clinical milestones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clinical, radiographic and microbiologic findings together to assess response. Repeat imaging when needed to evaluate progression or response; no fixed interim CT schedule is specified here.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CT improvement supports response but does not replace cultures or establish microbiologic cure.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EA4E9D3-F4DA-4EEE-912F-A06CB9925D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FAD3817-DA43-46A3-99AE-AA5DB1E827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204982197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BF3028-3D95-4C1B-BF0C-9432E727D1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graphicFrame>
        <p:nvGraphicFramePr>
          <p:cNvPr id="2" name="">
            <a:extLst xmlns:a="http://schemas.openxmlformats.org/drawingml/2006/main">
              <a:ext uri="{FF2B5EF4-FFF2-40B4-BE49-F238E27FC236}">
                <a16:creationId xmlns:a16="http://schemas.microsoft.com/office/drawing/2014/main" id="{9C4FF5EC-7234-402E-B859-F5875B95DA1C}"/>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After completing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review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BTS guidance recommends sputum cultures every 4-12 weeks for 12 months after treatment completion. Continue clinical assessment and investigate recurrent symptoms.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the result should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Re-identify recurrent isolates and consider new infection as well as relapse.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B5C76AA-C112-4ABA-B2E5-926EE8C992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32D8A52-8CF2-44F0-BEFB-533E7C8ED8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72399277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B47F423-0358-43D2-84BB-6EA696E11A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 symptoms, cultures and toxicity separately</a:t>
            </a:r>
          </a:p>
        </p:txBody>
      </p:sp>
      <p:sp>
        <p:nvSpPr>
          <p:cNvPr id="2" name="paragraph-0">
            <a:extLst xmlns:a="http://schemas.openxmlformats.org/drawingml/2006/main">
              <a:ext uri="{FF2B5EF4-FFF2-40B4-BE49-F238E27FC236}">
                <a16:creationId xmlns:a16="http://schemas.microsoft.com/office/drawing/2014/main" id="{6AD5C720-45BF-46E6-9FB0-9BD65CB26DA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Monitoring intervals are largely expert practice and should be intensified for renal disease, frailty, overlapping toxicities or abnormal results. Culture conversion is commonly defined by three consecutive negative sputum cultures collected at least four weeks apart; use the first negative date in that series. Persistent sputum negativity does not mean bronchiectasis symptoms will disappear.</a:t>
            </a:r>
          </a:p>
        </p:txBody>
      </p:sp>
      <p:sp>
        <p:nvSpPr>
          <p:cNvPr id="3" name="paragraph-1">
            <a:extLst xmlns:a="http://schemas.openxmlformats.org/drawingml/2006/main">
              <a:ext uri="{FF2B5EF4-FFF2-40B4-BE49-F238E27FC236}">
                <a16:creationId xmlns:a16="http://schemas.microsoft.com/office/drawing/2014/main" id="{C2452C45-1BE0-470A-9E62-A1E61C1CED42}"/>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[2] [3]</a:t>
            </a:r>
          </a:p>
        </p:txBody>
      </p:sp>
      <p:sp>
        <p:nvSpPr>
          <p:cNvPr id="4" name="footer">
            <a:extLst xmlns:a="http://schemas.openxmlformats.org/drawingml/2006/main">
              <a:ext uri="{FF2B5EF4-FFF2-40B4-BE49-F238E27FC236}">
                <a16:creationId xmlns:a16="http://schemas.microsoft.com/office/drawing/2014/main" id="{B39F23D6-357C-4BF3-A94C-B711C5B74E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D49E9AC-FF72-4DCE-9A25-896FFC04C2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44120334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E5508C-DC02-428C-9C06-F2A29EAF2E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E17FD70F-6442-4699-82B2-EC6D520D67C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Ethambutol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Blurred vision, reduced color discrimination or central visual change. Renal impairment increases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Assess visual acuity and color discrimination before treatment and periodically during therapy, with frequency individualized to risk. New visual symptoms require holding ethambutol and urgent assessment.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768438C-77CE-4462-B74F-2836EE8E759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231B3FB-5CAF-4595-A9C0-5C5CE75F2D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723239728"/>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84D93A-E6EA-42B3-9903-B8363EB7C8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2098F2B3-0E2F-4276-88B8-F8FCA250D91E}"/>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IV or inhaled amikacin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Tinnitus, hearing loss, imbalance; kidney injury. Inhaled treatment can cause dysphonia, cough, bronchospasm or hemoptysis.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baseline audiometry and repeat during therapy according to risk and symptoms. Published pharmacotherapy guidance suggests considering monthly audiograms during IV amikacin treatment. New tinnitus or imbalance needs prompt assessment even when creatinine is normal.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E9ED814-90BC-48B2-A99E-681C41D1B3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119CAC7-0A6D-437A-90BF-D89660F4E9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4815863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A739D3-E12D-48E3-BF62-6F1F1D033B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D0963383-3943-4CC8-A1CE-15ED4433CD7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Macrolides, clofazimine, moxifloxacin, bedaquiline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QT prolongation, additive interactions and gastrointestinal intolerance. Macrolides can also cause hearing loss; ask about hearing symptoms and use audiometry according to exposure, symptoms and risk.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ECG and K/Mg before combining agents; repeat after initiation or changes, often at about 2 weeks, sooner for high risk or symptoms. Clofazimine and bedaquiline need ongoing monitoring as exposure accumulates.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00DE079-D292-4E4D-A812-3D9BC417B9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1CEC22B-349A-4B35-9366-F0F4BC0C20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31628909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931FE6-4CEF-4B73-8C70-DCBCF004B5F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F406D665-2B5B-4FB7-B1A8-494BC6DB0E5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Rifampin or rifabutin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Hepatic injury, cytopenias and major interactions; rifabutin can cause uveitis.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anticoagulants, ART, transplant immunosuppression and azole antifungals. Anticipate interaction changes when starting and stopping the rifamycin.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B526273-E271-4AA9-81B5-0C8F45C62F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30D8054-5A0A-4BA5-AE71-D55186F7E0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144739601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F1F71E-16FD-431F-9C00-4004C80B237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210311F0-03F7-4845-84C9-C075FAD319B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Cytopenias, peripheral/optic neuropathy, lactic acidosis and serotonergic interactions.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CBC at least weekly initially; assess vision and neuropathy throughout prolonged use. Consider linezolid drug levels to identify excessive exposure and guide dose reduction while preserving regimen activity. Persistent nausea or unexplained acidosis needs assessment, not just an antiemetic.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BDF3605-7656-4E82-A0C9-DB32DB1A9C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5E41C7-9A8C-4232-9644-7E8B9832C9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31839582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F6D2F8-FF23-4FF5-ABED-E356ABC0CF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955861A9-D3B0-484F-80F2-96E612BFB1BA}"/>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Tigecycline or omadacycline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Nausea, poor intake and weight loss; hepatic abnormalities. Tigecycline can cause pancreatitis.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Track weight and intake, not laboratory results alone. Reassess severe abdominal symptoms. Oral omadacycline requires careful fasting and cation separation.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2059BF7-18CC-4640-AA96-E957C31AB0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B5A55C4-BB3A-4010-9335-2A3F0C819A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179841029"/>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4A5050-8B6B-4E54-A0B9-523ECEAA73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graphicFrame>
        <p:nvGraphicFramePr>
          <p:cNvPr id="2" name="">
            <a:extLst xmlns:a="http://schemas.openxmlformats.org/drawingml/2006/main">
              <a:ext uri="{FF2B5EF4-FFF2-40B4-BE49-F238E27FC236}">
                <a16:creationId xmlns:a16="http://schemas.microsoft.com/office/drawing/2014/main" id="{3C0A4874-7A39-4394-93C2-97CE2052D37A}"/>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Cefoxitin or imipenem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Problem to anticipate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Cytopenias, hepatic abnormalities and renal-dose issues; imipenem can cause neurotoxicity.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weekly safety labs and renal dosing; investigate confusion or myoclonus.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23185C6-E925-4145-A181-FA9AE54F3C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4D3F123-B6CA-4497-AC47-9D97FB51C5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03986248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AA53503-36F8-40EA-8AEA-19F5019278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that require prompt assessment</a:t>
            </a:r>
          </a:p>
        </p:txBody>
      </p:sp>
      <p:sp>
        <p:nvSpPr>
          <p:cNvPr id="2" name="paragraph-0">
            <a:extLst xmlns:a="http://schemas.openxmlformats.org/drawingml/2006/main">
              <a:ext uri="{FF2B5EF4-FFF2-40B4-BE49-F238E27FC236}">
                <a16:creationId xmlns:a16="http://schemas.microsoft.com/office/drawing/2014/main" id="{1B65E0C1-AC05-4858-95FC-0B518F2FDE9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leave the patient taking only the easiest drug while stopping the rest. A serious adverse reaction may require a coordinated interruption and reconstruction of the full regimen. Prolonged unplanned monotherapy can sacrifice future treatment options.</a:t>
            </a:r>
          </a:p>
        </p:txBody>
      </p:sp>
      <p:sp>
        <p:nvSpPr>
          <p:cNvPr id="3" name="paragraph-1">
            <a:extLst xmlns:a="http://schemas.openxmlformats.org/drawingml/2006/main">
              <a:ext uri="{FF2B5EF4-FFF2-40B4-BE49-F238E27FC236}">
                <a16:creationId xmlns:a16="http://schemas.microsoft.com/office/drawing/2014/main" id="{F3F4A48D-693F-430F-913C-B03BCD69A65F}"/>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[3] [4]</a:t>
            </a:r>
          </a:p>
        </p:txBody>
      </p:sp>
      <p:sp>
        <p:nvSpPr>
          <p:cNvPr id="4" name="footer">
            <a:extLst xmlns:a="http://schemas.openxmlformats.org/drawingml/2006/main">
              <a:ext uri="{FF2B5EF4-FFF2-40B4-BE49-F238E27FC236}">
                <a16:creationId xmlns:a16="http://schemas.microsoft.com/office/drawing/2014/main" id="{8AB2DD41-5755-4058-8002-3A5C80F040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E1BCC9B-C28A-4A06-8791-56A12090B1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92786612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B8633B-A800-46C4-A3C7-6EFCC24470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sp>
        <p:nvSpPr>
          <p:cNvPr id="2" name="paragraph-0">
            <a:extLst xmlns:a="http://schemas.openxmlformats.org/drawingml/2006/main">
              <a:ext uri="{FF2B5EF4-FFF2-40B4-BE49-F238E27FC236}">
                <a16:creationId xmlns:a16="http://schemas.microsoft.com/office/drawing/2014/main" id="{55F0918B-D7AB-444F-AEE9-22724B08B0D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deep tissue or aspirate for mycobacterial culture and histopathology; superficial swabs are less useful. Send a separate unfixed specimen for culture, not only tissue in formalin. Tell the laboratory about water exposure and suspected species because special growth conditions may be needed. Negative AFB stains do not exclude infection.</a:t>
            </a:r>
          </a:p>
        </p:txBody>
      </p:sp>
      <p:sp>
        <p:nvSpPr>
          <p:cNvPr id="3" name="footer">
            <a:extLst xmlns:a="http://schemas.openxmlformats.org/drawingml/2006/main">
              <a:ext uri="{FF2B5EF4-FFF2-40B4-BE49-F238E27FC236}">
                <a16:creationId xmlns:a16="http://schemas.microsoft.com/office/drawing/2014/main" id="{887B53E9-87BA-4B58-A093-E248DC211C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C89DCC2-A619-47D1-9AD4-9F3DBF16ED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73492244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2D620D-BE49-4E9E-8D9F-72E7D4DA50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EDD02D1C-D2DF-4717-A681-9082EBBECD82}"/>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Postoperative, injection-associated or cosmetic-procedure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rapid growers when nodules, draining sinuses or abscesses persist despite usual antibiotics. Obtain deep specimens and assess retained foreign material.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Drain/debride and remove infected material when feasible. Use species- and susceptibility-directed combination therapy. Significant rapid-grower skin disease commonly needs months of treatment, often around 4-6 months, individualized to depth and source control.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4DE6E1B-3AC0-4CFD-B1A5-EAFF933360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A544814-F6D5-4AAC-975E-2481544C47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247902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360464-E8A7-4482-8417-1004AE074B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EFE18AFC-2B93-4ECA-B63E-A4BC7EA3F77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Aquarium-associated hand lesion or tenosynovitis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Suspect M. marinum; request lower-temperature culture. Assess tendon sheath, joint and bone involvement.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Macrolide + ethambutol is a common approach; deep infection may require rifampin and operative debridement. Continue treatment 1-2 months beyond clinical resolution; deep disease needs longer than a superficial lesion.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3D4D5E7-0E7C-4327-AF32-26997D6EBB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7929C01-B0BB-4896-BC0D-3C84BA0611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72604339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B2C241-BA5C-405E-A006-E27798C072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D9EF37E7-0C87-4B0D-9C1B-00C3191B7303}"/>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Osteomyelitis, septic arthritis or hardware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multiple operative specimens and assess implant involvement. Identify the species before selecting a long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Combine surgery with active drugs; courses often last 6-12 months or longer. This is low-quality, species-dependent evidence, not a universal duration. Hardware retention can limit cure.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AB2CC6E-FF58-438F-BF87-A60216B703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4DD463-4DA4-49E3-A824-C70CB95923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63339190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E66E98-0F6C-4147-BC3C-19148AE6F4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196BD902-9754-4D25-BA8A-9129B422800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Cervical lymphadenitis, especially in children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tissue diagnosis and distinguish TB, malignancy and bacterial adenitis.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Complete excision may be curative for localized NTM lymphadenitis. Involve ENT because facial nerve injury and fistula risk affect the decision; medical treatment is individualized.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287C0CD-33BA-48C3-B5AD-1B900154F4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DD8BF43-5ED8-41E7-9E96-1D38F4BA77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27709599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5F3010-93CD-43AB-BB1A-2A72A33B62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6C93BC3A-37D5-4DCF-A49D-4717E6800D41}"/>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Catheter-associated bloodstream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Rapid growers should not automatically be dismissed as contaminants. Repeat cultures, identify the species and look for metastatic sites if persistent.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Remove the implicated catheter when feasible and use active systemic therapy. Duration depends on species, clearance and complications; do not apply a short routine bacterial line-infection course reflexively.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3334E27-120B-428A-B72A-17831EC052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8091274-23E5-49DC-B1E5-3BF0108D22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123703039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01DDC1A-1AF6-4044-AE9F-3C9EE931EC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graphicFrame>
        <p:nvGraphicFramePr>
          <p:cNvPr id="2" name="">
            <a:extLst xmlns:a="http://schemas.openxmlformats.org/drawingml/2006/main">
              <a:ext uri="{FF2B5EF4-FFF2-40B4-BE49-F238E27FC236}">
                <a16:creationId xmlns:a16="http://schemas.microsoft.com/office/drawing/2014/main" id="{3571AD0C-DB7D-4536-A277-66C3F0ACA7F2}"/>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Disseminated disease or prosthetic cardiovascular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mycobacterial blood cultures and involved-tissue samples. Assess HIV, immunosuppression and organ involvement. Prior cardiac surgery raises concern for M. chimaera.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Specialist combination therapy plus source control where possible. Involve cardiac surgery for infected prosthetic material and infection prevention for a possible healthcare-associated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D67BD8D-BB7B-4F1A-885B-3294B5665B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F6CADDB-40DE-413A-83B8-88DF01079A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59898187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D08E9DA-5A93-46D0-8F83-13F88893CD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Outside the lung, tissue diagnosis and source control become central</a:t>
            </a:r>
          </a:p>
        </p:txBody>
      </p:sp>
      <p:sp>
        <p:nvSpPr>
          <p:cNvPr id="2" name="paragraph-0">
            <a:extLst xmlns:a="http://schemas.openxmlformats.org/drawingml/2006/main">
              <a:ext uri="{FF2B5EF4-FFF2-40B4-BE49-F238E27FC236}">
                <a16:creationId xmlns:a16="http://schemas.microsoft.com/office/drawing/2014/main" id="{C1B86714-2481-4B53-9E8A-98189A48583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advanced HIV, see the disseminated MAC section and prophylaxis section . Disseminated MAC uses a macrolide plus ethambutol, with additional therapy for selected severe disease and prompt ART. Treatment completion depends on clinical response and immune recovery, not the pulmonary sputum-conversion clock.</a:t>
            </a:r>
          </a:p>
        </p:txBody>
      </p:sp>
      <p:sp>
        <p:nvSpPr>
          <p:cNvPr id="3" name="paragraph-1">
            <a:extLst xmlns:a="http://schemas.openxmlformats.org/drawingml/2006/main">
              <a:ext uri="{FF2B5EF4-FFF2-40B4-BE49-F238E27FC236}">
                <a16:creationId xmlns:a16="http://schemas.microsoft.com/office/drawing/2014/main" id="{6DE6DEA0-65CA-4BBB-8ED6-C334C9A653B0}"/>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[8] [9] [13] [11] [12]</a:t>
            </a:r>
          </a:p>
        </p:txBody>
      </p:sp>
      <p:sp>
        <p:nvSpPr>
          <p:cNvPr id="4" name="footer">
            <a:extLst xmlns:a="http://schemas.openxmlformats.org/drawingml/2006/main">
              <a:ext uri="{FF2B5EF4-FFF2-40B4-BE49-F238E27FC236}">
                <a16:creationId xmlns:a16="http://schemas.microsoft.com/office/drawing/2014/main" id="{F4833C4F-7F1B-4643-8E19-CC5BDEE056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8D62A60-52C9-40CD-9EAF-B0D87B44D45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114113186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3326E98-62AC-4F93-B5AC-F6B00DF0AF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One positive MAC culture</a:t>
            </a:r>
          </a:p>
        </p:txBody>
      </p:sp>
      <p:sp>
        <p:nvSpPr>
          <p:cNvPr id="2" name="paragraph-0">
            <a:extLst xmlns:a="http://schemas.openxmlformats.org/drawingml/2006/main">
              <a:ext uri="{FF2B5EF4-FFF2-40B4-BE49-F238E27FC236}">
                <a16:creationId xmlns:a16="http://schemas.microsoft.com/office/drawing/2014/main" id="{8A634256-6B0B-4C19-8B85-F758A00CD4E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mild bronchiectasis has stable weight and CT findings, and MAC in one of three sputum cultures.</a:t>
            </a:r>
          </a:p>
        </p:txBody>
      </p:sp>
      <p:sp>
        <p:nvSpPr>
          <p:cNvPr id="3" name="paragraph-1">
            <a:extLst xmlns:a="http://schemas.openxmlformats.org/drawingml/2006/main">
              <a:ext uri="{FF2B5EF4-FFF2-40B4-BE49-F238E27FC236}">
                <a16:creationId xmlns:a16="http://schemas.microsoft.com/office/drawing/2014/main" id="{B9BCC212-F5CA-4662-BB3D-8857A99AEEB5}"/>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cultures, optimize airway clearance and look for other causes of symptoms. The current evidence does not justify committing to prolonged MAC therapy solely on that result.</a:t>
            </a:r>
          </a:p>
        </p:txBody>
      </p:sp>
      <p:sp>
        <p:nvSpPr>
          <p:cNvPr id="4" name="footer">
            <a:extLst xmlns:a="http://schemas.openxmlformats.org/drawingml/2006/main">
              <a:ext uri="{FF2B5EF4-FFF2-40B4-BE49-F238E27FC236}">
                <a16:creationId xmlns:a16="http://schemas.microsoft.com/office/drawing/2014/main" id="{722E8B00-A23F-44B4-9029-E568347366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63C04A5-E8E3-425C-B003-3AE1746FB1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2134966576"/>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A398934-ED03-41D2-8859-BABF06F2C1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Still culture-positive at month seven</a:t>
            </a:r>
          </a:p>
        </p:txBody>
      </p:sp>
      <p:sp>
        <p:nvSpPr>
          <p:cNvPr id="2" name="paragraph-0">
            <a:extLst xmlns:a="http://schemas.openxmlformats.org/drawingml/2006/main">
              <a:ext uri="{FF2B5EF4-FFF2-40B4-BE49-F238E27FC236}">
                <a16:creationId xmlns:a16="http://schemas.microsoft.com/office/drawing/2014/main" id="{401D5624-ADF2-4E9C-B60A-27399DFC783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taking daily MAC treatment reports missing ethambutol most days because of visual concerns.</a:t>
            </a:r>
          </a:p>
        </p:txBody>
      </p:sp>
      <p:sp>
        <p:nvSpPr>
          <p:cNvPr id="3" name="paragraph-1">
            <a:extLst xmlns:a="http://schemas.openxmlformats.org/drawingml/2006/main">
              <a:ext uri="{FF2B5EF4-FFF2-40B4-BE49-F238E27FC236}">
                <a16:creationId xmlns:a16="http://schemas.microsoft.com/office/drawing/2014/main" id="{3A543601-9F13-4AAD-AFDF-7060C1D3D974}"/>
              </a:ext>
            </a:extLst>
          </p:cNvPr>
          <p:cNvSpPr>
            <a:spLocks xmlns:a="http://schemas.openxmlformats.org/drawingml/2006/main" noGrp="1"/>
          </p:cNvSpPr>
          <p:nvPr/>
        </p:nvSpPr>
        <p:spPr>
          <a:xfrm xmlns:a="http://schemas.openxmlformats.org/drawingml/2006/main">
            <a:off x="647700" y="29146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Address the possible eye toxicity immediately, repeat susceptibility testing and reconstruct the actual regimen. Evaluate ALIS for refractory disease, but adding it does not correct unrecognized toxicity, resistance or poor drug delivery.</a:t>
            </a:r>
          </a:p>
        </p:txBody>
      </p:sp>
      <p:sp>
        <p:nvSpPr>
          <p:cNvPr id="4" name="footer">
            <a:extLst xmlns:a="http://schemas.openxmlformats.org/drawingml/2006/main">
              <a:ext uri="{FF2B5EF4-FFF2-40B4-BE49-F238E27FC236}">
                <a16:creationId xmlns:a16="http://schemas.microsoft.com/office/drawing/2014/main" id="{C7736310-6501-46A3-9FC0-6BD3E908D8A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C73AC05-1CEA-465D-B11F-B95901E666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45673852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0B6411C-AE5B-4E6F-9592-12E9FFFE96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susceptibility result changes</a:t>
            </a:r>
          </a:p>
        </p:txBody>
      </p:sp>
      <p:sp>
        <p:nvSpPr>
          <p:cNvPr id="2" name="paragraph-0">
            <a:extLst xmlns:a="http://schemas.openxmlformats.org/drawingml/2006/main">
              <a:ext uri="{FF2B5EF4-FFF2-40B4-BE49-F238E27FC236}">
                <a16:creationId xmlns:a16="http://schemas.microsoft.com/office/drawing/2014/main" id="{5556255C-4151-448B-B6DE-01C930F4CD9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 abscessus is clarithromycin-susceptible at the early reading and resistant at day 14.</a:t>
            </a:r>
          </a:p>
        </p:txBody>
      </p:sp>
      <p:sp>
        <p:nvSpPr>
          <p:cNvPr id="3" name="paragraph-1">
            <a:extLst xmlns:a="http://schemas.openxmlformats.org/drawingml/2006/main">
              <a:ext uri="{FF2B5EF4-FFF2-40B4-BE49-F238E27FC236}">
                <a16:creationId xmlns:a16="http://schemas.microsoft.com/office/drawing/2014/main" id="{A29B7A0C-D628-4D19-A134-F3D58AC5584A}"/>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inducible resistance. The macrolide cannot be counted as active. Rebuild the active-drug count with expert input before proceeding.</a:t>
            </a:r>
          </a:p>
        </p:txBody>
      </p:sp>
      <p:sp>
        <p:nvSpPr>
          <p:cNvPr id="4" name="paragraph-2">
            <a:extLst xmlns:a="http://schemas.openxmlformats.org/drawingml/2006/main">
              <a:ext uri="{FF2B5EF4-FFF2-40B4-BE49-F238E27FC236}">
                <a16:creationId xmlns:a16="http://schemas.microsoft.com/office/drawing/2014/main" id="{0F2A7C94-5FAC-4F4B-AB4E-BDCE0FF152C4}"/>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a:t>
            </a:r>
          </a:p>
        </p:txBody>
      </p:sp>
      <p:sp>
        <p:nvSpPr>
          <p:cNvPr id="5" name="footer">
            <a:extLst xmlns:a="http://schemas.openxmlformats.org/drawingml/2006/main">
              <a:ext uri="{FF2B5EF4-FFF2-40B4-BE49-F238E27FC236}">
                <a16:creationId xmlns:a16="http://schemas.microsoft.com/office/drawing/2014/main" id="{4E261010-B4E6-434F-A7E8-A523CEC515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61DCE26B-51CB-4C63-BF21-DC0AF803E0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756615176"/>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2436F17-FDBA-4EB3-88EC-291CF96983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teaching</a:t>
            </a:r>
          </a:p>
        </p:txBody>
      </p:sp>
      <p:sp>
        <p:nvSpPr>
          <p:cNvPr id="2" name="paragraph-0">
            <a:extLst xmlns:a="http://schemas.openxmlformats.org/drawingml/2006/main">
              <a:ext uri="{FF2B5EF4-FFF2-40B4-BE49-F238E27FC236}">
                <a16:creationId xmlns:a16="http://schemas.microsoft.com/office/drawing/2014/main" id="{BC7CC572-1E9F-41AD-9A0C-C5A738B8CCC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Resistance, treatment failure, mixed isolates, organ dysfunction, surgery, drug levels and newer evidence.</a:t>
            </a:r>
          </a:p>
        </p:txBody>
      </p:sp>
      <p:sp>
        <p:nvSpPr>
          <p:cNvPr id="3" name="paragraph-1">
            <a:extLst xmlns:a="http://schemas.openxmlformats.org/drawingml/2006/main">
              <a:ext uri="{FF2B5EF4-FFF2-40B4-BE49-F238E27FC236}">
                <a16:creationId xmlns:a16="http://schemas.microsoft.com/office/drawing/2014/main" id="{5C6E3336-3E63-4E5B-A2EA-EB71D90A92EF}"/>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Jump to fellow section</a:t>
            </a:r>
          </a:p>
        </p:txBody>
      </p:sp>
      <p:sp>
        <p:nvSpPr>
          <p:cNvPr id="4" name="footer">
            <a:extLst xmlns:a="http://schemas.openxmlformats.org/drawingml/2006/main">
              <a:ext uri="{FF2B5EF4-FFF2-40B4-BE49-F238E27FC236}">
                <a16:creationId xmlns:a16="http://schemas.microsoft.com/office/drawing/2014/main" id="{1B167F04-09A2-4375-84B5-34B6883B59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535A867-D009-49C4-A0DB-ADEFC82653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4645707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0DF087A-D6E9-4639-9320-F17A316424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Complex disease starts with a reassessment of the diagnosis</a:t>
            </a:r>
          </a:p>
        </p:txBody>
      </p:sp>
      <p:sp>
        <p:nvSpPr>
          <p:cNvPr id="2" name="paragraph-0">
            <a:extLst xmlns:a="http://schemas.openxmlformats.org/drawingml/2006/main">
              <a:ext uri="{FF2B5EF4-FFF2-40B4-BE49-F238E27FC236}">
                <a16:creationId xmlns:a16="http://schemas.microsoft.com/office/drawing/2014/main" id="{ECE424A0-50C1-4149-9366-C163EEB7E37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Optional fellow section</a:t>
            </a:r>
          </a:p>
        </p:txBody>
      </p:sp>
      <p:sp>
        <p:nvSpPr>
          <p:cNvPr id="3" name="paragraph-1">
            <a:extLst xmlns:a="http://schemas.openxmlformats.org/drawingml/2006/main">
              <a:ext uri="{FF2B5EF4-FFF2-40B4-BE49-F238E27FC236}">
                <a16:creationId xmlns:a16="http://schemas.microsoft.com/office/drawing/2014/main" id="{408837F7-92F4-4C89-8661-FDA0A0AFCFC1}"/>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escalating, reconstruct the course from culture dates, species, smear burden, CT changes, actual doses and interruptions. Review absorption, access, interactions and whether the patient is taking the intended regimen.</a:t>
            </a:r>
          </a:p>
        </p:txBody>
      </p:sp>
      <p:sp>
        <p:nvSpPr>
          <p:cNvPr id="4" name="footer">
            <a:extLst xmlns:a="http://schemas.openxmlformats.org/drawingml/2006/main">
              <a:ext uri="{FF2B5EF4-FFF2-40B4-BE49-F238E27FC236}">
                <a16:creationId xmlns:a16="http://schemas.microsoft.com/office/drawing/2014/main" id="{19EA16FF-6309-43DF-A5B9-4B4EEB67AE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72CF902-F6AA-4E6B-9F96-7035801128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2054459050"/>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F9C8F54-C0DF-4B59-A50D-F4DD5AF89A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symptoms are not synonymous with persistent NTM</a:t>
            </a:r>
          </a:p>
        </p:txBody>
      </p:sp>
      <p:sp>
        <p:nvSpPr>
          <p:cNvPr id="2" name="paragraph-0">
            <a:extLst xmlns:a="http://schemas.openxmlformats.org/drawingml/2006/main">
              <a:ext uri="{FF2B5EF4-FFF2-40B4-BE49-F238E27FC236}">
                <a16:creationId xmlns:a16="http://schemas.microsoft.com/office/drawing/2014/main" id="{02A0887C-16A6-49E4-988D-80E66EA2687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bacterial bronchiectasis exacerbation, aspiration, malignancy, drug toxicity and Aspergillus-related disease when suggested by the presentation. Aspergillus isolation or BAL galactomannan alone does not establish chronic pulmonary aspergillosis or ABPA. Use the appropriate clinical, radiographic and immunologic criteria. Rifamycins can make azole treatment ineffective.</a:t>
            </a:r>
          </a:p>
        </p:txBody>
      </p:sp>
      <p:sp>
        <p:nvSpPr>
          <p:cNvPr id="3" name="footer">
            <a:extLst xmlns:a="http://schemas.openxmlformats.org/drawingml/2006/main">
              <a:ext uri="{FF2B5EF4-FFF2-40B4-BE49-F238E27FC236}">
                <a16:creationId xmlns:a16="http://schemas.microsoft.com/office/drawing/2014/main" id="{641E2319-C157-4165-B00B-D420228AE9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5E1911B-E946-4AFF-A1AE-FBF6F10D70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152058681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30346F9-8900-43F2-86AC-166EB4E277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Mixed MAC and M. abscessus cultures</a:t>
            </a:r>
          </a:p>
        </p:txBody>
      </p:sp>
      <p:sp>
        <p:nvSpPr>
          <p:cNvPr id="2" name="paragraph-0">
            <a:extLst xmlns:a="http://schemas.openxmlformats.org/drawingml/2006/main">
              <a:ext uri="{FF2B5EF4-FFF2-40B4-BE49-F238E27FC236}">
                <a16:creationId xmlns:a16="http://schemas.microsoft.com/office/drawing/2014/main" id="{94BF1CFB-114A-492B-AAA4-89EDC10A3B4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Identify each isolate and reassess whether it meets criteria for clinically significant disease. The pulmonary NTM guideline advises surveillance for other NTM species during treatment, particularly when a macrolide is used for immunomodulation in macrolide-resistant M. abscessus disease. Concurrent disease warrants expert consultation.</a:t>
            </a:r>
          </a:p>
        </p:txBody>
      </p:sp>
      <p:sp>
        <p:nvSpPr>
          <p:cNvPr id="3" name="paragraph-1">
            <a:extLst xmlns:a="http://schemas.openxmlformats.org/drawingml/2006/main">
              <a:ext uri="{FF2B5EF4-FFF2-40B4-BE49-F238E27FC236}">
                <a16:creationId xmlns:a16="http://schemas.microsoft.com/office/drawing/2014/main" id="{BDC32A3E-17F2-4748-B577-FC29C3445347}"/>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Macrolide activity must be interpreted for each organism. Do not count a macrolide as active against an inducibly or mutationally resistant M. abscessus isolate.</a:t>
            </a:r>
          </a:p>
        </p:txBody>
      </p:sp>
      <p:sp>
        <p:nvSpPr>
          <p:cNvPr id="4" name="footer">
            <a:extLst xmlns:a="http://schemas.openxmlformats.org/drawingml/2006/main">
              <a:ext uri="{FF2B5EF4-FFF2-40B4-BE49-F238E27FC236}">
                <a16:creationId xmlns:a16="http://schemas.microsoft.com/office/drawing/2014/main" id="{4B22C43E-8F54-47D1-B6A9-2DAD6A6C80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2E97F71-5680-41A3-A6C0-27CEF944A0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120875105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6A81463-A3A3-4277-AC8B-7AF0B4FE1E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Recurrence after apparent cure</a:t>
            </a:r>
          </a:p>
        </p:txBody>
      </p:sp>
      <p:sp>
        <p:nvSpPr>
          <p:cNvPr id="2" name="paragraph-0">
            <a:extLst xmlns:a="http://schemas.openxmlformats.org/drawingml/2006/main">
              <a:ext uri="{FF2B5EF4-FFF2-40B4-BE49-F238E27FC236}">
                <a16:creationId xmlns:a16="http://schemas.microsoft.com/office/drawing/2014/main" id="{5FE8C394-86A6-4F4A-A156-42DE1838D97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Reculture and repeat species identification and relevant susceptibility testing. Reinfection with a new strain is common in structural lung disease; recurrence does not prove nonadherence or inadequate prior duration. Distinguishing same-species relapse from reinfection can require comparison of stored isolates with molecular typing.</a:t>
            </a:r>
          </a:p>
        </p:txBody>
      </p:sp>
      <p:sp>
        <p:nvSpPr>
          <p:cNvPr id="3" name="paragraph-1">
            <a:extLst xmlns:a="http://schemas.openxmlformats.org/drawingml/2006/main">
              <a:ext uri="{FF2B5EF4-FFF2-40B4-BE49-F238E27FC236}">
                <a16:creationId xmlns:a16="http://schemas.microsoft.com/office/drawing/2014/main" id="{C93F5D5F-A483-44D0-952B-D14B34AB54DD}"/>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[2]</a:t>
            </a:r>
          </a:p>
        </p:txBody>
      </p:sp>
      <p:sp>
        <p:nvSpPr>
          <p:cNvPr id="4" name="footer">
            <a:extLst xmlns:a="http://schemas.openxmlformats.org/drawingml/2006/main">
              <a:ext uri="{FF2B5EF4-FFF2-40B4-BE49-F238E27FC236}">
                <a16:creationId xmlns:a16="http://schemas.microsoft.com/office/drawing/2014/main" id="{7AC9DE4F-6FB1-468C-B813-EE2D4FACF4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32A4489-0345-4CF0-8A24-C55740B3A8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156829379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6C5871D-64D9-4AD2-A665-02ABDA88F5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sp>
        <p:nvSpPr>
          <p:cNvPr id="2" name="paragraph-0">
            <a:extLst xmlns:a="http://schemas.openxmlformats.org/drawingml/2006/main">
              <a:ext uri="{FF2B5EF4-FFF2-40B4-BE49-F238E27FC236}">
                <a16:creationId xmlns:a16="http://schemas.microsoft.com/office/drawing/2014/main" id="{F96F9113-414C-4EBA-B3CF-B006FA576ED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Usual adult pulmonary NTM doses are starting points for specialist/pharmacist review, not stand-alone prescriptions. Use current weight and renal function; dialysis, severe hepatic impairment, pregnancy and major interactions require separate review. PO means oral; IV means intravenous. Three-times-weekly MAC dosing is only for the appropriate phenotype, not a general schedule for M. abscessus.</a:t>
            </a:r>
          </a:p>
        </p:txBody>
      </p:sp>
      <p:sp>
        <p:nvSpPr>
          <p:cNvPr id="3" name="footer">
            <a:extLst xmlns:a="http://schemas.openxmlformats.org/drawingml/2006/main">
              <a:ext uri="{FF2B5EF4-FFF2-40B4-BE49-F238E27FC236}">
                <a16:creationId xmlns:a16="http://schemas.microsoft.com/office/drawing/2014/main" id="{6D8ACCBD-C372-48E5-B8EE-E2C576E4B9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686883E-6206-4C2C-8711-81DBEC06CC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37719194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06CF3E-5618-47F0-92F5-95474FF37B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B7AA2A35-1DE3-4A8D-8BCF-3C5C057B55E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Azithromycin,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250-500 mg daily; selected MAC: 500 mg three times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no renal adjustment. Review QT-active combinations and hearing symptoms.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6A2BD63-B334-4C9C-8951-35DBC3CEB7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E68EF79-994A-4132-8B25-6DA1C5480E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6874448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DF1F446-2E2B-406C-BECB-C35B7FB1B9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08DAEC38-574E-4691-8690-9E9F7FF0152A}"/>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Clarithromycin,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500 mg every 12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Alternative to azithromycin; more interactions. Halve dose when CrCl &lt;30 mL/min.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FA9D1E4-081A-44BD-B041-DC2B93E6F2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3BD3BE1-F99D-4B15-BEDE-78FC91535E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473382365"/>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F8EDAB-C31B-432A-8FC7-C76388D3E9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FC34A1D8-3E24-47C3-B659-F15BD53E582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Ethambutol,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15 mg/kg daily; selected MAC: 25 mg/kg three times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With significant renal impairment, extend interval (e.g., 15-25 mg/kg three times weekly) with pharmacy input. Baseline and serial vision assessment.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552DE27-95FD-4BD9-B951-BC61922598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94BBB87-6BFD-4AA7-9B63-3B22D7D1EE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479833288"/>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5C6952-9FE8-4B85-86B4-2EFF259F96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96797C60-D4CA-4308-8F73-0CC976BFFB5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Rifampin,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 mg/kg daily, maximum 600 mg; selected MAC: 600 mg three times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no renal adjustment. Review enzyme-induction interactions and liver tests. Prefer empty stomach if tolerated.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F1B5656-A3EF-42C0-A542-16DCBA6E40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3516329-9570-40BF-B368-8EE6729D106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54752927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1DC6B7-4BFA-419E-8FF2-6BD9E1B301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B919D14A-38D0-4703-9631-F0C7F222830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Rifabutin,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150-300 mg daily; often 150 mg daily with clarithromycin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Dose depends heavily on interacting drugs, especially ART. Reduce 50% for CrCl &lt;30 mL/min. Monitor cytopenias and uveitis.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C037421-9AFD-4D07-9561-5755082123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7AD201B-D9D4-48AA-BDC3-8DA8FE6826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1670373566"/>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25D918-DC9E-4FF9-A150-5DD2D73277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4E9F5007-0479-4EE3-A8AA-0951CBA4426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Clofazimine,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100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Take with food. Monitor QT and gastrointestinal effects; counsel about skin discoloration. Access requires advance planning in the US.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5AD259C-EC7E-458A-A112-1393E95206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4D67C52-80F4-41EC-8088-4833A98721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1203306504"/>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5A529E-1AB9-4550-A6AA-9F338D6FEE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1CB36E1E-5EFF-43FB-91DD-F361C518F1E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Amikacin,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10-15 mg/kg daily OR 15-25 mg/kg per dose three times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Individualize weight scalar, dose and interval with pharmacy. Reduce dose or extend interval for renal dysfunction. Levels, renal/electrolytes and audiometry required; see TDM.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40A105C-80D5-492E-B0F5-D9DC203164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40AC510-A5BD-4E10-82DC-CA76251121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298116306"/>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ECF8B0-95C8-4142-9265-FDF5921B8F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2AF86AC0-9E47-4C9A-BA16-022840CFEB8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Imipenem/cilastatin,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500-1,000 mg (imipenem component) every 8-12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Adjust for renal function; assess seizure/neurotoxicity risk. Select dose and infusion logistics with pharmacy.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BA2E6E9-0424-4FA2-B925-F1A11425B7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407AC2-94F7-4953-BB29-38EED4D846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1312386953"/>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0497B7-ADBC-46B7-A3C2-2C91999E71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9F798045-6A2F-4E59-8201-B543ACAE537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Cefoxitin,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2-4 g every 8-12 hours; maximum 12 g/day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Adjust dose or interval for renal impairment. Monitor CBC and liver tests during prolonged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07E3DAA-614B-4BBA-82EA-7809AEDADFD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14E012E-B28E-434C-9C40-E847F85DD1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484770229"/>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5DB46A-423C-47A9-B372-5027C34408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4696E6E9-B947-46F4-BD6D-8CF485BCFA71}"/>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Tigecycline,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25-50 mg once or twice daily, individualized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Dose escalation/tolerability often determines delivery; once-daily dosing is used by experts. No usual renal adjustment; reduce in severe hepatic dysfunction. Monitor nausea, intake, liver tests and pancreatitis symptoms.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E14F965-F2C3-4801-BD5D-B930FC3558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88513A9-8901-47A2-B079-D385887A08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325480881"/>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D00CBED-34C5-4255-B2AA-71C6E67C4C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1564F06F-32EC-493A-BB34-BBE9D935A57E}"/>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Linezolid, PO or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600 mg once daily; 300 mg daily may be used after exposure/toxicity review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Prolonged NTM treatment commonly uses once-daily dosing. No routine label renal adjustment, but renal dysfunction increases toxicity concern. Consider trough TDM and dose adjustment; monitor CBC and neurologic/visual symptoms.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35039CA-6C12-432F-81AC-3A7CC83FE2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3866908-5FCB-4031-BC33-19B144F413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46074155"/>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4AFDE9-7699-40BD-BC26-EB9FCE78DC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B325FA9C-9266-4F3A-8A40-F0E645AB7F77}"/>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Omadacycline, PO or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Off-label NTM maintenance: 300 mg PO daily or 100 mg IV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usual renal adjustment. Take tablets with water after at least 4 hours fasting; then avoid food/drink other than water for 2 hours and dairy, antacids or multivitamins for 4 hours. Individualize loading with the specialist. Not automatically equivalent to tigecycline.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925504C-A5CD-4F96-B51A-3B2AA04726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0888260-2718-4295-8491-16EAD6114A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882098929"/>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EC1E4A-D9C6-4E9D-A2C2-D33F8B1CB8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EAC30574-8ACC-475C-B076-904A79FD5F0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Amikacin liposome inhalation suspension (ALIS)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590 mg inhaled once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dedicated Lamira system. Established role is add-on for refractory MAC; M. abscessus use is off-label. Respiratory, auditory and renal toxicity monitoring remains necessary.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015D2A2-58CD-4F28-91F9-95E3363F41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1CB9A70-47AD-4CED-B123-73826876EC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828431374"/>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76387C-B682-40D1-957D-1F868D17E6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31B9F7E0-8E03-4BE7-9D7D-4B12CDA93BC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Nebulized parenteral amikacin formulation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250-500 mg inhaled daily in published guidance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Off-label; formulation, nebulizer and dose need specialist/pharmacy planning. Not interchangeable with ALIS and not a substitute for IV therapy in severe initial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64C62A5-37D7-44D8-81C6-A03EEBA7B2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11DAA2E-53DF-4B59-B8AC-9079A1A557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1600102324"/>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664D5C-8DFD-4095-842E-32C544DCEC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6C053524-7A1A-4EFC-884A-04005F19B75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Moxifloxacin, PO or 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400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Selected species/salvage role. No usual renal adjustment. QT review; separate oral dose from polyvalent cations per label.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A3D9059-5424-4200-947D-B91C9EB5E4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1F786B5-AAC5-40B2-8489-0515808EA6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17335518"/>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971473-564F-4499-977D-F8E591638F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graphicFrame>
        <p:nvGraphicFramePr>
          <p:cNvPr id="2" name="">
            <a:extLst xmlns:a="http://schemas.openxmlformats.org/drawingml/2006/main">
              <a:ext uri="{FF2B5EF4-FFF2-40B4-BE49-F238E27FC236}">
                <a16:creationId xmlns:a16="http://schemas.microsoft.com/office/drawing/2014/main" id="{C462FD22-6A06-4BE9-882A-E17507EDA28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Isoniazid, PO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 mg/kg daily, maximum 300 mg, with pyridoxine 25-50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Adjustment or administration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Option in rifampin-susceptible M. kansasii combinations. No usual renal adjustment. Monitor liver injury and neuropathy.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8939003-0788-479A-9F40-057631DBEC3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F2D7892-CD40-4903-8E31-8E7291F0A1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118892318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B33F4AB-D340-49BE-8D3F-8E0E0DFB0F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Adult doses and adjustments</a:t>
            </a:r>
          </a:p>
        </p:txBody>
      </p:sp>
      <p:sp>
        <p:nvSpPr>
          <p:cNvPr id="2" name="paragraph-0">
            <a:extLst xmlns:a="http://schemas.openxmlformats.org/drawingml/2006/main">
              <a:ext uri="{FF2B5EF4-FFF2-40B4-BE49-F238E27FC236}">
                <a16:creationId xmlns:a16="http://schemas.microsoft.com/office/drawing/2014/main" id="{1EBEAF4E-33FF-45F5-AE3C-FCC5500FB1C3}"/>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 core MAC table for a complete daily or three-times-weekly combination. For rifampin-susceptible M. kansasii, use rifampin + ethambutol + either azithromycin or isoniazid at the doses above. Use daily therapy for cavitary disease and for isoniazid-containing regimens. For M. abscessus, apply these doses to the resistance-specific combination examples. Extrapulmonary infection requires site-specific duration and source control; pulmonary schedules should not be copied automatically.</a:t>
            </a:r>
          </a:p>
        </p:txBody>
      </p:sp>
      <p:sp>
        <p:nvSpPr>
          <p:cNvPr id="3" name="paragraph-1">
            <a:extLst xmlns:a="http://schemas.openxmlformats.org/drawingml/2006/main">
              <a:ext uri="{FF2B5EF4-FFF2-40B4-BE49-F238E27FC236}">
                <a16:creationId xmlns:a16="http://schemas.microsoft.com/office/drawing/2014/main" id="{AF7631FA-D969-41D9-980F-38A856AD5C66}"/>
              </a:ext>
            </a:extLst>
          </p:cNvPr>
          <p:cNvSpPr>
            <a:spLocks xmlns:a="http://schemas.openxmlformats.org/drawingml/2006/main" noGrp="1"/>
          </p:cNvSpPr>
          <p:nvPr/>
        </p:nvSpPr>
        <p:spPr>
          <a:xfrm xmlns:a="http://schemas.openxmlformats.org/drawingml/2006/main">
            <a:off x="647700" y="50292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Tables 3 and 5 [3] [4] [23] .</a:t>
            </a:r>
          </a:p>
        </p:txBody>
      </p:sp>
      <p:sp>
        <p:nvSpPr>
          <p:cNvPr id="4" name="footer">
            <a:extLst xmlns:a="http://schemas.openxmlformats.org/drawingml/2006/main">
              <a:ext uri="{FF2B5EF4-FFF2-40B4-BE49-F238E27FC236}">
                <a16:creationId xmlns:a16="http://schemas.microsoft.com/office/drawing/2014/main" id="{7C287CD8-FACD-489F-AB36-3BDB5ADEEA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8E11306-66DE-4AE4-8310-4688FBF128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994793208"/>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E6FC603-1492-4640-AC3C-9C11877C1C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sp>
        <p:nvSpPr>
          <p:cNvPr id="2" name="paragraph-0">
            <a:extLst xmlns:a="http://schemas.openxmlformats.org/drawingml/2006/main">
              <a:ext uri="{FF2B5EF4-FFF2-40B4-BE49-F238E27FC236}">
                <a16:creationId xmlns:a16="http://schemas.microsoft.com/office/drawing/2014/main" id="{2EC28BFD-8FF8-4261-B9E3-53B221C0FC0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Routine TDM is most established for IV aminoglycosides. For oral drugs, consider it when poor response, malabsorption, major interactions or toxicity raises a specific question. A target concentration is not a guarantee of cure.</a:t>
            </a:r>
          </a:p>
        </p:txBody>
      </p:sp>
      <p:sp>
        <p:nvSpPr>
          <p:cNvPr id="3" name="footer">
            <a:extLst xmlns:a="http://schemas.openxmlformats.org/drawingml/2006/main">
              <a:ext uri="{FF2B5EF4-FFF2-40B4-BE49-F238E27FC236}">
                <a16:creationId xmlns:a16="http://schemas.microsoft.com/office/drawing/2014/main" id="{64632AF4-1518-4131-BD48-52EF0B81CC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AABF7B4-AD48-4B22-AB18-E08E34CFA9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1796539180"/>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7A796E-C203-46C6-A01D-B5BDE05C31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55BBDD53-BCB0-472C-967E-D236C11C7509}"/>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IV amikacin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a pharmacy-designed dose, interval and sampling plan. Guideline reference doses are 10-15 mg/kg daily or 15-25 mg/kg three times weekly, adjusted by levels and renal function. Older/frail patients may require lower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ABA3AA9-9E60-4776-8444-22FBBB79BE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9EA5D32-B6A3-4EC7-B896-061DAE8F53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128424325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6BF5A0-DA84-4207-8A30-2C518910D7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0CA1850A-659F-45D0-A78A-9CE3FB0AFE78}"/>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Amikacin concentrations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Reference peak targets differ by schedule: about 35-45 mcg/mL with daily dosing and 65-80 mcg/mL with intermittent dosing. The guideline gives a trough below 5 mcg/mL; many NTM centers target an undetectable trough. Specify which approach is being used.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08AFAAA-0FA8-4D55-A23E-04271BDC34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7674527-1BC4-4573-8288-CC54018631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1395666152"/>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8591BA5-C0BC-4E32-9849-C37D182617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BE216BD1-9C32-438D-9C11-64BDB068D155}"/>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Timing of amikacin levels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Two postinfusion samples, often at approximately 2 and 6 hours after the infusion ends under a defined local protocol, can be used to back-extrapolate Cmax. Record infusion start/end and exact sample times. A late measured concentration is not directly interchangeable with an extrapolated peak.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C58E8C5-DA09-41F6-9B99-9C3F37F002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8606A8-AF90-4875-B5FC-A1314D575A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464731655"/>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036C13-B916-4F71-B3E7-A5A01B3CEB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AB921FC2-40A7-467E-B604-1837EABB95A0}"/>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Long-term 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TDM during prolonged treatment, especially with cytopenias, renal dysfunction, low body weight or other toxicity risk. Collect a true trough immediately before a dose at steady state, with exact dose and sample times. Published NTM pharmacotherapy guidance describes a trough below 2 mcg/mL (2 mg/L) as one approach for prolonged 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A170563-845B-4DFC-BB27-01E02B11C6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5AEEDE3-50A6-4A2E-924D-DA5A097153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609524185"/>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14499F-41FB-4D43-9291-C42F999FF0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C8E73AB6-5DAA-47E5-89B8-D09FEEE0BB52}"/>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Long-term 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2025 TB guideline also uses this safety goal, but it is not a validated NTM efficacy target. Published TB exposure-toxicity data support concern above this range, but do not establish a universal NTM threshold. Repeat after dose changes or changing renal function. Interpret with MIC and companion-drug activity before reducing to 300 mg daily or another individualized schedule.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Continue CBC, vision and neuropathy surveillance even when levels are low. Lowering an elevated level does not establish that toxicity risk has resolved.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C45EB22-CBD2-4801-8AEC-8C78D8B425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3544D38-0F80-4C30-91B6-4E3AA53700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1847282851"/>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F965BB9-8766-423D-8DC6-EBE39D5C70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graphicFrame>
        <p:nvGraphicFramePr>
          <p:cNvPr id="2" name="">
            <a:extLst xmlns:a="http://schemas.openxmlformats.org/drawingml/2006/main">
              <a:ext uri="{FF2B5EF4-FFF2-40B4-BE49-F238E27FC236}">
                <a16:creationId xmlns:a16="http://schemas.microsoft.com/office/drawing/2014/main" id="{D89F68EE-B829-41D0-BD12-4AACEF98CE8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Selected oral-agent TDM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for unexpected failure or absorption/interactions. A low early level may reflect delayed absorption; paired later sampling can help. Coordinate assay availability and interpretation before ordering.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6808201-7F58-47ED-8CD5-878C8A3E71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96C9C95-262A-4EFE-9A45-984DC0A009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501339055"/>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7191523-7E50-47CA-B62D-0751F6D0D4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Drug levels answer specific exposure and toxicity questions</a:t>
            </a:r>
          </a:p>
        </p:txBody>
      </p:sp>
      <p:sp>
        <p:nvSpPr>
          <p:cNvPr id="2" name="paragraph-0">
            <a:extLst xmlns:a="http://schemas.openxmlformats.org/drawingml/2006/main">
              <a:ext uri="{FF2B5EF4-FFF2-40B4-BE49-F238E27FC236}">
                <a16:creationId xmlns:a16="http://schemas.microsoft.com/office/drawing/2014/main" id="{1E4CD1FB-324F-4984-803C-4A29221E5DE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Ethambutol and aminoglycosides need particular attention in renal dysfunction; adjust intervals rather than improvising low daily doses. Rifampin affects anticoagulants, ART and transplant medications. Rifabutin has fewer induction effects but is not interaction-free. QT-active combinations require an individualized ECG and electrolyte plan.</a:t>
            </a:r>
          </a:p>
        </p:txBody>
      </p:sp>
      <p:sp>
        <p:nvSpPr>
          <p:cNvPr id="3" name="paragraph-1">
            <a:extLst xmlns:a="http://schemas.openxmlformats.org/drawingml/2006/main">
              <a:ext uri="{FF2B5EF4-FFF2-40B4-BE49-F238E27FC236}">
                <a16:creationId xmlns:a16="http://schemas.microsoft.com/office/drawing/2014/main" id="{D4FCEC0A-E9F3-4F3C-94EA-AEEFAA535877}"/>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[1] [3]</a:t>
            </a:r>
          </a:p>
        </p:txBody>
      </p:sp>
      <p:sp>
        <p:nvSpPr>
          <p:cNvPr id="4" name="footer">
            <a:extLst xmlns:a="http://schemas.openxmlformats.org/drawingml/2006/main">
              <a:ext uri="{FF2B5EF4-FFF2-40B4-BE49-F238E27FC236}">
                <a16:creationId xmlns:a16="http://schemas.microsoft.com/office/drawing/2014/main" id="{61948D8A-FE52-420B-9F53-49BD29C064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19BE641-4E92-45C0-8637-036A567B6F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1398879808"/>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D03AC7-D85E-4C53-B213-E0E1C4E936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to send drug levels</a:t>
            </a:r>
          </a:p>
        </p:txBody>
      </p:sp>
      <p:sp>
        <p:nvSpPr>
          <p:cNvPr id="2" name="paragraph-0">
            <a:extLst xmlns:a="http://schemas.openxmlformats.org/drawingml/2006/main">
              <a:ext uri="{FF2B5EF4-FFF2-40B4-BE49-F238E27FC236}">
                <a16:creationId xmlns:a16="http://schemas.microsoft.com/office/drawing/2014/main" id="{BFABA49E-63C0-4033-A43E-B8F0CC63C80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the assay is unavailable in-house, arrange a send-out through the local laboratory before collection. The following are verified reference-laboratory options, not confirmation of an institution’s contracted destination or local order code.</a:t>
            </a:r>
          </a:p>
        </p:txBody>
      </p:sp>
      <p:sp>
        <p:nvSpPr>
          <p:cNvPr id="3" name="footer">
            <a:extLst xmlns:a="http://schemas.openxmlformats.org/drawingml/2006/main">
              <a:ext uri="{FF2B5EF4-FFF2-40B4-BE49-F238E27FC236}">
                <a16:creationId xmlns:a16="http://schemas.microsoft.com/office/drawing/2014/main" id="{1EF1BB35-DDC6-47E6-BAD1-0789FA14F1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A58B9CA-D981-4692-9B8D-74C86A475C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47356312"/>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8904DB-D6CB-48E1-B06F-3A9EEFC05C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to send drug levels</a:t>
            </a:r>
          </a:p>
        </p:txBody>
      </p:sp>
      <p:graphicFrame>
        <p:nvGraphicFramePr>
          <p:cNvPr id="2" name="">
            <a:extLst xmlns:a="http://schemas.openxmlformats.org/drawingml/2006/main">
              <a:ext uri="{FF2B5EF4-FFF2-40B4-BE49-F238E27FC236}">
                <a16:creationId xmlns:a16="http://schemas.microsoft.com/office/drawing/2014/main" id="{E11EF9D9-1CEA-4C23-8CC4-7EC56A151367}"/>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National Jewish Health, Advanced Diagnostic Laboratories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Test and ordering resource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Linezolid level: PKLZD; current test instructions . Telephone 800-550-6227.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Collection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Plain red-top serum; preferred 2 mL serum, minimum 0.25 mL. Separate promptly, freeze and ship on dry ice according to current instructions. Listed analytical turnaround 2-3 days excludes transit.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D8725D2-CAC8-4BE5-ABAE-5D1E5F6AE8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5D4587B-6771-4E93-9B98-FDBCFDBA3F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507125662"/>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DC87B8-1685-4826-B8C2-3BFC85C995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to send drug levels</a:t>
            </a:r>
          </a:p>
        </p:txBody>
      </p:sp>
      <p:graphicFrame>
        <p:nvGraphicFramePr>
          <p:cNvPr id="2" name="">
            <a:extLst xmlns:a="http://schemas.openxmlformats.org/drawingml/2006/main">
              <a:ext uri="{FF2B5EF4-FFF2-40B4-BE49-F238E27FC236}">
                <a16:creationId xmlns:a16="http://schemas.microsoft.com/office/drawing/2014/main" id="{17CC37E3-7203-4855-8AC1-15D1A2E0A6D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University of Florida, Infectious Disease Pharmacokinetics Laboratory (IDPL)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Test and ordering resource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Linezolid: LNZL. Current catalog and requisition ; telephone 352-273-6710.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Collection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assay-specific volume and current collection/shipping requirements . The catalog includes other antimycobacterial drug assays.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C096F73-ECEB-4052-9BBE-94DD1658AD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6171441-FBAB-4610-B2E4-1CA0587FE8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239129893"/>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38A4808-0FC8-4370-B2EF-4EB642A81E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to send drug levels</a:t>
            </a:r>
          </a:p>
        </p:txBody>
      </p:sp>
      <p:sp>
        <p:nvSpPr>
          <p:cNvPr id="2" name="paragraph-0">
            <a:extLst xmlns:a="http://schemas.openxmlformats.org/drawingml/2006/main">
              <a:ext uri="{FF2B5EF4-FFF2-40B4-BE49-F238E27FC236}">
                <a16:creationId xmlns:a16="http://schemas.microsoft.com/office/drawing/2014/main" id="{8E4BFCE3-A004-4E12-BFD1-CBAD247EF792}"/>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Specify whether the question is a trough or postdose exposure profile. Include exact dose, dosing interval, last administration time, infusion times if applicable, sample time, renal function and relevant MIC. Avoid gel-separator tubes unless explicitly accepted by the performing laboratory. Do not send an untimed “random” linezolid level and interpret it as a trough. Send-out turnaround does not replace prompt action for suspected serious toxicity.</a:t>
            </a:r>
          </a:p>
        </p:txBody>
      </p:sp>
      <p:sp>
        <p:nvSpPr>
          <p:cNvPr id="3" name="paragraph-1">
            <a:extLst xmlns:a="http://schemas.openxmlformats.org/drawingml/2006/main">
              <a:ext uri="{FF2B5EF4-FFF2-40B4-BE49-F238E27FC236}">
                <a16:creationId xmlns:a16="http://schemas.microsoft.com/office/drawing/2014/main" id="{E1A766F3-7F87-4015-91BA-5B8D1ADD9315}"/>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[24] [20] [21] [22]</a:t>
            </a:r>
          </a:p>
        </p:txBody>
      </p:sp>
      <p:sp>
        <p:nvSpPr>
          <p:cNvPr id="4" name="footer">
            <a:extLst xmlns:a="http://schemas.openxmlformats.org/drawingml/2006/main">
              <a:ext uri="{FF2B5EF4-FFF2-40B4-BE49-F238E27FC236}">
                <a16:creationId xmlns:a16="http://schemas.microsoft.com/office/drawing/2014/main" id="{DC42F5F9-AA1D-4AFA-A38A-54EE0ACBF0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04BBD04-395A-44AD-A29B-8C5986114F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1900297409"/>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A631928-295F-4ED9-BC4B-E245818CC5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Salvage treatment requires evidence and realistic goals</a:t>
            </a:r>
          </a:p>
        </p:txBody>
      </p:sp>
      <p:graphicFrame>
        <p:nvGraphicFramePr>
          <p:cNvPr id="2" name="">
            <a:extLst xmlns:a="http://schemas.openxmlformats.org/drawingml/2006/main">
              <a:ext uri="{FF2B5EF4-FFF2-40B4-BE49-F238E27FC236}">
                <a16:creationId xmlns:a16="http://schemas.microsoft.com/office/drawing/2014/main" id="{71ABBA43-9EFB-4555-B80E-454A9F5F9EA4}"/>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ALIS for refractory MAC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supports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 CONVERT, culture conversion by month six occurred in 29.0% with ALIS plus background therapy versus 8.9% with background therapy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Limit of the evidence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study enrolled refractory MAC, not all new NTM disease. Respiratory adverse effects are frequent. The 2026 FDA label retains the refractory-MAC indication; use in M. abscessus is off-label.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C648E2A-50BA-48A9-A111-9812286388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9554F18-4F27-453B-9713-4B19B1BFAA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649546931"/>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FFF4A7-445C-4812-9A42-4D6E825DC5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Salvage treatment requires evidence and realistic goals</a:t>
            </a:r>
          </a:p>
        </p:txBody>
      </p:sp>
      <p:graphicFrame>
        <p:nvGraphicFramePr>
          <p:cNvPr id="2" name="">
            <a:extLst xmlns:a="http://schemas.openxmlformats.org/drawingml/2006/main">
              <a:ext uri="{FF2B5EF4-FFF2-40B4-BE49-F238E27FC236}">
                <a16:creationId xmlns:a16="http://schemas.microsoft.com/office/drawing/2014/main" id="{A8534BC6-0A1D-4711-8A76-69670DF63639}"/>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Clofazimine replacing rifampin in MAC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supports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small open-label randomized trial enrolled 40 patients. Six-month conversion was 62% with clofazimine and 58% with rifampin, each combined with ethambutol and a macrolide.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Limit of the evidence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Useful support for a selected alternative, not proof of universal interchangeability. Diarrhea, pigmentation, QT effects and access matter. Do not extrapolate pulmonary MAC findings to HIV-associated disseminated MAC.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DE1BB12-7411-4274-8B0D-CA4051724D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B9C46C-BDFD-4EA6-B622-4969F5F282F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961328861"/>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570161-031E-4F77-9FB1-F3CB02AAF9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Salvage treatment requires evidence and realistic goals</a:t>
            </a:r>
          </a:p>
        </p:txBody>
      </p:sp>
      <p:graphicFrame>
        <p:nvGraphicFramePr>
          <p:cNvPr id="2" name="">
            <a:extLst xmlns:a="http://schemas.openxmlformats.org/drawingml/2006/main">
              <a:ext uri="{FF2B5EF4-FFF2-40B4-BE49-F238E27FC236}">
                <a16:creationId xmlns:a16="http://schemas.microsoft.com/office/drawing/2014/main" id="{1EE352F0-452A-49B4-B642-2F3802675721}"/>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Omadacycline for M. abscessus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supports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2026 phase 2 trial randomized 66 adults to 300 mg daily or placebo for 84 days. Symptom-response estimates favored omadacycline; nausea and discontinuation remained relevant.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Limit of the evidence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Short-term monotherapy research does not establish durable cure or justify routine clinical monotherapy. Use as a specialist-selected off-label component when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F03E330-9A89-407C-B2B0-3D70521693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CFC28EF-BFE8-476E-AA16-369A8C2A162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1105179579"/>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89C943F-F46B-4884-8A14-AF548A268F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to consider pulmonary surgery</a:t>
            </a:r>
          </a:p>
        </p:txBody>
      </p:sp>
      <p:sp>
        <p:nvSpPr>
          <p:cNvPr id="2" name="paragraph-0">
            <a:extLst xmlns:a="http://schemas.openxmlformats.org/drawingml/2006/main">
              <a:ext uri="{FF2B5EF4-FFF2-40B4-BE49-F238E27FC236}">
                <a16:creationId xmlns:a16="http://schemas.microsoft.com/office/drawing/2014/main" id="{4AE5C500-3371-4757-84E8-80EA6F2E633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Refer selected patients with localized destructive disease, persistent culture positivity despite an adequate regimen, resistance, substantial hemoptysis or inability to sustain useful medical treatment. Surgery supplements antimicrobial therapy. Assess predicted postoperative reserve, distribution of disease, nutrition, comorbidities and operative expertise.</a:t>
            </a:r>
          </a:p>
        </p:txBody>
      </p:sp>
      <p:sp>
        <p:nvSpPr>
          <p:cNvPr id="3" name="paragraph-1">
            <a:extLst xmlns:a="http://schemas.openxmlformats.org/drawingml/2006/main">
              <a:ext uri="{FF2B5EF4-FFF2-40B4-BE49-F238E27FC236}">
                <a16:creationId xmlns:a16="http://schemas.microsoft.com/office/drawing/2014/main" id="{89D8F65B-2C6B-41AB-B70E-85904992C323}"/>
              </a:ext>
            </a:extLst>
          </p:cNvPr>
          <p:cNvSpPr>
            <a:spLocks xmlns:a="http://schemas.openxmlformats.org/drawingml/2006/main" noGrp="1"/>
          </p:cNvSpPr>
          <p:nvPr/>
        </p:nvSpPr>
        <p:spPr>
          <a:xfrm xmlns:a="http://schemas.openxmlformats.org/drawingml/2006/main">
            <a:off x="647700" y="43243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Balance the potential benefit of resection against operative risk and the distribution of disease. Seek a surgical team experienced in NTM disease.</a:t>
            </a:r>
          </a:p>
        </p:txBody>
      </p:sp>
      <p:sp>
        <p:nvSpPr>
          <p:cNvPr id="4" name="footer">
            <a:extLst xmlns:a="http://schemas.openxmlformats.org/drawingml/2006/main">
              <a:ext uri="{FF2B5EF4-FFF2-40B4-BE49-F238E27FC236}">
                <a16:creationId xmlns:a16="http://schemas.microsoft.com/office/drawing/2014/main" id="{33B09197-6225-4A0D-A155-FAFA7451B5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DE07F59-94B3-4643-9216-B19A553F4A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2054367748"/>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B1037BF-40BC-4E9C-A230-C89074632A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cure is not a realistic near-term endpoint</a:t>
            </a:r>
          </a:p>
        </p:txBody>
      </p:sp>
      <p:sp>
        <p:nvSpPr>
          <p:cNvPr id="2" name="paragraph-0">
            <a:extLst xmlns:a="http://schemas.openxmlformats.org/drawingml/2006/main">
              <a:ext uri="{FF2B5EF4-FFF2-40B4-BE49-F238E27FC236}">
                <a16:creationId xmlns:a16="http://schemas.microsoft.com/office/drawing/2014/main" id="{409AA560-BAE6-4EEC-8402-A4A88672811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multisociety guideline recommends discussing treatment goals, potential benefits, adverse effects and the patient's ability and willingness to undertake therapy. Individualize decisions with expert consultation when an effective regimen cannot be tolerated.</a:t>
            </a:r>
          </a:p>
        </p:txBody>
      </p:sp>
      <p:sp>
        <p:nvSpPr>
          <p:cNvPr id="3" name="paragraph-1">
            <a:extLst xmlns:a="http://schemas.openxmlformats.org/drawingml/2006/main">
              <a:ext uri="{FF2B5EF4-FFF2-40B4-BE49-F238E27FC236}">
                <a16:creationId xmlns:a16="http://schemas.microsoft.com/office/drawing/2014/main" id="{A57D217A-771B-4BDE-8BD6-036F0F79F011}"/>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Associations between culture conversion and survival are subject to confounding. Neither an observational mortality comparison nor a single successful case proves that a particular regimen prolongs survival.</a:t>
            </a:r>
          </a:p>
        </p:txBody>
      </p:sp>
      <p:sp>
        <p:nvSpPr>
          <p:cNvPr id="4" name="paragraph-2">
            <a:extLst xmlns:a="http://schemas.openxmlformats.org/drawingml/2006/main">
              <a:ext uri="{FF2B5EF4-FFF2-40B4-BE49-F238E27FC236}">
                <a16:creationId xmlns:a16="http://schemas.microsoft.com/office/drawing/2014/main" id="{A5674D2D-B560-41F5-AB4B-E81BFC13405B}"/>
              </a:ext>
            </a:extLst>
          </p:cNvPr>
          <p:cNvSpPr>
            <a:spLocks xmlns:a="http://schemas.openxmlformats.org/drawingml/2006/main" noGrp="1"/>
          </p:cNvSpPr>
          <p:nvPr/>
        </p:nvSpPr>
        <p:spPr>
          <a:xfrm xmlns:a="http://schemas.openxmlformats.org/drawingml/2006/main">
            <a:off x="647700" y="49339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[5] [4] [6] [7] [1]</a:t>
            </a:r>
          </a:p>
        </p:txBody>
      </p:sp>
      <p:sp>
        <p:nvSpPr>
          <p:cNvPr id="5" name="footer">
            <a:extLst xmlns:a="http://schemas.openxmlformats.org/drawingml/2006/main">
              <a:ext uri="{FF2B5EF4-FFF2-40B4-BE49-F238E27FC236}">
                <a16:creationId xmlns:a16="http://schemas.microsoft.com/office/drawing/2014/main" id="{4F6A6995-3175-4629-BCC8-3E89A2D2DF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A76398CA-8692-4146-9D1E-E401B7B9EA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13227839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86E1195-CF63-4C3A-862B-BAE0111DC7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NTM rounds reference</a:t>
            </a:r>
          </a:p>
        </p:txBody>
      </p:sp>
      <p:sp>
        <p:nvSpPr>
          <p:cNvPr id="2" name="paragraph-0">
            <a:extLst xmlns:a="http://schemas.openxmlformats.org/drawingml/2006/main">
              <a:ext uri="{FF2B5EF4-FFF2-40B4-BE49-F238E27FC236}">
                <a16:creationId xmlns:a16="http://schemas.microsoft.com/office/drawing/2014/main" id="{73296D1C-A350-4F72-BAF8-963D89B4C22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Symptoms + compatible imaging + microbiology; usually two same-species sputum cultures or one BAL. Exclude TB and mimics.</a:t>
            </a:r>
          </a:p>
        </p:txBody>
      </p:sp>
      <p:sp>
        <p:nvSpPr>
          <p:cNvPr id="3" name="paragraph-1">
            <a:extLst xmlns:a="http://schemas.openxmlformats.org/drawingml/2006/main">
              <a:ext uri="{FF2B5EF4-FFF2-40B4-BE49-F238E27FC236}">
                <a16:creationId xmlns:a16="http://schemas.microsoft.com/office/drawing/2014/main" id="{0BC419D2-A6F7-4799-9848-75CC41773CBB}"/>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Treatment or observation, with explicit goals and follow-up. Cavities, smear positivity and progression favor treatment.</a:t>
            </a:r>
          </a:p>
        </p:txBody>
      </p:sp>
      <p:sp>
        <p:nvSpPr>
          <p:cNvPr id="4" name="paragraph-2">
            <a:extLst xmlns:a="http://schemas.openxmlformats.org/drawingml/2006/main">
              <a:ext uri="{FF2B5EF4-FFF2-40B4-BE49-F238E27FC236}">
                <a16:creationId xmlns:a16="http://schemas.microsoft.com/office/drawing/2014/main" id="{7879762D-6EAC-4979-A8D4-1C5F7E0C7121}"/>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Azithromycin + ethambutol + rifamycin. Intermittent for selected noncavitary disease; daily plus initial IV amikacin for severe disease. At least 12 months after conversion.</a:t>
            </a:r>
          </a:p>
        </p:txBody>
      </p:sp>
      <p:sp>
        <p:nvSpPr>
          <p:cNvPr id="5" name="footer">
            <a:extLst xmlns:a="http://schemas.openxmlformats.org/drawingml/2006/main">
              <a:ext uri="{FF2B5EF4-FFF2-40B4-BE49-F238E27FC236}">
                <a16:creationId xmlns:a16="http://schemas.microsoft.com/office/drawing/2014/main" id="{61DA6E43-C019-462B-A933-7A2E2027DB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62183215-F7CD-4216-B22C-E86454A429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957948808"/>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0BFAC5C-3C10-4B87-B2A3-9E57D81663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NTM rounds reference</a:t>
            </a:r>
          </a:p>
        </p:txBody>
      </p:sp>
      <p:sp>
        <p:nvSpPr>
          <p:cNvPr id="2" name="paragraph-0">
            <a:extLst xmlns:a="http://schemas.openxmlformats.org/drawingml/2006/main">
              <a:ext uri="{FF2B5EF4-FFF2-40B4-BE49-F238E27FC236}">
                <a16:creationId xmlns:a16="http://schemas.microsoft.com/office/drawing/2014/main" id="{CFA74113-B611-4E43-9238-D8F8115EDCF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Subspeciate and clarify inducible/acquired resistance. Count active drugs. Specialist-designed initial and continuation phases.</a:t>
            </a:r>
          </a:p>
        </p:txBody>
      </p:sp>
      <p:sp>
        <p:nvSpPr>
          <p:cNvPr id="3" name="paragraph-1">
            <a:extLst xmlns:a="http://schemas.openxmlformats.org/drawingml/2006/main">
              <a:ext uri="{FF2B5EF4-FFF2-40B4-BE49-F238E27FC236}">
                <a16:creationId xmlns:a16="http://schemas.microsoft.com/office/drawing/2014/main" id="{F50FA3BE-0F91-41FD-B7C9-45DE64FFE386}"/>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Rifampin + ethambutol + isoniazid or macrolide when rifampin-susceptible. At least 12 months total; no pyrazinamide.</a:t>
            </a:r>
          </a:p>
        </p:txBody>
      </p:sp>
      <p:sp>
        <p:nvSpPr>
          <p:cNvPr id="4" name="paragraph-2">
            <a:extLst xmlns:a="http://schemas.openxmlformats.org/drawingml/2006/main">
              <a:ext uri="{FF2B5EF4-FFF2-40B4-BE49-F238E27FC236}">
                <a16:creationId xmlns:a16="http://schemas.microsoft.com/office/drawing/2014/main" id="{FF1E7DCE-91EC-44AF-BEA8-6E516D3DDA5B}"/>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Serial cultures, weight, functional status and adherence. Ask about hearing/balance with ototoxic drugs, vision with ethambutol or linezolid, and neuropathy with linezolid or isoniazid.</a:t>
            </a:r>
          </a:p>
        </p:txBody>
      </p:sp>
      <p:sp>
        <p:nvSpPr>
          <p:cNvPr id="5" name="footer">
            <a:extLst xmlns:a="http://schemas.openxmlformats.org/drawingml/2006/main">
              <a:ext uri="{FF2B5EF4-FFF2-40B4-BE49-F238E27FC236}">
                <a16:creationId xmlns:a16="http://schemas.microsoft.com/office/drawing/2014/main" id="{70201E72-6FA8-4FA0-8CA1-34AF58AAE8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218C70F4-DF34-4673-9613-2CECE3C81E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455553186"/>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9835709-8D2A-43C1-8E5D-AC3F519FC9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NTM rounds reference</a:t>
            </a:r>
          </a:p>
        </p:txBody>
      </p:sp>
      <p:sp>
        <p:nvSpPr>
          <p:cNvPr id="2" name="paragraph-0">
            <a:extLst xmlns:a="http://schemas.openxmlformats.org/drawingml/2006/main">
              <a:ext uri="{FF2B5EF4-FFF2-40B4-BE49-F238E27FC236}">
                <a16:creationId xmlns:a16="http://schemas.microsoft.com/office/drawing/2014/main" id="{7D6B235B-A815-431E-AB15-366928D9ED4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Deep specimens, species identification and source control. Pulmonary diagnostic and duration rules do not automatically apply.</a:t>
            </a:r>
          </a:p>
        </p:txBody>
      </p:sp>
      <p:sp>
        <p:nvSpPr>
          <p:cNvPr id="3" name="paragraph-1">
            <a:extLst xmlns:a="http://schemas.openxmlformats.org/drawingml/2006/main">
              <a:ext uri="{FF2B5EF4-FFF2-40B4-BE49-F238E27FC236}">
                <a16:creationId xmlns:a16="http://schemas.microsoft.com/office/drawing/2014/main" id="{9EB3D5F1-D154-47A5-A4D6-30003D8BDDAE}"/>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Check drug delivery, resistance, coinfection and toxicity before escalating. Refractory MAC may benefit from ALIS; selected localized disease may benefit from surgery.</a:t>
            </a:r>
          </a:p>
        </p:txBody>
      </p:sp>
      <p:sp>
        <p:nvSpPr>
          <p:cNvPr id="4" name="footer">
            <a:extLst xmlns:a="http://schemas.openxmlformats.org/drawingml/2006/main">
              <a:ext uri="{FF2B5EF4-FFF2-40B4-BE49-F238E27FC236}">
                <a16:creationId xmlns:a16="http://schemas.microsoft.com/office/drawing/2014/main" id="{40B798FD-A862-4F15-AC67-12237B59B9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A7B23A87-2C56-4967-AEAB-FAABBB555B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120931850"/>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32D0FE-31EB-480E-868C-E4D8EAA4528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D5E3DDE0-8B70-4F86-8022-3F3DB08645F3}"/>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Adult pulmonary treatment recommendations are principally based on the 2020 multisociety guideline. Extrapulmonary recommendations draw on older guidance and species-specific reports and have less certain treatment durations. Monitoring recommendations are drawn from published guidelines and pharmacotherapy literature; many are based on expert consensus rather than comparative trials. Newer published trial findings are separated from established recommendations. Sources checked October 25, 2026.</a:t>
            </a:r>
          </a:p>
        </p:txBody>
      </p:sp>
      <p:sp>
        <p:nvSpPr>
          <p:cNvPr id="3" name="footer">
            <a:extLst xmlns:a="http://schemas.openxmlformats.org/drawingml/2006/main">
              <a:ext uri="{FF2B5EF4-FFF2-40B4-BE49-F238E27FC236}">
                <a16:creationId xmlns:a16="http://schemas.microsoft.com/office/drawing/2014/main" id="{3ACC7452-6155-42B9-B3E8-E089B1EA31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034A0BE-0246-4D3C-813A-7955A70E73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1739591414"/>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5DAD41-490C-4001-9B69-E012A28AE83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FF90A448-A5EB-4FCE-9351-17159552424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ATS/ERS/ESCMID/IDSA, 2020. Adult pulmonary NTM treatment guideline. Excludes HIV and cystic fibrosis.</a:t>
            </a:r>
          </a:p>
        </p:txBody>
      </p:sp>
      <p:sp>
        <p:nvSpPr>
          <p:cNvPr id="3" name="footer">
            <a:extLst xmlns:a="http://schemas.openxmlformats.org/drawingml/2006/main">
              <a:ext uri="{FF2B5EF4-FFF2-40B4-BE49-F238E27FC236}">
                <a16:creationId xmlns:a16="http://schemas.microsoft.com/office/drawing/2014/main" id="{09E617F0-A793-4715-9D47-7FCF7B3A74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5E38C8C-748F-437D-88EA-1C4EFEE457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202732804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9A0C30-01FA-413A-A294-9ABEE88BCF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F1E31974-84B6-413C-9829-4D81F3BC60A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British Thoracic Society, 2017. NTM pulmonary disease guideline, including response monitoring.</a:t>
            </a:r>
          </a:p>
        </p:txBody>
      </p:sp>
      <p:sp>
        <p:nvSpPr>
          <p:cNvPr id="3" name="footer">
            <a:extLst xmlns:a="http://schemas.openxmlformats.org/drawingml/2006/main">
              <a:ext uri="{FF2B5EF4-FFF2-40B4-BE49-F238E27FC236}">
                <a16:creationId xmlns:a16="http://schemas.microsoft.com/office/drawing/2014/main" id="{9DAA82B3-E99B-4151-8E96-BD6E7C0AD8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BCAC600-10BD-4328-8C31-90B7CE2A6C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980617033"/>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5C77A9-B88B-4897-ADC6-DD8C6DAE70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0A9530C8-A825-494A-BE14-CE8B72F7441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Cimino et al., 2024. Pharmacotherapeutic considerations, dosing, interactions and monitoring.</a:t>
            </a:r>
          </a:p>
        </p:txBody>
      </p:sp>
      <p:sp>
        <p:nvSpPr>
          <p:cNvPr id="3" name="footer">
            <a:extLst xmlns:a="http://schemas.openxmlformats.org/drawingml/2006/main">
              <a:ext uri="{FF2B5EF4-FFF2-40B4-BE49-F238E27FC236}">
                <a16:creationId xmlns:a16="http://schemas.microsoft.com/office/drawing/2014/main" id="{99202915-F710-4F62-AA9A-1A427EFA53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180BF88-AFD0-47E0-A49A-B2527E1BD2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659506123"/>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44609F-EFA0-4DE5-8596-5ACE8436604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20BF3BEA-2FC0-4F02-BDC2-DB7566D7B9D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FDA, 2026. ARIKAYCE prescribing information, indication, dose and safety.</a:t>
            </a:r>
          </a:p>
        </p:txBody>
      </p:sp>
      <p:sp>
        <p:nvSpPr>
          <p:cNvPr id="3" name="footer">
            <a:extLst xmlns:a="http://schemas.openxmlformats.org/drawingml/2006/main">
              <a:ext uri="{FF2B5EF4-FFF2-40B4-BE49-F238E27FC236}">
                <a16:creationId xmlns:a16="http://schemas.microsoft.com/office/drawing/2014/main" id="{63CEA1AF-7B85-4A23-A0F2-2A2080BFBB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FA465BD-B7F6-486F-BF0A-9309286877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223568928"/>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5BD5C6B-BBA8-4A75-9B2F-F63951B04D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CAB67DA3-F022-4CD2-BE3C-DE2C8D71548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Griffith et al., 2018. CONVERT randomized trial in refractory pulmonary MAC.</a:t>
            </a:r>
          </a:p>
        </p:txBody>
      </p:sp>
      <p:sp>
        <p:nvSpPr>
          <p:cNvPr id="3" name="footer">
            <a:extLst xmlns:a="http://schemas.openxmlformats.org/drawingml/2006/main">
              <a:ext uri="{FF2B5EF4-FFF2-40B4-BE49-F238E27FC236}">
                <a16:creationId xmlns:a16="http://schemas.microsoft.com/office/drawing/2014/main" id="{3F4AD0B3-16CB-4B1F-BE9A-506F305E17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EA3C232-08D1-468A-B81E-8F9E647B88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1041579559"/>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180ED7-4B80-441B-BD99-4029B950D7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12C0F02B-1B0C-467E-8ED1-5673D7580E5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Zweijpfenning et al., 2024. Randomized clofazimine versus rifampicin trial in pulmonary MAC.</a:t>
            </a:r>
          </a:p>
        </p:txBody>
      </p:sp>
      <p:sp>
        <p:nvSpPr>
          <p:cNvPr id="3" name="footer">
            <a:extLst xmlns:a="http://schemas.openxmlformats.org/drawingml/2006/main">
              <a:ext uri="{FF2B5EF4-FFF2-40B4-BE49-F238E27FC236}">
                <a16:creationId xmlns:a16="http://schemas.microsoft.com/office/drawing/2014/main" id="{834A27DA-E515-4D6C-8408-62D4F83BBA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636B8CE-6B16-46CE-9250-5203627B78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1923690370"/>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512868-768D-4D9C-B26C-EB618B3A3C0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208C0299-8B58-4A9D-B4A1-3F979468180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Winthrop et al., 2026. Phase 2 randomized omadacycline trial in M. abscessus pulmonary disease.</a:t>
            </a:r>
          </a:p>
        </p:txBody>
      </p:sp>
      <p:sp>
        <p:nvSpPr>
          <p:cNvPr id="3" name="footer">
            <a:extLst xmlns:a="http://schemas.openxmlformats.org/drawingml/2006/main">
              <a:ext uri="{FF2B5EF4-FFF2-40B4-BE49-F238E27FC236}">
                <a16:creationId xmlns:a16="http://schemas.microsoft.com/office/drawing/2014/main" id="{DEACF63D-111B-4B0E-BE9A-91866A637E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F8B0FE6-C531-4FB2-A090-6D4CE4748D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45938500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E52882A-969C-4874-8BB4-AD6FF3EEA3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3802AE40-8225-464F-9794-B9638C386EE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ATS/IDSA, 2007. Extrapulmonary species-specific guidance; older evidence with important limitations.</a:t>
            </a:r>
          </a:p>
        </p:txBody>
      </p:sp>
      <p:sp>
        <p:nvSpPr>
          <p:cNvPr id="3" name="footer">
            <a:extLst xmlns:a="http://schemas.openxmlformats.org/drawingml/2006/main">
              <a:ext uri="{FF2B5EF4-FFF2-40B4-BE49-F238E27FC236}">
                <a16:creationId xmlns:a16="http://schemas.microsoft.com/office/drawing/2014/main" id="{C8875E93-FD87-4308-84C4-9999EB6A93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5736805-4EAF-4F4F-BB5B-13579EC3B7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1752458754"/>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631028-DB41-4FBB-AF63-FC2AE9F9AB1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DAF288DC-7073-43A4-9730-C9FD000FCF4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2022 cohort. Treatment and outcome of culture-confirmed M. marinum disease.</a:t>
            </a:r>
          </a:p>
        </p:txBody>
      </p:sp>
      <p:sp>
        <p:nvSpPr>
          <p:cNvPr id="3" name="footer">
            <a:extLst xmlns:a="http://schemas.openxmlformats.org/drawingml/2006/main">
              <a:ext uri="{FF2B5EF4-FFF2-40B4-BE49-F238E27FC236}">
                <a16:creationId xmlns:a16="http://schemas.microsoft.com/office/drawing/2014/main" id="{B6E85823-60E6-4B54-9340-4099916EDD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D1E5901-18E8-4759-9C6B-2AD82FBC0C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1277165181"/>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0E8168-0216-49F8-BA76-B8879303C4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46F975EF-C241-4B4B-B27F-F97097296D4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Brown-Elliott et al., 2023. Inducible macrolide resistance in M. chelonae due to erm(55).</a:t>
            </a:r>
          </a:p>
        </p:txBody>
      </p:sp>
      <p:sp>
        <p:nvSpPr>
          <p:cNvPr id="3" name="footer">
            <a:extLst xmlns:a="http://schemas.openxmlformats.org/drawingml/2006/main">
              <a:ext uri="{FF2B5EF4-FFF2-40B4-BE49-F238E27FC236}">
                <a16:creationId xmlns:a16="http://schemas.microsoft.com/office/drawing/2014/main" id="{59501B21-D2C9-472C-82DD-A66F98901E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A162E66-9385-4D21-8563-3B74852E42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1550254063"/>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3C1BBB-EC8A-4A86-BB49-F41BA60E8F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F2052909-33DE-4B8A-A4DE-DA874C42D87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NIH. Disseminated MAC in adults and adolescents with HIV, current online guidance.</a:t>
            </a:r>
          </a:p>
        </p:txBody>
      </p:sp>
      <p:sp>
        <p:nvSpPr>
          <p:cNvPr id="3" name="footer">
            <a:extLst xmlns:a="http://schemas.openxmlformats.org/drawingml/2006/main">
              <a:ext uri="{FF2B5EF4-FFF2-40B4-BE49-F238E27FC236}">
                <a16:creationId xmlns:a16="http://schemas.microsoft.com/office/drawing/2014/main" id="{BFAD39F6-751D-4352-BF0C-9B100FA396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A872C63-F4A7-4885-8104-002D3A3DE9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206367227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377B6A2-7FC8-4003-8CDA-38D0B4DD30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1A142754-6C5E-4021-9E17-D270F25EEF9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2016. M. chimaera contamination of heater-cooler devices used in cardiac surgery.</a:t>
            </a:r>
          </a:p>
        </p:txBody>
      </p:sp>
      <p:sp>
        <p:nvSpPr>
          <p:cNvPr id="3" name="footer">
            <a:extLst xmlns:a="http://schemas.openxmlformats.org/drawingml/2006/main">
              <a:ext uri="{FF2B5EF4-FFF2-40B4-BE49-F238E27FC236}">
                <a16:creationId xmlns:a16="http://schemas.microsoft.com/office/drawing/2014/main" id="{5F44DD2B-F7D1-46F2-968B-C7EA344932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C5C70E6-5C62-4850-8A65-B67A4B80F8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1243821785"/>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B6C249F-A1D3-4ED0-AEB5-8DDFB6652C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DC0F5B19-D86E-4397-8DC7-A3ECF83F20C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Clinical overview of NTM, specimen collection, healthcare-associated infection and prevention.</a:t>
            </a:r>
          </a:p>
        </p:txBody>
      </p:sp>
      <p:sp>
        <p:nvSpPr>
          <p:cNvPr id="3" name="footer">
            <a:extLst xmlns:a="http://schemas.openxmlformats.org/drawingml/2006/main">
              <a:ext uri="{FF2B5EF4-FFF2-40B4-BE49-F238E27FC236}">
                <a16:creationId xmlns:a16="http://schemas.microsoft.com/office/drawing/2014/main" id="{EF9F36BF-CEC6-4995-A4EA-64E9BB36D1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F441046-8B0B-4ECD-9E48-9BDFCB06C9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1956076426"/>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239B35-B85D-447A-8101-F0D52AF33D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8CF42BEC-530C-4C21-AFA4-6FBC70BE9A2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Cystic Fibrosis Foundation / European Cystic Fibrosis Society. NTM clinical care recommendations.</a:t>
            </a:r>
          </a:p>
        </p:txBody>
      </p:sp>
      <p:sp>
        <p:nvSpPr>
          <p:cNvPr id="3" name="footer">
            <a:extLst xmlns:a="http://schemas.openxmlformats.org/drawingml/2006/main">
              <a:ext uri="{FF2B5EF4-FFF2-40B4-BE49-F238E27FC236}">
                <a16:creationId xmlns:a16="http://schemas.microsoft.com/office/drawing/2014/main" id="{F7EA1833-E2F5-4399-8968-45CE1E59A7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7DCC634-00C9-4569-8D0E-B9B36484747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2019660684"/>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CDB640-B52E-40D1-9736-DDB719B2CD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D6C3B2D7-CB05-4D43-883F-20A3CF0B2AE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2019. Clinical relevance of NTM isolated from respiratory specimens, seven-year UK hospital cohort.</a:t>
            </a:r>
          </a:p>
        </p:txBody>
      </p:sp>
      <p:sp>
        <p:nvSpPr>
          <p:cNvPr id="3" name="footer">
            <a:extLst xmlns:a="http://schemas.openxmlformats.org/drawingml/2006/main">
              <a:ext uri="{FF2B5EF4-FFF2-40B4-BE49-F238E27FC236}">
                <a16:creationId xmlns:a16="http://schemas.microsoft.com/office/drawing/2014/main" id="{D710EA0F-1BFD-438A-9E39-99EEAE574FD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8DA81D6-BBC7-4968-8DE2-8766206D65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1037079393"/>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F231EB-0245-4BED-8CBA-7D934038B5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844C0E23-0BB2-40E3-8D7B-BE8C7992D32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Environmental infection control, water-associated NTM and pseudo-outbreaks.</a:t>
            </a:r>
          </a:p>
        </p:txBody>
      </p:sp>
      <p:sp>
        <p:nvSpPr>
          <p:cNvPr id="3" name="footer">
            <a:extLst xmlns:a="http://schemas.openxmlformats.org/drawingml/2006/main">
              <a:ext uri="{FF2B5EF4-FFF2-40B4-BE49-F238E27FC236}">
                <a16:creationId xmlns:a16="http://schemas.microsoft.com/office/drawing/2014/main" id="{3FB5FD10-CCF4-44A9-88C5-1C82F1CCA0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2A394DD-B261-46D4-A45C-D7BB6EC0E9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579830478"/>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80ACB1-726D-4A7B-ACA7-B6E21A8A7A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54C994B2-880F-4AB7-A3C5-251E03C571A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2016. Bronchoscopy-associated M. gordonae pseudo-outbreak investigation.</a:t>
            </a:r>
          </a:p>
        </p:txBody>
      </p:sp>
      <p:sp>
        <p:nvSpPr>
          <p:cNvPr id="3" name="footer">
            <a:extLst xmlns:a="http://schemas.openxmlformats.org/drawingml/2006/main">
              <a:ext uri="{FF2B5EF4-FFF2-40B4-BE49-F238E27FC236}">
                <a16:creationId xmlns:a16="http://schemas.microsoft.com/office/drawing/2014/main" id="{3E59C64C-0304-4A59-8A06-7A93721385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D80E977-771A-49C1-9E57-8A839204D4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77721225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085C32-B1D0-46B5-8D25-3C01A5A56D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4C7C13FB-A365-44EA-B09D-B1B25A89830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Miwa et al., 2014. Preliminary randomized two- versus three-drug pulmonary MAC study.</a:t>
            </a:r>
          </a:p>
        </p:txBody>
      </p:sp>
      <p:sp>
        <p:nvSpPr>
          <p:cNvPr id="3" name="footer">
            <a:extLst xmlns:a="http://schemas.openxmlformats.org/drawingml/2006/main">
              <a:ext uri="{FF2B5EF4-FFF2-40B4-BE49-F238E27FC236}">
                <a16:creationId xmlns:a16="http://schemas.microsoft.com/office/drawing/2014/main" id="{3FA66C90-3917-4EFC-B9A7-56DE4C797F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5CFE760-A5FE-4AB2-B031-10FF58CF9A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49283612"/>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6C6567-A09D-4CDC-A984-906DA88480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A76FF5CA-8C53-4A9E-9C60-4A94CF2B66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 et al., 2025. Outcomes with macrolide plus ethambutol in pulmonary MAC; uncontrolled cohort.</a:t>
            </a:r>
          </a:p>
        </p:txBody>
      </p:sp>
      <p:sp>
        <p:nvSpPr>
          <p:cNvPr id="3" name="footer">
            <a:extLst xmlns:a="http://schemas.openxmlformats.org/drawingml/2006/main">
              <a:ext uri="{FF2B5EF4-FFF2-40B4-BE49-F238E27FC236}">
                <a16:creationId xmlns:a16="http://schemas.microsoft.com/office/drawing/2014/main" id="{55DCCBCE-1A96-4F83-A20B-B1D525B8A8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93B4807-879C-47CC-AD1F-6A6B226D56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79470336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A97E8A-D5A1-4573-9F6F-56A3C5238D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93F3B4DB-AD39-4961-8EE6-676ECE662AF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2023. Linezolid trough exposure and severe toxicity in multidrug-resistant tuberculosis; extrapolation to NTM requires caution.</a:t>
            </a:r>
          </a:p>
        </p:txBody>
      </p:sp>
      <p:sp>
        <p:nvSpPr>
          <p:cNvPr id="3" name="footer">
            <a:extLst xmlns:a="http://schemas.openxmlformats.org/drawingml/2006/main">
              <a:ext uri="{FF2B5EF4-FFF2-40B4-BE49-F238E27FC236}">
                <a16:creationId xmlns:a16="http://schemas.microsoft.com/office/drawing/2014/main" id="{1C4D9D0E-E286-4FB0-AFEB-E15A7DC017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A087584-CA7C-40F4-9E02-39BC4FADDF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1013199139"/>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34D16D-9E50-40E4-81FB-0B721DD410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7F657066-62F7-401C-88BF-9273DB33A90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National Jewish Health. Linezolid level PKLZD, public test directory.</a:t>
            </a:r>
          </a:p>
        </p:txBody>
      </p:sp>
      <p:sp>
        <p:nvSpPr>
          <p:cNvPr id="3" name="footer">
            <a:extLst xmlns:a="http://schemas.openxmlformats.org/drawingml/2006/main">
              <a:ext uri="{FF2B5EF4-FFF2-40B4-BE49-F238E27FC236}">
                <a16:creationId xmlns:a16="http://schemas.microsoft.com/office/drawing/2014/main" id="{16A11E8D-0B07-47D7-89A7-3718D162D1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AC4050E-C8EB-4B9A-88F7-1A277EABAD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1912841665"/>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517211-B86F-4D00-BDA1-90DEE23FCCF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4B3FD49B-3B09-437E-A197-99AEFDEDBE3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University of Florida IDPL. Current test catalog and requisition resources.</a:t>
            </a:r>
          </a:p>
        </p:txBody>
      </p:sp>
      <p:sp>
        <p:nvSpPr>
          <p:cNvPr id="3" name="footer">
            <a:extLst xmlns:a="http://schemas.openxmlformats.org/drawingml/2006/main">
              <a:ext uri="{FF2B5EF4-FFF2-40B4-BE49-F238E27FC236}">
                <a16:creationId xmlns:a16="http://schemas.microsoft.com/office/drawing/2014/main" id="{13F38C03-EE01-4C4F-A860-279E77DF39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3A38690-8153-468D-89D7-1970B6DB73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1789488200"/>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300A50-83CF-42AD-B5C7-A8227A80B3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CE739AAE-D1A1-46B6-A812-A56F0A313CB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NUZYRA prescribing information, revised May 2026. Oral administration and dosing.</a:t>
            </a:r>
          </a:p>
        </p:txBody>
      </p:sp>
      <p:sp>
        <p:nvSpPr>
          <p:cNvPr id="3" name="footer">
            <a:extLst xmlns:a="http://schemas.openxmlformats.org/drawingml/2006/main">
              <a:ext uri="{FF2B5EF4-FFF2-40B4-BE49-F238E27FC236}">
                <a16:creationId xmlns:a16="http://schemas.microsoft.com/office/drawing/2014/main" id="{EEEB5C68-CD6D-4F47-B9F9-A38260C6FEA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FE53E8D-8F0C-4BB3-8273-0A7830DD6E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11320805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756D72-A08A-4ADC-9673-4F4331E6BD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limits</a:t>
            </a:r>
          </a:p>
        </p:txBody>
      </p:sp>
      <p:sp>
        <p:nvSpPr>
          <p:cNvPr id="2" name="paragraph-0">
            <a:extLst xmlns:a="http://schemas.openxmlformats.org/drawingml/2006/main">
              <a:ext uri="{FF2B5EF4-FFF2-40B4-BE49-F238E27FC236}">
                <a16:creationId xmlns:a16="http://schemas.microsoft.com/office/drawing/2014/main" id="{212952FA-F84D-465C-8EDC-481BFCBEA62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ATS/CDC/ERS/IDSA, 2025. TB treatment update, including linezolid TDM safety guidance; not an NTM efficacy target.</a:t>
            </a:r>
          </a:p>
        </p:txBody>
      </p:sp>
      <p:sp>
        <p:nvSpPr>
          <p:cNvPr id="3" name="footer">
            <a:extLst xmlns:a="http://schemas.openxmlformats.org/drawingml/2006/main">
              <a:ext uri="{FF2B5EF4-FFF2-40B4-BE49-F238E27FC236}">
                <a16:creationId xmlns:a16="http://schemas.microsoft.com/office/drawing/2014/main" id="{B4008F9C-764C-432B-BE80-623825D5F8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B2E5458-CF87-4C92-B741-64F8C1E8A6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16496493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2026-10-28T18:29:15.5500000Z</dcterms:created>
  <dcterms:modified xsi:type="dcterms:W3CDTF">2026-10-28T18:29:15.5500000Z</dcterms:modified>
</coreProperties>
</file>