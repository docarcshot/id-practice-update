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7.xml" ContentType="application/vnd.openxmlformats-officedocument.presentationml.slide+xml"/>
  <Override PartName="/ppt/notesSlides/notesSlide157.xml" ContentType="application/vnd.openxmlformats-officedocument.presentationml.notesSlide+xml"/>
  <Override PartName="/ppt/slides/slide158.xml" ContentType="application/vnd.openxmlformats-officedocument.presentationml.slide+xml"/>
  <Override PartName="/ppt/notesSlides/notesSlide158.xml" ContentType="application/vnd.openxmlformats-officedocument.presentationml.notesSlide+xml"/>
  <Override PartName="/ppt/slides/slide159.xml" ContentType="application/vnd.openxmlformats-officedocument.presentationml.slide+xml"/>
  <Override PartName="/ppt/notesSlides/notesSlide159.xml" ContentType="application/vnd.openxmlformats-officedocument.presentationml.notesSlide+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Override PartName="/ppt/slides/slide163.xml" ContentType="application/vnd.openxmlformats-officedocument.presentationml.slide+xml"/>
  <Override PartName="/ppt/notesSlides/notesSlide163.xml" ContentType="application/vnd.openxmlformats-officedocument.presentationml.notesSlide+xml"/>
  <Override PartName="/ppt/slides/slide164.xml" ContentType="application/vnd.openxmlformats-officedocument.presentationml.slide+xml"/>
  <Override PartName="/ppt/notesSlides/notesSlide164.xml" ContentType="application/vnd.openxmlformats-officedocument.presentationml.notesSlide+xml"/>
  <Override PartName="/ppt/slides/slide165.xml" ContentType="application/vnd.openxmlformats-officedocument.presentationml.slide+xml"/>
  <Override PartName="/ppt/notesSlides/notesSlide165.xml" ContentType="application/vnd.openxmlformats-officedocument.presentationml.notesSlide+xml"/>
  <Override PartName="/ppt/slides/slide166.xml" ContentType="application/vnd.openxmlformats-officedocument.presentationml.slide+xml"/>
  <Override PartName="/ppt/notesSlides/notesSlide166.xml" ContentType="application/vnd.openxmlformats-officedocument.presentationml.notesSlide+xml"/>
  <Override PartName="/ppt/slides/slide167.xml" ContentType="application/vnd.openxmlformats-officedocument.presentationml.slide+xml"/>
  <Override PartName="/ppt/notesSlides/notesSlide167.xml" ContentType="application/vnd.openxmlformats-officedocument.presentationml.notesSlide+xml"/>
  <Override PartName="/ppt/slides/slide168.xml" ContentType="application/vnd.openxmlformats-officedocument.presentationml.slide+xml"/>
  <Override PartName="/ppt/notesSlides/notesSlide168.xml" ContentType="application/vnd.openxmlformats-officedocument.presentationml.notesSlide+xml"/>
  <Override PartName="/ppt/slides/slide169.xml" ContentType="application/vnd.openxmlformats-officedocument.presentationml.slide+xml"/>
  <Override PartName="/ppt/notesSlides/notesSlide169.xml" ContentType="application/vnd.openxmlformats-officedocument.presentationml.notesSlide+xml"/>
  <Override PartName="/ppt/slides/slide170.xml" ContentType="application/vnd.openxmlformats-officedocument.presentationml.slide+xml"/>
  <Override PartName="/ppt/notesSlides/notesSlide170.xml" ContentType="application/vnd.openxmlformats-officedocument.presentationml.notesSlide+xml"/>
  <Override PartName="/ppt/slides/slide171.xml" ContentType="application/vnd.openxmlformats-officedocument.presentationml.slide+xml"/>
  <Override PartName="/ppt/notesSlides/notesSlide171.xml" ContentType="application/vnd.openxmlformats-officedocument.presentationml.notesSlide+xml"/>
  <Override PartName="/ppt/slides/slide172.xml" ContentType="application/vnd.openxmlformats-officedocument.presentationml.slide+xml"/>
  <Override PartName="/ppt/notesSlides/notesSlide172.xml" ContentType="application/vnd.openxmlformats-officedocument.presentationml.notesSlide+xml"/>
  <Override PartName="/ppt/slides/slide173.xml" ContentType="application/vnd.openxmlformats-officedocument.presentationml.slide+xml"/>
  <Override PartName="/ppt/notesSlides/notesSlide173.xml" ContentType="application/vnd.openxmlformats-officedocument.presentationml.notesSlide+xml"/>
  <Override PartName="/ppt/slides/slide174.xml" ContentType="application/vnd.openxmlformats-officedocument.presentationml.slide+xml"/>
  <Override PartName="/ppt/notesSlides/notesSlide174.xml" ContentType="application/vnd.openxmlformats-officedocument.presentationml.notesSlide+xml"/>
  <Override PartName="/ppt/slides/slide175.xml" ContentType="application/vnd.openxmlformats-officedocument.presentationml.slide+xml"/>
  <Override PartName="/ppt/notesSlides/notesSlide175.xml" ContentType="application/vnd.openxmlformats-officedocument.presentationml.notesSlide+xml"/>
  <Override PartName="/ppt/slides/slide176.xml" ContentType="application/vnd.openxmlformats-officedocument.presentationml.slide+xml"/>
  <Override PartName="/ppt/notesSlides/notesSlide176.xml" ContentType="application/vnd.openxmlformats-officedocument.presentationml.notesSlide+xml"/>
  <Override PartName="/ppt/slides/slide177.xml" ContentType="application/vnd.openxmlformats-officedocument.presentationml.slide+xml"/>
  <Override PartName="/ppt/notesSlides/notesSlide177.xml" ContentType="application/vnd.openxmlformats-officedocument.presentationml.notesSlide+xml"/>
  <Override PartName="/ppt/slides/slide178.xml" ContentType="application/vnd.openxmlformats-officedocument.presentationml.slide+xml"/>
  <Override PartName="/ppt/notesSlides/notesSlide178.xml" ContentType="application/vnd.openxmlformats-officedocument.presentationml.notesSlide+xml"/>
  <Override PartName="/ppt/slides/slide179.xml" ContentType="application/vnd.openxmlformats-officedocument.presentationml.slide+xml"/>
  <Override PartName="/ppt/notesSlides/notesSlide179.xml" ContentType="application/vnd.openxmlformats-officedocument.presentationml.notesSlide+xml"/>
  <Override PartName="/ppt/slides/slide180.xml" ContentType="application/vnd.openxmlformats-officedocument.presentationml.slide+xml"/>
  <Override PartName="/ppt/notesSlides/notesSlide180.xml" ContentType="application/vnd.openxmlformats-officedocument.presentationml.notesSlide+xml"/>
  <Override PartName="/ppt/slides/slide181.xml" ContentType="application/vnd.openxmlformats-officedocument.presentationml.slide+xml"/>
  <Override PartName="/ppt/notesSlides/notesSlide181.xml" ContentType="application/vnd.openxmlformats-officedocument.presentationml.notesSlide+xml"/>
  <Override PartName="/ppt/slides/slide182.xml" ContentType="application/vnd.openxmlformats-officedocument.presentationml.slide+xml"/>
  <Override PartName="/ppt/notesSlides/notesSlide182.xml" ContentType="application/vnd.openxmlformats-officedocument.presentationml.notesSlide+xml"/>
  <Override PartName="/ppt/slides/slide183.xml" ContentType="application/vnd.openxmlformats-officedocument.presentationml.slide+xml"/>
  <Override PartName="/ppt/notesSlides/notesSlide183.xml" ContentType="application/vnd.openxmlformats-officedocument.presentationml.notesSlide+xml"/>
  <Override PartName="/ppt/slides/slide184.xml" ContentType="application/vnd.openxmlformats-officedocument.presentationml.slide+xml"/>
  <Override PartName="/ppt/notesSlides/notesSlide184.xml" ContentType="application/vnd.openxmlformats-officedocument.presentationml.notesSlide+xml"/>
  <Override PartName="/ppt/slides/slide185.xml" ContentType="application/vnd.openxmlformats-officedocument.presentationml.slide+xml"/>
  <Override PartName="/ppt/notesSlides/notesSlide185.xml" ContentType="application/vnd.openxmlformats-officedocument.presentationml.notesSlide+xml"/>
  <Override PartName="/ppt/slides/slide186.xml" ContentType="application/vnd.openxmlformats-officedocument.presentationml.slide+xml"/>
  <Override PartName="/ppt/notesSlides/notesSlide186.xml" ContentType="application/vnd.openxmlformats-officedocument.presentationml.notesSlide+xml"/>
  <Override PartName="/ppt/slides/slide187.xml" ContentType="application/vnd.openxmlformats-officedocument.presentationml.slide+xml"/>
  <Override PartName="/ppt/notesSlides/notesSlide187.xml" ContentType="application/vnd.openxmlformats-officedocument.presentationml.notesSlide+xml"/>
  <Override PartName="/ppt/slides/slide188.xml" ContentType="application/vnd.openxmlformats-officedocument.presentationml.slide+xml"/>
  <Override PartName="/ppt/notesSlides/notesSlide188.xml" ContentType="application/vnd.openxmlformats-officedocument.presentationml.notesSlide+xml"/>
  <Override PartName="/ppt/slides/slide189.xml" ContentType="application/vnd.openxmlformats-officedocument.presentationml.slide+xml"/>
  <Override PartName="/ppt/notesSlides/notesSlide189.xml" ContentType="application/vnd.openxmlformats-officedocument.presentationml.notesSlide+xml"/>
  <Override PartName="/ppt/slides/slide190.xml" ContentType="application/vnd.openxmlformats-officedocument.presentationml.slide+xml"/>
  <Override PartName="/ppt/notesSlides/notesSlide190.xml" ContentType="application/vnd.openxmlformats-officedocument.presentationml.notesSlide+xml"/>
  <Override PartName="/ppt/slides/slide191.xml" ContentType="application/vnd.openxmlformats-officedocument.presentationml.slide+xml"/>
  <Override PartName="/ppt/notesSlides/notesSlide191.xml" ContentType="application/vnd.openxmlformats-officedocument.presentationml.notesSlide+xml"/>
  <Override PartName="/ppt/slides/slide192.xml" ContentType="application/vnd.openxmlformats-officedocument.presentationml.slide+xml"/>
  <Override PartName="/ppt/notesSlides/notesSlide192.xml" ContentType="application/vnd.openxmlformats-officedocument.presentationml.notesSlide+xml"/>
  <Override PartName="/ppt/slides/slide193.xml" ContentType="application/vnd.openxmlformats-officedocument.presentationml.slide+xml"/>
  <Override PartName="/ppt/notesSlides/notesSlide193.xml" ContentType="application/vnd.openxmlformats-officedocument.presentationml.notesSlide+xml"/>
  <Override PartName="/ppt/slides/slide194.xml" ContentType="application/vnd.openxmlformats-officedocument.presentationml.slide+xml"/>
  <Override PartName="/ppt/notesSlides/notesSlide194.xml" ContentType="application/vnd.openxmlformats-officedocument.presentationml.notesSlide+xml"/>
  <Override PartName="/ppt/slides/slide195.xml" ContentType="application/vnd.openxmlformats-officedocument.presentationml.slide+xml"/>
  <Override PartName="/ppt/notesSlides/notesSlide195.xml" ContentType="application/vnd.openxmlformats-officedocument.presentationml.notesSlide+xml"/>
  <Override PartName="/ppt/slides/slide196.xml" ContentType="application/vnd.openxmlformats-officedocument.presentationml.slide+xml"/>
  <Override PartName="/ppt/notesSlides/notesSlide196.xml" ContentType="application/vnd.openxmlformats-officedocument.presentationml.notesSlide+xml"/>
  <Override PartName="/ppt/slides/slide197.xml" ContentType="application/vnd.openxmlformats-officedocument.presentationml.slide+xml"/>
  <Override PartName="/ppt/notesSlides/notesSlide197.xml" ContentType="application/vnd.openxmlformats-officedocument.presentationml.notesSlide+xml"/>
  <Override PartName="/ppt/slides/slide198.xml" ContentType="application/vnd.openxmlformats-officedocument.presentationml.slide+xml"/>
  <Override PartName="/ppt/notesSlides/notesSlide198.xml" ContentType="application/vnd.openxmlformats-officedocument.presentationml.notesSlide+xml"/>
  <Override PartName="/ppt/slides/slide199.xml" ContentType="application/vnd.openxmlformats-officedocument.presentationml.slide+xml"/>
  <Override PartName="/ppt/notesSlides/notesSlide199.xml" ContentType="application/vnd.openxmlformats-officedocument.presentationml.notesSlide+xml"/>
  <Override PartName="/ppt/slides/slide200.xml" ContentType="application/vnd.openxmlformats-officedocument.presentationml.slide+xml"/>
  <Override PartName="/ppt/notesSlides/notesSlide200.xml" ContentType="application/vnd.openxmlformats-officedocument.presentationml.notesSlide+xml"/>
  <Override PartName="/ppt/slides/slide201.xml" ContentType="application/vnd.openxmlformats-officedocument.presentationml.slide+xml"/>
  <Override PartName="/ppt/notesSlides/notesSlide201.xml" ContentType="application/vnd.openxmlformats-officedocument.presentationml.notesSlide+xml"/>
  <Override PartName="/ppt/slides/slide202.xml" ContentType="application/vnd.openxmlformats-officedocument.presentationml.slide+xml"/>
  <Override PartName="/ppt/notesSlides/notesSlide202.xml" ContentType="application/vnd.openxmlformats-officedocument.presentationml.notesSlide+xml"/>
  <Override PartName="/ppt/slides/slide203.xml" ContentType="application/vnd.openxmlformats-officedocument.presentationml.slide+xml"/>
  <Override PartName="/ppt/notesSlides/notesSlide203.xml" ContentType="application/vnd.openxmlformats-officedocument.presentationml.notesSlide+xml"/>
  <Override PartName="/ppt/slides/slide204.xml" ContentType="application/vnd.openxmlformats-officedocument.presentationml.slide+xml"/>
  <Override PartName="/ppt/notesSlides/notesSlide204.xml" ContentType="application/vnd.openxmlformats-officedocument.presentationml.notesSlide+xml"/>
  <Override PartName="/ppt/slides/slide205.xml" ContentType="application/vnd.openxmlformats-officedocument.presentationml.slide+xml"/>
  <Override PartName="/ppt/notesSlides/notesSlide205.xml" ContentType="application/vnd.openxmlformats-officedocument.presentationml.notesSlide+xml"/>
  <Override PartName="/ppt/slides/slide206.xml" ContentType="application/vnd.openxmlformats-officedocument.presentationml.slide+xml"/>
  <Override PartName="/ppt/notesSlides/notesSlide206.xml" ContentType="application/vnd.openxmlformats-officedocument.presentationml.notesSlide+xml"/>
  <Override PartName="/ppt/slides/slide207.xml" ContentType="application/vnd.openxmlformats-officedocument.presentationml.slide+xml"/>
  <Override PartName="/ppt/notesSlides/notesSlide207.xml" ContentType="application/vnd.openxmlformats-officedocument.presentationml.notesSlide+xml"/>
  <Override PartName="/ppt/slides/slide208.xml" ContentType="application/vnd.openxmlformats-officedocument.presentationml.slide+xml"/>
  <Override PartName="/ppt/notesSlides/notesSlide208.xml" ContentType="application/vnd.openxmlformats-officedocument.presentationml.notesSlide+xml"/>
  <Override PartName="/ppt/slides/slide209.xml" ContentType="application/vnd.openxmlformats-officedocument.presentationml.slide+xml"/>
  <Override PartName="/ppt/notesSlides/notesSlide209.xml" ContentType="application/vnd.openxmlformats-officedocument.presentationml.notesSlide+xml"/>
  <Override PartName="/ppt/slides/slide210.xml" ContentType="application/vnd.openxmlformats-officedocument.presentationml.slide+xml"/>
  <Override PartName="/ppt/notesSlides/notesSlide210.xml" ContentType="application/vnd.openxmlformats-officedocument.presentationml.notesSlide+xml"/>
  <Override PartName="/ppt/slides/slide211.xml" ContentType="application/vnd.openxmlformats-officedocument.presentationml.slide+xml"/>
  <Override PartName="/ppt/notesSlides/notesSlide211.xml" ContentType="application/vnd.openxmlformats-officedocument.presentationml.notesSlide+xml"/>
  <Override PartName="/ppt/slides/slide212.xml" ContentType="application/vnd.openxmlformats-officedocument.presentationml.slide+xml"/>
  <Override PartName="/ppt/notesSlides/notesSlide212.xml" ContentType="application/vnd.openxmlformats-officedocument.presentationml.notesSlide+xml"/>
  <Override PartName="/ppt/slides/slide213.xml" ContentType="application/vnd.openxmlformats-officedocument.presentationml.slide+xml"/>
  <Override PartName="/ppt/notesSlides/notesSlide213.xml" ContentType="application/vnd.openxmlformats-officedocument.presentationml.notesSlide+xml"/>
  <Override PartName="/ppt/slides/slide214.xml" ContentType="application/vnd.openxmlformats-officedocument.presentationml.slide+xml"/>
  <Override PartName="/ppt/notesSlides/notesSlide214.xml" ContentType="application/vnd.openxmlformats-officedocument.presentationml.notesSlide+xml"/>
  <Override PartName="/ppt/slides/slide215.xml" ContentType="application/vnd.openxmlformats-officedocument.presentationml.slide+xml"/>
  <Override PartName="/ppt/notesSlides/notesSlide215.xml" ContentType="application/vnd.openxmlformats-officedocument.presentationml.notesSlide+xml"/>
  <Override PartName="/ppt/slides/slide216.xml" ContentType="application/vnd.openxmlformats-officedocument.presentationml.slide+xml"/>
  <Override PartName="/ppt/notesSlides/notesSlide216.xml" ContentType="application/vnd.openxmlformats-officedocument.presentationml.notesSlide+xml"/>
  <Override PartName="/ppt/slides/slide217.xml" ContentType="application/vnd.openxmlformats-officedocument.presentationml.slide+xml"/>
  <Override PartName="/ppt/notesSlides/notesSlide217.xml" ContentType="application/vnd.openxmlformats-officedocument.presentationml.notesSlide+xml"/>
  <Override PartName="/ppt/slides/slide218.xml" ContentType="application/vnd.openxmlformats-officedocument.presentationml.slide+xml"/>
  <Override PartName="/ppt/notesSlides/notesSlide2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1136ba54594038" /><Relationship Type="http://schemas.openxmlformats.org/officeDocument/2006/relationships/extended-properties" Target="/docProps/app.xml" Id="R251696e43c204242" /><Relationship Type="http://schemas.openxmlformats.org/officeDocument/2006/relationships/officeDocument" Target="/ppt/presentation.xml" Id="R3a0085416337471b" /></Relationships>
</file>

<file path=ppt/presentation.xml><?xml version="1.0" encoding="utf-8"?>
<p:presentation xmlns:p="http://schemas.openxmlformats.org/presentationml/2006/main">
  <p:sldMasterIdLst>
    <p:sldMasterId xmlns:r="http://schemas.openxmlformats.org/officeDocument/2006/relationships" id="2147483648" r:id="R90fc31e4fe914fa5"/>
  </p:sldMasterIdLst>
  <p:notesMasterIdLst>
    <p:notesMasterId xmlns:r="http://schemas.openxmlformats.org/officeDocument/2006/relationships" r:id="Rb1d56cf2c2154a7b"/>
  </p:notesMasterIdLst>
  <p:sldIdLst>
    <p:sldId xmlns:r="http://schemas.openxmlformats.org/officeDocument/2006/relationships" id="256" r:id="Rb027ceb059084232"/>
    <p:sldId xmlns:r="http://schemas.openxmlformats.org/officeDocument/2006/relationships" id="257" r:id="R5dda6a298b7b4f33"/>
    <p:sldId xmlns:r="http://schemas.openxmlformats.org/officeDocument/2006/relationships" id="258" r:id="Re982ddfa6c134e88"/>
    <p:sldId xmlns:r="http://schemas.openxmlformats.org/officeDocument/2006/relationships" id="259" r:id="Rc6aa71f4dfaf4031"/>
    <p:sldId xmlns:r="http://schemas.openxmlformats.org/officeDocument/2006/relationships" id="260" r:id="Rfc04127abba64b0b"/>
    <p:sldId xmlns:r="http://schemas.openxmlformats.org/officeDocument/2006/relationships" id="261" r:id="Rd1170470be4148c6"/>
    <p:sldId xmlns:r="http://schemas.openxmlformats.org/officeDocument/2006/relationships" id="262" r:id="Rcb99ab3897354804"/>
    <p:sldId xmlns:r="http://schemas.openxmlformats.org/officeDocument/2006/relationships" id="263" r:id="R5835f1a82c34416e"/>
    <p:sldId xmlns:r="http://schemas.openxmlformats.org/officeDocument/2006/relationships" id="264" r:id="R1f69ed7124404f02"/>
    <p:sldId xmlns:r="http://schemas.openxmlformats.org/officeDocument/2006/relationships" id="265" r:id="R129a94b4c1cb4699"/>
    <p:sldId xmlns:r="http://schemas.openxmlformats.org/officeDocument/2006/relationships" id="266" r:id="R6a970738cb314da5"/>
    <p:sldId xmlns:r="http://schemas.openxmlformats.org/officeDocument/2006/relationships" id="267" r:id="R513bf97b67de4715"/>
    <p:sldId xmlns:r="http://schemas.openxmlformats.org/officeDocument/2006/relationships" id="268" r:id="R927bec32607c4818"/>
    <p:sldId xmlns:r="http://schemas.openxmlformats.org/officeDocument/2006/relationships" id="269" r:id="R8b14075c1d6946cf"/>
    <p:sldId xmlns:r="http://schemas.openxmlformats.org/officeDocument/2006/relationships" id="270" r:id="R4fd7f980dd444b0f"/>
    <p:sldId xmlns:r="http://schemas.openxmlformats.org/officeDocument/2006/relationships" id="271" r:id="Racbc631b3f7c4631"/>
    <p:sldId xmlns:r="http://schemas.openxmlformats.org/officeDocument/2006/relationships" id="272" r:id="R569ccdb939e6455f"/>
    <p:sldId xmlns:r="http://schemas.openxmlformats.org/officeDocument/2006/relationships" id="273" r:id="Rd8596ee34236465d"/>
    <p:sldId xmlns:r="http://schemas.openxmlformats.org/officeDocument/2006/relationships" id="274" r:id="R0f7b5695a00b40d4"/>
    <p:sldId xmlns:r="http://schemas.openxmlformats.org/officeDocument/2006/relationships" id="275" r:id="R0320814245ce40ae"/>
    <p:sldId xmlns:r="http://schemas.openxmlformats.org/officeDocument/2006/relationships" id="276" r:id="R82c90f3bc34d4674"/>
    <p:sldId xmlns:r="http://schemas.openxmlformats.org/officeDocument/2006/relationships" id="277" r:id="R56f727c485994320"/>
    <p:sldId xmlns:r="http://schemas.openxmlformats.org/officeDocument/2006/relationships" id="278" r:id="R4c090d0da9a84499"/>
    <p:sldId xmlns:r="http://schemas.openxmlformats.org/officeDocument/2006/relationships" id="279" r:id="Rbef82e1d822549c3"/>
    <p:sldId xmlns:r="http://schemas.openxmlformats.org/officeDocument/2006/relationships" id="280" r:id="Rd09c28b367364432"/>
    <p:sldId xmlns:r="http://schemas.openxmlformats.org/officeDocument/2006/relationships" id="281" r:id="R64b4356f0fad456a"/>
    <p:sldId xmlns:r="http://schemas.openxmlformats.org/officeDocument/2006/relationships" id="282" r:id="Rfe48e6837c424217"/>
    <p:sldId xmlns:r="http://schemas.openxmlformats.org/officeDocument/2006/relationships" id="283" r:id="Rbd1d1bf742d54db4"/>
    <p:sldId xmlns:r="http://schemas.openxmlformats.org/officeDocument/2006/relationships" id="284" r:id="R51606cec07a844cd"/>
    <p:sldId xmlns:r="http://schemas.openxmlformats.org/officeDocument/2006/relationships" id="285" r:id="R47f8b7568ec84b9e"/>
    <p:sldId xmlns:r="http://schemas.openxmlformats.org/officeDocument/2006/relationships" id="286" r:id="Raf5d83bd1a7a46aa"/>
    <p:sldId xmlns:r="http://schemas.openxmlformats.org/officeDocument/2006/relationships" id="287" r:id="R1ae935db5287435d"/>
    <p:sldId xmlns:r="http://schemas.openxmlformats.org/officeDocument/2006/relationships" id="288" r:id="R3104fcdc7f1d431b"/>
    <p:sldId xmlns:r="http://schemas.openxmlformats.org/officeDocument/2006/relationships" id="289" r:id="R0d1a88083f3e49f6"/>
    <p:sldId xmlns:r="http://schemas.openxmlformats.org/officeDocument/2006/relationships" id="290" r:id="Re820e86b0d2b4495"/>
    <p:sldId xmlns:r="http://schemas.openxmlformats.org/officeDocument/2006/relationships" id="291" r:id="R7654bef11c33497b"/>
    <p:sldId xmlns:r="http://schemas.openxmlformats.org/officeDocument/2006/relationships" id="292" r:id="R7dc56396751347e4"/>
    <p:sldId xmlns:r="http://schemas.openxmlformats.org/officeDocument/2006/relationships" id="293" r:id="R1d5f8052a4814cab"/>
    <p:sldId xmlns:r="http://schemas.openxmlformats.org/officeDocument/2006/relationships" id="294" r:id="R82533686c8744a74"/>
    <p:sldId xmlns:r="http://schemas.openxmlformats.org/officeDocument/2006/relationships" id="295" r:id="R9071df91f98f46da"/>
    <p:sldId xmlns:r="http://schemas.openxmlformats.org/officeDocument/2006/relationships" id="296" r:id="R3263e76e279843e4"/>
    <p:sldId xmlns:r="http://schemas.openxmlformats.org/officeDocument/2006/relationships" id="297" r:id="R379776e1730e4ef9"/>
    <p:sldId xmlns:r="http://schemas.openxmlformats.org/officeDocument/2006/relationships" id="298" r:id="R87d196933ca24796"/>
    <p:sldId xmlns:r="http://schemas.openxmlformats.org/officeDocument/2006/relationships" id="299" r:id="Rbf82c408946547d6"/>
    <p:sldId xmlns:r="http://schemas.openxmlformats.org/officeDocument/2006/relationships" id="300" r:id="R399f5c708d5c4809"/>
    <p:sldId xmlns:r="http://schemas.openxmlformats.org/officeDocument/2006/relationships" id="301" r:id="R1f2dd70abb8e4d0c"/>
    <p:sldId xmlns:r="http://schemas.openxmlformats.org/officeDocument/2006/relationships" id="302" r:id="R6dd3a4e66477468e"/>
    <p:sldId xmlns:r="http://schemas.openxmlformats.org/officeDocument/2006/relationships" id="303" r:id="Rf9d97569686b4587"/>
    <p:sldId xmlns:r="http://schemas.openxmlformats.org/officeDocument/2006/relationships" id="304" r:id="Rf66cf880a73c4011"/>
    <p:sldId xmlns:r="http://schemas.openxmlformats.org/officeDocument/2006/relationships" id="305" r:id="Rac00e862253a467b"/>
    <p:sldId xmlns:r="http://schemas.openxmlformats.org/officeDocument/2006/relationships" id="306" r:id="R9a4382dab8c244dc"/>
    <p:sldId xmlns:r="http://schemas.openxmlformats.org/officeDocument/2006/relationships" id="307" r:id="R07d13bb1a4ec4b64"/>
    <p:sldId xmlns:r="http://schemas.openxmlformats.org/officeDocument/2006/relationships" id="308" r:id="R7eb37714438943d4"/>
    <p:sldId xmlns:r="http://schemas.openxmlformats.org/officeDocument/2006/relationships" id="309" r:id="R417a7dbced14418f"/>
    <p:sldId xmlns:r="http://schemas.openxmlformats.org/officeDocument/2006/relationships" id="310" r:id="R6ed2acdc5cee4f8a"/>
    <p:sldId xmlns:r="http://schemas.openxmlformats.org/officeDocument/2006/relationships" id="311" r:id="R1af72ef73a294bd3"/>
    <p:sldId xmlns:r="http://schemas.openxmlformats.org/officeDocument/2006/relationships" id="312" r:id="R731f411291fd47fd"/>
    <p:sldId xmlns:r="http://schemas.openxmlformats.org/officeDocument/2006/relationships" id="313" r:id="R43fe6774e20e4cd6"/>
    <p:sldId xmlns:r="http://schemas.openxmlformats.org/officeDocument/2006/relationships" id="314" r:id="R7cef3024a1cb4e2e"/>
    <p:sldId xmlns:r="http://schemas.openxmlformats.org/officeDocument/2006/relationships" id="315" r:id="R1f4728b3fd504dae"/>
    <p:sldId xmlns:r="http://schemas.openxmlformats.org/officeDocument/2006/relationships" id="316" r:id="R3f4863d44821420d"/>
    <p:sldId xmlns:r="http://schemas.openxmlformats.org/officeDocument/2006/relationships" id="317" r:id="Rdd7e4fc8712b43f7"/>
    <p:sldId xmlns:r="http://schemas.openxmlformats.org/officeDocument/2006/relationships" id="318" r:id="R8db85d1f921c4410"/>
    <p:sldId xmlns:r="http://schemas.openxmlformats.org/officeDocument/2006/relationships" id="319" r:id="R3b3df9f89de04e42"/>
    <p:sldId xmlns:r="http://schemas.openxmlformats.org/officeDocument/2006/relationships" id="320" r:id="R17edac472bb64df8"/>
    <p:sldId xmlns:r="http://schemas.openxmlformats.org/officeDocument/2006/relationships" id="321" r:id="R54acb9f65ec04474"/>
    <p:sldId xmlns:r="http://schemas.openxmlformats.org/officeDocument/2006/relationships" id="322" r:id="R1a98c53296e541f6"/>
    <p:sldId xmlns:r="http://schemas.openxmlformats.org/officeDocument/2006/relationships" id="323" r:id="R85da1c07a7eb467e"/>
    <p:sldId xmlns:r="http://schemas.openxmlformats.org/officeDocument/2006/relationships" id="324" r:id="R8cbd1ed595b7458a"/>
    <p:sldId xmlns:r="http://schemas.openxmlformats.org/officeDocument/2006/relationships" id="325" r:id="Re7aca0d6aaa549ab"/>
    <p:sldId xmlns:r="http://schemas.openxmlformats.org/officeDocument/2006/relationships" id="326" r:id="Rad23fc316d8e49f1"/>
    <p:sldId xmlns:r="http://schemas.openxmlformats.org/officeDocument/2006/relationships" id="327" r:id="R364835e1e21b4352"/>
    <p:sldId xmlns:r="http://schemas.openxmlformats.org/officeDocument/2006/relationships" id="328" r:id="R9290aed5517b4df3"/>
    <p:sldId xmlns:r="http://schemas.openxmlformats.org/officeDocument/2006/relationships" id="329" r:id="Rf31998874a01407b"/>
    <p:sldId xmlns:r="http://schemas.openxmlformats.org/officeDocument/2006/relationships" id="330" r:id="R58c3a8b956164eb4"/>
    <p:sldId xmlns:r="http://schemas.openxmlformats.org/officeDocument/2006/relationships" id="331" r:id="Re4b3d52b9339460a"/>
    <p:sldId xmlns:r="http://schemas.openxmlformats.org/officeDocument/2006/relationships" id="332" r:id="R6e8b849adefc4b24"/>
    <p:sldId xmlns:r="http://schemas.openxmlformats.org/officeDocument/2006/relationships" id="333" r:id="R473103a5dd134d0c"/>
    <p:sldId xmlns:r="http://schemas.openxmlformats.org/officeDocument/2006/relationships" id="334" r:id="R8f93eeeef1b44c43"/>
    <p:sldId xmlns:r="http://schemas.openxmlformats.org/officeDocument/2006/relationships" id="335" r:id="R0874d46de7d74003"/>
    <p:sldId xmlns:r="http://schemas.openxmlformats.org/officeDocument/2006/relationships" id="336" r:id="R9382e1f82da44435"/>
    <p:sldId xmlns:r="http://schemas.openxmlformats.org/officeDocument/2006/relationships" id="337" r:id="R442763d3747141cc"/>
    <p:sldId xmlns:r="http://schemas.openxmlformats.org/officeDocument/2006/relationships" id="338" r:id="Rec83e5caaa864a8f"/>
    <p:sldId xmlns:r="http://schemas.openxmlformats.org/officeDocument/2006/relationships" id="339" r:id="R220c399e82194ce0"/>
    <p:sldId xmlns:r="http://schemas.openxmlformats.org/officeDocument/2006/relationships" id="340" r:id="R386b4c381bf540e5"/>
    <p:sldId xmlns:r="http://schemas.openxmlformats.org/officeDocument/2006/relationships" id="341" r:id="R16823f8a01a94381"/>
    <p:sldId xmlns:r="http://schemas.openxmlformats.org/officeDocument/2006/relationships" id="342" r:id="R89c0047153a44c5c"/>
    <p:sldId xmlns:r="http://schemas.openxmlformats.org/officeDocument/2006/relationships" id="343" r:id="R9c9f8e352dc14e0a"/>
    <p:sldId xmlns:r="http://schemas.openxmlformats.org/officeDocument/2006/relationships" id="344" r:id="R77476d36a1e94263"/>
    <p:sldId xmlns:r="http://schemas.openxmlformats.org/officeDocument/2006/relationships" id="345" r:id="Rd9e01c2afcbb4f53"/>
    <p:sldId xmlns:r="http://schemas.openxmlformats.org/officeDocument/2006/relationships" id="346" r:id="R72112ce9d2bb4958"/>
    <p:sldId xmlns:r="http://schemas.openxmlformats.org/officeDocument/2006/relationships" id="347" r:id="R0127eb9fbc9f486e"/>
    <p:sldId xmlns:r="http://schemas.openxmlformats.org/officeDocument/2006/relationships" id="348" r:id="R645ea033dd364a0a"/>
    <p:sldId xmlns:r="http://schemas.openxmlformats.org/officeDocument/2006/relationships" id="349" r:id="R0056c958bb6f45d1"/>
    <p:sldId xmlns:r="http://schemas.openxmlformats.org/officeDocument/2006/relationships" id="350" r:id="Rd974c6570dd64ff7"/>
    <p:sldId xmlns:r="http://schemas.openxmlformats.org/officeDocument/2006/relationships" id="351" r:id="R0fe552b42c4d40a1"/>
    <p:sldId xmlns:r="http://schemas.openxmlformats.org/officeDocument/2006/relationships" id="352" r:id="R84c6a1aae9664665"/>
    <p:sldId xmlns:r="http://schemas.openxmlformats.org/officeDocument/2006/relationships" id="353" r:id="R23cc9bccf21340d4"/>
    <p:sldId xmlns:r="http://schemas.openxmlformats.org/officeDocument/2006/relationships" id="354" r:id="R1e068d156fd24ac3"/>
    <p:sldId xmlns:r="http://schemas.openxmlformats.org/officeDocument/2006/relationships" id="355" r:id="R51fd026b073a47d0"/>
    <p:sldId xmlns:r="http://schemas.openxmlformats.org/officeDocument/2006/relationships" id="356" r:id="Rb4a758f1f39e4fbc"/>
    <p:sldId xmlns:r="http://schemas.openxmlformats.org/officeDocument/2006/relationships" id="357" r:id="R32fdf85ace1548f6"/>
    <p:sldId xmlns:r="http://schemas.openxmlformats.org/officeDocument/2006/relationships" id="358" r:id="Ref2eb56464bf4ffa"/>
    <p:sldId xmlns:r="http://schemas.openxmlformats.org/officeDocument/2006/relationships" id="359" r:id="Rfad6c3ca764744fc"/>
    <p:sldId xmlns:r="http://schemas.openxmlformats.org/officeDocument/2006/relationships" id="360" r:id="Rd60a3694b5a34e3c"/>
    <p:sldId xmlns:r="http://schemas.openxmlformats.org/officeDocument/2006/relationships" id="361" r:id="R9cb5a23fa89b404b"/>
    <p:sldId xmlns:r="http://schemas.openxmlformats.org/officeDocument/2006/relationships" id="362" r:id="Rfbda293f583848db"/>
    <p:sldId xmlns:r="http://schemas.openxmlformats.org/officeDocument/2006/relationships" id="363" r:id="R2316cb15ad6c46e4"/>
    <p:sldId xmlns:r="http://schemas.openxmlformats.org/officeDocument/2006/relationships" id="364" r:id="R17990e97bae043f4"/>
    <p:sldId xmlns:r="http://schemas.openxmlformats.org/officeDocument/2006/relationships" id="365" r:id="Ra7edda1f74434d2e"/>
    <p:sldId xmlns:r="http://schemas.openxmlformats.org/officeDocument/2006/relationships" id="366" r:id="R431588716ba64f5c"/>
    <p:sldId xmlns:r="http://schemas.openxmlformats.org/officeDocument/2006/relationships" id="367" r:id="R0ecc4504d45a4c3b"/>
    <p:sldId xmlns:r="http://schemas.openxmlformats.org/officeDocument/2006/relationships" id="368" r:id="R0df625c359f54bb2"/>
    <p:sldId xmlns:r="http://schemas.openxmlformats.org/officeDocument/2006/relationships" id="369" r:id="R3ea40cc138024020"/>
    <p:sldId xmlns:r="http://schemas.openxmlformats.org/officeDocument/2006/relationships" id="370" r:id="Reff74919c29748e0"/>
    <p:sldId xmlns:r="http://schemas.openxmlformats.org/officeDocument/2006/relationships" id="371" r:id="R9889d860189a464f"/>
    <p:sldId xmlns:r="http://schemas.openxmlformats.org/officeDocument/2006/relationships" id="372" r:id="R9b83f66c15ab48fe"/>
    <p:sldId xmlns:r="http://schemas.openxmlformats.org/officeDocument/2006/relationships" id="373" r:id="Rdd8c5ef9b06c4fce"/>
    <p:sldId xmlns:r="http://schemas.openxmlformats.org/officeDocument/2006/relationships" id="374" r:id="R8ca64bf049ff4d4b"/>
    <p:sldId xmlns:r="http://schemas.openxmlformats.org/officeDocument/2006/relationships" id="375" r:id="R608c6ccffadc4b46"/>
    <p:sldId xmlns:r="http://schemas.openxmlformats.org/officeDocument/2006/relationships" id="376" r:id="R2fc9b40ed8c1400c"/>
    <p:sldId xmlns:r="http://schemas.openxmlformats.org/officeDocument/2006/relationships" id="377" r:id="R788fb82a6032447f"/>
    <p:sldId xmlns:r="http://schemas.openxmlformats.org/officeDocument/2006/relationships" id="378" r:id="R52b02e9eea644be3"/>
    <p:sldId xmlns:r="http://schemas.openxmlformats.org/officeDocument/2006/relationships" id="379" r:id="R2cbff837078d4706"/>
    <p:sldId xmlns:r="http://schemas.openxmlformats.org/officeDocument/2006/relationships" id="380" r:id="R1be6af6eb4874269"/>
    <p:sldId xmlns:r="http://schemas.openxmlformats.org/officeDocument/2006/relationships" id="381" r:id="R03d6fbde6d8e42ee"/>
    <p:sldId xmlns:r="http://schemas.openxmlformats.org/officeDocument/2006/relationships" id="382" r:id="Rf986eb5732754bcf"/>
    <p:sldId xmlns:r="http://schemas.openxmlformats.org/officeDocument/2006/relationships" id="383" r:id="Rcf86b31108f341d3"/>
    <p:sldId xmlns:r="http://schemas.openxmlformats.org/officeDocument/2006/relationships" id="384" r:id="Rd33d72c572404c1d"/>
    <p:sldId xmlns:r="http://schemas.openxmlformats.org/officeDocument/2006/relationships" id="385" r:id="R867e2725e74e4f96"/>
    <p:sldId xmlns:r="http://schemas.openxmlformats.org/officeDocument/2006/relationships" id="386" r:id="R84554f6f2b434ab5"/>
    <p:sldId xmlns:r="http://schemas.openxmlformats.org/officeDocument/2006/relationships" id="387" r:id="R313ddabb46b74fb5"/>
    <p:sldId xmlns:r="http://schemas.openxmlformats.org/officeDocument/2006/relationships" id="388" r:id="Rf022e0bae3484d65"/>
    <p:sldId xmlns:r="http://schemas.openxmlformats.org/officeDocument/2006/relationships" id="389" r:id="R85314c77b74f4da2"/>
    <p:sldId xmlns:r="http://schemas.openxmlformats.org/officeDocument/2006/relationships" id="390" r:id="R303226f76a1d4a25"/>
    <p:sldId xmlns:r="http://schemas.openxmlformats.org/officeDocument/2006/relationships" id="391" r:id="Rebdc91591d96441e"/>
    <p:sldId xmlns:r="http://schemas.openxmlformats.org/officeDocument/2006/relationships" id="392" r:id="R38e7882ff3e44d1e"/>
    <p:sldId xmlns:r="http://schemas.openxmlformats.org/officeDocument/2006/relationships" id="393" r:id="R1d6ea1f00b1e4865"/>
    <p:sldId xmlns:r="http://schemas.openxmlformats.org/officeDocument/2006/relationships" id="394" r:id="R0dc896f1d35c4e90"/>
    <p:sldId xmlns:r="http://schemas.openxmlformats.org/officeDocument/2006/relationships" id="395" r:id="R0c0cb5c950ac456f"/>
    <p:sldId xmlns:r="http://schemas.openxmlformats.org/officeDocument/2006/relationships" id="396" r:id="R409218142b2643a5"/>
    <p:sldId xmlns:r="http://schemas.openxmlformats.org/officeDocument/2006/relationships" id="397" r:id="R0c14378cc7fc42f8"/>
    <p:sldId xmlns:r="http://schemas.openxmlformats.org/officeDocument/2006/relationships" id="398" r:id="R1f4a61cb26234456"/>
    <p:sldId xmlns:r="http://schemas.openxmlformats.org/officeDocument/2006/relationships" id="399" r:id="R68e1fc899bc149b4"/>
    <p:sldId xmlns:r="http://schemas.openxmlformats.org/officeDocument/2006/relationships" id="400" r:id="R1ff399ce15144496"/>
    <p:sldId xmlns:r="http://schemas.openxmlformats.org/officeDocument/2006/relationships" id="401" r:id="Rbf08e806b7244dd7"/>
    <p:sldId xmlns:r="http://schemas.openxmlformats.org/officeDocument/2006/relationships" id="402" r:id="Rcae2c93972504240"/>
    <p:sldId xmlns:r="http://schemas.openxmlformats.org/officeDocument/2006/relationships" id="403" r:id="Rd583c6ffa0654fc7"/>
    <p:sldId xmlns:r="http://schemas.openxmlformats.org/officeDocument/2006/relationships" id="404" r:id="Re166c33195ca4981"/>
    <p:sldId xmlns:r="http://schemas.openxmlformats.org/officeDocument/2006/relationships" id="405" r:id="R5ecbe90c94404e0c"/>
    <p:sldId xmlns:r="http://schemas.openxmlformats.org/officeDocument/2006/relationships" id="406" r:id="Rf153d0fd615b4962"/>
    <p:sldId xmlns:r="http://schemas.openxmlformats.org/officeDocument/2006/relationships" id="407" r:id="R6d71908a0c914dea"/>
    <p:sldId xmlns:r="http://schemas.openxmlformats.org/officeDocument/2006/relationships" id="408" r:id="R2c987c650b4e4b4c"/>
    <p:sldId xmlns:r="http://schemas.openxmlformats.org/officeDocument/2006/relationships" id="409" r:id="Rbab9c101997b4c70"/>
    <p:sldId xmlns:r="http://schemas.openxmlformats.org/officeDocument/2006/relationships" id="410" r:id="Rca54efeb65af4a02"/>
    <p:sldId xmlns:r="http://schemas.openxmlformats.org/officeDocument/2006/relationships" id="411" r:id="R9c2698164df248e4"/>
    <p:sldId xmlns:r="http://schemas.openxmlformats.org/officeDocument/2006/relationships" id="412" r:id="Rf765da6522b24a3f"/>
    <p:sldId xmlns:r="http://schemas.openxmlformats.org/officeDocument/2006/relationships" id="413" r:id="R01efe572832b46c2"/>
    <p:sldId xmlns:r="http://schemas.openxmlformats.org/officeDocument/2006/relationships" id="414" r:id="Rf82f8ebeb1b64023"/>
    <p:sldId xmlns:r="http://schemas.openxmlformats.org/officeDocument/2006/relationships" id="415" r:id="R89867adf3e1b41b4"/>
    <p:sldId xmlns:r="http://schemas.openxmlformats.org/officeDocument/2006/relationships" id="416" r:id="Rd01d1783ec7946f9"/>
    <p:sldId xmlns:r="http://schemas.openxmlformats.org/officeDocument/2006/relationships" id="417" r:id="R6afcabeb41d54927"/>
    <p:sldId xmlns:r="http://schemas.openxmlformats.org/officeDocument/2006/relationships" id="418" r:id="R54f579e1d1cb4686"/>
    <p:sldId xmlns:r="http://schemas.openxmlformats.org/officeDocument/2006/relationships" id="419" r:id="R08c4e738a46f49fe"/>
    <p:sldId xmlns:r="http://schemas.openxmlformats.org/officeDocument/2006/relationships" id="420" r:id="Re71126a064634309"/>
    <p:sldId xmlns:r="http://schemas.openxmlformats.org/officeDocument/2006/relationships" id="421" r:id="R0e609ae4be3042c3"/>
    <p:sldId xmlns:r="http://schemas.openxmlformats.org/officeDocument/2006/relationships" id="422" r:id="R3e89bce997064254"/>
    <p:sldId xmlns:r="http://schemas.openxmlformats.org/officeDocument/2006/relationships" id="423" r:id="R60a5dd21c9104bcd"/>
    <p:sldId xmlns:r="http://schemas.openxmlformats.org/officeDocument/2006/relationships" id="424" r:id="R6a605c0658af405c"/>
    <p:sldId xmlns:r="http://schemas.openxmlformats.org/officeDocument/2006/relationships" id="425" r:id="Rffbdebe4328e48ec"/>
    <p:sldId xmlns:r="http://schemas.openxmlformats.org/officeDocument/2006/relationships" id="426" r:id="Rcb2a9f50eb4941e6"/>
    <p:sldId xmlns:r="http://schemas.openxmlformats.org/officeDocument/2006/relationships" id="427" r:id="R1ab2e07664244f08"/>
    <p:sldId xmlns:r="http://schemas.openxmlformats.org/officeDocument/2006/relationships" id="428" r:id="Rd85951bda9194348"/>
    <p:sldId xmlns:r="http://schemas.openxmlformats.org/officeDocument/2006/relationships" id="429" r:id="R7286979341144d16"/>
    <p:sldId xmlns:r="http://schemas.openxmlformats.org/officeDocument/2006/relationships" id="430" r:id="Rbae94d3e528344a1"/>
    <p:sldId xmlns:r="http://schemas.openxmlformats.org/officeDocument/2006/relationships" id="431" r:id="R8e986a0c6db94bd3"/>
    <p:sldId xmlns:r="http://schemas.openxmlformats.org/officeDocument/2006/relationships" id="432" r:id="R2d2bc1089fbc4065"/>
    <p:sldId xmlns:r="http://schemas.openxmlformats.org/officeDocument/2006/relationships" id="433" r:id="R8282693fa318419d"/>
    <p:sldId xmlns:r="http://schemas.openxmlformats.org/officeDocument/2006/relationships" id="434" r:id="R2059bcb2e6684405"/>
    <p:sldId xmlns:r="http://schemas.openxmlformats.org/officeDocument/2006/relationships" id="435" r:id="R3a56988d9f984c77"/>
    <p:sldId xmlns:r="http://schemas.openxmlformats.org/officeDocument/2006/relationships" id="436" r:id="R333f8f3e32d1474d"/>
    <p:sldId xmlns:r="http://schemas.openxmlformats.org/officeDocument/2006/relationships" id="437" r:id="R21d37ccc4def47ad"/>
    <p:sldId xmlns:r="http://schemas.openxmlformats.org/officeDocument/2006/relationships" id="438" r:id="R3df2b1db070a411f"/>
    <p:sldId xmlns:r="http://schemas.openxmlformats.org/officeDocument/2006/relationships" id="439" r:id="R18c2150ab9fb4ad9"/>
    <p:sldId xmlns:r="http://schemas.openxmlformats.org/officeDocument/2006/relationships" id="440" r:id="Refd90f6a7a3e435a"/>
    <p:sldId xmlns:r="http://schemas.openxmlformats.org/officeDocument/2006/relationships" id="441" r:id="R8adc350808c9462c"/>
    <p:sldId xmlns:r="http://schemas.openxmlformats.org/officeDocument/2006/relationships" id="442" r:id="Rf6920d6556024952"/>
    <p:sldId xmlns:r="http://schemas.openxmlformats.org/officeDocument/2006/relationships" id="443" r:id="R31f5f0f7309d444c"/>
    <p:sldId xmlns:r="http://schemas.openxmlformats.org/officeDocument/2006/relationships" id="444" r:id="R7507037922104418"/>
    <p:sldId xmlns:r="http://schemas.openxmlformats.org/officeDocument/2006/relationships" id="445" r:id="R19ee0277005c4e6d"/>
    <p:sldId xmlns:r="http://schemas.openxmlformats.org/officeDocument/2006/relationships" id="446" r:id="R94561655b68f4389"/>
    <p:sldId xmlns:r="http://schemas.openxmlformats.org/officeDocument/2006/relationships" id="447" r:id="R23a46acbc3be429c"/>
    <p:sldId xmlns:r="http://schemas.openxmlformats.org/officeDocument/2006/relationships" id="448" r:id="R7187e8fce81044e6"/>
    <p:sldId xmlns:r="http://schemas.openxmlformats.org/officeDocument/2006/relationships" id="449" r:id="R403ff556af09461a"/>
    <p:sldId xmlns:r="http://schemas.openxmlformats.org/officeDocument/2006/relationships" id="450" r:id="R438c24881910490c"/>
    <p:sldId xmlns:r="http://schemas.openxmlformats.org/officeDocument/2006/relationships" id="451" r:id="Re8b7a854c3f64e90"/>
    <p:sldId xmlns:r="http://schemas.openxmlformats.org/officeDocument/2006/relationships" id="452" r:id="R99d425f287424977"/>
    <p:sldId xmlns:r="http://schemas.openxmlformats.org/officeDocument/2006/relationships" id="453" r:id="R840008d7e9ce4003"/>
    <p:sldId xmlns:r="http://schemas.openxmlformats.org/officeDocument/2006/relationships" id="454" r:id="R11e0acf9643a41c2"/>
    <p:sldId xmlns:r="http://schemas.openxmlformats.org/officeDocument/2006/relationships" id="455" r:id="Rdb1e07bfa37748df"/>
    <p:sldId xmlns:r="http://schemas.openxmlformats.org/officeDocument/2006/relationships" id="456" r:id="R3640c7bee4844912"/>
    <p:sldId xmlns:r="http://schemas.openxmlformats.org/officeDocument/2006/relationships" id="457" r:id="R9aba002e5da748fd"/>
    <p:sldId xmlns:r="http://schemas.openxmlformats.org/officeDocument/2006/relationships" id="458" r:id="Rfa91b48c7f9a4edc"/>
    <p:sldId xmlns:r="http://schemas.openxmlformats.org/officeDocument/2006/relationships" id="459" r:id="R27dbad6334184e16"/>
    <p:sldId xmlns:r="http://schemas.openxmlformats.org/officeDocument/2006/relationships" id="460" r:id="Rbc230f434a7643dd"/>
    <p:sldId xmlns:r="http://schemas.openxmlformats.org/officeDocument/2006/relationships" id="461" r:id="R9076baa2bdda41db"/>
    <p:sldId xmlns:r="http://schemas.openxmlformats.org/officeDocument/2006/relationships" id="462" r:id="R171f00a112c84fa5"/>
    <p:sldId xmlns:r="http://schemas.openxmlformats.org/officeDocument/2006/relationships" id="463" r:id="R2ca54994d4da40af"/>
    <p:sldId xmlns:r="http://schemas.openxmlformats.org/officeDocument/2006/relationships" id="464" r:id="Rd587ec76bee245d8"/>
    <p:sldId xmlns:r="http://schemas.openxmlformats.org/officeDocument/2006/relationships" id="465" r:id="Rc66659bc50b44496"/>
    <p:sldId xmlns:r="http://schemas.openxmlformats.org/officeDocument/2006/relationships" id="466" r:id="R73af44b53f684a9e"/>
    <p:sldId xmlns:r="http://schemas.openxmlformats.org/officeDocument/2006/relationships" id="467" r:id="Rfd57f5695a814d8b"/>
    <p:sldId xmlns:r="http://schemas.openxmlformats.org/officeDocument/2006/relationships" id="468" r:id="R9dbe2d388eaf4b10"/>
    <p:sldId xmlns:r="http://schemas.openxmlformats.org/officeDocument/2006/relationships" id="469" r:id="Rfff0488a97604e90"/>
    <p:sldId xmlns:r="http://schemas.openxmlformats.org/officeDocument/2006/relationships" id="470" r:id="Re36e0a894618404b"/>
    <p:sldId xmlns:r="http://schemas.openxmlformats.org/officeDocument/2006/relationships" id="471" r:id="R12a422808a87451a"/>
    <p:sldId xmlns:r="http://schemas.openxmlformats.org/officeDocument/2006/relationships" id="472" r:id="Rd12d22550f26423c"/>
    <p:sldId xmlns:r="http://schemas.openxmlformats.org/officeDocument/2006/relationships" id="473" r:id="R3c1a0891f4c840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1f711371074107" /><Relationship Type="http://schemas.openxmlformats.org/officeDocument/2006/relationships/slideMaster" Target="/ppt/slideMasters/slideMaster1.xml" Id="R90fc31e4fe914fa5" /><Relationship Type="http://schemas.openxmlformats.org/officeDocument/2006/relationships/notesMaster" Target="/ppt/notesMasters/notesMaster1.xml" Id="Rb1d56cf2c2154a7b" /><Relationship Type="http://schemas.openxmlformats.org/officeDocument/2006/relationships/presProps" Target="/ppt/presProps.xml" Id="R78a29dafca0d4480" /><Relationship Type="http://schemas.openxmlformats.org/officeDocument/2006/relationships/tableStyles" Target="/ppt/tableStyles.xml" Id="R2761e0b8b26340a3" /><Relationship Type="http://schemas.openxmlformats.org/officeDocument/2006/relationships/slide" Target="/ppt/slides/slide1.xml" Id="Rb027ceb059084232" /><Relationship Type="http://schemas.openxmlformats.org/officeDocument/2006/relationships/slide" Target="/ppt/slides/slide2.xml" Id="R5dda6a298b7b4f33" /><Relationship Type="http://schemas.openxmlformats.org/officeDocument/2006/relationships/slide" Target="/ppt/slides/slide3.xml" Id="Re982ddfa6c134e88" /><Relationship Type="http://schemas.openxmlformats.org/officeDocument/2006/relationships/slide" Target="/ppt/slides/slide4.xml" Id="Rc6aa71f4dfaf4031" /><Relationship Type="http://schemas.openxmlformats.org/officeDocument/2006/relationships/slide" Target="/ppt/slides/slide5.xml" Id="Rfc04127abba64b0b" /><Relationship Type="http://schemas.openxmlformats.org/officeDocument/2006/relationships/slide" Target="/ppt/slides/slide6.xml" Id="Rd1170470be4148c6" /><Relationship Type="http://schemas.openxmlformats.org/officeDocument/2006/relationships/slide" Target="/ppt/slides/slide7.xml" Id="Rcb99ab3897354804" /><Relationship Type="http://schemas.openxmlformats.org/officeDocument/2006/relationships/slide" Target="/ppt/slides/slide8.xml" Id="R5835f1a82c34416e" /><Relationship Type="http://schemas.openxmlformats.org/officeDocument/2006/relationships/slide" Target="/ppt/slides/slide9.xml" Id="R1f69ed7124404f02" /><Relationship Type="http://schemas.openxmlformats.org/officeDocument/2006/relationships/slide" Target="/ppt/slides/slide10.xml" Id="R129a94b4c1cb4699" /><Relationship Type="http://schemas.openxmlformats.org/officeDocument/2006/relationships/slide" Target="/ppt/slides/slide11.xml" Id="R6a970738cb314da5" /><Relationship Type="http://schemas.openxmlformats.org/officeDocument/2006/relationships/slide" Target="/ppt/slides/slide12.xml" Id="R513bf97b67de4715" /><Relationship Type="http://schemas.openxmlformats.org/officeDocument/2006/relationships/slide" Target="/ppt/slides/slide13.xml" Id="R927bec32607c4818" /><Relationship Type="http://schemas.openxmlformats.org/officeDocument/2006/relationships/slide" Target="/ppt/slides/slide14.xml" Id="R8b14075c1d6946cf" /><Relationship Type="http://schemas.openxmlformats.org/officeDocument/2006/relationships/slide" Target="/ppt/slides/slide15.xml" Id="R4fd7f980dd444b0f" /><Relationship Type="http://schemas.openxmlformats.org/officeDocument/2006/relationships/slide" Target="/ppt/slides/slide16.xml" Id="Racbc631b3f7c4631" /><Relationship Type="http://schemas.openxmlformats.org/officeDocument/2006/relationships/slide" Target="/ppt/slides/slide17.xml" Id="R569ccdb939e6455f" /><Relationship Type="http://schemas.openxmlformats.org/officeDocument/2006/relationships/slide" Target="/ppt/slides/slide18.xml" Id="Rd8596ee34236465d" /><Relationship Type="http://schemas.openxmlformats.org/officeDocument/2006/relationships/slide" Target="/ppt/slides/slide19.xml" Id="R0f7b5695a00b40d4" /><Relationship Type="http://schemas.openxmlformats.org/officeDocument/2006/relationships/slide" Target="/ppt/slides/slide20.xml" Id="R0320814245ce40ae" /><Relationship Type="http://schemas.openxmlformats.org/officeDocument/2006/relationships/slide" Target="/ppt/slides/slide21.xml" Id="R82c90f3bc34d4674" /><Relationship Type="http://schemas.openxmlformats.org/officeDocument/2006/relationships/slide" Target="/ppt/slides/slide22.xml" Id="R56f727c485994320" /><Relationship Type="http://schemas.openxmlformats.org/officeDocument/2006/relationships/slide" Target="/ppt/slides/slide23.xml" Id="R4c090d0da9a84499" /><Relationship Type="http://schemas.openxmlformats.org/officeDocument/2006/relationships/slide" Target="/ppt/slides/slide24.xml" Id="Rbef82e1d822549c3" /><Relationship Type="http://schemas.openxmlformats.org/officeDocument/2006/relationships/slide" Target="/ppt/slides/slide25.xml" Id="Rd09c28b367364432" /><Relationship Type="http://schemas.openxmlformats.org/officeDocument/2006/relationships/slide" Target="/ppt/slides/slide26.xml" Id="R64b4356f0fad456a" /><Relationship Type="http://schemas.openxmlformats.org/officeDocument/2006/relationships/slide" Target="/ppt/slides/slide27.xml" Id="Rfe48e6837c424217" /><Relationship Type="http://schemas.openxmlformats.org/officeDocument/2006/relationships/slide" Target="/ppt/slides/slide28.xml" Id="Rbd1d1bf742d54db4" /><Relationship Type="http://schemas.openxmlformats.org/officeDocument/2006/relationships/slide" Target="/ppt/slides/slide29.xml" Id="R51606cec07a844cd" /><Relationship Type="http://schemas.openxmlformats.org/officeDocument/2006/relationships/slide" Target="/ppt/slides/slide30.xml" Id="R47f8b7568ec84b9e" /><Relationship Type="http://schemas.openxmlformats.org/officeDocument/2006/relationships/slide" Target="/ppt/slides/slide31.xml" Id="Raf5d83bd1a7a46aa" /><Relationship Type="http://schemas.openxmlformats.org/officeDocument/2006/relationships/slide" Target="/ppt/slides/slide32.xml" Id="R1ae935db5287435d" /><Relationship Type="http://schemas.openxmlformats.org/officeDocument/2006/relationships/slide" Target="/ppt/slides/slide33.xml" Id="R3104fcdc7f1d431b" /><Relationship Type="http://schemas.openxmlformats.org/officeDocument/2006/relationships/slide" Target="/ppt/slides/slide34.xml" Id="R0d1a88083f3e49f6" /><Relationship Type="http://schemas.openxmlformats.org/officeDocument/2006/relationships/slide" Target="/ppt/slides/slide35.xml" Id="Re820e86b0d2b4495" /><Relationship Type="http://schemas.openxmlformats.org/officeDocument/2006/relationships/slide" Target="/ppt/slides/slide36.xml" Id="R7654bef11c33497b" /><Relationship Type="http://schemas.openxmlformats.org/officeDocument/2006/relationships/slide" Target="/ppt/slides/slide37.xml" Id="R7dc56396751347e4" /><Relationship Type="http://schemas.openxmlformats.org/officeDocument/2006/relationships/slide" Target="/ppt/slides/slide38.xml" Id="R1d5f8052a4814cab" /><Relationship Type="http://schemas.openxmlformats.org/officeDocument/2006/relationships/slide" Target="/ppt/slides/slide39.xml" Id="R82533686c8744a74" /><Relationship Type="http://schemas.openxmlformats.org/officeDocument/2006/relationships/slide" Target="/ppt/slides/slide40.xml" Id="R9071df91f98f46da" /><Relationship Type="http://schemas.openxmlformats.org/officeDocument/2006/relationships/slide" Target="/ppt/slides/slide41.xml" Id="R3263e76e279843e4" /><Relationship Type="http://schemas.openxmlformats.org/officeDocument/2006/relationships/slide" Target="/ppt/slides/slide42.xml" Id="R379776e1730e4ef9" /><Relationship Type="http://schemas.openxmlformats.org/officeDocument/2006/relationships/slide" Target="/ppt/slides/slide43.xml" Id="R87d196933ca24796" /><Relationship Type="http://schemas.openxmlformats.org/officeDocument/2006/relationships/slide" Target="/ppt/slides/slide44.xml" Id="Rbf82c408946547d6" /><Relationship Type="http://schemas.openxmlformats.org/officeDocument/2006/relationships/slide" Target="/ppt/slides/slide45.xml" Id="R399f5c708d5c4809" /><Relationship Type="http://schemas.openxmlformats.org/officeDocument/2006/relationships/slide" Target="/ppt/slides/slide46.xml" Id="R1f2dd70abb8e4d0c" /><Relationship Type="http://schemas.openxmlformats.org/officeDocument/2006/relationships/slide" Target="/ppt/slides/slide47.xml" Id="R6dd3a4e66477468e" /><Relationship Type="http://schemas.openxmlformats.org/officeDocument/2006/relationships/slide" Target="/ppt/slides/slide48.xml" Id="Rf9d97569686b4587" /><Relationship Type="http://schemas.openxmlformats.org/officeDocument/2006/relationships/slide" Target="/ppt/slides/slide49.xml" Id="Rf66cf880a73c4011" /><Relationship Type="http://schemas.openxmlformats.org/officeDocument/2006/relationships/slide" Target="/ppt/slides/slide50.xml" Id="Rac00e862253a467b" /><Relationship Type="http://schemas.openxmlformats.org/officeDocument/2006/relationships/slide" Target="/ppt/slides/slide51.xml" Id="R9a4382dab8c244dc" /><Relationship Type="http://schemas.openxmlformats.org/officeDocument/2006/relationships/slide" Target="/ppt/slides/slide52.xml" Id="R07d13bb1a4ec4b64" /><Relationship Type="http://schemas.openxmlformats.org/officeDocument/2006/relationships/slide" Target="/ppt/slides/slide53.xml" Id="R7eb37714438943d4" /><Relationship Type="http://schemas.openxmlformats.org/officeDocument/2006/relationships/slide" Target="/ppt/slides/slide54.xml" Id="R417a7dbced14418f" /><Relationship Type="http://schemas.openxmlformats.org/officeDocument/2006/relationships/slide" Target="/ppt/slides/slide55.xml" Id="R6ed2acdc5cee4f8a" /><Relationship Type="http://schemas.openxmlformats.org/officeDocument/2006/relationships/slide" Target="/ppt/slides/slide56.xml" Id="R1af72ef73a294bd3" /><Relationship Type="http://schemas.openxmlformats.org/officeDocument/2006/relationships/slide" Target="/ppt/slides/slide57.xml" Id="R731f411291fd47fd" /><Relationship Type="http://schemas.openxmlformats.org/officeDocument/2006/relationships/slide" Target="/ppt/slides/slide58.xml" Id="R43fe6774e20e4cd6" /><Relationship Type="http://schemas.openxmlformats.org/officeDocument/2006/relationships/slide" Target="/ppt/slides/slide59.xml" Id="R7cef3024a1cb4e2e" /><Relationship Type="http://schemas.openxmlformats.org/officeDocument/2006/relationships/slide" Target="/ppt/slides/slide60.xml" Id="R1f4728b3fd504dae" /><Relationship Type="http://schemas.openxmlformats.org/officeDocument/2006/relationships/slide" Target="/ppt/slides/slide61.xml" Id="R3f4863d44821420d" /><Relationship Type="http://schemas.openxmlformats.org/officeDocument/2006/relationships/slide" Target="/ppt/slides/slide62.xml" Id="Rdd7e4fc8712b43f7" /><Relationship Type="http://schemas.openxmlformats.org/officeDocument/2006/relationships/slide" Target="/ppt/slides/slide63.xml" Id="R8db85d1f921c4410" /><Relationship Type="http://schemas.openxmlformats.org/officeDocument/2006/relationships/slide" Target="/ppt/slides/slide64.xml" Id="R3b3df9f89de04e42" /><Relationship Type="http://schemas.openxmlformats.org/officeDocument/2006/relationships/slide" Target="/ppt/slides/slide65.xml" Id="R17edac472bb64df8" /><Relationship Type="http://schemas.openxmlformats.org/officeDocument/2006/relationships/slide" Target="/ppt/slides/slide66.xml" Id="R54acb9f65ec04474" /><Relationship Type="http://schemas.openxmlformats.org/officeDocument/2006/relationships/slide" Target="/ppt/slides/slide67.xml" Id="R1a98c53296e541f6" /><Relationship Type="http://schemas.openxmlformats.org/officeDocument/2006/relationships/slide" Target="/ppt/slides/slide68.xml" Id="R85da1c07a7eb467e" /><Relationship Type="http://schemas.openxmlformats.org/officeDocument/2006/relationships/slide" Target="/ppt/slides/slide69.xml" Id="R8cbd1ed595b7458a" /><Relationship Type="http://schemas.openxmlformats.org/officeDocument/2006/relationships/slide" Target="/ppt/slides/slide70.xml" Id="Re7aca0d6aaa549ab" /><Relationship Type="http://schemas.openxmlformats.org/officeDocument/2006/relationships/slide" Target="/ppt/slides/slide71.xml" Id="Rad23fc316d8e49f1" /><Relationship Type="http://schemas.openxmlformats.org/officeDocument/2006/relationships/slide" Target="/ppt/slides/slide72.xml" Id="R364835e1e21b4352" /><Relationship Type="http://schemas.openxmlformats.org/officeDocument/2006/relationships/slide" Target="/ppt/slides/slide73.xml" Id="R9290aed5517b4df3" /><Relationship Type="http://schemas.openxmlformats.org/officeDocument/2006/relationships/slide" Target="/ppt/slides/slide74.xml" Id="Rf31998874a01407b" /><Relationship Type="http://schemas.openxmlformats.org/officeDocument/2006/relationships/slide" Target="/ppt/slides/slide75.xml" Id="R58c3a8b956164eb4" /><Relationship Type="http://schemas.openxmlformats.org/officeDocument/2006/relationships/slide" Target="/ppt/slides/slide76.xml" Id="Re4b3d52b9339460a" /><Relationship Type="http://schemas.openxmlformats.org/officeDocument/2006/relationships/slide" Target="/ppt/slides/slide77.xml" Id="R6e8b849adefc4b24" /><Relationship Type="http://schemas.openxmlformats.org/officeDocument/2006/relationships/slide" Target="/ppt/slides/slide78.xml" Id="R473103a5dd134d0c" /><Relationship Type="http://schemas.openxmlformats.org/officeDocument/2006/relationships/slide" Target="/ppt/slides/slide79.xml" Id="R8f93eeeef1b44c43" /><Relationship Type="http://schemas.openxmlformats.org/officeDocument/2006/relationships/slide" Target="/ppt/slides/slide80.xml" Id="R0874d46de7d74003" /><Relationship Type="http://schemas.openxmlformats.org/officeDocument/2006/relationships/slide" Target="/ppt/slides/slide81.xml" Id="R9382e1f82da44435" /><Relationship Type="http://schemas.openxmlformats.org/officeDocument/2006/relationships/slide" Target="/ppt/slides/slide82.xml" Id="R442763d3747141cc" /><Relationship Type="http://schemas.openxmlformats.org/officeDocument/2006/relationships/slide" Target="/ppt/slides/slide83.xml" Id="Rec83e5caaa864a8f" /><Relationship Type="http://schemas.openxmlformats.org/officeDocument/2006/relationships/slide" Target="/ppt/slides/slide84.xml" Id="R220c399e82194ce0" /><Relationship Type="http://schemas.openxmlformats.org/officeDocument/2006/relationships/slide" Target="/ppt/slides/slide85.xml" Id="R386b4c381bf540e5" /><Relationship Type="http://schemas.openxmlformats.org/officeDocument/2006/relationships/slide" Target="/ppt/slides/slide86.xml" Id="R16823f8a01a94381" /><Relationship Type="http://schemas.openxmlformats.org/officeDocument/2006/relationships/slide" Target="/ppt/slides/slide87.xml" Id="R89c0047153a44c5c" /><Relationship Type="http://schemas.openxmlformats.org/officeDocument/2006/relationships/slide" Target="/ppt/slides/slide88.xml" Id="R9c9f8e352dc14e0a" /><Relationship Type="http://schemas.openxmlformats.org/officeDocument/2006/relationships/slide" Target="/ppt/slides/slide89.xml" Id="R77476d36a1e94263" /><Relationship Type="http://schemas.openxmlformats.org/officeDocument/2006/relationships/slide" Target="/ppt/slides/slide90.xml" Id="Rd9e01c2afcbb4f53" /><Relationship Type="http://schemas.openxmlformats.org/officeDocument/2006/relationships/slide" Target="/ppt/slides/slide91.xml" Id="R72112ce9d2bb4958" /><Relationship Type="http://schemas.openxmlformats.org/officeDocument/2006/relationships/slide" Target="/ppt/slides/slide92.xml" Id="R0127eb9fbc9f486e" /><Relationship Type="http://schemas.openxmlformats.org/officeDocument/2006/relationships/slide" Target="/ppt/slides/slide93.xml" Id="R645ea033dd364a0a" /><Relationship Type="http://schemas.openxmlformats.org/officeDocument/2006/relationships/slide" Target="/ppt/slides/slide94.xml" Id="R0056c958bb6f45d1" /><Relationship Type="http://schemas.openxmlformats.org/officeDocument/2006/relationships/slide" Target="/ppt/slides/slide95.xml" Id="Rd974c6570dd64ff7" /><Relationship Type="http://schemas.openxmlformats.org/officeDocument/2006/relationships/slide" Target="/ppt/slides/slide96.xml" Id="R0fe552b42c4d40a1" /><Relationship Type="http://schemas.openxmlformats.org/officeDocument/2006/relationships/slide" Target="/ppt/slides/slide97.xml" Id="R84c6a1aae9664665" /><Relationship Type="http://schemas.openxmlformats.org/officeDocument/2006/relationships/slide" Target="/ppt/slides/slide98.xml" Id="R23cc9bccf21340d4" /><Relationship Type="http://schemas.openxmlformats.org/officeDocument/2006/relationships/slide" Target="/ppt/slides/slide99.xml" Id="R1e068d156fd24ac3" /><Relationship Type="http://schemas.openxmlformats.org/officeDocument/2006/relationships/slide" Target="/ppt/slides/slide100.xml" Id="R51fd026b073a47d0" /><Relationship Type="http://schemas.openxmlformats.org/officeDocument/2006/relationships/slide" Target="/ppt/slides/slide101.xml" Id="Rb4a758f1f39e4fbc" /><Relationship Type="http://schemas.openxmlformats.org/officeDocument/2006/relationships/slide" Target="/ppt/slides/slide102.xml" Id="R32fdf85ace1548f6" /><Relationship Type="http://schemas.openxmlformats.org/officeDocument/2006/relationships/slide" Target="/ppt/slides/slide103.xml" Id="Ref2eb56464bf4ffa" /><Relationship Type="http://schemas.openxmlformats.org/officeDocument/2006/relationships/slide" Target="/ppt/slides/slide104.xml" Id="Rfad6c3ca764744fc" /><Relationship Type="http://schemas.openxmlformats.org/officeDocument/2006/relationships/slide" Target="/ppt/slides/slide105.xml" Id="Rd60a3694b5a34e3c" /><Relationship Type="http://schemas.openxmlformats.org/officeDocument/2006/relationships/slide" Target="/ppt/slides/slide106.xml" Id="R9cb5a23fa89b404b" /><Relationship Type="http://schemas.openxmlformats.org/officeDocument/2006/relationships/slide" Target="/ppt/slides/slide107.xml" Id="Rfbda293f583848db" /><Relationship Type="http://schemas.openxmlformats.org/officeDocument/2006/relationships/slide" Target="/ppt/slides/slide108.xml" Id="R2316cb15ad6c46e4" /><Relationship Type="http://schemas.openxmlformats.org/officeDocument/2006/relationships/slide" Target="/ppt/slides/slide109.xml" Id="R17990e97bae043f4" /><Relationship Type="http://schemas.openxmlformats.org/officeDocument/2006/relationships/slide" Target="/ppt/slides/slide110.xml" Id="Ra7edda1f74434d2e" /><Relationship Type="http://schemas.openxmlformats.org/officeDocument/2006/relationships/slide" Target="/ppt/slides/slide111.xml" Id="R431588716ba64f5c" /><Relationship Type="http://schemas.openxmlformats.org/officeDocument/2006/relationships/slide" Target="/ppt/slides/slide112.xml" Id="R0ecc4504d45a4c3b" /><Relationship Type="http://schemas.openxmlformats.org/officeDocument/2006/relationships/slide" Target="/ppt/slides/slide113.xml" Id="R0df625c359f54bb2" /><Relationship Type="http://schemas.openxmlformats.org/officeDocument/2006/relationships/slide" Target="/ppt/slides/slide114.xml" Id="R3ea40cc138024020" /><Relationship Type="http://schemas.openxmlformats.org/officeDocument/2006/relationships/slide" Target="/ppt/slides/slide115.xml" Id="Reff74919c29748e0" /><Relationship Type="http://schemas.openxmlformats.org/officeDocument/2006/relationships/slide" Target="/ppt/slides/slide116.xml" Id="R9889d860189a464f" /><Relationship Type="http://schemas.openxmlformats.org/officeDocument/2006/relationships/slide" Target="/ppt/slides/slide117.xml" Id="R9b83f66c15ab48fe" /><Relationship Type="http://schemas.openxmlformats.org/officeDocument/2006/relationships/slide" Target="/ppt/slides/slide118.xml" Id="Rdd8c5ef9b06c4fce" /><Relationship Type="http://schemas.openxmlformats.org/officeDocument/2006/relationships/slide" Target="/ppt/slides/slide119.xml" Id="R8ca64bf049ff4d4b" /><Relationship Type="http://schemas.openxmlformats.org/officeDocument/2006/relationships/slide" Target="/ppt/slides/slide120.xml" Id="R608c6ccffadc4b46" /><Relationship Type="http://schemas.openxmlformats.org/officeDocument/2006/relationships/slide" Target="/ppt/slides/slide121.xml" Id="R2fc9b40ed8c1400c" /><Relationship Type="http://schemas.openxmlformats.org/officeDocument/2006/relationships/slide" Target="/ppt/slides/slide122.xml" Id="R788fb82a6032447f" /><Relationship Type="http://schemas.openxmlformats.org/officeDocument/2006/relationships/slide" Target="/ppt/slides/slide123.xml" Id="R52b02e9eea644be3" /><Relationship Type="http://schemas.openxmlformats.org/officeDocument/2006/relationships/slide" Target="/ppt/slides/slide124.xml" Id="R2cbff837078d4706" /><Relationship Type="http://schemas.openxmlformats.org/officeDocument/2006/relationships/slide" Target="/ppt/slides/slide125.xml" Id="R1be6af6eb4874269" /><Relationship Type="http://schemas.openxmlformats.org/officeDocument/2006/relationships/slide" Target="/ppt/slides/slide126.xml" Id="R03d6fbde6d8e42ee" /><Relationship Type="http://schemas.openxmlformats.org/officeDocument/2006/relationships/slide" Target="/ppt/slides/slide127.xml" Id="Rf986eb5732754bcf" /><Relationship Type="http://schemas.openxmlformats.org/officeDocument/2006/relationships/slide" Target="/ppt/slides/slide128.xml" Id="Rcf86b31108f341d3" /><Relationship Type="http://schemas.openxmlformats.org/officeDocument/2006/relationships/slide" Target="/ppt/slides/slide129.xml" Id="Rd33d72c572404c1d" /><Relationship Type="http://schemas.openxmlformats.org/officeDocument/2006/relationships/slide" Target="/ppt/slides/slide130.xml" Id="R867e2725e74e4f96" /><Relationship Type="http://schemas.openxmlformats.org/officeDocument/2006/relationships/slide" Target="/ppt/slides/slide131.xml" Id="R84554f6f2b434ab5" /><Relationship Type="http://schemas.openxmlformats.org/officeDocument/2006/relationships/slide" Target="/ppt/slides/slide132.xml" Id="R313ddabb46b74fb5" /><Relationship Type="http://schemas.openxmlformats.org/officeDocument/2006/relationships/slide" Target="/ppt/slides/slide133.xml" Id="Rf022e0bae3484d65" /><Relationship Type="http://schemas.openxmlformats.org/officeDocument/2006/relationships/slide" Target="/ppt/slides/slide134.xml" Id="R85314c77b74f4da2" /><Relationship Type="http://schemas.openxmlformats.org/officeDocument/2006/relationships/slide" Target="/ppt/slides/slide135.xml" Id="R303226f76a1d4a25" /><Relationship Type="http://schemas.openxmlformats.org/officeDocument/2006/relationships/slide" Target="/ppt/slides/slide136.xml" Id="Rebdc91591d96441e" /><Relationship Type="http://schemas.openxmlformats.org/officeDocument/2006/relationships/slide" Target="/ppt/slides/slide137.xml" Id="R38e7882ff3e44d1e" /><Relationship Type="http://schemas.openxmlformats.org/officeDocument/2006/relationships/slide" Target="/ppt/slides/slide138.xml" Id="R1d6ea1f00b1e4865" /><Relationship Type="http://schemas.openxmlformats.org/officeDocument/2006/relationships/slide" Target="/ppt/slides/slide139.xml" Id="R0dc896f1d35c4e90" /><Relationship Type="http://schemas.openxmlformats.org/officeDocument/2006/relationships/slide" Target="/ppt/slides/slide140.xml" Id="R0c0cb5c950ac456f" /><Relationship Type="http://schemas.openxmlformats.org/officeDocument/2006/relationships/slide" Target="/ppt/slides/slide141.xml" Id="R409218142b2643a5" /><Relationship Type="http://schemas.openxmlformats.org/officeDocument/2006/relationships/slide" Target="/ppt/slides/slide142.xml" Id="R0c14378cc7fc42f8" /><Relationship Type="http://schemas.openxmlformats.org/officeDocument/2006/relationships/slide" Target="/ppt/slides/slide143.xml" Id="R1f4a61cb26234456" /><Relationship Type="http://schemas.openxmlformats.org/officeDocument/2006/relationships/slide" Target="/ppt/slides/slide144.xml" Id="R68e1fc899bc149b4" /><Relationship Type="http://schemas.openxmlformats.org/officeDocument/2006/relationships/slide" Target="/ppt/slides/slide145.xml" Id="R1ff399ce15144496" /><Relationship Type="http://schemas.openxmlformats.org/officeDocument/2006/relationships/slide" Target="/ppt/slides/slide146.xml" Id="Rbf08e806b7244dd7" /><Relationship Type="http://schemas.openxmlformats.org/officeDocument/2006/relationships/slide" Target="/ppt/slides/slide147.xml" Id="Rcae2c93972504240" /><Relationship Type="http://schemas.openxmlformats.org/officeDocument/2006/relationships/slide" Target="/ppt/slides/slide148.xml" Id="Rd583c6ffa0654fc7" /><Relationship Type="http://schemas.openxmlformats.org/officeDocument/2006/relationships/slide" Target="/ppt/slides/slide149.xml" Id="Re166c33195ca4981" /><Relationship Type="http://schemas.openxmlformats.org/officeDocument/2006/relationships/slide" Target="/ppt/slides/slide150.xml" Id="R5ecbe90c94404e0c" /><Relationship Type="http://schemas.openxmlformats.org/officeDocument/2006/relationships/slide" Target="/ppt/slides/slide151.xml" Id="Rf153d0fd615b4962" /><Relationship Type="http://schemas.openxmlformats.org/officeDocument/2006/relationships/slide" Target="/ppt/slides/slide152.xml" Id="R6d71908a0c914dea" /><Relationship Type="http://schemas.openxmlformats.org/officeDocument/2006/relationships/slide" Target="/ppt/slides/slide153.xml" Id="R2c987c650b4e4b4c" /><Relationship Type="http://schemas.openxmlformats.org/officeDocument/2006/relationships/slide" Target="/ppt/slides/slide154.xml" Id="Rbab9c101997b4c70" /><Relationship Type="http://schemas.openxmlformats.org/officeDocument/2006/relationships/slide" Target="/ppt/slides/slide155.xml" Id="Rca54efeb65af4a02" /><Relationship Type="http://schemas.openxmlformats.org/officeDocument/2006/relationships/slide" Target="/ppt/slides/slide156.xml" Id="R9c2698164df248e4" /><Relationship Type="http://schemas.openxmlformats.org/officeDocument/2006/relationships/slide" Target="/ppt/slides/slide157.xml" Id="Rf765da6522b24a3f" /><Relationship Type="http://schemas.openxmlformats.org/officeDocument/2006/relationships/slide" Target="/ppt/slides/slide158.xml" Id="R01efe572832b46c2" /><Relationship Type="http://schemas.openxmlformats.org/officeDocument/2006/relationships/slide" Target="/ppt/slides/slide159.xml" Id="Rf82f8ebeb1b64023" /><Relationship Type="http://schemas.openxmlformats.org/officeDocument/2006/relationships/slide" Target="/ppt/slides/slide160.xml" Id="R89867adf3e1b41b4" /><Relationship Type="http://schemas.openxmlformats.org/officeDocument/2006/relationships/slide" Target="/ppt/slides/slide161.xml" Id="Rd01d1783ec7946f9" /><Relationship Type="http://schemas.openxmlformats.org/officeDocument/2006/relationships/slide" Target="/ppt/slides/slide162.xml" Id="R6afcabeb41d54927" /><Relationship Type="http://schemas.openxmlformats.org/officeDocument/2006/relationships/slide" Target="/ppt/slides/slide163.xml" Id="R54f579e1d1cb4686" /><Relationship Type="http://schemas.openxmlformats.org/officeDocument/2006/relationships/slide" Target="/ppt/slides/slide164.xml" Id="R08c4e738a46f49fe" /><Relationship Type="http://schemas.openxmlformats.org/officeDocument/2006/relationships/slide" Target="/ppt/slides/slide165.xml" Id="Re71126a064634309" /><Relationship Type="http://schemas.openxmlformats.org/officeDocument/2006/relationships/slide" Target="/ppt/slides/slide166.xml" Id="R0e609ae4be3042c3" /><Relationship Type="http://schemas.openxmlformats.org/officeDocument/2006/relationships/slide" Target="/ppt/slides/slide167.xml" Id="R3e89bce997064254" /><Relationship Type="http://schemas.openxmlformats.org/officeDocument/2006/relationships/slide" Target="/ppt/slides/slide168.xml" Id="R60a5dd21c9104bcd" /><Relationship Type="http://schemas.openxmlformats.org/officeDocument/2006/relationships/slide" Target="/ppt/slides/slide169.xml" Id="R6a605c0658af405c" /><Relationship Type="http://schemas.openxmlformats.org/officeDocument/2006/relationships/slide" Target="/ppt/slides/slide170.xml" Id="Rffbdebe4328e48ec" /><Relationship Type="http://schemas.openxmlformats.org/officeDocument/2006/relationships/slide" Target="/ppt/slides/slide171.xml" Id="Rcb2a9f50eb4941e6" /><Relationship Type="http://schemas.openxmlformats.org/officeDocument/2006/relationships/slide" Target="/ppt/slides/slide172.xml" Id="R1ab2e07664244f08" /><Relationship Type="http://schemas.openxmlformats.org/officeDocument/2006/relationships/slide" Target="/ppt/slides/slide173.xml" Id="Rd85951bda9194348" /><Relationship Type="http://schemas.openxmlformats.org/officeDocument/2006/relationships/slide" Target="/ppt/slides/slide174.xml" Id="R7286979341144d16" /><Relationship Type="http://schemas.openxmlformats.org/officeDocument/2006/relationships/slide" Target="/ppt/slides/slide175.xml" Id="Rbae94d3e528344a1" /><Relationship Type="http://schemas.openxmlformats.org/officeDocument/2006/relationships/slide" Target="/ppt/slides/slide176.xml" Id="R8e986a0c6db94bd3" /><Relationship Type="http://schemas.openxmlformats.org/officeDocument/2006/relationships/slide" Target="/ppt/slides/slide177.xml" Id="R2d2bc1089fbc4065" /><Relationship Type="http://schemas.openxmlformats.org/officeDocument/2006/relationships/slide" Target="/ppt/slides/slide178.xml" Id="R8282693fa318419d" /><Relationship Type="http://schemas.openxmlformats.org/officeDocument/2006/relationships/slide" Target="/ppt/slides/slide179.xml" Id="R2059bcb2e6684405" /><Relationship Type="http://schemas.openxmlformats.org/officeDocument/2006/relationships/slide" Target="/ppt/slides/slide180.xml" Id="R3a56988d9f984c77" /><Relationship Type="http://schemas.openxmlformats.org/officeDocument/2006/relationships/slide" Target="/ppt/slides/slide181.xml" Id="R333f8f3e32d1474d" /><Relationship Type="http://schemas.openxmlformats.org/officeDocument/2006/relationships/slide" Target="/ppt/slides/slide182.xml" Id="R21d37ccc4def47ad" /><Relationship Type="http://schemas.openxmlformats.org/officeDocument/2006/relationships/slide" Target="/ppt/slides/slide183.xml" Id="R3df2b1db070a411f" /><Relationship Type="http://schemas.openxmlformats.org/officeDocument/2006/relationships/slide" Target="/ppt/slides/slide184.xml" Id="R18c2150ab9fb4ad9" /><Relationship Type="http://schemas.openxmlformats.org/officeDocument/2006/relationships/slide" Target="/ppt/slides/slide185.xml" Id="Refd90f6a7a3e435a" /><Relationship Type="http://schemas.openxmlformats.org/officeDocument/2006/relationships/slide" Target="/ppt/slides/slide186.xml" Id="R8adc350808c9462c" /><Relationship Type="http://schemas.openxmlformats.org/officeDocument/2006/relationships/slide" Target="/ppt/slides/slide187.xml" Id="Rf6920d6556024952" /><Relationship Type="http://schemas.openxmlformats.org/officeDocument/2006/relationships/slide" Target="/ppt/slides/slide188.xml" Id="R31f5f0f7309d444c" /><Relationship Type="http://schemas.openxmlformats.org/officeDocument/2006/relationships/slide" Target="/ppt/slides/slide189.xml" Id="R7507037922104418" /><Relationship Type="http://schemas.openxmlformats.org/officeDocument/2006/relationships/slide" Target="/ppt/slides/slide190.xml" Id="R19ee0277005c4e6d" /><Relationship Type="http://schemas.openxmlformats.org/officeDocument/2006/relationships/slide" Target="/ppt/slides/slide191.xml" Id="R94561655b68f4389" /><Relationship Type="http://schemas.openxmlformats.org/officeDocument/2006/relationships/slide" Target="/ppt/slides/slide192.xml" Id="R23a46acbc3be429c" /><Relationship Type="http://schemas.openxmlformats.org/officeDocument/2006/relationships/slide" Target="/ppt/slides/slide193.xml" Id="R7187e8fce81044e6" /><Relationship Type="http://schemas.openxmlformats.org/officeDocument/2006/relationships/slide" Target="/ppt/slides/slide194.xml" Id="R403ff556af09461a" /><Relationship Type="http://schemas.openxmlformats.org/officeDocument/2006/relationships/slide" Target="/ppt/slides/slide195.xml" Id="R438c24881910490c" /><Relationship Type="http://schemas.openxmlformats.org/officeDocument/2006/relationships/slide" Target="/ppt/slides/slide196.xml" Id="Re8b7a854c3f64e90" /><Relationship Type="http://schemas.openxmlformats.org/officeDocument/2006/relationships/slide" Target="/ppt/slides/slide197.xml" Id="R99d425f287424977" /><Relationship Type="http://schemas.openxmlformats.org/officeDocument/2006/relationships/slide" Target="/ppt/slides/slide198.xml" Id="R840008d7e9ce4003" /><Relationship Type="http://schemas.openxmlformats.org/officeDocument/2006/relationships/slide" Target="/ppt/slides/slide199.xml" Id="R11e0acf9643a41c2" /><Relationship Type="http://schemas.openxmlformats.org/officeDocument/2006/relationships/slide" Target="/ppt/slides/slide200.xml" Id="Rdb1e07bfa37748df" /><Relationship Type="http://schemas.openxmlformats.org/officeDocument/2006/relationships/slide" Target="/ppt/slides/slide201.xml" Id="R3640c7bee4844912" /><Relationship Type="http://schemas.openxmlformats.org/officeDocument/2006/relationships/slide" Target="/ppt/slides/slide202.xml" Id="R9aba002e5da748fd" /><Relationship Type="http://schemas.openxmlformats.org/officeDocument/2006/relationships/slide" Target="/ppt/slides/slide203.xml" Id="Rfa91b48c7f9a4edc" /><Relationship Type="http://schemas.openxmlformats.org/officeDocument/2006/relationships/slide" Target="/ppt/slides/slide204.xml" Id="R27dbad6334184e16" /><Relationship Type="http://schemas.openxmlformats.org/officeDocument/2006/relationships/slide" Target="/ppt/slides/slide205.xml" Id="Rbc230f434a7643dd" /><Relationship Type="http://schemas.openxmlformats.org/officeDocument/2006/relationships/slide" Target="/ppt/slides/slide206.xml" Id="R9076baa2bdda41db" /><Relationship Type="http://schemas.openxmlformats.org/officeDocument/2006/relationships/slide" Target="/ppt/slides/slide207.xml" Id="R171f00a112c84fa5" /><Relationship Type="http://schemas.openxmlformats.org/officeDocument/2006/relationships/slide" Target="/ppt/slides/slide208.xml" Id="R2ca54994d4da40af" /><Relationship Type="http://schemas.openxmlformats.org/officeDocument/2006/relationships/slide" Target="/ppt/slides/slide209.xml" Id="Rd587ec76bee245d8" /><Relationship Type="http://schemas.openxmlformats.org/officeDocument/2006/relationships/slide" Target="/ppt/slides/slide210.xml" Id="Rc66659bc50b44496" /><Relationship Type="http://schemas.openxmlformats.org/officeDocument/2006/relationships/slide" Target="/ppt/slides/slide211.xml" Id="R73af44b53f684a9e" /><Relationship Type="http://schemas.openxmlformats.org/officeDocument/2006/relationships/slide" Target="/ppt/slides/slide212.xml" Id="Rfd57f5695a814d8b" /><Relationship Type="http://schemas.openxmlformats.org/officeDocument/2006/relationships/slide" Target="/ppt/slides/slide213.xml" Id="R9dbe2d388eaf4b10" /><Relationship Type="http://schemas.openxmlformats.org/officeDocument/2006/relationships/slide" Target="/ppt/slides/slide214.xml" Id="Rfff0488a97604e90" /><Relationship Type="http://schemas.openxmlformats.org/officeDocument/2006/relationships/slide" Target="/ppt/slides/slide215.xml" Id="Re36e0a894618404b" /><Relationship Type="http://schemas.openxmlformats.org/officeDocument/2006/relationships/slide" Target="/ppt/slides/slide216.xml" Id="R12a422808a87451a" /><Relationship Type="http://schemas.openxmlformats.org/officeDocument/2006/relationships/slide" Target="/ppt/slides/slide217.xml" Id="Rd12d22550f26423c" /><Relationship Type="http://schemas.openxmlformats.org/officeDocument/2006/relationships/slide" Target="/ppt/slides/slide218.xml" Id="R3c1a0891f4c840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a7eb35594c44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fd2454bf784583" /><Relationship Type="http://schemas.openxmlformats.org/officeDocument/2006/relationships/notesMaster" Target="/ppt/notesMasters/notesMaster1.xml" Id="Rbd6379413ff949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5206e2325e74788" /><Relationship Type="http://schemas.openxmlformats.org/officeDocument/2006/relationships/notesMaster" Target="/ppt/notesMasters/notesMaster1.xml" Id="R39591f6c146b4a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074398acd84ac7" /><Relationship Type="http://schemas.openxmlformats.org/officeDocument/2006/relationships/notesMaster" Target="/ppt/notesMasters/notesMaster1.xml" Id="R2c7d402bb64e4dd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11f0ed1ec145bd" /><Relationship Type="http://schemas.openxmlformats.org/officeDocument/2006/relationships/notesMaster" Target="/ppt/notesMasters/notesMaster1.xml" Id="R729de81558bd45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0d007c3c9846f5" /><Relationship Type="http://schemas.openxmlformats.org/officeDocument/2006/relationships/notesMaster" Target="/ppt/notesMasters/notesMaster1.xml" Id="Re8426fd42a7e49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80b43b40aa4cb9" /><Relationship Type="http://schemas.openxmlformats.org/officeDocument/2006/relationships/notesMaster" Target="/ppt/notesMasters/notesMaster1.xml" Id="Rf0431e799a4545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65f65bea28481b" /><Relationship Type="http://schemas.openxmlformats.org/officeDocument/2006/relationships/notesMaster" Target="/ppt/notesMasters/notesMaster1.xml" Id="R283fbf4ac6794b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2b4cf3e75c4f5d" /><Relationship Type="http://schemas.openxmlformats.org/officeDocument/2006/relationships/notesMaster" Target="/ppt/notesMasters/notesMaster1.xml" Id="Re9ae52abf1234c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6439a725e946de" /><Relationship Type="http://schemas.openxmlformats.org/officeDocument/2006/relationships/notesMaster" Target="/ppt/notesMasters/notesMaster1.xml" Id="Rf45e0081cd034f2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ad56a9db3c4ddd" /><Relationship Type="http://schemas.openxmlformats.org/officeDocument/2006/relationships/notesMaster" Target="/ppt/notesMasters/notesMaster1.xml" Id="R7e35736ff2b3492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043d89d7da4810" /><Relationship Type="http://schemas.openxmlformats.org/officeDocument/2006/relationships/notesMaster" Target="/ppt/notesMasters/notesMaster1.xml" Id="R04f5252c51ae4e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26228919e4c4d0d" /><Relationship Type="http://schemas.openxmlformats.org/officeDocument/2006/relationships/notesMaster" Target="/ppt/notesMasters/notesMaster1.xml" Id="R614a68419b1f4e0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579d2fee53d4684" /><Relationship Type="http://schemas.openxmlformats.org/officeDocument/2006/relationships/notesMaster" Target="/ppt/notesMasters/notesMaster1.xml" Id="R75c24f5e09774da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6c48f13af4b4d29" /><Relationship Type="http://schemas.openxmlformats.org/officeDocument/2006/relationships/notesMaster" Target="/ppt/notesMasters/notesMaster1.xml" Id="R1c6bc13deddb43b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64219daa9d24f57" /><Relationship Type="http://schemas.openxmlformats.org/officeDocument/2006/relationships/notesMaster" Target="/ppt/notesMasters/notesMaster1.xml" Id="Re6088ede0ab7484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b702fb23ea94e9a" /><Relationship Type="http://schemas.openxmlformats.org/officeDocument/2006/relationships/notesMaster" Target="/ppt/notesMasters/notesMaster1.xml" Id="Rfaf37da63531466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3c6682966f14b04" /><Relationship Type="http://schemas.openxmlformats.org/officeDocument/2006/relationships/notesMaster" Target="/ppt/notesMasters/notesMaster1.xml" Id="Ra626135a04cf4f2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25df7d43b5b4a1d" /><Relationship Type="http://schemas.openxmlformats.org/officeDocument/2006/relationships/notesMaster" Target="/ppt/notesMasters/notesMaster1.xml" Id="Rb6da38a0306b4ea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d7698f3e7e545fb" /><Relationship Type="http://schemas.openxmlformats.org/officeDocument/2006/relationships/notesMaster" Target="/ppt/notesMasters/notesMaster1.xml" Id="Rd38a7696349649f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cda91f28a6d4b0e" /><Relationship Type="http://schemas.openxmlformats.org/officeDocument/2006/relationships/notesMaster" Target="/ppt/notesMasters/notesMaster1.xml" Id="R32bd616ad0014ad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b1023c533104f74" /><Relationship Type="http://schemas.openxmlformats.org/officeDocument/2006/relationships/notesMaster" Target="/ppt/notesMasters/notesMaster1.xml" Id="Rd5e20d45f960428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1dc6790280d47e9" /><Relationship Type="http://schemas.openxmlformats.org/officeDocument/2006/relationships/notesMaster" Target="/ppt/notesMasters/notesMaster1.xml" Id="Rb41a8b73de6841d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5b7471cb81f4f87" /><Relationship Type="http://schemas.openxmlformats.org/officeDocument/2006/relationships/notesMaster" Target="/ppt/notesMasters/notesMaster1.xml" Id="R498e0c461cc24cc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f06429b756349ef" /><Relationship Type="http://schemas.openxmlformats.org/officeDocument/2006/relationships/notesMaster" Target="/ppt/notesMasters/notesMaster1.xml" Id="Rfcc680f1bd174e1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36143e733a44949" /><Relationship Type="http://schemas.openxmlformats.org/officeDocument/2006/relationships/notesMaster" Target="/ppt/notesMasters/notesMaster1.xml" Id="R041399451880456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6c0d51c1a9a4761" /><Relationship Type="http://schemas.openxmlformats.org/officeDocument/2006/relationships/notesMaster" Target="/ppt/notesMasters/notesMaster1.xml" Id="Rcbbb61d7aace451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6a9dd891bc94e07" /><Relationship Type="http://schemas.openxmlformats.org/officeDocument/2006/relationships/notesMaster" Target="/ppt/notesMasters/notesMaster1.xml" Id="Rdcbe560a1c13410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dbb69887d034bf0" /><Relationship Type="http://schemas.openxmlformats.org/officeDocument/2006/relationships/notesMaster" Target="/ppt/notesMasters/notesMaster1.xml" Id="R717cf9fed1b94aa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f59f62cbd4249e9" /><Relationship Type="http://schemas.openxmlformats.org/officeDocument/2006/relationships/notesMaster" Target="/ppt/notesMasters/notesMaster1.xml" Id="R5f6b82087ee34fe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24dcad43cfe4a33" /><Relationship Type="http://schemas.openxmlformats.org/officeDocument/2006/relationships/notesMaster" Target="/ppt/notesMasters/notesMaster1.xml" Id="R3e8da2a749c446f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b9527afa8bb457b" /><Relationship Type="http://schemas.openxmlformats.org/officeDocument/2006/relationships/notesMaster" Target="/ppt/notesMasters/notesMaster1.xml" Id="Rd3c15413a770440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0e5c3e6a4414141" /><Relationship Type="http://schemas.openxmlformats.org/officeDocument/2006/relationships/notesMaster" Target="/ppt/notesMasters/notesMaster1.xml" Id="R1993327c3ee9402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853d6562da94089" /><Relationship Type="http://schemas.openxmlformats.org/officeDocument/2006/relationships/notesMaster" Target="/ppt/notesMasters/notesMaster1.xml" Id="R0975de46ea1c488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7bc6f04c365465e" /><Relationship Type="http://schemas.openxmlformats.org/officeDocument/2006/relationships/notesMaster" Target="/ppt/notesMasters/notesMaster1.xml" Id="R7bab6615373b455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bdf75a127cf4f57" /><Relationship Type="http://schemas.openxmlformats.org/officeDocument/2006/relationships/notesMaster" Target="/ppt/notesMasters/notesMaster1.xml" Id="Rb51650571ae4486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7a4d52a4f3f4189" /><Relationship Type="http://schemas.openxmlformats.org/officeDocument/2006/relationships/notesMaster" Target="/ppt/notesMasters/notesMaster1.xml" Id="R48a74662573a411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d229efa721947fe" /><Relationship Type="http://schemas.openxmlformats.org/officeDocument/2006/relationships/notesMaster" Target="/ppt/notesMasters/notesMaster1.xml" Id="R4a33e5dd01c8450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4a7f57916c34bfe" /><Relationship Type="http://schemas.openxmlformats.org/officeDocument/2006/relationships/notesMaster" Target="/ppt/notesMasters/notesMaster1.xml" Id="R0a4d495da5ea4f9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78aa38ded7248e7" /><Relationship Type="http://schemas.openxmlformats.org/officeDocument/2006/relationships/notesMaster" Target="/ppt/notesMasters/notesMaster1.xml" Id="R74c41f77bb15498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5f2d4e6b9e84dfa" /><Relationship Type="http://schemas.openxmlformats.org/officeDocument/2006/relationships/notesMaster" Target="/ppt/notesMasters/notesMaster1.xml" Id="Rb4ec514f83a4461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8c935b00a104f62" /><Relationship Type="http://schemas.openxmlformats.org/officeDocument/2006/relationships/notesMaster" Target="/ppt/notesMasters/notesMaster1.xml" Id="Rba87f7cd273140e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c43085c6299488d" /><Relationship Type="http://schemas.openxmlformats.org/officeDocument/2006/relationships/notesMaster" Target="/ppt/notesMasters/notesMaster1.xml" Id="R44e61f5a8d9a44c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d05071b2e864f31" /><Relationship Type="http://schemas.openxmlformats.org/officeDocument/2006/relationships/notesMaster" Target="/ppt/notesMasters/notesMaster1.xml" Id="R7bb0e450a61842a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649799de79b4506" /><Relationship Type="http://schemas.openxmlformats.org/officeDocument/2006/relationships/notesMaster" Target="/ppt/notesMasters/notesMaster1.xml" Id="R3f2a1dacad654b3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40d5d6fd4084e36" /><Relationship Type="http://schemas.openxmlformats.org/officeDocument/2006/relationships/notesMaster" Target="/ppt/notesMasters/notesMaster1.xml" Id="R284373a585cc460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5be35bc9caf49ba" /><Relationship Type="http://schemas.openxmlformats.org/officeDocument/2006/relationships/notesMaster" Target="/ppt/notesMasters/notesMaster1.xml" Id="Rd0b0e5a70c3f45ed"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5221021f9d64a6b" /><Relationship Type="http://schemas.openxmlformats.org/officeDocument/2006/relationships/notesMaster" Target="/ppt/notesMasters/notesMaster1.xml" Id="R9ee66fafda6448f0"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93124a31ad14f3d" /><Relationship Type="http://schemas.openxmlformats.org/officeDocument/2006/relationships/notesMaster" Target="/ppt/notesMasters/notesMaster1.xml" Id="R05363646b3704717"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6e02ea3b54546f7" /><Relationship Type="http://schemas.openxmlformats.org/officeDocument/2006/relationships/notesMaster" Target="/ppt/notesMasters/notesMaster1.xml" Id="R9568f274084f497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58ae3a0459f345c1" /><Relationship Type="http://schemas.openxmlformats.org/officeDocument/2006/relationships/notesMaster" Target="/ppt/notesMasters/notesMaster1.xml" Id="R712658856e8c491c"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5d6425b9d2e340cd" /><Relationship Type="http://schemas.openxmlformats.org/officeDocument/2006/relationships/notesMaster" Target="/ppt/notesMasters/notesMaster1.xml" Id="Rd1e06c0f8bf84513"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01f367a3f61e40f2" /><Relationship Type="http://schemas.openxmlformats.org/officeDocument/2006/relationships/notesMaster" Target="/ppt/notesMasters/notesMaster1.xml" Id="R3054b127b11240cd"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78aa0b79ff234007" /><Relationship Type="http://schemas.openxmlformats.org/officeDocument/2006/relationships/notesMaster" Target="/ppt/notesMasters/notesMaster1.xml" Id="Rbca41edd5d0f4e31"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aa486df52b04ea7" /><Relationship Type="http://schemas.openxmlformats.org/officeDocument/2006/relationships/notesMaster" Target="/ppt/notesMasters/notesMaster1.xml" Id="R890f16d184b74206"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049dd5588d9740d5" /><Relationship Type="http://schemas.openxmlformats.org/officeDocument/2006/relationships/notesMaster" Target="/ppt/notesMasters/notesMaster1.xml" Id="Rd615609744c74887"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e816d59973474e4d" /><Relationship Type="http://schemas.openxmlformats.org/officeDocument/2006/relationships/notesMaster" Target="/ppt/notesMasters/notesMaster1.xml" Id="R0eb9629cc69e42ed"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3ca9de51e2e14622" /><Relationship Type="http://schemas.openxmlformats.org/officeDocument/2006/relationships/notesMaster" Target="/ppt/notesMasters/notesMaster1.xml" Id="Rfbf00f2927e64ac4"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71d8751de91e4733" /><Relationship Type="http://schemas.openxmlformats.org/officeDocument/2006/relationships/notesMaster" Target="/ppt/notesMasters/notesMaster1.xml" Id="Rb8f502c90a934e12"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136abb1d09f44372" /><Relationship Type="http://schemas.openxmlformats.org/officeDocument/2006/relationships/notesMaster" Target="/ppt/notesMasters/notesMaster1.xml" Id="R3b42d2e8da334957"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976dc94ca7b04d03" /><Relationship Type="http://schemas.openxmlformats.org/officeDocument/2006/relationships/notesMaster" Target="/ppt/notesMasters/notesMaster1.xml" Id="R5f2a716c979e43f1"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6ae9e278cbec4012" /><Relationship Type="http://schemas.openxmlformats.org/officeDocument/2006/relationships/notesMaster" Target="/ppt/notesMasters/notesMaster1.xml" Id="Rd1f72421d2754575"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4ed585e7b0774e86" /><Relationship Type="http://schemas.openxmlformats.org/officeDocument/2006/relationships/notesMaster" Target="/ppt/notesMasters/notesMaster1.xml" Id="R445377dab4a547f1"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98f01d75b4a74ba0" /><Relationship Type="http://schemas.openxmlformats.org/officeDocument/2006/relationships/notesMaster" Target="/ppt/notesMasters/notesMaster1.xml" Id="Re29c9b332e7645ab"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e2ff6e222cc441a1" /><Relationship Type="http://schemas.openxmlformats.org/officeDocument/2006/relationships/notesMaster" Target="/ppt/notesMasters/notesMaster1.xml" Id="R27db1a7908d44658"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eeb271e8185a403e" /><Relationship Type="http://schemas.openxmlformats.org/officeDocument/2006/relationships/notesMaster" Target="/ppt/notesMasters/notesMaster1.xml" Id="R5d6763df21dc4884"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21473459b9034ab5" /><Relationship Type="http://schemas.openxmlformats.org/officeDocument/2006/relationships/notesMaster" Target="/ppt/notesMasters/notesMaster1.xml" Id="Rbe74271fdb4542cb"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0c08952158c24edb" /><Relationship Type="http://schemas.openxmlformats.org/officeDocument/2006/relationships/notesMaster" Target="/ppt/notesMasters/notesMaster1.xml" Id="Rce76f4012401424a"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ff0028bc592c497c" /><Relationship Type="http://schemas.openxmlformats.org/officeDocument/2006/relationships/notesMaster" Target="/ppt/notesMasters/notesMaster1.xml" Id="R528c367f3f0844a0"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3eb3610014c54850" /><Relationship Type="http://schemas.openxmlformats.org/officeDocument/2006/relationships/notesMaster" Target="/ppt/notesMasters/notesMaster1.xml" Id="Rde648429243f4406"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38bad2e7f46d4218" /><Relationship Type="http://schemas.openxmlformats.org/officeDocument/2006/relationships/notesMaster" Target="/ppt/notesMasters/notesMaster1.xml" Id="Rf738d51c9f8d402f"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04e4c42096754090" /><Relationship Type="http://schemas.openxmlformats.org/officeDocument/2006/relationships/notesMaster" Target="/ppt/notesMasters/notesMaster1.xml" Id="R768702d13dc34c44"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353b6f41e7d24960" /><Relationship Type="http://schemas.openxmlformats.org/officeDocument/2006/relationships/notesMaster" Target="/ppt/notesMasters/notesMaster1.xml" Id="Redd2e9d389ba4629"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da44dc52b1b3426c" /><Relationship Type="http://schemas.openxmlformats.org/officeDocument/2006/relationships/notesMaster" Target="/ppt/notesMasters/notesMaster1.xml" Id="R425f9c4546bc459c"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abbe0d4d6d5b448b" /><Relationship Type="http://schemas.openxmlformats.org/officeDocument/2006/relationships/notesMaster" Target="/ppt/notesMasters/notesMaster1.xml" Id="R09f4b0af66054164"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c53a64758e504f97" /><Relationship Type="http://schemas.openxmlformats.org/officeDocument/2006/relationships/notesMaster" Target="/ppt/notesMasters/notesMaster1.xml" Id="R11d1716eddfc4df3"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4b31fd3991854975" /><Relationship Type="http://schemas.openxmlformats.org/officeDocument/2006/relationships/notesMaster" Target="/ppt/notesMasters/notesMaster1.xml" Id="Radd33b58f9c242cf"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02b68597315f446e" /><Relationship Type="http://schemas.openxmlformats.org/officeDocument/2006/relationships/notesMaster" Target="/ppt/notesMasters/notesMaster1.xml" Id="R2afe2b22cd0b4bd7"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5666217f40f64ecd" /><Relationship Type="http://schemas.openxmlformats.org/officeDocument/2006/relationships/notesMaster" Target="/ppt/notesMasters/notesMaster1.xml" Id="Rd0f4b372c8f04179"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747df43cba3747da" /><Relationship Type="http://schemas.openxmlformats.org/officeDocument/2006/relationships/notesMaster" Target="/ppt/notesMasters/notesMaster1.xml" Id="R7cf1348d5c5545bd"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3aa6894711f849a1" /><Relationship Type="http://schemas.openxmlformats.org/officeDocument/2006/relationships/notesMaster" Target="/ppt/notesMasters/notesMaster1.xml" Id="Rc5153989587641b5"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15c96e22708142e9" /><Relationship Type="http://schemas.openxmlformats.org/officeDocument/2006/relationships/notesMaster" Target="/ppt/notesMasters/notesMaster1.xml" Id="R33419fad73bd4585"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70d8483ae58a481c" /><Relationship Type="http://schemas.openxmlformats.org/officeDocument/2006/relationships/notesMaster" Target="/ppt/notesMasters/notesMaster1.xml" Id="R1e1fbbaba9944a7c"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0e0e3cef0ce34b7d" /><Relationship Type="http://schemas.openxmlformats.org/officeDocument/2006/relationships/notesMaster" Target="/ppt/notesMasters/notesMaster1.xml" Id="Re2e64d33e1d2459c"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51f81f2f4fcd4cdd" /><Relationship Type="http://schemas.openxmlformats.org/officeDocument/2006/relationships/notesMaster" Target="/ppt/notesMasters/notesMaster1.xml" Id="R9e82061e1cdc4d7b"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7b28f44c0a3f46fc" /><Relationship Type="http://schemas.openxmlformats.org/officeDocument/2006/relationships/notesMaster" Target="/ppt/notesMasters/notesMaster1.xml" Id="R69f7721187d9463b"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2823a5f040634ef5" /><Relationship Type="http://schemas.openxmlformats.org/officeDocument/2006/relationships/notesMaster" Target="/ppt/notesMasters/notesMaster1.xml" Id="R70649efc859d4218"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5d5d885857a540e0" /><Relationship Type="http://schemas.openxmlformats.org/officeDocument/2006/relationships/notesMaster" Target="/ppt/notesMasters/notesMaster1.xml" Id="R6f19f2dba4f747db"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5db7e1fbf19f44d7" /><Relationship Type="http://schemas.openxmlformats.org/officeDocument/2006/relationships/notesMaster" Target="/ppt/notesMasters/notesMaster1.xml" Id="Rf077a88d838b43b7"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77ad9db3f1b54118" /><Relationship Type="http://schemas.openxmlformats.org/officeDocument/2006/relationships/notesMaster" Target="/ppt/notesMasters/notesMaster1.xml" Id="R285512ce16134786"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0dbb0f6e7aeb47b1" /><Relationship Type="http://schemas.openxmlformats.org/officeDocument/2006/relationships/notesMaster" Target="/ppt/notesMasters/notesMaster1.xml" Id="R2187565c7dec4ec6"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72d8dbeba1b9436a" /><Relationship Type="http://schemas.openxmlformats.org/officeDocument/2006/relationships/notesMaster" Target="/ppt/notesMasters/notesMaster1.xml" Id="Rd7a7401a30b84922"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242ea016eb724d47" /><Relationship Type="http://schemas.openxmlformats.org/officeDocument/2006/relationships/notesMaster" Target="/ppt/notesMasters/notesMaster1.xml" Id="R97e259588451449a"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dea70814d0794add" /><Relationship Type="http://schemas.openxmlformats.org/officeDocument/2006/relationships/notesMaster" Target="/ppt/notesMasters/notesMaster1.xml" Id="R8ae45cc726a14e5c"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70e0526563b34cac" /><Relationship Type="http://schemas.openxmlformats.org/officeDocument/2006/relationships/notesMaster" Target="/ppt/notesMasters/notesMaster1.xml" Id="R5dc857f3663242c0"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10d7b7d451e945f7" /><Relationship Type="http://schemas.openxmlformats.org/officeDocument/2006/relationships/notesMaster" Target="/ppt/notesMasters/notesMaster1.xml" Id="R4c46ed59c4cf4a12"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4d0a1827d4c94eaf" /><Relationship Type="http://schemas.openxmlformats.org/officeDocument/2006/relationships/notesMaster" Target="/ppt/notesMasters/notesMaster1.xml" Id="Re3d7079fc2e14c94"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c461b7217ff8471a" /><Relationship Type="http://schemas.openxmlformats.org/officeDocument/2006/relationships/notesMaster" Target="/ppt/notesMasters/notesMaster1.xml" Id="Rc94e32ddad014463"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b8d118a0549d409a" /><Relationship Type="http://schemas.openxmlformats.org/officeDocument/2006/relationships/notesMaster" Target="/ppt/notesMasters/notesMaster1.xml" Id="R18256e2ab85a474f"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0dc13581d9cc47a3" /><Relationship Type="http://schemas.openxmlformats.org/officeDocument/2006/relationships/notesMaster" Target="/ppt/notesMasters/notesMaster1.xml" Id="Ref808770ffd4488a"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2a24f9e2fa194aea" /><Relationship Type="http://schemas.openxmlformats.org/officeDocument/2006/relationships/notesMaster" Target="/ppt/notesMasters/notesMaster1.xml" Id="Rca76486c06b74778"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6da51e59631e48a4" /><Relationship Type="http://schemas.openxmlformats.org/officeDocument/2006/relationships/notesMaster" Target="/ppt/notesMasters/notesMaster1.xml" Id="Ra477c202411a4239"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522bf3eadba94cfa" /><Relationship Type="http://schemas.openxmlformats.org/officeDocument/2006/relationships/notesMaster" Target="/ppt/notesMasters/notesMaster1.xml" Id="Rff5003f76f194ac6"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0d093779d6ec4483" /><Relationship Type="http://schemas.openxmlformats.org/officeDocument/2006/relationships/notesMaster" Target="/ppt/notesMasters/notesMaster1.xml" Id="R8d3099471a5f43e8"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9f1a7902e9674b4a" /><Relationship Type="http://schemas.openxmlformats.org/officeDocument/2006/relationships/notesMaster" Target="/ppt/notesMasters/notesMaster1.xml" Id="R6001d4ee14c64845"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74920af233524c37" /><Relationship Type="http://schemas.openxmlformats.org/officeDocument/2006/relationships/notesMaster" Target="/ppt/notesMasters/notesMaster1.xml" Id="R5864a74746d447b9"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8291f7fb49bb411f" /><Relationship Type="http://schemas.openxmlformats.org/officeDocument/2006/relationships/notesMaster" Target="/ppt/notesMasters/notesMaster1.xml" Id="R34bffb1fceef4a85"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5c342d3b5b60481c" /><Relationship Type="http://schemas.openxmlformats.org/officeDocument/2006/relationships/notesMaster" Target="/ppt/notesMasters/notesMaster1.xml" Id="Rb8945150163b4a56"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c8acba7984924edb" /><Relationship Type="http://schemas.openxmlformats.org/officeDocument/2006/relationships/notesMaster" Target="/ppt/notesMasters/notesMaster1.xml" Id="Rcf5c5df4a23b4921"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49f1d221741346ea" /><Relationship Type="http://schemas.openxmlformats.org/officeDocument/2006/relationships/notesMaster" Target="/ppt/notesMasters/notesMaster1.xml" Id="Rb5401427a05d42c6"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27387d07d6634183" /><Relationship Type="http://schemas.openxmlformats.org/officeDocument/2006/relationships/notesMaster" Target="/ppt/notesMasters/notesMaster1.xml" Id="Rb7fa39bd61eb435c"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27f3037d4e324efa" /><Relationship Type="http://schemas.openxmlformats.org/officeDocument/2006/relationships/notesMaster" Target="/ppt/notesMasters/notesMaster1.xml" Id="Rcb2dfe4be86e499e"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30d37a7b09da45de" /><Relationship Type="http://schemas.openxmlformats.org/officeDocument/2006/relationships/notesMaster" Target="/ppt/notesMasters/notesMaster1.xml" Id="Rcc8b04d107094c14"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1632da9ad3bd4233" /><Relationship Type="http://schemas.openxmlformats.org/officeDocument/2006/relationships/notesMaster" Target="/ppt/notesMasters/notesMaster1.xml" Id="R1a6a325d719e4691"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2c750fd479794770" /><Relationship Type="http://schemas.openxmlformats.org/officeDocument/2006/relationships/notesMaster" Target="/ppt/notesMasters/notesMaster1.xml" Id="Rc5e723259f0a4d0d"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253a0b996e0b40a6" /><Relationship Type="http://schemas.openxmlformats.org/officeDocument/2006/relationships/notesMaster" Target="/ppt/notesMasters/notesMaster1.xml" Id="Rf9e13c24ea894f0e"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6e2ae4fc277b4c65" /><Relationship Type="http://schemas.openxmlformats.org/officeDocument/2006/relationships/notesMaster" Target="/ppt/notesMasters/notesMaster1.xml" Id="Ra0c603a8da2846a4"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fd53ec1de7e64d98" /><Relationship Type="http://schemas.openxmlformats.org/officeDocument/2006/relationships/notesMaster" Target="/ppt/notesMasters/notesMaster1.xml" Id="R49792c5e9ce645ed"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100e3515a52d4aa7" /><Relationship Type="http://schemas.openxmlformats.org/officeDocument/2006/relationships/notesMaster" Target="/ppt/notesMasters/notesMaster1.xml" Id="R9fb95004254c4150"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f561eabb4954481f" /><Relationship Type="http://schemas.openxmlformats.org/officeDocument/2006/relationships/notesMaster" Target="/ppt/notesMasters/notesMaster1.xml" Id="R35990af2f1fd442e"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cd95b155f8b04b0e" /><Relationship Type="http://schemas.openxmlformats.org/officeDocument/2006/relationships/notesMaster" Target="/ppt/notesMasters/notesMaster1.xml" Id="Rea6ff8ab80944c9a"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bfc6c1495ec94eb6" /><Relationship Type="http://schemas.openxmlformats.org/officeDocument/2006/relationships/notesMaster" Target="/ppt/notesMasters/notesMaster1.xml" Id="R6611ab2177f74c3d"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625b531330f547d0" /><Relationship Type="http://schemas.openxmlformats.org/officeDocument/2006/relationships/notesMaster" Target="/ppt/notesMasters/notesMaster1.xml" Id="Rf725f0e4fe6c419f"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23243dd0fc574fe3" /><Relationship Type="http://schemas.openxmlformats.org/officeDocument/2006/relationships/notesMaster" Target="/ppt/notesMasters/notesMaster1.xml" Id="Rf2e1936cd133471c"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40313111121c4429" /><Relationship Type="http://schemas.openxmlformats.org/officeDocument/2006/relationships/notesMaster" Target="/ppt/notesMasters/notesMaster1.xml" Id="R7c836eb8514b4c87"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67cfc7b9d2154f9c" /><Relationship Type="http://schemas.openxmlformats.org/officeDocument/2006/relationships/notesMaster" Target="/ppt/notesMasters/notesMaster1.xml" Id="R2cc1e64a94984b9d"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e0f589f290cb4488" /><Relationship Type="http://schemas.openxmlformats.org/officeDocument/2006/relationships/notesMaster" Target="/ppt/notesMasters/notesMaster1.xml" Id="R9827f996cb734201"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c21b62ca3f014b6e" /><Relationship Type="http://schemas.openxmlformats.org/officeDocument/2006/relationships/notesMaster" Target="/ppt/notesMasters/notesMaster1.xml" Id="R96f4907c35d04feb"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b513f443b9b7448e" /><Relationship Type="http://schemas.openxmlformats.org/officeDocument/2006/relationships/notesMaster" Target="/ppt/notesMasters/notesMaster1.xml" Id="R6e6569e892b0446e"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aa484019c4334234" /><Relationship Type="http://schemas.openxmlformats.org/officeDocument/2006/relationships/notesMaster" Target="/ppt/notesMasters/notesMaster1.xml" Id="R2e333115ef9e439b"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0283b260bed24ad3" /><Relationship Type="http://schemas.openxmlformats.org/officeDocument/2006/relationships/notesMaster" Target="/ppt/notesMasters/notesMaster1.xml" Id="R16477f739e084e9a"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d0a424f7947846a5" /><Relationship Type="http://schemas.openxmlformats.org/officeDocument/2006/relationships/notesMaster" Target="/ppt/notesMasters/notesMaster1.xml" Id="R21cff35dda534792"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7616b6e23d034433" /><Relationship Type="http://schemas.openxmlformats.org/officeDocument/2006/relationships/notesMaster" Target="/ppt/notesMasters/notesMaster1.xml" Id="Rf2198e9d06d24201"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0e8dfe20dfdf4fb9" /><Relationship Type="http://schemas.openxmlformats.org/officeDocument/2006/relationships/notesMaster" Target="/ppt/notesMasters/notesMaster1.xml" Id="Re81b8931e9344399"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87ff63073e874b9f" /><Relationship Type="http://schemas.openxmlformats.org/officeDocument/2006/relationships/notesMaster" Target="/ppt/notesMasters/notesMaster1.xml" Id="Rfa28caf6a4ee4850"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9b43517bc5834694" /><Relationship Type="http://schemas.openxmlformats.org/officeDocument/2006/relationships/notesMaster" Target="/ppt/notesMasters/notesMaster1.xml" Id="Ra976fd66c0dd47e5"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e5e8c2c357854bef" /><Relationship Type="http://schemas.openxmlformats.org/officeDocument/2006/relationships/notesMaster" Target="/ppt/notesMasters/notesMaster1.xml" Id="R8518a2a89b744c37"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32647fa8195147e5" /><Relationship Type="http://schemas.openxmlformats.org/officeDocument/2006/relationships/notesMaster" Target="/ppt/notesMasters/notesMaster1.xml" Id="R23ba3a22913a410f"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0bd11feafe904d05" /><Relationship Type="http://schemas.openxmlformats.org/officeDocument/2006/relationships/notesMaster" Target="/ppt/notesMasters/notesMaster1.xml" Id="R6500da66061b4982"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7194503efd7d439d" /><Relationship Type="http://schemas.openxmlformats.org/officeDocument/2006/relationships/notesMaster" Target="/ppt/notesMasters/notesMaster1.xml" Id="Rdbcb21d872fa41d3"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e1be70a38249447c" /><Relationship Type="http://schemas.openxmlformats.org/officeDocument/2006/relationships/notesMaster" Target="/ppt/notesMasters/notesMaster1.xml" Id="Rb6a88716fd5548bb"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3afbe4515a1e429d" /><Relationship Type="http://schemas.openxmlformats.org/officeDocument/2006/relationships/notesMaster" Target="/ppt/notesMasters/notesMaster1.xml" Id="R5e0d77638f3e48a0"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ba9e7b3f35d043b2" /><Relationship Type="http://schemas.openxmlformats.org/officeDocument/2006/relationships/notesMaster" Target="/ppt/notesMasters/notesMaster1.xml" Id="Rfdfd0456199d470c"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a5c01af5d1f647ee" /><Relationship Type="http://schemas.openxmlformats.org/officeDocument/2006/relationships/notesMaster" Target="/ppt/notesMasters/notesMaster1.xml" Id="Ref56ee8c39cd4366"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8655ec51788f4953" /><Relationship Type="http://schemas.openxmlformats.org/officeDocument/2006/relationships/notesMaster" Target="/ppt/notesMasters/notesMaster1.xml" Id="Rb272b292098049ce"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f78c876ba414448a" /><Relationship Type="http://schemas.openxmlformats.org/officeDocument/2006/relationships/notesMaster" Target="/ppt/notesMasters/notesMaster1.xml" Id="Ra31cda32b6f449f6"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bfc90bad5e7a4e88" /><Relationship Type="http://schemas.openxmlformats.org/officeDocument/2006/relationships/notesMaster" Target="/ppt/notesMasters/notesMaster1.xml" Id="R45ec1306fcbd4dd4"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093785d23ab2405b" /><Relationship Type="http://schemas.openxmlformats.org/officeDocument/2006/relationships/notesMaster" Target="/ppt/notesMasters/notesMaster1.xml" Id="Raf1ec7e9229741fc"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50155e51254b4626" /><Relationship Type="http://schemas.openxmlformats.org/officeDocument/2006/relationships/notesMaster" Target="/ppt/notesMasters/notesMaster1.xml" Id="R9b254973129c4488"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a1e3618acce243ad" /><Relationship Type="http://schemas.openxmlformats.org/officeDocument/2006/relationships/notesMaster" Target="/ppt/notesMasters/notesMaster1.xml" Id="R05fe44674fa844f7"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8c401a0ae21f4981" /><Relationship Type="http://schemas.openxmlformats.org/officeDocument/2006/relationships/notesMaster" Target="/ppt/notesMasters/notesMaster1.xml" Id="Re579629e42b14d77"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80c3fa531ee74200" /><Relationship Type="http://schemas.openxmlformats.org/officeDocument/2006/relationships/notesMaster" Target="/ppt/notesMasters/notesMaster1.xml" Id="Rcf546224884741ed"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610a0def288b4bd7" /><Relationship Type="http://schemas.openxmlformats.org/officeDocument/2006/relationships/notesMaster" Target="/ppt/notesMasters/notesMaster1.xml" Id="Rccda45e23b9a4857"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85b5e79b23bc4b0d" /><Relationship Type="http://schemas.openxmlformats.org/officeDocument/2006/relationships/notesMaster" Target="/ppt/notesMasters/notesMaster1.xml" Id="R516a7e3c3629406e"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b03351fb5ae9412c" /><Relationship Type="http://schemas.openxmlformats.org/officeDocument/2006/relationships/notesMaster" Target="/ppt/notesMasters/notesMaster1.xml" Id="R989342c5943e4d2c" /></Relationships>
</file>

<file path=ppt/notesSlides/_rels/notesSlide155.xml.rels>&#65279;<?xml version="1.0" encoding="utf-8"?><Relationships xmlns="http://schemas.openxmlformats.org/package/2006/relationships"><Relationship Type="http://schemas.openxmlformats.org/officeDocument/2006/relationships/slide" Target="/ppt/slides/slide155.xml" Id="R588620ea3b334f5c" /><Relationship Type="http://schemas.openxmlformats.org/officeDocument/2006/relationships/notesMaster" Target="/ppt/notesMasters/notesMaster1.xml" Id="Rbb821d6b2fbe488d" /></Relationships>
</file>

<file path=ppt/notesSlides/_rels/notesSlide156.xml.rels>&#65279;<?xml version="1.0" encoding="utf-8"?><Relationships xmlns="http://schemas.openxmlformats.org/package/2006/relationships"><Relationship Type="http://schemas.openxmlformats.org/officeDocument/2006/relationships/slide" Target="/ppt/slides/slide156.xml" Id="R5edb1321955f4b31" /><Relationship Type="http://schemas.openxmlformats.org/officeDocument/2006/relationships/notesMaster" Target="/ppt/notesMasters/notesMaster1.xml" Id="Rc0062b1390e840e7" /></Relationships>
</file>

<file path=ppt/notesSlides/_rels/notesSlide157.xml.rels>&#65279;<?xml version="1.0" encoding="utf-8"?><Relationships xmlns="http://schemas.openxmlformats.org/package/2006/relationships"><Relationship Type="http://schemas.openxmlformats.org/officeDocument/2006/relationships/slide" Target="/ppt/slides/slide157.xml" Id="R45253b94dbb44c0f" /><Relationship Type="http://schemas.openxmlformats.org/officeDocument/2006/relationships/notesMaster" Target="/ppt/notesMasters/notesMaster1.xml" Id="Re8abb6d4adb841c3" /></Relationships>
</file>

<file path=ppt/notesSlides/_rels/notesSlide158.xml.rels>&#65279;<?xml version="1.0" encoding="utf-8"?><Relationships xmlns="http://schemas.openxmlformats.org/package/2006/relationships"><Relationship Type="http://schemas.openxmlformats.org/officeDocument/2006/relationships/slide" Target="/ppt/slides/slide158.xml" Id="R52ff059b9e074e16" /><Relationship Type="http://schemas.openxmlformats.org/officeDocument/2006/relationships/notesMaster" Target="/ppt/notesMasters/notesMaster1.xml" Id="R5526e0ce3ef749dd" /></Relationships>
</file>

<file path=ppt/notesSlides/_rels/notesSlide159.xml.rels>&#65279;<?xml version="1.0" encoding="utf-8"?><Relationships xmlns="http://schemas.openxmlformats.org/package/2006/relationships"><Relationship Type="http://schemas.openxmlformats.org/officeDocument/2006/relationships/slide" Target="/ppt/slides/slide159.xml" Id="R6515406f4ca94dde" /><Relationship Type="http://schemas.openxmlformats.org/officeDocument/2006/relationships/notesMaster" Target="/ppt/notesMasters/notesMaster1.xml" Id="R6e079b5340d84d25" /></Relationships>
</file>

<file path=ppt/notesSlides/_rels/notesSlide160.xml.rels>&#65279;<?xml version="1.0" encoding="utf-8"?><Relationships xmlns="http://schemas.openxmlformats.org/package/2006/relationships"><Relationship Type="http://schemas.openxmlformats.org/officeDocument/2006/relationships/slide" Target="/ppt/slides/slide160.xml" Id="R941bc68b2d20460d" /><Relationship Type="http://schemas.openxmlformats.org/officeDocument/2006/relationships/notesMaster" Target="/ppt/notesMasters/notesMaster1.xml" Id="R3abf1d15bf964ab8" /></Relationships>
</file>

<file path=ppt/notesSlides/_rels/notesSlide161.xml.rels>&#65279;<?xml version="1.0" encoding="utf-8"?><Relationships xmlns="http://schemas.openxmlformats.org/package/2006/relationships"><Relationship Type="http://schemas.openxmlformats.org/officeDocument/2006/relationships/slide" Target="/ppt/slides/slide161.xml" Id="R35424c67b0d344ac" /><Relationship Type="http://schemas.openxmlformats.org/officeDocument/2006/relationships/notesMaster" Target="/ppt/notesMasters/notesMaster1.xml" Id="R6b288a3c6efb4c40" /></Relationships>
</file>

<file path=ppt/notesSlides/_rels/notesSlide162.xml.rels>&#65279;<?xml version="1.0" encoding="utf-8"?><Relationships xmlns="http://schemas.openxmlformats.org/package/2006/relationships"><Relationship Type="http://schemas.openxmlformats.org/officeDocument/2006/relationships/slide" Target="/ppt/slides/slide162.xml" Id="R59585e3fb0fc4e5d" /><Relationship Type="http://schemas.openxmlformats.org/officeDocument/2006/relationships/notesMaster" Target="/ppt/notesMasters/notesMaster1.xml" Id="R5c078f1bbb47476e" /></Relationships>
</file>

<file path=ppt/notesSlides/_rels/notesSlide163.xml.rels>&#65279;<?xml version="1.0" encoding="utf-8"?><Relationships xmlns="http://schemas.openxmlformats.org/package/2006/relationships"><Relationship Type="http://schemas.openxmlformats.org/officeDocument/2006/relationships/slide" Target="/ppt/slides/slide163.xml" Id="R4c4dd498df5e4604" /><Relationship Type="http://schemas.openxmlformats.org/officeDocument/2006/relationships/notesMaster" Target="/ppt/notesMasters/notesMaster1.xml" Id="R8461b77cd5034b89" /></Relationships>
</file>

<file path=ppt/notesSlides/_rels/notesSlide164.xml.rels>&#65279;<?xml version="1.0" encoding="utf-8"?><Relationships xmlns="http://schemas.openxmlformats.org/package/2006/relationships"><Relationship Type="http://schemas.openxmlformats.org/officeDocument/2006/relationships/slide" Target="/ppt/slides/slide164.xml" Id="Ref8f9d48574047d4" /><Relationship Type="http://schemas.openxmlformats.org/officeDocument/2006/relationships/notesMaster" Target="/ppt/notesMasters/notesMaster1.xml" Id="R05b6727241054e26" /></Relationships>
</file>

<file path=ppt/notesSlides/_rels/notesSlide165.xml.rels>&#65279;<?xml version="1.0" encoding="utf-8"?><Relationships xmlns="http://schemas.openxmlformats.org/package/2006/relationships"><Relationship Type="http://schemas.openxmlformats.org/officeDocument/2006/relationships/slide" Target="/ppt/slides/slide165.xml" Id="Rf5a305f0d02847f1" /><Relationship Type="http://schemas.openxmlformats.org/officeDocument/2006/relationships/notesMaster" Target="/ppt/notesMasters/notesMaster1.xml" Id="R2b1e769af57643af" /></Relationships>
</file>

<file path=ppt/notesSlides/_rels/notesSlide166.xml.rels>&#65279;<?xml version="1.0" encoding="utf-8"?><Relationships xmlns="http://schemas.openxmlformats.org/package/2006/relationships"><Relationship Type="http://schemas.openxmlformats.org/officeDocument/2006/relationships/slide" Target="/ppt/slides/slide166.xml" Id="R19b9596538244c22" /><Relationship Type="http://schemas.openxmlformats.org/officeDocument/2006/relationships/notesMaster" Target="/ppt/notesMasters/notesMaster1.xml" Id="R106ce1aeddc24eba" /></Relationships>
</file>

<file path=ppt/notesSlides/_rels/notesSlide167.xml.rels>&#65279;<?xml version="1.0" encoding="utf-8"?><Relationships xmlns="http://schemas.openxmlformats.org/package/2006/relationships"><Relationship Type="http://schemas.openxmlformats.org/officeDocument/2006/relationships/slide" Target="/ppt/slides/slide167.xml" Id="Rc8c4b82257b24edf" /><Relationship Type="http://schemas.openxmlformats.org/officeDocument/2006/relationships/notesMaster" Target="/ppt/notesMasters/notesMaster1.xml" Id="Rd09ff6006ff6465e" /></Relationships>
</file>

<file path=ppt/notesSlides/_rels/notesSlide168.xml.rels>&#65279;<?xml version="1.0" encoding="utf-8"?><Relationships xmlns="http://schemas.openxmlformats.org/package/2006/relationships"><Relationship Type="http://schemas.openxmlformats.org/officeDocument/2006/relationships/slide" Target="/ppt/slides/slide168.xml" Id="Rc7e5ec5df7244e55" /><Relationship Type="http://schemas.openxmlformats.org/officeDocument/2006/relationships/notesMaster" Target="/ppt/notesMasters/notesMaster1.xml" Id="R2b3d6c1e2ebb4f89" /></Relationships>
</file>

<file path=ppt/notesSlides/_rels/notesSlide169.xml.rels>&#65279;<?xml version="1.0" encoding="utf-8"?><Relationships xmlns="http://schemas.openxmlformats.org/package/2006/relationships"><Relationship Type="http://schemas.openxmlformats.org/officeDocument/2006/relationships/slide" Target="/ppt/slides/slide169.xml" Id="R04225ff6c8b447c6" /><Relationship Type="http://schemas.openxmlformats.org/officeDocument/2006/relationships/notesMaster" Target="/ppt/notesMasters/notesMaster1.xml" Id="Re7085738db3548b0" /></Relationships>
</file>

<file path=ppt/notesSlides/_rels/notesSlide170.xml.rels>&#65279;<?xml version="1.0" encoding="utf-8"?><Relationships xmlns="http://schemas.openxmlformats.org/package/2006/relationships"><Relationship Type="http://schemas.openxmlformats.org/officeDocument/2006/relationships/slide" Target="/ppt/slides/slide170.xml" Id="R8fd66dd6a89c4341" /><Relationship Type="http://schemas.openxmlformats.org/officeDocument/2006/relationships/notesMaster" Target="/ppt/notesMasters/notesMaster1.xml" Id="Rd2d2cc81e99f447b" /></Relationships>
</file>

<file path=ppt/notesSlides/_rels/notesSlide171.xml.rels>&#65279;<?xml version="1.0" encoding="utf-8"?><Relationships xmlns="http://schemas.openxmlformats.org/package/2006/relationships"><Relationship Type="http://schemas.openxmlformats.org/officeDocument/2006/relationships/slide" Target="/ppt/slides/slide171.xml" Id="R9fe89d0bc91e4fd3" /><Relationship Type="http://schemas.openxmlformats.org/officeDocument/2006/relationships/notesMaster" Target="/ppt/notesMasters/notesMaster1.xml" Id="R95486a17910a42aa" /></Relationships>
</file>

<file path=ppt/notesSlides/_rels/notesSlide172.xml.rels>&#65279;<?xml version="1.0" encoding="utf-8"?><Relationships xmlns="http://schemas.openxmlformats.org/package/2006/relationships"><Relationship Type="http://schemas.openxmlformats.org/officeDocument/2006/relationships/slide" Target="/ppt/slides/slide172.xml" Id="Rf38819b73f12480d" /><Relationship Type="http://schemas.openxmlformats.org/officeDocument/2006/relationships/notesMaster" Target="/ppt/notesMasters/notesMaster1.xml" Id="Ra8867298e9704c87" /></Relationships>
</file>

<file path=ppt/notesSlides/_rels/notesSlide173.xml.rels>&#65279;<?xml version="1.0" encoding="utf-8"?><Relationships xmlns="http://schemas.openxmlformats.org/package/2006/relationships"><Relationship Type="http://schemas.openxmlformats.org/officeDocument/2006/relationships/slide" Target="/ppt/slides/slide173.xml" Id="R18ae2501f174409c" /><Relationship Type="http://schemas.openxmlformats.org/officeDocument/2006/relationships/notesMaster" Target="/ppt/notesMasters/notesMaster1.xml" Id="R7b4134808f1e4530" /></Relationships>
</file>

<file path=ppt/notesSlides/_rels/notesSlide174.xml.rels>&#65279;<?xml version="1.0" encoding="utf-8"?><Relationships xmlns="http://schemas.openxmlformats.org/package/2006/relationships"><Relationship Type="http://schemas.openxmlformats.org/officeDocument/2006/relationships/slide" Target="/ppt/slides/slide174.xml" Id="R004fb79916f04e68" /><Relationship Type="http://schemas.openxmlformats.org/officeDocument/2006/relationships/notesMaster" Target="/ppt/notesMasters/notesMaster1.xml" Id="R8f34175b78384ea3" /></Relationships>
</file>

<file path=ppt/notesSlides/_rels/notesSlide175.xml.rels>&#65279;<?xml version="1.0" encoding="utf-8"?><Relationships xmlns="http://schemas.openxmlformats.org/package/2006/relationships"><Relationship Type="http://schemas.openxmlformats.org/officeDocument/2006/relationships/slide" Target="/ppt/slides/slide175.xml" Id="R9910bc1f5aa34e5f" /><Relationship Type="http://schemas.openxmlformats.org/officeDocument/2006/relationships/notesMaster" Target="/ppt/notesMasters/notesMaster1.xml" Id="Rb22cf058c9b9464e" /></Relationships>
</file>

<file path=ppt/notesSlides/_rels/notesSlide176.xml.rels>&#65279;<?xml version="1.0" encoding="utf-8"?><Relationships xmlns="http://schemas.openxmlformats.org/package/2006/relationships"><Relationship Type="http://schemas.openxmlformats.org/officeDocument/2006/relationships/slide" Target="/ppt/slides/slide176.xml" Id="R865148a1bd574abb" /><Relationship Type="http://schemas.openxmlformats.org/officeDocument/2006/relationships/notesMaster" Target="/ppt/notesMasters/notesMaster1.xml" Id="R9ba83c94f49f4f17" /></Relationships>
</file>

<file path=ppt/notesSlides/_rels/notesSlide177.xml.rels>&#65279;<?xml version="1.0" encoding="utf-8"?><Relationships xmlns="http://schemas.openxmlformats.org/package/2006/relationships"><Relationship Type="http://schemas.openxmlformats.org/officeDocument/2006/relationships/slide" Target="/ppt/slides/slide177.xml" Id="R6f2188f9705b4976" /><Relationship Type="http://schemas.openxmlformats.org/officeDocument/2006/relationships/notesMaster" Target="/ppt/notesMasters/notesMaster1.xml" Id="R9a798c0910124b48" /></Relationships>
</file>

<file path=ppt/notesSlides/_rels/notesSlide178.xml.rels>&#65279;<?xml version="1.0" encoding="utf-8"?><Relationships xmlns="http://schemas.openxmlformats.org/package/2006/relationships"><Relationship Type="http://schemas.openxmlformats.org/officeDocument/2006/relationships/slide" Target="/ppt/slides/slide178.xml" Id="R440885c903574c82" /><Relationship Type="http://schemas.openxmlformats.org/officeDocument/2006/relationships/notesMaster" Target="/ppt/notesMasters/notesMaster1.xml" Id="Rbb03b391378f4cbc" /></Relationships>
</file>

<file path=ppt/notesSlides/_rels/notesSlide179.xml.rels>&#65279;<?xml version="1.0" encoding="utf-8"?><Relationships xmlns="http://schemas.openxmlformats.org/package/2006/relationships"><Relationship Type="http://schemas.openxmlformats.org/officeDocument/2006/relationships/slide" Target="/ppt/slides/slide179.xml" Id="R03e9a1093d9e4804" /><Relationship Type="http://schemas.openxmlformats.org/officeDocument/2006/relationships/notesMaster" Target="/ppt/notesMasters/notesMaster1.xml" Id="R87ef396879054670" /></Relationships>
</file>

<file path=ppt/notesSlides/_rels/notesSlide180.xml.rels>&#65279;<?xml version="1.0" encoding="utf-8"?><Relationships xmlns="http://schemas.openxmlformats.org/package/2006/relationships"><Relationship Type="http://schemas.openxmlformats.org/officeDocument/2006/relationships/slide" Target="/ppt/slides/slide180.xml" Id="R67dd052c481f4cc4" /><Relationship Type="http://schemas.openxmlformats.org/officeDocument/2006/relationships/notesMaster" Target="/ppt/notesMasters/notesMaster1.xml" Id="R525bc786cc4c4fd5" /></Relationships>
</file>

<file path=ppt/notesSlides/_rels/notesSlide181.xml.rels>&#65279;<?xml version="1.0" encoding="utf-8"?><Relationships xmlns="http://schemas.openxmlformats.org/package/2006/relationships"><Relationship Type="http://schemas.openxmlformats.org/officeDocument/2006/relationships/slide" Target="/ppt/slides/slide181.xml" Id="R3183c5c4cc8d42b4" /><Relationship Type="http://schemas.openxmlformats.org/officeDocument/2006/relationships/notesMaster" Target="/ppt/notesMasters/notesMaster1.xml" Id="Rdd6f92a98b0f4440" /></Relationships>
</file>

<file path=ppt/notesSlides/_rels/notesSlide182.xml.rels>&#65279;<?xml version="1.0" encoding="utf-8"?><Relationships xmlns="http://schemas.openxmlformats.org/package/2006/relationships"><Relationship Type="http://schemas.openxmlformats.org/officeDocument/2006/relationships/slide" Target="/ppt/slides/slide182.xml" Id="Rda6f8c353011453c" /><Relationship Type="http://schemas.openxmlformats.org/officeDocument/2006/relationships/notesMaster" Target="/ppt/notesMasters/notesMaster1.xml" Id="R796f3efbdc9545a4" /></Relationships>
</file>

<file path=ppt/notesSlides/_rels/notesSlide183.xml.rels>&#65279;<?xml version="1.0" encoding="utf-8"?><Relationships xmlns="http://schemas.openxmlformats.org/package/2006/relationships"><Relationship Type="http://schemas.openxmlformats.org/officeDocument/2006/relationships/slide" Target="/ppt/slides/slide183.xml" Id="Ra10f4d55c2f2485c" /><Relationship Type="http://schemas.openxmlformats.org/officeDocument/2006/relationships/notesMaster" Target="/ppt/notesMasters/notesMaster1.xml" Id="R57df12d43a994096" /></Relationships>
</file>

<file path=ppt/notesSlides/_rels/notesSlide184.xml.rels>&#65279;<?xml version="1.0" encoding="utf-8"?><Relationships xmlns="http://schemas.openxmlformats.org/package/2006/relationships"><Relationship Type="http://schemas.openxmlformats.org/officeDocument/2006/relationships/slide" Target="/ppt/slides/slide184.xml" Id="R08502235595a4af5" /><Relationship Type="http://schemas.openxmlformats.org/officeDocument/2006/relationships/notesMaster" Target="/ppt/notesMasters/notesMaster1.xml" Id="R6dce094a2b4d4713" /></Relationships>
</file>

<file path=ppt/notesSlides/_rels/notesSlide185.xml.rels>&#65279;<?xml version="1.0" encoding="utf-8"?><Relationships xmlns="http://schemas.openxmlformats.org/package/2006/relationships"><Relationship Type="http://schemas.openxmlformats.org/officeDocument/2006/relationships/slide" Target="/ppt/slides/slide185.xml" Id="Rb00ef23356b24078" /><Relationship Type="http://schemas.openxmlformats.org/officeDocument/2006/relationships/notesMaster" Target="/ppt/notesMasters/notesMaster1.xml" Id="Rc67f7f33ec274b43" /></Relationships>
</file>

<file path=ppt/notesSlides/_rels/notesSlide186.xml.rels>&#65279;<?xml version="1.0" encoding="utf-8"?><Relationships xmlns="http://schemas.openxmlformats.org/package/2006/relationships"><Relationship Type="http://schemas.openxmlformats.org/officeDocument/2006/relationships/slide" Target="/ppt/slides/slide186.xml" Id="R84b90f44101b45ef" /><Relationship Type="http://schemas.openxmlformats.org/officeDocument/2006/relationships/notesMaster" Target="/ppt/notesMasters/notesMaster1.xml" Id="R890103effdd04804" /></Relationships>
</file>

<file path=ppt/notesSlides/_rels/notesSlide187.xml.rels>&#65279;<?xml version="1.0" encoding="utf-8"?><Relationships xmlns="http://schemas.openxmlformats.org/package/2006/relationships"><Relationship Type="http://schemas.openxmlformats.org/officeDocument/2006/relationships/slide" Target="/ppt/slides/slide187.xml" Id="Re6402656357141b6" /><Relationship Type="http://schemas.openxmlformats.org/officeDocument/2006/relationships/notesMaster" Target="/ppt/notesMasters/notesMaster1.xml" Id="R0a5eee35d5af4069" /></Relationships>
</file>

<file path=ppt/notesSlides/_rels/notesSlide188.xml.rels>&#65279;<?xml version="1.0" encoding="utf-8"?><Relationships xmlns="http://schemas.openxmlformats.org/package/2006/relationships"><Relationship Type="http://schemas.openxmlformats.org/officeDocument/2006/relationships/slide" Target="/ppt/slides/slide188.xml" Id="R5e66423280af4fd8" /><Relationship Type="http://schemas.openxmlformats.org/officeDocument/2006/relationships/notesMaster" Target="/ppt/notesMasters/notesMaster1.xml" Id="R5a072df9cc8f4dc8" /></Relationships>
</file>

<file path=ppt/notesSlides/_rels/notesSlide189.xml.rels>&#65279;<?xml version="1.0" encoding="utf-8"?><Relationships xmlns="http://schemas.openxmlformats.org/package/2006/relationships"><Relationship Type="http://schemas.openxmlformats.org/officeDocument/2006/relationships/slide" Target="/ppt/slides/slide189.xml" Id="R67cdb1339b004a0f" /><Relationship Type="http://schemas.openxmlformats.org/officeDocument/2006/relationships/notesMaster" Target="/ppt/notesMasters/notesMaster1.xml" Id="R96bd72c0c382453a" /></Relationships>
</file>

<file path=ppt/notesSlides/_rels/notesSlide190.xml.rels>&#65279;<?xml version="1.0" encoding="utf-8"?><Relationships xmlns="http://schemas.openxmlformats.org/package/2006/relationships"><Relationship Type="http://schemas.openxmlformats.org/officeDocument/2006/relationships/slide" Target="/ppt/slides/slide190.xml" Id="R92643cbb1ab64514" /><Relationship Type="http://schemas.openxmlformats.org/officeDocument/2006/relationships/notesMaster" Target="/ppt/notesMasters/notesMaster1.xml" Id="R6d747cae930343ee" /></Relationships>
</file>

<file path=ppt/notesSlides/_rels/notesSlide191.xml.rels>&#65279;<?xml version="1.0" encoding="utf-8"?><Relationships xmlns="http://schemas.openxmlformats.org/package/2006/relationships"><Relationship Type="http://schemas.openxmlformats.org/officeDocument/2006/relationships/slide" Target="/ppt/slides/slide191.xml" Id="R3d164ecf165d484e" /><Relationship Type="http://schemas.openxmlformats.org/officeDocument/2006/relationships/notesMaster" Target="/ppt/notesMasters/notesMaster1.xml" Id="Rfc782ab8023e4b79" /></Relationships>
</file>

<file path=ppt/notesSlides/_rels/notesSlide192.xml.rels>&#65279;<?xml version="1.0" encoding="utf-8"?><Relationships xmlns="http://schemas.openxmlformats.org/package/2006/relationships"><Relationship Type="http://schemas.openxmlformats.org/officeDocument/2006/relationships/slide" Target="/ppt/slides/slide192.xml" Id="R8af7785b55e64e11" /><Relationship Type="http://schemas.openxmlformats.org/officeDocument/2006/relationships/notesMaster" Target="/ppt/notesMasters/notesMaster1.xml" Id="R0837c337136d48de" /></Relationships>
</file>

<file path=ppt/notesSlides/_rels/notesSlide193.xml.rels>&#65279;<?xml version="1.0" encoding="utf-8"?><Relationships xmlns="http://schemas.openxmlformats.org/package/2006/relationships"><Relationship Type="http://schemas.openxmlformats.org/officeDocument/2006/relationships/slide" Target="/ppt/slides/slide193.xml" Id="Ra31114527eac4190" /><Relationship Type="http://schemas.openxmlformats.org/officeDocument/2006/relationships/notesMaster" Target="/ppt/notesMasters/notesMaster1.xml" Id="Rb1c2bf34912c4adc" /></Relationships>
</file>

<file path=ppt/notesSlides/_rels/notesSlide194.xml.rels>&#65279;<?xml version="1.0" encoding="utf-8"?><Relationships xmlns="http://schemas.openxmlformats.org/package/2006/relationships"><Relationship Type="http://schemas.openxmlformats.org/officeDocument/2006/relationships/slide" Target="/ppt/slides/slide194.xml" Id="R71ac8712dcde4a19" /><Relationship Type="http://schemas.openxmlformats.org/officeDocument/2006/relationships/notesMaster" Target="/ppt/notesMasters/notesMaster1.xml" Id="R21aa20a9bf2d478f" /></Relationships>
</file>

<file path=ppt/notesSlides/_rels/notesSlide195.xml.rels>&#65279;<?xml version="1.0" encoding="utf-8"?><Relationships xmlns="http://schemas.openxmlformats.org/package/2006/relationships"><Relationship Type="http://schemas.openxmlformats.org/officeDocument/2006/relationships/slide" Target="/ppt/slides/slide195.xml" Id="R81d8bbe2f30e4ef1" /><Relationship Type="http://schemas.openxmlformats.org/officeDocument/2006/relationships/notesMaster" Target="/ppt/notesMasters/notesMaster1.xml" Id="R689142201433461f" /></Relationships>
</file>

<file path=ppt/notesSlides/_rels/notesSlide196.xml.rels>&#65279;<?xml version="1.0" encoding="utf-8"?><Relationships xmlns="http://schemas.openxmlformats.org/package/2006/relationships"><Relationship Type="http://schemas.openxmlformats.org/officeDocument/2006/relationships/slide" Target="/ppt/slides/slide196.xml" Id="R40e3fc93d5244c2f" /><Relationship Type="http://schemas.openxmlformats.org/officeDocument/2006/relationships/notesMaster" Target="/ppt/notesMasters/notesMaster1.xml" Id="R5dc741dda02343e8" /></Relationships>
</file>

<file path=ppt/notesSlides/_rels/notesSlide197.xml.rels>&#65279;<?xml version="1.0" encoding="utf-8"?><Relationships xmlns="http://schemas.openxmlformats.org/package/2006/relationships"><Relationship Type="http://schemas.openxmlformats.org/officeDocument/2006/relationships/slide" Target="/ppt/slides/slide197.xml" Id="R0b74ca0c0aa24fde" /><Relationship Type="http://schemas.openxmlformats.org/officeDocument/2006/relationships/notesMaster" Target="/ppt/notesMasters/notesMaster1.xml" Id="R8096fa252d284971" /></Relationships>
</file>

<file path=ppt/notesSlides/_rels/notesSlide198.xml.rels>&#65279;<?xml version="1.0" encoding="utf-8"?><Relationships xmlns="http://schemas.openxmlformats.org/package/2006/relationships"><Relationship Type="http://schemas.openxmlformats.org/officeDocument/2006/relationships/slide" Target="/ppt/slides/slide198.xml" Id="R5e21c606772048de" /><Relationship Type="http://schemas.openxmlformats.org/officeDocument/2006/relationships/notesMaster" Target="/ppt/notesMasters/notesMaster1.xml" Id="R5c8bdce7cc734880" /></Relationships>
</file>

<file path=ppt/notesSlides/_rels/notesSlide199.xml.rels>&#65279;<?xml version="1.0" encoding="utf-8"?><Relationships xmlns="http://schemas.openxmlformats.org/package/2006/relationships"><Relationship Type="http://schemas.openxmlformats.org/officeDocument/2006/relationships/slide" Target="/ppt/slides/slide199.xml" Id="R9cdaa638370149f7" /><Relationship Type="http://schemas.openxmlformats.org/officeDocument/2006/relationships/notesMaster" Target="/ppt/notesMasters/notesMaster1.xml" Id="R4c27ca905f4d4b6d" /></Relationships>
</file>

<file path=ppt/notesSlides/_rels/notesSlide200.xml.rels>&#65279;<?xml version="1.0" encoding="utf-8"?><Relationships xmlns="http://schemas.openxmlformats.org/package/2006/relationships"><Relationship Type="http://schemas.openxmlformats.org/officeDocument/2006/relationships/slide" Target="/ppt/slides/slide200.xml" Id="R9845fcb14a9a47af" /><Relationship Type="http://schemas.openxmlformats.org/officeDocument/2006/relationships/notesMaster" Target="/ppt/notesMasters/notesMaster1.xml" Id="Rba35fdb906124488" /></Relationships>
</file>

<file path=ppt/notesSlides/_rels/notesSlide201.xml.rels>&#65279;<?xml version="1.0" encoding="utf-8"?><Relationships xmlns="http://schemas.openxmlformats.org/package/2006/relationships"><Relationship Type="http://schemas.openxmlformats.org/officeDocument/2006/relationships/slide" Target="/ppt/slides/slide201.xml" Id="R1b2e482ab83f4361" /><Relationship Type="http://schemas.openxmlformats.org/officeDocument/2006/relationships/notesMaster" Target="/ppt/notesMasters/notesMaster1.xml" Id="R52fcf7920eb541bc" /></Relationships>
</file>

<file path=ppt/notesSlides/_rels/notesSlide202.xml.rels>&#65279;<?xml version="1.0" encoding="utf-8"?><Relationships xmlns="http://schemas.openxmlformats.org/package/2006/relationships"><Relationship Type="http://schemas.openxmlformats.org/officeDocument/2006/relationships/slide" Target="/ppt/slides/slide202.xml" Id="Rf1708860ece44bab" /><Relationship Type="http://schemas.openxmlformats.org/officeDocument/2006/relationships/notesMaster" Target="/ppt/notesMasters/notesMaster1.xml" Id="R14827b41e23b4069" /></Relationships>
</file>

<file path=ppt/notesSlides/_rels/notesSlide203.xml.rels>&#65279;<?xml version="1.0" encoding="utf-8"?><Relationships xmlns="http://schemas.openxmlformats.org/package/2006/relationships"><Relationship Type="http://schemas.openxmlformats.org/officeDocument/2006/relationships/slide" Target="/ppt/slides/slide203.xml" Id="R88fba1b0df1041cc" /><Relationship Type="http://schemas.openxmlformats.org/officeDocument/2006/relationships/notesMaster" Target="/ppt/notesMasters/notesMaster1.xml" Id="R61d5cd126f954f73" /></Relationships>
</file>

<file path=ppt/notesSlides/_rels/notesSlide204.xml.rels>&#65279;<?xml version="1.0" encoding="utf-8"?><Relationships xmlns="http://schemas.openxmlformats.org/package/2006/relationships"><Relationship Type="http://schemas.openxmlformats.org/officeDocument/2006/relationships/slide" Target="/ppt/slides/slide204.xml" Id="Re3f6288528434c39" /><Relationship Type="http://schemas.openxmlformats.org/officeDocument/2006/relationships/notesMaster" Target="/ppt/notesMasters/notesMaster1.xml" Id="Reac0c4494aa043a6" /></Relationships>
</file>

<file path=ppt/notesSlides/_rels/notesSlide205.xml.rels>&#65279;<?xml version="1.0" encoding="utf-8"?><Relationships xmlns="http://schemas.openxmlformats.org/package/2006/relationships"><Relationship Type="http://schemas.openxmlformats.org/officeDocument/2006/relationships/slide" Target="/ppt/slides/slide205.xml" Id="Rb482ea3557fa4f31" /><Relationship Type="http://schemas.openxmlformats.org/officeDocument/2006/relationships/notesMaster" Target="/ppt/notesMasters/notesMaster1.xml" Id="Rd038e5dc55f54a08" /></Relationships>
</file>

<file path=ppt/notesSlides/_rels/notesSlide206.xml.rels>&#65279;<?xml version="1.0" encoding="utf-8"?><Relationships xmlns="http://schemas.openxmlformats.org/package/2006/relationships"><Relationship Type="http://schemas.openxmlformats.org/officeDocument/2006/relationships/slide" Target="/ppt/slides/slide206.xml" Id="Rd86aa484841343fa" /><Relationship Type="http://schemas.openxmlformats.org/officeDocument/2006/relationships/notesMaster" Target="/ppt/notesMasters/notesMaster1.xml" Id="R5e2859e925134be9" /></Relationships>
</file>

<file path=ppt/notesSlides/_rels/notesSlide207.xml.rels>&#65279;<?xml version="1.0" encoding="utf-8"?><Relationships xmlns="http://schemas.openxmlformats.org/package/2006/relationships"><Relationship Type="http://schemas.openxmlformats.org/officeDocument/2006/relationships/slide" Target="/ppt/slides/slide207.xml" Id="Rc51161ea5a4345ad" /><Relationship Type="http://schemas.openxmlformats.org/officeDocument/2006/relationships/notesMaster" Target="/ppt/notesMasters/notesMaster1.xml" Id="R56434ba71def4652" /></Relationships>
</file>

<file path=ppt/notesSlides/_rels/notesSlide208.xml.rels>&#65279;<?xml version="1.0" encoding="utf-8"?><Relationships xmlns="http://schemas.openxmlformats.org/package/2006/relationships"><Relationship Type="http://schemas.openxmlformats.org/officeDocument/2006/relationships/slide" Target="/ppt/slides/slide208.xml" Id="Rd6b36f7a74554b24" /><Relationship Type="http://schemas.openxmlformats.org/officeDocument/2006/relationships/notesMaster" Target="/ppt/notesMasters/notesMaster1.xml" Id="R1c9fe38f186f4971" /></Relationships>
</file>

<file path=ppt/notesSlides/_rels/notesSlide209.xml.rels>&#65279;<?xml version="1.0" encoding="utf-8"?><Relationships xmlns="http://schemas.openxmlformats.org/package/2006/relationships"><Relationship Type="http://schemas.openxmlformats.org/officeDocument/2006/relationships/slide" Target="/ppt/slides/slide209.xml" Id="R54c7530a345742b2" /><Relationship Type="http://schemas.openxmlformats.org/officeDocument/2006/relationships/notesMaster" Target="/ppt/notesMasters/notesMaster1.xml" Id="Rebde5304cba64753" /></Relationships>
</file>

<file path=ppt/notesSlides/_rels/notesSlide210.xml.rels>&#65279;<?xml version="1.0" encoding="utf-8"?><Relationships xmlns="http://schemas.openxmlformats.org/package/2006/relationships"><Relationship Type="http://schemas.openxmlformats.org/officeDocument/2006/relationships/slide" Target="/ppt/slides/slide210.xml" Id="R6eeb35d9bd1e46d1" /><Relationship Type="http://schemas.openxmlformats.org/officeDocument/2006/relationships/notesMaster" Target="/ppt/notesMasters/notesMaster1.xml" Id="Rb86c3f9161d6491c" /></Relationships>
</file>

<file path=ppt/notesSlides/_rels/notesSlide211.xml.rels>&#65279;<?xml version="1.0" encoding="utf-8"?><Relationships xmlns="http://schemas.openxmlformats.org/package/2006/relationships"><Relationship Type="http://schemas.openxmlformats.org/officeDocument/2006/relationships/slide" Target="/ppt/slides/slide211.xml" Id="Rc66c35d1b7d14376" /><Relationship Type="http://schemas.openxmlformats.org/officeDocument/2006/relationships/notesMaster" Target="/ppt/notesMasters/notesMaster1.xml" Id="Re11a6c21e7734b50" /></Relationships>
</file>

<file path=ppt/notesSlides/_rels/notesSlide212.xml.rels>&#65279;<?xml version="1.0" encoding="utf-8"?><Relationships xmlns="http://schemas.openxmlformats.org/package/2006/relationships"><Relationship Type="http://schemas.openxmlformats.org/officeDocument/2006/relationships/slide" Target="/ppt/slides/slide212.xml" Id="Re6962684f8064e4c" /><Relationship Type="http://schemas.openxmlformats.org/officeDocument/2006/relationships/notesMaster" Target="/ppt/notesMasters/notesMaster1.xml" Id="Ref4a395f314c4566" /></Relationships>
</file>

<file path=ppt/notesSlides/_rels/notesSlide213.xml.rels>&#65279;<?xml version="1.0" encoding="utf-8"?><Relationships xmlns="http://schemas.openxmlformats.org/package/2006/relationships"><Relationship Type="http://schemas.openxmlformats.org/officeDocument/2006/relationships/slide" Target="/ppt/slides/slide213.xml" Id="Rfbe0a7ead05843e5" /><Relationship Type="http://schemas.openxmlformats.org/officeDocument/2006/relationships/notesMaster" Target="/ppt/notesMasters/notesMaster1.xml" Id="R7e6f3755a2804eb4" /></Relationships>
</file>

<file path=ppt/notesSlides/_rels/notesSlide214.xml.rels>&#65279;<?xml version="1.0" encoding="utf-8"?><Relationships xmlns="http://schemas.openxmlformats.org/package/2006/relationships"><Relationship Type="http://schemas.openxmlformats.org/officeDocument/2006/relationships/slide" Target="/ppt/slides/slide214.xml" Id="R2e11fca733044c4c" /><Relationship Type="http://schemas.openxmlformats.org/officeDocument/2006/relationships/notesMaster" Target="/ppt/notesMasters/notesMaster1.xml" Id="R8de2cdb182234336" /></Relationships>
</file>

<file path=ppt/notesSlides/_rels/notesSlide215.xml.rels>&#65279;<?xml version="1.0" encoding="utf-8"?><Relationships xmlns="http://schemas.openxmlformats.org/package/2006/relationships"><Relationship Type="http://schemas.openxmlformats.org/officeDocument/2006/relationships/slide" Target="/ppt/slides/slide215.xml" Id="R7f8d22f5094545b9" /><Relationship Type="http://schemas.openxmlformats.org/officeDocument/2006/relationships/notesMaster" Target="/ppt/notesMasters/notesMaster1.xml" Id="Rbf510366df8b4612" /></Relationships>
</file>

<file path=ppt/notesSlides/_rels/notesSlide216.xml.rels>&#65279;<?xml version="1.0" encoding="utf-8"?><Relationships xmlns="http://schemas.openxmlformats.org/package/2006/relationships"><Relationship Type="http://schemas.openxmlformats.org/officeDocument/2006/relationships/slide" Target="/ppt/slides/slide216.xml" Id="R451534a4fd3d4d13" /><Relationship Type="http://schemas.openxmlformats.org/officeDocument/2006/relationships/notesMaster" Target="/ppt/notesMasters/notesMaster1.xml" Id="R053da8ae22624054" /></Relationships>
</file>

<file path=ppt/notesSlides/_rels/notesSlide217.xml.rels>&#65279;<?xml version="1.0" encoding="utf-8"?><Relationships xmlns="http://schemas.openxmlformats.org/package/2006/relationships"><Relationship Type="http://schemas.openxmlformats.org/officeDocument/2006/relationships/slide" Target="/ppt/slides/slide217.xml" Id="R9011e428a1e44051" /><Relationship Type="http://schemas.openxmlformats.org/officeDocument/2006/relationships/notesMaster" Target="/ppt/notesMasters/notesMaster1.xml" Id="Rcafa6bc064a74671" /></Relationships>
</file>

<file path=ppt/notesSlides/_rels/notesSlide218.xml.rels>&#65279;<?xml version="1.0" encoding="utf-8"?><Relationships xmlns="http://schemas.openxmlformats.org/package/2006/relationships"><Relationship Type="http://schemas.openxmlformats.org/officeDocument/2006/relationships/slide" Target="/ppt/slides/slide218.xml" Id="R20b21922da794356" /><Relationship Type="http://schemas.openxmlformats.org/officeDocument/2006/relationships/notesMaster" Target="/ppt/notesMasters/notesMaster1.xml" Id="Rc0dd48aa66984a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https://docarcshot.github.io/id-practice-update/lectures/Bone_and_Joint_Infections_Septic_Arthritis_PJI_Osteomyelitis.html</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Define what remains infected before choosing the treatment duration Bone and joint infection is easiest to manage when the anatomy, microbiology, source-control plan, and treatment intent are named explicitly. Acute, subacute, and chronic describe tempo. They do not, by themselves, determine antibiotic duration. Scope for the live session Teach through the core sections and three cases, then stop. The advanced section is a post-lecture reference for fellows, attendings, and questions that arise on service. Learning objectives Obtain useful cultures and identify urgent source control. Separate native-joint infection, PJI, osteomyelitis, and chronic wound colonization. Choose route and duration from the operative plan, retained material, and treatment intent. Manage an open sacral wound without reflexively prescribing six weeks of antibiotics. Evidence and local implementation Sources were checked through September 20, 2026. Several major US guidelines in this field are old, especially the 2013 IDSA PJI guideline and 2015 vertebral osteomyelitis guideline. Treatment choices below distinguish published recommendations from areas of uncertainty. Operative plans, drug selection, outpatient monitoring, and duration require case-level review.</a:t>
            </a:r>
          </a:p>
          <a:p xmlns:a="http://schemas.openxmlformats.org/drawingml/2006/main">
            <a:r>
              <a:t/>
            </a:r>
          </a:p>
          <a:p xmlns:a="http://schemas.openxmlformats.org/drawingml/2006/main">
            <a:r>
              <a:t>Module section: https://docarcshot.github.io/id-practice-update/lectures/Bone_and_Joint_Infections_Septic_Arthritis_PJI_Osteomyelitis.html#start</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Define what remains infected before choosing the treatment duration Bone and joint infection is easiest to manage when the anatomy, microbiology, source-control plan, and treatment intent are named explicitly. Acute, subacute, and chronic describe tempo. They do not, by themselves, determine antibiotic duration. Scope for the live session Teach through the core sections and three cases, then stop. The advanced section is a post-lecture reference for fellows, attendings, and questions that arise on service. Learning objectives Obtain useful cultures and identify urgent source control. Separate native-joint infection, PJI, osteomyelitis, and chronic wound colonization. Choose route and duration from the operative plan, retained material, and treatment intent. Manage an open sacral wound without reflexively prescribing six weeks of antibiotics. Evidence and local implementation Sources were checked through September 20, 2026. Several major US guidelines in this field are old, especially the 2013 IDSA PJI guideline and 2015 vertebral osteomyelitis guideline. Treatment choices below distinguish published recommendations from areas of uncertainty. Operative plans, drug selection, outpatient monitoring, and duration require case-level review.</a:t>
            </a:r>
          </a:p>
          <a:p xmlns:a="http://schemas.openxmlformats.org/drawingml/2006/main">
            <a:r>
              <a:t/>
            </a:r>
          </a:p>
          <a:p xmlns:a="http://schemas.openxmlformats.org/drawingml/2006/main">
            <a:r>
              <a:t>Module section: https://docarcshot.github.io/id-practice-update/lectures/Bone_and_Joint_Infections_Septic_Arthritis_PJI_Osteomyelitis.html#start</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Define what remains infected before choosing the treatment duration Bone and joint infection is easiest to manage when the anatomy, microbiology, source-control plan, and treatment intent are named explicitly. Acute, subacute, and chronic describe tempo. They do not, by themselves, determine antibiotic duration. Scope for the live session Teach through the core sections and three cases, then stop. The advanced section is a post-lecture reference for fellows, attendings, and questions that arise on service. Learning objectives Obtain useful cultures and identify urgent source control. Separate native-joint infection, PJI, osteomyelitis, and chronic wound colonization. Choose route and duration from the operative plan, retained material, and treatment intent. Manage an open sacral wound without reflexively prescribing six weeks of antibiotics. Evidence and local implementation Sources were checked through September 20, 2026. Several major US guidelines in this field are old, especially the 2013 IDSA PJI guideline and 2015 vertebral osteomyelitis guideline. Treatment choices below distinguish published recommendations from areas of uncertainty. Operative plans, drug selection, outpatient monitoring, and duration require case-level review.</a:t>
            </a:r>
          </a:p>
          <a:p xmlns:a="http://schemas.openxmlformats.org/drawingml/2006/main">
            <a:r>
              <a:t/>
            </a:r>
          </a:p>
          <a:p xmlns:a="http://schemas.openxmlformats.org/drawingml/2006/main">
            <a:r>
              <a:t>Module section: https://docarcshot.github.io/id-practice-update/lectures/Bone_and_Joint_Infections_Septic_Arthritis_PJI_Osteomyelitis.html#start</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Define what remains infected before choosing the treatment duration Bone and joint infection is easiest to manage when the anatomy, microbiology, source-control plan, and treatment intent are named explicitly. Acute, subacute, and chronic describe tempo. They do not, by themselves, determine antibiotic duration. Scope for the live session Teach through the core sections and three cases, then stop. The advanced section is a post-lecture reference for fellows, attendings, and questions that arise on service. Learning objectives Obtain useful cultures and identify urgent source control. Separate native-joint infection, PJI, osteomyelitis, and chronic wound colonization. Choose route and duration from the operative plan, retained material, and treatment intent. Manage an open sacral wound without reflexively prescribing six weeks of antibiotics. Evidence and local implementation Sources were checked through September 20, 2026. Several major US guidelines in this field are old, especially the 2013 IDSA PJI guideline and 2015 vertebral osteomyelitis guideline. Treatment choices below distinguish published recommendations from areas of uncertainty. Operative plans, drug selection, outpatient monitoring, and duration require case-level review.</a:t>
            </a:r>
          </a:p>
          <a:p xmlns:a="http://schemas.openxmlformats.org/drawingml/2006/main">
            <a:r>
              <a:t/>
            </a:r>
          </a:p>
          <a:p xmlns:a="http://schemas.openxmlformats.org/drawingml/2006/main">
            <a:r>
              <a:t>Module section: https://docarcshot.github.io/id-practice-update/lectures/Bone_and_Joint_Infections_Septic_Arthritis_PJI_Osteomyelitis.html#start</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Five questions organize every bone and joint infection What is infected? Native joint, prosthesis, bone, spine, diabetic foot, pressure injury, or fracture hardware. What is the best specimen? Blood, synovial fluid, bone, or multiple deep operative samples. A superficial wound swab rarely defines bone therapy. What remains? Pus, necrotic bone, biofilm-coated implant, abscess, sinus tract, ischemic tissue, or an open wound. Can it be controlled? Drain, debride, exchange, remove, reconstruct, revascularize, or manage noncuratively. What is the intent? Cure, treatment with retained material, chronic suppression, or treatment of acute flares only. Stable and unstable patients follow different clocks If the patient is stable, obtain the highest-value specimen before antibiotics. If septic, hemodynamically unstable, or neurologically threatened, obtain blood cultures promptly but do not delay active therapy or urgent source control.</a:t>
            </a:r>
          </a:p>
          <a:p xmlns:a="http://schemas.openxmlformats.org/drawingml/2006/main">
            <a:r>
              <a:t/>
            </a:r>
          </a:p>
          <a:p xmlns:a="http://schemas.openxmlformats.org/drawingml/2006/main">
            <a:r>
              <a:t>Module section: https://docarcshot.github.io/id-practice-update/lectures/Bone_and_Joint_Infections_Septic_Arthritis_PJI_Osteomyelitis.html#core-framework</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Five questions organize every bone and joint infection What is infected? Native joint, prosthesis, bone, spine, diabetic foot, pressure injury, or fracture hardware. What is the best specimen? Blood, synovial fluid, bone, or multiple deep operative samples. A superficial wound swab rarely defines bone therapy. What remains? Pus, necrotic bone, biofilm-coated implant, abscess, sinus tract, ischemic tissue, or an open wound. Can it be controlled? Drain, debride, exchange, remove, reconstruct, revascularize, or manage noncuratively. What is the intent? Cure, treatment with retained material, chronic suppression, or treatment of acute flares only. Stable and unstable patients follow different clocks If the patient is stable, obtain the highest-value specimen before antibiotics. If septic, hemodynamically unstable, or neurologically threatened, obtain blood cultures promptly but do not delay active therapy or urgent source control.</a:t>
            </a:r>
          </a:p>
          <a:p xmlns:a="http://schemas.openxmlformats.org/drawingml/2006/main">
            <a:r>
              <a:t/>
            </a:r>
          </a:p>
          <a:p xmlns:a="http://schemas.openxmlformats.org/drawingml/2006/main">
            <a:r>
              <a:t>Module section: https://docarcshot.github.io/id-practice-update/lectures/Bone_and_Joint_Infections_Septic_Arthritis_PJI_Osteomyelitis.html#core-framework</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Five questions organize every bone and joint infection What is infected? Native joint, prosthesis, bone, spine, diabetic foot, pressure injury, or fracture hardware. What is the best specimen? Blood, synovial fluid, bone, or multiple deep operative samples. A superficial wound swab rarely defines bone therapy. What remains? Pus, necrotic bone, biofilm-coated implant, abscess, sinus tract, ischemic tissue, or an open wound. Can it be controlled? Drain, debride, exchange, remove, reconstruct, revascularize, or manage noncuratively. What is the intent? Cure, treatment with retained material, chronic suppression, or treatment of acute flares only. Stable and unstable patients follow different clocks If the patient is stable, obtain the highest-value specimen before antibiotics. If septic, hemodynamically unstable, or neurologically threatened, obtain blood cultures promptly but do not delay active therapy or urgent source control.</a:t>
            </a:r>
          </a:p>
          <a:p xmlns:a="http://schemas.openxmlformats.org/drawingml/2006/main">
            <a:r>
              <a:t/>
            </a:r>
          </a:p>
          <a:p xmlns:a="http://schemas.openxmlformats.org/drawingml/2006/main">
            <a:r>
              <a:t>Module section: https://docarcshot.github.io/id-practice-update/lectures/Bone_and_Joint_Infections_Septic_Arthritis_PJI_Osteomyelitis.html#core-framework</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 hot native joint requires aspiration, drainage, and active antibiotics Diagnose Aspirate promptly if feasible. Send bacterial culture, cell count with differential, and crystals. Obtain blood cultures when febrile, systemically ill, or bacteremia is plausible. Crystals do not exclude infection, and no single synovial WBC cutoff proves or excludes it. Treat now After sampling, vancomycin plus ceftriaxone is a common empiric regimen. Substitute an antipseudomonal beta-lactam when resistant gram-negative risk is meaningful. Narrow once cultures return. Control the source Large-joint infection usually requires urgent orthopedic drainage. Failure to improve should prompt reassessment of drainage, adjacent osteomyelitis, and the diagnosis before automatic broadening or extension. Let the syndrome modify the empiric start Clinical setting Common pathogens Practical implication Typical adult native-joint infection S. aureus and streptococci Vancomycin plus ceftriaxone is a common initial regimen after cultures. Older, immunocompromised, or suspected urinary/intra-abdominal source Enteric gram-negative bacilli in addition to staphylococci and streptococci Ensure gram-negative coverage and investigate the bloodstream source. Injection drug use, healthcare exposure, or penetrating/water exposure S. aureus ; consider Pseudomonas according to exposure and local epidemiology Use an antipseudomonal beta-lactam only when the risk is credible. Migratory polyarthralgia, tenosynovitis, or pustules Neisseria gonorrhoeae Obtain NAAT from exposed mucosal sites and culture purulent material; treat with ceftriaxone. Duration Uncomplicated, adequately drained large-joint infection is generally treated for several weeks, often about 3–4 weeks. Extend or redefine the course for bacteremia complications, adjacent osteomyelitis, delayed drainage, or poor response. Selected patients can transition to an active oral drug once improving. Sources sanjo , 2v4 , gono</a:t>
            </a:r>
          </a:p>
          <a:p xmlns:a="http://schemas.openxmlformats.org/drawingml/2006/main">
            <a:r>
              <a:t/>
            </a:r>
          </a:p>
          <a:p xmlns:a="http://schemas.openxmlformats.org/drawingml/2006/main">
            <a:r>
              <a:t>Module section: https://docarcshot.github.io/id-practice-update/lectures/Bone_and_Joint_Infections_Septic_Arthritis_PJI_Osteomyelitis.html#core-septic</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 hot native joint requires aspiration, drainage, and active antibiotics Diagnose Aspirate promptly if feasible. Send bacterial culture, cell count with differential, and crystals. Obtain blood cultures when febrile, systemically ill, or bacteremia is plausible. Crystals do not exclude infection, and no single synovial WBC cutoff proves or excludes it. Treat now After sampling, vancomycin plus ceftriaxone is a common empiric regimen. Substitute an antipseudomonal beta-lactam when resistant gram-negative risk is meaningful. Narrow once cultures return. Control the source Large-joint infection usually requires urgent orthopedic drainage. Failure to improve should prompt reassessment of drainage, adjacent osteomyelitis, and the diagnosis before automatic broadening or extension. Let the syndrome modify the empiric start Clinical setting Common pathogens Practical implication Typical adult native-joint infection S. aureus and streptococci Vancomycin plus ceftriaxone is a common initial regimen after cultures. Older, immunocompromised, or suspected urinary/intra-abdominal source Enteric gram-negative bacilli in addition to staphylococci and streptococci Ensure gram-negative coverage and investigate the bloodstream source. Injection drug use, healthcare exposure, or penetrating/water exposure S. aureus ; consider Pseudomonas according to exposure and local epidemiology Use an antipseudomonal beta-lactam only when the risk is credible. Migratory polyarthralgia, tenosynovitis, or pustules Neisseria gonorrhoeae Obtain NAAT from exposed mucosal sites and culture purulent material; treat with ceftriaxone. Duration Uncomplicated, adequately drained large-joint infection is generally treated for several weeks, often about 3–4 weeks. Extend or redefine the course for bacteremia complications, adjacent osteomyelitis, delayed drainage, or poor response. Selected patients can transition to an active oral drug once improving. Sources sanjo , 2v4 , gono</a:t>
            </a:r>
          </a:p>
          <a:p xmlns:a="http://schemas.openxmlformats.org/drawingml/2006/main">
            <a:r>
              <a:t/>
            </a:r>
          </a:p>
          <a:p xmlns:a="http://schemas.openxmlformats.org/drawingml/2006/main">
            <a:r>
              <a:t>Module section: https://docarcshot.github.io/id-practice-update/lectures/Bone_and_Joint_Infections_Septic_Arthritis_PJI_Osteomyelitis.html#core-septic</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 hot native joint requires aspiration, drainage, and active antibiotics Diagnose Aspirate promptly if feasible. Send bacterial culture, cell count with differential, and crystals. Obtain blood cultures when febrile, systemically ill, or bacteremia is plausible. Crystals do not exclude infection, and no single synovial WBC cutoff proves or excludes it. Treat now After sampling, vancomycin plus ceftriaxone is a common empiric regimen. Substitute an antipseudomonal beta-lactam when resistant gram-negative risk is meaningful. Narrow once cultures return. Control the source Large-joint infection usually requires urgent orthopedic drainage. Failure to improve should prompt reassessment of drainage, adjacent osteomyelitis, and the diagnosis before automatic broadening or extension. Let the syndrome modify the empiric start Clinical setting Common pathogens Practical implication Typical adult native-joint infection S. aureus and streptococci Vancomycin plus ceftriaxone is a common initial regimen after cultures. Older, immunocompromised, or suspected urinary/intra-abdominal source Enteric gram-negative bacilli in addition to staphylococci and streptococci Ensure gram-negative coverage and investigate the bloodstream source. Injection drug use, healthcare exposure, or penetrating/water exposure S. aureus ; consider Pseudomonas according to exposure and local epidemiology Use an antipseudomonal beta-lactam only when the risk is credible. Migratory polyarthralgia, tenosynovitis, or pustules Neisseria gonorrhoeae Obtain NAAT from exposed mucosal sites and culture purulent material; treat with ceftriaxone. Duration Uncomplicated, adequately drained large-joint infection is generally treated for several weeks, often about 3–4 weeks. Extend or redefine the course for bacteremia complications, adjacent osteomyelitis, delayed drainage, or poor response. Selected patients can transition to an active oral drug once improving. Sources sanjo , 2v4 , gono</a:t>
            </a:r>
          </a:p>
          <a:p xmlns:a="http://schemas.openxmlformats.org/drawingml/2006/main">
            <a:r>
              <a:t/>
            </a:r>
          </a:p>
          <a:p xmlns:a="http://schemas.openxmlformats.org/drawingml/2006/main">
            <a:r>
              <a:t>Module section: https://docarcshot.github.io/id-practice-update/lectures/Bone_and_Joint_Infections_Septic_Arthritis_PJI_Osteomyelitis.html#core-septic</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 hot native joint requires aspiration, drainage, and active antibiotics Diagnose Aspirate promptly if feasible. Send bacterial culture, cell count with differential, and crystals. Obtain blood cultures when febrile, systemically ill, or bacteremia is plausible. Crystals do not exclude infection, and no single synovial WBC cutoff proves or excludes it. Treat now After sampling, vancomycin plus ceftriaxone is a common empiric regimen. Substitute an antipseudomonal beta-lactam when resistant gram-negative risk is meaningful. Narrow once cultures return. Control the source Large-joint infection usually requires urgent orthopedic drainage. Failure to improve should prompt reassessment of drainage, adjacent osteomyelitis, and the diagnosis before automatic broadening or extension. Let the syndrome modify the empiric start Clinical setting Common pathogens Practical implication Typical adult native-joint infection S. aureus and streptococci Vancomycin plus ceftriaxone is a common initial regimen after cultures. Older, immunocompromised, or suspected urinary/intra-abdominal source Enteric gram-negative bacilli in addition to staphylococci and streptococci Ensure gram-negative coverage and investigate the bloodstream source. Injection drug use, healthcare exposure, or penetrating/water exposure S. aureus ; consider Pseudomonas according to exposure and local epidemiology Use an antipseudomonal beta-lactam only when the risk is credible. Migratory polyarthralgia, tenosynovitis, or pustules Neisseria gonorrhoeae Obtain NAAT from exposed mucosal sites and culture purulent material; treat with ceftriaxone. Duration Uncomplicated, adequately drained large-joint infection is generally treated for several weeks, often about 3–4 weeks. Extend or redefine the course for bacteremia complications, adjacent osteomyelitis, delayed drainage, or poor response. Selected patients can transition to an active oral drug once improving. Sources sanjo , 2v4 , gono</a:t>
            </a:r>
          </a:p>
          <a:p xmlns:a="http://schemas.openxmlformats.org/drawingml/2006/main">
            <a:r>
              <a:t/>
            </a:r>
          </a:p>
          <a:p xmlns:a="http://schemas.openxmlformats.org/drawingml/2006/main">
            <a:r>
              <a:t>Module section: https://docarcshot.github.io/id-practice-update/lectures/Bone_and_Joint_Infections_Septic_Arthritis_PJI_Osteomyelitis.html#core-septic</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 hot native joint requires aspiration, drainage, and active antibiotics Diagnose Aspirate promptly if feasible. Send bacterial culture, cell count with differential, and crystals. Obtain blood cultures when febrile, systemically ill, or bacteremia is plausible. Crystals do not exclude infection, and no single synovial WBC cutoff proves or excludes it. Treat now After sampling, vancomycin plus ceftriaxone is a common empiric regimen. Substitute an antipseudomonal beta-lactam when resistant gram-negative risk is meaningful. Narrow once cultures return. Control the source Large-joint infection usually requires urgent orthopedic drainage. Failure to improve should prompt reassessment of drainage, adjacent osteomyelitis, and the diagnosis before automatic broadening or extension. Let the syndrome modify the empiric start Clinical setting Common pathogens Practical implication Typical adult native-joint infection S. aureus and streptococci Vancomycin plus ceftriaxone is a common initial regimen after cultures. Older, immunocompromised, or suspected urinary/intra-abdominal source Enteric gram-negative bacilli in addition to staphylococci and streptococci Ensure gram-negative coverage and investigate the bloodstream source. Injection drug use, healthcare exposure, or penetrating/water exposure S. aureus ; consider Pseudomonas according to exposure and local epidemiology Use an antipseudomonal beta-lactam only when the risk is credible. Migratory polyarthralgia, tenosynovitis, or pustules Neisseria gonorrhoeae Obtain NAAT from exposed mucosal sites and culture purulent material; treat with ceftriaxone. Duration Uncomplicated, adequately drained large-joint infection is generally treated for several weeks, often about 3–4 weeks. Extend or redefine the course for bacteremia complications, adjacent osteomyelitis, delayed drainage, or poor response. Selected patients can transition to an active oral drug once improving. Sources sanjo , 2v4 , gono</a:t>
            </a:r>
          </a:p>
          <a:p xmlns:a="http://schemas.openxmlformats.org/drawingml/2006/main">
            <a:r>
              <a:t/>
            </a:r>
          </a:p>
          <a:p xmlns:a="http://schemas.openxmlformats.org/drawingml/2006/main">
            <a:r>
              <a:t>Module section: https://docarcshot.github.io/id-practice-update/lectures/Bone_and_Joint_Infections_Septic_Arthritis_PJI_Osteomyelitis.html#core-septic</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 hot native joint requires aspiration, drainage, and active antibiotics Diagnose Aspirate promptly if feasible. Send bacterial culture, cell count with differential, and crystals. Obtain blood cultures when febrile, systemically ill, or bacteremia is plausible. Crystals do not exclude infection, and no single synovial WBC cutoff proves or excludes it. Treat now After sampling, vancomycin plus ceftriaxone is a common empiric regimen. Substitute an antipseudomonal beta-lactam when resistant gram-negative risk is meaningful. Narrow once cultures return. Control the source Large-joint infection usually requires urgent orthopedic drainage. Failure to improve should prompt reassessment of drainage, adjacent osteomyelitis, and the diagnosis before automatic broadening or extension. Let the syndrome modify the empiric start Clinical setting Common pathogens Practical implication Typical adult native-joint infection S. aureus and streptococci Vancomycin plus ceftriaxone is a common initial regimen after cultures. Older, immunocompromised, or suspected urinary/intra-abdominal source Enteric gram-negative bacilli in addition to staphylococci and streptococci Ensure gram-negative coverage and investigate the bloodstream source. Injection drug use, healthcare exposure, or penetrating/water exposure S. aureus ; consider Pseudomonas according to exposure and local epidemiology Use an antipseudomonal beta-lactam only when the risk is credible. Migratory polyarthralgia, tenosynovitis, or pustules Neisseria gonorrhoeae Obtain NAAT from exposed mucosal sites and culture purulent material; treat with ceftriaxone. Duration Uncomplicated, adequately drained large-joint infection is generally treated for several weeks, often about 3–4 weeks. Extend or redefine the course for bacteremia complications, adjacent osteomyelitis, delayed drainage, or poor response. Selected patients can transition to an active oral drug once improving. Sources sanjo , 2v4 , gono</a:t>
            </a:r>
          </a:p>
          <a:p xmlns:a="http://schemas.openxmlformats.org/drawingml/2006/main">
            <a:r>
              <a:t/>
            </a:r>
          </a:p>
          <a:p xmlns:a="http://schemas.openxmlformats.org/drawingml/2006/main">
            <a:r>
              <a:t>Module section: https://docarcshot.github.io/id-practice-update/lectures/Bone_and_Joint_Infections_Septic_Arthritis_PJI_Osteomyelitis.html#core-septic</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In PJI, the operation determines what antibiotics can accomplish Establish the diagnosis A sinus tract communicating with the prosthesis is diagnostic. If stable, aspirate before antibiotics when results will change management. At surgery, obtain multiple deep tissue cultures. Do not build months of therapy around a superficial wound or sinus swab. Look for bacteremia Obtain blood cultures with fever, systemic illness, acute hematogenous presentation, or suspected S. aureus . Search for the bloodstream source and complications when bacteremia is present. PJI treatment pathways and antibiotic timing Strategy Best fit Published guidance and decision points DAIR with modular-component exchange Acute symptoms, fixed implant, no sinus tract, acceptable soft tissue, and a usable biofilm-active oral regimen. For staphylococcal PJI, the 2013 IDSA guideline describes an initial pathogen-directed phase with rifampin, then rifampin plus an active oral companion to complete 3 months for a hip or 6 months for a knee . Other organisms and situations require separate duration decisions. The IV-to-oral switch is individualized. One-stage exchange Selected chronic PJI with good soft tissue, known and tractable organism, and an experienced team. Duration depends on organism and regimen. IDSA describes 4–6 weeks of pathogen-directed therapy for nonstaphylococcal PJI and 2–6 weeks of IV therapy with rifampin followed by an oral companion and rifampin to complete 3 months for susceptible staphylococci. An active oral option may allow transition after initial treatment; no universal IV lead-in is established. Two-stage exchange: after explant and spacer Chronic PJI, compromised tissue, difficult organism, or failed retention strategy. IDSA recommends 4–6 weeks of pathogen-directed IV or highly bioavailable oral therapy after resection. Reimplantation timing depends on the clinical and operative assessment. Evidence does not establish a mandatory antibiotic-free interval. Reimplantation Proceed when the clinical, surgical, and microbiologic assessment supports control. Concordant positive deep cultures support persistent infection; a single virulent isolate can also be significant. Decide whether further therapeutic antibiotics are needed from the full operative and microbiologic assessment. With no residual infection, prolonged treatment is not automatic; indicated perioperative prophylaxis still applies. No curative surgery Operation is not feasible or is inconsistent with the patient's goals. Treat acute sepsis or bacteremia first. Then consider chronic suppression only when there is a defined pathogen, a tolerable active oral drug, and a meaningful goal. It is noncurative. Use “suppression” precisely The defined oral phase of a curative-intent regimen after DAIR is distinct from indefinite suppressive antimicrobial therapy. The 3-month hip and 6-month knee durations in the IDSA guideline apply to its staphylococcal rifampin-based regimen, not to every organism or regimen. Indefinite suppression is a separate, noncurative decision. Do not define DAIR candidacy by postoperative timing alone Symptom duration, implant stability, sinus tract, soft tissue, pathogen, host factors, and ability to exchange modular components all affect the chance of cure. Sources pji-2013 , pji-review , datipo</a:t>
            </a:r>
          </a:p>
          <a:p xmlns:a="http://schemas.openxmlformats.org/drawingml/2006/main">
            <a:r>
              <a:t/>
            </a:r>
          </a:p>
          <a:p xmlns:a="http://schemas.openxmlformats.org/drawingml/2006/main">
            <a:r>
              <a:t>Module section: https://docarcshot.github.io/id-practice-update/lectures/Bone_and_Joint_Infections_Septic_Arthritis_PJI_Osteomyelitis.html#core-pji</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In PJI, the operation determines what antibiotics can accomplish Establish the diagnosis A sinus tract communicating with the prosthesis is diagnostic. If stable, aspirate before antibiotics when results will change management. At surgery, obtain multiple deep tissue cultures. Do not build months of therapy around a superficial wound or sinus swab. Look for bacteremia Obtain blood cultures with fever, systemic illness, acute hematogenous presentation, or suspected S. aureus . Search for the bloodstream source and complications when bacteremia is present. PJI treatment pathways and antibiotic timing Strategy Best fit Published guidance and decision points DAIR with modular-component exchange Acute symptoms, fixed implant, no sinus tract, acceptable soft tissue, and a usable biofilm-active oral regimen. For staphylococcal PJI, the 2013 IDSA guideline describes an initial pathogen-directed phase with rifampin, then rifampin plus an active oral companion to complete 3 months for a hip or 6 months for a knee . Other organisms and situations require separate duration decisions. The IV-to-oral switch is individualized. One-stage exchange Selected chronic PJI with good soft tissue, known and tractable organism, and an experienced team. Duration depends on organism and regimen. IDSA describes 4–6 weeks of pathogen-directed therapy for nonstaphylococcal PJI and 2–6 weeks of IV therapy with rifampin followed by an oral companion and rifampin to complete 3 months for susceptible staphylococci. An active oral option may allow transition after initial treatment; no universal IV lead-in is established. Two-stage exchange: after explant and spacer Chronic PJI, compromised tissue, difficult organism, or failed retention strategy. IDSA recommends 4–6 weeks of pathogen-directed IV or highly bioavailable oral therapy after resection. Reimplantation timing depends on the clinical and operative assessment. Evidence does not establish a mandatory antibiotic-free interval. Reimplantation Proceed when the clinical, surgical, and microbiologic assessment supports control. Concordant positive deep cultures support persistent infection; a single virulent isolate can also be significant. Decide whether further therapeutic antibiotics are needed from the full operative and microbiologic assessment. With no residual infection, prolonged treatment is not automatic; indicated perioperative prophylaxis still applies. No curative surgery Operation is not feasible or is inconsistent with the patient's goals. Treat acute sepsis or bacteremia first. Then consider chronic suppression only when there is a defined pathogen, a tolerable active oral drug, and a meaningful goal. It is noncurative. Use “suppression” precisely The defined oral phase of a curative-intent regimen after DAIR is distinct from indefinite suppressive antimicrobial therapy. The 3-month hip and 6-month knee durations in the IDSA guideline apply to its staphylococcal rifampin-based regimen, not to every organism or regimen. Indefinite suppression is a separate, noncurative decision. Do not define DAIR candidacy by postoperative timing alone Symptom duration, implant stability, sinus tract, soft tissue, pathogen, host factors, and ability to exchange modular components all affect the chance of cure. Sources pji-2013 , pji-review , datipo</a:t>
            </a:r>
          </a:p>
          <a:p xmlns:a="http://schemas.openxmlformats.org/drawingml/2006/main">
            <a:r>
              <a:t/>
            </a:r>
          </a:p>
          <a:p xmlns:a="http://schemas.openxmlformats.org/drawingml/2006/main">
            <a:r>
              <a:t>Module section: https://docarcshot.github.io/id-practice-update/lectures/Bone_and_Joint_Infections_Septic_Arthritis_PJI_Osteomyelitis.html#core-pji</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In PJI, the operation determines what antibiotics can accomplish Establish the diagnosis A sinus tract communicating with the prosthesis is diagnostic. If stable, aspirate before antibiotics when results will change management. At surgery, obtain multiple deep tissue cultures. Do not build months of therapy around a superficial wound or sinus swab. Look for bacteremia Obtain blood cultures with fever, systemic illness, acute hematogenous presentation, or suspected S. aureus . Search for the bloodstream source and complications when bacteremia is present. PJI treatment pathways and antibiotic timing Strategy Best fit Published guidance and decision points DAIR with modular-component exchange Acute symptoms, fixed implant, no sinus tract, acceptable soft tissue, and a usable biofilm-active oral regimen. For staphylococcal PJI, the 2013 IDSA guideline describes an initial pathogen-directed phase with rifampin, then rifampin plus an active oral companion to complete 3 months for a hip or 6 months for a knee . Other organisms and situations require separate duration decisions. The IV-to-oral switch is individualized. One-stage exchange Selected chronic PJI with good soft tissue, known and tractable organism, and an experienced team. Duration depends on organism and regimen. IDSA describes 4–6 weeks of pathogen-directed therapy for nonstaphylococcal PJI and 2–6 weeks of IV therapy with rifampin followed by an oral companion and rifampin to complete 3 months for susceptible staphylococci. An active oral option may allow transition after initial treatment; no universal IV lead-in is established. Two-stage exchange: after explant and spacer Chronic PJI, compromised tissue, difficult organism, or failed retention strategy. IDSA recommends 4–6 weeks of pathogen-directed IV or highly bioavailable oral therapy after resection. Reimplantation timing depends on the clinical and operative assessment. Evidence does not establish a mandatory antibiotic-free interval. Reimplantation Proceed when the clinical, surgical, and microbiologic assessment supports control. Concordant positive deep cultures support persistent infection; a single virulent isolate can also be significant. Decide whether further therapeutic antibiotics are needed from the full operative and microbiologic assessment. With no residual infection, prolonged treatment is not automatic; indicated perioperative prophylaxis still applies. No curative surgery Operation is not feasible or is inconsistent with the patient's goals. Treat acute sepsis or bacteremia first. Then consider chronic suppression only when there is a defined pathogen, a tolerable active oral drug, and a meaningful goal. It is noncurative. Use “suppression” precisely The defined oral phase of a curative-intent regimen after DAIR is distinct from indefinite suppressive antimicrobial therapy. The 3-month hip and 6-month knee durations in the IDSA guideline apply to its staphylococcal rifampin-based regimen, not to every organism or regimen. Indefinite suppression is a separate, noncurative decision. Do not define DAIR candidacy by postoperative timing alone Symptom duration, implant stability, sinus tract, soft tissue, pathogen, host factors, and ability to exchange modular components all affect the chance of cure. Sources pji-2013 , pji-review , datipo</a:t>
            </a:r>
          </a:p>
          <a:p xmlns:a="http://schemas.openxmlformats.org/drawingml/2006/main">
            <a:r>
              <a:t/>
            </a:r>
          </a:p>
          <a:p xmlns:a="http://schemas.openxmlformats.org/drawingml/2006/main">
            <a:r>
              <a:t>Module section: https://docarcshot.github.io/id-practice-update/lectures/Bone_and_Joint_Infections_Septic_Arthritis_PJI_Osteomyelitis.html#core-pji</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In PJI, the operation determines what antibiotics can accomplish Establish the diagnosis A sinus tract communicating with the prosthesis is diagnostic. If stable, aspirate before antibiotics when results will change management. At surgery, obtain multiple deep tissue cultures. Do not build months of therapy around a superficial wound or sinus swab. Look for bacteremia Obtain blood cultures with fever, systemic illness, acute hematogenous presentation, or suspected S. aureus . Search for the bloodstream source and complications when bacteremia is present. PJI treatment pathways and antibiotic timing Strategy Best fit Published guidance and decision points DAIR with modular-component exchange Acute symptoms, fixed implant, no sinus tract, acceptable soft tissue, and a usable biofilm-active oral regimen. For staphylococcal PJI, the 2013 IDSA guideline describes an initial pathogen-directed phase with rifampin, then rifampin plus an active oral companion to complete 3 months for a hip or 6 months for a knee . Other organisms and situations require separate duration decisions. The IV-to-oral switch is individualized. One-stage exchange Selected chronic PJI with good soft tissue, known and tractable organism, and an experienced team. Duration depends on organism and regimen. IDSA describes 4–6 weeks of pathogen-directed therapy for nonstaphylococcal PJI and 2–6 weeks of IV therapy with rifampin followed by an oral companion and rifampin to complete 3 months for susceptible staphylococci. An active oral option may allow transition after initial treatment; no universal IV lead-in is established. Two-stage exchange: after explant and spacer Chronic PJI, compromised tissue, difficult organism, or failed retention strategy. IDSA recommends 4–6 weeks of pathogen-directed IV or highly bioavailable oral therapy after resection. Reimplantation timing depends on the clinical and operative assessment. Evidence does not establish a mandatory antibiotic-free interval. Reimplantation Proceed when the clinical, surgical, and microbiologic assessment supports control. Concordant positive deep cultures support persistent infection; a single virulent isolate can also be significant. Decide whether further therapeutic antibiotics are needed from the full operative and microbiologic assessment. With no residual infection, prolonged treatment is not automatic; indicated perioperative prophylaxis still applies. No curative surgery Operation is not feasible or is inconsistent with the patient's goals. Treat acute sepsis or bacteremia first. Then consider chronic suppression only when there is a defined pathogen, a tolerable active oral drug, and a meaningful goal. It is noncurative. Use “suppression” precisely The defined oral phase of a curative-intent regimen after DAIR is distinct from indefinite suppressive antimicrobial therapy. The 3-month hip and 6-month knee durations in the IDSA guideline apply to its staphylococcal rifampin-based regimen, not to every organism or regimen. Indefinite suppression is a separate, noncurative decision. Do not define DAIR candidacy by postoperative timing alone Symptom duration, implant stability, sinus tract, soft tissue, pathogen, host factors, and ability to exchange modular components all affect the chance of cure. Sources pji-2013 , pji-review , datipo</a:t>
            </a:r>
          </a:p>
          <a:p xmlns:a="http://schemas.openxmlformats.org/drawingml/2006/main">
            <a:r>
              <a:t/>
            </a:r>
          </a:p>
          <a:p xmlns:a="http://schemas.openxmlformats.org/drawingml/2006/main">
            <a:r>
              <a:t>Module section: https://docarcshot.github.io/id-practice-update/lectures/Bone_and_Joint_Infections_Septic_Arthritis_PJI_Osteomyelitis.html#core-pji</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In PJI, the operation determines what antibiotics can accomplish Establish the diagnosis A sinus tract communicating with the prosthesis is diagnostic. If stable, aspirate before antibiotics when results will change management. At surgery, obtain multiple deep tissue cultures. Do not build months of therapy around a superficial wound or sinus swab. Look for bacteremia Obtain blood cultures with fever, systemic illness, acute hematogenous presentation, or suspected S. aureus . Search for the bloodstream source and complications when bacteremia is present. PJI treatment pathways and antibiotic timing Strategy Best fit Published guidance and decision points DAIR with modular-component exchange Acute symptoms, fixed implant, no sinus tract, acceptable soft tissue, and a usable biofilm-active oral regimen. For staphylococcal PJI, the 2013 IDSA guideline describes an initial pathogen-directed phase with rifampin, then rifampin plus an active oral companion to complete 3 months for a hip or 6 months for a knee . Other organisms and situations require separate duration decisions. The IV-to-oral switch is individualized. One-stage exchange Selected chronic PJI with good soft tissue, known and tractable organism, and an experienced team. Duration depends on organism and regimen. IDSA describes 4–6 weeks of pathogen-directed therapy for nonstaphylococcal PJI and 2–6 weeks of IV therapy with rifampin followed by an oral companion and rifampin to complete 3 months for susceptible staphylococci. An active oral option may allow transition after initial treatment; no universal IV lead-in is established. Two-stage exchange: after explant and spacer Chronic PJI, compromised tissue, difficult organism, or failed retention strategy. IDSA recommends 4–6 weeks of pathogen-directed IV or highly bioavailable oral therapy after resection. Reimplantation timing depends on the clinical and operative assessment. Evidence does not establish a mandatory antibiotic-free interval. Reimplantation Proceed when the clinical, surgical, and microbiologic assessment supports control. Concordant positive deep cultures support persistent infection; a single virulent isolate can also be significant. Decide whether further therapeutic antibiotics are needed from the full operative and microbiologic assessment. With no residual infection, prolonged treatment is not automatic; indicated perioperative prophylaxis still applies. No curative surgery Operation is not feasible or is inconsistent with the patient's goals. Treat acute sepsis or bacteremia first. Then consider chronic suppression only when there is a defined pathogen, a tolerable active oral drug, and a meaningful goal. It is noncurative. Use “suppression” precisely The defined oral phase of a curative-intent regimen after DAIR is distinct from indefinite suppressive antimicrobial therapy. The 3-month hip and 6-month knee durations in the IDSA guideline apply to its staphylococcal rifampin-based regimen, not to every organism or regimen. Indefinite suppression is a separate, noncurative decision. Do not define DAIR candidacy by postoperative timing alone Symptom duration, implant stability, sinus tract, soft tissue, pathogen, host factors, and ability to exchange modular components all affect the chance of cure. Sources pji-2013 , pji-review , datipo</a:t>
            </a:r>
          </a:p>
          <a:p xmlns:a="http://schemas.openxmlformats.org/drawingml/2006/main">
            <a:r>
              <a:t/>
            </a:r>
          </a:p>
          <a:p xmlns:a="http://schemas.openxmlformats.org/drawingml/2006/main">
            <a:r>
              <a:t>Module section: https://docarcshot.github.io/id-practice-update/lectures/Bone_and_Joint_Infections_Septic_Arthritis_PJI_Osteomyelitis.html#core-pji</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In PJI, the operation determines what antibiotics can accomplish Establish the diagnosis A sinus tract communicating with the prosthesis is diagnostic. If stable, aspirate before antibiotics when results will change management. At surgery, obtain multiple deep tissue cultures. Do not build months of therapy around a superficial wound or sinus swab. Look for bacteremia Obtain blood cultures with fever, systemic illness, acute hematogenous presentation, or suspected S. aureus . Search for the bloodstream source and complications when bacteremia is present. PJI treatment pathways and antibiotic timing Strategy Best fit Published guidance and decision points DAIR with modular-component exchange Acute symptoms, fixed implant, no sinus tract, acceptable soft tissue, and a usable biofilm-active oral regimen. For staphylococcal PJI, the 2013 IDSA guideline describes an initial pathogen-directed phase with rifampin, then rifampin plus an active oral companion to complete 3 months for a hip or 6 months for a knee . Other organisms and situations require separate duration decisions. The IV-to-oral switch is individualized. One-stage exchange Selected chronic PJI with good soft tissue, known and tractable organism, and an experienced team. Duration depends on organism and regimen. IDSA describes 4–6 weeks of pathogen-directed therapy for nonstaphylococcal PJI and 2–6 weeks of IV therapy with rifampin followed by an oral companion and rifampin to complete 3 months for susceptible staphylococci. An active oral option may allow transition after initial treatment; no universal IV lead-in is established. Two-stage exchange: after explant and spacer Chronic PJI, compromised tissue, difficult organism, or failed retention strategy. IDSA recommends 4–6 weeks of pathogen-directed IV or highly bioavailable oral therapy after resection. Reimplantation timing depends on the clinical and operative assessment. Evidence does not establish a mandatory antibiotic-free interval. Reimplantation Proceed when the clinical, surgical, and microbiologic assessment supports control. Concordant positive deep cultures support persistent infection; a single virulent isolate can also be significant. Decide whether further therapeutic antibiotics are needed from the full operative and microbiologic assessment. With no residual infection, prolonged treatment is not automatic; indicated perioperative prophylaxis still applies. No curative surgery Operation is not feasible or is inconsistent with the patient's goals. Treat acute sepsis or bacteremia first. Then consider chronic suppression only when there is a defined pathogen, a tolerable active oral drug, and a meaningful goal. It is noncurative. Use “suppression” precisely The defined oral phase of a curative-intent regimen after DAIR is distinct from indefinite suppressive antimicrobial therapy. The 3-month hip and 6-month knee durations in the IDSA guideline apply to its staphylococcal rifampin-based regimen, not to every organism or regimen. Indefinite suppression is a separate, noncurative decision. Do not define DAIR candidacy by postoperative timing alone Symptom duration, implant stability, sinus tract, soft tissue, pathogen, host factors, and ability to exchange modular components all affect the chance of cure. Sources pji-2013 , pji-review , datipo</a:t>
            </a:r>
          </a:p>
          <a:p xmlns:a="http://schemas.openxmlformats.org/drawingml/2006/main">
            <a:r>
              <a:t/>
            </a:r>
          </a:p>
          <a:p xmlns:a="http://schemas.openxmlformats.org/drawingml/2006/main">
            <a:r>
              <a:t>Module section: https://docarcshot.github.io/id-practice-update/lectures/Bone_and_Joint_Infections_Septic_Arthritis_PJI_Osteomyelitis.html#core-pji</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In PJI, the operation determines what antibiotics can accomplish Establish the diagnosis A sinus tract communicating with the prosthesis is diagnostic. If stable, aspirate before antibiotics when results will change management. At surgery, obtain multiple deep tissue cultures. Do not build months of therapy around a superficial wound or sinus swab. Look for bacteremia Obtain blood cultures with fever, systemic illness, acute hematogenous presentation, or suspected S. aureus . Search for the bloodstream source and complications when bacteremia is present. PJI treatment pathways and antibiotic timing Strategy Best fit Published guidance and decision points DAIR with modular-component exchange Acute symptoms, fixed implant, no sinus tract, acceptable soft tissue, and a usable biofilm-active oral regimen. For staphylococcal PJI, the 2013 IDSA guideline describes an initial pathogen-directed phase with rifampin, then rifampin plus an active oral companion to complete 3 months for a hip or 6 months for a knee . Other organisms and situations require separate duration decisions. The IV-to-oral switch is individualized. One-stage exchange Selected chronic PJI with good soft tissue, known and tractable organism, and an experienced team. Duration depends on organism and regimen. IDSA describes 4–6 weeks of pathogen-directed therapy for nonstaphylococcal PJI and 2–6 weeks of IV therapy with rifampin followed by an oral companion and rifampin to complete 3 months for susceptible staphylococci. An active oral option may allow transition after initial treatment; no universal IV lead-in is established. Two-stage exchange: after explant and spacer Chronic PJI, compromised tissue, difficult organism, or failed retention strategy. IDSA recommends 4–6 weeks of pathogen-directed IV or highly bioavailable oral therapy after resection. Reimplantation timing depends on the clinical and operative assessment. Evidence does not establish a mandatory antibiotic-free interval. Reimplantation Proceed when the clinical, surgical, and microbiologic assessment supports control. Concordant positive deep cultures support persistent infection; a single virulent isolate can also be significant. Decide whether further therapeutic antibiotics are needed from the full operative and microbiologic assessment. With no residual infection, prolonged treatment is not automatic; indicated perioperative prophylaxis still applies. No curative surgery Operation is not feasible or is inconsistent with the patient's goals. Treat acute sepsis or bacteremia first. Then consider chronic suppression only when there is a defined pathogen, a tolerable active oral drug, and a meaningful goal. It is noncurative. Use “suppression” precisely The defined oral phase of a curative-intent regimen after DAIR is distinct from indefinite suppressive antimicrobial therapy. The 3-month hip and 6-month knee durations in the IDSA guideline apply to its staphylococcal rifampin-based regimen, not to every organism or regimen. Indefinite suppression is a separate, noncurative decision. Do not define DAIR candidacy by postoperative timing alone Symptom duration, implant stability, sinus tract, soft tissue, pathogen, host factors, and ability to exchange modular components all affect the chance of cure. Sources pji-2013 , pji-review , datipo</a:t>
            </a:r>
          </a:p>
          <a:p xmlns:a="http://schemas.openxmlformats.org/drawingml/2006/main">
            <a:r>
              <a:t/>
            </a:r>
          </a:p>
          <a:p xmlns:a="http://schemas.openxmlformats.org/drawingml/2006/main">
            <a:r>
              <a:t>Module section: https://docarcshot.github.io/id-practice-update/lectures/Bone_and_Joint_Infections_Septic_Arthritis_PJI_Osteomyelitis.html#core-pji</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In PJI, the operation determines what antibiotics can accomplish Establish the diagnosis A sinus tract communicating with the prosthesis is diagnostic. If stable, aspirate before antibiotics when results will change management. At surgery, obtain multiple deep tissue cultures. Do not build months of therapy around a superficial wound or sinus swab. Look for bacteremia Obtain blood cultures with fever, systemic illness, acute hematogenous presentation, or suspected S. aureus . Search for the bloodstream source and complications when bacteremia is present. PJI treatment pathways and antibiotic timing Strategy Best fit Published guidance and decision points DAIR with modular-component exchange Acute symptoms, fixed implant, no sinus tract, acceptable soft tissue, and a usable biofilm-active oral regimen. For staphylococcal PJI, the 2013 IDSA guideline describes an initial pathogen-directed phase with rifampin, then rifampin plus an active oral companion to complete 3 months for a hip or 6 months for a knee . Other organisms and situations require separate duration decisions. The IV-to-oral switch is individualized. One-stage exchange Selected chronic PJI with good soft tissue, known and tractable organism, and an experienced team. Duration depends on organism and regimen. IDSA describes 4–6 weeks of pathogen-directed therapy for nonstaphylococcal PJI and 2–6 weeks of IV therapy with rifampin followed by an oral companion and rifampin to complete 3 months for susceptible staphylococci. An active oral option may allow transition after initial treatment; no universal IV lead-in is established. Two-stage exchange: after explant and spacer Chronic PJI, compromised tissue, difficult organism, or failed retention strategy. IDSA recommends 4–6 weeks of pathogen-directed IV or highly bioavailable oral therapy after resection. Reimplantation timing depends on the clinical and operative assessment. Evidence does not establish a mandatory antibiotic-free interval. Reimplantation Proceed when the clinical, surgical, and microbiologic assessment supports control. Concordant positive deep cultures support persistent infection; a single virulent isolate can also be significant. Decide whether further therapeutic antibiotics are needed from the full operative and microbiologic assessment. With no residual infection, prolonged treatment is not automatic; indicated perioperative prophylaxis still applies. No curative surgery Operation is not feasible or is inconsistent with the patient's goals. Treat acute sepsis or bacteremia first. Then consider chronic suppression only when there is a defined pathogen, a tolerable active oral drug, and a meaningful goal. It is noncurative. Use “suppression” precisely The defined oral phase of a curative-intent regimen after DAIR is distinct from indefinite suppressive antimicrobial therapy. The 3-month hip and 6-month knee durations in the IDSA guideline apply to its staphylococcal rifampin-based regimen, not to every organism or regimen. Indefinite suppression is a separate, noncurative decision. Do not define DAIR candidacy by postoperative timing alone Symptom duration, implant stability, sinus tract, soft tissue, pathogen, host factors, and ability to exchange modular components all affect the chance of cure. Sources pji-2013 , pji-review , datipo</a:t>
            </a:r>
          </a:p>
          <a:p xmlns:a="http://schemas.openxmlformats.org/drawingml/2006/main">
            <a:r>
              <a:t/>
            </a:r>
          </a:p>
          <a:p xmlns:a="http://schemas.openxmlformats.org/drawingml/2006/main">
            <a:r>
              <a:t>Module section: https://docarcshot.github.io/id-practice-update/lectures/Bone_and_Joint_Infections_Septic_Arthritis_PJI_Osteomyelitis.html#core-pji</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In PJI, the operation determines what antibiotics can accomplish Establish the diagnosis A sinus tract communicating with the prosthesis is diagnostic. If stable, aspirate before antibiotics when results will change management. At surgery, obtain multiple deep tissue cultures. Do not build months of therapy around a superficial wound or sinus swab. Look for bacteremia Obtain blood cultures with fever, systemic illness, acute hematogenous presentation, or suspected S. aureus . Search for the bloodstream source and complications when bacteremia is present. PJI treatment pathways and antibiotic timing Strategy Best fit Published guidance and decision points DAIR with modular-component exchange Acute symptoms, fixed implant, no sinus tract, acceptable soft tissue, and a usable biofilm-active oral regimen. For staphylococcal PJI, the 2013 IDSA guideline describes an initial pathogen-directed phase with rifampin, then rifampin plus an active oral companion to complete 3 months for a hip or 6 months for a knee . Other organisms and situations require separate duration decisions. The IV-to-oral switch is individualized. One-stage exchange Selected chronic PJI with good soft tissue, known and tractable organism, and an experienced team. Duration depends on organism and regimen. IDSA describes 4–6 weeks of pathogen-directed therapy for nonstaphylococcal PJI and 2–6 weeks of IV therapy with rifampin followed by an oral companion and rifampin to complete 3 months for susceptible staphylococci. An active oral option may allow transition after initial treatment; no universal IV lead-in is established. Two-stage exchange: after explant and spacer Chronic PJI, compromised tissue, difficult organism, or failed retention strategy. IDSA recommends 4–6 weeks of pathogen-directed IV or highly bioavailable oral therapy after resection. Reimplantation timing depends on the clinical and operative assessment. Evidence does not establish a mandatory antibiotic-free interval. Reimplantation Proceed when the clinical, surgical, and microbiologic assessment supports control. Concordant positive deep cultures support persistent infection; a single virulent isolate can also be significant. Decide whether further therapeutic antibiotics are needed from the full operative and microbiologic assessment. With no residual infection, prolonged treatment is not automatic; indicated perioperative prophylaxis still applies. No curative surgery Operation is not feasible or is inconsistent with the patient's goals. Treat acute sepsis or bacteremia first. Then consider chronic suppression only when there is a defined pathogen, a tolerable active oral drug, and a meaningful goal. It is noncurative. Use “suppression” precisely The defined oral phase of a curative-intent regimen after DAIR is distinct from indefinite suppressive antimicrobial therapy. The 3-month hip and 6-month knee durations in the IDSA guideline apply to its staphylococcal rifampin-based regimen, not to every organism or regimen. Indefinite suppression is a separate, noncurative decision. Do not define DAIR candidacy by postoperative timing alone Symptom duration, implant stability, sinus tract, soft tissue, pathogen, host factors, and ability to exchange modular components all affect the chance of cure. Sources pji-2013 , pji-review , datipo</a:t>
            </a:r>
          </a:p>
          <a:p xmlns:a="http://schemas.openxmlformats.org/drawingml/2006/main">
            <a:r>
              <a:t/>
            </a:r>
          </a:p>
          <a:p xmlns:a="http://schemas.openxmlformats.org/drawingml/2006/main">
            <a:r>
              <a:t>Module section: https://docarcshot.github.io/id-practice-update/lectures/Bone_and_Joint_Infections_Septic_Arthritis_PJI_Osteomyelitis.html#core-pji</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Acute, subacute, and chronic osteomyelitis differ mainly in diagnostic and source-control problems Use tempo to frame the problem, not to prescribe a duration Pattern Typical problem Immediate priority Acute Hematogenous infection, contiguous spread, or acute postoperative infection. Blood cultures when relevant, drain abscesses, obtain deep cultures, and start active therapy promptly when ill. Subacute Indolent vertebral infection or Brodie-type lesion; infection may mimic tumor or inflammatory disease. If stable, obtain tissue for culture and histology before empiric therapy. Chronic Sequestrum, sinus tract, devitalized bone, ischemia, or retained hardware. Define whether necrotic bone or hardware can be removed and whether soft-tissue coverage and perfusion can be restored. Route and anatomy predict the likely microbiology Syndrome Common pathogens Sampling implication Acute hematogenous long-bone or vertebral infection S. aureus most common; streptococci and enteric gram-negative bacilli according to host and source Blood cultures can be diagnostic. Evaluate S. aureus bacteremia for an endovascular source. Post-traumatic, postoperative, or hardware-associated infection S. aureus , coagulase-negative staphylococci, gram-negative bacilli; sometimes polymicrobial Use multiple deep operative specimens, not a surface swab. Contiguous diabetic foot osteomyelitis Mild/new: S. aureus and beta-hemolytic streptococci. Chronic, deep, or previously treated: gram-negative bacilli and anaerobes become more likely. Bone culture is preferred when feasible; superficial wound flora can mislead. Pelvic osteomyelitis beneath a pressure injury Often polymicrobial, but exposed bone and wound cultures are heavily colonized Deep bone obtained during planned debridement/closure is the useful specimen. Source Prefer blood cultures when hematogenous disease is plausible and bone or deep operative specimens when available. A superficial swab usually reflects colonizing flora. Duration With adequate source control and no retained implant, treatment generally does not exceed 6 weeks. Complete resection of infected bone may require no osteomyelitis course. Residual soft-tissue infection is treated separately. Route Osteomyelitis does not automatically require a PICC. An active, well-absorbed oral regimen is reasonable when the patient is stable, source control is adequate, absorption is reliable, and adherence and interactions have been addressed. Common anchors: most bacterial vertebral osteomyelitis, 6 weeks; diabetic foot osteomyelitis without resection, 6 weeks; minor amputation with a positive bone margin, up to 3 weeks. These are syndrome-specific anchors, not a universal rule. Sources oviva , wiki , nvo , dfi</a:t>
            </a:r>
          </a:p>
          <a:p xmlns:a="http://schemas.openxmlformats.org/drawingml/2006/main">
            <a:r>
              <a:t/>
            </a:r>
          </a:p>
          <a:p xmlns:a="http://schemas.openxmlformats.org/drawingml/2006/main">
            <a:r>
              <a:t>Module section: https://docarcshot.github.io/id-practice-update/lectures/Bone_and_Joint_Infections_Septic_Arthritis_PJI_Osteomyelitis.html#core-osteomyelitis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Acute, subacute, and chronic osteomyelitis differ mainly in diagnostic and source-control problems Use tempo to frame the problem, not to prescribe a duration Pattern Typical problem Immediate priority Acute Hematogenous infection, contiguous spread, or acute postoperative infection. Blood cultures when relevant, drain abscesses, obtain deep cultures, and start active therapy promptly when ill. Subacute Indolent vertebral infection or Brodie-type lesion; infection may mimic tumor or inflammatory disease. If stable, obtain tissue for culture and histology before empiric therapy. Chronic Sequestrum, sinus tract, devitalized bone, ischemia, or retained hardware. Define whether necrotic bone or hardware can be removed and whether soft-tissue coverage and perfusion can be restored. Route and anatomy predict the likely microbiology Syndrome Common pathogens Sampling implication Acute hematogenous long-bone or vertebral infection S. aureus most common; streptococci and enteric gram-negative bacilli according to host and source Blood cultures can be diagnostic. Evaluate S. aureus bacteremia for an endovascular source. Post-traumatic, postoperative, or hardware-associated infection S. aureus , coagulase-negative staphylococci, gram-negative bacilli; sometimes polymicrobial Use multiple deep operative specimens, not a surface swab. Contiguous diabetic foot osteomyelitis Mild/new: S. aureus and beta-hemolytic streptococci. Chronic, deep, or previously treated: gram-negative bacilli and anaerobes become more likely. Bone culture is preferred when feasible; superficial wound flora can mislead. Pelvic osteomyelitis beneath a pressure injury Often polymicrobial, but exposed bone and wound cultures are heavily colonized Deep bone obtained during planned debridement/closure is the useful specimen. Source Prefer blood cultures when hematogenous disease is plausible and bone or deep operative specimens when available. A superficial swab usually reflects colonizing flora. Duration With adequate source control and no retained implant, treatment generally does not exceed 6 weeks. Complete resection of infected bone may require no osteomyelitis course. Residual soft-tissue infection is treated separately. Route Osteomyelitis does not automatically require a PICC. An active, well-absorbed oral regimen is reasonable when the patient is stable, source control is adequate, absorption is reliable, and adherence and interactions have been addressed. Common anchors: most bacterial vertebral osteomyelitis, 6 weeks; diabetic foot osteomyelitis without resection, 6 weeks; minor amputation with a positive bone margin, up to 3 weeks. These are syndrome-specific anchors, not a universal rule. Sources oviva , wiki , nvo , dfi</a:t>
            </a:r>
          </a:p>
          <a:p xmlns:a="http://schemas.openxmlformats.org/drawingml/2006/main">
            <a:r>
              <a:t/>
            </a:r>
          </a:p>
          <a:p xmlns:a="http://schemas.openxmlformats.org/drawingml/2006/main">
            <a:r>
              <a:t>Module section: https://docarcshot.github.io/id-practice-update/lectures/Bone_and_Joint_Infections_Septic_Arthritis_PJI_Osteomyelitis.html#core-osteomyelitis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Acute, subacute, and chronic osteomyelitis differ mainly in diagnostic and source-control problems Use tempo to frame the problem, not to prescribe a duration Pattern Typical problem Immediate priority Acute Hematogenous infection, contiguous spread, or acute postoperative infection. Blood cultures when relevant, drain abscesses, obtain deep cultures, and start active therapy promptly when ill. Subacute Indolent vertebral infection or Brodie-type lesion; infection may mimic tumor or inflammatory disease. If stable, obtain tissue for culture and histology before empiric therapy. Chronic Sequestrum, sinus tract, devitalized bone, ischemia, or retained hardware. Define whether necrotic bone or hardware can be removed and whether soft-tissue coverage and perfusion can be restored. Route and anatomy predict the likely microbiology Syndrome Common pathogens Sampling implication Acute hematogenous long-bone or vertebral infection S. aureus most common; streptococci and enteric gram-negative bacilli according to host and source Blood cultures can be diagnostic. Evaluate S. aureus bacteremia for an endovascular source. Post-traumatic, postoperative, or hardware-associated infection S. aureus , coagulase-negative staphylococci, gram-negative bacilli; sometimes polymicrobial Use multiple deep operative specimens, not a surface swab. Contiguous diabetic foot osteomyelitis Mild/new: S. aureus and beta-hemolytic streptococci. Chronic, deep, or previously treated: gram-negative bacilli and anaerobes become more likely. Bone culture is preferred when feasible; superficial wound flora can mislead. Pelvic osteomyelitis beneath a pressure injury Often polymicrobial, but exposed bone and wound cultures are heavily colonized Deep bone obtained during planned debridement/closure is the useful specimen. Source Prefer blood cultures when hematogenous disease is plausible and bone or deep operative specimens when available. A superficial swab usually reflects colonizing flora. Duration With adequate source control and no retained implant, treatment generally does not exceed 6 weeks. Complete resection of infected bone may require no osteomyelitis course. Residual soft-tissue infection is treated separately. Route Osteomyelitis does not automatically require a PICC. An active, well-absorbed oral regimen is reasonable when the patient is stable, source control is adequate, absorption is reliable, and adherence and interactions have been addressed. Common anchors: most bacterial vertebral osteomyelitis, 6 weeks; diabetic foot osteomyelitis without resection, 6 weeks; minor amputation with a positive bone margin, up to 3 weeks. These are syndrome-specific anchors, not a universal rule. Sources oviva , wiki , nvo , dfi</a:t>
            </a:r>
          </a:p>
          <a:p xmlns:a="http://schemas.openxmlformats.org/drawingml/2006/main">
            <a:r>
              <a:t/>
            </a:r>
          </a:p>
          <a:p xmlns:a="http://schemas.openxmlformats.org/drawingml/2006/main">
            <a:r>
              <a:t>Module section: https://docarcshot.github.io/id-practice-update/lectures/Bone_and_Joint_Infections_Septic_Arthritis_PJI_Osteomyelitis.html#core-osteomyelitis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Acute, subacute, and chronic osteomyelitis differ mainly in diagnostic and source-control problems Use tempo to frame the problem, not to prescribe a duration Pattern Typical problem Immediate priority Acute Hematogenous infection, contiguous spread, or acute postoperative infection. Blood cultures when relevant, drain abscesses, obtain deep cultures, and start active therapy promptly when ill. Subacute Indolent vertebral infection or Brodie-type lesion; infection may mimic tumor or inflammatory disease. If stable, obtain tissue for culture and histology before empiric therapy. Chronic Sequestrum, sinus tract, devitalized bone, ischemia, or retained hardware. Define whether necrotic bone or hardware can be removed and whether soft-tissue coverage and perfusion can be restored. Route and anatomy predict the likely microbiology Syndrome Common pathogens Sampling implication Acute hematogenous long-bone or vertebral infection S. aureus most common; streptococci and enteric gram-negative bacilli according to host and source Blood cultures can be diagnostic. Evaluate S. aureus bacteremia for an endovascular source. Post-traumatic, postoperative, or hardware-associated infection S. aureus , coagulase-negative staphylococci, gram-negative bacilli; sometimes polymicrobial Use multiple deep operative specimens, not a surface swab. Contiguous diabetic foot osteomyelitis Mild/new: S. aureus and beta-hemolytic streptococci. Chronic, deep, or previously treated: gram-negative bacilli and anaerobes become more likely. Bone culture is preferred when feasible; superficial wound flora can mislead. Pelvic osteomyelitis beneath a pressure injury Often polymicrobial, but exposed bone and wound cultures are heavily colonized Deep bone obtained during planned debridement/closure is the useful specimen. Source Prefer blood cultures when hematogenous disease is plausible and bone or deep operative specimens when available. A superficial swab usually reflects colonizing flora. Duration With adequate source control and no retained implant, treatment generally does not exceed 6 weeks. Complete resection of infected bone may require no osteomyelitis course. Residual soft-tissue infection is treated separately. Route Osteomyelitis does not automatically require a PICC. An active, well-absorbed oral regimen is reasonable when the patient is stable, source control is adequate, absorption is reliable, and adherence and interactions have been addressed. Common anchors: most bacterial vertebral osteomyelitis, 6 weeks; diabetic foot osteomyelitis without resection, 6 weeks; minor amputation with a positive bone margin, up to 3 weeks. These are syndrome-specific anchors, not a universal rule. Sources oviva , wiki , nvo , dfi</a:t>
            </a:r>
          </a:p>
          <a:p xmlns:a="http://schemas.openxmlformats.org/drawingml/2006/main">
            <a:r>
              <a:t/>
            </a:r>
          </a:p>
          <a:p xmlns:a="http://schemas.openxmlformats.org/drawingml/2006/main">
            <a:r>
              <a:t>Module section: https://docarcshot.github.io/id-practice-update/lectures/Bone_and_Joint_Infections_Septic_Arthritis_PJI_Osteomyelitis.html#core-osteomyelitis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Acute, subacute, and chronic osteomyelitis differ mainly in diagnostic and source-control problems Use tempo to frame the problem, not to prescribe a duration Pattern Typical problem Immediate priority Acute Hematogenous infection, contiguous spread, or acute postoperative infection. Blood cultures when relevant, drain abscesses, obtain deep cultures, and start active therapy promptly when ill. Subacute Indolent vertebral infection or Brodie-type lesion; infection may mimic tumor or inflammatory disease. If stable, obtain tissue for culture and histology before empiric therapy. Chronic Sequestrum, sinus tract, devitalized bone, ischemia, or retained hardware. Define whether necrotic bone or hardware can be removed and whether soft-tissue coverage and perfusion can be restored. Route and anatomy predict the likely microbiology Syndrome Common pathogens Sampling implication Acute hematogenous long-bone or vertebral infection S. aureus most common; streptococci and enteric gram-negative bacilli according to host and source Blood cultures can be diagnostic. Evaluate S. aureus bacteremia for an endovascular source. Post-traumatic, postoperative, or hardware-associated infection S. aureus , coagulase-negative staphylococci, gram-negative bacilli; sometimes polymicrobial Use multiple deep operative specimens, not a surface swab. Contiguous diabetic foot osteomyelitis Mild/new: S. aureus and beta-hemolytic streptococci. Chronic, deep, or previously treated: gram-negative bacilli and anaerobes become more likely. Bone culture is preferred when feasible; superficial wound flora can mislead. Pelvic osteomyelitis beneath a pressure injury Often polymicrobial, but exposed bone and wound cultures are heavily colonized Deep bone obtained during planned debridement/closure is the useful specimen. Source Prefer blood cultures when hematogenous disease is plausible and bone or deep operative specimens when available. A superficial swab usually reflects colonizing flora. Duration With adequate source control and no retained implant, treatment generally does not exceed 6 weeks. Complete resection of infected bone may require no osteomyelitis course. Residual soft-tissue infection is treated separately. Route Osteomyelitis does not automatically require a PICC. An active, well-absorbed oral regimen is reasonable when the patient is stable, source control is adequate, absorption is reliable, and adherence and interactions have been addressed. Common anchors: most bacterial vertebral osteomyelitis, 6 weeks; diabetic foot osteomyelitis without resection, 6 weeks; minor amputation with a positive bone margin, up to 3 weeks. These are syndrome-specific anchors, not a universal rule. Sources oviva , wiki , nvo , dfi</a:t>
            </a:r>
          </a:p>
          <a:p xmlns:a="http://schemas.openxmlformats.org/drawingml/2006/main">
            <a:r>
              <a:t/>
            </a:r>
          </a:p>
          <a:p xmlns:a="http://schemas.openxmlformats.org/drawingml/2006/main">
            <a:r>
              <a:t>Module section: https://docarcshot.github.io/id-practice-update/lectures/Bone_and_Joint_Infections_Septic_Arthritis_PJI_Osteomyelitis.html#core-osteomyelitis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Acute, subacute, and chronic osteomyelitis differ mainly in diagnostic and source-control problems Use tempo to frame the problem, not to prescribe a duration Pattern Typical problem Immediate priority Acute Hematogenous infection, contiguous spread, or acute postoperative infection. Blood cultures when relevant, drain abscesses, obtain deep cultures, and start active therapy promptly when ill. Subacute Indolent vertebral infection or Brodie-type lesion; infection may mimic tumor or inflammatory disease. If stable, obtain tissue for culture and histology before empiric therapy. Chronic Sequestrum, sinus tract, devitalized bone, ischemia, or retained hardware. Define whether necrotic bone or hardware can be removed and whether soft-tissue coverage and perfusion can be restored. Route and anatomy predict the likely microbiology Syndrome Common pathogens Sampling implication Acute hematogenous long-bone or vertebral infection S. aureus most common; streptococci and enteric gram-negative bacilli according to host and source Blood cultures can be diagnostic. Evaluate S. aureus bacteremia for an endovascular source. Post-traumatic, postoperative, or hardware-associated infection S. aureus , coagulase-negative staphylococci, gram-negative bacilli; sometimes polymicrobial Use multiple deep operative specimens, not a surface swab. Contiguous diabetic foot osteomyelitis Mild/new: S. aureus and beta-hemolytic streptococci. Chronic, deep, or previously treated: gram-negative bacilli and anaerobes become more likely. Bone culture is preferred when feasible; superficial wound flora can mislead. Pelvic osteomyelitis beneath a pressure injury Often polymicrobial, but exposed bone and wound cultures are heavily colonized Deep bone obtained during planned debridement/closure is the useful specimen. Source Prefer blood cultures when hematogenous disease is plausible and bone or deep operative specimens when available. A superficial swab usually reflects colonizing flora. Duration With adequate source control and no retained implant, treatment generally does not exceed 6 weeks. Complete resection of infected bone may require no osteomyelitis course. Residual soft-tissue infection is treated separately. Route Osteomyelitis does not automatically require a PICC. An active, well-absorbed oral regimen is reasonable when the patient is stable, source control is adequate, absorption is reliable, and adherence and interactions have been addressed. Common anchors: most bacterial vertebral osteomyelitis, 6 weeks; diabetic foot osteomyelitis without resection, 6 weeks; minor amputation with a positive bone margin, up to 3 weeks. These are syndrome-specific anchors, not a universal rule. Sources oviva , wiki , nvo , dfi</a:t>
            </a:r>
          </a:p>
          <a:p xmlns:a="http://schemas.openxmlformats.org/drawingml/2006/main">
            <a:r>
              <a:t/>
            </a:r>
          </a:p>
          <a:p xmlns:a="http://schemas.openxmlformats.org/drawingml/2006/main">
            <a:r>
              <a:t>Module section: https://docarcshot.github.io/id-practice-update/lectures/Bone_and_Joint_Infections_Septic_Arthritis_PJI_Osteomyelitis.html#core-osteomyelitis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Acute, subacute, and chronic osteomyelitis differ mainly in diagnostic and source-control problems Use tempo to frame the problem, not to prescribe a duration Pattern Typical problem Immediate priority Acute Hematogenous infection, contiguous spread, or acute postoperative infection. Blood cultures when relevant, drain abscesses, obtain deep cultures, and start active therapy promptly when ill. Subacute Indolent vertebral infection or Brodie-type lesion; infection may mimic tumor or inflammatory disease. If stable, obtain tissue for culture and histology before empiric therapy. Chronic Sequestrum, sinus tract, devitalized bone, ischemia, or retained hardware. Define whether necrotic bone or hardware can be removed and whether soft-tissue coverage and perfusion can be restored. Route and anatomy predict the likely microbiology Syndrome Common pathogens Sampling implication Acute hematogenous long-bone or vertebral infection S. aureus most common; streptococci and enteric gram-negative bacilli according to host and source Blood cultures can be diagnostic. Evaluate S. aureus bacteremia for an endovascular source. Post-traumatic, postoperative, or hardware-associated infection S. aureus , coagulase-negative staphylococci, gram-negative bacilli; sometimes polymicrobial Use multiple deep operative specimens, not a surface swab. Contiguous diabetic foot osteomyelitis Mild/new: S. aureus and beta-hemolytic streptococci. Chronic, deep, or previously treated: gram-negative bacilli and anaerobes become more likely. Bone culture is preferred when feasible; superficial wound flora can mislead. Pelvic osteomyelitis beneath a pressure injury Often polymicrobial, but exposed bone and wound cultures are heavily colonized Deep bone obtained during planned debridement/closure is the useful specimen. Source Prefer blood cultures when hematogenous disease is plausible and bone or deep operative specimens when available. A superficial swab usually reflects colonizing flora. Duration With adequate source control and no retained implant, treatment generally does not exceed 6 weeks. Complete resection of infected bone may require no osteomyelitis course. Residual soft-tissue infection is treated separately. Route Osteomyelitis does not automatically require a PICC. An active, well-absorbed oral regimen is reasonable when the patient is stable, source control is adequate, absorption is reliable, and adherence and interactions have been addressed. Common anchors: most bacterial vertebral osteomyelitis, 6 weeks; diabetic foot osteomyelitis without resection, 6 weeks; minor amputation with a positive bone margin, up to 3 weeks. These are syndrome-specific anchors, not a universal rule. Sources oviva , wiki , nvo , dfi</a:t>
            </a:r>
          </a:p>
          <a:p xmlns:a="http://schemas.openxmlformats.org/drawingml/2006/main">
            <a:r>
              <a:t/>
            </a:r>
          </a:p>
          <a:p xmlns:a="http://schemas.openxmlformats.org/drawingml/2006/main">
            <a:r>
              <a:t>Module section: https://docarcshot.github.io/id-practice-update/lectures/Bone_and_Joint_Infections_Septic_Arthritis_PJI_Osteomyelitis.html#core-osteomyelitis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Acute, subacute, and chronic osteomyelitis differ mainly in diagnostic and source-control problems Use tempo to frame the problem, not to prescribe a duration Pattern Typical problem Immediate priority Acute Hematogenous infection, contiguous spread, or acute postoperative infection. Blood cultures when relevant, drain abscesses, obtain deep cultures, and start active therapy promptly when ill. Subacute Indolent vertebral infection or Brodie-type lesion; infection may mimic tumor or inflammatory disease. If stable, obtain tissue for culture and histology before empiric therapy. Chronic Sequestrum, sinus tract, devitalized bone, ischemia, or retained hardware. Define whether necrotic bone or hardware can be removed and whether soft-tissue coverage and perfusion can be restored. Route and anatomy predict the likely microbiology Syndrome Common pathogens Sampling implication Acute hematogenous long-bone or vertebral infection S. aureus most common; streptococci and enteric gram-negative bacilli according to host and source Blood cultures can be diagnostic. Evaluate S. aureus bacteremia for an endovascular source. Post-traumatic, postoperative, or hardware-associated infection S. aureus , coagulase-negative staphylococci, gram-negative bacilli; sometimes polymicrobial Use multiple deep operative specimens, not a surface swab. Contiguous diabetic foot osteomyelitis Mild/new: S. aureus and beta-hemolytic streptococci. Chronic, deep, or previously treated: gram-negative bacilli and anaerobes become more likely. Bone culture is preferred when feasible; superficial wound flora can mislead. Pelvic osteomyelitis beneath a pressure injury Often polymicrobial, but exposed bone and wound cultures are heavily colonized Deep bone obtained during planned debridement/closure is the useful specimen. Source Prefer blood cultures when hematogenous disease is plausible and bone or deep operative specimens when available. A superficial swab usually reflects colonizing flora. Duration With adequate source control and no retained implant, treatment generally does not exceed 6 weeks. Complete resection of infected bone may require no osteomyelitis course. Residual soft-tissue infection is treated separately. Route Osteomyelitis does not automatically require a PICC. An active, well-absorbed oral regimen is reasonable when the patient is stable, source control is adequate, absorption is reliable, and adherence and interactions have been addressed. Common anchors: most bacterial vertebral osteomyelitis, 6 weeks; diabetic foot osteomyelitis without resection, 6 weeks; minor amputation with a positive bone margin, up to 3 weeks. These are syndrome-specific anchors, not a universal rule. Sources oviva , wiki , nvo , dfi</a:t>
            </a:r>
          </a:p>
          <a:p xmlns:a="http://schemas.openxmlformats.org/drawingml/2006/main">
            <a:r>
              <a:t/>
            </a:r>
          </a:p>
          <a:p xmlns:a="http://schemas.openxmlformats.org/drawingml/2006/main">
            <a:r>
              <a:t>Module section: https://docarcshot.github.io/id-practice-update/lectures/Bone_and_Joint_Infections_Septic_Arthritis_PJI_Osteomyelitis.html#core-osteomyelitis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Acute, subacute, and chronic osteomyelitis differ mainly in diagnostic and source-control problems Use tempo to frame the problem, not to prescribe a duration Pattern Typical problem Immediate priority Acute Hematogenous infection, contiguous spread, or acute postoperative infection. Blood cultures when relevant, drain abscesses, obtain deep cultures, and start active therapy promptly when ill. Subacute Indolent vertebral infection or Brodie-type lesion; infection may mimic tumor or inflammatory disease. If stable, obtain tissue for culture and histology before empiric therapy. Chronic Sequestrum, sinus tract, devitalized bone, ischemia, or retained hardware. Define whether necrotic bone or hardware can be removed and whether soft-tissue coverage and perfusion can be restored. Route and anatomy predict the likely microbiology Syndrome Common pathogens Sampling implication Acute hematogenous long-bone or vertebral infection S. aureus most common; streptococci and enteric gram-negative bacilli according to host and source Blood cultures can be diagnostic. Evaluate S. aureus bacteremia for an endovascular source. Post-traumatic, postoperative, or hardware-associated infection S. aureus , coagulase-negative staphylococci, gram-negative bacilli; sometimes polymicrobial Use multiple deep operative specimens, not a surface swab. Contiguous diabetic foot osteomyelitis Mild/new: S. aureus and beta-hemolytic streptococci. Chronic, deep, or previously treated: gram-negative bacilli and anaerobes become more likely. Bone culture is preferred when feasible; superficial wound flora can mislead. Pelvic osteomyelitis beneath a pressure injury Often polymicrobial, but exposed bone and wound cultures are heavily colonized Deep bone obtained during planned debridement/closure is the useful specimen. Source Prefer blood cultures when hematogenous disease is plausible and bone or deep operative specimens when available. A superficial swab usually reflects colonizing flora. Duration With adequate source control and no retained implant, treatment generally does not exceed 6 weeks. Complete resection of infected bone may require no osteomyelitis course. Residual soft-tissue infection is treated separately. Route Osteomyelitis does not automatically require a PICC. An active, well-absorbed oral regimen is reasonable when the patient is stable, source control is adequate, absorption is reliable, and adherence and interactions have been addressed. Common anchors: most bacterial vertebral osteomyelitis, 6 weeks; diabetic foot osteomyelitis without resection, 6 weeks; minor amputation with a positive bone margin, up to 3 weeks. These are syndrome-specific anchors, not a universal rule. Sources oviva , wiki , nvo , dfi</a:t>
            </a:r>
          </a:p>
          <a:p xmlns:a="http://schemas.openxmlformats.org/drawingml/2006/main">
            <a:r>
              <a:t/>
            </a:r>
          </a:p>
          <a:p xmlns:a="http://schemas.openxmlformats.org/drawingml/2006/main">
            <a:r>
              <a:t>Module section: https://docarcshot.github.io/id-practice-update/lectures/Bone_and_Joint_Infections_Septic_Arthritis_PJI_Osteomyelitis.html#core-osteomyelitis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Diabetic foot osteomyelitis has a separate diagnostic and treatment pathway Diagnose in sequence Start with the clinical examination, probe-to-bone test, plain radiographs, and ESR or CRP when the examination is equivocal. Obtain MRI only when doubt persists. When culture will change treatment, obtain bone rather than superficial wound tissue. Match empiric breadth to severity For a mild infection in North America without recent antibiotics, target S. aureus and beta-hemolytic streptococci. Do not add empiric antipseudomonal therapy in a temperate climate unless prior cultures or a specific exposure makes it credible. 2023 IWGDF/IDSA duration and surgery anchors Situation Management Complete resection of infected bone with no residual infection The IWGDF/IDSA table lists 2–5 days; treat any residual soft-tissue infection separately. Minor amputation with positive bone-margin culture Up to 3 weeks of antibiotics. Osteomyelitis without bone resection or amputation 6 weeks of antibiotics. Antibiotic-only approach Reserve for selected forefoot osteomyelitis with no urgent drainage need, no peripheral arterial disease, and no exposed bone. Moderate/severe infection with necrosis, abscess, gangrene, or ischemia Early surgical evaluation and debridement, plus urgent vascular assessment when PAD or ischemia is present. Do not treat an uninfected ulcer. Offloading, debridement, wound care, perfusion assessment/revascularization, glycemic management, and footwear planning are core treatment, not adjuncts. Source dfi</a:t>
            </a:r>
          </a:p>
          <a:p xmlns:a="http://schemas.openxmlformats.org/drawingml/2006/main">
            <a:r>
              <a:t/>
            </a:r>
          </a:p>
          <a:p xmlns:a="http://schemas.openxmlformats.org/drawingml/2006/main">
            <a:r>
              <a:t>Module section: https://docarcshot.github.io/id-practice-update/lectures/Bone_and_Joint_Infections_Septic_Arthritis_PJI_Osteomyelitis.html#core-dfo</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Diabetic foot osteomyelitis has a separate diagnostic and treatment pathway Diagnose in sequence Start with the clinical examination, probe-to-bone test, plain radiographs, and ESR or CRP when the examination is equivocal. Obtain MRI only when doubt persists. When culture will change treatment, obtain bone rather than superficial wound tissue. Match empiric breadth to severity For a mild infection in North America without recent antibiotics, target S. aureus and beta-hemolytic streptococci. Do not add empiric antipseudomonal therapy in a temperate climate unless prior cultures or a specific exposure makes it credible. 2023 IWGDF/IDSA duration and surgery anchors Situation Management Complete resection of infected bone with no residual infection The IWGDF/IDSA table lists 2–5 days; treat any residual soft-tissue infection separately. Minor amputation with positive bone-margin culture Up to 3 weeks of antibiotics. Osteomyelitis without bone resection or amputation 6 weeks of antibiotics. Antibiotic-only approach Reserve for selected forefoot osteomyelitis with no urgent drainage need, no peripheral arterial disease, and no exposed bone. Moderate/severe infection with necrosis, abscess, gangrene, or ischemia Early surgical evaluation and debridement, plus urgent vascular assessment when PAD or ischemia is present. Do not treat an uninfected ulcer. Offloading, debridement, wound care, perfusion assessment/revascularization, glycemic management, and footwear planning are core treatment, not adjuncts. Source dfi</a:t>
            </a:r>
          </a:p>
          <a:p xmlns:a="http://schemas.openxmlformats.org/drawingml/2006/main">
            <a:r>
              <a:t/>
            </a:r>
          </a:p>
          <a:p xmlns:a="http://schemas.openxmlformats.org/drawingml/2006/main">
            <a:r>
              <a:t>Module section: https://docarcshot.github.io/id-practice-update/lectures/Bone_and_Joint_Infections_Septic_Arthritis_PJI_Osteomyelitis.html#core-dfo</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Diabetic foot osteomyelitis has a separate diagnostic and treatment pathway Diagnose in sequence Start with the clinical examination, probe-to-bone test, plain radiographs, and ESR or CRP when the examination is equivocal. Obtain MRI only when doubt persists. When culture will change treatment, obtain bone rather than superficial wound tissue. Match empiric breadth to severity For a mild infection in North America without recent antibiotics, target S. aureus and beta-hemolytic streptococci. Do not add empiric antipseudomonal therapy in a temperate climate unless prior cultures or a specific exposure makes it credible. 2023 IWGDF/IDSA duration and surgery anchors Situation Management Complete resection of infected bone with no residual infection The IWGDF/IDSA table lists 2–5 days; treat any residual soft-tissue infection separately. Minor amputation with positive bone-margin culture Up to 3 weeks of antibiotics. Osteomyelitis without bone resection or amputation 6 weeks of antibiotics. Antibiotic-only approach Reserve for selected forefoot osteomyelitis with no urgent drainage need, no peripheral arterial disease, and no exposed bone. Moderate/severe infection with necrosis, abscess, gangrene, or ischemia Early surgical evaluation and debridement, plus urgent vascular assessment when PAD or ischemia is present. Do not treat an uninfected ulcer. Offloading, debridement, wound care, perfusion assessment/revascularization, glycemic management, and footwear planning are core treatment, not adjuncts. Source dfi</a:t>
            </a:r>
          </a:p>
          <a:p xmlns:a="http://schemas.openxmlformats.org/drawingml/2006/main">
            <a:r>
              <a:t/>
            </a:r>
          </a:p>
          <a:p xmlns:a="http://schemas.openxmlformats.org/drawingml/2006/main">
            <a:r>
              <a:t>Module section: https://docarcshot.github.io/id-practice-update/lectures/Bone_and_Joint_Infections_Septic_Arthritis_PJI_Osteomyelitis.html#core-dfo</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Diabetic foot osteomyelitis has a separate diagnostic and treatment pathway Diagnose in sequence Start with the clinical examination, probe-to-bone test, plain radiographs, and ESR or CRP when the examination is equivocal. Obtain MRI only when doubt persists. When culture will change treatment, obtain bone rather than superficial wound tissue. Match empiric breadth to severity For a mild infection in North America without recent antibiotics, target S. aureus and beta-hemolytic streptococci. Do not add empiric antipseudomonal therapy in a temperate climate unless prior cultures or a specific exposure makes it credible. 2023 IWGDF/IDSA duration and surgery anchors Situation Management Complete resection of infected bone with no residual infection The IWGDF/IDSA table lists 2–5 days; treat any residual soft-tissue infection separately. Minor amputation with positive bone-margin culture Up to 3 weeks of antibiotics. Osteomyelitis without bone resection or amputation 6 weeks of antibiotics. Antibiotic-only approach Reserve for selected forefoot osteomyelitis with no urgent drainage need, no peripheral arterial disease, and no exposed bone. Moderate/severe infection with necrosis, abscess, gangrene, or ischemia Early surgical evaluation and debridement, plus urgent vascular assessment when PAD or ischemia is present. Do not treat an uninfected ulcer. Offloading, debridement, wound care, perfusion assessment/revascularization, glycemic management, and footwear planning are core treatment, not adjuncts. Source dfi</a:t>
            </a:r>
          </a:p>
          <a:p xmlns:a="http://schemas.openxmlformats.org/drawingml/2006/main">
            <a:r>
              <a:t/>
            </a:r>
          </a:p>
          <a:p xmlns:a="http://schemas.openxmlformats.org/drawingml/2006/main">
            <a:r>
              <a:t>Module section: https://docarcshot.github.io/id-practice-update/lectures/Bone_and_Joint_Infections_Septic_Arthritis_PJI_Osteomyelitis.html#core-dfo</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Diabetic foot osteomyelitis has a separate diagnostic and treatment pathway Diagnose in sequence Start with the clinical examination, probe-to-bone test, plain radiographs, and ESR or CRP when the examination is equivocal. Obtain MRI only when doubt persists. When culture will change treatment, obtain bone rather than superficial wound tissue. Match empiric breadth to severity For a mild infection in North America without recent antibiotics, target S. aureus and beta-hemolytic streptococci. Do not add empiric antipseudomonal therapy in a temperate climate unless prior cultures or a specific exposure makes it credible. 2023 IWGDF/IDSA duration and surgery anchors Situation Management Complete resection of infected bone with no residual infection The IWGDF/IDSA table lists 2–5 days; treat any residual soft-tissue infection separately. Minor amputation with positive bone-margin culture Up to 3 weeks of antibiotics. Osteomyelitis without bone resection or amputation 6 weeks of antibiotics. Antibiotic-only approach Reserve for selected forefoot osteomyelitis with no urgent drainage need, no peripheral arterial disease, and no exposed bone. Moderate/severe infection with necrosis, abscess, gangrene, or ischemia Early surgical evaluation and debridement, plus urgent vascular assessment when PAD or ischemia is present. Do not treat an uninfected ulcer. Offloading, debridement, wound care, perfusion assessment/revascularization, glycemic management, and footwear planning are core treatment, not adjuncts. Source dfi</a:t>
            </a:r>
          </a:p>
          <a:p xmlns:a="http://schemas.openxmlformats.org/drawingml/2006/main">
            <a:r>
              <a:t/>
            </a:r>
          </a:p>
          <a:p xmlns:a="http://schemas.openxmlformats.org/drawingml/2006/main">
            <a:r>
              <a:t>Module section: https://docarcshot.github.io/id-practice-update/lectures/Bone_and_Joint_Infections_Septic_Arthritis_PJI_Osteomyelitis.html#core-dfo</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Diabetic foot osteomyelitis has a separate diagnostic and treatment pathway Diagnose in sequence Start with the clinical examination, probe-to-bone test, plain radiographs, and ESR or CRP when the examination is equivocal. Obtain MRI only when doubt persists. When culture will change treatment, obtain bone rather than superficial wound tissue. Match empiric breadth to severity For a mild infection in North America without recent antibiotics, target S. aureus and beta-hemolytic streptococci. Do not add empiric antipseudomonal therapy in a temperate climate unless prior cultures or a specific exposure makes it credible. 2023 IWGDF/IDSA duration and surgery anchors Situation Management Complete resection of infected bone with no residual infection The IWGDF/IDSA table lists 2–5 days; treat any residual soft-tissue infection separately. Minor amputation with positive bone-margin culture Up to 3 weeks of antibiotics. Osteomyelitis without bone resection or amputation 6 weeks of antibiotics. Antibiotic-only approach Reserve for selected forefoot osteomyelitis with no urgent drainage need, no peripheral arterial disease, and no exposed bone. Moderate/severe infection with necrosis, abscess, gangrene, or ischemia Early surgical evaluation and debridement, plus urgent vascular assessment when PAD or ischemia is present. Do not treat an uninfected ulcer. Offloading, debridement, wound care, perfusion assessment/revascularization, glycemic management, and footwear planning are core treatment, not adjuncts. Source dfi</a:t>
            </a:r>
          </a:p>
          <a:p xmlns:a="http://schemas.openxmlformats.org/drawingml/2006/main">
            <a:r>
              <a:t/>
            </a:r>
          </a:p>
          <a:p xmlns:a="http://schemas.openxmlformats.org/drawingml/2006/main">
            <a:r>
              <a:t>Module section: https://docarcshot.github.io/id-practice-update/lectures/Bone_and_Joint_Infections_Septic_Arthritis_PJI_Osteomyelitis.html#core-dfo</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Diabetic foot osteomyelitis has a separate diagnostic and treatment pathway Diagnose in sequence Start with the clinical examination, probe-to-bone test, plain radiographs, and ESR or CRP when the examination is equivocal. Obtain MRI only when doubt persists. When culture will change treatment, obtain bone rather than superficial wound tissue. Match empiric breadth to severity For a mild infection in North America without recent antibiotics, target S. aureus and beta-hemolytic streptococci. Do not add empiric antipseudomonal therapy in a temperate climate unless prior cultures or a specific exposure makes it credible. 2023 IWGDF/IDSA duration and surgery anchors Situation Management Complete resection of infected bone with no residual infection The IWGDF/IDSA table lists 2–5 days; treat any residual soft-tissue infection separately. Minor amputation with positive bone-margin culture Up to 3 weeks of antibiotics. Osteomyelitis without bone resection or amputation 6 weeks of antibiotics. Antibiotic-only approach Reserve for selected forefoot osteomyelitis with no urgent drainage need, no peripheral arterial disease, and no exposed bone. Moderate/severe infection with necrosis, abscess, gangrene, or ischemia Early surgical evaluation and debridement, plus urgent vascular assessment when PAD or ischemia is present. Do not treat an uninfected ulcer. Offloading, debridement, wound care, perfusion assessment/revascularization, glycemic management, and footwear planning are core treatment, not adjuncts. Source dfi</a:t>
            </a:r>
          </a:p>
          <a:p xmlns:a="http://schemas.openxmlformats.org/drawingml/2006/main">
            <a:r>
              <a:t/>
            </a:r>
          </a:p>
          <a:p xmlns:a="http://schemas.openxmlformats.org/drawingml/2006/main">
            <a:r>
              <a:t>Module section: https://docarcshot.github.io/id-practice-update/lectures/Bone_and_Joint_Infections_Septic_Arthritis_PJI_Osteomyelitis.html#core-dfo</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Diabetic foot osteomyelitis has a separate diagnostic and treatment pathway Diagnose in sequence Start with the clinical examination, probe-to-bone test, plain radiographs, and ESR or CRP when the examination is equivocal. Obtain MRI only when doubt persists. When culture will change treatment, obtain bone rather than superficial wound tissue. Match empiric breadth to severity For a mild infection in North America without recent antibiotics, target S. aureus and beta-hemolytic streptococci. Do not add empiric antipseudomonal therapy in a temperate climate unless prior cultures or a specific exposure makes it credible. 2023 IWGDF/IDSA duration and surgery anchors Situation Management Complete resection of infected bone with no residual infection The IWGDF/IDSA table lists 2–5 days; treat any residual soft-tissue infection separately. Minor amputation with positive bone-margin culture Up to 3 weeks of antibiotics. Osteomyelitis without bone resection or amputation 6 weeks of antibiotics. Antibiotic-only approach Reserve for selected forefoot osteomyelitis with no urgent drainage need, no peripheral arterial disease, and no exposed bone. Moderate/severe infection with necrosis, abscess, gangrene, or ischemia Early surgical evaluation and debridement, plus urgent vascular assessment when PAD or ischemia is present. Do not treat an uninfected ulcer. Offloading, debridement, wound care, perfusion assessment/revascularization, glycemic management, and footwear planning are core treatment, not adjuncts. Source dfi</a:t>
            </a:r>
          </a:p>
          <a:p xmlns:a="http://schemas.openxmlformats.org/drawingml/2006/main">
            <a:r>
              <a:t/>
            </a:r>
          </a:p>
          <a:p xmlns:a="http://schemas.openxmlformats.org/drawingml/2006/main">
            <a:r>
              <a:t>Module section: https://docarcshot.github.io/id-practice-update/lectures/Bone_and_Joint_Infections_Septic_Arthritis_PJI_Osteomyelitis.html#core-dfo</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 open sacral wound without a closure plan is not cured by prolonged antibiotics Three clinically different situations Situation Antibiotics What matters more Exposed bone or MRI changes, but no acute cellulitis, abscess, bacteremia, or sepsis; debridement and durable closure are not feasible. Do not give a 6-week osteomyelitis course, repeated courses, or chronic suppression for the wound alone. Pressure redistribution, wound and moisture care, selective debridement, nutrition, pain and odor control, continence management, and realistic goals of care. New cellulitis, drainable collection, pyomyositis, bacteremia, or sepsis. Treat the acute syndrome and narrow to meaningful cultures. Duration follows that syndrome and source control, not the chronic MRI finding. Drain collections, debride when appropriate, and assess for other sources. Debridement and flap closure are planned. Obtain deep bone specimens after debridement and use targeted therapy. About 6 weeks remains conventional when osteomyelitis is confirmed, although evidence is limited. One coordinated surgical, wound, nutrition, pressure-relief, and rehabilitation plan. Exposed bone and MRI are not enough Exposed bone may show remodeling without histologic osteomyelitis, and MRI can overcall infection in chronic pressure injury. Antibiotics without debridement and closure have not shown durable benefit. Sources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https://docarcshot.github.io/id-practice-update/lectures/Bone_and_Joint_Infections_Septic_Arthritis_PJI_Osteomyelitis.html#core-pressure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 open sacral wound without a closure plan is not cured by prolonged antibiotics Three clinically different situations Situation Antibiotics What matters more Exposed bone or MRI changes, but no acute cellulitis, abscess, bacteremia, or sepsis; debridement and durable closure are not feasible. Do not give a 6-week osteomyelitis course, repeated courses, or chronic suppression for the wound alone. Pressure redistribution, wound and moisture care, selective debridement, nutrition, pain and odor control, continence management, and realistic goals of care. New cellulitis, drainable collection, pyomyositis, bacteremia, or sepsis. Treat the acute syndrome and narrow to meaningful cultures. Duration follows that syndrome and source control, not the chronic MRI finding. Drain collections, debride when appropriate, and assess for other sources. Debridement and flap closure are planned. Obtain deep bone specimens after debridement and use targeted therapy. About 6 weeks remains conventional when osteomyelitis is confirmed, although evidence is limited. One coordinated surgical, wound, nutrition, pressure-relief, and rehabilitation plan. Exposed bone and MRI are not enough Exposed bone may show remodeling without histologic osteomyelitis, and MRI can overcall infection in chronic pressure injury. Antibiotics without debridement and closure have not shown durable benefit. Sources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https://docarcshot.github.io/id-practice-update/lectures/Bone_and_Joint_Infections_Septic_Arthritis_PJI_Osteomyelitis.html#core-pressure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 open sacral wound without a closure plan is not cured by prolonged antibiotics Three clinically different situations Situation Antibiotics What matters more Exposed bone or MRI changes, but no acute cellulitis, abscess, bacteremia, or sepsis; debridement and durable closure are not feasible. Do not give a 6-week osteomyelitis course, repeated courses, or chronic suppression for the wound alone. Pressure redistribution, wound and moisture care, selective debridement, nutrition, pain and odor control, continence management, and realistic goals of care. New cellulitis, drainable collection, pyomyositis, bacteremia, or sepsis. Treat the acute syndrome and narrow to meaningful cultures. Duration follows that syndrome and source control, not the chronic MRI finding. Drain collections, debride when appropriate, and assess for other sources. Debridement and flap closure are planned. Obtain deep bone specimens after debridement and use targeted therapy. About 6 weeks remains conventional when osteomyelitis is confirmed, although evidence is limited. One coordinated surgical, wound, nutrition, pressure-relief, and rehabilitation plan. Exposed bone and MRI are not enough Exposed bone may show remodeling without histologic osteomyelitis, and MRI can overcall infection in chronic pressure injury. Antibiotics without debridement and closure have not shown durable benefit. Sources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https://docarcshot.github.io/id-practice-update/lectures/Bone_and_Joint_Infections_Septic_Arthritis_PJI_Osteomyelitis.html#core-pressure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 open sacral wound without a closure plan is not cured by prolonged antibiotics Three clinically different situations Situation Antibiotics What matters more Exposed bone or MRI changes, but no acute cellulitis, abscess, bacteremia, or sepsis; debridement and durable closure are not feasible. Do not give a 6-week osteomyelitis course, repeated courses, or chronic suppression for the wound alone. Pressure redistribution, wound and moisture care, selective debridement, nutrition, pain and odor control, continence management, and realistic goals of care. New cellulitis, drainable collection, pyomyositis, bacteremia, or sepsis. Treat the acute syndrome and narrow to meaningful cultures. Duration follows that syndrome and source control, not the chronic MRI finding. Drain collections, debride when appropriate, and assess for other sources. Debridement and flap closure are planned. Obtain deep bone specimens after debridement and use targeted therapy. About 6 weeks remains conventional when osteomyelitis is confirmed, although evidence is limited. One coordinated surgical, wound, nutrition, pressure-relief, and rehabilitation plan. Exposed bone and MRI are not enough Exposed bone may show remodeling without histologic osteomyelitis, and MRI can overcall infection in chronic pressure injury. Antibiotics without debridement and closure have not shown durable benefit. Sources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https://docarcshot.github.io/id-practice-update/lectures/Bone_and_Joint_Infections_Septic_Arthritis_PJI_Osteomyelitis.html#core-pressure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Antibiotic route and duration follow source control, not the imaging label Before treatment Obtain the best specimen first when the patient is stable. Start empiric therapy promptly when unstable, then narrow to the organism and operative findings. Before oral transition Confirm clinical stability, adequate source control, an active oral drug with appropriate exposure, reliable absorption and adherence, and manageable interactions and toxicities. Before extending Reassess drainage, retained material, ischemia, wound closure, an alternative diagnosis, and drug exposure. Persistent imaging abnormalities alone do not prove failure. Before suppressing Name the unremovable infected source, organism, active oral option, monitoring plan, expected benefit, and stop criteria. Suppression is not simply an extra-long curative course.</a:t>
            </a:r>
          </a:p>
          <a:p xmlns:a="http://schemas.openxmlformats.org/drawingml/2006/main">
            <a:r>
              <a:t/>
            </a:r>
          </a:p>
          <a:p xmlns:a="http://schemas.openxmlformats.org/drawingml/2006/main">
            <a:r>
              <a:t>Module section: https://docarcshot.github.io/id-practice-update/lectures/Bone_and_Joint_Infections_Septic_Arthritis_PJI_Osteomyelitis.html#core-antibiotics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Antibiotic route and duration follow source control, not the imaging label Before treatment Obtain the best specimen first when the patient is stable. Start empiric therapy promptly when unstable, then narrow to the organism and operative findings. Before oral transition Confirm clinical stability, adequate source control, an active oral drug with appropriate exposure, reliable absorption and adherence, and manageable interactions and toxicities. Before extending Reassess drainage, retained material, ischemia, wound closure, an alternative diagnosis, and drug exposure. Persistent imaging abnormalities alone do not prove failure. Before suppressing Name the unremovable infected source, organism, active oral option, monitoring plan, expected benefit, and stop criteria. Suppression is not simply an extra-long curative course.</a:t>
            </a:r>
          </a:p>
          <a:p xmlns:a="http://schemas.openxmlformats.org/drawingml/2006/main">
            <a:r>
              <a:t/>
            </a:r>
          </a:p>
          <a:p xmlns:a="http://schemas.openxmlformats.org/drawingml/2006/main">
            <a:r>
              <a:t>Module section: https://docarcshot.github.io/id-practice-update/lectures/Bone_and_Joint_Infections_Septic_Arthritis_PJI_Osteomyelitis.html#core-antibiotics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Antibiotic route and duration follow source control, not the imaging label Before treatment Obtain the best specimen first when the patient is stable. Start empiric therapy promptly when unstable, then narrow to the organism and operative findings. Before oral transition Confirm clinical stability, adequate source control, an active oral drug with appropriate exposure, reliable absorption and adherence, and manageable interactions and toxicities. Before extending Reassess drainage, retained material, ischemia, wound closure, an alternative diagnosis, and drug exposure. Persistent imaging abnormalities alone do not prove failure. Before suppressing Name the unremovable infected source, organism, active oral option, monitoring plan, expected benefit, and stop criteria. Suppression is not simply an extra-long curative course.</a:t>
            </a:r>
          </a:p>
          <a:p xmlns:a="http://schemas.openxmlformats.org/drawingml/2006/main">
            <a:r>
              <a:t/>
            </a:r>
          </a:p>
          <a:p xmlns:a="http://schemas.openxmlformats.org/drawingml/2006/main">
            <a:r>
              <a:t>Module section: https://docarcshot.github.io/id-practice-update/lectures/Bone_and_Joint_Infections_Septic_Arthritis_PJI_Osteomyelitis.html#core-antibiotics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Antibiotic route and duration follow source control, not the imaging label Before treatment Obtain the best specimen first when the patient is stable. Start empiric therapy promptly when unstable, then narrow to the organism and operative findings. Before oral transition Confirm clinical stability, adequate source control, an active oral drug with appropriate exposure, reliable absorption and adherence, and manageable interactions and toxicities. Before extending Reassess drainage, retained material, ischemia, wound closure, an alternative diagnosis, and drug exposure. Persistent imaging abnormalities alone do not prove failure. Before suppressing Name the unremovable infected source, organism, active oral option, monitoring plan, expected benefit, and stop criteria. Suppression is not simply an extra-long curative course.</a:t>
            </a:r>
          </a:p>
          <a:p xmlns:a="http://schemas.openxmlformats.org/drawingml/2006/main">
            <a:r>
              <a:t/>
            </a:r>
          </a:p>
          <a:p xmlns:a="http://schemas.openxmlformats.org/drawingml/2006/main">
            <a:r>
              <a:t>Module section: https://docarcshot.github.io/id-practice-update/lectures/Bone_and_Joint_Infections_Septic_Arthritis_PJI_Osteomyelitis.html#core-antibiotics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Three cases are enough for the live discussion Case 1 · Crystals in a hot native knee A febrile patient has an acutely swollen knee. Synovial fluid contains urate crystals and 72,000 WBC/µL with 92% neutrophils. What should happen next? Crystals do not exclude infection. Send synovial culture and blood cultures, begin empiric therapy after aspiration if stable enough to sample first, and obtain urgent orthopedic input for drainage. Case 2 · Acute postoperative knee PJI Three weeks after TKA, the patient develops 3 days of pain, effusion, and drainage. Components are fixed and aspiration grows MSSA. What determines the plan? This may be a DAIR candidate if there is no sinus tract, soft tissue is suitable, and modular components can be exchanged. Obtain multiple deep cultures. For susceptible staphylococcal knee PJI treated with DAIR, the IDSA rifampin-based regimen completes 6 months. Select an active route and oral transition based on response; rifampin requires an active companion after debridement. Case 3 · Exposed sacral bone without a flap option A chronically immobile patient has an open stage IV sacral wound and MRI changes called osteomyelitis, but no cellulitis, abscess, fever, bacteremia, or instability. Durable closure is not feasible. Would six weeks of antibiotics help? No durable benefit has been shown. Do not treat the imaging label alone. Focus on pressure relief, wound and moisture care, nutrition, debridement when appropriate, symptom control, and goals of care. Treat future discrete cellulitis, abscess, bacteremia, or sepsis episodes when they occur. Closing sentence Name the infected structure, best microbiology, source control completed or impossible, retained material, treatment intent, and the event that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https://docarcshot.github.io/id-practice-update/lectures/Bone_and_Joint_Infections_Septic_Arthritis_PJI_Osteomyelitis.html#core-cases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Three cases are enough for the live discussion Case 1 · Crystals in a hot native knee A febrile patient has an acutely swollen knee. Synovial fluid contains urate crystals and 72,000 WBC/µL with 92% neutrophils. What should happen next? Crystals do not exclude infection. Send synovial culture and blood cultures, begin empiric therapy after aspiration if stable enough to sample first, and obtain urgent orthopedic input for drainage. Case 2 · Acute postoperative knee PJI Three weeks after TKA, the patient develops 3 days of pain, effusion, and drainage. Components are fixed and aspiration grows MSSA. What determines the plan? This may be a DAIR candidate if there is no sinus tract, soft tissue is suitable, and modular components can be exchanged. Obtain multiple deep cultures. For susceptible staphylococcal knee PJI treated with DAIR, the IDSA rifampin-based regimen completes 6 months. Select an active route and oral transition based on response; rifampin requires an active companion after debridement. Case 3 · Exposed sacral bone without a flap option A chronically immobile patient has an open stage IV sacral wound and MRI changes called osteomyelitis, but no cellulitis, abscess, fever, bacteremia, or instability. Durable closure is not feasible. Would six weeks of antibiotics help? No durable benefit has been shown. Do not treat the imaging label alone. Focus on pressure relief, wound and moisture care, nutrition, debridement when appropriate, symptom control, and goals of care. Treat future discrete cellulitis, abscess, bacteremia, or sepsis episodes when they occur. Closing sentence Name the infected structure, best microbiology, source control completed or impossible, retained material, treatment intent, and the event that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https://docarcshot.github.io/id-practice-update/lectures/Bone_and_Joint_Infections_Septic_Arthritis_PJI_Osteomyelitis.html#core-cases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Three cases are enough for the live discussion Case 1 · Crystals in a hot native knee A febrile patient has an acutely swollen knee. Synovial fluid contains urate crystals and 72,000 WBC/µL with 92% neutrophils. What should happen next? Crystals do not exclude infection. Send synovial culture and blood cultures, begin empiric therapy after aspiration if stable enough to sample first, and obtain urgent orthopedic input for drainage. Case 2 · Acute postoperative knee PJI Three weeks after TKA, the patient develops 3 days of pain, effusion, and drainage. Components are fixed and aspiration grows MSSA. What determines the plan? This may be a DAIR candidate if there is no sinus tract, soft tissue is suitable, and modular components can be exchanged. Obtain multiple deep cultures. For susceptible staphylococcal knee PJI treated with DAIR, the IDSA rifampin-based regimen completes 6 months. Select an active route and oral transition based on response; rifampin requires an active companion after debridement. Case 3 · Exposed sacral bone without a flap option A chronically immobile patient has an open stage IV sacral wound and MRI changes called osteomyelitis, but no cellulitis, abscess, fever, bacteremia, or instability. Durable closure is not feasible. Would six weeks of antibiotics help? No durable benefit has been shown. Do not treat the imaging label alone. Focus on pressure relief, wound and moisture care, nutrition, debridement when appropriate, symptom control, and goals of care. Treat future discrete cellulitis, abscess, bacteremia, or sepsis episodes when they occur. Closing sentence Name the infected structure, best microbiology, source control completed or impossible, retained material, treatment intent, and the event that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https://docarcshot.github.io/id-practice-update/lectures/Bone_and_Joint_Infections_Septic_Arthritis_PJI_Osteomyelitis.html#core-cases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Three cases are enough for the live discussion Case 1 · Crystals in a hot native knee A febrile patient has an acutely swollen knee. Synovial fluid contains urate crystals and 72,000 WBC/µL with 92% neutrophils. What should happen next? Crystals do not exclude infection. Send synovial culture and blood cultures, begin empiric therapy after aspiration if stable enough to sample first, and obtain urgent orthopedic input for drainage. Case 2 · Acute postoperative knee PJI Three weeks after TKA, the patient develops 3 days of pain, effusion, and drainage. Components are fixed and aspiration grows MSSA. What determines the plan? This may be a DAIR candidate if there is no sinus tract, soft tissue is suitable, and modular components can be exchanged. Obtain multiple deep cultures. For susceptible staphylococcal knee PJI treated with DAIR, the IDSA rifampin-based regimen completes 6 months. Select an active route and oral transition based on response; rifampin requires an active companion after debridement. Case 3 · Exposed sacral bone without a flap option A chronically immobile patient has an open stage IV sacral wound and MRI changes called osteomyelitis, but no cellulitis, abscess, fever, bacteremia, or instability. Durable closure is not feasible. Would six weeks of antibiotics help? No durable benefit has been shown. Do not treat the imaging label alone. Focus on pressure relief, wound and moisture care, nutrition, debridement when appropriate, symptom control, and goals of care. Treat future discrete cellulitis, abscess, bacteremia, or sepsis episodes when they occur. Closing sentence Name the infected structure, best microbiology, source control completed or impossible, retained material, treatment intent, and the event that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https://docarcshot.github.io/id-practice-update/lectures/Bone_and_Joint_Infections_Septic_Arthritis_PJI_Osteomyelitis.html#core-cases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Three cases are enough for the live discussion Case 1 · Crystals in a hot native knee A febrile patient has an acutely swollen knee. Synovial fluid contains urate crystals and 72,000 WBC/µL with 92% neutrophils. What should happen next? Crystals do not exclude infection. Send synovial culture and blood cultures, begin empiric therapy after aspiration if stable enough to sample first, and obtain urgent orthopedic input for drainage. Case 2 · Acute postoperative knee PJI Three weeks after TKA, the patient develops 3 days of pain, effusion, and drainage. Components are fixed and aspiration grows MSSA. What determines the plan? This may be a DAIR candidate if there is no sinus tract, soft tissue is suitable, and modular components can be exchanged. Obtain multiple deep cultures. For susceptible staphylococcal knee PJI treated with DAIR, the IDSA rifampin-based regimen completes 6 months. Select an active route and oral transition based on response; rifampin requires an active companion after debridement. Case 3 · Exposed sacral bone without a flap option A chronically immobile patient has an open stage IV sacral wound and MRI changes called osteomyelitis, but no cellulitis, abscess, fever, bacteremia, or instability. Durable closure is not feasible. Would six weeks of antibiotics help? No durable benefit has been shown. Do not treat the imaging label alone. Focus on pressure relief, wound and moisture care, nutrition, debridement when appropriate, symptom control, and goals of care. Treat future discrete cellulitis, abscess, bacteremia, or sepsis episodes when they occur. Closing sentence Name the infected structure, best microbiology, source control completed or impossible, retained material, treatment intent, and the event that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https://docarcshot.github.io/id-practice-update/lectures/Bone_and_Joint_Infections_Septic_Arthritis_PJI_Osteomyelitis.html#core-cases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Three cases are enough for the live discussion Case 1 · Crystals in a hot native knee A febrile patient has an acutely swollen knee. Synovial fluid contains urate crystals and 72,000 WBC/µL with 92% neutrophils. What should happen next? Crystals do not exclude infection. Send synovial culture and blood cultures, begin empiric therapy after aspiration if stable enough to sample first, and obtain urgent orthopedic input for drainage. Case 2 · Acute postoperative knee PJI Three weeks after TKA, the patient develops 3 days of pain, effusion, and drainage. Components are fixed and aspiration grows MSSA. What determines the plan? This may be a DAIR candidate if there is no sinus tract, soft tissue is suitable, and modular components can be exchanged. Obtain multiple deep cultures. For susceptible staphylococcal knee PJI treated with DAIR, the IDSA rifampin-based regimen completes 6 months. Select an active route and oral transition based on response; rifampin requires an active companion after debridement. Case 3 · Exposed sacral bone without a flap option A chronically immobile patient has an open stage IV sacral wound and MRI changes called osteomyelitis, but no cellulitis, abscess, fever, bacteremia, or instability. Durable closure is not feasible. Would six weeks of antibiotics help? No durable benefit has been shown. Do not treat the imaging label alone. Focus on pressure relief, wound and moisture care, nutrition, debridement when appropriate, symptom control, and goals of care. Treat future discrete cellulitis, abscess, bacteremia, or sepsis episodes when they occur. Closing sentence Name the infected structure, best microbiology, source control completed or impossible, retained material, treatment intent, and the event that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https://docarcshot.github.io/id-practice-update/lectures/Bone_and_Joint_Infections_Septic_Arthritis_PJI_Osteomyelitis.html#core-cases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Three cases are enough for the live discussion Case 1 · Crystals in a hot native knee A febrile patient has an acutely swollen knee. Synovial fluid contains urate crystals and 72,000 WBC/µL with 92% neutrophils. What should happen next? Crystals do not exclude infection. Send synovial culture and blood cultures, begin empiric therapy after aspiration if stable enough to sample first, and obtain urgent orthopedic input for drainage. Case 2 · Acute postoperative knee PJI Three weeks after TKA, the patient develops 3 days of pain, effusion, and drainage. Components are fixed and aspiration grows MSSA. What determines the plan? This may be a DAIR candidate if there is no sinus tract, soft tissue is suitable, and modular components can be exchanged. Obtain multiple deep cultures. For susceptible staphylococcal knee PJI treated with DAIR, the IDSA rifampin-based regimen completes 6 months. Select an active route and oral transition based on response; rifampin requires an active companion after debridement. Case 3 · Exposed sacral bone without a flap option A chronically immobile patient has an open stage IV sacral wound and MRI changes called osteomyelitis, but no cellulitis, abscess, fever, bacteremia, or instability. Durable closure is not feasible. Would six weeks of antibiotics help? No durable benefit has been shown. Do not treat the imaging label alone. Focus on pressure relief, wound and moisture care, nutrition, debridement when appropriate, symptom control, and goals of care. Treat future discrete cellulitis, abscess, bacteremia, or sepsis episodes when they occur. Closing sentence Name the infected structure, best microbiology, source control completed or impossible, retained material, treatment intent, and the event that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https://docarcshot.github.io/id-practice-update/lectures/Bone_and_Joint_Infections_Septic_Arthritis_PJI_Osteomyelitis.html#core-cases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and reference material begins here The live 30–45 minute lecture ends above. Use the sections below for fellow-level discussion, organism-specific decisions, uncommon syndromes, evidence review, extra cases, and self-study. Detailed syndromes Full framework , native septic arthritis , PJI diagnosis , PJI treatment , osteomyelitis , and vertebral infection . Hard management problems Pressure-injury pelvic osteomyelitis , drug selection and oral transition , and suppressive therapy . Teaching tools Evidence review , nine additional cases , knowledge check , documentation template , and rounds sheet .</a:t>
            </a:r>
          </a:p>
          <a:p xmlns:a="http://schemas.openxmlformats.org/drawingml/2006/main">
            <a:r>
              <a:t/>
            </a:r>
          </a:p>
          <a:p xmlns:a="http://schemas.openxmlformats.org/drawingml/2006/main">
            <a:r>
              <a:t>Module section: https://docarcshot.github.io/id-practice-update/lectures/Bone_and_Joint_Infections_Septic_Arthritis_PJI_Osteomyelitis.html#advanced</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and reference material begins here The live 30–45 minute lecture ends above. Use the sections below for fellow-level discussion, organism-specific decisions, uncommon syndromes, evidence review, extra cases, and self-study. Detailed syndromes Full framework , native septic arthritis , PJI diagnosis , PJI treatment , osteomyelitis , and vertebral infection . Hard management problems Pressure-injury pelvic osteomyelitis , drug selection and oral transition , and suppressive therapy . Teaching tools Evidence review , nine additional cases , knowledge check , documentation template , and rounds sheet .</a:t>
            </a:r>
          </a:p>
          <a:p xmlns:a="http://schemas.openxmlformats.org/drawingml/2006/main">
            <a:r>
              <a:t/>
            </a:r>
          </a:p>
          <a:p xmlns:a="http://schemas.openxmlformats.org/drawingml/2006/main">
            <a:r>
              <a:t>Module section: https://docarcshot.github.io/id-practice-update/lectures/Bone_and_Joint_Infections_Septic_Arthritis_PJI_Osteomyelitis.html#advanced</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and reference material begins here The live 30–45 minute lecture ends above. Use the sections below for fellow-level discussion, organism-specific decisions, uncommon syndromes, evidence review, extra cases, and self-study. Detailed syndromes Full framework , native septic arthritis , PJI diagnosis , PJI treatment , osteomyelitis , and vertebral infection . Hard management problems Pressure-injury pelvic osteomyelitis , drug selection and oral transition , and suppressive therapy . Teaching tools Evidence review , nine additional cases , knowledge check , documentation template , and rounds sheet .</a:t>
            </a:r>
          </a:p>
          <a:p xmlns:a="http://schemas.openxmlformats.org/drawingml/2006/main">
            <a:r>
              <a:t/>
            </a:r>
          </a:p>
          <a:p xmlns:a="http://schemas.openxmlformats.org/drawingml/2006/main">
            <a:r>
              <a:t>Module section: https://docarcshot.github.io/id-practice-update/lectures/Bone_and_Joint_Infections_Septic_Arthritis_PJI_Osteomyelitis.html#advanced</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and reference material begins here The live 30–45 minute lecture ends above. Use the sections below for fellow-level discussion, organism-specific decisions, uncommon syndromes, evidence review, extra cases, and self-study. Detailed syndromes Full framework , native septic arthritis , PJI diagnosis , PJI treatment , osteomyelitis , and vertebral infection . Hard management problems Pressure-injury pelvic osteomyelitis , drug selection and oral transition , and suppressive therapy . Teaching tools Evidence review , nine additional cases , knowledge check , documentation template , and rounds sheet .</a:t>
            </a:r>
          </a:p>
          <a:p xmlns:a="http://schemas.openxmlformats.org/drawingml/2006/main">
            <a:r>
              <a:t/>
            </a:r>
          </a:p>
          <a:p xmlns:a="http://schemas.openxmlformats.org/drawingml/2006/main">
            <a:r>
              <a:t>Module section: https://docarcshot.github.io/id-practice-update/lectures/Bone_and_Joint_Infections_Septic_Arthritis_PJI_Osteomyelitis.html#advanced</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Classify five things before selecting an antibiotic What structure? Native joint, prosthesis, bone, spine, diabetic foot, pressure injury, fracture hardware. What tempo? Hours to days, weeks, or months. Tempo narrows the differential but does not set the treatment clock. What remains? Pus, necrotic bone, biofilm-coated implant, sinus tract, unstable spine, open wound, ischemic tissue. Can it be controlled? Drain, debride, exchange, remove, reconstruct, revascularize, or intentionally manage noncuratively. What is the intent? Cure, prolonged treatment with retained material, suppression, or treatment of acute flares only. Tempo changes the differential more than it changes the duration Pattern Common examples What it should trigger What it does not prove Acute Hot native joint, acute hematogenous osteomyelitis, early postoperative PJI, acute hematogenous PJI Urgent aspiration/cultures, assessment for bacteremia, prompt drainage or debridement when indicated That a short antibiotic course will be sufficient Subacute Brodie abscess, indolent vertebral infection, delayed PJI Deliberate tissue diagnosis, histology when mimic is possible, surgical planning before empiric therapy if stable That normal WBC/CRP excludes infection Chronic Sinus-tract PJI, sequestrum, chronic post-traumatic osteomyelitis, stage IV pressure injury Identify necrotic bone or retained material and decide whether durable source control is feasible That prolonged antibiotics alone can sterilize an uncorrected source Do not let the MRI choose the treatment MRI is sensitive for osteomyelitis but can remain abnormal during healing and can be difficult to interpret near surgery, hardware, neuropathic bone, or chronic pressure injury. Treat a clinical syndrome with a source-control plan, not an imaging phrase in isolation. Sources wiki ,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https://docarcshot.github.io/id-practice-update/lectures/Bone_and_Joint_Infections_Septic_Arthritis_PJI_Osteomyelitis.html#framework</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Classify five things before selecting an antibiotic What structure? Native joint, prosthesis, bone, spine, diabetic foot, pressure injury, fracture hardware. What tempo? Hours to days, weeks, or months. Tempo narrows the differential but does not set the treatment clock. What remains? Pus, necrotic bone, biofilm-coated implant, sinus tract, unstable spine, open wound, ischemic tissue. Can it be controlled? Drain, debride, exchange, remove, reconstruct, revascularize, or intentionally manage noncuratively. What is the intent? Cure, prolonged treatment with retained material, suppression, or treatment of acute flares only. Tempo changes the differential more than it changes the duration Pattern Common examples What it should trigger What it does not prove Acute Hot native joint, acute hematogenous osteomyelitis, early postoperative PJI, acute hematogenous PJI Urgent aspiration/cultures, assessment for bacteremia, prompt drainage or debridement when indicated That a short antibiotic course will be sufficient Subacute Brodie abscess, indolent vertebral infection, delayed PJI Deliberate tissue diagnosis, histology when mimic is possible, surgical planning before empiric therapy if stable That normal WBC/CRP excludes infection Chronic Sinus-tract PJI, sequestrum, chronic post-traumatic osteomyelitis, stage IV pressure injury Identify necrotic bone or retained material and decide whether durable source control is feasible That prolonged antibiotics alone can sterilize an uncorrected source Do not let the MRI choose the treatment MRI is sensitive for osteomyelitis but can remain abnormal during healing and can be difficult to interpret near surgery, hardware, neuropathic bone, or chronic pressure injury. Treat a clinical syndrome with a source-control plan, not an imaging phrase in isolation. Sources wiki ,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https://docarcshot.github.io/id-practice-update/lectures/Bone_and_Joint_Infections_Septic_Arthritis_PJI_Osteomyelitis.html#framework</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Classify five things before selecting an antibiotic What structure? Native joint, prosthesis, bone, spine, diabetic foot, pressure injury, fracture hardware. What tempo? Hours to days, weeks, or months. Tempo narrows the differential but does not set the treatment clock. What remains? Pus, necrotic bone, biofilm-coated implant, sinus tract, unstable spine, open wound, ischemic tissue. Can it be controlled? Drain, debride, exchange, remove, reconstruct, revascularize, or intentionally manage noncuratively. What is the intent? Cure, prolonged treatment with retained material, suppression, or treatment of acute flares only. Tempo changes the differential more than it changes the duration Pattern Common examples What it should trigger What it does not prove Acute Hot native joint, acute hematogenous osteomyelitis, early postoperative PJI, acute hematogenous PJI Urgent aspiration/cultures, assessment for bacteremia, prompt drainage or debridement when indicated That a short antibiotic course will be sufficient Subacute Brodie abscess, indolent vertebral infection, delayed PJI Deliberate tissue diagnosis, histology when mimic is possible, surgical planning before empiric therapy if stable That normal WBC/CRP excludes infection Chronic Sinus-tract PJI, sequestrum, chronic post-traumatic osteomyelitis, stage IV pressure injury Identify necrotic bone or retained material and decide whether durable source control is feasible That prolonged antibiotics alone can sterilize an uncorrected source Do not let the MRI choose the treatment MRI is sensitive for osteomyelitis but can remain abnormal during healing and can be difficult to interpret near surgery, hardware, neuropathic bone, or chronic pressure injury. Treat a clinical syndrome with a source-control plan, not an imaging phrase in isolation. Sources wiki ,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https://docarcshot.github.io/id-practice-update/lectures/Bone_and_Joint_Infections_Septic_Arthritis_PJI_Osteomyelitis.html#framework</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Classify five things before selecting an antibiotic What structure? Native joint, prosthesis, bone, spine, diabetic foot, pressure injury, fracture hardware. What tempo? Hours to days, weeks, or months. Tempo narrows the differential but does not set the treatment clock. What remains? Pus, necrotic bone, biofilm-coated implant, sinus tract, unstable spine, open wound, ischemic tissue. Can it be controlled? Drain, debride, exchange, remove, reconstruct, revascularize, or intentionally manage noncuratively. What is the intent? Cure, prolonged treatment with retained material, suppression, or treatment of acute flares only. Tempo changes the differential more than it changes the duration Pattern Common examples What it should trigger What it does not prove Acute Hot native joint, acute hematogenous osteomyelitis, early postoperative PJI, acute hematogenous PJI Urgent aspiration/cultures, assessment for bacteremia, prompt drainage or debridement when indicated That a short antibiotic course will be sufficient Subacute Brodie abscess, indolent vertebral infection, delayed PJI Deliberate tissue diagnosis, histology when mimic is possible, surgical planning before empiric therapy if stable That normal WBC/CRP excludes infection Chronic Sinus-tract PJI, sequestrum, chronic post-traumatic osteomyelitis, stage IV pressure injury Identify necrotic bone or retained material and decide whether durable source control is feasible That prolonged antibiotics alone can sterilize an uncorrected source Do not let the MRI choose the treatment MRI is sensitive for osteomyelitis but can remain abnormal during healing and can be difficult to interpret near surgery, hardware, neuropathic bone, or chronic pressure injury. Treat a clinical syndrome with a source-control plan, not an imaging phrase in isolation. Sources wiki ,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https://docarcshot.github.io/id-practice-update/lectures/Bone_and_Joint_Infections_Septic_Arthritis_PJI_Osteomyelitis.html#framework</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Classify five things before selecting an antibiotic What structure? Native joint, prosthesis, bone, spine, diabetic foot, pressure injury, fracture hardware. What tempo? Hours to days, weeks, or months. Tempo narrows the differential but does not set the treatment clock. What remains? Pus, necrotic bone, biofilm-coated implant, sinus tract, unstable spine, open wound, ischemic tissue. Can it be controlled? Drain, debride, exchange, remove, reconstruct, revascularize, or intentionally manage noncuratively. What is the intent? Cure, prolonged treatment with retained material, suppression, or treatment of acute flares only. Tempo changes the differential more than it changes the duration Pattern Common examples What it should trigger What it does not prove Acute Hot native joint, acute hematogenous osteomyelitis, early postoperative PJI, acute hematogenous PJI Urgent aspiration/cultures, assessment for bacteremia, prompt drainage or debridement when indicated That a short antibiotic course will be sufficient Subacute Brodie abscess, indolent vertebral infection, delayed PJI Deliberate tissue diagnosis, histology when mimic is possible, surgical planning before empiric therapy if stable That normal WBC/CRP excludes infection Chronic Sinus-tract PJI, sequestrum, chronic post-traumatic osteomyelitis, stage IV pressure injury Identify necrotic bone or retained material and decide whether durable source control is feasible That prolonged antibiotics alone can sterilize an uncorrected source Do not let the MRI choose the treatment MRI is sensitive for osteomyelitis but can remain abnormal during healing and can be difficult to interpret near surgery, hardware, neuropathic bone, or chronic pressure injury. Treat a clinical syndrome with a source-control plan, not an imaging phrase in isolation. Sources wiki ,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https://docarcshot.github.io/id-practice-update/lectures/Bone_and_Joint_Infections_Septic_Arthritis_PJI_Osteomyelitis.html#framework</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Classify five things before selecting an antibiotic What structure? Native joint, prosthesis, bone, spine, diabetic foot, pressure injury, fracture hardware. What tempo? Hours to days, weeks, or months. Tempo narrows the differential but does not set the treatment clock. What remains? Pus, necrotic bone, biofilm-coated implant, sinus tract, unstable spine, open wound, ischemic tissue. Can it be controlled? Drain, debride, exchange, remove, reconstruct, revascularize, or intentionally manage noncuratively. What is the intent? Cure, prolonged treatment with retained material, suppression, or treatment of acute flares only. Tempo changes the differential more than it changes the duration Pattern Common examples What it should trigger What it does not prove Acute Hot native joint, acute hematogenous osteomyelitis, early postoperative PJI, acute hematogenous PJI Urgent aspiration/cultures, assessment for bacteremia, prompt drainage or debridement when indicated That a short antibiotic course will be sufficient Subacute Brodie abscess, indolent vertebral infection, delayed PJI Deliberate tissue diagnosis, histology when mimic is possible, surgical planning before empiric therapy if stable That normal WBC/CRP excludes infection Chronic Sinus-tract PJI, sequestrum, chronic post-traumatic osteomyelitis, stage IV pressure injury Identify necrotic bone or retained material and decide whether durable source control is feasible That prolonged antibiotics alone can sterilize an uncorrected source Do not let the MRI choose the treatment MRI is sensitive for osteomyelitis but can remain abnormal during healing and can be difficult to interpret near surgery, hardware, neuropathic bone, or chronic pressure injury. Treat a clinical syndrome with a source-control plan, not an imaging phrase in isolation. Sources wiki ,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https://docarcshot.github.io/id-practice-update/lectures/Bone_and_Joint_Infections_Septic_Arthritis_PJI_Osteomyelitis.html#framework</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Native septic arthritis is a drainage problem plus an antibiotic problem Before antibiotics Unless the patient is septic or unstable, aspirate the joint promptly before starting antibiotics. Send synovial bacterial culture, cell count with differential, and crystals; obtain blood cultures when febrile, systemically ill, or bacteremia is plausible. A synovial WBC above 50,000/µL increases suspicion but is not diagnostic, a lower count does not exclude infection, and crystals do not exclude concomitant bacterial arthritis. Gram stain has limited sensitivity but useful specificity. If the joint is difficult to access, image-guided aspiration is reasonable. Sacroiliac, sternoclavicular, and other axial infections deserve early assessment for adjacent osteomyelitis, abscess, or endovascular source. Practical adult native-joint treatment framework Situation Initial approach Source control Typical duration framework Unstable, sepsis, or septic shock Obtain blood cultures and aspirate if this will not meaningfully delay therapy. A common US empiric regimen is vancomycin plus ceftriaxone; use cefepime or another antipseudomonal beta-lactam when resistant gram-negative/Pseudomonas risk is substantial. Urgent orthopedic evaluation and lavage/drainage. Define after organism, drainage, bacteremia, and adjacent infection are known. Stable, no resistant gram-negative risk Aspirate first. Empiric vancomycin plus ceftriaxone is reasonable pending Gram stain and cultures, then narrow promptly. Arthroscopic lavage is commonly preferred for large joints; open debridement may be needed for advanced disease, adhesions, or bone/cartilage destruction. SANJO suggests 1–2 weeks IV followed by 2–4 weeks oral when improving. Evidence is low. Shorter total courses are best supported for hand/wrist infection after adequate drainage. MSSA Cefazolin or an antistaphylococcal penicillin. Drainage remains essential. Usually measured in weeks, not days. Extend for bacteremia complications, adjacent osteomyelitis, delayed drainage, or poor response. MRSA Vancomycin or daptomycin when appropriate; tailor to susceptibility, renal function, bacteremia, and local practice. Drainage remains essential. Often 3–4 weeks for uncomplicated drained arthritis, longer when complicated. Evidence is limited. Streptococci Penicillin/ampicillin or ceftriaxone when susceptible. Drainage. Usually several weeks; clinical response and complexity matter. Enteric gram-negative bacilli Ceftriaxone, cefepime, a carbapenem, or other active beta-lactam according to resistance pattern and syndrome. Active fluoroquinolone or TMP-SMX can be oral completion options in selected patients. Drainage; investigate urinary, abdominal, or bloodstream source when appropriate. Often 3–4 weeks when uncomplicated and well drained; longer for associated endovascular infection, adjacent osteomyelitis, inadequate source control, or a poor clinical response. Pseudomonas Active cefepime, ceftazidime, piperacillin-tazobactam, or another susceptibility-guided antipseudomonal agent; ciprofloxacin can be a high-bioavailability oral option if susceptible and clinically appropriate. Drainage. Commonly 4–6 weeks when complicated. Do not extend merely because the organism is Pseudomonas if the clinical course is uncomplicated and source control is excellent. Gonococcal arthritis / arthritis-dermatitis Ceftriaxone 1 g IV or IM every 24 hours. Treat chlamydia with doxycycline 100 mg twice daily for 7 days if not excluded. Purulent joints may require serial aspiration or operative drainage. After substantial improvement, susceptibility-guided oral transition can occur at 24–48 hours; total treatment is at least 7 days. The two-week trial is easy to overgeneralize A randomized trial found 2 weeks noninferior to 4 weeks after surgical drainage, but 99 of 154 cases involved the hand or wrist. It should not be used as blanket evidence for two weeks in a bacteremic native knee, shoulder, hip, axial joint, or infection with adjacent osteomyelitis. Failure to improve should trigger repeat examination and reassessment of drainage, not automatic broadening or extension. Sources sanjo , 2v4 , gono</a:t>
            </a:r>
          </a:p>
          <a:p xmlns:a="http://schemas.openxmlformats.org/drawingml/2006/main">
            <a:r>
              <a:t/>
            </a:r>
          </a:p>
          <a:p xmlns:a="http://schemas.openxmlformats.org/drawingml/2006/main">
            <a:r>
              <a:t>Module section: https://docarcshot.github.io/id-practice-update/lectures/Bone_and_Joint_Infections_Septic_Arthritis_PJI_Osteomyelitis.html#septic</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Native septic arthritis is a drainage problem plus an antibiotic problem Before antibiotics Unless the patient is septic or unstable, aspirate the joint promptly before starting antibiotics. Send synovial bacterial culture, cell count with differential, and crystals; obtain blood cultures when febrile, systemically ill, or bacteremia is plausible. A synovial WBC above 50,000/µL increases suspicion but is not diagnostic, a lower count does not exclude infection, and crystals do not exclude concomitant bacterial arthritis. Gram stain has limited sensitivity but useful specificity. If the joint is difficult to access, image-guided aspiration is reasonable. Sacroiliac, sternoclavicular, and other axial infections deserve early assessment for adjacent osteomyelitis, abscess, or endovascular source. Practical adult native-joint treatment framework Situation Initial approach Source control Typical duration framework Unstable, sepsis, or septic shock Obtain blood cultures and aspirate if this will not meaningfully delay therapy. A common US empiric regimen is vancomycin plus ceftriaxone; use cefepime or another antipseudomonal beta-lactam when resistant gram-negative/Pseudomonas risk is substantial. Urgent orthopedic evaluation and lavage/drainage. Define after organism, drainage, bacteremia, and adjacent infection are known. Stable, no resistant gram-negative risk Aspirate first. Empiric vancomycin plus ceftriaxone is reasonable pending Gram stain and cultures, then narrow promptly. Arthroscopic lavage is commonly preferred for large joints; open debridement may be needed for advanced disease, adhesions, or bone/cartilage destruction. SANJO suggests 1–2 weeks IV followed by 2–4 weeks oral when improving. Evidence is low. Shorter total courses are best supported for hand/wrist infection after adequate drainage. MSSA Cefazolin or an antistaphylococcal penicillin. Drainage remains essential. Usually measured in weeks, not days. Extend for bacteremia complications, adjacent osteomyelitis, delayed drainage, or poor response. MRSA Vancomycin or daptomycin when appropriate; tailor to susceptibility, renal function, bacteremia, and local practice. Drainage remains essential. Often 3–4 weeks for uncomplicated drained arthritis, longer when complicated. Evidence is limited. Streptococci Penicillin/ampicillin or ceftriaxone when susceptible. Drainage. Usually several weeks; clinical response and complexity matter. Enteric gram-negative bacilli Ceftriaxone, cefepime, a carbapenem, or other active beta-lactam according to resistance pattern and syndrome. Active fluoroquinolone or TMP-SMX can be oral completion options in selected patients. Drainage; investigate urinary, abdominal, or bloodstream source when appropriate. Often 3–4 weeks when uncomplicated and well drained; longer for associated endovascular infection, adjacent osteomyelitis, inadequate source control, or a poor clinical response. Pseudomonas Active cefepime, ceftazidime, piperacillin-tazobactam, or another susceptibility-guided antipseudomonal agent; ciprofloxacin can be a high-bioavailability oral option if susceptible and clinically appropriate. Drainage. Commonly 4–6 weeks when complicated. Do not extend merely because the organism is Pseudomonas if the clinical course is uncomplicated and source control is excellent. Gonococcal arthritis / arthritis-dermatitis Ceftriaxone 1 g IV or IM every 24 hours. Treat chlamydia with doxycycline 100 mg twice daily for 7 days if not excluded. Purulent joints may require serial aspiration or operative drainage. After substantial improvement, susceptibility-guided oral transition can occur at 24–48 hours; total treatment is at least 7 days. The two-week trial is easy to overgeneralize A randomized trial found 2 weeks noninferior to 4 weeks after surgical drainage, but 99 of 154 cases involved the hand or wrist. It should not be used as blanket evidence for two weeks in a bacteremic native knee, shoulder, hip, axial joint, or infection with adjacent osteomyelitis. Failure to improve should trigger repeat examination and reassessment of drainage, not automatic broadening or extension. Sources sanjo , 2v4 , gono</a:t>
            </a:r>
          </a:p>
          <a:p xmlns:a="http://schemas.openxmlformats.org/drawingml/2006/main">
            <a:r>
              <a:t/>
            </a:r>
          </a:p>
          <a:p xmlns:a="http://schemas.openxmlformats.org/drawingml/2006/main">
            <a:r>
              <a:t>Module section: https://docarcshot.github.io/id-practice-update/lectures/Bone_and_Joint_Infections_Septic_Arthritis_PJI_Osteomyelitis.html#septic</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Native septic arthritis is a drainage problem plus an antibiotic problem Before antibiotics Unless the patient is septic or unstable, aspirate the joint promptly before starting antibiotics. Send synovial bacterial culture, cell count with differential, and crystals; obtain blood cultures when febrile, systemically ill, or bacteremia is plausible. A synovial WBC above 50,000/µL increases suspicion but is not diagnostic, a lower count does not exclude infection, and crystals do not exclude concomitant bacterial arthritis. Gram stain has limited sensitivity but useful specificity. If the joint is difficult to access, image-guided aspiration is reasonable. Sacroiliac, sternoclavicular, and other axial infections deserve early assessment for adjacent osteomyelitis, abscess, or endovascular source. Practical adult native-joint treatment framework Situation Initial approach Source control Typical duration framework Unstable, sepsis, or septic shock Obtain blood cultures and aspirate if this will not meaningfully delay therapy. A common US empiric regimen is vancomycin plus ceftriaxone; use cefepime or another antipseudomonal beta-lactam when resistant gram-negative/Pseudomonas risk is substantial. Urgent orthopedic evaluation and lavage/drainage. Define after organism, drainage, bacteremia, and adjacent infection are known. Stable, no resistant gram-negative risk Aspirate first. Empiric vancomycin plus ceftriaxone is reasonable pending Gram stain and cultures, then narrow promptly. Arthroscopic lavage is commonly preferred for large joints; open debridement may be needed for advanced disease, adhesions, or bone/cartilage destruction. SANJO suggests 1–2 weeks IV followed by 2–4 weeks oral when improving. Evidence is low. Shorter total courses are best supported for hand/wrist infection after adequate drainage. MSSA Cefazolin or an antistaphylococcal penicillin. Drainage remains essential. Usually measured in weeks, not days. Extend for bacteremia complications, adjacent osteomyelitis, delayed drainage, or poor response. MRSA Vancomycin or daptomycin when appropriate; tailor to susceptibility, renal function, bacteremia, and local practice. Drainage remains essential. Often 3–4 weeks for uncomplicated drained arthritis, longer when complicated. Evidence is limited. Streptococci Penicillin/ampicillin or ceftriaxone when susceptible. Drainage. Usually several weeks; clinical response and complexity matter. Enteric gram-negative bacilli Ceftriaxone, cefepime, a carbapenem, or other active beta-lactam according to resistance pattern and syndrome. Active fluoroquinolone or TMP-SMX can be oral completion options in selected patients. Drainage; investigate urinary, abdominal, or bloodstream source when appropriate. Often 3–4 weeks when uncomplicated and well drained; longer for associated endovascular infection, adjacent osteomyelitis, inadequate source control, or a poor clinical response. Pseudomonas Active cefepime, ceftazidime, piperacillin-tazobactam, or another susceptibility-guided antipseudomonal agent; ciprofloxacin can be a high-bioavailability oral option if susceptible and clinically appropriate. Drainage. Commonly 4–6 weeks when complicated. Do not extend merely because the organism is Pseudomonas if the clinical course is uncomplicated and source control is excellent. Gonococcal arthritis / arthritis-dermatitis Ceftriaxone 1 g IV or IM every 24 hours. Treat chlamydia with doxycycline 100 mg twice daily for 7 days if not excluded. Purulent joints may require serial aspiration or operative drainage. After substantial improvement, susceptibility-guided oral transition can occur at 24–48 hours; total treatment is at least 7 days. The two-week trial is easy to overgeneralize A randomized trial found 2 weeks noninferior to 4 weeks after surgical drainage, but 99 of 154 cases involved the hand or wrist. It should not be used as blanket evidence for two weeks in a bacteremic native knee, shoulder, hip, axial joint, or infection with adjacent osteomyelitis. Failure to improve should trigger repeat examination and reassessment of drainage, not automatic broadening or extension. Sources sanjo , 2v4 , gono</a:t>
            </a:r>
          </a:p>
          <a:p xmlns:a="http://schemas.openxmlformats.org/drawingml/2006/main">
            <a:r>
              <a:t/>
            </a:r>
          </a:p>
          <a:p xmlns:a="http://schemas.openxmlformats.org/drawingml/2006/main">
            <a:r>
              <a:t>Module section: https://docarcshot.github.io/id-practice-update/lectures/Bone_and_Joint_Infections_Septic_Arthritis_PJI_Osteomyelitis.html#septic</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Native septic arthritis is a drainage problem plus an antibiotic problem Before antibiotics Unless the patient is septic or unstable, aspirate the joint promptly before starting antibiotics. Send synovial bacterial culture, cell count with differential, and crystals; obtain blood cultures when febrile, systemically ill, or bacteremia is plausible. A synovial WBC above 50,000/µL increases suspicion but is not diagnostic, a lower count does not exclude infection, and crystals do not exclude concomitant bacterial arthritis. Gram stain has limited sensitivity but useful specificity. If the joint is difficult to access, image-guided aspiration is reasonable. Sacroiliac, sternoclavicular, and other axial infections deserve early assessment for adjacent osteomyelitis, abscess, or endovascular source. Practical adult native-joint treatment framework Situation Initial approach Source control Typical duration framework Unstable, sepsis, or septic shock Obtain blood cultures and aspirate if this will not meaningfully delay therapy. A common US empiric regimen is vancomycin plus ceftriaxone; use cefepime or another antipseudomonal beta-lactam when resistant gram-negative/Pseudomonas risk is substantial. Urgent orthopedic evaluation and lavage/drainage. Define after organism, drainage, bacteremia, and adjacent infection are known. Stable, no resistant gram-negative risk Aspirate first. Empiric vancomycin plus ceftriaxone is reasonable pending Gram stain and cultures, then narrow promptly. Arthroscopic lavage is commonly preferred for large joints; open debridement may be needed for advanced disease, adhesions, or bone/cartilage destruction. SANJO suggests 1–2 weeks IV followed by 2–4 weeks oral when improving. Evidence is low. Shorter total courses are best supported for hand/wrist infection after adequate drainage. MSSA Cefazolin or an antistaphylococcal penicillin. Drainage remains essential. Usually measured in weeks, not days. Extend for bacteremia complications, adjacent osteomyelitis, delayed drainage, or poor response. MRSA Vancomycin or daptomycin when appropriate; tailor to susceptibility, renal function, bacteremia, and local practice. Drainage remains essential. Often 3–4 weeks for uncomplicated drained arthritis, longer when complicated. Evidence is limited. Streptococci Penicillin/ampicillin or ceftriaxone when susceptible. Drainage. Usually several weeks; clinical response and complexity matter. Enteric gram-negative bacilli Ceftriaxone, cefepime, a carbapenem, or other active beta-lactam according to resistance pattern and syndrome. Active fluoroquinolone or TMP-SMX can be oral completion options in selected patients. Drainage; investigate urinary, abdominal, or bloodstream source when appropriate. Often 3–4 weeks when uncomplicated and well drained; longer for associated endovascular infection, adjacent osteomyelitis, inadequate source control, or a poor clinical response. Pseudomonas Active cefepime, ceftazidime, piperacillin-tazobactam, or another susceptibility-guided antipseudomonal agent; ciprofloxacin can be a high-bioavailability oral option if susceptible and clinically appropriate. Drainage. Commonly 4–6 weeks when complicated. Do not extend merely because the organism is Pseudomonas if the clinical course is uncomplicated and source control is excellent. Gonococcal arthritis / arthritis-dermatitis Ceftriaxone 1 g IV or IM every 24 hours. Treat chlamydia with doxycycline 100 mg twice daily for 7 days if not excluded. Purulent joints may require serial aspiration or operative drainage. After substantial improvement, susceptibility-guided oral transition can occur at 24–48 hours; total treatment is at least 7 days. The two-week trial is easy to overgeneralize A randomized trial found 2 weeks noninferior to 4 weeks after surgical drainage, but 99 of 154 cases involved the hand or wrist. It should not be used as blanket evidence for two weeks in a bacteremic native knee, shoulder, hip, axial joint, or infection with adjacent osteomyelitis. Failure to improve should trigger repeat examination and reassessment of drainage, not automatic broadening or extension. Sources sanjo , 2v4 , gono</a:t>
            </a:r>
          </a:p>
          <a:p xmlns:a="http://schemas.openxmlformats.org/drawingml/2006/main">
            <a:r>
              <a:t/>
            </a:r>
          </a:p>
          <a:p xmlns:a="http://schemas.openxmlformats.org/drawingml/2006/main">
            <a:r>
              <a:t>Module section: https://docarcshot.github.io/id-practice-update/lectures/Bone_and_Joint_Infections_Septic_Arthritis_PJI_Osteomyelitis.html#septic</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Native septic arthritis is a drainage problem plus an antibiotic problem Before antibiotics Unless the patient is septic or unstable, aspirate the joint promptly before starting antibiotics. Send synovial bacterial culture, cell count with differential, and crystals; obtain blood cultures when febrile, systemically ill, or bacteremia is plausible. A synovial WBC above 50,000/µL increases suspicion but is not diagnostic, a lower count does not exclude infection, and crystals do not exclude concomitant bacterial arthritis. Gram stain has limited sensitivity but useful specificity. If the joint is difficult to access, image-guided aspiration is reasonable. Sacroiliac, sternoclavicular, and other axial infections deserve early assessment for adjacent osteomyelitis, abscess, or endovascular source. Practical adult native-joint treatment framework Situation Initial approach Source control Typical duration framework Unstable, sepsis, or septic shock Obtain blood cultures and aspirate if this will not meaningfully delay therapy. A common US empiric regimen is vancomycin plus ceftriaxone; use cefepime or another antipseudomonal beta-lactam when resistant gram-negative/Pseudomonas risk is substantial. Urgent orthopedic evaluation and lavage/drainage. Define after organism, drainage, bacteremia, and adjacent infection are known. Stable, no resistant gram-negative risk Aspirate first. Empiric vancomycin plus ceftriaxone is reasonable pending Gram stain and cultures, then narrow promptly. Arthroscopic lavage is commonly preferred for large joints; open debridement may be needed for advanced disease, adhesions, or bone/cartilage destruction. SANJO suggests 1–2 weeks IV followed by 2–4 weeks oral when improving. Evidence is low. Shorter total courses are best supported for hand/wrist infection after adequate drainage. MSSA Cefazolin or an antistaphylococcal penicillin. Drainage remains essential. Usually measured in weeks, not days. Extend for bacteremia complications, adjacent osteomyelitis, delayed drainage, or poor response. MRSA Vancomycin or daptomycin when appropriate; tailor to susceptibility, renal function, bacteremia, and local practice. Drainage remains essential. Often 3–4 weeks for uncomplicated drained arthritis, longer when complicated. Evidence is limited. Streptococci Penicillin/ampicillin or ceftriaxone when susceptible. Drainage. Usually several weeks; clinical response and complexity matter. Enteric gram-negative bacilli Ceftriaxone, cefepime, a carbapenem, or other active beta-lactam according to resistance pattern and syndrome. Active fluoroquinolone or TMP-SMX can be oral completion options in selected patients. Drainage; investigate urinary, abdominal, or bloodstream source when appropriate. Often 3–4 weeks when uncomplicated and well drained; longer for associated endovascular infection, adjacent osteomyelitis, inadequate source control, or a poor clinical response. Pseudomonas Active cefepime, ceftazidime, piperacillin-tazobactam, or another susceptibility-guided antipseudomonal agent; ciprofloxacin can be a high-bioavailability oral option if susceptible and clinically appropriate. Drainage. Commonly 4–6 weeks when complicated. Do not extend merely because the organism is Pseudomonas if the clinical course is uncomplicated and source control is excellent. Gonococcal arthritis / arthritis-dermatitis Ceftriaxone 1 g IV or IM every 24 hours. Treat chlamydia with doxycycline 100 mg twice daily for 7 days if not excluded. Purulent joints may require serial aspiration or operative drainage. After substantial improvement, susceptibility-guided oral transition can occur at 24–48 hours; total treatment is at least 7 days. The two-week trial is easy to overgeneralize A randomized trial found 2 weeks noninferior to 4 weeks after surgical drainage, but 99 of 154 cases involved the hand or wrist. It should not be used as blanket evidence for two weeks in a bacteremic native knee, shoulder, hip, axial joint, or infection with adjacent osteomyelitis. Failure to improve should trigger repeat examination and reassessment of drainage, not automatic broadening or extension. Sources sanjo , 2v4 , gono</a:t>
            </a:r>
          </a:p>
          <a:p xmlns:a="http://schemas.openxmlformats.org/drawingml/2006/main">
            <a:r>
              <a:t/>
            </a:r>
          </a:p>
          <a:p xmlns:a="http://schemas.openxmlformats.org/drawingml/2006/main">
            <a:r>
              <a:t>Module section: https://docarcshot.github.io/id-practice-update/lectures/Bone_and_Joint_Infections_Septic_Arthritis_PJI_Osteomyelitis.html#septic</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Native septic arthritis is a drainage problem plus an antibiotic problem Before antibiotics Unless the patient is septic or unstable, aspirate the joint promptly before starting antibiotics. Send synovial bacterial culture, cell count with differential, and crystals; obtain blood cultures when febrile, systemically ill, or bacteremia is plausible. A synovial WBC above 50,000/µL increases suspicion but is not diagnostic, a lower count does not exclude infection, and crystals do not exclude concomitant bacterial arthritis. Gram stain has limited sensitivity but useful specificity. If the joint is difficult to access, image-guided aspiration is reasonable. Sacroiliac, sternoclavicular, and other axial infections deserve early assessment for adjacent osteomyelitis, abscess, or endovascular source. Practical adult native-joint treatment framework Situation Initial approach Source control Typical duration framework Unstable, sepsis, or septic shock Obtain blood cultures and aspirate if this will not meaningfully delay therapy. A common US empiric regimen is vancomycin plus ceftriaxone; use cefepime or another antipseudomonal beta-lactam when resistant gram-negative/Pseudomonas risk is substantial. Urgent orthopedic evaluation and lavage/drainage. Define after organism, drainage, bacteremia, and adjacent infection are known. Stable, no resistant gram-negative risk Aspirate first. Empiric vancomycin plus ceftriaxone is reasonable pending Gram stain and cultures, then narrow promptly. Arthroscopic lavage is commonly preferred for large joints; open debridement may be needed for advanced disease, adhesions, or bone/cartilage destruction. SANJO suggests 1–2 weeks IV followed by 2–4 weeks oral when improving. Evidence is low. Shorter total courses are best supported for hand/wrist infection after adequate drainage. MSSA Cefazolin or an antistaphylococcal penicillin. Drainage remains essential. Usually measured in weeks, not days. Extend for bacteremia complications, adjacent osteomyelitis, delayed drainage, or poor response. MRSA Vancomycin or daptomycin when appropriate; tailor to susceptibility, renal function, bacteremia, and local practice. Drainage remains essential. Often 3–4 weeks for uncomplicated drained arthritis, longer when complicated. Evidence is limited. Streptococci Penicillin/ampicillin or ceftriaxone when susceptible. Drainage. Usually several weeks; clinical response and complexity matter. Enteric gram-negative bacilli Ceftriaxone, cefepime, a carbapenem, or other active beta-lactam according to resistance pattern and syndrome. Active fluoroquinolone or TMP-SMX can be oral completion options in selected patients. Drainage; investigate urinary, abdominal, or bloodstream source when appropriate. Often 3–4 weeks when uncomplicated and well drained; longer for associated endovascular infection, adjacent osteomyelitis, inadequate source control, or a poor clinical response. Pseudomonas Active cefepime, ceftazidime, piperacillin-tazobactam, or another susceptibility-guided antipseudomonal agent; ciprofloxacin can be a high-bioavailability oral option if susceptible and clinically appropriate. Drainage. Commonly 4–6 weeks when complicated. Do not extend merely because the organism is Pseudomonas if the clinical course is uncomplicated and source control is excellent. Gonococcal arthritis / arthritis-dermatitis Ceftriaxone 1 g IV or IM every 24 hours. Treat chlamydia with doxycycline 100 mg twice daily for 7 days if not excluded. Purulent joints may require serial aspiration or operative drainage. After substantial improvement, susceptibility-guided oral transition can occur at 24–48 hours; total treatment is at least 7 days. The two-week trial is easy to overgeneralize A randomized trial found 2 weeks noninferior to 4 weeks after surgical drainage, but 99 of 154 cases involved the hand or wrist. It should not be used as blanket evidence for two weeks in a bacteremic native knee, shoulder, hip, axial joint, or infection with adjacent osteomyelitis. Failure to improve should trigger repeat examination and reassessment of drainage, not automatic broadening or extension. Sources sanjo , 2v4 , gono</a:t>
            </a:r>
          </a:p>
          <a:p xmlns:a="http://schemas.openxmlformats.org/drawingml/2006/main">
            <a:r>
              <a:t/>
            </a:r>
          </a:p>
          <a:p xmlns:a="http://schemas.openxmlformats.org/drawingml/2006/main">
            <a:r>
              <a:t>Module section: https://docarcshot.github.io/id-practice-update/lectures/Bone_and_Joint_Infections_Septic_Arthritis_PJI_Osteomyelitis.html#septic</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Native septic arthritis is a drainage problem plus an antibiotic problem Before antibiotics Unless the patient is septic or unstable, aspirate the joint promptly before starting antibiotics. Send synovial bacterial culture, cell count with differential, and crystals; obtain blood cultures when febrile, systemically ill, or bacteremia is plausible. A synovial WBC above 50,000/µL increases suspicion but is not diagnostic, a lower count does not exclude infection, and crystals do not exclude concomitant bacterial arthritis. Gram stain has limited sensitivity but useful specificity. If the joint is difficult to access, image-guided aspiration is reasonable. Sacroiliac, sternoclavicular, and other axial infections deserve early assessment for adjacent osteomyelitis, abscess, or endovascular source. Practical adult native-joint treatment framework Situation Initial approach Source control Typical duration framework Unstable, sepsis, or septic shock Obtain blood cultures and aspirate if this will not meaningfully delay therapy. A common US empiric regimen is vancomycin plus ceftriaxone; use cefepime or another antipseudomonal beta-lactam when resistant gram-negative/Pseudomonas risk is substantial. Urgent orthopedic evaluation and lavage/drainage. Define after organism, drainage, bacteremia, and adjacent infection are known. Stable, no resistant gram-negative risk Aspirate first. Empiric vancomycin plus ceftriaxone is reasonable pending Gram stain and cultures, then narrow promptly. Arthroscopic lavage is commonly preferred for large joints; open debridement may be needed for advanced disease, adhesions, or bone/cartilage destruction. SANJO suggests 1–2 weeks IV followed by 2–4 weeks oral when improving. Evidence is low. Shorter total courses are best supported for hand/wrist infection after adequate drainage. MSSA Cefazolin or an antistaphylococcal penicillin. Drainage remains essential. Usually measured in weeks, not days. Extend for bacteremia complications, adjacent osteomyelitis, delayed drainage, or poor response. MRSA Vancomycin or daptomycin when appropriate; tailor to susceptibility, renal function, bacteremia, and local practice. Drainage remains essential. Often 3–4 weeks for uncomplicated drained arthritis, longer when complicated. Evidence is limited. Streptococci Penicillin/ampicillin or ceftriaxone when susceptible. Drainage. Usually several weeks; clinical response and complexity matter. Enteric gram-negative bacilli Ceftriaxone, cefepime, a carbapenem, or other active beta-lactam according to resistance pattern and syndrome. Active fluoroquinolone or TMP-SMX can be oral completion options in selected patients. Drainage; investigate urinary, abdominal, or bloodstream source when appropriate. Often 3–4 weeks when uncomplicated and well drained; longer for associated endovascular infection, adjacent osteomyelitis, inadequate source control, or a poor clinical response. Pseudomonas Active cefepime, ceftazidime, piperacillin-tazobactam, or another susceptibility-guided antipseudomonal agent; ciprofloxacin can be a high-bioavailability oral option if susceptible and clinically appropriate. Drainage. Commonly 4–6 weeks when complicated. Do not extend merely because the organism is Pseudomonas if the clinical course is uncomplicated and source control is excellent. Gonococcal arthritis / arthritis-dermatitis Ceftriaxone 1 g IV or IM every 24 hours. Treat chlamydia with doxycycline 100 mg twice daily for 7 days if not excluded. Purulent joints may require serial aspiration or operative drainage. After substantial improvement, susceptibility-guided oral transition can occur at 24–48 hours; total treatment is at least 7 days. The two-week trial is easy to overgeneralize A randomized trial found 2 weeks noninferior to 4 weeks after surgical drainage, but 99 of 154 cases involved the hand or wrist. It should not be used as blanket evidence for two weeks in a bacteremic native knee, shoulder, hip, axial joint, or infection with adjacent osteomyelitis. Failure to improve should trigger repeat examination and reassessment of drainage, not automatic broadening or extension. Sources sanjo , 2v4 , gono</a:t>
            </a:r>
          </a:p>
          <a:p xmlns:a="http://schemas.openxmlformats.org/drawingml/2006/main">
            <a:r>
              <a:t/>
            </a:r>
          </a:p>
          <a:p xmlns:a="http://schemas.openxmlformats.org/drawingml/2006/main">
            <a:r>
              <a:t>Module section: https://docarcshot.github.io/id-practice-update/lectures/Bone_and_Joint_Infections_Septic_Arthritis_PJI_Osteomyelitis.html#septic</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Native septic arthritis is a drainage problem plus an antibiotic problem Before antibiotics Unless the patient is septic or unstable, aspirate the joint promptly before starting antibiotics. Send synovial bacterial culture, cell count with differential, and crystals; obtain blood cultures when febrile, systemically ill, or bacteremia is plausible. A synovial WBC above 50,000/µL increases suspicion but is not diagnostic, a lower count does not exclude infection, and crystals do not exclude concomitant bacterial arthritis. Gram stain has limited sensitivity but useful specificity. If the joint is difficult to access, image-guided aspiration is reasonable. Sacroiliac, sternoclavicular, and other axial infections deserve early assessment for adjacent osteomyelitis, abscess, or endovascular source. Practical adult native-joint treatment framework Situation Initial approach Source control Typical duration framework Unstable, sepsis, or septic shock Obtain blood cultures and aspirate if this will not meaningfully delay therapy. A common US empiric regimen is vancomycin plus ceftriaxone; use cefepime or another antipseudomonal beta-lactam when resistant gram-negative/Pseudomonas risk is substantial. Urgent orthopedic evaluation and lavage/drainage. Define after organism, drainage, bacteremia, and adjacent infection are known. Stable, no resistant gram-negative risk Aspirate first. Empiric vancomycin plus ceftriaxone is reasonable pending Gram stain and cultures, then narrow promptly. Arthroscopic lavage is commonly preferred for large joints; open debridement may be needed for advanced disease, adhesions, or bone/cartilage destruction. SANJO suggests 1–2 weeks IV followed by 2–4 weeks oral when improving. Evidence is low. Shorter total courses are best supported for hand/wrist infection after adequate drainage. MSSA Cefazolin or an antistaphylococcal penicillin. Drainage remains essential. Usually measured in weeks, not days. Extend for bacteremia complications, adjacent osteomyelitis, delayed drainage, or poor response. MRSA Vancomycin or daptomycin when appropriate; tailor to susceptibility, renal function, bacteremia, and local practice. Drainage remains essential. Often 3–4 weeks for uncomplicated drained arthritis, longer when complicated. Evidence is limited. Streptococci Penicillin/ampicillin or ceftriaxone when susceptible. Drainage. Usually several weeks; clinical response and complexity matter. Enteric gram-negative bacilli Ceftriaxone, cefepime, a carbapenem, or other active beta-lactam according to resistance pattern and syndrome. Active fluoroquinolone or TMP-SMX can be oral completion options in selected patients. Drainage; investigate urinary, abdominal, or bloodstream source when appropriate. Often 3–4 weeks when uncomplicated and well drained; longer for associated endovascular infection, adjacent osteomyelitis, inadequate source control, or a poor clinical response. Pseudomonas Active cefepime, ceftazidime, piperacillin-tazobactam, or another susceptibility-guided antipseudomonal agent; ciprofloxacin can be a high-bioavailability oral option if susceptible and clinically appropriate. Drainage. Commonly 4–6 weeks when complicated. Do not extend merely because the organism is Pseudomonas if the clinical course is uncomplicated and source control is excellent. Gonococcal arthritis / arthritis-dermatitis Ceftriaxone 1 g IV or IM every 24 hours. Treat chlamydia with doxycycline 100 mg twice daily for 7 days if not excluded. Purulent joints may require serial aspiration or operative drainage. After substantial improvement, susceptibility-guided oral transition can occur at 24–48 hours; total treatment is at least 7 days. The two-week trial is easy to overgeneralize A randomized trial found 2 weeks noninferior to 4 weeks after surgical drainage, but 99 of 154 cases involved the hand or wrist. It should not be used as blanket evidence for two weeks in a bacteremic native knee, shoulder, hip, axial joint, or infection with adjacent osteomyelitis. Failure to improve should trigger repeat examination and reassessment of drainage, not automatic broadening or extension. Sources sanjo , 2v4 , gono</a:t>
            </a:r>
          </a:p>
          <a:p xmlns:a="http://schemas.openxmlformats.org/drawingml/2006/main">
            <a:r>
              <a:t/>
            </a:r>
          </a:p>
          <a:p xmlns:a="http://schemas.openxmlformats.org/drawingml/2006/main">
            <a:r>
              <a:t>Module section: https://docarcshot.github.io/id-practice-update/lectures/Bone_and_Joint_Infections_Septic_Arthritis_PJI_Osteomyelitis.html#septic</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Native septic arthritis is a drainage problem plus an antibiotic problem Before antibiotics Unless the patient is septic or unstable, aspirate the joint promptly before starting antibiotics. Send synovial bacterial culture, cell count with differential, and crystals; obtain blood cultures when febrile, systemically ill, or bacteremia is plausible. A synovial WBC above 50,000/µL increases suspicion but is not diagnostic, a lower count does not exclude infection, and crystals do not exclude concomitant bacterial arthritis. Gram stain has limited sensitivity but useful specificity. If the joint is difficult to access, image-guided aspiration is reasonable. Sacroiliac, sternoclavicular, and other axial infections deserve early assessment for adjacent osteomyelitis, abscess, or endovascular source. Practical adult native-joint treatment framework Situation Initial approach Source control Typical duration framework Unstable, sepsis, or septic shock Obtain blood cultures and aspirate if this will not meaningfully delay therapy. A common US empiric regimen is vancomycin plus ceftriaxone; use cefepime or another antipseudomonal beta-lactam when resistant gram-negative/Pseudomonas risk is substantial. Urgent orthopedic evaluation and lavage/drainage. Define after organism, drainage, bacteremia, and adjacent infection are known. Stable, no resistant gram-negative risk Aspirate first. Empiric vancomycin plus ceftriaxone is reasonable pending Gram stain and cultures, then narrow promptly. Arthroscopic lavage is commonly preferred for large joints; open debridement may be needed for advanced disease, adhesions, or bone/cartilage destruction. SANJO suggests 1–2 weeks IV followed by 2–4 weeks oral when improving. Evidence is low. Shorter total courses are best supported for hand/wrist infection after adequate drainage. MSSA Cefazolin or an antistaphylococcal penicillin. Drainage remains essential. Usually measured in weeks, not days. Extend for bacteremia complications, adjacent osteomyelitis, delayed drainage, or poor response. MRSA Vancomycin or daptomycin when appropriate; tailor to susceptibility, renal function, bacteremia, and local practice. Drainage remains essential. Often 3–4 weeks for uncomplicated drained arthritis, longer when complicated. Evidence is limited. Streptococci Penicillin/ampicillin or ceftriaxone when susceptible. Drainage. Usually several weeks; clinical response and complexity matter. Enteric gram-negative bacilli Ceftriaxone, cefepime, a carbapenem, or other active beta-lactam according to resistance pattern and syndrome. Active fluoroquinolone or TMP-SMX can be oral completion options in selected patients. Drainage; investigate urinary, abdominal, or bloodstream source when appropriate. Often 3–4 weeks when uncomplicated and well drained; longer for associated endovascular infection, adjacent osteomyelitis, inadequate source control, or a poor clinical response. Pseudomonas Active cefepime, ceftazidime, piperacillin-tazobactam, or another susceptibility-guided antipseudomonal agent; ciprofloxacin can be a high-bioavailability oral option if susceptible and clinically appropriate. Drainage. Commonly 4–6 weeks when complicated. Do not extend merely because the organism is Pseudomonas if the clinical course is uncomplicated and source control is excellent. Gonococcal arthritis / arthritis-dermatitis Ceftriaxone 1 g IV or IM every 24 hours. Treat chlamydia with doxycycline 100 mg twice daily for 7 days if not excluded. Purulent joints may require serial aspiration or operative drainage. After substantial improvement, susceptibility-guided oral transition can occur at 24–48 hours; total treatment is at least 7 days. The two-week trial is easy to overgeneralize A randomized trial found 2 weeks noninferior to 4 weeks after surgical drainage, but 99 of 154 cases involved the hand or wrist. It should not be used as blanket evidence for two weeks in a bacteremic native knee, shoulder, hip, axial joint, or infection with adjacent osteomyelitis. Failure to improve should trigger repeat examination and reassessment of drainage, not automatic broadening or extension. Sources sanjo , 2v4 , gono</a:t>
            </a:r>
          </a:p>
          <a:p xmlns:a="http://schemas.openxmlformats.org/drawingml/2006/main">
            <a:r>
              <a:t/>
            </a:r>
          </a:p>
          <a:p xmlns:a="http://schemas.openxmlformats.org/drawingml/2006/main">
            <a:r>
              <a:t>Module section: https://docarcshot.github.io/id-practice-update/lectures/Bone_and_Joint_Infections_Septic_Arthritis_PJI_Osteomyelitis.html#septic</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Native septic arthritis is a drainage problem plus an antibiotic problem Before antibiotics Unless the patient is septic or unstable, aspirate the joint promptly before starting antibiotics. Send synovial bacterial culture, cell count with differential, and crystals; obtain blood cultures when febrile, systemically ill, or bacteremia is plausible. A synovial WBC above 50,000/µL increases suspicion but is not diagnostic, a lower count does not exclude infection, and crystals do not exclude concomitant bacterial arthritis. Gram stain has limited sensitivity but useful specificity. If the joint is difficult to access, image-guided aspiration is reasonable. Sacroiliac, sternoclavicular, and other axial infections deserve early assessment for adjacent osteomyelitis, abscess, or endovascular source. Practical adult native-joint treatment framework Situation Initial approach Source control Typical duration framework Unstable, sepsis, or septic shock Obtain blood cultures and aspirate if this will not meaningfully delay therapy. A common US empiric regimen is vancomycin plus ceftriaxone; use cefepime or another antipseudomonal beta-lactam when resistant gram-negative/Pseudomonas risk is substantial. Urgent orthopedic evaluation and lavage/drainage. Define after organism, drainage, bacteremia, and adjacent infection are known. Stable, no resistant gram-negative risk Aspirate first. Empiric vancomycin plus ceftriaxone is reasonable pending Gram stain and cultures, then narrow promptly. Arthroscopic lavage is commonly preferred for large joints; open debridement may be needed for advanced disease, adhesions, or bone/cartilage destruction. SANJO suggests 1–2 weeks IV followed by 2–4 weeks oral when improving. Evidence is low. Shorter total courses are best supported for hand/wrist infection after adequate drainage. MSSA Cefazolin or an antistaphylococcal penicillin. Drainage remains essential. Usually measured in weeks, not days. Extend for bacteremia complications, adjacent osteomyelitis, delayed drainage, or poor response. MRSA Vancomycin or daptomycin when appropriate; tailor to susceptibility, renal function, bacteremia, and local practice. Drainage remains essential. Often 3–4 weeks for uncomplicated drained arthritis, longer when complicated. Evidence is limited. Streptococci Penicillin/ampicillin or ceftriaxone when susceptible. Drainage. Usually several weeks; clinical response and complexity matter. Enteric gram-negative bacilli Ceftriaxone, cefepime, a carbapenem, or other active beta-lactam according to resistance pattern and syndrome. Active fluoroquinolone or TMP-SMX can be oral completion options in selected patients. Drainage; investigate urinary, abdominal, or bloodstream source when appropriate. Often 3–4 weeks when uncomplicated and well drained; longer for associated endovascular infection, adjacent osteomyelitis, inadequate source control, or a poor clinical response. Pseudomonas Active cefepime, ceftazidime, piperacillin-tazobactam, or another susceptibility-guided antipseudomonal agent; ciprofloxacin can be a high-bioavailability oral option if susceptible and clinically appropriate. Drainage. Commonly 4–6 weeks when complicated. Do not extend merely because the organism is Pseudomonas if the clinical course is uncomplicated and source control is excellent. Gonococcal arthritis / arthritis-dermatitis Ceftriaxone 1 g IV or IM every 24 hours. Treat chlamydia with doxycycline 100 mg twice daily for 7 days if not excluded. Purulent joints may require serial aspiration or operative drainage. After substantial improvement, susceptibility-guided oral transition can occur at 24–48 hours; total treatment is at least 7 days. The two-week trial is easy to overgeneralize A randomized trial found 2 weeks noninferior to 4 weeks after surgical drainage, but 99 of 154 cases involved the hand or wrist. It should not be used as blanket evidence for two weeks in a bacteremic native knee, shoulder, hip, axial joint, or infection with adjacent osteomyelitis. Failure to improve should trigger repeat examination and reassessment of drainage, not automatic broadening or extension. Sources sanjo , 2v4 , gono</a:t>
            </a:r>
          </a:p>
          <a:p xmlns:a="http://schemas.openxmlformats.org/drawingml/2006/main">
            <a:r>
              <a:t/>
            </a:r>
          </a:p>
          <a:p xmlns:a="http://schemas.openxmlformats.org/drawingml/2006/main">
            <a:r>
              <a:t>Module section: https://docarcshot.github.io/id-practice-update/lectures/Bone_and_Joint_Infections_Septic_Arthritis_PJI_Osteomyelitis.html#septic</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Native septic arthritis is a drainage problem plus an antibiotic problem Before antibiotics Unless the patient is septic or unstable, aspirate the joint promptly before starting antibiotics. Send synovial bacterial culture, cell count with differential, and crystals; obtain blood cultures when febrile, systemically ill, or bacteremia is plausible. A synovial WBC above 50,000/µL increases suspicion but is not diagnostic, a lower count does not exclude infection, and crystals do not exclude concomitant bacterial arthritis. Gram stain has limited sensitivity but useful specificity. If the joint is difficult to access, image-guided aspiration is reasonable. Sacroiliac, sternoclavicular, and other axial infections deserve early assessment for adjacent osteomyelitis, abscess, or endovascular source. Practical adult native-joint treatment framework Situation Initial approach Source control Typical duration framework Unstable, sepsis, or septic shock Obtain blood cultures and aspirate if this will not meaningfully delay therapy. A common US empiric regimen is vancomycin plus ceftriaxone; use cefepime or another antipseudomonal beta-lactam when resistant gram-negative/Pseudomonas risk is substantial. Urgent orthopedic evaluation and lavage/drainage. Define after organism, drainage, bacteremia, and adjacent infection are known. Stable, no resistant gram-negative risk Aspirate first. Empiric vancomycin plus ceftriaxone is reasonable pending Gram stain and cultures, then narrow promptly. Arthroscopic lavage is commonly preferred for large joints; open debridement may be needed for advanced disease, adhesions, or bone/cartilage destruction. SANJO suggests 1–2 weeks IV followed by 2–4 weeks oral when improving. Evidence is low. Shorter total courses are best supported for hand/wrist infection after adequate drainage. MSSA Cefazolin or an antistaphylococcal penicillin. Drainage remains essential. Usually measured in weeks, not days. Extend for bacteremia complications, adjacent osteomyelitis, delayed drainage, or poor response. MRSA Vancomycin or daptomycin when appropriate; tailor to susceptibility, renal function, bacteremia, and local practice. Drainage remains essential. Often 3–4 weeks for uncomplicated drained arthritis, longer when complicated. Evidence is limited. Streptococci Penicillin/ampicillin or ceftriaxone when susceptible. Drainage. Usually several weeks; clinical response and complexity matter. Enteric gram-negative bacilli Ceftriaxone, cefepime, a carbapenem, or other active beta-lactam according to resistance pattern and syndrome. Active fluoroquinolone or TMP-SMX can be oral completion options in selected patients. Drainage; investigate urinary, abdominal, or bloodstream source when appropriate. Often 3–4 weeks when uncomplicated and well drained; longer for associated endovascular infection, adjacent osteomyelitis, inadequate source control, or a poor clinical response. Pseudomonas Active cefepime, ceftazidime, piperacillin-tazobactam, or another susceptibility-guided antipseudomonal agent; ciprofloxacin can be a high-bioavailability oral option if susceptible and clinically appropriate. Drainage. Commonly 4–6 weeks when complicated. Do not extend merely because the organism is Pseudomonas if the clinical course is uncomplicated and source control is excellent. Gonococcal arthritis / arthritis-dermatitis Ceftriaxone 1 g IV or IM every 24 hours. Treat chlamydia with doxycycline 100 mg twice daily for 7 days if not excluded. Purulent joints may require serial aspiration or operative drainage. After substantial improvement, susceptibility-guided oral transition can occur at 24–48 hours; total treatment is at least 7 days. The two-week trial is easy to overgeneralize A randomized trial found 2 weeks noninferior to 4 weeks after surgical drainage, but 99 of 154 cases involved the hand or wrist. It should not be used as blanket evidence for two weeks in a bacteremic native knee, shoulder, hip, axial joint, or infection with adjacent osteomyelitis. Failure to improve should trigger repeat examination and reassessment of drainage, not automatic broadening or extension. Sources sanjo , 2v4 , gono</a:t>
            </a:r>
          </a:p>
          <a:p xmlns:a="http://schemas.openxmlformats.org/drawingml/2006/main">
            <a:r>
              <a:t/>
            </a:r>
          </a:p>
          <a:p xmlns:a="http://schemas.openxmlformats.org/drawingml/2006/main">
            <a:r>
              <a:t>Module section: https://docarcshot.github.io/id-practice-update/lectures/Bone_and_Joint_Infections_Septic_Arthritis_PJI_Osteomyelitis.html#septic</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Native septic arthritis is a drainage problem plus an antibiotic problem Before antibiotics Unless the patient is septic or unstable, aspirate the joint promptly before starting antibiotics. Send synovial bacterial culture, cell count with differential, and crystals; obtain blood cultures when febrile, systemically ill, or bacteremia is plausible. A synovial WBC above 50,000/µL increases suspicion but is not diagnostic, a lower count does not exclude infection, and crystals do not exclude concomitant bacterial arthritis. Gram stain has limited sensitivity but useful specificity. If the joint is difficult to access, image-guided aspiration is reasonable. Sacroiliac, sternoclavicular, and other axial infections deserve early assessment for adjacent osteomyelitis, abscess, or endovascular source. Practical adult native-joint treatment framework Situation Initial approach Source control Typical duration framework Unstable, sepsis, or septic shock Obtain blood cultures and aspirate if this will not meaningfully delay therapy. A common US empiric regimen is vancomycin plus ceftriaxone; use cefepime or another antipseudomonal beta-lactam when resistant gram-negative/Pseudomonas risk is substantial. Urgent orthopedic evaluation and lavage/drainage. Define after organism, drainage, bacteremia, and adjacent infection are known. Stable, no resistant gram-negative risk Aspirate first. Empiric vancomycin plus ceftriaxone is reasonable pending Gram stain and cultures, then narrow promptly. Arthroscopic lavage is commonly preferred for large joints; open debridement may be needed for advanced disease, adhesions, or bone/cartilage destruction. SANJO suggests 1–2 weeks IV followed by 2–4 weeks oral when improving. Evidence is low. Shorter total courses are best supported for hand/wrist infection after adequate drainage. MSSA Cefazolin or an antistaphylococcal penicillin. Drainage remains essential. Usually measured in weeks, not days. Extend for bacteremia complications, adjacent osteomyelitis, delayed drainage, or poor response. MRSA Vancomycin or daptomycin when appropriate; tailor to susceptibility, renal function, bacteremia, and local practice. Drainage remains essential. Often 3–4 weeks for uncomplicated drained arthritis, longer when complicated. Evidence is limited. Streptococci Penicillin/ampicillin or ceftriaxone when susceptible. Drainage. Usually several weeks; clinical response and complexity matter. Enteric gram-negative bacilli Ceftriaxone, cefepime, a carbapenem, or other active beta-lactam according to resistance pattern and syndrome. Active fluoroquinolone or TMP-SMX can be oral completion options in selected patients. Drainage; investigate urinary, abdominal, or bloodstream source when appropriate. Often 3–4 weeks when uncomplicated and well drained; longer for associated endovascular infection, adjacent osteomyelitis, inadequate source control, or a poor clinical response. Pseudomonas Active cefepime, ceftazidime, piperacillin-tazobactam, or another susceptibility-guided antipseudomonal agent; ciprofloxacin can be a high-bioavailability oral option if susceptible and clinically appropriate. Drainage. Commonly 4–6 weeks when complicated. Do not extend merely because the organism is Pseudomonas if the clinical course is uncomplicated and source control is excellent. Gonococcal arthritis / arthritis-dermatitis Ceftriaxone 1 g IV or IM every 24 hours. Treat chlamydia with doxycycline 100 mg twice daily for 7 days if not excluded. Purulent joints may require serial aspiration or operative drainage. After substantial improvement, susceptibility-guided oral transition can occur at 24–48 hours; total treatment is at least 7 days. The two-week trial is easy to overgeneralize A randomized trial found 2 weeks noninferior to 4 weeks after surgical drainage, but 99 of 154 cases involved the hand or wrist. It should not be used as blanket evidence for two weeks in a bacteremic native knee, shoulder, hip, axial joint, or infection with adjacent osteomyelitis. Failure to improve should trigger repeat examination and reassessment of drainage, not automatic broadening or extension. Sources sanjo , 2v4 , gono</a:t>
            </a:r>
          </a:p>
          <a:p xmlns:a="http://schemas.openxmlformats.org/drawingml/2006/main">
            <a:r>
              <a:t/>
            </a:r>
          </a:p>
          <a:p xmlns:a="http://schemas.openxmlformats.org/drawingml/2006/main">
            <a:r>
              <a:t>Module section: https://docarcshot.github.io/id-practice-update/lectures/Bone_and_Joint_Infections_Septic_Arthritis_PJI_Osteomyelitis.html#septic</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Native septic arthritis is a drainage problem plus an antibiotic problem Before antibiotics Unless the patient is septic or unstable, aspirate the joint promptly before starting antibiotics. Send synovial bacterial culture, cell count with differential, and crystals; obtain blood cultures when febrile, systemically ill, or bacteremia is plausible. A synovial WBC above 50,000/µL increases suspicion but is not diagnostic, a lower count does not exclude infection, and crystals do not exclude concomitant bacterial arthritis. Gram stain has limited sensitivity but useful specificity. If the joint is difficult to access, image-guided aspiration is reasonable. Sacroiliac, sternoclavicular, and other axial infections deserve early assessment for adjacent osteomyelitis, abscess, or endovascular source. Practical adult native-joint treatment framework Situation Initial approach Source control Typical duration framework Unstable, sepsis, or septic shock Obtain blood cultures and aspirate if this will not meaningfully delay therapy. A common US empiric regimen is vancomycin plus ceftriaxone; use cefepime or another antipseudomonal beta-lactam when resistant gram-negative/Pseudomonas risk is substantial. Urgent orthopedic evaluation and lavage/drainage. Define after organism, drainage, bacteremia, and adjacent infection are known. Stable, no resistant gram-negative risk Aspirate first. Empiric vancomycin plus ceftriaxone is reasonable pending Gram stain and cultures, then narrow promptly. Arthroscopic lavage is commonly preferred for large joints; open debridement may be needed for advanced disease, adhesions, or bone/cartilage destruction. SANJO suggests 1–2 weeks IV followed by 2–4 weeks oral when improving. Evidence is low. Shorter total courses are best supported for hand/wrist infection after adequate drainage. MSSA Cefazolin or an antistaphylococcal penicillin. Drainage remains essential. Usually measured in weeks, not days. Extend for bacteremia complications, adjacent osteomyelitis, delayed drainage, or poor response. MRSA Vancomycin or daptomycin when appropriate; tailor to susceptibility, renal function, bacteremia, and local practice. Drainage remains essential. Often 3–4 weeks for uncomplicated drained arthritis, longer when complicated. Evidence is limited. Streptococci Penicillin/ampicillin or ceftriaxone when susceptible. Drainage. Usually several weeks; clinical response and complexity matter. Enteric gram-negative bacilli Ceftriaxone, cefepime, a carbapenem, or other active beta-lactam according to resistance pattern and syndrome. Active fluoroquinolone or TMP-SMX can be oral completion options in selected patients. Drainage; investigate urinary, abdominal, or bloodstream source when appropriate. Often 3–4 weeks when uncomplicated and well drained; longer for associated endovascular infection, adjacent osteomyelitis, inadequate source control, or a poor clinical response. Pseudomonas Active cefepime, ceftazidime, piperacillin-tazobactam, or another susceptibility-guided antipseudomonal agent; ciprofloxacin can be a high-bioavailability oral option if susceptible and clinically appropriate. Drainage. Commonly 4–6 weeks when complicated. Do not extend merely because the organism is Pseudomonas if the clinical course is uncomplicated and source control is excellent. Gonococcal arthritis / arthritis-dermatitis Ceftriaxone 1 g IV or IM every 24 hours. Treat chlamydia with doxycycline 100 mg twice daily for 7 days if not excluded. Purulent joints may require serial aspiration or operative drainage. After substantial improvement, susceptibility-guided oral transition can occur at 24–48 hours; total treatment is at least 7 days. The two-week trial is easy to overgeneralize A randomized trial found 2 weeks noninferior to 4 weeks after surgical drainage, but 99 of 154 cases involved the hand or wrist. It should not be used as blanket evidence for two weeks in a bacteremic native knee, shoulder, hip, axial joint, or infection with adjacent osteomyelitis. Failure to improve should trigger repeat examination and reassessment of drainage, not automatic broadening or extension. Sources sanjo , 2v4 , gono</a:t>
            </a:r>
          </a:p>
          <a:p xmlns:a="http://schemas.openxmlformats.org/drawingml/2006/main">
            <a:r>
              <a:t/>
            </a:r>
          </a:p>
          <a:p xmlns:a="http://schemas.openxmlformats.org/drawingml/2006/main">
            <a:r>
              <a:t>Module section: https://docarcshot.github.io/id-practice-update/lectures/Bone_and_Joint_Infections_Septic_Arthritis_PJI_Osteomyelitis.html#septic</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PJI diagnosis starts with timing, implant status, and the quality of the specimen The 2021 EBJIS framework classifies PJI as infection unlikely, likely, or confirmed rather than relying on one cutoff. A sinus tract that communicates with the prosthesis confirms PJI. Acute pain in a previously well-functioning prosthesis, persistent drainage, unexplained chronic pain, or loosening should trigger evaluation. ESR and CRP are useful screening tests when the diagnosis is not already obvious, but normal markers do not exclude indolent PJI. Preoperative sampling Aspirate the joint when the diagnosis is uncertain or when microbiology will change treatment. Send synovial cell count/differential and aerobic/anaerobic cultures. Exact cutoffs vary by joint, time from implantation, and criteria set. If clinically stable Avoid starting empiric therapeutic antibiotics just because PJI is suspected. When medically safe, withholding therapeutic antibiotics for about 2 weeks before aspiration or operative cultures can improve yield. Coordinate perioperative prophylaxis separately with the surgical team; this is not a blanket instruction to omit prophylaxis at reimplantation. Blood cultures Obtain them with fever, acute onset, systemic illness, S. aureus, or concern for hematogenous seeding. At surgery Obtain at least 5 deep tissue specimens using separate instruments for aerobic and anaerobic culture. Do not use a superficial sinus or wound swab to select months of therapy. Adjunct diagnostics Synovial alpha-defensin, leukocyte esterase, optimized culture techniques, histopathology, sonication, and molecular methods can help in selected culture-negative or equivocal cases. None converts a low-quality specimen into a definitive etiologic diagnosis. Sources pji-2013 , pji-review</a:t>
            </a:r>
          </a:p>
          <a:p xmlns:a="http://schemas.openxmlformats.org/drawingml/2006/main">
            <a:r>
              <a:t/>
            </a:r>
          </a:p>
          <a:p xmlns:a="http://schemas.openxmlformats.org/drawingml/2006/main">
            <a:r>
              <a:t>Module section: https://docarcshot.github.io/id-practice-update/lectures/Bone_and_Joint_Infections_Septic_Arthritis_PJI_Osteomyelitis.html#pji-diagnosis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PJI diagnosis starts with timing, implant status, and the quality of the specimen The 2021 EBJIS framework classifies PJI as infection unlikely, likely, or confirmed rather than relying on one cutoff. A sinus tract that communicates with the prosthesis confirms PJI. Acute pain in a previously well-functioning prosthesis, persistent drainage, unexplained chronic pain, or loosening should trigger evaluation. ESR and CRP are useful screening tests when the diagnosis is not already obvious, but normal markers do not exclude indolent PJI. Preoperative sampling Aspirate the joint when the diagnosis is uncertain or when microbiology will change treatment. Send synovial cell count/differential and aerobic/anaerobic cultures. Exact cutoffs vary by joint, time from implantation, and criteria set. If clinically stable Avoid starting empiric therapeutic antibiotics just because PJI is suspected. When medically safe, withholding therapeutic antibiotics for about 2 weeks before aspiration or operative cultures can improve yield. Coordinate perioperative prophylaxis separately with the surgical team; this is not a blanket instruction to omit prophylaxis at reimplantation. Blood cultures Obtain them with fever, acute onset, systemic illness, S. aureus, or concern for hematogenous seeding. At surgery Obtain at least 5 deep tissue specimens using separate instruments for aerobic and anaerobic culture. Do not use a superficial sinus or wound swab to select months of therapy. Adjunct diagnostics Synovial alpha-defensin, leukocyte esterase, optimized culture techniques, histopathology, sonication, and molecular methods can help in selected culture-negative or equivocal cases. None converts a low-quality specimen into a definitive etiologic diagnosis. Sources pji-2013 , pji-review</a:t>
            </a:r>
          </a:p>
          <a:p xmlns:a="http://schemas.openxmlformats.org/drawingml/2006/main">
            <a:r>
              <a:t/>
            </a:r>
          </a:p>
          <a:p xmlns:a="http://schemas.openxmlformats.org/drawingml/2006/main">
            <a:r>
              <a:t>Module section: https://docarcshot.github.io/id-practice-update/lectures/Bone_and_Joint_Infections_Septic_Arthritis_PJI_Osteomyelitis.html#pji-diagnosis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PJI diagnosis starts with timing, implant status, and the quality of the specimen The 2021 EBJIS framework classifies PJI as infection unlikely, likely, or confirmed rather than relying on one cutoff. A sinus tract that communicates with the prosthesis confirms PJI. Acute pain in a previously well-functioning prosthesis, persistent drainage, unexplained chronic pain, or loosening should trigger evaluation. ESR and CRP are useful screening tests when the diagnosis is not already obvious, but normal markers do not exclude indolent PJI. Preoperative sampling Aspirate the joint when the diagnosis is uncertain or when microbiology will change treatment. Send synovial cell count/differential and aerobic/anaerobic cultures. Exact cutoffs vary by joint, time from implantation, and criteria set. If clinically stable Avoid starting empiric therapeutic antibiotics just because PJI is suspected. When medically safe, withholding therapeutic antibiotics for about 2 weeks before aspiration or operative cultures can improve yield. Coordinate perioperative prophylaxis separately with the surgical team; this is not a blanket instruction to omit prophylaxis at reimplantation. Blood cultures Obtain them with fever, acute onset, systemic illness, S. aureus, or concern for hematogenous seeding. At surgery Obtain at least 5 deep tissue specimens using separate instruments for aerobic and anaerobic culture. Do not use a superficial sinus or wound swab to select months of therapy. Adjunct diagnostics Synovial alpha-defensin, leukocyte esterase, optimized culture techniques, histopathology, sonication, and molecular methods can help in selected culture-negative or equivocal cases. None converts a low-quality specimen into a definitive etiologic diagnosis. Sources pji-2013 , pji-review</a:t>
            </a:r>
          </a:p>
          <a:p xmlns:a="http://schemas.openxmlformats.org/drawingml/2006/main">
            <a:r>
              <a:t/>
            </a:r>
          </a:p>
          <a:p xmlns:a="http://schemas.openxmlformats.org/drawingml/2006/main">
            <a:r>
              <a:t>Module section: https://docarcshot.github.io/id-practice-update/lectures/Bone_and_Joint_Infections_Septic_Arthritis_PJI_Osteomyelitis.html#pji-diagnosis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PJI diagnosis starts with timing, implant status, and the quality of the specimen The 2021 EBJIS framework classifies PJI as infection unlikely, likely, or confirmed rather than relying on one cutoff. A sinus tract that communicates with the prosthesis confirms PJI. Acute pain in a previously well-functioning prosthesis, persistent drainage, unexplained chronic pain, or loosening should trigger evaluation. ESR and CRP are useful screening tests when the diagnosis is not already obvious, but normal markers do not exclude indolent PJI. Preoperative sampling Aspirate the joint when the diagnosis is uncertain or when microbiology will change treatment. Send synovial cell count/differential and aerobic/anaerobic cultures. Exact cutoffs vary by joint, time from implantation, and criteria set. If clinically stable Avoid starting empiric therapeutic antibiotics just because PJI is suspected. When medically safe, withholding therapeutic antibiotics for about 2 weeks before aspiration or operative cultures can improve yield. Coordinate perioperative prophylaxis separately with the surgical team; this is not a blanket instruction to omit prophylaxis at reimplantation. Blood cultures Obtain them with fever, acute onset, systemic illness, S. aureus, or concern for hematogenous seeding. At surgery Obtain at least 5 deep tissue specimens using separate instruments for aerobic and anaerobic culture. Do not use a superficial sinus or wound swab to select months of therapy. Adjunct diagnostics Synovial alpha-defensin, leukocyte esterase, optimized culture techniques, histopathology, sonication, and molecular methods can help in selected culture-negative or equivocal cases. None converts a low-quality specimen into a definitive etiologic diagnosis. Sources pji-2013 , pji-review</a:t>
            </a:r>
          </a:p>
          <a:p xmlns:a="http://schemas.openxmlformats.org/drawingml/2006/main">
            <a:r>
              <a:t/>
            </a:r>
          </a:p>
          <a:p xmlns:a="http://schemas.openxmlformats.org/drawingml/2006/main">
            <a:r>
              <a:t>Module section: https://docarcshot.github.io/id-practice-update/lectures/Bone_and_Joint_Infections_Septic_Arthritis_PJI_Osteomyelitis.html#pji-diagnosis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PJI diagnosis starts with timing, implant status, and the quality of the specimen The 2021 EBJIS framework classifies PJI as infection unlikely, likely, or confirmed rather than relying on one cutoff. A sinus tract that communicates with the prosthesis confirms PJI. Acute pain in a previously well-functioning prosthesis, persistent drainage, unexplained chronic pain, or loosening should trigger evaluation. ESR and CRP are useful screening tests when the diagnosis is not already obvious, but normal markers do not exclude indolent PJI. Preoperative sampling Aspirate the joint when the diagnosis is uncertain or when microbiology will change treatment. Send synovial cell count/differential and aerobic/anaerobic cultures. Exact cutoffs vary by joint, time from implantation, and criteria set. If clinically stable Avoid starting empiric therapeutic antibiotics just because PJI is suspected. When medically safe, withholding therapeutic antibiotics for about 2 weeks before aspiration or operative cultures can improve yield. Coordinate perioperative prophylaxis separately with the surgical team; this is not a blanket instruction to omit prophylaxis at reimplantation. Blood cultures Obtain them with fever, acute onset, systemic illness, S. aureus, or concern for hematogenous seeding. At surgery Obtain at least 5 deep tissue specimens using separate instruments for aerobic and anaerobic culture. Do not use a superficial sinus or wound swab to select months of therapy. Adjunct diagnostics Synovial alpha-defensin, leukocyte esterase, optimized culture techniques, histopathology, sonication, and molecular methods can help in selected culture-negative or equivocal cases. None converts a low-quality specimen into a definitive etiologic diagnosis. Sources pji-2013 , pji-review</a:t>
            </a:r>
          </a:p>
          <a:p xmlns:a="http://schemas.openxmlformats.org/drawingml/2006/main">
            <a:r>
              <a:t/>
            </a:r>
          </a:p>
          <a:p xmlns:a="http://schemas.openxmlformats.org/drawingml/2006/main">
            <a:r>
              <a:t>Module section: https://docarcshot.github.io/id-practice-update/lectures/Bone_and_Joint_Infections_Septic_Arthritis_PJI_Osteomyelitis.html#pji-diagnosis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PJI diagnosis starts with timing, implant status, and the quality of the specimen The 2021 EBJIS framework classifies PJI as infection unlikely, likely, or confirmed rather than relying on one cutoff. A sinus tract that communicates with the prosthesis confirms PJI. Acute pain in a previously well-functioning prosthesis, persistent drainage, unexplained chronic pain, or loosening should trigger evaluation. ESR and CRP are useful screening tests when the diagnosis is not already obvious, but normal markers do not exclude indolent PJI. Preoperative sampling Aspirate the joint when the diagnosis is uncertain or when microbiology will change treatment. Send synovial cell count/differential and aerobic/anaerobic cultures. Exact cutoffs vary by joint, time from implantation, and criteria set. If clinically stable Avoid starting empiric therapeutic antibiotics just because PJI is suspected. When medically safe, withholding therapeutic antibiotics for about 2 weeks before aspiration or operative cultures can improve yield. Coordinate perioperative prophylaxis separately with the surgical team; this is not a blanket instruction to omit prophylaxis at reimplantation. Blood cultures Obtain them with fever, acute onset, systemic illness, S. aureus, or concern for hematogenous seeding. At surgery Obtain at least 5 deep tissue specimens using separate instruments for aerobic and anaerobic culture. Do not use a superficial sinus or wound swab to select months of therapy. Adjunct diagnostics Synovial alpha-defensin, leukocyte esterase, optimized culture techniques, histopathology, sonication, and molecular methods can help in selected culture-negative or equivocal cases. None converts a low-quality specimen into a definitive etiologic diagnosis. Sources pji-2013 , pji-review</a:t>
            </a:r>
          </a:p>
          <a:p xmlns:a="http://schemas.openxmlformats.org/drawingml/2006/main">
            <a:r>
              <a:t/>
            </a:r>
          </a:p>
          <a:p xmlns:a="http://schemas.openxmlformats.org/drawingml/2006/main">
            <a:r>
              <a:t>Module section: https://docarcshot.github.io/id-practice-update/lectures/Bone_and_Joint_Infections_Septic_Arthritis_PJI_Osteomyelitis.html#pji-diagnosis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operation determines the antibiotic strategy in PJI Operative pathways and antibiotic timing Strategy Best fit Immediate postoperative phase Total course and reimplantation plan DAIR with modular-component exchange Acute symptoms for less than about 3 weeks or early postoperative PJI within about 4 weeks; fixed implant, no sinus, acceptable soft tissue, and a usable biofilm-active oral regimen. Open debridement with polyethylene/modular exchange when feasible. Use pathogen-directed therapy; an active oral transition depends on the organism, patient, surgical response, and regimen. For susceptible staphylococci, use rifampin only with an active companion after debridement. The IDSA staphylococcal rifampin-based regimen completes 3 months for hip or 6 months for knee . Other regimens need separate duration decisions. A defined curative course is not indefinite suppression. One-stage exchange Selected chronic PJI with good soft tissue, no sinus tract or major reconstructive barrier, and a known, susceptible, readily treatable organism. Remove all infected components, perform radical debridement, obtain at least 5 deep specimens with separate instruments, and implant the new prosthesis in the same operation. Use organism-directed therapy. Transition to an active oral agent may be appropriate, but no fixed IV lead-in applies to all cases. IDSA describes 2–6 weeks of IV therapy with rifampin, followed by an oral companion and rifampin to complete 3 months for susceptible staphylococci, and 4–6 weeks of pathogen-directed therapy for other organisms. Longer courses require case-specific justification; indefinite suppression is a separate decision. Two-stage exchange: first stage Chronic PJI, compromised soft tissue, difficult or unknown organism, major bone loss, or failed DAIR/one-stage strategy. Remove prosthesis, debride, obtain deep specimens, and place an antibiotic spacer when appropriate. Give pathogen-directed therapy; IDSA permits IV or highly bioavailable oral treatment. Route and transition depend on the organism, patient, and regimen. IDSA recommends 4–6 weeks after resection. The need and length of any antibiotic-free period before reimplantation are uncertain; no fixed holiday is established. Two-stage exchange: reimplantation Clinical course, soft tissue, surgical findings, inflammatory markers, and any aspiration/culture data support infection control. Obtain multiple deep specimens at reimplantation. Give indicated perioperative surgical prophylaxis when the prior infection is believed eradicated. This is distinct from restarting a prolonged therapeutic course; base that decision on operative findings, microbiology, and the joint-team assessment. Concordant growth in at least 2 specimens supports persistent infection. Do not dismiss a single virulent isolate such as S. aureus ; interpret it with histology, operative findings, and the joint-team assessment. Decide the need and duration of additional treatment case by case. Negative cultures without residual infection do not by themselves justify prolonged postoperative therapy. Resection arthroplasty / arthrodesis / amputation When reconstruction is not feasible, repeated curative attempts have failed, or patient goals favor definitive source removal. Obtain deep cultures and treat residual infection. The initial IV-to-oral decision follows stability, source control, susceptibility, absorption, and drug interactions. Usually 4–6 weeks if residual infected tissue remains. If all infected tissue is removed and there is no bacteremia or residual soft-tissue infection, prolonged therapy may not be needed. No curative surgery Operative risk, patient preference, or anatomy makes curative source control unacceptable. Treat acute sepsis, abscess, or bacteremia first and obtain the best possible microbiology. Then consider culture-directed suppressive therapy only if there is a defined organism, active tolerable oral option, and meaningful functional goal. Suppression is noncurative and can fail from resistance, toxicity, loosening, sinus formation, or progression. Local standard for DAIR For susceptible staphylococcal DAIR treated with a rifampin-based regimen, IDSA recommends 3 months for hip and 6 months for knee. DATIPO did not establish noninferiority of 6 versus 12 weeks across surgically managed PJI. Duration for other organisms and regimens needs case-specific review. Do not overgeneralize SOLARIO SOLARIO found that no more than 7 days of systemic antibiotics was noninferior to at least 4 weeks after definitive curative surgery plus a local antibiotic carrier. DAIR and suppressive procedures were excluded, and the PJI subgroup was small and not independently powered. The trial is practice-informing for carefully selected definitive surgery, but it does not shorten the local DAIR, one-stage, or two-stage pathways. Rifampin rules Use rifampin for a susceptible staphylococcal biofilm infection only as part of combination therapy. Never use rifampin monotherapy. Do not add it empirically before knowing the organism. Reduce the bacterial burden surgically first. Review drug interactions, hepatotoxicity, absorption, and companion-drug activity. Fluoroquinolones have the strongest companion evidence, but other agents are used when appropriate. The exact best time to start rifampin is not established. A rigid postoperative day rule is not evidence based. Sources pji-2013 , datipo , solario , wiki , pji-review</a:t>
            </a:r>
          </a:p>
          <a:p xmlns:a="http://schemas.openxmlformats.org/drawingml/2006/main">
            <a:r>
              <a:t/>
            </a:r>
          </a:p>
          <a:p xmlns:a="http://schemas.openxmlformats.org/drawingml/2006/main">
            <a:r>
              <a:t>Module section: https://docarcshot.github.io/id-practice-update/lectures/Bone_and_Joint_Infections_Septic_Arthritis_PJI_Osteomyelitis.html#pji-treatment</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operation determines the antibiotic strategy in PJI Operative pathways and antibiotic timing Strategy Best fit Immediate postoperative phase Total course and reimplantation plan DAIR with modular-component exchange Acute symptoms for less than about 3 weeks or early postoperative PJI within about 4 weeks; fixed implant, no sinus, acceptable soft tissue, and a usable biofilm-active oral regimen. Open debridement with polyethylene/modular exchange when feasible. Use pathogen-directed therapy; an active oral transition depends on the organism, patient, surgical response, and regimen. For susceptible staphylococci, use rifampin only with an active companion after debridement. The IDSA staphylococcal rifampin-based regimen completes 3 months for hip or 6 months for knee . Other regimens need separate duration decisions. A defined curative course is not indefinite suppression. One-stage exchange Selected chronic PJI with good soft tissue, no sinus tract or major reconstructive barrier, and a known, susceptible, readily treatable organism. Remove all infected components, perform radical debridement, obtain at least 5 deep specimens with separate instruments, and implant the new prosthesis in the same operation. Use organism-directed therapy. Transition to an active oral agent may be appropriate, but no fixed IV lead-in applies to all cases. IDSA describes 2–6 weeks of IV therapy with rifampin, followed by an oral companion and rifampin to complete 3 months for susceptible staphylococci, and 4–6 weeks of pathogen-directed therapy for other organisms. Longer courses require case-specific justification; indefinite suppression is a separate decision. Two-stage exchange: first stage Chronic PJI, compromised soft tissue, difficult or unknown organism, major bone loss, or failed DAIR/one-stage strategy. Remove prosthesis, debride, obtain deep specimens, and place an antibiotic spacer when appropriate. Give pathogen-directed therapy; IDSA permits IV or highly bioavailable oral treatment. Route and transition depend on the organism, patient, and regimen. IDSA recommends 4–6 weeks after resection. The need and length of any antibiotic-free period before reimplantation are uncertain; no fixed holiday is established. Two-stage exchange: reimplantation Clinical course, soft tissue, surgical findings, inflammatory markers, and any aspiration/culture data support infection control. Obtain multiple deep specimens at reimplantation. Give indicated perioperative surgical prophylaxis when the prior infection is believed eradicated. This is distinct from restarting a prolonged therapeutic course; base that decision on operative findings, microbiology, and the joint-team assessment. Concordant growth in at least 2 specimens supports persistent infection. Do not dismiss a single virulent isolate such as S. aureus ; interpret it with histology, operative findings, and the joint-team assessment. Decide the need and duration of additional treatment case by case. Negative cultures without residual infection do not by themselves justify prolonged postoperative therapy. Resection arthroplasty / arthrodesis / amputation When reconstruction is not feasible, repeated curative attempts have failed, or patient goals favor definitive source removal. Obtain deep cultures and treat residual infection. The initial IV-to-oral decision follows stability, source control, susceptibility, absorption, and drug interactions. Usually 4–6 weeks if residual infected tissue remains. If all infected tissue is removed and there is no bacteremia or residual soft-tissue infection, prolonged therapy may not be needed. No curative surgery Operative risk, patient preference, or anatomy makes curative source control unacceptable. Treat acute sepsis, abscess, or bacteremia first and obtain the best possible microbiology. Then consider culture-directed suppressive therapy only if there is a defined organism, active tolerable oral option, and meaningful functional goal. Suppression is noncurative and can fail from resistance, toxicity, loosening, sinus formation, or progression. Local standard for DAIR For susceptible staphylococcal DAIR treated with a rifampin-based regimen, IDSA recommends 3 months for hip and 6 months for knee. DATIPO did not establish noninferiority of 6 versus 12 weeks across surgically managed PJI. Duration for other organisms and regimens needs case-specific review. Do not overgeneralize SOLARIO SOLARIO found that no more than 7 days of systemic antibiotics was noninferior to at least 4 weeks after definitive curative surgery plus a local antibiotic carrier. DAIR and suppressive procedures were excluded, and the PJI subgroup was small and not independently powered. The trial is practice-informing for carefully selected definitive surgery, but it does not shorten the local DAIR, one-stage, or two-stage pathways. Rifampin rules Use rifampin for a susceptible staphylococcal biofilm infection only as part of combination therapy. Never use rifampin monotherapy. Do not add it empirically before knowing the organism. Reduce the bacterial burden surgically first. Review drug interactions, hepatotoxicity, absorption, and companion-drug activity. Fluoroquinolones have the strongest companion evidence, but other agents are used when appropriate. The exact best time to start rifampin is not established. A rigid postoperative day rule is not evidence based. Sources pji-2013 , datipo , solario , wiki , pji-review</a:t>
            </a:r>
          </a:p>
          <a:p xmlns:a="http://schemas.openxmlformats.org/drawingml/2006/main">
            <a:r>
              <a:t/>
            </a:r>
          </a:p>
          <a:p xmlns:a="http://schemas.openxmlformats.org/drawingml/2006/main">
            <a:r>
              <a:t>Module section: https://docarcshot.github.io/id-practice-update/lectures/Bone_and_Joint_Infections_Septic_Arthritis_PJI_Osteomyelitis.html#pji-treatment</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operation determines the antibiotic strategy in PJI Operative pathways and antibiotic timing Strategy Best fit Immediate postoperative phase Total course and reimplantation plan DAIR with modular-component exchange Acute symptoms for less than about 3 weeks or early postoperative PJI within about 4 weeks; fixed implant, no sinus, acceptable soft tissue, and a usable biofilm-active oral regimen. Open debridement with polyethylene/modular exchange when feasible. Use pathogen-directed therapy; an active oral transition depends on the organism, patient, surgical response, and regimen. For susceptible staphylococci, use rifampin only with an active companion after debridement. The IDSA staphylococcal rifampin-based regimen completes 3 months for hip or 6 months for knee . Other regimens need separate duration decisions. A defined curative course is not indefinite suppression. One-stage exchange Selected chronic PJI with good soft tissue, no sinus tract or major reconstructive barrier, and a known, susceptible, readily treatable organism. Remove all infected components, perform radical debridement, obtain at least 5 deep specimens with separate instruments, and implant the new prosthesis in the same operation. Use organism-directed therapy. Transition to an active oral agent may be appropriate, but no fixed IV lead-in applies to all cases. IDSA describes 2–6 weeks of IV therapy with rifampin, followed by an oral companion and rifampin to complete 3 months for susceptible staphylococci, and 4–6 weeks of pathogen-directed therapy for other organisms. Longer courses require case-specific justification; indefinite suppression is a separate decision. Two-stage exchange: first stage Chronic PJI, compromised soft tissue, difficult or unknown organism, major bone loss, or failed DAIR/one-stage strategy. Remove prosthesis, debride, obtain deep specimens, and place an antibiotic spacer when appropriate. Give pathogen-directed therapy; IDSA permits IV or highly bioavailable oral treatment. Route and transition depend on the organism, patient, and regimen. IDSA recommends 4–6 weeks after resection. The need and length of any antibiotic-free period before reimplantation are uncertain; no fixed holiday is established. Two-stage exchange: reimplantation Clinical course, soft tissue, surgical findings, inflammatory markers, and any aspiration/culture data support infection control. Obtain multiple deep specimens at reimplantation. Give indicated perioperative surgical prophylaxis when the prior infection is believed eradicated. This is distinct from restarting a prolonged therapeutic course; base that decision on operative findings, microbiology, and the joint-team assessment. Concordant growth in at least 2 specimens supports persistent infection. Do not dismiss a single virulent isolate such as S. aureus ; interpret it with histology, operative findings, and the joint-team assessment. Decide the need and duration of additional treatment case by case. Negative cultures without residual infection do not by themselves justify prolonged postoperative therapy. Resection arthroplasty / arthrodesis / amputation When reconstruction is not feasible, repeated curative attempts have failed, or patient goals favor definitive source removal. Obtain deep cultures and treat residual infection. The initial IV-to-oral decision follows stability, source control, susceptibility, absorption, and drug interactions. Usually 4–6 weeks if residual infected tissue remains. If all infected tissue is removed and there is no bacteremia or residual soft-tissue infection, prolonged therapy may not be needed. No curative surgery Operative risk, patient preference, or anatomy makes curative source control unacceptable. Treat acute sepsis, abscess, or bacteremia first and obtain the best possible microbiology. Then consider culture-directed suppressive therapy only if there is a defined organism, active tolerable oral option, and meaningful functional goal. Suppression is noncurative and can fail from resistance, toxicity, loosening, sinus formation, or progression. Local standard for DAIR For susceptible staphylococcal DAIR treated with a rifampin-based regimen, IDSA recommends 3 months for hip and 6 months for knee. DATIPO did not establish noninferiority of 6 versus 12 weeks across surgically managed PJI. Duration for other organisms and regimens needs case-specific review. Do not overgeneralize SOLARIO SOLARIO found that no more than 7 days of systemic antibiotics was noninferior to at least 4 weeks after definitive curative surgery plus a local antibiotic carrier. DAIR and suppressive procedures were excluded, and the PJI subgroup was small and not independently powered. The trial is practice-informing for carefully selected definitive surgery, but it does not shorten the local DAIR, one-stage, or two-stage pathways. Rifampin rules Use rifampin for a susceptible staphylococcal biofilm infection only as part of combination therapy. Never use rifampin monotherapy. Do not add it empirically before knowing the organism. Reduce the bacterial burden surgically first. Review drug interactions, hepatotoxicity, absorption, and companion-drug activity. Fluoroquinolones have the strongest companion evidence, but other agents are used when appropriate. The exact best time to start rifampin is not established. A rigid postoperative day rule is not evidence based. Sources pji-2013 , datipo , solario , wiki , pji-review</a:t>
            </a:r>
          </a:p>
          <a:p xmlns:a="http://schemas.openxmlformats.org/drawingml/2006/main">
            <a:r>
              <a:t/>
            </a:r>
          </a:p>
          <a:p xmlns:a="http://schemas.openxmlformats.org/drawingml/2006/main">
            <a:r>
              <a:t>Module section: https://docarcshot.github.io/id-practice-update/lectures/Bone_and_Joint_Infections_Septic_Arthritis_PJI_Osteomyelitis.html#pji-treatment</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operation determines the antibiotic strategy in PJI Operative pathways and antibiotic timing Strategy Best fit Immediate postoperative phase Total course and reimplantation plan DAIR with modular-component exchange Acute symptoms for less than about 3 weeks or early postoperative PJI within about 4 weeks; fixed implant, no sinus, acceptable soft tissue, and a usable biofilm-active oral regimen. Open debridement with polyethylene/modular exchange when feasible. Use pathogen-directed therapy; an active oral transition depends on the organism, patient, surgical response, and regimen. For susceptible staphylococci, use rifampin only with an active companion after debridement. The IDSA staphylococcal rifampin-based regimen completes 3 months for hip or 6 months for knee . Other regimens need separate duration decisions. A defined curative course is not indefinite suppression. One-stage exchange Selected chronic PJI with good soft tissue, no sinus tract or major reconstructive barrier, and a known, susceptible, readily treatable organism. Remove all infected components, perform radical debridement, obtain at least 5 deep specimens with separate instruments, and implant the new prosthesis in the same operation. Use organism-directed therapy. Transition to an active oral agent may be appropriate, but no fixed IV lead-in applies to all cases. IDSA describes 2–6 weeks of IV therapy with rifampin, followed by an oral companion and rifampin to complete 3 months for susceptible staphylococci, and 4–6 weeks of pathogen-directed therapy for other organisms. Longer courses require case-specific justification; indefinite suppression is a separate decision. Two-stage exchange: first stage Chronic PJI, compromised soft tissue, difficult or unknown organism, major bone loss, or failed DAIR/one-stage strategy. Remove prosthesis, debride, obtain deep specimens, and place an antibiotic spacer when appropriate. Give pathogen-directed therapy; IDSA permits IV or highly bioavailable oral treatment. Route and transition depend on the organism, patient, and regimen. IDSA recommends 4–6 weeks after resection. The need and length of any antibiotic-free period before reimplantation are uncertain; no fixed holiday is established. Two-stage exchange: reimplantation Clinical course, soft tissue, surgical findings, inflammatory markers, and any aspiration/culture data support infection control. Obtain multiple deep specimens at reimplantation. Give indicated perioperative surgical prophylaxis when the prior infection is believed eradicated. This is distinct from restarting a prolonged therapeutic course; base that decision on operative findings, microbiology, and the joint-team assessment. Concordant growth in at least 2 specimens supports persistent infection. Do not dismiss a single virulent isolate such as S. aureus ; interpret it with histology, operative findings, and the joint-team assessment. Decide the need and duration of additional treatment case by case. Negative cultures without residual infection do not by themselves justify prolonged postoperative therapy. Resection arthroplasty / arthrodesis / amputation When reconstruction is not feasible, repeated curative attempts have failed, or patient goals favor definitive source removal. Obtain deep cultures and treat residual infection. The initial IV-to-oral decision follows stability, source control, susceptibility, absorption, and drug interactions. Usually 4–6 weeks if residual infected tissue remains. If all infected tissue is removed and there is no bacteremia or residual soft-tissue infection, prolonged therapy may not be needed. No curative surgery Operative risk, patient preference, or anatomy makes curative source control unacceptable. Treat acute sepsis, abscess, or bacteremia first and obtain the best possible microbiology. Then consider culture-directed suppressive therapy only if there is a defined organism, active tolerable oral option, and meaningful functional goal. Suppression is noncurative and can fail from resistance, toxicity, loosening, sinus formation, or progression. Local standard for DAIR For susceptible staphylococcal DAIR treated with a rifampin-based regimen, IDSA recommends 3 months for hip and 6 months for knee. DATIPO did not establish noninferiority of 6 versus 12 weeks across surgically managed PJI. Duration for other organisms and regimens needs case-specific review. Do not overgeneralize SOLARIO SOLARIO found that no more than 7 days of systemic antibiotics was noninferior to at least 4 weeks after definitive curative surgery plus a local antibiotic carrier. DAIR and suppressive procedures were excluded, and the PJI subgroup was small and not independently powered. The trial is practice-informing for carefully selected definitive surgery, but it does not shorten the local DAIR, one-stage, or two-stage pathways. Rifampin rules Use rifampin for a susceptible staphylococcal biofilm infection only as part of combination therapy. Never use rifampin monotherapy. Do not add it empirically before knowing the organism. Reduce the bacterial burden surgically first. Review drug interactions, hepatotoxicity, absorption, and companion-drug activity. Fluoroquinolones have the strongest companion evidence, but other agents are used when appropriate. The exact best time to start rifampin is not established. A rigid postoperative day rule is not evidence based. Sources pji-2013 , datipo , solario , wiki , pji-review</a:t>
            </a:r>
          </a:p>
          <a:p xmlns:a="http://schemas.openxmlformats.org/drawingml/2006/main">
            <a:r>
              <a:t/>
            </a:r>
          </a:p>
          <a:p xmlns:a="http://schemas.openxmlformats.org/drawingml/2006/main">
            <a:r>
              <a:t>Module section: https://docarcshot.github.io/id-practice-update/lectures/Bone_and_Joint_Infections_Septic_Arthritis_PJI_Osteomyelitis.html#pji-treatment</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operation determines the antibiotic strategy in PJI Operative pathways and antibiotic timing Strategy Best fit Immediate postoperative phase Total course and reimplantation plan DAIR with modular-component exchange Acute symptoms for less than about 3 weeks or early postoperative PJI within about 4 weeks; fixed implant, no sinus, acceptable soft tissue, and a usable biofilm-active oral regimen. Open debridement with polyethylene/modular exchange when feasible. Use pathogen-directed therapy; an active oral transition depends on the organism, patient, surgical response, and regimen. For susceptible staphylococci, use rifampin only with an active companion after debridement. The IDSA staphylococcal rifampin-based regimen completes 3 months for hip or 6 months for knee . Other regimens need separate duration decisions. A defined curative course is not indefinite suppression. One-stage exchange Selected chronic PJI with good soft tissue, no sinus tract or major reconstructive barrier, and a known, susceptible, readily treatable organism. Remove all infected components, perform radical debridement, obtain at least 5 deep specimens with separate instruments, and implant the new prosthesis in the same operation. Use organism-directed therapy. Transition to an active oral agent may be appropriate, but no fixed IV lead-in applies to all cases. IDSA describes 2–6 weeks of IV therapy with rifampin, followed by an oral companion and rifampin to complete 3 months for susceptible staphylococci, and 4–6 weeks of pathogen-directed therapy for other organisms. Longer courses require case-specific justification; indefinite suppression is a separate decision. Two-stage exchange: first stage Chronic PJI, compromised soft tissue, difficult or unknown organism, major bone loss, or failed DAIR/one-stage strategy. Remove prosthesis, debride, obtain deep specimens, and place an antibiotic spacer when appropriate. Give pathogen-directed therapy; IDSA permits IV or highly bioavailable oral treatment. Route and transition depend on the organism, patient, and regimen. IDSA recommends 4–6 weeks after resection. The need and length of any antibiotic-free period before reimplantation are uncertain; no fixed holiday is established. Two-stage exchange: reimplantation Clinical course, soft tissue, surgical findings, inflammatory markers, and any aspiration/culture data support infection control. Obtain multiple deep specimens at reimplantation. Give indicated perioperative surgical prophylaxis when the prior infection is believed eradicated. This is distinct from restarting a prolonged therapeutic course; base that decision on operative findings, microbiology, and the joint-team assessment. Concordant growth in at least 2 specimens supports persistent infection. Do not dismiss a single virulent isolate such as S. aureus ; interpret it with histology, operative findings, and the joint-team assessment. Decide the need and duration of additional treatment case by case. Negative cultures without residual infection do not by themselves justify prolonged postoperative therapy. Resection arthroplasty / arthrodesis / amputation When reconstruction is not feasible, repeated curative attempts have failed, or patient goals favor definitive source removal. Obtain deep cultures and treat residual infection. The initial IV-to-oral decision follows stability, source control, susceptibility, absorption, and drug interactions. Usually 4–6 weeks if residual infected tissue remains. If all infected tissue is removed and there is no bacteremia or residual soft-tissue infection, prolonged therapy may not be needed. No curative surgery Operative risk, patient preference, or anatomy makes curative source control unacceptable. Treat acute sepsis, abscess, or bacteremia first and obtain the best possible microbiology. Then consider culture-directed suppressive therapy only if there is a defined organism, active tolerable oral option, and meaningful functional goal. Suppression is noncurative and can fail from resistance, toxicity, loosening, sinus formation, or progression. Local standard for DAIR For susceptible staphylococcal DAIR treated with a rifampin-based regimen, IDSA recommends 3 months for hip and 6 months for knee. DATIPO did not establish noninferiority of 6 versus 12 weeks across surgically managed PJI. Duration for other organisms and regimens needs case-specific review. Do not overgeneralize SOLARIO SOLARIO found that no more than 7 days of systemic antibiotics was noninferior to at least 4 weeks after definitive curative surgery plus a local antibiotic carrier. DAIR and suppressive procedures were excluded, and the PJI subgroup was small and not independently powered. The trial is practice-informing for carefully selected definitive surgery, but it does not shorten the local DAIR, one-stage, or two-stage pathways. Rifampin rules Use rifampin for a susceptible staphylococcal biofilm infection only as part of combination therapy. Never use rifampin monotherapy. Do not add it empirically before knowing the organism. Reduce the bacterial burden surgically first. Review drug interactions, hepatotoxicity, absorption, and companion-drug activity. Fluoroquinolones have the strongest companion evidence, but other agents are used when appropriate. The exact best time to start rifampin is not established. A rigid postoperative day rule is not evidence based. Sources pji-2013 , datipo , solario , wiki , pji-review</a:t>
            </a:r>
          </a:p>
          <a:p xmlns:a="http://schemas.openxmlformats.org/drawingml/2006/main">
            <a:r>
              <a:t/>
            </a:r>
          </a:p>
          <a:p xmlns:a="http://schemas.openxmlformats.org/drawingml/2006/main">
            <a:r>
              <a:t>Module section: https://docarcshot.github.io/id-practice-update/lectures/Bone_and_Joint_Infections_Septic_Arthritis_PJI_Osteomyelitis.html#pji-treatment</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operation determines the antibiotic strategy in PJI Operative pathways and antibiotic timing Strategy Best fit Immediate postoperative phase Total course and reimplantation plan DAIR with modular-component exchange Acute symptoms for less than about 3 weeks or early postoperative PJI within about 4 weeks; fixed implant, no sinus, acceptable soft tissue, and a usable biofilm-active oral regimen. Open debridement with polyethylene/modular exchange when feasible. Use pathogen-directed therapy; an active oral transition depends on the organism, patient, surgical response, and regimen. For susceptible staphylococci, use rifampin only with an active companion after debridement. The IDSA staphylococcal rifampin-based regimen completes 3 months for hip or 6 months for knee . Other regimens need separate duration decisions. A defined curative course is not indefinite suppression. One-stage exchange Selected chronic PJI with good soft tissue, no sinus tract or major reconstructive barrier, and a known, susceptible, readily treatable organism. Remove all infected components, perform radical debridement, obtain at least 5 deep specimens with separate instruments, and implant the new prosthesis in the same operation. Use organism-directed therapy. Transition to an active oral agent may be appropriate, but no fixed IV lead-in applies to all cases. IDSA describes 2–6 weeks of IV therapy with rifampin, followed by an oral companion and rifampin to complete 3 months for susceptible staphylococci, and 4–6 weeks of pathogen-directed therapy for other organisms. Longer courses require case-specific justification; indefinite suppression is a separate decision. Two-stage exchange: first stage Chronic PJI, compromised soft tissue, difficult or unknown organism, major bone loss, or failed DAIR/one-stage strategy. Remove prosthesis, debride, obtain deep specimens, and place an antibiotic spacer when appropriate. Give pathogen-directed therapy; IDSA permits IV or highly bioavailable oral treatment. Route and transition depend on the organism, patient, and regimen. IDSA recommends 4–6 weeks after resection. The need and length of any antibiotic-free period before reimplantation are uncertain; no fixed holiday is established. Two-stage exchange: reimplantation Clinical course, soft tissue, surgical findings, inflammatory markers, and any aspiration/culture data support infection control. Obtain multiple deep specimens at reimplantation. Give indicated perioperative surgical prophylaxis when the prior infection is believed eradicated. This is distinct from restarting a prolonged therapeutic course; base that decision on operative findings, microbiology, and the joint-team assessment. Concordant growth in at least 2 specimens supports persistent infection. Do not dismiss a single virulent isolate such as S. aureus ; interpret it with histology, operative findings, and the joint-team assessment. Decide the need and duration of additional treatment case by case. Negative cultures without residual infection do not by themselves justify prolonged postoperative therapy. Resection arthroplasty / arthrodesis / amputation When reconstruction is not feasible, repeated curative attempts have failed, or patient goals favor definitive source removal. Obtain deep cultures and treat residual infection. The initial IV-to-oral decision follows stability, source control, susceptibility, absorption, and drug interactions. Usually 4–6 weeks if residual infected tissue remains. If all infected tissue is removed and there is no bacteremia or residual soft-tissue infection, prolonged therapy may not be needed. No curative surgery Operative risk, patient preference, or anatomy makes curative source control unacceptable. Treat acute sepsis, abscess, or bacteremia first and obtain the best possible microbiology. Then consider culture-directed suppressive therapy only if there is a defined organism, active tolerable oral option, and meaningful functional goal. Suppression is noncurative and can fail from resistance, toxicity, loosening, sinus formation, or progression. Local standard for DAIR For susceptible staphylococcal DAIR treated with a rifampin-based regimen, IDSA recommends 3 months for hip and 6 months for knee. DATIPO did not establish noninferiority of 6 versus 12 weeks across surgically managed PJI. Duration for other organisms and regimens needs case-specific review. Do not overgeneralize SOLARIO SOLARIO found that no more than 7 days of systemic antibiotics was noninferior to at least 4 weeks after definitive curative surgery plus a local antibiotic carrier. DAIR and suppressive procedures were excluded, and the PJI subgroup was small and not independently powered. The trial is practice-informing for carefully selected definitive surgery, but it does not shorten the local DAIR, one-stage, or two-stage pathways. Rifampin rules Use rifampin for a susceptible staphylococcal biofilm infection only as part of combination therapy. Never use rifampin monotherapy. Do not add it empirically before knowing the organism. Reduce the bacterial burden surgically first. Review drug interactions, hepatotoxicity, absorption, and companion-drug activity. Fluoroquinolones have the strongest companion evidence, but other agents are used when appropriate. The exact best time to start rifampin is not established. A rigid postoperative day rule is not evidence based. Sources pji-2013 , datipo , solario , wiki , pji-review</a:t>
            </a:r>
          </a:p>
          <a:p xmlns:a="http://schemas.openxmlformats.org/drawingml/2006/main">
            <a:r>
              <a:t/>
            </a:r>
          </a:p>
          <a:p xmlns:a="http://schemas.openxmlformats.org/drawingml/2006/main">
            <a:r>
              <a:t>Module section: https://docarcshot.github.io/id-practice-update/lectures/Bone_and_Joint_Infections_Septic_Arthritis_PJI_Osteomyelitis.html#pji-treatment</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operation determines the antibiotic strategy in PJI Operative pathways and antibiotic timing Strategy Best fit Immediate postoperative phase Total course and reimplantation plan DAIR with modular-component exchange Acute symptoms for less than about 3 weeks or early postoperative PJI within about 4 weeks; fixed implant, no sinus, acceptable soft tissue, and a usable biofilm-active oral regimen. Open debridement with polyethylene/modular exchange when feasible. Use pathogen-directed therapy; an active oral transition depends on the organism, patient, surgical response, and regimen. For susceptible staphylococci, use rifampin only with an active companion after debridement. The IDSA staphylococcal rifampin-based regimen completes 3 months for hip or 6 months for knee . Other regimens need separate duration decisions. A defined curative course is not indefinite suppression. One-stage exchange Selected chronic PJI with good soft tissue, no sinus tract or major reconstructive barrier, and a known, susceptible, readily treatable organism. Remove all infected components, perform radical debridement, obtain at least 5 deep specimens with separate instruments, and implant the new prosthesis in the same operation. Use organism-directed therapy. Transition to an active oral agent may be appropriate, but no fixed IV lead-in applies to all cases. IDSA describes 2–6 weeks of IV therapy with rifampin, followed by an oral companion and rifampin to complete 3 months for susceptible staphylococci, and 4–6 weeks of pathogen-directed therapy for other organisms. Longer courses require case-specific justification; indefinite suppression is a separate decision. Two-stage exchange: first stage Chronic PJI, compromised soft tissue, difficult or unknown organism, major bone loss, or failed DAIR/one-stage strategy. Remove prosthesis, debride, obtain deep specimens, and place an antibiotic spacer when appropriate. Give pathogen-directed therapy; IDSA permits IV or highly bioavailable oral treatment. Route and transition depend on the organism, patient, and regimen. IDSA recommends 4–6 weeks after resection. The need and length of any antibiotic-free period before reimplantation are uncertain; no fixed holiday is established. Two-stage exchange: reimplantation Clinical course, soft tissue, surgical findings, inflammatory markers, and any aspiration/culture data support infection control. Obtain multiple deep specimens at reimplantation. Give indicated perioperative surgical prophylaxis when the prior infection is believed eradicated. This is distinct from restarting a prolonged therapeutic course; base that decision on operative findings, microbiology, and the joint-team assessment. Concordant growth in at least 2 specimens supports persistent infection. Do not dismiss a single virulent isolate such as S. aureus ; interpret it with histology, operative findings, and the joint-team assessment. Decide the need and duration of additional treatment case by case. Negative cultures without residual infection do not by themselves justify prolonged postoperative therapy. Resection arthroplasty / arthrodesis / amputation When reconstruction is not feasible, repeated curative attempts have failed, or patient goals favor definitive source removal. Obtain deep cultures and treat residual infection. The initial IV-to-oral decision follows stability, source control, susceptibility, absorption, and drug interactions. Usually 4–6 weeks if residual infected tissue remains. If all infected tissue is removed and there is no bacteremia or residual soft-tissue infection, prolonged therapy may not be needed. No curative surgery Operative risk, patient preference, or anatomy makes curative source control unacceptable. Treat acute sepsis, abscess, or bacteremia first and obtain the best possible microbiology. Then consider culture-directed suppressive therapy only if there is a defined organism, active tolerable oral option, and meaningful functional goal. Suppression is noncurative and can fail from resistance, toxicity, loosening, sinus formation, or progression. Local standard for DAIR For susceptible staphylococcal DAIR treated with a rifampin-based regimen, IDSA recommends 3 months for hip and 6 months for knee. DATIPO did not establish noninferiority of 6 versus 12 weeks across surgically managed PJI. Duration for other organisms and regimens needs case-specific review. Do not overgeneralize SOLARIO SOLARIO found that no more than 7 days of systemic antibiotics was noninferior to at least 4 weeks after definitive curative surgery plus a local antibiotic carrier. DAIR and suppressive procedures were excluded, and the PJI subgroup was small and not independently powered. The trial is practice-informing for carefully selected definitive surgery, but it does not shorten the local DAIR, one-stage, or two-stage pathways. Rifampin rules Use rifampin for a susceptible staphylococcal biofilm infection only as part of combination therapy. Never use rifampin monotherapy. Do not add it empirically before knowing the organism. Reduce the bacterial burden surgically first. Review drug interactions, hepatotoxicity, absorption, and companion-drug activity. Fluoroquinolones have the strongest companion evidence, but other agents are used when appropriate. The exact best time to start rifampin is not established. A rigid postoperative day rule is not evidence based. Sources pji-2013 , datipo , solario , wiki , pji-review</a:t>
            </a:r>
          </a:p>
          <a:p xmlns:a="http://schemas.openxmlformats.org/drawingml/2006/main">
            <a:r>
              <a:t/>
            </a:r>
          </a:p>
          <a:p xmlns:a="http://schemas.openxmlformats.org/drawingml/2006/main">
            <a:r>
              <a:t>Module section: https://docarcshot.github.io/id-practice-update/lectures/Bone_and_Joint_Infections_Septic_Arthritis_PJI_Osteomyelitis.html#pji-treatment</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operation determines the antibiotic strategy in PJI Operative pathways and antibiotic timing Strategy Best fit Immediate postoperative phase Total course and reimplantation plan DAIR with modular-component exchange Acute symptoms for less than about 3 weeks or early postoperative PJI within about 4 weeks; fixed implant, no sinus, acceptable soft tissue, and a usable biofilm-active oral regimen. Open debridement with polyethylene/modular exchange when feasible. Use pathogen-directed therapy; an active oral transition depends on the organism, patient, surgical response, and regimen. For susceptible staphylococci, use rifampin only with an active companion after debridement. The IDSA staphylococcal rifampin-based regimen completes 3 months for hip or 6 months for knee . Other regimens need separate duration decisions. A defined curative course is not indefinite suppression. One-stage exchange Selected chronic PJI with good soft tissue, no sinus tract or major reconstructive barrier, and a known, susceptible, readily treatable organism. Remove all infected components, perform radical debridement, obtain at least 5 deep specimens with separate instruments, and implant the new prosthesis in the same operation. Use organism-directed therapy. Transition to an active oral agent may be appropriate, but no fixed IV lead-in applies to all cases. IDSA describes 2–6 weeks of IV therapy with rifampin, followed by an oral companion and rifampin to complete 3 months for susceptible staphylococci, and 4–6 weeks of pathogen-directed therapy for other organisms. Longer courses require case-specific justification; indefinite suppression is a separate decision. Two-stage exchange: first stage Chronic PJI, compromised soft tissue, difficult or unknown organism, major bone loss, or failed DAIR/one-stage strategy. Remove prosthesis, debride, obtain deep specimens, and place an antibiotic spacer when appropriate. Give pathogen-directed therapy; IDSA permits IV or highly bioavailable oral treatment. Route and transition depend on the organism, patient, and regimen. IDSA recommends 4–6 weeks after resection. The need and length of any antibiotic-free period before reimplantation are uncertain; no fixed holiday is established. Two-stage exchange: reimplantation Clinical course, soft tissue, surgical findings, inflammatory markers, and any aspiration/culture data support infection control. Obtain multiple deep specimens at reimplantation. Give indicated perioperative surgical prophylaxis when the prior infection is believed eradicated. This is distinct from restarting a prolonged therapeutic course; base that decision on operative findings, microbiology, and the joint-team assessment. Concordant growth in at least 2 specimens supports persistent infection. Do not dismiss a single virulent isolate such as S. aureus ; interpret it with histology, operative findings, and the joint-team assessment. Decide the need and duration of additional treatment case by case. Negative cultures without residual infection do not by themselves justify prolonged postoperative therapy. Resection arthroplasty / arthrodesis / amputation When reconstruction is not feasible, repeated curative attempts have failed, or patient goals favor definitive source removal. Obtain deep cultures and treat residual infection. The initial IV-to-oral decision follows stability, source control, susceptibility, absorption, and drug interactions. Usually 4–6 weeks if residual infected tissue remains. If all infected tissue is removed and there is no bacteremia or residual soft-tissue infection, prolonged therapy may not be needed. No curative surgery Operative risk, patient preference, or anatomy makes curative source control unacceptable. Treat acute sepsis, abscess, or bacteremia first and obtain the best possible microbiology. Then consider culture-directed suppressive therapy only if there is a defined organism, active tolerable oral option, and meaningful functional goal. Suppression is noncurative and can fail from resistance, toxicity, loosening, sinus formation, or progression. Local standard for DAIR For susceptible staphylococcal DAIR treated with a rifampin-based regimen, IDSA recommends 3 months for hip and 6 months for knee. DATIPO did not establish noninferiority of 6 versus 12 weeks across surgically managed PJI. Duration for other organisms and regimens needs case-specific review. Do not overgeneralize SOLARIO SOLARIO found that no more than 7 days of systemic antibiotics was noninferior to at least 4 weeks after definitive curative surgery plus a local antibiotic carrier. DAIR and suppressive procedures were excluded, and the PJI subgroup was small and not independently powered. The trial is practice-informing for carefully selected definitive surgery, but it does not shorten the local DAIR, one-stage, or two-stage pathways. Rifampin rules Use rifampin for a susceptible staphylococcal biofilm infection only as part of combination therapy. Never use rifampin monotherapy. Do not add it empirically before knowing the organism. Reduce the bacterial burden surgically first. Review drug interactions, hepatotoxicity, absorption, and companion-drug activity. Fluoroquinolones have the strongest companion evidence, but other agents are used when appropriate. The exact best time to start rifampin is not established. A rigid postoperative day rule is not evidence based. Sources pji-2013 , datipo , solario , wiki , pji-review</a:t>
            </a:r>
          </a:p>
          <a:p xmlns:a="http://schemas.openxmlformats.org/drawingml/2006/main">
            <a:r>
              <a:t/>
            </a:r>
          </a:p>
          <a:p xmlns:a="http://schemas.openxmlformats.org/drawingml/2006/main">
            <a:r>
              <a:t>Module section: https://docarcshot.github.io/id-practice-update/lectures/Bone_and_Joint_Infections_Septic_Arthritis_PJI_Osteomyelitis.html#pji-treatment</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operation determines the antibiotic strategy in PJI Operative pathways and antibiotic timing Strategy Best fit Immediate postoperative phase Total course and reimplantation plan DAIR with modular-component exchange Acute symptoms for less than about 3 weeks or early postoperative PJI within about 4 weeks; fixed implant, no sinus, acceptable soft tissue, and a usable biofilm-active oral regimen. Open debridement with polyethylene/modular exchange when feasible. Use pathogen-directed therapy; an active oral transition depends on the organism, patient, surgical response, and regimen. For susceptible staphylococci, use rifampin only with an active companion after debridement. The IDSA staphylococcal rifampin-based regimen completes 3 months for hip or 6 months for knee . Other regimens need separate duration decisions. A defined curative course is not indefinite suppression. One-stage exchange Selected chronic PJI with good soft tissue, no sinus tract or major reconstructive barrier, and a known, susceptible, readily treatable organism. Remove all infected components, perform radical debridement, obtain at least 5 deep specimens with separate instruments, and implant the new prosthesis in the same operation. Use organism-directed therapy. Transition to an active oral agent may be appropriate, but no fixed IV lead-in applies to all cases. IDSA describes 2–6 weeks of IV therapy with rifampin, followed by an oral companion and rifampin to complete 3 months for susceptible staphylococci, and 4–6 weeks of pathogen-directed therapy for other organisms. Longer courses require case-specific justification; indefinite suppression is a separate decision. Two-stage exchange: first stage Chronic PJI, compromised soft tissue, difficult or unknown organism, major bone loss, or failed DAIR/one-stage strategy. Remove prosthesis, debride, obtain deep specimens, and place an antibiotic spacer when appropriate. Give pathogen-directed therapy; IDSA permits IV or highly bioavailable oral treatment. Route and transition depend on the organism, patient, and regimen. IDSA recommends 4–6 weeks after resection. The need and length of any antibiotic-free period before reimplantation are uncertain; no fixed holiday is established. Two-stage exchange: reimplantation Clinical course, soft tissue, surgical findings, inflammatory markers, and any aspiration/culture data support infection control. Obtain multiple deep specimens at reimplantation. Give indicated perioperative surgical prophylaxis when the prior infection is believed eradicated. This is distinct from restarting a prolonged therapeutic course; base that decision on operative findings, microbiology, and the joint-team assessment. Concordant growth in at least 2 specimens supports persistent infection. Do not dismiss a single virulent isolate such as S. aureus ; interpret it with histology, operative findings, and the joint-team assessment. Decide the need and duration of additional treatment case by case. Negative cultures without residual infection do not by themselves justify prolonged postoperative therapy. Resection arthroplasty / arthrodesis / amputation When reconstruction is not feasible, repeated curative attempts have failed, or patient goals favor definitive source removal. Obtain deep cultures and treat residual infection. The initial IV-to-oral decision follows stability, source control, susceptibility, absorption, and drug interactions. Usually 4–6 weeks if residual infected tissue remains. If all infected tissue is removed and there is no bacteremia or residual soft-tissue infection, prolonged therapy may not be needed. No curative surgery Operative risk, patient preference, or anatomy makes curative source control unacceptable. Treat acute sepsis, abscess, or bacteremia first and obtain the best possible microbiology. Then consider culture-directed suppressive therapy only if there is a defined organism, active tolerable oral option, and meaningful functional goal. Suppression is noncurative and can fail from resistance, toxicity, loosening, sinus formation, or progression. Local standard for DAIR For susceptible staphylococcal DAIR treated with a rifampin-based regimen, IDSA recommends 3 months for hip and 6 months for knee. DATIPO did not establish noninferiority of 6 versus 12 weeks across surgically managed PJI. Duration for other organisms and regimens needs case-specific review. Do not overgeneralize SOLARIO SOLARIO found that no more than 7 days of systemic antibiotics was noninferior to at least 4 weeks after definitive curative surgery plus a local antibiotic carrier. DAIR and suppressive procedures were excluded, and the PJI subgroup was small and not independently powered. The trial is practice-informing for carefully selected definitive surgery, but it does not shorten the local DAIR, one-stage, or two-stage pathways. Rifampin rules Use rifampin for a susceptible staphylococcal biofilm infection only as part of combination therapy. Never use rifampin monotherapy. Do not add it empirically before knowing the organism. Reduce the bacterial burden surgically first. Review drug interactions, hepatotoxicity, absorption, and companion-drug activity. Fluoroquinolones have the strongest companion evidence, but other agents are used when appropriate. The exact best time to start rifampin is not established. A rigid postoperative day rule is not evidence based. Sources pji-2013 , datipo , solario , wiki , pji-review</a:t>
            </a:r>
          </a:p>
          <a:p xmlns:a="http://schemas.openxmlformats.org/drawingml/2006/main">
            <a:r>
              <a:t/>
            </a:r>
          </a:p>
          <a:p xmlns:a="http://schemas.openxmlformats.org/drawingml/2006/main">
            <a:r>
              <a:t>Module section: https://docarcshot.github.io/id-practice-update/lectures/Bone_and_Joint_Infections_Septic_Arthritis_PJI_Osteomyelitis.html#pji-treatment</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operation determines the antibiotic strategy in PJI Operative pathways and antibiotic timing Strategy Best fit Immediate postoperative phase Total course and reimplantation plan DAIR with modular-component exchange Acute symptoms for less than about 3 weeks or early postoperative PJI within about 4 weeks; fixed implant, no sinus, acceptable soft tissue, and a usable biofilm-active oral regimen. Open debridement with polyethylene/modular exchange when feasible. Use pathogen-directed therapy; an active oral transition depends on the organism, patient, surgical response, and regimen. For susceptible staphylococci, use rifampin only with an active companion after debridement. The IDSA staphylococcal rifampin-based regimen completes 3 months for hip or 6 months for knee . Other regimens need separate duration decisions. A defined curative course is not indefinite suppression. One-stage exchange Selected chronic PJI with good soft tissue, no sinus tract or major reconstructive barrier, and a known, susceptible, readily treatable organism. Remove all infected components, perform radical debridement, obtain at least 5 deep specimens with separate instruments, and implant the new prosthesis in the same operation. Use organism-directed therapy. Transition to an active oral agent may be appropriate, but no fixed IV lead-in applies to all cases. IDSA describes 2–6 weeks of IV therapy with rifampin, followed by an oral companion and rifampin to complete 3 months for susceptible staphylococci, and 4–6 weeks of pathogen-directed therapy for other organisms. Longer courses require case-specific justification; indefinite suppression is a separate decision. Two-stage exchange: first stage Chronic PJI, compromised soft tissue, difficult or unknown organism, major bone loss, or failed DAIR/one-stage strategy. Remove prosthesis, debride, obtain deep specimens, and place an antibiotic spacer when appropriate. Give pathogen-directed therapy; IDSA permits IV or highly bioavailable oral treatment. Route and transition depend on the organism, patient, and regimen. IDSA recommends 4–6 weeks after resection. The need and length of any antibiotic-free period before reimplantation are uncertain; no fixed holiday is established. Two-stage exchange: reimplantation Clinical course, soft tissue, surgical findings, inflammatory markers, and any aspiration/culture data support infection control. Obtain multiple deep specimens at reimplantation. Give indicated perioperative surgical prophylaxis when the prior infection is believed eradicated. This is distinct from restarting a prolonged therapeutic course; base that decision on operative findings, microbiology, and the joint-team assessment. Concordant growth in at least 2 specimens supports persistent infection. Do not dismiss a single virulent isolate such as S. aureus ; interpret it with histology, operative findings, and the joint-team assessment. Decide the need and duration of additional treatment case by case. Negative cultures without residual infection do not by themselves justify prolonged postoperative therapy. Resection arthroplasty / arthrodesis / amputation When reconstruction is not feasible, repeated curative attempts have failed, or patient goals favor definitive source removal. Obtain deep cultures and treat residual infection. The initial IV-to-oral decision follows stability, source control, susceptibility, absorption, and drug interactions. Usually 4–6 weeks if residual infected tissue remains. If all infected tissue is removed and there is no bacteremia or residual soft-tissue infection, prolonged therapy may not be needed. No curative surgery Operative risk, patient preference, or anatomy makes curative source control unacceptable. Treat acute sepsis, abscess, or bacteremia first and obtain the best possible microbiology. Then consider culture-directed suppressive therapy only if there is a defined organism, active tolerable oral option, and meaningful functional goal. Suppression is noncurative and can fail from resistance, toxicity, loosening, sinus formation, or progression. Local standard for DAIR For susceptible staphylococcal DAIR treated with a rifampin-based regimen, IDSA recommends 3 months for hip and 6 months for knee. DATIPO did not establish noninferiority of 6 versus 12 weeks across surgically managed PJI. Duration for other organisms and regimens needs case-specific review. Do not overgeneralize SOLARIO SOLARIO found that no more than 7 days of systemic antibiotics was noninferior to at least 4 weeks after definitive curative surgery plus a local antibiotic carrier. DAIR and suppressive procedures were excluded, and the PJI subgroup was small and not independently powered. The trial is practice-informing for carefully selected definitive surgery, but it does not shorten the local DAIR, one-stage, or two-stage pathways. Rifampin rules Use rifampin for a susceptible staphylococcal biofilm infection only as part of combination therapy. Never use rifampin monotherapy. Do not add it empirically before knowing the organism. Reduce the bacterial burden surgically first. Review drug interactions, hepatotoxicity, absorption, and companion-drug activity. Fluoroquinolones have the strongest companion evidence, but other agents are used when appropriate. The exact best time to start rifampin is not established. A rigid postoperative day rule is not evidence based. Sources pji-2013 , datipo , solario , wiki , pji-review</a:t>
            </a:r>
          </a:p>
          <a:p xmlns:a="http://schemas.openxmlformats.org/drawingml/2006/main">
            <a:r>
              <a:t/>
            </a:r>
          </a:p>
          <a:p xmlns:a="http://schemas.openxmlformats.org/drawingml/2006/main">
            <a:r>
              <a:t>Module section: https://docarcshot.github.io/id-practice-update/lectures/Bone_and_Joint_Infections_Septic_Arthritis_PJI_Osteomyelitis.html#pji-treatment</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operation determines the antibiotic strategy in PJI Operative pathways and antibiotic timing Strategy Best fit Immediate postoperative phase Total course and reimplantation plan DAIR with modular-component exchange Acute symptoms for less than about 3 weeks or early postoperative PJI within about 4 weeks; fixed implant, no sinus, acceptable soft tissue, and a usable biofilm-active oral regimen. Open debridement with polyethylene/modular exchange when feasible. Use pathogen-directed therapy; an active oral transition depends on the organism, patient, surgical response, and regimen. For susceptible staphylococci, use rifampin only with an active companion after debridement. The IDSA staphylococcal rifampin-based regimen completes 3 months for hip or 6 months for knee . Other regimens need separate duration decisions. A defined curative course is not indefinite suppression. One-stage exchange Selected chronic PJI with good soft tissue, no sinus tract or major reconstructive barrier, and a known, susceptible, readily treatable organism. Remove all infected components, perform radical debridement, obtain at least 5 deep specimens with separate instruments, and implant the new prosthesis in the same operation. Use organism-directed therapy. Transition to an active oral agent may be appropriate, but no fixed IV lead-in applies to all cases. IDSA describes 2–6 weeks of IV therapy with rifampin, followed by an oral companion and rifampin to complete 3 months for susceptible staphylococci, and 4–6 weeks of pathogen-directed therapy for other organisms. Longer courses require case-specific justification; indefinite suppression is a separate decision. Two-stage exchange: first stage Chronic PJI, compromised soft tissue, difficult or unknown organism, major bone loss, or failed DAIR/one-stage strategy. Remove prosthesis, debride, obtain deep specimens, and place an antibiotic spacer when appropriate. Give pathogen-directed therapy; IDSA permits IV or highly bioavailable oral treatment. Route and transition depend on the organism, patient, and regimen. IDSA recommends 4–6 weeks after resection. The need and length of any antibiotic-free period before reimplantation are uncertain; no fixed holiday is established. Two-stage exchange: reimplantation Clinical course, soft tissue, surgical findings, inflammatory markers, and any aspiration/culture data support infection control. Obtain multiple deep specimens at reimplantation. Give indicated perioperative surgical prophylaxis when the prior infection is believed eradicated. This is distinct from restarting a prolonged therapeutic course; base that decision on operative findings, microbiology, and the joint-team assessment. Concordant growth in at least 2 specimens supports persistent infection. Do not dismiss a single virulent isolate such as S. aureus ; interpret it with histology, operative findings, and the joint-team assessment. Decide the need and duration of additional treatment case by case. Negative cultures without residual infection do not by themselves justify prolonged postoperative therapy. Resection arthroplasty / arthrodesis / amputation When reconstruction is not feasible, repeated curative attempts have failed, or patient goals favor definitive source removal. Obtain deep cultures and treat residual infection. The initial IV-to-oral decision follows stability, source control, susceptibility, absorption, and drug interactions. Usually 4–6 weeks if residual infected tissue remains. If all infected tissue is removed and there is no bacteremia or residual soft-tissue infection, prolonged therapy may not be needed. No curative surgery Operative risk, patient preference, or anatomy makes curative source control unacceptable. Treat acute sepsis, abscess, or bacteremia first and obtain the best possible microbiology. Then consider culture-directed suppressive therapy only if there is a defined organism, active tolerable oral option, and meaningful functional goal. Suppression is noncurative and can fail from resistance, toxicity, loosening, sinus formation, or progression. Local standard for DAIR For susceptible staphylococcal DAIR treated with a rifampin-based regimen, IDSA recommends 3 months for hip and 6 months for knee. DATIPO did not establish noninferiority of 6 versus 12 weeks across surgically managed PJI. Duration for other organisms and regimens needs case-specific review. Do not overgeneralize SOLARIO SOLARIO found that no more than 7 days of systemic antibiotics was noninferior to at least 4 weeks after definitive curative surgery plus a local antibiotic carrier. DAIR and suppressive procedures were excluded, and the PJI subgroup was small and not independently powered. The trial is practice-informing for carefully selected definitive surgery, but it does not shorten the local DAIR, one-stage, or two-stage pathways. Rifampin rules Use rifampin for a susceptible staphylococcal biofilm infection only as part of combination therapy. Never use rifampin monotherapy. Do not add it empirically before knowing the organism. Reduce the bacterial burden surgically first. Review drug interactions, hepatotoxicity, absorption, and companion-drug activity. Fluoroquinolones have the strongest companion evidence, but other agents are used when appropriate. The exact best time to start rifampin is not established. A rigid postoperative day rule is not evidence based. Sources pji-2013 , datipo , solario , wiki , pji-review</a:t>
            </a:r>
          </a:p>
          <a:p xmlns:a="http://schemas.openxmlformats.org/drawingml/2006/main">
            <a:r>
              <a:t/>
            </a:r>
          </a:p>
          <a:p xmlns:a="http://schemas.openxmlformats.org/drawingml/2006/main">
            <a:r>
              <a:t>Module section: https://docarcshot.github.io/id-practice-update/lectures/Bone_and_Joint_Infections_Septic_Arthritis_PJI_Osteomyelitis.html#pji-treatment</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operation determines the antibiotic strategy in PJI Operative pathways and antibiotic timing Strategy Best fit Immediate postoperative phase Total course and reimplantation plan DAIR with modular-component exchange Acute symptoms for less than about 3 weeks or early postoperative PJI within about 4 weeks; fixed implant, no sinus, acceptable soft tissue, and a usable biofilm-active oral regimen. Open debridement with polyethylene/modular exchange when feasible. Use pathogen-directed therapy; an active oral transition depends on the organism, patient, surgical response, and regimen. For susceptible staphylococci, use rifampin only with an active companion after debridement. The IDSA staphylococcal rifampin-based regimen completes 3 months for hip or 6 months for knee . Other regimens need separate duration decisions. A defined curative course is not indefinite suppression. One-stage exchange Selected chronic PJI with good soft tissue, no sinus tract or major reconstructive barrier, and a known, susceptible, readily treatable organism. Remove all infected components, perform radical debridement, obtain at least 5 deep specimens with separate instruments, and implant the new prosthesis in the same operation. Use organism-directed therapy. Transition to an active oral agent may be appropriate, but no fixed IV lead-in applies to all cases. IDSA describes 2–6 weeks of IV therapy with rifampin, followed by an oral companion and rifampin to complete 3 months for susceptible staphylococci, and 4–6 weeks of pathogen-directed therapy for other organisms. Longer courses require case-specific justification; indefinite suppression is a separate decision. Two-stage exchange: first stage Chronic PJI, compromised soft tissue, difficult or unknown organism, major bone loss, or failed DAIR/one-stage strategy. Remove prosthesis, debride, obtain deep specimens, and place an antibiotic spacer when appropriate. Give pathogen-directed therapy; IDSA permits IV or highly bioavailable oral treatment. Route and transition depend on the organism, patient, and regimen. IDSA recommends 4–6 weeks after resection. The need and length of any antibiotic-free period before reimplantation are uncertain; no fixed holiday is established. Two-stage exchange: reimplantation Clinical course, soft tissue, surgical findings, inflammatory markers, and any aspiration/culture data support infection control. Obtain multiple deep specimens at reimplantation. Give indicated perioperative surgical prophylaxis when the prior infection is believed eradicated. This is distinct from restarting a prolonged therapeutic course; base that decision on operative findings, microbiology, and the joint-team assessment. Concordant growth in at least 2 specimens supports persistent infection. Do not dismiss a single virulent isolate such as S. aureus ; interpret it with histology, operative findings, and the joint-team assessment. Decide the need and duration of additional treatment case by case. Negative cultures without residual infection do not by themselves justify prolonged postoperative therapy. Resection arthroplasty / arthrodesis / amputation When reconstruction is not feasible, repeated curative attempts have failed, or patient goals favor definitive source removal. Obtain deep cultures and treat residual infection. The initial IV-to-oral decision follows stability, source control, susceptibility, absorption, and drug interactions. Usually 4–6 weeks if residual infected tissue remains. If all infected tissue is removed and there is no bacteremia or residual soft-tissue infection, prolonged therapy may not be needed. No curative surgery Operative risk, patient preference, or anatomy makes curative source control unacceptable. Treat acute sepsis, abscess, or bacteremia first and obtain the best possible microbiology. Then consider culture-directed suppressive therapy only if there is a defined organism, active tolerable oral option, and meaningful functional goal. Suppression is noncurative and can fail from resistance, toxicity, loosening, sinus formation, or progression. Local standard for DAIR For susceptible staphylococcal DAIR treated with a rifampin-based regimen, IDSA recommends 3 months for hip and 6 months for knee. DATIPO did not establish noninferiority of 6 versus 12 weeks across surgically managed PJI. Duration for other organisms and regimens needs case-specific review. Do not overgeneralize SOLARIO SOLARIO found that no more than 7 days of systemic antibiotics was noninferior to at least 4 weeks after definitive curative surgery plus a local antibiotic carrier. DAIR and suppressive procedures were excluded, and the PJI subgroup was small and not independently powered. The trial is practice-informing for carefully selected definitive surgery, but it does not shorten the local DAIR, one-stage, or two-stage pathways. Rifampin rules Use rifampin for a susceptible staphylococcal biofilm infection only as part of combination therapy. Never use rifampin monotherapy. Do not add it empirically before knowing the organism. Reduce the bacterial burden surgically first. Review drug interactions, hepatotoxicity, absorption, and companion-drug activity. Fluoroquinolones have the strongest companion evidence, but other agents are used when appropriate. The exact best time to start rifampin is not established. A rigid postoperative day rule is not evidence based. Sources pji-2013 , datipo , solario , wiki , pji-review</a:t>
            </a:r>
          </a:p>
          <a:p xmlns:a="http://schemas.openxmlformats.org/drawingml/2006/main">
            <a:r>
              <a:t/>
            </a:r>
          </a:p>
          <a:p xmlns:a="http://schemas.openxmlformats.org/drawingml/2006/main">
            <a:r>
              <a:t>Module section: https://docarcshot.github.io/id-practice-update/lectures/Bone_and_Joint_Infections_Septic_Arthritis_PJI_Osteomyelitis.html#pji-treatment</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operation determines the antibiotic strategy in PJI Operative pathways and antibiotic timing Strategy Best fit Immediate postoperative phase Total course and reimplantation plan DAIR with modular-component exchange Acute symptoms for less than about 3 weeks or early postoperative PJI within about 4 weeks; fixed implant, no sinus, acceptable soft tissue, and a usable biofilm-active oral regimen. Open debridement with polyethylene/modular exchange when feasible. Use pathogen-directed therapy; an active oral transition depends on the organism, patient, surgical response, and regimen. For susceptible staphylococci, use rifampin only with an active companion after debridement. The IDSA staphylococcal rifampin-based regimen completes 3 months for hip or 6 months for knee . Other regimens need separate duration decisions. A defined curative course is not indefinite suppression. One-stage exchange Selected chronic PJI with good soft tissue, no sinus tract or major reconstructive barrier, and a known, susceptible, readily treatable organism. Remove all infected components, perform radical debridement, obtain at least 5 deep specimens with separate instruments, and implant the new prosthesis in the same operation. Use organism-directed therapy. Transition to an active oral agent may be appropriate, but no fixed IV lead-in applies to all cases. IDSA describes 2–6 weeks of IV therapy with rifampin, followed by an oral companion and rifampin to complete 3 months for susceptible staphylococci, and 4–6 weeks of pathogen-directed therapy for other organisms. Longer courses require case-specific justification; indefinite suppression is a separate decision. Two-stage exchange: first stage Chronic PJI, compromised soft tissue, difficult or unknown organism, major bone loss, or failed DAIR/one-stage strategy. Remove prosthesis, debride, obtain deep specimens, and place an antibiotic spacer when appropriate. Give pathogen-directed therapy; IDSA permits IV or highly bioavailable oral treatment. Route and transition depend on the organism, patient, and regimen. IDSA recommends 4–6 weeks after resection. The need and length of any antibiotic-free period before reimplantation are uncertain; no fixed holiday is established. Two-stage exchange: reimplantation Clinical course, soft tissue, surgical findings, inflammatory markers, and any aspiration/culture data support infection control. Obtain multiple deep specimens at reimplantation. Give indicated perioperative surgical prophylaxis when the prior infection is believed eradicated. This is distinct from restarting a prolonged therapeutic course; base that decision on operative findings, microbiology, and the joint-team assessment. Concordant growth in at least 2 specimens supports persistent infection. Do not dismiss a single virulent isolate such as S. aureus ; interpret it with histology, operative findings, and the joint-team assessment. Decide the need and duration of additional treatment case by case. Negative cultures without residual infection do not by themselves justify prolonged postoperative therapy. Resection arthroplasty / arthrodesis / amputation When reconstruction is not feasible, repeated curative attempts have failed, or patient goals favor definitive source removal. Obtain deep cultures and treat residual infection. The initial IV-to-oral decision follows stability, source control, susceptibility, absorption, and drug interactions. Usually 4–6 weeks if residual infected tissue remains. If all infected tissue is removed and there is no bacteremia or residual soft-tissue infection, prolonged therapy may not be needed. No curative surgery Operative risk, patient preference, or anatomy makes curative source control unacceptable. Treat acute sepsis, abscess, or bacteremia first and obtain the best possible microbiology. Then consider culture-directed suppressive therapy only if there is a defined organism, active tolerable oral option, and meaningful functional goal. Suppression is noncurative and can fail from resistance, toxicity, loosening, sinus formation, or progression. Local standard for DAIR For susceptible staphylococcal DAIR treated with a rifampin-based regimen, IDSA recommends 3 months for hip and 6 months for knee. DATIPO did not establish noninferiority of 6 versus 12 weeks across surgically managed PJI. Duration for other organisms and regimens needs case-specific review. Do not overgeneralize SOLARIO SOLARIO found that no more than 7 days of systemic antibiotics was noninferior to at least 4 weeks after definitive curative surgery plus a local antibiotic carrier. DAIR and suppressive procedures were excluded, and the PJI subgroup was small and not independently powered. The trial is practice-informing for carefully selected definitive surgery, but it does not shorten the local DAIR, one-stage, or two-stage pathways. Rifampin rules Use rifampin for a susceptible staphylococcal biofilm infection only as part of combination therapy. Never use rifampin monotherapy. Do not add it empirically before knowing the organism. Reduce the bacterial burden surgically first. Review drug interactions, hepatotoxicity, absorption, and companion-drug activity. Fluoroquinolones have the strongest companion evidence, but other agents are used when appropriate. The exact best time to start rifampin is not established. A rigid postoperative day rule is not evidence based. Sources pji-2013 , datipo , solario , wiki , pji-review</a:t>
            </a:r>
          </a:p>
          <a:p xmlns:a="http://schemas.openxmlformats.org/drawingml/2006/main">
            <a:r>
              <a:t/>
            </a:r>
          </a:p>
          <a:p xmlns:a="http://schemas.openxmlformats.org/drawingml/2006/main">
            <a:r>
              <a:t>Module section: https://docarcshot.github.io/id-practice-update/lectures/Bone_and_Joint_Infections_Septic_Arthritis_PJI_Osteomyelitis.html#pji-treatment</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operation determines the antibiotic strategy in PJI Operative pathways and antibiotic timing Strategy Best fit Immediate postoperative phase Total course and reimplantation plan DAIR with modular-component exchange Acute symptoms for less than about 3 weeks or early postoperative PJI within about 4 weeks; fixed implant, no sinus, acceptable soft tissue, and a usable biofilm-active oral regimen. Open debridement with polyethylene/modular exchange when feasible. Use pathogen-directed therapy; an active oral transition depends on the organism, patient, surgical response, and regimen. For susceptible staphylococci, use rifampin only with an active companion after debridement. The IDSA staphylococcal rifampin-based regimen completes 3 months for hip or 6 months for knee . Other regimens need separate duration decisions. A defined curative course is not indefinite suppression. One-stage exchange Selected chronic PJI with good soft tissue, no sinus tract or major reconstructive barrier, and a known, susceptible, readily treatable organism. Remove all infected components, perform radical debridement, obtain at least 5 deep specimens with separate instruments, and implant the new prosthesis in the same operation. Use organism-directed therapy. Transition to an active oral agent may be appropriate, but no fixed IV lead-in applies to all cases. IDSA describes 2–6 weeks of IV therapy with rifampin, followed by an oral companion and rifampin to complete 3 months for susceptible staphylococci, and 4–6 weeks of pathogen-directed therapy for other organisms. Longer courses require case-specific justification; indefinite suppression is a separate decision. Two-stage exchange: first stage Chronic PJI, compromised soft tissue, difficult or unknown organism, major bone loss, or failed DAIR/one-stage strategy. Remove prosthesis, debride, obtain deep specimens, and place an antibiotic spacer when appropriate. Give pathogen-directed therapy; IDSA permits IV or highly bioavailable oral treatment. Route and transition depend on the organism, patient, and regimen. IDSA recommends 4–6 weeks after resection. The need and length of any antibiotic-free period before reimplantation are uncertain; no fixed holiday is established. Two-stage exchange: reimplantation Clinical course, soft tissue, surgical findings, inflammatory markers, and any aspiration/culture data support infection control. Obtain multiple deep specimens at reimplantation. Give indicated perioperative surgical prophylaxis when the prior infection is believed eradicated. This is distinct from restarting a prolonged therapeutic course; base that decision on operative findings, microbiology, and the joint-team assessment. Concordant growth in at least 2 specimens supports persistent infection. Do not dismiss a single virulent isolate such as S. aureus ; interpret it with histology, operative findings, and the joint-team assessment. Decide the need and duration of additional treatment case by case. Negative cultures without residual infection do not by themselves justify prolonged postoperative therapy. Resection arthroplasty / arthrodesis / amputation When reconstruction is not feasible, repeated curative attempts have failed, or patient goals favor definitive source removal. Obtain deep cultures and treat residual infection. The initial IV-to-oral decision follows stability, source control, susceptibility, absorption, and drug interactions. Usually 4–6 weeks if residual infected tissue remains. If all infected tissue is removed and there is no bacteremia or residual soft-tissue infection, prolonged therapy may not be needed. No curative surgery Operative risk, patient preference, or anatomy makes curative source control unacceptable. Treat acute sepsis, abscess, or bacteremia first and obtain the best possible microbiology. Then consider culture-directed suppressive therapy only if there is a defined organism, active tolerable oral option, and meaningful functional goal. Suppression is noncurative and can fail from resistance, toxicity, loosening, sinus formation, or progression. Local standard for DAIR For susceptible staphylococcal DAIR treated with a rifampin-based regimen, IDSA recommends 3 months for hip and 6 months for knee. DATIPO did not establish noninferiority of 6 versus 12 weeks across surgically managed PJI. Duration for other organisms and regimens needs case-specific review. Do not overgeneralize SOLARIO SOLARIO found that no more than 7 days of systemic antibiotics was noninferior to at least 4 weeks after definitive curative surgery plus a local antibiotic carrier. DAIR and suppressive procedures were excluded, and the PJI subgroup was small and not independently powered. The trial is practice-informing for carefully selected definitive surgery, but it does not shorten the local DAIR, one-stage, or two-stage pathways. Rifampin rules Use rifampin for a susceptible staphylococcal biofilm infection only as part of combination therapy. Never use rifampin monotherapy. Do not add it empirically before knowing the organism. Reduce the bacterial burden surgically first. Review drug interactions, hepatotoxicity, absorption, and companion-drug activity. Fluoroquinolones have the strongest companion evidence, but other agents are used when appropriate. The exact best time to start rifampin is not established. A rigid postoperative day rule is not evidence based. Sources pji-2013 , datipo , solario , wiki , pji-review</a:t>
            </a:r>
          </a:p>
          <a:p xmlns:a="http://schemas.openxmlformats.org/drawingml/2006/main">
            <a:r>
              <a:t/>
            </a:r>
          </a:p>
          <a:p xmlns:a="http://schemas.openxmlformats.org/drawingml/2006/main">
            <a:r>
              <a:t>Module section: https://docarcshot.github.io/id-practice-update/lectures/Bone_and_Joint_Infections_Septic_Arthritis_PJI_Osteomyelitis.html#pji-treatment</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operation determines the antibiotic strategy in PJI Operative pathways and antibiotic timing Strategy Best fit Immediate postoperative phase Total course and reimplantation plan DAIR with modular-component exchange Acute symptoms for less than about 3 weeks or early postoperative PJI within about 4 weeks; fixed implant, no sinus, acceptable soft tissue, and a usable biofilm-active oral regimen. Open debridement with polyethylene/modular exchange when feasible. Use pathogen-directed therapy; an active oral transition depends on the organism, patient, surgical response, and regimen. For susceptible staphylococci, use rifampin only with an active companion after debridement. The IDSA staphylococcal rifampin-based regimen completes 3 months for hip or 6 months for knee . Other regimens need separate duration decisions. A defined curative course is not indefinite suppression. One-stage exchange Selected chronic PJI with good soft tissue, no sinus tract or major reconstructive barrier, and a known, susceptible, readily treatable organism. Remove all infected components, perform radical debridement, obtain at least 5 deep specimens with separate instruments, and implant the new prosthesis in the same operation. Use organism-directed therapy. Transition to an active oral agent may be appropriate, but no fixed IV lead-in applies to all cases. IDSA describes 2–6 weeks of IV therapy with rifampin, followed by an oral companion and rifampin to complete 3 months for susceptible staphylococci, and 4–6 weeks of pathogen-directed therapy for other organisms. Longer courses require case-specific justification; indefinite suppression is a separate decision. Two-stage exchange: first stage Chronic PJI, compromised soft tissue, difficult or unknown organism, major bone loss, or failed DAIR/one-stage strategy. Remove prosthesis, debride, obtain deep specimens, and place an antibiotic spacer when appropriate. Give pathogen-directed therapy; IDSA permits IV or highly bioavailable oral treatment. Route and transition depend on the organism, patient, and regimen. IDSA recommends 4–6 weeks after resection. The need and length of any antibiotic-free period before reimplantation are uncertain; no fixed holiday is established. Two-stage exchange: reimplantation Clinical course, soft tissue, surgical findings, inflammatory markers, and any aspiration/culture data support infection control. Obtain multiple deep specimens at reimplantation. Give indicated perioperative surgical prophylaxis when the prior infection is believed eradicated. This is distinct from restarting a prolonged therapeutic course; base that decision on operative findings, microbiology, and the joint-team assessment. Concordant growth in at least 2 specimens supports persistent infection. Do not dismiss a single virulent isolate such as S. aureus ; interpret it with histology, operative findings, and the joint-team assessment. Decide the need and duration of additional treatment case by case. Negative cultures without residual infection do not by themselves justify prolonged postoperative therapy. Resection arthroplasty / arthrodesis / amputation When reconstruction is not feasible, repeated curative attempts have failed, or patient goals favor definitive source removal. Obtain deep cultures and treat residual infection. The initial IV-to-oral decision follows stability, source control, susceptibility, absorption, and drug interactions. Usually 4–6 weeks if residual infected tissue remains. If all infected tissue is removed and there is no bacteremia or residual soft-tissue infection, prolonged therapy may not be needed. No curative surgery Operative risk, patient preference, or anatomy makes curative source control unacceptable. Treat acute sepsis, abscess, or bacteremia first and obtain the best possible microbiology. Then consider culture-directed suppressive therapy only if there is a defined organism, active tolerable oral option, and meaningful functional goal. Suppression is noncurative and can fail from resistance, toxicity, loosening, sinus formation, or progression. Local standard for DAIR For susceptible staphylococcal DAIR treated with a rifampin-based regimen, IDSA recommends 3 months for hip and 6 months for knee. DATIPO did not establish noninferiority of 6 versus 12 weeks across surgically managed PJI. Duration for other organisms and regimens needs case-specific review. Do not overgeneralize SOLARIO SOLARIO found that no more than 7 days of systemic antibiotics was noninferior to at least 4 weeks after definitive curative surgery plus a local antibiotic carrier. DAIR and suppressive procedures were excluded, and the PJI subgroup was small and not independently powered. The trial is practice-informing for carefully selected definitive surgery, but it does not shorten the local DAIR, one-stage, or two-stage pathways. Rifampin rules Use rifampin for a susceptible staphylococcal biofilm infection only as part of combination therapy. Never use rifampin monotherapy. Do not add it empirically before knowing the organism. Reduce the bacterial burden surgically first. Review drug interactions, hepatotoxicity, absorption, and companion-drug activity. Fluoroquinolones have the strongest companion evidence, but other agents are used when appropriate. The exact best time to start rifampin is not established. A rigid postoperative day rule is not evidence based. Sources pji-2013 , datipo , solario , wiki , pji-review</a:t>
            </a:r>
          </a:p>
          <a:p xmlns:a="http://schemas.openxmlformats.org/drawingml/2006/main">
            <a:r>
              <a:t/>
            </a:r>
          </a:p>
          <a:p xmlns:a="http://schemas.openxmlformats.org/drawingml/2006/main">
            <a:r>
              <a:t>Module section: https://docarcshot.github.io/id-practice-update/lectures/Bone_and_Joint_Infections_Septic_Arthritis_PJI_Osteomyelitis.html#pji-treatment</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Osteomyelitis without a retained implant usually does not need more than six weeks First define the route and anatomy: hematogenous, contiguous/post-traumatic, diabetic foot, vertebral, pressure-injury pelvic osteomyelitis, or hardware-associated infection. Chronic osteomyelitis with a sequestrum behaves differently from acute hematogenous disease even if the same organism is isolated. Management by source-control state Scenario Diagnostic priority Non-ID treatment Antibiotic duration framework Acute hematogenous osteomyelitis Blood cultures; MRI when needed; tissue diagnosis if blood cultures do not establish the pathogen and biopsy will change management. Drain abscess; debride necrotic tissue when present. Evaluate endovascular source for S. aureus bacteremia. Generally up to 6 weeks when no retained implant and source control is adequate. Oral therapy can be used when criteria are met. Subacute osteomyelitis / Brodie abscess Imaging plus biopsy/curettage when feasible because tumor and other mimics can resemble infection. Systemic inflammatory signs are often absent. Curettage/debridement is common, both diagnostic and therapeutic. No high-quality duration standard. Culture-directed therapy is commonly 4–6 weeks after curettage, but published practice is heterogeneous. Chronic contiguous or post-traumatic osteomyelitis with sequestrum Deep bone/tissue culture and histology at debridement. Surface swabs are weak etiologic specimens. Remove necrotic bone, drain abscess, manage dead space, remove infected hardware when feasible, stabilize bone, and obtain durable vascularized soft-tissue coverage. Usually no more than 6 weeks after adequate source control. Three to four weeks may be adequate after debridement in selected cases, but confirmatory evidence is limited. Complete resection of infected bone Confirm that residual infected bone and soft-tissue infection are absent. Definitive resection/amputation plus wound management. General pyogenic osteomyelitis guidance permits no further osteomyelitis treatment after complete resection when no soft-tissue infection remains. For diabetes-related foot osteomyelitis, the IWGDF/IDSA table specifies 2–5 days after complete resection; positive margins and residual soft-tissue infection require their own courses. Retained fracture fixation hardware Deep cultures, union status, stability, and whether hardware can be removed without mechanical failure. Debridement and stabilization. Sometimes hardware must remain until union, then can be removed. Evidence is weaker. Therapy may need to continue through fracture healing and/or transition to suppression until hardware can safely be removed. Coordinate with orthopedics rather than applying a PJI algorithm automatically. Diabetic foot osteomyelitis deserves its own pathway The current 2023 IWGDF/IDSA guideline recommends probe-to-bone, plain radiographs, and ESR/CRP/PCT as initial studies, followed by MRI when doubt persists. Obtain bone rather than soft-tissue culture when feasible. For mild infection in North America, initially target aerobic gram-positive pathogens; do not empirically cover Pseudomonas in a temperate climate unless recent cultures or a specific exposure supports it. For osteomyelitis treated without bone resection or amputation, use 6 weeks. After minor amputation with a positive bone-margin culture, use up to 3 weeks. Antibiotic-only treatment is most defensible for selected forefoot osteomyelitis without an urgent drainage need, peripheral arterial disease, or exposed bone. Moderate or severe infection with necrosis, gangrene, deep abscess, or ischemia requires early surgical assessment; combine debridement with urgent vascular assessment/revascularization when ischemic. Pressure offloading, wound care, and glycemic management remain essential. Oral is a pharmacologic decision, not a concession For a stable patient with adequate source control, reliable absorption, and an active high-bioavailability regimen with clinical evidence, a PICC is not required solely because the diagnosis is osteomyelitis. OVIVA directly supports oral therapy for appropriately selected complex bone and joint infections. Sources wiki , oviva , dfi , brodie</a:t>
            </a:r>
          </a:p>
          <a:p xmlns:a="http://schemas.openxmlformats.org/drawingml/2006/main">
            <a:r>
              <a:t/>
            </a:r>
          </a:p>
          <a:p xmlns:a="http://schemas.openxmlformats.org/drawingml/2006/main">
            <a:r>
              <a:t>Module section: https://docarcshot.github.io/id-practice-update/lectures/Bone_and_Joint_Infections_Septic_Arthritis_PJI_Osteomyelitis.html#osteomyelitis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Osteomyelitis without a retained implant usually does not need more than six weeks First define the route and anatomy: hematogenous, contiguous/post-traumatic, diabetic foot, vertebral, pressure-injury pelvic osteomyelitis, or hardware-associated infection. Chronic osteomyelitis with a sequestrum behaves differently from acute hematogenous disease even if the same organism is isolated. Management by source-control state Scenario Diagnostic priority Non-ID treatment Antibiotic duration framework Acute hematogenous osteomyelitis Blood cultures; MRI when needed; tissue diagnosis if blood cultures do not establish the pathogen and biopsy will change management. Drain abscess; debride necrotic tissue when present. Evaluate endovascular source for S. aureus bacteremia. Generally up to 6 weeks when no retained implant and source control is adequate. Oral therapy can be used when criteria are met. Subacute osteomyelitis / Brodie abscess Imaging plus biopsy/curettage when feasible because tumor and other mimics can resemble infection. Systemic inflammatory signs are often absent. Curettage/debridement is common, both diagnostic and therapeutic. No high-quality duration standard. Culture-directed therapy is commonly 4–6 weeks after curettage, but published practice is heterogeneous. Chronic contiguous or post-traumatic osteomyelitis with sequestrum Deep bone/tissue culture and histology at debridement. Surface swabs are weak etiologic specimens. Remove necrotic bone, drain abscess, manage dead space, remove infected hardware when feasible, stabilize bone, and obtain durable vascularized soft-tissue coverage. Usually no more than 6 weeks after adequate source control. Three to four weeks may be adequate after debridement in selected cases, but confirmatory evidence is limited. Complete resection of infected bone Confirm that residual infected bone and soft-tissue infection are absent. Definitive resection/amputation plus wound management. General pyogenic osteomyelitis guidance permits no further osteomyelitis treatment after complete resection when no soft-tissue infection remains. For diabetes-related foot osteomyelitis, the IWGDF/IDSA table specifies 2–5 days after complete resection; positive margins and residual soft-tissue infection require their own courses. Retained fracture fixation hardware Deep cultures, union status, stability, and whether hardware can be removed without mechanical failure. Debridement and stabilization. Sometimes hardware must remain until union, then can be removed. Evidence is weaker. Therapy may need to continue through fracture healing and/or transition to suppression until hardware can safely be removed. Coordinate with orthopedics rather than applying a PJI algorithm automatically. Diabetic foot osteomyelitis deserves its own pathway The current 2023 IWGDF/IDSA guideline recommends probe-to-bone, plain radiographs, and ESR/CRP/PCT as initial studies, followed by MRI when doubt persists. Obtain bone rather than soft-tissue culture when feasible. For mild infection in North America, initially target aerobic gram-positive pathogens; do not empirically cover Pseudomonas in a temperate climate unless recent cultures or a specific exposure supports it. For osteomyelitis treated without bone resection or amputation, use 6 weeks. After minor amputation with a positive bone-margin culture, use up to 3 weeks. Antibiotic-only treatment is most defensible for selected forefoot osteomyelitis without an urgent drainage need, peripheral arterial disease, or exposed bone. Moderate or severe infection with necrosis, gangrene, deep abscess, or ischemia requires early surgical assessment; combine debridement with urgent vascular assessment/revascularization when ischemic. Pressure offloading, wound care, and glycemic management remain essential. Oral is a pharmacologic decision, not a concession For a stable patient with adequate source control, reliable absorption, and an active high-bioavailability regimen with clinical evidence, a PICC is not required solely because the diagnosis is osteomyelitis. OVIVA directly supports oral therapy for appropriately selected complex bone and joint infections. Sources wiki , oviva , dfi , brodie</a:t>
            </a:r>
          </a:p>
          <a:p xmlns:a="http://schemas.openxmlformats.org/drawingml/2006/main">
            <a:r>
              <a:t/>
            </a:r>
          </a:p>
          <a:p xmlns:a="http://schemas.openxmlformats.org/drawingml/2006/main">
            <a:r>
              <a:t>Module section: https://docarcshot.github.io/id-practice-update/lectures/Bone_and_Joint_Infections_Septic_Arthritis_PJI_Osteomyelitis.html#osteomyelitis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Osteomyelitis without a retained implant usually does not need more than six weeks First define the route and anatomy: hematogenous, contiguous/post-traumatic, diabetic foot, vertebral, pressure-injury pelvic osteomyelitis, or hardware-associated infection. Chronic osteomyelitis with a sequestrum behaves differently from acute hematogenous disease even if the same organism is isolated. Management by source-control state Scenario Diagnostic priority Non-ID treatment Antibiotic duration framework Acute hematogenous osteomyelitis Blood cultures; MRI when needed; tissue diagnosis if blood cultures do not establish the pathogen and biopsy will change management. Drain abscess; debride necrotic tissue when present. Evaluate endovascular source for S. aureus bacteremia. Generally up to 6 weeks when no retained implant and source control is adequate. Oral therapy can be used when criteria are met. Subacute osteomyelitis / Brodie abscess Imaging plus biopsy/curettage when feasible because tumor and other mimics can resemble infection. Systemic inflammatory signs are often absent. Curettage/debridement is common, both diagnostic and therapeutic. No high-quality duration standard. Culture-directed therapy is commonly 4–6 weeks after curettage, but published practice is heterogeneous. Chronic contiguous or post-traumatic osteomyelitis with sequestrum Deep bone/tissue culture and histology at debridement. Surface swabs are weak etiologic specimens. Remove necrotic bone, drain abscess, manage dead space, remove infected hardware when feasible, stabilize bone, and obtain durable vascularized soft-tissue coverage. Usually no more than 6 weeks after adequate source control. Three to four weeks may be adequate after debridement in selected cases, but confirmatory evidence is limited. Complete resection of infected bone Confirm that residual infected bone and soft-tissue infection are absent. Definitive resection/amputation plus wound management. General pyogenic osteomyelitis guidance permits no further osteomyelitis treatment after complete resection when no soft-tissue infection remains. For diabetes-related foot osteomyelitis, the IWGDF/IDSA table specifies 2–5 days after complete resection; positive margins and residual soft-tissue infection require their own courses. Retained fracture fixation hardware Deep cultures, union status, stability, and whether hardware can be removed without mechanical failure. Debridement and stabilization. Sometimes hardware must remain until union, then can be removed. Evidence is weaker. Therapy may need to continue through fracture healing and/or transition to suppression until hardware can safely be removed. Coordinate with orthopedics rather than applying a PJI algorithm automatically. Diabetic foot osteomyelitis deserves its own pathway The current 2023 IWGDF/IDSA guideline recommends probe-to-bone, plain radiographs, and ESR/CRP/PCT as initial studies, followed by MRI when doubt persists. Obtain bone rather than soft-tissue culture when feasible. For mild infection in North America, initially target aerobic gram-positive pathogens; do not empirically cover Pseudomonas in a temperate climate unless recent cultures or a specific exposure supports it. For osteomyelitis treated without bone resection or amputation, use 6 weeks. After minor amputation with a positive bone-margin culture, use up to 3 weeks. Antibiotic-only treatment is most defensible for selected forefoot osteomyelitis without an urgent drainage need, peripheral arterial disease, or exposed bone. Moderate or severe infection with necrosis, gangrene, deep abscess, or ischemia requires early surgical assessment; combine debridement with urgent vascular assessment/revascularization when ischemic. Pressure offloading, wound care, and glycemic management remain essential. Oral is a pharmacologic decision, not a concession For a stable patient with adequate source control, reliable absorption, and an active high-bioavailability regimen with clinical evidence, a PICC is not required solely because the diagnosis is osteomyelitis. OVIVA directly supports oral therapy for appropriately selected complex bone and joint infections. Sources wiki , oviva , dfi , brodie</a:t>
            </a:r>
          </a:p>
          <a:p xmlns:a="http://schemas.openxmlformats.org/drawingml/2006/main">
            <a:r>
              <a:t/>
            </a:r>
          </a:p>
          <a:p xmlns:a="http://schemas.openxmlformats.org/drawingml/2006/main">
            <a:r>
              <a:t>Module section: https://docarcshot.github.io/id-practice-update/lectures/Bone_and_Joint_Infections_Septic_Arthritis_PJI_Osteomyelitis.html#osteomyelitis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Osteomyelitis without a retained implant usually does not need more than six weeks First define the route and anatomy: hematogenous, contiguous/post-traumatic, diabetic foot, vertebral, pressure-injury pelvic osteomyelitis, or hardware-associated infection. Chronic osteomyelitis with a sequestrum behaves differently from acute hematogenous disease even if the same organism is isolated. Management by source-control state Scenario Diagnostic priority Non-ID treatment Antibiotic duration framework Acute hematogenous osteomyelitis Blood cultures; MRI when needed; tissue diagnosis if blood cultures do not establish the pathogen and biopsy will change management. Drain abscess; debride necrotic tissue when present. Evaluate endovascular source for S. aureus bacteremia. Generally up to 6 weeks when no retained implant and source control is adequate. Oral therapy can be used when criteria are met. Subacute osteomyelitis / Brodie abscess Imaging plus biopsy/curettage when feasible because tumor and other mimics can resemble infection. Systemic inflammatory signs are often absent. Curettage/debridement is common, both diagnostic and therapeutic. No high-quality duration standard. Culture-directed therapy is commonly 4–6 weeks after curettage, but published practice is heterogeneous. Chronic contiguous or post-traumatic osteomyelitis with sequestrum Deep bone/tissue culture and histology at debridement. Surface swabs are weak etiologic specimens. Remove necrotic bone, drain abscess, manage dead space, remove infected hardware when feasible, stabilize bone, and obtain durable vascularized soft-tissue coverage. Usually no more than 6 weeks after adequate source control. Three to four weeks may be adequate after debridement in selected cases, but confirmatory evidence is limited. Complete resection of infected bone Confirm that residual infected bone and soft-tissue infection are absent. Definitive resection/amputation plus wound management. General pyogenic osteomyelitis guidance permits no further osteomyelitis treatment after complete resection when no soft-tissue infection remains. For diabetes-related foot osteomyelitis, the IWGDF/IDSA table specifies 2–5 days after complete resection; positive margins and residual soft-tissue infection require their own courses. Retained fracture fixation hardware Deep cultures, union status, stability, and whether hardware can be removed without mechanical failure. Debridement and stabilization. Sometimes hardware must remain until union, then can be removed. Evidence is weaker. Therapy may need to continue through fracture healing and/or transition to suppression until hardware can safely be removed. Coordinate with orthopedics rather than applying a PJI algorithm automatically. Diabetic foot osteomyelitis deserves its own pathway The current 2023 IWGDF/IDSA guideline recommends probe-to-bone, plain radiographs, and ESR/CRP/PCT as initial studies, followed by MRI when doubt persists. Obtain bone rather than soft-tissue culture when feasible. For mild infection in North America, initially target aerobic gram-positive pathogens; do not empirically cover Pseudomonas in a temperate climate unless recent cultures or a specific exposure supports it. For osteomyelitis treated without bone resection or amputation, use 6 weeks. After minor amputation with a positive bone-margin culture, use up to 3 weeks. Antibiotic-only treatment is most defensible for selected forefoot osteomyelitis without an urgent drainage need, peripheral arterial disease, or exposed bone. Moderate or severe infection with necrosis, gangrene, deep abscess, or ischemia requires early surgical assessment; combine debridement with urgent vascular assessment/revascularization when ischemic. Pressure offloading, wound care, and glycemic management remain essential. Oral is a pharmacologic decision, not a concession For a stable patient with adequate source control, reliable absorption, and an active high-bioavailability regimen with clinical evidence, a PICC is not required solely because the diagnosis is osteomyelitis. OVIVA directly supports oral therapy for appropriately selected complex bone and joint infections. Sources wiki , oviva , dfi , brodie</a:t>
            </a:r>
          </a:p>
          <a:p xmlns:a="http://schemas.openxmlformats.org/drawingml/2006/main">
            <a:r>
              <a:t/>
            </a:r>
          </a:p>
          <a:p xmlns:a="http://schemas.openxmlformats.org/drawingml/2006/main">
            <a:r>
              <a:t>Module section: https://docarcshot.github.io/id-practice-update/lectures/Bone_and_Joint_Infections_Septic_Arthritis_PJI_Osteomyelitis.html#osteomyelitis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Osteomyelitis without a retained implant usually does not need more than six weeks First define the route and anatomy: hematogenous, contiguous/post-traumatic, diabetic foot, vertebral, pressure-injury pelvic osteomyelitis, or hardware-associated infection. Chronic osteomyelitis with a sequestrum behaves differently from acute hematogenous disease even if the same organism is isolated. Management by source-control state Scenario Diagnostic priority Non-ID treatment Antibiotic duration framework Acute hematogenous osteomyelitis Blood cultures; MRI when needed; tissue diagnosis if blood cultures do not establish the pathogen and biopsy will change management. Drain abscess; debride necrotic tissue when present. Evaluate endovascular source for S. aureus bacteremia. Generally up to 6 weeks when no retained implant and source control is adequate. Oral therapy can be used when criteria are met. Subacute osteomyelitis / Brodie abscess Imaging plus biopsy/curettage when feasible because tumor and other mimics can resemble infection. Systemic inflammatory signs are often absent. Curettage/debridement is common, both diagnostic and therapeutic. No high-quality duration standard. Culture-directed therapy is commonly 4–6 weeks after curettage, but published practice is heterogeneous. Chronic contiguous or post-traumatic osteomyelitis with sequestrum Deep bone/tissue culture and histology at debridement. Surface swabs are weak etiologic specimens. Remove necrotic bone, drain abscess, manage dead space, remove infected hardware when feasible, stabilize bone, and obtain durable vascularized soft-tissue coverage. Usually no more than 6 weeks after adequate source control. Three to four weeks may be adequate after debridement in selected cases, but confirmatory evidence is limited. Complete resection of infected bone Confirm that residual infected bone and soft-tissue infection are absent. Definitive resection/amputation plus wound management. General pyogenic osteomyelitis guidance permits no further osteomyelitis treatment after complete resection when no soft-tissue infection remains. For diabetes-related foot osteomyelitis, the IWGDF/IDSA table specifies 2–5 days after complete resection; positive margins and residual soft-tissue infection require their own courses. Retained fracture fixation hardware Deep cultures, union status, stability, and whether hardware can be removed without mechanical failure. Debridement and stabilization. Sometimes hardware must remain until union, then can be removed. Evidence is weaker. Therapy may need to continue through fracture healing and/or transition to suppression until hardware can safely be removed. Coordinate with orthopedics rather than applying a PJI algorithm automatically. Diabetic foot osteomyelitis deserves its own pathway The current 2023 IWGDF/IDSA guideline recommends probe-to-bone, plain radiographs, and ESR/CRP/PCT as initial studies, followed by MRI when doubt persists. Obtain bone rather than soft-tissue culture when feasible. For mild infection in North America, initially target aerobic gram-positive pathogens; do not empirically cover Pseudomonas in a temperate climate unless recent cultures or a specific exposure supports it. For osteomyelitis treated without bone resection or amputation, use 6 weeks. After minor amputation with a positive bone-margin culture, use up to 3 weeks. Antibiotic-only treatment is most defensible for selected forefoot osteomyelitis without an urgent drainage need, peripheral arterial disease, or exposed bone. Moderate or severe infection with necrosis, gangrene, deep abscess, or ischemia requires early surgical assessment; combine debridement with urgent vascular assessment/revascularization when ischemic. Pressure offloading, wound care, and glycemic management remain essential. Oral is a pharmacologic decision, not a concession For a stable patient with adequate source control, reliable absorption, and an active high-bioavailability regimen with clinical evidence, a PICC is not required solely because the diagnosis is osteomyelitis. OVIVA directly supports oral therapy for appropriately selected complex bone and joint infections. Sources wiki , oviva , dfi , brodie</a:t>
            </a:r>
          </a:p>
          <a:p xmlns:a="http://schemas.openxmlformats.org/drawingml/2006/main">
            <a:r>
              <a:t/>
            </a:r>
          </a:p>
          <a:p xmlns:a="http://schemas.openxmlformats.org/drawingml/2006/main">
            <a:r>
              <a:t>Module section: https://docarcshot.github.io/id-practice-update/lectures/Bone_and_Joint_Infections_Septic_Arthritis_PJI_Osteomyelitis.html#osteomyelitis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Osteomyelitis without a retained implant usually does not need more than six weeks First define the route and anatomy: hematogenous, contiguous/post-traumatic, diabetic foot, vertebral, pressure-injury pelvic osteomyelitis, or hardware-associated infection. Chronic osteomyelitis with a sequestrum behaves differently from acute hematogenous disease even if the same organism is isolated. Management by source-control state Scenario Diagnostic priority Non-ID treatment Antibiotic duration framework Acute hematogenous osteomyelitis Blood cultures; MRI when needed; tissue diagnosis if blood cultures do not establish the pathogen and biopsy will change management. Drain abscess; debride necrotic tissue when present. Evaluate endovascular source for S. aureus bacteremia. Generally up to 6 weeks when no retained implant and source control is adequate. Oral therapy can be used when criteria are met. Subacute osteomyelitis / Brodie abscess Imaging plus biopsy/curettage when feasible because tumor and other mimics can resemble infection. Systemic inflammatory signs are often absent. Curettage/debridement is common, both diagnostic and therapeutic. No high-quality duration standard. Culture-directed therapy is commonly 4–6 weeks after curettage, but published practice is heterogeneous. Chronic contiguous or post-traumatic osteomyelitis with sequestrum Deep bone/tissue culture and histology at debridement. Surface swabs are weak etiologic specimens. Remove necrotic bone, drain abscess, manage dead space, remove infected hardware when feasible, stabilize bone, and obtain durable vascularized soft-tissue coverage. Usually no more than 6 weeks after adequate source control. Three to four weeks may be adequate after debridement in selected cases, but confirmatory evidence is limited. Complete resection of infected bone Confirm that residual infected bone and soft-tissue infection are absent. Definitive resection/amputation plus wound management. General pyogenic osteomyelitis guidance permits no further osteomyelitis treatment after complete resection when no soft-tissue infection remains. For diabetes-related foot osteomyelitis, the IWGDF/IDSA table specifies 2–5 days after complete resection; positive margins and residual soft-tissue infection require their own courses. Retained fracture fixation hardware Deep cultures, union status, stability, and whether hardware can be removed without mechanical failure. Debridement and stabilization. Sometimes hardware must remain until union, then can be removed. Evidence is weaker. Therapy may need to continue through fracture healing and/or transition to suppression until hardware can safely be removed. Coordinate with orthopedics rather than applying a PJI algorithm automatically. Diabetic foot osteomyelitis deserves its own pathway The current 2023 IWGDF/IDSA guideline recommends probe-to-bone, plain radiographs, and ESR/CRP/PCT as initial studies, followed by MRI when doubt persists. Obtain bone rather than soft-tissue culture when feasible. For mild infection in North America, initially target aerobic gram-positive pathogens; do not empirically cover Pseudomonas in a temperate climate unless recent cultures or a specific exposure supports it. For osteomyelitis treated without bone resection or amputation, use 6 weeks. After minor amputation with a positive bone-margin culture, use up to 3 weeks. Antibiotic-only treatment is most defensible for selected forefoot osteomyelitis without an urgent drainage need, peripheral arterial disease, or exposed bone. Moderate or severe infection with necrosis, gangrene, deep abscess, or ischemia requires early surgical assessment; combine debridement with urgent vascular assessment/revascularization when ischemic. Pressure offloading, wound care, and glycemic management remain essential. Oral is a pharmacologic decision, not a concession For a stable patient with adequate source control, reliable absorption, and an active high-bioavailability regimen with clinical evidence, a PICC is not required solely because the diagnosis is osteomyelitis. OVIVA directly supports oral therapy for appropriately selected complex bone and joint infections. Sources wiki , oviva , dfi , brodie</a:t>
            </a:r>
          </a:p>
          <a:p xmlns:a="http://schemas.openxmlformats.org/drawingml/2006/main">
            <a:r>
              <a:t/>
            </a:r>
          </a:p>
          <a:p xmlns:a="http://schemas.openxmlformats.org/drawingml/2006/main">
            <a:r>
              <a:t>Module section: https://docarcshot.github.io/id-practice-update/lectures/Bone_and_Joint_Infections_Septic_Arthritis_PJI_Osteomyelitis.html#osteomyelitis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Osteomyelitis without a retained implant usually does not need more than six weeks First define the route and anatomy: hematogenous, contiguous/post-traumatic, diabetic foot, vertebral, pressure-injury pelvic osteomyelitis, or hardware-associated infection. Chronic osteomyelitis with a sequestrum behaves differently from acute hematogenous disease even if the same organism is isolated. Management by source-control state Scenario Diagnostic priority Non-ID treatment Antibiotic duration framework Acute hematogenous osteomyelitis Blood cultures; MRI when needed; tissue diagnosis if blood cultures do not establish the pathogen and biopsy will change management. Drain abscess; debride necrotic tissue when present. Evaluate endovascular source for S. aureus bacteremia. Generally up to 6 weeks when no retained implant and source control is adequate. Oral therapy can be used when criteria are met. Subacute osteomyelitis / Brodie abscess Imaging plus biopsy/curettage when feasible because tumor and other mimics can resemble infection. Systemic inflammatory signs are often absent. Curettage/debridement is common, both diagnostic and therapeutic. No high-quality duration standard. Culture-directed therapy is commonly 4–6 weeks after curettage, but published practice is heterogeneous. Chronic contiguous or post-traumatic osteomyelitis with sequestrum Deep bone/tissue culture and histology at debridement. Surface swabs are weak etiologic specimens. Remove necrotic bone, drain abscess, manage dead space, remove infected hardware when feasible, stabilize bone, and obtain durable vascularized soft-tissue coverage. Usually no more than 6 weeks after adequate source control. Three to four weeks may be adequate after debridement in selected cases, but confirmatory evidence is limited. Complete resection of infected bone Confirm that residual infected bone and soft-tissue infection are absent. Definitive resection/amputation plus wound management. General pyogenic osteomyelitis guidance permits no further osteomyelitis treatment after complete resection when no soft-tissue infection remains. For diabetes-related foot osteomyelitis, the IWGDF/IDSA table specifies 2–5 days after complete resection; positive margins and residual soft-tissue infection require their own courses. Retained fracture fixation hardware Deep cultures, union status, stability, and whether hardware can be removed without mechanical failure. Debridement and stabilization. Sometimes hardware must remain until union, then can be removed. Evidence is weaker. Therapy may need to continue through fracture healing and/or transition to suppression until hardware can safely be removed. Coordinate with orthopedics rather than applying a PJI algorithm automatically. Diabetic foot osteomyelitis deserves its own pathway The current 2023 IWGDF/IDSA guideline recommends probe-to-bone, plain radiographs, and ESR/CRP/PCT as initial studies, followed by MRI when doubt persists. Obtain bone rather than soft-tissue culture when feasible. For mild infection in North America, initially target aerobic gram-positive pathogens; do not empirically cover Pseudomonas in a temperate climate unless recent cultures or a specific exposure supports it. For osteomyelitis treated without bone resection or amputation, use 6 weeks. After minor amputation with a positive bone-margin culture, use up to 3 weeks. Antibiotic-only treatment is most defensible for selected forefoot osteomyelitis without an urgent drainage need, peripheral arterial disease, or exposed bone. Moderate or severe infection with necrosis, gangrene, deep abscess, or ischemia requires early surgical assessment; combine debridement with urgent vascular assessment/revascularization when ischemic. Pressure offloading, wound care, and glycemic management remain essential. Oral is a pharmacologic decision, not a concession For a stable patient with adequate source control, reliable absorption, and an active high-bioavailability regimen with clinical evidence, a PICC is not required solely because the diagnosis is osteomyelitis. OVIVA directly supports oral therapy for appropriately selected complex bone and joint infections. Sources wiki , oviva , dfi , brodie</a:t>
            </a:r>
          </a:p>
          <a:p xmlns:a="http://schemas.openxmlformats.org/drawingml/2006/main">
            <a:r>
              <a:t/>
            </a:r>
          </a:p>
          <a:p xmlns:a="http://schemas.openxmlformats.org/drawingml/2006/main">
            <a:r>
              <a:t>Module section: https://docarcshot.github.io/id-practice-update/lectures/Bone_and_Joint_Infections_Septic_Arthritis_PJI_Osteomyelitis.html#osteomyelitis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Osteomyelitis without a retained implant usually does not need more than six weeks First define the route and anatomy: hematogenous, contiguous/post-traumatic, diabetic foot, vertebral, pressure-injury pelvic osteomyelitis, or hardware-associated infection. Chronic osteomyelitis with a sequestrum behaves differently from acute hematogenous disease even if the same organism is isolated. Management by source-control state Scenario Diagnostic priority Non-ID treatment Antibiotic duration framework Acute hematogenous osteomyelitis Blood cultures; MRI when needed; tissue diagnosis if blood cultures do not establish the pathogen and biopsy will change management. Drain abscess; debride necrotic tissue when present. Evaluate endovascular source for S. aureus bacteremia. Generally up to 6 weeks when no retained implant and source control is adequate. Oral therapy can be used when criteria are met. Subacute osteomyelitis / Brodie abscess Imaging plus biopsy/curettage when feasible because tumor and other mimics can resemble infection. Systemic inflammatory signs are often absent. Curettage/debridement is common, both diagnostic and therapeutic. No high-quality duration standard. Culture-directed therapy is commonly 4–6 weeks after curettage, but published practice is heterogeneous. Chronic contiguous or post-traumatic osteomyelitis with sequestrum Deep bone/tissue culture and histology at debridement. Surface swabs are weak etiologic specimens. Remove necrotic bone, drain abscess, manage dead space, remove infected hardware when feasible, stabilize bone, and obtain durable vascularized soft-tissue coverage. Usually no more than 6 weeks after adequate source control. Three to four weeks may be adequate after debridement in selected cases, but confirmatory evidence is limited. Complete resection of infected bone Confirm that residual infected bone and soft-tissue infection are absent. Definitive resection/amputation plus wound management. General pyogenic osteomyelitis guidance permits no further osteomyelitis treatment after complete resection when no soft-tissue infection remains. For diabetes-related foot osteomyelitis, the IWGDF/IDSA table specifies 2–5 days after complete resection; positive margins and residual soft-tissue infection require their own courses. Retained fracture fixation hardware Deep cultures, union status, stability, and whether hardware can be removed without mechanical failure. Debridement and stabilization. Sometimes hardware must remain until union, then can be removed. Evidence is weaker. Therapy may need to continue through fracture healing and/or transition to suppression until hardware can safely be removed. Coordinate with orthopedics rather than applying a PJI algorithm automatically. Diabetic foot osteomyelitis deserves its own pathway The current 2023 IWGDF/IDSA guideline recommends probe-to-bone, plain radiographs, and ESR/CRP/PCT as initial studies, followed by MRI when doubt persists. Obtain bone rather than soft-tissue culture when feasible. For mild infection in North America, initially target aerobic gram-positive pathogens; do not empirically cover Pseudomonas in a temperate climate unless recent cultures or a specific exposure supports it. For osteomyelitis treated without bone resection or amputation, use 6 weeks. After minor amputation with a positive bone-margin culture, use up to 3 weeks. Antibiotic-only treatment is most defensible for selected forefoot osteomyelitis without an urgent drainage need, peripheral arterial disease, or exposed bone. Moderate or severe infection with necrosis, gangrene, deep abscess, or ischemia requires early surgical assessment; combine debridement with urgent vascular assessment/revascularization when ischemic. Pressure offloading, wound care, and glycemic management remain essential. Oral is a pharmacologic decision, not a concession For a stable patient with adequate source control, reliable absorption, and an active high-bioavailability regimen with clinical evidence, a PICC is not required solely because the diagnosis is osteomyelitis. OVIVA directly supports oral therapy for appropriately selected complex bone and joint infections. Sources wiki , oviva , dfi , brodie</a:t>
            </a:r>
          </a:p>
          <a:p xmlns:a="http://schemas.openxmlformats.org/drawingml/2006/main">
            <a:r>
              <a:t/>
            </a:r>
          </a:p>
          <a:p xmlns:a="http://schemas.openxmlformats.org/drawingml/2006/main">
            <a:r>
              <a:t>Module section: https://docarcshot.github.io/id-practice-update/lectures/Bone_and_Joint_Infections_Septic_Arthritis_PJI_Osteomyelitis.html#osteomyelitis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Osteomyelitis without a retained implant usually does not need more than six weeks First define the route and anatomy: hematogenous, contiguous/post-traumatic, diabetic foot, vertebral, pressure-injury pelvic osteomyelitis, or hardware-associated infection. Chronic osteomyelitis with a sequestrum behaves differently from acute hematogenous disease even if the same organism is isolated. Management by source-control state Scenario Diagnostic priority Non-ID treatment Antibiotic duration framework Acute hematogenous osteomyelitis Blood cultures; MRI when needed; tissue diagnosis if blood cultures do not establish the pathogen and biopsy will change management. Drain abscess; debride necrotic tissue when present. Evaluate endovascular source for S. aureus bacteremia. Generally up to 6 weeks when no retained implant and source control is adequate. Oral therapy can be used when criteria are met. Subacute osteomyelitis / Brodie abscess Imaging plus biopsy/curettage when feasible because tumor and other mimics can resemble infection. Systemic inflammatory signs are often absent. Curettage/debridement is common, both diagnostic and therapeutic. No high-quality duration standard. Culture-directed therapy is commonly 4–6 weeks after curettage, but published practice is heterogeneous. Chronic contiguous or post-traumatic osteomyelitis with sequestrum Deep bone/tissue culture and histology at debridement. Surface swabs are weak etiologic specimens. Remove necrotic bone, drain abscess, manage dead space, remove infected hardware when feasible, stabilize bone, and obtain durable vascularized soft-tissue coverage. Usually no more than 6 weeks after adequate source control. Three to four weeks may be adequate after debridement in selected cases, but confirmatory evidence is limited. Complete resection of infected bone Confirm that residual infected bone and soft-tissue infection are absent. Definitive resection/amputation plus wound management. General pyogenic osteomyelitis guidance permits no further osteomyelitis treatment after complete resection when no soft-tissue infection remains. For diabetes-related foot osteomyelitis, the IWGDF/IDSA table specifies 2–5 days after complete resection; positive margins and residual soft-tissue infection require their own courses. Retained fracture fixation hardware Deep cultures, union status, stability, and whether hardware can be removed without mechanical failure. Debridement and stabilization. Sometimes hardware must remain until union, then can be removed. Evidence is weaker. Therapy may need to continue through fracture healing and/or transition to suppression until hardware can safely be removed. Coordinate with orthopedics rather than applying a PJI algorithm automatically. Diabetic foot osteomyelitis deserves its own pathway The current 2023 IWGDF/IDSA guideline recommends probe-to-bone, plain radiographs, and ESR/CRP/PCT as initial studies, followed by MRI when doubt persists. Obtain bone rather than soft-tissue culture when feasible. For mild infection in North America, initially target aerobic gram-positive pathogens; do not empirically cover Pseudomonas in a temperate climate unless recent cultures or a specific exposure supports it. For osteomyelitis treated without bone resection or amputation, use 6 weeks. After minor amputation with a positive bone-margin culture, use up to 3 weeks. Antibiotic-only treatment is most defensible for selected forefoot osteomyelitis without an urgent drainage need, peripheral arterial disease, or exposed bone. Moderate or severe infection with necrosis, gangrene, deep abscess, or ischemia requires early surgical assessment; combine debridement with urgent vascular assessment/revascularization when ischemic. Pressure offloading, wound care, and glycemic management remain essential. Oral is a pharmacologic decision, not a concession For a stable patient with adequate source control, reliable absorption, and an active high-bioavailability regimen with clinical evidence, a PICC is not required solely because the diagnosis is osteomyelitis. OVIVA directly supports oral therapy for appropriately selected complex bone and joint infections. Sources wiki , oviva , dfi , brodie</a:t>
            </a:r>
          </a:p>
          <a:p xmlns:a="http://schemas.openxmlformats.org/drawingml/2006/main">
            <a:r>
              <a:t/>
            </a:r>
          </a:p>
          <a:p xmlns:a="http://schemas.openxmlformats.org/drawingml/2006/main">
            <a:r>
              <a:t>Module section: https://docarcshot.github.io/id-practice-update/lectures/Bone_and_Joint_Infections_Septic_Arthritis_PJI_Osteomyelitis.html#osteomyelitis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Osteomyelitis without a retained implant usually does not need more than six weeks First define the route and anatomy: hematogenous, contiguous/post-traumatic, diabetic foot, vertebral, pressure-injury pelvic osteomyelitis, or hardware-associated infection. Chronic osteomyelitis with a sequestrum behaves differently from acute hematogenous disease even if the same organism is isolated. Management by source-control state Scenario Diagnostic priority Non-ID treatment Antibiotic duration framework Acute hematogenous osteomyelitis Blood cultures; MRI when needed; tissue diagnosis if blood cultures do not establish the pathogen and biopsy will change management. Drain abscess; debride necrotic tissue when present. Evaluate endovascular source for S. aureus bacteremia. Generally up to 6 weeks when no retained implant and source control is adequate. Oral therapy can be used when criteria are met. Subacute osteomyelitis / Brodie abscess Imaging plus biopsy/curettage when feasible because tumor and other mimics can resemble infection. Systemic inflammatory signs are often absent. Curettage/debridement is common, both diagnostic and therapeutic. No high-quality duration standard. Culture-directed therapy is commonly 4–6 weeks after curettage, but published practice is heterogeneous. Chronic contiguous or post-traumatic osteomyelitis with sequestrum Deep bone/tissue culture and histology at debridement. Surface swabs are weak etiologic specimens. Remove necrotic bone, drain abscess, manage dead space, remove infected hardware when feasible, stabilize bone, and obtain durable vascularized soft-tissue coverage. Usually no more than 6 weeks after adequate source control. Three to four weeks may be adequate after debridement in selected cases, but confirmatory evidence is limited. Complete resection of infected bone Confirm that residual infected bone and soft-tissue infection are absent. Definitive resection/amputation plus wound management. General pyogenic osteomyelitis guidance permits no further osteomyelitis treatment after complete resection when no soft-tissue infection remains. For diabetes-related foot osteomyelitis, the IWGDF/IDSA table specifies 2–5 days after complete resection; positive margins and residual soft-tissue infection require their own courses. Retained fracture fixation hardware Deep cultures, union status, stability, and whether hardware can be removed without mechanical failure. Debridement and stabilization. Sometimes hardware must remain until union, then can be removed. Evidence is weaker. Therapy may need to continue through fracture healing and/or transition to suppression until hardware can safely be removed. Coordinate with orthopedics rather than applying a PJI algorithm automatically. Diabetic foot osteomyelitis deserves its own pathway The current 2023 IWGDF/IDSA guideline recommends probe-to-bone, plain radiographs, and ESR/CRP/PCT as initial studies, followed by MRI when doubt persists. Obtain bone rather than soft-tissue culture when feasible. For mild infection in North America, initially target aerobic gram-positive pathogens; do not empirically cover Pseudomonas in a temperate climate unless recent cultures or a specific exposure supports it. For osteomyelitis treated without bone resection or amputation, use 6 weeks. After minor amputation with a positive bone-margin culture, use up to 3 weeks. Antibiotic-only treatment is most defensible for selected forefoot osteomyelitis without an urgent drainage need, peripheral arterial disease, or exposed bone. Moderate or severe infection with necrosis, gangrene, deep abscess, or ischemia requires early surgical assessment; combine debridement with urgent vascular assessment/revascularization when ischemic. Pressure offloading, wound care, and glycemic management remain essential. Oral is a pharmacologic decision, not a concession For a stable patient with adequate source control, reliable absorption, and an active high-bioavailability regimen with clinical evidence, a PICC is not required solely because the diagnosis is osteomyelitis. OVIVA directly supports oral therapy for appropriately selected complex bone and joint infections. Sources wiki , oviva , dfi , brodie</a:t>
            </a:r>
          </a:p>
          <a:p xmlns:a="http://schemas.openxmlformats.org/drawingml/2006/main">
            <a:r>
              <a:t/>
            </a:r>
          </a:p>
          <a:p xmlns:a="http://schemas.openxmlformats.org/drawingml/2006/main">
            <a:r>
              <a:t>Module section: https://docarcshot.github.io/id-practice-update/lectures/Bone_and_Joint_Infections_Septic_Arthritis_PJI_Osteomyelitis.html#osteomyelitis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Osteomyelitis without a retained implant usually does not need more than six weeks First define the route and anatomy: hematogenous, contiguous/post-traumatic, diabetic foot, vertebral, pressure-injury pelvic osteomyelitis, or hardware-associated infection. Chronic osteomyelitis with a sequestrum behaves differently from acute hematogenous disease even if the same organism is isolated. Management by source-control state Scenario Diagnostic priority Non-ID treatment Antibiotic duration framework Acute hematogenous osteomyelitis Blood cultures; MRI when needed; tissue diagnosis if blood cultures do not establish the pathogen and biopsy will change management. Drain abscess; debride necrotic tissue when present. Evaluate endovascular source for S. aureus bacteremia. Generally up to 6 weeks when no retained implant and source control is adequate. Oral therapy can be used when criteria are met. Subacute osteomyelitis / Brodie abscess Imaging plus biopsy/curettage when feasible because tumor and other mimics can resemble infection. Systemic inflammatory signs are often absent. Curettage/debridement is common, both diagnostic and therapeutic. No high-quality duration standard. Culture-directed therapy is commonly 4–6 weeks after curettage, but published practice is heterogeneous. Chronic contiguous or post-traumatic osteomyelitis with sequestrum Deep bone/tissue culture and histology at debridement. Surface swabs are weak etiologic specimens. Remove necrotic bone, drain abscess, manage dead space, remove infected hardware when feasible, stabilize bone, and obtain durable vascularized soft-tissue coverage. Usually no more than 6 weeks after adequate source control. Three to four weeks may be adequate after debridement in selected cases, but confirmatory evidence is limited. Complete resection of infected bone Confirm that residual infected bone and soft-tissue infection are absent. Definitive resection/amputation plus wound management. General pyogenic osteomyelitis guidance permits no further osteomyelitis treatment after complete resection when no soft-tissue infection remains. For diabetes-related foot osteomyelitis, the IWGDF/IDSA table specifies 2–5 days after complete resection; positive margins and residual soft-tissue infection require their own courses. Retained fracture fixation hardware Deep cultures, union status, stability, and whether hardware can be removed without mechanical failure. Debridement and stabilization. Sometimes hardware must remain until union, then can be removed. Evidence is weaker. Therapy may need to continue through fracture healing and/or transition to suppression until hardware can safely be removed. Coordinate with orthopedics rather than applying a PJI algorithm automatically. Diabetic foot osteomyelitis deserves its own pathway The current 2023 IWGDF/IDSA guideline recommends probe-to-bone, plain radiographs, and ESR/CRP/PCT as initial studies, followed by MRI when doubt persists. Obtain bone rather than soft-tissue culture when feasible. For mild infection in North America, initially target aerobic gram-positive pathogens; do not empirically cover Pseudomonas in a temperate climate unless recent cultures or a specific exposure supports it. For osteomyelitis treated without bone resection or amputation, use 6 weeks. After minor amputation with a positive bone-margin culture, use up to 3 weeks. Antibiotic-only treatment is most defensible for selected forefoot osteomyelitis without an urgent drainage need, peripheral arterial disease, or exposed bone. Moderate or severe infection with necrosis, gangrene, deep abscess, or ischemia requires early surgical assessment; combine debridement with urgent vascular assessment/revascularization when ischemic. Pressure offloading, wound care, and glycemic management remain essential. Oral is a pharmacologic decision, not a concession For a stable patient with adequate source control, reliable absorption, and an active high-bioavailability regimen with clinical evidence, a PICC is not required solely because the diagnosis is osteomyelitis. OVIVA directly supports oral therapy for appropriately selected complex bone and joint infections. Sources wiki , oviva , dfi , brodie</a:t>
            </a:r>
          </a:p>
          <a:p xmlns:a="http://schemas.openxmlformats.org/drawingml/2006/main">
            <a:r>
              <a:t/>
            </a:r>
          </a:p>
          <a:p xmlns:a="http://schemas.openxmlformats.org/drawingml/2006/main">
            <a:r>
              <a:t>Module section: https://docarcshot.github.io/id-practice-update/lectures/Bone_and_Joint_Infections_Septic_Arthritis_PJI_Osteomyelitis.html#osteomyelitis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Stable vertebral osteomyelitis is one of the situations where delaying empiric therapy can improve the diagnosis Obtain blood cultures and MRI. S. aureus bacteremia with a compatible MRI often establishes the diagnosis without disc-space biopsy. If the patient is hemodynamically stable with a stable neurologic examination and blood cultures are nondiagnostic, the IDSA guideline supports withholding empiric therapy while obtaining a microbiologic diagnosis. Sepsis, shock, or severe/progressive neurologic symptoms require prompt treatment while the diagnostic workup proceeds. Medical treatment For most bacterial native vertebral osteomyelitis, use 6 weeks of parenteral or highly bioavailable oral therapy. Routine extension beyond 6 weeks because MRI still looks abnormal is not supported. Call spine surgery early for Progressive neurologic deficit, progressive deformity, spinal instability, persistent/recurrent bacteremia without another source, or worsening pain despite appropriate therapy. Follow the patient clinically. ESR/CRP can support trend assessment, but persistent pain, an elevated marker, or residual MRI abnormalities alone do not establish treatment failure. Source nvo</a:t>
            </a:r>
          </a:p>
          <a:p xmlns:a="http://schemas.openxmlformats.org/drawingml/2006/main">
            <a:r>
              <a:t/>
            </a:r>
          </a:p>
          <a:p xmlns:a="http://schemas.openxmlformats.org/drawingml/2006/main">
            <a:r>
              <a:t>Module section: https://docarcshot.github.io/id-practice-update/lectures/Bone_and_Joint_Infections_Septic_Arthritis_PJI_Osteomyelitis.html#vertebral</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Stable vertebral osteomyelitis is one of the situations where delaying empiric therapy can improve the diagnosis Obtain blood cultures and MRI. S. aureus bacteremia with a compatible MRI often establishes the diagnosis without disc-space biopsy. If the patient is hemodynamically stable with a stable neurologic examination and blood cultures are nondiagnostic, the IDSA guideline supports withholding empiric therapy while obtaining a microbiologic diagnosis. Sepsis, shock, or severe/progressive neurologic symptoms require prompt treatment while the diagnostic workup proceeds. Medical treatment For most bacterial native vertebral osteomyelitis, use 6 weeks of parenteral or highly bioavailable oral therapy. Routine extension beyond 6 weeks because MRI still looks abnormal is not supported. Call spine surgery early for Progressive neurologic deficit, progressive deformity, spinal instability, persistent/recurrent bacteremia without another source, or worsening pain despite appropriate therapy. Follow the patient clinically. ESR/CRP can support trend assessment, but persistent pain, an elevated marker, or residual MRI abnormalities alone do not establish treatment failure. Source nvo</a:t>
            </a:r>
          </a:p>
          <a:p xmlns:a="http://schemas.openxmlformats.org/drawingml/2006/main">
            <a:r>
              <a:t/>
            </a:r>
          </a:p>
          <a:p xmlns:a="http://schemas.openxmlformats.org/drawingml/2006/main">
            <a:r>
              <a:t>Module section: https://docarcshot.github.io/id-practice-update/lectures/Bone_and_Joint_Infections_Septic_Arthritis_PJI_Osteomyelitis.html#vertebral</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Stable vertebral osteomyelitis is one of the situations where delaying empiric therapy can improve the diagnosis Obtain blood cultures and MRI. S. aureus bacteremia with a compatible MRI often establishes the diagnosis without disc-space biopsy. If the patient is hemodynamically stable with a stable neurologic examination and blood cultures are nondiagnostic, the IDSA guideline supports withholding empiric therapy while obtaining a microbiologic diagnosis. Sepsis, shock, or severe/progressive neurologic symptoms require prompt treatment while the diagnostic workup proceeds. Medical treatment For most bacterial native vertebral osteomyelitis, use 6 weeks of parenteral or highly bioavailable oral therapy. Routine extension beyond 6 weeks because MRI still looks abnormal is not supported. Call spine surgery early for Progressive neurologic deficit, progressive deformity, spinal instability, persistent/recurrent bacteremia without another source, or worsening pain despite appropriate therapy. Follow the patient clinically. ESR/CRP can support trend assessment, but persistent pain, an elevated marker, or residual MRI abnormalities alone do not establish treatment failure. Source nvo</a:t>
            </a:r>
          </a:p>
          <a:p xmlns:a="http://schemas.openxmlformats.org/drawingml/2006/main">
            <a:r>
              <a:t/>
            </a:r>
          </a:p>
          <a:p xmlns:a="http://schemas.openxmlformats.org/drawingml/2006/main">
            <a:r>
              <a:t>Module section: https://docarcshot.github.io/id-practice-update/lectures/Bone_and_Joint_Infections_Septic_Arthritis_PJI_Osteomyelitis.html#vertebral</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Chronic sacral or pelvic osteomyelitis with an open pressure wound is not a six-week-antibiotic diagnosis Exposed bone does not prove osteomyelitis. Chronically exposed bone can show reactive remodeling, and MRI may not reliably distinguish that from infection. If the wound cannot be debrided and durably closed, evidence has not shown that prolonged antibiotics sterilize the underlying bone or improve durable outcomes. The treatment goal becomes wound stability, symptom control, prevention of new pressure injury, and treatment of discrete acute infections. Stage IV sacral/pelvic pressure injury: when antibiotics help and when they do not Clinical scenario Systemic antibiotics What matters more Exposed bone, chronic wound, no cellulitis, abscess, bacteremia, or systemic illness; no plan for debridement/flap closure None. Do not treat the exposed bone or MRI result with a chronic osteomyelitis course. Pressure redistribution, wound cleansing/dressings and exudate control, debridement of devitalized tissue when appropriate, moisture/incontinence management, nutrition, pain/odor control, rehabilitation and caregiver feasibility, and goals of care. Pelvic osteomyelitis suspected or diagnosed, but no soft-tissue infection and no plan for debridement plus flap reconstruction None. Current evidence does not support prolonged systemic antibiotics. Reassess whether closure is feasible with plastics/wound surgery. If not, manage the chronic wound rather than trying to sterilize an open contaminated surface. Acute cellulitis/soft-tissue infection extending from the ulcer, no abscess About 5 days is a reasonable standard if improving; extend for slow clinical response. Choose coverage from severity, prior cultures, healthcare exposure, and local ecology. Debride necrotic tissue if needed, optimize wound care, pressure relief, and evaluate for deeper collection. Drainable abscess Drain first. About 5–10 days after drainage for the soft-tissue component is typical, individualized to response. Drainage is the key intervention. Obtain a meaningful deep specimen. Pyomyositis Usually 14–21 days, with drainage when an abscess is present. Drainage and assessment for bacteremia/endovascular source. Sepsis or bacteremia plausibly arising from an infected pressure injury Start prompt broad empiric therapy after blood/deep cultures when feasible. A common severe-infection approach is vancomycin plus cefepime plus metronidazole, or vancomycin plus piperacillin-tazobactam, modified for prior resistant isolates and local antibiogram. Narrow quickly. Look for abscess, necrotizing infection, fecal/urinary contamination, or another source. Treat the systemic syndrome and source. Do not automatically convert clinical improvement into six weeks of therapy. Debridement and flap reconstruction planned When stable, hold unnecessary empiric antibiotics until operative deep bone/tissue cultures if feasible. After adequate debridement and flap coverage, 6 weeks remains a conventional standard. Selected cortical-only disease may need less, but evidence for 2–4 weeks is not yet strong enough to use as a universal default. Multidisciplinary surgery, durable coverage, pressure offloading, nutritional optimization, continence management, and a realistic postoperative pressure-relief plan. Do not substitute suppressive antibiotics for wound closure Long-term suppression is sometimes rational for a retained infected orthopedic implant or extensive necrotic bone that cannot be removed. That logic should not be automatically transferred to an open stage IV sacral wound. Ongoing contamination and absent coverage make durable microbial suppression unlikely, and the best available reviews recommend no systemic antibiotics in the absence of an acute soft-tissue/systemic infection or a reconstructive surgical plan. Non-ID treatment is the treatment Pressure and wound mechanics Regular pressure redistribution/repositioning, appropriate support surface, minimizing shear, absorbent dressings, moisture balance, and reducing dressing trauma/frequency when palliation is the goal. Debridement and reconstruction Wound surgery/plastics evaluation for debridement, bone resection when needed, and flap coverage. Assess whether postoperative offloading and wound protection are realistically sustainable before major reconstruction. Host optimization Nutrition and protein/calorie adequacy, perfusion, smoking cessation when relevant, glycemic management, management of spasticity/contractures, urinary/fecal incontinence, pain, odor, mobility, and caregiver resources. Sources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https://docarcshot.github.io/id-practice-update/lectures/Bone_and_Joint_Infections_Septic_Arthritis_PJI_Osteomyelitis.html#pressure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Chronic sacral or pelvic osteomyelitis with an open pressure wound is not a six-week-antibiotic diagnosis Exposed bone does not prove osteomyelitis. Chronically exposed bone can show reactive remodeling, and MRI may not reliably distinguish that from infection. If the wound cannot be debrided and durably closed, evidence has not shown that prolonged antibiotics sterilize the underlying bone or improve durable outcomes. The treatment goal becomes wound stability, symptom control, prevention of new pressure injury, and treatment of discrete acute infections. Stage IV sacral/pelvic pressure injury: when antibiotics help and when they do not Clinical scenario Systemic antibiotics What matters more Exposed bone, chronic wound, no cellulitis, abscess, bacteremia, or systemic illness; no plan for debridement/flap closure None. Do not treat the exposed bone or MRI result with a chronic osteomyelitis course. Pressure redistribution, wound cleansing/dressings and exudate control, debridement of devitalized tissue when appropriate, moisture/incontinence management, nutrition, pain/odor control, rehabilitation and caregiver feasibility, and goals of care. Pelvic osteomyelitis suspected or diagnosed, but no soft-tissue infection and no plan for debridement plus flap reconstruction None. Current evidence does not support prolonged systemic antibiotics. Reassess whether closure is feasible with plastics/wound surgery. If not, manage the chronic wound rather than trying to sterilize an open contaminated surface. Acute cellulitis/soft-tissue infection extending from the ulcer, no abscess About 5 days is a reasonable standard if improving; extend for slow clinical response. Choose coverage from severity, prior cultures, healthcare exposure, and local ecology. Debride necrotic tissue if needed, optimize wound care, pressure relief, and evaluate for deeper collection. Drainable abscess Drain first. About 5–10 days after drainage for the soft-tissue component is typical, individualized to response. Drainage is the key intervention. Obtain a meaningful deep specimen. Pyomyositis Usually 14–21 days, with drainage when an abscess is present. Drainage and assessment for bacteremia/endovascular source. Sepsis or bacteremia plausibly arising from an infected pressure injury Start prompt broad empiric therapy after blood/deep cultures when feasible. A common severe-infection approach is vancomycin plus cefepime plus metronidazole, or vancomycin plus piperacillin-tazobactam, modified for prior resistant isolates and local antibiogram. Narrow quickly. Look for abscess, necrotizing infection, fecal/urinary contamination, or another source. Treat the systemic syndrome and source. Do not automatically convert clinical improvement into six weeks of therapy. Debridement and flap reconstruction planned When stable, hold unnecessary empiric antibiotics until operative deep bone/tissue cultures if feasible. After adequate debridement and flap coverage, 6 weeks remains a conventional standard. Selected cortical-only disease may need less, but evidence for 2–4 weeks is not yet strong enough to use as a universal default. Multidisciplinary surgery, durable coverage, pressure offloading, nutritional optimization, continence management, and a realistic postoperative pressure-relief plan. Do not substitute suppressive antibiotics for wound closure Long-term suppression is sometimes rational for a retained infected orthopedic implant or extensive necrotic bone that cannot be removed. That logic should not be automatically transferred to an open stage IV sacral wound. Ongoing contamination and absent coverage make durable microbial suppression unlikely, and the best available reviews recommend no systemic antibiotics in the absence of an acute soft-tissue/systemic infection or a reconstructive surgical plan. Non-ID treatment is the treatment Pressure and wound mechanics Regular pressure redistribution/repositioning, appropriate support surface, minimizing shear, absorbent dressings, moisture balance, and reducing dressing trauma/frequency when palliation is the goal. Debridement and reconstruction Wound surgery/plastics evaluation for debridement, bone resection when needed, and flap coverage. Assess whether postoperative offloading and wound protection are realistically sustainable before major reconstruction. Host optimization Nutrition and protein/calorie adequacy, perfusion, smoking cessation when relevant, glycemic management, management of spasticity/contractures, urinary/fecal incontinence, pain, odor, mobility, and caregiver resources. Sources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https://docarcshot.github.io/id-practice-update/lectures/Bone_and_Joint_Infections_Septic_Arthritis_PJI_Osteomyelitis.html#pressure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Chronic sacral or pelvic osteomyelitis with an open pressure wound is not a six-week-antibiotic diagnosis Exposed bone does not prove osteomyelitis. Chronically exposed bone can show reactive remodeling, and MRI may not reliably distinguish that from infection. If the wound cannot be debrided and durably closed, evidence has not shown that prolonged antibiotics sterilize the underlying bone or improve durable outcomes. The treatment goal becomes wound stability, symptom control, prevention of new pressure injury, and treatment of discrete acute infections. Stage IV sacral/pelvic pressure injury: when antibiotics help and when they do not Clinical scenario Systemic antibiotics What matters more Exposed bone, chronic wound, no cellulitis, abscess, bacteremia, or systemic illness; no plan for debridement/flap closure None. Do not treat the exposed bone or MRI result with a chronic osteomyelitis course. Pressure redistribution, wound cleansing/dressings and exudate control, debridement of devitalized tissue when appropriate, moisture/incontinence management, nutrition, pain/odor control, rehabilitation and caregiver feasibility, and goals of care. Pelvic osteomyelitis suspected or diagnosed, but no soft-tissue infection and no plan for debridement plus flap reconstruction None. Current evidence does not support prolonged systemic antibiotics. Reassess whether closure is feasible with plastics/wound surgery. If not, manage the chronic wound rather than trying to sterilize an open contaminated surface. Acute cellulitis/soft-tissue infection extending from the ulcer, no abscess About 5 days is a reasonable standard if improving; extend for slow clinical response. Choose coverage from severity, prior cultures, healthcare exposure, and local ecology. Debride necrotic tissue if needed, optimize wound care, pressure relief, and evaluate for deeper collection. Drainable abscess Drain first. About 5–10 days after drainage for the soft-tissue component is typical, individualized to response. Drainage is the key intervention. Obtain a meaningful deep specimen. Pyomyositis Usually 14–21 days, with drainage when an abscess is present. Drainage and assessment for bacteremia/endovascular source. Sepsis or bacteremia plausibly arising from an infected pressure injury Start prompt broad empiric therapy after blood/deep cultures when feasible. A common severe-infection approach is vancomycin plus cefepime plus metronidazole, or vancomycin plus piperacillin-tazobactam, modified for prior resistant isolates and local antibiogram. Narrow quickly. Look for abscess, necrotizing infection, fecal/urinary contamination, or another source. Treat the systemic syndrome and source. Do not automatically convert clinical improvement into six weeks of therapy. Debridement and flap reconstruction planned When stable, hold unnecessary empiric antibiotics until operative deep bone/tissue cultures if feasible. After adequate debridement and flap coverage, 6 weeks remains a conventional standard. Selected cortical-only disease may need less, but evidence for 2–4 weeks is not yet strong enough to use as a universal default. Multidisciplinary surgery, durable coverage, pressure offloading, nutritional optimization, continence management, and a realistic postoperative pressure-relief plan. Do not substitute suppressive antibiotics for wound closure Long-term suppression is sometimes rational for a retained infected orthopedic implant or extensive necrotic bone that cannot be removed. That logic should not be automatically transferred to an open stage IV sacral wound. Ongoing contamination and absent coverage make durable microbial suppression unlikely, and the best available reviews recommend no systemic antibiotics in the absence of an acute soft-tissue/systemic infection or a reconstructive surgical plan. Non-ID treatment is the treatment Pressure and wound mechanics Regular pressure redistribution/repositioning, appropriate support surface, minimizing shear, absorbent dressings, moisture balance, and reducing dressing trauma/frequency when palliation is the goal. Debridement and reconstruction Wound surgery/plastics evaluation for debridement, bone resection when needed, and flap coverage. Assess whether postoperative offloading and wound protection are realistically sustainable before major reconstruction. Host optimization Nutrition and protein/calorie adequacy, perfusion, smoking cessation when relevant, glycemic management, management of spasticity/contractures, urinary/fecal incontinence, pain, odor, mobility, and caregiver resources. Sources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https://docarcshot.github.io/id-practice-update/lectures/Bone_and_Joint_Infections_Septic_Arthritis_PJI_Osteomyelitis.html#pressure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Chronic sacral or pelvic osteomyelitis with an open pressure wound is not a six-week-antibiotic diagnosis Exposed bone does not prove osteomyelitis. Chronically exposed bone can show reactive remodeling, and MRI may not reliably distinguish that from infection. If the wound cannot be debrided and durably closed, evidence has not shown that prolonged antibiotics sterilize the underlying bone or improve durable outcomes. The treatment goal becomes wound stability, symptom control, prevention of new pressure injury, and treatment of discrete acute infections. Stage IV sacral/pelvic pressure injury: when antibiotics help and when they do not Clinical scenario Systemic antibiotics What matters more Exposed bone, chronic wound, no cellulitis, abscess, bacteremia, or systemic illness; no plan for debridement/flap closure None. Do not treat the exposed bone or MRI result with a chronic osteomyelitis course. Pressure redistribution, wound cleansing/dressings and exudate control, debridement of devitalized tissue when appropriate, moisture/incontinence management, nutrition, pain/odor control, rehabilitation and caregiver feasibility, and goals of care. Pelvic osteomyelitis suspected or diagnosed, but no soft-tissue infection and no plan for debridement plus flap reconstruction None. Current evidence does not support prolonged systemic antibiotics. Reassess whether closure is feasible with plastics/wound surgery. If not, manage the chronic wound rather than trying to sterilize an open contaminated surface. Acute cellulitis/soft-tissue infection extending from the ulcer, no abscess About 5 days is a reasonable standard if improving; extend for slow clinical response. Choose coverage from severity, prior cultures, healthcare exposure, and local ecology. Debride necrotic tissue if needed, optimize wound care, pressure relief, and evaluate for deeper collection. Drainable abscess Drain first. About 5–10 days after drainage for the soft-tissue component is typical, individualized to response. Drainage is the key intervention. Obtain a meaningful deep specimen. Pyomyositis Usually 14–21 days, with drainage when an abscess is present. Drainage and assessment for bacteremia/endovascular source. Sepsis or bacteremia plausibly arising from an infected pressure injury Start prompt broad empiric therapy after blood/deep cultures when feasible. A common severe-infection approach is vancomycin plus cefepime plus metronidazole, or vancomycin plus piperacillin-tazobactam, modified for prior resistant isolates and local antibiogram. Narrow quickly. Look for abscess, necrotizing infection, fecal/urinary contamination, or another source. Treat the systemic syndrome and source. Do not automatically convert clinical improvement into six weeks of therapy. Debridement and flap reconstruction planned When stable, hold unnecessary empiric antibiotics until operative deep bone/tissue cultures if feasible. After adequate debridement and flap coverage, 6 weeks remains a conventional standard. Selected cortical-only disease may need less, but evidence for 2–4 weeks is not yet strong enough to use as a universal default. Multidisciplinary surgery, durable coverage, pressure offloading, nutritional optimization, continence management, and a realistic postoperative pressure-relief plan. Do not substitute suppressive antibiotics for wound closure Long-term suppression is sometimes rational for a retained infected orthopedic implant or extensive necrotic bone that cannot be removed. That logic should not be automatically transferred to an open stage IV sacral wound. Ongoing contamination and absent coverage make durable microbial suppression unlikely, and the best available reviews recommend no systemic antibiotics in the absence of an acute soft-tissue/systemic infection or a reconstructive surgical plan. Non-ID treatment is the treatment Pressure and wound mechanics Regular pressure redistribution/repositioning, appropriate support surface, minimizing shear, absorbent dressings, moisture balance, and reducing dressing trauma/frequency when palliation is the goal. Debridement and reconstruction Wound surgery/plastics evaluation for debridement, bone resection when needed, and flap coverage. Assess whether postoperative offloading and wound protection are realistically sustainable before major reconstruction. Host optimization Nutrition and protein/calorie adequacy, perfusion, smoking cessation when relevant, glycemic management, management of spasticity/contractures, urinary/fecal incontinence, pain, odor, mobility, and caregiver resources. Sources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https://docarcshot.github.io/id-practice-update/lectures/Bone_and_Joint_Infections_Septic_Arthritis_PJI_Osteomyelitis.html#pressure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Chronic sacral or pelvic osteomyelitis with an open pressure wound is not a six-week-antibiotic diagnosis Exposed bone does not prove osteomyelitis. Chronically exposed bone can show reactive remodeling, and MRI may not reliably distinguish that from infection. If the wound cannot be debrided and durably closed, evidence has not shown that prolonged antibiotics sterilize the underlying bone or improve durable outcomes. The treatment goal becomes wound stability, symptom control, prevention of new pressure injury, and treatment of discrete acute infections. Stage IV sacral/pelvic pressure injury: when antibiotics help and when they do not Clinical scenario Systemic antibiotics What matters more Exposed bone, chronic wound, no cellulitis, abscess, bacteremia, or systemic illness; no plan for debridement/flap closure None. Do not treat the exposed bone or MRI result with a chronic osteomyelitis course. Pressure redistribution, wound cleansing/dressings and exudate control, debridement of devitalized tissue when appropriate, moisture/incontinence management, nutrition, pain/odor control, rehabilitation and caregiver feasibility, and goals of care. Pelvic osteomyelitis suspected or diagnosed, but no soft-tissue infection and no plan for debridement plus flap reconstruction None. Current evidence does not support prolonged systemic antibiotics. Reassess whether closure is feasible with plastics/wound surgery. If not, manage the chronic wound rather than trying to sterilize an open contaminated surface. Acute cellulitis/soft-tissue infection extending from the ulcer, no abscess About 5 days is a reasonable standard if improving; extend for slow clinical response. Choose coverage from severity, prior cultures, healthcare exposure, and local ecology. Debride necrotic tissue if needed, optimize wound care, pressure relief, and evaluate for deeper collection. Drainable abscess Drain first. About 5–10 days after drainage for the soft-tissue component is typical, individualized to response. Drainage is the key intervention. Obtain a meaningful deep specimen. Pyomyositis Usually 14–21 days, with drainage when an abscess is present. Drainage and assessment for bacteremia/endovascular source. Sepsis or bacteremia plausibly arising from an infected pressure injury Start prompt broad empiric therapy after blood/deep cultures when feasible. A common severe-infection approach is vancomycin plus cefepime plus metronidazole, or vancomycin plus piperacillin-tazobactam, modified for prior resistant isolates and local antibiogram. Narrow quickly. Look for abscess, necrotizing infection, fecal/urinary contamination, or another source. Treat the systemic syndrome and source. Do not automatically convert clinical improvement into six weeks of therapy. Debridement and flap reconstruction planned When stable, hold unnecessary empiric antibiotics until operative deep bone/tissue cultures if feasible. After adequate debridement and flap coverage, 6 weeks remains a conventional standard. Selected cortical-only disease may need less, but evidence for 2–4 weeks is not yet strong enough to use as a universal default. Multidisciplinary surgery, durable coverage, pressure offloading, nutritional optimization, continence management, and a realistic postoperative pressure-relief plan. Do not substitute suppressive antibiotics for wound closure Long-term suppression is sometimes rational for a retained infected orthopedic implant or extensive necrotic bone that cannot be removed. That logic should not be automatically transferred to an open stage IV sacral wound. Ongoing contamination and absent coverage make durable microbial suppression unlikely, and the best available reviews recommend no systemic antibiotics in the absence of an acute soft-tissue/systemic infection or a reconstructive surgical plan. Non-ID treatment is the treatment Pressure and wound mechanics Regular pressure redistribution/repositioning, appropriate support surface, minimizing shear, absorbent dressings, moisture balance, and reducing dressing trauma/frequency when palliation is the goal. Debridement and reconstruction Wound surgery/plastics evaluation for debridement, bone resection when needed, and flap coverage. Assess whether postoperative offloading and wound protection are realistically sustainable before major reconstruction. Host optimization Nutrition and protein/calorie adequacy, perfusion, smoking cessation when relevant, glycemic management, management of spasticity/contractures, urinary/fecal incontinence, pain, odor, mobility, and caregiver resources. Sources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https://docarcshot.github.io/id-practice-update/lectures/Bone_and_Joint_Infections_Septic_Arthritis_PJI_Osteomyelitis.html#pressure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Chronic sacral or pelvic osteomyelitis with an open pressure wound is not a six-week-antibiotic diagnosis Exposed bone does not prove osteomyelitis. Chronically exposed bone can show reactive remodeling, and MRI may not reliably distinguish that from infection. If the wound cannot be debrided and durably closed, evidence has not shown that prolonged antibiotics sterilize the underlying bone or improve durable outcomes. The treatment goal becomes wound stability, symptom control, prevention of new pressure injury, and treatment of discrete acute infections. Stage IV sacral/pelvic pressure injury: when antibiotics help and when they do not Clinical scenario Systemic antibiotics What matters more Exposed bone, chronic wound, no cellulitis, abscess, bacteremia, or systemic illness; no plan for debridement/flap closure None. Do not treat the exposed bone or MRI result with a chronic osteomyelitis course. Pressure redistribution, wound cleansing/dressings and exudate control, debridement of devitalized tissue when appropriate, moisture/incontinence management, nutrition, pain/odor control, rehabilitation and caregiver feasibility, and goals of care. Pelvic osteomyelitis suspected or diagnosed, but no soft-tissue infection and no plan for debridement plus flap reconstruction None. Current evidence does not support prolonged systemic antibiotics. Reassess whether closure is feasible with plastics/wound surgery. If not, manage the chronic wound rather than trying to sterilize an open contaminated surface. Acute cellulitis/soft-tissue infection extending from the ulcer, no abscess About 5 days is a reasonable standard if improving; extend for slow clinical response. Choose coverage from severity, prior cultures, healthcare exposure, and local ecology. Debride necrotic tissue if needed, optimize wound care, pressure relief, and evaluate for deeper collection. Drainable abscess Drain first. About 5–10 days after drainage for the soft-tissue component is typical, individualized to response. Drainage is the key intervention. Obtain a meaningful deep specimen. Pyomyositis Usually 14–21 days, with drainage when an abscess is present. Drainage and assessment for bacteremia/endovascular source. Sepsis or bacteremia plausibly arising from an infected pressure injury Start prompt broad empiric therapy after blood/deep cultures when feasible. A common severe-infection approach is vancomycin plus cefepime plus metronidazole, or vancomycin plus piperacillin-tazobactam, modified for prior resistant isolates and local antibiogram. Narrow quickly. Look for abscess, necrotizing infection, fecal/urinary contamination, or another source. Treat the systemic syndrome and source. Do not automatically convert clinical improvement into six weeks of therapy. Debridement and flap reconstruction planned When stable, hold unnecessary empiric antibiotics until operative deep bone/tissue cultures if feasible. After adequate debridement and flap coverage, 6 weeks remains a conventional standard. Selected cortical-only disease may need less, but evidence for 2–4 weeks is not yet strong enough to use as a universal default. Multidisciplinary surgery, durable coverage, pressure offloading, nutritional optimization, continence management, and a realistic postoperative pressure-relief plan. Do not substitute suppressive antibiotics for wound closure Long-term suppression is sometimes rational for a retained infected orthopedic implant or extensive necrotic bone that cannot be removed. That logic should not be automatically transferred to an open stage IV sacral wound. Ongoing contamination and absent coverage make durable microbial suppression unlikely, and the best available reviews recommend no systemic antibiotics in the absence of an acute soft-tissue/systemic infection or a reconstructive surgical plan. Non-ID treatment is the treatment Pressure and wound mechanics Regular pressure redistribution/repositioning, appropriate support surface, minimizing shear, absorbent dressings, moisture balance, and reducing dressing trauma/frequency when palliation is the goal. Debridement and reconstruction Wound surgery/plastics evaluation for debridement, bone resection when needed, and flap coverage. Assess whether postoperative offloading and wound protection are realistically sustainable before major reconstruction. Host optimization Nutrition and protein/calorie adequacy, perfusion, smoking cessation when relevant, glycemic management, management of spasticity/contractures, urinary/fecal incontinence, pain, odor, mobility, and caregiver resources. Sources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https://docarcshot.github.io/id-practice-update/lectures/Bone_and_Joint_Infections_Septic_Arthritis_PJI_Osteomyelitis.html#pressure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Chronic sacral or pelvic osteomyelitis with an open pressure wound is not a six-week-antibiotic diagnosis Exposed bone does not prove osteomyelitis. Chronically exposed bone can show reactive remodeling, and MRI may not reliably distinguish that from infection. If the wound cannot be debrided and durably closed, evidence has not shown that prolonged antibiotics sterilize the underlying bone or improve durable outcomes. The treatment goal becomes wound stability, symptom control, prevention of new pressure injury, and treatment of discrete acute infections. Stage IV sacral/pelvic pressure injury: when antibiotics help and when they do not Clinical scenario Systemic antibiotics What matters more Exposed bone, chronic wound, no cellulitis, abscess, bacteremia, or systemic illness; no plan for debridement/flap closure None. Do not treat the exposed bone or MRI result with a chronic osteomyelitis course. Pressure redistribution, wound cleansing/dressings and exudate control, debridement of devitalized tissue when appropriate, moisture/incontinence management, nutrition, pain/odor control, rehabilitation and caregiver feasibility, and goals of care. Pelvic osteomyelitis suspected or diagnosed, but no soft-tissue infection and no plan for debridement plus flap reconstruction None. Current evidence does not support prolonged systemic antibiotics. Reassess whether closure is feasible with plastics/wound surgery. If not, manage the chronic wound rather than trying to sterilize an open contaminated surface. Acute cellulitis/soft-tissue infection extending from the ulcer, no abscess About 5 days is a reasonable standard if improving; extend for slow clinical response. Choose coverage from severity, prior cultures, healthcare exposure, and local ecology. Debride necrotic tissue if needed, optimize wound care, pressure relief, and evaluate for deeper collection. Drainable abscess Drain first. About 5–10 days after drainage for the soft-tissue component is typical, individualized to response. Drainage is the key intervention. Obtain a meaningful deep specimen. Pyomyositis Usually 14–21 days, with drainage when an abscess is present. Drainage and assessment for bacteremia/endovascular source. Sepsis or bacteremia plausibly arising from an infected pressure injury Start prompt broad empiric therapy after blood/deep cultures when feasible. A common severe-infection approach is vancomycin plus cefepime plus metronidazole, or vancomycin plus piperacillin-tazobactam, modified for prior resistant isolates and local antibiogram. Narrow quickly. Look for abscess, necrotizing infection, fecal/urinary contamination, or another source. Treat the systemic syndrome and source. Do not automatically convert clinical improvement into six weeks of therapy. Debridement and flap reconstruction planned When stable, hold unnecessary empiric antibiotics until operative deep bone/tissue cultures if feasible. After adequate debridement and flap coverage, 6 weeks remains a conventional standard. Selected cortical-only disease may need less, but evidence for 2–4 weeks is not yet strong enough to use as a universal default. Multidisciplinary surgery, durable coverage, pressure offloading, nutritional optimization, continence management, and a realistic postoperative pressure-relief plan. Do not substitute suppressive antibiotics for wound closure Long-term suppression is sometimes rational for a retained infected orthopedic implant or extensive necrotic bone that cannot be removed. That logic should not be automatically transferred to an open stage IV sacral wound. Ongoing contamination and absent coverage make durable microbial suppression unlikely, and the best available reviews recommend no systemic antibiotics in the absence of an acute soft-tissue/systemic infection or a reconstructive surgical plan. Non-ID treatment is the treatment Pressure and wound mechanics Regular pressure redistribution/repositioning, appropriate support surface, minimizing shear, absorbent dressings, moisture balance, and reducing dressing trauma/frequency when palliation is the goal. Debridement and reconstruction Wound surgery/plastics evaluation for debridement, bone resection when needed, and flap coverage. Assess whether postoperative offloading and wound protection are realistically sustainable before major reconstruction. Host optimization Nutrition and protein/calorie adequacy, perfusion, smoking cessation when relevant, glycemic management, management of spasticity/contractures, urinary/fecal incontinence, pain, odor, mobility, and caregiver resources. Sources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https://docarcshot.github.io/id-practice-update/lectures/Bone_and_Joint_Infections_Septic_Arthritis_PJI_Osteomyelitis.html#pressure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Chronic sacral or pelvic osteomyelitis with an open pressure wound is not a six-week-antibiotic diagnosis Exposed bone does not prove osteomyelitis. Chronically exposed bone can show reactive remodeling, and MRI may not reliably distinguish that from infection. If the wound cannot be debrided and durably closed, evidence has not shown that prolonged antibiotics sterilize the underlying bone or improve durable outcomes. The treatment goal becomes wound stability, symptom control, prevention of new pressure injury, and treatment of discrete acute infections. Stage IV sacral/pelvic pressure injury: when antibiotics help and when they do not Clinical scenario Systemic antibiotics What matters more Exposed bone, chronic wound, no cellulitis, abscess, bacteremia, or systemic illness; no plan for debridement/flap closure None. Do not treat the exposed bone or MRI result with a chronic osteomyelitis course. Pressure redistribution, wound cleansing/dressings and exudate control, debridement of devitalized tissue when appropriate, moisture/incontinence management, nutrition, pain/odor control, rehabilitation and caregiver feasibility, and goals of care. Pelvic osteomyelitis suspected or diagnosed, but no soft-tissue infection and no plan for debridement plus flap reconstruction None. Current evidence does not support prolonged systemic antibiotics. Reassess whether closure is feasible with plastics/wound surgery. If not, manage the chronic wound rather than trying to sterilize an open contaminated surface. Acute cellulitis/soft-tissue infection extending from the ulcer, no abscess About 5 days is a reasonable standard if improving; extend for slow clinical response. Choose coverage from severity, prior cultures, healthcare exposure, and local ecology. Debride necrotic tissue if needed, optimize wound care, pressure relief, and evaluate for deeper collection. Drainable abscess Drain first. About 5–10 days after drainage for the soft-tissue component is typical, individualized to response. Drainage is the key intervention. Obtain a meaningful deep specimen. Pyomyositis Usually 14–21 days, with drainage when an abscess is present. Drainage and assessment for bacteremia/endovascular source. Sepsis or bacteremia plausibly arising from an infected pressure injury Start prompt broad empiric therapy after blood/deep cultures when feasible. A common severe-infection approach is vancomycin plus cefepime plus metronidazole, or vancomycin plus piperacillin-tazobactam, modified for prior resistant isolates and local antibiogram. Narrow quickly. Look for abscess, necrotizing infection, fecal/urinary contamination, or another source. Treat the systemic syndrome and source. Do not automatically convert clinical improvement into six weeks of therapy. Debridement and flap reconstruction planned When stable, hold unnecessary empiric antibiotics until operative deep bone/tissue cultures if feasible. After adequate debridement and flap coverage, 6 weeks remains a conventional standard. Selected cortical-only disease may need less, but evidence for 2–4 weeks is not yet strong enough to use as a universal default. Multidisciplinary surgery, durable coverage, pressure offloading, nutritional optimization, continence management, and a realistic postoperative pressure-relief plan. Do not substitute suppressive antibiotics for wound closure Long-term suppression is sometimes rational for a retained infected orthopedic implant or extensive necrotic bone that cannot be removed. That logic should not be automatically transferred to an open stage IV sacral wound. Ongoing contamination and absent coverage make durable microbial suppression unlikely, and the best available reviews recommend no systemic antibiotics in the absence of an acute soft-tissue/systemic infection or a reconstructive surgical plan. Non-ID treatment is the treatment Pressure and wound mechanics Regular pressure redistribution/repositioning, appropriate support surface, minimizing shear, absorbent dressings, moisture balance, and reducing dressing trauma/frequency when palliation is the goal. Debridement and reconstruction Wound surgery/plastics evaluation for debridement, bone resection when needed, and flap coverage. Assess whether postoperative offloading and wound protection are realistically sustainable before major reconstruction. Host optimization Nutrition and protein/calorie adequacy, perfusion, smoking cessation when relevant, glycemic management, management of spasticity/contractures, urinary/fecal incontinence, pain, odor, mobility, and caregiver resources. Sources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https://docarcshot.github.io/id-practice-update/lectures/Bone_and_Joint_Infections_Septic_Arthritis_PJI_Osteomyelitis.html#pressure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Chronic sacral or pelvic osteomyelitis with an open pressure wound is not a six-week-antibiotic diagnosis Exposed bone does not prove osteomyelitis. Chronically exposed bone can show reactive remodeling, and MRI may not reliably distinguish that from infection. If the wound cannot be debrided and durably closed, evidence has not shown that prolonged antibiotics sterilize the underlying bone or improve durable outcomes. The treatment goal becomes wound stability, symptom control, prevention of new pressure injury, and treatment of discrete acute infections. Stage IV sacral/pelvic pressure injury: when antibiotics help and when they do not Clinical scenario Systemic antibiotics What matters more Exposed bone, chronic wound, no cellulitis, abscess, bacteremia, or systemic illness; no plan for debridement/flap closure None. Do not treat the exposed bone or MRI result with a chronic osteomyelitis course. Pressure redistribution, wound cleansing/dressings and exudate control, debridement of devitalized tissue when appropriate, moisture/incontinence management, nutrition, pain/odor control, rehabilitation and caregiver feasibility, and goals of care. Pelvic osteomyelitis suspected or diagnosed, but no soft-tissue infection and no plan for debridement plus flap reconstruction None. Current evidence does not support prolonged systemic antibiotics. Reassess whether closure is feasible with plastics/wound surgery. If not, manage the chronic wound rather than trying to sterilize an open contaminated surface. Acute cellulitis/soft-tissue infection extending from the ulcer, no abscess About 5 days is a reasonable standard if improving; extend for slow clinical response. Choose coverage from severity, prior cultures, healthcare exposure, and local ecology. Debride necrotic tissue if needed, optimize wound care, pressure relief, and evaluate for deeper collection. Drainable abscess Drain first. About 5–10 days after drainage for the soft-tissue component is typical, individualized to response. Drainage is the key intervention. Obtain a meaningful deep specimen. Pyomyositis Usually 14–21 days, with drainage when an abscess is present. Drainage and assessment for bacteremia/endovascular source. Sepsis or bacteremia plausibly arising from an infected pressure injury Start prompt broad empiric therapy after blood/deep cultures when feasible. A common severe-infection approach is vancomycin plus cefepime plus metronidazole, or vancomycin plus piperacillin-tazobactam, modified for prior resistant isolates and local antibiogram. Narrow quickly. Look for abscess, necrotizing infection, fecal/urinary contamination, or another source. Treat the systemic syndrome and source. Do not automatically convert clinical improvement into six weeks of therapy. Debridement and flap reconstruction planned When stable, hold unnecessary empiric antibiotics until operative deep bone/tissue cultures if feasible. After adequate debridement and flap coverage, 6 weeks remains a conventional standard. Selected cortical-only disease may need less, but evidence for 2–4 weeks is not yet strong enough to use as a universal default. Multidisciplinary surgery, durable coverage, pressure offloading, nutritional optimization, continence management, and a realistic postoperative pressure-relief plan. Do not substitute suppressive antibiotics for wound closure Long-term suppression is sometimes rational for a retained infected orthopedic implant or extensive necrotic bone that cannot be removed. That logic should not be automatically transferred to an open stage IV sacral wound. Ongoing contamination and absent coverage make durable microbial suppression unlikely, and the best available reviews recommend no systemic antibiotics in the absence of an acute soft-tissue/systemic infection or a reconstructive surgical plan. Non-ID treatment is the treatment Pressure and wound mechanics Regular pressure redistribution/repositioning, appropriate support surface, minimizing shear, absorbent dressings, moisture balance, and reducing dressing trauma/frequency when palliation is the goal. Debridement and reconstruction Wound surgery/plastics evaluation for debridement, bone resection when needed, and flap coverage. Assess whether postoperative offloading and wound protection are realistically sustainable before major reconstruction. Host optimization Nutrition and protein/calorie adequacy, perfusion, smoking cessation when relevant, glycemic management, management of spasticity/contractures, urinary/fecal incontinence, pain, odor, mobility, and caregiver resources. Sources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https://docarcshot.github.io/id-practice-update/lectures/Bone_and_Joint_Infections_Septic_Arthritis_PJI_Osteomyelitis.html#pressure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Chronic sacral or pelvic osteomyelitis with an open pressure wound is not a six-week-antibiotic diagnosis Exposed bone does not prove osteomyelitis. Chronically exposed bone can show reactive remodeling, and MRI may not reliably distinguish that from infection. If the wound cannot be debrided and durably closed, evidence has not shown that prolonged antibiotics sterilize the underlying bone or improve durable outcomes. The treatment goal becomes wound stability, symptom control, prevention of new pressure injury, and treatment of discrete acute infections. Stage IV sacral/pelvic pressure injury: when antibiotics help and when they do not Clinical scenario Systemic antibiotics What matters more Exposed bone, chronic wound, no cellulitis, abscess, bacteremia, or systemic illness; no plan for debridement/flap closure None. Do not treat the exposed bone or MRI result with a chronic osteomyelitis course. Pressure redistribution, wound cleansing/dressings and exudate control, debridement of devitalized tissue when appropriate, moisture/incontinence management, nutrition, pain/odor control, rehabilitation and caregiver feasibility, and goals of care. Pelvic osteomyelitis suspected or diagnosed, but no soft-tissue infection and no plan for debridement plus flap reconstruction None. Current evidence does not support prolonged systemic antibiotics. Reassess whether closure is feasible with plastics/wound surgery. If not, manage the chronic wound rather than trying to sterilize an open contaminated surface. Acute cellulitis/soft-tissue infection extending from the ulcer, no abscess About 5 days is a reasonable standard if improving; extend for slow clinical response. Choose coverage from severity, prior cultures, healthcare exposure, and local ecology. Debride necrotic tissue if needed, optimize wound care, pressure relief, and evaluate for deeper collection. Drainable abscess Drain first. About 5–10 days after drainage for the soft-tissue component is typical, individualized to response. Drainage is the key intervention. Obtain a meaningful deep specimen. Pyomyositis Usually 14–21 days, with drainage when an abscess is present. Drainage and assessment for bacteremia/endovascular source. Sepsis or bacteremia plausibly arising from an infected pressure injury Start prompt broad empiric therapy after blood/deep cultures when feasible. A common severe-infection approach is vancomycin plus cefepime plus metronidazole, or vancomycin plus piperacillin-tazobactam, modified for prior resistant isolates and local antibiogram. Narrow quickly. Look for abscess, necrotizing infection, fecal/urinary contamination, or another source. Treat the systemic syndrome and source. Do not automatically convert clinical improvement into six weeks of therapy. Debridement and flap reconstruction planned When stable, hold unnecessary empiric antibiotics until operative deep bone/tissue cultures if feasible. After adequate debridement and flap coverage, 6 weeks remains a conventional standard. Selected cortical-only disease may need less, but evidence for 2–4 weeks is not yet strong enough to use as a universal default. Multidisciplinary surgery, durable coverage, pressure offloading, nutritional optimization, continence management, and a realistic postoperative pressure-relief plan. Do not substitute suppressive antibiotics for wound closure Long-term suppression is sometimes rational for a retained infected orthopedic implant or extensive necrotic bone that cannot be removed. That logic should not be automatically transferred to an open stage IV sacral wound. Ongoing contamination and absent coverage make durable microbial suppression unlikely, and the best available reviews recommend no systemic antibiotics in the absence of an acute soft-tissue/systemic infection or a reconstructive surgical plan. Non-ID treatment is the treatment Pressure and wound mechanics Regular pressure redistribution/repositioning, appropriate support surface, minimizing shear, absorbent dressings, moisture balance, and reducing dressing trauma/frequency when palliation is the goal. Debridement and reconstruction Wound surgery/plastics evaluation for debridement, bone resection when needed, and flap coverage. Assess whether postoperative offloading and wound protection are realistically sustainable before major reconstruction. Host optimization Nutrition and protein/calorie adequacy, perfusion, smoking cessation when relevant, glycemic management, management of spasticity/contractures, urinary/fecal incontinence, pain, odor, mobility, and caregiver resources. Sources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https://docarcshot.github.io/id-practice-update/lectures/Bone_and_Joint_Infections_Septic_Arthritis_PJI_Osteomyelitis.html#pressure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Chronic sacral or pelvic osteomyelitis with an open pressure wound is not a six-week-antibiotic diagnosis Exposed bone does not prove osteomyelitis. Chronically exposed bone can show reactive remodeling, and MRI may not reliably distinguish that from infection. If the wound cannot be debrided and durably closed, evidence has not shown that prolonged antibiotics sterilize the underlying bone or improve durable outcomes. The treatment goal becomes wound stability, symptom control, prevention of new pressure injury, and treatment of discrete acute infections. Stage IV sacral/pelvic pressure injury: when antibiotics help and when they do not Clinical scenario Systemic antibiotics What matters more Exposed bone, chronic wound, no cellulitis, abscess, bacteremia, or systemic illness; no plan for debridement/flap closure None. Do not treat the exposed bone or MRI result with a chronic osteomyelitis course. Pressure redistribution, wound cleansing/dressings and exudate control, debridement of devitalized tissue when appropriate, moisture/incontinence management, nutrition, pain/odor control, rehabilitation and caregiver feasibility, and goals of care. Pelvic osteomyelitis suspected or diagnosed, but no soft-tissue infection and no plan for debridement plus flap reconstruction None. Current evidence does not support prolonged systemic antibiotics. Reassess whether closure is feasible with plastics/wound surgery. If not, manage the chronic wound rather than trying to sterilize an open contaminated surface. Acute cellulitis/soft-tissue infection extending from the ulcer, no abscess About 5 days is a reasonable standard if improving; extend for slow clinical response. Choose coverage from severity, prior cultures, healthcare exposure, and local ecology. Debride necrotic tissue if needed, optimize wound care, pressure relief, and evaluate for deeper collection. Drainable abscess Drain first. About 5–10 days after drainage for the soft-tissue component is typical, individualized to response. Drainage is the key intervention. Obtain a meaningful deep specimen. Pyomyositis Usually 14–21 days, with drainage when an abscess is present. Drainage and assessment for bacteremia/endovascular source. Sepsis or bacteremia plausibly arising from an infected pressure injury Start prompt broad empiric therapy after blood/deep cultures when feasible. A common severe-infection approach is vancomycin plus cefepime plus metronidazole, or vancomycin plus piperacillin-tazobactam, modified for prior resistant isolates and local antibiogram. Narrow quickly. Look for abscess, necrotizing infection, fecal/urinary contamination, or another source. Treat the systemic syndrome and source. Do not automatically convert clinical improvement into six weeks of therapy. Debridement and flap reconstruction planned When stable, hold unnecessary empiric antibiotics until operative deep bone/tissue cultures if feasible. After adequate debridement and flap coverage, 6 weeks remains a conventional standard. Selected cortical-only disease may need less, but evidence for 2–4 weeks is not yet strong enough to use as a universal default. Multidisciplinary surgery, durable coverage, pressure offloading, nutritional optimization, continence management, and a realistic postoperative pressure-relief plan. Do not substitute suppressive antibiotics for wound closure Long-term suppression is sometimes rational for a retained infected orthopedic implant or extensive necrotic bone that cannot be removed. That logic should not be automatically transferred to an open stage IV sacral wound. Ongoing contamination and absent coverage make durable microbial suppression unlikely, and the best available reviews recommend no systemic antibiotics in the absence of an acute soft-tissue/systemic infection or a reconstructive surgical plan. Non-ID treatment is the treatment Pressure and wound mechanics Regular pressure redistribution/repositioning, appropriate support surface, minimizing shear, absorbent dressings, moisture balance, and reducing dressing trauma/frequency when palliation is the goal. Debridement and reconstruction Wound surgery/plastics evaluation for debridement, bone resection when needed, and flap coverage. Assess whether postoperative offloading and wound protection are realistically sustainable before major reconstruction. Host optimization Nutrition and protein/calorie adequacy, perfusion, smoking cessation when relevant, glycemic management, management of spasticity/contractures, urinary/fecal incontinence, pain, odor, mobility, and caregiver resources. Sources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https://docarcshot.github.io/id-practice-update/lectures/Bone_and_Joint_Infections_Septic_Arthritis_PJI_Osteomyelitis.html#pressure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Chronic sacral or pelvic osteomyelitis with an open pressure wound is not a six-week-antibiotic diagnosis Exposed bone does not prove osteomyelitis. Chronically exposed bone can show reactive remodeling, and MRI may not reliably distinguish that from infection. If the wound cannot be debrided and durably closed, evidence has not shown that prolonged antibiotics sterilize the underlying bone or improve durable outcomes. The treatment goal becomes wound stability, symptom control, prevention of new pressure injury, and treatment of discrete acute infections. Stage IV sacral/pelvic pressure injury: when antibiotics help and when they do not Clinical scenario Systemic antibiotics What matters more Exposed bone, chronic wound, no cellulitis, abscess, bacteremia, or systemic illness; no plan for debridement/flap closure None. Do not treat the exposed bone or MRI result with a chronic osteomyelitis course. Pressure redistribution, wound cleansing/dressings and exudate control, debridement of devitalized tissue when appropriate, moisture/incontinence management, nutrition, pain/odor control, rehabilitation and caregiver feasibility, and goals of care. Pelvic osteomyelitis suspected or diagnosed, but no soft-tissue infection and no plan for debridement plus flap reconstruction None. Current evidence does not support prolonged systemic antibiotics. Reassess whether closure is feasible with plastics/wound surgery. If not, manage the chronic wound rather than trying to sterilize an open contaminated surface. Acute cellulitis/soft-tissue infection extending from the ulcer, no abscess About 5 days is a reasonable standard if improving; extend for slow clinical response. Choose coverage from severity, prior cultures, healthcare exposure, and local ecology. Debride necrotic tissue if needed, optimize wound care, pressure relief, and evaluate for deeper collection. Drainable abscess Drain first. About 5–10 days after drainage for the soft-tissue component is typical, individualized to response. Drainage is the key intervention. Obtain a meaningful deep specimen. Pyomyositis Usually 14–21 days, with drainage when an abscess is present. Drainage and assessment for bacteremia/endovascular source. Sepsis or bacteremia plausibly arising from an infected pressure injury Start prompt broad empiric therapy after blood/deep cultures when feasible. A common severe-infection approach is vancomycin plus cefepime plus metronidazole, or vancomycin plus piperacillin-tazobactam, modified for prior resistant isolates and local antibiogram. Narrow quickly. Look for abscess, necrotizing infection, fecal/urinary contamination, or another source. Treat the systemic syndrome and source. Do not automatically convert clinical improvement into six weeks of therapy. Debridement and flap reconstruction planned When stable, hold unnecessary empiric antibiotics until operative deep bone/tissue cultures if feasible. After adequate debridement and flap coverage, 6 weeks remains a conventional standard. Selected cortical-only disease may need less, but evidence for 2–4 weeks is not yet strong enough to use as a universal default. Multidisciplinary surgery, durable coverage, pressure offloading, nutritional optimization, continence management, and a realistic postoperative pressure-relief plan. Do not substitute suppressive antibiotics for wound closure Long-term suppression is sometimes rational for a retained infected orthopedic implant or extensive necrotic bone that cannot be removed. That logic should not be automatically transferred to an open stage IV sacral wound. Ongoing contamination and absent coverage make durable microbial suppression unlikely, and the best available reviews recommend no systemic antibiotics in the absence of an acute soft-tissue/systemic infection or a reconstructive surgical plan. Non-ID treatment is the treatment Pressure and wound mechanics Regular pressure redistribution/repositioning, appropriate support surface, minimizing shear, absorbent dressings, moisture balance, and reducing dressing trauma/frequency when palliation is the goal. Debridement and reconstruction Wound surgery/plastics evaluation for debridement, bone resection when needed, and flap coverage. Assess whether postoperative offloading and wound protection are realistically sustainable before major reconstruction. Host optimization Nutrition and protein/calorie adequacy, perfusion, smoking cessation when relevant, glycemic management, management of spasticity/contractures, urinary/fecal incontinence, pain, odor, mobility, and caregiver resources. Sources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https://docarcshot.github.io/id-practice-update/lectures/Bone_and_Joint_Infections_Septic_Arthritis_PJI_Osteomyelitis.html#pressure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Chronic sacral or pelvic osteomyelitis with an open pressure wound is not a six-week-antibiotic diagnosis Exposed bone does not prove osteomyelitis. Chronically exposed bone can show reactive remodeling, and MRI may not reliably distinguish that from infection. If the wound cannot be debrided and durably closed, evidence has not shown that prolonged antibiotics sterilize the underlying bone or improve durable outcomes. The treatment goal becomes wound stability, symptom control, prevention of new pressure injury, and treatment of discrete acute infections. Stage IV sacral/pelvic pressure injury: when antibiotics help and when they do not Clinical scenario Systemic antibiotics What matters more Exposed bone, chronic wound, no cellulitis, abscess, bacteremia, or systemic illness; no plan for debridement/flap closure None. Do not treat the exposed bone or MRI result with a chronic osteomyelitis course. Pressure redistribution, wound cleansing/dressings and exudate control, debridement of devitalized tissue when appropriate, moisture/incontinence management, nutrition, pain/odor control, rehabilitation and caregiver feasibility, and goals of care. Pelvic osteomyelitis suspected or diagnosed, but no soft-tissue infection and no plan for debridement plus flap reconstruction None. Current evidence does not support prolonged systemic antibiotics. Reassess whether closure is feasible with plastics/wound surgery. If not, manage the chronic wound rather than trying to sterilize an open contaminated surface. Acute cellulitis/soft-tissue infection extending from the ulcer, no abscess About 5 days is a reasonable standard if improving; extend for slow clinical response. Choose coverage from severity, prior cultures, healthcare exposure, and local ecology. Debride necrotic tissue if needed, optimize wound care, pressure relief, and evaluate for deeper collection. Drainable abscess Drain first. About 5–10 days after drainage for the soft-tissue component is typical, individualized to response. Drainage is the key intervention. Obtain a meaningful deep specimen. Pyomyositis Usually 14–21 days, with drainage when an abscess is present. Drainage and assessment for bacteremia/endovascular source. Sepsis or bacteremia plausibly arising from an infected pressure injury Start prompt broad empiric therapy after blood/deep cultures when feasible. A common severe-infection approach is vancomycin plus cefepime plus metronidazole, or vancomycin plus piperacillin-tazobactam, modified for prior resistant isolates and local antibiogram. Narrow quickly. Look for abscess, necrotizing infection, fecal/urinary contamination, or another source. Treat the systemic syndrome and source. Do not automatically convert clinical improvement into six weeks of therapy. Debridement and flap reconstruction planned When stable, hold unnecessary empiric antibiotics until operative deep bone/tissue cultures if feasible. After adequate debridement and flap coverage, 6 weeks remains a conventional standard. Selected cortical-only disease may need less, but evidence for 2–4 weeks is not yet strong enough to use as a universal default. Multidisciplinary surgery, durable coverage, pressure offloading, nutritional optimization, continence management, and a realistic postoperative pressure-relief plan. Do not substitute suppressive antibiotics for wound closure Long-term suppression is sometimes rational for a retained infected orthopedic implant or extensive necrotic bone that cannot be removed. That logic should not be automatically transferred to an open stage IV sacral wound. Ongoing contamination and absent coverage make durable microbial suppression unlikely, and the best available reviews recommend no systemic antibiotics in the absence of an acute soft-tissue/systemic infection or a reconstructive surgical plan. Non-ID treatment is the treatment Pressure and wound mechanics Regular pressure redistribution/repositioning, appropriate support surface, minimizing shear, absorbent dressings, moisture balance, and reducing dressing trauma/frequency when palliation is the goal. Debridement and reconstruction Wound surgery/plastics evaluation for debridement, bone resection when needed, and flap coverage. Assess whether postoperative offloading and wound protection are realistically sustainable before major reconstruction. Host optimization Nutrition and protein/calorie adequacy, perfusion, smoking cessation when relevant, glycemic management, management of spasticity/contractures, urinary/fecal incontinence, pain, odor, mobility, and caregiver resources. Sources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https://docarcshot.github.io/id-practice-update/lectures/Bone_and_Joint_Infections_Septic_Arthritis_PJI_Osteomyelitis.html#pressure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Chronic sacral or pelvic osteomyelitis with an open pressure wound is not a six-week-antibiotic diagnosis Exposed bone does not prove osteomyelitis. Chronically exposed bone can show reactive remodeling, and MRI may not reliably distinguish that from infection. If the wound cannot be debrided and durably closed, evidence has not shown that prolonged antibiotics sterilize the underlying bone or improve durable outcomes. The treatment goal becomes wound stability, symptom control, prevention of new pressure injury, and treatment of discrete acute infections. Stage IV sacral/pelvic pressure injury: when antibiotics help and when they do not Clinical scenario Systemic antibiotics What matters more Exposed bone, chronic wound, no cellulitis, abscess, bacteremia, or systemic illness; no plan for debridement/flap closure None. Do not treat the exposed bone or MRI result with a chronic osteomyelitis course. Pressure redistribution, wound cleansing/dressings and exudate control, debridement of devitalized tissue when appropriate, moisture/incontinence management, nutrition, pain/odor control, rehabilitation and caregiver feasibility, and goals of care. Pelvic osteomyelitis suspected or diagnosed, but no soft-tissue infection and no plan for debridement plus flap reconstruction None. Current evidence does not support prolonged systemic antibiotics. Reassess whether closure is feasible with plastics/wound surgery. If not, manage the chronic wound rather than trying to sterilize an open contaminated surface. Acute cellulitis/soft-tissue infection extending from the ulcer, no abscess About 5 days is a reasonable standard if improving; extend for slow clinical response. Choose coverage from severity, prior cultures, healthcare exposure, and local ecology. Debride necrotic tissue if needed, optimize wound care, pressure relief, and evaluate for deeper collection. Drainable abscess Drain first. About 5–10 days after drainage for the soft-tissue component is typical, individualized to response. Drainage is the key intervention. Obtain a meaningful deep specimen. Pyomyositis Usually 14–21 days, with drainage when an abscess is present. Drainage and assessment for bacteremia/endovascular source. Sepsis or bacteremia plausibly arising from an infected pressure injury Start prompt broad empiric therapy after blood/deep cultures when feasible. A common severe-infection approach is vancomycin plus cefepime plus metronidazole, or vancomycin plus piperacillin-tazobactam, modified for prior resistant isolates and local antibiogram. Narrow quickly. Look for abscess, necrotizing infection, fecal/urinary contamination, or another source. Treat the systemic syndrome and source. Do not automatically convert clinical improvement into six weeks of therapy. Debridement and flap reconstruction planned When stable, hold unnecessary empiric antibiotics until operative deep bone/tissue cultures if feasible. After adequate debridement and flap coverage, 6 weeks remains a conventional standard. Selected cortical-only disease may need less, but evidence for 2–4 weeks is not yet strong enough to use as a universal default. Multidisciplinary surgery, durable coverage, pressure offloading, nutritional optimization, continence management, and a realistic postoperative pressure-relief plan. Do not substitute suppressive antibiotics for wound closure Long-term suppression is sometimes rational for a retained infected orthopedic implant or extensive necrotic bone that cannot be removed. That logic should not be automatically transferred to an open stage IV sacral wound. Ongoing contamination and absent coverage make durable microbial suppression unlikely, and the best available reviews recommend no systemic antibiotics in the absence of an acute soft-tissue/systemic infection or a reconstructive surgical plan. Non-ID treatment is the treatment Pressure and wound mechanics Regular pressure redistribution/repositioning, appropriate support surface, minimizing shear, absorbent dressings, moisture balance, and reducing dressing trauma/frequency when palliation is the goal. Debridement and reconstruction Wound surgery/plastics evaluation for debridement, bone resection when needed, and flap coverage. Assess whether postoperative offloading and wound protection are realistically sustainable before major reconstruction. Host optimization Nutrition and protein/calorie adequacy, perfusion, smoking cessation when relevant, glycemic management, management of spasticity/contractures, urinary/fecal incontinence, pain, odor, mobility, and caregiver resources. Sources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https://docarcshot.github.io/id-practice-update/lectures/Bone_and_Joint_Infections_Septic_Arthritis_PJI_Osteomyelitis.html#pressure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the antibiotic from the pathogen, site, retained material, and route plan The table below is a treatment framework, not a substitute for susceptibility testing or syndrome-specific dosing. Deep specimens are particularly important in chronic infection. Pathogen clues and common definitive choices Pathogen Common definitive options Oral strategy when appropriate Special issue MSSA Acute native joint, acute hematogenous osteomyelitis, early or hematogenous PJI Cefazolin, nafcillin, or oxacillin. Selected patients can complete with a clinically validated active oral regimen. For retained staphylococcal prostheses, rifampin-combination strategy is a separate biofilm decision. A positive blood culture changes the workup. MRSA Same syndromes as MSSA; risk rises with prior colonization/infection and healthcare exposure Vancomycin or daptomycin; other agents depend on syndrome and susceptibility. Linezolid, TMP-SMX, or doxycycline/minocycline can be used in selected bone/joint regimens when active and clinically appropriate. Check bacteremia/endocarditis, drug toxicity, MIC context, and retained hardware. Coagulase-negative staphylococci Indolent postoperative infection and chronic PJI Vancomycin initially when methicillin resistance is possible; use cefazolin or an antistaphylococcal penicillin if susceptible. Doxycycline/minocycline, TMP-SMX, linezolid, or a beta-lactam when susceptible and clinically appropriate. Repeated concordant deep cultures help distinguish pathogen from contamination. Consider rifampin combination therapy when susceptible staphylococcal hardware is retained. Cutibacterium acnes Especially indolent shoulder PJI Penicillin G or ceftriaxone are common IV choices. Amoxicillin, cefadroxil, clindamycin, or doxycycline according to susceptibility and tolerance. Request prolonged anaerobic incubation and interpret multiple specimens in the surgical context. Streptococci Native-joint infection and acute hematogenous PJI, sometimes from skin or oral source Penicillin/ampicillin or ceftriaxone; cefazolin for susceptible isolates is also reasonable. Amoxicillin can be useful for susceptible organisms when oral therapy is appropriate. Implant infection still depends heavily on operative strategy. Enterococcus PJI or contiguous infection with urinary, gastrointestinal, or healthcare association Ampicillin when susceptible; vancomycin when needed. Linezolid or high-dose daptomycin are common VRE options. Linezolid has high bioavailability; amoxicillin can be used for susceptible isolates in selected settings. Endovascular infection may require a different regimen. Enterobacterales Older or immunocompromised host, urinary/intra-abdominal bacteremia, DFO, or postoperative infection Ceftriaxone, cefepime, carbapenem, or other active beta-lactam according to resistance mechanism and site. Fluoroquinolone or TMP-SMX when susceptible, tolerated, and appropriate. ESBL, AmpC, or CRE may change the preferred beta-lactam. Pseudomonas aeruginosa Healthcare exposure, penetrating injury, selected injection-drug or water exposures; not routine empiric DFO coverage in Missouri Cefepime, ceftazidime, piperacillin-tazobactam, or a newer active agent depending on resistance. Ciprofloxacin is the principal established oral antipseudomonal option when susceptible. Limited oral options make source control and microbiology especially important. Anaerobic / polymicrobial infection Chronic deep diabetic-foot infection, ischemic/necrotic tissue, pressure injury, or contiguous pelvic infection Ampicillin-sulbactam, piperacillin-tazobactam, ceftriaxone plus metronidazole, or other tailored regimens. Amoxicillin-clavulanate, metronidazole combined with needed aerobic coverage, or other susceptibility-guided options. Pressure wounds and diabetic feet can be polymicrobial, but surface flora should not dictate months of therapy. Biofilm-active is not a synonym for “add rifampin” For susceptible staphylococcal retained-prosthesis infection, rifampin combination therapy has a specific evidence base. For gram-negative retained-prosthesis infection, fluoroquinolone activity is valuable when susceptible. For other organisms and drugs, the clinical evidence for “biofilm activity” is much less mature than in-vitro terminology implies. Oral transition checklist Hemodynamics and local infection are stable. No undrained abscess or source-control procedure remains immediately necessary. No persistent bacteremia. The oral drug is active and has adequate systemic/site exposure at the intended dose. GI absorption and adherence are reliable, and drug interactions are addressed. Monitoring is practical. TMP-SMX requires K+, creatinine, and CBC; linezolid requires CBC and longer-course toxicity review; rifampin has major interaction potential. Sources oviva , wiki , pji-review</a:t>
            </a:r>
          </a:p>
          <a:p xmlns:a="http://schemas.openxmlformats.org/drawingml/2006/main">
            <a:r>
              <a:t/>
            </a:r>
          </a:p>
          <a:p xmlns:a="http://schemas.openxmlformats.org/drawingml/2006/main">
            <a:r>
              <a:t>Module section: https://docarcshot.github.io/id-practice-update/lectures/Bone_and_Joint_Infections_Septic_Arthritis_PJI_Osteomyelitis.html#antibiotics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the antibiotic from the pathogen, site, retained material, and route plan The table below is a treatment framework, not a substitute for susceptibility testing or syndrome-specific dosing. Deep specimens are particularly important in chronic infection. Pathogen clues and common definitive choices Pathogen Common definitive options Oral strategy when appropriate Special issue MSSA Acute native joint, acute hematogenous osteomyelitis, early or hematogenous PJI Cefazolin, nafcillin, or oxacillin. Selected patients can complete with a clinically validated active oral regimen. For retained staphylococcal prostheses, rifampin-combination strategy is a separate biofilm decision. A positive blood culture changes the workup. MRSA Same syndromes as MSSA; risk rises with prior colonization/infection and healthcare exposure Vancomycin or daptomycin; other agents depend on syndrome and susceptibility. Linezolid, TMP-SMX, or doxycycline/minocycline can be used in selected bone/joint regimens when active and clinically appropriate. Check bacteremia/endocarditis, drug toxicity, MIC context, and retained hardware. Coagulase-negative staphylococci Indolent postoperative infection and chronic PJI Vancomycin initially when methicillin resistance is possible; use cefazolin or an antistaphylococcal penicillin if susceptible. Doxycycline/minocycline, TMP-SMX, linezolid, or a beta-lactam when susceptible and clinically appropriate. Repeated concordant deep cultures help distinguish pathogen from contamination. Consider rifampin combination therapy when susceptible staphylococcal hardware is retained. Cutibacterium acnes Especially indolent shoulder PJI Penicillin G or ceftriaxone are common IV choices. Amoxicillin, cefadroxil, clindamycin, or doxycycline according to susceptibility and tolerance. Request prolonged anaerobic incubation and interpret multiple specimens in the surgical context. Streptococci Native-joint infection and acute hematogenous PJI, sometimes from skin or oral source Penicillin/ampicillin or ceftriaxone; cefazolin for susceptible isolates is also reasonable. Amoxicillin can be useful for susceptible organisms when oral therapy is appropriate. Implant infection still depends heavily on operative strategy. Enterococcus PJI or contiguous infection with urinary, gastrointestinal, or healthcare association Ampicillin when susceptible; vancomycin when needed. Linezolid or high-dose daptomycin are common VRE options. Linezolid has high bioavailability; amoxicillin can be used for susceptible isolates in selected settings. Endovascular infection may require a different regimen. Enterobacterales Older or immunocompromised host, urinary/intra-abdominal bacteremia, DFO, or postoperative infection Ceftriaxone, cefepime, carbapenem, or other active beta-lactam according to resistance mechanism and site. Fluoroquinolone or TMP-SMX when susceptible, tolerated, and appropriate. ESBL, AmpC, or CRE may change the preferred beta-lactam. Pseudomonas aeruginosa Healthcare exposure, penetrating injury, selected injection-drug or water exposures; not routine empiric DFO coverage in Missouri Cefepime, ceftazidime, piperacillin-tazobactam, or a newer active agent depending on resistance. Ciprofloxacin is the principal established oral antipseudomonal option when susceptible. Limited oral options make source control and microbiology especially important. Anaerobic / polymicrobial infection Chronic deep diabetic-foot infection, ischemic/necrotic tissue, pressure injury, or contiguous pelvic infection Ampicillin-sulbactam, piperacillin-tazobactam, ceftriaxone plus metronidazole, or other tailored regimens. Amoxicillin-clavulanate, metronidazole combined with needed aerobic coverage, or other susceptibility-guided options. Pressure wounds and diabetic feet can be polymicrobial, but surface flora should not dictate months of therapy. Biofilm-active is not a synonym for “add rifampin” For susceptible staphylococcal retained-prosthesis infection, rifampin combination therapy has a specific evidence base. For gram-negative retained-prosthesis infection, fluoroquinolone activity is valuable when susceptible. For other organisms and drugs, the clinical evidence for “biofilm activity” is much less mature than in-vitro terminology implies. Oral transition checklist Hemodynamics and local infection are stable. No undrained abscess or source-control procedure remains immediately necessary. No persistent bacteremia. The oral drug is active and has adequate systemic/site exposure at the intended dose. GI absorption and adherence are reliable, and drug interactions are addressed. Monitoring is practical. TMP-SMX requires K+, creatinine, and CBC; linezolid requires CBC and longer-course toxicity review; rifampin has major interaction potential. Sources oviva , wiki , pji-review</a:t>
            </a:r>
          </a:p>
          <a:p xmlns:a="http://schemas.openxmlformats.org/drawingml/2006/main">
            <a:r>
              <a:t/>
            </a:r>
          </a:p>
          <a:p xmlns:a="http://schemas.openxmlformats.org/drawingml/2006/main">
            <a:r>
              <a:t>Module section: https://docarcshot.github.io/id-practice-update/lectures/Bone_and_Joint_Infections_Septic_Arthritis_PJI_Osteomyelitis.html#antibiotics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the antibiotic from the pathogen, site, retained material, and route plan The table below is a treatment framework, not a substitute for susceptibility testing or syndrome-specific dosing. Deep specimens are particularly important in chronic infection. Pathogen clues and common definitive choices Pathogen Common definitive options Oral strategy when appropriate Special issue MSSA Acute native joint, acute hematogenous osteomyelitis, early or hematogenous PJI Cefazolin, nafcillin, or oxacillin. Selected patients can complete with a clinically validated active oral regimen. For retained staphylococcal prostheses, rifampin-combination strategy is a separate biofilm decision. A positive blood culture changes the workup. MRSA Same syndromes as MSSA; risk rises with prior colonization/infection and healthcare exposure Vancomycin or daptomycin; other agents depend on syndrome and susceptibility. Linezolid, TMP-SMX, or doxycycline/minocycline can be used in selected bone/joint regimens when active and clinically appropriate. Check bacteremia/endocarditis, drug toxicity, MIC context, and retained hardware. Coagulase-negative staphylococci Indolent postoperative infection and chronic PJI Vancomycin initially when methicillin resistance is possible; use cefazolin or an antistaphylococcal penicillin if susceptible. Doxycycline/minocycline, TMP-SMX, linezolid, or a beta-lactam when susceptible and clinically appropriate. Repeated concordant deep cultures help distinguish pathogen from contamination. Consider rifampin combination therapy when susceptible staphylococcal hardware is retained. Cutibacterium acnes Especially indolent shoulder PJI Penicillin G or ceftriaxone are common IV choices. Amoxicillin, cefadroxil, clindamycin, or doxycycline according to susceptibility and tolerance. Request prolonged anaerobic incubation and interpret multiple specimens in the surgical context. Streptococci Native-joint infection and acute hematogenous PJI, sometimes from skin or oral source Penicillin/ampicillin or ceftriaxone; cefazolin for susceptible isolates is also reasonable. Amoxicillin can be useful for susceptible organisms when oral therapy is appropriate. Implant infection still depends heavily on operative strategy. Enterococcus PJI or contiguous infection with urinary, gastrointestinal, or healthcare association Ampicillin when susceptible; vancomycin when needed. Linezolid or high-dose daptomycin are common VRE options. Linezolid has high bioavailability; amoxicillin can be used for susceptible isolates in selected settings. Endovascular infection may require a different regimen. Enterobacterales Older or immunocompromised host, urinary/intra-abdominal bacteremia, DFO, or postoperative infection Ceftriaxone, cefepime, carbapenem, or other active beta-lactam according to resistance mechanism and site. Fluoroquinolone or TMP-SMX when susceptible, tolerated, and appropriate. ESBL, AmpC, or CRE may change the preferred beta-lactam. Pseudomonas aeruginosa Healthcare exposure, penetrating injury, selected injection-drug or water exposures; not routine empiric DFO coverage in Missouri Cefepime, ceftazidime, piperacillin-tazobactam, or a newer active agent depending on resistance. Ciprofloxacin is the principal established oral antipseudomonal option when susceptible. Limited oral options make source control and microbiology especially important. Anaerobic / polymicrobial infection Chronic deep diabetic-foot infection, ischemic/necrotic tissue, pressure injury, or contiguous pelvic infection Ampicillin-sulbactam, piperacillin-tazobactam, ceftriaxone plus metronidazole, or other tailored regimens. Amoxicillin-clavulanate, metronidazole combined with needed aerobic coverage, or other susceptibility-guided options. Pressure wounds and diabetic feet can be polymicrobial, but surface flora should not dictate months of therapy. Biofilm-active is not a synonym for “add rifampin” For susceptible staphylococcal retained-prosthesis infection, rifampin combination therapy has a specific evidence base. For gram-negative retained-prosthesis infection, fluoroquinolone activity is valuable when susceptible. For other organisms and drugs, the clinical evidence for “biofilm activity” is much less mature than in-vitro terminology implies. Oral transition checklist Hemodynamics and local infection are stable. No undrained abscess or source-control procedure remains immediately necessary. No persistent bacteremia. The oral drug is active and has adequate systemic/site exposure at the intended dose. GI absorption and adherence are reliable, and drug interactions are addressed. Monitoring is practical. TMP-SMX requires K+, creatinine, and CBC; linezolid requires CBC and longer-course toxicity review; rifampin has major interaction potential. Sources oviva , wiki , pji-review</a:t>
            </a:r>
          </a:p>
          <a:p xmlns:a="http://schemas.openxmlformats.org/drawingml/2006/main">
            <a:r>
              <a:t/>
            </a:r>
          </a:p>
          <a:p xmlns:a="http://schemas.openxmlformats.org/drawingml/2006/main">
            <a:r>
              <a:t>Module section: https://docarcshot.github.io/id-practice-update/lectures/Bone_and_Joint_Infections_Septic_Arthritis_PJI_Osteomyelitis.html#antibiotics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the antibiotic from the pathogen, site, retained material, and route plan The table below is a treatment framework, not a substitute for susceptibility testing or syndrome-specific dosing. Deep specimens are particularly important in chronic infection. Pathogen clues and common definitive choices Pathogen Common definitive options Oral strategy when appropriate Special issue MSSA Acute native joint, acute hematogenous osteomyelitis, early or hematogenous PJI Cefazolin, nafcillin, or oxacillin. Selected patients can complete with a clinically validated active oral regimen. For retained staphylococcal prostheses, rifampin-combination strategy is a separate biofilm decision. A positive blood culture changes the workup. MRSA Same syndromes as MSSA; risk rises with prior colonization/infection and healthcare exposure Vancomycin or daptomycin; other agents depend on syndrome and susceptibility. Linezolid, TMP-SMX, or doxycycline/minocycline can be used in selected bone/joint regimens when active and clinically appropriate. Check bacteremia/endocarditis, drug toxicity, MIC context, and retained hardware. Coagulase-negative staphylococci Indolent postoperative infection and chronic PJI Vancomycin initially when methicillin resistance is possible; use cefazolin or an antistaphylococcal penicillin if susceptible. Doxycycline/minocycline, TMP-SMX, linezolid, or a beta-lactam when susceptible and clinically appropriate. Repeated concordant deep cultures help distinguish pathogen from contamination. Consider rifampin combination therapy when susceptible staphylococcal hardware is retained. Cutibacterium acnes Especially indolent shoulder PJI Penicillin G or ceftriaxone are common IV choices. Amoxicillin, cefadroxil, clindamycin, or doxycycline according to susceptibility and tolerance. Request prolonged anaerobic incubation and interpret multiple specimens in the surgical context. Streptococci Native-joint infection and acute hematogenous PJI, sometimes from skin or oral source Penicillin/ampicillin or ceftriaxone; cefazolin for susceptible isolates is also reasonable. Amoxicillin can be useful for susceptible organisms when oral therapy is appropriate. Implant infection still depends heavily on operative strategy. Enterococcus PJI or contiguous infection with urinary, gastrointestinal, or healthcare association Ampicillin when susceptible; vancomycin when needed. Linezolid or high-dose daptomycin are common VRE options. Linezolid has high bioavailability; amoxicillin can be used for susceptible isolates in selected settings. Endovascular infection may require a different regimen. Enterobacterales Older or immunocompromised host, urinary/intra-abdominal bacteremia, DFO, or postoperative infection Ceftriaxone, cefepime, carbapenem, or other active beta-lactam according to resistance mechanism and site. Fluoroquinolone or TMP-SMX when susceptible, tolerated, and appropriate. ESBL, AmpC, or CRE may change the preferred beta-lactam. Pseudomonas aeruginosa Healthcare exposure, penetrating injury, selected injection-drug or water exposures; not routine empiric DFO coverage in Missouri Cefepime, ceftazidime, piperacillin-tazobactam, or a newer active agent depending on resistance. Ciprofloxacin is the principal established oral antipseudomonal option when susceptible. Limited oral options make source control and microbiology especially important. Anaerobic / polymicrobial infection Chronic deep diabetic-foot infection, ischemic/necrotic tissue, pressure injury, or contiguous pelvic infection Ampicillin-sulbactam, piperacillin-tazobactam, ceftriaxone plus metronidazole, or other tailored regimens. Amoxicillin-clavulanate, metronidazole combined with needed aerobic coverage, or other susceptibility-guided options. Pressure wounds and diabetic feet can be polymicrobial, but surface flora should not dictate months of therapy. Biofilm-active is not a synonym for “add rifampin” For susceptible staphylococcal retained-prosthesis infection, rifampin combination therapy has a specific evidence base. For gram-negative retained-prosthesis infection, fluoroquinolone activity is valuable when susceptible. For other organisms and drugs, the clinical evidence for “biofilm activity” is much less mature than in-vitro terminology implies. Oral transition checklist Hemodynamics and local infection are stable. No undrained abscess or source-control procedure remains immediately necessary. No persistent bacteremia. The oral drug is active and has adequate systemic/site exposure at the intended dose. GI absorption and adherence are reliable, and drug interactions are addressed. Monitoring is practical. TMP-SMX requires K+, creatinine, and CBC; linezolid requires CBC and longer-course toxicity review; rifampin has major interaction potential. Sources oviva , wiki , pji-review</a:t>
            </a:r>
          </a:p>
          <a:p xmlns:a="http://schemas.openxmlformats.org/drawingml/2006/main">
            <a:r>
              <a:t/>
            </a:r>
          </a:p>
          <a:p xmlns:a="http://schemas.openxmlformats.org/drawingml/2006/main">
            <a:r>
              <a:t>Module section: https://docarcshot.github.io/id-practice-update/lectures/Bone_and_Joint_Infections_Septic_Arthritis_PJI_Osteomyelitis.html#antibiotics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the antibiotic from the pathogen, site, retained material, and route plan The table below is a treatment framework, not a substitute for susceptibility testing or syndrome-specific dosing. Deep specimens are particularly important in chronic infection. Pathogen clues and common definitive choices Pathogen Common definitive options Oral strategy when appropriate Special issue MSSA Acute native joint, acute hematogenous osteomyelitis, early or hematogenous PJI Cefazolin, nafcillin, or oxacillin. Selected patients can complete with a clinically validated active oral regimen. For retained staphylococcal prostheses, rifampin-combination strategy is a separate biofilm decision. A positive blood culture changes the workup. MRSA Same syndromes as MSSA; risk rises with prior colonization/infection and healthcare exposure Vancomycin or daptomycin; other agents depend on syndrome and susceptibility. Linezolid, TMP-SMX, or doxycycline/minocycline can be used in selected bone/joint regimens when active and clinically appropriate. Check bacteremia/endocarditis, drug toxicity, MIC context, and retained hardware. Coagulase-negative staphylococci Indolent postoperative infection and chronic PJI Vancomycin initially when methicillin resistance is possible; use cefazolin or an antistaphylococcal penicillin if susceptible. Doxycycline/minocycline, TMP-SMX, linezolid, or a beta-lactam when susceptible and clinically appropriate. Repeated concordant deep cultures help distinguish pathogen from contamination. Consider rifampin combination therapy when susceptible staphylococcal hardware is retained. Cutibacterium acnes Especially indolent shoulder PJI Penicillin G or ceftriaxone are common IV choices. Amoxicillin, cefadroxil, clindamycin, or doxycycline according to susceptibility and tolerance. Request prolonged anaerobic incubation and interpret multiple specimens in the surgical context. Streptococci Native-joint infection and acute hematogenous PJI, sometimes from skin or oral source Penicillin/ampicillin or ceftriaxone; cefazolin for susceptible isolates is also reasonable. Amoxicillin can be useful for susceptible organisms when oral therapy is appropriate. Implant infection still depends heavily on operative strategy. Enterococcus PJI or contiguous infection with urinary, gastrointestinal, or healthcare association Ampicillin when susceptible; vancomycin when needed. Linezolid or high-dose daptomycin are common VRE options. Linezolid has high bioavailability; amoxicillin can be used for susceptible isolates in selected settings. Endovascular infection may require a different regimen. Enterobacterales Older or immunocompromised host, urinary/intra-abdominal bacteremia, DFO, or postoperative infection Ceftriaxone, cefepime, carbapenem, or other active beta-lactam according to resistance mechanism and site. Fluoroquinolone or TMP-SMX when susceptible, tolerated, and appropriate. ESBL, AmpC, or CRE may change the preferred beta-lactam. Pseudomonas aeruginosa Healthcare exposure, penetrating injury, selected injection-drug or water exposures; not routine empiric DFO coverage in Missouri Cefepime, ceftazidime, piperacillin-tazobactam, or a newer active agent depending on resistance. Ciprofloxacin is the principal established oral antipseudomonal option when susceptible. Limited oral options make source control and microbiology especially important. Anaerobic / polymicrobial infection Chronic deep diabetic-foot infection, ischemic/necrotic tissue, pressure injury, or contiguous pelvic infection Ampicillin-sulbactam, piperacillin-tazobactam, ceftriaxone plus metronidazole, or other tailored regimens. Amoxicillin-clavulanate, metronidazole combined with needed aerobic coverage, or other susceptibility-guided options. Pressure wounds and diabetic feet can be polymicrobial, but surface flora should not dictate months of therapy. Biofilm-active is not a synonym for “add rifampin” For susceptible staphylococcal retained-prosthesis infection, rifampin combination therapy has a specific evidence base. For gram-negative retained-prosthesis infection, fluoroquinolone activity is valuable when susceptible. For other organisms and drugs, the clinical evidence for “biofilm activity” is much less mature than in-vitro terminology implies. Oral transition checklist Hemodynamics and local infection are stable. No undrained abscess or source-control procedure remains immediately necessary. No persistent bacteremia. The oral drug is active and has adequate systemic/site exposure at the intended dose. GI absorption and adherence are reliable, and drug interactions are addressed. Monitoring is practical. TMP-SMX requires K+, creatinine, and CBC; linezolid requires CBC and longer-course toxicity review; rifampin has major interaction potential. Sources oviva , wiki , pji-review</a:t>
            </a:r>
          </a:p>
          <a:p xmlns:a="http://schemas.openxmlformats.org/drawingml/2006/main">
            <a:r>
              <a:t/>
            </a:r>
          </a:p>
          <a:p xmlns:a="http://schemas.openxmlformats.org/drawingml/2006/main">
            <a:r>
              <a:t>Module section: https://docarcshot.github.io/id-practice-update/lectures/Bone_and_Joint_Infections_Septic_Arthritis_PJI_Osteomyelitis.html#antibiotics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the antibiotic from the pathogen, site, retained material, and route plan The table below is a treatment framework, not a substitute for susceptibility testing or syndrome-specific dosing. Deep specimens are particularly important in chronic infection. Pathogen clues and common definitive choices Pathogen Common definitive options Oral strategy when appropriate Special issue MSSA Acute native joint, acute hematogenous osteomyelitis, early or hematogenous PJI Cefazolin, nafcillin, or oxacillin. Selected patients can complete with a clinically validated active oral regimen. For retained staphylococcal prostheses, rifampin-combination strategy is a separate biofilm decision. A positive blood culture changes the workup. MRSA Same syndromes as MSSA; risk rises with prior colonization/infection and healthcare exposure Vancomycin or daptomycin; other agents depend on syndrome and susceptibility. Linezolid, TMP-SMX, or doxycycline/minocycline can be used in selected bone/joint regimens when active and clinically appropriate. Check bacteremia/endocarditis, drug toxicity, MIC context, and retained hardware. Coagulase-negative staphylococci Indolent postoperative infection and chronic PJI Vancomycin initially when methicillin resistance is possible; use cefazolin or an antistaphylococcal penicillin if susceptible. Doxycycline/minocycline, TMP-SMX, linezolid, or a beta-lactam when susceptible and clinically appropriate. Repeated concordant deep cultures help distinguish pathogen from contamination. Consider rifampin combination therapy when susceptible staphylococcal hardware is retained. Cutibacterium acnes Especially indolent shoulder PJI Penicillin G or ceftriaxone are common IV choices. Amoxicillin, cefadroxil, clindamycin, or doxycycline according to susceptibility and tolerance. Request prolonged anaerobic incubation and interpret multiple specimens in the surgical context. Streptococci Native-joint infection and acute hematogenous PJI, sometimes from skin or oral source Penicillin/ampicillin or ceftriaxone; cefazolin for susceptible isolates is also reasonable. Amoxicillin can be useful for susceptible organisms when oral therapy is appropriate. Implant infection still depends heavily on operative strategy. Enterococcus PJI or contiguous infection with urinary, gastrointestinal, or healthcare association Ampicillin when susceptible; vancomycin when needed. Linezolid or high-dose daptomycin are common VRE options. Linezolid has high bioavailability; amoxicillin can be used for susceptible isolates in selected settings. Endovascular infection may require a different regimen. Enterobacterales Older or immunocompromised host, urinary/intra-abdominal bacteremia, DFO, or postoperative infection Ceftriaxone, cefepime, carbapenem, or other active beta-lactam according to resistance mechanism and site. Fluoroquinolone or TMP-SMX when susceptible, tolerated, and appropriate. ESBL, AmpC, or CRE may change the preferred beta-lactam. Pseudomonas aeruginosa Healthcare exposure, penetrating injury, selected injection-drug or water exposures; not routine empiric DFO coverage in Missouri Cefepime, ceftazidime, piperacillin-tazobactam, or a newer active agent depending on resistance. Ciprofloxacin is the principal established oral antipseudomonal option when susceptible. Limited oral options make source control and microbiology especially important. Anaerobic / polymicrobial infection Chronic deep diabetic-foot infection, ischemic/necrotic tissue, pressure injury, or contiguous pelvic infection Ampicillin-sulbactam, piperacillin-tazobactam, ceftriaxone plus metronidazole, or other tailored regimens. Amoxicillin-clavulanate, metronidazole combined with needed aerobic coverage, or other susceptibility-guided options. Pressure wounds and diabetic feet can be polymicrobial, but surface flora should not dictate months of therapy. Biofilm-active is not a synonym for “add rifampin” For susceptible staphylococcal retained-prosthesis infection, rifampin combination therapy has a specific evidence base. For gram-negative retained-prosthesis infection, fluoroquinolone activity is valuable when susceptible. For other organisms and drugs, the clinical evidence for “biofilm activity” is much less mature than in-vitro terminology implies. Oral transition checklist Hemodynamics and local infection are stable. No undrained abscess or source-control procedure remains immediately necessary. No persistent bacteremia. The oral drug is active and has adequate systemic/site exposure at the intended dose. GI absorption and adherence are reliable, and drug interactions are addressed. Monitoring is practical. TMP-SMX requires K+, creatinine, and CBC; linezolid requires CBC and longer-course toxicity review; rifampin has major interaction potential. Sources oviva , wiki , pji-review</a:t>
            </a:r>
          </a:p>
          <a:p xmlns:a="http://schemas.openxmlformats.org/drawingml/2006/main">
            <a:r>
              <a:t/>
            </a:r>
          </a:p>
          <a:p xmlns:a="http://schemas.openxmlformats.org/drawingml/2006/main">
            <a:r>
              <a:t>Module section: https://docarcshot.github.io/id-practice-update/lectures/Bone_and_Joint_Infections_Septic_Arthritis_PJI_Osteomyelitis.html#antibiotics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the antibiotic from the pathogen, site, retained material, and route plan The table below is a treatment framework, not a substitute for susceptibility testing or syndrome-specific dosing. Deep specimens are particularly important in chronic infection. Pathogen clues and common definitive choices Pathogen Common definitive options Oral strategy when appropriate Special issue MSSA Acute native joint, acute hematogenous osteomyelitis, early or hematogenous PJI Cefazolin, nafcillin, or oxacillin. Selected patients can complete with a clinically validated active oral regimen. For retained staphylococcal prostheses, rifampin-combination strategy is a separate biofilm decision. A positive blood culture changes the workup. MRSA Same syndromes as MSSA; risk rises with prior colonization/infection and healthcare exposure Vancomycin or daptomycin; other agents depend on syndrome and susceptibility. Linezolid, TMP-SMX, or doxycycline/minocycline can be used in selected bone/joint regimens when active and clinically appropriate. Check bacteremia/endocarditis, drug toxicity, MIC context, and retained hardware. Coagulase-negative staphylococci Indolent postoperative infection and chronic PJI Vancomycin initially when methicillin resistance is possible; use cefazolin or an antistaphylococcal penicillin if susceptible. Doxycycline/minocycline, TMP-SMX, linezolid, or a beta-lactam when susceptible and clinically appropriate. Repeated concordant deep cultures help distinguish pathogen from contamination. Consider rifampin combination therapy when susceptible staphylococcal hardware is retained. Cutibacterium acnes Especially indolent shoulder PJI Penicillin G or ceftriaxone are common IV choices. Amoxicillin, cefadroxil, clindamycin, or doxycycline according to susceptibility and tolerance. Request prolonged anaerobic incubation and interpret multiple specimens in the surgical context. Streptococci Native-joint infection and acute hematogenous PJI, sometimes from skin or oral source Penicillin/ampicillin or ceftriaxone; cefazolin for susceptible isolates is also reasonable. Amoxicillin can be useful for susceptible organisms when oral therapy is appropriate. Implant infection still depends heavily on operative strategy. Enterococcus PJI or contiguous infection with urinary, gastrointestinal, or healthcare association Ampicillin when susceptible; vancomycin when needed. Linezolid or high-dose daptomycin are common VRE options. Linezolid has high bioavailability; amoxicillin can be used for susceptible isolates in selected settings. Endovascular infection may require a different regimen. Enterobacterales Older or immunocompromised host, urinary/intra-abdominal bacteremia, DFO, or postoperative infection Ceftriaxone, cefepime, carbapenem, or other active beta-lactam according to resistance mechanism and site. Fluoroquinolone or TMP-SMX when susceptible, tolerated, and appropriate. ESBL, AmpC, or CRE may change the preferred beta-lactam. Pseudomonas aeruginosa Healthcare exposure, penetrating injury, selected injection-drug or water exposures; not routine empiric DFO coverage in Missouri Cefepime, ceftazidime, piperacillin-tazobactam, or a newer active agent depending on resistance. Ciprofloxacin is the principal established oral antipseudomonal option when susceptible. Limited oral options make source control and microbiology especially important. Anaerobic / polymicrobial infection Chronic deep diabetic-foot infection, ischemic/necrotic tissue, pressure injury, or contiguous pelvic infection Ampicillin-sulbactam, piperacillin-tazobactam, ceftriaxone plus metronidazole, or other tailored regimens. Amoxicillin-clavulanate, metronidazole combined with needed aerobic coverage, or other susceptibility-guided options. Pressure wounds and diabetic feet can be polymicrobial, but surface flora should not dictate months of therapy. Biofilm-active is not a synonym for “add rifampin” For susceptible staphylococcal retained-prosthesis infection, rifampin combination therapy has a specific evidence base. For gram-negative retained-prosthesis infection, fluoroquinolone activity is valuable when susceptible. For other organisms and drugs, the clinical evidence for “biofilm activity” is much less mature than in-vitro terminology implies. Oral transition checklist Hemodynamics and local infection are stable. No undrained abscess or source-control procedure remains immediately necessary. No persistent bacteremia. The oral drug is active and has adequate systemic/site exposure at the intended dose. GI absorption and adherence are reliable, and drug interactions are addressed. Monitoring is practical. TMP-SMX requires K+, creatinine, and CBC; linezolid requires CBC and longer-course toxicity review; rifampin has major interaction potential. Sources oviva , wiki , pji-review</a:t>
            </a:r>
          </a:p>
          <a:p xmlns:a="http://schemas.openxmlformats.org/drawingml/2006/main">
            <a:r>
              <a:t/>
            </a:r>
          </a:p>
          <a:p xmlns:a="http://schemas.openxmlformats.org/drawingml/2006/main">
            <a:r>
              <a:t>Module section: https://docarcshot.github.io/id-practice-update/lectures/Bone_and_Joint_Infections_Septic_Arthritis_PJI_Osteomyelitis.html#antibiotics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the antibiotic from the pathogen, site, retained material, and route plan The table below is a treatment framework, not a substitute for susceptibility testing or syndrome-specific dosing. Deep specimens are particularly important in chronic infection. Pathogen clues and common definitive choices Pathogen Common definitive options Oral strategy when appropriate Special issue MSSA Acute native joint, acute hematogenous osteomyelitis, early or hematogenous PJI Cefazolin, nafcillin, or oxacillin. Selected patients can complete with a clinically validated active oral regimen. For retained staphylococcal prostheses, rifampin-combination strategy is a separate biofilm decision. A positive blood culture changes the workup. MRSA Same syndromes as MSSA; risk rises with prior colonization/infection and healthcare exposure Vancomycin or daptomycin; other agents depend on syndrome and susceptibility. Linezolid, TMP-SMX, or doxycycline/minocycline can be used in selected bone/joint regimens when active and clinically appropriate. Check bacteremia/endocarditis, drug toxicity, MIC context, and retained hardware. Coagulase-negative staphylococci Indolent postoperative infection and chronic PJI Vancomycin initially when methicillin resistance is possible; use cefazolin or an antistaphylococcal penicillin if susceptible. Doxycycline/minocycline, TMP-SMX, linezolid, or a beta-lactam when susceptible and clinically appropriate. Repeated concordant deep cultures help distinguish pathogen from contamination. Consider rifampin combination therapy when susceptible staphylococcal hardware is retained. Cutibacterium acnes Especially indolent shoulder PJI Penicillin G or ceftriaxone are common IV choices. Amoxicillin, cefadroxil, clindamycin, or doxycycline according to susceptibility and tolerance. Request prolonged anaerobic incubation and interpret multiple specimens in the surgical context. Streptococci Native-joint infection and acute hematogenous PJI, sometimes from skin or oral source Penicillin/ampicillin or ceftriaxone; cefazolin for susceptible isolates is also reasonable. Amoxicillin can be useful for susceptible organisms when oral therapy is appropriate. Implant infection still depends heavily on operative strategy. Enterococcus PJI or contiguous infection with urinary, gastrointestinal, or healthcare association Ampicillin when susceptible; vancomycin when needed. Linezolid or high-dose daptomycin are common VRE options. Linezolid has high bioavailability; amoxicillin can be used for susceptible isolates in selected settings. Endovascular infection may require a different regimen. Enterobacterales Older or immunocompromised host, urinary/intra-abdominal bacteremia, DFO, or postoperative infection Ceftriaxone, cefepime, carbapenem, or other active beta-lactam according to resistance mechanism and site. Fluoroquinolone or TMP-SMX when susceptible, tolerated, and appropriate. ESBL, AmpC, or CRE may change the preferred beta-lactam. Pseudomonas aeruginosa Healthcare exposure, penetrating injury, selected injection-drug or water exposures; not routine empiric DFO coverage in Missouri Cefepime, ceftazidime, piperacillin-tazobactam, or a newer active agent depending on resistance. Ciprofloxacin is the principal established oral antipseudomonal option when susceptible. Limited oral options make source control and microbiology especially important. Anaerobic / polymicrobial infection Chronic deep diabetic-foot infection, ischemic/necrotic tissue, pressure injury, or contiguous pelvic infection Ampicillin-sulbactam, piperacillin-tazobactam, ceftriaxone plus metronidazole, or other tailored regimens. Amoxicillin-clavulanate, metronidazole combined with needed aerobic coverage, or other susceptibility-guided options. Pressure wounds and diabetic feet can be polymicrobial, but surface flora should not dictate months of therapy. Biofilm-active is not a synonym for “add rifampin” For susceptible staphylococcal retained-prosthesis infection, rifampin combination therapy has a specific evidence base. For gram-negative retained-prosthesis infection, fluoroquinolone activity is valuable when susceptible. For other organisms and drugs, the clinical evidence for “biofilm activity” is much less mature than in-vitro terminology implies. Oral transition checklist Hemodynamics and local infection are stable. No undrained abscess or source-control procedure remains immediately necessary. No persistent bacteremia. The oral drug is active and has adequate systemic/site exposure at the intended dose. GI absorption and adherence are reliable, and drug interactions are addressed. Monitoring is practical. TMP-SMX requires K+, creatinine, and CBC; linezolid requires CBC and longer-course toxicity review; rifampin has major interaction potential. Sources oviva , wiki , pji-review</a:t>
            </a:r>
          </a:p>
          <a:p xmlns:a="http://schemas.openxmlformats.org/drawingml/2006/main">
            <a:r>
              <a:t/>
            </a:r>
          </a:p>
          <a:p xmlns:a="http://schemas.openxmlformats.org/drawingml/2006/main">
            <a:r>
              <a:t>Module section: https://docarcshot.github.io/id-practice-update/lectures/Bone_and_Joint_Infections_Septic_Arthritis_PJI_Osteomyelitis.html#antibiotics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the antibiotic from the pathogen, site, retained material, and route plan The table below is a treatment framework, not a substitute for susceptibility testing or syndrome-specific dosing. Deep specimens are particularly important in chronic infection. Pathogen clues and common definitive choices Pathogen Common definitive options Oral strategy when appropriate Special issue MSSA Acute native joint, acute hematogenous osteomyelitis, early or hematogenous PJI Cefazolin, nafcillin, or oxacillin. Selected patients can complete with a clinically validated active oral regimen. For retained staphylococcal prostheses, rifampin-combination strategy is a separate biofilm decision. A positive blood culture changes the workup. MRSA Same syndromes as MSSA; risk rises with prior colonization/infection and healthcare exposure Vancomycin or daptomycin; other agents depend on syndrome and susceptibility. Linezolid, TMP-SMX, or doxycycline/minocycline can be used in selected bone/joint regimens when active and clinically appropriate. Check bacteremia/endocarditis, drug toxicity, MIC context, and retained hardware. Coagulase-negative staphylococci Indolent postoperative infection and chronic PJI Vancomycin initially when methicillin resistance is possible; use cefazolin or an antistaphylococcal penicillin if susceptible. Doxycycline/minocycline, TMP-SMX, linezolid, or a beta-lactam when susceptible and clinically appropriate. Repeated concordant deep cultures help distinguish pathogen from contamination. Consider rifampin combination therapy when susceptible staphylococcal hardware is retained. Cutibacterium acnes Especially indolent shoulder PJI Penicillin G or ceftriaxone are common IV choices. Amoxicillin, cefadroxil, clindamycin, or doxycycline according to susceptibility and tolerance. Request prolonged anaerobic incubation and interpret multiple specimens in the surgical context. Streptococci Native-joint infection and acute hematogenous PJI, sometimes from skin or oral source Penicillin/ampicillin or ceftriaxone; cefazolin for susceptible isolates is also reasonable. Amoxicillin can be useful for susceptible organisms when oral therapy is appropriate. Implant infection still depends heavily on operative strategy. Enterococcus PJI or contiguous infection with urinary, gastrointestinal, or healthcare association Ampicillin when susceptible; vancomycin when needed. Linezolid or high-dose daptomycin are common VRE options. Linezolid has high bioavailability; amoxicillin can be used for susceptible isolates in selected settings. Endovascular infection may require a different regimen. Enterobacterales Older or immunocompromised host, urinary/intra-abdominal bacteremia, DFO, or postoperative infection Ceftriaxone, cefepime, carbapenem, or other active beta-lactam according to resistance mechanism and site. Fluoroquinolone or TMP-SMX when susceptible, tolerated, and appropriate. ESBL, AmpC, or CRE may change the preferred beta-lactam. Pseudomonas aeruginosa Healthcare exposure, penetrating injury, selected injection-drug or water exposures; not routine empiric DFO coverage in Missouri Cefepime, ceftazidime, piperacillin-tazobactam, or a newer active agent depending on resistance. Ciprofloxacin is the principal established oral antipseudomonal option when susceptible. Limited oral options make source control and microbiology especially important. Anaerobic / polymicrobial infection Chronic deep diabetic-foot infection, ischemic/necrotic tissue, pressure injury, or contiguous pelvic infection Ampicillin-sulbactam, piperacillin-tazobactam, ceftriaxone plus metronidazole, or other tailored regimens. Amoxicillin-clavulanate, metronidazole combined with needed aerobic coverage, or other susceptibility-guided options. Pressure wounds and diabetic feet can be polymicrobial, but surface flora should not dictate months of therapy. Biofilm-active is not a synonym for “add rifampin” For susceptible staphylococcal retained-prosthesis infection, rifampin combination therapy has a specific evidence base. For gram-negative retained-prosthesis infection, fluoroquinolone activity is valuable when susceptible. For other organisms and drugs, the clinical evidence for “biofilm activity” is much less mature than in-vitro terminology implies. Oral transition checklist Hemodynamics and local infection are stable. No undrained abscess or source-control procedure remains immediately necessary. No persistent bacteremia. The oral drug is active and has adequate systemic/site exposure at the intended dose. GI absorption and adherence are reliable, and drug interactions are addressed. Monitoring is practical. TMP-SMX requires K+, creatinine, and CBC; linezolid requires CBC and longer-course toxicity review; rifampin has major interaction potential. Sources oviva , wiki , pji-review</a:t>
            </a:r>
          </a:p>
          <a:p xmlns:a="http://schemas.openxmlformats.org/drawingml/2006/main">
            <a:r>
              <a:t/>
            </a:r>
          </a:p>
          <a:p xmlns:a="http://schemas.openxmlformats.org/drawingml/2006/main">
            <a:r>
              <a:t>Module section: https://docarcshot.github.io/id-practice-update/lectures/Bone_and_Joint_Infections_Septic_Arthritis_PJI_Osteomyelitis.html#antibiotics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the antibiotic from the pathogen, site, retained material, and route plan The table below is a treatment framework, not a substitute for susceptibility testing or syndrome-specific dosing. Deep specimens are particularly important in chronic infection. Pathogen clues and common definitive choices Pathogen Common definitive options Oral strategy when appropriate Special issue MSSA Acute native joint, acute hematogenous osteomyelitis, early or hematogenous PJI Cefazolin, nafcillin, or oxacillin. Selected patients can complete with a clinically validated active oral regimen. For retained staphylococcal prostheses, rifampin-combination strategy is a separate biofilm decision. A positive blood culture changes the workup. MRSA Same syndromes as MSSA; risk rises with prior colonization/infection and healthcare exposure Vancomycin or daptomycin; other agents depend on syndrome and susceptibility. Linezolid, TMP-SMX, or doxycycline/minocycline can be used in selected bone/joint regimens when active and clinically appropriate. Check bacteremia/endocarditis, drug toxicity, MIC context, and retained hardware. Coagulase-negative staphylococci Indolent postoperative infection and chronic PJI Vancomycin initially when methicillin resistance is possible; use cefazolin or an antistaphylococcal penicillin if susceptible. Doxycycline/minocycline, TMP-SMX, linezolid, or a beta-lactam when susceptible and clinically appropriate. Repeated concordant deep cultures help distinguish pathogen from contamination. Consider rifampin combination therapy when susceptible staphylococcal hardware is retained. Cutibacterium acnes Especially indolent shoulder PJI Penicillin G or ceftriaxone are common IV choices. Amoxicillin, cefadroxil, clindamycin, or doxycycline according to susceptibility and tolerance. Request prolonged anaerobic incubation and interpret multiple specimens in the surgical context. Streptococci Native-joint infection and acute hematogenous PJI, sometimes from skin or oral source Penicillin/ampicillin or ceftriaxone; cefazolin for susceptible isolates is also reasonable. Amoxicillin can be useful for susceptible organisms when oral therapy is appropriate. Implant infection still depends heavily on operative strategy. Enterococcus PJI or contiguous infection with urinary, gastrointestinal, or healthcare association Ampicillin when susceptible; vancomycin when needed. Linezolid or high-dose daptomycin are common VRE options. Linezolid has high bioavailability; amoxicillin can be used for susceptible isolates in selected settings. Endovascular infection may require a different regimen. Enterobacterales Older or immunocompromised host, urinary/intra-abdominal bacteremia, DFO, or postoperative infection Ceftriaxone, cefepime, carbapenem, or other active beta-lactam according to resistance mechanism and site. Fluoroquinolone or TMP-SMX when susceptible, tolerated, and appropriate. ESBL, AmpC, or CRE may change the preferred beta-lactam. Pseudomonas aeruginosa Healthcare exposure, penetrating injury, selected injection-drug or water exposures; not routine empiric DFO coverage in Missouri Cefepime, ceftazidime, piperacillin-tazobactam, or a newer active agent depending on resistance. Ciprofloxacin is the principal established oral antipseudomonal option when susceptible. Limited oral options make source control and microbiology especially important. Anaerobic / polymicrobial infection Chronic deep diabetic-foot infection, ischemic/necrotic tissue, pressure injury, or contiguous pelvic infection Ampicillin-sulbactam, piperacillin-tazobactam, ceftriaxone plus metronidazole, or other tailored regimens. Amoxicillin-clavulanate, metronidazole combined with needed aerobic coverage, or other susceptibility-guided options. Pressure wounds and diabetic feet can be polymicrobial, but surface flora should not dictate months of therapy. Biofilm-active is not a synonym for “add rifampin” For susceptible staphylococcal retained-prosthesis infection, rifampin combination therapy has a specific evidence base. For gram-negative retained-prosthesis infection, fluoroquinolone activity is valuable when susceptible. For other organisms and drugs, the clinical evidence for “biofilm activity” is much less mature than in-vitro terminology implies. Oral transition checklist Hemodynamics and local infection are stable. No undrained abscess or source-control procedure remains immediately necessary. No persistent bacteremia. The oral drug is active and has adequate systemic/site exposure at the intended dose. GI absorption and adherence are reliable, and drug interactions are addressed. Monitoring is practical. TMP-SMX requires K+, creatinine, and CBC; linezolid requires CBC and longer-course toxicity review; rifampin has major interaction potential. Sources oviva , wiki , pji-review</a:t>
            </a:r>
          </a:p>
          <a:p xmlns:a="http://schemas.openxmlformats.org/drawingml/2006/main">
            <a:r>
              <a:t/>
            </a:r>
          </a:p>
          <a:p xmlns:a="http://schemas.openxmlformats.org/drawingml/2006/main">
            <a:r>
              <a:t>Module section: https://docarcshot.github.io/id-practice-update/lectures/Bone_and_Joint_Infections_Septic_Arthritis_PJI_Osteomyelitis.html#antibiotics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the antibiotic from the pathogen, site, retained material, and route plan The table below is a treatment framework, not a substitute for susceptibility testing or syndrome-specific dosing. Deep specimens are particularly important in chronic infection. Pathogen clues and common definitive choices Pathogen Common definitive options Oral strategy when appropriate Special issue MSSA Acute native joint, acute hematogenous osteomyelitis, early or hematogenous PJI Cefazolin, nafcillin, or oxacillin. Selected patients can complete with a clinically validated active oral regimen. For retained staphylococcal prostheses, rifampin-combination strategy is a separate biofilm decision. A positive blood culture changes the workup. MRSA Same syndromes as MSSA; risk rises with prior colonization/infection and healthcare exposure Vancomycin or daptomycin; other agents depend on syndrome and susceptibility. Linezolid, TMP-SMX, or doxycycline/minocycline can be used in selected bone/joint regimens when active and clinically appropriate. Check bacteremia/endocarditis, drug toxicity, MIC context, and retained hardware. Coagulase-negative staphylococci Indolent postoperative infection and chronic PJI Vancomycin initially when methicillin resistance is possible; use cefazolin or an antistaphylococcal penicillin if susceptible. Doxycycline/minocycline, TMP-SMX, linezolid, or a beta-lactam when susceptible and clinically appropriate. Repeated concordant deep cultures help distinguish pathogen from contamination. Consider rifampin combination therapy when susceptible staphylococcal hardware is retained. Cutibacterium acnes Especially indolent shoulder PJI Penicillin G or ceftriaxone are common IV choices. Amoxicillin, cefadroxil, clindamycin, or doxycycline according to susceptibility and tolerance. Request prolonged anaerobic incubation and interpret multiple specimens in the surgical context. Streptococci Native-joint infection and acute hematogenous PJI, sometimes from skin or oral source Penicillin/ampicillin or ceftriaxone; cefazolin for susceptible isolates is also reasonable. Amoxicillin can be useful for susceptible organisms when oral therapy is appropriate. Implant infection still depends heavily on operative strategy. Enterococcus PJI or contiguous infection with urinary, gastrointestinal, or healthcare association Ampicillin when susceptible; vancomycin when needed. Linezolid or high-dose daptomycin are common VRE options. Linezolid has high bioavailability; amoxicillin can be used for susceptible isolates in selected settings. Endovascular infection may require a different regimen. Enterobacterales Older or immunocompromised host, urinary/intra-abdominal bacteremia, DFO, or postoperative infection Ceftriaxone, cefepime, carbapenem, or other active beta-lactam according to resistance mechanism and site. Fluoroquinolone or TMP-SMX when susceptible, tolerated, and appropriate. ESBL, AmpC, or CRE may change the preferred beta-lactam. Pseudomonas aeruginosa Healthcare exposure, penetrating injury, selected injection-drug or water exposures; not routine empiric DFO coverage in Missouri Cefepime, ceftazidime, piperacillin-tazobactam, or a newer active agent depending on resistance. Ciprofloxacin is the principal established oral antipseudomonal option when susceptible. Limited oral options make source control and microbiology especially important. Anaerobic / polymicrobial infection Chronic deep diabetic-foot infection, ischemic/necrotic tissue, pressure injury, or contiguous pelvic infection Ampicillin-sulbactam, piperacillin-tazobactam, ceftriaxone plus metronidazole, or other tailored regimens. Amoxicillin-clavulanate, metronidazole combined with needed aerobic coverage, or other susceptibility-guided options. Pressure wounds and diabetic feet can be polymicrobial, but surface flora should not dictate months of therapy. Biofilm-active is not a synonym for “add rifampin” For susceptible staphylococcal retained-prosthesis infection, rifampin combination therapy has a specific evidence base. For gram-negative retained-prosthesis infection, fluoroquinolone activity is valuable when susceptible. For other organisms and drugs, the clinical evidence for “biofilm activity” is much less mature than in-vitro terminology implies. Oral transition checklist Hemodynamics and local infection are stable. No undrained abscess or source-control procedure remains immediately necessary. No persistent bacteremia. The oral drug is active and has adequate systemic/site exposure at the intended dose. GI absorption and adherence are reliable, and drug interactions are addressed. Monitoring is practical. TMP-SMX requires K+, creatinine, and CBC; linezolid requires CBC and longer-course toxicity review; rifampin has major interaction potential. Sources oviva , wiki , pji-review</a:t>
            </a:r>
          </a:p>
          <a:p xmlns:a="http://schemas.openxmlformats.org/drawingml/2006/main">
            <a:r>
              <a:t/>
            </a:r>
          </a:p>
          <a:p xmlns:a="http://schemas.openxmlformats.org/drawingml/2006/main">
            <a:r>
              <a:t>Module section: https://docarcshot.github.io/id-practice-update/lectures/Bone_and_Joint_Infections_Septic_Arthritis_PJI_Osteomyelitis.html#antibiotics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the antibiotic from the pathogen, site, retained material, and route plan The table below is a treatment framework, not a substitute for susceptibility testing or syndrome-specific dosing. Deep specimens are particularly important in chronic infection. Pathogen clues and common definitive choices Pathogen Common definitive options Oral strategy when appropriate Special issue MSSA Acute native joint, acute hematogenous osteomyelitis, early or hematogenous PJI Cefazolin, nafcillin, or oxacillin. Selected patients can complete with a clinically validated active oral regimen. For retained staphylococcal prostheses, rifampin-combination strategy is a separate biofilm decision. A positive blood culture changes the workup. MRSA Same syndromes as MSSA; risk rises with prior colonization/infection and healthcare exposure Vancomycin or daptomycin; other agents depend on syndrome and susceptibility. Linezolid, TMP-SMX, or doxycycline/minocycline can be used in selected bone/joint regimens when active and clinically appropriate. Check bacteremia/endocarditis, drug toxicity, MIC context, and retained hardware. Coagulase-negative staphylococci Indolent postoperative infection and chronic PJI Vancomycin initially when methicillin resistance is possible; use cefazolin or an antistaphylococcal penicillin if susceptible. Doxycycline/minocycline, TMP-SMX, linezolid, or a beta-lactam when susceptible and clinically appropriate. Repeated concordant deep cultures help distinguish pathogen from contamination. Consider rifampin combination therapy when susceptible staphylococcal hardware is retained. Cutibacterium acnes Especially indolent shoulder PJI Penicillin G or ceftriaxone are common IV choices. Amoxicillin, cefadroxil, clindamycin, or doxycycline according to susceptibility and tolerance. Request prolonged anaerobic incubation and interpret multiple specimens in the surgical context. Streptococci Native-joint infection and acute hematogenous PJI, sometimes from skin or oral source Penicillin/ampicillin or ceftriaxone; cefazolin for susceptible isolates is also reasonable. Amoxicillin can be useful for susceptible organisms when oral therapy is appropriate. Implant infection still depends heavily on operative strategy. Enterococcus PJI or contiguous infection with urinary, gastrointestinal, or healthcare association Ampicillin when susceptible; vancomycin when needed. Linezolid or high-dose daptomycin are common VRE options. Linezolid has high bioavailability; amoxicillin can be used for susceptible isolates in selected settings. Endovascular infection may require a different regimen. Enterobacterales Older or immunocompromised host, urinary/intra-abdominal bacteremia, DFO, or postoperative infection Ceftriaxone, cefepime, carbapenem, or other active beta-lactam according to resistance mechanism and site. Fluoroquinolone or TMP-SMX when susceptible, tolerated, and appropriate. ESBL, AmpC, or CRE may change the preferred beta-lactam. Pseudomonas aeruginosa Healthcare exposure, penetrating injury, selected injection-drug or water exposures; not routine empiric DFO coverage in Missouri Cefepime, ceftazidime, piperacillin-tazobactam, or a newer active agent depending on resistance. Ciprofloxacin is the principal established oral antipseudomonal option when susceptible. Limited oral options make source control and microbiology especially important. Anaerobic / polymicrobial infection Chronic deep diabetic-foot infection, ischemic/necrotic tissue, pressure injury, or contiguous pelvic infection Ampicillin-sulbactam, piperacillin-tazobactam, ceftriaxone plus metronidazole, or other tailored regimens. Amoxicillin-clavulanate, metronidazole combined with needed aerobic coverage, or other susceptibility-guided options. Pressure wounds and diabetic feet can be polymicrobial, but surface flora should not dictate months of therapy. Biofilm-active is not a synonym for “add rifampin” For susceptible staphylococcal retained-prosthesis infection, rifampin combination therapy has a specific evidence base. For gram-negative retained-prosthesis infection, fluoroquinolone activity is valuable when susceptible. For other organisms and drugs, the clinical evidence for “biofilm activity” is much less mature than in-vitro terminology implies. Oral transition checklist Hemodynamics and local infection are stable. No undrained abscess or source-control procedure remains immediately necessary. No persistent bacteremia. The oral drug is active and has adequate systemic/site exposure at the intended dose. GI absorption and adherence are reliable, and drug interactions are addressed. Monitoring is practical. TMP-SMX requires K+, creatinine, and CBC; linezolid requires CBC and longer-course toxicity review; rifampin has major interaction potential. Sources oviva , wiki , pji-review</a:t>
            </a:r>
          </a:p>
          <a:p xmlns:a="http://schemas.openxmlformats.org/drawingml/2006/main">
            <a:r>
              <a:t/>
            </a:r>
          </a:p>
          <a:p xmlns:a="http://schemas.openxmlformats.org/drawingml/2006/main">
            <a:r>
              <a:t>Module section: https://docarcshot.github.io/id-practice-update/lectures/Bone_and_Joint_Infections_Septic_Arthritis_PJI_Osteomyelitis.html#antibiotics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the antibiotic from the pathogen, site, retained material, and route plan The table below is a treatment framework, not a substitute for susceptibility testing or syndrome-specific dosing. Deep specimens are particularly important in chronic infection. Pathogen clues and common definitive choices Pathogen Common definitive options Oral strategy when appropriate Special issue MSSA Acute native joint, acute hematogenous osteomyelitis, early or hematogenous PJI Cefazolin, nafcillin, or oxacillin. Selected patients can complete with a clinically validated active oral regimen. For retained staphylococcal prostheses, rifampin-combination strategy is a separate biofilm decision. A positive blood culture changes the workup. MRSA Same syndromes as MSSA; risk rises with prior colonization/infection and healthcare exposure Vancomycin or daptomycin; other agents depend on syndrome and susceptibility. Linezolid, TMP-SMX, or doxycycline/minocycline can be used in selected bone/joint regimens when active and clinically appropriate. Check bacteremia/endocarditis, drug toxicity, MIC context, and retained hardware. Coagulase-negative staphylococci Indolent postoperative infection and chronic PJI Vancomycin initially when methicillin resistance is possible; use cefazolin or an antistaphylococcal penicillin if susceptible. Doxycycline/minocycline, TMP-SMX, linezolid, or a beta-lactam when susceptible and clinically appropriate. Repeated concordant deep cultures help distinguish pathogen from contamination. Consider rifampin combination therapy when susceptible staphylococcal hardware is retained. Cutibacterium acnes Especially indolent shoulder PJI Penicillin G or ceftriaxone are common IV choices. Amoxicillin, cefadroxil, clindamycin, or doxycycline according to susceptibility and tolerance. Request prolonged anaerobic incubation and interpret multiple specimens in the surgical context. Streptococci Native-joint infection and acute hematogenous PJI, sometimes from skin or oral source Penicillin/ampicillin or ceftriaxone; cefazolin for susceptible isolates is also reasonable. Amoxicillin can be useful for susceptible organisms when oral therapy is appropriate. Implant infection still depends heavily on operative strategy. Enterococcus PJI or contiguous infection with urinary, gastrointestinal, or healthcare association Ampicillin when susceptible; vancomycin when needed. Linezolid or high-dose daptomycin are common VRE options. Linezolid has high bioavailability; amoxicillin can be used for susceptible isolates in selected settings. Endovascular infection may require a different regimen. Enterobacterales Older or immunocompromised host, urinary/intra-abdominal bacteremia, DFO, or postoperative infection Ceftriaxone, cefepime, carbapenem, or other active beta-lactam according to resistance mechanism and site. Fluoroquinolone or TMP-SMX when susceptible, tolerated, and appropriate. ESBL, AmpC, or CRE may change the preferred beta-lactam. Pseudomonas aeruginosa Healthcare exposure, penetrating injury, selected injection-drug or water exposures; not routine empiric DFO coverage in Missouri Cefepime, ceftazidime, piperacillin-tazobactam, or a newer active agent depending on resistance. Ciprofloxacin is the principal established oral antipseudomonal option when susceptible. Limited oral options make source control and microbiology especially important. Anaerobic / polymicrobial infection Chronic deep diabetic-foot infection, ischemic/necrotic tissue, pressure injury, or contiguous pelvic infection Ampicillin-sulbactam, piperacillin-tazobactam, ceftriaxone plus metronidazole, or other tailored regimens. Amoxicillin-clavulanate, metronidazole combined with needed aerobic coverage, or other susceptibility-guided options. Pressure wounds and diabetic feet can be polymicrobial, but surface flora should not dictate months of therapy. Biofilm-active is not a synonym for “add rifampin” For susceptible staphylococcal retained-prosthesis infection, rifampin combination therapy has a specific evidence base. For gram-negative retained-prosthesis infection, fluoroquinolone activity is valuable when susceptible. For other organisms and drugs, the clinical evidence for “biofilm activity” is much less mature than in-vitro terminology implies. Oral transition checklist Hemodynamics and local infection are stable. No undrained abscess or source-control procedure remains immediately necessary. No persistent bacteremia. The oral drug is active and has adequate systemic/site exposure at the intended dose. GI absorption and adherence are reliable, and drug interactions are addressed. Monitoring is practical. TMP-SMX requires K+, creatinine, and CBC; linezolid requires CBC and longer-course toxicity review; rifampin has major interaction potential. Sources oviva , wiki , pji-review</a:t>
            </a:r>
          </a:p>
          <a:p xmlns:a="http://schemas.openxmlformats.org/drawingml/2006/main">
            <a:r>
              <a:t/>
            </a:r>
          </a:p>
          <a:p xmlns:a="http://schemas.openxmlformats.org/drawingml/2006/main">
            <a:r>
              <a:t>Module section: https://docarcshot.github.io/id-practice-update/lectures/Bone_and_Joint_Infections_Septic_Arthritis_PJI_Osteomyelitis.html#antibiotics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the antibiotic from the pathogen, site, retained material, and route plan The table below is a treatment framework, not a substitute for susceptibility testing or syndrome-specific dosing. Deep specimens are particularly important in chronic infection. Pathogen clues and common definitive choices Pathogen Common definitive options Oral strategy when appropriate Special issue MSSA Acute native joint, acute hematogenous osteomyelitis, early or hematogenous PJI Cefazolin, nafcillin, or oxacillin. Selected patients can complete with a clinically validated active oral regimen. For retained staphylococcal prostheses, rifampin-combination strategy is a separate biofilm decision. A positive blood culture changes the workup. MRSA Same syndromes as MSSA; risk rises with prior colonization/infection and healthcare exposure Vancomycin or daptomycin; other agents depend on syndrome and susceptibility. Linezolid, TMP-SMX, or doxycycline/minocycline can be used in selected bone/joint regimens when active and clinically appropriate. Check bacteremia/endocarditis, drug toxicity, MIC context, and retained hardware. Coagulase-negative staphylococci Indolent postoperative infection and chronic PJI Vancomycin initially when methicillin resistance is possible; use cefazolin or an antistaphylococcal penicillin if susceptible. Doxycycline/minocycline, TMP-SMX, linezolid, or a beta-lactam when susceptible and clinically appropriate. Repeated concordant deep cultures help distinguish pathogen from contamination. Consider rifampin combination therapy when susceptible staphylococcal hardware is retained. Cutibacterium acnes Especially indolent shoulder PJI Penicillin G or ceftriaxone are common IV choices. Amoxicillin, cefadroxil, clindamycin, or doxycycline according to susceptibility and tolerance. Request prolonged anaerobic incubation and interpret multiple specimens in the surgical context. Streptococci Native-joint infection and acute hematogenous PJI, sometimes from skin or oral source Penicillin/ampicillin or ceftriaxone; cefazolin for susceptible isolates is also reasonable. Amoxicillin can be useful for susceptible organisms when oral therapy is appropriate. Implant infection still depends heavily on operative strategy. Enterococcus PJI or contiguous infection with urinary, gastrointestinal, or healthcare association Ampicillin when susceptible; vancomycin when needed. Linezolid or high-dose daptomycin are common VRE options. Linezolid has high bioavailability; amoxicillin can be used for susceptible isolates in selected settings. Endovascular infection may require a different regimen. Enterobacterales Older or immunocompromised host, urinary/intra-abdominal bacteremia, DFO, or postoperative infection Ceftriaxone, cefepime, carbapenem, or other active beta-lactam according to resistance mechanism and site. Fluoroquinolone or TMP-SMX when susceptible, tolerated, and appropriate. ESBL, AmpC, or CRE may change the preferred beta-lactam. Pseudomonas aeruginosa Healthcare exposure, penetrating injury, selected injection-drug or water exposures; not routine empiric DFO coverage in Missouri Cefepime, ceftazidime, piperacillin-tazobactam, or a newer active agent depending on resistance. Ciprofloxacin is the principal established oral antipseudomonal option when susceptible. Limited oral options make source control and microbiology especially important. Anaerobic / polymicrobial infection Chronic deep diabetic-foot infection, ischemic/necrotic tissue, pressure injury, or contiguous pelvic infection Ampicillin-sulbactam, piperacillin-tazobactam, ceftriaxone plus metronidazole, or other tailored regimens. Amoxicillin-clavulanate, metronidazole combined with needed aerobic coverage, or other susceptibility-guided options. Pressure wounds and diabetic feet can be polymicrobial, but surface flora should not dictate months of therapy. Biofilm-active is not a synonym for “add rifampin” For susceptible staphylococcal retained-prosthesis infection, rifampin combination therapy has a specific evidence base. For gram-negative retained-prosthesis infection, fluoroquinolone activity is valuable when susceptible. For other organisms and drugs, the clinical evidence for “biofilm activity” is much less mature than in-vitro terminology implies. Oral transition checklist Hemodynamics and local infection are stable. No undrained abscess or source-control procedure remains immediately necessary. No persistent bacteremia. The oral drug is active and has adequate systemic/site exposure at the intended dose. GI absorption and adherence are reliable, and drug interactions are addressed. Monitoring is practical. TMP-SMX requires K+, creatinine, and CBC; linezolid requires CBC and longer-course toxicity review; rifampin has major interaction potential. Sources oviva , wiki , pji-review</a:t>
            </a:r>
          </a:p>
          <a:p xmlns:a="http://schemas.openxmlformats.org/drawingml/2006/main">
            <a:r>
              <a:t/>
            </a:r>
          </a:p>
          <a:p xmlns:a="http://schemas.openxmlformats.org/drawingml/2006/main">
            <a:r>
              <a:t>Module section: https://docarcshot.github.io/id-practice-update/lectures/Bone_and_Joint_Infections_Septic_Arthritis_PJI_Osteomyelitis.html#antibiotics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the antibiotic from the pathogen, site, retained material, and route plan The table below is a treatment framework, not a substitute for susceptibility testing or syndrome-specific dosing. Deep specimens are particularly important in chronic infection. Pathogen clues and common definitive choices Pathogen Common definitive options Oral strategy when appropriate Special issue MSSA Acute native joint, acute hematogenous osteomyelitis, early or hematogenous PJI Cefazolin, nafcillin, or oxacillin. Selected patients can complete with a clinically validated active oral regimen. For retained staphylococcal prostheses, rifampin-combination strategy is a separate biofilm decision. A positive blood culture changes the workup. MRSA Same syndromes as MSSA; risk rises with prior colonization/infection and healthcare exposure Vancomycin or daptomycin; other agents depend on syndrome and susceptibility. Linezolid, TMP-SMX, or doxycycline/minocycline can be used in selected bone/joint regimens when active and clinically appropriate. Check bacteremia/endocarditis, drug toxicity, MIC context, and retained hardware. Coagulase-negative staphylococci Indolent postoperative infection and chronic PJI Vancomycin initially when methicillin resistance is possible; use cefazolin or an antistaphylococcal penicillin if susceptible. Doxycycline/minocycline, TMP-SMX, linezolid, or a beta-lactam when susceptible and clinically appropriate. Repeated concordant deep cultures help distinguish pathogen from contamination. Consider rifampin combination therapy when susceptible staphylococcal hardware is retained. Cutibacterium acnes Especially indolent shoulder PJI Penicillin G or ceftriaxone are common IV choices. Amoxicillin, cefadroxil, clindamycin, or doxycycline according to susceptibility and tolerance. Request prolonged anaerobic incubation and interpret multiple specimens in the surgical context. Streptococci Native-joint infection and acute hematogenous PJI, sometimes from skin or oral source Penicillin/ampicillin or ceftriaxone; cefazolin for susceptible isolates is also reasonable. Amoxicillin can be useful for susceptible organisms when oral therapy is appropriate. Implant infection still depends heavily on operative strategy. Enterococcus PJI or contiguous infection with urinary, gastrointestinal, or healthcare association Ampicillin when susceptible; vancomycin when needed. Linezolid or high-dose daptomycin are common VRE options. Linezolid has high bioavailability; amoxicillin can be used for susceptible isolates in selected settings. Endovascular infection may require a different regimen. Enterobacterales Older or immunocompromised host, urinary/intra-abdominal bacteremia, DFO, or postoperative infection Ceftriaxone, cefepime, carbapenem, or other active beta-lactam according to resistance mechanism and site. Fluoroquinolone or TMP-SMX when susceptible, tolerated, and appropriate. ESBL, AmpC, or CRE may change the preferred beta-lactam. Pseudomonas aeruginosa Healthcare exposure, penetrating injury, selected injection-drug or water exposures; not routine empiric DFO coverage in Missouri Cefepime, ceftazidime, piperacillin-tazobactam, or a newer active agent depending on resistance. Ciprofloxacin is the principal established oral antipseudomonal option when susceptible. Limited oral options make source control and microbiology especially important. Anaerobic / polymicrobial infection Chronic deep diabetic-foot infection, ischemic/necrotic tissue, pressure injury, or contiguous pelvic infection Ampicillin-sulbactam, piperacillin-tazobactam, ceftriaxone plus metronidazole, or other tailored regimens. Amoxicillin-clavulanate, metronidazole combined with needed aerobic coverage, or other susceptibility-guided options. Pressure wounds and diabetic feet can be polymicrobial, but surface flora should not dictate months of therapy. Biofilm-active is not a synonym for “add rifampin” For susceptible staphylococcal retained-prosthesis infection, rifampin combination therapy has a specific evidence base. For gram-negative retained-prosthesis infection, fluoroquinolone activity is valuable when susceptible. For other organisms and drugs, the clinical evidence for “biofilm activity” is much less mature than in-vitro terminology implies. Oral transition checklist Hemodynamics and local infection are stable. No undrained abscess or source-control procedure remains immediately necessary. No persistent bacteremia. The oral drug is active and has adequate systemic/site exposure at the intended dose. GI absorption and adherence are reliable, and drug interactions are addressed. Monitoring is practical. TMP-SMX requires K+, creatinine, and CBC; linezolid requires CBC and longer-course toxicity review; rifampin has major interaction potential. Sources oviva , wiki , pji-review</a:t>
            </a:r>
          </a:p>
          <a:p xmlns:a="http://schemas.openxmlformats.org/drawingml/2006/main">
            <a:r>
              <a:t/>
            </a:r>
          </a:p>
          <a:p xmlns:a="http://schemas.openxmlformats.org/drawingml/2006/main">
            <a:r>
              <a:t>Module section: https://docarcshot.github.io/id-practice-update/lectures/Bone_and_Joint_Infections_Septic_Arthritis_PJI_Osteomyelitis.html#antibiotics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Suppression is a treatment intent, not a longer version of curative therapy Suppressive antimicrobial therapy is reasonable to consider when infected hardware or necrotic bone cannot be removed, curative surgery is too risky or declined, the organism is known, and a tolerable active oral agent exists. The goal is to reduce relapse, symptoms, or additional surgery. It does not sterilize the retained source. When suppression makes sense Question Favors suppression Argues against suppression Is there a defined target? Repeated high-quality deep cultures identify a pathogen with a reliable oral option. Culture-negative disease or only superficial wound cultures. Is the retained source finite? Stable prosthesis or fixation hardware that cannot currently be removed; extensive necrotic bone not amenable to resection. Continuously open contaminated pressure wound without a closure plan. Would recurrence matter? Relapse threatens function, hardware survival, hospitalization, or major surgery. The drug is unlikely to change symptoms or goals. Can the regimen be sustained? Narrow active oral drug, tolerable toxicity profile, feasible labs and follow-up. Resistance likely, no oral option, major interactions, recurrent C. difficile, progressive toxicity, or poor adherence. Common organism-directed suppressive choices include cephalexin or dicloxacillin for susceptible MSSA, doxycycline/minocycline or TMP-SMX for selected susceptible staphylococci, and a susceptible fluoroquinolone or TMP-SMX for some gram-negative infections. These are examples, not universal defaults. Rifampin monotherapy should not be used for chronic suppression. The 2026 PJI systematic review found highly heterogeneous practice and definitions. Reported pooled success was about 74% overall, but observational confounding is substantial and “success” varied across studies. In US practice suppression is often indefinite; finite strategies also exist. There is no evidence-based universal stopping point. Reassess the decision periodically At follow-up ask whether the original goal is still being achieved, whether loosening or sinus formation is progressing, whether toxicity or resistance has emerged, and whether surgery has become feasible or desirable. Sources sat-2026 , pji-2013 , dfi</a:t>
            </a:r>
          </a:p>
          <a:p xmlns:a="http://schemas.openxmlformats.org/drawingml/2006/main">
            <a:r>
              <a:t/>
            </a:r>
          </a:p>
          <a:p xmlns:a="http://schemas.openxmlformats.org/drawingml/2006/main">
            <a:r>
              <a:t>Module section: https://docarcshot.github.io/id-practice-update/lectures/Bone_and_Joint_Infections_Septic_Arthritis_PJI_Osteomyelitis.html#suppression</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Suppression is a treatment intent, not a longer version of curative therapy Suppressive antimicrobial therapy is reasonable to consider when infected hardware or necrotic bone cannot be removed, curative surgery is too risky or declined, the organism is known, and a tolerable active oral agent exists. The goal is to reduce relapse, symptoms, or additional surgery. It does not sterilize the retained source. When suppression makes sense Question Favors suppression Argues against suppression Is there a defined target? Repeated high-quality deep cultures identify a pathogen with a reliable oral option. Culture-negative disease or only superficial wound cultures. Is the retained source finite? Stable prosthesis or fixation hardware that cannot currently be removed; extensive necrotic bone not amenable to resection. Continuously open contaminated pressure wound without a closure plan. Would recurrence matter? Relapse threatens function, hardware survival, hospitalization, or major surgery. The drug is unlikely to change symptoms or goals. Can the regimen be sustained? Narrow active oral drug, tolerable toxicity profile, feasible labs and follow-up. Resistance likely, no oral option, major interactions, recurrent C. difficile, progressive toxicity, or poor adherence. Common organism-directed suppressive choices include cephalexin or dicloxacillin for susceptible MSSA, doxycycline/minocycline or TMP-SMX for selected susceptible staphylococci, and a susceptible fluoroquinolone or TMP-SMX for some gram-negative infections. These are examples, not universal defaults. Rifampin monotherapy should not be used for chronic suppression. The 2026 PJI systematic review found highly heterogeneous practice and definitions. Reported pooled success was about 74% overall, but observational confounding is substantial and “success” varied across studies. In US practice suppression is often indefinite; finite strategies also exist. There is no evidence-based universal stopping point. Reassess the decision periodically At follow-up ask whether the original goal is still being achieved, whether loosening or sinus formation is progressing, whether toxicity or resistance has emerged, and whether surgery has become feasible or desirable. Sources sat-2026 , pji-2013 , dfi</a:t>
            </a:r>
          </a:p>
          <a:p xmlns:a="http://schemas.openxmlformats.org/drawingml/2006/main">
            <a:r>
              <a:t/>
            </a:r>
          </a:p>
          <a:p xmlns:a="http://schemas.openxmlformats.org/drawingml/2006/main">
            <a:r>
              <a:t>Module section: https://docarcshot.github.io/id-practice-update/lectures/Bone_and_Joint_Infections_Septic_Arthritis_PJI_Osteomyelitis.html#suppression</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Suppression is a treatment intent, not a longer version of curative therapy Suppressive antimicrobial therapy is reasonable to consider when infected hardware or necrotic bone cannot be removed, curative surgery is too risky or declined, the organism is known, and a tolerable active oral agent exists. The goal is to reduce relapse, symptoms, or additional surgery. It does not sterilize the retained source. When suppression makes sense Question Favors suppression Argues against suppression Is there a defined target? Repeated high-quality deep cultures identify a pathogen with a reliable oral option. Culture-negative disease or only superficial wound cultures. Is the retained source finite? Stable prosthesis or fixation hardware that cannot currently be removed; extensive necrotic bone not amenable to resection. Continuously open contaminated pressure wound without a closure plan. Would recurrence matter? Relapse threatens function, hardware survival, hospitalization, or major surgery. The drug is unlikely to change symptoms or goals. Can the regimen be sustained? Narrow active oral drug, tolerable toxicity profile, feasible labs and follow-up. Resistance likely, no oral option, major interactions, recurrent C. difficile, progressive toxicity, or poor adherence. Common organism-directed suppressive choices include cephalexin or dicloxacillin for susceptible MSSA, doxycycline/minocycline or TMP-SMX for selected susceptible staphylococci, and a susceptible fluoroquinolone or TMP-SMX for some gram-negative infections. These are examples, not universal defaults. Rifampin monotherapy should not be used for chronic suppression. The 2026 PJI systematic review found highly heterogeneous practice and definitions. Reported pooled success was about 74% overall, but observational confounding is substantial and “success” varied across studies. In US practice suppression is often indefinite; finite strategies also exist. There is no evidence-based universal stopping point. Reassess the decision periodically At follow-up ask whether the original goal is still being achieved, whether loosening or sinus formation is progressing, whether toxicity or resistance has emerged, and whether surgery has become feasible or desirable. Sources sat-2026 , pji-2013 , dfi</a:t>
            </a:r>
          </a:p>
          <a:p xmlns:a="http://schemas.openxmlformats.org/drawingml/2006/main">
            <a:r>
              <a:t/>
            </a:r>
          </a:p>
          <a:p xmlns:a="http://schemas.openxmlformats.org/drawingml/2006/main">
            <a:r>
              <a:t>Module section: https://docarcshot.github.io/id-practice-update/lectures/Bone_and_Joint_Infections_Septic_Arthritis_PJI_Osteomyelitis.html#suppression</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Suppression is a treatment intent, not a longer version of curative therapy Suppressive antimicrobial therapy is reasonable to consider when infected hardware or necrotic bone cannot be removed, curative surgery is too risky or declined, the organism is known, and a tolerable active oral agent exists. The goal is to reduce relapse, symptoms, or additional surgery. It does not sterilize the retained source. When suppression makes sense Question Favors suppression Argues against suppression Is there a defined target? Repeated high-quality deep cultures identify a pathogen with a reliable oral option. Culture-negative disease or only superficial wound cultures. Is the retained source finite? Stable prosthesis or fixation hardware that cannot currently be removed; extensive necrotic bone not amenable to resection. Continuously open contaminated pressure wound without a closure plan. Would recurrence matter? Relapse threatens function, hardware survival, hospitalization, or major surgery. The drug is unlikely to change symptoms or goals. Can the regimen be sustained? Narrow active oral drug, tolerable toxicity profile, feasible labs and follow-up. Resistance likely, no oral option, major interactions, recurrent C. difficile, progressive toxicity, or poor adherence. Common organism-directed suppressive choices include cephalexin or dicloxacillin for susceptible MSSA, doxycycline/minocycline or TMP-SMX for selected susceptible staphylococci, and a susceptible fluoroquinolone or TMP-SMX for some gram-negative infections. These are examples, not universal defaults. Rifampin monotherapy should not be used for chronic suppression. The 2026 PJI systematic review found highly heterogeneous practice and definitions. Reported pooled success was about 74% overall, but observational confounding is substantial and “success” varied across studies. In US practice suppression is often indefinite; finite strategies also exist. There is no evidence-based universal stopping point. Reassess the decision periodically At follow-up ask whether the original goal is still being achieved, whether loosening or sinus formation is progressing, whether toxicity or resistance has emerged, and whether surgery has become feasible or desirable. Sources sat-2026 , pji-2013 , dfi</a:t>
            </a:r>
          </a:p>
          <a:p xmlns:a="http://schemas.openxmlformats.org/drawingml/2006/main">
            <a:r>
              <a:t/>
            </a:r>
          </a:p>
          <a:p xmlns:a="http://schemas.openxmlformats.org/drawingml/2006/main">
            <a:r>
              <a:t>Module section: https://docarcshot.github.io/id-practice-update/lectures/Bone_and_Joint_Infections_Septic_Arthritis_PJI_Osteomyelitis.html#suppression</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Suppression is a treatment intent, not a longer version of curative therapy Suppressive antimicrobial therapy is reasonable to consider when infected hardware or necrotic bone cannot be removed, curative surgery is too risky or declined, the organism is known, and a tolerable active oral agent exists. The goal is to reduce relapse, symptoms, or additional surgery. It does not sterilize the retained source. When suppression makes sense Question Favors suppression Argues against suppression Is there a defined target? Repeated high-quality deep cultures identify a pathogen with a reliable oral option. Culture-negative disease or only superficial wound cultures. Is the retained source finite? Stable prosthesis or fixation hardware that cannot currently be removed; extensive necrotic bone not amenable to resection. Continuously open contaminated pressure wound without a closure plan. Would recurrence matter? Relapse threatens function, hardware survival, hospitalization, or major surgery. The drug is unlikely to change symptoms or goals. Can the regimen be sustained? Narrow active oral drug, tolerable toxicity profile, feasible labs and follow-up. Resistance likely, no oral option, major interactions, recurrent C. difficile, progressive toxicity, or poor adherence. Common organism-directed suppressive choices include cephalexin or dicloxacillin for susceptible MSSA, doxycycline/minocycline or TMP-SMX for selected susceptible staphylococci, and a susceptible fluoroquinolone or TMP-SMX for some gram-negative infections. These are examples, not universal defaults. Rifampin monotherapy should not be used for chronic suppression. The 2026 PJI systematic review found highly heterogeneous practice and definitions. Reported pooled success was about 74% overall, but observational confounding is substantial and “success” varied across studies. In US practice suppression is often indefinite; finite strategies also exist. There is no evidence-based universal stopping point. Reassess the decision periodically At follow-up ask whether the original goal is still being achieved, whether loosening or sinus formation is progressing, whether toxicity or resistance has emerged, and whether surgery has become feasible or desirable. Sources sat-2026 , pji-2013 , dfi</a:t>
            </a:r>
          </a:p>
          <a:p xmlns:a="http://schemas.openxmlformats.org/drawingml/2006/main">
            <a:r>
              <a:t/>
            </a:r>
          </a:p>
          <a:p xmlns:a="http://schemas.openxmlformats.org/drawingml/2006/main">
            <a:r>
              <a:t>Module section: https://docarcshot.github.io/id-practice-update/lectures/Bone_and_Joint_Infections_Septic_Arthritis_PJI_Osteomyelitis.html#suppression</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Suppression is a treatment intent, not a longer version of curative therapy Suppressive antimicrobial therapy is reasonable to consider when infected hardware or necrotic bone cannot be removed, curative surgery is too risky or declined, the organism is known, and a tolerable active oral agent exists. The goal is to reduce relapse, symptoms, or additional surgery. It does not sterilize the retained source. When suppression makes sense Question Favors suppression Argues against suppression Is there a defined target? Repeated high-quality deep cultures identify a pathogen with a reliable oral option. Culture-negative disease or only superficial wound cultures. Is the retained source finite? Stable prosthesis or fixation hardware that cannot currently be removed; extensive necrotic bone not amenable to resection. Continuously open contaminated pressure wound without a closure plan. Would recurrence matter? Relapse threatens function, hardware survival, hospitalization, or major surgery. The drug is unlikely to change symptoms or goals. Can the regimen be sustained? Narrow active oral drug, tolerable toxicity profile, feasible labs and follow-up. Resistance likely, no oral option, major interactions, recurrent C. difficile, progressive toxicity, or poor adherence. Common organism-directed suppressive choices include cephalexin or dicloxacillin for susceptible MSSA, doxycycline/minocycline or TMP-SMX for selected susceptible staphylococci, and a susceptible fluoroquinolone or TMP-SMX for some gram-negative infections. These are examples, not universal defaults. Rifampin monotherapy should not be used for chronic suppression. The 2026 PJI systematic review found highly heterogeneous practice and definitions. Reported pooled success was about 74% overall, but observational confounding is substantial and “success” varied across studies. In US practice suppression is often indefinite; finite strategies also exist. There is no evidence-based universal stopping point. Reassess the decision periodically At follow-up ask whether the original goal is still being achieved, whether loosening or sinus formation is progressing, whether toxicity or resistance has emerged, and whether surgery has become feasible or desirable. Sources sat-2026 , pji-2013 , dfi</a:t>
            </a:r>
          </a:p>
          <a:p xmlns:a="http://schemas.openxmlformats.org/drawingml/2006/main">
            <a:r>
              <a:t/>
            </a:r>
          </a:p>
          <a:p xmlns:a="http://schemas.openxmlformats.org/drawingml/2006/main">
            <a:r>
              <a:t>Module section: https://docarcshot.github.io/id-practice-update/lectures/Bone_and_Joint_Infections_Septic_Arthritis_PJI_Osteomyelitis.html#suppression</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Suppression is a treatment intent, not a longer version of curative therapy Suppressive antimicrobial therapy is reasonable to consider when infected hardware or necrotic bone cannot be removed, curative surgery is too risky or declined, the organism is known, and a tolerable active oral agent exists. The goal is to reduce relapse, symptoms, or additional surgery. It does not sterilize the retained source. When suppression makes sense Question Favors suppression Argues against suppression Is there a defined target? Repeated high-quality deep cultures identify a pathogen with a reliable oral option. Culture-negative disease or only superficial wound cultures. Is the retained source finite? Stable prosthesis or fixation hardware that cannot currently be removed; extensive necrotic bone not amenable to resection. Continuously open contaminated pressure wound without a closure plan. Would recurrence matter? Relapse threatens function, hardware survival, hospitalization, or major surgery. The drug is unlikely to change symptoms or goals. Can the regimen be sustained? Narrow active oral drug, tolerable toxicity profile, feasible labs and follow-up. Resistance likely, no oral option, major interactions, recurrent C. difficile, progressive toxicity, or poor adherence. Common organism-directed suppressive choices include cephalexin or dicloxacillin for susceptible MSSA, doxycycline/minocycline or TMP-SMX for selected susceptible staphylococci, and a susceptible fluoroquinolone or TMP-SMX for some gram-negative infections. These are examples, not universal defaults. Rifampin monotherapy should not be used for chronic suppression. The 2026 PJI systematic review found highly heterogeneous practice and definitions. Reported pooled success was about 74% overall, but observational confounding is substantial and “success” varied across studies. In US practice suppression is often indefinite; finite strategies also exist. There is no evidence-based universal stopping point. Reassess the decision periodically At follow-up ask whether the original goal is still being achieved, whether loosening or sinus formation is progressing, whether toxicity or resistance has emerged, and whether surgery has become feasible or desirable. Sources sat-2026 , pji-2013 , dfi</a:t>
            </a:r>
          </a:p>
          <a:p xmlns:a="http://schemas.openxmlformats.org/drawingml/2006/main">
            <a:r>
              <a:t/>
            </a:r>
          </a:p>
          <a:p xmlns:a="http://schemas.openxmlformats.org/drawingml/2006/main">
            <a:r>
              <a:t>Module section: https://docarcshot.github.io/id-practice-update/lectures/Bone_and_Joint_Infections_Septic_Arthritis_PJI_Osteomyelitis.html#suppression</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Suppression is a treatment intent, not a longer version of curative therapy Suppressive antimicrobial therapy is reasonable to consider when infected hardware or necrotic bone cannot be removed, curative surgery is too risky or declined, the organism is known, and a tolerable active oral agent exists. The goal is to reduce relapse, symptoms, or additional surgery. It does not sterilize the retained source. When suppression makes sense Question Favors suppression Argues against suppression Is there a defined target? Repeated high-quality deep cultures identify a pathogen with a reliable oral option. Culture-negative disease or only superficial wound cultures. Is the retained source finite? Stable prosthesis or fixation hardware that cannot currently be removed; extensive necrotic bone not amenable to resection. Continuously open contaminated pressure wound without a closure plan. Would recurrence matter? Relapse threatens function, hardware survival, hospitalization, or major surgery. The drug is unlikely to change symptoms or goals. Can the regimen be sustained? Narrow active oral drug, tolerable toxicity profile, feasible labs and follow-up. Resistance likely, no oral option, major interactions, recurrent C. difficile, progressive toxicity, or poor adherence. Common organism-directed suppressive choices include cephalexin or dicloxacillin for susceptible MSSA, doxycycline/minocycline or TMP-SMX for selected susceptible staphylococci, and a susceptible fluoroquinolone or TMP-SMX for some gram-negative infections. These are examples, not universal defaults. Rifampin monotherapy should not be used for chronic suppression. The 2026 PJI systematic review found highly heterogeneous practice and definitions. Reported pooled success was about 74% overall, but observational confounding is substantial and “success” varied across studies. In US practice suppression is often indefinite; finite strategies also exist. There is no evidence-based universal stopping point. Reassess the decision periodically At follow-up ask whether the original goal is still being achieved, whether loosening or sinus formation is progressing, whether toxicity or resistance has emerged, and whether surgery has become feasible or desirable. Sources sat-2026 , pji-2013 , dfi</a:t>
            </a:r>
          </a:p>
          <a:p xmlns:a="http://schemas.openxmlformats.org/drawingml/2006/main">
            <a:r>
              <a:t/>
            </a:r>
          </a:p>
          <a:p xmlns:a="http://schemas.openxmlformats.org/drawingml/2006/main">
            <a:r>
              <a:t>Module section: https://docarcshot.github.io/id-practice-update/lectures/Bone_and_Joint_Infections_Septic_Arthritis_PJI_Osteomyelitis.html#suppression</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highest-value studies change route and duration, but not the need for source control OVIVA: oral treatment can replace prolonged IV therapy In 1,054 adults with complex orthopedic infection, definitive treatment failure occurred in 14.6% assigned to IV therapy and 13.2% assigned to oral therapy during the first 6 weeks. Oral therapy met noninferiority criteria. Catheter complications were more common with IV treatment, 9.4% versus 1.0%. This supports carefully selected oral regimens. It does not mean every oral drug is adequate or that source control can be omitted. DATIPO: six weeks was not enough for all surgically managed PJI The randomized PJI trial failed to show noninferiority of 6 weeks compared with 12 weeks. The signal was most concerning with retained-implant strategies such as DAIR. It supports avoiding a 6-week DAIR course, but it does not establish one universal duration for every joint or exchange strategy. The 2013 IDSA staphylococcal rifampin-based regimen specifies 3 months for hip and 6 months for knee DAIR. SOLARIO: very short systemic therapy after definitive surgery plus local antibiotics In 475 eligible adults who underwent definitive curative surgery, received a local antibiotic carrier eluting for at least 4 weeks, and achieved primary closure, no more than 7 days of systemic therapy was noninferior to at least 4 weeks for definite failure at 12 months (11.1% versus 14.1%). Antibiotic-related symptoms were less frequent with the short course. DAIR and suppressive procedures were excluded, the cohort combined several orthopedic syndromes, and the PJI subgroups were not separately powered. Do not apply this result to retained prostheses or surgery without the same local-antibiotic and closure conditions. Two versus four weeks after native-joint drainage: useful but anatomically narrow The randomized trial enrolled 154 cases, 99 involving the hand or wrist. Two weeks after surgical drainage performed well in that population. It is weak justification for shortening treatment of large-joint, bacteremic, axial, or osteomyelitis-complicated infection. Pressure-injury pelvic osteomyelitis: the evidence is mostly observational Systematic and multidisciplinary reviews find no evidence that prolonged antibiotics improve outcomes when an open stage IV pressure injury cannot be debrided and closed. Outcomes are poor without flap reconstruction regardless of antibiotics in available cohorts. This is a source-control conclusion, not proof that pelvic osteomyelitis is harmless. Where the evidence is weakest Outside specific institutional pathways, optimal PJI duration after one-stage or two-stage exchange, exact rifampin timing, the value of an antibiotic holiday before reimplantation, treatment duration for Brodie abscess, retained fracture fixation, and the benefit/duration of chronic suppression remain incompletely defined. Sources oviva , datipo , solario , 2v4 ,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https://docarcshot.github.io/id-practice-update/lectures/Bone_and_Joint_Infections_Septic_Arthritis_PJI_Osteomyelitis.html#evidence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highest-value studies change route and duration, but not the need for source control OVIVA: oral treatment can replace prolonged IV therapy In 1,054 adults with complex orthopedic infection, definitive treatment failure occurred in 14.6% assigned to IV therapy and 13.2% assigned to oral therapy during the first 6 weeks. Oral therapy met noninferiority criteria. Catheter complications were more common with IV treatment, 9.4% versus 1.0%. This supports carefully selected oral regimens. It does not mean every oral drug is adequate or that source control can be omitted. DATIPO: six weeks was not enough for all surgically managed PJI The randomized PJI trial failed to show noninferiority of 6 weeks compared with 12 weeks. The signal was most concerning with retained-implant strategies such as DAIR. It supports avoiding a 6-week DAIR course, but it does not establish one universal duration for every joint or exchange strategy. The 2013 IDSA staphylococcal rifampin-based regimen specifies 3 months for hip and 6 months for knee DAIR. SOLARIO: very short systemic therapy after definitive surgery plus local antibiotics In 475 eligible adults who underwent definitive curative surgery, received a local antibiotic carrier eluting for at least 4 weeks, and achieved primary closure, no more than 7 days of systemic therapy was noninferior to at least 4 weeks for definite failure at 12 months (11.1% versus 14.1%). Antibiotic-related symptoms were less frequent with the short course. DAIR and suppressive procedures were excluded, the cohort combined several orthopedic syndromes, and the PJI subgroups were not separately powered. Do not apply this result to retained prostheses or surgery without the same local-antibiotic and closure conditions. Two versus four weeks after native-joint drainage: useful but anatomically narrow The randomized trial enrolled 154 cases, 99 involving the hand or wrist. Two weeks after surgical drainage performed well in that population. It is weak justification for shortening treatment of large-joint, bacteremic, axial, or osteomyelitis-complicated infection. Pressure-injury pelvic osteomyelitis: the evidence is mostly observational Systematic and multidisciplinary reviews find no evidence that prolonged antibiotics improve outcomes when an open stage IV pressure injury cannot be debrided and closed. Outcomes are poor without flap reconstruction regardless of antibiotics in available cohorts. This is a source-control conclusion, not proof that pelvic osteomyelitis is harmless. Where the evidence is weakest Outside specific institutional pathways, optimal PJI duration after one-stage or two-stage exchange, exact rifampin timing, the value of an antibiotic holiday before reimplantation, treatment duration for Brodie abscess, retained fracture fixation, and the benefit/duration of chronic suppression remain incompletely defined. Sources oviva , datipo , solario , 2v4 ,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https://docarcshot.github.io/id-practice-update/lectures/Bone_and_Joint_Infections_Septic_Arthritis_PJI_Osteomyelitis.html#evidence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highest-value studies change route and duration, but not the need for source control OVIVA: oral treatment can replace prolonged IV therapy In 1,054 adults with complex orthopedic infection, definitive treatment failure occurred in 14.6% assigned to IV therapy and 13.2% assigned to oral therapy during the first 6 weeks. Oral therapy met noninferiority criteria. Catheter complications were more common with IV treatment, 9.4% versus 1.0%. This supports carefully selected oral regimens. It does not mean every oral drug is adequate or that source control can be omitted. DATIPO: six weeks was not enough for all surgically managed PJI The randomized PJI trial failed to show noninferiority of 6 weeks compared with 12 weeks. The signal was most concerning with retained-implant strategies such as DAIR. It supports avoiding a 6-week DAIR course, but it does not establish one universal duration for every joint or exchange strategy. The 2013 IDSA staphylococcal rifampin-based regimen specifies 3 months for hip and 6 months for knee DAIR. SOLARIO: very short systemic therapy after definitive surgery plus local antibiotics In 475 eligible adults who underwent definitive curative surgery, received a local antibiotic carrier eluting for at least 4 weeks, and achieved primary closure, no more than 7 days of systemic therapy was noninferior to at least 4 weeks for definite failure at 12 months (11.1% versus 14.1%). Antibiotic-related symptoms were less frequent with the short course. DAIR and suppressive procedures were excluded, the cohort combined several orthopedic syndromes, and the PJI subgroups were not separately powered. Do not apply this result to retained prostheses or surgery without the same local-antibiotic and closure conditions. Two versus four weeks after native-joint drainage: useful but anatomically narrow The randomized trial enrolled 154 cases, 99 involving the hand or wrist. Two weeks after surgical drainage performed well in that population. It is weak justification for shortening treatment of large-joint, bacteremic, axial, or osteomyelitis-complicated infection. Pressure-injury pelvic osteomyelitis: the evidence is mostly observational Systematic and multidisciplinary reviews find no evidence that prolonged antibiotics improve outcomes when an open stage IV pressure injury cannot be debrided and closed. Outcomes are poor without flap reconstruction regardless of antibiotics in available cohorts. This is a source-control conclusion, not proof that pelvic osteomyelitis is harmless. Where the evidence is weakest Outside specific institutional pathways, optimal PJI duration after one-stage or two-stage exchange, exact rifampin timing, the value of an antibiotic holiday before reimplantation, treatment duration for Brodie abscess, retained fracture fixation, and the benefit/duration of chronic suppression remain incompletely defined. Sources oviva , datipo , solario , 2v4 ,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https://docarcshot.github.io/id-practice-update/lectures/Bone_and_Joint_Infections_Septic_Arthritis_PJI_Osteomyelitis.html#evidence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highest-value studies change route and duration, but not the need for source control OVIVA: oral treatment can replace prolonged IV therapy In 1,054 adults with complex orthopedic infection, definitive treatment failure occurred in 14.6% assigned to IV therapy and 13.2% assigned to oral therapy during the first 6 weeks. Oral therapy met noninferiority criteria. Catheter complications were more common with IV treatment, 9.4% versus 1.0%. This supports carefully selected oral regimens. It does not mean every oral drug is adequate or that source control can be omitted. DATIPO: six weeks was not enough for all surgically managed PJI The randomized PJI trial failed to show noninferiority of 6 weeks compared with 12 weeks. The signal was most concerning with retained-implant strategies such as DAIR. It supports avoiding a 6-week DAIR course, but it does not establish one universal duration for every joint or exchange strategy. The 2013 IDSA staphylococcal rifampin-based regimen specifies 3 months for hip and 6 months for knee DAIR. SOLARIO: very short systemic therapy after definitive surgery plus local antibiotics In 475 eligible adults who underwent definitive curative surgery, received a local antibiotic carrier eluting for at least 4 weeks, and achieved primary closure, no more than 7 days of systemic therapy was noninferior to at least 4 weeks for definite failure at 12 months (11.1% versus 14.1%). Antibiotic-related symptoms were less frequent with the short course. DAIR and suppressive procedures were excluded, the cohort combined several orthopedic syndromes, and the PJI subgroups were not separately powered. Do not apply this result to retained prostheses or surgery without the same local-antibiotic and closure conditions. Two versus four weeks after native-joint drainage: useful but anatomically narrow The randomized trial enrolled 154 cases, 99 involving the hand or wrist. Two weeks after surgical drainage performed well in that population. It is weak justification for shortening treatment of large-joint, bacteremic, axial, or osteomyelitis-complicated infection. Pressure-injury pelvic osteomyelitis: the evidence is mostly observational Systematic and multidisciplinary reviews find no evidence that prolonged antibiotics improve outcomes when an open stage IV pressure injury cannot be debrided and closed. Outcomes are poor without flap reconstruction regardless of antibiotics in available cohorts. This is a source-control conclusion, not proof that pelvic osteomyelitis is harmless. Where the evidence is weakest Outside specific institutional pathways, optimal PJI duration after one-stage or two-stage exchange, exact rifampin timing, the value of an antibiotic holiday before reimplantation, treatment duration for Brodie abscess, retained fracture fixation, and the benefit/duration of chronic suppression remain incompletely defined. Sources oviva , datipo , solario , 2v4 ,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https://docarcshot.github.io/id-practice-update/lectures/Bone_and_Joint_Infections_Septic_Arthritis_PJI_Osteomyelitis.html#evidence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highest-value studies change route and duration, but not the need for source control OVIVA: oral treatment can replace prolonged IV therapy In 1,054 adults with complex orthopedic infection, definitive treatment failure occurred in 14.6% assigned to IV therapy and 13.2% assigned to oral therapy during the first 6 weeks. Oral therapy met noninferiority criteria. Catheter complications were more common with IV treatment, 9.4% versus 1.0%. This supports carefully selected oral regimens. It does not mean every oral drug is adequate or that source control can be omitted. DATIPO: six weeks was not enough for all surgically managed PJI The randomized PJI trial failed to show noninferiority of 6 weeks compared with 12 weeks. The signal was most concerning with retained-implant strategies such as DAIR. It supports avoiding a 6-week DAIR course, but it does not establish one universal duration for every joint or exchange strategy. The 2013 IDSA staphylococcal rifampin-based regimen specifies 3 months for hip and 6 months for knee DAIR. SOLARIO: very short systemic therapy after definitive surgery plus local antibiotics In 475 eligible adults who underwent definitive curative surgery, received a local antibiotic carrier eluting for at least 4 weeks, and achieved primary closure, no more than 7 days of systemic therapy was noninferior to at least 4 weeks for definite failure at 12 months (11.1% versus 14.1%). Antibiotic-related symptoms were less frequent with the short course. DAIR and suppressive procedures were excluded, the cohort combined several orthopedic syndromes, and the PJI subgroups were not separately powered. Do not apply this result to retained prostheses or surgery without the same local-antibiotic and closure conditions. Two versus four weeks after native-joint drainage: useful but anatomically narrow The randomized trial enrolled 154 cases, 99 involving the hand or wrist. Two weeks after surgical drainage performed well in that population. It is weak justification for shortening treatment of large-joint, bacteremic, axial, or osteomyelitis-complicated infection. Pressure-injury pelvic osteomyelitis: the evidence is mostly observational Systematic and multidisciplinary reviews find no evidence that prolonged antibiotics improve outcomes when an open stage IV pressure injury cannot be debrided and closed. Outcomes are poor without flap reconstruction regardless of antibiotics in available cohorts. This is a source-control conclusion, not proof that pelvic osteomyelitis is harmless. Where the evidence is weakest Outside specific institutional pathways, optimal PJI duration after one-stage or two-stage exchange, exact rifampin timing, the value of an antibiotic holiday before reimplantation, treatment duration for Brodie abscess, retained fracture fixation, and the benefit/duration of chronic suppression remain incompletely defined. Sources oviva , datipo , solario , 2v4 ,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https://docarcshot.github.io/id-practice-update/lectures/Bone_and_Joint_Infections_Septic_Arthritis_PJI_Osteomyelitis.html#evidence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highest-value studies change route and duration, but not the need for source control OVIVA: oral treatment can replace prolonged IV therapy In 1,054 adults with complex orthopedic infection, definitive treatment failure occurred in 14.6% assigned to IV therapy and 13.2% assigned to oral therapy during the first 6 weeks. Oral therapy met noninferiority criteria. Catheter complications were more common with IV treatment, 9.4% versus 1.0%. This supports carefully selected oral regimens. It does not mean every oral drug is adequate or that source control can be omitted. DATIPO: six weeks was not enough for all surgically managed PJI The randomized PJI trial failed to show noninferiority of 6 weeks compared with 12 weeks. The signal was most concerning with retained-implant strategies such as DAIR. It supports avoiding a 6-week DAIR course, but it does not establish one universal duration for every joint or exchange strategy. The 2013 IDSA staphylococcal rifampin-based regimen specifies 3 months for hip and 6 months for knee DAIR. SOLARIO: very short systemic therapy after definitive surgery plus local antibiotics In 475 eligible adults who underwent definitive curative surgery, received a local antibiotic carrier eluting for at least 4 weeks, and achieved primary closure, no more than 7 days of systemic therapy was noninferior to at least 4 weeks for definite failure at 12 months (11.1% versus 14.1%). Antibiotic-related symptoms were less frequent with the short course. DAIR and suppressive procedures were excluded, the cohort combined several orthopedic syndromes, and the PJI subgroups were not separately powered. Do not apply this result to retained prostheses or surgery without the same local-antibiotic and closure conditions. Two versus four weeks after native-joint drainage: useful but anatomically narrow The randomized trial enrolled 154 cases, 99 involving the hand or wrist. Two weeks after surgical drainage performed well in that population. It is weak justification for shortening treatment of large-joint, bacteremic, axial, or osteomyelitis-complicated infection. Pressure-injury pelvic osteomyelitis: the evidence is mostly observational Systematic and multidisciplinary reviews find no evidence that prolonged antibiotics improve outcomes when an open stage IV pressure injury cannot be debrided and closed. Outcomes are poor without flap reconstruction regardless of antibiotics in available cohorts. This is a source-control conclusion, not proof that pelvic osteomyelitis is harmless. Where the evidence is weakest Outside specific institutional pathways, optimal PJI duration after one-stage or two-stage exchange, exact rifampin timing, the value of an antibiotic holiday before reimplantation, treatment duration for Brodie abscess, retained fracture fixation, and the benefit/duration of chronic suppression remain incompletely defined. Sources oviva , datipo , solario , 2v4 , pressure-2019 , pressure-2024</a:t>
            </a:r>
          </a:p>
          <a:p xmlns:a="http://schemas.openxmlformats.org/drawingml/2006/main">
            <a:r>
              <a:t/>
            </a:r>
          </a:p>
          <a:p xmlns:a="http://schemas.openxmlformats.org/drawingml/2006/main">
            <a:r>
              <a:t>Module section: https://docarcshot.github.io/id-practice-update/lectures/Bone_and_Joint_Infections_Septic_Arthritis_PJI_Osteomyelitis.html#evidence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decide the source-control plan before the antibiotic clock Case 1 · Crystals and a hot knee A 67-year-old has fever and an acutely swollen native knee. Synovial fluid contains urate crystals and 72,000 WBC/µL with 92% neutrophils. Discuss the decision Crystals do not exclude septic arthritis. Send Gram stain/culture and blood cultures, start empiric therapy after aspiration if stable enough to sample first, and obtain urgent orthopedic input for drainage. Narrow to the organism. Case 2 · Arthritis plus pustules A young adult has migratory arthralgia, tenosynovitis, pustular lesions, and a swollen ankle. Discuss the decision Evaluate for disseminated gonococcal infection. Obtain NAAT from exposed mucosal sites, culture of purulent material when possible, and blood cultures when appropriate. Treat with ceftriaxone 1 g every 24 hours; treat chlamydia if not excluded. Total therapy is at least 7 days, with susceptibility-guided oral transition after substantial improvement. Case 3 · Acute postoperative knee PJI Three weeks after TKA, the patient develops 3 days of pain, effusion, and drainage. Components are well fixed. Aspiration grows MSSA. Discuss the decision This is a favorable timing pattern for DAIR if the soft tissue and implant are otherwise suitable. Exchange modular components when feasible, obtain multiple deep cultures, and use pathogen-directed therapy. For susceptible staphylococcal knee PJI treated with DAIR, the IDSA rifampin-based regimen completes 6 months. The route and timing of oral transition depend on clinical response and an active companion drug. Add rifampin only as combination therapy after debridement. Case 4 · Chronic hip PJI considered for one-stage exchange A patient has months of hip pain, a well-fixed prosthesis, good soft tissue, no sinus tract, and repeated deep aspiration cultures growing susceptible Cutibacterium acnes . Discuss the decision This is a potential one-stage exchange candidate because the organism is known and tractable and the soft-tissue envelope is favorable. Remove all infected components, perform radical debridement, obtain at least 5 deep specimens with separate instruments, and implant the new prosthesis during the same operation. Choose a pathogen-directed regimen and duration after reviewing operative cultures. For this nonstaphylococcal example, IDSA describes 4–6 weeks of IV or highly bioavailable oral therapy; a fixed IV lead-in is not established. Indefinite suppression is a separate decision. Case 5 · Stable vertebral osteomyelitis with negative blood cultures A stable patient has severe back pain and MRI findings compatible with L2–L3 discitis/osteomyelitis. Neurologic examination is normal and blood cultures are negative. Discuss the decision If clinically safe, do not rush into empiric six-week therapy before obtaining a microbiologic diagnosis. Arrange image-guided biopsy and assess alternative diagnoses. If bacterial NVO is confirmed, most patients need 6 weeks of parenteral or highly bioavailable oral therapy. Repeat MRI is not routine if the patient improves. Case 6 · Months of tibial pain and a Brodie-type lesion A 24-year-old has focal tibial pain for 3 months, no fever, normal WBC, and a well-circumscribed intramedullary lesion. Discuss the decision Subacute osteomyelitis is possible, but malignancy and other mimics matter. Orthopedic curettage/biopsy provides diagnosis, cultures, histology, and source control. Culture-directed therapy is often 4–6 weeks, but there is no high-quality trial defining the ideal course. Case 7 · Stage IV sacral wound, exposed bone, MRI “osteomyelitis,” no flap option A chronically immobile patient has an open sacral pressure injury with visible bone. There is no surrounding cellulitis, abscess, fever, bacteremia, or hemodynamic instability. Plastics determines durable flap closure is not feasible. Discuss the decision Do not prescribe six weeks, chronic suppression, or repeated antibiotic courses for the exposed bone/MRI alone. Focus on pressure redistribution, wound care, debridement when appropriate, moisture/incontinence management, nutrition, pain/odor control, and realistic goals of care. Treat future discrete cellulitis, abscess, bacteremia, or sepsis episodes when they occur. Case 8 · The same wound, now septic with a gluteal abscess The patient later develops fever, hypotension, spreading erythema, and CT evidence of a drainable gluteal collection. Discuss the decision Now antibiotics are indicated. Obtain blood cultures, drain the abscess, send a meaningful deep specimen, and start broad empiric therapy based on severity and prior resistance. Narrow when cultures return. The chronic open sacral bone does not automatically reset the plan to six weeks of osteomyelitis therapy. Case 9 · Diabetic forefoot osteomyelitis after toe amputation A patient undergoes minor amputation for infected toe osteomyelitis. The remaining bone-margin culture is positive. Discuss the decision IWGDF/IDSA suggests up to 3 weeks after minor amputation with a positive bone-margin culture. After complete resection with no residual infection, its duration table lists 2–5 days rather than a prolonged osteomyelitis course. Continue offloading, wound care, glycemic management, and vascular assessment as indicated.</a:t>
            </a:r>
          </a:p>
          <a:p xmlns:a="http://schemas.openxmlformats.org/drawingml/2006/main">
            <a:r>
              <a:t/>
            </a:r>
          </a:p>
          <a:p xmlns:a="http://schemas.openxmlformats.org/drawingml/2006/main">
            <a:r>
              <a:t>Module section: https://docarcshot.github.io/id-practice-update/lectures/Bone_and_Joint_Infections_Septic_Arthritis_PJI_Osteomyelitis.html#cases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decide the source-control plan before the antibiotic clock Case 1 · Crystals and a hot knee A 67-year-old has fever and an acutely swollen native knee. Synovial fluid contains urate crystals and 72,000 WBC/µL with 92% neutrophils. Discuss the decision Crystals do not exclude septic arthritis. Send Gram stain/culture and blood cultures, start empiric therapy after aspiration if stable enough to sample first, and obtain urgent orthopedic input for drainage. Narrow to the organism. Case 2 · Arthritis plus pustules A young adult has migratory arthralgia, tenosynovitis, pustular lesions, and a swollen ankle. Discuss the decision Evaluate for disseminated gonococcal infection. Obtain NAAT from exposed mucosal sites, culture of purulent material when possible, and blood cultures when appropriate. Treat with ceftriaxone 1 g every 24 hours; treat chlamydia if not excluded. Total therapy is at least 7 days, with susceptibility-guided oral transition after substantial improvement. Case 3 · Acute postoperative knee PJI Three weeks after TKA, the patient develops 3 days of pain, effusion, and drainage. Components are well fixed. Aspiration grows MSSA. Discuss the decision This is a favorable timing pattern for DAIR if the soft tissue and implant are otherwise suitable. Exchange modular components when feasible, obtain multiple deep cultures, and use pathogen-directed therapy. For susceptible staphylococcal knee PJI treated with DAIR, the IDSA rifampin-based regimen completes 6 months. The route and timing of oral transition depend on clinical response and an active companion drug. Add rifampin only as combination therapy after debridement. Case 4 · Chronic hip PJI considered for one-stage exchange A patient has months of hip pain, a well-fixed prosthesis, good soft tissue, no sinus tract, and repeated deep aspiration cultures growing susceptible Cutibacterium acnes . Discuss the decision This is a potential one-stage exchange candidate because the organism is known and tractable and the soft-tissue envelope is favorable. Remove all infected components, perform radical debridement, obtain at least 5 deep specimens with separate instruments, and implant the new prosthesis during the same operation. Choose a pathogen-directed regimen and duration after reviewing operative cultures. For this nonstaphylococcal example, IDSA describes 4–6 weeks of IV or highly bioavailable oral therapy; a fixed IV lead-in is not established. Indefinite suppression is a separate decision. Case 5 · Stable vertebral osteomyelitis with negative blood cultures A stable patient has severe back pain and MRI findings compatible with L2–L3 discitis/osteomyelitis. Neurologic examination is normal and blood cultures are negative. Discuss the decision If clinically safe, do not rush into empiric six-week therapy before obtaining a microbiologic diagnosis. Arrange image-guided biopsy and assess alternative diagnoses. If bacterial NVO is confirmed, most patients need 6 weeks of parenteral or highly bioavailable oral therapy. Repeat MRI is not routine if the patient improves. Case 6 · Months of tibial pain and a Brodie-type lesion A 24-year-old has focal tibial pain for 3 months, no fever, normal WBC, and a well-circumscribed intramedullary lesion. Discuss the decision Subacute osteomyelitis is possible, but malignancy and other mimics matter. Orthopedic curettage/biopsy provides diagnosis, cultures, histology, and source control. Culture-directed therapy is often 4–6 weeks, but there is no high-quality trial defining the ideal course. Case 7 · Stage IV sacral wound, exposed bone, MRI “osteomyelitis,” no flap option A chronically immobile patient has an open sacral pressure injury with visible bone. There is no surrounding cellulitis, abscess, fever, bacteremia, or hemodynamic instability. Plastics determines durable flap closure is not feasible. Discuss the decision Do not prescribe six weeks, chronic suppression, or repeated antibiotic courses for the exposed bone/MRI alone. Focus on pressure redistribution, wound care, debridement when appropriate, moisture/incontinence management, nutrition, pain/odor control, and realistic goals of care. Treat future discrete cellulitis, abscess, bacteremia, or sepsis episodes when they occur. Case 8 · The same wound, now septic with a gluteal abscess The patient later develops fever, hypotension, spreading erythema, and CT evidence of a drainable gluteal collection. Discuss the decision Now antibiotics are indicated. Obtain blood cultures, drain the abscess, send a meaningful deep specimen, and start broad empiric therapy based on severity and prior resistance. Narrow when cultures return. The chronic open sacral bone does not automatically reset the plan to six weeks of osteomyelitis therapy. Case 9 · Diabetic forefoot osteomyelitis after toe amputation A patient undergoes minor amputation for infected toe osteomyelitis. The remaining bone-margin culture is positive. Discuss the decision IWGDF/IDSA suggests up to 3 weeks after minor amputation with a positive bone-margin culture. After complete resection with no residual infection, its duration table lists 2–5 days rather than a prolonged osteomyelitis course. Continue offloading, wound care, glycemic management, and vascular assessment as indicated.</a:t>
            </a:r>
          </a:p>
          <a:p xmlns:a="http://schemas.openxmlformats.org/drawingml/2006/main">
            <a:r>
              <a:t/>
            </a:r>
          </a:p>
          <a:p xmlns:a="http://schemas.openxmlformats.org/drawingml/2006/main">
            <a:r>
              <a:t>Module section: https://docarcshot.github.io/id-practice-update/lectures/Bone_and_Joint_Infections_Septic_Arthritis_PJI_Osteomyelitis.html#cases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decide the source-control plan before the antibiotic clock Case 1 · Crystals and a hot knee A 67-year-old has fever and an acutely swollen native knee. Synovial fluid contains urate crystals and 72,000 WBC/µL with 92% neutrophils. Discuss the decision Crystals do not exclude septic arthritis. Send Gram stain/culture and blood cultures, start empiric therapy after aspiration if stable enough to sample first, and obtain urgent orthopedic input for drainage. Narrow to the organism. Case 2 · Arthritis plus pustules A young adult has migratory arthralgia, tenosynovitis, pustular lesions, and a swollen ankle. Discuss the decision Evaluate for disseminated gonococcal infection. Obtain NAAT from exposed mucosal sites, culture of purulent material when possible, and blood cultures when appropriate. Treat with ceftriaxone 1 g every 24 hours; treat chlamydia if not excluded. Total therapy is at least 7 days, with susceptibility-guided oral transition after substantial improvement. Case 3 · Acute postoperative knee PJI Three weeks after TKA, the patient develops 3 days of pain, effusion, and drainage. Components are well fixed. Aspiration grows MSSA. Discuss the decision This is a favorable timing pattern for DAIR if the soft tissue and implant are otherwise suitable. Exchange modular components when feasible, obtain multiple deep cultures, and use pathogen-directed therapy. For susceptible staphylococcal knee PJI treated with DAIR, the IDSA rifampin-based regimen completes 6 months. The route and timing of oral transition depend on clinical response and an active companion drug. Add rifampin only as combination therapy after debridement. Case 4 · Chronic hip PJI considered for one-stage exchange A patient has months of hip pain, a well-fixed prosthesis, good soft tissue, no sinus tract, and repeated deep aspiration cultures growing susceptible Cutibacterium acnes . Discuss the decision This is a potential one-stage exchange candidate because the organism is known and tractable and the soft-tissue envelope is favorable. Remove all infected components, perform radical debridement, obtain at least 5 deep specimens with separate instruments, and implant the new prosthesis during the same operation. Choose a pathogen-directed regimen and duration after reviewing operative cultures. For this nonstaphylococcal example, IDSA describes 4–6 weeks of IV or highly bioavailable oral therapy; a fixed IV lead-in is not established. Indefinite suppression is a separate decision. Case 5 · Stable vertebral osteomyelitis with negative blood cultures A stable patient has severe back pain and MRI findings compatible with L2–L3 discitis/osteomyelitis. Neurologic examination is normal and blood cultures are negative. Discuss the decision If clinically safe, do not rush into empiric six-week therapy before obtaining a microbiologic diagnosis. Arrange image-guided biopsy and assess alternative diagnoses. If bacterial NVO is confirmed, most patients need 6 weeks of parenteral or highly bioavailable oral therapy. Repeat MRI is not routine if the patient improves. Case 6 · Months of tibial pain and a Brodie-type lesion A 24-year-old has focal tibial pain for 3 months, no fever, normal WBC, and a well-circumscribed intramedullary lesion. Discuss the decision Subacute osteomyelitis is possible, but malignancy and other mimics matter. Orthopedic curettage/biopsy provides diagnosis, cultures, histology, and source control. Culture-directed therapy is often 4–6 weeks, but there is no high-quality trial defining the ideal course. Case 7 · Stage IV sacral wound, exposed bone, MRI “osteomyelitis,” no flap option A chronically immobile patient has an open sacral pressure injury with visible bone. There is no surrounding cellulitis, abscess, fever, bacteremia, or hemodynamic instability. Plastics determines durable flap closure is not feasible. Discuss the decision Do not prescribe six weeks, chronic suppression, or repeated antibiotic courses for the exposed bone/MRI alone. Focus on pressure redistribution, wound care, debridement when appropriate, moisture/incontinence management, nutrition, pain/odor control, and realistic goals of care. Treat future discrete cellulitis, abscess, bacteremia, or sepsis episodes when they occur. Case 8 · The same wound, now septic with a gluteal abscess The patient later develops fever, hypotension, spreading erythema, and CT evidence of a drainable gluteal collection. Discuss the decision Now antibiotics are indicated. Obtain blood cultures, drain the abscess, send a meaningful deep specimen, and start broad empiric therapy based on severity and prior resistance. Narrow when cultures return. The chronic open sacral bone does not automatically reset the plan to six weeks of osteomyelitis therapy. Case 9 · Diabetic forefoot osteomyelitis after toe amputation A patient undergoes minor amputation for infected toe osteomyelitis. The remaining bone-margin culture is positive. Discuss the decision IWGDF/IDSA suggests up to 3 weeks after minor amputation with a positive bone-margin culture. After complete resection with no residual infection, its duration table lists 2–5 days rather than a prolonged osteomyelitis course. Continue offloading, wound care, glycemic management, and vascular assessment as indicated.</a:t>
            </a:r>
          </a:p>
          <a:p xmlns:a="http://schemas.openxmlformats.org/drawingml/2006/main">
            <a:r>
              <a:t/>
            </a:r>
          </a:p>
          <a:p xmlns:a="http://schemas.openxmlformats.org/drawingml/2006/main">
            <a:r>
              <a:t>Module section: https://docarcshot.github.io/id-practice-update/lectures/Bone_and_Joint_Infections_Septic_Arthritis_PJI_Osteomyelitis.html#cases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decide the source-control plan before the antibiotic clock Case 1 · Crystals and a hot knee A 67-year-old has fever and an acutely swollen native knee. Synovial fluid contains urate crystals and 72,000 WBC/µL with 92% neutrophils. Discuss the decision Crystals do not exclude septic arthritis. Send Gram stain/culture and blood cultures, start empiric therapy after aspiration if stable enough to sample first, and obtain urgent orthopedic input for drainage. Narrow to the organism. Case 2 · Arthritis plus pustules A young adult has migratory arthralgia, tenosynovitis, pustular lesions, and a swollen ankle. Discuss the decision Evaluate for disseminated gonococcal infection. Obtain NAAT from exposed mucosal sites, culture of purulent material when possible, and blood cultures when appropriate. Treat with ceftriaxone 1 g every 24 hours; treat chlamydia if not excluded. Total therapy is at least 7 days, with susceptibility-guided oral transition after substantial improvement. Case 3 · Acute postoperative knee PJI Three weeks after TKA, the patient develops 3 days of pain, effusion, and drainage. Components are well fixed. Aspiration grows MSSA. Discuss the decision This is a favorable timing pattern for DAIR if the soft tissue and implant are otherwise suitable. Exchange modular components when feasible, obtain multiple deep cultures, and use pathogen-directed therapy. For susceptible staphylococcal knee PJI treated with DAIR, the IDSA rifampin-based regimen completes 6 months. The route and timing of oral transition depend on clinical response and an active companion drug. Add rifampin only as combination therapy after debridement. Case 4 · Chronic hip PJI considered for one-stage exchange A patient has months of hip pain, a well-fixed prosthesis, good soft tissue, no sinus tract, and repeated deep aspiration cultures growing susceptible Cutibacterium acnes . Discuss the decision This is a potential one-stage exchange candidate because the organism is known and tractable and the soft-tissue envelope is favorable. Remove all infected components, perform radical debridement, obtain at least 5 deep specimens with separate instruments, and implant the new prosthesis during the same operation. Choose a pathogen-directed regimen and duration after reviewing operative cultures. For this nonstaphylococcal example, IDSA describes 4–6 weeks of IV or highly bioavailable oral therapy; a fixed IV lead-in is not established. Indefinite suppression is a separate decision. Case 5 · Stable vertebral osteomyelitis with negative blood cultures A stable patient has severe back pain and MRI findings compatible with L2–L3 discitis/osteomyelitis. Neurologic examination is normal and blood cultures are negative. Discuss the decision If clinically safe, do not rush into empiric six-week therapy before obtaining a microbiologic diagnosis. Arrange image-guided biopsy and assess alternative diagnoses. If bacterial NVO is confirmed, most patients need 6 weeks of parenteral or highly bioavailable oral therapy. Repeat MRI is not routine if the patient improves. Case 6 · Months of tibial pain and a Brodie-type lesion A 24-year-old has focal tibial pain for 3 months, no fever, normal WBC, and a well-circumscribed intramedullary lesion. Discuss the decision Subacute osteomyelitis is possible, but malignancy and other mimics matter. Orthopedic curettage/biopsy provides diagnosis, cultures, histology, and source control. Culture-directed therapy is often 4–6 weeks, but there is no high-quality trial defining the ideal course. Case 7 · Stage IV sacral wound, exposed bone, MRI “osteomyelitis,” no flap option A chronically immobile patient has an open sacral pressure injury with visible bone. There is no surrounding cellulitis, abscess, fever, bacteremia, or hemodynamic instability. Plastics determines durable flap closure is not feasible. Discuss the decision Do not prescribe six weeks, chronic suppression, or repeated antibiotic courses for the exposed bone/MRI alone. Focus on pressure redistribution, wound care, debridement when appropriate, moisture/incontinence management, nutrition, pain/odor control, and realistic goals of care. Treat future discrete cellulitis, abscess, bacteremia, or sepsis episodes when they occur. Case 8 · The same wound, now septic with a gluteal abscess The patient later develops fever, hypotension, spreading erythema, and CT evidence of a drainable gluteal collection. Discuss the decision Now antibiotics are indicated. Obtain blood cultures, drain the abscess, send a meaningful deep specimen, and start broad empiric therapy based on severity and prior resistance. Narrow when cultures return. The chronic open sacral bone does not automatically reset the plan to six weeks of osteomyelitis therapy. Case 9 · Diabetic forefoot osteomyelitis after toe amputation A patient undergoes minor amputation for infected toe osteomyelitis. The remaining bone-margin culture is positive. Discuss the decision IWGDF/IDSA suggests up to 3 weeks after minor amputation with a positive bone-margin culture. After complete resection with no residual infection, its duration table lists 2–5 days rather than a prolonged osteomyelitis course. Continue offloading, wound care, glycemic management, and vascular assessment as indicated.</a:t>
            </a:r>
          </a:p>
          <a:p xmlns:a="http://schemas.openxmlformats.org/drawingml/2006/main">
            <a:r>
              <a:t/>
            </a:r>
          </a:p>
          <a:p xmlns:a="http://schemas.openxmlformats.org/drawingml/2006/main">
            <a:r>
              <a:t>Module section: https://docarcshot.github.io/id-practice-update/lectures/Bone_and_Joint_Infections_Septic_Arthritis_PJI_Osteomyelitis.html#cases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decide the source-control plan before the antibiotic clock Case 1 · Crystals and a hot knee A 67-year-old has fever and an acutely swollen native knee. Synovial fluid contains urate crystals and 72,000 WBC/µL with 92% neutrophils. Discuss the decision Crystals do not exclude septic arthritis. Send Gram stain/culture and blood cultures, start empiric therapy after aspiration if stable enough to sample first, and obtain urgent orthopedic input for drainage. Narrow to the organism. Case 2 · Arthritis plus pustules A young adult has migratory arthralgia, tenosynovitis, pustular lesions, and a swollen ankle. Discuss the decision Evaluate for disseminated gonococcal infection. Obtain NAAT from exposed mucosal sites, culture of purulent material when possible, and blood cultures when appropriate. Treat with ceftriaxone 1 g every 24 hours; treat chlamydia if not excluded. Total therapy is at least 7 days, with susceptibility-guided oral transition after substantial improvement. Case 3 · Acute postoperative knee PJI Three weeks after TKA, the patient develops 3 days of pain, effusion, and drainage. Components are well fixed. Aspiration grows MSSA. Discuss the decision This is a favorable timing pattern for DAIR if the soft tissue and implant are otherwise suitable. Exchange modular components when feasible, obtain multiple deep cultures, and use pathogen-directed therapy. For susceptible staphylococcal knee PJI treated with DAIR, the IDSA rifampin-based regimen completes 6 months. The route and timing of oral transition depend on clinical response and an active companion drug. Add rifampin only as combination therapy after debridement. Case 4 · Chronic hip PJI considered for one-stage exchange A patient has months of hip pain, a well-fixed prosthesis, good soft tissue, no sinus tract, and repeated deep aspiration cultures growing susceptible Cutibacterium acnes . Discuss the decision This is a potential one-stage exchange candidate because the organism is known and tractable and the soft-tissue envelope is favorable. Remove all infected components, perform radical debridement, obtain at least 5 deep specimens with separate instruments, and implant the new prosthesis during the same operation. Choose a pathogen-directed regimen and duration after reviewing operative cultures. For this nonstaphylococcal example, IDSA describes 4–6 weeks of IV or highly bioavailable oral therapy; a fixed IV lead-in is not established. Indefinite suppression is a separate decision. Case 5 · Stable vertebral osteomyelitis with negative blood cultures A stable patient has severe back pain and MRI findings compatible with L2–L3 discitis/osteomyelitis. Neurologic examination is normal and blood cultures are negative. Discuss the decision If clinically safe, do not rush into empiric six-week therapy before obtaining a microbiologic diagnosis. Arrange image-guided biopsy and assess alternative diagnoses. If bacterial NVO is confirmed, most patients need 6 weeks of parenteral or highly bioavailable oral therapy. Repeat MRI is not routine if the patient improves. Case 6 · Months of tibial pain and a Brodie-type lesion A 24-year-old has focal tibial pain for 3 months, no fever, normal WBC, and a well-circumscribed intramedullary lesion. Discuss the decision Subacute osteomyelitis is possible, but malignancy and other mimics matter. Orthopedic curettage/biopsy provides diagnosis, cultures, histology, and source control. Culture-directed therapy is often 4–6 weeks, but there is no high-quality trial defining the ideal course. Case 7 · Stage IV sacral wound, exposed bone, MRI “osteomyelitis,” no flap option A chronically immobile patient has an open sacral pressure injury with visible bone. There is no surrounding cellulitis, abscess, fever, bacteremia, or hemodynamic instability. Plastics determines durable flap closure is not feasible. Discuss the decision Do not prescribe six weeks, chronic suppression, or repeated antibiotic courses for the exposed bone/MRI alone. Focus on pressure redistribution, wound care, debridement when appropriate, moisture/incontinence management, nutrition, pain/odor control, and realistic goals of care. Treat future discrete cellulitis, abscess, bacteremia, or sepsis episodes when they occur. Case 8 · The same wound, now septic with a gluteal abscess The patient later develops fever, hypotension, spreading erythema, and CT evidence of a drainable gluteal collection. Discuss the decision Now antibiotics are indicated. Obtain blood cultures, drain the abscess, send a meaningful deep specimen, and start broad empiric therapy based on severity and prior resistance. Narrow when cultures return. The chronic open sacral bone does not automatically reset the plan to six weeks of osteomyelitis therapy. Case 9 · Diabetic forefoot osteomyelitis after toe amputation A patient undergoes minor amputation for infected toe osteomyelitis. The remaining bone-margin culture is positive. Discuss the decision IWGDF/IDSA suggests up to 3 weeks after minor amputation with a positive bone-margin culture. After complete resection with no residual infection, its duration table lists 2–5 days rather than a prolonged osteomyelitis course. Continue offloading, wound care, glycemic management, and vascular assessment as indicated.</a:t>
            </a:r>
          </a:p>
          <a:p xmlns:a="http://schemas.openxmlformats.org/drawingml/2006/main">
            <a:r>
              <a:t/>
            </a:r>
          </a:p>
          <a:p xmlns:a="http://schemas.openxmlformats.org/drawingml/2006/main">
            <a:r>
              <a:t>Module section: https://docarcshot.github.io/id-practice-update/lectures/Bone_and_Joint_Infections_Septic_Arthritis_PJI_Osteomyelitis.html#cases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decide the source-control plan before the antibiotic clock Case 1 · Crystals and a hot knee A 67-year-old has fever and an acutely swollen native knee. Synovial fluid contains urate crystals and 72,000 WBC/µL with 92% neutrophils. Discuss the decision Crystals do not exclude septic arthritis. Send Gram stain/culture and blood cultures, start empiric therapy after aspiration if stable enough to sample first, and obtain urgent orthopedic input for drainage. Narrow to the organism. Case 2 · Arthritis plus pustules A young adult has migratory arthralgia, tenosynovitis, pustular lesions, and a swollen ankle. Discuss the decision Evaluate for disseminated gonococcal infection. Obtain NAAT from exposed mucosal sites, culture of purulent material when possible, and blood cultures when appropriate. Treat with ceftriaxone 1 g every 24 hours; treat chlamydia if not excluded. Total therapy is at least 7 days, with susceptibility-guided oral transition after substantial improvement. Case 3 · Acute postoperative knee PJI Three weeks after TKA, the patient develops 3 days of pain, effusion, and drainage. Components are well fixed. Aspiration grows MSSA. Discuss the decision This is a favorable timing pattern for DAIR if the soft tissue and implant are otherwise suitable. Exchange modular components when feasible, obtain multiple deep cultures, and use pathogen-directed therapy. For susceptible staphylococcal knee PJI treated with DAIR, the IDSA rifampin-based regimen completes 6 months. The route and timing of oral transition depend on clinical response and an active companion drug. Add rifampin only as combination therapy after debridement. Case 4 · Chronic hip PJI considered for one-stage exchange A patient has months of hip pain, a well-fixed prosthesis, good soft tissue, no sinus tract, and repeated deep aspiration cultures growing susceptible Cutibacterium acnes . Discuss the decision This is a potential one-stage exchange candidate because the organism is known and tractable and the soft-tissue envelope is favorable. Remove all infected components, perform radical debridement, obtain at least 5 deep specimens with separate instruments, and implant the new prosthesis during the same operation. Choose a pathogen-directed regimen and duration after reviewing operative cultures. For this nonstaphylococcal example, IDSA describes 4–6 weeks of IV or highly bioavailable oral therapy; a fixed IV lead-in is not established. Indefinite suppression is a separate decision. Case 5 · Stable vertebral osteomyelitis with negative blood cultures A stable patient has severe back pain and MRI findings compatible with L2–L3 discitis/osteomyelitis. Neurologic examination is normal and blood cultures are negative. Discuss the decision If clinically safe, do not rush into empiric six-week therapy before obtaining a microbiologic diagnosis. Arrange image-guided biopsy and assess alternative diagnoses. If bacterial NVO is confirmed, most patients need 6 weeks of parenteral or highly bioavailable oral therapy. Repeat MRI is not routine if the patient improves. Case 6 · Months of tibial pain and a Brodie-type lesion A 24-year-old has focal tibial pain for 3 months, no fever, normal WBC, and a well-circumscribed intramedullary lesion. Discuss the decision Subacute osteomyelitis is possible, but malignancy and other mimics matter. Orthopedic curettage/biopsy provides diagnosis, cultures, histology, and source control. Culture-directed therapy is often 4–6 weeks, but there is no high-quality trial defining the ideal course. Case 7 · Stage IV sacral wound, exposed bone, MRI “osteomyelitis,” no flap option A chronically immobile patient has an open sacral pressure injury with visible bone. There is no surrounding cellulitis, abscess, fever, bacteremia, or hemodynamic instability. Plastics determines durable flap closure is not feasible. Discuss the decision Do not prescribe six weeks, chronic suppression, or repeated antibiotic courses for the exposed bone/MRI alone. Focus on pressure redistribution, wound care, debridement when appropriate, moisture/incontinence management, nutrition, pain/odor control, and realistic goals of care. Treat future discrete cellulitis, abscess, bacteremia, or sepsis episodes when they occur. Case 8 · The same wound, now septic with a gluteal abscess The patient later develops fever, hypotension, spreading erythema, and CT evidence of a drainable gluteal collection. Discuss the decision Now antibiotics are indicated. Obtain blood cultures, drain the abscess, send a meaningful deep specimen, and start broad empiric therapy based on severity and prior resistance. Narrow when cultures return. The chronic open sacral bone does not automatically reset the plan to six weeks of osteomyelitis therapy. Case 9 · Diabetic forefoot osteomyelitis after toe amputation A patient undergoes minor amputation for infected toe osteomyelitis. The remaining bone-margin culture is positive. Discuss the decision IWGDF/IDSA suggests up to 3 weeks after minor amputation with a positive bone-margin culture. After complete resection with no residual infection, its duration table lists 2–5 days rather than a prolonged osteomyelitis course. Continue offloading, wound care, glycemic management, and vascular assessment as indicated.</a:t>
            </a:r>
          </a:p>
          <a:p xmlns:a="http://schemas.openxmlformats.org/drawingml/2006/main">
            <a:r>
              <a:t/>
            </a:r>
          </a:p>
          <a:p xmlns:a="http://schemas.openxmlformats.org/drawingml/2006/main">
            <a:r>
              <a:t>Module section: https://docarcshot.github.io/id-practice-update/lectures/Bone_and_Joint_Infections_Septic_Arthritis_PJI_Osteomyelitis.html#cases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decide the source-control plan before the antibiotic clock Case 1 · Crystals and a hot knee A 67-year-old has fever and an acutely swollen native knee. Synovial fluid contains urate crystals and 72,000 WBC/µL with 92% neutrophils. Discuss the decision Crystals do not exclude septic arthritis. Send Gram stain/culture and blood cultures, start empiric therapy after aspiration if stable enough to sample first, and obtain urgent orthopedic input for drainage. Narrow to the organism. Case 2 · Arthritis plus pustules A young adult has migratory arthralgia, tenosynovitis, pustular lesions, and a swollen ankle. Discuss the decision Evaluate for disseminated gonococcal infection. Obtain NAAT from exposed mucosal sites, culture of purulent material when possible, and blood cultures when appropriate. Treat with ceftriaxone 1 g every 24 hours; treat chlamydia if not excluded. Total therapy is at least 7 days, with susceptibility-guided oral transition after substantial improvement. Case 3 · Acute postoperative knee PJI Three weeks after TKA, the patient develops 3 days of pain, effusion, and drainage. Components are well fixed. Aspiration grows MSSA. Discuss the decision This is a favorable timing pattern for DAIR if the soft tissue and implant are otherwise suitable. Exchange modular components when feasible, obtain multiple deep cultures, and use pathogen-directed therapy. For susceptible staphylococcal knee PJI treated with DAIR, the IDSA rifampin-based regimen completes 6 months. The route and timing of oral transition depend on clinical response and an active companion drug. Add rifampin only as combination therapy after debridement. Case 4 · Chronic hip PJI considered for one-stage exchange A patient has months of hip pain, a well-fixed prosthesis, good soft tissue, no sinus tract, and repeated deep aspiration cultures growing susceptible Cutibacterium acnes . Discuss the decision This is a potential one-stage exchange candidate because the organism is known and tractable and the soft-tissue envelope is favorable. Remove all infected components, perform radical debridement, obtain at least 5 deep specimens with separate instruments, and implant the new prosthesis during the same operation. Choose a pathogen-directed regimen and duration after reviewing operative cultures. For this nonstaphylococcal example, IDSA describes 4–6 weeks of IV or highly bioavailable oral therapy; a fixed IV lead-in is not established. Indefinite suppression is a separate decision. Case 5 · Stable vertebral osteomyelitis with negative blood cultures A stable patient has severe back pain and MRI findings compatible with L2–L3 discitis/osteomyelitis. Neurologic examination is normal and blood cultures are negative. Discuss the decision If clinically safe, do not rush into empiric six-week therapy before obtaining a microbiologic diagnosis. Arrange image-guided biopsy and assess alternative diagnoses. If bacterial NVO is confirmed, most patients need 6 weeks of parenteral or highly bioavailable oral therapy. Repeat MRI is not routine if the patient improves. Case 6 · Months of tibial pain and a Brodie-type lesion A 24-year-old has focal tibial pain for 3 months, no fever, normal WBC, and a well-circumscribed intramedullary lesion. Discuss the decision Subacute osteomyelitis is possible, but malignancy and other mimics matter. Orthopedic curettage/biopsy provides diagnosis, cultures, histology, and source control. Culture-directed therapy is often 4–6 weeks, but there is no high-quality trial defining the ideal course. Case 7 · Stage IV sacral wound, exposed bone, MRI “osteomyelitis,” no flap option A chronically immobile patient has an open sacral pressure injury with visible bone. There is no surrounding cellulitis, abscess, fever, bacteremia, or hemodynamic instability. Plastics determines durable flap closure is not feasible. Discuss the decision Do not prescribe six weeks, chronic suppression, or repeated antibiotic courses for the exposed bone/MRI alone. Focus on pressure redistribution, wound care, debridement when appropriate, moisture/incontinence management, nutrition, pain/odor control, and realistic goals of care. Treat future discrete cellulitis, abscess, bacteremia, or sepsis episodes when they occur. Case 8 · The same wound, now septic with a gluteal abscess The patient later develops fever, hypotension, spreading erythema, and CT evidence of a drainable gluteal collection. Discuss the decision Now antibiotics are indicated. Obtain blood cultures, drain the abscess, send a meaningful deep specimen, and start broad empiric therapy based on severity and prior resistance. Narrow when cultures return. The chronic open sacral bone does not automatically reset the plan to six weeks of osteomyelitis therapy. Case 9 · Diabetic forefoot osteomyelitis after toe amputation A patient undergoes minor amputation for infected toe osteomyelitis. The remaining bone-margin culture is positive. Discuss the decision IWGDF/IDSA suggests up to 3 weeks after minor amputation with a positive bone-margin culture. After complete resection with no residual infection, its duration table lists 2–5 days rather than a prolonged osteomyelitis course. Continue offloading, wound care, glycemic management, and vascular assessment as indicated.</a:t>
            </a:r>
          </a:p>
          <a:p xmlns:a="http://schemas.openxmlformats.org/drawingml/2006/main">
            <a:r>
              <a:t/>
            </a:r>
          </a:p>
          <a:p xmlns:a="http://schemas.openxmlformats.org/drawingml/2006/main">
            <a:r>
              <a:t>Module section: https://docarcshot.github.io/id-practice-update/lectures/Bone_and_Joint_Infections_Septic_Arthritis_PJI_Osteomyelitis.html#cases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decide the source-control plan before the antibiotic clock Case 1 · Crystals and a hot knee A 67-year-old has fever and an acutely swollen native knee. Synovial fluid contains urate crystals and 72,000 WBC/µL with 92% neutrophils. Discuss the decision Crystals do not exclude septic arthritis. Send Gram stain/culture and blood cultures, start empiric therapy after aspiration if stable enough to sample first, and obtain urgent orthopedic input for drainage. Narrow to the organism. Case 2 · Arthritis plus pustules A young adult has migratory arthralgia, tenosynovitis, pustular lesions, and a swollen ankle. Discuss the decision Evaluate for disseminated gonococcal infection. Obtain NAAT from exposed mucosal sites, culture of purulent material when possible, and blood cultures when appropriate. Treat with ceftriaxone 1 g every 24 hours; treat chlamydia if not excluded. Total therapy is at least 7 days, with susceptibility-guided oral transition after substantial improvement. Case 3 · Acute postoperative knee PJI Three weeks after TKA, the patient develops 3 days of pain, effusion, and drainage. Components are well fixed. Aspiration grows MSSA. Discuss the decision This is a favorable timing pattern for DAIR if the soft tissue and implant are otherwise suitable. Exchange modular components when feasible, obtain multiple deep cultures, and use pathogen-directed therapy. For susceptible staphylococcal knee PJI treated with DAIR, the IDSA rifampin-based regimen completes 6 months. The route and timing of oral transition depend on clinical response and an active companion drug. Add rifampin only as combination therapy after debridement. Case 4 · Chronic hip PJI considered for one-stage exchange A patient has months of hip pain, a well-fixed prosthesis, good soft tissue, no sinus tract, and repeated deep aspiration cultures growing susceptible Cutibacterium acnes . Discuss the decision This is a potential one-stage exchange candidate because the organism is known and tractable and the soft-tissue envelope is favorable. Remove all infected components, perform radical debridement, obtain at least 5 deep specimens with separate instruments, and implant the new prosthesis during the same operation. Choose a pathogen-directed regimen and duration after reviewing operative cultures. For this nonstaphylococcal example, IDSA describes 4–6 weeks of IV or highly bioavailable oral therapy; a fixed IV lead-in is not established. Indefinite suppression is a separate decision. Case 5 · Stable vertebral osteomyelitis with negative blood cultures A stable patient has severe back pain and MRI findings compatible with L2–L3 discitis/osteomyelitis. Neurologic examination is normal and blood cultures are negative. Discuss the decision If clinically safe, do not rush into empiric six-week therapy before obtaining a microbiologic diagnosis. Arrange image-guided biopsy and assess alternative diagnoses. If bacterial NVO is confirmed, most patients need 6 weeks of parenteral or highly bioavailable oral therapy. Repeat MRI is not routine if the patient improves. Case 6 · Months of tibial pain and a Brodie-type lesion A 24-year-old has focal tibial pain for 3 months, no fever, normal WBC, and a well-circumscribed intramedullary lesion. Discuss the decision Subacute osteomyelitis is possible, but malignancy and other mimics matter. Orthopedic curettage/biopsy provides diagnosis, cultures, histology, and source control. Culture-directed therapy is often 4–6 weeks, but there is no high-quality trial defining the ideal course. Case 7 · Stage IV sacral wound, exposed bone, MRI “osteomyelitis,” no flap option A chronically immobile patient has an open sacral pressure injury with visible bone. There is no surrounding cellulitis, abscess, fever, bacteremia, or hemodynamic instability. Plastics determines durable flap closure is not feasible. Discuss the decision Do not prescribe six weeks, chronic suppression, or repeated antibiotic courses for the exposed bone/MRI alone. Focus on pressure redistribution, wound care, debridement when appropriate, moisture/incontinence management, nutrition, pain/odor control, and realistic goals of care. Treat future discrete cellulitis, abscess, bacteremia, or sepsis episodes when they occur. Case 8 · The same wound, now septic with a gluteal abscess The patient later develops fever, hypotension, spreading erythema, and CT evidence of a drainable gluteal collection. Discuss the decision Now antibiotics are indicated. Obtain blood cultures, drain the abscess, send a meaningful deep specimen, and start broad empiric therapy based on severity and prior resistance. Narrow when cultures return. The chronic open sacral bone does not automatically reset the plan to six weeks of osteomyelitis therapy. Case 9 · Diabetic forefoot osteomyelitis after toe amputation A patient undergoes minor amputation for infected toe osteomyelitis. The remaining bone-margin culture is positive. Discuss the decision IWGDF/IDSA suggests up to 3 weeks after minor amputation with a positive bone-margin culture. After complete resection with no residual infection, its duration table lists 2–5 days rather than a prolonged osteomyelitis course. Continue offloading, wound care, glycemic management, and vascular assessment as indicated.</a:t>
            </a:r>
          </a:p>
          <a:p xmlns:a="http://schemas.openxmlformats.org/drawingml/2006/main">
            <a:r>
              <a:t/>
            </a:r>
          </a:p>
          <a:p xmlns:a="http://schemas.openxmlformats.org/drawingml/2006/main">
            <a:r>
              <a:t>Module section: https://docarcshot.github.io/id-practice-update/lectures/Bone_and_Joint_Infections_Septic_Arthritis_PJI_Osteomyelitis.html#cases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decide the source-control plan before the antibiotic clock Case 1 · Crystals and a hot knee A 67-year-old has fever and an acutely swollen native knee. Synovial fluid contains urate crystals and 72,000 WBC/µL with 92% neutrophils. Discuss the decision Crystals do not exclude septic arthritis. Send Gram stain/culture and blood cultures, start empiric therapy after aspiration if stable enough to sample first, and obtain urgent orthopedic input for drainage. Narrow to the organism. Case 2 · Arthritis plus pustules A young adult has migratory arthralgia, tenosynovitis, pustular lesions, and a swollen ankle. Discuss the decision Evaluate for disseminated gonococcal infection. Obtain NAAT from exposed mucosal sites, culture of purulent material when possible, and blood cultures when appropriate. Treat with ceftriaxone 1 g every 24 hours; treat chlamydia if not excluded. Total therapy is at least 7 days, with susceptibility-guided oral transition after substantial improvement. Case 3 · Acute postoperative knee PJI Three weeks after TKA, the patient develops 3 days of pain, effusion, and drainage. Components are well fixed. Aspiration grows MSSA. Discuss the decision This is a favorable timing pattern for DAIR if the soft tissue and implant are otherwise suitable. Exchange modular components when feasible, obtain multiple deep cultures, and use pathogen-directed therapy. For susceptible staphylococcal knee PJI treated with DAIR, the IDSA rifampin-based regimen completes 6 months. The route and timing of oral transition depend on clinical response and an active companion drug. Add rifampin only as combination therapy after debridement. Case 4 · Chronic hip PJI considered for one-stage exchange A patient has months of hip pain, a well-fixed prosthesis, good soft tissue, no sinus tract, and repeated deep aspiration cultures growing susceptible Cutibacterium acnes . Discuss the decision This is a potential one-stage exchange candidate because the organism is known and tractable and the soft-tissue envelope is favorable. Remove all infected components, perform radical debridement, obtain at least 5 deep specimens with separate instruments, and implant the new prosthesis during the same operation. Choose a pathogen-directed regimen and duration after reviewing operative cultures. For this nonstaphylococcal example, IDSA describes 4–6 weeks of IV or highly bioavailable oral therapy; a fixed IV lead-in is not established. Indefinite suppression is a separate decision. Case 5 · Stable vertebral osteomyelitis with negative blood cultures A stable patient has severe back pain and MRI findings compatible with L2–L3 discitis/osteomyelitis. Neurologic examination is normal and blood cultures are negative. Discuss the decision If clinically safe, do not rush into empiric six-week therapy before obtaining a microbiologic diagnosis. Arrange image-guided biopsy and assess alternative diagnoses. If bacterial NVO is confirmed, most patients need 6 weeks of parenteral or highly bioavailable oral therapy. Repeat MRI is not routine if the patient improves. Case 6 · Months of tibial pain and a Brodie-type lesion A 24-year-old has focal tibial pain for 3 months, no fever, normal WBC, and a well-circumscribed intramedullary lesion. Discuss the decision Subacute osteomyelitis is possible, but malignancy and other mimics matter. Orthopedic curettage/biopsy provides diagnosis, cultures, histology, and source control. Culture-directed therapy is often 4–6 weeks, but there is no high-quality trial defining the ideal course. Case 7 · Stage IV sacral wound, exposed bone, MRI “osteomyelitis,” no flap option A chronically immobile patient has an open sacral pressure injury with visible bone. There is no surrounding cellulitis, abscess, fever, bacteremia, or hemodynamic instability. Plastics determines durable flap closure is not feasible. Discuss the decision Do not prescribe six weeks, chronic suppression, or repeated antibiotic courses for the exposed bone/MRI alone. Focus on pressure redistribution, wound care, debridement when appropriate, moisture/incontinence management, nutrition, pain/odor control, and realistic goals of care. Treat future discrete cellulitis, abscess, bacteremia, or sepsis episodes when they occur. Case 8 · The same wound, now septic with a gluteal abscess The patient later develops fever, hypotension, spreading erythema, and CT evidence of a drainable gluteal collection. Discuss the decision Now antibiotics are indicated. Obtain blood cultures, drain the abscess, send a meaningful deep specimen, and start broad empiric therapy based on severity and prior resistance. Narrow when cultures return. The chronic open sacral bone does not automatically reset the plan to six weeks of osteomyelitis therapy. Case 9 · Diabetic forefoot osteomyelitis after toe amputation A patient undergoes minor amputation for infected toe osteomyelitis. The remaining bone-margin culture is positive. Discuss the decision IWGDF/IDSA suggests up to 3 weeks after minor amputation with a positive bone-margin culture. After complete resection with no residual infection, its duration table lists 2–5 days rather than a prolonged osteomyelitis course. Continue offloading, wound care, glycemic management, and vascular assessment as indicated.</a:t>
            </a:r>
          </a:p>
          <a:p xmlns:a="http://schemas.openxmlformats.org/drawingml/2006/main">
            <a:r>
              <a:t/>
            </a:r>
          </a:p>
          <a:p xmlns:a="http://schemas.openxmlformats.org/drawingml/2006/main">
            <a:r>
              <a:t>Module section: https://docarcshot.github.io/id-practice-update/lectures/Bone_and_Joint_Infections_Septic_Arthritis_PJI_Osteomyelitis.html#cases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decide the source-control plan before the antibiotic clock Case 1 · Crystals and a hot knee A 67-year-old has fever and an acutely swollen native knee. Synovial fluid contains urate crystals and 72,000 WBC/µL with 92% neutrophils. Discuss the decision Crystals do not exclude septic arthritis. Send Gram stain/culture and blood cultures, start empiric therapy after aspiration if stable enough to sample first, and obtain urgent orthopedic input for drainage. Narrow to the organism. Case 2 · Arthritis plus pustules A young adult has migratory arthralgia, tenosynovitis, pustular lesions, and a swollen ankle. Discuss the decision Evaluate for disseminated gonococcal infection. Obtain NAAT from exposed mucosal sites, culture of purulent material when possible, and blood cultures when appropriate. Treat with ceftriaxone 1 g every 24 hours; treat chlamydia if not excluded. Total therapy is at least 7 days, with susceptibility-guided oral transition after substantial improvement. Case 3 · Acute postoperative knee PJI Three weeks after TKA, the patient develops 3 days of pain, effusion, and drainage. Components are well fixed. Aspiration grows MSSA. Discuss the decision This is a favorable timing pattern for DAIR if the soft tissue and implant are otherwise suitable. Exchange modular components when feasible, obtain multiple deep cultures, and use pathogen-directed therapy. For susceptible staphylococcal knee PJI treated with DAIR, the IDSA rifampin-based regimen completes 6 months. The route and timing of oral transition depend on clinical response and an active companion drug. Add rifampin only as combination therapy after debridement. Case 4 · Chronic hip PJI considered for one-stage exchange A patient has months of hip pain, a well-fixed prosthesis, good soft tissue, no sinus tract, and repeated deep aspiration cultures growing susceptible Cutibacterium acnes . Discuss the decision This is a potential one-stage exchange candidate because the organism is known and tractable and the soft-tissue envelope is favorable. Remove all infected components, perform radical debridement, obtain at least 5 deep specimens with separate instruments, and implant the new prosthesis during the same operation. Choose a pathogen-directed regimen and duration after reviewing operative cultures. For this nonstaphylococcal example, IDSA describes 4–6 weeks of IV or highly bioavailable oral therapy; a fixed IV lead-in is not established. Indefinite suppression is a separate decision. Case 5 · Stable vertebral osteomyelitis with negative blood cultures A stable patient has severe back pain and MRI findings compatible with L2–L3 discitis/osteomyelitis. Neurologic examination is normal and blood cultures are negative. Discuss the decision If clinically safe, do not rush into empiric six-week therapy before obtaining a microbiologic diagnosis. Arrange image-guided biopsy and assess alternative diagnoses. If bacterial NVO is confirmed, most patients need 6 weeks of parenteral or highly bioavailable oral therapy. Repeat MRI is not routine if the patient improves. Case 6 · Months of tibial pain and a Brodie-type lesion A 24-year-old has focal tibial pain for 3 months, no fever, normal WBC, and a well-circumscribed intramedullary lesion. Discuss the decision Subacute osteomyelitis is possible, but malignancy and other mimics matter. Orthopedic curettage/biopsy provides diagnosis, cultures, histology, and source control. Culture-directed therapy is often 4–6 weeks, but there is no high-quality trial defining the ideal course. Case 7 · Stage IV sacral wound, exposed bone, MRI “osteomyelitis,” no flap option A chronically immobile patient has an open sacral pressure injury with visible bone. There is no surrounding cellulitis, abscess, fever, bacteremia, or hemodynamic instability. Plastics determines durable flap closure is not feasible. Discuss the decision Do not prescribe six weeks, chronic suppression, or repeated antibiotic courses for the exposed bone/MRI alone. Focus on pressure redistribution, wound care, debridement when appropriate, moisture/incontinence management, nutrition, pain/odor control, and realistic goals of care. Treat future discrete cellulitis, abscess, bacteremia, or sepsis episodes when they occur. Case 8 · The same wound, now septic with a gluteal abscess The patient later develops fever, hypotension, spreading erythema, and CT evidence of a drainable gluteal collection. Discuss the decision Now antibiotics are indicated. Obtain blood cultures, drain the abscess, send a meaningful deep specimen, and start broad empiric therapy based on severity and prior resistance. Narrow when cultures return. The chronic open sacral bone does not automatically reset the plan to six weeks of osteomyelitis therapy. Case 9 · Diabetic forefoot osteomyelitis after toe amputation A patient undergoes minor amputation for infected toe osteomyelitis. The remaining bone-margin culture is positive. Discuss the decision IWGDF/IDSA suggests up to 3 weeks after minor amputation with a positive bone-margin culture. After complete resection with no residual infection, its duration table lists 2–5 days rather than a prolonged osteomyelitis course. Continue offloading, wound care, glycemic management, and vascular assessment as indicated.</a:t>
            </a:r>
          </a:p>
          <a:p xmlns:a="http://schemas.openxmlformats.org/drawingml/2006/main">
            <a:r>
              <a:t/>
            </a:r>
          </a:p>
          <a:p xmlns:a="http://schemas.openxmlformats.org/drawingml/2006/main">
            <a:r>
              <a:t>Module section: https://docarcshot.github.io/id-practice-update/lectures/Bone_and_Joint_Infections_Septic_Arthritis_PJI_Osteomyelitis.html#cases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decide the source-control plan before the antibiotic clock Case 1 · Crystals and a hot knee A 67-year-old has fever and an acutely swollen native knee. Synovial fluid contains urate crystals and 72,000 WBC/µL with 92% neutrophils. Discuss the decision Crystals do not exclude septic arthritis. Send Gram stain/culture and blood cultures, start empiric therapy after aspiration if stable enough to sample first, and obtain urgent orthopedic input for drainage. Narrow to the organism. Case 2 · Arthritis plus pustules A young adult has migratory arthralgia, tenosynovitis, pustular lesions, and a swollen ankle. Discuss the decision Evaluate for disseminated gonococcal infection. Obtain NAAT from exposed mucosal sites, culture of purulent material when possible, and blood cultures when appropriate. Treat with ceftriaxone 1 g every 24 hours; treat chlamydia if not excluded. Total therapy is at least 7 days, with susceptibility-guided oral transition after substantial improvement. Case 3 · Acute postoperative knee PJI Three weeks after TKA, the patient develops 3 days of pain, effusion, and drainage. Components are well fixed. Aspiration grows MSSA. Discuss the decision This is a favorable timing pattern for DAIR if the soft tissue and implant are otherwise suitable. Exchange modular components when feasible, obtain multiple deep cultures, and use pathogen-directed therapy. For susceptible staphylococcal knee PJI treated with DAIR, the IDSA rifampin-based regimen completes 6 months. The route and timing of oral transition depend on clinical response and an active companion drug. Add rifampin only as combination therapy after debridement. Case 4 · Chronic hip PJI considered for one-stage exchange A patient has months of hip pain, a well-fixed prosthesis, good soft tissue, no sinus tract, and repeated deep aspiration cultures growing susceptible Cutibacterium acnes . Discuss the decision This is a potential one-stage exchange candidate because the organism is known and tractable and the soft-tissue envelope is favorable. Remove all infected components, perform radical debridement, obtain at least 5 deep specimens with separate instruments, and implant the new prosthesis during the same operation. Choose a pathogen-directed regimen and duration after reviewing operative cultures. For this nonstaphylococcal example, IDSA describes 4–6 weeks of IV or highly bioavailable oral therapy; a fixed IV lead-in is not established. Indefinite suppression is a separate decision. Case 5 · Stable vertebral osteomyelitis with negative blood cultures A stable patient has severe back pain and MRI findings compatible with L2–L3 discitis/osteomyelitis. Neurologic examination is normal and blood cultures are negative. Discuss the decision If clinically safe, do not rush into empiric six-week therapy before obtaining a microbiologic diagnosis. Arrange image-guided biopsy and assess alternative diagnoses. If bacterial NVO is confirmed, most patients need 6 weeks of parenteral or highly bioavailable oral therapy. Repeat MRI is not routine if the patient improves. Case 6 · Months of tibial pain and a Brodie-type lesion A 24-year-old has focal tibial pain for 3 months, no fever, normal WBC, and a well-circumscribed intramedullary lesion. Discuss the decision Subacute osteomyelitis is possible, but malignancy and other mimics matter. Orthopedic curettage/biopsy provides diagnosis, cultures, histology, and source control. Culture-directed therapy is often 4–6 weeks, but there is no high-quality trial defining the ideal course. Case 7 · Stage IV sacral wound, exposed bone, MRI “osteomyelitis,” no flap option A chronically immobile patient has an open sacral pressure injury with visible bone. There is no surrounding cellulitis, abscess, fever, bacteremia, or hemodynamic instability. Plastics determines durable flap closure is not feasible. Discuss the decision Do not prescribe six weeks, chronic suppression, or repeated antibiotic courses for the exposed bone/MRI alone. Focus on pressure redistribution, wound care, debridement when appropriate, moisture/incontinence management, nutrition, pain/odor control, and realistic goals of care. Treat future discrete cellulitis, abscess, bacteremia, or sepsis episodes when they occur. Case 8 · The same wound, now septic with a gluteal abscess The patient later develops fever, hypotension, spreading erythema, and CT evidence of a drainable gluteal collection. Discuss the decision Now antibiotics are indicated. Obtain blood cultures, drain the abscess, send a meaningful deep specimen, and start broad empiric therapy based on severity and prior resistance. Narrow when cultures return. The chronic open sacral bone does not automatically reset the plan to six weeks of osteomyelitis therapy. Case 9 · Diabetic forefoot osteomyelitis after toe amputation A patient undergoes minor amputation for infected toe osteomyelitis. The remaining bone-margin culture is positive. Discuss the decision IWGDF/IDSA suggests up to 3 weeks after minor amputation with a positive bone-margin culture. After complete resection with no residual infection, its duration table lists 2–5 days rather than a prolonged osteomyelitis course. Continue offloading, wound care, glycemic management, and vascular assessment as indicated.</a:t>
            </a:r>
          </a:p>
          <a:p xmlns:a="http://schemas.openxmlformats.org/drawingml/2006/main">
            <a:r>
              <a:t/>
            </a:r>
          </a:p>
          <a:p xmlns:a="http://schemas.openxmlformats.org/drawingml/2006/main">
            <a:r>
              <a:t>Module section: https://docarcshot.github.io/id-practice-update/lectures/Bone_and_Joint_Infections_Septic_Arthritis_PJI_Osteomyelitis.html#cases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decide the source-control plan before the antibiotic clock Case 1 · Crystals and a hot knee A 67-year-old has fever and an acutely swollen native knee. Synovial fluid contains urate crystals and 72,000 WBC/µL with 92% neutrophils. Discuss the decision Crystals do not exclude septic arthritis. Send Gram stain/culture and blood cultures, start empiric therapy after aspiration if stable enough to sample first, and obtain urgent orthopedic input for drainage. Narrow to the organism. Case 2 · Arthritis plus pustules A young adult has migratory arthralgia, tenosynovitis, pustular lesions, and a swollen ankle. Discuss the decision Evaluate for disseminated gonococcal infection. Obtain NAAT from exposed mucosal sites, culture of purulent material when possible, and blood cultures when appropriate. Treat with ceftriaxone 1 g every 24 hours; treat chlamydia if not excluded. Total therapy is at least 7 days, with susceptibility-guided oral transition after substantial improvement. Case 3 · Acute postoperative knee PJI Three weeks after TKA, the patient develops 3 days of pain, effusion, and drainage. Components are well fixed. Aspiration grows MSSA. Discuss the decision This is a favorable timing pattern for DAIR if the soft tissue and implant are otherwise suitable. Exchange modular components when feasible, obtain multiple deep cultures, and use pathogen-directed therapy. For susceptible staphylococcal knee PJI treated with DAIR, the IDSA rifampin-based regimen completes 6 months. The route and timing of oral transition depend on clinical response and an active companion drug. Add rifampin only as combination therapy after debridement. Case 4 · Chronic hip PJI considered for one-stage exchange A patient has months of hip pain, a well-fixed prosthesis, good soft tissue, no sinus tract, and repeated deep aspiration cultures growing susceptible Cutibacterium acnes . Discuss the decision This is a potential one-stage exchange candidate because the organism is known and tractable and the soft-tissue envelope is favorable. Remove all infected components, perform radical debridement, obtain at least 5 deep specimens with separate instruments, and implant the new prosthesis during the same operation. Choose a pathogen-directed regimen and duration after reviewing operative cultures. For this nonstaphylococcal example, IDSA describes 4–6 weeks of IV or highly bioavailable oral therapy; a fixed IV lead-in is not established. Indefinite suppression is a separate decision. Case 5 · Stable vertebral osteomyelitis with negative blood cultures A stable patient has severe back pain and MRI findings compatible with L2–L3 discitis/osteomyelitis. Neurologic examination is normal and blood cultures are negative. Discuss the decision If clinically safe, do not rush into empiric six-week therapy before obtaining a microbiologic diagnosis. Arrange image-guided biopsy and assess alternative diagnoses. If bacterial NVO is confirmed, most patients need 6 weeks of parenteral or highly bioavailable oral therapy. Repeat MRI is not routine if the patient improves. Case 6 · Months of tibial pain and a Brodie-type lesion A 24-year-old has focal tibial pain for 3 months, no fever, normal WBC, and a well-circumscribed intramedullary lesion. Discuss the decision Subacute osteomyelitis is possible, but malignancy and other mimics matter. Orthopedic curettage/biopsy provides diagnosis, cultures, histology, and source control. Culture-directed therapy is often 4–6 weeks, but there is no high-quality trial defining the ideal course. Case 7 · Stage IV sacral wound, exposed bone, MRI “osteomyelitis,” no flap option A chronically immobile patient has an open sacral pressure injury with visible bone. There is no surrounding cellulitis, abscess, fever, bacteremia, or hemodynamic instability. Plastics determines durable flap closure is not feasible. Discuss the decision Do not prescribe six weeks, chronic suppression, or repeated antibiotic courses for the exposed bone/MRI alone. Focus on pressure redistribution, wound care, debridement when appropriate, moisture/incontinence management, nutrition, pain/odor control, and realistic goals of care. Treat future discrete cellulitis, abscess, bacteremia, or sepsis episodes when they occur. Case 8 · The same wound, now septic with a gluteal abscess The patient later develops fever, hypotension, spreading erythema, and CT evidence of a drainable gluteal collection. Discuss the decision Now antibiotics are indicated. Obtain blood cultures, drain the abscess, send a meaningful deep specimen, and start broad empiric therapy based on severity and prior resistance. Narrow when cultures return. The chronic open sacral bone does not automatically reset the plan to six weeks of osteomyelitis therapy. Case 9 · Diabetic forefoot osteomyelitis after toe amputation A patient undergoes minor amputation for infected toe osteomyelitis. The remaining bone-margin culture is positive. Discuss the decision IWGDF/IDSA suggests up to 3 weeks after minor amputation with a positive bone-margin culture. After complete resection with no residual infection, its duration table lists 2–5 days rather than a prolonged osteomyelitis course. Continue offloading, wound care, glycemic management, and vascular assessment as indicated.</a:t>
            </a:r>
          </a:p>
          <a:p xmlns:a="http://schemas.openxmlformats.org/drawingml/2006/main">
            <a:r>
              <a:t/>
            </a:r>
          </a:p>
          <a:p xmlns:a="http://schemas.openxmlformats.org/drawingml/2006/main">
            <a:r>
              <a:t>Module section: https://docarcshot.github.io/id-practice-update/lectures/Bone_and_Joint_Infections_Septic_Arthritis_PJI_Osteomyelitis.html#cases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decide the source-control plan before the antibiotic clock Case 1 · Crystals and a hot knee A 67-year-old has fever and an acutely swollen native knee. Synovial fluid contains urate crystals and 72,000 WBC/µL with 92% neutrophils. Discuss the decision Crystals do not exclude septic arthritis. Send Gram stain/culture and blood cultures, start empiric therapy after aspiration if stable enough to sample first, and obtain urgent orthopedic input for drainage. Narrow to the organism. Case 2 · Arthritis plus pustules A young adult has migratory arthralgia, tenosynovitis, pustular lesions, and a swollen ankle. Discuss the decision Evaluate for disseminated gonococcal infection. Obtain NAAT from exposed mucosal sites, culture of purulent material when possible, and blood cultures when appropriate. Treat with ceftriaxone 1 g every 24 hours; treat chlamydia if not excluded. Total therapy is at least 7 days, with susceptibility-guided oral transition after substantial improvement. Case 3 · Acute postoperative knee PJI Three weeks after TKA, the patient develops 3 days of pain, effusion, and drainage. Components are well fixed. Aspiration grows MSSA. Discuss the decision This is a favorable timing pattern for DAIR if the soft tissue and implant are otherwise suitable. Exchange modular components when feasible, obtain multiple deep cultures, and use pathogen-directed therapy. For susceptible staphylococcal knee PJI treated with DAIR, the IDSA rifampin-based regimen completes 6 months. The route and timing of oral transition depend on clinical response and an active companion drug. Add rifampin only as combination therapy after debridement. Case 4 · Chronic hip PJI considered for one-stage exchange A patient has months of hip pain, a well-fixed prosthesis, good soft tissue, no sinus tract, and repeated deep aspiration cultures growing susceptible Cutibacterium acnes . Discuss the decision This is a potential one-stage exchange candidate because the organism is known and tractable and the soft-tissue envelope is favorable. Remove all infected components, perform radical debridement, obtain at least 5 deep specimens with separate instruments, and implant the new prosthesis during the same operation. Choose a pathogen-directed regimen and duration after reviewing operative cultures. For this nonstaphylococcal example, IDSA describes 4–6 weeks of IV or highly bioavailable oral therapy; a fixed IV lead-in is not established. Indefinite suppression is a separate decision. Case 5 · Stable vertebral osteomyelitis with negative blood cultures A stable patient has severe back pain and MRI findings compatible with L2–L3 discitis/osteomyelitis. Neurologic examination is normal and blood cultures are negative. Discuss the decision If clinically safe, do not rush into empiric six-week therapy before obtaining a microbiologic diagnosis. Arrange image-guided biopsy and assess alternative diagnoses. If bacterial NVO is confirmed, most patients need 6 weeks of parenteral or highly bioavailable oral therapy. Repeat MRI is not routine if the patient improves. Case 6 · Months of tibial pain and a Brodie-type lesion A 24-year-old has focal tibial pain for 3 months, no fever, normal WBC, and a well-circumscribed intramedullary lesion. Discuss the decision Subacute osteomyelitis is possible, but malignancy and other mimics matter. Orthopedic curettage/biopsy provides diagnosis, cultures, histology, and source control. Culture-directed therapy is often 4–6 weeks, but there is no high-quality trial defining the ideal course. Case 7 · Stage IV sacral wound, exposed bone, MRI “osteomyelitis,” no flap option A chronically immobile patient has an open sacral pressure injury with visible bone. There is no surrounding cellulitis, abscess, fever, bacteremia, or hemodynamic instability. Plastics determines durable flap closure is not feasible. Discuss the decision Do not prescribe six weeks, chronic suppression, or repeated antibiotic courses for the exposed bone/MRI alone. Focus on pressure redistribution, wound care, debridement when appropriate, moisture/incontinence management, nutrition, pain/odor control, and realistic goals of care. Treat future discrete cellulitis, abscess, bacteremia, or sepsis episodes when they occur. Case 8 · The same wound, now septic with a gluteal abscess The patient later develops fever, hypotension, spreading erythema, and CT evidence of a drainable gluteal collection. Discuss the decision Now antibiotics are indicated. Obtain blood cultures, drain the abscess, send a meaningful deep specimen, and start broad empiric therapy based on severity and prior resistance. Narrow when cultures return. The chronic open sacral bone does not automatically reset the plan to six weeks of osteomyelitis therapy. Case 9 · Diabetic forefoot osteomyelitis after toe amputation A patient undergoes minor amputation for infected toe osteomyelitis. The remaining bone-margin culture is positive. Discuss the decision IWGDF/IDSA suggests up to 3 weeks after minor amputation with a positive bone-margin culture. After complete resection with no residual infection, its duration table lists 2–5 days rather than a prolonged osteomyelitis course. Continue offloading, wound care, glycemic management, and vascular assessment as indicated.</a:t>
            </a:r>
          </a:p>
          <a:p xmlns:a="http://schemas.openxmlformats.org/drawingml/2006/main">
            <a:r>
              <a:t/>
            </a:r>
          </a:p>
          <a:p xmlns:a="http://schemas.openxmlformats.org/drawingml/2006/main">
            <a:r>
              <a:t>Module section: https://docarcshot.github.io/id-practice-update/lectures/Bone_and_Joint_Infections_Septic_Arthritis_PJI_Osteomyelitis.html#cases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decide the source-control plan before the antibiotic clock Case 1 · Crystals and a hot knee A 67-year-old has fever and an acutely swollen native knee. Synovial fluid contains urate crystals and 72,000 WBC/µL with 92% neutrophils. Discuss the decision Crystals do not exclude septic arthritis. Send Gram stain/culture and blood cultures, start empiric therapy after aspiration if stable enough to sample first, and obtain urgent orthopedic input for drainage. Narrow to the organism. Case 2 · Arthritis plus pustules A young adult has migratory arthralgia, tenosynovitis, pustular lesions, and a swollen ankle. Discuss the decision Evaluate for disseminated gonococcal infection. Obtain NAAT from exposed mucosal sites, culture of purulent material when possible, and blood cultures when appropriate. Treat with ceftriaxone 1 g every 24 hours; treat chlamydia if not excluded. Total therapy is at least 7 days, with susceptibility-guided oral transition after substantial improvement. Case 3 · Acute postoperative knee PJI Three weeks after TKA, the patient develops 3 days of pain, effusion, and drainage. Components are well fixed. Aspiration grows MSSA. Discuss the decision This is a favorable timing pattern for DAIR if the soft tissue and implant are otherwise suitable. Exchange modular components when feasible, obtain multiple deep cultures, and use pathogen-directed therapy. For susceptible staphylococcal knee PJI treated with DAIR, the IDSA rifampin-based regimen completes 6 months. The route and timing of oral transition depend on clinical response and an active companion drug. Add rifampin only as combination therapy after debridement. Case 4 · Chronic hip PJI considered for one-stage exchange A patient has months of hip pain, a well-fixed prosthesis, good soft tissue, no sinus tract, and repeated deep aspiration cultures growing susceptible Cutibacterium acnes . Discuss the decision This is a potential one-stage exchange candidate because the organism is known and tractable and the soft-tissue envelope is favorable. Remove all infected components, perform radical debridement, obtain at least 5 deep specimens with separate instruments, and implant the new prosthesis during the same operation. Choose a pathogen-directed regimen and duration after reviewing operative cultures. For this nonstaphylococcal example, IDSA describes 4–6 weeks of IV or highly bioavailable oral therapy; a fixed IV lead-in is not established. Indefinite suppression is a separate decision. Case 5 · Stable vertebral osteomyelitis with negative blood cultures A stable patient has severe back pain and MRI findings compatible with L2–L3 discitis/osteomyelitis. Neurologic examination is normal and blood cultures are negative. Discuss the decision If clinically safe, do not rush into empiric six-week therapy before obtaining a microbiologic diagnosis. Arrange image-guided biopsy and assess alternative diagnoses. If bacterial NVO is confirmed, most patients need 6 weeks of parenteral or highly bioavailable oral therapy. Repeat MRI is not routine if the patient improves. Case 6 · Months of tibial pain and a Brodie-type lesion A 24-year-old has focal tibial pain for 3 months, no fever, normal WBC, and a well-circumscribed intramedullary lesion. Discuss the decision Subacute osteomyelitis is possible, but malignancy and other mimics matter. Orthopedic curettage/biopsy provides diagnosis, cultures, histology, and source control. Culture-directed therapy is often 4–6 weeks, but there is no high-quality trial defining the ideal course. Case 7 · Stage IV sacral wound, exposed bone, MRI “osteomyelitis,” no flap option A chronically immobile patient has an open sacral pressure injury with visible bone. There is no surrounding cellulitis, abscess, fever, bacteremia, or hemodynamic instability. Plastics determines durable flap closure is not feasible. Discuss the decision Do not prescribe six weeks, chronic suppression, or repeated antibiotic courses for the exposed bone/MRI alone. Focus on pressure redistribution, wound care, debridement when appropriate, moisture/incontinence management, nutrition, pain/odor control, and realistic goals of care. Treat future discrete cellulitis, abscess, bacteremia, or sepsis episodes when they occur. Case 8 · The same wound, now septic with a gluteal abscess The patient later develops fever, hypotension, spreading erythema, and CT evidence of a drainable gluteal collection. Discuss the decision Now antibiotics are indicated. Obtain blood cultures, drain the abscess, send a meaningful deep specimen, and start broad empiric therapy based on severity and prior resistance. Narrow when cultures return. The chronic open sacral bone does not automatically reset the plan to six weeks of osteomyelitis therapy. Case 9 · Diabetic forefoot osteomyelitis after toe amputation A patient undergoes minor amputation for infected toe osteomyelitis. The remaining bone-margin culture is positive. Discuss the decision IWGDF/IDSA suggests up to 3 weeks after minor amputation with a positive bone-margin culture. After complete resection with no residual infection, its duration table lists 2–5 days rather than a prolonged osteomyelitis course. Continue offloading, wound care, glycemic management, and vascular assessment as indicated.</a:t>
            </a:r>
          </a:p>
          <a:p xmlns:a="http://schemas.openxmlformats.org/drawingml/2006/main">
            <a:r>
              <a:t/>
            </a:r>
          </a:p>
          <a:p xmlns:a="http://schemas.openxmlformats.org/drawingml/2006/main">
            <a:r>
              <a:t>Module section: https://docarcshot.github.io/id-practice-update/lectures/Bone_and_Joint_Infections_Septic_Arthritis_PJI_Osteomyelitis.html#cases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decide the source-control plan before the antibiotic clock Case 1 · Crystals and a hot knee A 67-year-old has fever and an acutely swollen native knee. Synovial fluid contains urate crystals and 72,000 WBC/µL with 92% neutrophils. Discuss the decision Crystals do not exclude septic arthritis. Send Gram stain/culture and blood cultures, start empiric therapy after aspiration if stable enough to sample first, and obtain urgent orthopedic input for drainage. Narrow to the organism. Case 2 · Arthritis plus pustules A young adult has migratory arthralgia, tenosynovitis, pustular lesions, and a swollen ankle. Discuss the decision Evaluate for disseminated gonococcal infection. Obtain NAAT from exposed mucosal sites, culture of purulent material when possible, and blood cultures when appropriate. Treat with ceftriaxone 1 g every 24 hours; treat chlamydia if not excluded. Total therapy is at least 7 days, with susceptibility-guided oral transition after substantial improvement. Case 3 · Acute postoperative knee PJI Three weeks after TKA, the patient develops 3 days of pain, effusion, and drainage. Components are well fixed. Aspiration grows MSSA. Discuss the decision This is a favorable timing pattern for DAIR if the soft tissue and implant are otherwise suitable. Exchange modular components when feasible, obtain multiple deep cultures, and use pathogen-directed therapy. For susceptible staphylococcal knee PJI treated with DAIR, the IDSA rifampin-based regimen completes 6 months. The route and timing of oral transition depend on clinical response and an active companion drug. Add rifampin only as combination therapy after debridement. Case 4 · Chronic hip PJI considered for one-stage exchange A patient has months of hip pain, a well-fixed prosthesis, good soft tissue, no sinus tract, and repeated deep aspiration cultures growing susceptible Cutibacterium acnes . Discuss the decision This is a potential one-stage exchange candidate because the organism is known and tractable and the soft-tissue envelope is favorable. Remove all infected components, perform radical debridement, obtain at least 5 deep specimens with separate instruments, and implant the new prosthesis during the same operation. Choose a pathogen-directed regimen and duration after reviewing operative cultures. For this nonstaphylococcal example, IDSA describes 4–6 weeks of IV or highly bioavailable oral therapy; a fixed IV lead-in is not established. Indefinite suppression is a separate decision. Case 5 · Stable vertebral osteomyelitis with negative blood cultures A stable patient has severe back pain and MRI findings compatible with L2–L3 discitis/osteomyelitis. Neurologic examination is normal and blood cultures are negative. Discuss the decision If clinically safe, do not rush into empiric six-week therapy before obtaining a microbiologic diagnosis. Arrange image-guided biopsy and assess alternative diagnoses. If bacterial NVO is confirmed, most patients need 6 weeks of parenteral or highly bioavailable oral therapy. Repeat MRI is not routine if the patient improves. Case 6 · Months of tibial pain and a Brodie-type lesion A 24-year-old has focal tibial pain for 3 months, no fever, normal WBC, and a well-circumscribed intramedullary lesion. Discuss the decision Subacute osteomyelitis is possible, but malignancy and other mimics matter. Orthopedic curettage/biopsy provides diagnosis, cultures, histology, and source control. Culture-directed therapy is often 4–6 weeks, but there is no high-quality trial defining the ideal course. Case 7 · Stage IV sacral wound, exposed bone, MRI “osteomyelitis,” no flap option A chronically immobile patient has an open sacral pressure injury with visible bone. There is no surrounding cellulitis, abscess, fever, bacteremia, or hemodynamic instability. Plastics determines durable flap closure is not feasible. Discuss the decision Do not prescribe six weeks, chronic suppression, or repeated antibiotic courses for the exposed bone/MRI alone. Focus on pressure redistribution, wound care, debridement when appropriate, moisture/incontinence management, nutrition, pain/odor control, and realistic goals of care. Treat future discrete cellulitis, abscess, bacteremia, or sepsis episodes when they occur. Case 8 · The same wound, now septic with a gluteal abscess The patient later develops fever, hypotension, spreading erythema, and CT evidence of a drainable gluteal collection. Discuss the decision Now antibiotics are indicated. Obtain blood cultures, drain the abscess, send a meaningful deep specimen, and start broad empiric therapy based on severity and prior resistance. Narrow when cultures return. The chronic open sacral bone does not automatically reset the plan to six weeks of osteomyelitis therapy. Case 9 · Diabetic forefoot osteomyelitis after toe amputation A patient undergoes minor amputation for infected toe osteomyelitis. The remaining bone-margin culture is positive. Discuss the decision IWGDF/IDSA suggests up to 3 weeks after minor amputation with a positive bone-margin culture. After complete resection with no residual infection, its duration table lists 2–5 days rather than a prolonged osteomyelitis course. Continue offloading, wound care, glycemic management, and vascular assessment as indicated.</a:t>
            </a:r>
          </a:p>
          <a:p xmlns:a="http://schemas.openxmlformats.org/drawingml/2006/main">
            <a:r>
              <a:t/>
            </a:r>
          </a:p>
          <a:p xmlns:a="http://schemas.openxmlformats.org/drawingml/2006/main">
            <a:r>
              <a:t>Module section: https://docarcshot.github.io/id-practice-update/lectures/Bone_and_Joint_Infections_Septic_Arthritis_PJI_Osteomyelitis.html#cases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decide the source-control plan before the antibiotic clock Case 1 · Crystals and a hot knee A 67-year-old has fever and an acutely swollen native knee. Synovial fluid contains urate crystals and 72,000 WBC/µL with 92% neutrophils. Discuss the decision Crystals do not exclude septic arthritis. Send Gram stain/culture and blood cultures, start empiric therapy after aspiration if stable enough to sample first, and obtain urgent orthopedic input for drainage. Narrow to the organism. Case 2 · Arthritis plus pustules A young adult has migratory arthralgia, tenosynovitis, pustular lesions, and a swollen ankle. Discuss the decision Evaluate for disseminated gonococcal infection. Obtain NAAT from exposed mucosal sites, culture of purulent material when possible, and blood cultures when appropriate. Treat with ceftriaxone 1 g every 24 hours; treat chlamydia if not excluded. Total therapy is at least 7 days, with susceptibility-guided oral transition after substantial improvement. Case 3 · Acute postoperative knee PJI Three weeks after TKA, the patient develops 3 days of pain, effusion, and drainage. Components are well fixed. Aspiration grows MSSA. Discuss the decision This is a favorable timing pattern for DAIR if the soft tissue and implant are otherwise suitable. Exchange modular components when feasible, obtain multiple deep cultures, and use pathogen-directed therapy. For susceptible staphylococcal knee PJI treated with DAIR, the IDSA rifampin-based regimen completes 6 months. The route and timing of oral transition depend on clinical response and an active companion drug. Add rifampin only as combination therapy after debridement. Case 4 · Chronic hip PJI considered for one-stage exchange A patient has months of hip pain, a well-fixed prosthesis, good soft tissue, no sinus tract, and repeated deep aspiration cultures growing susceptible Cutibacterium acnes . Discuss the decision This is a potential one-stage exchange candidate because the organism is known and tractable and the soft-tissue envelope is favorable. Remove all infected components, perform radical debridement, obtain at least 5 deep specimens with separate instruments, and implant the new prosthesis during the same operation. Choose a pathogen-directed regimen and duration after reviewing operative cultures. For this nonstaphylococcal example, IDSA describes 4–6 weeks of IV or highly bioavailable oral therapy; a fixed IV lead-in is not established. Indefinite suppression is a separate decision. Case 5 · Stable vertebral osteomyelitis with negative blood cultures A stable patient has severe back pain and MRI findings compatible with L2–L3 discitis/osteomyelitis. Neurologic examination is normal and blood cultures are negative. Discuss the decision If clinically safe, do not rush into empiric six-week therapy before obtaining a microbiologic diagnosis. Arrange image-guided biopsy and assess alternative diagnoses. If bacterial NVO is confirmed, most patients need 6 weeks of parenteral or highly bioavailable oral therapy. Repeat MRI is not routine if the patient improves. Case 6 · Months of tibial pain and a Brodie-type lesion A 24-year-old has focal tibial pain for 3 months, no fever, normal WBC, and a well-circumscribed intramedullary lesion. Discuss the decision Subacute osteomyelitis is possible, but malignancy and other mimics matter. Orthopedic curettage/biopsy provides diagnosis, cultures, histology, and source control. Culture-directed therapy is often 4–6 weeks, but there is no high-quality trial defining the ideal course. Case 7 · Stage IV sacral wound, exposed bone, MRI “osteomyelitis,” no flap option A chronically immobile patient has an open sacral pressure injury with visible bone. There is no surrounding cellulitis, abscess, fever, bacteremia, or hemodynamic instability. Plastics determines durable flap closure is not feasible. Discuss the decision Do not prescribe six weeks, chronic suppression, or repeated antibiotic courses for the exposed bone/MRI alone. Focus on pressure redistribution, wound care, debridement when appropriate, moisture/incontinence management, nutrition, pain/odor control, and realistic goals of care. Treat future discrete cellulitis, abscess, bacteremia, or sepsis episodes when they occur. Case 8 · The same wound, now septic with a gluteal abscess The patient later develops fever, hypotension, spreading erythema, and CT evidence of a drainable gluteal collection. Discuss the decision Now antibiotics are indicated. Obtain blood cultures, drain the abscess, send a meaningful deep specimen, and start broad empiric therapy based on severity and prior resistance. Narrow when cultures return. The chronic open sacral bone does not automatically reset the plan to six weeks of osteomyelitis therapy. Case 9 · Diabetic forefoot osteomyelitis after toe amputation A patient undergoes minor amputation for infected toe osteomyelitis. The remaining bone-margin culture is positive. Discuss the decision IWGDF/IDSA suggests up to 3 weeks after minor amputation with a positive bone-margin culture. After complete resection with no residual infection, its duration table lists 2–5 days rather than a prolonged osteomyelitis course. Continue offloading, wound care, glycemic management, and vascular assessment as indicated.</a:t>
            </a:r>
          </a:p>
          <a:p xmlns:a="http://schemas.openxmlformats.org/drawingml/2006/main">
            <a:r>
              <a:t/>
            </a:r>
          </a:p>
          <a:p xmlns:a="http://schemas.openxmlformats.org/drawingml/2006/main">
            <a:r>
              <a:t>Module section: https://docarcshot.github.io/id-practice-update/lectures/Bone_and_Joint_Infections_Septic_Arthritis_PJI_Osteomyelitis.html#cases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decide the source-control plan before the antibiotic clock Case 1 · Crystals and a hot knee A 67-year-old has fever and an acutely swollen native knee. Synovial fluid contains urate crystals and 72,000 WBC/µL with 92% neutrophils. Discuss the decision Crystals do not exclude septic arthritis. Send Gram stain/culture and blood cultures, start empiric therapy after aspiration if stable enough to sample first, and obtain urgent orthopedic input for drainage. Narrow to the organism. Case 2 · Arthritis plus pustules A young adult has migratory arthralgia, tenosynovitis, pustular lesions, and a swollen ankle. Discuss the decision Evaluate for disseminated gonococcal infection. Obtain NAAT from exposed mucosal sites, culture of purulent material when possible, and blood cultures when appropriate. Treat with ceftriaxone 1 g every 24 hours; treat chlamydia if not excluded. Total therapy is at least 7 days, with susceptibility-guided oral transition after substantial improvement. Case 3 · Acute postoperative knee PJI Three weeks after TKA, the patient develops 3 days of pain, effusion, and drainage. Components are well fixed. Aspiration grows MSSA. Discuss the decision This is a favorable timing pattern for DAIR if the soft tissue and implant are otherwise suitable. Exchange modular components when feasible, obtain multiple deep cultures, and use pathogen-directed therapy. For susceptible staphylococcal knee PJI treated with DAIR, the IDSA rifampin-based regimen completes 6 months. The route and timing of oral transition depend on clinical response and an active companion drug. Add rifampin only as combination therapy after debridement. Case 4 · Chronic hip PJI considered for one-stage exchange A patient has months of hip pain, a well-fixed prosthesis, good soft tissue, no sinus tract, and repeated deep aspiration cultures growing susceptible Cutibacterium acnes . Discuss the decision This is a potential one-stage exchange candidate because the organism is known and tractable and the soft-tissue envelope is favorable. Remove all infected components, perform radical debridement, obtain at least 5 deep specimens with separate instruments, and implant the new prosthesis during the same operation. Choose a pathogen-directed regimen and duration after reviewing operative cultures. For this nonstaphylococcal example, IDSA describes 4–6 weeks of IV or highly bioavailable oral therapy; a fixed IV lead-in is not established. Indefinite suppression is a separate decision. Case 5 · Stable vertebral osteomyelitis with negative blood cultures A stable patient has severe back pain and MRI findings compatible with L2–L3 discitis/osteomyelitis. Neurologic examination is normal and blood cultures are negative. Discuss the decision If clinically safe, do not rush into empiric six-week therapy before obtaining a microbiologic diagnosis. Arrange image-guided biopsy and assess alternative diagnoses. If bacterial NVO is confirmed, most patients need 6 weeks of parenteral or highly bioavailable oral therapy. Repeat MRI is not routine if the patient improves. Case 6 · Months of tibial pain and a Brodie-type lesion A 24-year-old has focal tibial pain for 3 months, no fever, normal WBC, and a well-circumscribed intramedullary lesion. Discuss the decision Subacute osteomyelitis is possible, but malignancy and other mimics matter. Orthopedic curettage/biopsy provides diagnosis, cultures, histology, and source control. Culture-directed therapy is often 4–6 weeks, but there is no high-quality trial defining the ideal course. Case 7 · Stage IV sacral wound, exposed bone, MRI “osteomyelitis,” no flap option A chronically immobile patient has an open sacral pressure injury with visible bone. There is no surrounding cellulitis, abscess, fever, bacteremia, or hemodynamic instability. Plastics determines durable flap closure is not feasible. Discuss the decision Do not prescribe six weeks, chronic suppression, or repeated antibiotic courses for the exposed bone/MRI alone. Focus on pressure redistribution, wound care, debridement when appropriate, moisture/incontinence management, nutrition, pain/odor control, and realistic goals of care. Treat future discrete cellulitis, abscess, bacteremia, or sepsis episodes when they occur. Case 8 · The same wound, now septic with a gluteal abscess The patient later develops fever, hypotension, spreading erythema, and CT evidence of a drainable gluteal collection. Discuss the decision Now antibiotics are indicated. Obtain blood cultures, drain the abscess, send a meaningful deep specimen, and start broad empiric therapy based on severity and prior resistance. Narrow when cultures return. The chronic open sacral bone does not automatically reset the plan to six weeks of osteomyelitis therapy. Case 9 · Diabetic forefoot osteomyelitis after toe amputation A patient undergoes minor amputation for infected toe osteomyelitis. The remaining bone-margin culture is positive. Discuss the decision IWGDF/IDSA suggests up to 3 weeks after minor amputation with a positive bone-margin culture. After complete resection with no residual infection, its duration table lists 2–5 days rather than a prolonged osteomyelitis course. Continue offloading, wound care, glycemic management, and vascular assessment as indicated.</a:t>
            </a:r>
          </a:p>
          <a:p xmlns:a="http://schemas.openxmlformats.org/drawingml/2006/main">
            <a:r>
              <a:t/>
            </a:r>
          </a:p>
          <a:p xmlns:a="http://schemas.openxmlformats.org/drawingml/2006/main">
            <a:r>
              <a:t>Module section: https://docarcshot.github.io/id-practice-update/lectures/Bone_and_Joint_Infections_Septic_Arthritis_PJI_Osteomyelitis.html#cases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decide the source-control plan before the antibiotic clock Case 1 · Crystals and a hot knee A 67-year-old has fever and an acutely swollen native knee. Synovial fluid contains urate crystals and 72,000 WBC/µL with 92% neutrophils. Discuss the decision Crystals do not exclude septic arthritis. Send Gram stain/culture and blood cultures, start empiric therapy after aspiration if stable enough to sample first, and obtain urgent orthopedic input for drainage. Narrow to the organism. Case 2 · Arthritis plus pustules A young adult has migratory arthralgia, tenosynovitis, pustular lesions, and a swollen ankle. Discuss the decision Evaluate for disseminated gonococcal infection. Obtain NAAT from exposed mucosal sites, culture of purulent material when possible, and blood cultures when appropriate. Treat with ceftriaxone 1 g every 24 hours; treat chlamydia if not excluded. Total therapy is at least 7 days, with susceptibility-guided oral transition after substantial improvement. Case 3 · Acute postoperative knee PJI Three weeks after TKA, the patient develops 3 days of pain, effusion, and drainage. Components are well fixed. Aspiration grows MSSA. Discuss the decision This is a favorable timing pattern for DAIR if the soft tissue and implant are otherwise suitable. Exchange modular components when feasible, obtain multiple deep cultures, and use pathogen-directed therapy. For susceptible staphylococcal knee PJI treated with DAIR, the IDSA rifampin-based regimen completes 6 months. The route and timing of oral transition depend on clinical response and an active companion drug. Add rifampin only as combination therapy after debridement. Case 4 · Chronic hip PJI considered for one-stage exchange A patient has months of hip pain, a well-fixed prosthesis, good soft tissue, no sinus tract, and repeated deep aspiration cultures growing susceptible Cutibacterium acnes . Discuss the decision This is a potential one-stage exchange candidate because the organism is known and tractable and the soft-tissue envelope is favorable. Remove all infected components, perform radical debridement, obtain at least 5 deep specimens with separate instruments, and implant the new prosthesis during the same operation. Choose a pathogen-directed regimen and duration after reviewing operative cultures. For this nonstaphylococcal example, IDSA describes 4–6 weeks of IV or highly bioavailable oral therapy; a fixed IV lead-in is not established. Indefinite suppression is a separate decision. Case 5 · Stable vertebral osteomyelitis with negative blood cultures A stable patient has severe back pain and MRI findings compatible with L2–L3 discitis/osteomyelitis. Neurologic examination is normal and blood cultures are negative. Discuss the decision If clinically safe, do not rush into empiric six-week therapy before obtaining a microbiologic diagnosis. Arrange image-guided biopsy and assess alternative diagnoses. If bacterial NVO is confirmed, most patients need 6 weeks of parenteral or highly bioavailable oral therapy. Repeat MRI is not routine if the patient improves. Case 6 · Months of tibial pain and a Brodie-type lesion A 24-year-old has focal tibial pain for 3 months, no fever, normal WBC, and a well-circumscribed intramedullary lesion. Discuss the decision Subacute osteomyelitis is possible, but malignancy and other mimics matter. Orthopedic curettage/biopsy provides diagnosis, cultures, histology, and source control. Culture-directed therapy is often 4–6 weeks, but there is no high-quality trial defining the ideal course. Case 7 · Stage IV sacral wound, exposed bone, MRI “osteomyelitis,” no flap option A chronically immobile patient has an open sacral pressure injury with visible bone. There is no surrounding cellulitis, abscess, fever, bacteremia, or hemodynamic instability. Plastics determines durable flap closure is not feasible. Discuss the decision Do not prescribe six weeks, chronic suppression, or repeated antibiotic courses for the exposed bone/MRI alone. Focus on pressure redistribution, wound care, debridement when appropriate, moisture/incontinence management, nutrition, pain/odor control, and realistic goals of care. Treat future discrete cellulitis, abscess, bacteremia, or sepsis episodes when they occur. Case 8 · The same wound, now septic with a gluteal abscess The patient later develops fever, hypotension, spreading erythema, and CT evidence of a drainable gluteal collection. Discuss the decision Now antibiotics are indicated. Obtain blood cultures, drain the abscess, send a meaningful deep specimen, and start broad empiric therapy based on severity and prior resistance. Narrow when cultures return. The chronic open sacral bone does not automatically reset the plan to six weeks of osteomyelitis therapy. Case 9 · Diabetic forefoot osteomyelitis after toe amputation A patient undergoes minor amputation for infected toe osteomyelitis. The remaining bone-margin culture is positive. Discuss the decision IWGDF/IDSA suggests up to 3 weeks after minor amputation with a positive bone-margin culture. After complete resection with no residual infection, its duration table lists 2–5 days rather than a prolonged osteomyelitis course. Continue offloading, wound care, glycemic management, and vascular assessment as indicated.</a:t>
            </a:r>
          </a:p>
          <a:p xmlns:a="http://schemas.openxmlformats.org/drawingml/2006/main">
            <a:r>
              <a:t/>
            </a:r>
          </a:p>
          <a:p xmlns:a="http://schemas.openxmlformats.org/drawingml/2006/main">
            <a:r>
              <a:t>Module section: https://docarcshot.github.io/id-practice-update/lectures/Bone_and_Joint_Infections_Septic_Arthritis_PJI_Osteomyelitis.html#cases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reasoning 1. Do urate crystals exclude septic arthritis? Show explanation No. Crystal disease and bacterial arthritis can coexist. 2. What is the highest-value action in a purulent native knee? Show explanation Prompt diagnostic sampling and effective drainage, with timely active antibiotics. Antibiotics do not substitute for drainage. 3. Does every acute PJI qualify for DAIR? Show explanation No. Implant stability, symptom duration, sinus tract, soft tissue, pathogen, host factors, and ability to exchange modular parts all affect the likelihood of cure. 4. Is rifampin a general add-on for any staphylococcal bone infection? Show explanation No. Its strongest clinical role is susceptible staphylococcal infection with retained prosthetic material in combination with another active agent. Never use it alone. 5. Does osteomyelitis require six weeks of IV therapy? Show explanation No. Six weeks is a common maximum for adequately source-controlled osteomyelitis without retained implant, and validated oral regimens are reasonable in selected patients. Complete resection may need no osteomyelitis therapy at all. 6. Does exposed sacral bone prove osteomyelitis? Show explanation No. Chronic exposed bone can show remodeling without histologic osteomyelitis, and MRI can overcall infection in this setting. 7. What should an asymptomatic open sacral wound with suspected pelvic osteomyelitis receive if there is no debridement/flap plan? Show explanation No systemic antibiotics for the osteomyelitis label alone. Treat acute soft-tissue or systemic infections when present and focus on wound/pressure management. 8. When is chronic suppression most defensible? Show explanation When a defined infection source such as retained prosthetic hardware cannot be removed, a known pathogen has a tolerable active oral option, and preventing relapse or further surgery is a meaningful patient goal. 9. Should worsening vertebral MRI at week 6 automatically extend antibiotics? Show explanation No. If pain, examination, and inflammatory markers are improving, imaging can lag behind clinical cure. 10. What is the central documentation sentence? Show explanation State the infected structure, source control completed or impossible, microbiologic target, treatment intent, and what event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https://docarcshot.github.io/id-practice-update/lectures/Bone_and_Joint_Infections_Septic_Arthritis_PJI_Osteomyelitis.html#questions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reasoning 1. Do urate crystals exclude septic arthritis? Show explanation No. Crystal disease and bacterial arthritis can coexist. 2. What is the highest-value action in a purulent native knee? Show explanation Prompt diagnostic sampling and effective drainage, with timely active antibiotics. Antibiotics do not substitute for drainage. 3. Does every acute PJI qualify for DAIR? Show explanation No. Implant stability, symptom duration, sinus tract, soft tissue, pathogen, host factors, and ability to exchange modular parts all affect the likelihood of cure. 4. Is rifampin a general add-on for any staphylococcal bone infection? Show explanation No. Its strongest clinical role is susceptible staphylococcal infection with retained prosthetic material in combination with another active agent. Never use it alone. 5. Does osteomyelitis require six weeks of IV therapy? Show explanation No. Six weeks is a common maximum for adequately source-controlled osteomyelitis without retained implant, and validated oral regimens are reasonable in selected patients. Complete resection may need no osteomyelitis therapy at all. 6. Does exposed sacral bone prove osteomyelitis? Show explanation No. Chronic exposed bone can show remodeling without histologic osteomyelitis, and MRI can overcall infection in this setting. 7. What should an asymptomatic open sacral wound with suspected pelvic osteomyelitis receive if there is no debridement/flap plan? Show explanation No systemic antibiotics for the osteomyelitis label alone. Treat acute soft-tissue or systemic infections when present and focus on wound/pressure management. 8. When is chronic suppression most defensible? Show explanation When a defined infection source such as retained prosthetic hardware cannot be removed, a known pathogen has a tolerable active oral option, and preventing relapse or further surgery is a meaningful patient goal. 9. Should worsening vertebral MRI at week 6 automatically extend antibiotics? Show explanation No. If pain, examination, and inflammatory markers are improving, imaging can lag behind clinical cure. 10. What is the central documentation sentence? Show explanation State the infected structure, source control completed or impossible, microbiologic target, treatment intent, and what event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https://docarcshot.github.io/id-practice-update/lectures/Bone_and_Joint_Infections_Septic_Arthritis_PJI_Osteomyelitis.html#questions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reasoning 1. Do urate crystals exclude septic arthritis? Show explanation No. Crystal disease and bacterial arthritis can coexist. 2. What is the highest-value action in a purulent native knee? Show explanation Prompt diagnostic sampling and effective drainage, with timely active antibiotics. Antibiotics do not substitute for drainage. 3. Does every acute PJI qualify for DAIR? Show explanation No. Implant stability, symptom duration, sinus tract, soft tissue, pathogen, host factors, and ability to exchange modular parts all affect the likelihood of cure. 4. Is rifampin a general add-on for any staphylococcal bone infection? Show explanation No. Its strongest clinical role is susceptible staphylococcal infection with retained prosthetic material in combination with another active agent. Never use it alone. 5. Does osteomyelitis require six weeks of IV therapy? Show explanation No. Six weeks is a common maximum for adequately source-controlled osteomyelitis without retained implant, and validated oral regimens are reasonable in selected patients. Complete resection may need no osteomyelitis therapy at all. 6. Does exposed sacral bone prove osteomyelitis? Show explanation No. Chronic exposed bone can show remodeling without histologic osteomyelitis, and MRI can overcall infection in this setting. 7. What should an asymptomatic open sacral wound with suspected pelvic osteomyelitis receive if there is no debridement/flap plan? Show explanation No systemic antibiotics for the osteomyelitis label alone. Treat acute soft-tissue or systemic infections when present and focus on wound/pressure management. 8. When is chronic suppression most defensible? Show explanation When a defined infection source such as retained prosthetic hardware cannot be removed, a known pathogen has a tolerable active oral option, and preventing relapse or further surgery is a meaningful patient goal. 9. Should worsening vertebral MRI at week 6 automatically extend antibiotics? Show explanation No. If pain, examination, and inflammatory markers are improving, imaging can lag behind clinical cure. 10. What is the central documentation sentence? Show explanation State the infected structure, source control completed or impossible, microbiologic target, treatment intent, and what event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https://docarcshot.github.io/id-practice-update/lectures/Bone_and_Joint_Infections_Septic_Arthritis_PJI_Osteomyelitis.html#questions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reasoning 1. Do urate crystals exclude septic arthritis? Show explanation No. Crystal disease and bacterial arthritis can coexist. 2. What is the highest-value action in a purulent native knee? Show explanation Prompt diagnostic sampling and effective drainage, with timely active antibiotics. Antibiotics do not substitute for drainage. 3. Does every acute PJI qualify for DAIR? Show explanation No. Implant stability, symptom duration, sinus tract, soft tissue, pathogen, host factors, and ability to exchange modular parts all affect the likelihood of cure. 4. Is rifampin a general add-on for any staphylococcal bone infection? Show explanation No. Its strongest clinical role is susceptible staphylococcal infection with retained prosthetic material in combination with another active agent. Never use it alone. 5. Does osteomyelitis require six weeks of IV therapy? Show explanation No. Six weeks is a common maximum for adequately source-controlled osteomyelitis without retained implant, and validated oral regimens are reasonable in selected patients. Complete resection may need no osteomyelitis therapy at all. 6. Does exposed sacral bone prove osteomyelitis? Show explanation No. Chronic exposed bone can show remodeling without histologic osteomyelitis, and MRI can overcall infection in this setting. 7. What should an asymptomatic open sacral wound with suspected pelvic osteomyelitis receive if there is no debridement/flap plan? Show explanation No systemic antibiotics for the osteomyelitis label alone. Treat acute soft-tissue or systemic infections when present and focus on wound/pressure management. 8. When is chronic suppression most defensible? Show explanation When a defined infection source such as retained prosthetic hardware cannot be removed, a known pathogen has a tolerable active oral option, and preventing relapse or further surgery is a meaningful patient goal. 9. Should worsening vertebral MRI at week 6 automatically extend antibiotics? Show explanation No. If pain, examination, and inflammatory markers are improving, imaging can lag behind clinical cure. 10. What is the central documentation sentence? Show explanation State the infected structure, source control completed or impossible, microbiologic target, treatment intent, and what event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https://docarcshot.github.io/id-practice-update/lectures/Bone_and_Joint_Infections_Septic_Arthritis_PJI_Osteomyelitis.html#questions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reasoning 1. Do urate crystals exclude septic arthritis? Show explanation No. Crystal disease and bacterial arthritis can coexist. 2. What is the highest-value action in a purulent native knee? Show explanation Prompt diagnostic sampling and effective drainage, with timely active antibiotics. Antibiotics do not substitute for drainage. 3. Does every acute PJI qualify for DAIR? Show explanation No. Implant stability, symptom duration, sinus tract, soft tissue, pathogen, host factors, and ability to exchange modular parts all affect the likelihood of cure. 4. Is rifampin a general add-on for any staphylococcal bone infection? Show explanation No. Its strongest clinical role is susceptible staphylococcal infection with retained prosthetic material in combination with another active agent. Never use it alone. 5. Does osteomyelitis require six weeks of IV therapy? Show explanation No. Six weeks is a common maximum for adequately source-controlled osteomyelitis without retained implant, and validated oral regimens are reasonable in selected patients. Complete resection may need no osteomyelitis therapy at all. 6. Does exposed sacral bone prove osteomyelitis? Show explanation No. Chronic exposed bone can show remodeling without histologic osteomyelitis, and MRI can overcall infection in this setting. 7. What should an asymptomatic open sacral wound with suspected pelvic osteomyelitis receive if there is no debridement/flap plan? Show explanation No systemic antibiotics for the osteomyelitis label alone. Treat acute soft-tissue or systemic infections when present and focus on wound/pressure management. 8. When is chronic suppression most defensible? Show explanation When a defined infection source such as retained prosthetic hardware cannot be removed, a known pathogen has a tolerable active oral option, and preventing relapse or further surgery is a meaningful patient goal. 9. Should worsening vertebral MRI at week 6 automatically extend antibiotics? Show explanation No. If pain, examination, and inflammatory markers are improving, imaging can lag behind clinical cure. 10. What is the central documentation sentence? Show explanation State the infected structure, source control completed or impossible, microbiologic target, treatment intent, and what event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https://docarcshot.github.io/id-practice-update/lectures/Bone_and_Joint_Infections_Septic_Arthritis_PJI_Osteomyelitis.html#questions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reasoning 1. Do urate crystals exclude septic arthritis? Show explanation No. Crystal disease and bacterial arthritis can coexist. 2. What is the highest-value action in a purulent native knee? Show explanation Prompt diagnostic sampling and effective drainage, with timely active antibiotics. Antibiotics do not substitute for drainage. 3. Does every acute PJI qualify for DAIR? Show explanation No. Implant stability, symptom duration, sinus tract, soft tissue, pathogen, host factors, and ability to exchange modular parts all affect the likelihood of cure. 4. Is rifampin a general add-on for any staphylococcal bone infection? Show explanation No. Its strongest clinical role is susceptible staphylococcal infection with retained prosthetic material in combination with another active agent. Never use it alone. 5. Does osteomyelitis require six weeks of IV therapy? Show explanation No. Six weeks is a common maximum for adequately source-controlled osteomyelitis without retained implant, and validated oral regimens are reasonable in selected patients. Complete resection may need no osteomyelitis therapy at all. 6. Does exposed sacral bone prove osteomyelitis? Show explanation No. Chronic exposed bone can show remodeling without histologic osteomyelitis, and MRI can overcall infection in this setting. 7. What should an asymptomatic open sacral wound with suspected pelvic osteomyelitis receive if there is no debridement/flap plan? Show explanation No systemic antibiotics for the osteomyelitis label alone. Treat acute soft-tissue or systemic infections when present and focus on wound/pressure management. 8. When is chronic suppression most defensible? Show explanation When a defined infection source such as retained prosthetic hardware cannot be removed, a known pathogen has a tolerable active oral option, and preventing relapse or further surgery is a meaningful patient goal. 9. Should worsening vertebral MRI at week 6 automatically extend antibiotics? Show explanation No. If pain, examination, and inflammatory markers are improving, imaging can lag behind clinical cure. 10. What is the central documentation sentence? Show explanation State the infected structure, source control completed or impossible, microbiologic target, treatment intent, and what event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https://docarcshot.github.io/id-practice-update/lectures/Bone_and_Joint_Infections_Septic_Arthritis_PJI_Osteomyelitis.html#questions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reasoning 1. Do urate crystals exclude septic arthritis? Show explanation No. Crystal disease and bacterial arthritis can coexist. 2. What is the highest-value action in a purulent native knee? Show explanation Prompt diagnostic sampling and effective drainage, with timely active antibiotics. Antibiotics do not substitute for drainage. 3. Does every acute PJI qualify for DAIR? Show explanation No. Implant stability, symptom duration, sinus tract, soft tissue, pathogen, host factors, and ability to exchange modular parts all affect the likelihood of cure. 4. Is rifampin a general add-on for any staphylococcal bone infection? Show explanation No. Its strongest clinical role is susceptible staphylococcal infection with retained prosthetic material in combination with another active agent. Never use it alone. 5. Does osteomyelitis require six weeks of IV therapy? Show explanation No. Six weeks is a common maximum for adequately source-controlled osteomyelitis without retained implant, and validated oral regimens are reasonable in selected patients. Complete resection may need no osteomyelitis therapy at all. 6. Does exposed sacral bone prove osteomyelitis? Show explanation No. Chronic exposed bone can show remodeling without histologic osteomyelitis, and MRI can overcall infection in this setting. 7. What should an asymptomatic open sacral wound with suspected pelvic osteomyelitis receive if there is no debridement/flap plan? Show explanation No systemic antibiotics for the osteomyelitis label alone. Treat acute soft-tissue or systemic infections when present and focus on wound/pressure management. 8. When is chronic suppression most defensible? Show explanation When a defined infection source such as retained prosthetic hardware cannot be removed, a known pathogen has a tolerable active oral option, and preventing relapse or further surgery is a meaningful patient goal. 9. Should worsening vertebral MRI at week 6 automatically extend antibiotics? Show explanation No. If pain, examination, and inflammatory markers are improving, imaging can lag behind clinical cure. 10. What is the central documentation sentence? Show explanation State the infected structure, source control completed or impossible, microbiologic target, treatment intent, and what event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https://docarcshot.github.io/id-practice-update/lectures/Bone_and_Joint_Infections_Septic_Arthritis_PJI_Osteomyelitis.html#questions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reasoning 1. Do urate crystals exclude septic arthritis? Show explanation No. Crystal disease and bacterial arthritis can coexist. 2. What is the highest-value action in a purulent native knee? Show explanation Prompt diagnostic sampling and effective drainage, with timely active antibiotics. Antibiotics do not substitute for drainage. 3. Does every acute PJI qualify for DAIR? Show explanation No. Implant stability, symptom duration, sinus tract, soft tissue, pathogen, host factors, and ability to exchange modular parts all affect the likelihood of cure. 4. Is rifampin a general add-on for any staphylococcal bone infection? Show explanation No. Its strongest clinical role is susceptible staphylococcal infection with retained prosthetic material in combination with another active agent. Never use it alone. 5. Does osteomyelitis require six weeks of IV therapy? Show explanation No. Six weeks is a common maximum for adequately source-controlled osteomyelitis without retained implant, and validated oral regimens are reasonable in selected patients. Complete resection may need no osteomyelitis therapy at all. 6. Does exposed sacral bone prove osteomyelitis? Show explanation No. Chronic exposed bone can show remodeling without histologic osteomyelitis, and MRI can overcall infection in this setting. 7. What should an asymptomatic open sacral wound with suspected pelvic osteomyelitis receive if there is no debridement/flap plan? Show explanation No systemic antibiotics for the osteomyelitis label alone. Treat acute soft-tissue or systemic infections when present and focus on wound/pressure management. 8. When is chronic suppression most defensible? Show explanation When a defined infection source such as retained prosthetic hardware cannot be removed, a known pathogen has a tolerable active oral option, and preventing relapse or further surgery is a meaningful patient goal. 9. Should worsening vertebral MRI at week 6 automatically extend antibiotics? Show explanation No. If pain, examination, and inflammatory markers are improving, imaging can lag behind clinical cure. 10. What is the central documentation sentence? Show explanation State the infected structure, source control completed or impossible, microbiologic target, treatment intent, and what event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https://docarcshot.github.io/id-practice-update/lectures/Bone_and_Joint_Infections_Septic_Arthritis_PJI_Osteomyelitis.html#questions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reasoning 1. Do urate crystals exclude septic arthritis? Show explanation No. Crystal disease and bacterial arthritis can coexist. 2. What is the highest-value action in a purulent native knee? Show explanation Prompt diagnostic sampling and effective drainage, with timely active antibiotics. Antibiotics do not substitute for drainage. 3. Does every acute PJI qualify for DAIR? Show explanation No. Implant stability, symptom duration, sinus tract, soft tissue, pathogen, host factors, and ability to exchange modular parts all affect the likelihood of cure. 4. Is rifampin a general add-on for any staphylococcal bone infection? Show explanation No. Its strongest clinical role is susceptible staphylococcal infection with retained prosthetic material in combination with another active agent. Never use it alone. 5. Does osteomyelitis require six weeks of IV therapy? Show explanation No. Six weeks is a common maximum for adequately source-controlled osteomyelitis without retained implant, and validated oral regimens are reasonable in selected patients. Complete resection may need no osteomyelitis therapy at all. 6. Does exposed sacral bone prove osteomyelitis? Show explanation No. Chronic exposed bone can show remodeling without histologic osteomyelitis, and MRI can overcall infection in this setting. 7. What should an asymptomatic open sacral wound with suspected pelvic osteomyelitis receive if there is no debridement/flap plan? Show explanation No systemic antibiotics for the osteomyelitis label alone. Treat acute soft-tissue or systemic infections when present and focus on wound/pressure management. 8. When is chronic suppression most defensible? Show explanation When a defined infection source such as retained prosthetic hardware cannot be removed, a known pathogen has a tolerable active oral option, and preventing relapse or further surgery is a meaningful patient goal. 9. Should worsening vertebral MRI at week 6 automatically extend antibiotics? Show explanation No. If pain, examination, and inflammatory markers are improving, imaging can lag behind clinical cure. 10. What is the central documentation sentence? Show explanation State the infected structure, source control completed or impossible, microbiologic target, treatment intent, and what event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https://docarcshot.github.io/id-practice-update/lectures/Bone_and_Joint_Infections_Septic_Arthritis_PJI_Osteomyelitis.html#questions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reasoning 1. Do urate crystals exclude septic arthritis? Show explanation No. Crystal disease and bacterial arthritis can coexist. 2. What is the highest-value action in a purulent native knee? Show explanation Prompt diagnostic sampling and effective drainage, with timely active antibiotics. Antibiotics do not substitute for drainage. 3. Does every acute PJI qualify for DAIR? Show explanation No. Implant stability, symptom duration, sinus tract, soft tissue, pathogen, host factors, and ability to exchange modular parts all affect the likelihood of cure. 4. Is rifampin a general add-on for any staphylococcal bone infection? Show explanation No. Its strongest clinical role is susceptible staphylococcal infection with retained prosthetic material in combination with another active agent. Never use it alone. 5. Does osteomyelitis require six weeks of IV therapy? Show explanation No. Six weeks is a common maximum for adequately source-controlled osteomyelitis without retained implant, and validated oral regimens are reasonable in selected patients. Complete resection may need no osteomyelitis therapy at all. 6. Does exposed sacral bone prove osteomyelitis? Show explanation No. Chronic exposed bone can show remodeling without histologic osteomyelitis, and MRI can overcall infection in this setting. 7. What should an asymptomatic open sacral wound with suspected pelvic osteomyelitis receive if there is no debridement/flap plan? Show explanation No systemic antibiotics for the osteomyelitis label alone. Treat acute soft-tissue or systemic infections when present and focus on wound/pressure management. 8. When is chronic suppression most defensible? Show explanation When a defined infection source such as retained prosthetic hardware cannot be removed, a known pathogen has a tolerable active oral option, and preventing relapse or further surgery is a meaningful patient goal. 9. Should worsening vertebral MRI at week 6 automatically extend antibiotics? Show explanation No. If pain, examination, and inflammatory markers are improving, imaging can lag behind clinical cure. 10. What is the central documentation sentence? Show explanation State the infected structure, source control completed or impossible, microbiologic target, treatment intent, and what event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https://docarcshot.github.io/id-practice-update/lectures/Bone_and_Joint_Infections_Septic_Arthritis_PJI_Osteomyelitis.html#questions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reasoning 1. Do urate crystals exclude septic arthritis? Show explanation No. Crystal disease and bacterial arthritis can coexist. 2. What is the highest-value action in a purulent native knee? Show explanation Prompt diagnostic sampling and effective drainage, with timely active antibiotics. Antibiotics do not substitute for drainage. 3. Does every acute PJI qualify for DAIR? Show explanation No. Implant stability, symptom duration, sinus tract, soft tissue, pathogen, host factors, and ability to exchange modular parts all affect the likelihood of cure. 4. Is rifampin a general add-on for any staphylococcal bone infection? Show explanation No. Its strongest clinical role is susceptible staphylococcal infection with retained prosthetic material in combination with another active agent. Never use it alone. 5. Does osteomyelitis require six weeks of IV therapy? Show explanation No. Six weeks is a common maximum for adequately source-controlled osteomyelitis without retained implant, and validated oral regimens are reasonable in selected patients. Complete resection may need no osteomyelitis therapy at all. 6. Does exposed sacral bone prove osteomyelitis? Show explanation No. Chronic exposed bone can show remodeling without histologic osteomyelitis, and MRI can overcall infection in this setting. 7. What should an asymptomatic open sacral wound with suspected pelvic osteomyelitis receive if there is no debridement/flap plan? Show explanation No systemic antibiotics for the osteomyelitis label alone. Treat acute soft-tissue or systemic infections when present and focus on wound/pressure management. 8. When is chronic suppression most defensible? Show explanation When a defined infection source such as retained prosthetic hardware cannot be removed, a known pathogen has a tolerable active oral option, and preventing relapse or further surgery is a meaningful patient goal. 9. Should worsening vertebral MRI at week 6 automatically extend antibiotics? Show explanation No. If pain, examination, and inflammatory markers are improving, imaging can lag behind clinical cure. 10. What is the central documentation sentence? Show explanation State the infected structure, source control completed or impossible, microbiologic target, treatment intent, and what event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https://docarcshot.github.io/id-practice-update/lectures/Bone_and_Joint_Infections_Septic_Arthritis_PJI_Osteomyelitis.html#questions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reasoning 1. Do urate crystals exclude septic arthritis? Show explanation No. Crystal disease and bacterial arthritis can coexist. 2. What is the highest-value action in a purulent native knee? Show explanation Prompt diagnostic sampling and effective drainage, with timely active antibiotics. Antibiotics do not substitute for drainage. 3. Does every acute PJI qualify for DAIR? Show explanation No. Implant stability, symptom duration, sinus tract, soft tissue, pathogen, host factors, and ability to exchange modular parts all affect the likelihood of cure. 4. Is rifampin a general add-on for any staphylococcal bone infection? Show explanation No. Its strongest clinical role is susceptible staphylococcal infection with retained prosthetic material in combination with another active agent. Never use it alone. 5. Does osteomyelitis require six weeks of IV therapy? Show explanation No. Six weeks is a common maximum for adequately source-controlled osteomyelitis without retained implant, and validated oral regimens are reasonable in selected patients. Complete resection may need no osteomyelitis therapy at all. 6. Does exposed sacral bone prove osteomyelitis? Show explanation No. Chronic exposed bone can show remodeling without histologic osteomyelitis, and MRI can overcall infection in this setting. 7. What should an asymptomatic open sacral wound with suspected pelvic osteomyelitis receive if there is no debridement/flap plan? Show explanation No systemic antibiotics for the osteomyelitis label alone. Treat acute soft-tissue or systemic infections when present and focus on wound/pressure management. 8. When is chronic suppression most defensible? Show explanation When a defined infection source such as retained prosthetic hardware cannot be removed, a known pathogen has a tolerable active oral option, and preventing relapse or further surgery is a meaningful patient goal. 9. Should worsening vertebral MRI at week 6 automatically extend antibiotics? Show explanation No. If pain, examination, and inflammatory markers are improving, imaging can lag behind clinical cure. 10. What is the central documentation sentence? Show explanation State the infected structure, source control completed or impossible, microbiologic target, treatment intent, and what event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https://docarcshot.github.io/id-practice-update/lectures/Bone_and_Joint_Infections_Septic_Arthritis_PJI_Osteomyelitis.html#questions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reasoning 1. Do urate crystals exclude septic arthritis? Show explanation No. Crystal disease and bacterial arthritis can coexist. 2. What is the highest-value action in a purulent native knee? Show explanation Prompt diagnostic sampling and effective drainage, with timely active antibiotics. Antibiotics do not substitute for drainage. 3. Does every acute PJI qualify for DAIR? Show explanation No. Implant stability, symptom duration, sinus tract, soft tissue, pathogen, host factors, and ability to exchange modular parts all affect the likelihood of cure. 4. Is rifampin a general add-on for any staphylococcal bone infection? Show explanation No. Its strongest clinical role is susceptible staphylococcal infection with retained prosthetic material in combination with another active agent. Never use it alone. 5. Does osteomyelitis require six weeks of IV therapy? Show explanation No. Six weeks is a common maximum for adequately source-controlled osteomyelitis without retained implant, and validated oral regimens are reasonable in selected patients. Complete resection may need no osteomyelitis therapy at all. 6. Does exposed sacral bone prove osteomyelitis? Show explanation No. Chronic exposed bone can show remodeling without histologic osteomyelitis, and MRI can overcall infection in this setting. 7. What should an asymptomatic open sacral wound with suspected pelvic osteomyelitis receive if there is no debridement/flap plan? Show explanation No systemic antibiotics for the osteomyelitis label alone. Treat acute soft-tissue or systemic infections when present and focus on wound/pressure management. 8. When is chronic suppression most defensible? Show explanation When a defined infection source such as retained prosthetic hardware cannot be removed, a known pathogen has a tolerable active oral option, and preventing relapse or further surgery is a meaningful patient goal. 9. Should worsening vertebral MRI at week 6 automatically extend antibiotics? Show explanation No. If pain, examination, and inflammatory markers are improving, imaging can lag behind clinical cure. 10. What is the central documentation sentence? Show explanation State the infected structure, source control completed or impossible, microbiologic target, treatment intent, and what event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https://docarcshot.github.io/id-practice-update/lectures/Bone_and_Joint_Infections_Septic_Arthritis_PJI_Osteomyelitis.html#questions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reasoning 1. Do urate crystals exclude septic arthritis? Show explanation No. Crystal disease and bacterial arthritis can coexist. 2. What is the highest-value action in a purulent native knee? Show explanation Prompt diagnostic sampling and effective drainage, with timely active antibiotics. Antibiotics do not substitute for drainage. 3. Does every acute PJI qualify for DAIR? Show explanation No. Implant stability, symptom duration, sinus tract, soft tissue, pathogen, host factors, and ability to exchange modular parts all affect the likelihood of cure. 4. Is rifampin a general add-on for any staphylococcal bone infection? Show explanation No. Its strongest clinical role is susceptible staphylococcal infection with retained prosthetic material in combination with another active agent. Never use it alone. 5. Does osteomyelitis require six weeks of IV therapy? Show explanation No. Six weeks is a common maximum for adequately source-controlled osteomyelitis without retained implant, and validated oral regimens are reasonable in selected patients. Complete resection may need no osteomyelitis therapy at all. 6. Does exposed sacral bone prove osteomyelitis? Show explanation No. Chronic exposed bone can show remodeling without histologic osteomyelitis, and MRI can overcall infection in this setting. 7. What should an asymptomatic open sacral wound with suspected pelvic osteomyelitis receive if there is no debridement/flap plan? Show explanation No systemic antibiotics for the osteomyelitis label alone. Treat acute soft-tissue or systemic infections when present and focus on wound/pressure management. 8. When is chronic suppression most defensible? Show explanation When a defined infection source such as retained prosthetic hardware cannot be removed, a known pathogen has a tolerable active oral option, and preventing relapse or further surgery is a meaningful patient goal. 9. Should worsening vertebral MRI at week 6 automatically extend antibiotics? Show explanation No. If pain, examination, and inflammatory markers are improving, imaging can lag behind clinical cure. 10. What is the central documentation sentence? Show explanation State the infected structure, source control completed or impossible, microbiologic target, treatment intent, and what event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https://docarcshot.github.io/id-practice-update/lectures/Bone_and_Joint_Infections_Septic_Arthritis_PJI_Osteomyelitis.html#questions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reasoning 1. Do urate crystals exclude septic arthritis? Show explanation No. Crystal disease and bacterial arthritis can coexist. 2. What is the highest-value action in a purulent native knee? Show explanation Prompt diagnostic sampling and effective drainage, with timely active antibiotics. Antibiotics do not substitute for drainage. 3. Does every acute PJI qualify for DAIR? Show explanation No. Implant stability, symptom duration, sinus tract, soft tissue, pathogen, host factors, and ability to exchange modular parts all affect the likelihood of cure. 4. Is rifampin a general add-on for any staphylococcal bone infection? Show explanation No. Its strongest clinical role is susceptible staphylococcal infection with retained prosthetic material in combination with another active agent. Never use it alone. 5. Does osteomyelitis require six weeks of IV therapy? Show explanation No. Six weeks is a common maximum for adequately source-controlled osteomyelitis without retained implant, and validated oral regimens are reasonable in selected patients. Complete resection may need no osteomyelitis therapy at all. 6. Does exposed sacral bone prove osteomyelitis? Show explanation No. Chronic exposed bone can show remodeling without histologic osteomyelitis, and MRI can overcall infection in this setting. 7. What should an asymptomatic open sacral wound with suspected pelvic osteomyelitis receive if there is no debridement/flap plan? Show explanation No systemic antibiotics for the osteomyelitis label alone. Treat acute soft-tissue or systemic infections when present and focus on wound/pressure management. 8. When is chronic suppression most defensible? Show explanation When a defined infection source such as retained prosthetic hardware cannot be removed, a known pathogen has a tolerable active oral option, and preventing relapse or further surgery is a meaningful patient goal. 9. Should worsening vertebral MRI at week 6 automatically extend antibiotics? Show explanation No. If pain, examination, and inflammatory markers are improving, imaging can lag behind clinical cure. 10. What is the central documentation sentence? Show explanation State the infected structure, source control completed or impossible, microbiologic target, treatment intent, and what event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https://docarcshot.github.io/id-practice-update/lectures/Bone_and_Joint_Infections_Septic_Arthritis_PJI_Osteomyelitis.html#questions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reasoning 1. Do urate crystals exclude septic arthritis? Show explanation No. Crystal disease and bacterial arthritis can coexist. 2. What is the highest-value action in a purulent native knee? Show explanation Prompt diagnostic sampling and effective drainage, with timely active antibiotics. Antibiotics do not substitute for drainage. 3. Does every acute PJI qualify for DAIR? Show explanation No. Implant stability, symptom duration, sinus tract, soft tissue, pathogen, host factors, and ability to exchange modular parts all affect the likelihood of cure. 4. Is rifampin a general add-on for any staphylococcal bone infection? Show explanation No. Its strongest clinical role is susceptible staphylococcal infection with retained prosthetic material in combination with another active agent. Never use it alone. 5. Does osteomyelitis require six weeks of IV therapy? Show explanation No. Six weeks is a common maximum for adequately source-controlled osteomyelitis without retained implant, and validated oral regimens are reasonable in selected patients. Complete resection may need no osteomyelitis therapy at all. 6. Does exposed sacral bone prove osteomyelitis? Show explanation No. Chronic exposed bone can show remodeling without histologic osteomyelitis, and MRI can overcall infection in this setting. 7. What should an asymptomatic open sacral wound with suspected pelvic osteomyelitis receive if there is no debridement/flap plan? Show explanation No systemic antibiotics for the osteomyelitis label alone. Treat acute soft-tissue or systemic infections when present and focus on wound/pressure management. 8. When is chronic suppression most defensible? Show explanation When a defined infection source such as retained prosthetic hardware cannot be removed, a known pathogen has a tolerable active oral option, and preventing relapse or further surgery is a meaningful patient goal. 9. Should worsening vertebral MRI at week 6 automatically extend antibiotics? Show explanation No. If pain, examination, and inflammatory markers are improving, imaging can lag behind clinical cure. 10. What is the central documentation sentence? Show explanation State the infected structure, source control completed or impossible, microbiologic target, treatment intent, and what event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https://docarcshot.github.io/id-practice-update/lectures/Bone_and_Joint_Infections_Septic_Arthritis_PJI_Osteomyelitis.html#questions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reasoning 1. Do urate crystals exclude septic arthritis? Show explanation No. Crystal disease and bacterial arthritis can coexist. 2. What is the highest-value action in a purulent native knee? Show explanation Prompt diagnostic sampling and effective drainage, with timely active antibiotics. Antibiotics do not substitute for drainage. 3. Does every acute PJI qualify for DAIR? Show explanation No. Implant stability, symptom duration, sinus tract, soft tissue, pathogen, host factors, and ability to exchange modular parts all affect the likelihood of cure. 4. Is rifampin a general add-on for any staphylococcal bone infection? Show explanation No. Its strongest clinical role is susceptible staphylococcal infection with retained prosthetic material in combination with another active agent. Never use it alone. 5. Does osteomyelitis require six weeks of IV therapy? Show explanation No. Six weeks is a common maximum for adequately source-controlled osteomyelitis without retained implant, and validated oral regimens are reasonable in selected patients. Complete resection may need no osteomyelitis therapy at all. 6. Does exposed sacral bone prove osteomyelitis? Show explanation No. Chronic exposed bone can show remodeling without histologic osteomyelitis, and MRI can overcall infection in this setting. 7. What should an asymptomatic open sacral wound with suspected pelvic osteomyelitis receive if there is no debridement/flap plan? Show explanation No systemic antibiotics for the osteomyelitis label alone. Treat acute soft-tissue or systemic infections when present and focus on wound/pressure management. 8. When is chronic suppression most defensible? Show explanation When a defined infection source such as retained prosthetic hardware cannot be removed, a known pathogen has a tolerable active oral option, and preventing relapse or further surgery is a meaningful patient goal. 9. Should worsening vertebral MRI at week 6 automatically extend antibiotics? Show explanation No. If pain, examination, and inflammatory markers are improving, imaging can lag behind clinical cure. 10. What is the central documentation sentence? Show explanation State the infected structure, source control completed or impossible, microbiologic target, treatment intent, and what event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https://docarcshot.github.io/id-practice-update/lectures/Bone_and_Joint_Infections_Septic_Arthritis_PJI_Osteomyelitis.html#questions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reasoning 1. Do urate crystals exclude septic arthritis? Show explanation No. Crystal disease and bacterial arthritis can coexist. 2. What is the highest-value action in a purulent native knee? Show explanation Prompt diagnostic sampling and effective drainage, with timely active antibiotics. Antibiotics do not substitute for drainage. 3. Does every acute PJI qualify for DAIR? Show explanation No. Implant stability, symptom duration, sinus tract, soft tissue, pathogen, host factors, and ability to exchange modular parts all affect the likelihood of cure. 4. Is rifampin a general add-on for any staphylococcal bone infection? Show explanation No. Its strongest clinical role is susceptible staphylococcal infection with retained prosthetic material in combination with another active agent. Never use it alone. 5. Does osteomyelitis require six weeks of IV therapy? Show explanation No. Six weeks is a common maximum for adequately source-controlled osteomyelitis without retained implant, and validated oral regimens are reasonable in selected patients. Complete resection may need no osteomyelitis therapy at all. 6. Does exposed sacral bone prove osteomyelitis? Show explanation No. Chronic exposed bone can show remodeling without histologic osteomyelitis, and MRI can overcall infection in this setting. 7. What should an asymptomatic open sacral wound with suspected pelvic osteomyelitis receive if there is no debridement/flap plan? Show explanation No systemic antibiotics for the osteomyelitis label alone. Treat acute soft-tissue or systemic infections when present and focus on wound/pressure management. 8. When is chronic suppression most defensible? Show explanation When a defined infection source such as retained prosthetic hardware cannot be removed, a known pathogen has a tolerable active oral option, and preventing relapse or further surgery is a meaningful patient goal. 9. Should worsening vertebral MRI at week 6 automatically extend antibiotics? Show explanation No. If pain, examination, and inflammatory markers are improving, imaging can lag behind clinical cure. 10. What is the central documentation sentence? Show explanation State the infected structure, source control completed or impossible, microbiologic target, treatment intent, and what event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https://docarcshot.github.io/id-practice-update/lectures/Bone_and_Joint_Infections_Septic_Arthritis_PJI_Osteomyelitis.html#questions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reasoning 1. Do urate crystals exclude septic arthritis? Show explanation No. Crystal disease and bacterial arthritis can coexist. 2. What is the highest-value action in a purulent native knee? Show explanation Prompt diagnostic sampling and effective drainage, with timely active antibiotics. Antibiotics do not substitute for drainage. 3. Does every acute PJI qualify for DAIR? Show explanation No. Implant stability, symptom duration, sinus tract, soft tissue, pathogen, host factors, and ability to exchange modular parts all affect the likelihood of cure. 4. Is rifampin a general add-on for any staphylococcal bone infection? Show explanation No. Its strongest clinical role is susceptible staphylococcal infection with retained prosthetic material in combination with another active agent. Never use it alone. 5. Does osteomyelitis require six weeks of IV therapy? Show explanation No. Six weeks is a common maximum for adequately source-controlled osteomyelitis without retained implant, and validated oral regimens are reasonable in selected patients. Complete resection may need no osteomyelitis therapy at all. 6. Does exposed sacral bone prove osteomyelitis? Show explanation No. Chronic exposed bone can show remodeling without histologic osteomyelitis, and MRI can overcall infection in this setting. 7. What should an asymptomatic open sacral wound with suspected pelvic osteomyelitis receive if there is no debridement/flap plan? Show explanation No systemic antibiotics for the osteomyelitis label alone. Treat acute soft-tissue or systemic infections when present and focus on wound/pressure management. 8. When is chronic suppression most defensible? Show explanation When a defined infection source such as retained prosthetic hardware cannot be removed, a known pathogen has a tolerable active oral option, and preventing relapse or further surgery is a meaningful patient goal. 9. Should worsening vertebral MRI at week 6 automatically extend antibiotics? Show explanation No. If pain, examination, and inflammatory markers are improving, imaging can lag behind clinical cure. 10. What is the central documentation sentence? Show explanation State the infected structure, source control completed or impossible, microbiologic target, treatment intent, and what event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https://docarcshot.github.io/id-practice-update/lectures/Bone_and_Joint_Infections_Septic_Arthritis_PJI_Osteomyelitis.html#questions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reasoning 1. Do urate crystals exclude septic arthritis? Show explanation No. Crystal disease and bacterial arthritis can coexist. 2. What is the highest-value action in a purulent native knee? Show explanation Prompt diagnostic sampling and effective drainage, with timely active antibiotics. Antibiotics do not substitute for drainage. 3. Does every acute PJI qualify for DAIR? Show explanation No. Implant stability, symptom duration, sinus tract, soft tissue, pathogen, host factors, and ability to exchange modular parts all affect the likelihood of cure. 4. Is rifampin a general add-on for any staphylococcal bone infection? Show explanation No. Its strongest clinical role is susceptible staphylococcal infection with retained prosthetic material in combination with another active agent. Never use it alone. 5. Does osteomyelitis require six weeks of IV therapy? Show explanation No. Six weeks is a common maximum for adequately source-controlled osteomyelitis without retained implant, and validated oral regimens are reasonable in selected patients. Complete resection may need no osteomyelitis therapy at all. 6. Does exposed sacral bone prove osteomyelitis? Show explanation No. Chronic exposed bone can show remodeling without histologic osteomyelitis, and MRI can overcall infection in this setting. 7. What should an asymptomatic open sacral wound with suspected pelvic osteomyelitis receive if there is no debridement/flap plan? Show explanation No systemic antibiotics for the osteomyelitis label alone. Treat acute soft-tissue or systemic infections when present and focus on wound/pressure management. 8. When is chronic suppression most defensible? Show explanation When a defined infection source such as retained prosthetic hardware cannot be removed, a known pathogen has a tolerable active oral option, and preventing relapse or further surgery is a meaningful patient goal. 9. Should worsening vertebral MRI at week 6 automatically extend antibiotics? Show explanation No. If pain, examination, and inflammatory markers are improving, imaging can lag behind clinical cure. 10. What is the central documentation sentence? Show explanation State the infected structure, source control completed or impossible, microbiologic target, treatment intent, and what event determines duration.</a:t>
            </a:r>
          </a:p>
          <a:p xmlns:a="http://schemas.openxmlformats.org/drawingml/2006/main">
            <a:r>
              <a:t/>
            </a:r>
          </a:p>
          <a:p xmlns:a="http://schemas.openxmlformats.org/drawingml/2006/main">
            <a:r>
              <a:t>Module section: https://docarcshot.github.io/id-practice-update/lectures/Bone_and_Joint_Infections_Septic_Arthritis_PJI_Osteomyelitis.html#questions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 good consult plan makes the source-control logic visible Suggested documentation [Native joint / prosthetic joint / bone / vertebral / pressure-injury pelvic infection] involving [site]. Tempo is [acute/subacute/chronic], but duration will be determined by [source-control strategy and retained material], not tempo alone. Diagnostic evidence: [blood / synovial / deep tissue / bone cultures, histology, imaging]. The microbiologic target is [organism], with [important susceptibility/biofilm issue]. Avoid relying on [surface wound/sinus culture] for definitive therapy. Source control: [aspiration/lavage/debridement/DAIR with modular exchange/one-stage/two-stage/resection/flap/drainage] is [completed/planned/not feasible]. Residual infected material is [none / prosthesis / fixation hardware / necrotic bone / open wound]. Antibiotics: [drug, dose/route] because [pathogen/site/exposure]. Oral transition is appropriate when [criteria]. Planned curative duration is [duration] from [debridement/source control/effective therapy as appropriate]. If suppression is planned, document that intent explicitly as noncurative and define the goal, monitoring, and reassessment plan. Non-ID plan: [orthopedics/spine/plastics/wound care/podiatry/vascular], [pressure offloading or weight-bearing plan], [wound/flap plan], [nutrition/perfusion/glycemic/rehab issues]. Reassess on [date/event] for [clinical response, cultures, wound status, hardware stability, toxicity, need for further source control].</a:t>
            </a:r>
          </a:p>
          <a:p xmlns:a="http://schemas.openxmlformats.org/drawingml/2006/main">
            <a:r>
              <a:t/>
            </a:r>
          </a:p>
          <a:p xmlns:a="http://schemas.openxmlformats.org/drawingml/2006/main">
            <a:r>
              <a:t>Module section: https://docarcshot.github.io/id-practice-update/lectures/Bone_and_Joint_Infections_Septic_Arthritis_PJI_Osteomyelitis.html#handoff</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 good consult plan makes the source-control logic visible Suggested documentation [Native joint / prosthetic joint / bone / vertebral / pressure-injury pelvic infection] involving [site]. Tempo is [acute/subacute/chronic], but duration will be determined by [source-control strategy and retained material], not tempo alone. Diagnostic evidence: [blood / synovial / deep tissue / bone cultures, histology, imaging]. The microbiologic target is [organism], with [important susceptibility/biofilm issue]. Avoid relying on [surface wound/sinus culture] for definitive therapy. Source control: [aspiration/lavage/debridement/DAIR with modular exchange/one-stage/two-stage/resection/flap/drainage] is [completed/planned/not feasible]. Residual infected material is [none / prosthesis / fixation hardware / necrotic bone / open wound]. Antibiotics: [drug, dose/route] because [pathogen/site/exposure]. Oral transition is appropriate when [criteria]. Planned curative duration is [duration] from [debridement/source control/effective therapy as appropriate]. If suppression is planned, document that intent explicitly as noncurative and define the goal, monitoring, and reassessment plan. Non-ID plan: [orthopedics/spine/plastics/wound care/podiatry/vascular], [pressure offloading or weight-bearing plan], [wound/flap plan], [nutrition/perfusion/glycemic/rehab issues]. Reassess on [date/event] for [clinical response, cultures, wound status, hardware stability, toxicity, need for further source control].</a:t>
            </a:r>
          </a:p>
          <a:p xmlns:a="http://schemas.openxmlformats.org/drawingml/2006/main">
            <a:r>
              <a:t/>
            </a:r>
          </a:p>
          <a:p xmlns:a="http://schemas.openxmlformats.org/drawingml/2006/main">
            <a:r>
              <a:t>Module section: https://docarcshot.github.io/id-practice-update/lectures/Bone_and_Joint_Infections_Septic_Arthritis_PJI_Osteomyelitis.html#handoff</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 good consult plan makes the source-control logic visible Suggested documentation [Native joint / prosthetic joint / bone / vertebral / pressure-injury pelvic infection] involving [site]. Tempo is [acute/subacute/chronic], but duration will be determined by [source-control strategy and retained material], not tempo alone. Diagnostic evidence: [blood / synovial / deep tissue / bone cultures, histology, imaging]. The microbiologic target is [organism], with [important susceptibility/biofilm issue]. Avoid relying on [surface wound/sinus culture] for definitive therapy. Source control: [aspiration/lavage/debridement/DAIR with modular exchange/one-stage/two-stage/resection/flap/drainage] is [completed/planned/not feasible]. Residual infected material is [none / prosthesis / fixation hardware / necrotic bone / open wound]. Antibiotics: [drug, dose/route] because [pathogen/site/exposure]. Oral transition is appropriate when [criteria]. Planned curative duration is [duration] from [debridement/source control/effective therapy as appropriate]. If suppression is planned, document that intent explicitly as noncurative and define the goal, monitoring, and reassessment plan. Non-ID plan: [orthopedics/spine/plastics/wound care/podiatry/vascular], [pressure offloading or weight-bearing plan], [wound/flap plan], [nutrition/perfusion/glycemic/rehab issues]. Reassess on [date/event] for [clinical response, cultures, wound status, hardware stability, toxicity, need for further source control].</a:t>
            </a:r>
          </a:p>
          <a:p xmlns:a="http://schemas.openxmlformats.org/drawingml/2006/main">
            <a:r>
              <a:t/>
            </a:r>
          </a:p>
          <a:p xmlns:a="http://schemas.openxmlformats.org/drawingml/2006/main">
            <a:r>
              <a:t>Module section: https://docarcshot.github.io/id-practice-update/lectures/Bone_and_Joint_Infections_Septic_Arthritis_PJI_Osteomyelitis.html#handoff</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Accessed September 20, 2026. Older IDSA documents are included where they remain common US reference points, but the module identifies when newer evidence, current guidance, or local practice differs. Guideline Ravn et al. Guideline for management of septic arthritis in native joints (SANJO). J Bone Joint Infect. 2023;8:29–37. Randomized trial Gjika et al. Two weeks versus four weeks after surgical drainage for native joint bacterial arthritis. Ann Rheum Dis. 2019;78:1114–1121. Guideline CDC. Gonococcal infections among adolescents and adults. Archived guideline Osmon et al. IDSA Diagnosis and Management of Prosthetic Joint Infection. Clin Infect Dis. 2013;56:e1–e25. Contemporary review Nelson et al. Periprosthetic Joint Infection: Current Clinical Challenges. Clin Infect Dis. 2023;77:939–946. Randomized trial Bernard et al. Antibiotic Therapy for 6 or 12 Weeks for Prosthetic Joint Infection. N Engl J Med. 2021;384:1991–2001. Systematic review + consensus Hanssen et al. Suppressive Antimicrobial Therapy for Prosthetic Joint Infections. Clin Infect Dis. Published April 13, 2026. Randomized trial Li et al. Oral versus Intravenous Antibiotics for Bone and Joint Infection (OVIVA). N Engl J Med. 2019;380:425–436. Randomized trial McNally et al. Short or Long Antibiotic Regimens in Orthopedics (SOLARIO). N Engl J Med. Published September 16, 2026. Systematic review + consensus Spellberg et al. WikiGuidelines consensus statement for pyogenic osteomyelitis in adults. JAMA Netw Open. 2022;5:e2211321. Guideline Berbari et al. IDSA Native Vertebral Osteomyelitis guideline. 2015. Guideline IWGDF/IDSA Guidelines on Diabetes-Related Foot Infections. 2023. Systematic review Wong, Holtom, Spellberg. Osteomyelitis Complicating Sacral Pressure Ulcers. Clin Infect Dis. 2019;68:338–342. State-of-the-art review El Zein et al. Evaluation and Management of Pelvic Osteomyelitis in Stage IV Pressure Injuries. Clin Infect Dis. 2024;79:e11–e26. Systematic review van der Naald et al. Brodie's Abscess: A Systematic Review. J Bone Jt Infect. 2019;4:33–39.</a:t>
            </a:r>
          </a:p>
          <a:p xmlns:a="http://schemas.openxmlformats.org/drawingml/2006/main">
            <a:r>
              <a:t/>
            </a:r>
          </a:p>
          <a:p xmlns:a="http://schemas.openxmlformats.org/drawingml/2006/main">
            <a:r>
              <a:t>Module section: https://docarcshot.github.io/id-practice-update/lectures/Bone_and_Joint_Infections_Septic_Arthritis_PJI_Osteomyelitis.html#references</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Accessed September 20, 2026. Older IDSA documents are included where they remain common US reference points, but the module identifies when newer evidence, current guidance, or local practice differs. Guideline Ravn et al. Guideline for management of septic arthritis in native joints (SANJO). J Bone Joint Infect. 2023;8:29–37. Randomized trial Gjika et al. Two weeks versus four weeks after surgical drainage for native joint bacterial arthritis. Ann Rheum Dis. 2019;78:1114–1121. Guideline CDC. Gonococcal infections among adolescents and adults. Archived guideline Osmon et al. IDSA Diagnosis and Management of Prosthetic Joint Infection. Clin Infect Dis. 2013;56:e1–e25. Contemporary review Nelson et al. Periprosthetic Joint Infection: Current Clinical Challenges. Clin Infect Dis. 2023;77:939–946. Randomized trial Bernard et al. Antibiotic Therapy for 6 or 12 Weeks for Prosthetic Joint Infection. N Engl J Med. 2021;384:1991–2001. Systematic review + consensus Hanssen et al. Suppressive Antimicrobial Therapy for Prosthetic Joint Infections. Clin Infect Dis. Published April 13, 2026. Randomized trial Li et al. Oral versus Intravenous Antibiotics for Bone and Joint Infection (OVIVA). N Engl J Med. 2019;380:425–436. Randomized trial McNally et al. Short or Long Antibiotic Regimens in Orthopedics (SOLARIO). N Engl J Med. Published September 16, 2026. Systematic review + consensus Spellberg et al. WikiGuidelines consensus statement for pyogenic osteomyelitis in adults. JAMA Netw Open. 2022;5:e2211321. Guideline Berbari et al. IDSA Native Vertebral Osteomyelitis guideline. 2015. Guideline IWGDF/IDSA Guidelines on Diabetes-Related Foot Infections. 2023. Systematic review Wong, Holtom, Spellberg. Osteomyelitis Complicating Sacral Pressure Ulcers. Clin Infect Dis. 2019;68:338–342. State-of-the-art review El Zein et al. Evaluation and Management of Pelvic Osteomyelitis in Stage IV Pressure Injuries. Clin Infect Dis. 2024;79:e11–e26. Systematic review van der Naald et al. Brodie's Abscess: A Systematic Review. J Bone Jt Infect. 2019;4:33–39.</a:t>
            </a:r>
          </a:p>
          <a:p xmlns:a="http://schemas.openxmlformats.org/drawingml/2006/main">
            <a:r>
              <a:t/>
            </a:r>
          </a:p>
          <a:p xmlns:a="http://schemas.openxmlformats.org/drawingml/2006/main">
            <a:r>
              <a:t>Module section: https://docarcshot.github.io/id-practice-update/lectures/Bone_and_Joint_Infections_Septic_Arthritis_PJI_Osteomyelitis.html#ref-sanjo</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Accessed September 20, 2026. Older IDSA documents are included where they remain common US reference points, but the module identifies when newer evidence, current guidance, or local practice differs. Guideline Ravn et al. Guideline for management of septic arthritis in native joints (SANJO). J Bone Joint Infect. 2023;8:29–37. Randomized trial Gjika et al. Two weeks versus four weeks after surgical drainage for native joint bacterial arthritis. Ann Rheum Dis. 2019;78:1114–1121. Guideline CDC. Gonococcal infections among adolescents and adults. Archived guideline Osmon et al. IDSA Diagnosis and Management of Prosthetic Joint Infection. Clin Infect Dis. 2013;56:e1–e25. Contemporary review Nelson et al. Periprosthetic Joint Infection: Current Clinical Challenges. Clin Infect Dis. 2023;77:939–946. Randomized trial Bernard et al. Antibiotic Therapy for 6 or 12 Weeks for Prosthetic Joint Infection. N Engl J Med. 2021;384:1991–2001. Systematic review + consensus Hanssen et al. Suppressive Antimicrobial Therapy for Prosthetic Joint Infections. Clin Infect Dis. Published April 13, 2026. Randomized trial Li et al. Oral versus Intravenous Antibiotics for Bone and Joint Infection (OVIVA). N Engl J Med. 2019;380:425–436. Randomized trial McNally et al. Short or Long Antibiotic Regimens in Orthopedics (SOLARIO). N Engl J Med. Published September 16, 2026. Systematic review + consensus Spellberg et al. WikiGuidelines consensus statement for pyogenic osteomyelitis in adults. JAMA Netw Open. 2022;5:e2211321. Guideline Berbari et al. IDSA Native Vertebral Osteomyelitis guideline. 2015. Guideline IWGDF/IDSA Guidelines on Diabetes-Related Foot Infections. 2023. Systematic review Wong, Holtom, Spellberg. Osteomyelitis Complicating Sacral Pressure Ulcers. Clin Infect Dis. 2019;68:338–342. State-of-the-art review El Zein et al. Evaluation and Management of Pelvic Osteomyelitis in Stage IV Pressure Injuries. Clin Infect Dis. 2024;79:e11–e26. Systematic review van der Naald et al. Brodie's Abscess: A Systematic Review. J Bone Jt Infect. 2019;4:33–39.</a:t>
            </a:r>
          </a:p>
          <a:p xmlns:a="http://schemas.openxmlformats.org/drawingml/2006/main">
            <a:r>
              <a:t/>
            </a:r>
          </a:p>
          <a:p xmlns:a="http://schemas.openxmlformats.org/drawingml/2006/main">
            <a:r>
              <a:t>Module section: https://docarcshot.github.io/id-practice-update/lectures/Bone_and_Joint_Infections_Septic_Arthritis_PJI_Osteomyelitis.html#ref-2v4</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Accessed September 20, 2026. Older IDSA documents are included where they remain common US reference points, but the module identifies when newer evidence, current guidance, or local practice differs. Guideline Ravn et al. Guideline for management of septic arthritis in native joints (SANJO). J Bone Joint Infect. 2023;8:29–37. Randomized trial Gjika et al. Two weeks versus four weeks after surgical drainage for native joint bacterial arthritis. Ann Rheum Dis. 2019;78:1114–1121. Guideline CDC. Gonococcal infections among adolescents and adults. Archived guideline Osmon et al. IDSA Diagnosis and Management of Prosthetic Joint Infection. Clin Infect Dis. 2013;56:e1–e25. Contemporary review Nelson et al. Periprosthetic Joint Infection: Current Clinical Challenges. Clin Infect Dis. 2023;77:939–946. Randomized trial Bernard et al. Antibiotic Therapy for 6 or 12 Weeks for Prosthetic Joint Infection. N Engl J Med. 2021;384:1991–2001. Systematic review + consensus Hanssen et al. Suppressive Antimicrobial Therapy for Prosthetic Joint Infections. Clin Infect Dis. Published April 13, 2026. Randomized trial Li et al. Oral versus Intravenous Antibiotics for Bone and Joint Infection (OVIVA). N Engl J Med. 2019;380:425–436. Randomized trial McNally et al. Short or Long Antibiotic Regimens in Orthopedics (SOLARIO). N Engl J Med. Published September 16, 2026. Systematic review + consensus Spellberg et al. WikiGuidelines consensus statement for pyogenic osteomyelitis in adults. JAMA Netw Open. 2022;5:e2211321. Guideline Berbari et al. IDSA Native Vertebral Osteomyelitis guideline. 2015. Guideline IWGDF/IDSA Guidelines on Diabetes-Related Foot Infections. 2023. Systematic review Wong, Holtom, Spellberg. Osteomyelitis Complicating Sacral Pressure Ulcers. Clin Infect Dis. 2019;68:338–342. State-of-the-art review El Zein et al. Evaluation and Management of Pelvic Osteomyelitis in Stage IV Pressure Injuries. Clin Infect Dis. 2024;79:e11–e26. Systematic review van der Naald et al. Brodie's Abscess: A Systematic Review. J Bone Jt Infect. 2019;4:33–39.</a:t>
            </a:r>
          </a:p>
          <a:p xmlns:a="http://schemas.openxmlformats.org/drawingml/2006/main">
            <a:r>
              <a:t/>
            </a:r>
          </a:p>
          <a:p xmlns:a="http://schemas.openxmlformats.org/drawingml/2006/main">
            <a:r>
              <a:t>Module section: https://docarcshot.github.io/id-practice-update/lectures/Bone_and_Joint_Infections_Septic_Arthritis_PJI_Osteomyelitis.html#ref-cdcgono</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Accessed September 20, 2026. Older IDSA documents are included where they remain common US reference points, but the module identifies when newer evidence, current guidance, or local practice differs. Guideline Ravn et al. Guideline for management of septic arthritis in native joints (SANJO). J Bone Joint Infect. 2023;8:29–37. Randomized trial Gjika et al. Two weeks versus four weeks after surgical drainage for native joint bacterial arthritis. Ann Rheum Dis. 2019;78:1114–1121. Guideline CDC. Gonococcal infections among adolescents and adults. Archived guideline Osmon et al. IDSA Diagnosis and Management of Prosthetic Joint Infection. Clin Infect Dis. 2013;56:e1–e25. Contemporary review Nelson et al. Periprosthetic Joint Infection: Current Clinical Challenges. Clin Infect Dis. 2023;77:939–946. Randomized trial Bernard et al. Antibiotic Therapy for 6 or 12 Weeks for Prosthetic Joint Infection. N Engl J Med. 2021;384:1991–2001. Systematic review + consensus Hanssen et al. Suppressive Antimicrobial Therapy for Prosthetic Joint Infections. Clin Infect Dis. Published April 13, 2026. Randomized trial Li et al. Oral versus Intravenous Antibiotics for Bone and Joint Infection (OVIVA). N Engl J Med. 2019;380:425–436. Randomized trial McNally et al. Short or Long Antibiotic Regimens in Orthopedics (SOLARIO). N Engl J Med. Published September 16, 2026. Systematic review + consensus Spellberg et al. WikiGuidelines consensus statement for pyogenic osteomyelitis in adults. JAMA Netw Open. 2022;5:e2211321. Guideline Berbari et al. IDSA Native Vertebral Osteomyelitis guideline. 2015. Guideline IWGDF/IDSA Guidelines on Diabetes-Related Foot Infections. 2023. Systematic review Wong, Holtom, Spellberg. Osteomyelitis Complicating Sacral Pressure Ulcers. Clin Infect Dis. 2019;68:338–342. State-of-the-art review El Zein et al. Evaluation and Management of Pelvic Osteomyelitis in Stage IV Pressure Injuries. Clin Infect Dis. 2024;79:e11–e26. Systematic review van der Naald et al. Brodie's Abscess: A Systematic Review. J Bone Jt Infect. 2019;4:33–39.</a:t>
            </a:r>
          </a:p>
          <a:p xmlns:a="http://schemas.openxmlformats.org/drawingml/2006/main">
            <a:r>
              <a:t/>
            </a:r>
          </a:p>
          <a:p xmlns:a="http://schemas.openxmlformats.org/drawingml/2006/main">
            <a:r>
              <a:t>Module section: https://docarcshot.github.io/id-practice-update/lectures/Bone_and_Joint_Infections_Septic_Arthritis_PJI_Osteomyelitis.html#ref-pji2013</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Accessed September 20, 2026. Older IDSA documents are included where they remain common US reference points, but the module identifies when newer evidence, current guidance, or local practice differs. Guideline Ravn et al. Guideline for management of septic arthritis in native joints (SANJO). J Bone Joint Infect. 2023;8:29–37. Randomized trial Gjika et al. Two weeks versus four weeks after surgical drainage for native joint bacterial arthritis. Ann Rheum Dis. 2019;78:1114–1121. Guideline CDC. Gonococcal infections among adolescents and adults. Archived guideline Osmon et al. IDSA Diagnosis and Management of Prosthetic Joint Infection. Clin Infect Dis. 2013;56:e1–e25. Contemporary review Nelson et al. Periprosthetic Joint Infection: Current Clinical Challenges. Clin Infect Dis. 2023;77:939–946. Randomized trial Bernard et al. Antibiotic Therapy for 6 or 12 Weeks for Prosthetic Joint Infection. N Engl J Med. 2021;384:1991–2001. Systematic review + consensus Hanssen et al. Suppressive Antimicrobial Therapy for Prosthetic Joint Infections. Clin Infect Dis. Published April 13, 2026. Randomized trial Li et al. Oral versus Intravenous Antibiotics for Bone and Joint Infection (OVIVA). N Engl J Med. 2019;380:425–436. Randomized trial McNally et al. Short or Long Antibiotic Regimens in Orthopedics (SOLARIO). N Engl J Med. Published September 16, 2026. Systematic review + consensus Spellberg et al. WikiGuidelines consensus statement for pyogenic osteomyelitis in adults. JAMA Netw Open. 2022;5:e2211321. Guideline Berbari et al. IDSA Native Vertebral Osteomyelitis guideline. 2015. Guideline IWGDF/IDSA Guidelines on Diabetes-Related Foot Infections. 2023. Systematic review Wong, Holtom, Spellberg. Osteomyelitis Complicating Sacral Pressure Ulcers. Clin Infect Dis. 2019;68:338–342. State-of-the-art review El Zein et al. Evaluation and Management of Pelvic Osteomyelitis in Stage IV Pressure Injuries. Clin Infect Dis. 2024;79:e11–e26. Systematic review van der Naald et al. Brodie's Abscess: A Systematic Review. J Bone Jt Infect. 2019;4:33–39.</a:t>
            </a:r>
          </a:p>
          <a:p xmlns:a="http://schemas.openxmlformats.org/drawingml/2006/main">
            <a:r>
              <a:t/>
            </a:r>
          </a:p>
          <a:p xmlns:a="http://schemas.openxmlformats.org/drawingml/2006/main">
            <a:r>
              <a:t>Module section: https://docarcshot.github.io/id-practice-update/lectures/Bone_and_Joint_Infections_Septic_Arthritis_PJI_Osteomyelitis.html#ref-pjireview</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Accessed September 20, 2026. Older IDSA documents are included where they remain common US reference points, but the module identifies when newer evidence, current guidance, or local practice differs. Guideline Ravn et al. Guideline for management of septic arthritis in native joints (SANJO). J Bone Joint Infect. 2023;8:29–37. Randomized trial Gjika et al. Two weeks versus four weeks after surgical drainage for native joint bacterial arthritis. Ann Rheum Dis. 2019;78:1114–1121. Guideline CDC. Gonococcal infections among adolescents and adults. Archived guideline Osmon et al. IDSA Diagnosis and Management of Prosthetic Joint Infection. Clin Infect Dis. 2013;56:e1–e25. Contemporary review Nelson et al. Periprosthetic Joint Infection: Current Clinical Challenges. Clin Infect Dis. 2023;77:939–946. Randomized trial Bernard et al. Antibiotic Therapy for 6 or 12 Weeks for Prosthetic Joint Infection. N Engl J Med. 2021;384:1991–2001. Systematic review + consensus Hanssen et al. Suppressive Antimicrobial Therapy for Prosthetic Joint Infections. Clin Infect Dis. Published April 13, 2026. Randomized trial Li et al. Oral versus Intravenous Antibiotics for Bone and Joint Infection (OVIVA). N Engl J Med. 2019;380:425–436. Randomized trial McNally et al. Short or Long Antibiotic Regimens in Orthopedics (SOLARIO). N Engl J Med. Published September 16, 2026. Systematic review + consensus Spellberg et al. WikiGuidelines consensus statement for pyogenic osteomyelitis in adults. JAMA Netw Open. 2022;5:e2211321. Guideline Berbari et al. IDSA Native Vertebral Osteomyelitis guideline. 2015. Guideline IWGDF/IDSA Guidelines on Diabetes-Related Foot Infections. 2023. Systematic review Wong, Holtom, Spellberg. Osteomyelitis Complicating Sacral Pressure Ulcers. Clin Infect Dis. 2019;68:338–342. State-of-the-art review El Zein et al. Evaluation and Management of Pelvic Osteomyelitis in Stage IV Pressure Injuries. Clin Infect Dis. 2024;79:e11–e26. Systematic review van der Naald et al. Brodie's Abscess: A Systematic Review. J Bone Jt Infect. 2019;4:33–39.</a:t>
            </a:r>
          </a:p>
          <a:p xmlns:a="http://schemas.openxmlformats.org/drawingml/2006/main">
            <a:r>
              <a:t/>
            </a:r>
          </a:p>
          <a:p xmlns:a="http://schemas.openxmlformats.org/drawingml/2006/main">
            <a:r>
              <a:t>Module section: https://docarcshot.github.io/id-practice-update/lectures/Bone_and_Joint_Infections_Septic_Arthritis_PJI_Osteomyelitis.html#ref-datipo</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Accessed September 20, 2026. Older IDSA documents are included where they remain common US reference points, but the module identifies when newer evidence, current guidance, or local practice differs. Guideline Ravn et al. Guideline for management of septic arthritis in native joints (SANJO). J Bone Joint Infect. 2023;8:29–37. Randomized trial Gjika et al. Two weeks versus four weeks after surgical drainage for native joint bacterial arthritis. Ann Rheum Dis. 2019;78:1114–1121. Guideline CDC. Gonococcal infections among adolescents and adults. Archived guideline Osmon et al. IDSA Diagnosis and Management of Prosthetic Joint Infection. Clin Infect Dis. 2013;56:e1–e25. Contemporary review Nelson et al. Periprosthetic Joint Infection: Current Clinical Challenges. Clin Infect Dis. 2023;77:939–946. Randomized trial Bernard et al. Antibiotic Therapy for 6 or 12 Weeks for Prosthetic Joint Infection. N Engl J Med. 2021;384:1991–2001. Systematic review + consensus Hanssen et al. Suppressive Antimicrobial Therapy for Prosthetic Joint Infections. Clin Infect Dis. Published April 13, 2026. Randomized trial Li et al. Oral versus Intravenous Antibiotics for Bone and Joint Infection (OVIVA). N Engl J Med. 2019;380:425–436. Randomized trial McNally et al. Short or Long Antibiotic Regimens in Orthopedics (SOLARIO). N Engl J Med. Published September 16, 2026. Systematic review + consensus Spellberg et al. WikiGuidelines consensus statement for pyogenic osteomyelitis in adults. JAMA Netw Open. 2022;5:e2211321. Guideline Berbari et al. IDSA Native Vertebral Osteomyelitis guideline. 2015. Guideline IWGDF/IDSA Guidelines on Diabetes-Related Foot Infections. 2023. Systematic review Wong, Holtom, Spellberg. Osteomyelitis Complicating Sacral Pressure Ulcers. Clin Infect Dis. 2019;68:338–342. State-of-the-art review El Zein et al. Evaluation and Management of Pelvic Osteomyelitis in Stage IV Pressure Injuries. Clin Infect Dis. 2024;79:e11–e26. Systematic review van der Naald et al. Brodie's Abscess: A Systematic Review. J Bone Jt Infect. 2019;4:33–39.</a:t>
            </a:r>
          </a:p>
          <a:p xmlns:a="http://schemas.openxmlformats.org/drawingml/2006/main">
            <a:r>
              <a:t/>
            </a:r>
          </a:p>
          <a:p xmlns:a="http://schemas.openxmlformats.org/drawingml/2006/main">
            <a:r>
              <a:t>Module section: https://docarcshot.github.io/id-practice-update/lectures/Bone_and_Joint_Infections_Septic_Arthritis_PJI_Osteomyelitis.html#ref-sat2026</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Accessed September 20, 2026. Older IDSA documents are included where they remain common US reference points, but the module identifies when newer evidence, current guidance, or local practice differs. Guideline Ravn et al. Guideline for management of septic arthritis in native joints (SANJO). J Bone Joint Infect. 2023;8:29–37. Randomized trial Gjika et al. Two weeks versus four weeks after surgical drainage for native joint bacterial arthritis. Ann Rheum Dis. 2019;78:1114–1121. Guideline CDC. Gonococcal infections among adolescents and adults. Archived guideline Osmon et al. IDSA Diagnosis and Management of Prosthetic Joint Infection. Clin Infect Dis. 2013;56:e1–e25. Contemporary review Nelson et al. Periprosthetic Joint Infection: Current Clinical Challenges. Clin Infect Dis. 2023;77:939–946. Randomized trial Bernard et al. Antibiotic Therapy for 6 or 12 Weeks for Prosthetic Joint Infection. N Engl J Med. 2021;384:1991–2001. Systematic review + consensus Hanssen et al. Suppressive Antimicrobial Therapy for Prosthetic Joint Infections. Clin Infect Dis. Published April 13, 2026. Randomized trial Li et al. Oral versus Intravenous Antibiotics for Bone and Joint Infection (OVIVA). N Engl J Med. 2019;380:425–436. Randomized trial McNally et al. Short or Long Antibiotic Regimens in Orthopedics (SOLARIO). N Engl J Med. Published September 16, 2026. Systematic review + consensus Spellberg et al. WikiGuidelines consensus statement for pyogenic osteomyelitis in adults. JAMA Netw Open. 2022;5:e2211321. Guideline Berbari et al. IDSA Native Vertebral Osteomyelitis guideline. 2015. Guideline IWGDF/IDSA Guidelines on Diabetes-Related Foot Infections. 2023. Systematic review Wong, Holtom, Spellberg. Osteomyelitis Complicating Sacral Pressure Ulcers. Clin Infect Dis. 2019;68:338–342. State-of-the-art review El Zein et al. Evaluation and Management of Pelvic Osteomyelitis in Stage IV Pressure Injuries. Clin Infect Dis. 2024;79:e11–e26. Systematic review van der Naald et al. Brodie's Abscess: A Systematic Review. J Bone Jt Infect. 2019;4:33–39.</a:t>
            </a:r>
          </a:p>
          <a:p xmlns:a="http://schemas.openxmlformats.org/drawingml/2006/main">
            <a:r>
              <a:t/>
            </a:r>
          </a:p>
          <a:p xmlns:a="http://schemas.openxmlformats.org/drawingml/2006/main">
            <a:r>
              <a:t>Module section: https://docarcshot.github.io/id-practice-update/lectures/Bone_and_Joint_Infections_Septic_Arthritis_PJI_Osteomyelitis.html#ref-oviva</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Accessed September 20, 2026. Older IDSA documents are included where they remain common US reference points, but the module identifies when newer evidence, current guidance, or local practice differs. Guideline Ravn et al. Guideline for management of septic arthritis in native joints (SANJO). J Bone Joint Infect. 2023;8:29–37. Randomized trial Gjika et al. Two weeks versus four weeks after surgical drainage for native joint bacterial arthritis. Ann Rheum Dis. 2019;78:1114–1121. Guideline CDC. Gonococcal infections among adolescents and adults. Archived guideline Osmon et al. IDSA Diagnosis and Management of Prosthetic Joint Infection. Clin Infect Dis. 2013;56:e1–e25. Contemporary review Nelson et al. Periprosthetic Joint Infection: Current Clinical Challenges. Clin Infect Dis. 2023;77:939–946. Randomized trial Bernard et al. Antibiotic Therapy for 6 or 12 Weeks for Prosthetic Joint Infection. N Engl J Med. 2021;384:1991–2001. Systematic review + consensus Hanssen et al. Suppressive Antimicrobial Therapy for Prosthetic Joint Infections. Clin Infect Dis. Published April 13, 2026. Randomized trial Li et al. Oral versus Intravenous Antibiotics for Bone and Joint Infection (OVIVA). N Engl J Med. 2019;380:425–436. Randomized trial McNally et al. Short or Long Antibiotic Regimens in Orthopedics (SOLARIO). N Engl J Med. Published September 16, 2026. Systematic review + consensus Spellberg et al. WikiGuidelines consensus statement for pyogenic osteomyelitis in adults. JAMA Netw Open. 2022;5:e2211321. Guideline Berbari et al. IDSA Native Vertebral Osteomyelitis guideline. 2015. Guideline IWGDF/IDSA Guidelines on Diabetes-Related Foot Infections. 2023. Systematic review Wong, Holtom, Spellberg. Osteomyelitis Complicating Sacral Pressure Ulcers. Clin Infect Dis. 2019;68:338–342. State-of-the-art review El Zein et al. Evaluation and Management of Pelvic Osteomyelitis in Stage IV Pressure Injuries. Clin Infect Dis. 2024;79:e11–e26. Systematic review van der Naald et al. Brodie's Abscess: A Systematic Review. J Bone Jt Infect. 2019;4:33–39.</a:t>
            </a:r>
          </a:p>
          <a:p xmlns:a="http://schemas.openxmlformats.org/drawingml/2006/main">
            <a:r>
              <a:t/>
            </a:r>
          </a:p>
          <a:p xmlns:a="http://schemas.openxmlformats.org/drawingml/2006/main">
            <a:r>
              <a:t>Module section: https://docarcshot.github.io/id-practice-update/lectures/Bone_and_Joint_Infections_Septic_Arthritis_PJI_Osteomyelitis.html#ref-solario</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Accessed September 20, 2026. Older IDSA documents are included where they remain common US reference points, but the module identifies when newer evidence, current guidance, or local practice differs. Guideline Ravn et al. Guideline for management of septic arthritis in native joints (SANJO). J Bone Joint Infect. 2023;8:29–37. Randomized trial Gjika et al. Two weeks versus four weeks after surgical drainage for native joint bacterial arthritis. Ann Rheum Dis. 2019;78:1114–1121. Guideline CDC. Gonococcal infections among adolescents and adults. Archived guideline Osmon et al. IDSA Diagnosis and Management of Prosthetic Joint Infection. Clin Infect Dis. 2013;56:e1–e25. Contemporary review Nelson et al. Periprosthetic Joint Infection: Current Clinical Challenges. Clin Infect Dis. 2023;77:939–946. Randomized trial Bernard et al. Antibiotic Therapy for 6 or 12 Weeks for Prosthetic Joint Infection. N Engl J Med. 2021;384:1991–2001. Systematic review + consensus Hanssen et al. Suppressive Antimicrobial Therapy for Prosthetic Joint Infections. Clin Infect Dis. Published April 13, 2026. Randomized trial Li et al. Oral versus Intravenous Antibiotics for Bone and Joint Infection (OVIVA). N Engl J Med. 2019;380:425–436. Randomized trial McNally et al. Short or Long Antibiotic Regimens in Orthopedics (SOLARIO). N Engl J Med. Published September 16, 2026. Systematic review + consensus Spellberg et al. WikiGuidelines consensus statement for pyogenic osteomyelitis in adults. JAMA Netw Open. 2022;5:e2211321. Guideline Berbari et al. IDSA Native Vertebral Osteomyelitis guideline. 2015. Guideline IWGDF/IDSA Guidelines on Diabetes-Related Foot Infections. 2023. Systematic review Wong, Holtom, Spellberg. Osteomyelitis Complicating Sacral Pressure Ulcers. Clin Infect Dis. 2019;68:338–342. State-of-the-art review El Zein et al. Evaluation and Management of Pelvic Osteomyelitis in Stage IV Pressure Injuries. Clin Infect Dis. 2024;79:e11–e26. Systematic review van der Naald et al. Brodie's Abscess: A Systematic Review. J Bone Jt Infect. 2019;4:33–39.</a:t>
            </a:r>
          </a:p>
          <a:p xmlns:a="http://schemas.openxmlformats.org/drawingml/2006/main">
            <a:r>
              <a:t/>
            </a:r>
          </a:p>
          <a:p xmlns:a="http://schemas.openxmlformats.org/drawingml/2006/main">
            <a:r>
              <a:t>Module section: https://docarcshot.github.io/id-practice-update/lectures/Bone_and_Joint_Infections_Septic_Arthritis_PJI_Osteomyelitis.html#ref-wiki</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Accessed September 20, 2026. Older IDSA documents are included where they remain common US reference points, but the module identifies when newer evidence, current guidance, or local practice differs. Guideline Ravn et al. Guideline for management of septic arthritis in native joints (SANJO). J Bone Joint Infect. 2023;8:29–37. Randomized trial Gjika et al. Two weeks versus four weeks after surgical drainage for native joint bacterial arthritis. Ann Rheum Dis. 2019;78:1114–1121. Guideline CDC. Gonococcal infections among adolescents and adults. Archived guideline Osmon et al. IDSA Diagnosis and Management of Prosthetic Joint Infection. Clin Infect Dis. 2013;56:e1–e25. Contemporary review Nelson et al. Periprosthetic Joint Infection: Current Clinical Challenges. Clin Infect Dis. 2023;77:939–946. Randomized trial Bernard et al. Antibiotic Therapy for 6 or 12 Weeks for Prosthetic Joint Infection. N Engl J Med. 2021;384:1991–2001. Systematic review + consensus Hanssen et al. Suppressive Antimicrobial Therapy for Prosthetic Joint Infections. Clin Infect Dis. Published April 13, 2026. Randomized trial Li et al. Oral versus Intravenous Antibiotics for Bone and Joint Infection (OVIVA). N Engl J Med. 2019;380:425–436. Randomized trial McNally et al. Short or Long Antibiotic Regimens in Orthopedics (SOLARIO). N Engl J Med. Published September 16, 2026. Systematic review + consensus Spellberg et al. WikiGuidelines consensus statement for pyogenic osteomyelitis in adults. JAMA Netw Open. 2022;5:e2211321. Guideline Berbari et al. IDSA Native Vertebral Osteomyelitis guideline. 2015. Guideline IWGDF/IDSA Guidelines on Diabetes-Related Foot Infections. 2023. Systematic review Wong, Holtom, Spellberg. Osteomyelitis Complicating Sacral Pressure Ulcers. Clin Infect Dis. 2019;68:338–342. State-of-the-art review El Zein et al. Evaluation and Management of Pelvic Osteomyelitis in Stage IV Pressure Injuries. Clin Infect Dis. 2024;79:e11–e26. Systematic review van der Naald et al. Brodie's Abscess: A Systematic Review. J Bone Jt Infect. 2019;4:33–39.</a:t>
            </a:r>
          </a:p>
          <a:p xmlns:a="http://schemas.openxmlformats.org/drawingml/2006/main">
            <a:r>
              <a:t/>
            </a:r>
          </a:p>
          <a:p xmlns:a="http://schemas.openxmlformats.org/drawingml/2006/main">
            <a:r>
              <a:t>Module section: https://docarcshot.github.io/id-practice-update/lectures/Bone_and_Joint_Infections_Septic_Arthritis_PJI_Osteomyelitis.html#ref-nvo</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Accessed September 20, 2026. Older IDSA documents are included where they remain common US reference points, but the module identifies when newer evidence, current guidance, or local practice differs. Guideline Ravn et al. Guideline for management of septic arthritis in native joints (SANJO). J Bone Joint Infect. 2023;8:29–37. Randomized trial Gjika et al. Two weeks versus four weeks after surgical drainage for native joint bacterial arthritis. Ann Rheum Dis. 2019;78:1114–1121. Guideline CDC. Gonococcal infections among adolescents and adults. Archived guideline Osmon et al. IDSA Diagnosis and Management of Prosthetic Joint Infection. Clin Infect Dis. 2013;56:e1–e25. Contemporary review Nelson et al. Periprosthetic Joint Infection: Current Clinical Challenges. Clin Infect Dis. 2023;77:939–946. Randomized trial Bernard et al. Antibiotic Therapy for 6 or 12 Weeks for Prosthetic Joint Infection. N Engl J Med. 2021;384:1991–2001. Systematic review + consensus Hanssen et al. Suppressive Antimicrobial Therapy for Prosthetic Joint Infections. Clin Infect Dis. Published April 13, 2026. Randomized trial Li et al. Oral versus Intravenous Antibiotics for Bone and Joint Infection (OVIVA). N Engl J Med. 2019;380:425–436. Randomized trial McNally et al. Short or Long Antibiotic Regimens in Orthopedics (SOLARIO). N Engl J Med. Published September 16, 2026. Systematic review + consensus Spellberg et al. WikiGuidelines consensus statement for pyogenic osteomyelitis in adults. JAMA Netw Open. 2022;5:e2211321. Guideline Berbari et al. IDSA Native Vertebral Osteomyelitis guideline. 2015. Guideline IWGDF/IDSA Guidelines on Diabetes-Related Foot Infections. 2023. Systematic review Wong, Holtom, Spellberg. Osteomyelitis Complicating Sacral Pressure Ulcers. Clin Infect Dis. 2019;68:338–342. State-of-the-art review El Zein et al. Evaluation and Management of Pelvic Osteomyelitis in Stage IV Pressure Injuries. Clin Infect Dis. 2024;79:e11–e26. Systematic review van der Naald et al. Brodie's Abscess: A Systematic Review. J Bone Jt Infect. 2019;4:33–39.</a:t>
            </a:r>
          </a:p>
          <a:p xmlns:a="http://schemas.openxmlformats.org/drawingml/2006/main">
            <a:r>
              <a:t/>
            </a:r>
          </a:p>
          <a:p xmlns:a="http://schemas.openxmlformats.org/drawingml/2006/main">
            <a:r>
              <a:t>Module section: https://docarcshot.github.io/id-practice-update/lectures/Bone_and_Joint_Infections_Septic_Arthritis_PJI_Osteomyelitis.html#ref-dfi</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Accessed September 20, 2026. Older IDSA documents are included where they remain common US reference points, but the module identifies when newer evidence, current guidance, or local practice differs. Guideline Ravn et al. Guideline for management of septic arthritis in native joints (SANJO). J Bone Joint Infect. 2023;8:29–37. Randomized trial Gjika et al. Two weeks versus four weeks after surgical drainage for native joint bacterial arthritis. Ann Rheum Dis. 2019;78:1114–1121. Guideline CDC. Gonococcal infections among adolescents and adults. Archived guideline Osmon et al. IDSA Diagnosis and Management of Prosthetic Joint Infection. Clin Infect Dis. 2013;56:e1–e25. Contemporary review Nelson et al. Periprosthetic Joint Infection: Current Clinical Challenges. Clin Infect Dis. 2023;77:939–946. Randomized trial Bernard et al. Antibiotic Therapy for 6 or 12 Weeks for Prosthetic Joint Infection. N Engl J Med. 2021;384:1991–2001. Systematic review + consensus Hanssen et al. Suppressive Antimicrobial Therapy for Prosthetic Joint Infections. Clin Infect Dis. Published April 13, 2026. Randomized trial Li et al. Oral versus Intravenous Antibiotics for Bone and Joint Infection (OVIVA). N Engl J Med. 2019;380:425–436. Randomized trial McNally et al. Short or Long Antibiotic Regimens in Orthopedics (SOLARIO). N Engl J Med. Published September 16, 2026. Systematic review + consensus Spellberg et al. WikiGuidelines consensus statement for pyogenic osteomyelitis in adults. JAMA Netw Open. 2022;5:e2211321. Guideline Berbari et al. IDSA Native Vertebral Osteomyelitis guideline. 2015. Guideline IWGDF/IDSA Guidelines on Diabetes-Related Foot Infections. 2023. Systematic review Wong, Holtom, Spellberg. Osteomyelitis Complicating Sacral Pressure Ulcers. Clin Infect Dis. 2019;68:338–342. State-of-the-art review El Zein et al. Evaluation and Management of Pelvic Osteomyelitis in Stage IV Pressure Injuries. Clin Infect Dis. 2024;79:e11–e26. Systematic review van der Naald et al. Brodie's Abscess: A Systematic Review. J Bone Jt Infect. 2019;4:33–39.</a:t>
            </a:r>
          </a:p>
          <a:p xmlns:a="http://schemas.openxmlformats.org/drawingml/2006/main">
            <a:r>
              <a:t/>
            </a:r>
          </a:p>
          <a:p xmlns:a="http://schemas.openxmlformats.org/drawingml/2006/main">
            <a:r>
              <a:t>Module section: https://docarcshot.github.io/id-practice-update/lectures/Bone_and_Joint_Infections_Septic_Arthritis_PJI_Osteomyelitis.html#ref-pressure2019</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Accessed September 20, 2026. Older IDSA documents are included where they remain common US reference points, but the module identifies when newer evidence, current guidance, or local practice differs. Guideline Ravn et al. Guideline for management of septic arthritis in native joints (SANJO). J Bone Joint Infect. 2023;8:29–37. Randomized trial Gjika et al. Two weeks versus four weeks after surgical drainage for native joint bacterial arthritis. Ann Rheum Dis. 2019;78:1114–1121. Guideline CDC. Gonococcal infections among adolescents and adults. Archived guideline Osmon et al. IDSA Diagnosis and Management of Prosthetic Joint Infection. Clin Infect Dis. 2013;56:e1–e25. Contemporary review Nelson et al. Periprosthetic Joint Infection: Current Clinical Challenges. Clin Infect Dis. 2023;77:939–946. Randomized trial Bernard et al. Antibiotic Therapy for 6 or 12 Weeks for Prosthetic Joint Infection. N Engl J Med. 2021;384:1991–2001. Systematic review + consensus Hanssen et al. Suppressive Antimicrobial Therapy for Prosthetic Joint Infections. Clin Infect Dis. Published April 13, 2026. Randomized trial Li et al. Oral versus Intravenous Antibiotics for Bone and Joint Infection (OVIVA). N Engl J Med. 2019;380:425–436. Randomized trial McNally et al. Short or Long Antibiotic Regimens in Orthopedics (SOLARIO). N Engl J Med. Published September 16, 2026. Systematic review + consensus Spellberg et al. WikiGuidelines consensus statement for pyogenic osteomyelitis in adults. JAMA Netw Open. 2022;5:e2211321. Guideline Berbari et al. IDSA Native Vertebral Osteomyelitis guideline. 2015. Guideline IWGDF/IDSA Guidelines on Diabetes-Related Foot Infections. 2023. Systematic review Wong, Holtom, Spellberg. Osteomyelitis Complicating Sacral Pressure Ulcers. Clin Infect Dis. 2019;68:338–342. State-of-the-art review El Zein et al. Evaluation and Management of Pelvic Osteomyelitis in Stage IV Pressure Injuries. Clin Infect Dis. 2024;79:e11–e26. Systematic review van der Naald et al. Brodie's Abscess: A Systematic Review. J Bone Jt Infect. 2019;4:33–39.</a:t>
            </a:r>
          </a:p>
          <a:p xmlns:a="http://schemas.openxmlformats.org/drawingml/2006/main">
            <a:r>
              <a:t/>
            </a:r>
          </a:p>
          <a:p xmlns:a="http://schemas.openxmlformats.org/drawingml/2006/main">
            <a:r>
              <a:t>Module section: https://docarcshot.github.io/id-practice-update/lectures/Bone_and_Joint_Infections_Septic_Arthritis_PJI_Osteomyelitis.html#ref-pressure2024</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Accessed September 20, 2026. Older IDSA documents are included where they remain common US reference points, but the module identifies when newer evidence, current guidance, or local practice differs. Guideline Ravn et al. Guideline for management of septic arthritis in native joints (SANJO). J Bone Joint Infect. 2023;8:29–37. Randomized trial Gjika et al. Two weeks versus four weeks after surgical drainage for native joint bacterial arthritis. Ann Rheum Dis. 2019;78:1114–1121. Guideline CDC. Gonococcal infections among adolescents and adults. Archived guideline Osmon et al. IDSA Diagnosis and Management of Prosthetic Joint Infection. Clin Infect Dis. 2013;56:e1–e25. Contemporary review Nelson et al. Periprosthetic Joint Infection: Current Clinical Challenges. Clin Infect Dis. 2023;77:939–946. Randomized trial Bernard et al. Antibiotic Therapy for 6 or 12 Weeks for Prosthetic Joint Infection. N Engl J Med. 2021;384:1991–2001. Systematic review + consensus Hanssen et al. Suppressive Antimicrobial Therapy for Prosthetic Joint Infections. Clin Infect Dis. Published April 13, 2026. Randomized trial Li et al. Oral versus Intravenous Antibiotics for Bone and Joint Infection (OVIVA). N Engl J Med. 2019;380:425–436. Randomized trial McNally et al. Short or Long Antibiotic Regimens in Orthopedics (SOLARIO). N Engl J Med. Published September 16, 2026. Systematic review + consensus Spellberg et al. WikiGuidelines consensus statement for pyogenic osteomyelitis in adults. JAMA Netw Open. 2022;5:e2211321. Guideline Berbari et al. IDSA Native Vertebral Osteomyelitis guideline. 2015. Guideline IWGDF/IDSA Guidelines on Diabetes-Related Foot Infections. 2023. Systematic review Wong, Holtom, Spellberg. Osteomyelitis Complicating Sacral Pressure Ulcers. Clin Infect Dis. 2019;68:338–342. State-of-the-art review El Zein et al. Evaluation and Management of Pelvic Osteomyelitis in Stage IV Pressure Injuries. Clin Infect Dis. 2024;79:e11–e26. Systematic review van der Naald et al. Brodie's Abscess: A Systematic Review. J Bone Jt Infect. 2019;4:33–39.</a:t>
            </a:r>
          </a:p>
          <a:p xmlns:a="http://schemas.openxmlformats.org/drawingml/2006/main">
            <a:r>
              <a:t/>
            </a:r>
          </a:p>
          <a:p xmlns:a="http://schemas.openxmlformats.org/drawingml/2006/main">
            <a:r>
              <a:t>Module section: https://docarcshot.github.io/id-practice-update/lectures/Bone_and_Joint_Infections_Septic_Arthritis_PJI_Osteomyelitis.html#ref-brodie</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Bone and joint infections · One-page rounds sheet September 21, 2026 · Teaching companion. Specialty review pending. Native septic arthritis Aspirate before antibiotics if stable. Send culture, WBC/diff, crystals. Crystals do not exclude infection. Drain the joint. Empiric vancomycin + ceftriaxone is a common US starting point; use antipseudomonal coverage when risk warrants. PJI diagnosis Sinus tract to prosthesis = PJI. If stable, avoid premature antibiotics. Aspirate when useful. At surgery obtain multiple deep samples, ideally 5–6. Do not use superficial sinus/wound swab to choose long-term therapy. PJI surgery DAIR: acute, brief symptoms, fixed implant, no sinus, good tissue, exchange modular parts. One-stage: selected chronic PJI with known/tractable organism and good tissue. Two-stage: chronic/difficult infection, compromised tissue, or failed retention. PJI antibiotics Staphylococcal DAIR: IDSA rifampin-based regimen totals 3 months for hip or 6 months for knee. One-stage duration differs by pathogen and regimen. Two-stage after explant: IDSA recommends 4–6 weeks of pathogen-directed IV or highly bioavailable oral therapy; a fixed antibiotic holiday is not established. Positive reimplantation cultures need case-specific assessment. Give indicated perioperative prophylaxis. Osteomyelitis, no implant Culture meaningful tissue, drain abscess, remove necrotic bone. With adequate source control, generally ≤6 weeks. After complete resection without residual infection, diabetes-related foot guidance lists 2–5 days; general pyogenic osteomyelitis guidance permits no further course in selected cases. Vertebral osteomyelitis Stable neuro/hemodynamics: obtain microbiologic diagnosis before empiric therapy when possible. Most bacterial NVO = 6 weeks IV or highly bioavailable oral. Diabetic foot DFO without resection = 6 weeks. Minor amputation + positive bone margin = up to 3 weeks. Pair antibiotics with debridement, offloading, wound care, and vascular assessment when ischemic. Stage IV sacral/pelvic wound Exposed bone or MRI “OM” without acute infection and without debridement/flap plan = no systemic antibiotics. Treat discrete cellulitis, abscess, bacteremia, or sepsis. If debridement + flap occurs, ~6 weeks remains conventional. Oral therapy OVIVA supports oral treatment when stable, source controlled, absorbing reliably, and an active evidence-supported oral drug is available. Osteomyelitis does not automatically require a PICC. Suppression Noncurative. Best fit: defined pathogen + retained hardware/necrotic source that cannot be removed + tolerable active oral drug + meaningful goal. Do not routinely suppress an open sacral pressure wound.</a:t>
            </a:r>
          </a:p>
          <a:p xmlns:a="http://schemas.openxmlformats.org/drawingml/2006/main">
            <a:r>
              <a:t/>
            </a:r>
          </a:p>
          <a:p xmlns:a="http://schemas.openxmlformats.org/drawingml/2006/main">
            <a:r>
              <a:t>Module section: https://docarcshot.github.io/id-practice-update/lectures/Bone_and_Joint_Infections_Septic_Arthritis_PJI_Osteomyelitis.html#cheat-sheet</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Bone and joint infections · One-page rounds sheet September 21, 2026 · Teaching companion. Specialty review pending. Native septic arthritis Aspirate before antibiotics if stable. Send culture, WBC/diff, crystals. Crystals do not exclude infection. Drain the joint. Empiric vancomycin + ceftriaxone is a common US starting point; use antipseudomonal coverage when risk warrants. PJI diagnosis Sinus tract to prosthesis = PJI. If stable, avoid premature antibiotics. Aspirate when useful. At surgery obtain multiple deep samples, ideally 5–6. Do not use superficial sinus/wound swab to choose long-term therapy. PJI surgery DAIR: acute, brief symptoms, fixed implant, no sinus, good tissue, exchange modular parts. One-stage: selected chronic PJI with known/tractable organism and good tissue. Two-stage: chronic/difficult infection, compromised tissue, or failed retention. PJI antibiotics Staphylococcal DAIR: IDSA rifampin-based regimen totals 3 months for hip or 6 months for knee. One-stage duration differs by pathogen and regimen. Two-stage after explant: IDSA recommends 4–6 weeks of pathogen-directed IV or highly bioavailable oral therapy; a fixed antibiotic holiday is not established. Positive reimplantation cultures need case-specific assessment. Give indicated perioperative prophylaxis. Osteomyelitis, no implant Culture meaningful tissue, drain abscess, remove necrotic bone. With adequate source control, generally ≤6 weeks. After complete resection without residual infection, diabetes-related foot guidance lists 2–5 days; general pyogenic osteomyelitis guidance permits no further course in selected cases. Vertebral osteomyelitis Stable neuro/hemodynamics: obtain microbiologic diagnosis before empiric therapy when possible. Most bacterial NVO = 6 weeks IV or highly bioavailable oral. Diabetic foot DFO without resection = 6 weeks. Minor amputation + positive bone margin = up to 3 weeks. Pair antibiotics with debridement, offloading, wound care, and vascular assessment when ischemic. Stage IV sacral/pelvic wound Exposed bone or MRI “OM” without acute infection and without debridement/flap plan = no systemic antibiotics. Treat discrete cellulitis, abscess, bacteremia, or sepsis. If debridement + flap occurs, ~6 weeks remains conventional. Oral therapy OVIVA supports oral treatment when stable, source controlled, absorbing reliably, and an active evidence-supported oral drug is available. Osteomyelitis does not automatically require a PICC. Suppression Noncurative. Best fit: defined pathogen + retained hardware/necrotic source that cannot be removed + tolerable active oral drug + meaningful goal. Do not routinely suppress an open sacral pressure wound.</a:t>
            </a:r>
          </a:p>
          <a:p xmlns:a="http://schemas.openxmlformats.org/drawingml/2006/main">
            <a:r>
              <a:t/>
            </a:r>
          </a:p>
          <a:p xmlns:a="http://schemas.openxmlformats.org/drawingml/2006/main">
            <a:r>
              <a:t>Module section: https://docarcshot.github.io/id-practice-update/lectures/Bone_and_Joint_Infections_Septic_Arthritis_PJI_Osteomyelitis.html#cheat-sheet</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Bone and joint infections · One-page rounds sheet September 21, 2026 · Teaching companion. Specialty review pending. Native septic arthritis Aspirate before antibiotics if stable. Send culture, WBC/diff, crystals. Crystals do not exclude infection. Drain the joint. Empiric vancomycin + ceftriaxone is a common US starting point; use antipseudomonal coverage when risk warrants. PJI diagnosis Sinus tract to prosthesis = PJI. If stable, avoid premature antibiotics. Aspirate when useful. At surgery obtain multiple deep samples, ideally 5–6. Do not use superficial sinus/wound swab to choose long-term therapy. PJI surgery DAIR: acute, brief symptoms, fixed implant, no sinus, good tissue, exchange modular parts. One-stage: selected chronic PJI with known/tractable organism and good tissue. Two-stage: chronic/difficult infection, compromised tissue, or failed retention. PJI antibiotics Staphylococcal DAIR: IDSA rifampin-based regimen totals 3 months for hip or 6 months for knee. One-stage duration differs by pathogen and regimen. Two-stage after explant: IDSA recommends 4–6 weeks of pathogen-directed IV or highly bioavailable oral therapy; a fixed antibiotic holiday is not established. Positive reimplantation cultures need case-specific assessment. Give indicated perioperative prophylaxis. Osteomyelitis, no implant Culture meaningful tissue, drain abscess, remove necrotic bone. With adequate source control, generally ≤6 weeks. After complete resection without residual infection, diabetes-related foot guidance lists 2–5 days; general pyogenic osteomyelitis guidance permits no further course in selected cases. Vertebral osteomyelitis Stable neuro/hemodynamics: obtain microbiologic diagnosis before empiric therapy when possible. Most bacterial NVO = 6 weeks IV or highly bioavailable oral. Diabetic foot DFO without resection = 6 weeks. Minor amputation + positive bone margin = up to 3 weeks. Pair antibiotics with debridement, offloading, wound care, and vascular assessment when ischemic. Stage IV sacral/pelvic wound Exposed bone or MRI “OM” without acute infection and without debridement/flap plan = no systemic antibiotics. Treat discrete cellulitis, abscess, bacteremia, or sepsis. If debridement + flap occurs, ~6 weeks remains conventional. Oral therapy OVIVA supports oral treatment when stable, source controlled, absorbing reliably, and an active evidence-supported oral drug is available. Osteomyelitis does not automatically require a PICC. Suppression Noncurative. Best fit: defined pathogen + retained hardware/necrotic source that cannot be removed + tolerable active oral drug + meaningful goal. Do not routinely suppress an open sacral pressure wound.</a:t>
            </a:r>
          </a:p>
          <a:p xmlns:a="http://schemas.openxmlformats.org/drawingml/2006/main">
            <a:r>
              <a:t/>
            </a:r>
          </a:p>
          <a:p xmlns:a="http://schemas.openxmlformats.org/drawingml/2006/main">
            <a:r>
              <a:t>Module section: https://docarcshot.github.io/id-practice-update/lectures/Bone_and_Joint_Infections_Septic_Arthritis_PJI_Osteomyelitis.html#cheat-sheet</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Bone and joint infections · One-page rounds sheet September 21, 2026 · Teaching companion. Specialty review pending. Native septic arthritis Aspirate before antibiotics if stable. Send culture, WBC/diff, crystals. Crystals do not exclude infection. Drain the joint. Empiric vancomycin + ceftriaxone is a common US starting point; use antipseudomonal coverage when risk warrants. PJI diagnosis Sinus tract to prosthesis = PJI. If stable, avoid premature antibiotics. Aspirate when useful. At surgery obtain multiple deep samples, ideally 5–6. Do not use superficial sinus/wound swab to choose long-term therapy. PJI surgery DAIR: acute, brief symptoms, fixed implant, no sinus, good tissue, exchange modular parts. One-stage: selected chronic PJI with known/tractable organism and good tissue. Two-stage: chronic/difficult infection, compromised tissue, or failed retention. PJI antibiotics Staphylococcal DAIR: IDSA rifampin-based regimen totals 3 months for hip or 6 months for knee. One-stage duration differs by pathogen and regimen. Two-stage after explant: IDSA recommends 4–6 weeks of pathogen-directed IV or highly bioavailable oral therapy; a fixed antibiotic holiday is not established. Positive reimplantation cultures need case-specific assessment. Give indicated perioperative prophylaxis. Osteomyelitis, no implant Culture meaningful tissue, drain abscess, remove necrotic bone. With adequate source control, generally ≤6 weeks. After complete resection without residual infection, diabetes-related foot guidance lists 2–5 days; general pyogenic osteomyelitis guidance permits no further course in selected cases. Vertebral osteomyelitis Stable neuro/hemodynamics: obtain microbiologic diagnosis before empiric therapy when possible. Most bacterial NVO = 6 weeks IV or highly bioavailable oral. Diabetic foot DFO without resection = 6 weeks. Minor amputation + positive bone margin = up to 3 weeks. Pair antibiotics with debridement, offloading, wound care, and vascular assessment when ischemic. Stage IV sacral/pelvic wound Exposed bone or MRI “OM” without acute infection and without debridement/flap plan = no systemic antibiotics. Treat discrete cellulitis, abscess, bacteremia, or sepsis. If debridement + flap occurs, ~6 weeks remains conventional. Oral therapy OVIVA supports oral treatment when stable, source controlled, absorbing reliably, and an active evidence-supported oral drug is available. Osteomyelitis does not automatically require a PICC. Suppression Noncurative. Best fit: defined pathogen + retained hardware/necrotic source that cannot be removed + tolerable active oral drug + meaningful goal. Do not routinely suppress an open sacral pressure wound.</a:t>
            </a:r>
          </a:p>
          <a:p xmlns:a="http://schemas.openxmlformats.org/drawingml/2006/main">
            <a:r>
              <a:t/>
            </a:r>
          </a:p>
          <a:p xmlns:a="http://schemas.openxmlformats.org/drawingml/2006/main">
            <a:r>
              <a:t>Module section: https://docarcshot.github.io/id-practice-update/lectures/Bone_and_Joint_Infections_Septic_Arthritis_PJI_Osteomyelitis.html#cheat-sheet</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Bone and joint infections · One-page rounds sheet September 21, 2026 · Teaching companion. Specialty review pending. Native septic arthritis Aspirate before antibiotics if stable. Send culture, WBC/diff, crystals. Crystals do not exclude infection. Drain the joint. Empiric vancomycin + ceftriaxone is a common US starting point; use antipseudomonal coverage when risk warrants. PJI diagnosis Sinus tract to prosthesis = PJI. If stable, avoid premature antibiotics. Aspirate when useful. At surgery obtain multiple deep samples, ideally 5–6. Do not use superficial sinus/wound swab to choose long-term therapy. PJI surgery DAIR: acute, brief symptoms, fixed implant, no sinus, good tissue, exchange modular parts. One-stage: selected chronic PJI with known/tractable organism and good tissue. Two-stage: chronic/difficult infection, compromised tissue, or failed retention. PJI antibiotics Staphylococcal DAIR: IDSA rifampin-based regimen totals 3 months for hip or 6 months for knee. One-stage duration differs by pathogen and regimen. Two-stage after explant: IDSA recommends 4–6 weeks of pathogen-directed IV or highly bioavailable oral therapy; a fixed antibiotic holiday is not established. Positive reimplantation cultures need case-specific assessment. Give indicated perioperative prophylaxis. Osteomyelitis, no implant Culture meaningful tissue, drain abscess, remove necrotic bone. With adequate source control, generally ≤6 weeks. After complete resection without residual infection, diabetes-related foot guidance lists 2–5 days; general pyogenic osteomyelitis guidance permits no further course in selected cases. Vertebral osteomyelitis Stable neuro/hemodynamics: obtain microbiologic diagnosis before empiric therapy when possible. Most bacterial NVO = 6 weeks IV or highly bioavailable oral. Diabetic foot DFO without resection = 6 weeks. Minor amputation + positive bone margin = up to 3 weeks. Pair antibiotics with debridement, offloading, wound care, and vascular assessment when ischemic. Stage IV sacral/pelvic wound Exposed bone or MRI “OM” without acute infection and without debridement/flap plan = no systemic antibiotics. Treat discrete cellulitis, abscess, bacteremia, or sepsis. If debridement + flap occurs, ~6 weeks remains conventional. Oral therapy OVIVA supports oral treatment when stable, source controlled, absorbing reliably, and an active evidence-supported oral drug is available. Osteomyelitis does not automatically require a PICC. Suppression Noncurative. Best fit: defined pathogen + retained hardware/necrotic source that cannot be removed + tolerable active oral drug + meaningful goal. Do not routinely suppress an open sacral pressure wound.</a:t>
            </a:r>
          </a:p>
          <a:p xmlns:a="http://schemas.openxmlformats.org/drawingml/2006/main">
            <a:r>
              <a:t/>
            </a:r>
          </a:p>
          <a:p xmlns:a="http://schemas.openxmlformats.org/drawingml/2006/main">
            <a:r>
              <a:t>Module section: https://docarcshot.github.io/id-practice-update/lectures/Bone_and_Joint_Infections_Septic_Arthritis_PJI_Osteomyelitis.html#cheat-sheet</a:t>
            </a:r>
          </a:p>
          <a:p xmlns:a="http://schemas.openxmlformats.org/drawingml/2006/main">
            <a:r>
              <a:t/>
            </a:r>
          </a:p>
          <a:p xmlns:a="http://schemas.openxmlformats.org/drawingml/2006/main">
            <a:r>
              <a:t>Public sources and related reading:</a:t>
            </a:r>
          </a:p>
          <a:p xmlns:a="http://schemas.openxmlformats.org/drawingml/2006/main">
            <a:r>
              <a:t>https://jbji.copernicus.org/articles/8/29/2023/</a:t>
            </a:r>
          </a:p>
          <a:p xmlns:a="http://schemas.openxmlformats.org/drawingml/2006/main">
            <a:r>
              <a:t>https://ard.bmj.com/content/78/8/1114</a:t>
            </a:r>
          </a:p>
          <a:p xmlns:a="http://schemas.openxmlformats.org/drawingml/2006/main">
            <a:r>
              <a:t>https://www.cdc.gov/std/treatment-guidelines/gonorrhea-adults.htm</a:t>
            </a:r>
          </a:p>
          <a:p xmlns:a="http://schemas.openxmlformats.org/drawingml/2006/main">
            <a:r>
              <a:t>https://academic.oup.com/cid/article/56/1/e1/415705</a:t>
            </a:r>
          </a:p>
          <a:p xmlns:a="http://schemas.openxmlformats.org/drawingml/2006/main">
            <a:r>
              <a:t>https://academic.oup.com/cid/article/77/7/939/7289507</a:t>
            </a:r>
          </a:p>
          <a:p xmlns:a="http://schemas.openxmlformats.org/drawingml/2006/main">
            <a:r>
              <a:t>https://www.nejm.org/doi/full/10.1056/NEJMoa2020198</a:t>
            </a:r>
          </a:p>
          <a:p xmlns:a="http://schemas.openxmlformats.org/drawingml/2006/main">
            <a:r>
              <a:t>https://academic.oup.com/cid/advance-article/doi/10.1093/cid/ciag251/8653227</a:t>
            </a:r>
          </a:p>
          <a:p xmlns:a="http://schemas.openxmlformats.org/drawingml/2006/main">
            <a:r>
              <a:t>https://www.nejm.org/doi/full/10.1056/NEJMoa1710926</a:t>
            </a:r>
          </a:p>
          <a:p xmlns:a="http://schemas.openxmlformats.org/drawingml/2006/main">
            <a:r>
              <a:t>https://www.nejm.org/doi/full/10.1056/NEJMoa2506756</a:t>
            </a:r>
          </a:p>
          <a:p xmlns:a="http://schemas.openxmlformats.org/drawingml/2006/main">
            <a:r>
              <a:t>https://jamanetwork.com/journals/jamanetworkopen/fullarticle/2792124</a:t>
            </a:r>
          </a:p>
          <a:p xmlns:a="http://schemas.openxmlformats.org/drawingml/2006/main">
            <a:r>
              <a:t>https://www.idsociety.org/practice-guideline/vertebral-osteomyelitis/</a:t>
            </a:r>
          </a:p>
          <a:p xmlns:a="http://schemas.openxmlformats.org/drawingml/2006/main">
            <a:r>
              <a:t>https://www.idsociety.org/practice-guideline/diabetic-foot-infections/</a:t>
            </a:r>
          </a:p>
          <a:p xmlns:a="http://schemas.openxmlformats.org/drawingml/2006/main">
            <a:r>
              <a:t>https://academic.oup.com/cid/article/68/2/338/5050260</a:t>
            </a:r>
          </a:p>
          <a:p xmlns:a="http://schemas.openxmlformats.org/drawingml/2006/main">
            <a:r>
              <a:t>https://academic.oup.com/cid/article/79/3/e11/7777105</a:t>
            </a:r>
          </a:p>
          <a:p xmlns:a="http://schemas.openxmlformats.org/drawingml/2006/main">
            <a:r>
              <a:t>https://pmc.ncbi.nlm.nih.gov/articles/PMC6367194/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9f60e815ab47f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9bf623887d54d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7edcca5db1b4ed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1a609b70f914c8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37d89561e9247d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04aba715bc544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758994-38B4-404C-BEE7-CE9D8CD28C0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0870232-4BCB-4858-899C-DD2CF736D9F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754E315-E884-4ABE-AF68-8FDC2FDB262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796907-37B2-48EF-97AF-6E22076F8D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EFAEA39-A9A3-49F8-ADA0-DF6A53EAC9C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15F0545-2D51-410F-A574-AE80D8B5CC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691C93-AFFA-40CC-B7A5-0DCD7C7A27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5710F6C-926A-484B-ADD1-7FC8D2E6165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C57211-3971-4222-BA5E-59C9324369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8BBC39-FE95-4073-9B6D-5D420EB37D7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6bc6376d874802" /><Relationship Type="http://schemas.openxmlformats.org/officeDocument/2006/relationships/slideLayout" Target="/ppt/slideLayouts/slideLayout1.xml" Id="R43b556eab6d54fad" /><Relationship Type="http://schemas.openxmlformats.org/officeDocument/2006/relationships/slideLayout" Target="/ppt/slideLayouts/slideLayout2.xml" Id="Raf87d8dad86348a0" /><Relationship Type="http://schemas.openxmlformats.org/officeDocument/2006/relationships/slideLayout" Target="/ppt/slideLayouts/slideLayout3.xml" Id="R16e886d757c54424" /><Relationship Type="http://schemas.openxmlformats.org/officeDocument/2006/relationships/slideLayout" Target="/ppt/slideLayouts/slideLayout4.xml" Id="Rc226e9ad4dbd4a95" /><Relationship Type="http://schemas.openxmlformats.org/officeDocument/2006/relationships/slideLayout" Target="/ppt/slideLayouts/slideLayout5.xml" Id="R67f38f99539f4ad5" /><Relationship Type="http://schemas.openxmlformats.org/officeDocument/2006/relationships/slideLayout" Target="/ppt/slideLayouts/slideLayout6.xml" Id="R8296d703f62247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b556eab6d54fad"/>
    <p:sldLayoutId xmlns:r="http://schemas.openxmlformats.org/officeDocument/2006/relationships" id="2147483650" r:id="Raf87d8dad86348a0"/>
    <p:sldLayoutId xmlns:r="http://schemas.openxmlformats.org/officeDocument/2006/relationships" id="2147483651" r:id="R16e886d757c54424"/>
    <p:sldLayoutId xmlns:r="http://schemas.openxmlformats.org/officeDocument/2006/relationships" id="2147483652" r:id="Rc226e9ad4dbd4a95"/>
    <p:sldLayoutId xmlns:r="http://schemas.openxmlformats.org/officeDocument/2006/relationships" id="2147483653" r:id="R67f38f99539f4ad5"/>
    <p:sldLayoutId xmlns:r="http://schemas.openxmlformats.org/officeDocument/2006/relationships" id="2147483654" r:id="R8296d703f62247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4e42f33cd4d4427" /><Relationship Type="http://schemas.openxmlformats.org/officeDocument/2006/relationships/notesSlide" Target="/ppt/notesSlides/notesSlide1.xml" Id="Rca5b8879541342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65701748bb94a5b" /><Relationship Type="http://schemas.openxmlformats.org/officeDocument/2006/relationships/notesSlide" Target="/ppt/notesSlides/notesSlide2.xml" Id="R62e6781177074f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d7c7130003b4431" /><Relationship Type="http://schemas.openxmlformats.org/officeDocument/2006/relationships/notesSlide" Target="/ppt/notesSlides/notesSlide3.xml" Id="Rc743f51024b343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c9fdce10df94845" /><Relationship Type="http://schemas.openxmlformats.org/officeDocument/2006/relationships/notesSlide" Target="/ppt/notesSlides/notesSlide4.xml" Id="R4a68d3b7d3094e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1eb717913d84e22" /><Relationship Type="http://schemas.openxmlformats.org/officeDocument/2006/relationships/notesSlide" Target="/ppt/notesSlides/notesSlide5.xml" Id="R3abac6fd4c4a42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c8ae561bf824aa1" /><Relationship Type="http://schemas.openxmlformats.org/officeDocument/2006/relationships/notesSlide" Target="/ppt/notesSlides/notesSlide6.xml" Id="Rdf05e0b15c5e48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b765b4286f844a7" /><Relationship Type="http://schemas.openxmlformats.org/officeDocument/2006/relationships/notesSlide" Target="/ppt/notesSlides/notesSlide7.xml" Id="R3c89074d9b9d45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fb10185648648af" /><Relationship Type="http://schemas.openxmlformats.org/officeDocument/2006/relationships/notesSlide" Target="/ppt/notesSlides/notesSlide8.xml" Id="R4e74311bb0344dc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a00a2fca0ef4abd" /><Relationship Type="http://schemas.openxmlformats.org/officeDocument/2006/relationships/notesSlide" Target="/ppt/notesSlides/notesSlide9.xml" Id="Rd8b6d96171f244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3f902d017494a21" /><Relationship Type="http://schemas.openxmlformats.org/officeDocument/2006/relationships/notesSlide" Target="/ppt/notesSlides/notesSlide10.xml" Id="R9cce5daad1a7410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a3f13faf8584361" /><Relationship Type="http://schemas.openxmlformats.org/officeDocument/2006/relationships/notesSlide" Target="/ppt/notesSlides/notesSlide11.xml" Id="R827f1d8ad8fa4b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acc25343cdf496e" /><Relationship Type="http://schemas.openxmlformats.org/officeDocument/2006/relationships/notesSlide" Target="/ppt/notesSlides/notesSlide12.xml" Id="Ra5668d735543498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8c3e37f15ab4e64" /><Relationship Type="http://schemas.openxmlformats.org/officeDocument/2006/relationships/notesSlide" Target="/ppt/notesSlides/notesSlide13.xml" Id="Rc20b276bfa644fc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db1c8c493ae4d00" /><Relationship Type="http://schemas.openxmlformats.org/officeDocument/2006/relationships/notesSlide" Target="/ppt/notesSlides/notesSlide14.xml" Id="Ra1141c1e9e134e2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5a1e3681ca74635" /><Relationship Type="http://schemas.openxmlformats.org/officeDocument/2006/relationships/notesSlide" Target="/ppt/notesSlides/notesSlide15.xml" Id="R24996ba845c64c2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e685266cb2241df" /><Relationship Type="http://schemas.openxmlformats.org/officeDocument/2006/relationships/notesSlide" Target="/ppt/notesSlides/notesSlide16.xml" Id="Rb404b7628cf740c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ab976f8a37d4f1d" /><Relationship Type="http://schemas.openxmlformats.org/officeDocument/2006/relationships/notesSlide" Target="/ppt/notesSlides/notesSlide17.xml" Id="R1638b0bf55ff455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d9fae3ac4cb4da7" /><Relationship Type="http://schemas.openxmlformats.org/officeDocument/2006/relationships/notesSlide" Target="/ppt/notesSlides/notesSlide18.xml" Id="R62bc9bfbafcf468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0340b5dfe22416f" /><Relationship Type="http://schemas.openxmlformats.org/officeDocument/2006/relationships/notesSlide" Target="/ppt/notesSlides/notesSlide19.xml" Id="R0872d38271c1458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1a3ee1641ff4190" /><Relationship Type="http://schemas.openxmlformats.org/officeDocument/2006/relationships/notesSlide" Target="/ppt/notesSlides/notesSlide20.xml" Id="R099c545b90374b6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ffb52d7477a4998" /><Relationship Type="http://schemas.openxmlformats.org/officeDocument/2006/relationships/notesSlide" Target="/ppt/notesSlides/notesSlide21.xml" Id="R130e0c976d7e460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059fd224df74cfd" /><Relationship Type="http://schemas.openxmlformats.org/officeDocument/2006/relationships/notesSlide" Target="/ppt/notesSlides/notesSlide22.xml" Id="Rc1a7285d5e2b454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6ff24684418425e" /><Relationship Type="http://schemas.openxmlformats.org/officeDocument/2006/relationships/notesSlide" Target="/ppt/notesSlides/notesSlide23.xml" Id="R4ac5025dade04ca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6ebfa6c226a4ce7" /><Relationship Type="http://schemas.openxmlformats.org/officeDocument/2006/relationships/notesSlide" Target="/ppt/notesSlides/notesSlide24.xml" Id="R737166be9b344e2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21d0111b95b4999" /><Relationship Type="http://schemas.openxmlformats.org/officeDocument/2006/relationships/notesSlide" Target="/ppt/notesSlides/notesSlide25.xml" Id="Rd151ffdb3f54470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bf8e5f8ae4a4736" /><Relationship Type="http://schemas.openxmlformats.org/officeDocument/2006/relationships/notesSlide" Target="/ppt/notesSlides/notesSlide26.xml" Id="Rd6e08a7279134d0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11d51527b534b05" /><Relationship Type="http://schemas.openxmlformats.org/officeDocument/2006/relationships/notesSlide" Target="/ppt/notesSlides/notesSlide27.xml" Id="R07cbff18dca848c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46f5d4fbba94283" /><Relationship Type="http://schemas.openxmlformats.org/officeDocument/2006/relationships/notesSlide" Target="/ppt/notesSlides/notesSlide28.xml" Id="R1c7cce405e1a4f6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0919ec88d7d402f" /><Relationship Type="http://schemas.openxmlformats.org/officeDocument/2006/relationships/notesSlide" Target="/ppt/notesSlides/notesSlide29.xml" Id="Rd277b4c7ab154f0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4349e4e8d2842b2" /><Relationship Type="http://schemas.openxmlformats.org/officeDocument/2006/relationships/notesSlide" Target="/ppt/notesSlides/notesSlide30.xml" Id="R1875186f0659486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a077250208d478f" /><Relationship Type="http://schemas.openxmlformats.org/officeDocument/2006/relationships/notesSlide" Target="/ppt/notesSlides/notesSlide31.xml" Id="R3873e0df6ef24dc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fce9f8498ea41c8" /><Relationship Type="http://schemas.openxmlformats.org/officeDocument/2006/relationships/notesSlide" Target="/ppt/notesSlides/notesSlide32.xml" Id="Ra1fc6749e58c498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bbe705e200146d0" /><Relationship Type="http://schemas.openxmlformats.org/officeDocument/2006/relationships/notesSlide" Target="/ppt/notesSlides/notesSlide33.xml" Id="R7168fbf99bad4a8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36e9388456b24023" /><Relationship Type="http://schemas.openxmlformats.org/officeDocument/2006/relationships/notesSlide" Target="/ppt/notesSlides/notesSlide34.xml" Id="R94bf0226e3b24b4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0276b2da540748b6" /><Relationship Type="http://schemas.openxmlformats.org/officeDocument/2006/relationships/notesSlide" Target="/ppt/notesSlides/notesSlide35.xml" Id="Rea8d8c9f3c6844d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21f571a2249d45c2" /><Relationship Type="http://schemas.openxmlformats.org/officeDocument/2006/relationships/notesSlide" Target="/ppt/notesSlides/notesSlide36.xml" Id="Rb5c75c21af36463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6ef0dbb85d8e4c7f" /><Relationship Type="http://schemas.openxmlformats.org/officeDocument/2006/relationships/notesSlide" Target="/ppt/notesSlides/notesSlide37.xml" Id="R3fb3eb3a955a43b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1276dc0ce5bb4a4e" /><Relationship Type="http://schemas.openxmlformats.org/officeDocument/2006/relationships/notesSlide" Target="/ppt/notesSlides/notesSlide38.xml" Id="R3659451dcde54b1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870ab6c5e09045e4" /><Relationship Type="http://schemas.openxmlformats.org/officeDocument/2006/relationships/notesSlide" Target="/ppt/notesSlides/notesSlide39.xml" Id="Rbdd74d8aef144bf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1546a32552634dd1" /><Relationship Type="http://schemas.openxmlformats.org/officeDocument/2006/relationships/notesSlide" Target="/ppt/notesSlides/notesSlide40.xml" Id="R3813797ffb224cf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ea3ca7c97fd244e7" /><Relationship Type="http://schemas.openxmlformats.org/officeDocument/2006/relationships/notesSlide" Target="/ppt/notesSlides/notesSlide41.xml" Id="R141e0bcfd6cb489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fcba35113ff04aa9" /><Relationship Type="http://schemas.openxmlformats.org/officeDocument/2006/relationships/notesSlide" Target="/ppt/notesSlides/notesSlide42.xml" Id="R6c0e4fce405e4ca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6c7ce9afdfb9420d" /><Relationship Type="http://schemas.openxmlformats.org/officeDocument/2006/relationships/notesSlide" Target="/ppt/notesSlides/notesSlide43.xml" Id="R55a76c541bb240f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0cc73940e8734c10" /><Relationship Type="http://schemas.openxmlformats.org/officeDocument/2006/relationships/notesSlide" Target="/ppt/notesSlides/notesSlide44.xml" Id="R605b9e178249490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2bf6cd9b69444ddc" /><Relationship Type="http://schemas.openxmlformats.org/officeDocument/2006/relationships/notesSlide" Target="/ppt/notesSlides/notesSlide45.xml" Id="R9b17d6de21dc415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0fa8c5afdafe465b" /><Relationship Type="http://schemas.openxmlformats.org/officeDocument/2006/relationships/notesSlide" Target="/ppt/notesSlides/notesSlide46.xml" Id="R63e4114791d3490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a15aa30049254e66" /><Relationship Type="http://schemas.openxmlformats.org/officeDocument/2006/relationships/notesSlide" Target="/ppt/notesSlides/notesSlide47.xml" Id="Rbb9453bc4faf442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ada8c27bb71f450b" /><Relationship Type="http://schemas.openxmlformats.org/officeDocument/2006/relationships/notesSlide" Target="/ppt/notesSlides/notesSlide48.xml" Id="Re562b1bfb386419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781bc2c98d7d415c" /><Relationship Type="http://schemas.openxmlformats.org/officeDocument/2006/relationships/notesSlide" Target="/ppt/notesSlides/notesSlide49.xml" Id="R8717b5a1e8c94796"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8294375936684663" /><Relationship Type="http://schemas.openxmlformats.org/officeDocument/2006/relationships/notesSlide" Target="/ppt/notesSlides/notesSlide50.xml" Id="Ra21a1e28412c4a1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afe1bd18bf9249e4" /><Relationship Type="http://schemas.openxmlformats.org/officeDocument/2006/relationships/notesSlide" Target="/ppt/notesSlides/notesSlide51.xml" Id="Rb3cf5383927f4dbe"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1e2e0949dd094f5c" /><Relationship Type="http://schemas.openxmlformats.org/officeDocument/2006/relationships/notesSlide" Target="/ppt/notesSlides/notesSlide52.xml" Id="R0b2277f65a704cb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eec8d08f2be0410d" /><Relationship Type="http://schemas.openxmlformats.org/officeDocument/2006/relationships/notesSlide" Target="/ppt/notesSlides/notesSlide53.xml" Id="Rf80a70d392184e3c"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ffa09852c59145c3" /><Relationship Type="http://schemas.openxmlformats.org/officeDocument/2006/relationships/notesSlide" Target="/ppt/notesSlides/notesSlide54.xml" Id="R273a8d77423246e6"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967943fb9ae04613" /><Relationship Type="http://schemas.openxmlformats.org/officeDocument/2006/relationships/notesSlide" Target="/ppt/notesSlides/notesSlide55.xml" Id="R16849a4feaf048e2"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1dd476360a8e4634" /><Relationship Type="http://schemas.openxmlformats.org/officeDocument/2006/relationships/notesSlide" Target="/ppt/notesSlides/notesSlide56.xml" Id="Ra77bfd09778d45bb"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a986f3f9253244c3" /><Relationship Type="http://schemas.openxmlformats.org/officeDocument/2006/relationships/notesSlide" Target="/ppt/notesSlides/notesSlide57.xml" Id="R2661ce93ba9c4b6b"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5e6414de9fbc4f74" /><Relationship Type="http://schemas.openxmlformats.org/officeDocument/2006/relationships/notesSlide" Target="/ppt/notesSlides/notesSlide58.xml" Id="Rb6749d2969f64a1a"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baa8f53a37234523" /><Relationship Type="http://schemas.openxmlformats.org/officeDocument/2006/relationships/notesSlide" Target="/ppt/notesSlides/notesSlide59.xml" Id="R69e4b65a068f43b5"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919b0054341d4da8" /><Relationship Type="http://schemas.openxmlformats.org/officeDocument/2006/relationships/notesSlide" Target="/ppt/notesSlides/notesSlide60.xml" Id="R8324256f9f87480b"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e2c1b61224a74aa8" /><Relationship Type="http://schemas.openxmlformats.org/officeDocument/2006/relationships/notesSlide" Target="/ppt/notesSlides/notesSlide61.xml" Id="R951bcb1c2f1d4388"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bfdd90e1e2ce4e42" /><Relationship Type="http://schemas.openxmlformats.org/officeDocument/2006/relationships/notesSlide" Target="/ppt/notesSlides/notesSlide62.xml" Id="Rfafea958e58a48cc"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791b1379061046b1" /><Relationship Type="http://schemas.openxmlformats.org/officeDocument/2006/relationships/notesSlide" Target="/ppt/notesSlides/notesSlide63.xml" Id="R484899c846b84a26"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d6d6c125acd54255" /><Relationship Type="http://schemas.openxmlformats.org/officeDocument/2006/relationships/notesSlide" Target="/ppt/notesSlides/notesSlide64.xml" Id="R7ca272fd27d7451c"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69f6cdd7b43844a5" /><Relationship Type="http://schemas.openxmlformats.org/officeDocument/2006/relationships/notesSlide" Target="/ppt/notesSlides/notesSlide65.xml" Id="R9d774f456f4640a0"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d2b14e17a2b14d3d" /><Relationship Type="http://schemas.openxmlformats.org/officeDocument/2006/relationships/notesSlide" Target="/ppt/notesSlides/notesSlide66.xml" Id="R971df4e7e4414499"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29eb0d5035e84dd0" /><Relationship Type="http://schemas.openxmlformats.org/officeDocument/2006/relationships/notesSlide" Target="/ppt/notesSlides/notesSlide67.xml" Id="R993669da1654477c"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2099bece643048fb" /><Relationship Type="http://schemas.openxmlformats.org/officeDocument/2006/relationships/notesSlide" Target="/ppt/notesSlides/notesSlide68.xml" Id="R8636332ce1df4995"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401942cfe1f94191" /><Relationship Type="http://schemas.openxmlformats.org/officeDocument/2006/relationships/notesSlide" Target="/ppt/notesSlides/notesSlide69.xml" Id="R838dc39cc7fa4459"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f0ebcb7e27784821" /><Relationship Type="http://schemas.openxmlformats.org/officeDocument/2006/relationships/notesSlide" Target="/ppt/notesSlides/notesSlide70.xml" Id="R4351815af9884c61"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ca6b00c6b9fa4d0e" /><Relationship Type="http://schemas.openxmlformats.org/officeDocument/2006/relationships/notesSlide" Target="/ppt/notesSlides/notesSlide71.xml" Id="R0261c99ec95d4c95"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4735025ca7b3446c" /><Relationship Type="http://schemas.openxmlformats.org/officeDocument/2006/relationships/notesSlide" Target="/ppt/notesSlides/notesSlide72.xml" Id="R75351e2f19104ace"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3ac96939fca24376" /><Relationship Type="http://schemas.openxmlformats.org/officeDocument/2006/relationships/notesSlide" Target="/ppt/notesSlides/notesSlide73.xml" Id="Ree98962943554b88"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172960a00cf645c9" /><Relationship Type="http://schemas.openxmlformats.org/officeDocument/2006/relationships/notesSlide" Target="/ppt/notesSlides/notesSlide74.xml" Id="R491b28423ddd4970"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5248e9b34aeb43cc" /><Relationship Type="http://schemas.openxmlformats.org/officeDocument/2006/relationships/notesSlide" Target="/ppt/notesSlides/notesSlide75.xml" Id="R61b3f55fb6854f03"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8c52cc3eff844af8" /><Relationship Type="http://schemas.openxmlformats.org/officeDocument/2006/relationships/notesSlide" Target="/ppt/notesSlides/notesSlide76.xml" Id="R99a8a65061bd4803"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73b2634eb21347cd" /><Relationship Type="http://schemas.openxmlformats.org/officeDocument/2006/relationships/notesSlide" Target="/ppt/notesSlides/notesSlide77.xml" Id="R0d4ce422b7784b4e"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c49cfe5448c743fa" /><Relationship Type="http://schemas.openxmlformats.org/officeDocument/2006/relationships/notesSlide" Target="/ppt/notesSlides/notesSlide78.xml" Id="R23ca283445f4482e"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92ad1ff1f7424170" /><Relationship Type="http://schemas.openxmlformats.org/officeDocument/2006/relationships/notesSlide" Target="/ppt/notesSlides/notesSlide79.xml" Id="Ra641eb18f46a4e87"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4b1303d83b5749ac" /><Relationship Type="http://schemas.openxmlformats.org/officeDocument/2006/relationships/notesSlide" Target="/ppt/notesSlides/notesSlide80.xml" Id="R5aee789075174367"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9e14e0d9f4d54c5c" /><Relationship Type="http://schemas.openxmlformats.org/officeDocument/2006/relationships/notesSlide" Target="/ppt/notesSlides/notesSlide81.xml" Id="Rb741c9ec9cc2456b"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1af6b7e7443d44c8" /><Relationship Type="http://schemas.openxmlformats.org/officeDocument/2006/relationships/notesSlide" Target="/ppt/notesSlides/notesSlide82.xml" Id="Re01e737b98a149aa"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9e1aa95ecae1499a" /><Relationship Type="http://schemas.openxmlformats.org/officeDocument/2006/relationships/notesSlide" Target="/ppt/notesSlides/notesSlide83.xml" Id="R945bb62923e2459d"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77a9e87d861847da" /><Relationship Type="http://schemas.openxmlformats.org/officeDocument/2006/relationships/notesSlide" Target="/ppt/notesSlides/notesSlide84.xml" Id="R28f21eaa75b44ac7"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7ebd787bb4344d42" /><Relationship Type="http://schemas.openxmlformats.org/officeDocument/2006/relationships/notesSlide" Target="/ppt/notesSlides/notesSlide85.xml" Id="R02f3124b5dd44744"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9f028fa0989a4973" /><Relationship Type="http://schemas.openxmlformats.org/officeDocument/2006/relationships/notesSlide" Target="/ppt/notesSlides/notesSlide86.xml" Id="R8cfe490a4102461f"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3089c2df9834432d" /><Relationship Type="http://schemas.openxmlformats.org/officeDocument/2006/relationships/notesSlide" Target="/ppt/notesSlides/notesSlide87.xml" Id="R2aa4ad3f6d6a4d8a"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9ce082c01e734f5f" /><Relationship Type="http://schemas.openxmlformats.org/officeDocument/2006/relationships/notesSlide" Target="/ppt/notesSlides/notesSlide88.xml" Id="R12aab699eb854907"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b2b51e0eb2b04ae7" /><Relationship Type="http://schemas.openxmlformats.org/officeDocument/2006/relationships/notesSlide" Target="/ppt/notesSlides/notesSlide89.xml" Id="Re88e7297f347470c"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3f69eda5cdec4559" /><Relationship Type="http://schemas.openxmlformats.org/officeDocument/2006/relationships/notesSlide" Target="/ppt/notesSlides/notesSlide90.xml" Id="R7ecadff1634d4858"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a258f806594944d7" /><Relationship Type="http://schemas.openxmlformats.org/officeDocument/2006/relationships/notesSlide" Target="/ppt/notesSlides/notesSlide91.xml" Id="Ra3d1272078ff49c4"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60b125f9eda047e7" /><Relationship Type="http://schemas.openxmlformats.org/officeDocument/2006/relationships/notesSlide" Target="/ppt/notesSlides/notesSlide92.xml" Id="R6c5334af9b0b4d3c"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867f2e88d17349ee" /><Relationship Type="http://schemas.openxmlformats.org/officeDocument/2006/relationships/notesSlide" Target="/ppt/notesSlides/notesSlide93.xml" Id="Rd4e9c29649394a43" /></Relationships>
</file>

<file path=ppt/slides/_rels/slide94.xml.rels>&#65279;<?xml version="1.0" encoding="utf-8"?><Relationships xmlns="http://schemas.openxmlformats.org/package/2006/relationships"><Relationship Type="http://schemas.openxmlformats.org/officeDocument/2006/relationships/slideLayout" Target="/ppt/slideLayouts/slideLayout6.xml" Id="R9700e7034cba4e08" /><Relationship Type="http://schemas.openxmlformats.org/officeDocument/2006/relationships/notesSlide" Target="/ppt/notesSlides/notesSlide94.xml" Id="Rbda6b83a48b949e3" /></Relationships>
</file>

<file path=ppt/slides/_rels/slide95.xml.rels>&#65279;<?xml version="1.0" encoding="utf-8"?><Relationships xmlns="http://schemas.openxmlformats.org/package/2006/relationships"><Relationship Type="http://schemas.openxmlformats.org/officeDocument/2006/relationships/slideLayout" Target="/ppt/slideLayouts/slideLayout6.xml" Id="Rdf6506abb9da4d1a" /><Relationship Type="http://schemas.openxmlformats.org/officeDocument/2006/relationships/notesSlide" Target="/ppt/notesSlides/notesSlide95.xml" Id="Rcfa9d0c5f2e44386" /></Relationships>
</file>

<file path=ppt/slides/_rels/slide96.xml.rels>&#65279;<?xml version="1.0" encoding="utf-8"?><Relationships xmlns="http://schemas.openxmlformats.org/package/2006/relationships"><Relationship Type="http://schemas.openxmlformats.org/officeDocument/2006/relationships/slideLayout" Target="/ppt/slideLayouts/slideLayout6.xml" Id="Ra89299599afc48e1" /><Relationship Type="http://schemas.openxmlformats.org/officeDocument/2006/relationships/notesSlide" Target="/ppt/notesSlides/notesSlide96.xml" Id="Rc5ffa9e621004ac2" /></Relationships>
</file>

<file path=ppt/slides/_rels/slide97.xml.rels>&#65279;<?xml version="1.0" encoding="utf-8"?><Relationships xmlns="http://schemas.openxmlformats.org/package/2006/relationships"><Relationship Type="http://schemas.openxmlformats.org/officeDocument/2006/relationships/slideLayout" Target="/ppt/slideLayouts/slideLayout6.xml" Id="Rbe26dc4daedc4540" /><Relationship Type="http://schemas.openxmlformats.org/officeDocument/2006/relationships/notesSlide" Target="/ppt/notesSlides/notesSlide97.xml" Id="Rbf5cfea4cf2c4c5e" /></Relationships>
</file>

<file path=ppt/slides/_rels/slide98.xml.rels>&#65279;<?xml version="1.0" encoding="utf-8"?><Relationships xmlns="http://schemas.openxmlformats.org/package/2006/relationships"><Relationship Type="http://schemas.openxmlformats.org/officeDocument/2006/relationships/slideLayout" Target="/ppt/slideLayouts/slideLayout6.xml" Id="R69325332f9604d2b" /><Relationship Type="http://schemas.openxmlformats.org/officeDocument/2006/relationships/notesSlide" Target="/ppt/notesSlides/notesSlide98.xml" Id="R1688ee2dd7364d11" /></Relationships>
</file>

<file path=ppt/slides/_rels/slide99.xml.rels>&#65279;<?xml version="1.0" encoding="utf-8"?><Relationships xmlns="http://schemas.openxmlformats.org/package/2006/relationships"><Relationship Type="http://schemas.openxmlformats.org/officeDocument/2006/relationships/slideLayout" Target="/ppt/slideLayouts/slideLayout6.xml" Id="R82a0eb9b0d9241da" /><Relationship Type="http://schemas.openxmlformats.org/officeDocument/2006/relationships/notesSlide" Target="/ppt/notesSlides/notesSlide99.xml" Id="R79be85d9cd2040a2"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6.xml" Id="R4f3094c5236342aa" /><Relationship Type="http://schemas.openxmlformats.org/officeDocument/2006/relationships/notesSlide" Target="/ppt/notesSlides/notesSlide100.xml" Id="R3402498f49064224"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6.xml" Id="Re864692d0d124efa" /><Relationship Type="http://schemas.openxmlformats.org/officeDocument/2006/relationships/notesSlide" Target="/ppt/notesSlides/notesSlide101.xml" Id="R281c228df67b4a0a"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6.xml" Id="R4723c98167e74a80" /><Relationship Type="http://schemas.openxmlformats.org/officeDocument/2006/relationships/notesSlide" Target="/ppt/notesSlides/notesSlide102.xml" Id="R1f621f514c224778"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6.xml" Id="R64430a0fc1f842f2" /><Relationship Type="http://schemas.openxmlformats.org/officeDocument/2006/relationships/notesSlide" Target="/ppt/notesSlides/notesSlide103.xml" Id="R7d47716ca3f0488a"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6.xml" Id="R097cd6d074274d8d" /><Relationship Type="http://schemas.openxmlformats.org/officeDocument/2006/relationships/notesSlide" Target="/ppt/notesSlides/notesSlide104.xml" Id="Re79cd66c98224684"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6.xml" Id="R4f72ea25d3534900" /><Relationship Type="http://schemas.openxmlformats.org/officeDocument/2006/relationships/notesSlide" Target="/ppt/notesSlides/notesSlide105.xml" Id="Rfdbb48192847457e"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6.xml" Id="Ra788e80915644af9" /><Relationship Type="http://schemas.openxmlformats.org/officeDocument/2006/relationships/notesSlide" Target="/ppt/notesSlides/notesSlide106.xml" Id="R816baaceb56f4c45"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6.xml" Id="R8fc565320c4246c1" /><Relationship Type="http://schemas.openxmlformats.org/officeDocument/2006/relationships/notesSlide" Target="/ppt/notesSlides/notesSlide107.xml" Id="Ra5f2bffd63f245e4"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6.xml" Id="R55c77928c3ff4942" /><Relationship Type="http://schemas.openxmlformats.org/officeDocument/2006/relationships/notesSlide" Target="/ppt/notesSlides/notesSlide108.xml" Id="Rec9ee38ae8544f6b"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6.xml" Id="Rc3a2b05b713243ac" /><Relationship Type="http://schemas.openxmlformats.org/officeDocument/2006/relationships/notesSlide" Target="/ppt/notesSlides/notesSlide109.xml" Id="R2f4f3bb128b04db5"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6.xml" Id="Rad1c827fce2f4f5d" /><Relationship Type="http://schemas.openxmlformats.org/officeDocument/2006/relationships/notesSlide" Target="/ppt/notesSlides/notesSlide110.xml" Id="Rc45c4d6f1fbd4faf"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6.xml" Id="R60347cdf86eb4727" /><Relationship Type="http://schemas.openxmlformats.org/officeDocument/2006/relationships/notesSlide" Target="/ppt/notesSlides/notesSlide111.xml" Id="Rcacdcf655fc74021"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6.xml" Id="Re98d80940e264fd7" /><Relationship Type="http://schemas.openxmlformats.org/officeDocument/2006/relationships/notesSlide" Target="/ppt/notesSlides/notesSlide112.xml" Id="R48773ad06f7d409f"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6.xml" Id="Rbbb334901f2a4e2e" /><Relationship Type="http://schemas.openxmlformats.org/officeDocument/2006/relationships/notesSlide" Target="/ppt/notesSlides/notesSlide113.xml" Id="R19bad83d07e7477d"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6.xml" Id="R2d4efff96fe04d06" /><Relationship Type="http://schemas.openxmlformats.org/officeDocument/2006/relationships/notesSlide" Target="/ppt/notesSlides/notesSlide114.xml" Id="R6756d44ec172414e"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6.xml" Id="R3bd2b8a1eab74ff4" /><Relationship Type="http://schemas.openxmlformats.org/officeDocument/2006/relationships/notesSlide" Target="/ppt/notesSlides/notesSlide115.xml" Id="R3689893fcb8043fa"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6.xml" Id="R432511f209e94d13" /><Relationship Type="http://schemas.openxmlformats.org/officeDocument/2006/relationships/notesSlide" Target="/ppt/notesSlides/notesSlide116.xml" Id="R7ffc0afdee3c4f63"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6.xml" Id="R99d2ce16579c4fe1" /><Relationship Type="http://schemas.openxmlformats.org/officeDocument/2006/relationships/notesSlide" Target="/ppt/notesSlides/notesSlide117.xml" Id="R6ea7fae12a534e98"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6.xml" Id="R0af88f95151e49c1" /><Relationship Type="http://schemas.openxmlformats.org/officeDocument/2006/relationships/notesSlide" Target="/ppt/notesSlides/notesSlide118.xml" Id="R70f05b04ad324578"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6.xml" Id="Rb0a83e49b4da4714" /><Relationship Type="http://schemas.openxmlformats.org/officeDocument/2006/relationships/notesSlide" Target="/ppt/notesSlides/notesSlide119.xml" Id="R88121af79e824e59"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6.xml" Id="R5ed3f799f8874505" /><Relationship Type="http://schemas.openxmlformats.org/officeDocument/2006/relationships/notesSlide" Target="/ppt/notesSlides/notesSlide120.xml" Id="Rea5ed8d9bbf84171"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6.xml" Id="R6beb8e3d3410490b" /><Relationship Type="http://schemas.openxmlformats.org/officeDocument/2006/relationships/notesSlide" Target="/ppt/notesSlides/notesSlide121.xml" Id="R8a3e7390320b46c2"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6.xml" Id="Rbf1eb856a7b546de" /><Relationship Type="http://schemas.openxmlformats.org/officeDocument/2006/relationships/notesSlide" Target="/ppt/notesSlides/notesSlide122.xml" Id="R3ea329084dd94449"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6.xml" Id="R284ede00362f4c6f" /><Relationship Type="http://schemas.openxmlformats.org/officeDocument/2006/relationships/notesSlide" Target="/ppt/notesSlides/notesSlide123.xml" Id="R9e91217a06e243c3"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6.xml" Id="R7e70fc7c238a4f49" /><Relationship Type="http://schemas.openxmlformats.org/officeDocument/2006/relationships/notesSlide" Target="/ppt/notesSlides/notesSlide124.xml" Id="R445eb5b2eb0b4b39"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6.xml" Id="R1b2ee65bad8a4905" /><Relationship Type="http://schemas.openxmlformats.org/officeDocument/2006/relationships/notesSlide" Target="/ppt/notesSlides/notesSlide125.xml" Id="R92dcf0ab8e6b4a79"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6.xml" Id="R5ac416a929c74a7f" /><Relationship Type="http://schemas.openxmlformats.org/officeDocument/2006/relationships/notesSlide" Target="/ppt/notesSlides/notesSlide126.xml" Id="R9b32384ac67e403b"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6.xml" Id="R130a372731d44518" /><Relationship Type="http://schemas.openxmlformats.org/officeDocument/2006/relationships/notesSlide" Target="/ppt/notesSlides/notesSlide127.xml" Id="R06771e4e2308443e"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6.xml" Id="Rd798dadc37ab4afd" /><Relationship Type="http://schemas.openxmlformats.org/officeDocument/2006/relationships/notesSlide" Target="/ppt/notesSlides/notesSlide128.xml" Id="R017a978e566c4583"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6.xml" Id="R97d38ab835f04eeb" /><Relationship Type="http://schemas.openxmlformats.org/officeDocument/2006/relationships/notesSlide" Target="/ppt/notesSlides/notesSlide129.xml" Id="R2940fd3615f64204"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6.xml" Id="R424fb03dd67141fe" /><Relationship Type="http://schemas.openxmlformats.org/officeDocument/2006/relationships/notesSlide" Target="/ppt/notesSlides/notesSlide130.xml" Id="R014d82e76bf740f7"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6.xml" Id="R52d051e09fda4610" /><Relationship Type="http://schemas.openxmlformats.org/officeDocument/2006/relationships/notesSlide" Target="/ppt/notesSlides/notesSlide131.xml" Id="Ra77979243d174102"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6.xml" Id="Re60a184790a5426e" /><Relationship Type="http://schemas.openxmlformats.org/officeDocument/2006/relationships/notesSlide" Target="/ppt/notesSlides/notesSlide132.xml" Id="R9ec8eafcab35438c"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6.xml" Id="R1284aa9de67c47bf" /><Relationship Type="http://schemas.openxmlformats.org/officeDocument/2006/relationships/notesSlide" Target="/ppt/notesSlides/notesSlide133.xml" Id="R01f03af793884491"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6.xml" Id="Ra068a85f1a6446c7" /><Relationship Type="http://schemas.openxmlformats.org/officeDocument/2006/relationships/notesSlide" Target="/ppt/notesSlides/notesSlide134.xml" Id="R5f429ae3048d46ae"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6.xml" Id="R771e0a5a67bb42a1" /><Relationship Type="http://schemas.openxmlformats.org/officeDocument/2006/relationships/notesSlide" Target="/ppt/notesSlides/notesSlide135.xml" Id="R52ddf563505f477f"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6.xml" Id="R941458f95bee4fb6" /><Relationship Type="http://schemas.openxmlformats.org/officeDocument/2006/relationships/notesSlide" Target="/ppt/notesSlides/notesSlide136.xml" Id="R7a64eb52969843ce"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6.xml" Id="R99e0d1a782364d91" /><Relationship Type="http://schemas.openxmlformats.org/officeDocument/2006/relationships/notesSlide" Target="/ppt/notesSlides/notesSlide137.xml" Id="R6b88a5b2d0ab4aa8"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6.xml" Id="Re6db8b96b6114d5d" /><Relationship Type="http://schemas.openxmlformats.org/officeDocument/2006/relationships/notesSlide" Target="/ppt/notesSlides/notesSlide138.xml" Id="R355f81018c70484d"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6.xml" Id="R2d95c60c46e94eed" /><Relationship Type="http://schemas.openxmlformats.org/officeDocument/2006/relationships/notesSlide" Target="/ppt/notesSlides/notesSlide139.xml" Id="R355374ecfeea41e7"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6.xml" Id="R1e456dec6e7b4f0a" /><Relationship Type="http://schemas.openxmlformats.org/officeDocument/2006/relationships/notesSlide" Target="/ppt/notesSlides/notesSlide140.xml" Id="R1ff62502a3f6490f"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6.xml" Id="Rd7794a8c0cff4f80" /><Relationship Type="http://schemas.openxmlformats.org/officeDocument/2006/relationships/notesSlide" Target="/ppt/notesSlides/notesSlide141.xml" Id="R6073aa7df4904523"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6.xml" Id="R555d3cd78ac041e9" /><Relationship Type="http://schemas.openxmlformats.org/officeDocument/2006/relationships/notesSlide" Target="/ppt/notesSlides/notesSlide142.xml" Id="R7f1fd5c711704531"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6.xml" Id="R897e385c89e04f43" /><Relationship Type="http://schemas.openxmlformats.org/officeDocument/2006/relationships/notesSlide" Target="/ppt/notesSlides/notesSlide143.xml" Id="Reaa016f11feb4768"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6.xml" Id="R81c6c628cbcf4ddd" /><Relationship Type="http://schemas.openxmlformats.org/officeDocument/2006/relationships/notesSlide" Target="/ppt/notesSlides/notesSlide144.xml" Id="R2e2829b594be4f0e"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6.xml" Id="R30eb1574b27547a3" /><Relationship Type="http://schemas.openxmlformats.org/officeDocument/2006/relationships/notesSlide" Target="/ppt/notesSlides/notesSlide145.xml" Id="R2f7e64af044c4839"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6.xml" Id="Rc6e87c57564246a6" /><Relationship Type="http://schemas.openxmlformats.org/officeDocument/2006/relationships/notesSlide" Target="/ppt/notesSlides/notesSlide146.xml" Id="R1529edd2190845a7"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6.xml" Id="R26616b38ad3b439d" /><Relationship Type="http://schemas.openxmlformats.org/officeDocument/2006/relationships/notesSlide" Target="/ppt/notesSlides/notesSlide147.xml" Id="Ra33cb130c3464cbf"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6.xml" Id="Re8624345173d456f" /><Relationship Type="http://schemas.openxmlformats.org/officeDocument/2006/relationships/notesSlide" Target="/ppt/notesSlides/notesSlide148.xml" Id="R99b02e2683ce43c9"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6.xml" Id="Rafcfeef4a4a44011" /><Relationship Type="http://schemas.openxmlformats.org/officeDocument/2006/relationships/notesSlide" Target="/ppt/notesSlides/notesSlide149.xml" Id="R61c890838af14594"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6.xml" Id="R64232fe81f0e4e56" /><Relationship Type="http://schemas.openxmlformats.org/officeDocument/2006/relationships/notesSlide" Target="/ppt/notesSlides/notesSlide150.xml" Id="Rb86df028fe174826"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6.xml" Id="R727cc6e662274f5b" /><Relationship Type="http://schemas.openxmlformats.org/officeDocument/2006/relationships/notesSlide" Target="/ppt/notesSlides/notesSlide151.xml" Id="Re15368d3382541dd"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6.xml" Id="R2bd0d55339194d80" /><Relationship Type="http://schemas.openxmlformats.org/officeDocument/2006/relationships/notesSlide" Target="/ppt/notesSlides/notesSlide152.xml" Id="Rae2f937e5e7f4730"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6.xml" Id="R5bfddf3319734c43" /><Relationship Type="http://schemas.openxmlformats.org/officeDocument/2006/relationships/notesSlide" Target="/ppt/notesSlides/notesSlide153.xml" Id="R28e1d15f249d421f"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6.xml" Id="R3a01aa8379c34493" /><Relationship Type="http://schemas.openxmlformats.org/officeDocument/2006/relationships/notesSlide" Target="/ppt/notesSlides/notesSlide154.xml" Id="Rcd2c47fb51a94864"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6.xml" Id="Rd0bc039487a2437d" /><Relationship Type="http://schemas.openxmlformats.org/officeDocument/2006/relationships/notesSlide" Target="/ppt/notesSlides/notesSlide155.xml" Id="R20977ed5b1a84b30"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6.xml" Id="R475ebd9f78d84b87" /><Relationship Type="http://schemas.openxmlformats.org/officeDocument/2006/relationships/notesSlide" Target="/ppt/notesSlides/notesSlide156.xml" Id="Rb80099c8f8214562" /></Relationships>
</file>

<file path=ppt/slides/_rels/slide157.xml.rels>&#65279;<?xml version="1.0" encoding="utf-8"?><Relationships xmlns="http://schemas.openxmlformats.org/package/2006/relationships"><Relationship Type="http://schemas.openxmlformats.org/officeDocument/2006/relationships/slideLayout" Target="/ppt/slideLayouts/slideLayout6.xml" Id="Rb0267f3f43d44cb2" /><Relationship Type="http://schemas.openxmlformats.org/officeDocument/2006/relationships/notesSlide" Target="/ppt/notesSlides/notesSlide157.xml" Id="R2d5fcf5940774a17" /></Relationships>
</file>

<file path=ppt/slides/_rels/slide158.xml.rels>&#65279;<?xml version="1.0" encoding="utf-8"?><Relationships xmlns="http://schemas.openxmlformats.org/package/2006/relationships"><Relationship Type="http://schemas.openxmlformats.org/officeDocument/2006/relationships/slideLayout" Target="/ppt/slideLayouts/slideLayout6.xml" Id="Ra7e6c02a15b244b0" /><Relationship Type="http://schemas.openxmlformats.org/officeDocument/2006/relationships/notesSlide" Target="/ppt/notesSlides/notesSlide158.xml" Id="Radfcd9571249411d" /></Relationships>
</file>

<file path=ppt/slides/_rels/slide159.xml.rels>&#65279;<?xml version="1.0" encoding="utf-8"?><Relationships xmlns="http://schemas.openxmlformats.org/package/2006/relationships"><Relationship Type="http://schemas.openxmlformats.org/officeDocument/2006/relationships/slideLayout" Target="/ppt/slideLayouts/slideLayout6.xml" Id="R67fb4cf2d3ea42a3" /><Relationship Type="http://schemas.openxmlformats.org/officeDocument/2006/relationships/notesSlide" Target="/ppt/notesSlides/notesSlide159.xml" Id="R4f1a3d6d448348af" /></Relationships>
</file>

<file path=ppt/slides/_rels/slide160.xml.rels>&#65279;<?xml version="1.0" encoding="utf-8"?><Relationships xmlns="http://schemas.openxmlformats.org/package/2006/relationships"><Relationship Type="http://schemas.openxmlformats.org/officeDocument/2006/relationships/slideLayout" Target="/ppt/slideLayouts/slideLayout6.xml" Id="Rfed0c856b1af4ed7" /><Relationship Type="http://schemas.openxmlformats.org/officeDocument/2006/relationships/notesSlide" Target="/ppt/notesSlides/notesSlide160.xml" Id="R1dd9c28ed21947c0" /></Relationships>
</file>

<file path=ppt/slides/_rels/slide161.xml.rels>&#65279;<?xml version="1.0" encoding="utf-8"?><Relationships xmlns="http://schemas.openxmlformats.org/package/2006/relationships"><Relationship Type="http://schemas.openxmlformats.org/officeDocument/2006/relationships/slideLayout" Target="/ppt/slideLayouts/slideLayout6.xml" Id="Rdf1ac51f217940d6" /><Relationship Type="http://schemas.openxmlformats.org/officeDocument/2006/relationships/notesSlide" Target="/ppt/notesSlides/notesSlide161.xml" Id="R2bc206496c1545ff" /></Relationships>
</file>

<file path=ppt/slides/_rels/slide162.xml.rels>&#65279;<?xml version="1.0" encoding="utf-8"?><Relationships xmlns="http://schemas.openxmlformats.org/package/2006/relationships"><Relationship Type="http://schemas.openxmlformats.org/officeDocument/2006/relationships/slideLayout" Target="/ppt/slideLayouts/slideLayout6.xml" Id="R0730ec4581074e7f" /><Relationship Type="http://schemas.openxmlformats.org/officeDocument/2006/relationships/notesSlide" Target="/ppt/notesSlides/notesSlide162.xml" Id="R0a4f92151f424990" /></Relationships>
</file>

<file path=ppt/slides/_rels/slide163.xml.rels>&#65279;<?xml version="1.0" encoding="utf-8"?><Relationships xmlns="http://schemas.openxmlformats.org/package/2006/relationships"><Relationship Type="http://schemas.openxmlformats.org/officeDocument/2006/relationships/slideLayout" Target="/ppt/slideLayouts/slideLayout6.xml" Id="R012ef475998d47bb" /><Relationship Type="http://schemas.openxmlformats.org/officeDocument/2006/relationships/notesSlide" Target="/ppt/notesSlides/notesSlide163.xml" Id="R9235d47105bf4dd2" /></Relationships>
</file>

<file path=ppt/slides/_rels/slide164.xml.rels>&#65279;<?xml version="1.0" encoding="utf-8"?><Relationships xmlns="http://schemas.openxmlformats.org/package/2006/relationships"><Relationship Type="http://schemas.openxmlformats.org/officeDocument/2006/relationships/slideLayout" Target="/ppt/slideLayouts/slideLayout6.xml" Id="R597a0f861dd04fbe" /><Relationship Type="http://schemas.openxmlformats.org/officeDocument/2006/relationships/notesSlide" Target="/ppt/notesSlides/notesSlide164.xml" Id="R00f0737f7d484877" /></Relationships>
</file>

<file path=ppt/slides/_rels/slide165.xml.rels>&#65279;<?xml version="1.0" encoding="utf-8"?><Relationships xmlns="http://schemas.openxmlformats.org/package/2006/relationships"><Relationship Type="http://schemas.openxmlformats.org/officeDocument/2006/relationships/slideLayout" Target="/ppt/slideLayouts/slideLayout6.xml" Id="R6d864d38ec3e41ca" /><Relationship Type="http://schemas.openxmlformats.org/officeDocument/2006/relationships/notesSlide" Target="/ppt/notesSlides/notesSlide165.xml" Id="Raaba5de581fa4136" /></Relationships>
</file>

<file path=ppt/slides/_rels/slide166.xml.rels>&#65279;<?xml version="1.0" encoding="utf-8"?><Relationships xmlns="http://schemas.openxmlformats.org/package/2006/relationships"><Relationship Type="http://schemas.openxmlformats.org/officeDocument/2006/relationships/slideLayout" Target="/ppt/slideLayouts/slideLayout6.xml" Id="R5538ebb4b7084cab" /><Relationship Type="http://schemas.openxmlformats.org/officeDocument/2006/relationships/notesSlide" Target="/ppt/notesSlides/notesSlide166.xml" Id="R7776716ceff14dbf" /></Relationships>
</file>

<file path=ppt/slides/_rels/slide167.xml.rels>&#65279;<?xml version="1.0" encoding="utf-8"?><Relationships xmlns="http://schemas.openxmlformats.org/package/2006/relationships"><Relationship Type="http://schemas.openxmlformats.org/officeDocument/2006/relationships/slideLayout" Target="/ppt/slideLayouts/slideLayout6.xml" Id="R586001a64a104b49" /><Relationship Type="http://schemas.openxmlformats.org/officeDocument/2006/relationships/notesSlide" Target="/ppt/notesSlides/notesSlide167.xml" Id="R12c90d6bf8a144a5" /></Relationships>
</file>

<file path=ppt/slides/_rels/slide168.xml.rels>&#65279;<?xml version="1.0" encoding="utf-8"?><Relationships xmlns="http://schemas.openxmlformats.org/package/2006/relationships"><Relationship Type="http://schemas.openxmlformats.org/officeDocument/2006/relationships/slideLayout" Target="/ppt/slideLayouts/slideLayout6.xml" Id="R7288b972c6f84416" /><Relationship Type="http://schemas.openxmlformats.org/officeDocument/2006/relationships/notesSlide" Target="/ppt/notesSlides/notesSlide168.xml" Id="R3f2cd13557974875" /></Relationships>
</file>

<file path=ppt/slides/_rels/slide169.xml.rels>&#65279;<?xml version="1.0" encoding="utf-8"?><Relationships xmlns="http://schemas.openxmlformats.org/package/2006/relationships"><Relationship Type="http://schemas.openxmlformats.org/officeDocument/2006/relationships/slideLayout" Target="/ppt/slideLayouts/slideLayout6.xml" Id="Rccc474ffc1b846ef" /><Relationship Type="http://schemas.openxmlformats.org/officeDocument/2006/relationships/notesSlide" Target="/ppt/notesSlides/notesSlide169.xml" Id="R38eaa6788ce84bf6" /></Relationships>
</file>

<file path=ppt/slides/_rels/slide170.xml.rels>&#65279;<?xml version="1.0" encoding="utf-8"?><Relationships xmlns="http://schemas.openxmlformats.org/package/2006/relationships"><Relationship Type="http://schemas.openxmlformats.org/officeDocument/2006/relationships/slideLayout" Target="/ppt/slideLayouts/slideLayout6.xml" Id="R9437496a8e5a41fe" /><Relationship Type="http://schemas.openxmlformats.org/officeDocument/2006/relationships/notesSlide" Target="/ppt/notesSlides/notesSlide170.xml" Id="R2d60403e03c940d3" /></Relationships>
</file>

<file path=ppt/slides/_rels/slide171.xml.rels>&#65279;<?xml version="1.0" encoding="utf-8"?><Relationships xmlns="http://schemas.openxmlformats.org/package/2006/relationships"><Relationship Type="http://schemas.openxmlformats.org/officeDocument/2006/relationships/slideLayout" Target="/ppt/slideLayouts/slideLayout6.xml" Id="Ra9a0dbe3ed93467d" /><Relationship Type="http://schemas.openxmlformats.org/officeDocument/2006/relationships/notesSlide" Target="/ppt/notesSlides/notesSlide171.xml" Id="R5f7695e041474170" /></Relationships>
</file>

<file path=ppt/slides/_rels/slide172.xml.rels>&#65279;<?xml version="1.0" encoding="utf-8"?><Relationships xmlns="http://schemas.openxmlformats.org/package/2006/relationships"><Relationship Type="http://schemas.openxmlformats.org/officeDocument/2006/relationships/slideLayout" Target="/ppt/slideLayouts/slideLayout6.xml" Id="Rdaba64b60db9498c" /><Relationship Type="http://schemas.openxmlformats.org/officeDocument/2006/relationships/notesSlide" Target="/ppt/notesSlides/notesSlide172.xml" Id="R7dfe2ee12c8b4062" /></Relationships>
</file>

<file path=ppt/slides/_rels/slide173.xml.rels>&#65279;<?xml version="1.0" encoding="utf-8"?><Relationships xmlns="http://schemas.openxmlformats.org/package/2006/relationships"><Relationship Type="http://schemas.openxmlformats.org/officeDocument/2006/relationships/slideLayout" Target="/ppt/slideLayouts/slideLayout6.xml" Id="Rf9f910ca442445d7" /><Relationship Type="http://schemas.openxmlformats.org/officeDocument/2006/relationships/notesSlide" Target="/ppt/notesSlides/notesSlide173.xml" Id="R4319691cf96b4d04" /></Relationships>
</file>

<file path=ppt/slides/_rels/slide174.xml.rels>&#65279;<?xml version="1.0" encoding="utf-8"?><Relationships xmlns="http://schemas.openxmlformats.org/package/2006/relationships"><Relationship Type="http://schemas.openxmlformats.org/officeDocument/2006/relationships/slideLayout" Target="/ppt/slideLayouts/slideLayout6.xml" Id="Rad11fac917de4d6a" /><Relationship Type="http://schemas.openxmlformats.org/officeDocument/2006/relationships/notesSlide" Target="/ppt/notesSlides/notesSlide174.xml" Id="Ra9149e2e9e99473c" /></Relationships>
</file>

<file path=ppt/slides/_rels/slide175.xml.rels>&#65279;<?xml version="1.0" encoding="utf-8"?><Relationships xmlns="http://schemas.openxmlformats.org/package/2006/relationships"><Relationship Type="http://schemas.openxmlformats.org/officeDocument/2006/relationships/slideLayout" Target="/ppt/slideLayouts/slideLayout6.xml" Id="Rcdbf4961d51f4c03" /><Relationship Type="http://schemas.openxmlformats.org/officeDocument/2006/relationships/notesSlide" Target="/ppt/notesSlides/notesSlide175.xml" Id="Rce7fcff6331648b7" /></Relationships>
</file>

<file path=ppt/slides/_rels/slide176.xml.rels>&#65279;<?xml version="1.0" encoding="utf-8"?><Relationships xmlns="http://schemas.openxmlformats.org/package/2006/relationships"><Relationship Type="http://schemas.openxmlformats.org/officeDocument/2006/relationships/slideLayout" Target="/ppt/slideLayouts/slideLayout6.xml" Id="R281f5959fa1c4f50" /><Relationship Type="http://schemas.openxmlformats.org/officeDocument/2006/relationships/notesSlide" Target="/ppt/notesSlides/notesSlide176.xml" Id="R1b3788522f904cf8" /></Relationships>
</file>

<file path=ppt/slides/_rels/slide177.xml.rels>&#65279;<?xml version="1.0" encoding="utf-8"?><Relationships xmlns="http://schemas.openxmlformats.org/package/2006/relationships"><Relationship Type="http://schemas.openxmlformats.org/officeDocument/2006/relationships/slideLayout" Target="/ppt/slideLayouts/slideLayout6.xml" Id="R0bc3433e562843d1" /><Relationship Type="http://schemas.openxmlformats.org/officeDocument/2006/relationships/notesSlide" Target="/ppt/notesSlides/notesSlide177.xml" Id="Rd2f4379ba476480b" /></Relationships>
</file>

<file path=ppt/slides/_rels/slide178.xml.rels>&#65279;<?xml version="1.0" encoding="utf-8"?><Relationships xmlns="http://schemas.openxmlformats.org/package/2006/relationships"><Relationship Type="http://schemas.openxmlformats.org/officeDocument/2006/relationships/slideLayout" Target="/ppt/slideLayouts/slideLayout6.xml" Id="R140f873880394c89" /><Relationship Type="http://schemas.openxmlformats.org/officeDocument/2006/relationships/notesSlide" Target="/ppt/notesSlides/notesSlide178.xml" Id="R6d521a7345e84d45" /></Relationships>
</file>

<file path=ppt/slides/_rels/slide179.xml.rels>&#65279;<?xml version="1.0" encoding="utf-8"?><Relationships xmlns="http://schemas.openxmlformats.org/package/2006/relationships"><Relationship Type="http://schemas.openxmlformats.org/officeDocument/2006/relationships/slideLayout" Target="/ppt/slideLayouts/slideLayout6.xml" Id="Rfdd7fd3c629c47a4" /><Relationship Type="http://schemas.openxmlformats.org/officeDocument/2006/relationships/notesSlide" Target="/ppt/notesSlides/notesSlide179.xml" Id="Rfd9a28a931314e50" /></Relationships>
</file>

<file path=ppt/slides/_rels/slide180.xml.rels>&#65279;<?xml version="1.0" encoding="utf-8"?><Relationships xmlns="http://schemas.openxmlformats.org/package/2006/relationships"><Relationship Type="http://schemas.openxmlformats.org/officeDocument/2006/relationships/slideLayout" Target="/ppt/slideLayouts/slideLayout6.xml" Id="Rf41dacfd29ac4b8d" /><Relationship Type="http://schemas.openxmlformats.org/officeDocument/2006/relationships/notesSlide" Target="/ppt/notesSlides/notesSlide180.xml" Id="R9f27231adb9944e1" /></Relationships>
</file>

<file path=ppt/slides/_rels/slide181.xml.rels>&#65279;<?xml version="1.0" encoding="utf-8"?><Relationships xmlns="http://schemas.openxmlformats.org/package/2006/relationships"><Relationship Type="http://schemas.openxmlformats.org/officeDocument/2006/relationships/slideLayout" Target="/ppt/slideLayouts/slideLayout6.xml" Id="Rebfe89e9f1a04b67" /><Relationship Type="http://schemas.openxmlformats.org/officeDocument/2006/relationships/notesSlide" Target="/ppt/notesSlides/notesSlide181.xml" Id="R6eec7b6d28ad4a45" /></Relationships>
</file>

<file path=ppt/slides/_rels/slide182.xml.rels>&#65279;<?xml version="1.0" encoding="utf-8"?><Relationships xmlns="http://schemas.openxmlformats.org/package/2006/relationships"><Relationship Type="http://schemas.openxmlformats.org/officeDocument/2006/relationships/slideLayout" Target="/ppt/slideLayouts/slideLayout6.xml" Id="Rffa4d0b1ab4046a4" /><Relationship Type="http://schemas.openxmlformats.org/officeDocument/2006/relationships/notesSlide" Target="/ppt/notesSlides/notesSlide182.xml" Id="R15a3caabb1134087" /></Relationships>
</file>

<file path=ppt/slides/_rels/slide183.xml.rels>&#65279;<?xml version="1.0" encoding="utf-8"?><Relationships xmlns="http://schemas.openxmlformats.org/package/2006/relationships"><Relationship Type="http://schemas.openxmlformats.org/officeDocument/2006/relationships/slideLayout" Target="/ppt/slideLayouts/slideLayout6.xml" Id="R7ee16e1623c6460c" /><Relationship Type="http://schemas.openxmlformats.org/officeDocument/2006/relationships/notesSlide" Target="/ppt/notesSlides/notesSlide183.xml" Id="Re48fcd6601f948a4" /></Relationships>
</file>

<file path=ppt/slides/_rels/slide184.xml.rels>&#65279;<?xml version="1.0" encoding="utf-8"?><Relationships xmlns="http://schemas.openxmlformats.org/package/2006/relationships"><Relationship Type="http://schemas.openxmlformats.org/officeDocument/2006/relationships/slideLayout" Target="/ppt/slideLayouts/slideLayout6.xml" Id="Ra4502cd42aed425b" /><Relationship Type="http://schemas.openxmlformats.org/officeDocument/2006/relationships/notesSlide" Target="/ppt/notesSlides/notesSlide184.xml" Id="R42827e37743746b1" /></Relationships>
</file>

<file path=ppt/slides/_rels/slide185.xml.rels>&#65279;<?xml version="1.0" encoding="utf-8"?><Relationships xmlns="http://schemas.openxmlformats.org/package/2006/relationships"><Relationship Type="http://schemas.openxmlformats.org/officeDocument/2006/relationships/slideLayout" Target="/ppt/slideLayouts/slideLayout6.xml" Id="Rf240a1ebacbd441b" /><Relationship Type="http://schemas.openxmlformats.org/officeDocument/2006/relationships/notesSlide" Target="/ppt/notesSlides/notesSlide185.xml" Id="R5d750a15e904427e" /></Relationships>
</file>

<file path=ppt/slides/_rels/slide186.xml.rels>&#65279;<?xml version="1.0" encoding="utf-8"?><Relationships xmlns="http://schemas.openxmlformats.org/package/2006/relationships"><Relationship Type="http://schemas.openxmlformats.org/officeDocument/2006/relationships/slideLayout" Target="/ppt/slideLayouts/slideLayout6.xml" Id="R525f233a59fc498e" /><Relationship Type="http://schemas.openxmlformats.org/officeDocument/2006/relationships/notesSlide" Target="/ppt/notesSlides/notesSlide186.xml" Id="R527b93d1b7b6423b" /></Relationships>
</file>

<file path=ppt/slides/_rels/slide187.xml.rels>&#65279;<?xml version="1.0" encoding="utf-8"?><Relationships xmlns="http://schemas.openxmlformats.org/package/2006/relationships"><Relationship Type="http://schemas.openxmlformats.org/officeDocument/2006/relationships/slideLayout" Target="/ppt/slideLayouts/slideLayout6.xml" Id="R3d97ddea196a4af7" /><Relationship Type="http://schemas.openxmlformats.org/officeDocument/2006/relationships/notesSlide" Target="/ppt/notesSlides/notesSlide187.xml" Id="R135d6122a9324c0f" /></Relationships>
</file>

<file path=ppt/slides/_rels/slide188.xml.rels>&#65279;<?xml version="1.0" encoding="utf-8"?><Relationships xmlns="http://schemas.openxmlformats.org/package/2006/relationships"><Relationship Type="http://schemas.openxmlformats.org/officeDocument/2006/relationships/slideLayout" Target="/ppt/slideLayouts/slideLayout6.xml" Id="R4c6545ab7ed142a3" /><Relationship Type="http://schemas.openxmlformats.org/officeDocument/2006/relationships/notesSlide" Target="/ppt/notesSlides/notesSlide188.xml" Id="R6dcf837f9d444664" /></Relationships>
</file>

<file path=ppt/slides/_rels/slide189.xml.rels>&#65279;<?xml version="1.0" encoding="utf-8"?><Relationships xmlns="http://schemas.openxmlformats.org/package/2006/relationships"><Relationship Type="http://schemas.openxmlformats.org/officeDocument/2006/relationships/slideLayout" Target="/ppt/slideLayouts/slideLayout6.xml" Id="R2bc88f245d8e48b5" /><Relationship Type="http://schemas.openxmlformats.org/officeDocument/2006/relationships/notesSlide" Target="/ppt/notesSlides/notesSlide189.xml" Id="R962cf83314c1464d" /></Relationships>
</file>

<file path=ppt/slides/_rels/slide190.xml.rels>&#65279;<?xml version="1.0" encoding="utf-8"?><Relationships xmlns="http://schemas.openxmlformats.org/package/2006/relationships"><Relationship Type="http://schemas.openxmlformats.org/officeDocument/2006/relationships/slideLayout" Target="/ppt/slideLayouts/slideLayout6.xml" Id="R9ad80972e2de4723" /><Relationship Type="http://schemas.openxmlformats.org/officeDocument/2006/relationships/notesSlide" Target="/ppt/notesSlides/notesSlide190.xml" Id="Rea771a1bf1f24f96" /></Relationships>
</file>

<file path=ppt/slides/_rels/slide191.xml.rels>&#65279;<?xml version="1.0" encoding="utf-8"?><Relationships xmlns="http://schemas.openxmlformats.org/package/2006/relationships"><Relationship Type="http://schemas.openxmlformats.org/officeDocument/2006/relationships/slideLayout" Target="/ppt/slideLayouts/slideLayout6.xml" Id="Rec4c77752b1b46e5" /><Relationship Type="http://schemas.openxmlformats.org/officeDocument/2006/relationships/notesSlide" Target="/ppt/notesSlides/notesSlide191.xml" Id="Reab6d17b87a64b12" /></Relationships>
</file>

<file path=ppt/slides/_rels/slide192.xml.rels>&#65279;<?xml version="1.0" encoding="utf-8"?><Relationships xmlns="http://schemas.openxmlformats.org/package/2006/relationships"><Relationship Type="http://schemas.openxmlformats.org/officeDocument/2006/relationships/slideLayout" Target="/ppt/slideLayouts/slideLayout6.xml" Id="R2f046d150df14d7c" /><Relationship Type="http://schemas.openxmlformats.org/officeDocument/2006/relationships/notesSlide" Target="/ppt/notesSlides/notesSlide192.xml" Id="Rac10575cf07f4003" /></Relationships>
</file>

<file path=ppt/slides/_rels/slide193.xml.rels>&#65279;<?xml version="1.0" encoding="utf-8"?><Relationships xmlns="http://schemas.openxmlformats.org/package/2006/relationships"><Relationship Type="http://schemas.openxmlformats.org/officeDocument/2006/relationships/slideLayout" Target="/ppt/slideLayouts/slideLayout6.xml" Id="Rf3ab13177f874cb7" /><Relationship Type="http://schemas.openxmlformats.org/officeDocument/2006/relationships/notesSlide" Target="/ppt/notesSlides/notesSlide193.xml" Id="Rab10a8d369904f2a" /></Relationships>
</file>

<file path=ppt/slides/_rels/slide194.xml.rels>&#65279;<?xml version="1.0" encoding="utf-8"?><Relationships xmlns="http://schemas.openxmlformats.org/package/2006/relationships"><Relationship Type="http://schemas.openxmlformats.org/officeDocument/2006/relationships/slideLayout" Target="/ppt/slideLayouts/slideLayout6.xml" Id="Rd4019696d5a94478" /><Relationship Type="http://schemas.openxmlformats.org/officeDocument/2006/relationships/notesSlide" Target="/ppt/notesSlides/notesSlide194.xml" Id="Rb389319f8bbe4d8c" /></Relationships>
</file>

<file path=ppt/slides/_rels/slide195.xml.rels>&#65279;<?xml version="1.0" encoding="utf-8"?><Relationships xmlns="http://schemas.openxmlformats.org/package/2006/relationships"><Relationship Type="http://schemas.openxmlformats.org/officeDocument/2006/relationships/slideLayout" Target="/ppt/slideLayouts/slideLayout6.xml" Id="Ra5130085cea1403a" /><Relationship Type="http://schemas.openxmlformats.org/officeDocument/2006/relationships/notesSlide" Target="/ppt/notesSlides/notesSlide195.xml" Id="Rba6678585182487e" /></Relationships>
</file>

<file path=ppt/slides/_rels/slide196.xml.rels>&#65279;<?xml version="1.0" encoding="utf-8"?><Relationships xmlns="http://schemas.openxmlformats.org/package/2006/relationships"><Relationship Type="http://schemas.openxmlformats.org/officeDocument/2006/relationships/slideLayout" Target="/ppt/slideLayouts/slideLayout6.xml" Id="R0c644285319a43b5" /><Relationship Type="http://schemas.openxmlformats.org/officeDocument/2006/relationships/notesSlide" Target="/ppt/notesSlides/notesSlide196.xml" Id="R57f485c83e154425" /></Relationships>
</file>

<file path=ppt/slides/_rels/slide197.xml.rels>&#65279;<?xml version="1.0" encoding="utf-8"?><Relationships xmlns="http://schemas.openxmlformats.org/package/2006/relationships"><Relationship Type="http://schemas.openxmlformats.org/officeDocument/2006/relationships/slideLayout" Target="/ppt/slideLayouts/slideLayout6.xml" Id="R37d4ef936e1d4b9f" /><Relationship Type="http://schemas.openxmlformats.org/officeDocument/2006/relationships/notesSlide" Target="/ppt/notesSlides/notesSlide197.xml" Id="Rc73b4d5aaabb4c4f" /></Relationships>
</file>

<file path=ppt/slides/_rels/slide198.xml.rels>&#65279;<?xml version="1.0" encoding="utf-8"?><Relationships xmlns="http://schemas.openxmlformats.org/package/2006/relationships"><Relationship Type="http://schemas.openxmlformats.org/officeDocument/2006/relationships/slideLayout" Target="/ppt/slideLayouts/slideLayout6.xml" Id="R8380c542bf7b450d" /><Relationship Type="http://schemas.openxmlformats.org/officeDocument/2006/relationships/notesSlide" Target="/ppt/notesSlides/notesSlide198.xml" Id="R495e4e4efdf94e56" /></Relationships>
</file>

<file path=ppt/slides/_rels/slide199.xml.rels>&#65279;<?xml version="1.0" encoding="utf-8"?><Relationships xmlns="http://schemas.openxmlformats.org/package/2006/relationships"><Relationship Type="http://schemas.openxmlformats.org/officeDocument/2006/relationships/slideLayout" Target="/ppt/slideLayouts/slideLayout6.xml" Id="Rfdab8d5102bc4433" /><Relationship Type="http://schemas.openxmlformats.org/officeDocument/2006/relationships/notesSlide" Target="/ppt/notesSlides/notesSlide199.xml" Id="Rc53fb3f7a8954f53" /></Relationships>
</file>

<file path=ppt/slides/_rels/slide200.xml.rels>&#65279;<?xml version="1.0" encoding="utf-8"?><Relationships xmlns="http://schemas.openxmlformats.org/package/2006/relationships"><Relationship Type="http://schemas.openxmlformats.org/officeDocument/2006/relationships/slideLayout" Target="/ppt/slideLayouts/slideLayout6.xml" Id="Rdd4fd7751a344407" /><Relationship Type="http://schemas.openxmlformats.org/officeDocument/2006/relationships/notesSlide" Target="/ppt/notesSlides/notesSlide200.xml" Id="R004e6a16f67541be" /></Relationships>
</file>

<file path=ppt/slides/_rels/slide201.xml.rels>&#65279;<?xml version="1.0" encoding="utf-8"?><Relationships xmlns="http://schemas.openxmlformats.org/package/2006/relationships"><Relationship Type="http://schemas.openxmlformats.org/officeDocument/2006/relationships/slideLayout" Target="/ppt/slideLayouts/slideLayout6.xml" Id="R2ec204fd9e8c412d" /><Relationship Type="http://schemas.openxmlformats.org/officeDocument/2006/relationships/notesSlide" Target="/ppt/notesSlides/notesSlide201.xml" Id="R9d181e99a3c1417a" /></Relationships>
</file>

<file path=ppt/slides/_rels/slide202.xml.rels>&#65279;<?xml version="1.0" encoding="utf-8"?><Relationships xmlns="http://schemas.openxmlformats.org/package/2006/relationships"><Relationship Type="http://schemas.openxmlformats.org/officeDocument/2006/relationships/slideLayout" Target="/ppt/slideLayouts/slideLayout6.xml" Id="Ra7d6fe50385b4266" /><Relationship Type="http://schemas.openxmlformats.org/officeDocument/2006/relationships/notesSlide" Target="/ppt/notesSlides/notesSlide202.xml" Id="Rfdb4d740a5ea4865" /></Relationships>
</file>

<file path=ppt/slides/_rels/slide203.xml.rels>&#65279;<?xml version="1.0" encoding="utf-8"?><Relationships xmlns="http://schemas.openxmlformats.org/package/2006/relationships"><Relationship Type="http://schemas.openxmlformats.org/officeDocument/2006/relationships/slideLayout" Target="/ppt/slideLayouts/slideLayout6.xml" Id="R23c953cf8dbe4c62" /><Relationship Type="http://schemas.openxmlformats.org/officeDocument/2006/relationships/notesSlide" Target="/ppt/notesSlides/notesSlide203.xml" Id="Reedb701b6ccc4a1b" /></Relationships>
</file>

<file path=ppt/slides/_rels/slide204.xml.rels>&#65279;<?xml version="1.0" encoding="utf-8"?><Relationships xmlns="http://schemas.openxmlformats.org/package/2006/relationships"><Relationship Type="http://schemas.openxmlformats.org/officeDocument/2006/relationships/slideLayout" Target="/ppt/slideLayouts/slideLayout6.xml" Id="R4ff426af248342a8" /><Relationship Type="http://schemas.openxmlformats.org/officeDocument/2006/relationships/notesSlide" Target="/ppt/notesSlides/notesSlide204.xml" Id="R29ce8c87d94e4cb7" /></Relationships>
</file>

<file path=ppt/slides/_rels/slide205.xml.rels>&#65279;<?xml version="1.0" encoding="utf-8"?><Relationships xmlns="http://schemas.openxmlformats.org/package/2006/relationships"><Relationship Type="http://schemas.openxmlformats.org/officeDocument/2006/relationships/slideLayout" Target="/ppt/slideLayouts/slideLayout6.xml" Id="R113b1aa7d6d045c5" /><Relationship Type="http://schemas.openxmlformats.org/officeDocument/2006/relationships/notesSlide" Target="/ppt/notesSlides/notesSlide205.xml" Id="Re492ea4ea64b46bb" /></Relationships>
</file>

<file path=ppt/slides/_rels/slide206.xml.rels>&#65279;<?xml version="1.0" encoding="utf-8"?><Relationships xmlns="http://schemas.openxmlformats.org/package/2006/relationships"><Relationship Type="http://schemas.openxmlformats.org/officeDocument/2006/relationships/slideLayout" Target="/ppt/slideLayouts/slideLayout6.xml" Id="R43e3da6cb19143d6" /><Relationship Type="http://schemas.openxmlformats.org/officeDocument/2006/relationships/notesSlide" Target="/ppt/notesSlides/notesSlide206.xml" Id="R219c6f026d6440c5" /></Relationships>
</file>

<file path=ppt/slides/_rels/slide207.xml.rels>&#65279;<?xml version="1.0" encoding="utf-8"?><Relationships xmlns="http://schemas.openxmlformats.org/package/2006/relationships"><Relationship Type="http://schemas.openxmlformats.org/officeDocument/2006/relationships/slideLayout" Target="/ppt/slideLayouts/slideLayout6.xml" Id="R1a289c01eb144ca5" /><Relationship Type="http://schemas.openxmlformats.org/officeDocument/2006/relationships/notesSlide" Target="/ppt/notesSlides/notesSlide207.xml" Id="Re42a611aa7cb4772" /></Relationships>
</file>

<file path=ppt/slides/_rels/slide208.xml.rels>&#65279;<?xml version="1.0" encoding="utf-8"?><Relationships xmlns="http://schemas.openxmlformats.org/package/2006/relationships"><Relationship Type="http://schemas.openxmlformats.org/officeDocument/2006/relationships/slideLayout" Target="/ppt/slideLayouts/slideLayout6.xml" Id="R92d46661c0ee4d6e" /><Relationship Type="http://schemas.openxmlformats.org/officeDocument/2006/relationships/notesSlide" Target="/ppt/notesSlides/notesSlide208.xml" Id="Ra6290fbf4d4a4b32" /></Relationships>
</file>

<file path=ppt/slides/_rels/slide209.xml.rels>&#65279;<?xml version="1.0" encoding="utf-8"?><Relationships xmlns="http://schemas.openxmlformats.org/package/2006/relationships"><Relationship Type="http://schemas.openxmlformats.org/officeDocument/2006/relationships/slideLayout" Target="/ppt/slideLayouts/slideLayout6.xml" Id="R54e2986e813e4480" /><Relationship Type="http://schemas.openxmlformats.org/officeDocument/2006/relationships/notesSlide" Target="/ppt/notesSlides/notesSlide209.xml" Id="Rd94aabc3f3d54f8c" /></Relationships>
</file>

<file path=ppt/slides/_rels/slide210.xml.rels>&#65279;<?xml version="1.0" encoding="utf-8"?><Relationships xmlns="http://schemas.openxmlformats.org/package/2006/relationships"><Relationship Type="http://schemas.openxmlformats.org/officeDocument/2006/relationships/slideLayout" Target="/ppt/slideLayouts/slideLayout6.xml" Id="R8c9fb4e3d5f443b2" /><Relationship Type="http://schemas.openxmlformats.org/officeDocument/2006/relationships/notesSlide" Target="/ppt/notesSlides/notesSlide210.xml" Id="R816a6a5deb784eb0" /></Relationships>
</file>

<file path=ppt/slides/_rels/slide211.xml.rels>&#65279;<?xml version="1.0" encoding="utf-8"?><Relationships xmlns="http://schemas.openxmlformats.org/package/2006/relationships"><Relationship Type="http://schemas.openxmlformats.org/officeDocument/2006/relationships/slideLayout" Target="/ppt/slideLayouts/slideLayout6.xml" Id="Ra5c5149c44744b8c" /><Relationship Type="http://schemas.openxmlformats.org/officeDocument/2006/relationships/notesSlide" Target="/ppt/notesSlides/notesSlide211.xml" Id="R4baf30143e8e473e" /></Relationships>
</file>

<file path=ppt/slides/_rels/slide212.xml.rels>&#65279;<?xml version="1.0" encoding="utf-8"?><Relationships xmlns="http://schemas.openxmlformats.org/package/2006/relationships"><Relationship Type="http://schemas.openxmlformats.org/officeDocument/2006/relationships/slideLayout" Target="/ppt/slideLayouts/slideLayout6.xml" Id="Ra1695c65dfd34c36" /><Relationship Type="http://schemas.openxmlformats.org/officeDocument/2006/relationships/notesSlide" Target="/ppt/notesSlides/notesSlide212.xml" Id="R0cdb5e4dcf5a4637" /></Relationships>
</file>

<file path=ppt/slides/_rels/slide213.xml.rels>&#65279;<?xml version="1.0" encoding="utf-8"?><Relationships xmlns="http://schemas.openxmlformats.org/package/2006/relationships"><Relationship Type="http://schemas.openxmlformats.org/officeDocument/2006/relationships/slideLayout" Target="/ppt/slideLayouts/slideLayout6.xml" Id="R0a15beb283b14fa4" /><Relationship Type="http://schemas.openxmlformats.org/officeDocument/2006/relationships/notesSlide" Target="/ppt/notesSlides/notesSlide213.xml" Id="R19bb1e80fb214f67" /></Relationships>
</file>

<file path=ppt/slides/_rels/slide214.xml.rels>&#65279;<?xml version="1.0" encoding="utf-8"?><Relationships xmlns="http://schemas.openxmlformats.org/package/2006/relationships"><Relationship Type="http://schemas.openxmlformats.org/officeDocument/2006/relationships/slideLayout" Target="/ppt/slideLayouts/slideLayout6.xml" Id="R32e7b3b74f37401a" /><Relationship Type="http://schemas.openxmlformats.org/officeDocument/2006/relationships/notesSlide" Target="/ppt/notesSlides/notesSlide214.xml" Id="Rbcab48d4efbf466d" /></Relationships>
</file>

<file path=ppt/slides/_rels/slide215.xml.rels>&#65279;<?xml version="1.0" encoding="utf-8"?><Relationships xmlns="http://schemas.openxmlformats.org/package/2006/relationships"><Relationship Type="http://schemas.openxmlformats.org/officeDocument/2006/relationships/slideLayout" Target="/ppt/slideLayouts/slideLayout6.xml" Id="R95355023aba04af0" /><Relationship Type="http://schemas.openxmlformats.org/officeDocument/2006/relationships/notesSlide" Target="/ppt/notesSlides/notesSlide215.xml" Id="R5f59ba04033446f9" /></Relationships>
</file>

<file path=ppt/slides/_rels/slide216.xml.rels>&#65279;<?xml version="1.0" encoding="utf-8"?><Relationships xmlns="http://schemas.openxmlformats.org/package/2006/relationships"><Relationship Type="http://schemas.openxmlformats.org/officeDocument/2006/relationships/slideLayout" Target="/ppt/slideLayouts/slideLayout6.xml" Id="Rb84adca46c344966" /><Relationship Type="http://schemas.openxmlformats.org/officeDocument/2006/relationships/notesSlide" Target="/ppt/notesSlides/notesSlide216.xml" Id="R2045823e0b0c4c54" /></Relationships>
</file>

<file path=ppt/slides/_rels/slide217.xml.rels>&#65279;<?xml version="1.0" encoding="utf-8"?><Relationships xmlns="http://schemas.openxmlformats.org/package/2006/relationships"><Relationship Type="http://schemas.openxmlformats.org/officeDocument/2006/relationships/slideLayout" Target="/ppt/slideLayouts/slideLayout6.xml" Id="Rfbf204561feb47c2" /><Relationship Type="http://schemas.openxmlformats.org/officeDocument/2006/relationships/notesSlide" Target="/ppt/notesSlides/notesSlide217.xml" Id="R584253a0b84743b8" /></Relationships>
</file>

<file path=ppt/slides/_rels/slide218.xml.rels>&#65279;<?xml version="1.0" encoding="utf-8"?><Relationships xmlns="http://schemas.openxmlformats.org/package/2006/relationships"><Relationship Type="http://schemas.openxmlformats.org/officeDocument/2006/relationships/slideLayout" Target="/ppt/slideLayouts/slideLayout6.xml" Id="Rf9aac32f67b84dc6" /><Relationship Type="http://schemas.openxmlformats.org/officeDocument/2006/relationships/notesSlide" Target="/ppt/notesSlides/notesSlide218.xml" Id="Rd62b589fce1e4f5c" /></Relationships>
</file>

<file path=ppt/slides/slide1.xml><?xml version="1.0" encoding="utf-8"?>
<p:sld xmlns:p="http://schemas.openxmlformats.org/presentationml/2006/main">
  <p:cSld>
    <p:bg>
      <p:bgPr>
        <a:solidFill xmlns:a="http://schemas.openxmlformats.org/drawingml/2006/main">
          <a:srgbClr val="173E48"/>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985F96-9882-4DC7-B525-CCC1725357B9}"/>
              </a:ext>
            </a:extLst>
          </p:cNvPr>
          <p:cNvSpPr>
            <a:spLocks xmlns:a="http://schemas.openxmlformats.org/drawingml/2006/main" noGrp="1"/>
          </p:cNvSpPr>
          <p:nvPr/>
        </p:nvSpPr>
        <p:spPr>
          <a:xfrm xmlns:a="http://schemas.openxmlformats.org/drawingml/2006/main">
            <a:off x="685800" y="1714500"/>
            <a:ext cx="10820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200" b="1">
                <a:solidFill>
                  <a:srgbClr val="FFFFFF"/>
                </a:solidFill>
                <a:latin typeface="DejaVu Sans"/>
                <a:ea typeface="DejaVu Sans"/>
                <a:cs typeface="DejaVu Sans"/>
              </a:defRPr>
            </a:defPPr>
            <a:lvl1pPr>
              <a:defRPr sz="4200" b="1">
                <a:solidFill>
                  <a:srgbClr val="FFFFFF"/>
                </a:solidFill>
                <a:latin typeface="DejaVu Sans"/>
                <a:ea typeface="DejaVu Sans"/>
                <a:cs typeface="DejaVu Sans"/>
              </a:defRPr>
            </a:lvl1pPr>
            <a:lvl2pPr>
              <a:defRPr sz="4200" b="1">
                <a:solidFill>
                  <a:srgbClr val="FFFFFF"/>
                </a:solidFill>
                <a:latin typeface="DejaVu Sans"/>
                <a:ea typeface="DejaVu Sans"/>
                <a:cs typeface="DejaVu Sans"/>
              </a:defRPr>
            </a:lvl2pPr>
            <a:lvl3pPr>
              <a:defRPr sz="4200" b="1">
                <a:solidFill>
                  <a:srgbClr val="FFFFFF"/>
                </a:solidFill>
                <a:latin typeface="DejaVu Sans"/>
                <a:ea typeface="DejaVu Sans"/>
                <a:cs typeface="DejaVu Sans"/>
              </a:defRPr>
            </a:lvl3pPr>
            <a:lvl4pPr>
              <a:defRPr sz="4200" b="1">
                <a:solidFill>
                  <a:srgbClr val="FFFFFF"/>
                </a:solidFill>
                <a:latin typeface="DejaVu Sans"/>
                <a:ea typeface="DejaVu Sans"/>
                <a:cs typeface="DejaVu Sans"/>
              </a:defRPr>
            </a:lvl4pPr>
            <a:lvl5pPr>
              <a:defRPr sz="4200" b="1">
                <a:solidFill>
                  <a:srgbClr val="FFFFFF"/>
                </a:solidFill>
                <a:latin typeface="DejaVu Sans"/>
                <a:ea typeface="DejaVu Sans"/>
                <a:cs typeface="DejaVu Sans"/>
              </a:defRPr>
            </a:lvl5pPr>
            <a:lvl6pPr>
              <a:defRPr sz="4200" b="1">
                <a:solidFill>
                  <a:srgbClr val="FFFFFF"/>
                </a:solidFill>
                <a:latin typeface="DejaVu Sans"/>
                <a:ea typeface="DejaVu Sans"/>
                <a:cs typeface="DejaVu Sans"/>
              </a:defRPr>
            </a:lvl6pPr>
            <a:lvl7pPr>
              <a:defRPr sz="4200" b="1">
                <a:solidFill>
                  <a:srgbClr val="FFFFFF"/>
                </a:solidFill>
                <a:latin typeface="DejaVu Sans"/>
                <a:ea typeface="DejaVu Sans"/>
                <a:cs typeface="DejaVu Sans"/>
              </a:defRPr>
            </a:lvl7pPr>
            <a:lvl8pPr>
              <a:defRPr sz="4200" b="1">
                <a:solidFill>
                  <a:srgbClr val="FFFFFF"/>
                </a:solidFill>
                <a:latin typeface="DejaVu Sans"/>
                <a:ea typeface="DejaVu Sans"/>
                <a:cs typeface="DejaVu Sans"/>
              </a:defRPr>
            </a:lvl8pPr>
            <a:lvl9pPr>
              <a:defRPr sz="4200" b="1">
                <a:solidFill>
                  <a:srgbClr val="FFFFFF"/>
                </a:solidFill>
                <a:latin typeface="DejaVu Sans"/>
                <a:ea typeface="DejaVu Sans"/>
                <a:cs typeface="DejaVu Sans"/>
              </a:defRPr>
            </a:lvl9pPr>
          </a:lstStyle>
          <a:p xmlns:a="http://schemas.openxmlformats.org/drawingml/2006/main">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Bone and joint infections</a:t>
            </a:r>
          </a:p>
        </p:txBody>
      </p:sp>
      <p:sp>
        <p:nvSpPr>
          <p:cNvPr id="2" name="subtitle">
            <a:extLst xmlns:a="http://schemas.openxmlformats.org/drawingml/2006/main">
              <a:ext uri="{FF2B5EF4-FFF2-40B4-BE49-F238E27FC236}">
                <a16:creationId xmlns:a16="http://schemas.microsoft.com/office/drawing/2014/main" id="{43F0A7DE-A4B3-44B6-8ECA-0D071962A390}"/>
              </a:ext>
            </a:extLst>
          </p:cNvPr>
          <p:cNvSpPr>
            <a:spLocks xmlns:a="http://schemas.openxmlformats.org/drawingml/2006/main" noGrp="1"/>
          </p:cNvSpPr>
          <p:nvPr/>
        </p:nvSpPr>
        <p:spPr>
          <a:xfrm xmlns:a="http://schemas.openxmlformats.org/drawingml/2006/main">
            <a:off x="723900" y="514350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D7E8E8"/>
                </a:solidFill>
                <a:latin typeface="DejaVu Sans"/>
                <a:ea typeface="DejaVu Sans"/>
                <a:cs typeface="DejaVu Sans"/>
              </a:defRPr>
            </a:defPPr>
            <a:lvl1pPr>
              <a:defRPr sz="1950" b="0">
                <a:solidFill>
                  <a:srgbClr val="D7E8E8"/>
                </a:solidFill>
                <a:latin typeface="DejaVu Sans"/>
                <a:ea typeface="DejaVu Sans"/>
                <a:cs typeface="DejaVu Sans"/>
              </a:defRPr>
            </a:lvl1pPr>
            <a:lvl2pPr>
              <a:defRPr sz="1950" b="0">
                <a:solidFill>
                  <a:srgbClr val="D7E8E8"/>
                </a:solidFill>
                <a:latin typeface="DejaVu Sans"/>
                <a:ea typeface="DejaVu Sans"/>
                <a:cs typeface="DejaVu Sans"/>
              </a:defRPr>
            </a:lvl2pPr>
            <a:lvl3pPr>
              <a:defRPr sz="1950" b="0">
                <a:solidFill>
                  <a:srgbClr val="D7E8E8"/>
                </a:solidFill>
                <a:latin typeface="DejaVu Sans"/>
                <a:ea typeface="DejaVu Sans"/>
                <a:cs typeface="DejaVu Sans"/>
              </a:defRPr>
            </a:lvl3pPr>
            <a:lvl4pPr>
              <a:defRPr sz="1950" b="0">
                <a:solidFill>
                  <a:srgbClr val="D7E8E8"/>
                </a:solidFill>
                <a:latin typeface="DejaVu Sans"/>
                <a:ea typeface="DejaVu Sans"/>
                <a:cs typeface="DejaVu Sans"/>
              </a:defRPr>
            </a:lvl4pPr>
            <a:lvl5pPr>
              <a:defRPr sz="1950" b="0">
                <a:solidFill>
                  <a:srgbClr val="D7E8E8"/>
                </a:solidFill>
                <a:latin typeface="DejaVu Sans"/>
                <a:ea typeface="DejaVu Sans"/>
                <a:cs typeface="DejaVu Sans"/>
              </a:defRPr>
            </a:lvl5pPr>
            <a:lvl6pPr>
              <a:defRPr sz="1950" b="0">
                <a:solidFill>
                  <a:srgbClr val="D7E8E8"/>
                </a:solidFill>
                <a:latin typeface="DejaVu Sans"/>
                <a:ea typeface="DejaVu Sans"/>
                <a:cs typeface="DejaVu Sans"/>
              </a:defRPr>
            </a:lvl6pPr>
            <a:lvl7pPr>
              <a:defRPr sz="1950" b="0">
                <a:solidFill>
                  <a:srgbClr val="D7E8E8"/>
                </a:solidFill>
                <a:latin typeface="DejaVu Sans"/>
                <a:ea typeface="DejaVu Sans"/>
                <a:cs typeface="DejaVu Sans"/>
              </a:defRPr>
            </a:lvl7pPr>
            <a:lvl8pPr>
              <a:defRPr sz="1950" b="0">
                <a:solidFill>
                  <a:srgbClr val="D7E8E8"/>
                </a:solidFill>
                <a:latin typeface="DejaVu Sans"/>
                <a:ea typeface="DejaVu Sans"/>
                <a:cs typeface="DejaVu Sans"/>
              </a:defRPr>
            </a:lvl8pPr>
            <a:lvl9pPr>
              <a:defRPr sz="1950" b="0">
                <a:solidFill>
                  <a:srgbClr val="D7E8E8"/>
                </a:solidFill>
                <a:latin typeface="DejaVu Sans"/>
                <a:ea typeface="DejaVu Sans"/>
                <a:cs typeface="DejaVu Sans"/>
              </a:defRPr>
            </a:lvl9pPr>
          </a:lstStyle>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ID Practice Update</a:t>
            </a:r>
          </a:p>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Resident teaching and advanced reference</a:t>
            </a:r>
          </a:p>
        </p:txBody>
      </p:sp>
    </p:spTree>
    <p:extLst>
      <p:ext uri="{BB962C8B-B14F-4D97-AF65-F5344CB8AC3E}">
        <p14:creationId xmlns:p14="http://schemas.microsoft.com/office/powerpoint/2010/main" val="15356917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8EC17C7-48B6-4C9D-AAE3-B7AE72131FE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Define what remains infected before choosing the treatment duration</a:t>
            </a:r>
          </a:p>
        </p:txBody>
      </p:sp>
      <p:sp>
        <p:nvSpPr>
          <p:cNvPr id="2" name="paragraph-0">
            <a:extLst xmlns:a="http://schemas.openxmlformats.org/drawingml/2006/main">
              <a:ext uri="{FF2B5EF4-FFF2-40B4-BE49-F238E27FC236}">
                <a16:creationId xmlns:a16="http://schemas.microsoft.com/office/drawing/2014/main" id="{67BDBFD0-AE1E-4828-AC20-E0FDE14374C0}"/>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Bone and joint infection is easiest to manage when the anatomy, microbiology, source-control plan, and treatment intent are named explicitly. Acute, subacute, and chronic describe tempo. They do not, by themselves, determine antibiotic duration.</a:t>
            </a:r>
          </a:p>
        </p:txBody>
      </p:sp>
      <p:sp>
        <p:nvSpPr>
          <p:cNvPr id="3" name="footer">
            <a:extLst xmlns:a="http://schemas.openxmlformats.org/drawingml/2006/main">
              <a:ext uri="{FF2B5EF4-FFF2-40B4-BE49-F238E27FC236}">
                <a16:creationId xmlns:a16="http://schemas.microsoft.com/office/drawing/2014/main" id="{31332092-092B-4B71-B326-1937B3C77C9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F30E659-B919-4405-BA5F-4912186729B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a:t>
            </a:r>
          </a:p>
        </p:txBody>
      </p:sp>
    </p:spTree>
    <p:extLst>
      <p:ext uri="{BB962C8B-B14F-4D97-AF65-F5344CB8AC3E}">
        <p14:creationId xmlns:p14="http://schemas.microsoft.com/office/powerpoint/2010/main" val="11025698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4B6013C-6755-475B-A690-BD8A0E9C564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Scope for the live session</a:t>
            </a:r>
          </a:p>
        </p:txBody>
      </p:sp>
      <p:sp>
        <p:nvSpPr>
          <p:cNvPr id="2" name="paragraph-0">
            <a:extLst xmlns:a="http://schemas.openxmlformats.org/drawingml/2006/main">
              <a:ext uri="{FF2B5EF4-FFF2-40B4-BE49-F238E27FC236}">
                <a16:creationId xmlns:a16="http://schemas.microsoft.com/office/drawing/2014/main" id="{017BEA95-9C53-43C7-868E-224A468154F5}"/>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Teach through the core sections and three cases, then stop. The advanced section is a post-lecture reference for fellows, attendings, and questions that arise on service.</a:t>
            </a:r>
          </a:p>
        </p:txBody>
      </p:sp>
      <p:sp>
        <p:nvSpPr>
          <p:cNvPr id="3" name="footer">
            <a:extLst xmlns:a="http://schemas.openxmlformats.org/drawingml/2006/main">
              <a:ext uri="{FF2B5EF4-FFF2-40B4-BE49-F238E27FC236}">
                <a16:creationId xmlns:a16="http://schemas.microsoft.com/office/drawing/2014/main" id="{7712FAFD-7FEB-484E-8A22-0CC0C811515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11ECF06-D5B4-4EB2-8845-4BDE5629392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a:t>
            </a:r>
          </a:p>
        </p:txBody>
      </p:sp>
    </p:spTree>
    <p:extLst>
      <p:ext uri="{BB962C8B-B14F-4D97-AF65-F5344CB8AC3E}">
        <p14:creationId xmlns:p14="http://schemas.microsoft.com/office/powerpoint/2010/main" val="6463425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9C2A5E6D-1997-4DF2-9A8A-0EF03372374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Learning objectives</a:t>
            </a:r>
          </a:p>
        </p:txBody>
      </p:sp>
      <p:sp>
        <p:nvSpPr>
          <p:cNvPr id="2" name="paragraph-0">
            <a:extLst xmlns:a="http://schemas.openxmlformats.org/drawingml/2006/main">
              <a:ext uri="{FF2B5EF4-FFF2-40B4-BE49-F238E27FC236}">
                <a16:creationId xmlns:a16="http://schemas.microsoft.com/office/drawing/2014/main" id="{C43D6535-BE31-4980-8DA4-91114C09B276}"/>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Obtain useful cultures and identify urgent source control.</a:t>
            </a:r>
          </a:p>
        </p:txBody>
      </p:sp>
      <p:sp>
        <p:nvSpPr>
          <p:cNvPr id="3" name="paragraph-1">
            <a:extLst xmlns:a="http://schemas.openxmlformats.org/drawingml/2006/main">
              <a:ext uri="{FF2B5EF4-FFF2-40B4-BE49-F238E27FC236}">
                <a16:creationId xmlns:a16="http://schemas.microsoft.com/office/drawing/2014/main" id="{4457889C-54A1-4ED9-883A-28ACB3E26390}"/>
              </a:ext>
            </a:extLst>
          </p:cNvPr>
          <p:cNvSpPr>
            <a:spLocks xmlns:a="http://schemas.openxmlformats.org/drawingml/2006/main" noGrp="1"/>
          </p:cNvSpPr>
          <p:nvPr/>
        </p:nvSpPr>
        <p:spPr>
          <a:xfrm xmlns:a="http://schemas.openxmlformats.org/drawingml/2006/main">
            <a:off x="647700" y="25622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Separate native-joint infection, PJI, osteomyelitis, and chronic wound colonization.</a:t>
            </a:r>
          </a:p>
        </p:txBody>
      </p:sp>
      <p:sp>
        <p:nvSpPr>
          <p:cNvPr id="4" name="paragraph-2">
            <a:extLst xmlns:a="http://schemas.openxmlformats.org/drawingml/2006/main">
              <a:ext uri="{FF2B5EF4-FFF2-40B4-BE49-F238E27FC236}">
                <a16:creationId xmlns:a16="http://schemas.microsoft.com/office/drawing/2014/main" id="{0BFA77F3-9FE6-4746-9437-30EED5D16EFD}"/>
              </a:ext>
            </a:extLst>
          </p:cNvPr>
          <p:cNvSpPr>
            <a:spLocks xmlns:a="http://schemas.openxmlformats.org/drawingml/2006/main" noGrp="1"/>
          </p:cNvSpPr>
          <p:nvPr/>
        </p:nvSpPr>
        <p:spPr>
          <a:xfrm xmlns:a="http://schemas.openxmlformats.org/drawingml/2006/main">
            <a:off x="647700" y="35242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Choose route and duration from the operative plan, retained material, and treatment intent.</a:t>
            </a:r>
          </a:p>
        </p:txBody>
      </p:sp>
      <p:sp>
        <p:nvSpPr>
          <p:cNvPr id="5" name="paragraph-3">
            <a:extLst xmlns:a="http://schemas.openxmlformats.org/drawingml/2006/main">
              <a:ext uri="{FF2B5EF4-FFF2-40B4-BE49-F238E27FC236}">
                <a16:creationId xmlns:a16="http://schemas.microsoft.com/office/drawing/2014/main" id="{5B3512F1-007B-441C-9CCE-4B3FA665D2DA}"/>
              </a:ext>
            </a:extLst>
          </p:cNvPr>
          <p:cNvSpPr>
            <a:spLocks xmlns:a="http://schemas.openxmlformats.org/drawingml/2006/main" noGrp="1"/>
          </p:cNvSpPr>
          <p:nvPr/>
        </p:nvSpPr>
        <p:spPr>
          <a:xfrm xmlns:a="http://schemas.openxmlformats.org/drawingml/2006/main">
            <a:off x="647700" y="44862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Manage an open sacral wound without reflexively prescribing six weeks of antibiotics.</a:t>
            </a:r>
          </a:p>
        </p:txBody>
      </p:sp>
      <p:sp>
        <p:nvSpPr>
          <p:cNvPr id="6" name="footer">
            <a:extLst xmlns:a="http://schemas.openxmlformats.org/drawingml/2006/main">
              <a:ext uri="{FF2B5EF4-FFF2-40B4-BE49-F238E27FC236}">
                <a16:creationId xmlns:a16="http://schemas.microsoft.com/office/drawing/2014/main" id="{27DC0B8B-3C97-489E-830C-772C49B69BF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7" name="number">
            <a:extLst xmlns:a="http://schemas.openxmlformats.org/drawingml/2006/main">
              <a:ext uri="{FF2B5EF4-FFF2-40B4-BE49-F238E27FC236}">
                <a16:creationId xmlns:a16="http://schemas.microsoft.com/office/drawing/2014/main" id="{F39A6EA8-4FFB-4CEA-9785-3A16B8CEE20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a:t>
            </a:r>
          </a:p>
        </p:txBody>
      </p:sp>
    </p:spTree>
    <p:extLst>
      <p:ext uri="{BB962C8B-B14F-4D97-AF65-F5344CB8AC3E}">
        <p14:creationId xmlns:p14="http://schemas.microsoft.com/office/powerpoint/2010/main" val="150611468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6FA81FB-57FB-4A81-B10B-F3C63F8CD6C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Evidence and local implementation</a:t>
            </a:r>
          </a:p>
        </p:txBody>
      </p:sp>
      <p:sp>
        <p:nvSpPr>
          <p:cNvPr id="2" name="paragraph-0">
            <a:extLst xmlns:a="http://schemas.openxmlformats.org/drawingml/2006/main">
              <a:ext uri="{FF2B5EF4-FFF2-40B4-BE49-F238E27FC236}">
                <a16:creationId xmlns:a16="http://schemas.microsoft.com/office/drawing/2014/main" id="{AAC90FA5-A3FB-4537-9AD7-F0667616B017}"/>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were checked through September 20, 2026. Several major US guidelines in this field are old, especially the 2013 IDSA PJI guideline and 2015 vertebral osteomyelitis guideline. Treatment choices below distinguish published recommendations from areas of uncertainty. Operative plans, drug selection, outpatient monitoring, and duration require case-level review.</a:t>
            </a:r>
          </a:p>
        </p:txBody>
      </p:sp>
      <p:sp>
        <p:nvSpPr>
          <p:cNvPr id="3" name="footer">
            <a:extLst xmlns:a="http://schemas.openxmlformats.org/drawingml/2006/main">
              <a:ext uri="{FF2B5EF4-FFF2-40B4-BE49-F238E27FC236}">
                <a16:creationId xmlns:a16="http://schemas.microsoft.com/office/drawing/2014/main" id="{6E3A7014-2DD1-429D-BA2A-49DF2DEB520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612B65D-CE1F-4EEF-BF01-D5A21CE5126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a:t>
            </a:r>
          </a:p>
        </p:txBody>
      </p:sp>
    </p:spTree>
    <p:extLst>
      <p:ext uri="{BB962C8B-B14F-4D97-AF65-F5344CB8AC3E}">
        <p14:creationId xmlns:p14="http://schemas.microsoft.com/office/powerpoint/2010/main" val="1848153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045F6135-AB16-4802-A98C-74BCBFDBE09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Five questions organize every bone and joint infection</a:t>
            </a:r>
          </a:p>
        </p:txBody>
      </p:sp>
      <p:sp>
        <p:nvSpPr>
          <p:cNvPr id="2" name="paragraph-0">
            <a:extLst xmlns:a="http://schemas.openxmlformats.org/drawingml/2006/main">
              <a:ext uri="{FF2B5EF4-FFF2-40B4-BE49-F238E27FC236}">
                <a16:creationId xmlns:a16="http://schemas.microsoft.com/office/drawing/2014/main" id="{8725C41F-F78A-4CB6-A5BA-AA18C666EB7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is infected? Native joint, prosthesis, bone, spine, diabetic foot, pressure injury, or fracture hardware.</a:t>
            </a:r>
          </a:p>
        </p:txBody>
      </p:sp>
      <p:sp>
        <p:nvSpPr>
          <p:cNvPr id="3" name="paragraph-1">
            <a:extLst xmlns:a="http://schemas.openxmlformats.org/drawingml/2006/main">
              <a:ext uri="{FF2B5EF4-FFF2-40B4-BE49-F238E27FC236}">
                <a16:creationId xmlns:a16="http://schemas.microsoft.com/office/drawing/2014/main" id="{4E980B74-5FE1-4FDD-9FDB-C8183494CAB6}"/>
              </a:ext>
            </a:extLst>
          </p:cNvPr>
          <p:cNvSpPr>
            <a:spLocks xmlns:a="http://schemas.openxmlformats.org/drawingml/2006/main" noGrp="1"/>
          </p:cNvSpPr>
          <p:nvPr/>
        </p:nvSpPr>
        <p:spPr>
          <a:xfrm xmlns:a="http://schemas.openxmlformats.org/drawingml/2006/main">
            <a:off x="647700" y="291465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is the best specimen? Blood, synovial fluid, bone, or multiple deep operative samples. A superficial wound swab rarely defines bone therapy.</a:t>
            </a:r>
          </a:p>
        </p:txBody>
      </p:sp>
      <p:sp>
        <p:nvSpPr>
          <p:cNvPr id="4" name="paragraph-2">
            <a:extLst xmlns:a="http://schemas.openxmlformats.org/drawingml/2006/main">
              <a:ext uri="{FF2B5EF4-FFF2-40B4-BE49-F238E27FC236}">
                <a16:creationId xmlns:a16="http://schemas.microsoft.com/office/drawing/2014/main" id="{819FEF06-C8EA-42F7-97D8-478051177B2E}"/>
              </a:ext>
            </a:extLst>
          </p:cNvPr>
          <p:cNvSpPr>
            <a:spLocks xmlns:a="http://schemas.openxmlformats.org/drawingml/2006/main" noGrp="1"/>
          </p:cNvSpPr>
          <p:nvPr/>
        </p:nvSpPr>
        <p:spPr>
          <a:xfrm xmlns:a="http://schemas.openxmlformats.org/drawingml/2006/main">
            <a:off x="647700" y="42291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remains? Pus, necrotic bone, biofilm-coated implant, abscess, sinus tract, ischemic tissue, or an open wound.</a:t>
            </a:r>
          </a:p>
        </p:txBody>
      </p:sp>
      <p:sp>
        <p:nvSpPr>
          <p:cNvPr id="5" name="footer">
            <a:extLst xmlns:a="http://schemas.openxmlformats.org/drawingml/2006/main">
              <a:ext uri="{FF2B5EF4-FFF2-40B4-BE49-F238E27FC236}">
                <a16:creationId xmlns:a16="http://schemas.microsoft.com/office/drawing/2014/main" id="{A9DE8508-E533-405C-9356-0E6FB9BE162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BCF0BDB9-15D9-4BEE-8635-3C52EB258D2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a:t>
            </a:r>
          </a:p>
        </p:txBody>
      </p:sp>
    </p:spTree>
    <p:extLst>
      <p:ext uri="{BB962C8B-B14F-4D97-AF65-F5344CB8AC3E}">
        <p14:creationId xmlns:p14="http://schemas.microsoft.com/office/powerpoint/2010/main" val="18480453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816F62C-FA22-486D-B7FB-5CF201E5E7B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Five questions organize every bone and joint infection</a:t>
            </a:r>
          </a:p>
        </p:txBody>
      </p:sp>
      <p:sp>
        <p:nvSpPr>
          <p:cNvPr id="2" name="paragraph-0">
            <a:extLst xmlns:a="http://schemas.openxmlformats.org/drawingml/2006/main">
              <a:ext uri="{FF2B5EF4-FFF2-40B4-BE49-F238E27FC236}">
                <a16:creationId xmlns:a16="http://schemas.microsoft.com/office/drawing/2014/main" id="{C8CFBBAF-0603-445F-82A6-0A293D923AE4}"/>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Can it be controlled? Drain, debride, exchange, remove, reconstruct, revascularize, or manage noncuratively.</a:t>
            </a:r>
          </a:p>
        </p:txBody>
      </p:sp>
      <p:sp>
        <p:nvSpPr>
          <p:cNvPr id="3" name="paragraph-1">
            <a:extLst xmlns:a="http://schemas.openxmlformats.org/drawingml/2006/main">
              <a:ext uri="{FF2B5EF4-FFF2-40B4-BE49-F238E27FC236}">
                <a16:creationId xmlns:a16="http://schemas.microsoft.com/office/drawing/2014/main" id="{6346A4DE-3856-41B8-B901-14FC633B79A0}"/>
              </a:ext>
            </a:extLst>
          </p:cNvPr>
          <p:cNvSpPr>
            <a:spLocks xmlns:a="http://schemas.openxmlformats.org/drawingml/2006/main" noGrp="1"/>
          </p:cNvSpPr>
          <p:nvPr/>
        </p:nvSpPr>
        <p:spPr>
          <a:xfrm xmlns:a="http://schemas.openxmlformats.org/drawingml/2006/main">
            <a:off x="647700" y="29146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is the intent? Cure, treatment with retained material, chronic suppression, or treatment of acute flares only.</a:t>
            </a:r>
          </a:p>
        </p:txBody>
      </p:sp>
      <p:sp>
        <p:nvSpPr>
          <p:cNvPr id="4" name="footer">
            <a:extLst xmlns:a="http://schemas.openxmlformats.org/drawingml/2006/main">
              <a:ext uri="{FF2B5EF4-FFF2-40B4-BE49-F238E27FC236}">
                <a16:creationId xmlns:a16="http://schemas.microsoft.com/office/drawing/2014/main" id="{59D8F047-F5E8-4A50-B094-2138949BCBD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2483E80A-00DD-48E4-9F4F-0160BEF9761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a:t>
            </a:r>
          </a:p>
        </p:txBody>
      </p:sp>
    </p:spTree>
    <p:extLst>
      <p:ext uri="{BB962C8B-B14F-4D97-AF65-F5344CB8AC3E}">
        <p14:creationId xmlns:p14="http://schemas.microsoft.com/office/powerpoint/2010/main" val="77614831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F82AD1C-E0C5-4C42-B7AF-1E55F2600F9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Stable and unstable patients follow different clocks</a:t>
            </a:r>
          </a:p>
        </p:txBody>
      </p:sp>
      <p:sp>
        <p:nvSpPr>
          <p:cNvPr id="2" name="paragraph-0">
            <a:extLst xmlns:a="http://schemas.openxmlformats.org/drawingml/2006/main">
              <a:ext uri="{FF2B5EF4-FFF2-40B4-BE49-F238E27FC236}">
                <a16:creationId xmlns:a16="http://schemas.microsoft.com/office/drawing/2014/main" id="{226C24D6-6082-4163-94B7-359E9D799CEC}"/>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If the patient is stable, obtain the highest-value specimen before antibiotics. If septic, hemodynamically unstable, or neurologically threatened, obtain blood cultures promptly but do not delay active therapy or urgent source control.</a:t>
            </a:r>
          </a:p>
        </p:txBody>
      </p:sp>
      <p:sp>
        <p:nvSpPr>
          <p:cNvPr id="3" name="footer">
            <a:extLst xmlns:a="http://schemas.openxmlformats.org/drawingml/2006/main">
              <a:ext uri="{FF2B5EF4-FFF2-40B4-BE49-F238E27FC236}">
                <a16:creationId xmlns:a16="http://schemas.microsoft.com/office/drawing/2014/main" id="{4D8F9A4C-2B8F-4A08-BDF6-F00956ABFB9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7E4BDF4-F1CE-43C8-BD7B-B8FB9BAF68F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a:t>
            </a:r>
          </a:p>
        </p:txBody>
      </p:sp>
    </p:spTree>
    <p:extLst>
      <p:ext uri="{BB962C8B-B14F-4D97-AF65-F5344CB8AC3E}">
        <p14:creationId xmlns:p14="http://schemas.microsoft.com/office/powerpoint/2010/main" val="185170754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A0E7DE0-E966-46C3-8DEB-D2EE385759A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Diagnose</a:t>
            </a:r>
          </a:p>
        </p:txBody>
      </p:sp>
      <p:sp>
        <p:nvSpPr>
          <p:cNvPr id="2" name="paragraph-0">
            <a:extLst xmlns:a="http://schemas.openxmlformats.org/drawingml/2006/main">
              <a:ext uri="{FF2B5EF4-FFF2-40B4-BE49-F238E27FC236}">
                <a16:creationId xmlns:a16="http://schemas.microsoft.com/office/drawing/2014/main" id="{D70750A9-A583-4A93-AF16-B57D89080D4D}"/>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Aspirate promptly if feasible. Send bacterial culture, cell count with differential, and crystals. Obtain blood cultures when febrile, systemically ill, or bacteremia is plausible. Crystals do not exclude infection, and no single synovial WBC cutoff proves or excludes it.</a:t>
            </a:r>
          </a:p>
        </p:txBody>
      </p:sp>
      <p:sp>
        <p:nvSpPr>
          <p:cNvPr id="3" name="footer">
            <a:extLst xmlns:a="http://schemas.openxmlformats.org/drawingml/2006/main">
              <a:ext uri="{FF2B5EF4-FFF2-40B4-BE49-F238E27FC236}">
                <a16:creationId xmlns:a16="http://schemas.microsoft.com/office/drawing/2014/main" id="{E6AB9359-DB9B-4DE1-91F9-CB3449A24A8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C48B6F1-7B5C-41F1-B996-BEE674BED6F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a:t>
            </a:r>
          </a:p>
        </p:txBody>
      </p:sp>
    </p:spTree>
    <p:extLst>
      <p:ext uri="{BB962C8B-B14F-4D97-AF65-F5344CB8AC3E}">
        <p14:creationId xmlns:p14="http://schemas.microsoft.com/office/powerpoint/2010/main" val="91837361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9C2A48E-97F9-4FE0-B95D-5E3442BD730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Treat now</a:t>
            </a:r>
          </a:p>
        </p:txBody>
      </p:sp>
      <p:sp>
        <p:nvSpPr>
          <p:cNvPr id="2" name="paragraph-0">
            <a:extLst xmlns:a="http://schemas.openxmlformats.org/drawingml/2006/main">
              <a:ext uri="{FF2B5EF4-FFF2-40B4-BE49-F238E27FC236}">
                <a16:creationId xmlns:a16="http://schemas.microsoft.com/office/drawing/2014/main" id="{5590CB79-30ED-4C24-823D-37F43D9A1EFB}"/>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After sampling, vancomycin plus ceftriaxone is a common empiric regimen. Substitute an antipseudomonal beta-lactam when resistant gram-negative risk is meaningful. Narrow once cultures return.</a:t>
            </a:r>
          </a:p>
        </p:txBody>
      </p:sp>
      <p:sp>
        <p:nvSpPr>
          <p:cNvPr id="3" name="footer">
            <a:extLst xmlns:a="http://schemas.openxmlformats.org/drawingml/2006/main">
              <a:ext uri="{FF2B5EF4-FFF2-40B4-BE49-F238E27FC236}">
                <a16:creationId xmlns:a16="http://schemas.microsoft.com/office/drawing/2014/main" id="{D15BD3B8-E2A9-4FC2-B45F-661D6F4D050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315CBE1-61C7-4A92-9E88-A6CEB59EA44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a:t>
            </a:r>
          </a:p>
        </p:txBody>
      </p:sp>
    </p:spTree>
    <p:extLst>
      <p:ext uri="{BB962C8B-B14F-4D97-AF65-F5344CB8AC3E}">
        <p14:creationId xmlns:p14="http://schemas.microsoft.com/office/powerpoint/2010/main" val="7329477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FDBF5E1-D59C-4670-91C4-84A905C2D7A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Control the source</a:t>
            </a:r>
          </a:p>
        </p:txBody>
      </p:sp>
      <p:sp>
        <p:nvSpPr>
          <p:cNvPr id="2" name="paragraph-0">
            <a:extLst xmlns:a="http://schemas.openxmlformats.org/drawingml/2006/main">
              <a:ext uri="{FF2B5EF4-FFF2-40B4-BE49-F238E27FC236}">
                <a16:creationId xmlns:a16="http://schemas.microsoft.com/office/drawing/2014/main" id="{7C9BE0CA-0FB5-4D4C-AB62-757A7E44C5E2}"/>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Large-joint infection usually requires urgent orthopedic drainage. Failure to improve should prompt reassessment of drainage, adjacent osteomyelitis, and the diagnosis before automatic broadening or extension.</a:t>
            </a:r>
          </a:p>
        </p:txBody>
      </p:sp>
      <p:sp>
        <p:nvSpPr>
          <p:cNvPr id="3" name="footer">
            <a:extLst xmlns:a="http://schemas.openxmlformats.org/drawingml/2006/main">
              <a:ext uri="{FF2B5EF4-FFF2-40B4-BE49-F238E27FC236}">
                <a16:creationId xmlns:a16="http://schemas.microsoft.com/office/drawing/2014/main" id="{3AA6522F-128A-40F2-961E-103021AF987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4BB4871-EE06-4113-A0D3-E63FA7DB1C1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a:t>
            </a:r>
          </a:p>
        </p:txBody>
      </p:sp>
    </p:spTree>
    <p:extLst>
      <p:ext uri="{BB962C8B-B14F-4D97-AF65-F5344CB8AC3E}">
        <p14:creationId xmlns:p14="http://schemas.microsoft.com/office/powerpoint/2010/main" val="125936485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EADE17F-4BF5-4954-8439-7740BC7509D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Control the source</a:t>
            </a:r>
          </a:p>
        </p:txBody>
      </p:sp>
      <p:graphicFrame>
        <p:nvGraphicFramePr>
          <p:cNvPr id="2" name="">
            <a:extLst xmlns:a="http://schemas.openxmlformats.org/drawingml/2006/main">
              <a:ext uri="{FF2B5EF4-FFF2-40B4-BE49-F238E27FC236}">
                <a16:creationId xmlns:a16="http://schemas.microsoft.com/office/drawing/2014/main" id="{DFE55EE2-B424-46E6-B041-AB0599D9144D}"/>
              </a:ext>
            </a:extLst>
          </p:cNvPr>
          <p:cNvGraphicFramePr/>
          <p:nvPr/>
        </p:nvGraphicFramePr>
        <p:xfrm>
          <a:off xmlns:a="http://schemas.openxmlformats.org/drawingml/2006/main" x="647700" y="1866900"/>
          <a:ext xmlns:a="http://schemas.openxmlformats.org/drawingml/2006/main" cx="10896600" cy="3471863"/>
        </p:xfrm>
        <a:graphic xmlns:a="http://schemas.openxmlformats.org/drawingml/2006/main">
          <a:graphicData uri="http://schemas.openxmlformats.org/drawingml/2006/table">
            <a:tbl>
              <a:tblPr/>
              <a:tblGrid>
                <a:gridCol w="3632200"/>
                <a:gridCol w="3632200"/>
                <a:gridCol w="3632200"/>
              </a:tblGrid>
              <a:tr h="538163">
                <a:tc>
                  <a:txBody>
                    <a:bodyPr lIns="114300" tIns="114300" rIns="114300" bIns="114300">
                      <a:noAutofit/>
                    </a:bodyPr>
                    <a:lstStyle/>
                    <a:p>
                      <a:r>
                        <a:rPr sz="1950" b="1">
                          <a:solidFill>
                            <a:srgbClr val="FFFFFF"/>
                          </a:solidFill>
                          <a:latin typeface="DejaVu Sans"/>
                          <a:ea typeface="DejaVu Sans"/>
                          <a:cs typeface="DejaVu Sans"/>
                        </a:rPr>
                        <a:t>Clinical setting</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Common pathogens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Practical implication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Typical adult native-joint infection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 aureus and streptococci</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Vancomycin plus ceftriaxone is a common initial regimen after cultures.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Older, immunocompromised, or suspected urinary/intra-abdominal source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Enteric gram-negative bacilli in addition to staphylococci and streptococci</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Ensure gram-negative coverage and investigate the bloodstream source.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C778D52-5C63-4C20-9E91-CE34AAE34D5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2ED65C0-605B-45CA-BD80-D13E3818CA4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a:t>
            </a:r>
          </a:p>
        </p:txBody>
      </p:sp>
    </p:spTree>
    <p:extLst>
      <p:ext uri="{BB962C8B-B14F-4D97-AF65-F5344CB8AC3E}">
        <p14:creationId xmlns:p14="http://schemas.microsoft.com/office/powerpoint/2010/main" val="191632652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D2AE7EB-EDEB-492B-AA44-FCFF1AFE3B2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Control the source</a:t>
            </a:r>
          </a:p>
        </p:txBody>
      </p:sp>
      <p:graphicFrame>
        <p:nvGraphicFramePr>
          <p:cNvPr id="2" name="">
            <a:extLst xmlns:a="http://schemas.openxmlformats.org/drawingml/2006/main">
              <a:ext uri="{FF2B5EF4-FFF2-40B4-BE49-F238E27FC236}">
                <a16:creationId xmlns:a16="http://schemas.microsoft.com/office/drawing/2014/main" id="{0A1D1E7C-BC39-4600-BA29-C86A4A1CB050}"/>
              </a:ext>
            </a:extLst>
          </p:cNvPr>
          <p:cNvGraphicFramePr/>
          <p:nvPr/>
        </p:nvGraphicFramePr>
        <p:xfrm>
          <a:off xmlns:a="http://schemas.openxmlformats.org/drawingml/2006/main" x="647700" y="1866900"/>
          <a:ext xmlns:a="http://schemas.openxmlformats.org/drawingml/2006/main" cx="10896600" cy="3781425"/>
        </p:xfrm>
        <a:graphic xmlns:a="http://schemas.openxmlformats.org/drawingml/2006/main">
          <a:graphicData uri="http://schemas.openxmlformats.org/drawingml/2006/table">
            <a:tbl>
              <a:tblPr/>
              <a:tblGrid>
                <a:gridCol w="3632200"/>
                <a:gridCol w="3632200"/>
                <a:gridCol w="3632200"/>
              </a:tblGrid>
              <a:tr h="538163">
                <a:tc>
                  <a:txBody>
                    <a:bodyPr lIns="114300" tIns="114300" rIns="114300" bIns="114300">
                      <a:noAutofit/>
                    </a:bodyPr>
                    <a:lstStyle/>
                    <a:p>
                      <a:r>
                        <a:rPr sz="1950" b="1">
                          <a:solidFill>
                            <a:srgbClr val="FFFFFF"/>
                          </a:solidFill>
                          <a:latin typeface="DejaVu Sans"/>
                          <a:ea typeface="DejaVu Sans"/>
                          <a:cs typeface="DejaVu Sans"/>
                        </a:rPr>
                        <a:t>Clinical setting</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Common pathogens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Practical implication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Injection drug use, healthcare exposure, or penetrating/water exposure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 aureus ; consider Pseudomonas according to exposure and local epidemiology</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Use an antipseudomonal beta-lactam only when the risk is credible.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Migratory polyarthralgia, tenosynovitis, or pustules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Neisseria gonorrhoeae</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Obtain NAAT from exposed mucosal sites and culture purulent material; treat with ceftriaxone.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7ED0EDE-747F-4A99-B7FB-ECEE3BAB08E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F3C06E6-C7B6-4AD3-8F16-6160913D9B0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a:t>
            </a:r>
          </a:p>
        </p:txBody>
      </p:sp>
    </p:spTree>
    <p:extLst>
      <p:ext uri="{BB962C8B-B14F-4D97-AF65-F5344CB8AC3E}">
        <p14:creationId xmlns:p14="http://schemas.microsoft.com/office/powerpoint/2010/main" val="22301834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5619EFF-9E3C-4BAD-AEB2-769DC83A188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Duration</a:t>
            </a:r>
          </a:p>
        </p:txBody>
      </p:sp>
      <p:sp>
        <p:nvSpPr>
          <p:cNvPr id="2" name="paragraph-0">
            <a:extLst xmlns:a="http://schemas.openxmlformats.org/drawingml/2006/main">
              <a:ext uri="{FF2B5EF4-FFF2-40B4-BE49-F238E27FC236}">
                <a16:creationId xmlns:a16="http://schemas.microsoft.com/office/drawing/2014/main" id="{F299E53E-A4B8-4519-AF92-909F3F723AC0}"/>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Uncomplicated, adequately drained large-joint infection is generally treated for several weeks, often about 3–4 weeks. Extend or redefine the course for bacteremia complications, adjacent osteomyelitis, delayed drainage, or poor response. Selected patients can transition to an active oral drug once improving.</a:t>
            </a:r>
          </a:p>
        </p:txBody>
      </p:sp>
      <p:sp>
        <p:nvSpPr>
          <p:cNvPr id="3" name="paragraph-1">
            <a:extLst xmlns:a="http://schemas.openxmlformats.org/drawingml/2006/main">
              <a:ext uri="{FF2B5EF4-FFF2-40B4-BE49-F238E27FC236}">
                <a16:creationId xmlns:a16="http://schemas.microsoft.com/office/drawing/2014/main" id="{94682C40-BE3C-4CAE-A46E-69825B2029D5}"/>
              </a:ext>
            </a:extLst>
          </p:cNvPr>
          <p:cNvSpPr>
            <a:spLocks xmlns:a="http://schemas.openxmlformats.org/drawingml/2006/main" noGrp="1"/>
          </p:cNvSpPr>
          <p:nvPr/>
        </p:nvSpPr>
        <p:spPr>
          <a:xfrm xmlns:a="http://schemas.openxmlformats.org/drawingml/2006/main">
            <a:off x="647700" y="39719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sanjo , 2v4 , gono</a:t>
            </a:r>
          </a:p>
        </p:txBody>
      </p:sp>
      <p:sp>
        <p:nvSpPr>
          <p:cNvPr id="4" name="footer">
            <a:extLst xmlns:a="http://schemas.openxmlformats.org/drawingml/2006/main">
              <a:ext uri="{FF2B5EF4-FFF2-40B4-BE49-F238E27FC236}">
                <a16:creationId xmlns:a16="http://schemas.microsoft.com/office/drawing/2014/main" id="{90991467-0386-4E9E-BB2D-2998D5FF759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6ECE642F-6B9A-47D2-93E6-46820CDE83B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a:t>
            </a:r>
          </a:p>
        </p:txBody>
      </p:sp>
    </p:spTree>
    <p:extLst>
      <p:ext uri="{BB962C8B-B14F-4D97-AF65-F5344CB8AC3E}">
        <p14:creationId xmlns:p14="http://schemas.microsoft.com/office/powerpoint/2010/main" val="9932824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042F34B-6AB3-4B98-B4FE-74237017B48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Establish the diagnosis</a:t>
            </a:r>
          </a:p>
        </p:txBody>
      </p:sp>
      <p:sp>
        <p:nvSpPr>
          <p:cNvPr id="2" name="paragraph-0">
            <a:extLst xmlns:a="http://schemas.openxmlformats.org/drawingml/2006/main">
              <a:ext uri="{FF2B5EF4-FFF2-40B4-BE49-F238E27FC236}">
                <a16:creationId xmlns:a16="http://schemas.microsoft.com/office/drawing/2014/main" id="{509EB9E3-412A-4F36-BBDB-80EA6BDFDAE8}"/>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sinus tract communicating with the prosthesis is diagnostic. If stable, aspirate before antibiotics when results will change management. At surgery, obtain multiple deep tissue cultures. Do not build months of therapy around a superficial wound or sinus swab.</a:t>
            </a:r>
          </a:p>
        </p:txBody>
      </p:sp>
      <p:sp>
        <p:nvSpPr>
          <p:cNvPr id="3" name="footer">
            <a:extLst xmlns:a="http://schemas.openxmlformats.org/drawingml/2006/main">
              <a:ext uri="{FF2B5EF4-FFF2-40B4-BE49-F238E27FC236}">
                <a16:creationId xmlns:a16="http://schemas.microsoft.com/office/drawing/2014/main" id="{B447E54B-C5A3-4F7F-A734-88C6EA0E4F6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20B3B50-0C31-4824-82ED-90DC7CCBB5C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a:t>
            </a:r>
          </a:p>
        </p:txBody>
      </p:sp>
    </p:spTree>
    <p:extLst>
      <p:ext uri="{BB962C8B-B14F-4D97-AF65-F5344CB8AC3E}">
        <p14:creationId xmlns:p14="http://schemas.microsoft.com/office/powerpoint/2010/main" val="214647524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0E183D9-127A-46DE-B25B-5655F839120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Look for bacteremia</a:t>
            </a:r>
          </a:p>
        </p:txBody>
      </p:sp>
      <p:sp>
        <p:nvSpPr>
          <p:cNvPr id="2" name="paragraph-0">
            <a:extLst xmlns:a="http://schemas.openxmlformats.org/drawingml/2006/main">
              <a:ext uri="{FF2B5EF4-FFF2-40B4-BE49-F238E27FC236}">
                <a16:creationId xmlns:a16="http://schemas.microsoft.com/office/drawing/2014/main" id="{C008EEF1-DCE4-44FA-9E1E-07FF21B058C9}"/>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Obtain blood cultures with fever, systemic illness, acute hematogenous presentation, or suspected S. aureus . Search for the bloodstream source and complications when bacteremia is present.</a:t>
            </a:r>
          </a:p>
        </p:txBody>
      </p:sp>
      <p:sp>
        <p:nvSpPr>
          <p:cNvPr id="3" name="footer">
            <a:extLst xmlns:a="http://schemas.openxmlformats.org/drawingml/2006/main">
              <a:ext uri="{FF2B5EF4-FFF2-40B4-BE49-F238E27FC236}">
                <a16:creationId xmlns:a16="http://schemas.microsoft.com/office/drawing/2014/main" id="{A12678B1-880E-49BE-844C-4FC2307F62A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0CB80B7-35A3-46B7-A1A9-261D0F67994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a:t>
            </a:r>
          </a:p>
        </p:txBody>
      </p:sp>
    </p:spTree>
    <p:extLst>
      <p:ext uri="{BB962C8B-B14F-4D97-AF65-F5344CB8AC3E}">
        <p14:creationId xmlns:p14="http://schemas.microsoft.com/office/powerpoint/2010/main" val="84616129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A6AE7CF-11A0-45F3-86D5-BC6EA2D9691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Look for bacteremia</a:t>
            </a:r>
          </a:p>
        </p:txBody>
      </p:sp>
      <p:graphicFrame>
        <p:nvGraphicFramePr>
          <p:cNvPr id="2" name="">
            <a:extLst xmlns:a="http://schemas.openxmlformats.org/drawingml/2006/main">
              <a:ext uri="{FF2B5EF4-FFF2-40B4-BE49-F238E27FC236}">
                <a16:creationId xmlns:a16="http://schemas.microsoft.com/office/drawing/2014/main" id="{9E050882-96CB-4ECB-BD0D-737C4020F4D6}"/>
              </a:ext>
            </a:extLst>
          </p:cNvPr>
          <p:cNvGraphicFramePr/>
          <p:nvPr/>
        </p:nvGraphicFramePr>
        <p:xfrm>
          <a:off xmlns:a="http://schemas.openxmlformats.org/drawingml/2006/main" x="647700" y="1866900"/>
          <a:ext xmlns:a="http://schemas.openxmlformats.org/drawingml/2006/main" cx="10896600" cy="378142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DAIR with modular-component exchange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Best 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Acute symptoms, fixed implant, no sinus tract, acceptable soft tissue, and a usable biofilm-active oral regimen.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2085975">
                <a:tc>
                  <a:txBody>
                    <a:bodyPr lIns="114300" tIns="114300" rIns="114300" bIns="114300">
                      <a:noAutofit/>
                    </a:bodyPr>
                    <a:lstStyle/>
                    <a:p>
                      <a:r>
                        <a:rPr sz="1950" b="0">
                          <a:solidFill>
                            <a:srgbClr val="16323B"/>
                          </a:solidFill>
                          <a:latin typeface="DejaVu Sans"/>
                          <a:ea typeface="DejaVu Sans"/>
                          <a:cs typeface="DejaVu Sans"/>
                        </a:rPr>
                        <a:t>Published guidance and decision points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For staphylococcal PJI, the 2013 IDSA guideline describes an initial pathogen-directed phase with rifampin, then rifampin plus an active oral companion to complete 3 months for a hip or 6 months for a knee . Other organisms and situations require separate duration decisions. The IV-to-oral switch is individualized.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D2625B4-6513-4CE1-B54E-C230788C4CB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1943418-0738-4D69-924C-6762FC88DB4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a:t>
            </a:r>
          </a:p>
        </p:txBody>
      </p:sp>
    </p:spTree>
    <p:extLst>
      <p:ext uri="{BB962C8B-B14F-4D97-AF65-F5344CB8AC3E}">
        <p14:creationId xmlns:p14="http://schemas.microsoft.com/office/powerpoint/2010/main" val="80773887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BF7DB9F-B44D-4D7A-BEEB-B73472E8711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Look for bacteremia</a:t>
            </a:r>
          </a:p>
        </p:txBody>
      </p:sp>
      <p:graphicFrame>
        <p:nvGraphicFramePr>
          <p:cNvPr id="2" name="">
            <a:extLst xmlns:a="http://schemas.openxmlformats.org/drawingml/2006/main">
              <a:ext uri="{FF2B5EF4-FFF2-40B4-BE49-F238E27FC236}">
                <a16:creationId xmlns:a16="http://schemas.microsoft.com/office/drawing/2014/main" id="{CD243C0F-CC5B-400B-ACF2-0F8BC0C8CB37}"/>
              </a:ext>
            </a:extLst>
          </p:cNvPr>
          <p:cNvGraphicFramePr/>
          <p:nvPr/>
        </p:nvGraphicFramePr>
        <p:xfrm>
          <a:off xmlns:a="http://schemas.openxmlformats.org/drawingml/2006/main" x="647700" y="1866900"/>
          <a:ext xmlns:a="http://schemas.openxmlformats.org/drawingml/2006/main" cx="10896600" cy="378142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One-stage exchange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Best 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Selected chronic PJI with good soft tissue, known and tractable organism, and an experienced team.</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2395538">
                <a:tc>
                  <a:txBody>
                    <a:bodyPr lIns="114300" tIns="114300" rIns="114300" bIns="114300">
                      <a:noAutofit/>
                    </a:bodyPr>
                    <a:lstStyle/>
                    <a:p>
                      <a:r>
                        <a:rPr sz="1950" b="0">
                          <a:solidFill>
                            <a:srgbClr val="16323B"/>
                          </a:solidFill>
                          <a:latin typeface="DejaVu Sans"/>
                          <a:ea typeface="DejaVu Sans"/>
                          <a:cs typeface="DejaVu Sans"/>
                        </a:rPr>
                        <a:t>Published guidance and decision points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Duration depends on organism and regimen. IDSA describes 4–6 weeks of pathogen-directed therapy for nonstaphylococcal PJI and 2–6 weeks of IV therapy with rifampin followed by an oral companion and rifampin to complete 3 months for susceptible staphylococci. An active oral option may allow transition after initial treatment; no universal IV lead-in is established.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9B8B5B8-DF67-45A4-9612-20EB2E13B99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3A8F9AC-C6FB-4311-98A7-F4ED1B7D0C6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a:t>
            </a:r>
          </a:p>
        </p:txBody>
      </p:sp>
    </p:spTree>
    <p:extLst>
      <p:ext uri="{BB962C8B-B14F-4D97-AF65-F5344CB8AC3E}">
        <p14:creationId xmlns:p14="http://schemas.microsoft.com/office/powerpoint/2010/main" val="117618599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AE43D6F-8652-4AD5-9ED2-4F04118440E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Look for bacteremia</a:t>
            </a:r>
          </a:p>
        </p:txBody>
      </p:sp>
      <p:graphicFrame>
        <p:nvGraphicFramePr>
          <p:cNvPr id="2" name="">
            <a:extLst xmlns:a="http://schemas.openxmlformats.org/drawingml/2006/main">
              <a:ext uri="{FF2B5EF4-FFF2-40B4-BE49-F238E27FC236}">
                <a16:creationId xmlns:a16="http://schemas.microsoft.com/office/drawing/2014/main" id="{77E2B8FE-B24A-4527-AF2B-B3F728BB736E}"/>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Two-stage exchange: after explant and spacer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Best 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Chronic PJI, compromised tissue, difficult organism, or failed retention strategy.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Published guidance and decision points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IDSA recommends 4–6 weeks of pathogen-directed IV or highly bioavailable oral therapy after resection. Reimplantation timing depends on the clinical and operative assessment. Evidence does not establish a mandatory antibiotic-free interval.</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0F0E316-8C3A-4B6A-BFE9-9D7436466B2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996AEAB-0F1B-4A1F-AF40-9015FF17887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a:t>
            </a:r>
          </a:p>
        </p:txBody>
      </p:sp>
    </p:spTree>
    <p:extLst>
      <p:ext uri="{BB962C8B-B14F-4D97-AF65-F5344CB8AC3E}">
        <p14:creationId xmlns:p14="http://schemas.microsoft.com/office/powerpoint/2010/main" val="182277918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ADC5948-1359-4939-AEF6-5BEA504A577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Look for bacteremia</a:t>
            </a:r>
          </a:p>
        </p:txBody>
      </p:sp>
      <p:graphicFrame>
        <p:nvGraphicFramePr>
          <p:cNvPr id="2" name="">
            <a:extLst xmlns:a="http://schemas.openxmlformats.org/drawingml/2006/main">
              <a:ext uri="{FF2B5EF4-FFF2-40B4-BE49-F238E27FC236}">
                <a16:creationId xmlns:a16="http://schemas.microsoft.com/office/drawing/2014/main" id="{3A264E4C-5F98-4BDF-868D-6F54D47AB22A}"/>
              </a:ext>
            </a:extLst>
          </p:cNvPr>
          <p:cNvGraphicFramePr/>
          <p:nvPr/>
        </p:nvGraphicFramePr>
        <p:xfrm>
          <a:off xmlns:a="http://schemas.openxmlformats.org/drawingml/2006/main" x="647700" y="1866900"/>
          <a:ext xmlns:a="http://schemas.openxmlformats.org/drawingml/2006/main" cx="10896600" cy="378142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Reimplantation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Best 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Proceed when the clinical, surgical, and microbiologic assessment supports control.</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2395538">
                <a:tc>
                  <a:txBody>
                    <a:bodyPr lIns="114300" tIns="114300" rIns="114300" bIns="114300">
                      <a:noAutofit/>
                    </a:bodyPr>
                    <a:lstStyle/>
                    <a:p>
                      <a:r>
                        <a:rPr sz="1950" b="0">
                          <a:solidFill>
                            <a:srgbClr val="16323B"/>
                          </a:solidFill>
                          <a:latin typeface="DejaVu Sans"/>
                          <a:ea typeface="DejaVu Sans"/>
                          <a:cs typeface="DejaVu Sans"/>
                        </a:rPr>
                        <a:t>Published guidance and decision points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Concordant positive deep cultures support persistent infection; a single virulent isolate can also be significant. Decide whether further therapeutic antibiotics are needed from the full operative and microbiologic assessment. With no residual infection, prolonged treatment is not automatic; indicated perioperative prophylaxis still applies.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AE01005-7B38-4EB7-BB70-615E7F00E35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440B9F1-CBF0-4F70-8908-3FF08FD0DFC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a:t>
            </a:r>
          </a:p>
        </p:txBody>
      </p:sp>
    </p:spTree>
    <p:extLst>
      <p:ext uri="{BB962C8B-B14F-4D97-AF65-F5344CB8AC3E}">
        <p14:creationId xmlns:p14="http://schemas.microsoft.com/office/powerpoint/2010/main" val="144877695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280867E-7C6E-4FBD-A3ED-0A34D13E121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Look for bacteremia</a:t>
            </a:r>
          </a:p>
        </p:txBody>
      </p:sp>
      <p:graphicFrame>
        <p:nvGraphicFramePr>
          <p:cNvPr id="2" name="">
            <a:extLst xmlns:a="http://schemas.openxmlformats.org/drawingml/2006/main">
              <a:ext uri="{FF2B5EF4-FFF2-40B4-BE49-F238E27FC236}">
                <a16:creationId xmlns:a16="http://schemas.microsoft.com/office/drawing/2014/main" id="{10F346A7-D276-430D-AA32-9D122A9E2CB1}"/>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No curative surgery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Best 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Operation is not feasible or is inconsistent with the patient's goals.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Published guidance and decision points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Treat acute sepsis or bacteremia first. Then consider chronic suppression only when there is a defined pathogen, a tolerable active oral drug, and a meaningful goal. It is noncurative.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E173274-7F82-4B7B-B430-99DDDA44173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65AAF10-C599-4FC2-87B6-79021AA2660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a:t>
            </a:r>
          </a:p>
        </p:txBody>
      </p:sp>
    </p:spTree>
    <p:extLst>
      <p:ext uri="{BB962C8B-B14F-4D97-AF65-F5344CB8AC3E}">
        <p14:creationId xmlns:p14="http://schemas.microsoft.com/office/powerpoint/2010/main" val="137414728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738BCD8-1167-43EC-A9EA-940EF345E14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“suppression” precisely</a:t>
            </a:r>
          </a:p>
        </p:txBody>
      </p:sp>
      <p:sp>
        <p:nvSpPr>
          <p:cNvPr id="2" name="paragraph-0">
            <a:extLst xmlns:a="http://schemas.openxmlformats.org/drawingml/2006/main">
              <a:ext uri="{FF2B5EF4-FFF2-40B4-BE49-F238E27FC236}">
                <a16:creationId xmlns:a16="http://schemas.microsoft.com/office/drawing/2014/main" id="{E9232021-6EE1-4422-8616-A9D8371DCCA2}"/>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defined oral phase of a curative-intent regimen after DAIR is distinct from indefinite suppressive antimicrobial therapy. The 3-month hip and 6-month knee durations in the IDSA guideline apply to its staphylococcal rifampin-based regimen, not to every organism or regimen. Indefinite suppression is a separate, noncurative decision.</a:t>
            </a:r>
          </a:p>
        </p:txBody>
      </p:sp>
      <p:sp>
        <p:nvSpPr>
          <p:cNvPr id="3" name="footer">
            <a:extLst xmlns:a="http://schemas.openxmlformats.org/drawingml/2006/main">
              <a:ext uri="{FF2B5EF4-FFF2-40B4-BE49-F238E27FC236}">
                <a16:creationId xmlns:a16="http://schemas.microsoft.com/office/drawing/2014/main" id="{9EED205C-416D-4606-8441-0AAF46DB1F5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DBC4078-4040-41DD-B4E1-685586B9246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a:t>
            </a:r>
          </a:p>
        </p:txBody>
      </p:sp>
    </p:spTree>
    <p:extLst>
      <p:ext uri="{BB962C8B-B14F-4D97-AF65-F5344CB8AC3E}">
        <p14:creationId xmlns:p14="http://schemas.microsoft.com/office/powerpoint/2010/main" val="114772800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C580612-64A6-46E3-9BD0-44273A9B471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Do not define DAIR candidacy by postoperative timing alone</a:t>
            </a:r>
          </a:p>
        </p:txBody>
      </p:sp>
      <p:sp>
        <p:nvSpPr>
          <p:cNvPr id="2" name="paragraph-0">
            <a:extLst xmlns:a="http://schemas.openxmlformats.org/drawingml/2006/main">
              <a:ext uri="{FF2B5EF4-FFF2-40B4-BE49-F238E27FC236}">
                <a16:creationId xmlns:a16="http://schemas.microsoft.com/office/drawing/2014/main" id="{01C79C21-6A7C-434F-8462-E51A5D8440BE}"/>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Symptom duration, implant stability, sinus tract, soft tissue, pathogen, host factors, and ability to exchange modular components all affect the chance of cure.</a:t>
            </a:r>
          </a:p>
        </p:txBody>
      </p:sp>
      <p:sp>
        <p:nvSpPr>
          <p:cNvPr id="3" name="paragraph-1">
            <a:extLst xmlns:a="http://schemas.openxmlformats.org/drawingml/2006/main">
              <a:ext uri="{FF2B5EF4-FFF2-40B4-BE49-F238E27FC236}">
                <a16:creationId xmlns:a16="http://schemas.microsoft.com/office/drawing/2014/main" id="{45EA43EE-B29A-4BE7-94A1-1D1A8B6B357B}"/>
              </a:ext>
            </a:extLst>
          </p:cNvPr>
          <p:cNvSpPr>
            <a:spLocks xmlns:a="http://schemas.openxmlformats.org/drawingml/2006/main" noGrp="1"/>
          </p:cNvSpPr>
          <p:nvPr/>
        </p:nvSpPr>
        <p:spPr>
          <a:xfrm xmlns:a="http://schemas.openxmlformats.org/drawingml/2006/main">
            <a:off x="647700" y="32670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pji-2013 , pji-review , datipo</a:t>
            </a:r>
          </a:p>
        </p:txBody>
      </p:sp>
      <p:sp>
        <p:nvSpPr>
          <p:cNvPr id="4" name="footer">
            <a:extLst xmlns:a="http://schemas.openxmlformats.org/drawingml/2006/main">
              <a:ext uri="{FF2B5EF4-FFF2-40B4-BE49-F238E27FC236}">
                <a16:creationId xmlns:a16="http://schemas.microsoft.com/office/drawing/2014/main" id="{811ABF9B-11D8-45CA-B9B9-9DBA35A2448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57D3D24A-2E31-40D4-AD77-71DC965634D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23</a:t>
            </a:r>
          </a:p>
        </p:txBody>
      </p:sp>
    </p:spTree>
    <p:extLst>
      <p:ext uri="{BB962C8B-B14F-4D97-AF65-F5344CB8AC3E}">
        <p14:creationId xmlns:p14="http://schemas.microsoft.com/office/powerpoint/2010/main" val="90185683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CF61A64-3554-4207-9A9A-B9C17703F72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Acute, subacute, and chronic osteomyelitis differ mainly in diagnostic and source-control problems</a:t>
            </a:r>
          </a:p>
        </p:txBody>
      </p:sp>
      <p:graphicFrame>
        <p:nvGraphicFramePr>
          <p:cNvPr id="2" name="">
            <a:extLst xmlns:a="http://schemas.openxmlformats.org/drawingml/2006/main">
              <a:ext uri="{FF2B5EF4-FFF2-40B4-BE49-F238E27FC236}">
                <a16:creationId xmlns:a16="http://schemas.microsoft.com/office/drawing/2014/main" id="{07A3623C-13F6-4571-8455-3C68D6996829}"/>
              </a:ext>
            </a:extLst>
          </p:cNvPr>
          <p:cNvGraphicFramePr/>
          <p:nvPr/>
        </p:nvGraphicFramePr>
        <p:xfrm>
          <a:off xmlns:a="http://schemas.openxmlformats.org/drawingml/2006/main" x="647700" y="1866900"/>
          <a:ext xmlns:a="http://schemas.openxmlformats.org/drawingml/2006/main" cx="10896600" cy="4090988"/>
        </p:xfrm>
        <a:graphic xmlns:a="http://schemas.openxmlformats.org/drawingml/2006/main">
          <a:graphicData uri="http://schemas.openxmlformats.org/drawingml/2006/table">
            <a:tbl>
              <a:tblPr/>
              <a:tblGrid>
                <a:gridCol w="3632200"/>
                <a:gridCol w="3632200"/>
                <a:gridCol w="3632200"/>
              </a:tblGrid>
              <a:tr h="538163">
                <a:tc>
                  <a:txBody>
                    <a:bodyPr lIns="114300" tIns="114300" rIns="114300" bIns="114300">
                      <a:noAutofit/>
                    </a:bodyPr>
                    <a:lstStyle/>
                    <a:p>
                      <a:r>
                        <a:rPr sz="1950" b="1">
                          <a:solidFill>
                            <a:srgbClr val="FFFFFF"/>
                          </a:solidFill>
                          <a:latin typeface="DejaVu Sans"/>
                          <a:ea typeface="DejaVu Sans"/>
                          <a:cs typeface="DejaVu Sans"/>
                        </a:rPr>
                        <a:t>Pattern</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Typical problem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Immediate priority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Acute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Hematogenous infection, contiguous spread, or acute postoperative infection.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Blood cultures when relevant, drain abscesses, obtain deep cultures, and start active therapy promptly when ill.</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Subacute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Indolent vertebral infection or Brodie-type lesion; infection may mimic tumor or inflammatory disease.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If stable, obtain tissue for culture and histology before empiric therapy.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3AE8899-C80D-4B8D-B0A9-6273995D0E6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FFA7679-6DF3-4999-BCE1-1685E59535D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24</a:t>
            </a:r>
          </a:p>
        </p:txBody>
      </p:sp>
    </p:spTree>
    <p:extLst>
      <p:ext uri="{BB962C8B-B14F-4D97-AF65-F5344CB8AC3E}">
        <p14:creationId xmlns:p14="http://schemas.microsoft.com/office/powerpoint/2010/main" val="53678639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9A2EC8B-082E-486F-AA52-A05A8565135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Acute, subacute, and chronic osteomyelitis differ mainly in diagnostic and source-control problems</a:t>
            </a:r>
          </a:p>
        </p:txBody>
      </p:sp>
      <p:graphicFrame>
        <p:nvGraphicFramePr>
          <p:cNvPr id="2" name="">
            <a:extLst xmlns:a="http://schemas.openxmlformats.org/drawingml/2006/main">
              <a:ext uri="{FF2B5EF4-FFF2-40B4-BE49-F238E27FC236}">
                <a16:creationId xmlns:a16="http://schemas.microsoft.com/office/drawing/2014/main" id="{ED186E31-138F-45FB-9B28-DE9520E4A156}"/>
              </a:ext>
            </a:extLst>
          </p:cNvPr>
          <p:cNvGraphicFramePr/>
          <p:nvPr/>
        </p:nvGraphicFramePr>
        <p:xfrm>
          <a:off xmlns:a="http://schemas.openxmlformats.org/drawingml/2006/main" x="647700" y="1866900"/>
          <a:ext xmlns:a="http://schemas.openxmlformats.org/drawingml/2006/main" cx="10896600" cy="2624138"/>
        </p:xfrm>
        <a:graphic xmlns:a="http://schemas.openxmlformats.org/drawingml/2006/main">
          <a:graphicData uri="http://schemas.openxmlformats.org/drawingml/2006/table">
            <a:tbl>
              <a:tblPr/>
              <a:tblGrid>
                <a:gridCol w="3632200"/>
                <a:gridCol w="3632200"/>
                <a:gridCol w="3632200"/>
              </a:tblGrid>
              <a:tr h="538163">
                <a:tc>
                  <a:txBody>
                    <a:bodyPr lIns="114300" tIns="114300" rIns="114300" bIns="114300">
                      <a:noAutofit/>
                    </a:bodyPr>
                    <a:lstStyle/>
                    <a:p>
                      <a:r>
                        <a:rPr sz="1950" b="1">
                          <a:solidFill>
                            <a:srgbClr val="FFFFFF"/>
                          </a:solidFill>
                          <a:latin typeface="DejaVu Sans"/>
                          <a:ea typeface="DejaVu Sans"/>
                          <a:cs typeface="DejaVu Sans"/>
                        </a:rPr>
                        <a:t>Pattern</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Typical problem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Immediate priority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085975">
                <a:tc>
                  <a:txBody>
                    <a:bodyPr lIns="114300" tIns="114300" rIns="114300" bIns="114300">
                      <a:noAutofit/>
                    </a:bodyPr>
                    <a:lstStyle/>
                    <a:p>
                      <a:r>
                        <a:rPr sz="1950" b="0">
                          <a:solidFill>
                            <a:srgbClr val="16323B"/>
                          </a:solidFill>
                          <a:latin typeface="DejaVu Sans"/>
                          <a:ea typeface="DejaVu Sans"/>
                          <a:cs typeface="DejaVu Sans"/>
                        </a:rPr>
                        <a:t>Chronic</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Sequestrum, sinus tract, devitalized bone, ischemia, or retained hardware.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Define whether necrotic bone or hardware can be removed and whether soft-tissue coverage and perfusion can be restored.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9D8E2ACC-02D3-4E2B-8C07-02D7E86E9D7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303BEB2-A413-4797-9E43-19AE42E4BAB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25</a:t>
            </a:r>
          </a:p>
        </p:txBody>
      </p:sp>
    </p:spTree>
    <p:extLst>
      <p:ext uri="{BB962C8B-B14F-4D97-AF65-F5344CB8AC3E}">
        <p14:creationId xmlns:p14="http://schemas.microsoft.com/office/powerpoint/2010/main" val="93015967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6E54D24-4A9A-4887-872B-9A562B19E37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Acute, subacute, and chronic osteomyelitis differ mainly in diagnostic and source-control problems</a:t>
            </a:r>
          </a:p>
        </p:txBody>
      </p:sp>
      <p:graphicFrame>
        <p:nvGraphicFramePr>
          <p:cNvPr id="2" name="">
            <a:extLst xmlns:a="http://schemas.openxmlformats.org/drawingml/2006/main">
              <a:ext uri="{FF2B5EF4-FFF2-40B4-BE49-F238E27FC236}">
                <a16:creationId xmlns:a16="http://schemas.microsoft.com/office/drawing/2014/main" id="{A865BF6D-6236-4B64-94C2-86B52EE1141B}"/>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Acute hematogenous long-bone or vertebral infection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Common pathogens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 aureus most common; streptococci and enteric gram-negative bacilli according to host and source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Sampling implication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Blood cultures can be diagnostic. Evaluate S. aureus bacteremia for an endovascular source.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6C136FF-A211-4AC5-8AF2-36E0F5484BA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F974097-39DD-4D84-8424-54F8171FACD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26</a:t>
            </a:r>
          </a:p>
        </p:txBody>
      </p:sp>
    </p:spTree>
    <p:extLst>
      <p:ext uri="{BB962C8B-B14F-4D97-AF65-F5344CB8AC3E}">
        <p14:creationId xmlns:p14="http://schemas.microsoft.com/office/powerpoint/2010/main" val="8981410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1FD50EC-5E17-42DB-927E-DC7C1D8BACC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Acute, subacute, and chronic osteomyelitis differ mainly in diagnostic and source-control problems</a:t>
            </a:r>
          </a:p>
        </p:txBody>
      </p:sp>
      <p:graphicFrame>
        <p:nvGraphicFramePr>
          <p:cNvPr id="2" name="">
            <a:extLst xmlns:a="http://schemas.openxmlformats.org/drawingml/2006/main">
              <a:ext uri="{FF2B5EF4-FFF2-40B4-BE49-F238E27FC236}">
                <a16:creationId xmlns:a16="http://schemas.microsoft.com/office/drawing/2014/main" id="{C23A5B50-1E43-4DB2-8D6A-BFC58D7E4104}"/>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Post-traumatic, postoperative, or hardware-associated infection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Common pathogens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 aureus , coagulase-negative staphylococci, gram-negative bacilli; sometimes polymicrobial</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Sampling implication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Use multiple deep operative specimens, not a surface swab.</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5794EDDC-A694-4D9F-92F5-6A91AFD4FDE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66FFCD0-C5FF-407B-BA54-E6B56525FBD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27</a:t>
            </a:r>
          </a:p>
        </p:txBody>
      </p:sp>
    </p:spTree>
    <p:extLst>
      <p:ext uri="{BB962C8B-B14F-4D97-AF65-F5344CB8AC3E}">
        <p14:creationId xmlns:p14="http://schemas.microsoft.com/office/powerpoint/2010/main" val="139102048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80AA7CC-E874-4C5F-9848-955C6B358E2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Acute, subacute, and chronic osteomyelitis differ mainly in diagnostic and source-control problems</a:t>
            </a:r>
          </a:p>
        </p:txBody>
      </p:sp>
      <p:graphicFrame>
        <p:nvGraphicFramePr>
          <p:cNvPr id="2" name="">
            <a:extLst xmlns:a="http://schemas.openxmlformats.org/drawingml/2006/main">
              <a:ext uri="{FF2B5EF4-FFF2-40B4-BE49-F238E27FC236}">
                <a16:creationId xmlns:a16="http://schemas.microsoft.com/office/drawing/2014/main" id="{37B0FF26-6CCA-4B27-8DC9-D1EC26DE570B}"/>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Contiguous diabetic foot osteomyelitis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Common pathogens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Mild/new: S. aureus and beta-hemolytic streptococci. Chronic, deep, or previously treated: gram-negative bacilli and anaerobes become more likely.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Sampling implication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Bone culture is preferred when feasible; superficial wound flora can mislead.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A4A88CB-F436-40C7-ABFB-B54E0B84169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3EECE66-A06F-4F39-B6FE-296F32C2B85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28</a:t>
            </a:r>
          </a:p>
        </p:txBody>
      </p:sp>
    </p:spTree>
    <p:extLst>
      <p:ext uri="{BB962C8B-B14F-4D97-AF65-F5344CB8AC3E}">
        <p14:creationId xmlns:p14="http://schemas.microsoft.com/office/powerpoint/2010/main" val="57175959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A3E0D0F-1789-40F8-9217-5C04693C792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Acute, subacute, and chronic osteomyelitis differ mainly in diagnostic and source-control problems</a:t>
            </a:r>
          </a:p>
        </p:txBody>
      </p:sp>
      <p:graphicFrame>
        <p:nvGraphicFramePr>
          <p:cNvPr id="2" name="">
            <a:extLst xmlns:a="http://schemas.openxmlformats.org/drawingml/2006/main">
              <a:ext uri="{FF2B5EF4-FFF2-40B4-BE49-F238E27FC236}">
                <a16:creationId xmlns:a16="http://schemas.microsoft.com/office/drawing/2014/main" id="{4F7CBF42-5896-47DC-9BDF-97091F6B5C68}"/>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Pelvic osteomyelitis beneath a pressure injury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Common pathogens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Often polymicrobial, but exposed bone and wound cultures are heavily colonized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Sampling implication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Deep bone obtained during planned debridement/closure is the useful specimen.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1A929E6-118E-41DA-9280-A9F153D331D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9877649-EDB6-4D15-A3C4-C08D4D9D21D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29</a:t>
            </a:r>
          </a:p>
        </p:txBody>
      </p:sp>
    </p:spTree>
    <p:extLst>
      <p:ext uri="{BB962C8B-B14F-4D97-AF65-F5344CB8AC3E}">
        <p14:creationId xmlns:p14="http://schemas.microsoft.com/office/powerpoint/2010/main" val="213860431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FE187D3-5B43-4166-B4F6-B09C8B976A6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a:t>
            </a:r>
          </a:p>
        </p:txBody>
      </p:sp>
      <p:sp>
        <p:nvSpPr>
          <p:cNvPr id="2" name="paragraph-0">
            <a:extLst xmlns:a="http://schemas.openxmlformats.org/drawingml/2006/main">
              <a:ext uri="{FF2B5EF4-FFF2-40B4-BE49-F238E27FC236}">
                <a16:creationId xmlns:a16="http://schemas.microsoft.com/office/drawing/2014/main" id="{335A5BA9-AFEC-415A-A84D-50CB9F8D33CF}"/>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Prefer blood cultures when hematogenous disease is plausible and bone or deep operative specimens when available. A superficial swab usually reflects colonizing flora.</a:t>
            </a:r>
          </a:p>
        </p:txBody>
      </p:sp>
      <p:sp>
        <p:nvSpPr>
          <p:cNvPr id="3" name="footer">
            <a:extLst xmlns:a="http://schemas.openxmlformats.org/drawingml/2006/main">
              <a:ext uri="{FF2B5EF4-FFF2-40B4-BE49-F238E27FC236}">
                <a16:creationId xmlns:a16="http://schemas.microsoft.com/office/drawing/2014/main" id="{B15AD6D9-5AAC-4B3E-B0E4-17DA6DDBEE9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CD0D92F-391A-484E-88DE-9EE2BBE7A50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30</a:t>
            </a:r>
          </a:p>
        </p:txBody>
      </p:sp>
    </p:spTree>
    <p:extLst>
      <p:ext uri="{BB962C8B-B14F-4D97-AF65-F5344CB8AC3E}">
        <p14:creationId xmlns:p14="http://schemas.microsoft.com/office/powerpoint/2010/main" val="2857925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E7DD908-600D-48E3-AB54-E0E075B0884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Duration</a:t>
            </a:r>
          </a:p>
        </p:txBody>
      </p:sp>
      <p:sp>
        <p:nvSpPr>
          <p:cNvPr id="2" name="paragraph-0">
            <a:extLst xmlns:a="http://schemas.openxmlformats.org/drawingml/2006/main">
              <a:ext uri="{FF2B5EF4-FFF2-40B4-BE49-F238E27FC236}">
                <a16:creationId xmlns:a16="http://schemas.microsoft.com/office/drawing/2014/main" id="{C4107A70-2C43-4BB2-860D-7B3B3CACBD25}"/>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With adequate source control and no retained implant, treatment generally does not exceed 6 weeks. Complete resection of infected bone may require no osteomyelitis course. Residual soft-tissue infection is treated separately.</a:t>
            </a:r>
          </a:p>
        </p:txBody>
      </p:sp>
      <p:sp>
        <p:nvSpPr>
          <p:cNvPr id="3" name="footer">
            <a:extLst xmlns:a="http://schemas.openxmlformats.org/drawingml/2006/main">
              <a:ext uri="{FF2B5EF4-FFF2-40B4-BE49-F238E27FC236}">
                <a16:creationId xmlns:a16="http://schemas.microsoft.com/office/drawing/2014/main" id="{F1064D3C-38CB-4105-AFCF-03337898492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A814438-FD17-41A4-9538-E112AA4BE34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31</a:t>
            </a:r>
          </a:p>
        </p:txBody>
      </p:sp>
    </p:spTree>
    <p:extLst>
      <p:ext uri="{BB962C8B-B14F-4D97-AF65-F5344CB8AC3E}">
        <p14:creationId xmlns:p14="http://schemas.microsoft.com/office/powerpoint/2010/main" val="11274289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ED8CBF96-B10C-4F08-B4D3-A6933FA3B02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Route</a:t>
            </a:r>
          </a:p>
        </p:txBody>
      </p:sp>
      <p:sp>
        <p:nvSpPr>
          <p:cNvPr id="2" name="paragraph-0">
            <a:extLst xmlns:a="http://schemas.openxmlformats.org/drawingml/2006/main">
              <a:ext uri="{FF2B5EF4-FFF2-40B4-BE49-F238E27FC236}">
                <a16:creationId xmlns:a16="http://schemas.microsoft.com/office/drawing/2014/main" id="{4E9C94D9-FCE1-4090-BF63-829D0FA0266C}"/>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Osteomyelitis does not automatically require a PICC. An active, well-absorbed oral regimen is reasonable when the patient is stable, source control is adequate, absorption is reliable, and adherence and interactions have been addressed.</a:t>
            </a:r>
          </a:p>
        </p:txBody>
      </p:sp>
      <p:sp>
        <p:nvSpPr>
          <p:cNvPr id="3" name="paragraph-1">
            <a:extLst xmlns:a="http://schemas.openxmlformats.org/drawingml/2006/main">
              <a:ext uri="{FF2B5EF4-FFF2-40B4-BE49-F238E27FC236}">
                <a16:creationId xmlns:a16="http://schemas.microsoft.com/office/drawing/2014/main" id="{79EF17E7-083E-4DFF-8C3A-BE6A8106B6BD}"/>
              </a:ext>
            </a:extLst>
          </p:cNvPr>
          <p:cNvSpPr>
            <a:spLocks xmlns:a="http://schemas.openxmlformats.org/drawingml/2006/main" noGrp="1"/>
          </p:cNvSpPr>
          <p:nvPr/>
        </p:nvSpPr>
        <p:spPr>
          <a:xfrm xmlns:a="http://schemas.openxmlformats.org/drawingml/2006/main">
            <a:off x="647700" y="361950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Common anchors: most bacterial vertebral osteomyelitis, 6 weeks; diabetic foot osteomyelitis without resection, 6 weeks; minor amputation with a positive bone margin, up to 3 weeks. These are syndrome-specific anchors, not a universal rule.</a:t>
            </a:r>
          </a:p>
        </p:txBody>
      </p:sp>
      <p:sp>
        <p:nvSpPr>
          <p:cNvPr id="4" name="paragraph-2">
            <a:extLst xmlns:a="http://schemas.openxmlformats.org/drawingml/2006/main">
              <a:ext uri="{FF2B5EF4-FFF2-40B4-BE49-F238E27FC236}">
                <a16:creationId xmlns:a16="http://schemas.microsoft.com/office/drawing/2014/main" id="{5F94CDA5-2DED-4CBF-AD44-11080951B512}"/>
              </a:ext>
            </a:extLst>
          </p:cNvPr>
          <p:cNvSpPr>
            <a:spLocks xmlns:a="http://schemas.openxmlformats.org/drawingml/2006/main" noGrp="1"/>
          </p:cNvSpPr>
          <p:nvPr/>
        </p:nvSpPr>
        <p:spPr>
          <a:xfrm xmlns:a="http://schemas.openxmlformats.org/drawingml/2006/main">
            <a:off x="647700" y="52863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oviva , wiki , nvo , dfi</a:t>
            </a:r>
          </a:p>
        </p:txBody>
      </p:sp>
      <p:sp>
        <p:nvSpPr>
          <p:cNvPr id="5" name="footer">
            <a:extLst xmlns:a="http://schemas.openxmlformats.org/drawingml/2006/main">
              <a:ext uri="{FF2B5EF4-FFF2-40B4-BE49-F238E27FC236}">
                <a16:creationId xmlns:a16="http://schemas.microsoft.com/office/drawing/2014/main" id="{E7B34CEE-B5BC-4888-9EED-48221200360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C77EF52F-E74C-4A6B-85A9-2E939AE8F03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32</a:t>
            </a:r>
          </a:p>
        </p:txBody>
      </p:sp>
    </p:spTree>
    <p:extLst>
      <p:ext uri="{BB962C8B-B14F-4D97-AF65-F5344CB8AC3E}">
        <p14:creationId xmlns:p14="http://schemas.microsoft.com/office/powerpoint/2010/main" val="133886094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99A81EE-B703-41F6-ADD5-A336CFB28D3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Diagnose in sequence</a:t>
            </a:r>
          </a:p>
        </p:txBody>
      </p:sp>
      <p:sp>
        <p:nvSpPr>
          <p:cNvPr id="2" name="paragraph-0">
            <a:extLst xmlns:a="http://schemas.openxmlformats.org/drawingml/2006/main">
              <a:ext uri="{FF2B5EF4-FFF2-40B4-BE49-F238E27FC236}">
                <a16:creationId xmlns:a16="http://schemas.microsoft.com/office/drawing/2014/main" id="{1962D826-2227-4A11-9BCD-F0A6F9E58DD6}"/>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Start with the clinical examination, probe-to-bone test, plain radiographs, and ESR or CRP when the examination is equivocal. Obtain MRI only when doubt persists. When culture will change treatment, obtain bone rather than superficial wound tissue.</a:t>
            </a:r>
          </a:p>
        </p:txBody>
      </p:sp>
      <p:sp>
        <p:nvSpPr>
          <p:cNvPr id="3" name="footer">
            <a:extLst xmlns:a="http://schemas.openxmlformats.org/drawingml/2006/main">
              <a:ext uri="{FF2B5EF4-FFF2-40B4-BE49-F238E27FC236}">
                <a16:creationId xmlns:a16="http://schemas.microsoft.com/office/drawing/2014/main" id="{AF5B1038-E81D-4202-B62B-C5ABF10EAC2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414B6BC-CD5D-417E-B0D7-9E1A99DF15A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33</a:t>
            </a:r>
          </a:p>
        </p:txBody>
      </p:sp>
    </p:spTree>
    <p:extLst>
      <p:ext uri="{BB962C8B-B14F-4D97-AF65-F5344CB8AC3E}">
        <p14:creationId xmlns:p14="http://schemas.microsoft.com/office/powerpoint/2010/main" val="110590875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2EE7289-7F45-4AA3-BD64-47FBD95004A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Match empiric breadth to severity</a:t>
            </a:r>
          </a:p>
        </p:txBody>
      </p:sp>
      <p:sp>
        <p:nvSpPr>
          <p:cNvPr id="2" name="paragraph-0">
            <a:extLst xmlns:a="http://schemas.openxmlformats.org/drawingml/2006/main">
              <a:ext uri="{FF2B5EF4-FFF2-40B4-BE49-F238E27FC236}">
                <a16:creationId xmlns:a16="http://schemas.microsoft.com/office/drawing/2014/main" id="{12DDB1D2-00EF-4912-AC9B-E79B55E4B3A7}"/>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a mild infection in North America without recent antibiotics, target S. aureus and beta-hemolytic streptococci. Do not add empiric antipseudomonal therapy in a temperate climate unless prior cultures or a specific exposure makes it credible.</a:t>
            </a:r>
          </a:p>
        </p:txBody>
      </p:sp>
      <p:sp>
        <p:nvSpPr>
          <p:cNvPr id="3" name="footer">
            <a:extLst xmlns:a="http://schemas.openxmlformats.org/drawingml/2006/main">
              <a:ext uri="{FF2B5EF4-FFF2-40B4-BE49-F238E27FC236}">
                <a16:creationId xmlns:a16="http://schemas.microsoft.com/office/drawing/2014/main" id="{30B34A8C-A5CD-4F23-8F9D-25E2C77F2EA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C5B164F-25CB-48FF-B0C3-FFDC38F3FE1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34</a:t>
            </a:r>
          </a:p>
        </p:txBody>
      </p:sp>
    </p:spTree>
    <p:extLst>
      <p:ext uri="{BB962C8B-B14F-4D97-AF65-F5344CB8AC3E}">
        <p14:creationId xmlns:p14="http://schemas.microsoft.com/office/powerpoint/2010/main" val="77182828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CC6D1C6-E7E4-4CD9-9F42-092DADDDFA2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Match empiric breadth to severity</a:t>
            </a:r>
          </a:p>
        </p:txBody>
      </p:sp>
      <p:graphicFrame>
        <p:nvGraphicFramePr>
          <p:cNvPr id="2" name="">
            <a:extLst xmlns:a="http://schemas.openxmlformats.org/drawingml/2006/main">
              <a:ext uri="{FF2B5EF4-FFF2-40B4-BE49-F238E27FC236}">
                <a16:creationId xmlns:a16="http://schemas.microsoft.com/office/drawing/2014/main" id="{9A6C40D8-2FEB-4249-AC7D-AE6F83A6C431}"/>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Complete resection of infected bone with no residual infection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The IWGDF/IDSA table lists 2–5 days; treat any residual soft-tissue infection separately.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CB2CC9D-2F79-470A-A400-5BC1C6A6E9B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D42E35A-02A6-4B7B-8491-1EE4DBB3156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35</a:t>
            </a:r>
          </a:p>
        </p:txBody>
      </p:sp>
    </p:spTree>
    <p:extLst>
      <p:ext uri="{BB962C8B-B14F-4D97-AF65-F5344CB8AC3E}">
        <p14:creationId xmlns:p14="http://schemas.microsoft.com/office/powerpoint/2010/main" val="193978348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ACEA85D-4B79-4574-8F41-49815A409B2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Match empiric breadth to severity</a:t>
            </a:r>
          </a:p>
        </p:txBody>
      </p:sp>
      <p:graphicFrame>
        <p:nvGraphicFramePr>
          <p:cNvPr id="2" name="">
            <a:extLst xmlns:a="http://schemas.openxmlformats.org/drawingml/2006/main">
              <a:ext uri="{FF2B5EF4-FFF2-40B4-BE49-F238E27FC236}">
                <a16:creationId xmlns:a16="http://schemas.microsoft.com/office/drawing/2014/main" id="{EA812954-2841-43CF-9A40-324312273B68}"/>
              </a:ext>
            </a:extLst>
          </p:cNvPr>
          <p:cNvGraphicFramePr/>
          <p:nvPr/>
        </p:nvGraphicFramePr>
        <p:xfrm>
          <a:off xmlns:a="http://schemas.openxmlformats.org/drawingml/2006/main" x="647700" y="1866900"/>
          <a:ext xmlns:a="http://schemas.openxmlformats.org/drawingml/2006/main" cx="10896600" cy="107632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Minor amputation with positive bone-margin culture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Up to 3 weeks of antibiotics.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2B32BA1-F886-45C1-97E7-245FEA45A11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13B8C20-4EFD-4D10-8DD9-881F08B186D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36</a:t>
            </a:r>
          </a:p>
        </p:txBody>
      </p:sp>
    </p:spTree>
    <p:extLst>
      <p:ext uri="{BB962C8B-B14F-4D97-AF65-F5344CB8AC3E}">
        <p14:creationId xmlns:p14="http://schemas.microsoft.com/office/powerpoint/2010/main" val="57441817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B60095C-18DB-449B-96F2-9E59347D5A4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Match empiric breadth to severity</a:t>
            </a:r>
          </a:p>
        </p:txBody>
      </p:sp>
      <p:graphicFrame>
        <p:nvGraphicFramePr>
          <p:cNvPr id="2" name="">
            <a:extLst xmlns:a="http://schemas.openxmlformats.org/drawingml/2006/main">
              <a:ext uri="{FF2B5EF4-FFF2-40B4-BE49-F238E27FC236}">
                <a16:creationId xmlns:a16="http://schemas.microsoft.com/office/drawing/2014/main" id="{B4F71089-FDB6-4CA9-BFEE-1FA527AB6D0E}"/>
              </a:ext>
            </a:extLst>
          </p:cNvPr>
          <p:cNvGraphicFramePr/>
          <p:nvPr/>
        </p:nvGraphicFramePr>
        <p:xfrm>
          <a:off xmlns:a="http://schemas.openxmlformats.org/drawingml/2006/main" x="647700" y="1866900"/>
          <a:ext xmlns:a="http://schemas.openxmlformats.org/drawingml/2006/main" cx="10896600" cy="107632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Osteomyelitis without bone resection or amputation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6 weeks of antibiotics.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C8853A9E-0982-4207-A1D6-B22CA53A2D3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2C485A1-E365-47CD-8521-78162B6F58A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37</a:t>
            </a:r>
          </a:p>
        </p:txBody>
      </p:sp>
    </p:spTree>
    <p:extLst>
      <p:ext uri="{BB962C8B-B14F-4D97-AF65-F5344CB8AC3E}">
        <p14:creationId xmlns:p14="http://schemas.microsoft.com/office/powerpoint/2010/main" val="85697350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F0C6A8B-0557-45D5-93AC-DF8C4FAAF20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Match empiric breadth to severity</a:t>
            </a:r>
          </a:p>
        </p:txBody>
      </p:sp>
      <p:graphicFrame>
        <p:nvGraphicFramePr>
          <p:cNvPr id="2" name="">
            <a:extLst xmlns:a="http://schemas.openxmlformats.org/drawingml/2006/main">
              <a:ext uri="{FF2B5EF4-FFF2-40B4-BE49-F238E27FC236}">
                <a16:creationId xmlns:a16="http://schemas.microsoft.com/office/drawing/2014/main" id="{3CDCBB23-74EA-4DFF-9CC5-502A68908493}"/>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Antibiotic-only approach</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Reserve for selected forefoot osteomyelitis with no urgent drainage need, no peripheral arterial disease, and no exposed bone.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04633EA3-DA8C-4F38-8B01-D097BA816B1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D2AA2C5-B4A1-4D6D-A9F7-70593D1D0EC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38</a:t>
            </a:r>
          </a:p>
        </p:txBody>
      </p:sp>
    </p:spTree>
    <p:extLst>
      <p:ext uri="{BB962C8B-B14F-4D97-AF65-F5344CB8AC3E}">
        <p14:creationId xmlns:p14="http://schemas.microsoft.com/office/powerpoint/2010/main" val="158166543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2B1517E-8352-4FB0-854D-9F6CAA5C1D4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Match empiric breadth to severity</a:t>
            </a:r>
          </a:p>
        </p:txBody>
      </p:sp>
      <p:graphicFrame>
        <p:nvGraphicFramePr>
          <p:cNvPr id="2" name="">
            <a:extLst xmlns:a="http://schemas.openxmlformats.org/drawingml/2006/main">
              <a:ext uri="{FF2B5EF4-FFF2-40B4-BE49-F238E27FC236}">
                <a16:creationId xmlns:a16="http://schemas.microsoft.com/office/drawing/2014/main" id="{B69165ED-34AF-49FE-839E-D2F41E3450D1}"/>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Moderate/severe infection with necrosis, abscess, gangrene, or ischemia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Early surgical evaluation and debridement, plus urgent vascular assessment when PAD or ischemia is present.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0010A359-F819-4FC9-B81E-A4514778056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B0778EA-B665-4CDB-9294-9318B655C56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39</a:t>
            </a:r>
          </a:p>
        </p:txBody>
      </p:sp>
    </p:spTree>
    <p:extLst>
      <p:ext uri="{BB962C8B-B14F-4D97-AF65-F5344CB8AC3E}">
        <p14:creationId xmlns:p14="http://schemas.microsoft.com/office/powerpoint/2010/main" val="6396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E54ACD8-20D8-4DDB-84A9-7DC63B71FD9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Match empiric breadth to severity</a:t>
            </a:r>
          </a:p>
        </p:txBody>
      </p:sp>
      <p:sp>
        <p:nvSpPr>
          <p:cNvPr id="2" name="paragraph-0">
            <a:extLst xmlns:a="http://schemas.openxmlformats.org/drawingml/2006/main">
              <a:ext uri="{FF2B5EF4-FFF2-40B4-BE49-F238E27FC236}">
                <a16:creationId xmlns:a16="http://schemas.microsoft.com/office/drawing/2014/main" id="{749345E1-AFB5-4324-A094-99645BDC1445}"/>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 not treat an uninfected ulcer. Offloading, debridement, wound care, perfusion assessment/revascularization, glycemic management, and footwear planning are core treatment, not adjuncts.</a:t>
            </a:r>
          </a:p>
        </p:txBody>
      </p:sp>
      <p:sp>
        <p:nvSpPr>
          <p:cNvPr id="3" name="paragraph-1">
            <a:extLst xmlns:a="http://schemas.openxmlformats.org/drawingml/2006/main">
              <a:ext uri="{FF2B5EF4-FFF2-40B4-BE49-F238E27FC236}">
                <a16:creationId xmlns:a16="http://schemas.microsoft.com/office/drawing/2014/main" id="{1EFCB7CB-1A94-419E-8277-754FEC8B6589}"/>
              </a:ext>
            </a:extLst>
          </p:cNvPr>
          <p:cNvSpPr>
            <a:spLocks xmlns:a="http://schemas.openxmlformats.org/drawingml/2006/main" noGrp="1"/>
          </p:cNvSpPr>
          <p:nvPr/>
        </p:nvSpPr>
        <p:spPr>
          <a:xfrm xmlns:a="http://schemas.openxmlformats.org/drawingml/2006/main">
            <a:off x="647700" y="32670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 dfi</a:t>
            </a:r>
          </a:p>
        </p:txBody>
      </p:sp>
      <p:sp>
        <p:nvSpPr>
          <p:cNvPr id="4" name="footer">
            <a:extLst xmlns:a="http://schemas.openxmlformats.org/drawingml/2006/main">
              <a:ext uri="{FF2B5EF4-FFF2-40B4-BE49-F238E27FC236}">
                <a16:creationId xmlns:a16="http://schemas.microsoft.com/office/drawing/2014/main" id="{99B5B099-B825-43C7-9FDA-9620A61A370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C45338C9-BB25-4ADE-85BC-127840BC932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40</a:t>
            </a:r>
          </a:p>
        </p:txBody>
      </p:sp>
    </p:spTree>
    <p:extLst>
      <p:ext uri="{BB962C8B-B14F-4D97-AF65-F5344CB8AC3E}">
        <p14:creationId xmlns:p14="http://schemas.microsoft.com/office/powerpoint/2010/main" val="38806926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AC8A20D-2AE7-4E0B-B684-38EB8121E65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 open sacral wound without a closure plan is not cured by prolonged antibiotics</a:t>
            </a:r>
          </a:p>
        </p:txBody>
      </p:sp>
      <p:graphicFrame>
        <p:nvGraphicFramePr>
          <p:cNvPr id="2" name="">
            <a:extLst xmlns:a="http://schemas.openxmlformats.org/drawingml/2006/main">
              <a:ext uri="{FF2B5EF4-FFF2-40B4-BE49-F238E27FC236}">
                <a16:creationId xmlns:a16="http://schemas.microsoft.com/office/drawing/2014/main" id="{37F49CBF-8AC8-4012-9AD1-6B565589A2F3}"/>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1157288">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Exposed bone or MRI changes, but no acute cellulitis, abscess, bacteremia, or sepsis; debridement and durable closure are not feasible.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Antibiotics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Do not give a 6-week osteomyelitis course, repeated courses, or chronic suppression for the wound alone.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matters more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Pressure redistribution, wound and moisture care, selective debridement, nutrition, pain and odor control, continence management, and realistic goals of care.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6839F94-5869-44EA-A67D-6FA77CA967A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62F58FB-7D9D-4D6D-B76E-D26413F0FC5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41</a:t>
            </a:r>
          </a:p>
        </p:txBody>
      </p:sp>
    </p:spTree>
    <p:extLst>
      <p:ext uri="{BB962C8B-B14F-4D97-AF65-F5344CB8AC3E}">
        <p14:creationId xmlns:p14="http://schemas.microsoft.com/office/powerpoint/2010/main" val="123430162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A368F31-431D-4562-9971-4BA9F0A7B47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 open sacral wound without a closure plan is not cured by prolonged antibiotics</a:t>
            </a:r>
          </a:p>
        </p:txBody>
      </p:sp>
      <p:graphicFrame>
        <p:nvGraphicFramePr>
          <p:cNvPr id="2" name="">
            <a:extLst xmlns:a="http://schemas.openxmlformats.org/drawingml/2006/main">
              <a:ext uri="{FF2B5EF4-FFF2-40B4-BE49-F238E27FC236}">
                <a16:creationId xmlns:a16="http://schemas.microsoft.com/office/drawing/2014/main" id="{148ADB27-AC48-48B5-89AB-B174F86472F9}"/>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New cellulitis, drainable collection, pyomyositis, bacteremia, or sepsis.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Antibiotics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Treat the acute syndrome and narrow to meaningful cultures. Duration follows that syndrome and source control, not the chronic MRI finding.</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matters more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Drain collections, debride when appropriate, and assess for other sources.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1612A9BD-E39B-4B8C-9441-BFE9A09DE00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3100BCD-1FC9-4B42-A578-A263EC8ED73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42</a:t>
            </a:r>
          </a:p>
        </p:txBody>
      </p:sp>
    </p:spTree>
    <p:extLst>
      <p:ext uri="{BB962C8B-B14F-4D97-AF65-F5344CB8AC3E}">
        <p14:creationId xmlns:p14="http://schemas.microsoft.com/office/powerpoint/2010/main" val="1050384319"/>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27F11E1-65B2-45E1-AE75-5515D998BDB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 open sacral wound without a closure plan is not cured by prolonged antibiotics</a:t>
            </a:r>
          </a:p>
        </p:txBody>
      </p:sp>
      <p:graphicFrame>
        <p:nvGraphicFramePr>
          <p:cNvPr id="2" name="">
            <a:extLst xmlns:a="http://schemas.openxmlformats.org/drawingml/2006/main">
              <a:ext uri="{FF2B5EF4-FFF2-40B4-BE49-F238E27FC236}">
                <a16:creationId xmlns:a16="http://schemas.microsoft.com/office/drawing/2014/main" id="{E1604741-FBC6-44B4-890A-269D0F9D3F24}"/>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Debridement and flap closure are planned.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Antibiotics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Obtain deep bone specimens after debridement and use targeted therapy. About 6 weeks remains conventional when osteomyelitis is confirmed, although evidence is limited.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matters more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One coordinated surgical, wound, nutrition, pressure-relief, and rehabilitation plan.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B6E8C8F-EA1F-4886-83AB-655D1482EED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0034013-B3D6-42E0-BEFE-473286838D2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43</a:t>
            </a:r>
          </a:p>
        </p:txBody>
      </p:sp>
    </p:spTree>
    <p:extLst>
      <p:ext uri="{BB962C8B-B14F-4D97-AF65-F5344CB8AC3E}">
        <p14:creationId xmlns:p14="http://schemas.microsoft.com/office/powerpoint/2010/main" val="1708522276"/>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3128F8F-0210-45C8-A61D-E68FFF90DBC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Exposed bone and MRI are not enough</a:t>
            </a:r>
          </a:p>
        </p:txBody>
      </p:sp>
      <p:sp>
        <p:nvSpPr>
          <p:cNvPr id="2" name="paragraph-0">
            <a:extLst xmlns:a="http://schemas.openxmlformats.org/drawingml/2006/main">
              <a:ext uri="{FF2B5EF4-FFF2-40B4-BE49-F238E27FC236}">
                <a16:creationId xmlns:a16="http://schemas.microsoft.com/office/drawing/2014/main" id="{BA8A543C-5B31-4ED0-A750-BA68B658B223}"/>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Exposed bone may show remodeling without histologic osteomyelitis, and MRI can overcall infection in chronic pressure injury. Antibiotics without debridement and closure have not shown durable benefit.</a:t>
            </a:r>
          </a:p>
        </p:txBody>
      </p:sp>
      <p:sp>
        <p:nvSpPr>
          <p:cNvPr id="3" name="paragraph-1">
            <a:extLst xmlns:a="http://schemas.openxmlformats.org/drawingml/2006/main">
              <a:ext uri="{FF2B5EF4-FFF2-40B4-BE49-F238E27FC236}">
                <a16:creationId xmlns:a16="http://schemas.microsoft.com/office/drawing/2014/main" id="{624980E8-3229-4AC4-8356-4B7F005A938F}"/>
              </a:ext>
            </a:extLst>
          </p:cNvPr>
          <p:cNvSpPr>
            <a:spLocks xmlns:a="http://schemas.openxmlformats.org/drawingml/2006/main" noGrp="1"/>
          </p:cNvSpPr>
          <p:nvPr/>
        </p:nvSpPr>
        <p:spPr>
          <a:xfrm xmlns:a="http://schemas.openxmlformats.org/drawingml/2006/main">
            <a:off x="647700" y="32670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pressure-2019 , pressure-2024</a:t>
            </a:r>
          </a:p>
        </p:txBody>
      </p:sp>
      <p:sp>
        <p:nvSpPr>
          <p:cNvPr id="4" name="footer">
            <a:extLst xmlns:a="http://schemas.openxmlformats.org/drawingml/2006/main">
              <a:ext uri="{FF2B5EF4-FFF2-40B4-BE49-F238E27FC236}">
                <a16:creationId xmlns:a16="http://schemas.microsoft.com/office/drawing/2014/main" id="{E8227F8E-FF8E-48D9-8057-0B5C5D7F2C0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CFBD3A9F-2CD2-4BBD-9A8D-0A463658363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44</a:t>
            </a:r>
          </a:p>
        </p:txBody>
      </p:sp>
    </p:spTree>
    <p:extLst>
      <p:ext uri="{BB962C8B-B14F-4D97-AF65-F5344CB8AC3E}">
        <p14:creationId xmlns:p14="http://schemas.microsoft.com/office/powerpoint/2010/main" val="145985703"/>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FA95035-3D91-490A-B4C8-47B93B7E6E5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Before treatment</a:t>
            </a:r>
          </a:p>
        </p:txBody>
      </p:sp>
      <p:sp>
        <p:nvSpPr>
          <p:cNvPr id="2" name="paragraph-0">
            <a:extLst xmlns:a="http://schemas.openxmlformats.org/drawingml/2006/main">
              <a:ext uri="{FF2B5EF4-FFF2-40B4-BE49-F238E27FC236}">
                <a16:creationId xmlns:a16="http://schemas.microsoft.com/office/drawing/2014/main" id="{072E6110-BC67-4FF5-8DF1-ABD8F6052180}"/>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Obtain the best specimen first when the patient is stable. Start empiric therapy promptly when unstable, then narrow to the organism and operative findings.</a:t>
            </a:r>
          </a:p>
        </p:txBody>
      </p:sp>
      <p:sp>
        <p:nvSpPr>
          <p:cNvPr id="3" name="footer">
            <a:extLst xmlns:a="http://schemas.openxmlformats.org/drawingml/2006/main">
              <a:ext uri="{FF2B5EF4-FFF2-40B4-BE49-F238E27FC236}">
                <a16:creationId xmlns:a16="http://schemas.microsoft.com/office/drawing/2014/main" id="{D964609F-FD16-4E94-ACC9-1E68E6D7C10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29FE667-6EEC-4C2A-9714-33C54C11213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45</a:t>
            </a:r>
          </a:p>
        </p:txBody>
      </p:sp>
    </p:spTree>
    <p:extLst>
      <p:ext uri="{BB962C8B-B14F-4D97-AF65-F5344CB8AC3E}">
        <p14:creationId xmlns:p14="http://schemas.microsoft.com/office/powerpoint/2010/main" val="2173128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515866D-6D1F-49FA-BBFE-E48C6BC0388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Before oral transition</a:t>
            </a:r>
          </a:p>
        </p:txBody>
      </p:sp>
      <p:sp>
        <p:nvSpPr>
          <p:cNvPr id="2" name="paragraph-0">
            <a:extLst xmlns:a="http://schemas.openxmlformats.org/drawingml/2006/main">
              <a:ext uri="{FF2B5EF4-FFF2-40B4-BE49-F238E27FC236}">
                <a16:creationId xmlns:a16="http://schemas.microsoft.com/office/drawing/2014/main" id="{9BAAB091-919E-405C-8E5F-F387DB0299DD}"/>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Confirm clinical stability, adequate source control, an active oral drug with appropriate exposure, reliable absorption and adherence, and manageable interactions and toxicities.</a:t>
            </a:r>
          </a:p>
        </p:txBody>
      </p:sp>
      <p:sp>
        <p:nvSpPr>
          <p:cNvPr id="3" name="footer">
            <a:extLst xmlns:a="http://schemas.openxmlformats.org/drawingml/2006/main">
              <a:ext uri="{FF2B5EF4-FFF2-40B4-BE49-F238E27FC236}">
                <a16:creationId xmlns:a16="http://schemas.microsoft.com/office/drawing/2014/main" id="{95ED8206-0BA8-4BCD-BDC6-E1C292BE890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07F4318-C7DC-4430-AA4E-24668481C2F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46</a:t>
            </a:r>
          </a:p>
        </p:txBody>
      </p:sp>
    </p:spTree>
    <p:extLst>
      <p:ext uri="{BB962C8B-B14F-4D97-AF65-F5344CB8AC3E}">
        <p14:creationId xmlns:p14="http://schemas.microsoft.com/office/powerpoint/2010/main" val="1078676114"/>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11DA4B6-E54E-4AC9-BC86-006C37A028A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Before extending</a:t>
            </a:r>
          </a:p>
        </p:txBody>
      </p:sp>
      <p:sp>
        <p:nvSpPr>
          <p:cNvPr id="2" name="paragraph-0">
            <a:extLst xmlns:a="http://schemas.openxmlformats.org/drawingml/2006/main">
              <a:ext uri="{FF2B5EF4-FFF2-40B4-BE49-F238E27FC236}">
                <a16:creationId xmlns:a16="http://schemas.microsoft.com/office/drawing/2014/main" id="{18BC275B-52F7-4B1C-96B9-B4431091BB6A}"/>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Reassess drainage, retained material, ischemia, wound closure, an alternative diagnosis, and drug exposure. Persistent imaging abnormalities alone do not prove failure.</a:t>
            </a:r>
          </a:p>
        </p:txBody>
      </p:sp>
      <p:sp>
        <p:nvSpPr>
          <p:cNvPr id="3" name="footer">
            <a:extLst xmlns:a="http://schemas.openxmlformats.org/drawingml/2006/main">
              <a:ext uri="{FF2B5EF4-FFF2-40B4-BE49-F238E27FC236}">
                <a16:creationId xmlns:a16="http://schemas.microsoft.com/office/drawing/2014/main" id="{3AF28ECF-7F16-4E5E-A5C9-95EC6A5564F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646505F-CD18-4D84-86ED-3241F1E73B5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47</a:t>
            </a:r>
          </a:p>
        </p:txBody>
      </p:sp>
    </p:spTree>
    <p:extLst>
      <p:ext uri="{BB962C8B-B14F-4D97-AF65-F5344CB8AC3E}">
        <p14:creationId xmlns:p14="http://schemas.microsoft.com/office/powerpoint/2010/main" val="310198694"/>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D23ABFF-66EC-4823-B7DA-97AB07DC485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Before suppressing</a:t>
            </a:r>
          </a:p>
        </p:txBody>
      </p:sp>
      <p:sp>
        <p:nvSpPr>
          <p:cNvPr id="2" name="paragraph-0">
            <a:extLst xmlns:a="http://schemas.openxmlformats.org/drawingml/2006/main">
              <a:ext uri="{FF2B5EF4-FFF2-40B4-BE49-F238E27FC236}">
                <a16:creationId xmlns:a16="http://schemas.microsoft.com/office/drawing/2014/main" id="{534643A4-F41A-4E32-A794-8CCD02B926A0}"/>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Name the unremovable infected source, organism, active oral option, monitoring plan, expected benefit, and stop criteria. Suppression is not simply an extra-long curative course.</a:t>
            </a:r>
          </a:p>
        </p:txBody>
      </p:sp>
      <p:sp>
        <p:nvSpPr>
          <p:cNvPr id="3" name="footer">
            <a:extLst xmlns:a="http://schemas.openxmlformats.org/drawingml/2006/main">
              <a:ext uri="{FF2B5EF4-FFF2-40B4-BE49-F238E27FC236}">
                <a16:creationId xmlns:a16="http://schemas.microsoft.com/office/drawing/2014/main" id="{FD5CF12E-FA3F-4288-9ECF-F948F6D5DD9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413F59F-2FDB-405A-A458-0D13E29D655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48</a:t>
            </a:r>
          </a:p>
        </p:txBody>
      </p:sp>
    </p:spTree>
    <p:extLst>
      <p:ext uri="{BB962C8B-B14F-4D97-AF65-F5344CB8AC3E}">
        <p14:creationId xmlns:p14="http://schemas.microsoft.com/office/powerpoint/2010/main" val="700077558"/>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C2D74E5-4F62-40E1-A83B-93B84ECAE44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1 · Crystals in a hot native knee</a:t>
            </a:r>
          </a:p>
        </p:txBody>
      </p:sp>
      <p:sp>
        <p:nvSpPr>
          <p:cNvPr id="2" name="paragraph-0">
            <a:extLst xmlns:a="http://schemas.openxmlformats.org/drawingml/2006/main">
              <a:ext uri="{FF2B5EF4-FFF2-40B4-BE49-F238E27FC236}">
                <a16:creationId xmlns:a16="http://schemas.microsoft.com/office/drawing/2014/main" id="{550F6F22-FFC3-4E21-984A-C336FD481706}"/>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febrile patient has an acutely swollen knee. Synovial fluid contains urate crystals and 72,000 WBC/µL with 92% neutrophils.</a:t>
            </a:r>
          </a:p>
        </p:txBody>
      </p:sp>
      <p:sp>
        <p:nvSpPr>
          <p:cNvPr id="3" name="footer">
            <a:extLst xmlns:a="http://schemas.openxmlformats.org/drawingml/2006/main">
              <a:ext uri="{FF2B5EF4-FFF2-40B4-BE49-F238E27FC236}">
                <a16:creationId xmlns:a16="http://schemas.microsoft.com/office/drawing/2014/main" id="{8F3ED0B6-38F0-4B64-90ED-0AC364C7673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2814348-16EB-40EF-83A2-43A071F3AEF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49</a:t>
            </a:r>
          </a:p>
        </p:txBody>
      </p:sp>
    </p:spTree>
    <p:extLst>
      <p:ext uri="{BB962C8B-B14F-4D97-AF65-F5344CB8AC3E}">
        <p14:creationId xmlns:p14="http://schemas.microsoft.com/office/powerpoint/2010/main" val="1775838883"/>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035810B-2650-4EEB-B88F-50F5F6399BA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What should happen next?</a:t>
            </a:r>
          </a:p>
        </p:txBody>
      </p:sp>
      <p:sp>
        <p:nvSpPr>
          <p:cNvPr id="2" name="paragraph-0">
            <a:extLst xmlns:a="http://schemas.openxmlformats.org/drawingml/2006/main">
              <a:ext uri="{FF2B5EF4-FFF2-40B4-BE49-F238E27FC236}">
                <a16:creationId xmlns:a16="http://schemas.microsoft.com/office/drawing/2014/main" id="{84855A9B-A639-4F45-B91F-E04506C0FE01}"/>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Crystals do not exclude infection. Send synovial culture and blood cultures, begin empiric therapy after aspiration if stable enough to sample first, and obtain urgent orthopedic input for drainage.</a:t>
            </a:r>
          </a:p>
        </p:txBody>
      </p:sp>
      <p:sp>
        <p:nvSpPr>
          <p:cNvPr id="3" name="footer">
            <a:extLst xmlns:a="http://schemas.openxmlformats.org/drawingml/2006/main">
              <a:ext uri="{FF2B5EF4-FFF2-40B4-BE49-F238E27FC236}">
                <a16:creationId xmlns:a16="http://schemas.microsoft.com/office/drawing/2014/main" id="{29D72BAE-B648-4911-91A8-9E421C55E21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4F0C542-28EA-4299-8E36-C97C518ABD7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50</a:t>
            </a:r>
          </a:p>
        </p:txBody>
      </p:sp>
    </p:spTree>
    <p:extLst>
      <p:ext uri="{BB962C8B-B14F-4D97-AF65-F5344CB8AC3E}">
        <p14:creationId xmlns:p14="http://schemas.microsoft.com/office/powerpoint/2010/main" val="1772802386"/>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A7E7FE4-CC81-41FF-9E5A-07BED37E06B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2 · Acute postoperative knee PJI</a:t>
            </a:r>
          </a:p>
        </p:txBody>
      </p:sp>
      <p:sp>
        <p:nvSpPr>
          <p:cNvPr id="2" name="paragraph-0">
            <a:extLst xmlns:a="http://schemas.openxmlformats.org/drawingml/2006/main">
              <a:ext uri="{FF2B5EF4-FFF2-40B4-BE49-F238E27FC236}">
                <a16:creationId xmlns:a16="http://schemas.microsoft.com/office/drawing/2014/main" id="{C9266239-A36F-482C-B251-9081990B772C}"/>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Three weeks after TKA, the patient develops 3 days of pain, effusion, and drainage. Components are fixed and aspiration grows MSSA.</a:t>
            </a:r>
          </a:p>
        </p:txBody>
      </p:sp>
      <p:sp>
        <p:nvSpPr>
          <p:cNvPr id="3" name="footer">
            <a:extLst xmlns:a="http://schemas.openxmlformats.org/drawingml/2006/main">
              <a:ext uri="{FF2B5EF4-FFF2-40B4-BE49-F238E27FC236}">
                <a16:creationId xmlns:a16="http://schemas.microsoft.com/office/drawing/2014/main" id="{2F3AA4DA-C26B-43A5-925A-FE3D3199BD7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89B622C-F7C9-48E4-9262-4DE806A1D79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51</a:t>
            </a:r>
          </a:p>
        </p:txBody>
      </p:sp>
    </p:spTree>
    <p:extLst>
      <p:ext uri="{BB962C8B-B14F-4D97-AF65-F5344CB8AC3E}">
        <p14:creationId xmlns:p14="http://schemas.microsoft.com/office/powerpoint/2010/main" val="1664857541"/>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0234735-5017-4F63-8865-7EC5D97F866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What determines the plan?</a:t>
            </a:r>
          </a:p>
        </p:txBody>
      </p:sp>
      <p:sp>
        <p:nvSpPr>
          <p:cNvPr id="2" name="paragraph-0">
            <a:extLst xmlns:a="http://schemas.openxmlformats.org/drawingml/2006/main">
              <a:ext uri="{FF2B5EF4-FFF2-40B4-BE49-F238E27FC236}">
                <a16:creationId xmlns:a16="http://schemas.microsoft.com/office/drawing/2014/main" id="{151547BC-C32C-4A7F-8693-53900207A166}"/>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This may be a DAIR candidate if there is no sinus tract, soft tissue is suitable, and modular components can be exchanged. Obtain multiple deep cultures. For susceptible staphylococcal knee PJI treated with DAIR, the IDSA rifampin-based regimen completes 6 months. Select an active route and oral transition based on response; rifampin requires an active companion after debridement.</a:t>
            </a:r>
          </a:p>
        </p:txBody>
      </p:sp>
      <p:sp>
        <p:nvSpPr>
          <p:cNvPr id="3" name="footer">
            <a:extLst xmlns:a="http://schemas.openxmlformats.org/drawingml/2006/main">
              <a:ext uri="{FF2B5EF4-FFF2-40B4-BE49-F238E27FC236}">
                <a16:creationId xmlns:a16="http://schemas.microsoft.com/office/drawing/2014/main" id="{60183281-04B5-40A0-847C-7E5B42A1350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6CD7B30-5BD2-4234-B96E-018E731164C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52</a:t>
            </a:r>
          </a:p>
        </p:txBody>
      </p:sp>
    </p:spTree>
    <p:extLst>
      <p:ext uri="{BB962C8B-B14F-4D97-AF65-F5344CB8AC3E}">
        <p14:creationId xmlns:p14="http://schemas.microsoft.com/office/powerpoint/2010/main" val="118760986"/>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7A1E1AC-3F1F-4DCE-ACED-10FE026F12F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3 · Exposed sacral bone without a flap option</a:t>
            </a:r>
          </a:p>
        </p:txBody>
      </p:sp>
      <p:sp>
        <p:nvSpPr>
          <p:cNvPr id="2" name="paragraph-0">
            <a:extLst xmlns:a="http://schemas.openxmlformats.org/drawingml/2006/main">
              <a:ext uri="{FF2B5EF4-FFF2-40B4-BE49-F238E27FC236}">
                <a16:creationId xmlns:a16="http://schemas.microsoft.com/office/drawing/2014/main" id="{504636C7-036C-4619-8AE7-3ACECF36B43C}"/>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chronically immobile patient has an open stage IV sacral wound and MRI changes called osteomyelitis, but no cellulitis, abscess, fever, bacteremia, or instability. Durable closure is not feasible.</a:t>
            </a:r>
          </a:p>
        </p:txBody>
      </p:sp>
      <p:sp>
        <p:nvSpPr>
          <p:cNvPr id="3" name="footer">
            <a:extLst xmlns:a="http://schemas.openxmlformats.org/drawingml/2006/main">
              <a:ext uri="{FF2B5EF4-FFF2-40B4-BE49-F238E27FC236}">
                <a16:creationId xmlns:a16="http://schemas.microsoft.com/office/drawing/2014/main" id="{4BB9189A-DC07-4730-9982-CD58D419A6B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84BEED2-BDF9-4681-8263-2980A88B013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53</a:t>
            </a:r>
          </a:p>
        </p:txBody>
      </p:sp>
    </p:spTree>
    <p:extLst>
      <p:ext uri="{BB962C8B-B14F-4D97-AF65-F5344CB8AC3E}">
        <p14:creationId xmlns:p14="http://schemas.microsoft.com/office/powerpoint/2010/main" val="2009649702"/>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3F4EE7A-F8F7-4AA1-9552-1F6FEAF4CF1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Would six weeks of antibiotics help?</a:t>
            </a:r>
          </a:p>
        </p:txBody>
      </p:sp>
      <p:sp>
        <p:nvSpPr>
          <p:cNvPr id="2" name="paragraph-0">
            <a:extLst xmlns:a="http://schemas.openxmlformats.org/drawingml/2006/main">
              <a:ext uri="{FF2B5EF4-FFF2-40B4-BE49-F238E27FC236}">
                <a16:creationId xmlns:a16="http://schemas.microsoft.com/office/drawing/2014/main" id="{B330EDA1-3CC0-4D71-B1D3-31F356016245}"/>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durable benefit has been shown. Do not treat the imaging label alone. Focus on pressure relief, wound and moisture care, nutrition, debridement when appropriate, symptom control, and goals of care. Treat future discrete cellulitis, abscess, bacteremia, or sepsis episodes when they occur.</a:t>
            </a:r>
          </a:p>
        </p:txBody>
      </p:sp>
      <p:sp>
        <p:nvSpPr>
          <p:cNvPr id="3" name="footer">
            <a:extLst xmlns:a="http://schemas.openxmlformats.org/drawingml/2006/main">
              <a:ext uri="{FF2B5EF4-FFF2-40B4-BE49-F238E27FC236}">
                <a16:creationId xmlns:a16="http://schemas.microsoft.com/office/drawing/2014/main" id="{A869C748-A51B-493E-B76A-E17EB2010A3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FDFDD8C-CFE7-40F0-9A0A-ED3598E2D9E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54</a:t>
            </a:r>
          </a:p>
        </p:txBody>
      </p:sp>
    </p:spTree>
    <p:extLst>
      <p:ext uri="{BB962C8B-B14F-4D97-AF65-F5344CB8AC3E}">
        <p14:creationId xmlns:p14="http://schemas.microsoft.com/office/powerpoint/2010/main" val="102527469"/>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0BBB05A-7982-42D6-BF05-6F7155804BF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Closing sentence</a:t>
            </a:r>
          </a:p>
        </p:txBody>
      </p:sp>
      <p:sp>
        <p:nvSpPr>
          <p:cNvPr id="2" name="paragraph-0">
            <a:extLst xmlns:a="http://schemas.openxmlformats.org/drawingml/2006/main">
              <a:ext uri="{FF2B5EF4-FFF2-40B4-BE49-F238E27FC236}">
                <a16:creationId xmlns:a16="http://schemas.microsoft.com/office/drawing/2014/main" id="{1F05E0E5-1565-4E0A-9B6C-5AAB41A24722}"/>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Name the infected structure, best microbiology, source control completed or impossible, retained material, treatment intent, and the event that determines duration.</a:t>
            </a:r>
          </a:p>
        </p:txBody>
      </p:sp>
      <p:sp>
        <p:nvSpPr>
          <p:cNvPr id="3" name="footer">
            <a:extLst xmlns:a="http://schemas.openxmlformats.org/drawingml/2006/main">
              <a:ext uri="{FF2B5EF4-FFF2-40B4-BE49-F238E27FC236}">
                <a16:creationId xmlns:a16="http://schemas.microsoft.com/office/drawing/2014/main" id="{BC55E1C4-5109-4282-85A2-229AE4A49E6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2976395-14FD-41E4-8F26-64AFCD893AD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55</a:t>
            </a:r>
          </a:p>
        </p:txBody>
      </p:sp>
    </p:spTree>
    <p:extLst>
      <p:ext uri="{BB962C8B-B14F-4D97-AF65-F5344CB8AC3E}">
        <p14:creationId xmlns:p14="http://schemas.microsoft.com/office/powerpoint/2010/main" val="1747194675"/>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0ED75E7-1FE4-462C-BCA9-6D92EFC385B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Advanced and reference material begins here</a:t>
            </a:r>
          </a:p>
        </p:txBody>
      </p:sp>
      <p:sp>
        <p:nvSpPr>
          <p:cNvPr id="2" name="paragraph-0">
            <a:extLst xmlns:a="http://schemas.openxmlformats.org/drawingml/2006/main">
              <a:ext uri="{FF2B5EF4-FFF2-40B4-BE49-F238E27FC236}">
                <a16:creationId xmlns:a16="http://schemas.microsoft.com/office/drawing/2014/main" id="{108FD113-29BE-44F5-9AA7-9EFB9E6CAE51}"/>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live 30–45 minute lecture ends above. Use the sections below for fellow-level discussion, organism-specific decisions, uncommon syndromes, evidence review, extra cases, and self-study.</a:t>
            </a:r>
          </a:p>
        </p:txBody>
      </p:sp>
      <p:sp>
        <p:nvSpPr>
          <p:cNvPr id="3" name="footer">
            <a:extLst xmlns:a="http://schemas.openxmlformats.org/drawingml/2006/main">
              <a:ext uri="{FF2B5EF4-FFF2-40B4-BE49-F238E27FC236}">
                <a16:creationId xmlns:a16="http://schemas.microsoft.com/office/drawing/2014/main" id="{FB7A4AF4-0292-4230-9D4A-E3E31D51C49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ED1709C-BB61-445E-8CCD-E1EB2F05738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56</a:t>
            </a:r>
          </a:p>
        </p:txBody>
      </p:sp>
    </p:spTree>
    <p:extLst>
      <p:ext uri="{BB962C8B-B14F-4D97-AF65-F5344CB8AC3E}">
        <p14:creationId xmlns:p14="http://schemas.microsoft.com/office/powerpoint/2010/main" val="1628271645"/>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5474D93-7ED0-40E5-B8E3-4C39FE34247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Detailed syndromes</a:t>
            </a:r>
          </a:p>
        </p:txBody>
      </p:sp>
      <p:sp>
        <p:nvSpPr>
          <p:cNvPr id="2" name="paragraph-0">
            <a:extLst xmlns:a="http://schemas.openxmlformats.org/drawingml/2006/main">
              <a:ext uri="{FF2B5EF4-FFF2-40B4-BE49-F238E27FC236}">
                <a16:creationId xmlns:a16="http://schemas.microsoft.com/office/drawing/2014/main" id="{38C6023A-4954-4A15-90FC-41033440E77C}"/>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Full framework , native septic arthritis , PJI diagnosis , PJI treatment , osteomyelitis , and vertebral infection .</a:t>
            </a:r>
          </a:p>
        </p:txBody>
      </p:sp>
      <p:sp>
        <p:nvSpPr>
          <p:cNvPr id="3" name="footer">
            <a:extLst xmlns:a="http://schemas.openxmlformats.org/drawingml/2006/main">
              <a:ext uri="{FF2B5EF4-FFF2-40B4-BE49-F238E27FC236}">
                <a16:creationId xmlns:a16="http://schemas.microsoft.com/office/drawing/2014/main" id="{7F6227F6-93CF-4E96-B9C0-3729BD7CC01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6A1E3EB-7607-4BF4-83E4-0B500A14BE6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57</a:t>
            </a:r>
          </a:p>
        </p:txBody>
      </p:sp>
    </p:spTree>
    <p:extLst>
      <p:ext uri="{BB962C8B-B14F-4D97-AF65-F5344CB8AC3E}">
        <p14:creationId xmlns:p14="http://schemas.microsoft.com/office/powerpoint/2010/main" val="1567493287"/>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3563E9E-35A8-4B93-93CF-F043AACDE15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Hard management problems</a:t>
            </a:r>
          </a:p>
        </p:txBody>
      </p:sp>
      <p:sp>
        <p:nvSpPr>
          <p:cNvPr id="2" name="paragraph-0">
            <a:extLst xmlns:a="http://schemas.openxmlformats.org/drawingml/2006/main">
              <a:ext uri="{FF2B5EF4-FFF2-40B4-BE49-F238E27FC236}">
                <a16:creationId xmlns:a16="http://schemas.microsoft.com/office/drawing/2014/main" id="{05E6CAC6-6339-4F1E-B2B8-49B7ED563782}"/>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Pressure-injury pelvic osteomyelitis , drug selection and oral transition , and suppressive therapy .</a:t>
            </a:r>
          </a:p>
        </p:txBody>
      </p:sp>
      <p:sp>
        <p:nvSpPr>
          <p:cNvPr id="3" name="footer">
            <a:extLst xmlns:a="http://schemas.openxmlformats.org/drawingml/2006/main">
              <a:ext uri="{FF2B5EF4-FFF2-40B4-BE49-F238E27FC236}">
                <a16:creationId xmlns:a16="http://schemas.microsoft.com/office/drawing/2014/main" id="{33F2B458-5775-47A9-86FE-D79E29AEBAA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AD499D8-7C27-4C43-A1F1-454A8A4E07E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58</a:t>
            </a:r>
          </a:p>
        </p:txBody>
      </p:sp>
    </p:spTree>
    <p:extLst>
      <p:ext uri="{BB962C8B-B14F-4D97-AF65-F5344CB8AC3E}">
        <p14:creationId xmlns:p14="http://schemas.microsoft.com/office/powerpoint/2010/main" val="1485311433"/>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01F40D3-9898-41BF-B7CF-DD2F7CF6AFA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Teaching tools</a:t>
            </a:r>
          </a:p>
        </p:txBody>
      </p:sp>
      <p:sp>
        <p:nvSpPr>
          <p:cNvPr id="2" name="paragraph-0">
            <a:extLst xmlns:a="http://schemas.openxmlformats.org/drawingml/2006/main">
              <a:ext uri="{FF2B5EF4-FFF2-40B4-BE49-F238E27FC236}">
                <a16:creationId xmlns:a16="http://schemas.microsoft.com/office/drawing/2014/main" id="{BDC76EF9-7E0E-46C0-93CF-5AF85F0BA39C}"/>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Evidence review , nine additional cases , knowledge check , documentation template , and rounds sheet .</a:t>
            </a:r>
          </a:p>
        </p:txBody>
      </p:sp>
      <p:sp>
        <p:nvSpPr>
          <p:cNvPr id="3" name="footer">
            <a:extLst xmlns:a="http://schemas.openxmlformats.org/drawingml/2006/main">
              <a:ext uri="{FF2B5EF4-FFF2-40B4-BE49-F238E27FC236}">
                <a16:creationId xmlns:a16="http://schemas.microsoft.com/office/drawing/2014/main" id="{8AC3C730-3C1E-48E5-821F-7FC992C9F25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DA19ED3-A44A-476A-A86F-D316C5EC4EA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59</a:t>
            </a:r>
          </a:p>
        </p:txBody>
      </p:sp>
    </p:spTree>
    <p:extLst>
      <p:ext uri="{BB962C8B-B14F-4D97-AF65-F5344CB8AC3E}">
        <p14:creationId xmlns:p14="http://schemas.microsoft.com/office/powerpoint/2010/main" val="1009346419"/>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4E59EBF4-B54C-46FC-85E4-84B42413639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Classify five things before selecting an antibiotic</a:t>
            </a:r>
          </a:p>
        </p:txBody>
      </p:sp>
      <p:sp>
        <p:nvSpPr>
          <p:cNvPr id="2" name="paragraph-0">
            <a:extLst xmlns:a="http://schemas.openxmlformats.org/drawingml/2006/main">
              <a:ext uri="{FF2B5EF4-FFF2-40B4-BE49-F238E27FC236}">
                <a16:creationId xmlns:a16="http://schemas.microsoft.com/office/drawing/2014/main" id="{8D9E7C8B-05B1-4311-B8B4-A7FEE19B07BE}"/>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structure? Native joint, prosthesis, bone, spine, diabetic foot, pressure injury, fracture hardware.</a:t>
            </a:r>
          </a:p>
        </p:txBody>
      </p:sp>
      <p:sp>
        <p:nvSpPr>
          <p:cNvPr id="3" name="paragraph-1">
            <a:extLst xmlns:a="http://schemas.openxmlformats.org/drawingml/2006/main">
              <a:ext uri="{FF2B5EF4-FFF2-40B4-BE49-F238E27FC236}">
                <a16:creationId xmlns:a16="http://schemas.microsoft.com/office/drawing/2014/main" id="{77C9ABA1-1E6B-42EF-8F80-EAA3B6B75E17}"/>
              </a:ext>
            </a:extLst>
          </p:cNvPr>
          <p:cNvSpPr>
            <a:spLocks xmlns:a="http://schemas.openxmlformats.org/drawingml/2006/main" noGrp="1"/>
          </p:cNvSpPr>
          <p:nvPr/>
        </p:nvSpPr>
        <p:spPr>
          <a:xfrm xmlns:a="http://schemas.openxmlformats.org/drawingml/2006/main">
            <a:off x="647700" y="29146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tempo? Hours to days, weeks, or months. Tempo narrows the differential but does not set the treatment clock.</a:t>
            </a:r>
          </a:p>
        </p:txBody>
      </p:sp>
      <p:sp>
        <p:nvSpPr>
          <p:cNvPr id="4" name="paragraph-2">
            <a:extLst xmlns:a="http://schemas.openxmlformats.org/drawingml/2006/main">
              <a:ext uri="{FF2B5EF4-FFF2-40B4-BE49-F238E27FC236}">
                <a16:creationId xmlns:a16="http://schemas.microsoft.com/office/drawing/2014/main" id="{4D952352-1D16-4D59-A96C-D8C37E83ABCE}"/>
              </a:ext>
            </a:extLst>
          </p:cNvPr>
          <p:cNvSpPr>
            <a:spLocks xmlns:a="http://schemas.openxmlformats.org/drawingml/2006/main" noGrp="1"/>
          </p:cNvSpPr>
          <p:nvPr/>
        </p:nvSpPr>
        <p:spPr>
          <a:xfrm xmlns:a="http://schemas.openxmlformats.org/drawingml/2006/main">
            <a:off x="647700" y="38766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remains? Pus, necrotic bone, biofilm-coated implant, sinus tract, unstable spine, open wound, ischemic tissue.</a:t>
            </a:r>
          </a:p>
        </p:txBody>
      </p:sp>
      <p:sp>
        <p:nvSpPr>
          <p:cNvPr id="5" name="paragraph-3">
            <a:extLst xmlns:a="http://schemas.openxmlformats.org/drawingml/2006/main">
              <a:ext uri="{FF2B5EF4-FFF2-40B4-BE49-F238E27FC236}">
                <a16:creationId xmlns:a16="http://schemas.microsoft.com/office/drawing/2014/main" id="{7B909F7E-7496-4D29-A97A-EAE49053EAD1}"/>
              </a:ext>
            </a:extLst>
          </p:cNvPr>
          <p:cNvSpPr>
            <a:spLocks xmlns:a="http://schemas.openxmlformats.org/drawingml/2006/main" noGrp="1"/>
          </p:cNvSpPr>
          <p:nvPr/>
        </p:nvSpPr>
        <p:spPr>
          <a:xfrm xmlns:a="http://schemas.openxmlformats.org/drawingml/2006/main">
            <a:off x="647700" y="48387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Can it be controlled? Drain, debride, exchange, remove, reconstruct, revascularize, or intentionally manage noncuratively.</a:t>
            </a:r>
          </a:p>
        </p:txBody>
      </p:sp>
      <p:sp>
        <p:nvSpPr>
          <p:cNvPr id="6" name="footer">
            <a:extLst xmlns:a="http://schemas.openxmlformats.org/drawingml/2006/main">
              <a:ext uri="{FF2B5EF4-FFF2-40B4-BE49-F238E27FC236}">
                <a16:creationId xmlns:a16="http://schemas.microsoft.com/office/drawing/2014/main" id="{494CBB19-0DC6-4D51-A3AF-CC10816045E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7" name="number">
            <a:extLst xmlns:a="http://schemas.openxmlformats.org/drawingml/2006/main">
              <a:ext uri="{FF2B5EF4-FFF2-40B4-BE49-F238E27FC236}">
                <a16:creationId xmlns:a16="http://schemas.microsoft.com/office/drawing/2014/main" id="{71236ADF-CBD9-4BF9-8042-FE5B4A2CA04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60</a:t>
            </a:r>
          </a:p>
        </p:txBody>
      </p:sp>
    </p:spTree>
    <p:extLst>
      <p:ext uri="{BB962C8B-B14F-4D97-AF65-F5344CB8AC3E}">
        <p14:creationId xmlns:p14="http://schemas.microsoft.com/office/powerpoint/2010/main" val="196535006"/>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0D690D8-3980-4DE3-8EF1-2D63C58A0D7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Classify five things before selecting an antibiotic</a:t>
            </a:r>
          </a:p>
        </p:txBody>
      </p:sp>
      <p:sp>
        <p:nvSpPr>
          <p:cNvPr id="2" name="paragraph-0">
            <a:extLst xmlns:a="http://schemas.openxmlformats.org/drawingml/2006/main">
              <a:ext uri="{FF2B5EF4-FFF2-40B4-BE49-F238E27FC236}">
                <a16:creationId xmlns:a16="http://schemas.microsoft.com/office/drawing/2014/main" id="{08CD8340-F135-4362-84B9-2A521763FC6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is the intent? Cure, prolonged treatment with retained material, suppression, or treatment of acute flares only.</a:t>
            </a:r>
          </a:p>
        </p:txBody>
      </p:sp>
      <p:sp>
        <p:nvSpPr>
          <p:cNvPr id="3" name="footer">
            <a:extLst xmlns:a="http://schemas.openxmlformats.org/drawingml/2006/main">
              <a:ext uri="{FF2B5EF4-FFF2-40B4-BE49-F238E27FC236}">
                <a16:creationId xmlns:a16="http://schemas.microsoft.com/office/drawing/2014/main" id="{CC1A1C82-5439-4BDD-9D7A-5650A6F2C53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BF19688-414C-4374-8508-E4561159765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61</a:t>
            </a:r>
          </a:p>
        </p:txBody>
      </p:sp>
    </p:spTree>
    <p:extLst>
      <p:ext uri="{BB962C8B-B14F-4D97-AF65-F5344CB8AC3E}">
        <p14:creationId xmlns:p14="http://schemas.microsoft.com/office/powerpoint/2010/main" val="1581278419"/>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37C0342-B071-4D64-AA23-FDFF63A24F0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Classify five things before selecting an antibiotic</a:t>
            </a:r>
          </a:p>
        </p:txBody>
      </p:sp>
      <p:graphicFrame>
        <p:nvGraphicFramePr>
          <p:cNvPr id="2" name="">
            <a:extLst xmlns:a="http://schemas.openxmlformats.org/drawingml/2006/main">
              <a:ext uri="{FF2B5EF4-FFF2-40B4-BE49-F238E27FC236}">
                <a16:creationId xmlns:a16="http://schemas.microsoft.com/office/drawing/2014/main" id="{28E0AE84-292C-45AF-8328-460BE5C8E8E3}"/>
              </a:ext>
            </a:extLst>
          </p:cNvPr>
          <p:cNvGraphicFramePr/>
          <p:nvPr/>
        </p:nvGraphicFramePr>
        <p:xfrm>
          <a:off xmlns:a="http://schemas.openxmlformats.org/drawingml/2006/main" x="647700" y="1866900"/>
          <a:ext xmlns:a="http://schemas.openxmlformats.org/drawingml/2006/main" cx="10896600" cy="30813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Acute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Common examples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Hot native joint, acute hematogenous osteomyelitis, early postoperative PJI, acute hematogenous PJI</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it should trigger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Urgent aspiration/cultures, assessment for bacteremia, prompt drainage or debridement when indicated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it does not prove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That a short antibiotic course will be sufficient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8FA43BFA-3041-4572-934C-4F2179E3F48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DE63A3E-ADBE-4255-AA6A-D757DBAF81C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62</a:t>
            </a:r>
          </a:p>
        </p:txBody>
      </p:sp>
    </p:spTree>
    <p:extLst>
      <p:ext uri="{BB962C8B-B14F-4D97-AF65-F5344CB8AC3E}">
        <p14:creationId xmlns:p14="http://schemas.microsoft.com/office/powerpoint/2010/main" val="114161830"/>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71303B4-CDD7-4DD2-994C-52945360C3A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Classify five things before selecting an antibiotic</a:t>
            </a:r>
          </a:p>
        </p:txBody>
      </p:sp>
      <p:graphicFrame>
        <p:nvGraphicFramePr>
          <p:cNvPr id="2" name="">
            <a:extLst xmlns:a="http://schemas.openxmlformats.org/drawingml/2006/main">
              <a:ext uri="{FF2B5EF4-FFF2-40B4-BE49-F238E27FC236}">
                <a16:creationId xmlns:a16="http://schemas.microsoft.com/office/drawing/2014/main" id="{485E96BE-C678-4C4A-8364-2A1D679910F6}"/>
              </a:ext>
            </a:extLst>
          </p:cNvPr>
          <p:cNvGraphicFramePr/>
          <p:nvPr/>
        </p:nvGraphicFramePr>
        <p:xfrm>
          <a:off xmlns:a="http://schemas.openxmlformats.org/drawingml/2006/main" x="647700" y="1866900"/>
          <a:ext xmlns:a="http://schemas.openxmlformats.org/drawingml/2006/main" cx="10896600" cy="33909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Subacute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Common examples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Brodie abscess, indolent vertebral infection, delayed PJI</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it should trigger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Deliberate tissue diagnosis, histology when mimic is possible, surgical planning before empiric therapy if stable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it does not prove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That normal WBC/CRP excludes infection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B33CDC3-E8EC-46F6-9353-7B85064A91C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CC03F91-70EE-4DE3-9CA6-1C55AFA4C2A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63</a:t>
            </a:r>
          </a:p>
        </p:txBody>
      </p:sp>
    </p:spTree>
    <p:extLst>
      <p:ext uri="{BB962C8B-B14F-4D97-AF65-F5344CB8AC3E}">
        <p14:creationId xmlns:p14="http://schemas.microsoft.com/office/powerpoint/2010/main" val="1710935418"/>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3B0AA22-2341-4C5A-850E-DAAD4A8AC48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Classify five things before selecting an antibiotic</a:t>
            </a:r>
          </a:p>
        </p:txBody>
      </p:sp>
      <p:graphicFrame>
        <p:nvGraphicFramePr>
          <p:cNvPr id="2" name="">
            <a:extLst xmlns:a="http://schemas.openxmlformats.org/drawingml/2006/main">
              <a:ext uri="{FF2B5EF4-FFF2-40B4-BE49-F238E27FC236}">
                <a16:creationId xmlns:a16="http://schemas.microsoft.com/office/drawing/2014/main" id="{74DF23D6-C99F-4B79-B13D-8FFBDD77B724}"/>
              </a:ext>
            </a:extLst>
          </p:cNvPr>
          <p:cNvGraphicFramePr/>
          <p:nvPr/>
        </p:nvGraphicFramePr>
        <p:xfrm>
          <a:off xmlns:a="http://schemas.openxmlformats.org/drawingml/2006/main" x="647700" y="1866900"/>
          <a:ext xmlns:a="http://schemas.openxmlformats.org/drawingml/2006/main" cx="10896600" cy="30813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Chronic</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Common examples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Sinus-tract PJI, sequestrum, chronic post-traumatic osteomyelitis, stage IV pressure injury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it should trigger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Identify necrotic bone or retained material and decide whether durable source control is feasible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it does not prove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That prolonged antibiotics alone can sterilize an uncorrected source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0C541B2-E7A3-40EE-9DBA-E719C546510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D03202B-9778-48DE-8EC7-B53F52CF744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64</a:t>
            </a:r>
          </a:p>
        </p:txBody>
      </p:sp>
    </p:spTree>
    <p:extLst>
      <p:ext uri="{BB962C8B-B14F-4D97-AF65-F5344CB8AC3E}">
        <p14:creationId xmlns:p14="http://schemas.microsoft.com/office/powerpoint/2010/main" val="1466195530"/>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A6445D4-5D98-4260-887F-9C630BE5437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Do not let the MRI choose the treatment</a:t>
            </a:r>
          </a:p>
        </p:txBody>
      </p:sp>
      <p:sp>
        <p:nvSpPr>
          <p:cNvPr id="2" name="paragraph-0">
            <a:extLst xmlns:a="http://schemas.openxmlformats.org/drawingml/2006/main">
              <a:ext uri="{FF2B5EF4-FFF2-40B4-BE49-F238E27FC236}">
                <a16:creationId xmlns:a16="http://schemas.microsoft.com/office/drawing/2014/main" id="{9D81C5B9-6C05-49CE-BEDD-73F72789DA8D}"/>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MRI is sensitive for osteomyelitis but can remain abnormal during healing and can be difficult to interpret near surgery, hardware, neuropathic bone, or chronic pressure injury. Treat a clinical syndrome with a source-control plan, not an imaging phrase in isolation.</a:t>
            </a:r>
          </a:p>
        </p:txBody>
      </p:sp>
      <p:sp>
        <p:nvSpPr>
          <p:cNvPr id="3" name="paragraph-1">
            <a:extLst xmlns:a="http://schemas.openxmlformats.org/drawingml/2006/main">
              <a:ext uri="{FF2B5EF4-FFF2-40B4-BE49-F238E27FC236}">
                <a16:creationId xmlns:a16="http://schemas.microsoft.com/office/drawing/2014/main" id="{CE448201-4519-4B2C-86AC-512367AA9E14}"/>
              </a:ext>
            </a:extLst>
          </p:cNvPr>
          <p:cNvSpPr>
            <a:spLocks xmlns:a="http://schemas.openxmlformats.org/drawingml/2006/main" noGrp="1"/>
          </p:cNvSpPr>
          <p:nvPr/>
        </p:nvSpPr>
        <p:spPr>
          <a:xfrm xmlns:a="http://schemas.openxmlformats.org/drawingml/2006/main">
            <a:off x="647700" y="36195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wiki , pressure-2019 , pressure-2024</a:t>
            </a:r>
          </a:p>
        </p:txBody>
      </p:sp>
      <p:sp>
        <p:nvSpPr>
          <p:cNvPr id="4" name="footer">
            <a:extLst xmlns:a="http://schemas.openxmlformats.org/drawingml/2006/main">
              <a:ext uri="{FF2B5EF4-FFF2-40B4-BE49-F238E27FC236}">
                <a16:creationId xmlns:a16="http://schemas.microsoft.com/office/drawing/2014/main" id="{D19EBD7C-650D-4D24-B9F1-30C1F7EC0C3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96AB209F-9A96-4D4B-AD29-6FF96CC174A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65</a:t>
            </a:r>
          </a:p>
        </p:txBody>
      </p:sp>
    </p:spTree>
    <p:extLst>
      <p:ext uri="{BB962C8B-B14F-4D97-AF65-F5344CB8AC3E}">
        <p14:creationId xmlns:p14="http://schemas.microsoft.com/office/powerpoint/2010/main" val="216675021"/>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54FFF80-9D71-4E84-A315-047B5AA7C2B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Before antibiotics</a:t>
            </a:r>
          </a:p>
        </p:txBody>
      </p:sp>
      <p:sp>
        <p:nvSpPr>
          <p:cNvPr id="2" name="paragraph-0">
            <a:extLst xmlns:a="http://schemas.openxmlformats.org/drawingml/2006/main">
              <a:ext uri="{FF2B5EF4-FFF2-40B4-BE49-F238E27FC236}">
                <a16:creationId xmlns:a16="http://schemas.microsoft.com/office/drawing/2014/main" id="{E292764B-45D1-4455-AE76-81F8C0B9BA78}"/>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Unless the patient is septic or unstable, aspirate the joint promptly before starting antibiotics. Send synovial bacterial culture, cell count with differential, and crystals; obtain blood cultures when febrile, systemically ill, or bacteremia is plausible. A synovial WBC above 50,000/µL increases suspicion but is not diagnostic, a lower count does not exclude infection, and crystals do not exclude concomitant bacterial arthritis.</a:t>
            </a:r>
          </a:p>
        </p:txBody>
      </p:sp>
      <p:sp>
        <p:nvSpPr>
          <p:cNvPr id="3" name="footer">
            <a:extLst xmlns:a="http://schemas.openxmlformats.org/drawingml/2006/main">
              <a:ext uri="{FF2B5EF4-FFF2-40B4-BE49-F238E27FC236}">
                <a16:creationId xmlns:a16="http://schemas.microsoft.com/office/drawing/2014/main" id="{704F4BA8-6757-4AB7-8D0B-EFFA280832A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A683FCB-8481-4A2E-BC9B-2682C2DA440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66</a:t>
            </a:r>
          </a:p>
        </p:txBody>
      </p:sp>
    </p:spTree>
    <p:extLst>
      <p:ext uri="{BB962C8B-B14F-4D97-AF65-F5344CB8AC3E}">
        <p14:creationId xmlns:p14="http://schemas.microsoft.com/office/powerpoint/2010/main" val="966107075"/>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F250FF0-6C8E-467D-B952-AA2E5D96ED8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Before antibiotics</a:t>
            </a:r>
          </a:p>
        </p:txBody>
      </p:sp>
      <p:sp>
        <p:nvSpPr>
          <p:cNvPr id="2" name="paragraph-0">
            <a:extLst xmlns:a="http://schemas.openxmlformats.org/drawingml/2006/main">
              <a:ext uri="{FF2B5EF4-FFF2-40B4-BE49-F238E27FC236}">
                <a16:creationId xmlns:a16="http://schemas.microsoft.com/office/drawing/2014/main" id="{73D50EFA-0FAC-4FA9-9AF8-11E27AB98582}"/>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Gram stain has limited sensitivity but useful specificity. If the joint is difficult to access, image-guided aspiration is reasonable. Sacroiliac, sternoclavicular, and other axial infections deserve early assessment for adjacent osteomyelitis, abscess, or endovascular source.</a:t>
            </a:r>
          </a:p>
        </p:txBody>
      </p:sp>
      <p:sp>
        <p:nvSpPr>
          <p:cNvPr id="3" name="footer">
            <a:extLst xmlns:a="http://schemas.openxmlformats.org/drawingml/2006/main">
              <a:ext uri="{FF2B5EF4-FFF2-40B4-BE49-F238E27FC236}">
                <a16:creationId xmlns:a16="http://schemas.microsoft.com/office/drawing/2014/main" id="{AE36141A-C494-4BA4-B6E5-86F97B995E9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CBED4B8-141D-417F-BBA4-72C538060AE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67</a:t>
            </a:r>
          </a:p>
        </p:txBody>
      </p:sp>
    </p:spTree>
    <p:extLst>
      <p:ext uri="{BB962C8B-B14F-4D97-AF65-F5344CB8AC3E}">
        <p14:creationId xmlns:p14="http://schemas.microsoft.com/office/powerpoint/2010/main" val="1864964787"/>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843114D-007E-4CF2-B99E-067F8AC3742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Before antibiotics</a:t>
            </a:r>
          </a:p>
        </p:txBody>
      </p:sp>
      <p:graphicFrame>
        <p:nvGraphicFramePr>
          <p:cNvPr id="2" name="">
            <a:extLst xmlns:a="http://schemas.openxmlformats.org/drawingml/2006/main">
              <a:ext uri="{FF2B5EF4-FFF2-40B4-BE49-F238E27FC236}">
                <a16:creationId xmlns:a16="http://schemas.microsoft.com/office/drawing/2014/main" id="{959B514F-E1FE-4D83-832E-C15D40A586BB}"/>
              </a:ext>
            </a:extLst>
          </p:cNvPr>
          <p:cNvGraphicFramePr/>
          <p:nvPr/>
        </p:nvGraphicFramePr>
        <p:xfrm>
          <a:off xmlns:a="http://schemas.openxmlformats.org/drawingml/2006/main" x="647700" y="1866900"/>
          <a:ext xmlns:a="http://schemas.openxmlformats.org/drawingml/2006/main" cx="10896600" cy="37004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Unstable, sepsis, or septic shock</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Initial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Obtain blood cultures and aspirate if this will not meaningfully delay therapy. A common US empiric regimen is vancomycin plus ceftriaxone; use cefepime or another antipseudomonal beta-lactam when resistant gram-negative/Pseudomonas risk is substantial.</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Source control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Urgent orthopedic evaluation and lavage/drainage.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Typical duration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Define after organism, drainage, bacteremia, and adjacent infection are known.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91A771C7-E820-4FC8-9CD8-F28B70E13FC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043736A-AFD0-42EF-9857-8ECD5639067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68</a:t>
            </a:r>
          </a:p>
        </p:txBody>
      </p:sp>
    </p:spTree>
    <p:extLst>
      <p:ext uri="{BB962C8B-B14F-4D97-AF65-F5344CB8AC3E}">
        <p14:creationId xmlns:p14="http://schemas.microsoft.com/office/powerpoint/2010/main" val="4590480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BEB6AF7-7E32-4DC2-9598-8CCDA26A3DC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Before antibiotics</a:t>
            </a:r>
          </a:p>
        </p:txBody>
      </p:sp>
      <p:graphicFrame>
        <p:nvGraphicFramePr>
          <p:cNvPr id="2" name="">
            <a:extLst xmlns:a="http://schemas.openxmlformats.org/drawingml/2006/main">
              <a:ext uri="{FF2B5EF4-FFF2-40B4-BE49-F238E27FC236}">
                <a16:creationId xmlns:a16="http://schemas.microsoft.com/office/drawing/2014/main" id="{F19FF9A7-47BB-4FE9-8152-4FC74EE96AD9}"/>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Stable, no resistant gram-negative risk</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Initial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Aspirate first. Empiric vancomycin plus ceftriaxone is reasonable pending Gram stain and cultures, then narrow promptly.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Source control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Arthroscopic lavage is commonly preferred for large joints; open debridement may be needed for advanced disease, adhesions, or bone/cartilage destruction.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E85C1F5-89A8-4ECF-9B7C-34A9E94E801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1762E10-EC62-4802-B91B-52B82B79503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69</a:t>
            </a:r>
          </a:p>
        </p:txBody>
      </p:sp>
    </p:spTree>
    <p:extLst>
      <p:ext uri="{BB962C8B-B14F-4D97-AF65-F5344CB8AC3E}">
        <p14:creationId xmlns:p14="http://schemas.microsoft.com/office/powerpoint/2010/main" val="557356185"/>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186F214-64EB-412D-A65D-123F9032407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Before antibiotics</a:t>
            </a:r>
          </a:p>
        </p:txBody>
      </p:sp>
      <p:graphicFrame>
        <p:nvGraphicFramePr>
          <p:cNvPr id="2" name="">
            <a:extLst xmlns:a="http://schemas.openxmlformats.org/drawingml/2006/main">
              <a:ext uri="{FF2B5EF4-FFF2-40B4-BE49-F238E27FC236}">
                <a16:creationId xmlns:a16="http://schemas.microsoft.com/office/drawing/2014/main" id="{9E568AFB-3E15-4AFD-83F6-485DF4EA9586}"/>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Stable, no resistant gram-negative risk</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Typical duration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SANJO suggests 1–2 weeks IV followed by 2–4 weeks oral when improving. Evidence is low. Shorter total courses are best supported for hand/wrist infection after adequate drainage.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C79538B0-EE01-43E3-9D94-B87304918A9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F391E19-0C73-4F27-805F-3640333974E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70</a:t>
            </a:r>
          </a:p>
        </p:txBody>
      </p:sp>
    </p:spTree>
    <p:extLst>
      <p:ext uri="{BB962C8B-B14F-4D97-AF65-F5344CB8AC3E}">
        <p14:creationId xmlns:p14="http://schemas.microsoft.com/office/powerpoint/2010/main" val="321948769"/>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1B86FB8-5147-4215-9003-E36504314F1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Before antibiotics</a:t>
            </a:r>
          </a:p>
        </p:txBody>
      </p:sp>
      <p:graphicFrame>
        <p:nvGraphicFramePr>
          <p:cNvPr id="2" name="">
            <a:extLst xmlns:a="http://schemas.openxmlformats.org/drawingml/2006/main">
              <a:ext uri="{FF2B5EF4-FFF2-40B4-BE49-F238E27FC236}">
                <a16:creationId xmlns:a16="http://schemas.microsoft.com/office/drawing/2014/main" id="{5133AA3C-3FEB-41C5-9478-50D53F31D2CD}"/>
              </a:ext>
            </a:extLst>
          </p:cNvPr>
          <p:cNvGraphicFramePr/>
          <p:nvPr/>
        </p:nvGraphicFramePr>
        <p:xfrm>
          <a:off xmlns:a="http://schemas.openxmlformats.org/drawingml/2006/main" x="647700" y="1866900"/>
          <a:ext xmlns:a="http://schemas.openxmlformats.org/drawingml/2006/main" cx="10896600" cy="30813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MSSA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Initial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Cefazolin or an antistaphylococcal penicillin.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Source control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Drainage remains essential.</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1157288">
                <a:tc>
                  <a:txBody>
                    <a:bodyPr lIns="114300" tIns="114300" rIns="114300" bIns="114300">
                      <a:noAutofit/>
                    </a:bodyPr>
                    <a:lstStyle/>
                    <a:p>
                      <a:r>
                        <a:rPr sz="1950" b="0">
                          <a:solidFill>
                            <a:srgbClr val="16323B"/>
                          </a:solidFill>
                          <a:latin typeface="DejaVu Sans"/>
                          <a:ea typeface="DejaVu Sans"/>
                          <a:cs typeface="DejaVu Sans"/>
                        </a:rPr>
                        <a:t>Typical duration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measured in weeks, not days. Extend for bacteremia complications, adjacent osteomyelitis, delayed drainage, or poor response.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A35CC13-9054-4C6B-A0C9-CA6CF63047D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2841D55-0DC9-4959-B800-0537BB2CB49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71</a:t>
            </a:r>
          </a:p>
        </p:txBody>
      </p:sp>
    </p:spTree>
    <p:extLst>
      <p:ext uri="{BB962C8B-B14F-4D97-AF65-F5344CB8AC3E}">
        <p14:creationId xmlns:p14="http://schemas.microsoft.com/office/powerpoint/2010/main" val="2104418205"/>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99A89C0-F825-440B-9B1A-030669EC7E2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Before antibiotics</a:t>
            </a:r>
          </a:p>
        </p:txBody>
      </p:sp>
      <p:graphicFrame>
        <p:nvGraphicFramePr>
          <p:cNvPr id="2" name="">
            <a:extLst xmlns:a="http://schemas.openxmlformats.org/drawingml/2006/main">
              <a:ext uri="{FF2B5EF4-FFF2-40B4-BE49-F238E27FC236}">
                <a16:creationId xmlns:a16="http://schemas.microsoft.com/office/drawing/2014/main" id="{1B261626-43C1-4F6A-BB83-71B37737A574}"/>
              </a:ext>
            </a:extLst>
          </p:cNvPr>
          <p:cNvGraphicFramePr/>
          <p:nvPr/>
        </p:nvGraphicFramePr>
        <p:xfrm>
          <a:off xmlns:a="http://schemas.openxmlformats.org/drawingml/2006/main" x="647700" y="1866900"/>
          <a:ext xmlns:a="http://schemas.openxmlformats.org/drawingml/2006/main" cx="10896600" cy="30813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MRSA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Initial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Vancomycin or daptomycin when appropriate; tailor to susceptibility, renal function, bacteremia, and local practice.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Source control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Drainage remains essential.</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Typical duration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Often 3–4 weeks for uncomplicated drained arthritis, longer when complicated. Evidence is limited.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076AAA2C-9C03-429B-B2DC-D3E60842EEC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02A9656-E260-45B5-8D53-1684005BA51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72</a:t>
            </a:r>
          </a:p>
        </p:txBody>
      </p:sp>
    </p:spTree>
    <p:extLst>
      <p:ext uri="{BB962C8B-B14F-4D97-AF65-F5344CB8AC3E}">
        <p14:creationId xmlns:p14="http://schemas.microsoft.com/office/powerpoint/2010/main" val="2010974258"/>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64BA7E8-C07B-48D2-B953-98D905D610A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Before antibiotics</a:t>
            </a:r>
          </a:p>
        </p:txBody>
      </p:sp>
      <p:graphicFrame>
        <p:nvGraphicFramePr>
          <p:cNvPr id="2" name="">
            <a:extLst xmlns:a="http://schemas.openxmlformats.org/drawingml/2006/main">
              <a:ext uri="{FF2B5EF4-FFF2-40B4-BE49-F238E27FC236}">
                <a16:creationId xmlns:a16="http://schemas.microsoft.com/office/drawing/2014/main" id="{BB4B0709-8E59-46C2-AD7B-7E567191DB49}"/>
              </a:ext>
            </a:extLst>
          </p:cNvPr>
          <p:cNvGraphicFramePr/>
          <p:nvPr/>
        </p:nvGraphicFramePr>
        <p:xfrm>
          <a:off xmlns:a="http://schemas.openxmlformats.org/drawingml/2006/main" x="647700" y="1866900"/>
          <a:ext xmlns:a="http://schemas.openxmlformats.org/drawingml/2006/main" cx="10896600" cy="27717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Streptococci</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Initial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Penicillin/ampicillin or ceftriaxone when susceptible.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Source control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Drainage.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Typical duration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several weeks; clinical response and complexity matter.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CDDF5503-AD70-4799-9208-C4C7DC011AC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1B1DD32-0336-458E-AB3F-97CD3B624A8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73</a:t>
            </a:r>
          </a:p>
        </p:txBody>
      </p:sp>
    </p:spTree>
    <p:extLst>
      <p:ext uri="{BB962C8B-B14F-4D97-AF65-F5344CB8AC3E}">
        <p14:creationId xmlns:p14="http://schemas.microsoft.com/office/powerpoint/2010/main" val="180312832"/>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163F6E5-BD12-4C77-8DCA-ACF626BBB4A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Before antibiotics</a:t>
            </a:r>
          </a:p>
        </p:txBody>
      </p:sp>
      <p:graphicFrame>
        <p:nvGraphicFramePr>
          <p:cNvPr id="2" name="">
            <a:extLst xmlns:a="http://schemas.openxmlformats.org/drawingml/2006/main">
              <a:ext uri="{FF2B5EF4-FFF2-40B4-BE49-F238E27FC236}">
                <a16:creationId xmlns:a16="http://schemas.microsoft.com/office/drawing/2014/main" id="{52714E64-0134-4D4E-AA83-860E34B85817}"/>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Enteric gram-negative bacilli</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Initial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Ceftriaxone, cefepime, a carbapenem, or other active beta-lactam according to resistance pattern and syndrome. Active fluoroquinolone or TMP-SMX can be oral completion options in selected patients.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Source control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Drainage; investigate urinary, abdominal, or bloodstream source when appropriate.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3BF1D7D-5928-4E6F-95AE-2F914F565AF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D4D26ED-8A30-427E-86AF-0C291A3CAB4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74</a:t>
            </a:r>
          </a:p>
        </p:txBody>
      </p:sp>
    </p:spTree>
    <p:extLst>
      <p:ext uri="{BB962C8B-B14F-4D97-AF65-F5344CB8AC3E}">
        <p14:creationId xmlns:p14="http://schemas.microsoft.com/office/powerpoint/2010/main" val="393741268"/>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5158DED-1BA2-4C2D-87BE-93AF73621F4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Before antibiotics</a:t>
            </a:r>
          </a:p>
        </p:txBody>
      </p:sp>
      <p:graphicFrame>
        <p:nvGraphicFramePr>
          <p:cNvPr id="2" name="">
            <a:extLst xmlns:a="http://schemas.openxmlformats.org/drawingml/2006/main">
              <a:ext uri="{FF2B5EF4-FFF2-40B4-BE49-F238E27FC236}">
                <a16:creationId xmlns:a16="http://schemas.microsoft.com/office/drawing/2014/main" id="{AD750112-AB5E-4708-A633-956E17BFB109}"/>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Enteric gram-negative bacilli</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Typical duration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Often 3–4 weeks when uncomplicated and well drained; longer for associated endovascular infection, adjacent osteomyelitis, inadequate source control, or a poor clinical response.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B1690A32-2203-4FA5-90A6-6056B099F06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AD9FB6A-1FDD-445B-9620-EC156816B8C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75</a:t>
            </a:r>
          </a:p>
        </p:txBody>
      </p:sp>
    </p:spTree>
    <p:extLst>
      <p:ext uri="{BB962C8B-B14F-4D97-AF65-F5344CB8AC3E}">
        <p14:creationId xmlns:p14="http://schemas.microsoft.com/office/powerpoint/2010/main" val="739089763"/>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6ACC3AB-4865-4E2E-8A32-8AFA74EC580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Before antibiotics</a:t>
            </a:r>
          </a:p>
        </p:txBody>
      </p:sp>
      <p:graphicFrame>
        <p:nvGraphicFramePr>
          <p:cNvPr id="2" name="">
            <a:extLst xmlns:a="http://schemas.openxmlformats.org/drawingml/2006/main">
              <a:ext uri="{FF2B5EF4-FFF2-40B4-BE49-F238E27FC236}">
                <a16:creationId xmlns:a16="http://schemas.microsoft.com/office/drawing/2014/main" id="{786DE2F2-2230-4464-92AB-D7ED6293B95D}"/>
              </a:ext>
            </a:extLst>
          </p:cNvPr>
          <p:cNvGraphicFramePr/>
          <p:nvPr/>
        </p:nvGraphicFramePr>
        <p:xfrm>
          <a:off xmlns:a="http://schemas.openxmlformats.org/drawingml/2006/main" x="647700" y="1866900"/>
          <a:ext xmlns:a="http://schemas.openxmlformats.org/drawingml/2006/main" cx="10896600" cy="401002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Pseudomonas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Initial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Active cefepime, ceftazidime, piperacillin-tazobactam, or another susceptibility-guided antipseudomonal agent; ciprofloxacin can be a high-bioavailability oral option if susceptible and clinically appropriate.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Source control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Drainage.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1466850">
                <a:tc>
                  <a:txBody>
                    <a:bodyPr lIns="114300" tIns="114300" rIns="114300" bIns="114300">
                      <a:noAutofit/>
                    </a:bodyPr>
                    <a:lstStyle/>
                    <a:p>
                      <a:r>
                        <a:rPr sz="1950" b="0">
                          <a:solidFill>
                            <a:srgbClr val="16323B"/>
                          </a:solidFill>
                          <a:latin typeface="DejaVu Sans"/>
                          <a:ea typeface="DejaVu Sans"/>
                          <a:cs typeface="DejaVu Sans"/>
                        </a:rPr>
                        <a:t>Typical duration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Commonly 4–6 weeks when complicated. Do not extend merely because the organism is Pseudomonas if the clinical course is uncomplicated and source control is excellent.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6CDBF89-F8B0-414E-92F0-83CAB6CA198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49D35E4-850E-43E5-8FED-5F901DBFF95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76</a:t>
            </a:r>
          </a:p>
        </p:txBody>
      </p:sp>
    </p:spTree>
    <p:extLst>
      <p:ext uri="{BB962C8B-B14F-4D97-AF65-F5344CB8AC3E}">
        <p14:creationId xmlns:p14="http://schemas.microsoft.com/office/powerpoint/2010/main" val="548893751"/>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C7F89B1-23D6-4F78-8DF4-6BDC9C45048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Before antibiotics</a:t>
            </a:r>
          </a:p>
        </p:txBody>
      </p:sp>
      <p:graphicFrame>
        <p:nvGraphicFramePr>
          <p:cNvPr id="2" name="">
            <a:extLst xmlns:a="http://schemas.openxmlformats.org/drawingml/2006/main">
              <a:ext uri="{FF2B5EF4-FFF2-40B4-BE49-F238E27FC236}">
                <a16:creationId xmlns:a16="http://schemas.microsoft.com/office/drawing/2014/main" id="{40FC4875-5B6C-4CEC-97EB-99B087C7E1C8}"/>
              </a:ext>
            </a:extLst>
          </p:cNvPr>
          <p:cNvGraphicFramePr/>
          <p:nvPr/>
        </p:nvGraphicFramePr>
        <p:xfrm>
          <a:off xmlns:a="http://schemas.openxmlformats.org/drawingml/2006/main" x="647700" y="1866900"/>
          <a:ext xmlns:a="http://schemas.openxmlformats.org/drawingml/2006/main" cx="10896600" cy="37004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Gonococcal arthritis / arthritis-dermatitis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Initial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Ceftriaxone 1 g IV or IM every 24 hours. Treat chlamydia with doxycycline 100 mg twice daily for 7 days if not excluded.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Source control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Purulent joints may require serial aspiration or operative drainage.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1157288">
                <a:tc>
                  <a:txBody>
                    <a:bodyPr lIns="114300" tIns="114300" rIns="114300" bIns="114300">
                      <a:noAutofit/>
                    </a:bodyPr>
                    <a:lstStyle/>
                    <a:p>
                      <a:r>
                        <a:rPr sz="1950" b="0">
                          <a:solidFill>
                            <a:srgbClr val="16323B"/>
                          </a:solidFill>
                          <a:latin typeface="DejaVu Sans"/>
                          <a:ea typeface="DejaVu Sans"/>
                          <a:cs typeface="DejaVu Sans"/>
                        </a:rPr>
                        <a:t>Typical duration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After substantial improvement, susceptibility-guided oral transition can occur at 24–48 hours; total treatment is at least 7 days.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FCA8A47-AA13-4AC6-9761-54D8BDC9615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74AB991-67B7-412C-8672-2EB3BA5B67F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77</a:t>
            </a:r>
          </a:p>
        </p:txBody>
      </p:sp>
    </p:spTree>
    <p:extLst>
      <p:ext uri="{BB962C8B-B14F-4D97-AF65-F5344CB8AC3E}">
        <p14:creationId xmlns:p14="http://schemas.microsoft.com/office/powerpoint/2010/main" val="1446419892"/>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EF5073B2-1E45-483E-99B0-3DD06BCE59E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two-week trial is easy to overgeneralize</a:t>
            </a:r>
          </a:p>
        </p:txBody>
      </p:sp>
      <p:sp>
        <p:nvSpPr>
          <p:cNvPr id="2" name="paragraph-0">
            <a:extLst xmlns:a="http://schemas.openxmlformats.org/drawingml/2006/main">
              <a:ext uri="{FF2B5EF4-FFF2-40B4-BE49-F238E27FC236}">
                <a16:creationId xmlns:a16="http://schemas.microsoft.com/office/drawing/2014/main" id="{C695D611-8C54-4B1E-8ABB-F91272BC40C1}"/>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randomized trial found 2 weeks noninferior to 4 weeks after surgical drainage, but 99 of 154 cases involved the hand or wrist. It should not be used as blanket evidence for two weeks in a bacteremic native knee, shoulder, hip, axial joint, or infection with adjacent osteomyelitis.</a:t>
            </a:r>
          </a:p>
        </p:txBody>
      </p:sp>
      <p:sp>
        <p:nvSpPr>
          <p:cNvPr id="3" name="paragraph-1">
            <a:extLst xmlns:a="http://schemas.openxmlformats.org/drawingml/2006/main">
              <a:ext uri="{FF2B5EF4-FFF2-40B4-BE49-F238E27FC236}">
                <a16:creationId xmlns:a16="http://schemas.microsoft.com/office/drawing/2014/main" id="{83BED4FC-B1A6-479E-B7A1-33DBEFAEABCE}"/>
              </a:ext>
            </a:extLst>
          </p:cNvPr>
          <p:cNvSpPr>
            <a:spLocks xmlns:a="http://schemas.openxmlformats.org/drawingml/2006/main" noGrp="1"/>
          </p:cNvSpPr>
          <p:nvPr/>
        </p:nvSpPr>
        <p:spPr>
          <a:xfrm xmlns:a="http://schemas.openxmlformats.org/drawingml/2006/main">
            <a:off x="647700" y="39719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Failure to improve should trigger repeat examination and reassessment of drainage, not automatic broadening or extension.</a:t>
            </a:r>
          </a:p>
        </p:txBody>
      </p:sp>
      <p:sp>
        <p:nvSpPr>
          <p:cNvPr id="4" name="paragraph-2">
            <a:extLst xmlns:a="http://schemas.openxmlformats.org/drawingml/2006/main">
              <a:ext uri="{FF2B5EF4-FFF2-40B4-BE49-F238E27FC236}">
                <a16:creationId xmlns:a16="http://schemas.microsoft.com/office/drawing/2014/main" id="{DF1A652B-7BB5-4D00-B211-666F5B0AA774}"/>
              </a:ext>
            </a:extLst>
          </p:cNvPr>
          <p:cNvSpPr>
            <a:spLocks xmlns:a="http://schemas.openxmlformats.org/drawingml/2006/main" noGrp="1"/>
          </p:cNvSpPr>
          <p:nvPr/>
        </p:nvSpPr>
        <p:spPr>
          <a:xfrm xmlns:a="http://schemas.openxmlformats.org/drawingml/2006/main">
            <a:off x="647700" y="49339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sanjo , 2v4 , gono</a:t>
            </a:r>
          </a:p>
        </p:txBody>
      </p:sp>
      <p:sp>
        <p:nvSpPr>
          <p:cNvPr id="5" name="footer">
            <a:extLst xmlns:a="http://schemas.openxmlformats.org/drawingml/2006/main">
              <a:ext uri="{FF2B5EF4-FFF2-40B4-BE49-F238E27FC236}">
                <a16:creationId xmlns:a16="http://schemas.microsoft.com/office/drawing/2014/main" id="{07D8DC5B-C75F-42CE-9E0E-F96307E6072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6" name="number">
            <a:extLst xmlns:a="http://schemas.openxmlformats.org/drawingml/2006/main">
              <a:ext uri="{FF2B5EF4-FFF2-40B4-BE49-F238E27FC236}">
                <a16:creationId xmlns:a16="http://schemas.microsoft.com/office/drawing/2014/main" id="{4D81FD9A-622F-4626-80A5-265B9B21A1A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78</a:t>
            </a:r>
          </a:p>
        </p:txBody>
      </p:sp>
    </p:spTree>
    <p:extLst>
      <p:ext uri="{BB962C8B-B14F-4D97-AF65-F5344CB8AC3E}">
        <p14:creationId xmlns:p14="http://schemas.microsoft.com/office/powerpoint/2010/main" val="2077102361"/>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AE4C5C0-4C2F-40FD-B4D9-B86AB40C47A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PJI diagnosis starts with timing, implant status, and the quality of the specimen</a:t>
            </a:r>
          </a:p>
        </p:txBody>
      </p:sp>
      <p:sp>
        <p:nvSpPr>
          <p:cNvPr id="2" name="paragraph-0">
            <a:extLst xmlns:a="http://schemas.openxmlformats.org/drawingml/2006/main">
              <a:ext uri="{FF2B5EF4-FFF2-40B4-BE49-F238E27FC236}">
                <a16:creationId xmlns:a16="http://schemas.microsoft.com/office/drawing/2014/main" id="{89B925FB-4609-4848-B0F3-3693D302C7B6}"/>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2021 EBJIS framework classifies PJI as infection unlikely, likely, or confirmed rather than relying on one cutoff. A sinus tract that communicates with the prosthesis confirms PJI. Acute pain in a previously well-functioning prosthesis, persistent drainage, unexplained chronic pain, or loosening should trigger evaluation. ESR and CRP are useful screening tests when the diagnosis is not already obvious, but normal markers do not exclude indolent PJI.</a:t>
            </a:r>
          </a:p>
        </p:txBody>
      </p:sp>
      <p:sp>
        <p:nvSpPr>
          <p:cNvPr id="3" name="footer">
            <a:extLst xmlns:a="http://schemas.openxmlformats.org/drawingml/2006/main">
              <a:ext uri="{FF2B5EF4-FFF2-40B4-BE49-F238E27FC236}">
                <a16:creationId xmlns:a16="http://schemas.microsoft.com/office/drawing/2014/main" id="{5596A372-F88C-4D52-A665-62E02954C90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DEFD012-44A3-48FC-AC5A-EC595A561E8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79</a:t>
            </a:r>
          </a:p>
        </p:txBody>
      </p:sp>
    </p:spTree>
    <p:extLst>
      <p:ext uri="{BB962C8B-B14F-4D97-AF65-F5344CB8AC3E}">
        <p14:creationId xmlns:p14="http://schemas.microsoft.com/office/powerpoint/2010/main" val="24107609"/>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F12E414-9FA9-49E1-8D03-EFA2324756B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Preoperative sampling</a:t>
            </a:r>
          </a:p>
        </p:txBody>
      </p:sp>
      <p:sp>
        <p:nvSpPr>
          <p:cNvPr id="2" name="paragraph-0">
            <a:extLst xmlns:a="http://schemas.openxmlformats.org/drawingml/2006/main">
              <a:ext uri="{FF2B5EF4-FFF2-40B4-BE49-F238E27FC236}">
                <a16:creationId xmlns:a16="http://schemas.microsoft.com/office/drawing/2014/main" id="{DFF33B7A-8157-4D24-9BC6-628C4FEBC8D3}"/>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Aspirate the joint when the diagnosis is uncertain or when microbiology will change treatment. Send synovial cell count/differential and aerobic/anaerobic cultures. Exact cutoffs vary by joint, time from implantation, and criteria set.</a:t>
            </a:r>
          </a:p>
        </p:txBody>
      </p:sp>
      <p:sp>
        <p:nvSpPr>
          <p:cNvPr id="3" name="footer">
            <a:extLst xmlns:a="http://schemas.openxmlformats.org/drawingml/2006/main">
              <a:ext uri="{FF2B5EF4-FFF2-40B4-BE49-F238E27FC236}">
                <a16:creationId xmlns:a16="http://schemas.microsoft.com/office/drawing/2014/main" id="{D60D4C55-ACE8-4068-B8B6-83126A9397E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2657D16-E665-42C8-AA62-54AE46102A6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80</a:t>
            </a:r>
          </a:p>
        </p:txBody>
      </p:sp>
    </p:spTree>
    <p:extLst>
      <p:ext uri="{BB962C8B-B14F-4D97-AF65-F5344CB8AC3E}">
        <p14:creationId xmlns:p14="http://schemas.microsoft.com/office/powerpoint/2010/main" val="1480354372"/>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93CFA4D-AC90-40D3-8FE0-86996D0A133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If clinically stable</a:t>
            </a:r>
          </a:p>
        </p:txBody>
      </p:sp>
      <p:sp>
        <p:nvSpPr>
          <p:cNvPr id="2" name="paragraph-0">
            <a:extLst xmlns:a="http://schemas.openxmlformats.org/drawingml/2006/main">
              <a:ext uri="{FF2B5EF4-FFF2-40B4-BE49-F238E27FC236}">
                <a16:creationId xmlns:a16="http://schemas.microsoft.com/office/drawing/2014/main" id="{FA2BAF27-BC55-41F6-B92B-4632D9C447A6}"/>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Avoid starting empiric therapeutic antibiotics just because PJI is suspected. When medically safe, withholding therapeutic antibiotics for about 2 weeks before aspiration or operative cultures can improve yield. Coordinate perioperative prophylaxis separately with the surgical team; this is not a blanket instruction to omit prophylaxis at reimplantation.</a:t>
            </a:r>
          </a:p>
        </p:txBody>
      </p:sp>
      <p:sp>
        <p:nvSpPr>
          <p:cNvPr id="3" name="footer">
            <a:extLst xmlns:a="http://schemas.openxmlformats.org/drawingml/2006/main">
              <a:ext uri="{FF2B5EF4-FFF2-40B4-BE49-F238E27FC236}">
                <a16:creationId xmlns:a16="http://schemas.microsoft.com/office/drawing/2014/main" id="{5B7E7E0E-9D2F-4CC2-B831-63ACC54A201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B4FEAD0-F7E7-45FC-B41D-62F0D06C99D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81</a:t>
            </a:r>
          </a:p>
        </p:txBody>
      </p:sp>
    </p:spTree>
    <p:extLst>
      <p:ext uri="{BB962C8B-B14F-4D97-AF65-F5344CB8AC3E}">
        <p14:creationId xmlns:p14="http://schemas.microsoft.com/office/powerpoint/2010/main" val="2003494235"/>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67D7F14-72EB-4B09-9CDE-41BD8DE6579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Blood cultures</a:t>
            </a:r>
          </a:p>
        </p:txBody>
      </p:sp>
      <p:sp>
        <p:nvSpPr>
          <p:cNvPr id="2" name="paragraph-0">
            <a:extLst xmlns:a="http://schemas.openxmlformats.org/drawingml/2006/main">
              <a:ext uri="{FF2B5EF4-FFF2-40B4-BE49-F238E27FC236}">
                <a16:creationId xmlns:a16="http://schemas.microsoft.com/office/drawing/2014/main" id="{9AE2489E-5774-439D-B915-1F996F844651}"/>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Obtain them with fever, acute onset, systemic illness, S. aureus, or concern for hematogenous seeding.</a:t>
            </a:r>
          </a:p>
        </p:txBody>
      </p:sp>
      <p:sp>
        <p:nvSpPr>
          <p:cNvPr id="3" name="footer">
            <a:extLst xmlns:a="http://schemas.openxmlformats.org/drawingml/2006/main">
              <a:ext uri="{FF2B5EF4-FFF2-40B4-BE49-F238E27FC236}">
                <a16:creationId xmlns:a16="http://schemas.microsoft.com/office/drawing/2014/main" id="{9AA86FE3-6510-462E-8FAD-049675B6FF8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79BA2C4-20F8-4399-8C7F-9F0AFFA4A92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82</a:t>
            </a:r>
          </a:p>
        </p:txBody>
      </p:sp>
    </p:spTree>
    <p:extLst>
      <p:ext uri="{BB962C8B-B14F-4D97-AF65-F5344CB8AC3E}">
        <p14:creationId xmlns:p14="http://schemas.microsoft.com/office/powerpoint/2010/main" val="39643738"/>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144D6E0-B797-4862-935A-69CF77547CF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At surgery</a:t>
            </a:r>
          </a:p>
        </p:txBody>
      </p:sp>
      <p:sp>
        <p:nvSpPr>
          <p:cNvPr id="2" name="paragraph-0">
            <a:extLst xmlns:a="http://schemas.openxmlformats.org/drawingml/2006/main">
              <a:ext uri="{FF2B5EF4-FFF2-40B4-BE49-F238E27FC236}">
                <a16:creationId xmlns:a16="http://schemas.microsoft.com/office/drawing/2014/main" id="{F7102DDB-408C-499E-8671-0482F9D2D0CC}"/>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Obtain at least 5 deep tissue specimens using separate instruments for aerobic and anaerobic culture. Do not use a superficial sinus or wound swab to select months of therapy.</a:t>
            </a:r>
          </a:p>
        </p:txBody>
      </p:sp>
      <p:sp>
        <p:nvSpPr>
          <p:cNvPr id="3" name="footer">
            <a:extLst xmlns:a="http://schemas.openxmlformats.org/drawingml/2006/main">
              <a:ext uri="{FF2B5EF4-FFF2-40B4-BE49-F238E27FC236}">
                <a16:creationId xmlns:a16="http://schemas.microsoft.com/office/drawing/2014/main" id="{4490A01A-906F-4098-8977-220A6D855B3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F1A557E-AA11-4ED2-AF7D-438434BC42B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83</a:t>
            </a:r>
          </a:p>
        </p:txBody>
      </p:sp>
    </p:spTree>
    <p:extLst>
      <p:ext uri="{BB962C8B-B14F-4D97-AF65-F5344CB8AC3E}">
        <p14:creationId xmlns:p14="http://schemas.microsoft.com/office/powerpoint/2010/main" val="640165029"/>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9EA8341-FB63-46B5-ACBD-BD250B65A24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Adjunct diagnostics</a:t>
            </a:r>
          </a:p>
        </p:txBody>
      </p:sp>
      <p:sp>
        <p:nvSpPr>
          <p:cNvPr id="2" name="paragraph-0">
            <a:extLst xmlns:a="http://schemas.openxmlformats.org/drawingml/2006/main">
              <a:ext uri="{FF2B5EF4-FFF2-40B4-BE49-F238E27FC236}">
                <a16:creationId xmlns:a16="http://schemas.microsoft.com/office/drawing/2014/main" id="{54A91395-91AB-4ABD-BC20-E2AD673B7B25}"/>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Synovial alpha-defensin, leukocyte esterase, optimized culture techniques, histopathology, sonication, and molecular methods can help in selected culture-negative or equivocal cases. None converts a low-quality specimen into a definitive etiologic diagnosis.</a:t>
            </a:r>
          </a:p>
        </p:txBody>
      </p:sp>
      <p:sp>
        <p:nvSpPr>
          <p:cNvPr id="3" name="paragraph-1">
            <a:extLst xmlns:a="http://schemas.openxmlformats.org/drawingml/2006/main">
              <a:ext uri="{FF2B5EF4-FFF2-40B4-BE49-F238E27FC236}">
                <a16:creationId xmlns:a16="http://schemas.microsoft.com/office/drawing/2014/main" id="{86DE992B-FD2E-4EA4-9985-20412F3D9F2B}"/>
              </a:ext>
            </a:extLst>
          </p:cNvPr>
          <p:cNvSpPr>
            <a:spLocks xmlns:a="http://schemas.openxmlformats.org/drawingml/2006/main" noGrp="1"/>
          </p:cNvSpPr>
          <p:nvPr/>
        </p:nvSpPr>
        <p:spPr>
          <a:xfrm xmlns:a="http://schemas.openxmlformats.org/drawingml/2006/main">
            <a:off x="647700" y="36195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pji-2013 , pji-review</a:t>
            </a:r>
          </a:p>
        </p:txBody>
      </p:sp>
      <p:sp>
        <p:nvSpPr>
          <p:cNvPr id="4" name="footer">
            <a:extLst xmlns:a="http://schemas.openxmlformats.org/drawingml/2006/main">
              <a:ext uri="{FF2B5EF4-FFF2-40B4-BE49-F238E27FC236}">
                <a16:creationId xmlns:a16="http://schemas.microsoft.com/office/drawing/2014/main" id="{D6E861ED-AA35-473D-8F22-D509CB8815A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AD1EDABC-8CDC-499B-8160-BB88EE85E1E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84</a:t>
            </a:r>
          </a:p>
        </p:txBody>
      </p:sp>
    </p:spTree>
    <p:extLst>
      <p:ext uri="{BB962C8B-B14F-4D97-AF65-F5344CB8AC3E}">
        <p14:creationId xmlns:p14="http://schemas.microsoft.com/office/powerpoint/2010/main" val="392849510"/>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AEB6D63-E460-4BF2-9B3E-D4B7875F6DE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operation determines the antibiotic strategy in PJI</a:t>
            </a:r>
          </a:p>
        </p:txBody>
      </p:sp>
      <p:graphicFrame>
        <p:nvGraphicFramePr>
          <p:cNvPr id="2" name="">
            <a:extLst xmlns:a="http://schemas.openxmlformats.org/drawingml/2006/main">
              <a:ext uri="{FF2B5EF4-FFF2-40B4-BE49-F238E27FC236}">
                <a16:creationId xmlns:a16="http://schemas.microsoft.com/office/drawing/2014/main" id="{0644E3E9-E20C-4478-B6BC-9153E7F8C633}"/>
              </a:ext>
            </a:extLst>
          </p:cNvPr>
          <p:cNvGraphicFramePr/>
          <p:nvPr/>
        </p:nvGraphicFramePr>
        <p:xfrm>
          <a:off xmlns:a="http://schemas.openxmlformats.org/drawingml/2006/main" x="647700" y="1866900"/>
          <a:ext xmlns:a="http://schemas.openxmlformats.org/drawingml/2006/main" cx="10896600" cy="40909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DAIR with modular-component exchange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Best 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Acute symptoms for less than about 3 weeks or early postoperative PJI within about 4 weeks; fixed implant, no sinus, acceptable soft tissue, and a usable biofilm-active oral regimen.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2085975">
                <a:tc>
                  <a:txBody>
                    <a:bodyPr lIns="114300" tIns="114300" rIns="114300" bIns="114300">
                      <a:noAutofit/>
                    </a:bodyPr>
                    <a:lstStyle/>
                    <a:p>
                      <a:r>
                        <a:rPr sz="1950" b="0">
                          <a:solidFill>
                            <a:srgbClr val="16323B"/>
                          </a:solidFill>
                          <a:latin typeface="DejaVu Sans"/>
                          <a:ea typeface="DejaVu Sans"/>
                          <a:cs typeface="DejaVu Sans"/>
                        </a:rPr>
                        <a:t>Immediate postoperative phase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Open debridement with polyethylene/modular exchange when feasible. Use pathogen-directed therapy; an active oral transition depends on the organism, patient, surgical response, and regimen. For susceptible staphylococci, use rifampin only with an active companion after debridement.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06A440A-7E4D-4089-BAC3-076B1351FF0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70BD240-9304-4304-9819-82D07C4A89C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85</a:t>
            </a:r>
          </a:p>
        </p:txBody>
      </p:sp>
    </p:spTree>
    <p:extLst>
      <p:ext uri="{BB962C8B-B14F-4D97-AF65-F5344CB8AC3E}">
        <p14:creationId xmlns:p14="http://schemas.microsoft.com/office/powerpoint/2010/main" val="1383466437"/>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B3455FE-7557-49E6-9D7A-D1E6E8B6661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operation determines the antibiotic strategy in PJI</a:t>
            </a:r>
          </a:p>
        </p:txBody>
      </p:sp>
      <p:graphicFrame>
        <p:nvGraphicFramePr>
          <p:cNvPr id="2" name="">
            <a:extLst xmlns:a="http://schemas.openxmlformats.org/drawingml/2006/main">
              <a:ext uri="{FF2B5EF4-FFF2-40B4-BE49-F238E27FC236}">
                <a16:creationId xmlns:a16="http://schemas.microsoft.com/office/drawing/2014/main" id="{AF96112F-2AC2-4CA1-AD63-50B3EA17F52B}"/>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DAIR with modular-component exchange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Total course and reimplantation plan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The IDSA staphylococcal rifampin-based regimen completes 3 months for hip or 6 months for knee . Other regimens need separate duration decisions. A defined curative course is not indefinite suppression.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1DE0220-E8B8-4995-A941-75AB8144B26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7AA23A9-54C4-4DBB-B97D-CDD7755518C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86</a:t>
            </a:r>
          </a:p>
        </p:txBody>
      </p:sp>
    </p:spTree>
    <p:extLst>
      <p:ext uri="{BB962C8B-B14F-4D97-AF65-F5344CB8AC3E}">
        <p14:creationId xmlns:p14="http://schemas.microsoft.com/office/powerpoint/2010/main" val="1547936818"/>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F0A0E56-FF67-4EBF-B3F0-5876134DE2A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operation determines the antibiotic strategy in PJI</a:t>
            </a:r>
          </a:p>
        </p:txBody>
      </p:sp>
      <p:graphicFrame>
        <p:nvGraphicFramePr>
          <p:cNvPr id="2" name="">
            <a:extLst xmlns:a="http://schemas.openxmlformats.org/drawingml/2006/main">
              <a:ext uri="{FF2B5EF4-FFF2-40B4-BE49-F238E27FC236}">
                <a16:creationId xmlns:a16="http://schemas.microsoft.com/office/drawing/2014/main" id="{DE22866F-3EAD-4155-B6AE-78A24276D369}"/>
              </a:ext>
            </a:extLst>
          </p:cNvPr>
          <p:cNvGraphicFramePr/>
          <p:nvPr/>
        </p:nvGraphicFramePr>
        <p:xfrm>
          <a:off xmlns:a="http://schemas.openxmlformats.org/drawingml/2006/main" x="647700" y="1866900"/>
          <a:ext xmlns:a="http://schemas.openxmlformats.org/drawingml/2006/main" cx="10896600" cy="378142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One-stage exchange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Best 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Selected chronic PJI with good soft tissue, no sinus tract or major reconstructive barrier, and a known, susceptible, readily treatable organism.</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2085975">
                <a:tc>
                  <a:txBody>
                    <a:bodyPr lIns="114300" tIns="114300" rIns="114300" bIns="114300">
                      <a:noAutofit/>
                    </a:bodyPr>
                    <a:lstStyle/>
                    <a:p>
                      <a:r>
                        <a:rPr sz="1950" b="0">
                          <a:solidFill>
                            <a:srgbClr val="16323B"/>
                          </a:solidFill>
                          <a:latin typeface="DejaVu Sans"/>
                          <a:ea typeface="DejaVu Sans"/>
                          <a:cs typeface="DejaVu Sans"/>
                        </a:rPr>
                        <a:t>Immediate postoperative phase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Remove all infected components, perform radical debridement, obtain at least 5 deep specimens with separate instruments, and implant the new prosthesis in the same operation. Use organism-directed therapy. Transition to an active oral agent may be appropriate, but no fixed IV lead-in applies to all cases.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F621049-4EA8-4603-B9F4-CD32D8A8AA8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2280644-110D-4562-B6E6-D0DA18E16FE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87</a:t>
            </a:r>
          </a:p>
        </p:txBody>
      </p:sp>
    </p:spTree>
    <p:extLst>
      <p:ext uri="{BB962C8B-B14F-4D97-AF65-F5344CB8AC3E}">
        <p14:creationId xmlns:p14="http://schemas.microsoft.com/office/powerpoint/2010/main" val="1181521552"/>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E32481E-0864-4CF8-B67C-F65220A1DAF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operation determines the antibiotic strategy in PJI</a:t>
            </a:r>
          </a:p>
        </p:txBody>
      </p:sp>
      <p:graphicFrame>
        <p:nvGraphicFramePr>
          <p:cNvPr id="2" name="">
            <a:extLst xmlns:a="http://schemas.openxmlformats.org/drawingml/2006/main">
              <a:ext uri="{FF2B5EF4-FFF2-40B4-BE49-F238E27FC236}">
                <a16:creationId xmlns:a16="http://schemas.microsoft.com/office/drawing/2014/main" id="{AB49BA79-1FF0-4A9E-82C8-59B3E525E1AB}"/>
              </a:ext>
            </a:extLst>
          </p:cNvPr>
          <p:cNvGraphicFramePr/>
          <p:nvPr/>
        </p:nvGraphicFramePr>
        <p:xfrm>
          <a:off xmlns:a="http://schemas.openxmlformats.org/drawingml/2006/main" x="647700" y="1866900"/>
          <a:ext xmlns:a="http://schemas.openxmlformats.org/drawingml/2006/main" cx="10896600" cy="26241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One-stage exchange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085975">
                <a:tc>
                  <a:txBody>
                    <a:bodyPr lIns="114300" tIns="114300" rIns="114300" bIns="114300">
                      <a:noAutofit/>
                    </a:bodyPr>
                    <a:lstStyle/>
                    <a:p>
                      <a:r>
                        <a:rPr sz="1950" b="0">
                          <a:solidFill>
                            <a:srgbClr val="16323B"/>
                          </a:solidFill>
                          <a:latin typeface="DejaVu Sans"/>
                          <a:ea typeface="DejaVu Sans"/>
                          <a:cs typeface="DejaVu Sans"/>
                        </a:rPr>
                        <a:t>Total course and reimplantation plan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IDSA describes 2–6 weeks of IV therapy with rifampin, followed by an oral companion and rifampin to complete 3 months for susceptible staphylococci, and 4–6 weeks of pathogen-directed therapy for other organisms. Longer courses require case-specific justification; indefinite suppression is a separate decision.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EA2FE23C-B2C0-43CF-9A29-8D1CDB5EFEE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2EB84B1-6ECC-4A52-87FC-DE4C446C19D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88</a:t>
            </a:r>
          </a:p>
        </p:txBody>
      </p:sp>
    </p:spTree>
    <p:extLst>
      <p:ext uri="{BB962C8B-B14F-4D97-AF65-F5344CB8AC3E}">
        <p14:creationId xmlns:p14="http://schemas.microsoft.com/office/powerpoint/2010/main" val="284417813"/>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4BAC691-0C12-4F6B-B330-F69A99D5F75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operation determines the antibiotic strategy in PJI</a:t>
            </a:r>
          </a:p>
        </p:txBody>
      </p:sp>
      <p:graphicFrame>
        <p:nvGraphicFramePr>
          <p:cNvPr id="2" name="">
            <a:extLst xmlns:a="http://schemas.openxmlformats.org/drawingml/2006/main">
              <a:ext uri="{FF2B5EF4-FFF2-40B4-BE49-F238E27FC236}">
                <a16:creationId xmlns:a16="http://schemas.microsoft.com/office/drawing/2014/main" id="{D920B1F2-73C7-4508-BC0C-291F04A9836D}"/>
              </a:ext>
            </a:extLst>
          </p:cNvPr>
          <p:cNvGraphicFramePr/>
          <p:nvPr/>
        </p:nvGraphicFramePr>
        <p:xfrm>
          <a:off xmlns:a="http://schemas.openxmlformats.org/drawingml/2006/main" x="647700" y="1866900"/>
          <a:ext xmlns:a="http://schemas.openxmlformats.org/drawingml/2006/main" cx="10896600" cy="34718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Two-stage exchange: first stage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Best 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Chronic PJI, compromised soft tissue, difficult or unknown organism, major bone loss, or failed DAIR/one-stage strategy.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Immediate postoperative phase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Remove prosthesis, debride, obtain deep specimens, and place an antibiotic spacer when appropriate. Give pathogen-directed therapy; IDSA permits IV or highly bioavailable oral treatment. Route and transition depend on the organism, patient, and regimen.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84772BC-7560-41D8-A34E-F51284B27E2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74459DD-002A-4EA8-818E-EBA807765C3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89</a:t>
            </a:r>
          </a:p>
        </p:txBody>
      </p:sp>
    </p:spTree>
    <p:extLst>
      <p:ext uri="{BB962C8B-B14F-4D97-AF65-F5344CB8AC3E}">
        <p14:creationId xmlns:p14="http://schemas.microsoft.com/office/powerpoint/2010/main" val="2085280340"/>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2332056-657C-498F-A308-BBB7E498175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operation determines the antibiotic strategy in PJI</a:t>
            </a:r>
          </a:p>
        </p:txBody>
      </p:sp>
      <p:graphicFrame>
        <p:nvGraphicFramePr>
          <p:cNvPr id="2" name="">
            <a:extLst xmlns:a="http://schemas.openxmlformats.org/drawingml/2006/main">
              <a:ext uri="{FF2B5EF4-FFF2-40B4-BE49-F238E27FC236}">
                <a16:creationId xmlns:a16="http://schemas.microsoft.com/office/drawing/2014/main" id="{C9170B49-AB9D-434F-8216-0498CA113903}"/>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Two-stage exchange: first stage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Total course and reimplantation plan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IDSA recommends 4–6 weeks after resection. The need and length of any antibiotic-free period before reimplantation are uncertain; no fixed holiday is established.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25FFFC85-8EFE-4C28-8760-AC28504E4EA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995C0E4-E9DD-4A7A-88E7-EA31B7C1B58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90</a:t>
            </a:r>
          </a:p>
        </p:txBody>
      </p:sp>
    </p:spTree>
    <p:extLst>
      <p:ext uri="{BB962C8B-B14F-4D97-AF65-F5344CB8AC3E}">
        <p14:creationId xmlns:p14="http://schemas.microsoft.com/office/powerpoint/2010/main" val="777080965"/>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DF52965-9900-4F7A-94FC-2F12BE79400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operation determines the antibiotic strategy in PJI</a:t>
            </a:r>
          </a:p>
        </p:txBody>
      </p:sp>
      <p:graphicFrame>
        <p:nvGraphicFramePr>
          <p:cNvPr id="2" name="">
            <a:extLst xmlns:a="http://schemas.openxmlformats.org/drawingml/2006/main">
              <a:ext uri="{FF2B5EF4-FFF2-40B4-BE49-F238E27FC236}">
                <a16:creationId xmlns:a16="http://schemas.microsoft.com/office/drawing/2014/main" id="{8F09AFD3-62AE-4257-940E-CF30D7B90DEA}"/>
              </a:ext>
            </a:extLst>
          </p:cNvPr>
          <p:cNvGraphicFramePr/>
          <p:nvPr/>
        </p:nvGraphicFramePr>
        <p:xfrm>
          <a:off xmlns:a="http://schemas.openxmlformats.org/drawingml/2006/main" x="647700" y="1866900"/>
          <a:ext xmlns:a="http://schemas.openxmlformats.org/drawingml/2006/main" cx="10896600" cy="378142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Two-stage exchange: reimplantation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Best 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Clinical course, soft tissue, surgical findings, inflammatory markers, and any aspiration/culture data support infection control.</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2085975">
                <a:tc>
                  <a:txBody>
                    <a:bodyPr lIns="114300" tIns="114300" rIns="114300" bIns="114300">
                      <a:noAutofit/>
                    </a:bodyPr>
                    <a:lstStyle/>
                    <a:p>
                      <a:r>
                        <a:rPr sz="1950" b="0">
                          <a:solidFill>
                            <a:srgbClr val="16323B"/>
                          </a:solidFill>
                          <a:latin typeface="DejaVu Sans"/>
                          <a:ea typeface="DejaVu Sans"/>
                          <a:cs typeface="DejaVu Sans"/>
                        </a:rPr>
                        <a:t>Immediate postoperative phase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Obtain multiple deep specimens at reimplantation. Give indicated perioperative surgical prophylaxis when the prior infection is believed eradicated. This is distinct from restarting a prolonged therapeutic course; base that decision on operative findings, microbiology, and the joint-team assessment.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6DF4541F-1F28-4E61-91BB-DA1E1CED27B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4418C66-7BAF-479A-A9D6-7374B8F7A06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91</a:t>
            </a:r>
          </a:p>
        </p:txBody>
      </p:sp>
    </p:spTree>
    <p:extLst>
      <p:ext uri="{BB962C8B-B14F-4D97-AF65-F5344CB8AC3E}">
        <p14:creationId xmlns:p14="http://schemas.microsoft.com/office/powerpoint/2010/main" val="2016053075"/>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970840B-6A12-42EF-B673-8F7033C73FC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operation determines the antibiotic strategy in PJI</a:t>
            </a:r>
          </a:p>
        </p:txBody>
      </p:sp>
      <p:graphicFrame>
        <p:nvGraphicFramePr>
          <p:cNvPr id="2" name="">
            <a:extLst xmlns:a="http://schemas.openxmlformats.org/drawingml/2006/main">
              <a:ext uri="{FF2B5EF4-FFF2-40B4-BE49-F238E27FC236}">
                <a16:creationId xmlns:a16="http://schemas.microsoft.com/office/drawing/2014/main" id="{0FC72116-0BFC-4CD2-AA94-5EFAFA5C4081}"/>
              </a:ext>
            </a:extLst>
          </p:cNvPr>
          <p:cNvGraphicFramePr/>
          <p:nvPr/>
        </p:nvGraphicFramePr>
        <p:xfrm>
          <a:off xmlns:a="http://schemas.openxmlformats.org/drawingml/2006/main" x="647700" y="1866900"/>
          <a:ext xmlns:a="http://schemas.openxmlformats.org/drawingml/2006/main" cx="10896600" cy="32432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Two-stage exchange: reimplantation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705100">
                <a:tc>
                  <a:txBody>
                    <a:bodyPr lIns="114300" tIns="114300" rIns="114300" bIns="114300">
                      <a:noAutofit/>
                    </a:bodyPr>
                    <a:lstStyle/>
                    <a:p>
                      <a:r>
                        <a:rPr sz="1950" b="0">
                          <a:solidFill>
                            <a:srgbClr val="16323B"/>
                          </a:solidFill>
                          <a:latin typeface="DejaVu Sans"/>
                          <a:ea typeface="DejaVu Sans"/>
                          <a:cs typeface="DejaVu Sans"/>
                        </a:rPr>
                        <a:t>Total course and reimplantation plan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Concordant growth in at least 2 specimens supports persistent infection. Do not dismiss a single virulent isolate such as S. aureus ; interpret it with histology, operative findings, and the joint-team assessment. Decide the need and duration of additional treatment case by case. Negative cultures without residual infection do not by themselves justify prolonged postoperative therapy.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57892DA-4272-420D-A32B-3046EB8B2B1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58F419D-07B9-42F6-818B-0AE9CD6BE3E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92</a:t>
            </a:r>
          </a:p>
        </p:txBody>
      </p:sp>
    </p:spTree>
    <p:extLst>
      <p:ext uri="{BB962C8B-B14F-4D97-AF65-F5344CB8AC3E}">
        <p14:creationId xmlns:p14="http://schemas.microsoft.com/office/powerpoint/2010/main" val="283031437"/>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7F7AED7-B93D-4A37-BB49-E44A0CB4B0C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operation determines the antibiotic strategy in PJI</a:t>
            </a:r>
          </a:p>
        </p:txBody>
      </p:sp>
      <p:graphicFrame>
        <p:nvGraphicFramePr>
          <p:cNvPr id="2" name="">
            <a:extLst xmlns:a="http://schemas.openxmlformats.org/drawingml/2006/main">
              <a:ext uri="{FF2B5EF4-FFF2-40B4-BE49-F238E27FC236}">
                <a16:creationId xmlns:a16="http://schemas.microsoft.com/office/drawing/2014/main" id="{49DCC646-0E88-4D67-9A9D-CDF961D3883A}"/>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Resection arthroplasty / arthrodesis / amputation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Best 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When reconstruction is not feasible, repeated curative attempts have failed, or patient goals favor definitive source removal.</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Immediate postoperative phase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Obtain deep cultures and treat residual infection. The initial IV-to-oral decision follows stability, source control, susceptibility, absorption, and drug interactions.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5AFA0B54-9545-4AFE-A6E4-E6E9D14FF28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8975AD1-8AFB-48BF-8C3F-F14107FFF64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93</a:t>
            </a:r>
          </a:p>
        </p:txBody>
      </p:sp>
    </p:spTree>
    <p:extLst>
      <p:ext uri="{BB962C8B-B14F-4D97-AF65-F5344CB8AC3E}">
        <p14:creationId xmlns:p14="http://schemas.microsoft.com/office/powerpoint/2010/main" val="1587696747"/>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6D7D563-92D8-4836-B930-908A65B1FE7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operation determines the antibiotic strategy in PJI</a:t>
            </a:r>
          </a:p>
        </p:txBody>
      </p:sp>
      <p:graphicFrame>
        <p:nvGraphicFramePr>
          <p:cNvPr id="2" name="">
            <a:extLst xmlns:a="http://schemas.openxmlformats.org/drawingml/2006/main">
              <a:ext uri="{FF2B5EF4-FFF2-40B4-BE49-F238E27FC236}">
                <a16:creationId xmlns:a16="http://schemas.microsoft.com/office/drawing/2014/main" id="{EB8DC1CB-D578-418C-AF1F-CD8D50192802}"/>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Resection arthroplasty / arthrodesis / amputation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Total course and reimplantation plan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4–6 weeks if residual infected tissue remains. If all infected tissue is removed and there is no bacteremia or residual soft-tissue infection, prolonged therapy may not be needed.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FCB5D48-0DC0-466F-ACCC-C1A66CD047A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97F1A53-EB09-410C-A0E2-01196D0F97F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94</a:t>
            </a:r>
          </a:p>
        </p:txBody>
      </p:sp>
    </p:spTree>
    <p:extLst>
      <p:ext uri="{BB962C8B-B14F-4D97-AF65-F5344CB8AC3E}">
        <p14:creationId xmlns:p14="http://schemas.microsoft.com/office/powerpoint/2010/main" val="862324729"/>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86CD350-11CC-4AFE-B684-AD400F2A295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operation determines the antibiotic strategy in PJI</a:t>
            </a:r>
          </a:p>
        </p:txBody>
      </p:sp>
      <p:graphicFrame>
        <p:nvGraphicFramePr>
          <p:cNvPr id="2" name="">
            <a:extLst xmlns:a="http://schemas.openxmlformats.org/drawingml/2006/main">
              <a:ext uri="{FF2B5EF4-FFF2-40B4-BE49-F238E27FC236}">
                <a16:creationId xmlns:a16="http://schemas.microsoft.com/office/drawing/2014/main" id="{76F444EA-5B4B-40CB-BE45-EC5C505CD9A3}"/>
              </a:ext>
            </a:extLst>
          </p:cNvPr>
          <p:cNvGraphicFramePr/>
          <p:nvPr/>
        </p:nvGraphicFramePr>
        <p:xfrm>
          <a:off xmlns:a="http://schemas.openxmlformats.org/drawingml/2006/main" x="647700" y="1866900"/>
          <a:ext xmlns:a="http://schemas.openxmlformats.org/drawingml/2006/main" cx="10896600" cy="401002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No curative surgery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Best 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Operative risk, patient preference, or anatomy makes curative source control unacceptable.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Immediate postoperative phase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Treat acute sepsis, abscess, or bacteremia first and obtain the best possible microbiology.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1776413">
                <a:tc>
                  <a:txBody>
                    <a:bodyPr lIns="114300" tIns="114300" rIns="114300" bIns="114300">
                      <a:noAutofit/>
                    </a:bodyPr>
                    <a:lstStyle/>
                    <a:p>
                      <a:r>
                        <a:rPr sz="1950" b="0">
                          <a:solidFill>
                            <a:srgbClr val="16323B"/>
                          </a:solidFill>
                          <a:latin typeface="DejaVu Sans"/>
                          <a:ea typeface="DejaVu Sans"/>
                          <a:cs typeface="DejaVu Sans"/>
                        </a:rPr>
                        <a:t>Total course and reimplantation plan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Then consider culture-directed suppressive therapy only if there is a defined organism, active tolerable oral option, and meaningful functional goal. Suppression is noncurative and can fail from resistance, toxicity, loosening, sinus formation, or progression.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AEAAB02-D244-436D-91FA-092A51097B7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8760E46-C29C-4D18-9E26-9FE143092D5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95</a:t>
            </a:r>
          </a:p>
        </p:txBody>
      </p:sp>
    </p:spTree>
    <p:extLst>
      <p:ext uri="{BB962C8B-B14F-4D97-AF65-F5344CB8AC3E}">
        <p14:creationId xmlns:p14="http://schemas.microsoft.com/office/powerpoint/2010/main" val="1556678753"/>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8136E67-7BF2-4224-B56D-85FACE3BB04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Local standard for DAIR</a:t>
            </a:r>
          </a:p>
        </p:txBody>
      </p:sp>
      <p:sp>
        <p:nvSpPr>
          <p:cNvPr id="2" name="paragraph-0">
            <a:extLst xmlns:a="http://schemas.openxmlformats.org/drawingml/2006/main">
              <a:ext uri="{FF2B5EF4-FFF2-40B4-BE49-F238E27FC236}">
                <a16:creationId xmlns:a16="http://schemas.microsoft.com/office/drawing/2014/main" id="{A36B5F34-43E3-4E21-9732-3EF72CE1A9F0}"/>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susceptible staphylococcal DAIR treated with a rifampin-based regimen, IDSA recommends 3 months for hip and 6 months for knee. DATIPO did not establish noninferiority of 6 versus 12 weeks across surgically managed PJI. Duration for other organisms and regimens needs case-specific review.</a:t>
            </a:r>
          </a:p>
        </p:txBody>
      </p:sp>
      <p:sp>
        <p:nvSpPr>
          <p:cNvPr id="3" name="footer">
            <a:extLst xmlns:a="http://schemas.openxmlformats.org/drawingml/2006/main">
              <a:ext uri="{FF2B5EF4-FFF2-40B4-BE49-F238E27FC236}">
                <a16:creationId xmlns:a16="http://schemas.microsoft.com/office/drawing/2014/main" id="{AE814DBA-6D9B-4172-BE89-DDC86667AAF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62558E8-E2C0-4B81-BE49-6D3D26B6BF4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96</a:t>
            </a:r>
          </a:p>
        </p:txBody>
      </p:sp>
    </p:spTree>
    <p:extLst>
      <p:ext uri="{BB962C8B-B14F-4D97-AF65-F5344CB8AC3E}">
        <p14:creationId xmlns:p14="http://schemas.microsoft.com/office/powerpoint/2010/main" val="1104183644"/>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7BAE9F0-6AFD-4B67-8FE8-B4CFAF40DB0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Do not overgeneralize SOLARIO</a:t>
            </a:r>
          </a:p>
        </p:txBody>
      </p:sp>
      <p:sp>
        <p:nvSpPr>
          <p:cNvPr id="2" name="paragraph-0">
            <a:extLst xmlns:a="http://schemas.openxmlformats.org/drawingml/2006/main">
              <a:ext uri="{FF2B5EF4-FFF2-40B4-BE49-F238E27FC236}">
                <a16:creationId xmlns:a16="http://schemas.microsoft.com/office/drawing/2014/main" id="{47593376-DD1A-4F09-A483-19239E570D92}"/>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SOLARIO found that no more than 7 days of systemic antibiotics was noninferior to at least 4 weeks after definitive curative surgery plus a local antibiotic carrier. DAIR and suppressive procedures were excluded, and the PJI subgroup was small and not independently powered. The trial is practice-informing for carefully selected definitive surgery, but it does not shorten the local DAIR, one-stage, or two-stage pathways.</a:t>
            </a:r>
          </a:p>
        </p:txBody>
      </p:sp>
      <p:sp>
        <p:nvSpPr>
          <p:cNvPr id="3" name="footer">
            <a:extLst xmlns:a="http://schemas.openxmlformats.org/drawingml/2006/main">
              <a:ext uri="{FF2B5EF4-FFF2-40B4-BE49-F238E27FC236}">
                <a16:creationId xmlns:a16="http://schemas.microsoft.com/office/drawing/2014/main" id="{3C1C8DEB-46DD-4B18-AE8A-1F8C41B4808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81A0936-3672-4EC0-B9B0-640C8FB5415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97</a:t>
            </a:r>
          </a:p>
        </p:txBody>
      </p:sp>
    </p:spTree>
    <p:extLst>
      <p:ext uri="{BB962C8B-B14F-4D97-AF65-F5344CB8AC3E}">
        <p14:creationId xmlns:p14="http://schemas.microsoft.com/office/powerpoint/2010/main" val="482290435"/>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45D424B-7F55-4189-926A-884CBB15C37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Rifampin rules</a:t>
            </a:r>
          </a:p>
        </p:txBody>
      </p:sp>
      <p:sp>
        <p:nvSpPr>
          <p:cNvPr id="2" name="paragraph-0">
            <a:extLst xmlns:a="http://schemas.openxmlformats.org/drawingml/2006/main">
              <a:ext uri="{FF2B5EF4-FFF2-40B4-BE49-F238E27FC236}">
                <a16:creationId xmlns:a16="http://schemas.microsoft.com/office/drawing/2014/main" id="{B5D6907C-AF12-481E-ACC5-40E9E0D9487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rifampin for a susceptible staphylococcal biofilm infection only as part of combination therapy. Never use rifampin monotherapy.</a:t>
            </a:r>
          </a:p>
        </p:txBody>
      </p:sp>
      <p:sp>
        <p:nvSpPr>
          <p:cNvPr id="3" name="paragraph-1">
            <a:extLst xmlns:a="http://schemas.openxmlformats.org/drawingml/2006/main">
              <a:ext uri="{FF2B5EF4-FFF2-40B4-BE49-F238E27FC236}">
                <a16:creationId xmlns:a16="http://schemas.microsoft.com/office/drawing/2014/main" id="{4540C36A-FF44-4022-B497-8CFB02DFBB9E}"/>
              </a:ext>
            </a:extLst>
          </p:cNvPr>
          <p:cNvSpPr>
            <a:spLocks xmlns:a="http://schemas.openxmlformats.org/drawingml/2006/main" noGrp="1"/>
          </p:cNvSpPr>
          <p:nvPr/>
        </p:nvSpPr>
        <p:spPr>
          <a:xfrm xmlns:a="http://schemas.openxmlformats.org/drawingml/2006/main">
            <a:off x="647700" y="29146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 not add it empirically before knowing the organism. Reduce the bacterial burden surgically first.</a:t>
            </a:r>
          </a:p>
        </p:txBody>
      </p:sp>
      <p:sp>
        <p:nvSpPr>
          <p:cNvPr id="4" name="paragraph-2">
            <a:extLst xmlns:a="http://schemas.openxmlformats.org/drawingml/2006/main">
              <a:ext uri="{FF2B5EF4-FFF2-40B4-BE49-F238E27FC236}">
                <a16:creationId xmlns:a16="http://schemas.microsoft.com/office/drawing/2014/main" id="{A91A1BD2-1EAB-435C-8C43-B440483E11CB}"/>
              </a:ext>
            </a:extLst>
          </p:cNvPr>
          <p:cNvSpPr>
            <a:spLocks xmlns:a="http://schemas.openxmlformats.org/drawingml/2006/main" noGrp="1"/>
          </p:cNvSpPr>
          <p:nvPr/>
        </p:nvSpPr>
        <p:spPr>
          <a:xfrm xmlns:a="http://schemas.openxmlformats.org/drawingml/2006/main">
            <a:off x="647700" y="38766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Review drug interactions, hepatotoxicity, absorption, and companion-drug activity. Fluoroquinolones have the strongest companion evidence, but other agents are used when appropriate.</a:t>
            </a:r>
          </a:p>
        </p:txBody>
      </p:sp>
      <p:sp>
        <p:nvSpPr>
          <p:cNvPr id="5" name="footer">
            <a:extLst xmlns:a="http://schemas.openxmlformats.org/drawingml/2006/main">
              <a:ext uri="{FF2B5EF4-FFF2-40B4-BE49-F238E27FC236}">
                <a16:creationId xmlns:a16="http://schemas.microsoft.com/office/drawing/2014/main" id="{D5995538-727F-40D8-8D90-2324BD3A97F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6" name="number">
            <a:extLst xmlns:a="http://schemas.openxmlformats.org/drawingml/2006/main">
              <a:ext uri="{FF2B5EF4-FFF2-40B4-BE49-F238E27FC236}">
                <a16:creationId xmlns:a16="http://schemas.microsoft.com/office/drawing/2014/main" id="{DC9A91D6-E9CB-4F64-822B-70516D4858C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98</a:t>
            </a:r>
          </a:p>
        </p:txBody>
      </p:sp>
    </p:spTree>
    <p:extLst>
      <p:ext uri="{BB962C8B-B14F-4D97-AF65-F5344CB8AC3E}">
        <p14:creationId xmlns:p14="http://schemas.microsoft.com/office/powerpoint/2010/main" val="599191549"/>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64EC93D-ABEA-4B36-8636-D0655C40E3F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Rifampin rules</a:t>
            </a:r>
          </a:p>
        </p:txBody>
      </p:sp>
      <p:sp>
        <p:nvSpPr>
          <p:cNvPr id="2" name="paragraph-0">
            <a:extLst xmlns:a="http://schemas.openxmlformats.org/drawingml/2006/main">
              <a:ext uri="{FF2B5EF4-FFF2-40B4-BE49-F238E27FC236}">
                <a16:creationId xmlns:a16="http://schemas.microsoft.com/office/drawing/2014/main" id="{B621C01F-2D01-49FA-946F-928E615FD2E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exact best time to start rifampin is not established. A rigid postoperative day rule is not evidence based.</a:t>
            </a:r>
          </a:p>
        </p:txBody>
      </p:sp>
      <p:sp>
        <p:nvSpPr>
          <p:cNvPr id="3" name="paragraph-1">
            <a:extLst xmlns:a="http://schemas.openxmlformats.org/drawingml/2006/main">
              <a:ext uri="{FF2B5EF4-FFF2-40B4-BE49-F238E27FC236}">
                <a16:creationId xmlns:a16="http://schemas.microsoft.com/office/drawing/2014/main" id="{00E64285-4079-411C-A358-8422024EA133}"/>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pji-2013 , datipo , solario , wiki , pji-review</a:t>
            </a:r>
          </a:p>
        </p:txBody>
      </p:sp>
      <p:sp>
        <p:nvSpPr>
          <p:cNvPr id="4" name="footer">
            <a:extLst xmlns:a="http://schemas.openxmlformats.org/drawingml/2006/main">
              <a:ext uri="{FF2B5EF4-FFF2-40B4-BE49-F238E27FC236}">
                <a16:creationId xmlns:a16="http://schemas.microsoft.com/office/drawing/2014/main" id="{CFCED06B-0ABA-40B5-AD98-2D410FFFCFD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527C8E43-BD9E-4BCB-BA4E-C3BD3F73050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99</a:t>
            </a:r>
          </a:p>
        </p:txBody>
      </p:sp>
    </p:spTree>
    <p:extLst>
      <p:ext uri="{BB962C8B-B14F-4D97-AF65-F5344CB8AC3E}">
        <p14:creationId xmlns:p14="http://schemas.microsoft.com/office/powerpoint/2010/main" val="2141568384"/>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4A23BC9-EC36-4ACF-9014-F7E8C72D614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Osteomyelitis without a retained implant usually does not need more than six weeks</a:t>
            </a:r>
          </a:p>
        </p:txBody>
      </p:sp>
      <p:sp>
        <p:nvSpPr>
          <p:cNvPr id="2" name="paragraph-0">
            <a:extLst xmlns:a="http://schemas.openxmlformats.org/drawingml/2006/main">
              <a:ext uri="{FF2B5EF4-FFF2-40B4-BE49-F238E27FC236}">
                <a16:creationId xmlns:a16="http://schemas.microsoft.com/office/drawing/2014/main" id="{EA4783A4-1613-4200-898A-C7476ACCBF59}"/>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First define the route and anatomy: hematogenous, contiguous/post-traumatic, diabetic foot, vertebral, pressure-injury pelvic osteomyelitis, or hardware-associated infection. Chronic osteomyelitis with a sequestrum behaves differently from acute hematogenous disease even if the same organism is isolated.</a:t>
            </a:r>
          </a:p>
        </p:txBody>
      </p:sp>
      <p:sp>
        <p:nvSpPr>
          <p:cNvPr id="3" name="footer">
            <a:extLst xmlns:a="http://schemas.openxmlformats.org/drawingml/2006/main">
              <a:ext uri="{FF2B5EF4-FFF2-40B4-BE49-F238E27FC236}">
                <a16:creationId xmlns:a16="http://schemas.microsoft.com/office/drawing/2014/main" id="{90473F93-F144-4021-8466-C7F6DD571A3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489E5EE-8686-4301-9390-D76C4425068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100</a:t>
            </a:r>
          </a:p>
        </p:txBody>
      </p:sp>
    </p:spTree>
    <p:extLst>
      <p:ext uri="{BB962C8B-B14F-4D97-AF65-F5344CB8AC3E}">
        <p14:creationId xmlns:p14="http://schemas.microsoft.com/office/powerpoint/2010/main" val="374701204"/>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E69AA02-0E97-4A1C-BE5B-E2FE705B6C6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Osteomyelitis without a retained implant usually does not need more than six weeks</a:t>
            </a:r>
          </a:p>
        </p:txBody>
      </p:sp>
      <p:graphicFrame>
        <p:nvGraphicFramePr>
          <p:cNvPr id="2" name="">
            <a:extLst xmlns:a="http://schemas.openxmlformats.org/drawingml/2006/main">
              <a:ext uri="{FF2B5EF4-FFF2-40B4-BE49-F238E27FC236}">
                <a16:creationId xmlns:a16="http://schemas.microsoft.com/office/drawing/2014/main" id="{78801417-D8B7-47FC-BD14-1D3D00C50934}"/>
              </a:ext>
            </a:extLst>
          </p:cNvPr>
          <p:cNvGraphicFramePr/>
          <p:nvPr/>
        </p:nvGraphicFramePr>
        <p:xfrm>
          <a:off xmlns:a="http://schemas.openxmlformats.org/drawingml/2006/main" x="647700" y="1866900"/>
          <a:ext xmlns:a="http://schemas.openxmlformats.org/drawingml/2006/main" cx="10896600" cy="37004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Acute hematogenous osteomyelitis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Diagnostic priority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Blood cultures; MRI when needed; tissue diagnosis if blood cultures do not establish the pathogen and biopsy will change management.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Non-ID treatment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Drain abscess; debride necrotic tissue when present. Evaluate endovascular source for S. aureus bacteremia.</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1157288">
                <a:tc>
                  <a:txBody>
                    <a:bodyPr lIns="114300" tIns="114300" rIns="114300" bIns="114300">
                      <a:noAutofit/>
                    </a:bodyPr>
                    <a:lstStyle/>
                    <a:p>
                      <a:r>
                        <a:rPr sz="1950" b="0">
                          <a:solidFill>
                            <a:srgbClr val="16323B"/>
                          </a:solidFill>
                          <a:latin typeface="DejaVu Sans"/>
                          <a:ea typeface="DejaVu Sans"/>
                          <a:cs typeface="DejaVu Sans"/>
                        </a:rPr>
                        <a:t>Antibiotic duration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Generally up to 6 weeks when no retained implant and source control is adequate. Oral therapy can be used when criteria are met.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74A53A4-7827-4113-8FC3-43D719EBCF5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B6FCBF8-018B-4AE6-9FF8-16E60BE522A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101</a:t>
            </a:r>
          </a:p>
        </p:txBody>
      </p:sp>
    </p:spTree>
    <p:extLst>
      <p:ext uri="{BB962C8B-B14F-4D97-AF65-F5344CB8AC3E}">
        <p14:creationId xmlns:p14="http://schemas.microsoft.com/office/powerpoint/2010/main" val="1426220665"/>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2C70251-A1D3-480B-8D7B-E0F79E1F0A2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Osteomyelitis without a retained implant usually does not need more than six weeks</a:t>
            </a:r>
          </a:p>
        </p:txBody>
      </p:sp>
      <p:graphicFrame>
        <p:nvGraphicFramePr>
          <p:cNvPr id="2" name="">
            <a:extLst xmlns:a="http://schemas.openxmlformats.org/drawingml/2006/main">
              <a:ext uri="{FF2B5EF4-FFF2-40B4-BE49-F238E27FC236}">
                <a16:creationId xmlns:a16="http://schemas.microsoft.com/office/drawing/2014/main" id="{CDD2EB5E-056B-4AEB-913E-B1194AA220AB}"/>
              </a:ext>
            </a:extLst>
          </p:cNvPr>
          <p:cNvGraphicFramePr/>
          <p:nvPr/>
        </p:nvGraphicFramePr>
        <p:xfrm>
          <a:off xmlns:a="http://schemas.openxmlformats.org/drawingml/2006/main" x="647700" y="1866900"/>
          <a:ext xmlns:a="http://schemas.openxmlformats.org/drawingml/2006/main" cx="10896600" cy="37004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Subacute osteomyelitis / Brodie abscess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Diagnostic priority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Imaging plus biopsy/curettage when feasible because tumor and other mimics can resemble infection. Systemic inflammatory signs are often absent.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Non-ID treatment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Curettage/debridement is common, both diagnostic and therapeutic.</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1157288">
                <a:tc>
                  <a:txBody>
                    <a:bodyPr lIns="114300" tIns="114300" rIns="114300" bIns="114300">
                      <a:noAutofit/>
                    </a:bodyPr>
                    <a:lstStyle/>
                    <a:p>
                      <a:r>
                        <a:rPr sz="1950" b="0">
                          <a:solidFill>
                            <a:srgbClr val="16323B"/>
                          </a:solidFill>
                          <a:latin typeface="DejaVu Sans"/>
                          <a:ea typeface="DejaVu Sans"/>
                          <a:cs typeface="DejaVu Sans"/>
                        </a:rPr>
                        <a:t>Antibiotic duration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No high-quality duration standard. Culture-directed therapy is commonly 4–6 weeks after curettage, but published practice is heterogeneous.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3CA1E42-7891-4B1F-931C-EFC7D1EB171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E199B07-C3F8-40FD-AFBA-BBD80BF9859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102</a:t>
            </a:r>
          </a:p>
        </p:txBody>
      </p:sp>
    </p:spTree>
    <p:extLst>
      <p:ext uri="{BB962C8B-B14F-4D97-AF65-F5344CB8AC3E}">
        <p14:creationId xmlns:p14="http://schemas.microsoft.com/office/powerpoint/2010/main" val="1281765405"/>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3252723-B610-4BF3-A66A-FA09903A5AD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Osteomyelitis without a retained implant usually does not need more than six weeks</a:t>
            </a:r>
          </a:p>
        </p:txBody>
      </p:sp>
      <p:graphicFrame>
        <p:nvGraphicFramePr>
          <p:cNvPr id="2" name="">
            <a:extLst xmlns:a="http://schemas.openxmlformats.org/drawingml/2006/main">
              <a:ext uri="{FF2B5EF4-FFF2-40B4-BE49-F238E27FC236}">
                <a16:creationId xmlns:a16="http://schemas.microsoft.com/office/drawing/2014/main" id="{EB2B866E-6A85-485A-AA9B-2F0B42A30D72}"/>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Chronic contiguous or post-traumatic osteomyelitis with sequestrum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Diagnostic priority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Deep bone/tissue culture and histology at debridement. Surface swabs are weak etiologic specimens.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Non-ID treatment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Remove necrotic bone, drain abscess, manage dead space, remove infected hardware when feasible, stabilize bone, and obtain durable vascularized soft-tissue coverage.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7DE29A3-E4DD-451E-BCB0-7719292C114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9AB1B37-A75F-4CD5-8F89-4A8045F69AC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103</a:t>
            </a:r>
          </a:p>
        </p:txBody>
      </p:sp>
    </p:spTree>
    <p:extLst>
      <p:ext uri="{BB962C8B-B14F-4D97-AF65-F5344CB8AC3E}">
        <p14:creationId xmlns:p14="http://schemas.microsoft.com/office/powerpoint/2010/main" val="1134851508"/>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B28EADA-487F-4E26-B70C-1686ECC2D78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Osteomyelitis without a retained implant usually does not need more than six weeks</a:t>
            </a:r>
          </a:p>
        </p:txBody>
      </p:sp>
      <p:graphicFrame>
        <p:nvGraphicFramePr>
          <p:cNvPr id="2" name="">
            <a:extLst xmlns:a="http://schemas.openxmlformats.org/drawingml/2006/main">
              <a:ext uri="{FF2B5EF4-FFF2-40B4-BE49-F238E27FC236}">
                <a16:creationId xmlns:a16="http://schemas.microsoft.com/office/drawing/2014/main" id="{B1710D8A-633A-4AE5-A316-959F1AC1F783}"/>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Chronic contiguous or post-traumatic osteomyelitis with sequestrum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Antibiotic duration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no more than 6 weeks after adequate source control. Three to four weeks may be adequate after debridement in selected cases, but confirmatory evidence is limited.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B5B9B3E2-C63F-408E-974E-03387B24D51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FA2078D-31A9-480C-BA5B-791F88B95EC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104</a:t>
            </a:r>
          </a:p>
        </p:txBody>
      </p:sp>
    </p:spTree>
    <p:extLst>
      <p:ext uri="{BB962C8B-B14F-4D97-AF65-F5344CB8AC3E}">
        <p14:creationId xmlns:p14="http://schemas.microsoft.com/office/powerpoint/2010/main" val="598916696"/>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5AE79F8-B67A-462D-9D91-F393D9DAF4C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Osteomyelitis without a retained implant usually does not need more than six weeks</a:t>
            </a:r>
          </a:p>
        </p:txBody>
      </p:sp>
      <p:graphicFrame>
        <p:nvGraphicFramePr>
          <p:cNvPr id="2" name="">
            <a:extLst xmlns:a="http://schemas.openxmlformats.org/drawingml/2006/main">
              <a:ext uri="{FF2B5EF4-FFF2-40B4-BE49-F238E27FC236}">
                <a16:creationId xmlns:a16="http://schemas.microsoft.com/office/drawing/2014/main" id="{ED5FDBB0-01D9-42A8-9668-E7B8CE3447CD}"/>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Complete resection of infected bone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Diagnostic priority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Confirm that residual infected bone and soft-tissue infection are absent.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Non-ID treatment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Definitive resection/amputation plus wound management.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DF50159-C5FA-4E10-85C9-63BB7C4815B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7C5E2ED-3A22-4CE4-8169-BC68DC8EA1A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105</a:t>
            </a:r>
          </a:p>
        </p:txBody>
      </p:sp>
    </p:spTree>
    <p:extLst>
      <p:ext uri="{BB962C8B-B14F-4D97-AF65-F5344CB8AC3E}">
        <p14:creationId xmlns:p14="http://schemas.microsoft.com/office/powerpoint/2010/main" val="335758568"/>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EF2223F-D696-4A2E-8F3C-FEF95966C2C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Osteomyelitis without a retained implant usually does not need more than six weeks</a:t>
            </a:r>
          </a:p>
        </p:txBody>
      </p:sp>
      <p:graphicFrame>
        <p:nvGraphicFramePr>
          <p:cNvPr id="2" name="">
            <a:extLst xmlns:a="http://schemas.openxmlformats.org/drawingml/2006/main">
              <a:ext uri="{FF2B5EF4-FFF2-40B4-BE49-F238E27FC236}">
                <a16:creationId xmlns:a16="http://schemas.microsoft.com/office/drawing/2014/main" id="{1E40C7AE-2381-420B-B13E-9E95B1D71104}"/>
              </a:ext>
            </a:extLst>
          </p:cNvPr>
          <p:cNvGraphicFramePr/>
          <p:nvPr/>
        </p:nvGraphicFramePr>
        <p:xfrm>
          <a:off xmlns:a="http://schemas.openxmlformats.org/drawingml/2006/main" x="647700" y="1866900"/>
          <a:ext xmlns:a="http://schemas.openxmlformats.org/drawingml/2006/main" cx="10896600" cy="29337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Complete resection of infected bone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395538">
                <a:tc>
                  <a:txBody>
                    <a:bodyPr lIns="114300" tIns="114300" rIns="114300" bIns="114300">
                      <a:noAutofit/>
                    </a:bodyPr>
                    <a:lstStyle/>
                    <a:p>
                      <a:r>
                        <a:rPr sz="1950" b="0">
                          <a:solidFill>
                            <a:srgbClr val="16323B"/>
                          </a:solidFill>
                          <a:latin typeface="DejaVu Sans"/>
                          <a:ea typeface="DejaVu Sans"/>
                          <a:cs typeface="DejaVu Sans"/>
                        </a:rPr>
                        <a:t>Antibiotic duration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General pyogenic osteomyelitis guidance permits no further osteomyelitis treatment after complete resection when no soft-tissue infection remains. For diabetes-related foot osteomyelitis, the IWGDF/IDSA table specifies 2–5 days after complete resection; positive margins and residual soft-tissue infection require their own courses.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51CFB2DD-A5AC-4AAC-B0DB-2B679FBC890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F0BA929-1F4C-4D71-84D1-AE18BEB578A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106</a:t>
            </a:r>
          </a:p>
        </p:txBody>
      </p:sp>
    </p:spTree>
    <p:extLst>
      <p:ext uri="{BB962C8B-B14F-4D97-AF65-F5344CB8AC3E}">
        <p14:creationId xmlns:p14="http://schemas.microsoft.com/office/powerpoint/2010/main" val="1794773433"/>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CA74372-3260-4124-AC54-B190A820BBE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Osteomyelitis without a retained implant usually does not need more than six weeks</a:t>
            </a:r>
          </a:p>
        </p:txBody>
      </p:sp>
      <p:graphicFrame>
        <p:nvGraphicFramePr>
          <p:cNvPr id="2" name="">
            <a:extLst xmlns:a="http://schemas.openxmlformats.org/drawingml/2006/main">
              <a:ext uri="{FF2B5EF4-FFF2-40B4-BE49-F238E27FC236}">
                <a16:creationId xmlns:a16="http://schemas.microsoft.com/office/drawing/2014/main" id="{F6B1E8C9-1718-48CF-9B08-02A9A99EA4A5}"/>
              </a:ext>
            </a:extLst>
          </p:cNvPr>
          <p:cNvGraphicFramePr/>
          <p:nvPr/>
        </p:nvGraphicFramePr>
        <p:xfrm>
          <a:off xmlns:a="http://schemas.openxmlformats.org/drawingml/2006/main" x="647700" y="1866900"/>
          <a:ext xmlns:a="http://schemas.openxmlformats.org/drawingml/2006/main" cx="10896600" cy="401002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Retained fracture fixation hardware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Diagnostic priority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Deep cultures, union status, stability, and whether hardware can be removed without mechanical failure.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Non-ID treatment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Debridement and stabilization. Sometimes hardware must remain until union, then can be removed.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1776413">
                <a:tc>
                  <a:txBody>
                    <a:bodyPr lIns="114300" tIns="114300" rIns="114300" bIns="114300">
                      <a:noAutofit/>
                    </a:bodyPr>
                    <a:lstStyle/>
                    <a:p>
                      <a:r>
                        <a:rPr sz="1950" b="0">
                          <a:solidFill>
                            <a:srgbClr val="16323B"/>
                          </a:solidFill>
                          <a:latin typeface="DejaVu Sans"/>
                          <a:ea typeface="DejaVu Sans"/>
                          <a:cs typeface="DejaVu Sans"/>
                        </a:rPr>
                        <a:t>Antibiotic duration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Evidence is weaker. Therapy may need to continue through fracture healing and/or transition to suppression until hardware can safely be removed. Coordinate with orthopedics rather than applying a PJI algorithm automatically.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004F5455-D5FC-4367-AEC4-FE8DB41BBC4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FFDF16C-E059-4562-82AD-587CF4716E3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107</a:t>
            </a:r>
          </a:p>
        </p:txBody>
      </p:sp>
    </p:spTree>
    <p:extLst>
      <p:ext uri="{BB962C8B-B14F-4D97-AF65-F5344CB8AC3E}">
        <p14:creationId xmlns:p14="http://schemas.microsoft.com/office/powerpoint/2010/main" val="22080255"/>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ED74548-134C-400D-A494-62E08EDAB1B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Diabetic foot osteomyelitis deserves its own pathway</a:t>
            </a:r>
          </a:p>
        </p:txBody>
      </p:sp>
      <p:sp>
        <p:nvSpPr>
          <p:cNvPr id="2" name="paragraph-0">
            <a:extLst xmlns:a="http://schemas.openxmlformats.org/drawingml/2006/main">
              <a:ext uri="{FF2B5EF4-FFF2-40B4-BE49-F238E27FC236}">
                <a16:creationId xmlns:a16="http://schemas.microsoft.com/office/drawing/2014/main" id="{4824B402-01A4-4D93-A4F1-7A8EDCD13A20}"/>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current 2023 IWGDF/IDSA guideline recommends probe-to-bone, plain radiographs, and ESR/CRP/PCT as initial studies, followed by MRI when doubt persists. Obtain bone rather than soft-tissue culture when feasible. For mild infection in North America, initially target aerobic gram-positive pathogens; do not empirically cover Pseudomonas in a temperate climate unless recent cultures or a specific exposure supports it.</a:t>
            </a:r>
          </a:p>
        </p:txBody>
      </p:sp>
      <p:sp>
        <p:nvSpPr>
          <p:cNvPr id="3" name="footer">
            <a:extLst xmlns:a="http://schemas.openxmlformats.org/drawingml/2006/main">
              <a:ext uri="{FF2B5EF4-FFF2-40B4-BE49-F238E27FC236}">
                <a16:creationId xmlns:a16="http://schemas.microsoft.com/office/drawing/2014/main" id="{F6669E59-0F49-49FA-987D-DBBD59F7743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CC23D60-29E6-407E-BBB6-DD3009559AD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108</a:t>
            </a:r>
          </a:p>
        </p:txBody>
      </p:sp>
    </p:spTree>
    <p:extLst>
      <p:ext uri="{BB962C8B-B14F-4D97-AF65-F5344CB8AC3E}">
        <p14:creationId xmlns:p14="http://schemas.microsoft.com/office/powerpoint/2010/main" val="485681134"/>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4255A6C-3827-4EEC-9CEF-F5340AC34CC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Diabetic foot osteomyelitis deserves its own pathway</a:t>
            </a:r>
          </a:p>
        </p:txBody>
      </p:sp>
      <p:sp>
        <p:nvSpPr>
          <p:cNvPr id="2" name="paragraph-0">
            <a:extLst xmlns:a="http://schemas.openxmlformats.org/drawingml/2006/main">
              <a:ext uri="{FF2B5EF4-FFF2-40B4-BE49-F238E27FC236}">
                <a16:creationId xmlns:a16="http://schemas.microsoft.com/office/drawing/2014/main" id="{F67AF94D-CB4D-4B0C-85E1-CF422D57377E}"/>
              </a:ext>
            </a:extLst>
          </p:cNvPr>
          <p:cNvSpPr>
            <a:spLocks xmlns:a="http://schemas.openxmlformats.org/drawingml/2006/main" noGrp="1"/>
          </p:cNvSpPr>
          <p:nvPr/>
        </p:nvSpPr>
        <p:spPr>
          <a:xfrm xmlns:a="http://schemas.openxmlformats.org/drawingml/2006/main">
            <a:off x="647700" y="1952625"/>
            <a:ext cx="10858500"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osteomyelitis treated without bone resection or amputation, use 6 weeks. After minor amputation with a positive bone-margin culture, use up to 3 weeks. Antibiotic-only treatment is most defensible for selected forefoot osteomyelitis without an urgent drainage need, peripheral arterial disease, or exposed bone. Moderate or severe infection with necrosis, gangrene, deep abscess, or ischemia requires early surgical assessment; combine debridement with urgent vascular assessment/revascularization when ischemic. Pressure offloading, wound care, and glycemic management remain essential.</a:t>
            </a:r>
          </a:p>
        </p:txBody>
      </p:sp>
      <p:sp>
        <p:nvSpPr>
          <p:cNvPr id="3" name="footer">
            <a:extLst xmlns:a="http://schemas.openxmlformats.org/drawingml/2006/main">
              <a:ext uri="{FF2B5EF4-FFF2-40B4-BE49-F238E27FC236}">
                <a16:creationId xmlns:a16="http://schemas.microsoft.com/office/drawing/2014/main" id="{DCC54FE0-8A56-4EBD-89E2-7D1C2DB7564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9226ECB-818B-418E-8FB8-D870B9C5A0E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109</a:t>
            </a:r>
          </a:p>
        </p:txBody>
      </p:sp>
    </p:spTree>
    <p:extLst>
      <p:ext uri="{BB962C8B-B14F-4D97-AF65-F5344CB8AC3E}">
        <p14:creationId xmlns:p14="http://schemas.microsoft.com/office/powerpoint/2010/main" val="565626743"/>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2EDE1F0-1BD3-4335-9631-83C3BAE134E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Oral is a pharmacologic decision, not a concession</a:t>
            </a:r>
          </a:p>
        </p:txBody>
      </p:sp>
      <p:sp>
        <p:nvSpPr>
          <p:cNvPr id="2" name="paragraph-0">
            <a:extLst xmlns:a="http://schemas.openxmlformats.org/drawingml/2006/main">
              <a:ext uri="{FF2B5EF4-FFF2-40B4-BE49-F238E27FC236}">
                <a16:creationId xmlns:a16="http://schemas.microsoft.com/office/drawing/2014/main" id="{EB5B0A3F-DA7C-4191-964D-AB6DAE2FB108}"/>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a stable patient with adequate source control, reliable absorption, and an active high-bioavailability regimen with clinical evidence, a PICC is not required solely because the diagnosis is osteomyelitis. OVIVA directly supports oral therapy for appropriately selected complex bone and joint infections.</a:t>
            </a:r>
          </a:p>
        </p:txBody>
      </p:sp>
      <p:sp>
        <p:nvSpPr>
          <p:cNvPr id="3" name="paragraph-1">
            <a:extLst xmlns:a="http://schemas.openxmlformats.org/drawingml/2006/main">
              <a:ext uri="{FF2B5EF4-FFF2-40B4-BE49-F238E27FC236}">
                <a16:creationId xmlns:a16="http://schemas.microsoft.com/office/drawing/2014/main" id="{D883737B-F5DE-4EAA-8A5C-00C68AC4BABD}"/>
              </a:ext>
            </a:extLst>
          </p:cNvPr>
          <p:cNvSpPr>
            <a:spLocks xmlns:a="http://schemas.openxmlformats.org/drawingml/2006/main" noGrp="1"/>
          </p:cNvSpPr>
          <p:nvPr/>
        </p:nvSpPr>
        <p:spPr>
          <a:xfrm xmlns:a="http://schemas.openxmlformats.org/drawingml/2006/main">
            <a:off x="647700" y="39719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wiki , oviva , dfi , brodie</a:t>
            </a:r>
          </a:p>
        </p:txBody>
      </p:sp>
      <p:sp>
        <p:nvSpPr>
          <p:cNvPr id="4" name="footer">
            <a:extLst xmlns:a="http://schemas.openxmlformats.org/drawingml/2006/main">
              <a:ext uri="{FF2B5EF4-FFF2-40B4-BE49-F238E27FC236}">
                <a16:creationId xmlns:a16="http://schemas.microsoft.com/office/drawing/2014/main" id="{53EBF35B-13E8-4CAA-BDF9-849BAAC27DA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FDE0B04A-B1D3-41D2-ABF8-AE1BB36C31A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110</a:t>
            </a:r>
          </a:p>
        </p:txBody>
      </p:sp>
    </p:spTree>
    <p:extLst>
      <p:ext uri="{BB962C8B-B14F-4D97-AF65-F5344CB8AC3E}">
        <p14:creationId xmlns:p14="http://schemas.microsoft.com/office/powerpoint/2010/main" val="688235560"/>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B36122C-9395-436B-BAF2-FA8E16B9F55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Stable vertebral osteomyelitis is one of the situations where delaying empiric therapy can improve the diagnosis</a:t>
            </a:r>
          </a:p>
        </p:txBody>
      </p:sp>
      <p:sp>
        <p:nvSpPr>
          <p:cNvPr id="2" name="paragraph-0">
            <a:extLst xmlns:a="http://schemas.openxmlformats.org/drawingml/2006/main">
              <a:ext uri="{FF2B5EF4-FFF2-40B4-BE49-F238E27FC236}">
                <a16:creationId xmlns:a16="http://schemas.microsoft.com/office/drawing/2014/main" id="{4CF4F373-81E9-493B-B25F-460C41011254}"/>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Obtain blood cultures and MRI. S. aureus bacteremia with a compatible MRI often establishes the diagnosis without disc-space biopsy. If the patient is hemodynamically stable with a stable neurologic examination and blood cultures are nondiagnostic, the IDSA guideline supports withholding empiric therapy while obtaining a microbiologic diagnosis. Sepsis, shock, or severe/progressive neurologic symptoms require prompt treatment while the diagnostic workup proceeds.</a:t>
            </a:r>
          </a:p>
        </p:txBody>
      </p:sp>
      <p:sp>
        <p:nvSpPr>
          <p:cNvPr id="3" name="footer">
            <a:extLst xmlns:a="http://schemas.openxmlformats.org/drawingml/2006/main">
              <a:ext uri="{FF2B5EF4-FFF2-40B4-BE49-F238E27FC236}">
                <a16:creationId xmlns:a16="http://schemas.microsoft.com/office/drawing/2014/main" id="{2776F632-5215-4D14-A0E4-3C33FA214F8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8827E96-C6AA-4B54-AD52-A578477FC94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111</a:t>
            </a:r>
          </a:p>
        </p:txBody>
      </p:sp>
    </p:spTree>
    <p:extLst>
      <p:ext uri="{BB962C8B-B14F-4D97-AF65-F5344CB8AC3E}">
        <p14:creationId xmlns:p14="http://schemas.microsoft.com/office/powerpoint/2010/main" val="1968319994"/>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C1D329B-CCF7-4DAE-B86B-51E58840A20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Medical treatment</a:t>
            </a:r>
          </a:p>
        </p:txBody>
      </p:sp>
      <p:sp>
        <p:nvSpPr>
          <p:cNvPr id="2" name="paragraph-0">
            <a:extLst xmlns:a="http://schemas.openxmlformats.org/drawingml/2006/main">
              <a:ext uri="{FF2B5EF4-FFF2-40B4-BE49-F238E27FC236}">
                <a16:creationId xmlns:a16="http://schemas.microsoft.com/office/drawing/2014/main" id="{3E52A4FF-AC79-463B-8F8A-D245B1F28BF4}"/>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most bacterial native vertebral osteomyelitis, use 6 weeks of parenteral or highly bioavailable oral therapy. Routine extension beyond 6 weeks because MRI still looks abnormal is not supported.</a:t>
            </a:r>
          </a:p>
        </p:txBody>
      </p:sp>
      <p:sp>
        <p:nvSpPr>
          <p:cNvPr id="3" name="footer">
            <a:extLst xmlns:a="http://schemas.openxmlformats.org/drawingml/2006/main">
              <a:ext uri="{FF2B5EF4-FFF2-40B4-BE49-F238E27FC236}">
                <a16:creationId xmlns:a16="http://schemas.microsoft.com/office/drawing/2014/main" id="{3DEA93CA-F11A-45B5-8A9C-3A6EEADB83E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71BC175-E4DE-4727-81A1-61F624A9D64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112</a:t>
            </a:r>
          </a:p>
        </p:txBody>
      </p:sp>
    </p:spTree>
    <p:extLst>
      <p:ext uri="{BB962C8B-B14F-4D97-AF65-F5344CB8AC3E}">
        <p14:creationId xmlns:p14="http://schemas.microsoft.com/office/powerpoint/2010/main" val="1068149703"/>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B6127AF-3BD2-4916-A519-1F93981D055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Call spine surgery early for</a:t>
            </a:r>
          </a:p>
        </p:txBody>
      </p:sp>
      <p:sp>
        <p:nvSpPr>
          <p:cNvPr id="2" name="paragraph-0">
            <a:extLst xmlns:a="http://schemas.openxmlformats.org/drawingml/2006/main">
              <a:ext uri="{FF2B5EF4-FFF2-40B4-BE49-F238E27FC236}">
                <a16:creationId xmlns:a16="http://schemas.microsoft.com/office/drawing/2014/main" id="{85189894-2FF1-45FD-9DA8-20C5E90D8BC7}"/>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Progressive neurologic deficit, progressive deformity, spinal instability, persistent/recurrent bacteremia without another source, or worsening pain despite appropriate therapy.</a:t>
            </a:r>
          </a:p>
        </p:txBody>
      </p:sp>
      <p:sp>
        <p:nvSpPr>
          <p:cNvPr id="3" name="paragraph-1">
            <a:extLst xmlns:a="http://schemas.openxmlformats.org/drawingml/2006/main">
              <a:ext uri="{FF2B5EF4-FFF2-40B4-BE49-F238E27FC236}">
                <a16:creationId xmlns:a16="http://schemas.microsoft.com/office/drawing/2014/main" id="{9F0DCDCF-981E-4479-AE1D-611A2B084EF0}"/>
              </a:ext>
            </a:extLst>
          </p:cNvPr>
          <p:cNvSpPr>
            <a:spLocks xmlns:a="http://schemas.openxmlformats.org/drawingml/2006/main" noGrp="1"/>
          </p:cNvSpPr>
          <p:nvPr/>
        </p:nvSpPr>
        <p:spPr>
          <a:xfrm xmlns:a="http://schemas.openxmlformats.org/drawingml/2006/main">
            <a:off x="647700" y="32670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Follow the patient clinically. ESR/CRP can support trend assessment, but persistent pain, an elevated marker, or residual MRI abnormalities alone do not establish treatment failure.</a:t>
            </a:r>
          </a:p>
        </p:txBody>
      </p:sp>
      <p:sp>
        <p:nvSpPr>
          <p:cNvPr id="4" name="paragraph-2">
            <a:extLst xmlns:a="http://schemas.openxmlformats.org/drawingml/2006/main">
              <a:ext uri="{FF2B5EF4-FFF2-40B4-BE49-F238E27FC236}">
                <a16:creationId xmlns:a16="http://schemas.microsoft.com/office/drawing/2014/main" id="{475A6FF1-5501-44B5-8C2A-33267E297BC1}"/>
              </a:ext>
            </a:extLst>
          </p:cNvPr>
          <p:cNvSpPr>
            <a:spLocks xmlns:a="http://schemas.openxmlformats.org/drawingml/2006/main" noGrp="1"/>
          </p:cNvSpPr>
          <p:nvPr/>
        </p:nvSpPr>
        <p:spPr>
          <a:xfrm xmlns:a="http://schemas.openxmlformats.org/drawingml/2006/main">
            <a:off x="647700" y="45815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 nvo</a:t>
            </a:r>
          </a:p>
        </p:txBody>
      </p:sp>
      <p:sp>
        <p:nvSpPr>
          <p:cNvPr id="5" name="footer">
            <a:extLst xmlns:a="http://schemas.openxmlformats.org/drawingml/2006/main">
              <a:ext uri="{FF2B5EF4-FFF2-40B4-BE49-F238E27FC236}">
                <a16:creationId xmlns:a16="http://schemas.microsoft.com/office/drawing/2014/main" id="{899EABAE-5A8F-4B7C-964F-1A42AD240B1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6" name="number">
            <a:extLst xmlns:a="http://schemas.openxmlformats.org/drawingml/2006/main">
              <a:ext uri="{FF2B5EF4-FFF2-40B4-BE49-F238E27FC236}">
                <a16:creationId xmlns:a16="http://schemas.microsoft.com/office/drawing/2014/main" id="{E046F15D-26B8-4883-AD91-12AD6CB3EF5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113</a:t>
            </a:r>
          </a:p>
        </p:txBody>
      </p:sp>
    </p:spTree>
    <p:extLst>
      <p:ext uri="{BB962C8B-B14F-4D97-AF65-F5344CB8AC3E}">
        <p14:creationId xmlns:p14="http://schemas.microsoft.com/office/powerpoint/2010/main" val="1281737484"/>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9D6CFD7-F6CE-424E-B01A-930403E5575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Chronic sacral or pelvic osteomyelitis with an open pressure wound is not a six-week-antibiotic diagnosis</a:t>
            </a:r>
          </a:p>
        </p:txBody>
      </p:sp>
      <p:sp>
        <p:nvSpPr>
          <p:cNvPr id="2" name="paragraph-0">
            <a:extLst xmlns:a="http://schemas.openxmlformats.org/drawingml/2006/main">
              <a:ext uri="{FF2B5EF4-FFF2-40B4-BE49-F238E27FC236}">
                <a16:creationId xmlns:a16="http://schemas.microsoft.com/office/drawing/2014/main" id="{D1E1D91E-473D-40AD-B042-017462B73B59}"/>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Exposed bone does not prove osteomyelitis. Chronically exposed bone can show reactive remodeling, and MRI may not reliably distinguish that from infection. If the wound cannot be debrided and durably closed, evidence has not shown that prolonged antibiotics sterilize the underlying bone or improve durable outcomes. The treatment goal becomes wound stability, symptom control, prevention of new pressure injury, and treatment of discrete acute infections.</a:t>
            </a:r>
          </a:p>
        </p:txBody>
      </p:sp>
      <p:sp>
        <p:nvSpPr>
          <p:cNvPr id="3" name="footer">
            <a:extLst xmlns:a="http://schemas.openxmlformats.org/drawingml/2006/main">
              <a:ext uri="{FF2B5EF4-FFF2-40B4-BE49-F238E27FC236}">
                <a16:creationId xmlns:a16="http://schemas.microsoft.com/office/drawing/2014/main" id="{6DA633CC-43AF-4D4C-908E-C15CF32F88B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EE971C4-532A-47A8-AD21-920DD2F4482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114</a:t>
            </a:r>
          </a:p>
        </p:txBody>
      </p:sp>
    </p:spTree>
    <p:extLst>
      <p:ext uri="{BB962C8B-B14F-4D97-AF65-F5344CB8AC3E}">
        <p14:creationId xmlns:p14="http://schemas.microsoft.com/office/powerpoint/2010/main" val="574638754"/>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6A3F8C1-EFFD-45FF-B32F-3E1825A4716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Chronic sacral or pelvic osteomyelitis with an open pressure wound is not a six-week-antibiotic diagnosis</a:t>
            </a:r>
          </a:p>
        </p:txBody>
      </p:sp>
      <p:graphicFrame>
        <p:nvGraphicFramePr>
          <p:cNvPr id="2" name="">
            <a:extLst xmlns:a="http://schemas.openxmlformats.org/drawingml/2006/main">
              <a:ext uri="{FF2B5EF4-FFF2-40B4-BE49-F238E27FC236}">
                <a16:creationId xmlns:a16="http://schemas.microsoft.com/office/drawing/2014/main" id="{AE4D4C48-C8B0-4BC8-8349-9DBC76E99328}"/>
              </a:ext>
            </a:extLst>
          </p:cNvPr>
          <p:cNvGraphicFramePr/>
          <p:nvPr/>
        </p:nvGraphicFramePr>
        <p:xfrm>
          <a:off xmlns:a="http://schemas.openxmlformats.org/drawingml/2006/main" x="647700" y="1866900"/>
          <a:ext xmlns:a="http://schemas.openxmlformats.org/drawingml/2006/main" cx="10896600" cy="3781425"/>
        </p:xfrm>
        <a:graphic xmlns:a="http://schemas.openxmlformats.org/drawingml/2006/main">
          <a:graphicData uri="http://schemas.openxmlformats.org/drawingml/2006/table">
            <a:tbl>
              <a:tblPr/>
              <a:tblGrid>
                <a:gridCol w="2571750"/>
                <a:gridCol w="8324850"/>
              </a:tblGrid>
              <a:tr h="1157288">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Exposed bone, chronic wound, no cellulitis, abscess, bacteremia, or systemic illness; no plan for debridement/flap closure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Systemic antibiotics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None. Do not treat the exposed bone or MRI result with a chronic osteomyelitis course.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What matters more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Pressure redistribution, wound cleansing/dressings and exudate control, debridement of devitalized tissue when appropriate, moisture/incontinence management, nutrition, pain/odor control, rehabilitation and caregiver feasibility, and goals of care.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400CB8B2-5052-41D9-8F7E-46C8467039E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B9B401A-63D5-4468-B560-D3FDE798C2D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115</a:t>
            </a:r>
          </a:p>
        </p:txBody>
      </p:sp>
    </p:spTree>
    <p:extLst>
      <p:ext uri="{BB962C8B-B14F-4D97-AF65-F5344CB8AC3E}">
        <p14:creationId xmlns:p14="http://schemas.microsoft.com/office/powerpoint/2010/main" val="2092777764"/>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7EEC275-D4E2-44E9-89A8-BF0D2B125F6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Chronic sacral or pelvic osteomyelitis with an open pressure wound is not a six-week-antibiotic diagnosis</a:t>
            </a:r>
          </a:p>
        </p:txBody>
      </p:sp>
      <p:graphicFrame>
        <p:nvGraphicFramePr>
          <p:cNvPr id="2" name="">
            <a:extLst xmlns:a="http://schemas.openxmlformats.org/drawingml/2006/main">
              <a:ext uri="{FF2B5EF4-FFF2-40B4-BE49-F238E27FC236}">
                <a16:creationId xmlns:a16="http://schemas.microsoft.com/office/drawing/2014/main" id="{195E79AF-4064-48F3-B68E-E6B05CE8C4ED}"/>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1157288">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Pelvic osteomyelitis suspected or diagnosed, but no soft-tissue infection and no plan for debridement plus flap reconstruction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Systemic antibiotics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None. Current evidence does not support prolonged systemic antibiotics.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matters more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Reassess whether closure is feasible with plastics/wound surgery. If not, manage the chronic wound rather than trying to sterilize an open contaminated surface.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5576E47-0446-4A37-BAC9-4FBB7CD826E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0841EF6-D1E2-46A0-8228-70BAA5C2E9E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116</a:t>
            </a:r>
          </a:p>
        </p:txBody>
      </p:sp>
    </p:spTree>
    <p:extLst>
      <p:ext uri="{BB962C8B-B14F-4D97-AF65-F5344CB8AC3E}">
        <p14:creationId xmlns:p14="http://schemas.microsoft.com/office/powerpoint/2010/main" val="1260425515"/>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71D2B43-B8E7-4930-828F-0C74F57145C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Chronic sacral or pelvic osteomyelitis with an open pressure wound is not a six-week-antibiotic diagnosis</a:t>
            </a:r>
          </a:p>
        </p:txBody>
      </p:sp>
      <p:graphicFrame>
        <p:nvGraphicFramePr>
          <p:cNvPr id="2" name="">
            <a:extLst xmlns:a="http://schemas.openxmlformats.org/drawingml/2006/main">
              <a:ext uri="{FF2B5EF4-FFF2-40B4-BE49-F238E27FC236}">
                <a16:creationId xmlns:a16="http://schemas.microsoft.com/office/drawing/2014/main" id="{B10CE276-7B06-4888-B968-404B9C17E8F6}"/>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Acute cellulitis/soft-tissue infection extending from the ulcer, no abscess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Systemic antibiotics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About 5 days is a reasonable standard if improving; extend for slow clinical response. Choose coverage from severity, prior cultures, healthcare exposure, and local ecology.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matters more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Debride necrotic tissue if needed, optimize wound care, pressure relief, and evaluate for deeper collection.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60A58B2-2EA3-4382-836F-52964480FF3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3361FC4-99B5-43C2-8DCB-2F22C2F9A6F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117</a:t>
            </a:r>
          </a:p>
        </p:txBody>
      </p:sp>
    </p:spTree>
    <p:extLst>
      <p:ext uri="{BB962C8B-B14F-4D97-AF65-F5344CB8AC3E}">
        <p14:creationId xmlns:p14="http://schemas.microsoft.com/office/powerpoint/2010/main" val="908527363"/>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CC1C315-EBF1-4BA6-8480-11A9BA33330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Chronic sacral or pelvic osteomyelitis with an open pressure wound is not a six-week-antibiotic diagnosis</a:t>
            </a:r>
          </a:p>
        </p:txBody>
      </p:sp>
      <p:graphicFrame>
        <p:nvGraphicFramePr>
          <p:cNvPr id="2" name="">
            <a:extLst xmlns:a="http://schemas.openxmlformats.org/drawingml/2006/main">
              <a:ext uri="{FF2B5EF4-FFF2-40B4-BE49-F238E27FC236}">
                <a16:creationId xmlns:a16="http://schemas.microsoft.com/office/drawing/2014/main" id="{516D84FF-7932-433E-A834-A4A80E6E2DE6}"/>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Drainable abscess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Systemic antibiotics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Drain first. About 5–10 days after drainage for the soft-tissue component is typical, individualized to response.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matters more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Drainage is the key intervention. Obtain a meaningful deep specimen.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0C3C67E-9E8F-463A-BC82-FF7D8E4DCF3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C116931-BA34-4F60-B81D-2C64E2BA421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118</a:t>
            </a:r>
          </a:p>
        </p:txBody>
      </p:sp>
    </p:spTree>
    <p:extLst>
      <p:ext uri="{BB962C8B-B14F-4D97-AF65-F5344CB8AC3E}">
        <p14:creationId xmlns:p14="http://schemas.microsoft.com/office/powerpoint/2010/main" val="48822527"/>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14F8907-E939-4221-8D3F-0096A266D96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Chronic sacral or pelvic osteomyelitis with an open pressure wound is not a six-week-antibiotic diagnosis</a:t>
            </a:r>
          </a:p>
        </p:txBody>
      </p:sp>
      <p:graphicFrame>
        <p:nvGraphicFramePr>
          <p:cNvPr id="2" name="">
            <a:extLst xmlns:a="http://schemas.openxmlformats.org/drawingml/2006/main">
              <a:ext uri="{FF2B5EF4-FFF2-40B4-BE49-F238E27FC236}">
                <a16:creationId xmlns:a16="http://schemas.microsoft.com/office/drawing/2014/main" id="{6424A81B-EE62-45E6-BDD7-95ACC3DCA092}"/>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Pyomyositis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Systemic antibiotics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14–21 days, with drainage when an abscess is present.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matters more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Drainage and assessment for bacteremia/endovascular source.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AFB446C-BC83-426F-BC27-935C4F4A404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E2CAA7B-D67A-4029-A584-AF1E08E4213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119</a:t>
            </a:r>
          </a:p>
        </p:txBody>
      </p:sp>
    </p:spTree>
    <p:extLst>
      <p:ext uri="{BB962C8B-B14F-4D97-AF65-F5344CB8AC3E}">
        <p14:creationId xmlns:p14="http://schemas.microsoft.com/office/powerpoint/2010/main" val="1324687603"/>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2AD91FE-3CF4-46BA-880F-CDE233298B8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Chronic sacral or pelvic osteomyelitis with an open pressure wound is not a six-week-antibiotic diagnosis</a:t>
            </a:r>
          </a:p>
        </p:txBody>
      </p:sp>
      <p:graphicFrame>
        <p:nvGraphicFramePr>
          <p:cNvPr id="2" name="">
            <a:extLst xmlns:a="http://schemas.openxmlformats.org/drawingml/2006/main">
              <a:ext uri="{FF2B5EF4-FFF2-40B4-BE49-F238E27FC236}">
                <a16:creationId xmlns:a16="http://schemas.microsoft.com/office/drawing/2014/main" id="{9B77BB1C-BE7E-4595-9326-9841CF7132E1}"/>
              </a:ext>
            </a:extLst>
          </p:cNvPr>
          <p:cNvGraphicFramePr/>
          <p:nvPr/>
        </p:nvGraphicFramePr>
        <p:xfrm>
          <a:off xmlns:a="http://schemas.openxmlformats.org/drawingml/2006/main" x="647700" y="1866900"/>
          <a:ext xmlns:a="http://schemas.openxmlformats.org/drawingml/2006/main" cx="10896600" cy="293370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Sepsis or bacteremia plausibly arising from an infected pressure injury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085975">
                <a:tc>
                  <a:txBody>
                    <a:bodyPr lIns="114300" tIns="114300" rIns="114300" bIns="114300">
                      <a:noAutofit/>
                    </a:bodyPr>
                    <a:lstStyle/>
                    <a:p>
                      <a:r>
                        <a:rPr sz="1950" b="0">
                          <a:solidFill>
                            <a:srgbClr val="16323B"/>
                          </a:solidFill>
                          <a:latin typeface="DejaVu Sans"/>
                          <a:ea typeface="DejaVu Sans"/>
                          <a:cs typeface="DejaVu Sans"/>
                        </a:rPr>
                        <a:t>Systemic antibiotics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Start prompt broad empiric therapy after blood/deep cultures when feasible. A common severe-infection approach is vancomycin plus cefepime plus metronidazole, or vancomycin plus piperacillin-tazobactam, modified for prior resistant isolates and local antibiogram. Narrow quickly.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CFBFB26-3205-4FC4-8120-D81306CBC72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49ED6B4-DF2F-422C-A833-E359A02C6B1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120</a:t>
            </a:r>
          </a:p>
        </p:txBody>
      </p:sp>
    </p:spTree>
    <p:extLst>
      <p:ext uri="{BB962C8B-B14F-4D97-AF65-F5344CB8AC3E}">
        <p14:creationId xmlns:p14="http://schemas.microsoft.com/office/powerpoint/2010/main" val="242150020"/>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07FE815-7A39-4055-B518-263B79ADAA4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Chronic sacral or pelvic osteomyelitis with an open pressure wound is not a six-week-antibiotic diagnosis</a:t>
            </a:r>
          </a:p>
        </p:txBody>
      </p:sp>
      <p:graphicFrame>
        <p:nvGraphicFramePr>
          <p:cNvPr id="2" name="">
            <a:extLst xmlns:a="http://schemas.openxmlformats.org/drawingml/2006/main">
              <a:ext uri="{FF2B5EF4-FFF2-40B4-BE49-F238E27FC236}">
                <a16:creationId xmlns:a16="http://schemas.microsoft.com/office/drawing/2014/main" id="{FB8BAD68-D358-41F7-8F86-1A8F07A3366B}"/>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Sepsis or bacteremia plausibly arising from an infected pressure injury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What matters more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Look for abscess, necrotizing infection, fecal/urinary contamination, or another source. Treat the systemic syndrome and source. Do not automatically convert clinical improvement into six weeks of therapy.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E5D80BD-7E0E-4762-A216-017AB085E1C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0306A75-82B3-45E0-8A24-8E1796780BE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121</a:t>
            </a:r>
          </a:p>
        </p:txBody>
      </p:sp>
    </p:spTree>
    <p:extLst>
      <p:ext uri="{BB962C8B-B14F-4D97-AF65-F5344CB8AC3E}">
        <p14:creationId xmlns:p14="http://schemas.microsoft.com/office/powerpoint/2010/main" val="1455900972"/>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6F58043-22C4-483F-9CE3-E2C5B8BC3ED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Chronic sacral or pelvic osteomyelitis with an open pressure wound is not a six-week-antibiotic diagnosis</a:t>
            </a:r>
          </a:p>
        </p:txBody>
      </p:sp>
      <p:graphicFrame>
        <p:nvGraphicFramePr>
          <p:cNvPr id="2" name="">
            <a:extLst xmlns:a="http://schemas.openxmlformats.org/drawingml/2006/main">
              <a:ext uri="{FF2B5EF4-FFF2-40B4-BE49-F238E27FC236}">
                <a16:creationId xmlns:a16="http://schemas.microsoft.com/office/drawing/2014/main" id="{95BF5705-197F-44BA-ACEB-2A2639F240E5}"/>
              </a:ext>
            </a:extLst>
          </p:cNvPr>
          <p:cNvGraphicFramePr/>
          <p:nvPr/>
        </p:nvGraphicFramePr>
        <p:xfrm>
          <a:off xmlns:a="http://schemas.openxmlformats.org/drawingml/2006/main" x="647700" y="1866900"/>
          <a:ext xmlns:a="http://schemas.openxmlformats.org/drawingml/2006/main" cx="10896600" cy="40909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Debridement and flap reconstruction planned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085975">
                <a:tc>
                  <a:txBody>
                    <a:bodyPr lIns="114300" tIns="114300" rIns="114300" bIns="114300">
                      <a:noAutofit/>
                    </a:bodyPr>
                    <a:lstStyle/>
                    <a:p>
                      <a:r>
                        <a:rPr sz="1950" b="0">
                          <a:solidFill>
                            <a:srgbClr val="16323B"/>
                          </a:solidFill>
                          <a:latin typeface="DejaVu Sans"/>
                          <a:ea typeface="DejaVu Sans"/>
                          <a:cs typeface="DejaVu Sans"/>
                        </a:rPr>
                        <a:t>Systemic antibiotics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When stable, hold unnecessary empiric antibiotics until operative deep bone/tissue cultures if feasible. After adequate debridement and flap coverage, 6 weeks remains a conventional standard. Selected cortical-only disease may need less, but evidence for 2–4 weeks is not yet strong enough to use as a universal default.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What matters more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Multidisciplinary surgery, durable coverage, pressure offloading, nutritional optimization, continence management, and a realistic postoperative pressure-relief plan.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4B4DCE31-BAE5-4008-8F53-E0749168057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17513DB-3A48-45A9-9BA2-885AA30804E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122</a:t>
            </a:r>
          </a:p>
        </p:txBody>
      </p:sp>
    </p:spTree>
    <p:extLst>
      <p:ext uri="{BB962C8B-B14F-4D97-AF65-F5344CB8AC3E}">
        <p14:creationId xmlns:p14="http://schemas.microsoft.com/office/powerpoint/2010/main" val="1543113477"/>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1CB3DD7-FDD3-4F88-A2AD-D2A9E9402DE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Do not substitute suppressive antibiotics for wound closure</a:t>
            </a:r>
          </a:p>
        </p:txBody>
      </p:sp>
      <p:sp>
        <p:nvSpPr>
          <p:cNvPr id="2" name="paragraph-0">
            <a:extLst xmlns:a="http://schemas.openxmlformats.org/drawingml/2006/main">
              <a:ext uri="{FF2B5EF4-FFF2-40B4-BE49-F238E27FC236}">
                <a16:creationId xmlns:a16="http://schemas.microsoft.com/office/drawing/2014/main" id="{C427C114-58C6-4535-8E1F-D72C042496CF}"/>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Long-term suppression is sometimes rational for a retained infected orthopedic implant or extensive necrotic bone that cannot be removed. That logic should not be automatically transferred to an open stage IV sacral wound. Ongoing contamination and absent coverage make durable microbial suppression unlikely, and the best available reviews recommend no systemic antibiotics in the absence of an acute soft-tissue/systemic infection or a reconstructive surgical plan.</a:t>
            </a:r>
          </a:p>
        </p:txBody>
      </p:sp>
      <p:sp>
        <p:nvSpPr>
          <p:cNvPr id="3" name="footer">
            <a:extLst xmlns:a="http://schemas.openxmlformats.org/drawingml/2006/main">
              <a:ext uri="{FF2B5EF4-FFF2-40B4-BE49-F238E27FC236}">
                <a16:creationId xmlns:a16="http://schemas.microsoft.com/office/drawing/2014/main" id="{254FBBE3-DD58-4BE7-A272-F9A1064FDEA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DA02272-B134-467B-821A-6ADF635096F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123</a:t>
            </a:r>
          </a:p>
        </p:txBody>
      </p:sp>
    </p:spTree>
    <p:extLst>
      <p:ext uri="{BB962C8B-B14F-4D97-AF65-F5344CB8AC3E}">
        <p14:creationId xmlns:p14="http://schemas.microsoft.com/office/powerpoint/2010/main" val="1522592431"/>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F2D346E-025D-45BD-A303-8F9519E55C8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Chronic sacral or pelvic osteomyelitis with an open pressure wound is not a six-week-antibiotic diagnosis</a:t>
            </a:r>
          </a:p>
        </p:txBody>
      </p:sp>
      <p:sp>
        <p:nvSpPr>
          <p:cNvPr id="2" name="paragraph-0">
            <a:extLst xmlns:a="http://schemas.openxmlformats.org/drawingml/2006/main">
              <a:ext uri="{FF2B5EF4-FFF2-40B4-BE49-F238E27FC236}">
                <a16:creationId xmlns:a16="http://schemas.microsoft.com/office/drawing/2014/main" id="{F2FEAD5C-4D58-403D-86D6-593BAD1BD317}"/>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Non-ID treatment is the treatment</a:t>
            </a:r>
          </a:p>
        </p:txBody>
      </p:sp>
      <p:sp>
        <p:nvSpPr>
          <p:cNvPr id="3" name="footer">
            <a:extLst xmlns:a="http://schemas.openxmlformats.org/drawingml/2006/main">
              <a:ext uri="{FF2B5EF4-FFF2-40B4-BE49-F238E27FC236}">
                <a16:creationId xmlns:a16="http://schemas.microsoft.com/office/drawing/2014/main" id="{B8B519F4-5E9F-4FD9-97B0-8A727550BA3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822558B-DCEE-4043-95B8-DD6CE857F80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124</a:t>
            </a:r>
          </a:p>
        </p:txBody>
      </p:sp>
    </p:spTree>
    <p:extLst>
      <p:ext uri="{BB962C8B-B14F-4D97-AF65-F5344CB8AC3E}">
        <p14:creationId xmlns:p14="http://schemas.microsoft.com/office/powerpoint/2010/main" val="403652146"/>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5E03FF3-6300-4EF4-83B3-EF10155563B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Pressure and wound mechanics</a:t>
            </a:r>
          </a:p>
        </p:txBody>
      </p:sp>
      <p:sp>
        <p:nvSpPr>
          <p:cNvPr id="2" name="paragraph-0">
            <a:extLst xmlns:a="http://schemas.openxmlformats.org/drawingml/2006/main">
              <a:ext uri="{FF2B5EF4-FFF2-40B4-BE49-F238E27FC236}">
                <a16:creationId xmlns:a16="http://schemas.microsoft.com/office/drawing/2014/main" id="{A5F5974B-C4D0-4BB4-874E-2CE90CB6B67E}"/>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Regular pressure redistribution/repositioning, appropriate support surface, minimizing shear, absorbent dressings, moisture balance, and reducing dressing trauma/frequency when palliation is the goal.</a:t>
            </a:r>
          </a:p>
        </p:txBody>
      </p:sp>
      <p:sp>
        <p:nvSpPr>
          <p:cNvPr id="3" name="footer">
            <a:extLst xmlns:a="http://schemas.openxmlformats.org/drawingml/2006/main">
              <a:ext uri="{FF2B5EF4-FFF2-40B4-BE49-F238E27FC236}">
                <a16:creationId xmlns:a16="http://schemas.microsoft.com/office/drawing/2014/main" id="{D0D29F9B-06F3-4A83-B1FF-336092FA45E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23526AC-8D30-4C6F-A01E-31C76AFCA63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125</a:t>
            </a:r>
          </a:p>
        </p:txBody>
      </p:sp>
    </p:spTree>
    <p:extLst>
      <p:ext uri="{BB962C8B-B14F-4D97-AF65-F5344CB8AC3E}">
        <p14:creationId xmlns:p14="http://schemas.microsoft.com/office/powerpoint/2010/main" val="1547738172"/>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74ED9E3-9824-45D6-9F48-FA005650DDA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Debridement and reconstruction</a:t>
            </a:r>
          </a:p>
        </p:txBody>
      </p:sp>
      <p:sp>
        <p:nvSpPr>
          <p:cNvPr id="2" name="paragraph-0">
            <a:extLst xmlns:a="http://schemas.openxmlformats.org/drawingml/2006/main">
              <a:ext uri="{FF2B5EF4-FFF2-40B4-BE49-F238E27FC236}">
                <a16:creationId xmlns:a16="http://schemas.microsoft.com/office/drawing/2014/main" id="{B3EAD803-CC9E-44F8-BEC5-8F3B4294A35D}"/>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Wound surgery/plastics evaluation for debridement, bone resection when needed, and flap coverage. Assess whether postoperative offloading and wound protection are realistically sustainable before major reconstruction.</a:t>
            </a:r>
          </a:p>
        </p:txBody>
      </p:sp>
      <p:sp>
        <p:nvSpPr>
          <p:cNvPr id="3" name="footer">
            <a:extLst xmlns:a="http://schemas.openxmlformats.org/drawingml/2006/main">
              <a:ext uri="{FF2B5EF4-FFF2-40B4-BE49-F238E27FC236}">
                <a16:creationId xmlns:a16="http://schemas.microsoft.com/office/drawing/2014/main" id="{5A307A04-7546-4673-BA36-AC51F826696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F096748-D44E-4117-992E-C59E4A34698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126</a:t>
            </a:r>
          </a:p>
        </p:txBody>
      </p:sp>
    </p:spTree>
    <p:extLst>
      <p:ext uri="{BB962C8B-B14F-4D97-AF65-F5344CB8AC3E}">
        <p14:creationId xmlns:p14="http://schemas.microsoft.com/office/powerpoint/2010/main" val="69618304"/>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FD443E4-C8CF-4710-B40E-F1C296D65B2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Host optimization</a:t>
            </a:r>
          </a:p>
        </p:txBody>
      </p:sp>
      <p:sp>
        <p:nvSpPr>
          <p:cNvPr id="2" name="paragraph-0">
            <a:extLst xmlns:a="http://schemas.openxmlformats.org/drawingml/2006/main">
              <a:ext uri="{FF2B5EF4-FFF2-40B4-BE49-F238E27FC236}">
                <a16:creationId xmlns:a16="http://schemas.microsoft.com/office/drawing/2014/main" id="{218378C9-42E8-4FBA-A581-D89C95A81D9A}"/>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Nutrition and protein/calorie adequacy, perfusion, smoking cessation when relevant, glycemic management, management of spasticity/contractures, urinary/fecal incontinence, pain, odor, mobility, and caregiver resources.</a:t>
            </a:r>
          </a:p>
        </p:txBody>
      </p:sp>
      <p:sp>
        <p:nvSpPr>
          <p:cNvPr id="3" name="paragraph-1">
            <a:extLst xmlns:a="http://schemas.openxmlformats.org/drawingml/2006/main">
              <a:ext uri="{FF2B5EF4-FFF2-40B4-BE49-F238E27FC236}">
                <a16:creationId xmlns:a16="http://schemas.microsoft.com/office/drawing/2014/main" id="{3F700D4A-C2F1-49D1-B6F8-F5D03E6D3258}"/>
              </a:ext>
            </a:extLst>
          </p:cNvPr>
          <p:cNvSpPr>
            <a:spLocks xmlns:a="http://schemas.openxmlformats.org/drawingml/2006/main" noGrp="1"/>
          </p:cNvSpPr>
          <p:nvPr/>
        </p:nvSpPr>
        <p:spPr>
          <a:xfrm xmlns:a="http://schemas.openxmlformats.org/drawingml/2006/main">
            <a:off x="647700" y="36195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pressure-2019 , pressure-2024</a:t>
            </a:r>
          </a:p>
        </p:txBody>
      </p:sp>
      <p:sp>
        <p:nvSpPr>
          <p:cNvPr id="4" name="footer">
            <a:extLst xmlns:a="http://schemas.openxmlformats.org/drawingml/2006/main">
              <a:ext uri="{FF2B5EF4-FFF2-40B4-BE49-F238E27FC236}">
                <a16:creationId xmlns:a16="http://schemas.microsoft.com/office/drawing/2014/main" id="{9D88B8AE-0671-4938-95D9-87E298654CF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1AB91C06-BBBE-44AD-9907-AB765A3D9FD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127</a:t>
            </a:r>
          </a:p>
        </p:txBody>
      </p:sp>
    </p:spTree>
    <p:extLst>
      <p:ext uri="{BB962C8B-B14F-4D97-AF65-F5344CB8AC3E}">
        <p14:creationId xmlns:p14="http://schemas.microsoft.com/office/powerpoint/2010/main" val="2139460430"/>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DDD2E49-8BD1-40B1-9440-0E8224D221C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the antibiotic from the pathogen, site, retained material, and route plan</a:t>
            </a:r>
          </a:p>
        </p:txBody>
      </p:sp>
      <p:sp>
        <p:nvSpPr>
          <p:cNvPr id="2" name="paragraph-0">
            <a:extLst xmlns:a="http://schemas.openxmlformats.org/drawingml/2006/main">
              <a:ext uri="{FF2B5EF4-FFF2-40B4-BE49-F238E27FC236}">
                <a16:creationId xmlns:a16="http://schemas.microsoft.com/office/drawing/2014/main" id="{F3012CB7-3DF7-4307-AC12-6539F201EDC2}"/>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table below is a treatment framework, not a substitute for susceptibility testing or syndrome-specific dosing. Deep specimens are particularly important in chronic infection.</a:t>
            </a:r>
          </a:p>
        </p:txBody>
      </p:sp>
      <p:sp>
        <p:nvSpPr>
          <p:cNvPr id="3" name="footer">
            <a:extLst xmlns:a="http://schemas.openxmlformats.org/drawingml/2006/main">
              <a:ext uri="{FF2B5EF4-FFF2-40B4-BE49-F238E27FC236}">
                <a16:creationId xmlns:a16="http://schemas.microsoft.com/office/drawing/2014/main" id="{E2E9D452-AA0A-4976-8E6D-77877E7021B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6FFF953-F24B-49F3-AFB8-E73D4B0AE04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128</a:t>
            </a:r>
          </a:p>
        </p:txBody>
      </p:sp>
    </p:spTree>
    <p:extLst>
      <p:ext uri="{BB962C8B-B14F-4D97-AF65-F5344CB8AC3E}">
        <p14:creationId xmlns:p14="http://schemas.microsoft.com/office/powerpoint/2010/main" val="1779698683"/>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4394E34-7EF8-4620-9758-D6D04EC2076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the antibiotic from the pathogen, site, retained material, and route plan</a:t>
            </a:r>
          </a:p>
        </p:txBody>
      </p:sp>
      <p:graphicFrame>
        <p:nvGraphicFramePr>
          <p:cNvPr id="2" name="">
            <a:extLst xmlns:a="http://schemas.openxmlformats.org/drawingml/2006/main">
              <a:ext uri="{FF2B5EF4-FFF2-40B4-BE49-F238E27FC236}">
                <a16:creationId xmlns:a16="http://schemas.microsoft.com/office/drawing/2014/main" id="{A613E6CD-8B80-4D19-8D8D-3B6B4FCB6A33}"/>
              </a:ext>
            </a:extLst>
          </p:cNvPr>
          <p:cNvGraphicFramePr/>
          <p:nvPr/>
        </p:nvGraphicFramePr>
        <p:xfrm>
          <a:off xmlns:a="http://schemas.openxmlformats.org/drawingml/2006/main" x="647700" y="1866900"/>
          <a:ext xmlns:a="http://schemas.openxmlformats.org/drawingml/2006/main" cx="10896600" cy="3700463"/>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MSSA Acute native joint, acute hematogenous osteomyelitis, early or hematogenous PJI</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Common definitive options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Cefazolin, nafcillin, or oxacillin.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Oral strategy when appropriate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Selected patients can complete with a clinically validated active oral regimen. For retained staphylococcal prostheses, rifampin-combination strategy is a separate biofilm decision.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38163">
                <a:tc>
                  <a:txBody>
                    <a:bodyPr lIns="114300" tIns="114300" rIns="114300" bIns="114300">
                      <a:noAutofit/>
                    </a:bodyPr>
                    <a:lstStyle/>
                    <a:p>
                      <a:r>
                        <a:rPr sz="1950" b="0">
                          <a:solidFill>
                            <a:srgbClr val="16323B"/>
                          </a:solidFill>
                          <a:latin typeface="DejaVu Sans"/>
                          <a:ea typeface="DejaVu Sans"/>
                          <a:cs typeface="DejaVu Sans"/>
                        </a:rPr>
                        <a:t>Special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 positive blood culture changes the workup.</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72EBC60E-75E8-49CC-AC07-1ED72B0BE1A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CFD66D3-F3B4-4EA1-8FAC-B2DD3D08D63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129</a:t>
            </a:r>
          </a:p>
        </p:txBody>
      </p:sp>
    </p:spTree>
    <p:extLst>
      <p:ext uri="{BB962C8B-B14F-4D97-AF65-F5344CB8AC3E}">
        <p14:creationId xmlns:p14="http://schemas.microsoft.com/office/powerpoint/2010/main" val="1766813265"/>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6CF4A4E-7213-4A80-9197-25183261C00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the antibiotic from the pathogen, site, retained material, and route plan</a:t>
            </a:r>
          </a:p>
        </p:txBody>
      </p:sp>
      <p:graphicFrame>
        <p:nvGraphicFramePr>
          <p:cNvPr id="2" name="">
            <a:extLst xmlns:a="http://schemas.openxmlformats.org/drawingml/2006/main">
              <a:ext uri="{FF2B5EF4-FFF2-40B4-BE49-F238E27FC236}">
                <a16:creationId xmlns:a16="http://schemas.microsoft.com/office/drawing/2014/main" id="{01108E18-7B91-4445-B7BF-6E61D3A4D613}"/>
              </a:ext>
            </a:extLst>
          </p:cNvPr>
          <p:cNvGraphicFramePr/>
          <p:nvPr/>
        </p:nvGraphicFramePr>
        <p:xfrm>
          <a:off xmlns:a="http://schemas.openxmlformats.org/drawingml/2006/main" x="647700" y="1866900"/>
          <a:ext xmlns:a="http://schemas.openxmlformats.org/drawingml/2006/main" cx="10896600" cy="3700463"/>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MRSA Same syndromes as MSSA; risk rises with prior colonization/infection and healthcare exposure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Common definitive options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Vancomycin or daptomycin; other agents depend on syndrome and susceptibility.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Oral strategy when appropriate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Linezolid, TMP-SMX, or doxycycline/minocycline can be used in selected bone/joint regimens when active and clinically appropriate.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Special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Check bacteremia/endocarditis, drug toxicity, MIC context, and retained hardware.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802B31B1-DDD6-4B72-9700-BB76BDD4CA7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F2FBA8B-0DA6-4B24-8EAC-EA02419D490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130</a:t>
            </a:r>
          </a:p>
        </p:txBody>
      </p:sp>
    </p:spTree>
    <p:extLst>
      <p:ext uri="{BB962C8B-B14F-4D97-AF65-F5344CB8AC3E}">
        <p14:creationId xmlns:p14="http://schemas.microsoft.com/office/powerpoint/2010/main" val="591131968"/>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56C350C-B1F1-4A14-940D-851853FB860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the antibiotic from the pathogen, site, retained material, and route plan</a:t>
            </a:r>
          </a:p>
        </p:txBody>
      </p:sp>
      <p:graphicFrame>
        <p:nvGraphicFramePr>
          <p:cNvPr id="2" name="">
            <a:extLst xmlns:a="http://schemas.openxmlformats.org/drawingml/2006/main">
              <a:ext uri="{FF2B5EF4-FFF2-40B4-BE49-F238E27FC236}">
                <a16:creationId xmlns:a16="http://schemas.microsoft.com/office/drawing/2014/main" id="{410E9673-9467-4EE1-AAC7-FD3E3A2F1896}"/>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Coagulase-negative staphylococci Indolent postoperative infection and chronic PJI</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Common definitive options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Vancomycin initially when methicillin resistance is possible; use cefazolin or an antistaphylococcal penicillin if susceptible.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Oral strategy when appropriate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Doxycycline/minocycline, TMP-SMX, linezolid, or a beta-lactam when susceptible and clinically appropriate.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8A1A1ABA-B5E9-4798-9597-F02C7289B04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D256FD8-D1F3-479D-8ADD-9378D16FF9D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131</a:t>
            </a:r>
          </a:p>
        </p:txBody>
      </p:sp>
    </p:spTree>
    <p:extLst>
      <p:ext uri="{BB962C8B-B14F-4D97-AF65-F5344CB8AC3E}">
        <p14:creationId xmlns:p14="http://schemas.microsoft.com/office/powerpoint/2010/main" val="783735497"/>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035329D-95E5-499B-8050-0CB291EB1DD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the antibiotic from the pathogen, site, retained material, and route plan</a:t>
            </a:r>
          </a:p>
        </p:txBody>
      </p:sp>
      <p:graphicFrame>
        <p:nvGraphicFramePr>
          <p:cNvPr id="2" name="">
            <a:extLst xmlns:a="http://schemas.openxmlformats.org/drawingml/2006/main">
              <a:ext uri="{FF2B5EF4-FFF2-40B4-BE49-F238E27FC236}">
                <a16:creationId xmlns:a16="http://schemas.microsoft.com/office/drawing/2014/main" id="{698CD681-ADB2-4607-B0E2-E3F7E923A4ED}"/>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Coagulase-negative staphylococci Indolent postoperative infection and chronic PJI</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Special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Repeated concordant deep cultures help distinguish pathogen from contamination. Consider rifampin combination therapy when susceptible staphylococcal hardware is retained.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EAA08F37-40A5-4412-BC2E-0767FBC0738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5CE82DC-1E80-4A26-B75B-51855E199DC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132</a:t>
            </a:r>
          </a:p>
        </p:txBody>
      </p:sp>
    </p:spTree>
    <p:extLst>
      <p:ext uri="{BB962C8B-B14F-4D97-AF65-F5344CB8AC3E}">
        <p14:creationId xmlns:p14="http://schemas.microsoft.com/office/powerpoint/2010/main" val="1424578226"/>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16DFCE3-2F73-4547-8989-2305D9721AE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the antibiotic from the pathogen, site, retained material, and route plan</a:t>
            </a:r>
          </a:p>
        </p:txBody>
      </p:sp>
      <p:graphicFrame>
        <p:nvGraphicFramePr>
          <p:cNvPr id="2" name="">
            <a:extLst xmlns:a="http://schemas.openxmlformats.org/drawingml/2006/main">
              <a:ext uri="{FF2B5EF4-FFF2-40B4-BE49-F238E27FC236}">
                <a16:creationId xmlns:a16="http://schemas.microsoft.com/office/drawing/2014/main" id="{AE07C091-509C-4BB4-BAF8-DF57EB80D348}"/>
              </a:ext>
            </a:extLst>
          </p:cNvPr>
          <p:cNvGraphicFramePr/>
          <p:nvPr/>
        </p:nvGraphicFramePr>
        <p:xfrm>
          <a:off xmlns:a="http://schemas.openxmlformats.org/drawingml/2006/main" x="647700" y="1866900"/>
          <a:ext xmlns:a="http://schemas.openxmlformats.org/drawingml/2006/main" cx="10896600" cy="30813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Cutibacterium acnes Especially indolent shoulder PJI</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Common definitive options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Penicillin G or ceftriaxone are common IV choices.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Oral strategy when appropriate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Amoxicillin, cefadroxil, clindamycin, or doxycycline according to susceptibility and tolerance.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Special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Request prolonged anaerobic incubation and interpret multiple specimens in the surgical context.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80F32019-8951-40A0-9D98-125E24C35C2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D189F21-87DF-4A0A-9D07-CDB9FFBACE3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133</a:t>
            </a:r>
          </a:p>
        </p:txBody>
      </p:sp>
    </p:spTree>
    <p:extLst>
      <p:ext uri="{BB962C8B-B14F-4D97-AF65-F5344CB8AC3E}">
        <p14:creationId xmlns:p14="http://schemas.microsoft.com/office/powerpoint/2010/main" val="197882083"/>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7AA9EAD-01EF-4984-9E0F-43F33E1AA39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the antibiotic from the pathogen, site, retained material, and route plan</a:t>
            </a:r>
          </a:p>
        </p:txBody>
      </p:sp>
      <p:graphicFrame>
        <p:nvGraphicFramePr>
          <p:cNvPr id="2" name="">
            <a:extLst xmlns:a="http://schemas.openxmlformats.org/drawingml/2006/main">
              <a:ext uri="{FF2B5EF4-FFF2-40B4-BE49-F238E27FC236}">
                <a16:creationId xmlns:a16="http://schemas.microsoft.com/office/drawing/2014/main" id="{B3C7FEBA-036F-4FB1-8117-87A5B1F61583}"/>
              </a:ext>
            </a:extLst>
          </p:cNvPr>
          <p:cNvGraphicFramePr/>
          <p:nvPr/>
        </p:nvGraphicFramePr>
        <p:xfrm>
          <a:off xmlns:a="http://schemas.openxmlformats.org/drawingml/2006/main" x="647700" y="1866900"/>
          <a:ext xmlns:a="http://schemas.openxmlformats.org/drawingml/2006/main" cx="10896600" cy="339090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Streptococci Native-joint infection and acute hematogenous PJI, sometimes from skin or oral source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Common definitive options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Penicillin/ampicillin or ceftriaxone; cefazolin for susceptible isolates is also reasonable.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Oral strategy when appropriate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Amoxicillin can be useful for susceptible organisms when oral therapy is appropriate.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Special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Implant infection still depends heavily on operative strategy.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8696642-AB75-412B-9281-4559B046D0D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AD8DB85-5E12-4027-8A8D-F54831BD146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134</a:t>
            </a:r>
          </a:p>
        </p:txBody>
      </p:sp>
    </p:spTree>
    <p:extLst>
      <p:ext uri="{BB962C8B-B14F-4D97-AF65-F5344CB8AC3E}">
        <p14:creationId xmlns:p14="http://schemas.microsoft.com/office/powerpoint/2010/main" val="1491773710"/>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FB9F458-EE17-4789-AB1A-688291EA7B1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the antibiotic from the pathogen, site, retained material, and route plan</a:t>
            </a:r>
          </a:p>
        </p:txBody>
      </p:sp>
      <p:graphicFrame>
        <p:nvGraphicFramePr>
          <p:cNvPr id="2" name="">
            <a:extLst xmlns:a="http://schemas.openxmlformats.org/drawingml/2006/main">
              <a:ext uri="{FF2B5EF4-FFF2-40B4-BE49-F238E27FC236}">
                <a16:creationId xmlns:a16="http://schemas.microsoft.com/office/drawing/2014/main" id="{8AD8F7A2-51A2-451D-96AD-53E24FC23745}"/>
              </a:ext>
            </a:extLst>
          </p:cNvPr>
          <p:cNvGraphicFramePr/>
          <p:nvPr/>
        </p:nvGraphicFramePr>
        <p:xfrm>
          <a:off xmlns:a="http://schemas.openxmlformats.org/drawingml/2006/main" x="647700" y="1866900"/>
          <a:ext xmlns:a="http://schemas.openxmlformats.org/drawingml/2006/main" cx="10896600" cy="3081338"/>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Enterococcus PJI or contiguous infection with urinary, gastrointestinal, or healthcare association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Common definitive options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Ampicillin when susceptible; vancomycin when needed. Linezolid or high-dose daptomycin are common VRE options.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Oral strategy when appropriate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Linezolid has high bioavailability; amoxicillin can be used for susceptible isolates in selected settings.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38163">
                <a:tc>
                  <a:txBody>
                    <a:bodyPr lIns="114300" tIns="114300" rIns="114300" bIns="114300">
                      <a:noAutofit/>
                    </a:bodyPr>
                    <a:lstStyle/>
                    <a:p>
                      <a:r>
                        <a:rPr sz="1950" b="0">
                          <a:solidFill>
                            <a:srgbClr val="16323B"/>
                          </a:solidFill>
                          <a:latin typeface="DejaVu Sans"/>
                          <a:ea typeface="DejaVu Sans"/>
                          <a:cs typeface="DejaVu Sans"/>
                        </a:rPr>
                        <a:t>Special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Endovascular infection may require a different regimen.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6647F48-FD37-47F5-876A-74823B82807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57BE58C-AC1A-45F9-BA84-31EB3A5E0CF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135</a:t>
            </a:r>
          </a:p>
        </p:txBody>
      </p:sp>
    </p:spTree>
    <p:extLst>
      <p:ext uri="{BB962C8B-B14F-4D97-AF65-F5344CB8AC3E}">
        <p14:creationId xmlns:p14="http://schemas.microsoft.com/office/powerpoint/2010/main" val="237952698"/>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4928950-7A06-4727-BB11-BC9B5FD489D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the antibiotic from the pathogen, site, retained material, and route plan</a:t>
            </a:r>
          </a:p>
        </p:txBody>
      </p:sp>
      <p:graphicFrame>
        <p:nvGraphicFramePr>
          <p:cNvPr id="2" name="">
            <a:extLst xmlns:a="http://schemas.openxmlformats.org/drawingml/2006/main">
              <a:ext uri="{FF2B5EF4-FFF2-40B4-BE49-F238E27FC236}">
                <a16:creationId xmlns:a16="http://schemas.microsoft.com/office/drawing/2014/main" id="{0F709622-EA35-4D71-8169-EFE5F5B180F2}"/>
              </a:ext>
            </a:extLst>
          </p:cNvPr>
          <p:cNvGraphicFramePr/>
          <p:nvPr/>
        </p:nvGraphicFramePr>
        <p:xfrm>
          <a:off xmlns:a="http://schemas.openxmlformats.org/drawingml/2006/main" x="647700" y="1866900"/>
          <a:ext xmlns:a="http://schemas.openxmlformats.org/drawingml/2006/main" cx="10896600" cy="3700463"/>
        </p:xfrm>
        <a:graphic xmlns:a="http://schemas.openxmlformats.org/drawingml/2006/main">
          <a:graphicData uri="http://schemas.openxmlformats.org/drawingml/2006/table">
            <a:tbl>
              <a:tblPr/>
              <a:tblGrid>
                <a:gridCol w="2571750"/>
                <a:gridCol w="8324850"/>
              </a:tblGrid>
              <a:tr h="1157288">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Enterobacterales Older or immunocompromised host, urinary/intra-abdominal bacteremia, DFO, or postoperative infection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Common definitive options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Ceftriaxone, cefepime, carbapenem, or other active beta-lactam according to resistance mechanism and site.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Oral strategy when appropriate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Fluoroquinolone or TMP-SMX when susceptible, tolerated, and appropriate.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Special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ESBL, AmpC, or CRE may change the preferred beta-lactam.</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6A04573-A06E-4F89-82E8-58ADA7E2CEE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C6BABE4-215C-43CE-9808-094BC5D30D5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136</a:t>
            </a:r>
          </a:p>
        </p:txBody>
      </p:sp>
    </p:spTree>
    <p:extLst>
      <p:ext uri="{BB962C8B-B14F-4D97-AF65-F5344CB8AC3E}">
        <p14:creationId xmlns:p14="http://schemas.microsoft.com/office/powerpoint/2010/main" val="1557789715"/>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9BE987B-7707-4054-9217-52928F2CC50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the antibiotic from the pathogen, site, retained material, and route plan</a:t>
            </a:r>
          </a:p>
        </p:txBody>
      </p:sp>
      <p:graphicFrame>
        <p:nvGraphicFramePr>
          <p:cNvPr id="2" name="">
            <a:extLst xmlns:a="http://schemas.openxmlformats.org/drawingml/2006/main">
              <a:ext uri="{FF2B5EF4-FFF2-40B4-BE49-F238E27FC236}">
                <a16:creationId xmlns:a16="http://schemas.microsoft.com/office/drawing/2014/main" id="{DABE9838-0972-434A-9279-C1654CA7E644}"/>
              </a:ext>
            </a:extLst>
          </p:cNvPr>
          <p:cNvGraphicFramePr/>
          <p:nvPr/>
        </p:nvGraphicFramePr>
        <p:xfrm>
          <a:off xmlns:a="http://schemas.openxmlformats.org/drawingml/2006/main" x="647700" y="1866900"/>
          <a:ext xmlns:a="http://schemas.openxmlformats.org/drawingml/2006/main" cx="10896600" cy="3700463"/>
        </p:xfrm>
        <a:graphic xmlns:a="http://schemas.openxmlformats.org/drawingml/2006/main">
          <a:graphicData uri="http://schemas.openxmlformats.org/drawingml/2006/table">
            <a:tbl>
              <a:tblPr/>
              <a:tblGrid>
                <a:gridCol w="2571750"/>
                <a:gridCol w="8324850"/>
              </a:tblGrid>
              <a:tr h="1157288">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Pseudomonas aeruginosa Healthcare exposure, penetrating injury, selected injection-drug or water exposures; not routine empiric DFO coverage in Missouri</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Common definitive options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Cefepime, ceftazidime, piperacillin-tazobactam, or a newer active agent depending on resistance.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Oral strategy when appropriate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Ciprofloxacin is the principal established oral antipseudomonal option when susceptible.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Special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Limited oral options make source control and microbiology especially important.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76122DF-0DCE-4F1C-A26D-04FC0E6959E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EF96611-9D7F-439F-A219-25EEB5FEA10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137</a:t>
            </a:r>
          </a:p>
        </p:txBody>
      </p:sp>
    </p:spTree>
    <p:extLst>
      <p:ext uri="{BB962C8B-B14F-4D97-AF65-F5344CB8AC3E}">
        <p14:creationId xmlns:p14="http://schemas.microsoft.com/office/powerpoint/2010/main" val="672492277"/>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5EB9313-9112-4EAD-819B-D72A9C8F86C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the antibiotic from the pathogen, site, retained material, and route plan</a:t>
            </a:r>
          </a:p>
        </p:txBody>
      </p:sp>
      <p:graphicFrame>
        <p:nvGraphicFramePr>
          <p:cNvPr id="2" name="">
            <a:extLst xmlns:a="http://schemas.openxmlformats.org/drawingml/2006/main">
              <a:ext uri="{FF2B5EF4-FFF2-40B4-BE49-F238E27FC236}">
                <a16:creationId xmlns:a16="http://schemas.microsoft.com/office/drawing/2014/main" id="{E275F5BF-9607-4E67-A076-1EC02D3F5878}"/>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1157288">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Anaerobic / polymicrobial infection Chronic deep diabetic-foot infection, ischemic/necrotic tissue, pressure injury, or contiguous pelvic infection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Common definitive options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Ampicillin-sulbactam, piperacillin-tazobactam, ceftriaxone plus metronidazole, or other tailored regimens.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Oral strategy when appropriate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Amoxicillin-clavulanate, metronidazole combined with needed aerobic coverage, or other susceptibility-guided options.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579B065-EF09-4146-AE7A-2DC0623E00D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B404EB2-275B-4E4E-B810-000E853AB6A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138</a:t>
            </a:r>
          </a:p>
        </p:txBody>
      </p:sp>
    </p:spTree>
    <p:extLst>
      <p:ext uri="{BB962C8B-B14F-4D97-AF65-F5344CB8AC3E}">
        <p14:creationId xmlns:p14="http://schemas.microsoft.com/office/powerpoint/2010/main" val="1400152910"/>
      </p:ext>
    </p:extLst>
  </p:cSld>
</p:sld>
</file>

<file path=ppt/slides/slide1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A996573-2A81-4AD5-A8B5-BBD753C66F7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the antibiotic from the pathogen, site, retained material, and route plan</a:t>
            </a:r>
          </a:p>
        </p:txBody>
      </p:sp>
      <p:graphicFrame>
        <p:nvGraphicFramePr>
          <p:cNvPr id="2" name="">
            <a:extLst xmlns:a="http://schemas.openxmlformats.org/drawingml/2006/main">
              <a:ext uri="{FF2B5EF4-FFF2-40B4-BE49-F238E27FC236}">
                <a16:creationId xmlns:a16="http://schemas.microsoft.com/office/drawing/2014/main" id="{35197721-B35D-4BF8-8289-815D53F97AE1}"/>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1157288">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Anaerobic / polymicrobial infection Chronic deep diabetic-foot infection, ischemic/necrotic tissue, pressure injury, or contiguous pelvic infection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Special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Pressure wounds and diabetic feet can be polymicrobial, but surface flora should not dictate months of therapy.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B70CB9D6-C7F9-44C8-9BE5-FAB6EC9D990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6E66D0B-B0C4-4D3C-84EA-23CDF9EB6E8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139</a:t>
            </a:r>
          </a:p>
        </p:txBody>
      </p:sp>
    </p:spTree>
    <p:extLst>
      <p:ext uri="{BB962C8B-B14F-4D97-AF65-F5344CB8AC3E}">
        <p14:creationId xmlns:p14="http://schemas.microsoft.com/office/powerpoint/2010/main" val="1751591205"/>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C065D57-B7B4-48FE-8F26-2D7AEC8E2F6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Biofilm-active is not a synonym for “add rifampin”</a:t>
            </a:r>
          </a:p>
        </p:txBody>
      </p:sp>
      <p:sp>
        <p:nvSpPr>
          <p:cNvPr id="2" name="paragraph-0">
            <a:extLst xmlns:a="http://schemas.openxmlformats.org/drawingml/2006/main">
              <a:ext uri="{FF2B5EF4-FFF2-40B4-BE49-F238E27FC236}">
                <a16:creationId xmlns:a16="http://schemas.microsoft.com/office/drawing/2014/main" id="{F6826445-5371-4AAB-BD6D-027A03CC839A}"/>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susceptible staphylococcal retained-prosthesis infection, rifampin combination therapy has a specific evidence base. For gram-negative retained-prosthesis infection, fluoroquinolone activity is valuable when susceptible. For other organisms and drugs, the clinical evidence for “biofilm activity” is much less mature than in-vitro terminology implies.</a:t>
            </a:r>
          </a:p>
        </p:txBody>
      </p:sp>
      <p:sp>
        <p:nvSpPr>
          <p:cNvPr id="3" name="footer">
            <a:extLst xmlns:a="http://schemas.openxmlformats.org/drawingml/2006/main">
              <a:ext uri="{FF2B5EF4-FFF2-40B4-BE49-F238E27FC236}">
                <a16:creationId xmlns:a16="http://schemas.microsoft.com/office/drawing/2014/main" id="{1BA18433-9558-4B12-BE55-FC1C5461814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DD23597-FBF2-4A24-8847-2A659027A19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140</a:t>
            </a:r>
          </a:p>
        </p:txBody>
      </p:sp>
    </p:spTree>
    <p:extLst>
      <p:ext uri="{BB962C8B-B14F-4D97-AF65-F5344CB8AC3E}">
        <p14:creationId xmlns:p14="http://schemas.microsoft.com/office/powerpoint/2010/main" val="2096610958"/>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1BD412F2-7A3B-4180-9DB1-33EE7186548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Oral transition checklist</a:t>
            </a:r>
          </a:p>
        </p:txBody>
      </p:sp>
      <p:sp>
        <p:nvSpPr>
          <p:cNvPr id="2" name="paragraph-0">
            <a:extLst xmlns:a="http://schemas.openxmlformats.org/drawingml/2006/main">
              <a:ext uri="{FF2B5EF4-FFF2-40B4-BE49-F238E27FC236}">
                <a16:creationId xmlns:a16="http://schemas.microsoft.com/office/drawing/2014/main" id="{809AAB94-26B2-43B7-8555-7CE759AB0C50}"/>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Hemodynamics and local infection are stable.</a:t>
            </a:r>
          </a:p>
        </p:txBody>
      </p:sp>
      <p:sp>
        <p:nvSpPr>
          <p:cNvPr id="3" name="paragraph-1">
            <a:extLst xmlns:a="http://schemas.openxmlformats.org/drawingml/2006/main">
              <a:ext uri="{FF2B5EF4-FFF2-40B4-BE49-F238E27FC236}">
                <a16:creationId xmlns:a16="http://schemas.microsoft.com/office/drawing/2014/main" id="{D6D53BB6-A41A-4FD7-8DA5-45F2526D8619}"/>
              </a:ext>
            </a:extLst>
          </p:cNvPr>
          <p:cNvSpPr>
            <a:spLocks xmlns:a="http://schemas.openxmlformats.org/drawingml/2006/main" noGrp="1"/>
          </p:cNvSpPr>
          <p:nvPr/>
        </p:nvSpPr>
        <p:spPr>
          <a:xfrm xmlns:a="http://schemas.openxmlformats.org/drawingml/2006/main">
            <a:off x="647700" y="25622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undrained abscess or source-control procedure remains immediately necessary.</a:t>
            </a:r>
          </a:p>
        </p:txBody>
      </p:sp>
      <p:sp>
        <p:nvSpPr>
          <p:cNvPr id="4" name="paragraph-2">
            <a:extLst xmlns:a="http://schemas.openxmlformats.org/drawingml/2006/main">
              <a:ext uri="{FF2B5EF4-FFF2-40B4-BE49-F238E27FC236}">
                <a16:creationId xmlns:a16="http://schemas.microsoft.com/office/drawing/2014/main" id="{1A7D5EB9-8085-4A3C-9C80-8A890EAA2B11}"/>
              </a:ext>
            </a:extLst>
          </p:cNvPr>
          <p:cNvSpPr>
            <a:spLocks xmlns:a="http://schemas.openxmlformats.org/drawingml/2006/main" noGrp="1"/>
          </p:cNvSpPr>
          <p:nvPr/>
        </p:nvSpPr>
        <p:spPr>
          <a:xfrm xmlns:a="http://schemas.openxmlformats.org/drawingml/2006/main">
            <a:off x="647700" y="35242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persistent bacteremia.</a:t>
            </a:r>
          </a:p>
        </p:txBody>
      </p:sp>
      <p:sp>
        <p:nvSpPr>
          <p:cNvPr id="5" name="paragraph-3">
            <a:extLst xmlns:a="http://schemas.openxmlformats.org/drawingml/2006/main">
              <a:ext uri="{FF2B5EF4-FFF2-40B4-BE49-F238E27FC236}">
                <a16:creationId xmlns:a16="http://schemas.microsoft.com/office/drawing/2014/main" id="{29905990-350D-4ABD-9B1A-09C66D0D5EEB}"/>
              </a:ext>
            </a:extLst>
          </p:cNvPr>
          <p:cNvSpPr>
            <a:spLocks xmlns:a="http://schemas.openxmlformats.org/drawingml/2006/main" noGrp="1"/>
          </p:cNvSpPr>
          <p:nvPr/>
        </p:nvSpPr>
        <p:spPr>
          <a:xfrm xmlns:a="http://schemas.openxmlformats.org/drawingml/2006/main">
            <a:off x="647700" y="41338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oral drug is active and has adequate systemic/site exposure at the intended dose.</a:t>
            </a:r>
          </a:p>
        </p:txBody>
      </p:sp>
      <p:sp>
        <p:nvSpPr>
          <p:cNvPr id="6" name="footer">
            <a:extLst xmlns:a="http://schemas.openxmlformats.org/drawingml/2006/main">
              <a:ext uri="{FF2B5EF4-FFF2-40B4-BE49-F238E27FC236}">
                <a16:creationId xmlns:a16="http://schemas.microsoft.com/office/drawing/2014/main" id="{D0A03CA5-B2F2-4AE9-8118-D7898FFC96F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7" name="number">
            <a:extLst xmlns:a="http://schemas.openxmlformats.org/drawingml/2006/main">
              <a:ext uri="{FF2B5EF4-FFF2-40B4-BE49-F238E27FC236}">
                <a16:creationId xmlns:a16="http://schemas.microsoft.com/office/drawing/2014/main" id="{8A85BA26-1123-4B57-A12B-32EFD0EED0E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141</a:t>
            </a:r>
          </a:p>
        </p:txBody>
      </p:sp>
    </p:spTree>
    <p:extLst>
      <p:ext uri="{BB962C8B-B14F-4D97-AF65-F5344CB8AC3E}">
        <p14:creationId xmlns:p14="http://schemas.microsoft.com/office/powerpoint/2010/main" val="1930731982"/>
      </p:ext>
    </p:extLst>
  </p:cSld>
</p:sld>
</file>

<file path=ppt/slides/slide1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0DA6CFDA-BE1A-4705-AE33-BA19637FD74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Oral transition checklist</a:t>
            </a:r>
          </a:p>
        </p:txBody>
      </p:sp>
      <p:sp>
        <p:nvSpPr>
          <p:cNvPr id="2" name="paragraph-0">
            <a:extLst xmlns:a="http://schemas.openxmlformats.org/drawingml/2006/main">
              <a:ext uri="{FF2B5EF4-FFF2-40B4-BE49-F238E27FC236}">
                <a16:creationId xmlns:a16="http://schemas.microsoft.com/office/drawing/2014/main" id="{B8456FB4-237B-4DCD-A39B-6E97BA0BE7F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GI absorption and adherence are reliable, and drug interactions are addressed.</a:t>
            </a:r>
          </a:p>
        </p:txBody>
      </p:sp>
      <p:sp>
        <p:nvSpPr>
          <p:cNvPr id="3" name="paragraph-1">
            <a:extLst xmlns:a="http://schemas.openxmlformats.org/drawingml/2006/main">
              <a:ext uri="{FF2B5EF4-FFF2-40B4-BE49-F238E27FC236}">
                <a16:creationId xmlns:a16="http://schemas.microsoft.com/office/drawing/2014/main" id="{DA1BC23C-C07E-4B3A-B24A-7317A8EFDCC5}"/>
              </a:ext>
            </a:extLst>
          </p:cNvPr>
          <p:cNvSpPr>
            <a:spLocks xmlns:a="http://schemas.openxmlformats.org/drawingml/2006/main" noGrp="1"/>
          </p:cNvSpPr>
          <p:nvPr/>
        </p:nvSpPr>
        <p:spPr>
          <a:xfrm xmlns:a="http://schemas.openxmlformats.org/drawingml/2006/main">
            <a:off x="647700" y="291465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Monitoring is practical. TMP-SMX requires K+, creatinine, and CBC; linezolid requires CBC and longer-course toxicity review; rifampin has major interaction potential.</a:t>
            </a:r>
          </a:p>
        </p:txBody>
      </p:sp>
      <p:sp>
        <p:nvSpPr>
          <p:cNvPr id="4" name="paragraph-2">
            <a:extLst xmlns:a="http://schemas.openxmlformats.org/drawingml/2006/main">
              <a:ext uri="{FF2B5EF4-FFF2-40B4-BE49-F238E27FC236}">
                <a16:creationId xmlns:a16="http://schemas.microsoft.com/office/drawing/2014/main" id="{B9C78F9A-230E-4D4E-864B-EBCBF579FE61}"/>
              </a:ext>
            </a:extLst>
          </p:cNvPr>
          <p:cNvSpPr>
            <a:spLocks xmlns:a="http://schemas.openxmlformats.org/drawingml/2006/main" noGrp="1"/>
          </p:cNvSpPr>
          <p:nvPr/>
        </p:nvSpPr>
        <p:spPr>
          <a:xfrm xmlns:a="http://schemas.openxmlformats.org/drawingml/2006/main">
            <a:off x="647700" y="42291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oviva , wiki , pji-review</a:t>
            </a:r>
          </a:p>
        </p:txBody>
      </p:sp>
      <p:sp>
        <p:nvSpPr>
          <p:cNvPr id="5" name="footer">
            <a:extLst xmlns:a="http://schemas.openxmlformats.org/drawingml/2006/main">
              <a:ext uri="{FF2B5EF4-FFF2-40B4-BE49-F238E27FC236}">
                <a16:creationId xmlns:a16="http://schemas.microsoft.com/office/drawing/2014/main" id="{61996CB3-3D0E-4FE7-A5B1-8FAE0216B9C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6" name="number">
            <a:extLst xmlns:a="http://schemas.openxmlformats.org/drawingml/2006/main">
              <a:ext uri="{FF2B5EF4-FFF2-40B4-BE49-F238E27FC236}">
                <a16:creationId xmlns:a16="http://schemas.microsoft.com/office/drawing/2014/main" id="{24BC5F35-FA18-4E0A-9AB1-8CB1F73A156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142</a:t>
            </a:r>
          </a:p>
        </p:txBody>
      </p:sp>
    </p:spTree>
    <p:extLst>
      <p:ext uri="{BB962C8B-B14F-4D97-AF65-F5344CB8AC3E}">
        <p14:creationId xmlns:p14="http://schemas.microsoft.com/office/powerpoint/2010/main" val="1452348082"/>
      </p:ext>
    </p:extLst>
  </p:cSld>
</p:sld>
</file>

<file path=ppt/slides/slide1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B06596D-A328-4F9B-B865-68DD918FDC4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Suppression is a treatment intent, not a longer version of curative therapy</a:t>
            </a:r>
          </a:p>
        </p:txBody>
      </p:sp>
      <p:sp>
        <p:nvSpPr>
          <p:cNvPr id="2" name="paragraph-0">
            <a:extLst xmlns:a="http://schemas.openxmlformats.org/drawingml/2006/main">
              <a:ext uri="{FF2B5EF4-FFF2-40B4-BE49-F238E27FC236}">
                <a16:creationId xmlns:a16="http://schemas.microsoft.com/office/drawing/2014/main" id="{7B23D260-C56B-40F3-8D00-C510FC21E6A8}"/>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Suppressive antimicrobial therapy is reasonable to consider when infected hardware or necrotic bone cannot be removed, curative surgery is too risky or declined, the organism is known, and a tolerable active oral agent exists. The goal is to reduce relapse, symptoms, or additional surgery. It does not sterilize the retained source.</a:t>
            </a:r>
          </a:p>
        </p:txBody>
      </p:sp>
      <p:sp>
        <p:nvSpPr>
          <p:cNvPr id="3" name="footer">
            <a:extLst xmlns:a="http://schemas.openxmlformats.org/drawingml/2006/main">
              <a:ext uri="{FF2B5EF4-FFF2-40B4-BE49-F238E27FC236}">
                <a16:creationId xmlns:a16="http://schemas.microsoft.com/office/drawing/2014/main" id="{8299AA92-7F42-49CB-BB2A-452D4FEEDE1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BF2B90F-8E57-481D-B107-96890885F60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143</a:t>
            </a:r>
          </a:p>
        </p:txBody>
      </p:sp>
    </p:spTree>
    <p:extLst>
      <p:ext uri="{BB962C8B-B14F-4D97-AF65-F5344CB8AC3E}">
        <p14:creationId xmlns:p14="http://schemas.microsoft.com/office/powerpoint/2010/main" val="529653619"/>
      </p:ext>
    </p:extLst>
  </p:cSld>
</p:sld>
</file>

<file path=ppt/slides/slide1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70A1213-7F39-4314-8148-F2769EAE51A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Suppression is a treatment intent, not a longer version of curative therapy</a:t>
            </a:r>
          </a:p>
        </p:txBody>
      </p:sp>
      <p:graphicFrame>
        <p:nvGraphicFramePr>
          <p:cNvPr id="2" name="">
            <a:extLst xmlns:a="http://schemas.openxmlformats.org/drawingml/2006/main">
              <a:ext uri="{FF2B5EF4-FFF2-40B4-BE49-F238E27FC236}">
                <a16:creationId xmlns:a16="http://schemas.microsoft.com/office/drawing/2014/main" id="{990DFEAF-DE28-4098-8778-109880784B3C}"/>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Is there a defined target?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Favors suppression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Repeated high-quality deep cultures identify a pathogen with a reliable oral option.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Argues against suppression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Culture-negative disease or only superficial wound cultures.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4556E08-555A-4CE3-9A46-FCF7514B906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9F141FE-43D1-4BF8-87B9-557B09074E3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144</a:t>
            </a:r>
          </a:p>
        </p:txBody>
      </p:sp>
    </p:spTree>
    <p:extLst>
      <p:ext uri="{BB962C8B-B14F-4D97-AF65-F5344CB8AC3E}">
        <p14:creationId xmlns:p14="http://schemas.microsoft.com/office/powerpoint/2010/main" val="1434785336"/>
      </p:ext>
    </p:extLst>
  </p:cSld>
</p:sld>
</file>

<file path=ppt/slides/slide1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E3AD0A1-97AB-4D08-BCB4-A5D8FA36C30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Suppression is a treatment intent, not a longer version of curative therapy</a:t>
            </a:r>
          </a:p>
        </p:txBody>
      </p:sp>
      <p:graphicFrame>
        <p:nvGraphicFramePr>
          <p:cNvPr id="2" name="">
            <a:extLst xmlns:a="http://schemas.openxmlformats.org/drawingml/2006/main">
              <a:ext uri="{FF2B5EF4-FFF2-40B4-BE49-F238E27FC236}">
                <a16:creationId xmlns:a16="http://schemas.microsoft.com/office/drawing/2014/main" id="{37BFE110-BD24-47E5-831E-05B941D18285}"/>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Is the retained source finite?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Favors suppression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Stable prosthesis or fixation hardware that cannot currently be removed; extensive necrotic bone not amenable to resection.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Argues against suppression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Continuously open contaminated pressure wound without a closure plan.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B3CCCB3-0E1A-4844-9F27-060B4FE0BE0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DE1BA5C-333F-4A92-83B0-1D6EAEB2F44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145</a:t>
            </a:r>
          </a:p>
        </p:txBody>
      </p:sp>
    </p:spTree>
    <p:extLst>
      <p:ext uri="{BB962C8B-B14F-4D97-AF65-F5344CB8AC3E}">
        <p14:creationId xmlns:p14="http://schemas.microsoft.com/office/powerpoint/2010/main" val="358644670"/>
      </p:ext>
    </p:extLst>
  </p:cSld>
</p:sld>
</file>

<file path=ppt/slides/slide1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CA3849B-9B9E-4232-A47B-9B10BC7D735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Suppression is a treatment intent, not a longer version of curative therapy</a:t>
            </a:r>
          </a:p>
        </p:txBody>
      </p:sp>
      <p:graphicFrame>
        <p:nvGraphicFramePr>
          <p:cNvPr id="2" name="">
            <a:extLst xmlns:a="http://schemas.openxmlformats.org/drawingml/2006/main">
              <a:ext uri="{FF2B5EF4-FFF2-40B4-BE49-F238E27FC236}">
                <a16:creationId xmlns:a16="http://schemas.microsoft.com/office/drawing/2014/main" id="{4AB314F7-334D-4729-9156-3AC90123CC4D}"/>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Would recurrence matter?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Favors suppression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Relapse threatens function, hardware survival, hospitalization, or major surgery.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Argues against suppression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The drug is unlikely to change symptoms or goals.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AD878BE-98C0-4C9C-A78B-73614E7751F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33287A6-1B1C-4527-A880-585AAD873AE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146</a:t>
            </a:r>
          </a:p>
        </p:txBody>
      </p:sp>
    </p:spTree>
    <p:extLst>
      <p:ext uri="{BB962C8B-B14F-4D97-AF65-F5344CB8AC3E}">
        <p14:creationId xmlns:p14="http://schemas.microsoft.com/office/powerpoint/2010/main" val="1254520339"/>
      </p:ext>
    </p:extLst>
  </p:cSld>
</p:sld>
</file>

<file path=ppt/slides/slide1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175CE92-96EA-4738-9799-700E54B9380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Suppression is a treatment intent, not a longer version of curative therapy</a:t>
            </a:r>
          </a:p>
        </p:txBody>
      </p:sp>
      <p:graphicFrame>
        <p:nvGraphicFramePr>
          <p:cNvPr id="2" name="">
            <a:extLst xmlns:a="http://schemas.openxmlformats.org/drawingml/2006/main">
              <a:ext uri="{FF2B5EF4-FFF2-40B4-BE49-F238E27FC236}">
                <a16:creationId xmlns:a16="http://schemas.microsoft.com/office/drawing/2014/main" id="{6C9584E5-1BE8-47B7-8B56-FF8BE1CEE514}"/>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Can the regimen be sustained?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Favors suppression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Narrow active oral drug, tolerable toxicity profile, feasible labs and follow-up.</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Argues against suppression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Resistance likely, no oral option, major interactions, recurrent C. difficile, progressive toxicity, or poor adherence.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CC397A36-994D-4C8A-AA7E-CE9EBADDCD5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E1F3BC9-D82D-457A-A47C-5B710CD699A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147</a:t>
            </a:r>
          </a:p>
        </p:txBody>
      </p:sp>
    </p:spTree>
    <p:extLst>
      <p:ext uri="{BB962C8B-B14F-4D97-AF65-F5344CB8AC3E}">
        <p14:creationId xmlns:p14="http://schemas.microsoft.com/office/powerpoint/2010/main" val="1859664482"/>
      </p:ext>
    </p:extLst>
  </p:cSld>
</p:sld>
</file>

<file path=ppt/slides/slide1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2C46331-78D7-4DEB-A990-5FBB8C56A27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Suppression is a treatment intent, not a longer version of curative therapy</a:t>
            </a:r>
          </a:p>
        </p:txBody>
      </p:sp>
      <p:sp>
        <p:nvSpPr>
          <p:cNvPr id="2" name="paragraph-0">
            <a:extLst xmlns:a="http://schemas.openxmlformats.org/drawingml/2006/main">
              <a:ext uri="{FF2B5EF4-FFF2-40B4-BE49-F238E27FC236}">
                <a16:creationId xmlns:a16="http://schemas.microsoft.com/office/drawing/2014/main" id="{6FAF917B-9103-4D4F-8DE1-0464182CE926}"/>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Common organism-directed suppressive choices include cephalexin or dicloxacillin for susceptible MSSA, doxycycline/minocycline or TMP-SMX for selected susceptible staphylococci, and a susceptible fluoroquinolone or TMP-SMX for some gram-negative infections. These are examples, not universal defaults. Rifampin monotherapy should not be used for chronic suppression.</a:t>
            </a:r>
          </a:p>
        </p:txBody>
      </p:sp>
      <p:sp>
        <p:nvSpPr>
          <p:cNvPr id="3" name="footer">
            <a:extLst xmlns:a="http://schemas.openxmlformats.org/drawingml/2006/main">
              <a:ext uri="{FF2B5EF4-FFF2-40B4-BE49-F238E27FC236}">
                <a16:creationId xmlns:a16="http://schemas.microsoft.com/office/drawing/2014/main" id="{7D36BB23-9835-4ECD-9AF5-1762060DB40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128208A-1210-432F-98D9-2899322A4E0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148</a:t>
            </a:r>
          </a:p>
        </p:txBody>
      </p:sp>
    </p:spTree>
    <p:extLst>
      <p:ext uri="{BB962C8B-B14F-4D97-AF65-F5344CB8AC3E}">
        <p14:creationId xmlns:p14="http://schemas.microsoft.com/office/powerpoint/2010/main" val="26993227"/>
      </p:ext>
    </p:extLst>
  </p:cSld>
</p:sld>
</file>

<file path=ppt/slides/slide1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BEBD469-2A9A-49DE-9D64-29F7DD9756D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Suppression is a treatment intent, not a longer version of curative therapy</a:t>
            </a:r>
          </a:p>
        </p:txBody>
      </p:sp>
      <p:sp>
        <p:nvSpPr>
          <p:cNvPr id="2" name="paragraph-0">
            <a:extLst xmlns:a="http://schemas.openxmlformats.org/drawingml/2006/main">
              <a:ext uri="{FF2B5EF4-FFF2-40B4-BE49-F238E27FC236}">
                <a16:creationId xmlns:a16="http://schemas.microsoft.com/office/drawing/2014/main" id="{BBA96A12-B822-42D4-90B0-308A3CECAE94}"/>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2026 PJI systematic review found highly heterogeneous practice and definitions. Reported pooled success was about 74% overall, but observational confounding is substantial and “success” varied across studies. In US practice suppression is often indefinite; finite strategies also exist. There is no evidence-based universal stopping point.</a:t>
            </a:r>
          </a:p>
        </p:txBody>
      </p:sp>
      <p:sp>
        <p:nvSpPr>
          <p:cNvPr id="3" name="footer">
            <a:extLst xmlns:a="http://schemas.openxmlformats.org/drawingml/2006/main">
              <a:ext uri="{FF2B5EF4-FFF2-40B4-BE49-F238E27FC236}">
                <a16:creationId xmlns:a16="http://schemas.microsoft.com/office/drawing/2014/main" id="{E56FBCBB-0503-4688-AEFC-C83C042BB90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98E3848-55A3-40A8-92A5-F6BC7E1C94C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149</a:t>
            </a:r>
          </a:p>
        </p:txBody>
      </p:sp>
    </p:spTree>
    <p:extLst>
      <p:ext uri="{BB962C8B-B14F-4D97-AF65-F5344CB8AC3E}">
        <p14:creationId xmlns:p14="http://schemas.microsoft.com/office/powerpoint/2010/main" val="325260792"/>
      </p:ext>
    </p:extLst>
  </p:cSld>
</p:sld>
</file>

<file path=ppt/slides/slide1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8B6BD41-35AB-4821-A08B-72C4578C8A4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Reassess the decision periodically</a:t>
            </a:r>
          </a:p>
        </p:txBody>
      </p:sp>
      <p:sp>
        <p:nvSpPr>
          <p:cNvPr id="2" name="paragraph-0">
            <a:extLst xmlns:a="http://schemas.openxmlformats.org/drawingml/2006/main">
              <a:ext uri="{FF2B5EF4-FFF2-40B4-BE49-F238E27FC236}">
                <a16:creationId xmlns:a16="http://schemas.microsoft.com/office/drawing/2014/main" id="{D866207A-C9F5-469B-9646-73B423E65A52}"/>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At follow-up ask whether the original goal is still being achieved, whether loosening or sinus formation is progressing, whether toxicity or resistance has emerged, and whether surgery has become feasible or desirable.</a:t>
            </a:r>
          </a:p>
        </p:txBody>
      </p:sp>
      <p:sp>
        <p:nvSpPr>
          <p:cNvPr id="3" name="paragraph-1">
            <a:extLst xmlns:a="http://schemas.openxmlformats.org/drawingml/2006/main">
              <a:ext uri="{FF2B5EF4-FFF2-40B4-BE49-F238E27FC236}">
                <a16:creationId xmlns:a16="http://schemas.microsoft.com/office/drawing/2014/main" id="{215ACBDD-C9C9-4E87-BBFE-10F3403442BE}"/>
              </a:ext>
            </a:extLst>
          </p:cNvPr>
          <p:cNvSpPr>
            <a:spLocks xmlns:a="http://schemas.openxmlformats.org/drawingml/2006/main" noGrp="1"/>
          </p:cNvSpPr>
          <p:nvPr/>
        </p:nvSpPr>
        <p:spPr>
          <a:xfrm xmlns:a="http://schemas.openxmlformats.org/drawingml/2006/main">
            <a:off x="647700" y="36195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sat-2026 , pji-2013 , dfi</a:t>
            </a:r>
          </a:p>
        </p:txBody>
      </p:sp>
      <p:sp>
        <p:nvSpPr>
          <p:cNvPr id="4" name="footer">
            <a:extLst xmlns:a="http://schemas.openxmlformats.org/drawingml/2006/main">
              <a:ext uri="{FF2B5EF4-FFF2-40B4-BE49-F238E27FC236}">
                <a16:creationId xmlns:a16="http://schemas.microsoft.com/office/drawing/2014/main" id="{AED99D1D-C2B4-42D5-9446-3485359002E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5AEDC024-27B1-4D20-A70B-4C0C1BB2D97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150</a:t>
            </a:r>
          </a:p>
        </p:txBody>
      </p:sp>
    </p:spTree>
    <p:extLst>
      <p:ext uri="{BB962C8B-B14F-4D97-AF65-F5344CB8AC3E}">
        <p14:creationId xmlns:p14="http://schemas.microsoft.com/office/powerpoint/2010/main" val="2041063637"/>
      </p:ext>
    </p:extLst>
  </p:cSld>
</p:sld>
</file>

<file path=ppt/slides/slide1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D8FCB0E-515F-4A65-BB1C-D912C2F954D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OVIVA: oral treatment can replace prolonged IV therapy</a:t>
            </a:r>
          </a:p>
        </p:txBody>
      </p:sp>
      <p:sp>
        <p:nvSpPr>
          <p:cNvPr id="2" name="paragraph-0">
            <a:extLst xmlns:a="http://schemas.openxmlformats.org/drawingml/2006/main">
              <a:ext uri="{FF2B5EF4-FFF2-40B4-BE49-F238E27FC236}">
                <a16:creationId xmlns:a16="http://schemas.microsoft.com/office/drawing/2014/main" id="{2D98596D-276A-4F40-9478-E9CC5D8AB0F3}"/>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 1,054 adults with complex orthopedic infection, definitive treatment failure occurred in 14.6% assigned to IV therapy and 13.2% assigned to oral therapy during the first 6 weeks. Oral therapy met noninferiority criteria. Catheter complications were more common with IV treatment, 9.4% versus 1.0%. This supports carefully selected oral regimens. It does not mean every oral drug is adequate or that source control can be omitted.</a:t>
            </a:r>
          </a:p>
        </p:txBody>
      </p:sp>
      <p:sp>
        <p:nvSpPr>
          <p:cNvPr id="3" name="footer">
            <a:extLst xmlns:a="http://schemas.openxmlformats.org/drawingml/2006/main">
              <a:ext uri="{FF2B5EF4-FFF2-40B4-BE49-F238E27FC236}">
                <a16:creationId xmlns:a16="http://schemas.microsoft.com/office/drawing/2014/main" id="{433C86E4-E91F-4CF7-8A2C-145005F41CC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71248E4-FBCE-41E6-B4D5-48F5A08C492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151</a:t>
            </a:r>
          </a:p>
        </p:txBody>
      </p:sp>
    </p:spTree>
    <p:extLst>
      <p:ext uri="{BB962C8B-B14F-4D97-AF65-F5344CB8AC3E}">
        <p14:creationId xmlns:p14="http://schemas.microsoft.com/office/powerpoint/2010/main" val="1516024928"/>
      </p:ext>
    </p:extLst>
  </p:cSld>
</p:sld>
</file>

<file path=ppt/slides/slide1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295070D-ADAB-4E89-A003-49FB428D78B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DATIPO: six weeks was not enough for all surgically managed PJI</a:t>
            </a:r>
          </a:p>
        </p:txBody>
      </p:sp>
      <p:sp>
        <p:nvSpPr>
          <p:cNvPr id="2" name="paragraph-0">
            <a:extLst xmlns:a="http://schemas.openxmlformats.org/drawingml/2006/main">
              <a:ext uri="{FF2B5EF4-FFF2-40B4-BE49-F238E27FC236}">
                <a16:creationId xmlns:a16="http://schemas.microsoft.com/office/drawing/2014/main" id="{17290A7A-3E05-4CBF-9143-2E6F3A7A6FB1}"/>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randomized PJI trial failed to show noninferiority of 6 weeks compared with 12 weeks. The signal was most concerning with retained-implant strategies such as DAIR. It supports avoiding a 6-week DAIR course, but it does not establish one universal duration for every joint or exchange strategy. The 2013 IDSA staphylococcal rifampin-based regimen specifies 3 months for hip and 6 months for knee DAIR.</a:t>
            </a:r>
          </a:p>
        </p:txBody>
      </p:sp>
      <p:sp>
        <p:nvSpPr>
          <p:cNvPr id="3" name="footer">
            <a:extLst xmlns:a="http://schemas.openxmlformats.org/drawingml/2006/main">
              <a:ext uri="{FF2B5EF4-FFF2-40B4-BE49-F238E27FC236}">
                <a16:creationId xmlns:a16="http://schemas.microsoft.com/office/drawing/2014/main" id="{2DD9D205-574B-4326-ADF5-F89E5496A45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C4E3B9D-4094-4978-B37F-544A6B28655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152</a:t>
            </a:r>
          </a:p>
        </p:txBody>
      </p:sp>
    </p:spTree>
    <p:extLst>
      <p:ext uri="{BB962C8B-B14F-4D97-AF65-F5344CB8AC3E}">
        <p14:creationId xmlns:p14="http://schemas.microsoft.com/office/powerpoint/2010/main" val="924157737"/>
      </p:ext>
    </p:extLst>
  </p:cSld>
</p:sld>
</file>

<file path=ppt/slides/slide1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1150911-FCB4-407C-9E01-1FD1ED28AAB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SOLARIO: very short systemic therapy after definitive surgery plus local antibiotics</a:t>
            </a:r>
          </a:p>
        </p:txBody>
      </p:sp>
      <p:sp>
        <p:nvSpPr>
          <p:cNvPr id="2" name="paragraph-0">
            <a:extLst xmlns:a="http://schemas.openxmlformats.org/drawingml/2006/main">
              <a:ext uri="{FF2B5EF4-FFF2-40B4-BE49-F238E27FC236}">
                <a16:creationId xmlns:a16="http://schemas.microsoft.com/office/drawing/2014/main" id="{63844A49-664E-4529-9B28-DFF4D1B15E0C}"/>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 475 eligible adults who underwent definitive curative surgery, received a local antibiotic carrier eluting for at least 4 weeks, and achieved primary closure, no more than 7 days of systemic therapy was noninferior to at least 4 weeks for definite failure at 12 months (11.1% versus 14.1%). Antibiotic-related symptoms were less frequent with the short course. DAIR and suppressive procedures were excluded, the cohort combined several orthopedic syndromes, and the PJI subgroups were not separately powered.</a:t>
            </a:r>
          </a:p>
        </p:txBody>
      </p:sp>
      <p:sp>
        <p:nvSpPr>
          <p:cNvPr id="3" name="paragraph-1">
            <a:extLst xmlns:a="http://schemas.openxmlformats.org/drawingml/2006/main">
              <a:ext uri="{FF2B5EF4-FFF2-40B4-BE49-F238E27FC236}">
                <a16:creationId xmlns:a16="http://schemas.microsoft.com/office/drawing/2014/main" id="{2B589BB5-177D-4DAD-A6BA-3A0B48ECC194}"/>
              </a:ext>
            </a:extLst>
          </p:cNvPr>
          <p:cNvSpPr>
            <a:spLocks xmlns:a="http://schemas.openxmlformats.org/drawingml/2006/main" noGrp="1"/>
          </p:cNvSpPr>
          <p:nvPr/>
        </p:nvSpPr>
        <p:spPr>
          <a:xfrm xmlns:a="http://schemas.openxmlformats.org/drawingml/2006/main">
            <a:off x="647700" y="50292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 not apply this result to retained prostheses or surgery without the same local-antibiotic and closure conditions.</a:t>
            </a:r>
          </a:p>
        </p:txBody>
      </p:sp>
      <p:sp>
        <p:nvSpPr>
          <p:cNvPr id="4" name="footer">
            <a:extLst xmlns:a="http://schemas.openxmlformats.org/drawingml/2006/main">
              <a:ext uri="{FF2B5EF4-FFF2-40B4-BE49-F238E27FC236}">
                <a16:creationId xmlns:a16="http://schemas.microsoft.com/office/drawing/2014/main" id="{6B4DDD1D-7C6C-4007-84C3-5E2C2C51BD9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49B2A507-9D5D-4C86-8B0C-74FFDF0F82A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153</a:t>
            </a:r>
          </a:p>
        </p:txBody>
      </p:sp>
    </p:spTree>
    <p:extLst>
      <p:ext uri="{BB962C8B-B14F-4D97-AF65-F5344CB8AC3E}">
        <p14:creationId xmlns:p14="http://schemas.microsoft.com/office/powerpoint/2010/main" val="2030164775"/>
      </p:ext>
    </p:extLst>
  </p:cSld>
</p:sld>
</file>

<file path=ppt/slides/slide1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6091BE7-D226-4227-8D2E-542EEAACCF4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Two versus four weeks after native-joint drainage: useful but anatomically narrow</a:t>
            </a:r>
          </a:p>
        </p:txBody>
      </p:sp>
      <p:sp>
        <p:nvSpPr>
          <p:cNvPr id="2" name="paragraph-0">
            <a:extLst xmlns:a="http://schemas.openxmlformats.org/drawingml/2006/main">
              <a:ext uri="{FF2B5EF4-FFF2-40B4-BE49-F238E27FC236}">
                <a16:creationId xmlns:a16="http://schemas.microsoft.com/office/drawing/2014/main" id="{C5502EFE-3647-415D-926D-EC2C119934BC}"/>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randomized trial enrolled 154 cases, 99 involving the hand or wrist. Two weeks after surgical drainage performed well in that population. It is weak justification for shortening treatment of large-joint, bacteremic, axial, or osteomyelitis-complicated infection.</a:t>
            </a:r>
          </a:p>
        </p:txBody>
      </p:sp>
      <p:sp>
        <p:nvSpPr>
          <p:cNvPr id="3" name="footer">
            <a:extLst xmlns:a="http://schemas.openxmlformats.org/drawingml/2006/main">
              <a:ext uri="{FF2B5EF4-FFF2-40B4-BE49-F238E27FC236}">
                <a16:creationId xmlns:a16="http://schemas.microsoft.com/office/drawing/2014/main" id="{35404AD2-83EE-479E-AD5D-1A98F9044D3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91342D4-0E70-453E-9713-3595D5F41F0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154</a:t>
            </a:r>
          </a:p>
        </p:txBody>
      </p:sp>
    </p:spTree>
    <p:extLst>
      <p:ext uri="{BB962C8B-B14F-4D97-AF65-F5344CB8AC3E}">
        <p14:creationId xmlns:p14="http://schemas.microsoft.com/office/powerpoint/2010/main" val="236188031"/>
      </p:ext>
    </p:extLst>
  </p:cSld>
</p:sld>
</file>

<file path=ppt/slides/slide1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2537F6C-B697-47DD-B783-A68DB0C5A44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Pressure-injury pelvic osteomyelitis: the evidence is mostly observational</a:t>
            </a:r>
          </a:p>
        </p:txBody>
      </p:sp>
      <p:sp>
        <p:nvSpPr>
          <p:cNvPr id="2" name="paragraph-0">
            <a:extLst xmlns:a="http://schemas.openxmlformats.org/drawingml/2006/main">
              <a:ext uri="{FF2B5EF4-FFF2-40B4-BE49-F238E27FC236}">
                <a16:creationId xmlns:a16="http://schemas.microsoft.com/office/drawing/2014/main" id="{6BE94252-0998-4269-8AEB-4CCEC5ACB4F0}"/>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Systematic and multidisciplinary reviews find no evidence that prolonged antibiotics improve outcomes when an open stage IV pressure injury cannot be debrided and closed. Outcomes are poor without flap reconstruction regardless of antibiotics in available cohorts. This is a source-control conclusion, not proof that pelvic osteomyelitis is harmless.</a:t>
            </a:r>
          </a:p>
        </p:txBody>
      </p:sp>
      <p:sp>
        <p:nvSpPr>
          <p:cNvPr id="3" name="footer">
            <a:extLst xmlns:a="http://schemas.openxmlformats.org/drawingml/2006/main">
              <a:ext uri="{FF2B5EF4-FFF2-40B4-BE49-F238E27FC236}">
                <a16:creationId xmlns:a16="http://schemas.microsoft.com/office/drawing/2014/main" id="{5359A7B4-D463-4037-AF12-5DE64705118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364ED63-E1BF-4E18-811E-4555CC3E5F8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155</a:t>
            </a:r>
          </a:p>
        </p:txBody>
      </p:sp>
    </p:spTree>
    <p:extLst>
      <p:ext uri="{BB962C8B-B14F-4D97-AF65-F5344CB8AC3E}">
        <p14:creationId xmlns:p14="http://schemas.microsoft.com/office/powerpoint/2010/main" val="307114954"/>
      </p:ext>
    </p:extLst>
  </p:cSld>
</p:sld>
</file>

<file path=ppt/slides/slide1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CDB9524-6DF1-4C12-B600-647025F1090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Where the evidence is weakest</a:t>
            </a:r>
          </a:p>
        </p:txBody>
      </p:sp>
      <p:sp>
        <p:nvSpPr>
          <p:cNvPr id="2" name="paragraph-0">
            <a:extLst xmlns:a="http://schemas.openxmlformats.org/drawingml/2006/main">
              <a:ext uri="{FF2B5EF4-FFF2-40B4-BE49-F238E27FC236}">
                <a16:creationId xmlns:a16="http://schemas.microsoft.com/office/drawing/2014/main" id="{DACA0071-9CE3-4E82-A6F5-F68F9501153A}"/>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Outside specific institutional pathways, optimal PJI duration after one-stage or two-stage exchange, exact rifampin timing, the value of an antibiotic holiday before reimplantation, treatment duration for Brodie abscess, retained fracture fixation, and the benefit/duration of chronic suppression remain incompletely defined.</a:t>
            </a:r>
          </a:p>
        </p:txBody>
      </p:sp>
      <p:sp>
        <p:nvSpPr>
          <p:cNvPr id="3" name="paragraph-1">
            <a:extLst xmlns:a="http://schemas.openxmlformats.org/drawingml/2006/main">
              <a:ext uri="{FF2B5EF4-FFF2-40B4-BE49-F238E27FC236}">
                <a16:creationId xmlns:a16="http://schemas.microsoft.com/office/drawing/2014/main" id="{A53F87B1-6824-4CD7-8AB0-810B6576907B}"/>
              </a:ext>
            </a:extLst>
          </p:cNvPr>
          <p:cNvSpPr>
            <a:spLocks xmlns:a="http://schemas.openxmlformats.org/drawingml/2006/main" noGrp="1"/>
          </p:cNvSpPr>
          <p:nvPr/>
        </p:nvSpPr>
        <p:spPr>
          <a:xfrm xmlns:a="http://schemas.openxmlformats.org/drawingml/2006/main">
            <a:off x="647700" y="39719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oviva , datipo , solario , 2v4 , pressure-2019 , pressure-2024</a:t>
            </a:r>
          </a:p>
        </p:txBody>
      </p:sp>
      <p:sp>
        <p:nvSpPr>
          <p:cNvPr id="4" name="footer">
            <a:extLst xmlns:a="http://schemas.openxmlformats.org/drawingml/2006/main">
              <a:ext uri="{FF2B5EF4-FFF2-40B4-BE49-F238E27FC236}">
                <a16:creationId xmlns:a16="http://schemas.microsoft.com/office/drawing/2014/main" id="{4AD41738-B307-4D7D-9704-38E94FCD49B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2D0BC2C8-148F-4E80-B58C-E03F559B27A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156</a:t>
            </a:r>
          </a:p>
        </p:txBody>
      </p:sp>
    </p:spTree>
    <p:extLst>
      <p:ext uri="{BB962C8B-B14F-4D97-AF65-F5344CB8AC3E}">
        <p14:creationId xmlns:p14="http://schemas.microsoft.com/office/powerpoint/2010/main" val="906975828"/>
      </p:ext>
    </p:extLst>
  </p:cSld>
</p:sld>
</file>

<file path=ppt/slides/slide1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68205DA-490B-453D-8952-6F42824A919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1 · Crystals and a hot knee</a:t>
            </a:r>
          </a:p>
        </p:txBody>
      </p:sp>
      <p:sp>
        <p:nvSpPr>
          <p:cNvPr id="2" name="paragraph-0">
            <a:extLst xmlns:a="http://schemas.openxmlformats.org/drawingml/2006/main">
              <a:ext uri="{FF2B5EF4-FFF2-40B4-BE49-F238E27FC236}">
                <a16:creationId xmlns:a16="http://schemas.microsoft.com/office/drawing/2014/main" id="{1A67EB9F-544D-4CF4-9F6E-BBFB8CB393C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67-year-old has fever and an acutely swollen native knee. Synovial fluid contains urate crystals and 72,000 WBC/µL with 92% neutrophils.</a:t>
            </a:r>
          </a:p>
        </p:txBody>
      </p:sp>
      <p:sp>
        <p:nvSpPr>
          <p:cNvPr id="3" name="footer">
            <a:extLst xmlns:a="http://schemas.openxmlformats.org/drawingml/2006/main">
              <a:ext uri="{FF2B5EF4-FFF2-40B4-BE49-F238E27FC236}">
                <a16:creationId xmlns:a16="http://schemas.microsoft.com/office/drawing/2014/main" id="{AA4F3840-558C-4DF9-A3DF-033AECECEF1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5D064C9-294B-42BF-82F3-ED64D57F628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157</a:t>
            </a:r>
          </a:p>
        </p:txBody>
      </p:sp>
    </p:spTree>
    <p:extLst>
      <p:ext uri="{BB962C8B-B14F-4D97-AF65-F5344CB8AC3E}">
        <p14:creationId xmlns:p14="http://schemas.microsoft.com/office/powerpoint/2010/main" val="1385228524"/>
      </p:ext>
    </p:extLst>
  </p:cSld>
</p:sld>
</file>

<file path=ppt/slides/slide1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5B63AC6-D201-4621-A216-BC14F0B0FD5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decision</a:t>
            </a:r>
          </a:p>
        </p:txBody>
      </p:sp>
      <p:sp>
        <p:nvSpPr>
          <p:cNvPr id="2" name="paragraph-0">
            <a:extLst xmlns:a="http://schemas.openxmlformats.org/drawingml/2006/main">
              <a:ext uri="{FF2B5EF4-FFF2-40B4-BE49-F238E27FC236}">
                <a16:creationId xmlns:a16="http://schemas.microsoft.com/office/drawing/2014/main" id="{A07A2273-E827-40F5-AFD2-2047A03E2583}"/>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Crystals do not exclude septic arthritis. Send Gram stain/culture and blood cultures, start empiric therapy after aspiration if stable enough to sample first, and obtain urgent orthopedic input for drainage. Narrow to the organism.</a:t>
            </a:r>
          </a:p>
        </p:txBody>
      </p:sp>
      <p:sp>
        <p:nvSpPr>
          <p:cNvPr id="3" name="footer">
            <a:extLst xmlns:a="http://schemas.openxmlformats.org/drawingml/2006/main">
              <a:ext uri="{FF2B5EF4-FFF2-40B4-BE49-F238E27FC236}">
                <a16:creationId xmlns:a16="http://schemas.microsoft.com/office/drawing/2014/main" id="{31D3FBA2-5E64-4D00-8129-5ECBEBC3EC3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8612302-18FE-4DAE-9995-94D46447514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158</a:t>
            </a:r>
          </a:p>
        </p:txBody>
      </p:sp>
    </p:spTree>
    <p:extLst>
      <p:ext uri="{BB962C8B-B14F-4D97-AF65-F5344CB8AC3E}">
        <p14:creationId xmlns:p14="http://schemas.microsoft.com/office/powerpoint/2010/main" val="1649369100"/>
      </p:ext>
    </p:extLst>
  </p:cSld>
</p:sld>
</file>

<file path=ppt/slides/slide1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A2D3648-4C63-48F6-B708-4642E965A04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2 · Arthritis plus pustules</a:t>
            </a:r>
          </a:p>
        </p:txBody>
      </p:sp>
      <p:sp>
        <p:nvSpPr>
          <p:cNvPr id="2" name="paragraph-0">
            <a:extLst xmlns:a="http://schemas.openxmlformats.org/drawingml/2006/main">
              <a:ext uri="{FF2B5EF4-FFF2-40B4-BE49-F238E27FC236}">
                <a16:creationId xmlns:a16="http://schemas.microsoft.com/office/drawing/2014/main" id="{6F444692-6F15-49CD-B79C-690006DCEAC1}"/>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young adult has migratory arthralgia, tenosynovitis, pustular lesions, and a swollen ankle.</a:t>
            </a:r>
          </a:p>
        </p:txBody>
      </p:sp>
      <p:sp>
        <p:nvSpPr>
          <p:cNvPr id="3" name="footer">
            <a:extLst xmlns:a="http://schemas.openxmlformats.org/drawingml/2006/main">
              <a:ext uri="{FF2B5EF4-FFF2-40B4-BE49-F238E27FC236}">
                <a16:creationId xmlns:a16="http://schemas.microsoft.com/office/drawing/2014/main" id="{E3FAE74E-4A08-49C7-90C1-FDF23C96EFE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61F4A1C-344A-418B-A4CB-72A72AD5D7D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159</a:t>
            </a:r>
          </a:p>
        </p:txBody>
      </p:sp>
    </p:spTree>
    <p:extLst>
      <p:ext uri="{BB962C8B-B14F-4D97-AF65-F5344CB8AC3E}">
        <p14:creationId xmlns:p14="http://schemas.microsoft.com/office/powerpoint/2010/main" val="1210469105"/>
      </p:ext>
    </p:extLst>
  </p:cSld>
</p:sld>
</file>

<file path=ppt/slides/slide1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1E645DE-640B-4BD4-B036-7D4ED5B0C8C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decision</a:t>
            </a:r>
          </a:p>
        </p:txBody>
      </p:sp>
      <p:sp>
        <p:nvSpPr>
          <p:cNvPr id="2" name="paragraph-0">
            <a:extLst xmlns:a="http://schemas.openxmlformats.org/drawingml/2006/main">
              <a:ext uri="{FF2B5EF4-FFF2-40B4-BE49-F238E27FC236}">
                <a16:creationId xmlns:a16="http://schemas.microsoft.com/office/drawing/2014/main" id="{CF474FA7-B5CE-4606-92A3-457A6287CEA4}"/>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Evaluate for disseminated gonococcal infection. Obtain NAAT from exposed mucosal sites, culture of purulent material when possible, and blood cultures when appropriate. Treat with ceftriaxone 1 g every 24 hours; treat chlamydia if not excluded. Total therapy is at least 7 days, with susceptibility-guided oral transition after substantial improvement.</a:t>
            </a:r>
          </a:p>
        </p:txBody>
      </p:sp>
      <p:sp>
        <p:nvSpPr>
          <p:cNvPr id="3" name="footer">
            <a:extLst xmlns:a="http://schemas.openxmlformats.org/drawingml/2006/main">
              <a:ext uri="{FF2B5EF4-FFF2-40B4-BE49-F238E27FC236}">
                <a16:creationId xmlns:a16="http://schemas.microsoft.com/office/drawing/2014/main" id="{095C5BF4-B0FF-4360-8648-AF06438BE8E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9652046-0732-4EA5-8E8B-C954896DC45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160</a:t>
            </a:r>
          </a:p>
        </p:txBody>
      </p:sp>
    </p:spTree>
    <p:extLst>
      <p:ext uri="{BB962C8B-B14F-4D97-AF65-F5344CB8AC3E}">
        <p14:creationId xmlns:p14="http://schemas.microsoft.com/office/powerpoint/2010/main" val="1948383931"/>
      </p:ext>
    </p:extLst>
  </p:cSld>
</p:sld>
</file>

<file path=ppt/slides/slide1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0F2BB03-7A46-4ACF-832A-7B0F488DC5F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3 · Acute postoperative knee PJI</a:t>
            </a:r>
          </a:p>
        </p:txBody>
      </p:sp>
      <p:sp>
        <p:nvSpPr>
          <p:cNvPr id="2" name="paragraph-0">
            <a:extLst xmlns:a="http://schemas.openxmlformats.org/drawingml/2006/main">
              <a:ext uri="{FF2B5EF4-FFF2-40B4-BE49-F238E27FC236}">
                <a16:creationId xmlns:a16="http://schemas.microsoft.com/office/drawing/2014/main" id="{BA0FC860-8A38-4376-B19F-08A4523FAB7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Three weeks after TKA, the patient develops 3 days of pain, effusion, and drainage. Components are well fixed. Aspiration grows MSSA.</a:t>
            </a:r>
          </a:p>
        </p:txBody>
      </p:sp>
      <p:sp>
        <p:nvSpPr>
          <p:cNvPr id="3" name="footer">
            <a:extLst xmlns:a="http://schemas.openxmlformats.org/drawingml/2006/main">
              <a:ext uri="{FF2B5EF4-FFF2-40B4-BE49-F238E27FC236}">
                <a16:creationId xmlns:a16="http://schemas.microsoft.com/office/drawing/2014/main" id="{FF6BE18E-5B12-4BDB-B1F5-FCDE0DF71CD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C79A7D9-F2C2-4135-897C-E0DC74EAC05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161</a:t>
            </a:r>
          </a:p>
        </p:txBody>
      </p:sp>
    </p:spTree>
    <p:extLst>
      <p:ext uri="{BB962C8B-B14F-4D97-AF65-F5344CB8AC3E}">
        <p14:creationId xmlns:p14="http://schemas.microsoft.com/office/powerpoint/2010/main" val="1237490410"/>
      </p:ext>
    </p:extLst>
  </p:cSld>
</p:sld>
</file>

<file path=ppt/slides/slide1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36DEC12-8B7F-48A9-92C5-66360F2A225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decision</a:t>
            </a:r>
          </a:p>
        </p:txBody>
      </p:sp>
      <p:sp>
        <p:nvSpPr>
          <p:cNvPr id="2" name="paragraph-0">
            <a:extLst xmlns:a="http://schemas.openxmlformats.org/drawingml/2006/main">
              <a:ext uri="{FF2B5EF4-FFF2-40B4-BE49-F238E27FC236}">
                <a16:creationId xmlns:a16="http://schemas.microsoft.com/office/drawing/2014/main" id="{7A150B8D-FAED-45F1-BE37-2E4F788C10F8}"/>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This is a favorable timing pattern for DAIR if the soft tissue and implant are otherwise suitable. Exchange modular components when feasible, obtain multiple deep cultures, and use pathogen-directed therapy. For susceptible staphylococcal knee PJI treated with DAIR, the IDSA rifampin-based regimen completes 6 months. The route and timing of oral transition depend on clinical response and an active companion drug. Add rifampin only as combination therapy after debridement.</a:t>
            </a:r>
          </a:p>
        </p:txBody>
      </p:sp>
      <p:sp>
        <p:nvSpPr>
          <p:cNvPr id="3" name="footer">
            <a:extLst xmlns:a="http://schemas.openxmlformats.org/drawingml/2006/main">
              <a:ext uri="{FF2B5EF4-FFF2-40B4-BE49-F238E27FC236}">
                <a16:creationId xmlns:a16="http://schemas.microsoft.com/office/drawing/2014/main" id="{638A45C8-4023-43F1-95B9-B5F69E6636F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D8C0CB8-DFF1-40A6-946B-0465CAF74DF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162</a:t>
            </a:r>
          </a:p>
        </p:txBody>
      </p:sp>
    </p:spTree>
    <p:extLst>
      <p:ext uri="{BB962C8B-B14F-4D97-AF65-F5344CB8AC3E}">
        <p14:creationId xmlns:p14="http://schemas.microsoft.com/office/powerpoint/2010/main" val="1015247106"/>
      </p:ext>
    </p:extLst>
  </p:cSld>
</p:sld>
</file>

<file path=ppt/slides/slide1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B64DC45-CEEA-42AB-A973-BDA8C4E667E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4 · Chronic hip PJI considered for one-stage exchange</a:t>
            </a:r>
          </a:p>
        </p:txBody>
      </p:sp>
      <p:sp>
        <p:nvSpPr>
          <p:cNvPr id="2" name="paragraph-0">
            <a:extLst xmlns:a="http://schemas.openxmlformats.org/drawingml/2006/main">
              <a:ext uri="{FF2B5EF4-FFF2-40B4-BE49-F238E27FC236}">
                <a16:creationId xmlns:a16="http://schemas.microsoft.com/office/drawing/2014/main" id="{785F75BF-2F47-4ADA-B7B2-E85B3FA720E2}"/>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has months of hip pain, a well-fixed prosthesis, good soft tissue, no sinus tract, and repeated deep aspiration cultures growing susceptible Cutibacterium acnes .</a:t>
            </a:r>
          </a:p>
        </p:txBody>
      </p:sp>
      <p:sp>
        <p:nvSpPr>
          <p:cNvPr id="3" name="footer">
            <a:extLst xmlns:a="http://schemas.openxmlformats.org/drawingml/2006/main">
              <a:ext uri="{FF2B5EF4-FFF2-40B4-BE49-F238E27FC236}">
                <a16:creationId xmlns:a16="http://schemas.microsoft.com/office/drawing/2014/main" id="{C3FE9CB5-4C5B-49C3-903C-0CCF405952B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039147A-68B6-47B3-A6D7-2715A0CCCB7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163</a:t>
            </a:r>
          </a:p>
        </p:txBody>
      </p:sp>
    </p:spTree>
    <p:extLst>
      <p:ext uri="{BB962C8B-B14F-4D97-AF65-F5344CB8AC3E}">
        <p14:creationId xmlns:p14="http://schemas.microsoft.com/office/powerpoint/2010/main" val="293369288"/>
      </p:ext>
    </p:extLst>
  </p:cSld>
</p:sld>
</file>

<file path=ppt/slides/slide1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F2E9078-30C0-4BA1-8F55-3DC2BB90DEE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decision</a:t>
            </a:r>
          </a:p>
        </p:txBody>
      </p:sp>
      <p:sp>
        <p:nvSpPr>
          <p:cNvPr id="2" name="paragraph-0">
            <a:extLst xmlns:a="http://schemas.openxmlformats.org/drawingml/2006/main">
              <a:ext uri="{FF2B5EF4-FFF2-40B4-BE49-F238E27FC236}">
                <a16:creationId xmlns:a16="http://schemas.microsoft.com/office/drawing/2014/main" id="{9F3ABC24-DF11-40C1-B9C3-3C97D811F5E9}"/>
              </a:ext>
            </a:extLst>
          </p:cNvPr>
          <p:cNvSpPr>
            <a:spLocks xmlns:a="http://schemas.openxmlformats.org/drawingml/2006/main" noGrp="1"/>
          </p:cNvSpPr>
          <p:nvPr/>
        </p:nvSpPr>
        <p:spPr>
          <a:xfrm xmlns:a="http://schemas.openxmlformats.org/drawingml/2006/main">
            <a:off x="647700" y="1952625"/>
            <a:ext cx="10858500"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This is a potential one-stage exchange candidate because the organism is known and tractable and the soft-tissue envelope is favorable. Remove all infected components, perform radical debridement, obtain at least 5 deep specimens with separate instruments, and implant the new prosthesis during the same operation. Choose a pathogen-directed regimen and duration after reviewing operative cultures. For this nonstaphylococcal example, IDSA describes 4–6 weeks of IV or highly bioavailable oral therapy; a fixed IV lead-in is not established. Indefinite suppression is a separate decision.</a:t>
            </a:r>
          </a:p>
        </p:txBody>
      </p:sp>
      <p:sp>
        <p:nvSpPr>
          <p:cNvPr id="3" name="footer">
            <a:extLst xmlns:a="http://schemas.openxmlformats.org/drawingml/2006/main">
              <a:ext uri="{FF2B5EF4-FFF2-40B4-BE49-F238E27FC236}">
                <a16:creationId xmlns:a16="http://schemas.microsoft.com/office/drawing/2014/main" id="{72FCF3AE-0159-429B-A463-B724B9CBE05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B04E9A6-C34E-4589-BD39-70FACFEB439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164</a:t>
            </a:r>
          </a:p>
        </p:txBody>
      </p:sp>
    </p:spTree>
    <p:extLst>
      <p:ext uri="{BB962C8B-B14F-4D97-AF65-F5344CB8AC3E}">
        <p14:creationId xmlns:p14="http://schemas.microsoft.com/office/powerpoint/2010/main" val="1477630955"/>
      </p:ext>
    </p:extLst>
  </p:cSld>
</p:sld>
</file>

<file path=ppt/slides/slide1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97726DC-7C10-402A-A5D4-2751273015A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5 · Stable vertebral osteomyelitis with negative blood cultures</a:t>
            </a:r>
          </a:p>
        </p:txBody>
      </p:sp>
      <p:sp>
        <p:nvSpPr>
          <p:cNvPr id="2" name="paragraph-0">
            <a:extLst xmlns:a="http://schemas.openxmlformats.org/drawingml/2006/main">
              <a:ext uri="{FF2B5EF4-FFF2-40B4-BE49-F238E27FC236}">
                <a16:creationId xmlns:a16="http://schemas.microsoft.com/office/drawing/2014/main" id="{DB82790A-2140-4226-9E5D-B8873E7827FD}"/>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stable patient has severe back pain and MRI findings compatible with L2–L3 discitis/osteomyelitis. Neurologic examination is normal and blood cultures are negative.</a:t>
            </a:r>
          </a:p>
        </p:txBody>
      </p:sp>
      <p:sp>
        <p:nvSpPr>
          <p:cNvPr id="3" name="footer">
            <a:extLst xmlns:a="http://schemas.openxmlformats.org/drawingml/2006/main">
              <a:ext uri="{FF2B5EF4-FFF2-40B4-BE49-F238E27FC236}">
                <a16:creationId xmlns:a16="http://schemas.microsoft.com/office/drawing/2014/main" id="{017754FC-80C8-47BE-A06E-9A3EAAAB595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DFA8578-5FF9-4436-ACBA-CAD3EFCC4C8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165</a:t>
            </a:r>
          </a:p>
        </p:txBody>
      </p:sp>
    </p:spTree>
    <p:extLst>
      <p:ext uri="{BB962C8B-B14F-4D97-AF65-F5344CB8AC3E}">
        <p14:creationId xmlns:p14="http://schemas.microsoft.com/office/powerpoint/2010/main" val="1084349459"/>
      </p:ext>
    </p:extLst>
  </p:cSld>
</p:sld>
</file>

<file path=ppt/slides/slide1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337F076-877E-4EAA-AD51-9782852F7C1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decision</a:t>
            </a:r>
          </a:p>
        </p:txBody>
      </p:sp>
      <p:sp>
        <p:nvSpPr>
          <p:cNvPr id="2" name="paragraph-0">
            <a:extLst xmlns:a="http://schemas.openxmlformats.org/drawingml/2006/main">
              <a:ext uri="{FF2B5EF4-FFF2-40B4-BE49-F238E27FC236}">
                <a16:creationId xmlns:a16="http://schemas.microsoft.com/office/drawing/2014/main" id="{46502496-3CD3-430A-A9DE-07409A2C701B}"/>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If clinically safe, do not rush into empiric six-week therapy before obtaining a microbiologic diagnosis. Arrange image-guided biopsy and assess alternative diagnoses. If bacterial NVO is confirmed, most patients need 6 weeks of parenteral or highly bioavailable oral therapy. Repeat MRI is not routine if the patient improves.</a:t>
            </a:r>
          </a:p>
        </p:txBody>
      </p:sp>
      <p:sp>
        <p:nvSpPr>
          <p:cNvPr id="3" name="footer">
            <a:extLst xmlns:a="http://schemas.openxmlformats.org/drawingml/2006/main">
              <a:ext uri="{FF2B5EF4-FFF2-40B4-BE49-F238E27FC236}">
                <a16:creationId xmlns:a16="http://schemas.microsoft.com/office/drawing/2014/main" id="{EEC053ED-7350-4D3D-AFDB-23974AB0C38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600A650-4F77-4E97-87C7-EFEBEB433DE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166</a:t>
            </a:r>
          </a:p>
        </p:txBody>
      </p:sp>
    </p:spTree>
    <p:extLst>
      <p:ext uri="{BB962C8B-B14F-4D97-AF65-F5344CB8AC3E}">
        <p14:creationId xmlns:p14="http://schemas.microsoft.com/office/powerpoint/2010/main" val="428352258"/>
      </p:ext>
    </p:extLst>
  </p:cSld>
</p:sld>
</file>

<file path=ppt/slides/slide1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CBACDDE-5E23-44D4-BB24-A67E7F79C9C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6 · Months of tibial pain and a Brodie-type lesion</a:t>
            </a:r>
          </a:p>
        </p:txBody>
      </p:sp>
      <p:sp>
        <p:nvSpPr>
          <p:cNvPr id="2" name="paragraph-0">
            <a:extLst xmlns:a="http://schemas.openxmlformats.org/drawingml/2006/main">
              <a:ext uri="{FF2B5EF4-FFF2-40B4-BE49-F238E27FC236}">
                <a16:creationId xmlns:a16="http://schemas.microsoft.com/office/drawing/2014/main" id="{78640AD7-50A8-40BE-B9DE-5BFF40C06346}"/>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24-year-old has focal tibial pain for 3 months, no fever, normal WBC, and a well-circumscribed intramedullary lesion.</a:t>
            </a:r>
          </a:p>
        </p:txBody>
      </p:sp>
      <p:sp>
        <p:nvSpPr>
          <p:cNvPr id="3" name="footer">
            <a:extLst xmlns:a="http://schemas.openxmlformats.org/drawingml/2006/main">
              <a:ext uri="{FF2B5EF4-FFF2-40B4-BE49-F238E27FC236}">
                <a16:creationId xmlns:a16="http://schemas.microsoft.com/office/drawing/2014/main" id="{C7A0CBDB-A3C6-4A6B-879B-B6CC3B37EBD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C063A34-065A-4F9C-A6A3-F1CC61C0A2A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167</a:t>
            </a:r>
          </a:p>
        </p:txBody>
      </p:sp>
    </p:spTree>
    <p:extLst>
      <p:ext uri="{BB962C8B-B14F-4D97-AF65-F5344CB8AC3E}">
        <p14:creationId xmlns:p14="http://schemas.microsoft.com/office/powerpoint/2010/main" val="1437149464"/>
      </p:ext>
    </p:extLst>
  </p:cSld>
</p:sld>
</file>

<file path=ppt/slides/slide1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9612834-36A1-4A3F-9B72-522E318142C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decision</a:t>
            </a:r>
          </a:p>
        </p:txBody>
      </p:sp>
      <p:sp>
        <p:nvSpPr>
          <p:cNvPr id="2" name="paragraph-0">
            <a:extLst xmlns:a="http://schemas.openxmlformats.org/drawingml/2006/main">
              <a:ext uri="{FF2B5EF4-FFF2-40B4-BE49-F238E27FC236}">
                <a16:creationId xmlns:a16="http://schemas.microsoft.com/office/drawing/2014/main" id="{081FBAB8-2923-478B-85A2-86D709D2BEAC}"/>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Subacute osteomyelitis is possible, but malignancy and other mimics matter. Orthopedic curettage/biopsy provides diagnosis, cultures, histology, and source control. Culture-directed therapy is often 4–6 weeks, but there is no high-quality trial defining the ideal course.</a:t>
            </a:r>
          </a:p>
        </p:txBody>
      </p:sp>
      <p:sp>
        <p:nvSpPr>
          <p:cNvPr id="3" name="footer">
            <a:extLst xmlns:a="http://schemas.openxmlformats.org/drawingml/2006/main">
              <a:ext uri="{FF2B5EF4-FFF2-40B4-BE49-F238E27FC236}">
                <a16:creationId xmlns:a16="http://schemas.microsoft.com/office/drawing/2014/main" id="{A3C1951B-B65D-4D8C-BA19-0489E63506E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C9F9689-C331-4C08-B78D-8857856C6FD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168</a:t>
            </a:r>
          </a:p>
        </p:txBody>
      </p:sp>
    </p:spTree>
    <p:extLst>
      <p:ext uri="{BB962C8B-B14F-4D97-AF65-F5344CB8AC3E}">
        <p14:creationId xmlns:p14="http://schemas.microsoft.com/office/powerpoint/2010/main" val="393673910"/>
      </p:ext>
    </p:extLst>
  </p:cSld>
</p:sld>
</file>

<file path=ppt/slides/slide1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F70701D-4DE0-4952-96E1-3EBD64C5236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7 · Stage IV sacral wound, exposed bone, MRI “osteomyelitis,” no flap option</a:t>
            </a:r>
          </a:p>
        </p:txBody>
      </p:sp>
      <p:sp>
        <p:nvSpPr>
          <p:cNvPr id="2" name="paragraph-0">
            <a:extLst xmlns:a="http://schemas.openxmlformats.org/drawingml/2006/main">
              <a:ext uri="{FF2B5EF4-FFF2-40B4-BE49-F238E27FC236}">
                <a16:creationId xmlns:a16="http://schemas.microsoft.com/office/drawing/2014/main" id="{9217B962-EBE1-45F9-AD43-07EE805F833C}"/>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chronically immobile patient has an open sacral pressure injury with visible bone. There is no surrounding cellulitis, abscess, fever, bacteremia, or hemodynamic instability. Plastics determines durable flap closure is not feasible.</a:t>
            </a:r>
          </a:p>
        </p:txBody>
      </p:sp>
      <p:sp>
        <p:nvSpPr>
          <p:cNvPr id="3" name="footer">
            <a:extLst xmlns:a="http://schemas.openxmlformats.org/drawingml/2006/main">
              <a:ext uri="{FF2B5EF4-FFF2-40B4-BE49-F238E27FC236}">
                <a16:creationId xmlns:a16="http://schemas.microsoft.com/office/drawing/2014/main" id="{1562D872-0277-4E81-96B3-39B4C672001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B4022B0-C4FD-4CBD-9727-20C15B9645A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169</a:t>
            </a:r>
          </a:p>
        </p:txBody>
      </p:sp>
    </p:spTree>
    <p:extLst>
      <p:ext uri="{BB962C8B-B14F-4D97-AF65-F5344CB8AC3E}">
        <p14:creationId xmlns:p14="http://schemas.microsoft.com/office/powerpoint/2010/main" val="1130606594"/>
      </p:ext>
    </p:extLst>
  </p:cSld>
</p:sld>
</file>

<file path=ppt/slides/slide1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B151CE8-CE93-427E-AA19-8D7DE92F189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decision</a:t>
            </a:r>
          </a:p>
        </p:txBody>
      </p:sp>
      <p:sp>
        <p:nvSpPr>
          <p:cNvPr id="2" name="paragraph-0">
            <a:extLst xmlns:a="http://schemas.openxmlformats.org/drawingml/2006/main">
              <a:ext uri="{FF2B5EF4-FFF2-40B4-BE49-F238E27FC236}">
                <a16:creationId xmlns:a16="http://schemas.microsoft.com/office/drawing/2014/main" id="{D4AA2694-5C51-494D-9CF1-FADB641783E1}"/>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 not prescribe six weeks, chronic suppression, or repeated antibiotic courses for the exposed bone/MRI alone. Focus on pressure redistribution, wound care, debridement when appropriate, moisture/incontinence management, nutrition, pain/odor control, and realistic goals of care. Treat future discrete cellulitis, abscess, bacteremia, or sepsis episodes when they occur.</a:t>
            </a:r>
          </a:p>
        </p:txBody>
      </p:sp>
      <p:sp>
        <p:nvSpPr>
          <p:cNvPr id="3" name="footer">
            <a:extLst xmlns:a="http://schemas.openxmlformats.org/drawingml/2006/main">
              <a:ext uri="{FF2B5EF4-FFF2-40B4-BE49-F238E27FC236}">
                <a16:creationId xmlns:a16="http://schemas.microsoft.com/office/drawing/2014/main" id="{C64990CB-E674-4104-8D4E-507C4B31800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4BEC6EF-2213-4F41-B322-A06D11DA097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170</a:t>
            </a:r>
          </a:p>
        </p:txBody>
      </p:sp>
    </p:spTree>
    <p:extLst>
      <p:ext uri="{BB962C8B-B14F-4D97-AF65-F5344CB8AC3E}">
        <p14:creationId xmlns:p14="http://schemas.microsoft.com/office/powerpoint/2010/main" val="1124364077"/>
      </p:ext>
    </p:extLst>
  </p:cSld>
</p:sld>
</file>

<file path=ppt/slides/slide1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620AF62-0D63-492C-908C-78176D23A60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8 · The same wound, now septic with a gluteal abscess</a:t>
            </a:r>
          </a:p>
        </p:txBody>
      </p:sp>
      <p:sp>
        <p:nvSpPr>
          <p:cNvPr id="2" name="paragraph-0">
            <a:extLst xmlns:a="http://schemas.openxmlformats.org/drawingml/2006/main">
              <a:ext uri="{FF2B5EF4-FFF2-40B4-BE49-F238E27FC236}">
                <a16:creationId xmlns:a16="http://schemas.microsoft.com/office/drawing/2014/main" id="{D3A2D4C2-A8EE-4838-8341-39F489C8D16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patient later develops fever, hypotension, spreading erythema, and CT evidence of a drainable gluteal collection.</a:t>
            </a:r>
          </a:p>
        </p:txBody>
      </p:sp>
      <p:sp>
        <p:nvSpPr>
          <p:cNvPr id="3" name="footer">
            <a:extLst xmlns:a="http://schemas.openxmlformats.org/drawingml/2006/main">
              <a:ext uri="{FF2B5EF4-FFF2-40B4-BE49-F238E27FC236}">
                <a16:creationId xmlns:a16="http://schemas.microsoft.com/office/drawing/2014/main" id="{0BA5FEB0-8569-4C6C-A4F3-BC1642C8296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648F0F5-75E0-43BB-AD13-40E126AAF6E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171</a:t>
            </a:r>
          </a:p>
        </p:txBody>
      </p:sp>
    </p:spTree>
    <p:extLst>
      <p:ext uri="{BB962C8B-B14F-4D97-AF65-F5344CB8AC3E}">
        <p14:creationId xmlns:p14="http://schemas.microsoft.com/office/powerpoint/2010/main" val="411630641"/>
      </p:ext>
    </p:extLst>
  </p:cSld>
</p:sld>
</file>

<file path=ppt/slides/slide1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03A0636-A8F7-4E78-AFFB-186B2B9FAA1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decision</a:t>
            </a:r>
          </a:p>
        </p:txBody>
      </p:sp>
      <p:sp>
        <p:nvSpPr>
          <p:cNvPr id="2" name="paragraph-0">
            <a:extLst xmlns:a="http://schemas.openxmlformats.org/drawingml/2006/main">
              <a:ext uri="{FF2B5EF4-FFF2-40B4-BE49-F238E27FC236}">
                <a16:creationId xmlns:a16="http://schemas.microsoft.com/office/drawing/2014/main" id="{ABE519FC-C843-4072-8A8D-D11DD7C6DF2E}"/>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Now antibiotics are indicated. Obtain blood cultures, drain the abscess, send a meaningful deep specimen, and start broad empiric therapy based on severity and prior resistance. Narrow when cultures return. The chronic open sacral bone does not automatically reset the plan to six weeks of osteomyelitis therapy.</a:t>
            </a:r>
          </a:p>
        </p:txBody>
      </p:sp>
      <p:sp>
        <p:nvSpPr>
          <p:cNvPr id="3" name="footer">
            <a:extLst xmlns:a="http://schemas.openxmlformats.org/drawingml/2006/main">
              <a:ext uri="{FF2B5EF4-FFF2-40B4-BE49-F238E27FC236}">
                <a16:creationId xmlns:a16="http://schemas.microsoft.com/office/drawing/2014/main" id="{B4461B3F-16FB-4643-87AB-7871C3F7963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D2ED839-BC6F-462F-BDB1-50AEDE93C56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172</a:t>
            </a:r>
          </a:p>
        </p:txBody>
      </p:sp>
    </p:spTree>
    <p:extLst>
      <p:ext uri="{BB962C8B-B14F-4D97-AF65-F5344CB8AC3E}">
        <p14:creationId xmlns:p14="http://schemas.microsoft.com/office/powerpoint/2010/main" val="1483414535"/>
      </p:ext>
    </p:extLst>
  </p:cSld>
</p:sld>
</file>

<file path=ppt/slides/slide1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D3DBECB-9014-4D1E-A94D-D47517A85BB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9 · Diabetic forefoot osteomyelitis after toe amputation</a:t>
            </a:r>
          </a:p>
        </p:txBody>
      </p:sp>
      <p:sp>
        <p:nvSpPr>
          <p:cNvPr id="2" name="paragraph-0">
            <a:extLst xmlns:a="http://schemas.openxmlformats.org/drawingml/2006/main">
              <a:ext uri="{FF2B5EF4-FFF2-40B4-BE49-F238E27FC236}">
                <a16:creationId xmlns:a16="http://schemas.microsoft.com/office/drawing/2014/main" id="{CF784CEB-C492-4F8A-BD4A-0BC4FD0D0E9D}"/>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undergoes minor amputation for infected toe osteomyelitis. The remaining bone-margin culture is positive.</a:t>
            </a:r>
          </a:p>
        </p:txBody>
      </p:sp>
      <p:sp>
        <p:nvSpPr>
          <p:cNvPr id="3" name="footer">
            <a:extLst xmlns:a="http://schemas.openxmlformats.org/drawingml/2006/main">
              <a:ext uri="{FF2B5EF4-FFF2-40B4-BE49-F238E27FC236}">
                <a16:creationId xmlns:a16="http://schemas.microsoft.com/office/drawing/2014/main" id="{875FF49C-94FC-4FEC-9FD1-F200A37C76C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ED1DB52-2214-487C-8049-33B827D16BD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173</a:t>
            </a:r>
          </a:p>
        </p:txBody>
      </p:sp>
    </p:spTree>
    <p:extLst>
      <p:ext uri="{BB962C8B-B14F-4D97-AF65-F5344CB8AC3E}">
        <p14:creationId xmlns:p14="http://schemas.microsoft.com/office/powerpoint/2010/main" val="1726305867"/>
      </p:ext>
    </p:extLst>
  </p:cSld>
</p:sld>
</file>

<file path=ppt/slides/slide1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7ED9610-5F1E-44C1-BF42-DD0189F2D19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decision</a:t>
            </a:r>
          </a:p>
        </p:txBody>
      </p:sp>
      <p:sp>
        <p:nvSpPr>
          <p:cNvPr id="2" name="paragraph-0">
            <a:extLst xmlns:a="http://schemas.openxmlformats.org/drawingml/2006/main">
              <a:ext uri="{FF2B5EF4-FFF2-40B4-BE49-F238E27FC236}">
                <a16:creationId xmlns:a16="http://schemas.microsoft.com/office/drawing/2014/main" id="{B030FFDB-8F23-4003-9612-05401C83465F}"/>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IWGDF/IDSA suggests up to 3 weeks after minor amputation with a positive bone-margin culture. After complete resection with no residual infection, its duration table lists 2–5 days rather than a prolonged osteomyelitis course. Continue offloading, wound care, glycemic management, and vascular assessment as indicated.</a:t>
            </a:r>
          </a:p>
        </p:txBody>
      </p:sp>
      <p:sp>
        <p:nvSpPr>
          <p:cNvPr id="3" name="footer">
            <a:extLst xmlns:a="http://schemas.openxmlformats.org/drawingml/2006/main">
              <a:ext uri="{FF2B5EF4-FFF2-40B4-BE49-F238E27FC236}">
                <a16:creationId xmlns:a16="http://schemas.microsoft.com/office/drawing/2014/main" id="{5078F244-7B81-421D-841C-1291433446B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6B31A08-3F0A-4EF1-A3A6-94072F17423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174</a:t>
            </a:r>
          </a:p>
        </p:txBody>
      </p:sp>
    </p:spTree>
    <p:extLst>
      <p:ext uri="{BB962C8B-B14F-4D97-AF65-F5344CB8AC3E}">
        <p14:creationId xmlns:p14="http://schemas.microsoft.com/office/powerpoint/2010/main" val="402968140"/>
      </p:ext>
    </p:extLst>
  </p:cSld>
</p:sld>
</file>

<file path=ppt/slides/slide1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F578B27-DC64-4409-B895-262E97D6E23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the reasoning</a:t>
            </a:r>
          </a:p>
        </p:txBody>
      </p:sp>
      <p:sp>
        <p:nvSpPr>
          <p:cNvPr id="2" name="paragraph-0">
            <a:extLst xmlns:a="http://schemas.openxmlformats.org/drawingml/2006/main">
              <a:ext uri="{FF2B5EF4-FFF2-40B4-BE49-F238E27FC236}">
                <a16:creationId xmlns:a16="http://schemas.microsoft.com/office/drawing/2014/main" id="{84D3DFFF-B1A9-44F7-8BA7-1C24F2CC6AE4}"/>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 Do urate crystals exclude septic arthritis?</a:t>
            </a:r>
          </a:p>
        </p:txBody>
      </p:sp>
      <p:sp>
        <p:nvSpPr>
          <p:cNvPr id="3" name="footer">
            <a:extLst xmlns:a="http://schemas.openxmlformats.org/drawingml/2006/main">
              <a:ext uri="{FF2B5EF4-FFF2-40B4-BE49-F238E27FC236}">
                <a16:creationId xmlns:a16="http://schemas.microsoft.com/office/drawing/2014/main" id="{2FE94214-C0A9-4A14-B839-A6195324557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4E01B4E-6C3F-45BB-A2F4-318399CD7D7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175</a:t>
            </a:r>
          </a:p>
        </p:txBody>
      </p:sp>
    </p:spTree>
    <p:extLst>
      <p:ext uri="{BB962C8B-B14F-4D97-AF65-F5344CB8AC3E}">
        <p14:creationId xmlns:p14="http://schemas.microsoft.com/office/powerpoint/2010/main" val="2052509192"/>
      </p:ext>
    </p:extLst>
  </p:cSld>
</p:sld>
</file>

<file path=ppt/slides/slide1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E9A80FB-772E-45AD-B197-233A6B9BB70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8C1B07D1-DBEB-4925-B605-61A0044E7BEA}"/>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Crystal disease and bacterial arthritis can coexist.</a:t>
            </a:r>
          </a:p>
        </p:txBody>
      </p:sp>
      <p:sp>
        <p:nvSpPr>
          <p:cNvPr id="3" name="footer">
            <a:extLst xmlns:a="http://schemas.openxmlformats.org/drawingml/2006/main">
              <a:ext uri="{FF2B5EF4-FFF2-40B4-BE49-F238E27FC236}">
                <a16:creationId xmlns:a16="http://schemas.microsoft.com/office/drawing/2014/main" id="{F08B294E-E91C-4F09-A454-659120C46EF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24DA796-D9CE-49BB-BF26-5CF932F067F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176</a:t>
            </a:r>
          </a:p>
        </p:txBody>
      </p:sp>
    </p:spTree>
    <p:extLst>
      <p:ext uri="{BB962C8B-B14F-4D97-AF65-F5344CB8AC3E}">
        <p14:creationId xmlns:p14="http://schemas.microsoft.com/office/powerpoint/2010/main" val="1452410472"/>
      </p:ext>
    </p:extLst>
  </p:cSld>
</p:sld>
</file>

<file path=ppt/slides/slide1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7A6B2CB-EB84-40FD-A096-F21C80EE839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the reasoning</a:t>
            </a:r>
          </a:p>
        </p:txBody>
      </p:sp>
      <p:sp>
        <p:nvSpPr>
          <p:cNvPr id="2" name="paragraph-0">
            <a:extLst xmlns:a="http://schemas.openxmlformats.org/drawingml/2006/main">
              <a:ext uri="{FF2B5EF4-FFF2-40B4-BE49-F238E27FC236}">
                <a16:creationId xmlns:a16="http://schemas.microsoft.com/office/drawing/2014/main" id="{3A63D648-A576-48A0-ABD9-80AB3545B50B}"/>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 What is the highest-value action in a purulent native knee?</a:t>
            </a:r>
          </a:p>
        </p:txBody>
      </p:sp>
      <p:sp>
        <p:nvSpPr>
          <p:cNvPr id="3" name="footer">
            <a:extLst xmlns:a="http://schemas.openxmlformats.org/drawingml/2006/main">
              <a:ext uri="{FF2B5EF4-FFF2-40B4-BE49-F238E27FC236}">
                <a16:creationId xmlns:a16="http://schemas.microsoft.com/office/drawing/2014/main" id="{EBB5AF88-C46B-4693-BA96-3286577D15B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279CA4B-DD84-4ECE-A8DD-AB0F3C8F103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177</a:t>
            </a:r>
          </a:p>
        </p:txBody>
      </p:sp>
    </p:spTree>
    <p:extLst>
      <p:ext uri="{BB962C8B-B14F-4D97-AF65-F5344CB8AC3E}">
        <p14:creationId xmlns:p14="http://schemas.microsoft.com/office/powerpoint/2010/main" val="386000247"/>
      </p:ext>
    </p:extLst>
  </p:cSld>
</p:sld>
</file>

<file path=ppt/slides/slide1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96CA9F1-78DC-4459-B0DE-C3AA18BB8D7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C299C826-B953-429E-9C50-A8E6CFBDB2C7}"/>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Prompt diagnostic sampling and effective drainage, with timely active antibiotics. Antibiotics do not substitute for drainage.</a:t>
            </a:r>
          </a:p>
        </p:txBody>
      </p:sp>
      <p:sp>
        <p:nvSpPr>
          <p:cNvPr id="3" name="footer">
            <a:extLst xmlns:a="http://schemas.openxmlformats.org/drawingml/2006/main">
              <a:ext uri="{FF2B5EF4-FFF2-40B4-BE49-F238E27FC236}">
                <a16:creationId xmlns:a16="http://schemas.microsoft.com/office/drawing/2014/main" id="{F798FA2E-7782-4FBC-AD74-07C0A335895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317E51B-00AF-45C7-B059-9E15B59DFD5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178</a:t>
            </a:r>
          </a:p>
        </p:txBody>
      </p:sp>
    </p:spTree>
    <p:extLst>
      <p:ext uri="{BB962C8B-B14F-4D97-AF65-F5344CB8AC3E}">
        <p14:creationId xmlns:p14="http://schemas.microsoft.com/office/powerpoint/2010/main" val="132335500"/>
      </p:ext>
    </p:extLst>
  </p:cSld>
</p:sld>
</file>

<file path=ppt/slides/slide1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CDBEF93-C3F0-4DF7-AF67-18069D9D35E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the reasoning</a:t>
            </a:r>
          </a:p>
        </p:txBody>
      </p:sp>
      <p:sp>
        <p:nvSpPr>
          <p:cNvPr id="2" name="paragraph-0">
            <a:extLst xmlns:a="http://schemas.openxmlformats.org/drawingml/2006/main">
              <a:ext uri="{FF2B5EF4-FFF2-40B4-BE49-F238E27FC236}">
                <a16:creationId xmlns:a16="http://schemas.microsoft.com/office/drawing/2014/main" id="{DD4D814E-2C0A-4B9C-ACA6-C5089B833560}"/>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3. Does every acute PJI qualify for DAIR?</a:t>
            </a:r>
          </a:p>
        </p:txBody>
      </p:sp>
      <p:sp>
        <p:nvSpPr>
          <p:cNvPr id="3" name="footer">
            <a:extLst xmlns:a="http://schemas.openxmlformats.org/drawingml/2006/main">
              <a:ext uri="{FF2B5EF4-FFF2-40B4-BE49-F238E27FC236}">
                <a16:creationId xmlns:a16="http://schemas.microsoft.com/office/drawing/2014/main" id="{BD640D0E-5276-44A6-BA04-2A9109D32B5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E22F578-1E43-4F5C-945C-77F1A8B1A8C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179</a:t>
            </a:r>
          </a:p>
        </p:txBody>
      </p:sp>
    </p:spTree>
    <p:extLst>
      <p:ext uri="{BB962C8B-B14F-4D97-AF65-F5344CB8AC3E}">
        <p14:creationId xmlns:p14="http://schemas.microsoft.com/office/powerpoint/2010/main" val="1243643828"/>
      </p:ext>
    </p:extLst>
  </p:cSld>
</p:sld>
</file>

<file path=ppt/slides/slide1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96C1206-C596-48F4-B3D6-063C608463F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224DC7FD-9696-4066-BA03-6E6E307C44B7}"/>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Implant stability, symptom duration, sinus tract, soft tissue, pathogen, host factors, and ability to exchange modular parts all affect the likelihood of cure.</a:t>
            </a:r>
          </a:p>
        </p:txBody>
      </p:sp>
      <p:sp>
        <p:nvSpPr>
          <p:cNvPr id="3" name="footer">
            <a:extLst xmlns:a="http://schemas.openxmlformats.org/drawingml/2006/main">
              <a:ext uri="{FF2B5EF4-FFF2-40B4-BE49-F238E27FC236}">
                <a16:creationId xmlns:a16="http://schemas.microsoft.com/office/drawing/2014/main" id="{01BEF441-5600-4857-B081-E6041DEB4AD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85C3E99-7D14-4A42-AE7D-B4EA4892AD3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180</a:t>
            </a:r>
          </a:p>
        </p:txBody>
      </p:sp>
    </p:spTree>
    <p:extLst>
      <p:ext uri="{BB962C8B-B14F-4D97-AF65-F5344CB8AC3E}">
        <p14:creationId xmlns:p14="http://schemas.microsoft.com/office/powerpoint/2010/main" val="798315204"/>
      </p:ext>
    </p:extLst>
  </p:cSld>
</p:sld>
</file>

<file path=ppt/slides/slide1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DA36AD7-39D0-4C31-9044-9EABD6CB3B7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the reasoning</a:t>
            </a:r>
          </a:p>
        </p:txBody>
      </p:sp>
      <p:sp>
        <p:nvSpPr>
          <p:cNvPr id="2" name="paragraph-0">
            <a:extLst xmlns:a="http://schemas.openxmlformats.org/drawingml/2006/main">
              <a:ext uri="{FF2B5EF4-FFF2-40B4-BE49-F238E27FC236}">
                <a16:creationId xmlns:a16="http://schemas.microsoft.com/office/drawing/2014/main" id="{CD716BF8-B637-4D8D-BA14-618C20EBDAC5}"/>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4. Is rifampin a general add-on for any staphylococcal bone infection?</a:t>
            </a:r>
          </a:p>
        </p:txBody>
      </p:sp>
      <p:sp>
        <p:nvSpPr>
          <p:cNvPr id="3" name="footer">
            <a:extLst xmlns:a="http://schemas.openxmlformats.org/drawingml/2006/main">
              <a:ext uri="{FF2B5EF4-FFF2-40B4-BE49-F238E27FC236}">
                <a16:creationId xmlns:a16="http://schemas.microsoft.com/office/drawing/2014/main" id="{6761E76C-CA66-491B-B7D9-0B3EC47AB2B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FBB1F15-A723-4A3D-81D2-AAD4F22792B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181</a:t>
            </a:r>
          </a:p>
        </p:txBody>
      </p:sp>
    </p:spTree>
    <p:extLst>
      <p:ext uri="{BB962C8B-B14F-4D97-AF65-F5344CB8AC3E}">
        <p14:creationId xmlns:p14="http://schemas.microsoft.com/office/powerpoint/2010/main" val="166642904"/>
      </p:ext>
    </p:extLst>
  </p:cSld>
</p:sld>
</file>

<file path=ppt/slides/slide1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7569031-DFFC-4A52-8C86-E450A5AC7E4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D3883E2D-9800-4E83-94B7-CD444BF2AFD6}"/>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Its strongest clinical role is susceptible staphylococcal infection with retained prosthetic material in combination with another active agent. Never use it alone.</a:t>
            </a:r>
          </a:p>
        </p:txBody>
      </p:sp>
      <p:sp>
        <p:nvSpPr>
          <p:cNvPr id="3" name="footer">
            <a:extLst xmlns:a="http://schemas.openxmlformats.org/drawingml/2006/main">
              <a:ext uri="{FF2B5EF4-FFF2-40B4-BE49-F238E27FC236}">
                <a16:creationId xmlns:a16="http://schemas.microsoft.com/office/drawing/2014/main" id="{A8C53287-3877-43D6-8974-42E81972218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0723038-07DA-4485-80FC-05058FA1087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182</a:t>
            </a:r>
          </a:p>
        </p:txBody>
      </p:sp>
    </p:spTree>
    <p:extLst>
      <p:ext uri="{BB962C8B-B14F-4D97-AF65-F5344CB8AC3E}">
        <p14:creationId xmlns:p14="http://schemas.microsoft.com/office/powerpoint/2010/main" val="897417765"/>
      </p:ext>
    </p:extLst>
  </p:cSld>
</p:sld>
</file>

<file path=ppt/slides/slide1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674D20F-0402-4416-9467-F32C7DE97F9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the reasoning</a:t>
            </a:r>
          </a:p>
        </p:txBody>
      </p:sp>
      <p:sp>
        <p:nvSpPr>
          <p:cNvPr id="2" name="paragraph-0">
            <a:extLst xmlns:a="http://schemas.openxmlformats.org/drawingml/2006/main">
              <a:ext uri="{FF2B5EF4-FFF2-40B4-BE49-F238E27FC236}">
                <a16:creationId xmlns:a16="http://schemas.microsoft.com/office/drawing/2014/main" id="{01F57CF0-D5EE-46C7-9E2F-4818C6C8DCB8}"/>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5. Does osteomyelitis require six weeks of IV therapy?</a:t>
            </a:r>
          </a:p>
        </p:txBody>
      </p:sp>
      <p:sp>
        <p:nvSpPr>
          <p:cNvPr id="3" name="footer">
            <a:extLst xmlns:a="http://schemas.openxmlformats.org/drawingml/2006/main">
              <a:ext uri="{FF2B5EF4-FFF2-40B4-BE49-F238E27FC236}">
                <a16:creationId xmlns:a16="http://schemas.microsoft.com/office/drawing/2014/main" id="{CB95073F-A93B-4E62-AF52-DFF9E0984A1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8E20845-325C-4129-B09F-93912951620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183</a:t>
            </a:r>
          </a:p>
        </p:txBody>
      </p:sp>
    </p:spTree>
    <p:extLst>
      <p:ext uri="{BB962C8B-B14F-4D97-AF65-F5344CB8AC3E}">
        <p14:creationId xmlns:p14="http://schemas.microsoft.com/office/powerpoint/2010/main" val="879393297"/>
      </p:ext>
    </p:extLst>
  </p:cSld>
</p:sld>
</file>

<file path=ppt/slides/slide1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0EEE95A-762D-459B-958B-167629E0C14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1F581175-5F65-4AD7-9461-9363F3EE5EAE}"/>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Six weeks is a common maximum for adequately source-controlled osteomyelitis without retained implant, and validated oral regimens are reasonable in selected patients. Complete resection may need no osteomyelitis therapy at all.</a:t>
            </a:r>
          </a:p>
        </p:txBody>
      </p:sp>
      <p:sp>
        <p:nvSpPr>
          <p:cNvPr id="3" name="footer">
            <a:extLst xmlns:a="http://schemas.openxmlformats.org/drawingml/2006/main">
              <a:ext uri="{FF2B5EF4-FFF2-40B4-BE49-F238E27FC236}">
                <a16:creationId xmlns:a16="http://schemas.microsoft.com/office/drawing/2014/main" id="{89D8006B-39D8-49F6-8FB6-95875CD1974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BE08C14-934D-4273-9AC0-097CCCAAACC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184</a:t>
            </a:r>
          </a:p>
        </p:txBody>
      </p:sp>
    </p:spTree>
    <p:extLst>
      <p:ext uri="{BB962C8B-B14F-4D97-AF65-F5344CB8AC3E}">
        <p14:creationId xmlns:p14="http://schemas.microsoft.com/office/powerpoint/2010/main" val="211770906"/>
      </p:ext>
    </p:extLst>
  </p:cSld>
</p:sld>
</file>

<file path=ppt/slides/slide1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6A4438D-40A6-4798-A9FB-8BD24D67D64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the reasoning</a:t>
            </a:r>
          </a:p>
        </p:txBody>
      </p:sp>
      <p:sp>
        <p:nvSpPr>
          <p:cNvPr id="2" name="paragraph-0">
            <a:extLst xmlns:a="http://schemas.openxmlformats.org/drawingml/2006/main">
              <a:ext uri="{FF2B5EF4-FFF2-40B4-BE49-F238E27FC236}">
                <a16:creationId xmlns:a16="http://schemas.microsoft.com/office/drawing/2014/main" id="{303BEB4B-7C6E-4442-91C9-B4E3E33A04E9}"/>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6. Does exposed sacral bone prove osteomyelitis?</a:t>
            </a:r>
          </a:p>
        </p:txBody>
      </p:sp>
      <p:sp>
        <p:nvSpPr>
          <p:cNvPr id="3" name="footer">
            <a:extLst xmlns:a="http://schemas.openxmlformats.org/drawingml/2006/main">
              <a:ext uri="{FF2B5EF4-FFF2-40B4-BE49-F238E27FC236}">
                <a16:creationId xmlns:a16="http://schemas.microsoft.com/office/drawing/2014/main" id="{6A966FED-379D-4278-9397-E16361F3421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18F3F0E-E86F-49B3-B405-2301416108F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185</a:t>
            </a:r>
          </a:p>
        </p:txBody>
      </p:sp>
    </p:spTree>
    <p:extLst>
      <p:ext uri="{BB962C8B-B14F-4D97-AF65-F5344CB8AC3E}">
        <p14:creationId xmlns:p14="http://schemas.microsoft.com/office/powerpoint/2010/main" val="187501415"/>
      </p:ext>
    </p:extLst>
  </p:cSld>
</p:sld>
</file>

<file path=ppt/slides/slide1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F281B37-4521-4468-8E1E-2D50B01CFF1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4458554C-98CA-496C-A56A-6D965D479FE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Chronic exposed bone can show remodeling without histologic osteomyelitis, and MRI can overcall infection in this setting.</a:t>
            </a:r>
          </a:p>
        </p:txBody>
      </p:sp>
      <p:sp>
        <p:nvSpPr>
          <p:cNvPr id="3" name="footer">
            <a:extLst xmlns:a="http://schemas.openxmlformats.org/drawingml/2006/main">
              <a:ext uri="{FF2B5EF4-FFF2-40B4-BE49-F238E27FC236}">
                <a16:creationId xmlns:a16="http://schemas.microsoft.com/office/drawing/2014/main" id="{582D685E-D06A-465A-972F-A248ADEEF11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20E8F34-868E-4967-BE77-79F8C656EEC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186</a:t>
            </a:r>
          </a:p>
        </p:txBody>
      </p:sp>
    </p:spTree>
    <p:extLst>
      <p:ext uri="{BB962C8B-B14F-4D97-AF65-F5344CB8AC3E}">
        <p14:creationId xmlns:p14="http://schemas.microsoft.com/office/powerpoint/2010/main" val="1430137764"/>
      </p:ext>
    </p:extLst>
  </p:cSld>
</p:sld>
</file>

<file path=ppt/slides/slide1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24A1616-ECBD-41DB-B551-859FC311574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the reasoning</a:t>
            </a:r>
          </a:p>
        </p:txBody>
      </p:sp>
      <p:sp>
        <p:nvSpPr>
          <p:cNvPr id="2" name="paragraph-0">
            <a:extLst xmlns:a="http://schemas.openxmlformats.org/drawingml/2006/main">
              <a:ext uri="{FF2B5EF4-FFF2-40B4-BE49-F238E27FC236}">
                <a16:creationId xmlns:a16="http://schemas.microsoft.com/office/drawing/2014/main" id="{F2775EC4-F3BA-41B8-930A-EF30F26AAFED}"/>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7. What should an asymptomatic open sacral wound with suspected pelvic osteomyelitis receive if there is no debridement/flap plan?</a:t>
            </a:r>
          </a:p>
        </p:txBody>
      </p:sp>
      <p:sp>
        <p:nvSpPr>
          <p:cNvPr id="3" name="footer">
            <a:extLst xmlns:a="http://schemas.openxmlformats.org/drawingml/2006/main">
              <a:ext uri="{FF2B5EF4-FFF2-40B4-BE49-F238E27FC236}">
                <a16:creationId xmlns:a16="http://schemas.microsoft.com/office/drawing/2014/main" id="{720C3EB7-019D-4CB6-88BF-F9C97DAEEB3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EB12257-882F-407D-A836-78720AF8E02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187</a:t>
            </a:r>
          </a:p>
        </p:txBody>
      </p:sp>
    </p:spTree>
    <p:extLst>
      <p:ext uri="{BB962C8B-B14F-4D97-AF65-F5344CB8AC3E}">
        <p14:creationId xmlns:p14="http://schemas.microsoft.com/office/powerpoint/2010/main" val="1278571299"/>
      </p:ext>
    </p:extLst>
  </p:cSld>
</p:sld>
</file>

<file path=ppt/slides/slide1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F3682A1-BBEA-4E74-B929-8BC93157160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5E6D4636-70EF-48BF-92A6-1C2405E7C909}"/>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systemic antibiotics for the osteomyelitis label alone. Treat acute soft-tissue or systemic infections when present and focus on wound/pressure management.</a:t>
            </a:r>
          </a:p>
        </p:txBody>
      </p:sp>
      <p:sp>
        <p:nvSpPr>
          <p:cNvPr id="3" name="footer">
            <a:extLst xmlns:a="http://schemas.openxmlformats.org/drawingml/2006/main">
              <a:ext uri="{FF2B5EF4-FFF2-40B4-BE49-F238E27FC236}">
                <a16:creationId xmlns:a16="http://schemas.microsoft.com/office/drawing/2014/main" id="{B87EDAE2-C3A7-431A-826E-D32EF827800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E460908-77F4-4A8D-A3D2-608E271DE61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188</a:t>
            </a:r>
          </a:p>
        </p:txBody>
      </p:sp>
    </p:spTree>
    <p:extLst>
      <p:ext uri="{BB962C8B-B14F-4D97-AF65-F5344CB8AC3E}">
        <p14:creationId xmlns:p14="http://schemas.microsoft.com/office/powerpoint/2010/main" val="585522807"/>
      </p:ext>
    </p:extLst>
  </p:cSld>
</p:sld>
</file>

<file path=ppt/slides/slide1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05B4EE1-0E56-4276-A3CF-708F557EDEC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the reasoning</a:t>
            </a:r>
          </a:p>
        </p:txBody>
      </p:sp>
      <p:sp>
        <p:nvSpPr>
          <p:cNvPr id="2" name="paragraph-0">
            <a:extLst xmlns:a="http://schemas.openxmlformats.org/drawingml/2006/main">
              <a:ext uri="{FF2B5EF4-FFF2-40B4-BE49-F238E27FC236}">
                <a16:creationId xmlns:a16="http://schemas.microsoft.com/office/drawing/2014/main" id="{EFCA81DB-7A49-4201-AAFC-F241B555EAE3}"/>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8. When is chronic suppression most defensible?</a:t>
            </a:r>
          </a:p>
        </p:txBody>
      </p:sp>
      <p:sp>
        <p:nvSpPr>
          <p:cNvPr id="3" name="footer">
            <a:extLst xmlns:a="http://schemas.openxmlformats.org/drawingml/2006/main">
              <a:ext uri="{FF2B5EF4-FFF2-40B4-BE49-F238E27FC236}">
                <a16:creationId xmlns:a16="http://schemas.microsoft.com/office/drawing/2014/main" id="{7AE18F82-4EBD-4F67-ADA3-A905B8E4E05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DFBC3C7-D2C6-4BB1-8F1D-30FEFC2B01D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189</a:t>
            </a:r>
          </a:p>
        </p:txBody>
      </p:sp>
    </p:spTree>
    <p:extLst>
      <p:ext uri="{BB962C8B-B14F-4D97-AF65-F5344CB8AC3E}">
        <p14:creationId xmlns:p14="http://schemas.microsoft.com/office/powerpoint/2010/main" val="162614222"/>
      </p:ext>
    </p:extLst>
  </p:cSld>
</p:sld>
</file>

<file path=ppt/slides/slide1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6FC2EE6-F638-4F4F-BA8B-D89D70D261B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F4BEAC8E-C47E-4B20-BEAE-CC8713218B26}"/>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When a defined infection source such as retained prosthetic hardware cannot be removed, a known pathogen has a tolerable active oral option, and preventing relapse or further surgery is a meaningful patient goal.</a:t>
            </a:r>
          </a:p>
        </p:txBody>
      </p:sp>
      <p:sp>
        <p:nvSpPr>
          <p:cNvPr id="3" name="footer">
            <a:extLst xmlns:a="http://schemas.openxmlformats.org/drawingml/2006/main">
              <a:ext uri="{FF2B5EF4-FFF2-40B4-BE49-F238E27FC236}">
                <a16:creationId xmlns:a16="http://schemas.microsoft.com/office/drawing/2014/main" id="{A3833FC8-8531-4C6E-99A4-3C23C14210E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FEFA54C-130F-4F87-AF7A-99F4A3069F8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190</a:t>
            </a:r>
          </a:p>
        </p:txBody>
      </p:sp>
    </p:spTree>
    <p:extLst>
      <p:ext uri="{BB962C8B-B14F-4D97-AF65-F5344CB8AC3E}">
        <p14:creationId xmlns:p14="http://schemas.microsoft.com/office/powerpoint/2010/main" val="1337480905"/>
      </p:ext>
    </p:extLst>
  </p:cSld>
</p:sld>
</file>

<file path=ppt/slides/slide1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61D158F-DDAD-441A-A383-7EEAC8A4525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the reasoning</a:t>
            </a:r>
          </a:p>
        </p:txBody>
      </p:sp>
      <p:sp>
        <p:nvSpPr>
          <p:cNvPr id="2" name="paragraph-0">
            <a:extLst xmlns:a="http://schemas.openxmlformats.org/drawingml/2006/main">
              <a:ext uri="{FF2B5EF4-FFF2-40B4-BE49-F238E27FC236}">
                <a16:creationId xmlns:a16="http://schemas.microsoft.com/office/drawing/2014/main" id="{59F0C24E-6938-4FB6-ADDB-14123C032C6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9. Should worsening vertebral MRI at week 6 automatically extend antibiotics?</a:t>
            </a:r>
          </a:p>
        </p:txBody>
      </p:sp>
      <p:sp>
        <p:nvSpPr>
          <p:cNvPr id="3" name="footer">
            <a:extLst xmlns:a="http://schemas.openxmlformats.org/drawingml/2006/main">
              <a:ext uri="{FF2B5EF4-FFF2-40B4-BE49-F238E27FC236}">
                <a16:creationId xmlns:a16="http://schemas.microsoft.com/office/drawing/2014/main" id="{5014A337-BE20-4E39-AA0A-DA12EABAA20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590AF3E-E2B6-487B-820D-585732667ED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191</a:t>
            </a:r>
          </a:p>
        </p:txBody>
      </p:sp>
    </p:spTree>
    <p:extLst>
      <p:ext uri="{BB962C8B-B14F-4D97-AF65-F5344CB8AC3E}">
        <p14:creationId xmlns:p14="http://schemas.microsoft.com/office/powerpoint/2010/main" val="1030125558"/>
      </p:ext>
    </p:extLst>
  </p:cSld>
</p:sld>
</file>

<file path=ppt/slides/slide1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6307337-1015-425C-B5A2-877373577FF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274E5109-13A5-4687-8CBD-86C3BA465818}"/>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If pain, examination, and inflammatory markers are improving, imaging can lag behind clinical cure.</a:t>
            </a:r>
          </a:p>
        </p:txBody>
      </p:sp>
      <p:sp>
        <p:nvSpPr>
          <p:cNvPr id="3" name="footer">
            <a:extLst xmlns:a="http://schemas.openxmlformats.org/drawingml/2006/main">
              <a:ext uri="{FF2B5EF4-FFF2-40B4-BE49-F238E27FC236}">
                <a16:creationId xmlns:a16="http://schemas.microsoft.com/office/drawing/2014/main" id="{DD4B2DB6-A667-42A1-99DF-A195B64CE0A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901DD4D-530A-4E2B-8D44-9460F06E823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192</a:t>
            </a:r>
          </a:p>
        </p:txBody>
      </p:sp>
    </p:spTree>
    <p:extLst>
      <p:ext uri="{BB962C8B-B14F-4D97-AF65-F5344CB8AC3E}">
        <p14:creationId xmlns:p14="http://schemas.microsoft.com/office/powerpoint/2010/main" val="2120498089"/>
      </p:ext>
    </p:extLst>
  </p:cSld>
</p:sld>
</file>

<file path=ppt/slides/slide1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774E4C1-7BE2-469C-BEBA-8F7839A7499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the reasoning</a:t>
            </a:r>
          </a:p>
        </p:txBody>
      </p:sp>
      <p:sp>
        <p:nvSpPr>
          <p:cNvPr id="2" name="paragraph-0">
            <a:extLst xmlns:a="http://schemas.openxmlformats.org/drawingml/2006/main">
              <a:ext uri="{FF2B5EF4-FFF2-40B4-BE49-F238E27FC236}">
                <a16:creationId xmlns:a16="http://schemas.microsoft.com/office/drawing/2014/main" id="{D99383DF-D816-4F63-9D58-74A4A808DED8}"/>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10. What is the central documentation sentence?</a:t>
            </a:r>
          </a:p>
        </p:txBody>
      </p:sp>
      <p:sp>
        <p:nvSpPr>
          <p:cNvPr id="3" name="footer">
            <a:extLst xmlns:a="http://schemas.openxmlformats.org/drawingml/2006/main">
              <a:ext uri="{FF2B5EF4-FFF2-40B4-BE49-F238E27FC236}">
                <a16:creationId xmlns:a16="http://schemas.microsoft.com/office/drawing/2014/main" id="{A4C813A3-C4FD-48FB-9844-20F0537E382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212EE4C-F631-4F62-9100-0FBE5999363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193</a:t>
            </a:r>
          </a:p>
        </p:txBody>
      </p:sp>
    </p:spTree>
    <p:extLst>
      <p:ext uri="{BB962C8B-B14F-4D97-AF65-F5344CB8AC3E}">
        <p14:creationId xmlns:p14="http://schemas.microsoft.com/office/powerpoint/2010/main" val="1910588414"/>
      </p:ext>
    </p:extLst>
  </p:cSld>
</p:sld>
</file>

<file path=ppt/slides/slide1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E2EA556-E0C7-4BEB-A179-C44A3157ADF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E4B9FF94-CA94-4E67-9C48-3ED7C5E66FB7}"/>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State the infected structure, source control completed or impossible, microbiologic target, treatment intent, and what event determines duration.</a:t>
            </a:r>
          </a:p>
        </p:txBody>
      </p:sp>
      <p:sp>
        <p:nvSpPr>
          <p:cNvPr id="3" name="footer">
            <a:extLst xmlns:a="http://schemas.openxmlformats.org/drawingml/2006/main">
              <a:ext uri="{FF2B5EF4-FFF2-40B4-BE49-F238E27FC236}">
                <a16:creationId xmlns:a16="http://schemas.microsoft.com/office/drawing/2014/main" id="{8274DF82-76D6-4F90-9FAC-B159C41A8DA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EE0A9E0-9773-4F26-B72A-FBFA98389D2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194</a:t>
            </a:r>
          </a:p>
        </p:txBody>
      </p:sp>
    </p:spTree>
    <p:extLst>
      <p:ext uri="{BB962C8B-B14F-4D97-AF65-F5344CB8AC3E}">
        <p14:creationId xmlns:p14="http://schemas.microsoft.com/office/powerpoint/2010/main" val="1377306298"/>
      </p:ext>
    </p:extLst>
  </p:cSld>
</p:sld>
</file>

<file path=ppt/slides/slide1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A64F749-BBE6-4603-BE14-0F83A1F0A90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Suggested documentation</a:t>
            </a:r>
          </a:p>
        </p:txBody>
      </p:sp>
      <p:sp>
        <p:nvSpPr>
          <p:cNvPr id="2" name="paragraph-0">
            <a:extLst xmlns:a="http://schemas.openxmlformats.org/drawingml/2006/main">
              <a:ext uri="{FF2B5EF4-FFF2-40B4-BE49-F238E27FC236}">
                <a16:creationId xmlns:a16="http://schemas.microsoft.com/office/drawing/2014/main" id="{ABC0FE6F-2533-4ECC-84F6-982DB908EA76}"/>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[Native joint / prosthetic joint / bone / vertebral / pressure-injury pelvic infection] involving [site]. Tempo is [acute/subacute/chronic], but duration will be determined by [source-control strategy and retained material], not tempo alone. Diagnostic evidence: [blood / synovial / deep tissue / bone cultures, histology, imaging]. The microbiologic target is [organism], with [important susceptibility/biofilm issue]. Avoid relying on [surface wound/sinus culture] for definitive therapy.</a:t>
            </a:r>
          </a:p>
        </p:txBody>
      </p:sp>
      <p:sp>
        <p:nvSpPr>
          <p:cNvPr id="3" name="footer">
            <a:extLst xmlns:a="http://schemas.openxmlformats.org/drawingml/2006/main">
              <a:ext uri="{FF2B5EF4-FFF2-40B4-BE49-F238E27FC236}">
                <a16:creationId xmlns:a16="http://schemas.microsoft.com/office/drawing/2014/main" id="{001CF164-F11E-421D-A245-189485BB31D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E8576E7-801B-4868-98F8-96363E7241A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195</a:t>
            </a:r>
          </a:p>
        </p:txBody>
      </p:sp>
    </p:spTree>
    <p:extLst>
      <p:ext uri="{BB962C8B-B14F-4D97-AF65-F5344CB8AC3E}">
        <p14:creationId xmlns:p14="http://schemas.microsoft.com/office/powerpoint/2010/main" val="2105052092"/>
      </p:ext>
    </p:extLst>
  </p:cSld>
</p:sld>
</file>

<file path=ppt/slides/slide1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32C1740-396F-4353-B1F7-A104AFFABC8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Suggested documentation</a:t>
            </a:r>
          </a:p>
        </p:txBody>
      </p:sp>
      <p:sp>
        <p:nvSpPr>
          <p:cNvPr id="2" name="paragraph-0">
            <a:extLst xmlns:a="http://schemas.openxmlformats.org/drawingml/2006/main">
              <a:ext uri="{FF2B5EF4-FFF2-40B4-BE49-F238E27FC236}">
                <a16:creationId xmlns:a16="http://schemas.microsoft.com/office/drawing/2014/main" id="{2EBF31EB-F294-4AFC-B16A-37D3BAA7C336}"/>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 control: [aspiration/lavage/debridement/DAIR with modular exchange/one-stage/two-stage/resection/flap/drainage] is [completed/planned/not feasible]. Residual infected material is [none / prosthesis / fixation hardware / necrotic bone / open wound]. Antibiotics: [drug, dose/route] because [pathogen/site/exposure]. Oral transition is appropriate when [criteria]. Planned curative duration is [duration] from [debridement/source control/effective therapy as appropriate].</a:t>
            </a:r>
          </a:p>
        </p:txBody>
      </p:sp>
      <p:sp>
        <p:nvSpPr>
          <p:cNvPr id="3" name="footer">
            <a:extLst xmlns:a="http://schemas.openxmlformats.org/drawingml/2006/main">
              <a:ext uri="{FF2B5EF4-FFF2-40B4-BE49-F238E27FC236}">
                <a16:creationId xmlns:a16="http://schemas.microsoft.com/office/drawing/2014/main" id="{2888196A-F546-4F71-B58C-F6C9EBAB9D4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7E93D0F-347C-4EE6-BF11-57C6D36512D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196</a:t>
            </a:r>
          </a:p>
        </p:txBody>
      </p:sp>
    </p:spTree>
    <p:extLst>
      <p:ext uri="{BB962C8B-B14F-4D97-AF65-F5344CB8AC3E}">
        <p14:creationId xmlns:p14="http://schemas.microsoft.com/office/powerpoint/2010/main" val="1971423156"/>
      </p:ext>
    </p:extLst>
  </p:cSld>
</p:sld>
</file>

<file path=ppt/slides/slide1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2F182DA-EE04-4DBB-9C12-E520DC24FFA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Suggested documentation</a:t>
            </a:r>
          </a:p>
        </p:txBody>
      </p:sp>
      <p:sp>
        <p:nvSpPr>
          <p:cNvPr id="2" name="paragraph-0">
            <a:extLst xmlns:a="http://schemas.openxmlformats.org/drawingml/2006/main">
              <a:ext uri="{FF2B5EF4-FFF2-40B4-BE49-F238E27FC236}">
                <a16:creationId xmlns:a16="http://schemas.microsoft.com/office/drawing/2014/main" id="{2BA28541-2286-4EFE-A8DE-BD75C6B2FC13}"/>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If suppression is planned, document that intent explicitly as noncurative and define the goal, monitoring, and reassessment plan. Non-ID plan: [orthopedics/spine/plastics/wound care/podiatry/vascular], [pressure offloading or weight-bearing plan], [wound/flap plan], [nutrition/perfusion/glycemic/rehab issues]. Reassess on [date/event] for [clinical response, cultures, wound status, hardware stability, toxicity, need for further source control].</a:t>
            </a:r>
          </a:p>
        </p:txBody>
      </p:sp>
      <p:sp>
        <p:nvSpPr>
          <p:cNvPr id="3" name="footer">
            <a:extLst xmlns:a="http://schemas.openxmlformats.org/drawingml/2006/main">
              <a:ext uri="{FF2B5EF4-FFF2-40B4-BE49-F238E27FC236}">
                <a16:creationId xmlns:a16="http://schemas.microsoft.com/office/drawing/2014/main" id="{838BBBC8-5873-4B89-9B81-D30C4DB4A88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782F20C-FF96-472D-A566-D1097206A7B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197</a:t>
            </a:r>
          </a:p>
        </p:txBody>
      </p:sp>
    </p:spTree>
    <p:extLst>
      <p:ext uri="{BB962C8B-B14F-4D97-AF65-F5344CB8AC3E}">
        <p14:creationId xmlns:p14="http://schemas.microsoft.com/office/powerpoint/2010/main" val="1698136282"/>
      </p:ext>
    </p:extLst>
  </p:cSld>
</p:sld>
</file>

<file path=ppt/slides/slide1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F555961-0EE3-4D99-B387-092C688A0BD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a:t>
            </a:r>
          </a:p>
        </p:txBody>
      </p:sp>
      <p:sp>
        <p:nvSpPr>
          <p:cNvPr id="2" name="paragraph-0">
            <a:extLst xmlns:a="http://schemas.openxmlformats.org/drawingml/2006/main">
              <a:ext uri="{FF2B5EF4-FFF2-40B4-BE49-F238E27FC236}">
                <a16:creationId xmlns:a16="http://schemas.microsoft.com/office/drawing/2014/main" id="{4348D94C-95C0-4B25-978F-30DE9F32AD00}"/>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Accessed September 20, 2026. Older IDSA documents are included where they remain common US reference points, but the module identifies when newer evidence, current guidance, or local practice differs.</a:t>
            </a:r>
          </a:p>
        </p:txBody>
      </p:sp>
      <p:sp>
        <p:nvSpPr>
          <p:cNvPr id="3" name="footer">
            <a:extLst xmlns:a="http://schemas.openxmlformats.org/drawingml/2006/main">
              <a:ext uri="{FF2B5EF4-FFF2-40B4-BE49-F238E27FC236}">
                <a16:creationId xmlns:a16="http://schemas.microsoft.com/office/drawing/2014/main" id="{F5AB4903-32E6-4A0C-AFEB-A5941033B05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91E803B-1F93-4CFB-A8D9-665329BC5A8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198</a:t>
            </a:r>
          </a:p>
        </p:txBody>
      </p:sp>
    </p:spTree>
    <p:extLst>
      <p:ext uri="{BB962C8B-B14F-4D97-AF65-F5344CB8AC3E}">
        <p14:creationId xmlns:p14="http://schemas.microsoft.com/office/powerpoint/2010/main" val="1585881499"/>
      </p:ext>
    </p:extLst>
  </p:cSld>
</p:sld>
</file>

<file path=ppt/slides/slide1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C3E0EF4-5630-4897-8881-6C05173068F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a:t>
            </a:r>
          </a:p>
        </p:txBody>
      </p:sp>
      <p:sp>
        <p:nvSpPr>
          <p:cNvPr id="2" name="paragraph-0">
            <a:extLst xmlns:a="http://schemas.openxmlformats.org/drawingml/2006/main">
              <a:ext uri="{FF2B5EF4-FFF2-40B4-BE49-F238E27FC236}">
                <a16:creationId xmlns:a16="http://schemas.microsoft.com/office/drawing/2014/main" id="{8336C363-F382-49F3-93B5-F1CF2AE91C9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Guideline Ravn et al. Guideline for management of septic arthritis in native joints (SANJO). J Bone Joint Infect. 2023;8:29–37.</a:t>
            </a:r>
          </a:p>
        </p:txBody>
      </p:sp>
      <p:sp>
        <p:nvSpPr>
          <p:cNvPr id="3" name="footer">
            <a:extLst xmlns:a="http://schemas.openxmlformats.org/drawingml/2006/main">
              <a:ext uri="{FF2B5EF4-FFF2-40B4-BE49-F238E27FC236}">
                <a16:creationId xmlns:a16="http://schemas.microsoft.com/office/drawing/2014/main" id="{89952B5C-DE80-4E81-89C9-6AB92B20C58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33E30690-0AA1-44BA-96C2-7EC0432E684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199</a:t>
            </a:r>
          </a:p>
        </p:txBody>
      </p:sp>
    </p:spTree>
    <p:extLst>
      <p:ext uri="{BB962C8B-B14F-4D97-AF65-F5344CB8AC3E}">
        <p14:creationId xmlns:p14="http://schemas.microsoft.com/office/powerpoint/2010/main" val="2131004552"/>
      </p:ext>
    </p:extLst>
  </p:cSld>
</p:sld>
</file>

<file path=ppt/slides/slide2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5058CA7-A408-40E2-823D-0E277F91DB0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a:t>
            </a:r>
          </a:p>
        </p:txBody>
      </p:sp>
      <p:sp>
        <p:nvSpPr>
          <p:cNvPr id="2" name="paragraph-0">
            <a:extLst xmlns:a="http://schemas.openxmlformats.org/drawingml/2006/main">
              <a:ext uri="{FF2B5EF4-FFF2-40B4-BE49-F238E27FC236}">
                <a16:creationId xmlns:a16="http://schemas.microsoft.com/office/drawing/2014/main" id="{DC45E792-A80D-41C5-AA1A-80B1EBFBB700}"/>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Randomized trial Gjika et al. Two weeks versus four weeks after surgical drainage for native joint bacterial arthritis. Ann Rheum Dis. 2019;78:1114–1121.</a:t>
            </a:r>
          </a:p>
        </p:txBody>
      </p:sp>
      <p:sp>
        <p:nvSpPr>
          <p:cNvPr id="3" name="footer">
            <a:extLst xmlns:a="http://schemas.openxmlformats.org/drawingml/2006/main">
              <a:ext uri="{FF2B5EF4-FFF2-40B4-BE49-F238E27FC236}">
                <a16:creationId xmlns:a16="http://schemas.microsoft.com/office/drawing/2014/main" id="{FA015199-6A27-4C5A-A9D5-395370A883B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5C81DC70-03EA-4908-8F0E-CC3EB0CF126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200</a:t>
            </a:r>
          </a:p>
        </p:txBody>
      </p:sp>
    </p:spTree>
    <p:extLst>
      <p:ext uri="{BB962C8B-B14F-4D97-AF65-F5344CB8AC3E}">
        <p14:creationId xmlns:p14="http://schemas.microsoft.com/office/powerpoint/2010/main" val="783245341"/>
      </p:ext>
    </p:extLst>
  </p:cSld>
</p:sld>
</file>

<file path=ppt/slides/slide2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6196625-C4B7-4065-943F-1CBE9C83185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a:t>
            </a:r>
          </a:p>
        </p:txBody>
      </p:sp>
      <p:sp>
        <p:nvSpPr>
          <p:cNvPr id="2" name="paragraph-0">
            <a:extLst xmlns:a="http://schemas.openxmlformats.org/drawingml/2006/main">
              <a:ext uri="{FF2B5EF4-FFF2-40B4-BE49-F238E27FC236}">
                <a16:creationId xmlns:a16="http://schemas.microsoft.com/office/drawing/2014/main" id="{F1BB8522-0F45-4727-84A7-4F3AE93C4A05}"/>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Guideline CDC. Gonococcal infections among adolescents and adults.</a:t>
            </a:r>
          </a:p>
        </p:txBody>
      </p:sp>
      <p:sp>
        <p:nvSpPr>
          <p:cNvPr id="3" name="footer">
            <a:extLst xmlns:a="http://schemas.openxmlformats.org/drawingml/2006/main">
              <a:ext uri="{FF2B5EF4-FFF2-40B4-BE49-F238E27FC236}">
                <a16:creationId xmlns:a16="http://schemas.microsoft.com/office/drawing/2014/main" id="{37FBB660-E1D9-43E2-B6A6-5700F87A57E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698C8DBE-3345-4EC2-B4C5-ECB8CDE059D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201</a:t>
            </a:r>
          </a:p>
        </p:txBody>
      </p:sp>
    </p:spTree>
    <p:extLst>
      <p:ext uri="{BB962C8B-B14F-4D97-AF65-F5344CB8AC3E}">
        <p14:creationId xmlns:p14="http://schemas.microsoft.com/office/powerpoint/2010/main" val="837113792"/>
      </p:ext>
    </p:extLst>
  </p:cSld>
</p:sld>
</file>

<file path=ppt/slides/slide2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AA80321-6830-4249-BE90-850D2D28443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a:t>
            </a:r>
          </a:p>
        </p:txBody>
      </p:sp>
      <p:sp>
        <p:nvSpPr>
          <p:cNvPr id="2" name="paragraph-0">
            <a:extLst xmlns:a="http://schemas.openxmlformats.org/drawingml/2006/main">
              <a:ext uri="{FF2B5EF4-FFF2-40B4-BE49-F238E27FC236}">
                <a16:creationId xmlns:a16="http://schemas.microsoft.com/office/drawing/2014/main" id="{0B72F4BC-50D3-4524-AB72-28477F3ABB8C}"/>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Archived guideline Osmon et al. IDSA Diagnosis and Management of Prosthetic Joint Infection. Clin Infect Dis. 2013;56:e1–e25.</a:t>
            </a:r>
          </a:p>
        </p:txBody>
      </p:sp>
      <p:sp>
        <p:nvSpPr>
          <p:cNvPr id="3" name="footer">
            <a:extLst xmlns:a="http://schemas.openxmlformats.org/drawingml/2006/main">
              <a:ext uri="{FF2B5EF4-FFF2-40B4-BE49-F238E27FC236}">
                <a16:creationId xmlns:a16="http://schemas.microsoft.com/office/drawing/2014/main" id="{BB65A8B4-6CD4-4330-BC08-06DBAFF6943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BE7D1B4D-EA0B-4417-97F9-BBBFA4D8F76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202</a:t>
            </a:r>
          </a:p>
        </p:txBody>
      </p:sp>
    </p:spTree>
    <p:extLst>
      <p:ext uri="{BB962C8B-B14F-4D97-AF65-F5344CB8AC3E}">
        <p14:creationId xmlns:p14="http://schemas.microsoft.com/office/powerpoint/2010/main" val="49930555"/>
      </p:ext>
    </p:extLst>
  </p:cSld>
</p:sld>
</file>

<file path=ppt/slides/slide2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6666850-CCD9-4261-8874-C7C5E1F9259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a:t>
            </a:r>
          </a:p>
        </p:txBody>
      </p:sp>
      <p:sp>
        <p:nvSpPr>
          <p:cNvPr id="2" name="paragraph-0">
            <a:extLst xmlns:a="http://schemas.openxmlformats.org/drawingml/2006/main">
              <a:ext uri="{FF2B5EF4-FFF2-40B4-BE49-F238E27FC236}">
                <a16:creationId xmlns:a16="http://schemas.microsoft.com/office/drawing/2014/main" id="{9A2C2242-143A-413D-A395-37968B0C5092}"/>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Contemporary review Nelson et al. Periprosthetic Joint Infection: Current Clinical Challenges. Clin Infect Dis. 2023;77:939–946.</a:t>
            </a:r>
          </a:p>
        </p:txBody>
      </p:sp>
      <p:sp>
        <p:nvSpPr>
          <p:cNvPr id="3" name="footer">
            <a:extLst xmlns:a="http://schemas.openxmlformats.org/drawingml/2006/main">
              <a:ext uri="{FF2B5EF4-FFF2-40B4-BE49-F238E27FC236}">
                <a16:creationId xmlns:a16="http://schemas.microsoft.com/office/drawing/2014/main" id="{D6835E07-FCAC-404D-94E6-8D438A9B8F9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7A6D3F97-7E59-45CD-B48C-BB47BED1669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203</a:t>
            </a:r>
          </a:p>
        </p:txBody>
      </p:sp>
    </p:spTree>
    <p:extLst>
      <p:ext uri="{BB962C8B-B14F-4D97-AF65-F5344CB8AC3E}">
        <p14:creationId xmlns:p14="http://schemas.microsoft.com/office/powerpoint/2010/main" val="1524212946"/>
      </p:ext>
    </p:extLst>
  </p:cSld>
</p:sld>
</file>

<file path=ppt/slides/slide2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8705155-C6BF-4989-BD63-378B5E419CB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a:t>
            </a:r>
          </a:p>
        </p:txBody>
      </p:sp>
      <p:sp>
        <p:nvSpPr>
          <p:cNvPr id="2" name="paragraph-0">
            <a:extLst xmlns:a="http://schemas.openxmlformats.org/drawingml/2006/main">
              <a:ext uri="{FF2B5EF4-FFF2-40B4-BE49-F238E27FC236}">
                <a16:creationId xmlns:a16="http://schemas.microsoft.com/office/drawing/2014/main" id="{88F6AD7E-A79E-4DD0-B55B-C76133E5FB24}"/>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Randomized trial Bernard et al. Antibiotic Therapy for 6 or 12 Weeks for Prosthetic Joint Infection. N Engl J Med. 2021;384:1991–2001.</a:t>
            </a:r>
          </a:p>
        </p:txBody>
      </p:sp>
      <p:sp>
        <p:nvSpPr>
          <p:cNvPr id="3" name="footer">
            <a:extLst xmlns:a="http://schemas.openxmlformats.org/drawingml/2006/main">
              <a:ext uri="{FF2B5EF4-FFF2-40B4-BE49-F238E27FC236}">
                <a16:creationId xmlns:a16="http://schemas.microsoft.com/office/drawing/2014/main" id="{99E39039-FD01-4296-ACB4-5F97C5AB36B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A69B9BC-0F5B-4571-B823-1E6180A9C19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204</a:t>
            </a:r>
          </a:p>
        </p:txBody>
      </p:sp>
    </p:spTree>
    <p:extLst>
      <p:ext uri="{BB962C8B-B14F-4D97-AF65-F5344CB8AC3E}">
        <p14:creationId xmlns:p14="http://schemas.microsoft.com/office/powerpoint/2010/main" val="1525036036"/>
      </p:ext>
    </p:extLst>
  </p:cSld>
</p:sld>
</file>

<file path=ppt/slides/slide2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3F509E3-37EE-4717-BC81-70A847C3D21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a:t>
            </a:r>
          </a:p>
        </p:txBody>
      </p:sp>
      <p:sp>
        <p:nvSpPr>
          <p:cNvPr id="2" name="paragraph-0">
            <a:extLst xmlns:a="http://schemas.openxmlformats.org/drawingml/2006/main">
              <a:ext uri="{FF2B5EF4-FFF2-40B4-BE49-F238E27FC236}">
                <a16:creationId xmlns:a16="http://schemas.microsoft.com/office/drawing/2014/main" id="{338AEF9F-82E1-4D1B-AEBD-A06743B61831}"/>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Systematic review + consensus Hanssen et al. Suppressive Antimicrobial Therapy for Prosthetic Joint Infections. Clin Infect Dis. Published April 13, 2026.</a:t>
            </a:r>
          </a:p>
        </p:txBody>
      </p:sp>
      <p:sp>
        <p:nvSpPr>
          <p:cNvPr id="3" name="footer">
            <a:extLst xmlns:a="http://schemas.openxmlformats.org/drawingml/2006/main">
              <a:ext uri="{FF2B5EF4-FFF2-40B4-BE49-F238E27FC236}">
                <a16:creationId xmlns:a16="http://schemas.microsoft.com/office/drawing/2014/main" id="{67CA3A0A-0CE0-4D58-A6C7-F00CFB603F8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B1918D67-9A5D-4579-B185-DC9CCE8C6DD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205</a:t>
            </a:r>
          </a:p>
        </p:txBody>
      </p:sp>
    </p:spTree>
    <p:extLst>
      <p:ext uri="{BB962C8B-B14F-4D97-AF65-F5344CB8AC3E}">
        <p14:creationId xmlns:p14="http://schemas.microsoft.com/office/powerpoint/2010/main" val="1736988622"/>
      </p:ext>
    </p:extLst>
  </p:cSld>
</p:sld>
</file>

<file path=ppt/slides/slide2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7EB1FC6-DBB6-4749-988B-6656F7A916C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a:t>
            </a:r>
          </a:p>
        </p:txBody>
      </p:sp>
      <p:sp>
        <p:nvSpPr>
          <p:cNvPr id="2" name="paragraph-0">
            <a:extLst xmlns:a="http://schemas.openxmlformats.org/drawingml/2006/main">
              <a:ext uri="{FF2B5EF4-FFF2-40B4-BE49-F238E27FC236}">
                <a16:creationId xmlns:a16="http://schemas.microsoft.com/office/drawing/2014/main" id="{94E0F0A3-3131-4BC7-AF74-548711BE309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Randomized trial Li et al. Oral versus Intravenous Antibiotics for Bone and Joint Infection (OVIVA). N Engl J Med. 2019;380:425–436.</a:t>
            </a:r>
          </a:p>
        </p:txBody>
      </p:sp>
      <p:sp>
        <p:nvSpPr>
          <p:cNvPr id="3" name="footer">
            <a:extLst xmlns:a="http://schemas.openxmlformats.org/drawingml/2006/main">
              <a:ext uri="{FF2B5EF4-FFF2-40B4-BE49-F238E27FC236}">
                <a16:creationId xmlns:a16="http://schemas.microsoft.com/office/drawing/2014/main" id="{47EDA616-2165-4E9E-AFEC-F3CF725D3DF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1BFB687C-270C-4647-9692-DE89BB33710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206</a:t>
            </a:r>
          </a:p>
        </p:txBody>
      </p:sp>
    </p:spTree>
    <p:extLst>
      <p:ext uri="{BB962C8B-B14F-4D97-AF65-F5344CB8AC3E}">
        <p14:creationId xmlns:p14="http://schemas.microsoft.com/office/powerpoint/2010/main" val="159954025"/>
      </p:ext>
    </p:extLst>
  </p:cSld>
</p:sld>
</file>

<file path=ppt/slides/slide2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677AAD0-C5C4-44D8-8336-AC5051DA2DB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a:t>
            </a:r>
          </a:p>
        </p:txBody>
      </p:sp>
      <p:sp>
        <p:nvSpPr>
          <p:cNvPr id="2" name="paragraph-0">
            <a:extLst xmlns:a="http://schemas.openxmlformats.org/drawingml/2006/main">
              <a:ext uri="{FF2B5EF4-FFF2-40B4-BE49-F238E27FC236}">
                <a16:creationId xmlns:a16="http://schemas.microsoft.com/office/drawing/2014/main" id="{8DA0AC98-F9F8-41C7-B8DA-FF845A30212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Randomized trial McNally et al. Short or Long Antibiotic Regimens in Orthopedics (SOLARIO). N Engl J Med. Published September 16, 2026.</a:t>
            </a:r>
          </a:p>
        </p:txBody>
      </p:sp>
      <p:sp>
        <p:nvSpPr>
          <p:cNvPr id="3" name="footer">
            <a:extLst xmlns:a="http://schemas.openxmlformats.org/drawingml/2006/main">
              <a:ext uri="{FF2B5EF4-FFF2-40B4-BE49-F238E27FC236}">
                <a16:creationId xmlns:a16="http://schemas.microsoft.com/office/drawing/2014/main" id="{96CAB5D7-4667-4434-B349-BABEB90A1DD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4DCB801-9C71-46E2-816D-BB5ACF24254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207</a:t>
            </a:r>
          </a:p>
        </p:txBody>
      </p:sp>
    </p:spTree>
    <p:extLst>
      <p:ext uri="{BB962C8B-B14F-4D97-AF65-F5344CB8AC3E}">
        <p14:creationId xmlns:p14="http://schemas.microsoft.com/office/powerpoint/2010/main" val="1634739486"/>
      </p:ext>
    </p:extLst>
  </p:cSld>
</p:sld>
</file>

<file path=ppt/slides/slide2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733B59A-0313-4443-B729-0EB816D67E4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a:t>
            </a:r>
          </a:p>
        </p:txBody>
      </p:sp>
      <p:sp>
        <p:nvSpPr>
          <p:cNvPr id="2" name="paragraph-0">
            <a:extLst xmlns:a="http://schemas.openxmlformats.org/drawingml/2006/main">
              <a:ext uri="{FF2B5EF4-FFF2-40B4-BE49-F238E27FC236}">
                <a16:creationId xmlns:a16="http://schemas.microsoft.com/office/drawing/2014/main" id="{0A319040-E1AB-43E4-8075-A3CD13488A8F}"/>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Systematic review + consensus Spellberg et al. WikiGuidelines consensus statement for pyogenic osteomyelitis in adults. JAMA Netw Open. 2022;5:e2211321.</a:t>
            </a:r>
          </a:p>
        </p:txBody>
      </p:sp>
      <p:sp>
        <p:nvSpPr>
          <p:cNvPr id="3" name="footer">
            <a:extLst xmlns:a="http://schemas.openxmlformats.org/drawingml/2006/main">
              <a:ext uri="{FF2B5EF4-FFF2-40B4-BE49-F238E27FC236}">
                <a16:creationId xmlns:a16="http://schemas.microsoft.com/office/drawing/2014/main" id="{60528362-1E5C-43C3-ABF1-543F98C9507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3689D44-1ACA-4372-945F-B625F708E73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208</a:t>
            </a:r>
          </a:p>
        </p:txBody>
      </p:sp>
    </p:spTree>
    <p:extLst>
      <p:ext uri="{BB962C8B-B14F-4D97-AF65-F5344CB8AC3E}">
        <p14:creationId xmlns:p14="http://schemas.microsoft.com/office/powerpoint/2010/main" val="252001743"/>
      </p:ext>
    </p:extLst>
  </p:cSld>
</p:sld>
</file>

<file path=ppt/slides/slide2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9E5D4DF-A197-43D5-AD49-DF91ADD7B24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a:t>
            </a:r>
          </a:p>
        </p:txBody>
      </p:sp>
      <p:sp>
        <p:nvSpPr>
          <p:cNvPr id="2" name="paragraph-0">
            <a:extLst xmlns:a="http://schemas.openxmlformats.org/drawingml/2006/main">
              <a:ext uri="{FF2B5EF4-FFF2-40B4-BE49-F238E27FC236}">
                <a16:creationId xmlns:a16="http://schemas.microsoft.com/office/drawing/2014/main" id="{C9259106-91DC-4F45-8AFE-1E75C8A39272}"/>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Guideline Berbari et al. IDSA Native Vertebral Osteomyelitis guideline. 2015.</a:t>
            </a:r>
          </a:p>
        </p:txBody>
      </p:sp>
      <p:sp>
        <p:nvSpPr>
          <p:cNvPr id="3" name="footer">
            <a:extLst xmlns:a="http://schemas.openxmlformats.org/drawingml/2006/main">
              <a:ext uri="{FF2B5EF4-FFF2-40B4-BE49-F238E27FC236}">
                <a16:creationId xmlns:a16="http://schemas.microsoft.com/office/drawing/2014/main" id="{C8E6EDAB-9AF0-42E0-8969-70305FB4F88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AA8C699B-7C30-4E05-B3F7-5A8B3A940AE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209</a:t>
            </a:r>
          </a:p>
        </p:txBody>
      </p:sp>
    </p:spTree>
    <p:extLst>
      <p:ext uri="{BB962C8B-B14F-4D97-AF65-F5344CB8AC3E}">
        <p14:creationId xmlns:p14="http://schemas.microsoft.com/office/powerpoint/2010/main" val="2087238435"/>
      </p:ext>
    </p:extLst>
  </p:cSld>
</p:sld>
</file>

<file path=ppt/slides/slide2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D7A7C09-B980-4247-8DA9-0427440C138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a:t>
            </a:r>
          </a:p>
        </p:txBody>
      </p:sp>
      <p:sp>
        <p:nvSpPr>
          <p:cNvPr id="2" name="paragraph-0">
            <a:extLst xmlns:a="http://schemas.openxmlformats.org/drawingml/2006/main">
              <a:ext uri="{FF2B5EF4-FFF2-40B4-BE49-F238E27FC236}">
                <a16:creationId xmlns:a16="http://schemas.microsoft.com/office/drawing/2014/main" id="{55D97547-7573-4EDD-9763-EB2E4C59484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Guideline IWGDF/IDSA Guidelines on Diabetes-Related Foot Infections. 2023.</a:t>
            </a:r>
          </a:p>
        </p:txBody>
      </p:sp>
      <p:sp>
        <p:nvSpPr>
          <p:cNvPr id="3" name="footer">
            <a:extLst xmlns:a="http://schemas.openxmlformats.org/drawingml/2006/main">
              <a:ext uri="{FF2B5EF4-FFF2-40B4-BE49-F238E27FC236}">
                <a16:creationId xmlns:a16="http://schemas.microsoft.com/office/drawing/2014/main" id="{041EAE49-2799-4B29-8F28-C00EB75747C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90A52A13-DEB0-4D8A-8D3A-DA2F0871F83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210</a:t>
            </a:r>
          </a:p>
        </p:txBody>
      </p:sp>
    </p:spTree>
    <p:extLst>
      <p:ext uri="{BB962C8B-B14F-4D97-AF65-F5344CB8AC3E}">
        <p14:creationId xmlns:p14="http://schemas.microsoft.com/office/powerpoint/2010/main" val="684291254"/>
      </p:ext>
    </p:extLst>
  </p:cSld>
</p:sld>
</file>

<file path=ppt/slides/slide2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260DDFB-DFC7-4D6D-B3F8-CFD9E53E747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a:t>
            </a:r>
          </a:p>
        </p:txBody>
      </p:sp>
      <p:sp>
        <p:nvSpPr>
          <p:cNvPr id="2" name="paragraph-0">
            <a:extLst xmlns:a="http://schemas.openxmlformats.org/drawingml/2006/main">
              <a:ext uri="{FF2B5EF4-FFF2-40B4-BE49-F238E27FC236}">
                <a16:creationId xmlns:a16="http://schemas.microsoft.com/office/drawing/2014/main" id="{CB5A7AF0-DFF5-49F5-83E9-E1E36B8C8B0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Systematic review Wong, Holtom, Spellberg. Osteomyelitis Complicating Sacral Pressure Ulcers. Clin Infect Dis. 2019;68:338–342.</a:t>
            </a:r>
          </a:p>
        </p:txBody>
      </p:sp>
      <p:sp>
        <p:nvSpPr>
          <p:cNvPr id="3" name="footer">
            <a:extLst xmlns:a="http://schemas.openxmlformats.org/drawingml/2006/main">
              <a:ext uri="{FF2B5EF4-FFF2-40B4-BE49-F238E27FC236}">
                <a16:creationId xmlns:a16="http://schemas.microsoft.com/office/drawing/2014/main" id="{95E9E9CF-340B-4601-B028-49E5EE1AF6D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E2FF0E13-7C03-44CB-8F9E-50366B46520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211</a:t>
            </a:r>
          </a:p>
        </p:txBody>
      </p:sp>
    </p:spTree>
    <p:extLst>
      <p:ext uri="{BB962C8B-B14F-4D97-AF65-F5344CB8AC3E}">
        <p14:creationId xmlns:p14="http://schemas.microsoft.com/office/powerpoint/2010/main" val="1372661258"/>
      </p:ext>
    </p:extLst>
  </p:cSld>
</p:sld>
</file>

<file path=ppt/slides/slide2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7837834-CB4F-4096-B222-1BC80C87328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a:t>
            </a:r>
          </a:p>
        </p:txBody>
      </p:sp>
      <p:sp>
        <p:nvSpPr>
          <p:cNvPr id="2" name="paragraph-0">
            <a:extLst xmlns:a="http://schemas.openxmlformats.org/drawingml/2006/main">
              <a:ext uri="{FF2B5EF4-FFF2-40B4-BE49-F238E27FC236}">
                <a16:creationId xmlns:a16="http://schemas.microsoft.com/office/drawing/2014/main" id="{87786817-154F-4F94-994E-BD928BE46E1D}"/>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State-of-the-art review El Zein et al. Evaluation and Management of Pelvic Osteomyelitis in Stage IV Pressure Injuries. Clin Infect Dis. 2024;79:e11–e26.</a:t>
            </a:r>
          </a:p>
        </p:txBody>
      </p:sp>
      <p:sp>
        <p:nvSpPr>
          <p:cNvPr id="3" name="footer">
            <a:extLst xmlns:a="http://schemas.openxmlformats.org/drawingml/2006/main">
              <a:ext uri="{FF2B5EF4-FFF2-40B4-BE49-F238E27FC236}">
                <a16:creationId xmlns:a16="http://schemas.microsoft.com/office/drawing/2014/main" id="{29A2AF68-011C-4F20-8DAA-E06C43C80AD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3C0A279-C0E3-43A8-979D-0D4E4A75CED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212</a:t>
            </a:r>
          </a:p>
        </p:txBody>
      </p:sp>
    </p:spTree>
    <p:extLst>
      <p:ext uri="{BB962C8B-B14F-4D97-AF65-F5344CB8AC3E}">
        <p14:creationId xmlns:p14="http://schemas.microsoft.com/office/powerpoint/2010/main" val="757427112"/>
      </p:ext>
    </p:extLst>
  </p:cSld>
</p:sld>
</file>

<file path=ppt/slides/slide2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C3CC573-2517-4D61-818F-C8F44356052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a:t>
            </a:r>
          </a:p>
        </p:txBody>
      </p:sp>
      <p:sp>
        <p:nvSpPr>
          <p:cNvPr id="2" name="paragraph-0">
            <a:extLst xmlns:a="http://schemas.openxmlformats.org/drawingml/2006/main">
              <a:ext uri="{FF2B5EF4-FFF2-40B4-BE49-F238E27FC236}">
                <a16:creationId xmlns:a16="http://schemas.microsoft.com/office/drawing/2014/main" id="{7A55CA52-D4B7-429C-A0F3-16FC8E58DC2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Systematic review van der Naald et al. Brodie's Abscess: A Systematic Review. J Bone Jt Infect. 2019;4:33–39.</a:t>
            </a:r>
          </a:p>
        </p:txBody>
      </p:sp>
      <p:sp>
        <p:nvSpPr>
          <p:cNvPr id="3" name="footer">
            <a:extLst xmlns:a="http://schemas.openxmlformats.org/drawingml/2006/main">
              <a:ext uri="{FF2B5EF4-FFF2-40B4-BE49-F238E27FC236}">
                <a16:creationId xmlns:a16="http://schemas.microsoft.com/office/drawing/2014/main" id="{3782E276-B9C8-4419-ACD2-9E879158DDE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8C82720D-28AA-497D-BF01-A3D28755261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213</a:t>
            </a:r>
          </a:p>
        </p:txBody>
      </p:sp>
    </p:spTree>
    <p:extLst>
      <p:ext uri="{BB962C8B-B14F-4D97-AF65-F5344CB8AC3E}">
        <p14:creationId xmlns:p14="http://schemas.microsoft.com/office/powerpoint/2010/main" val="1971375121"/>
      </p:ext>
    </p:extLst>
  </p:cSld>
</p:sld>
</file>

<file path=ppt/slides/slide2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5063BE5-3305-4509-9035-D9986BDEF23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Bone and joint infections · One-page rounds sheet</a:t>
            </a:r>
          </a:p>
        </p:txBody>
      </p:sp>
      <p:sp>
        <p:nvSpPr>
          <p:cNvPr id="2" name="paragraph-0">
            <a:extLst xmlns:a="http://schemas.openxmlformats.org/drawingml/2006/main">
              <a:ext uri="{FF2B5EF4-FFF2-40B4-BE49-F238E27FC236}">
                <a16:creationId xmlns:a16="http://schemas.microsoft.com/office/drawing/2014/main" id="{29B72AE7-546B-49A4-82ED-8F365FE97A27}"/>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September 21, 2026 · Teaching companion. Specialty review pending.</a:t>
            </a:r>
          </a:p>
        </p:txBody>
      </p:sp>
      <p:sp>
        <p:nvSpPr>
          <p:cNvPr id="3" name="paragraph-1">
            <a:extLst xmlns:a="http://schemas.openxmlformats.org/drawingml/2006/main">
              <a:ext uri="{FF2B5EF4-FFF2-40B4-BE49-F238E27FC236}">
                <a16:creationId xmlns:a16="http://schemas.microsoft.com/office/drawing/2014/main" id="{1C50FD92-B12D-462A-89D4-8E0B6C24C49B}"/>
              </a:ext>
            </a:extLst>
          </p:cNvPr>
          <p:cNvSpPr>
            <a:spLocks xmlns:a="http://schemas.openxmlformats.org/drawingml/2006/main" noGrp="1"/>
          </p:cNvSpPr>
          <p:nvPr/>
        </p:nvSpPr>
        <p:spPr>
          <a:xfrm xmlns:a="http://schemas.openxmlformats.org/drawingml/2006/main">
            <a:off x="647700" y="25622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Aspirate before antibiotics if stable. Send culture, WBC/diff, crystals. Crystals do not exclude infection. Drain the joint. Empiric vancomycin + ceftriaxone is a common US starting point; use antipseudomonal coverage when risk warrants.</a:t>
            </a:r>
          </a:p>
        </p:txBody>
      </p:sp>
      <p:sp>
        <p:nvSpPr>
          <p:cNvPr id="4" name="paragraph-2">
            <a:extLst xmlns:a="http://schemas.openxmlformats.org/drawingml/2006/main">
              <a:ext uri="{FF2B5EF4-FFF2-40B4-BE49-F238E27FC236}">
                <a16:creationId xmlns:a16="http://schemas.microsoft.com/office/drawing/2014/main" id="{81174988-5452-424B-9107-D14B782D7971}"/>
              </a:ext>
            </a:extLst>
          </p:cNvPr>
          <p:cNvSpPr>
            <a:spLocks xmlns:a="http://schemas.openxmlformats.org/drawingml/2006/main" noGrp="1"/>
          </p:cNvSpPr>
          <p:nvPr/>
        </p:nvSpPr>
        <p:spPr>
          <a:xfrm xmlns:a="http://schemas.openxmlformats.org/drawingml/2006/main">
            <a:off x="647700" y="422910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Sinus tract to prosthesis = PJI. If stable, avoid premature antibiotics. Aspirate when useful. At surgery obtain multiple deep samples, ideally 5–6. Do not use superficial sinus/wound swab to choose long-term therapy.</a:t>
            </a:r>
          </a:p>
        </p:txBody>
      </p:sp>
      <p:sp>
        <p:nvSpPr>
          <p:cNvPr id="5" name="footer">
            <a:extLst xmlns:a="http://schemas.openxmlformats.org/drawingml/2006/main">
              <a:ext uri="{FF2B5EF4-FFF2-40B4-BE49-F238E27FC236}">
                <a16:creationId xmlns:a16="http://schemas.microsoft.com/office/drawing/2014/main" id="{936FC47C-9F24-45A1-B9C5-5CC3A404FC4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6" name="number">
            <a:extLst xmlns:a="http://schemas.openxmlformats.org/drawingml/2006/main">
              <a:ext uri="{FF2B5EF4-FFF2-40B4-BE49-F238E27FC236}">
                <a16:creationId xmlns:a16="http://schemas.microsoft.com/office/drawing/2014/main" id="{1EC2B65F-3694-4396-A2F0-63747CFECE2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214</a:t>
            </a:r>
          </a:p>
        </p:txBody>
      </p:sp>
    </p:spTree>
    <p:extLst>
      <p:ext uri="{BB962C8B-B14F-4D97-AF65-F5344CB8AC3E}">
        <p14:creationId xmlns:p14="http://schemas.microsoft.com/office/powerpoint/2010/main" val="1670280565"/>
      </p:ext>
    </p:extLst>
  </p:cSld>
</p:sld>
</file>

<file path=ppt/slides/slide2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F15E40B-1A9F-4542-98E5-2C7951E52D8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Bone and joint infections · One-page rounds sheet</a:t>
            </a:r>
          </a:p>
        </p:txBody>
      </p:sp>
      <p:sp>
        <p:nvSpPr>
          <p:cNvPr id="2" name="paragraph-0">
            <a:extLst xmlns:a="http://schemas.openxmlformats.org/drawingml/2006/main">
              <a:ext uri="{FF2B5EF4-FFF2-40B4-BE49-F238E27FC236}">
                <a16:creationId xmlns:a16="http://schemas.microsoft.com/office/drawing/2014/main" id="{42C52718-E22C-47A1-AA78-57344D167DB2}"/>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DAIR: acute, brief symptoms, fixed implant, no sinus, good tissue, exchange modular parts. One-stage: selected chronic PJI with known/tractable organism and good tissue. Two-stage: chronic/difficult infection, compromised tissue, or failed retention.</a:t>
            </a:r>
          </a:p>
        </p:txBody>
      </p:sp>
      <p:sp>
        <p:nvSpPr>
          <p:cNvPr id="3" name="paragraph-1">
            <a:extLst xmlns:a="http://schemas.openxmlformats.org/drawingml/2006/main">
              <a:ext uri="{FF2B5EF4-FFF2-40B4-BE49-F238E27FC236}">
                <a16:creationId xmlns:a16="http://schemas.microsoft.com/office/drawing/2014/main" id="{EF2D3960-B84F-4041-9C2A-CAEB5FC23AA1}"/>
              </a:ext>
            </a:extLst>
          </p:cNvPr>
          <p:cNvSpPr>
            <a:spLocks xmlns:a="http://schemas.openxmlformats.org/drawingml/2006/main" noGrp="1"/>
          </p:cNvSpPr>
          <p:nvPr/>
        </p:nvSpPr>
        <p:spPr>
          <a:xfrm xmlns:a="http://schemas.openxmlformats.org/drawingml/2006/main">
            <a:off x="647700" y="3619500"/>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Staphylococcal DAIR: IDSA rifampin-based regimen totals 3 months for hip or 6 months for knee. One-stage duration differs by pathogen and regimen. Two-stage after explant: IDSA recommends 4–6 weeks of pathogen-directed IV or highly bioavailable oral therapy; a fixed antibiotic holiday is not established. Positive reimplantation cultures need case-specific assessment. Give indicated perioperative prophylaxis.</a:t>
            </a:r>
          </a:p>
        </p:txBody>
      </p:sp>
      <p:sp>
        <p:nvSpPr>
          <p:cNvPr id="4" name="footer">
            <a:extLst xmlns:a="http://schemas.openxmlformats.org/drawingml/2006/main">
              <a:ext uri="{FF2B5EF4-FFF2-40B4-BE49-F238E27FC236}">
                <a16:creationId xmlns:a16="http://schemas.microsoft.com/office/drawing/2014/main" id="{2474FDFC-6BAC-4CBF-85A3-AA7CF8026A2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5" name="number">
            <a:extLst xmlns:a="http://schemas.openxmlformats.org/drawingml/2006/main">
              <a:ext uri="{FF2B5EF4-FFF2-40B4-BE49-F238E27FC236}">
                <a16:creationId xmlns:a16="http://schemas.microsoft.com/office/drawing/2014/main" id="{940213DC-141D-487A-9988-1388A182D51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215</a:t>
            </a:r>
          </a:p>
        </p:txBody>
      </p:sp>
    </p:spTree>
    <p:extLst>
      <p:ext uri="{BB962C8B-B14F-4D97-AF65-F5344CB8AC3E}">
        <p14:creationId xmlns:p14="http://schemas.microsoft.com/office/powerpoint/2010/main" val="1029440342"/>
      </p:ext>
    </p:extLst>
  </p:cSld>
</p:sld>
</file>

<file path=ppt/slides/slide2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87F7870-F298-4ECD-B8F3-1DB58A25F5C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Bone and joint infections · One-page rounds sheet</a:t>
            </a:r>
          </a:p>
        </p:txBody>
      </p:sp>
      <p:sp>
        <p:nvSpPr>
          <p:cNvPr id="2" name="paragraph-0">
            <a:extLst xmlns:a="http://schemas.openxmlformats.org/drawingml/2006/main">
              <a:ext uri="{FF2B5EF4-FFF2-40B4-BE49-F238E27FC236}">
                <a16:creationId xmlns:a16="http://schemas.microsoft.com/office/drawing/2014/main" id="{88B407A2-BD9E-4B1B-BD34-38BB34A88675}"/>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Culture meaningful tissue, drain abscess, remove necrotic bone. With adequate source control, generally ≤6 weeks. After complete resection without residual infection, diabetes-related foot guidance lists 2–5 days; general pyogenic osteomyelitis guidance permits no further course in selected cases.</a:t>
            </a:r>
          </a:p>
        </p:txBody>
      </p:sp>
      <p:sp>
        <p:nvSpPr>
          <p:cNvPr id="3" name="paragraph-1">
            <a:extLst xmlns:a="http://schemas.openxmlformats.org/drawingml/2006/main">
              <a:ext uri="{FF2B5EF4-FFF2-40B4-BE49-F238E27FC236}">
                <a16:creationId xmlns:a16="http://schemas.microsoft.com/office/drawing/2014/main" id="{B24AE042-3963-4F95-8304-8EE130F79C59}"/>
              </a:ext>
            </a:extLst>
          </p:cNvPr>
          <p:cNvSpPr>
            <a:spLocks xmlns:a="http://schemas.openxmlformats.org/drawingml/2006/main" noGrp="1"/>
          </p:cNvSpPr>
          <p:nvPr/>
        </p:nvSpPr>
        <p:spPr>
          <a:xfrm xmlns:a="http://schemas.openxmlformats.org/drawingml/2006/main">
            <a:off x="647700" y="39719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Stable neuro/hemodynamics: obtain microbiologic diagnosis before empiric therapy when possible. Most bacterial NVO = 6 weeks IV or highly bioavailable oral.</a:t>
            </a:r>
          </a:p>
        </p:txBody>
      </p:sp>
      <p:sp>
        <p:nvSpPr>
          <p:cNvPr id="4" name="footer">
            <a:extLst xmlns:a="http://schemas.openxmlformats.org/drawingml/2006/main">
              <a:ext uri="{FF2B5EF4-FFF2-40B4-BE49-F238E27FC236}">
                <a16:creationId xmlns:a16="http://schemas.microsoft.com/office/drawing/2014/main" id="{C14A09BC-FEEA-4249-A188-08AFBFE959A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5" name="number">
            <a:extLst xmlns:a="http://schemas.openxmlformats.org/drawingml/2006/main">
              <a:ext uri="{FF2B5EF4-FFF2-40B4-BE49-F238E27FC236}">
                <a16:creationId xmlns:a16="http://schemas.microsoft.com/office/drawing/2014/main" id="{C30EE02E-1609-49E1-9CE8-CDE44F12A71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216</a:t>
            </a:r>
          </a:p>
        </p:txBody>
      </p:sp>
    </p:spTree>
    <p:extLst>
      <p:ext uri="{BB962C8B-B14F-4D97-AF65-F5344CB8AC3E}">
        <p14:creationId xmlns:p14="http://schemas.microsoft.com/office/powerpoint/2010/main" val="1320879904"/>
      </p:ext>
    </p:extLst>
  </p:cSld>
</p:sld>
</file>

<file path=ppt/slides/slide2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B5C12B2-5744-4F8E-9279-766823FD8A3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Bone and joint infections · One-page rounds sheet</a:t>
            </a:r>
          </a:p>
        </p:txBody>
      </p:sp>
      <p:sp>
        <p:nvSpPr>
          <p:cNvPr id="2" name="paragraph-0">
            <a:extLst xmlns:a="http://schemas.openxmlformats.org/drawingml/2006/main">
              <a:ext uri="{FF2B5EF4-FFF2-40B4-BE49-F238E27FC236}">
                <a16:creationId xmlns:a16="http://schemas.microsoft.com/office/drawing/2014/main" id="{EB878372-61C0-49B1-9F1F-A72481CDED73}"/>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DFO without resection = 6 weeks. Minor amputation + positive bone margin = up to 3 weeks. Pair antibiotics with debridement, offloading, wound care, and vascular assessment when ischemic.</a:t>
            </a:r>
          </a:p>
        </p:txBody>
      </p:sp>
      <p:sp>
        <p:nvSpPr>
          <p:cNvPr id="3" name="paragraph-1">
            <a:extLst xmlns:a="http://schemas.openxmlformats.org/drawingml/2006/main">
              <a:ext uri="{FF2B5EF4-FFF2-40B4-BE49-F238E27FC236}">
                <a16:creationId xmlns:a16="http://schemas.microsoft.com/office/drawing/2014/main" id="{942E24FC-4D7F-4E94-84F2-6E0174DAAF32}"/>
              </a:ext>
            </a:extLst>
          </p:cNvPr>
          <p:cNvSpPr>
            <a:spLocks xmlns:a="http://schemas.openxmlformats.org/drawingml/2006/main" noGrp="1"/>
          </p:cNvSpPr>
          <p:nvPr/>
        </p:nvSpPr>
        <p:spPr>
          <a:xfrm xmlns:a="http://schemas.openxmlformats.org/drawingml/2006/main">
            <a:off x="647700" y="326707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Exposed bone or MRI “OM” without acute infection and without debridement/flap plan = no systemic antibiotics. Treat discrete cellulitis, abscess, bacteremia, or sepsis. If debridement + flap occurs, ~6 weeks remains conventional.</a:t>
            </a:r>
          </a:p>
        </p:txBody>
      </p:sp>
      <p:sp>
        <p:nvSpPr>
          <p:cNvPr id="4" name="footer">
            <a:extLst xmlns:a="http://schemas.openxmlformats.org/drawingml/2006/main">
              <a:ext uri="{FF2B5EF4-FFF2-40B4-BE49-F238E27FC236}">
                <a16:creationId xmlns:a16="http://schemas.microsoft.com/office/drawing/2014/main" id="{BF4C682A-BB8B-4E3D-ABE9-0D951AACF3D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5" name="number">
            <a:extLst xmlns:a="http://schemas.openxmlformats.org/drawingml/2006/main">
              <a:ext uri="{FF2B5EF4-FFF2-40B4-BE49-F238E27FC236}">
                <a16:creationId xmlns:a16="http://schemas.microsoft.com/office/drawing/2014/main" id="{9E6DFD2D-A0DD-460A-94A6-A11938CA560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217</a:t>
            </a:r>
          </a:p>
        </p:txBody>
      </p:sp>
    </p:spTree>
    <p:extLst>
      <p:ext uri="{BB962C8B-B14F-4D97-AF65-F5344CB8AC3E}">
        <p14:creationId xmlns:p14="http://schemas.microsoft.com/office/powerpoint/2010/main" val="667817896"/>
      </p:ext>
    </p:extLst>
  </p:cSld>
</p:sld>
</file>

<file path=ppt/slides/slide2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34CC85C-32F8-48AB-89AA-413B80C3DAA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Bone and joint infections · One-page rounds sheet</a:t>
            </a:r>
          </a:p>
        </p:txBody>
      </p:sp>
      <p:sp>
        <p:nvSpPr>
          <p:cNvPr id="2" name="paragraph-0">
            <a:extLst xmlns:a="http://schemas.openxmlformats.org/drawingml/2006/main">
              <a:ext uri="{FF2B5EF4-FFF2-40B4-BE49-F238E27FC236}">
                <a16:creationId xmlns:a16="http://schemas.microsoft.com/office/drawing/2014/main" id="{DCC76C63-F247-46B9-B01F-4C8C94CFF2C1}"/>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OVIVA supports oral treatment when stable, source controlled, absorbing reliably, and an active evidence-supported oral drug is available. Osteomyelitis does not automatically require a PICC.</a:t>
            </a:r>
          </a:p>
        </p:txBody>
      </p:sp>
      <p:sp>
        <p:nvSpPr>
          <p:cNvPr id="3" name="paragraph-1">
            <a:extLst xmlns:a="http://schemas.openxmlformats.org/drawingml/2006/main">
              <a:ext uri="{FF2B5EF4-FFF2-40B4-BE49-F238E27FC236}">
                <a16:creationId xmlns:a16="http://schemas.microsoft.com/office/drawing/2014/main" id="{51E992FD-DEC3-4BCB-9966-07E608730155}"/>
              </a:ext>
            </a:extLst>
          </p:cNvPr>
          <p:cNvSpPr>
            <a:spLocks xmlns:a="http://schemas.openxmlformats.org/drawingml/2006/main" noGrp="1"/>
          </p:cNvSpPr>
          <p:nvPr/>
        </p:nvSpPr>
        <p:spPr>
          <a:xfrm xmlns:a="http://schemas.openxmlformats.org/drawingml/2006/main">
            <a:off x="647700" y="32670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Noncurative. Best fit: defined pathogen + retained hardware/necrotic source that cannot be removed + tolerable active oral drug + meaningful goal. Do not routinely suppress an open sacral pressure wound.</a:t>
            </a:r>
          </a:p>
        </p:txBody>
      </p:sp>
      <p:sp>
        <p:nvSpPr>
          <p:cNvPr id="4" name="footer">
            <a:extLst xmlns:a="http://schemas.openxmlformats.org/drawingml/2006/main">
              <a:ext uri="{FF2B5EF4-FFF2-40B4-BE49-F238E27FC236}">
                <a16:creationId xmlns:a16="http://schemas.microsoft.com/office/drawing/2014/main" id="{2729E3FE-87FD-4AB2-9C6C-48CFF9A86A1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5" name="number">
            <a:extLst xmlns:a="http://schemas.openxmlformats.org/drawingml/2006/main">
              <a:ext uri="{FF2B5EF4-FFF2-40B4-BE49-F238E27FC236}">
                <a16:creationId xmlns:a16="http://schemas.microsoft.com/office/drawing/2014/main" id="{7FDB4271-00B3-4DD5-959D-7F06161D363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218</a:t>
            </a:r>
          </a:p>
        </p:txBody>
      </p:sp>
    </p:spTree>
    <p:extLst>
      <p:ext uri="{BB962C8B-B14F-4D97-AF65-F5344CB8AC3E}">
        <p14:creationId xmlns:p14="http://schemas.microsoft.com/office/powerpoint/2010/main" val="15776963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2026-10-28T18:28:27.9680000Z</dcterms:created>
  <dcterms:modified xsi:type="dcterms:W3CDTF">2026-10-28T18:28:27.9680000Z</dcterms:modified>
</coreProperties>
</file>