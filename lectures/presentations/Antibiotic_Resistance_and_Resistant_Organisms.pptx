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3b0602398947ed" /><Relationship Type="http://schemas.openxmlformats.org/officeDocument/2006/relationships/extended-properties" Target="/docProps/app.xml" Id="R7d18fb03e1824b77" /><Relationship Type="http://schemas.openxmlformats.org/officeDocument/2006/relationships/officeDocument" Target="/ppt/presentation.xml" Id="R2eaf45f507fa4a58" /></Relationships>
</file>

<file path=ppt/presentation.xml><?xml version="1.0" encoding="utf-8"?>
<p:presentation xmlns:p="http://schemas.openxmlformats.org/presentationml/2006/main">
  <p:sldMasterIdLst>
    <p:sldMasterId xmlns:r="http://schemas.openxmlformats.org/officeDocument/2006/relationships" id="2147483648" r:id="R520ae764ed994437"/>
  </p:sldMasterIdLst>
  <p:notesMasterIdLst>
    <p:notesMasterId xmlns:r="http://schemas.openxmlformats.org/officeDocument/2006/relationships" r:id="Rbe848d16c3f1428e"/>
  </p:notesMasterIdLst>
  <p:sldIdLst>
    <p:sldId xmlns:r="http://schemas.openxmlformats.org/officeDocument/2006/relationships" id="256" r:id="R14f5d33cf28c46dc"/>
    <p:sldId xmlns:r="http://schemas.openxmlformats.org/officeDocument/2006/relationships" id="257" r:id="R41b7962e511e4bd1"/>
    <p:sldId xmlns:r="http://schemas.openxmlformats.org/officeDocument/2006/relationships" id="258" r:id="R216a7362d182483e"/>
    <p:sldId xmlns:r="http://schemas.openxmlformats.org/officeDocument/2006/relationships" id="259" r:id="R3121789479724c98"/>
    <p:sldId xmlns:r="http://schemas.openxmlformats.org/officeDocument/2006/relationships" id="260" r:id="Rb98406da460d45fa"/>
    <p:sldId xmlns:r="http://schemas.openxmlformats.org/officeDocument/2006/relationships" id="261" r:id="Re94df97e325046e0"/>
    <p:sldId xmlns:r="http://schemas.openxmlformats.org/officeDocument/2006/relationships" id="262" r:id="Rf17ea233e7d64131"/>
    <p:sldId xmlns:r="http://schemas.openxmlformats.org/officeDocument/2006/relationships" id="263" r:id="R89eb01e136e140d2"/>
    <p:sldId xmlns:r="http://schemas.openxmlformats.org/officeDocument/2006/relationships" id="264" r:id="Rffaf14f923ff4f9f"/>
    <p:sldId xmlns:r="http://schemas.openxmlformats.org/officeDocument/2006/relationships" id="265" r:id="R7372201b6bde4c31"/>
    <p:sldId xmlns:r="http://schemas.openxmlformats.org/officeDocument/2006/relationships" id="266" r:id="Ra8273e98034d4fc6"/>
    <p:sldId xmlns:r="http://schemas.openxmlformats.org/officeDocument/2006/relationships" id="267" r:id="R5f83ea482f684c5b"/>
    <p:sldId xmlns:r="http://schemas.openxmlformats.org/officeDocument/2006/relationships" id="268" r:id="Ra34bb44478814ba4"/>
    <p:sldId xmlns:r="http://schemas.openxmlformats.org/officeDocument/2006/relationships" id="269" r:id="R0122bd89750d4b3f"/>
    <p:sldId xmlns:r="http://schemas.openxmlformats.org/officeDocument/2006/relationships" id="270" r:id="R29ed375c54394617"/>
    <p:sldId xmlns:r="http://schemas.openxmlformats.org/officeDocument/2006/relationships" id="271" r:id="R5abbe6a0e7e14033"/>
    <p:sldId xmlns:r="http://schemas.openxmlformats.org/officeDocument/2006/relationships" id="272" r:id="R6784970281464d35"/>
    <p:sldId xmlns:r="http://schemas.openxmlformats.org/officeDocument/2006/relationships" id="273" r:id="R5e729f391ac24a53"/>
    <p:sldId xmlns:r="http://schemas.openxmlformats.org/officeDocument/2006/relationships" id="274" r:id="Rb40a69a7cf6c4a79"/>
    <p:sldId xmlns:r="http://schemas.openxmlformats.org/officeDocument/2006/relationships" id="275" r:id="R2e33630b1a6745f5"/>
    <p:sldId xmlns:r="http://schemas.openxmlformats.org/officeDocument/2006/relationships" id="276" r:id="Rf31c137947d443f1"/>
    <p:sldId xmlns:r="http://schemas.openxmlformats.org/officeDocument/2006/relationships" id="277" r:id="Ra4106b842d2945ae"/>
    <p:sldId xmlns:r="http://schemas.openxmlformats.org/officeDocument/2006/relationships" id="278" r:id="R4afd64682e214c03"/>
    <p:sldId xmlns:r="http://schemas.openxmlformats.org/officeDocument/2006/relationships" id="279" r:id="R1daed9d8637e4ec7"/>
    <p:sldId xmlns:r="http://schemas.openxmlformats.org/officeDocument/2006/relationships" id="280" r:id="R7f0c676369da479c"/>
    <p:sldId xmlns:r="http://schemas.openxmlformats.org/officeDocument/2006/relationships" id="281" r:id="R3499896a937545f2"/>
    <p:sldId xmlns:r="http://schemas.openxmlformats.org/officeDocument/2006/relationships" id="282" r:id="R499f4c7ec92d4b3f"/>
    <p:sldId xmlns:r="http://schemas.openxmlformats.org/officeDocument/2006/relationships" id="283" r:id="R50f908eff1fa4df5"/>
    <p:sldId xmlns:r="http://schemas.openxmlformats.org/officeDocument/2006/relationships" id="284" r:id="Re1fb0d741f484493"/>
    <p:sldId xmlns:r="http://schemas.openxmlformats.org/officeDocument/2006/relationships" id="285" r:id="Re5c13e7500f34416"/>
    <p:sldId xmlns:r="http://schemas.openxmlformats.org/officeDocument/2006/relationships" id="286" r:id="R4dc66bbbb2674d21"/>
    <p:sldId xmlns:r="http://schemas.openxmlformats.org/officeDocument/2006/relationships" id="287" r:id="Reca54605be8f47fa"/>
    <p:sldId xmlns:r="http://schemas.openxmlformats.org/officeDocument/2006/relationships" id="288" r:id="R675f267176aa4d5c"/>
    <p:sldId xmlns:r="http://schemas.openxmlformats.org/officeDocument/2006/relationships" id="289" r:id="R62e9bbd68b4e4125"/>
    <p:sldId xmlns:r="http://schemas.openxmlformats.org/officeDocument/2006/relationships" id="290" r:id="R3c44e423b3524eaa"/>
    <p:sldId xmlns:r="http://schemas.openxmlformats.org/officeDocument/2006/relationships" id="291" r:id="R342595616157439f"/>
    <p:sldId xmlns:r="http://schemas.openxmlformats.org/officeDocument/2006/relationships" id="292" r:id="Rf40595ee0bb14604"/>
    <p:sldId xmlns:r="http://schemas.openxmlformats.org/officeDocument/2006/relationships" id="293" r:id="R42cf224766e3455b"/>
    <p:sldId xmlns:r="http://schemas.openxmlformats.org/officeDocument/2006/relationships" id="294" r:id="Rd0e2f73c4b844761"/>
    <p:sldId xmlns:r="http://schemas.openxmlformats.org/officeDocument/2006/relationships" id="295" r:id="R0e02315e612d4671"/>
    <p:sldId xmlns:r="http://schemas.openxmlformats.org/officeDocument/2006/relationships" id="296" r:id="R32c0c5482dbc413f"/>
    <p:sldId xmlns:r="http://schemas.openxmlformats.org/officeDocument/2006/relationships" id="297" r:id="Rc27963384f9d449d"/>
    <p:sldId xmlns:r="http://schemas.openxmlformats.org/officeDocument/2006/relationships" id="298" r:id="R4b188b2fdc844858"/>
    <p:sldId xmlns:r="http://schemas.openxmlformats.org/officeDocument/2006/relationships" id="299" r:id="R82d4041034584e5e"/>
    <p:sldId xmlns:r="http://schemas.openxmlformats.org/officeDocument/2006/relationships" id="300" r:id="Rbd3622e055e9463c"/>
    <p:sldId xmlns:r="http://schemas.openxmlformats.org/officeDocument/2006/relationships" id="301" r:id="Raba0cb8d62084766"/>
    <p:sldId xmlns:r="http://schemas.openxmlformats.org/officeDocument/2006/relationships" id="302" r:id="Rd00b220cc4fd47d1"/>
    <p:sldId xmlns:r="http://schemas.openxmlformats.org/officeDocument/2006/relationships" id="303" r:id="R0807cb7a367a43f3"/>
    <p:sldId xmlns:r="http://schemas.openxmlformats.org/officeDocument/2006/relationships" id="304" r:id="R5fa30d9628c24542"/>
    <p:sldId xmlns:r="http://schemas.openxmlformats.org/officeDocument/2006/relationships" id="305" r:id="Re9789b3346334a37"/>
    <p:sldId xmlns:r="http://schemas.openxmlformats.org/officeDocument/2006/relationships" id="306" r:id="R8d4e4aee91f14b6d"/>
    <p:sldId xmlns:r="http://schemas.openxmlformats.org/officeDocument/2006/relationships" id="307" r:id="R9049712093df42da"/>
    <p:sldId xmlns:r="http://schemas.openxmlformats.org/officeDocument/2006/relationships" id="308" r:id="Rbc6ecaaa08624366"/>
    <p:sldId xmlns:r="http://schemas.openxmlformats.org/officeDocument/2006/relationships" id="309" r:id="Rff6b75ad69364609"/>
    <p:sldId xmlns:r="http://schemas.openxmlformats.org/officeDocument/2006/relationships" id="310" r:id="R66c88782e2fa4241"/>
    <p:sldId xmlns:r="http://schemas.openxmlformats.org/officeDocument/2006/relationships" id="311" r:id="Ra5c64a4a956f4c46"/>
    <p:sldId xmlns:r="http://schemas.openxmlformats.org/officeDocument/2006/relationships" id="312" r:id="Rf5fe6089cc344347"/>
    <p:sldId xmlns:r="http://schemas.openxmlformats.org/officeDocument/2006/relationships" id="313" r:id="Rc90589d90fce4a97"/>
    <p:sldId xmlns:r="http://schemas.openxmlformats.org/officeDocument/2006/relationships" id="314" r:id="R8b667e4ff3364357"/>
    <p:sldId xmlns:r="http://schemas.openxmlformats.org/officeDocument/2006/relationships" id="315" r:id="R1ceb7aa906e44702"/>
    <p:sldId xmlns:r="http://schemas.openxmlformats.org/officeDocument/2006/relationships" id="316" r:id="R4ab044938b6b40d6"/>
    <p:sldId xmlns:r="http://schemas.openxmlformats.org/officeDocument/2006/relationships" id="317" r:id="Raaf9dd254f74424b"/>
    <p:sldId xmlns:r="http://schemas.openxmlformats.org/officeDocument/2006/relationships" id="318" r:id="R43ce675a33754772"/>
    <p:sldId xmlns:r="http://schemas.openxmlformats.org/officeDocument/2006/relationships" id="319" r:id="R5508e646e9414fe5"/>
    <p:sldId xmlns:r="http://schemas.openxmlformats.org/officeDocument/2006/relationships" id="320" r:id="Rae82096085d34baf"/>
    <p:sldId xmlns:r="http://schemas.openxmlformats.org/officeDocument/2006/relationships" id="321" r:id="Rf5e604bac1f14615"/>
    <p:sldId xmlns:r="http://schemas.openxmlformats.org/officeDocument/2006/relationships" id="322" r:id="R5f37ac7ea59440cd"/>
    <p:sldId xmlns:r="http://schemas.openxmlformats.org/officeDocument/2006/relationships" id="323" r:id="Ra95c98bc0b89485a"/>
    <p:sldId xmlns:r="http://schemas.openxmlformats.org/officeDocument/2006/relationships" id="324" r:id="Rbee114f237d941dc"/>
    <p:sldId xmlns:r="http://schemas.openxmlformats.org/officeDocument/2006/relationships" id="325" r:id="Rebd666beb30b49b1"/>
    <p:sldId xmlns:r="http://schemas.openxmlformats.org/officeDocument/2006/relationships" id="326" r:id="R25bbce863f5d4735"/>
    <p:sldId xmlns:r="http://schemas.openxmlformats.org/officeDocument/2006/relationships" id="327" r:id="Rc9bd9a20136c4d58"/>
    <p:sldId xmlns:r="http://schemas.openxmlformats.org/officeDocument/2006/relationships" id="328" r:id="R7c388836d6224dce"/>
    <p:sldId xmlns:r="http://schemas.openxmlformats.org/officeDocument/2006/relationships" id="329" r:id="R35302a7307b743bc"/>
    <p:sldId xmlns:r="http://schemas.openxmlformats.org/officeDocument/2006/relationships" id="330" r:id="R76fd548622954252"/>
    <p:sldId xmlns:r="http://schemas.openxmlformats.org/officeDocument/2006/relationships" id="331" r:id="R3a79f856979942c3"/>
    <p:sldId xmlns:r="http://schemas.openxmlformats.org/officeDocument/2006/relationships" id="332" r:id="R9b0e480eb835416d"/>
    <p:sldId xmlns:r="http://schemas.openxmlformats.org/officeDocument/2006/relationships" id="333" r:id="R6df1196e23234a10"/>
    <p:sldId xmlns:r="http://schemas.openxmlformats.org/officeDocument/2006/relationships" id="334" r:id="R9aa48182d3c84bb1"/>
    <p:sldId xmlns:r="http://schemas.openxmlformats.org/officeDocument/2006/relationships" id="335" r:id="R611f3d8dd3e34dc2"/>
    <p:sldId xmlns:r="http://schemas.openxmlformats.org/officeDocument/2006/relationships" id="336" r:id="R7813399d4d4c43cb"/>
    <p:sldId xmlns:r="http://schemas.openxmlformats.org/officeDocument/2006/relationships" id="337" r:id="R69a28e08ddc34559"/>
    <p:sldId xmlns:r="http://schemas.openxmlformats.org/officeDocument/2006/relationships" id="338" r:id="R92cd4eda75384d5a"/>
    <p:sldId xmlns:r="http://schemas.openxmlformats.org/officeDocument/2006/relationships" id="339" r:id="R980dd85f352b4056"/>
    <p:sldId xmlns:r="http://schemas.openxmlformats.org/officeDocument/2006/relationships" id="340" r:id="Rcb6bb104ee414eeb"/>
    <p:sldId xmlns:r="http://schemas.openxmlformats.org/officeDocument/2006/relationships" id="341" r:id="R763f6e0041c44e41"/>
    <p:sldId xmlns:r="http://schemas.openxmlformats.org/officeDocument/2006/relationships" id="342" r:id="Rfa3c7818f8424a4e"/>
    <p:sldId xmlns:r="http://schemas.openxmlformats.org/officeDocument/2006/relationships" id="343" r:id="Re0b63dfbfc3948c7"/>
    <p:sldId xmlns:r="http://schemas.openxmlformats.org/officeDocument/2006/relationships" id="344" r:id="R494773e74b524cf7"/>
    <p:sldId xmlns:r="http://schemas.openxmlformats.org/officeDocument/2006/relationships" id="345" r:id="Rc52cc386ae7a48f4"/>
    <p:sldId xmlns:r="http://schemas.openxmlformats.org/officeDocument/2006/relationships" id="346" r:id="Rc0e35dad01744e2b"/>
    <p:sldId xmlns:r="http://schemas.openxmlformats.org/officeDocument/2006/relationships" id="347" r:id="Raa5948ca15594b87"/>
    <p:sldId xmlns:r="http://schemas.openxmlformats.org/officeDocument/2006/relationships" id="348" r:id="Rc4beee96d0ec45f9"/>
    <p:sldId xmlns:r="http://schemas.openxmlformats.org/officeDocument/2006/relationships" id="349" r:id="R5cb0f6b8e4b54e84"/>
    <p:sldId xmlns:r="http://schemas.openxmlformats.org/officeDocument/2006/relationships" id="350" r:id="Rbfb6d7893e51417d"/>
    <p:sldId xmlns:r="http://schemas.openxmlformats.org/officeDocument/2006/relationships" id="351" r:id="Rc0baece6bd0e4f3f"/>
    <p:sldId xmlns:r="http://schemas.openxmlformats.org/officeDocument/2006/relationships" id="352" r:id="R2f2af1b7200d4e12"/>
    <p:sldId xmlns:r="http://schemas.openxmlformats.org/officeDocument/2006/relationships" id="353" r:id="R9e2807f1dbd847e7"/>
    <p:sldId xmlns:r="http://schemas.openxmlformats.org/officeDocument/2006/relationships" id="354" r:id="R225d3201fe3b45c4"/>
    <p:sldId xmlns:r="http://schemas.openxmlformats.org/officeDocument/2006/relationships" id="355" r:id="R60a88cde7493423b"/>
    <p:sldId xmlns:r="http://schemas.openxmlformats.org/officeDocument/2006/relationships" id="356" r:id="R6d2899bc43be479c"/>
    <p:sldId xmlns:r="http://schemas.openxmlformats.org/officeDocument/2006/relationships" id="357" r:id="Rcdbb78b50cb24b84"/>
    <p:sldId xmlns:r="http://schemas.openxmlformats.org/officeDocument/2006/relationships" id="358" r:id="R818dba4198914dd1"/>
    <p:sldId xmlns:r="http://schemas.openxmlformats.org/officeDocument/2006/relationships" id="359" r:id="R2641a7985d434701"/>
    <p:sldId xmlns:r="http://schemas.openxmlformats.org/officeDocument/2006/relationships" id="360" r:id="R5f8913296ecd4957"/>
    <p:sldId xmlns:r="http://schemas.openxmlformats.org/officeDocument/2006/relationships" id="361" r:id="R439198ad68884165"/>
    <p:sldId xmlns:r="http://schemas.openxmlformats.org/officeDocument/2006/relationships" id="362" r:id="R1a77366b03b54833"/>
    <p:sldId xmlns:r="http://schemas.openxmlformats.org/officeDocument/2006/relationships" id="363" r:id="Rbc45312b16854175"/>
    <p:sldId xmlns:r="http://schemas.openxmlformats.org/officeDocument/2006/relationships" id="364" r:id="R62192906bae8484e"/>
    <p:sldId xmlns:r="http://schemas.openxmlformats.org/officeDocument/2006/relationships" id="365" r:id="Rf2b88fa078f54d18"/>
    <p:sldId xmlns:r="http://schemas.openxmlformats.org/officeDocument/2006/relationships" id="366" r:id="Raabd7191fbf34ac5"/>
    <p:sldId xmlns:r="http://schemas.openxmlformats.org/officeDocument/2006/relationships" id="367" r:id="R0bcc3f7bd886401d"/>
    <p:sldId xmlns:r="http://schemas.openxmlformats.org/officeDocument/2006/relationships" id="368" r:id="R776831ccd29d43a5"/>
    <p:sldId xmlns:r="http://schemas.openxmlformats.org/officeDocument/2006/relationships" id="369" r:id="R336e0a11e491497b"/>
    <p:sldId xmlns:r="http://schemas.openxmlformats.org/officeDocument/2006/relationships" id="370" r:id="Rbd6f9000b5f5471d"/>
    <p:sldId xmlns:r="http://schemas.openxmlformats.org/officeDocument/2006/relationships" id="371" r:id="Rc82c9c0d11ba44a5"/>
    <p:sldId xmlns:r="http://schemas.openxmlformats.org/officeDocument/2006/relationships" id="372" r:id="Rfd602aa3b35d4e98"/>
    <p:sldId xmlns:r="http://schemas.openxmlformats.org/officeDocument/2006/relationships" id="373" r:id="Rc3c501a9938c4739"/>
    <p:sldId xmlns:r="http://schemas.openxmlformats.org/officeDocument/2006/relationships" id="374" r:id="R9795ce6dcecf4079"/>
    <p:sldId xmlns:r="http://schemas.openxmlformats.org/officeDocument/2006/relationships" id="375" r:id="R3ac7093c3572477e"/>
    <p:sldId xmlns:r="http://schemas.openxmlformats.org/officeDocument/2006/relationships" id="376" r:id="Rb1f48591709e4ca2"/>
    <p:sldId xmlns:r="http://schemas.openxmlformats.org/officeDocument/2006/relationships" id="377" r:id="R7b6c5fa23569472c"/>
    <p:sldId xmlns:r="http://schemas.openxmlformats.org/officeDocument/2006/relationships" id="378" r:id="Ra068b81a0ca046ea"/>
    <p:sldId xmlns:r="http://schemas.openxmlformats.org/officeDocument/2006/relationships" id="379" r:id="R39ab2a37da254572"/>
    <p:sldId xmlns:r="http://schemas.openxmlformats.org/officeDocument/2006/relationships" id="380" r:id="Rc31ed674dd6d4f9f"/>
    <p:sldId xmlns:r="http://schemas.openxmlformats.org/officeDocument/2006/relationships" id="381" r:id="R6f0c1d472b684483"/>
    <p:sldId xmlns:r="http://schemas.openxmlformats.org/officeDocument/2006/relationships" id="382" r:id="R502dc426eb0c4403"/>
    <p:sldId xmlns:r="http://schemas.openxmlformats.org/officeDocument/2006/relationships" id="383" r:id="Rbecfa915fae9420c"/>
    <p:sldId xmlns:r="http://schemas.openxmlformats.org/officeDocument/2006/relationships" id="384" r:id="Rc56531052eed4aac"/>
    <p:sldId xmlns:r="http://schemas.openxmlformats.org/officeDocument/2006/relationships" id="385" r:id="R8c4337649c5b4277"/>
    <p:sldId xmlns:r="http://schemas.openxmlformats.org/officeDocument/2006/relationships" id="386" r:id="Rc8d9f5ddef1e4c09"/>
    <p:sldId xmlns:r="http://schemas.openxmlformats.org/officeDocument/2006/relationships" id="387" r:id="Ref6ac0ac3f8b45f1"/>
    <p:sldId xmlns:r="http://schemas.openxmlformats.org/officeDocument/2006/relationships" id="388" r:id="R7cfee126b1fd45bd"/>
    <p:sldId xmlns:r="http://schemas.openxmlformats.org/officeDocument/2006/relationships" id="389" r:id="R8a0ca64e194f4823"/>
    <p:sldId xmlns:r="http://schemas.openxmlformats.org/officeDocument/2006/relationships" id="390" r:id="R06482bae4425483d"/>
    <p:sldId xmlns:r="http://schemas.openxmlformats.org/officeDocument/2006/relationships" id="391" r:id="Rec03cc93cca549b4"/>
    <p:sldId xmlns:r="http://schemas.openxmlformats.org/officeDocument/2006/relationships" id="392" r:id="R81d9ec1655cb4c41"/>
    <p:sldId xmlns:r="http://schemas.openxmlformats.org/officeDocument/2006/relationships" id="393" r:id="R8890c03966b84b02"/>
    <p:sldId xmlns:r="http://schemas.openxmlformats.org/officeDocument/2006/relationships" id="394" r:id="Rebdc7d1f4b4040b7"/>
    <p:sldId xmlns:r="http://schemas.openxmlformats.org/officeDocument/2006/relationships" id="395" r:id="Rd0c4e9042b8b4e44"/>
    <p:sldId xmlns:r="http://schemas.openxmlformats.org/officeDocument/2006/relationships" id="396" r:id="R5feae6034f90436a"/>
    <p:sldId xmlns:r="http://schemas.openxmlformats.org/officeDocument/2006/relationships" id="397" r:id="R2ced2e80a125426d"/>
    <p:sldId xmlns:r="http://schemas.openxmlformats.org/officeDocument/2006/relationships" id="398" r:id="Rf97a5f951e2c44b4"/>
    <p:sldId xmlns:r="http://schemas.openxmlformats.org/officeDocument/2006/relationships" id="399" r:id="R5deb82e2de164fdb"/>
    <p:sldId xmlns:r="http://schemas.openxmlformats.org/officeDocument/2006/relationships" id="400" r:id="R767727f15feb4bdc"/>
    <p:sldId xmlns:r="http://schemas.openxmlformats.org/officeDocument/2006/relationships" id="401" r:id="Rb89f95fd292f47f3"/>
    <p:sldId xmlns:r="http://schemas.openxmlformats.org/officeDocument/2006/relationships" id="402" r:id="R6311cab92e194693"/>
    <p:sldId xmlns:r="http://schemas.openxmlformats.org/officeDocument/2006/relationships" id="403" r:id="Re9978af733654234"/>
    <p:sldId xmlns:r="http://schemas.openxmlformats.org/officeDocument/2006/relationships" id="404" r:id="Re1e5d39d67ab4603"/>
    <p:sldId xmlns:r="http://schemas.openxmlformats.org/officeDocument/2006/relationships" id="405" r:id="Raf396692eb514739"/>
    <p:sldId xmlns:r="http://schemas.openxmlformats.org/officeDocument/2006/relationships" id="406" r:id="R1f52b850fb4d4b56"/>
    <p:sldId xmlns:r="http://schemas.openxmlformats.org/officeDocument/2006/relationships" id="407" r:id="R932b3a1096614073"/>
    <p:sldId xmlns:r="http://schemas.openxmlformats.org/officeDocument/2006/relationships" id="408" r:id="R00bc0c94aee341a9"/>
    <p:sldId xmlns:r="http://schemas.openxmlformats.org/officeDocument/2006/relationships" id="409" r:id="R150c275d25a14fc4"/>
    <p:sldId xmlns:r="http://schemas.openxmlformats.org/officeDocument/2006/relationships" id="410" r:id="R9789a15049334edf"/>
    <p:sldId xmlns:r="http://schemas.openxmlformats.org/officeDocument/2006/relationships" id="411" r:id="Rb33168fcdb1e4142"/>
    <p:sldId xmlns:r="http://schemas.openxmlformats.org/officeDocument/2006/relationships" id="412" r:id="R344e13be69da4928"/>
    <p:sldId xmlns:r="http://schemas.openxmlformats.org/officeDocument/2006/relationships" id="413" r:id="R1dcfca3584254bb4"/>
    <p:sldId xmlns:r="http://schemas.openxmlformats.org/officeDocument/2006/relationships" id="414" r:id="R88b0f73611274ac9"/>
    <p:sldId xmlns:r="http://schemas.openxmlformats.org/officeDocument/2006/relationships" id="415" r:id="R1536ef1cf9754042"/>
    <p:sldId xmlns:r="http://schemas.openxmlformats.org/officeDocument/2006/relationships" id="416" r:id="R8d778112b97d42aa"/>
    <p:sldId xmlns:r="http://schemas.openxmlformats.org/officeDocument/2006/relationships" id="417" r:id="Rcaf6c1e49e8e4682"/>
    <p:sldId xmlns:r="http://schemas.openxmlformats.org/officeDocument/2006/relationships" id="418" r:id="R233ccb72ab544a43"/>
    <p:sldId xmlns:r="http://schemas.openxmlformats.org/officeDocument/2006/relationships" id="419" r:id="Re8c4f6507d2a4aa9"/>
    <p:sldId xmlns:r="http://schemas.openxmlformats.org/officeDocument/2006/relationships" id="420" r:id="Re013230876e74bad"/>
    <p:sldId xmlns:r="http://schemas.openxmlformats.org/officeDocument/2006/relationships" id="421" r:id="R0a797fac5a504304"/>
    <p:sldId xmlns:r="http://schemas.openxmlformats.org/officeDocument/2006/relationships" id="422" r:id="R7d38fc866d1c4248"/>
    <p:sldId xmlns:r="http://schemas.openxmlformats.org/officeDocument/2006/relationships" id="423" r:id="Re1c742b1ff5448f4"/>
    <p:sldId xmlns:r="http://schemas.openxmlformats.org/officeDocument/2006/relationships" id="424" r:id="Rbe5cb87239af4962"/>
    <p:sldId xmlns:r="http://schemas.openxmlformats.org/officeDocument/2006/relationships" id="425" r:id="Rd72064160837465b"/>
    <p:sldId xmlns:r="http://schemas.openxmlformats.org/officeDocument/2006/relationships" id="426" r:id="R788a34f958c04aa1"/>
    <p:sldId xmlns:r="http://schemas.openxmlformats.org/officeDocument/2006/relationships" id="427" r:id="Re09eb9b717714f77"/>
    <p:sldId xmlns:r="http://schemas.openxmlformats.org/officeDocument/2006/relationships" id="428" r:id="Rc55e9e5d959b4ae6"/>
    <p:sldId xmlns:r="http://schemas.openxmlformats.org/officeDocument/2006/relationships" id="429" r:id="R0385ee01430e4d75"/>
    <p:sldId xmlns:r="http://schemas.openxmlformats.org/officeDocument/2006/relationships" id="430" r:id="Ra7a74e0dd81e4432"/>
    <p:sldId xmlns:r="http://schemas.openxmlformats.org/officeDocument/2006/relationships" id="431" r:id="Rf1525ed05217453a"/>
    <p:sldId xmlns:r="http://schemas.openxmlformats.org/officeDocument/2006/relationships" id="432" r:id="R694e1ade7902400c"/>
    <p:sldId xmlns:r="http://schemas.openxmlformats.org/officeDocument/2006/relationships" id="433" r:id="R68bb0e657c4b4a7e"/>
    <p:sldId xmlns:r="http://schemas.openxmlformats.org/officeDocument/2006/relationships" id="434" r:id="R4d8f08addb7742f6"/>
    <p:sldId xmlns:r="http://schemas.openxmlformats.org/officeDocument/2006/relationships" id="435" r:id="R44cee5749ce346e6"/>
    <p:sldId xmlns:r="http://schemas.openxmlformats.org/officeDocument/2006/relationships" id="436" r:id="R8da666da04c24e23"/>
    <p:sldId xmlns:r="http://schemas.openxmlformats.org/officeDocument/2006/relationships" id="437" r:id="Rf0bc9b7db606416d"/>
    <p:sldId xmlns:r="http://schemas.openxmlformats.org/officeDocument/2006/relationships" id="438" r:id="R8a40dc8efab043e2"/>
    <p:sldId xmlns:r="http://schemas.openxmlformats.org/officeDocument/2006/relationships" id="439" r:id="R574b332b335b4f97"/>
    <p:sldId xmlns:r="http://schemas.openxmlformats.org/officeDocument/2006/relationships" id="440" r:id="Rc5a8caf405d24079"/>
    <p:sldId xmlns:r="http://schemas.openxmlformats.org/officeDocument/2006/relationships" id="441" r:id="R35074d922a8d41be"/>
    <p:sldId xmlns:r="http://schemas.openxmlformats.org/officeDocument/2006/relationships" id="442" r:id="R23abc2b2a6024a86"/>
    <p:sldId xmlns:r="http://schemas.openxmlformats.org/officeDocument/2006/relationships" id="443" r:id="R9f02f7589e8c494f"/>
    <p:sldId xmlns:r="http://schemas.openxmlformats.org/officeDocument/2006/relationships" id="444" r:id="R83b96bc4aadf49b8"/>
    <p:sldId xmlns:r="http://schemas.openxmlformats.org/officeDocument/2006/relationships" id="445" r:id="Rb46968ec8d014cee"/>
    <p:sldId xmlns:r="http://schemas.openxmlformats.org/officeDocument/2006/relationships" id="446" r:id="R0def9b5934514153"/>
    <p:sldId xmlns:r="http://schemas.openxmlformats.org/officeDocument/2006/relationships" id="447" r:id="Rb500516f09924e32"/>
    <p:sldId xmlns:r="http://schemas.openxmlformats.org/officeDocument/2006/relationships" id="448" r:id="R7468471f28af4433"/>
    <p:sldId xmlns:r="http://schemas.openxmlformats.org/officeDocument/2006/relationships" id="449" r:id="R4f1cbc73bd4d462d"/>
    <p:sldId xmlns:r="http://schemas.openxmlformats.org/officeDocument/2006/relationships" id="450" r:id="R0827455e21a64cf9"/>
    <p:sldId xmlns:r="http://schemas.openxmlformats.org/officeDocument/2006/relationships" id="451" r:id="R57b8bd124127420a"/>
    <p:sldId xmlns:r="http://schemas.openxmlformats.org/officeDocument/2006/relationships" id="452" r:id="Rcd820d9a2ddb4f32"/>
    <p:sldId xmlns:r="http://schemas.openxmlformats.org/officeDocument/2006/relationships" id="453" r:id="R8daeebfc224f48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2d00fdd5fa4bc8" /><Relationship Type="http://schemas.openxmlformats.org/officeDocument/2006/relationships/slideMaster" Target="/ppt/slideMasters/slideMaster1.xml" Id="R520ae764ed994437" /><Relationship Type="http://schemas.openxmlformats.org/officeDocument/2006/relationships/notesMaster" Target="/ppt/notesMasters/notesMaster1.xml" Id="Rbe848d16c3f1428e" /><Relationship Type="http://schemas.openxmlformats.org/officeDocument/2006/relationships/presProps" Target="/ppt/presProps.xml" Id="R6035dfea994844bf" /><Relationship Type="http://schemas.openxmlformats.org/officeDocument/2006/relationships/tableStyles" Target="/ppt/tableStyles.xml" Id="R327ed18a67164c88" /><Relationship Type="http://schemas.openxmlformats.org/officeDocument/2006/relationships/slide" Target="/ppt/slides/slide1.xml" Id="R14f5d33cf28c46dc" /><Relationship Type="http://schemas.openxmlformats.org/officeDocument/2006/relationships/slide" Target="/ppt/slides/slide2.xml" Id="R41b7962e511e4bd1" /><Relationship Type="http://schemas.openxmlformats.org/officeDocument/2006/relationships/slide" Target="/ppt/slides/slide3.xml" Id="R216a7362d182483e" /><Relationship Type="http://schemas.openxmlformats.org/officeDocument/2006/relationships/slide" Target="/ppt/slides/slide4.xml" Id="R3121789479724c98" /><Relationship Type="http://schemas.openxmlformats.org/officeDocument/2006/relationships/slide" Target="/ppt/slides/slide5.xml" Id="Rb98406da460d45fa" /><Relationship Type="http://schemas.openxmlformats.org/officeDocument/2006/relationships/slide" Target="/ppt/slides/slide6.xml" Id="Re94df97e325046e0" /><Relationship Type="http://schemas.openxmlformats.org/officeDocument/2006/relationships/slide" Target="/ppt/slides/slide7.xml" Id="Rf17ea233e7d64131" /><Relationship Type="http://schemas.openxmlformats.org/officeDocument/2006/relationships/slide" Target="/ppt/slides/slide8.xml" Id="R89eb01e136e140d2" /><Relationship Type="http://schemas.openxmlformats.org/officeDocument/2006/relationships/slide" Target="/ppt/slides/slide9.xml" Id="Rffaf14f923ff4f9f" /><Relationship Type="http://schemas.openxmlformats.org/officeDocument/2006/relationships/slide" Target="/ppt/slides/slide10.xml" Id="R7372201b6bde4c31" /><Relationship Type="http://schemas.openxmlformats.org/officeDocument/2006/relationships/slide" Target="/ppt/slides/slide11.xml" Id="Ra8273e98034d4fc6" /><Relationship Type="http://schemas.openxmlformats.org/officeDocument/2006/relationships/slide" Target="/ppt/slides/slide12.xml" Id="R5f83ea482f684c5b" /><Relationship Type="http://schemas.openxmlformats.org/officeDocument/2006/relationships/slide" Target="/ppt/slides/slide13.xml" Id="Ra34bb44478814ba4" /><Relationship Type="http://schemas.openxmlformats.org/officeDocument/2006/relationships/slide" Target="/ppt/slides/slide14.xml" Id="R0122bd89750d4b3f" /><Relationship Type="http://schemas.openxmlformats.org/officeDocument/2006/relationships/slide" Target="/ppt/slides/slide15.xml" Id="R29ed375c54394617" /><Relationship Type="http://schemas.openxmlformats.org/officeDocument/2006/relationships/slide" Target="/ppt/slides/slide16.xml" Id="R5abbe6a0e7e14033" /><Relationship Type="http://schemas.openxmlformats.org/officeDocument/2006/relationships/slide" Target="/ppt/slides/slide17.xml" Id="R6784970281464d35" /><Relationship Type="http://schemas.openxmlformats.org/officeDocument/2006/relationships/slide" Target="/ppt/slides/slide18.xml" Id="R5e729f391ac24a53" /><Relationship Type="http://schemas.openxmlformats.org/officeDocument/2006/relationships/slide" Target="/ppt/slides/slide19.xml" Id="Rb40a69a7cf6c4a79" /><Relationship Type="http://schemas.openxmlformats.org/officeDocument/2006/relationships/slide" Target="/ppt/slides/slide20.xml" Id="R2e33630b1a6745f5" /><Relationship Type="http://schemas.openxmlformats.org/officeDocument/2006/relationships/slide" Target="/ppt/slides/slide21.xml" Id="Rf31c137947d443f1" /><Relationship Type="http://schemas.openxmlformats.org/officeDocument/2006/relationships/slide" Target="/ppt/slides/slide22.xml" Id="Ra4106b842d2945ae" /><Relationship Type="http://schemas.openxmlformats.org/officeDocument/2006/relationships/slide" Target="/ppt/slides/slide23.xml" Id="R4afd64682e214c03" /><Relationship Type="http://schemas.openxmlformats.org/officeDocument/2006/relationships/slide" Target="/ppt/slides/slide24.xml" Id="R1daed9d8637e4ec7" /><Relationship Type="http://schemas.openxmlformats.org/officeDocument/2006/relationships/slide" Target="/ppt/slides/slide25.xml" Id="R7f0c676369da479c" /><Relationship Type="http://schemas.openxmlformats.org/officeDocument/2006/relationships/slide" Target="/ppt/slides/slide26.xml" Id="R3499896a937545f2" /><Relationship Type="http://schemas.openxmlformats.org/officeDocument/2006/relationships/slide" Target="/ppt/slides/slide27.xml" Id="R499f4c7ec92d4b3f" /><Relationship Type="http://schemas.openxmlformats.org/officeDocument/2006/relationships/slide" Target="/ppt/slides/slide28.xml" Id="R50f908eff1fa4df5" /><Relationship Type="http://schemas.openxmlformats.org/officeDocument/2006/relationships/slide" Target="/ppt/slides/slide29.xml" Id="Re1fb0d741f484493" /><Relationship Type="http://schemas.openxmlformats.org/officeDocument/2006/relationships/slide" Target="/ppt/slides/slide30.xml" Id="Re5c13e7500f34416" /><Relationship Type="http://schemas.openxmlformats.org/officeDocument/2006/relationships/slide" Target="/ppt/slides/slide31.xml" Id="R4dc66bbbb2674d21" /><Relationship Type="http://schemas.openxmlformats.org/officeDocument/2006/relationships/slide" Target="/ppt/slides/slide32.xml" Id="Reca54605be8f47fa" /><Relationship Type="http://schemas.openxmlformats.org/officeDocument/2006/relationships/slide" Target="/ppt/slides/slide33.xml" Id="R675f267176aa4d5c" /><Relationship Type="http://schemas.openxmlformats.org/officeDocument/2006/relationships/slide" Target="/ppt/slides/slide34.xml" Id="R62e9bbd68b4e4125" /><Relationship Type="http://schemas.openxmlformats.org/officeDocument/2006/relationships/slide" Target="/ppt/slides/slide35.xml" Id="R3c44e423b3524eaa" /><Relationship Type="http://schemas.openxmlformats.org/officeDocument/2006/relationships/slide" Target="/ppt/slides/slide36.xml" Id="R342595616157439f" /><Relationship Type="http://schemas.openxmlformats.org/officeDocument/2006/relationships/slide" Target="/ppt/slides/slide37.xml" Id="Rf40595ee0bb14604" /><Relationship Type="http://schemas.openxmlformats.org/officeDocument/2006/relationships/slide" Target="/ppt/slides/slide38.xml" Id="R42cf224766e3455b" /><Relationship Type="http://schemas.openxmlformats.org/officeDocument/2006/relationships/slide" Target="/ppt/slides/slide39.xml" Id="Rd0e2f73c4b844761" /><Relationship Type="http://schemas.openxmlformats.org/officeDocument/2006/relationships/slide" Target="/ppt/slides/slide40.xml" Id="R0e02315e612d4671" /><Relationship Type="http://schemas.openxmlformats.org/officeDocument/2006/relationships/slide" Target="/ppt/slides/slide41.xml" Id="R32c0c5482dbc413f" /><Relationship Type="http://schemas.openxmlformats.org/officeDocument/2006/relationships/slide" Target="/ppt/slides/slide42.xml" Id="Rc27963384f9d449d" /><Relationship Type="http://schemas.openxmlformats.org/officeDocument/2006/relationships/slide" Target="/ppt/slides/slide43.xml" Id="R4b188b2fdc844858" /><Relationship Type="http://schemas.openxmlformats.org/officeDocument/2006/relationships/slide" Target="/ppt/slides/slide44.xml" Id="R82d4041034584e5e" /><Relationship Type="http://schemas.openxmlformats.org/officeDocument/2006/relationships/slide" Target="/ppt/slides/slide45.xml" Id="Rbd3622e055e9463c" /><Relationship Type="http://schemas.openxmlformats.org/officeDocument/2006/relationships/slide" Target="/ppt/slides/slide46.xml" Id="Raba0cb8d62084766" /><Relationship Type="http://schemas.openxmlformats.org/officeDocument/2006/relationships/slide" Target="/ppt/slides/slide47.xml" Id="Rd00b220cc4fd47d1" /><Relationship Type="http://schemas.openxmlformats.org/officeDocument/2006/relationships/slide" Target="/ppt/slides/slide48.xml" Id="R0807cb7a367a43f3" /><Relationship Type="http://schemas.openxmlformats.org/officeDocument/2006/relationships/slide" Target="/ppt/slides/slide49.xml" Id="R5fa30d9628c24542" /><Relationship Type="http://schemas.openxmlformats.org/officeDocument/2006/relationships/slide" Target="/ppt/slides/slide50.xml" Id="Re9789b3346334a37" /><Relationship Type="http://schemas.openxmlformats.org/officeDocument/2006/relationships/slide" Target="/ppt/slides/slide51.xml" Id="R8d4e4aee91f14b6d" /><Relationship Type="http://schemas.openxmlformats.org/officeDocument/2006/relationships/slide" Target="/ppt/slides/slide52.xml" Id="R9049712093df42da" /><Relationship Type="http://schemas.openxmlformats.org/officeDocument/2006/relationships/slide" Target="/ppt/slides/slide53.xml" Id="Rbc6ecaaa08624366" /><Relationship Type="http://schemas.openxmlformats.org/officeDocument/2006/relationships/slide" Target="/ppt/slides/slide54.xml" Id="Rff6b75ad69364609" /><Relationship Type="http://schemas.openxmlformats.org/officeDocument/2006/relationships/slide" Target="/ppt/slides/slide55.xml" Id="R66c88782e2fa4241" /><Relationship Type="http://schemas.openxmlformats.org/officeDocument/2006/relationships/slide" Target="/ppt/slides/slide56.xml" Id="Ra5c64a4a956f4c46" /><Relationship Type="http://schemas.openxmlformats.org/officeDocument/2006/relationships/slide" Target="/ppt/slides/slide57.xml" Id="Rf5fe6089cc344347" /><Relationship Type="http://schemas.openxmlformats.org/officeDocument/2006/relationships/slide" Target="/ppt/slides/slide58.xml" Id="Rc90589d90fce4a97" /><Relationship Type="http://schemas.openxmlformats.org/officeDocument/2006/relationships/slide" Target="/ppt/slides/slide59.xml" Id="R8b667e4ff3364357" /><Relationship Type="http://schemas.openxmlformats.org/officeDocument/2006/relationships/slide" Target="/ppt/slides/slide60.xml" Id="R1ceb7aa906e44702" /><Relationship Type="http://schemas.openxmlformats.org/officeDocument/2006/relationships/slide" Target="/ppt/slides/slide61.xml" Id="R4ab044938b6b40d6" /><Relationship Type="http://schemas.openxmlformats.org/officeDocument/2006/relationships/slide" Target="/ppt/slides/slide62.xml" Id="Raaf9dd254f74424b" /><Relationship Type="http://schemas.openxmlformats.org/officeDocument/2006/relationships/slide" Target="/ppt/slides/slide63.xml" Id="R43ce675a33754772" /><Relationship Type="http://schemas.openxmlformats.org/officeDocument/2006/relationships/slide" Target="/ppt/slides/slide64.xml" Id="R5508e646e9414fe5" /><Relationship Type="http://schemas.openxmlformats.org/officeDocument/2006/relationships/slide" Target="/ppt/slides/slide65.xml" Id="Rae82096085d34baf" /><Relationship Type="http://schemas.openxmlformats.org/officeDocument/2006/relationships/slide" Target="/ppt/slides/slide66.xml" Id="Rf5e604bac1f14615" /><Relationship Type="http://schemas.openxmlformats.org/officeDocument/2006/relationships/slide" Target="/ppt/slides/slide67.xml" Id="R5f37ac7ea59440cd" /><Relationship Type="http://schemas.openxmlformats.org/officeDocument/2006/relationships/slide" Target="/ppt/slides/slide68.xml" Id="Ra95c98bc0b89485a" /><Relationship Type="http://schemas.openxmlformats.org/officeDocument/2006/relationships/slide" Target="/ppt/slides/slide69.xml" Id="Rbee114f237d941dc" /><Relationship Type="http://schemas.openxmlformats.org/officeDocument/2006/relationships/slide" Target="/ppt/slides/slide70.xml" Id="Rebd666beb30b49b1" /><Relationship Type="http://schemas.openxmlformats.org/officeDocument/2006/relationships/slide" Target="/ppt/slides/slide71.xml" Id="R25bbce863f5d4735" /><Relationship Type="http://schemas.openxmlformats.org/officeDocument/2006/relationships/slide" Target="/ppt/slides/slide72.xml" Id="Rc9bd9a20136c4d58" /><Relationship Type="http://schemas.openxmlformats.org/officeDocument/2006/relationships/slide" Target="/ppt/slides/slide73.xml" Id="R7c388836d6224dce" /><Relationship Type="http://schemas.openxmlformats.org/officeDocument/2006/relationships/slide" Target="/ppt/slides/slide74.xml" Id="R35302a7307b743bc" /><Relationship Type="http://schemas.openxmlformats.org/officeDocument/2006/relationships/slide" Target="/ppt/slides/slide75.xml" Id="R76fd548622954252" /><Relationship Type="http://schemas.openxmlformats.org/officeDocument/2006/relationships/slide" Target="/ppt/slides/slide76.xml" Id="R3a79f856979942c3" /><Relationship Type="http://schemas.openxmlformats.org/officeDocument/2006/relationships/slide" Target="/ppt/slides/slide77.xml" Id="R9b0e480eb835416d" /><Relationship Type="http://schemas.openxmlformats.org/officeDocument/2006/relationships/slide" Target="/ppt/slides/slide78.xml" Id="R6df1196e23234a10" /><Relationship Type="http://schemas.openxmlformats.org/officeDocument/2006/relationships/slide" Target="/ppt/slides/slide79.xml" Id="R9aa48182d3c84bb1" /><Relationship Type="http://schemas.openxmlformats.org/officeDocument/2006/relationships/slide" Target="/ppt/slides/slide80.xml" Id="R611f3d8dd3e34dc2" /><Relationship Type="http://schemas.openxmlformats.org/officeDocument/2006/relationships/slide" Target="/ppt/slides/slide81.xml" Id="R7813399d4d4c43cb" /><Relationship Type="http://schemas.openxmlformats.org/officeDocument/2006/relationships/slide" Target="/ppt/slides/slide82.xml" Id="R69a28e08ddc34559" /><Relationship Type="http://schemas.openxmlformats.org/officeDocument/2006/relationships/slide" Target="/ppt/slides/slide83.xml" Id="R92cd4eda75384d5a" /><Relationship Type="http://schemas.openxmlformats.org/officeDocument/2006/relationships/slide" Target="/ppt/slides/slide84.xml" Id="R980dd85f352b4056" /><Relationship Type="http://schemas.openxmlformats.org/officeDocument/2006/relationships/slide" Target="/ppt/slides/slide85.xml" Id="Rcb6bb104ee414eeb" /><Relationship Type="http://schemas.openxmlformats.org/officeDocument/2006/relationships/slide" Target="/ppt/slides/slide86.xml" Id="R763f6e0041c44e41" /><Relationship Type="http://schemas.openxmlformats.org/officeDocument/2006/relationships/slide" Target="/ppt/slides/slide87.xml" Id="Rfa3c7818f8424a4e" /><Relationship Type="http://schemas.openxmlformats.org/officeDocument/2006/relationships/slide" Target="/ppt/slides/slide88.xml" Id="Re0b63dfbfc3948c7" /><Relationship Type="http://schemas.openxmlformats.org/officeDocument/2006/relationships/slide" Target="/ppt/slides/slide89.xml" Id="R494773e74b524cf7" /><Relationship Type="http://schemas.openxmlformats.org/officeDocument/2006/relationships/slide" Target="/ppt/slides/slide90.xml" Id="Rc52cc386ae7a48f4" /><Relationship Type="http://schemas.openxmlformats.org/officeDocument/2006/relationships/slide" Target="/ppt/slides/slide91.xml" Id="Rc0e35dad01744e2b" /><Relationship Type="http://schemas.openxmlformats.org/officeDocument/2006/relationships/slide" Target="/ppt/slides/slide92.xml" Id="Raa5948ca15594b87" /><Relationship Type="http://schemas.openxmlformats.org/officeDocument/2006/relationships/slide" Target="/ppt/slides/slide93.xml" Id="Rc4beee96d0ec45f9" /><Relationship Type="http://schemas.openxmlformats.org/officeDocument/2006/relationships/slide" Target="/ppt/slides/slide94.xml" Id="R5cb0f6b8e4b54e84" /><Relationship Type="http://schemas.openxmlformats.org/officeDocument/2006/relationships/slide" Target="/ppt/slides/slide95.xml" Id="Rbfb6d7893e51417d" /><Relationship Type="http://schemas.openxmlformats.org/officeDocument/2006/relationships/slide" Target="/ppt/slides/slide96.xml" Id="Rc0baece6bd0e4f3f" /><Relationship Type="http://schemas.openxmlformats.org/officeDocument/2006/relationships/slide" Target="/ppt/slides/slide97.xml" Id="R2f2af1b7200d4e12" /><Relationship Type="http://schemas.openxmlformats.org/officeDocument/2006/relationships/slide" Target="/ppt/slides/slide98.xml" Id="R9e2807f1dbd847e7" /><Relationship Type="http://schemas.openxmlformats.org/officeDocument/2006/relationships/slide" Target="/ppt/slides/slide99.xml" Id="R225d3201fe3b45c4" /><Relationship Type="http://schemas.openxmlformats.org/officeDocument/2006/relationships/slide" Target="/ppt/slides/slide100.xml" Id="R60a88cde7493423b" /><Relationship Type="http://schemas.openxmlformats.org/officeDocument/2006/relationships/slide" Target="/ppt/slides/slide101.xml" Id="R6d2899bc43be479c" /><Relationship Type="http://schemas.openxmlformats.org/officeDocument/2006/relationships/slide" Target="/ppt/slides/slide102.xml" Id="Rcdbb78b50cb24b84" /><Relationship Type="http://schemas.openxmlformats.org/officeDocument/2006/relationships/slide" Target="/ppt/slides/slide103.xml" Id="R818dba4198914dd1" /><Relationship Type="http://schemas.openxmlformats.org/officeDocument/2006/relationships/slide" Target="/ppt/slides/slide104.xml" Id="R2641a7985d434701" /><Relationship Type="http://schemas.openxmlformats.org/officeDocument/2006/relationships/slide" Target="/ppt/slides/slide105.xml" Id="R5f8913296ecd4957" /><Relationship Type="http://schemas.openxmlformats.org/officeDocument/2006/relationships/slide" Target="/ppt/slides/slide106.xml" Id="R439198ad68884165" /><Relationship Type="http://schemas.openxmlformats.org/officeDocument/2006/relationships/slide" Target="/ppt/slides/slide107.xml" Id="R1a77366b03b54833" /><Relationship Type="http://schemas.openxmlformats.org/officeDocument/2006/relationships/slide" Target="/ppt/slides/slide108.xml" Id="Rbc45312b16854175" /><Relationship Type="http://schemas.openxmlformats.org/officeDocument/2006/relationships/slide" Target="/ppt/slides/slide109.xml" Id="R62192906bae8484e" /><Relationship Type="http://schemas.openxmlformats.org/officeDocument/2006/relationships/slide" Target="/ppt/slides/slide110.xml" Id="Rf2b88fa078f54d18" /><Relationship Type="http://schemas.openxmlformats.org/officeDocument/2006/relationships/slide" Target="/ppt/slides/slide111.xml" Id="Raabd7191fbf34ac5" /><Relationship Type="http://schemas.openxmlformats.org/officeDocument/2006/relationships/slide" Target="/ppt/slides/slide112.xml" Id="R0bcc3f7bd886401d" /><Relationship Type="http://schemas.openxmlformats.org/officeDocument/2006/relationships/slide" Target="/ppt/slides/slide113.xml" Id="R776831ccd29d43a5" /><Relationship Type="http://schemas.openxmlformats.org/officeDocument/2006/relationships/slide" Target="/ppt/slides/slide114.xml" Id="R336e0a11e491497b" /><Relationship Type="http://schemas.openxmlformats.org/officeDocument/2006/relationships/slide" Target="/ppt/slides/slide115.xml" Id="Rbd6f9000b5f5471d" /><Relationship Type="http://schemas.openxmlformats.org/officeDocument/2006/relationships/slide" Target="/ppt/slides/slide116.xml" Id="Rc82c9c0d11ba44a5" /><Relationship Type="http://schemas.openxmlformats.org/officeDocument/2006/relationships/slide" Target="/ppt/slides/slide117.xml" Id="Rfd602aa3b35d4e98" /><Relationship Type="http://schemas.openxmlformats.org/officeDocument/2006/relationships/slide" Target="/ppt/slides/slide118.xml" Id="Rc3c501a9938c4739" /><Relationship Type="http://schemas.openxmlformats.org/officeDocument/2006/relationships/slide" Target="/ppt/slides/slide119.xml" Id="R9795ce6dcecf4079" /><Relationship Type="http://schemas.openxmlformats.org/officeDocument/2006/relationships/slide" Target="/ppt/slides/slide120.xml" Id="R3ac7093c3572477e" /><Relationship Type="http://schemas.openxmlformats.org/officeDocument/2006/relationships/slide" Target="/ppt/slides/slide121.xml" Id="Rb1f48591709e4ca2" /><Relationship Type="http://schemas.openxmlformats.org/officeDocument/2006/relationships/slide" Target="/ppt/slides/slide122.xml" Id="R7b6c5fa23569472c" /><Relationship Type="http://schemas.openxmlformats.org/officeDocument/2006/relationships/slide" Target="/ppt/slides/slide123.xml" Id="Ra068b81a0ca046ea" /><Relationship Type="http://schemas.openxmlformats.org/officeDocument/2006/relationships/slide" Target="/ppt/slides/slide124.xml" Id="R39ab2a37da254572" /><Relationship Type="http://schemas.openxmlformats.org/officeDocument/2006/relationships/slide" Target="/ppt/slides/slide125.xml" Id="Rc31ed674dd6d4f9f" /><Relationship Type="http://schemas.openxmlformats.org/officeDocument/2006/relationships/slide" Target="/ppt/slides/slide126.xml" Id="R6f0c1d472b684483" /><Relationship Type="http://schemas.openxmlformats.org/officeDocument/2006/relationships/slide" Target="/ppt/slides/slide127.xml" Id="R502dc426eb0c4403" /><Relationship Type="http://schemas.openxmlformats.org/officeDocument/2006/relationships/slide" Target="/ppt/slides/slide128.xml" Id="Rbecfa915fae9420c" /><Relationship Type="http://schemas.openxmlformats.org/officeDocument/2006/relationships/slide" Target="/ppt/slides/slide129.xml" Id="Rc56531052eed4aac" /><Relationship Type="http://schemas.openxmlformats.org/officeDocument/2006/relationships/slide" Target="/ppt/slides/slide130.xml" Id="R8c4337649c5b4277" /><Relationship Type="http://schemas.openxmlformats.org/officeDocument/2006/relationships/slide" Target="/ppt/slides/slide131.xml" Id="Rc8d9f5ddef1e4c09" /><Relationship Type="http://schemas.openxmlformats.org/officeDocument/2006/relationships/slide" Target="/ppt/slides/slide132.xml" Id="Ref6ac0ac3f8b45f1" /><Relationship Type="http://schemas.openxmlformats.org/officeDocument/2006/relationships/slide" Target="/ppt/slides/slide133.xml" Id="R7cfee126b1fd45bd" /><Relationship Type="http://schemas.openxmlformats.org/officeDocument/2006/relationships/slide" Target="/ppt/slides/slide134.xml" Id="R8a0ca64e194f4823" /><Relationship Type="http://schemas.openxmlformats.org/officeDocument/2006/relationships/slide" Target="/ppt/slides/slide135.xml" Id="R06482bae4425483d" /><Relationship Type="http://schemas.openxmlformats.org/officeDocument/2006/relationships/slide" Target="/ppt/slides/slide136.xml" Id="Rec03cc93cca549b4" /><Relationship Type="http://schemas.openxmlformats.org/officeDocument/2006/relationships/slide" Target="/ppt/slides/slide137.xml" Id="R81d9ec1655cb4c41" /><Relationship Type="http://schemas.openxmlformats.org/officeDocument/2006/relationships/slide" Target="/ppt/slides/slide138.xml" Id="R8890c03966b84b02" /><Relationship Type="http://schemas.openxmlformats.org/officeDocument/2006/relationships/slide" Target="/ppt/slides/slide139.xml" Id="Rebdc7d1f4b4040b7" /><Relationship Type="http://schemas.openxmlformats.org/officeDocument/2006/relationships/slide" Target="/ppt/slides/slide140.xml" Id="Rd0c4e9042b8b4e44" /><Relationship Type="http://schemas.openxmlformats.org/officeDocument/2006/relationships/slide" Target="/ppt/slides/slide141.xml" Id="R5feae6034f90436a" /><Relationship Type="http://schemas.openxmlformats.org/officeDocument/2006/relationships/slide" Target="/ppt/slides/slide142.xml" Id="R2ced2e80a125426d" /><Relationship Type="http://schemas.openxmlformats.org/officeDocument/2006/relationships/slide" Target="/ppt/slides/slide143.xml" Id="Rf97a5f951e2c44b4" /><Relationship Type="http://schemas.openxmlformats.org/officeDocument/2006/relationships/slide" Target="/ppt/slides/slide144.xml" Id="R5deb82e2de164fdb" /><Relationship Type="http://schemas.openxmlformats.org/officeDocument/2006/relationships/slide" Target="/ppt/slides/slide145.xml" Id="R767727f15feb4bdc" /><Relationship Type="http://schemas.openxmlformats.org/officeDocument/2006/relationships/slide" Target="/ppt/slides/slide146.xml" Id="Rb89f95fd292f47f3" /><Relationship Type="http://schemas.openxmlformats.org/officeDocument/2006/relationships/slide" Target="/ppt/slides/slide147.xml" Id="R6311cab92e194693" /><Relationship Type="http://schemas.openxmlformats.org/officeDocument/2006/relationships/slide" Target="/ppt/slides/slide148.xml" Id="Re9978af733654234" /><Relationship Type="http://schemas.openxmlformats.org/officeDocument/2006/relationships/slide" Target="/ppt/slides/slide149.xml" Id="Re1e5d39d67ab4603" /><Relationship Type="http://schemas.openxmlformats.org/officeDocument/2006/relationships/slide" Target="/ppt/slides/slide150.xml" Id="Raf396692eb514739" /><Relationship Type="http://schemas.openxmlformats.org/officeDocument/2006/relationships/slide" Target="/ppt/slides/slide151.xml" Id="R1f52b850fb4d4b56" /><Relationship Type="http://schemas.openxmlformats.org/officeDocument/2006/relationships/slide" Target="/ppt/slides/slide152.xml" Id="R932b3a1096614073" /><Relationship Type="http://schemas.openxmlformats.org/officeDocument/2006/relationships/slide" Target="/ppt/slides/slide153.xml" Id="R00bc0c94aee341a9" /><Relationship Type="http://schemas.openxmlformats.org/officeDocument/2006/relationships/slide" Target="/ppt/slides/slide154.xml" Id="R150c275d25a14fc4" /><Relationship Type="http://schemas.openxmlformats.org/officeDocument/2006/relationships/slide" Target="/ppt/slides/slide155.xml" Id="R9789a15049334edf" /><Relationship Type="http://schemas.openxmlformats.org/officeDocument/2006/relationships/slide" Target="/ppt/slides/slide156.xml" Id="Rb33168fcdb1e4142" /><Relationship Type="http://schemas.openxmlformats.org/officeDocument/2006/relationships/slide" Target="/ppt/slides/slide157.xml" Id="R344e13be69da4928" /><Relationship Type="http://schemas.openxmlformats.org/officeDocument/2006/relationships/slide" Target="/ppt/slides/slide158.xml" Id="R1dcfca3584254bb4" /><Relationship Type="http://schemas.openxmlformats.org/officeDocument/2006/relationships/slide" Target="/ppt/slides/slide159.xml" Id="R88b0f73611274ac9" /><Relationship Type="http://schemas.openxmlformats.org/officeDocument/2006/relationships/slide" Target="/ppt/slides/slide160.xml" Id="R1536ef1cf9754042" /><Relationship Type="http://schemas.openxmlformats.org/officeDocument/2006/relationships/slide" Target="/ppt/slides/slide161.xml" Id="R8d778112b97d42aa" /><Relationship Type="http://schemas.openxmlformats.org/officeDocument/2006/relationships/slide" Target="/ppt/slides/slide162.xml" Id="Rcaf6c1e49e8e4682" /><Relationship Type="http://schemas.openxmlformats.org/officeDocument/2006/relationships/slide" Target="/ppt/slides/slide163.xml" Id="R233ccb72ab544a43" /><Relationship Type="http://schemas.openxmlformats.org/officeDocument/2006/relationships/slide" Target="/ppt/slides/slide164.xml" Id="Re8c4f6507d2a4aa9" /><Relationship Type="http://schemas.openxmlformats.org/officeDocument/2006/relationships/slide" Target="/ppt/slides/slide165.xml" Id="Re013230876e74bad" /><Relationship Type="http://schemas.openxmlformats.org/officeDocument/2006/relationships/slide" Target="/ppt/slides/slide166.xml" Id="R0a797fac5a504304" /><Relationship Type="http://schemas.openxmlformats.org/officeDocument/2006/relationships/slide" Target="/ppt/slides/slide167.xml" Id="R7d38fc866d1c4248" /><Relationship Type="http://schemas.openxmlformats.org/officeDocument/2006/relationships/slide" Target="/ppt/slides/slide168.xml" Id="Re1c742b1ff5448f4" /><Relationship Type="http://schemas.openxmlformats.org/officeDocument/2006/relationships/slide" Target="/ppt/slides/slide169.xml" Id="Rbe5cb87239af4962" /><Relationship Type="http://schemas.openxmlformats.org/officeDocument/2006/relationships/slide" Target="/ppt/slides/slide170.xml" Id="Rd72064160837465b" /><Relationship Type="http://schemas.openxmlformats.org/officeDocument/2006/relationships/slide" Target="/ppt/slides/slide171.xml" Id="R788a34f958c04aa1" /><Relationship Type="http://schemas.openxmlformats.org/officeDocument/2006/relationships/slide" Target="/ppt/slides/slide172.xml" Id="Re09eb9b717714f77" /><Relationship Type="http://schemas.openxmlformats.org/officeDocument/2006/relationships/slide" Target="/ppt/slides/slide173.xml" Id="Rc55e9e5d959b4ae6" /><Relationship Type="http://schemas.openxmlformats.org/officeDocument/2006/relationships/slide" Target="/ppt/slides/slide174.xml" Id="R0385ee01430e4d75" /><Relationship Type="http://schemas.openxmlformats.org/officeDocument/2006/relationships/slide" Target="/ppt/slides/slide175.xml" Id="Ra7a74e0dd81e4432" /><Relationship Type="http://schemas.openxmlformats.org/officeDocument/2006/relationships/slide" Target="/ppt/slides/slide176.xml" Id="Rf1525ed05217453a" /><Relationship Type="http://schemas.openxmlformats.org/officeDocument/2006/relationships/slide" Target="/ppt/slides/slide177.xml" Id="R694e1ade7902400c" /><Relationship Type="http://schemas.openxmlformats.org/officeDocument/2006/relationships/slide" Target="/ppt/slides/slide178.xml" Id="R68bb0e657c4b4a7e" /><Relationship Type="http://schemas.openxmlformats.org/officeDocument/2006/relationships/slide" Target="/ppt/slides/slide179.xml" Id="R4d8f08addb7742f6" /><Relationship Type="http://schemas.openxmlformats.org/officeDocument/2006/relationships/slide" Target="/ppt/slides/slide180.xml" Id="R44cee5749ce346e6" /><Relationship Type="http://schemas.openxmlformats.org/officeDocument/2006/relationships/slide" Target="/ppt/slides/slide181.xml" Id="R8da666da04c24e23" /><Relationship Type="http://schemas.openxmlformats.org/officeDocument/2006/relationships/slide" Target="/ppt/slides/slide182.xml" Id="Rf0bc9b7db606416d" /><Relationship Type="http://schemas.openxmlformats.org/officeDocument/2006/relationships/slide" Target="/ppt/slides/slide183.xml" Id="R8a40dc8efab043e2" /><Relationship Type="http://schemas.openxmlformats.org/officeDocument/2006/relationships/slide" Target="/ppt/slides/slide184.xml" Id="R574b332b335b4f97" /><Relationship Type="http://schemas.openxmlformats.org/officeDocument/2006/relationships/slide" Target="/ppt/slides/slide185.xml" Id="Rc5a8caf405d24079" /><Relationship Type="http://schemas.openxmlformats.org/officeDocument/2006/relationships/slide" Target="/ppt/slides/slide186.xml" Id="R35074d922a8d41be" /><Relationship Type="http://schemas.openxmlformats.org/officeDocument/2006/relationships/slide" Target="/ppt/slides/slide187.xml" Id="R23abc2b2a6024a86" /><Relationship Type="http://schemas.openxmlformats.org/officeDocument/2006/relationships/slide" Target="/ppt/slides/slide188.xml" Id="R9f02f7589e8c494f" /><Relationship Type="http://schemas.openxmlformats.org/officeDocument/2006/relationships/slide" Target="/ppt/slides/slide189.xml" Id="R83b96bc4aadf49b8" /><Relationship Type="http://schemas.openxmlformats.org/officeDocument/2006/relationships/slide" Target="/ppt/slides/slide190.xml" Id="Rb46968ec8d014cee" /><Relationship Type="http://schemas.openxmlformats.org/officeDocument/2006/relationships/slide" Target="/ppt/slides/slide191.xml" Id="R0def9b5934514153" /><Relationship Type="http://schemas.openxmlformats.org/officeDocument/2006/relationships/slide" Target="/ppt/slides/slide192.xml" Id="Rb500516f09924e32" /><Relationship Type="http://schemas.openxmlformats.org/officeDocument/2006/relationships/slide" Target="/ppt/slides/slide193.xml" Id="R7468471f28af4433" /><Relationship Type="http://schemas.openxmlformats.org/officeDocument/2006/relationships/slide" Target="/ppt/slides/slide194.xml" Id="R4f1cbc73bd4d462d" /><Relationship Type="http://schemas.openxmlformats.org/officeDocument/2006/relationships/slide" Target="/ppt/slides/slide195.xml" Id="R0827455e21a64cf9" /><Relationship Type="http://schemas.openxmlformats.org/officeDocument/2006/relationships/slide" Target="/ppt/slides/slide196.xml" Id="R57b8bd124127420a" /><Relationship Type="http://schemas.openxmlformats.org/officeDocument/2006/relationships/slide" Target="/ppt/slides/slide197.xml" Id="Rcd820d9a2ddb4f32" /><Relationship Type="http://schemas.openxmlformats.org/officeDocument/2006/relationships/slide" Target="/ppt/slides/slide198.xml" Id="R8daeebfc224f48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b273dd05c047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f157895e9d4b40" /><Relationship Type="http://schemas.openxmlformats.org/officeDocument/2006/relationships/notesMaster" Target="/ppt/notesMasters/notesMaster1.xml" Id="R34d04f85356143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1070b1f78c4b43" /><Relationship Type="http://schemas.openxmlformats.org/officeDocument/2006/relationships/notesMaster" Target="/ppt/notesMasters/notesMaster1.xml" Id="R87b0eafebe5946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c342667fb34082" /><Relationship Type="http://schemas.openxmlformats.org/officeDocument/2006/relationships/notesMaster" Target="/ppt/notesMasters/notesMaster1.xml" Id="R278e6184f8f045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7d0737bb2544ab" /><Relationship Type="http://schemas.openxmlformats.org/officeDocument/2006/relationships/notesMaster" Target="/ppt/notesMasters/notesMaster1.xml" Id="R5656a44d62af43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c7e3862e884f41" /><Relationship Type="http://schemas.openxmlformats.org/officeDocument/2006/relationships/notesMaster" Target="/ppt/notesMasters/notesMaster1.xml" Id="R8e2718ae8bfb48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8d89e433bc4617" /><Relationship Type="http://schemas.openxmlformats.org/officeDocument/2006/relationships/notesMaster" Target="/ppt/notesMasters/notesMaster1.xml" Id="Rb9b820d3daee46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5d2743f1f94389" /><Relationship Type="http://schemas.openxmlformats.org/officeDocument/2006/relationships/notesMaster" Target="/ppt/notesMasters/notesMaster1.xml" Id="Rfb1c828c6b4249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77dad9951348e0" /><Relationship Type="http://schemas.openxmlformats.org/officeDocument/2006/relationships/notesMaster" Target="/ppt/notesMasters/notesMaster1.xml" Id="Rb1bca9e0c4ce44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fb60141182470b" /><Relationship Type="http://schemas.openxmlformats.org/officeDocument/2006/relationships/notesMaster" Target="/ppt/notesMasters/notesMaster1.xml" Id="R4917bda0b9a84d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42d9bd843e46e4" /><Relationship Type="http://schemas.openxmlformats.org/officeDocument/2006/relationships/notesMaster" Target="/ppt/notesMasters/notesMaster1.xml" Id="Rc229baf80a7041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54271da7eb41ab" /><Relationship Type="http://schemas.openxmlformats.org/officeDocument/2006/relationships/notesMaster" Target="/ppt/notesMasters/notesMaster1.xml" Id="R5b224dfcc0214d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6680bdb463496e" /><Relationship Type="http://schemas.openxmlformats.org/officeDocument/2006/relationships/notesMaster" Target="/ppt/notesMasters/notesMaster1.xml" Id="Re0cad582c7bc43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64977b85cb493d" /><Relationship Type="http://schemas.openxmlformats.org/officeDocument/2006/relationships/notesMaster" Target="/ppt/notesMasters/notesMaster1.xml" Id="R2862e4e771d044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c55952ad6c4bd8" /><Relationship Type="http://schemas.openxmlformats.org/officeDocument/2006/relationships/notesMaster" Target="/ppt/notesMasters/notesMaster1.xml" Id="Rff9fbff498af43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b81a446884429c" /><Relationship Type="http://schemas.openxmlformats.org/officeDocument/2006/relationships/notesMaster" Target="/ppt/notesMasters/notesMaster1.xml" Id="Rb6b12a259d2a46e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01b5b936f7455f" /><Relationship Type="http://schemas.openxmlformats.org/officeDocument/2006/relationships/notesMaster" Target="/ppt/notesMasters/notesMaster1.xml" Id="R3c003774fa6141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05eb47c89e4cea" /><Relationship Type="http://schemas.openxmlformats.org/officeDocument/2006/relationships/notesMaster" Target="/ppt/notesMasters/notesMaster1.xml" Id="R01b9e5951dc44dd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c454d97caf4abc" /><Relationship Type="http://schemas.openxmlformats.org/officeDocument/2006/relationships/notesMaster" Target="/ppt/notesMasters/notesMaster1.xml" Id="Re53f579ec52144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017df0d8d244ef" /><Relationship Type="http://schemas.openxmlformats.org/officeDocument/2006/relationships/notesMaster" Target="/ppt/notesMasters/notesMaster1.xml" Id="R92d365abc27c4f7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167e5c47cc74993" /><Relationship Type="http://schemas.openxmlformats.org/officeDocument/2006/relationships/notesMaster" Target="/ppt/notesMasters/notesMaster1.xml" Id="R797ce14a2f7140d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ea1e10ca4614172" /><Relationship Type="http://schemas.openxmlformats.org/officeDocument/2006/relationships/notesMaster" Target="/ppt/notesMasters/notesMaster1.xml" Id="Ra648dd2526564e7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d4c94f38ad54c46" /><Relationship Type="http://schemas.openxmlformats.org/officeDocument/2006/relationships/notesMaster" Target="/ppt/notesMasters/notesMaster1.xml" Id="Rb95720c0562245c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5d3bcfadef6481a" /><Relationship Type="http://schemas.openxmlformats.org/officeDocument/2006/relationships/notesMaster" Target="/ppt/notesMasters/notesMaster1.xml" Id="Rf2d4f095699a466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b4b0ae3475c42ba" /><Relationship Type="http://schemas.openxmlformats.org/officeDocument/2006/relationships/notesMaster" Target="/ppt/notesMasters/notesMaster1.xml" Id="R0c049696a023492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a31bca660524377" /><Relationship Type="http://schemas.openxmlformats.org/officeDocument/2006/relationships/notesMaster" Target="/ppt/notesMasters/notesMaster1.xml" Id="Rb556ec9b1aa14b4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55a9c5a54a2412f" /><Relationship Type="http://schemas.openxmlformats.org/officeDocument/2006/relationships/notesMaster" Target="/ppt/notesMasters/notesMaster1.xml" Id="Rf3aac8dce78f466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ee7030d413e4f23" /><Relationship Type="http://schemas.openxmlformats.org/officeDocument/2006/relationships/notesMaster" Target="/ppt/notesMasters/notesMaster1.xml" Id="Rab2fdc8731b4453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310714361cf45e9" /><Relationship Type="http://schemas.openxmlformats.org/officeDocument/2006/relationships/notesMaster" Target="/ppt/notesMasters/notesMaster1.xml" Id="R29e8ab87fc4242c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f996ba65cba4580" /><Relationship Type="http://schemas.openxmlformats.org/officeDocument/2006/relationships/notesMaster" Target="/ppt/notesMasters/notesMaster1.xml" Id="R39978d9eaec54f1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39a9da5240d430a" /><Relationship Type="http://schemas.openxmlformats.org/officeDocument/2006/relationships/notesMaster" Target="/ppt/notesMasters/notesMaster1.xml" Id="R928268eed6da447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9875a93994042f1" /><Relationship Type="http://schemas.openxmlformats.org/officeDocument/2006/relationships/notesMaster" Target="/ppt/notesMasters/notesMaster1.xml" Id="Rfe0ecf5d6fce454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2834e0cc8ba4cae" /><Relationship Type="http://schemas.openxmlformats.org/officeDocument/2006/relationships/notesMaster" Target="/ppt/notesMasters/notesMaster1.xml" Id="Rb5a891f34f03446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2fa23d8a2e24724" /><Relationship Type="http://schemas.openxmlformats.org/officeDocument/2006/relationships/notesMaster" Target="/ppt/notesMasters/notesMaster1.xml" Id="R4df0f5405ebe4d5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e59d9d255cd483e" /><Relationship Type="http://schemas.openxmlformats.org/officeDocument/2006/relationships/notesMaster" Target="/ppt/notesMasters/notesMaster1.xml" Id="R3ce1824a42024f4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9e277cb70b64592" /><Relationship Type="http://schemas.openxmlformats.org/officeDocument/2006/relationships/notesMaster" Target="/ppt/notesMasters/notesMaster1.xml" Id="R832e77207503484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b2e67ff7c014325" /><Relationship Type="http://schemas.openxmlformats.org/officeDocument/2006/relationships/notesMaster" Target="/ppt/notesMasters/notesMaster1.xml" Id="R84ead2eb4fd74df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751c03ee5324da1" /><Relationship Type="http://schemas.openxmlformats.org/officeDocument/2006/relationships/notesMaster" Target="/ppt/notesMasters/notesMaster1.xml" Id="Rde4f873b3d364c7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f217e3838ec41bf" /><Relationship Type="http://schemas.openxmlformats.org/officeDocument/2006/relationships/notesMaster" Target="/ppt/notesMasters/notesMaster1.xml" Id="R07c94fcedc504e4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ef1303f241a4edb" /><Relationship Type="http://schemas.openxmlformats.org/officeDocument/2006/relationships/notesMaster" Target="/ppt/notesMasters/notesMaster1.xml" Id="Rf190184913c141c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d8d0a78620a4ea4" /><Relationship Type="http://schemas.openxmlformats.org/officeDocument/2006/relationships/notesMaster" Target="/ppt/notesMasters/notesMaster1.xml" Id="R41cc51414b614bc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4b212104ce84e23" /><Relationship Type="http://schemas.openxmlformats.org/officeDocument/2006/relationships/notesMaster" Target="/ppt/notesMasters/notesMaster1.xml" Id="R686779bcd502437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422a7d41c544893" /><Relationship Type="http://schemas.openxmlformats.org/officeDocument/2006/relationships/notesMaster" Target="/ppt/notesMasters/notesMaster1.xml" Id="R78e6dca7822f461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4b93ac74bf04a45" /><Relationship Type="http://schemas.openxmlformats.org/officeDocument/2006/relationships/notesMaster" Target="/ppt/notesMasters/notesMaster1.xml" Id="R1f559963891a43a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9d307d89cb5431f" /><Relationship Type="http://schemas.openxmlformats.org/officeDocument/2006/relationships/notesMaster" Target="/ppt/notesMasters/notesMaster1.xml" Id="R8e9b60beff0c473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5fac07c998f48c6" /><Relationship Type="http://schemas.openxmlformats.org/officeDocument/2006/relationships/notesMaster" Target="/ppt/notesMasters/notesMaster1.xml" Id="R6183282988d24bd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d62b731494c4bf7" /><Relationship Type="http://schemas.openxmlformats.org/officeDocument/2006/relationships/notesMaster" Target="/ppt/notesMasters/notesMaster1.xml" Id="R811e3ce3087a48e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d21e44c3e494e82" /><Relationship Type="http://schemas.openxmlformats.org/officeDocument/2006/relationships/notesMaster" Target="/ppt/notesMasters/notesMaster1.xml" Id="Rfecde585db3344c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8d977b7fc82421f" /><Relationship Type="http://schemas.openxmlformats.org/officeDocument/2006/relationships/notesMaster" Target="/ppt/notesMasters/notesMaster1.xml" Id="Ra9a1c745b485439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29b2c90d6474769" /><Relationship Type="http://schemas.openxmlformats.org/officeDocument/2006/relationships/notesMaster" Target="/ppt/notesMasters/notesMaster1.xml" Id="R0d0ac1bb1c06471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350951bb8514df4" /><Relationship Type="http://schemas.openxmlformats.org/officeDocument/2006/relationships/notesMaster" Target="/ppt/notesMasters/notesMaster1.xml" Id="Rbbab4fd98fc84f8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4796935d99a4c56" /><Relationship Type="http://schemas.openxmlformats.org/officeDocument/2006/relationships/notesMaster" Target="/ppt/notesMasters/notesMaster1.xml" Id="Rbc63ed65e195458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5a64f14517e4c28" /><Relationship Type="http://schemas.openxmlformats.org/officeDocument/2006/relationships/notesMaster" Target="/ppt/notesMasters/notesMaster1.xml" Id="R8d6c9ad05343423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5cc796c2c374e98" /><Relationship Type="http://schemas.openxmlformats.org/officeDocument/2006/relationships/notesMaster" Target="/ppt/notesMasters/notesMaster1.xml" Id="R640da650a50943e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cf9bc0679004811" /><Relationship Type="http://schemas.openxmlformats.org/officeDocument/2006/relationships/notesMaster" Target="/ppt/notesMasters/notesMaster1.xml" Id="R2b3df37ce6ef436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000d63319f34d05" /><Relationship Type="http://schemas.openxmlformats.org/officeDocument/2006/relationships/notesMaster" Target="/ppt/notesMasters/notesMaster1.xml" Id="R7198e5436abd46c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07c0bc1ca994bbc" /><Relationship Type="http://schemas.openxmlformats.org/officeDocument/2006/relationships/notesMaster" Target="/ppt/notesMasters/notesMaster1.xml" Id="R03e5223b88b54f3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97533b2b29942a8" /><Relationship Type="http://schemas.openxmlformats.org/officeDocument/2006/relationships/notesMaster" Target="/ppt/notesMasters/notesMaster1.xml" Id="Rf0cad2b9bc5d481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0c17d3c6eec4ba0" /><Relationship Type="http://schemas.openxmlformats.org/officeDocument/2006/relationships/notesMaster" Target="/ppt/notesMasters/notesMaster1.xml" Id="R785105c2a0ad4da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237e85a551b4b71" /><Relationship Type="http://schemas.openxmlformats.org/officeDocument/2006/relationships/notesMaster" Target="/ppt/notesMasters/notesMaster1.xml" Id="R8a5b0257e0884ea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7f518278c254961" /><Relationship Type="http://schemas.openxmlformats.org/officeDocument/2006/relationships/notesMaster" Target="/ppt/notesMasters/notesMaster1.xml" Id="Rfa3ac64de150412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4fe9835808c491b" /><Relationship Type="http://schemas.openxmlformats.org/officeDocument/2006/relationships/notesMaster" Target="/ppt/notesMasters/notesMaster1.xml" Id="R648ece10cda94f56"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4c9e7cb7e5d472c" /><Relationship Type="http://schemas.openxmlformats.org/officeDocument/2006/relationships/notesMaster" Target="/ppt/notesMasters/notesMaster1.xml" Id="Ra812d35581aa4fc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035c9d02f72541c5" /><Relationship Type="http://schemas.openxmlformats.org/officeDocument/2006/relationships/notesMaster" Target="/ppt/notesMasters/notesMaster1.xml" Id="Rcbcff11f8f93407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0b42d8236fbd465e" /><Relationship Type="http://schemas.openxmlformats.org/officeDocument/2006/relationships/notesMaster" Target="/ppt/notesMasters/notesMaster1.xml" Id="Rf8d166b761254582"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3bcc0503c674ee3" /><Relationship Type="http://schemas.openxmlformats.org/officeDocument/2006/relationships/notesMaster" Target="/ppt/notesMasters/notesMaster1.xml" Id="R57df1c92afc244b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11243f26efb44c38" /><Relationship Type="http://schemas.openxmlformats.org/officeDocument/2006/relationships/notesMaster" Target="/ppt/notesMasters/notesMaster1.xml" Id="Rde8c827a386c4daa"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54ed9b22f60e4c73" /><Relationship Type="http://schemas.openxmlformats.org/officeDocument/2006/relationships/notesMaster" Target="/ppt/notesMasters/notesMaster1.xml" Id="R51facdd476984b4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0b926013cdff4f77" /><Relationship Type="http://schemas.openxmlformats.org/officeDocument/2006/relationships/notesMaster" Target="/ppt/notesMasters/notesMaster1.xml" Id="R60a6109c7b584f2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0def16ee3dc4f49" /><Relationship Type="http://schemas.openxmlformats.org/officeDocument/2006/relationships/notesMaster" Target="/ppt/notesMasters/notesMaster1.xml" Id="R726e20dba1f2449f"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6513f17963274191" /><Relationship Type="http://schemas.openxmlformats.org/officeDocument/2006/relationships/notesMaster" Target="/ppt/notesMasters/notesMaster1.xml" Id="Rfbb0c5f52f554e67"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c45602b966a34ad6" /><Relationship Type="http://schemas.openxmlformats.org/officeDocument/2006/relationships/notesMaster" Target="/ppt/notesMasters/notesMaster1.xml" Id="Reb0ca3ecfd84418b"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3f631f445b6545d2" /><Relationship Type="http://schemas.openxmlformats.org/officeDocument/2006/relationships/notesMaster" Target="/ppt/notesMasters/notesMaster1.xml" Id="R6cb498f2d9af452b"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3875c2f43a94cab" /><Relationship Type="http://schemas.openxmlformats.org/officeDocument/2006/relationships/notesMaster" Target="/ppt/notesMasters/notesMaster1.xml" Id="Rcfaa609b2a58491a"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99963f081b84fb4" /><Relationship Type="http://schemas.openxmlformats.org/officeDocument/2006/relationships/notesMaster" Target="/ppt/notesMasters/notesMaster1.xml" Id="Re943835d93cc4f9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0827bb58dfb4661" /><Relationship Type="http://schemas.openxmlformats.org/officeDocument/2006/relationships/notesMaster" Target="/ppt/notesMasters/notesMaster1.xml" Id="R5c02b924368c4dc1"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aaef9ff91b7e4082" /><Relationship Type="http://schemas.openxmlformats.org/officeDocument/2006/relationships/notesMaster" Target="/ppt/notesMasters/notesMaster1.xml" Id="Rd41b547b1c7f4f35"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459be05c1aea4d3e" /><Relationship Type="http://schemas.openxmlformats.org/officeDocument/2006/relationships/notesMaster" Target="/ppt/notesMasters/notesMaster1.xml" Id="Rbcab630d314c43ec"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3fc91496e8eb42f6" /><Relationship Type="http://schemas.openxmlformats.org/officeDocument/2006/relationships/notesMaster" Target="/ppt/notesMasters/notesMaster1.xml" Id="R7bc4b3fd1de14945"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0c90914999d44be5" /><Relationship Type="http://schemas.openxmlformats.org/officeDocument/2006/relationships/notesMaster" Target="/ppt/notesMasters/notesMaster1.xml" Id="R5f047cb3a8904d03"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69caeaf9650f4e65" /><Relationship Type="http://schemas.openxmlformats.org/officeDocument/2006/relationships/notesMaster" Target="/ppt/notesMasters/notesMaster1.xml" Id="R8dd0b26d26bc489d"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3a9841037c9e4a8f" /><Relationship Type="http://schemas.openxmlformats.org/officeDocument/2006/relationships/notesMaster" Target="/ppt/notesMasters/notesMaster1.xml" Id="Ra7197929f39c4df8"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19a13be1d0e944ac" /><Relationship Type="http://schemas.openxmlformats.org/officeDocument/2006/relationships/notesMaster" Target="/ppt/notesMasters/notesMaster1.xml" Id="R6a967130d518451d"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078fc13ce92a43b2" /><Relationship Type="http://schemas.openxmlformats.org/officeDocument/2006/relationships/notesMaster" Target="/ppt/notesMasters/notesMaster1.xml" Id="R009b624bcb694c0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2e589abeed134ba6" /><Relationship Type="http://schemas.openxmlformats.org/officeDocument/2006/relationships/notesMaster" Target="/ppt/notesMasters/notesMaster1.xml" Id="Re8bde3d4d13d4cd6"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54844e78e32b4654" /><Relationship Type="http://schemas.openxmlformats.org/officeDocument/2006/relationships/notesMaster" Target="/ppt/notesMasters/notesMaster1.xml" Id="R1b82c80bbde1460c"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6486aa95e08a44bc" /><Relationship Type="http://schemas.openxmlformats.org/officeDocument/2006/relationships/notesMaster" Target="/ppt/notesMasters/notesMaster1.xml" Id="Rf0cfc8bb63024657"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806cf54509aa4d32" /><Relationship Type="http://schemas.openxmlformats.org/officeDocument/2006/relationships/notesMaster" Target="/ppt/notesMasters/notesMaster1.xml" Id="R981b0254d89e4846"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4d0fdf50ff0e44c5" /><Relationship Type="http://schemas.openxmlformats.org/officeDocument/2006/relationships/notesMaster" Target="/ppt/notesMasters/notesMaster1.xml" Id="R80c839d766b640e8"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c6e13614d55e459e" /><Relationship Type="http://schemas.openxmlformats.org/officeDocument/2006/relationships/notesMaster" Target="/ppt/notesMasters/notesMaster1.xml" Id="R9573325029e54054"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77dd7a3905094379" /><Relationship Type="http://schemas.openxmlformats.org/officeDocument/2006/relationships/notesMaster" Target="/ppt/notesMasters/notesMaster1.xml" Id="Rbc30c01fb95d4155"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cae1527026b141de" /><Relationship Type="http://schemas.openxmlformats.org/officeDocument/2006/relationships/notesMaster" Target="/ppt/notesMasters/notesMaster1.xml" Id="Rf5a97e6927c94d6f"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4002038716834187" /><Relationship Type="http://schemas.openxmlformats.org/officeDocument/2006/relationships/notesMaster" Target="/ppt/notesMasters/notesMaster1.xml" Id="Ra74146cd2df64a0e"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c72a64d492ff445d" /><Relationship Type="http://schemas.openxmlformats.org/officeDocument/2006/relationships/notesMaster" Target="/ppt/notesMasters/notesMaster1.xml" Id="Rf92eb34afcb44883"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224427370fd340eb" /><Relationship Type="http://schemas.openxmlformats.org/officeDocument/2006/relationships/notesMaster" Target="/ppt/notesMasters/notesMaster1.xml" Id="Re69043397e704da6"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03d26306c45148ed" /><Relationship Type="http://schemas.openxmlformats.org/officeDocument/2006/relationships/notesMaster" Target="/ppt/notesMasters/notesMaster1.xml" Id="Re1a4afa6ecd2404b"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e56f460b2df34e5d" /><Relationship Type="http://schemas.openxmlformats.org/officeDocument/2006/relationships/notesMaster" Target="/ppt/notesMasters/notesMaster1.xml" Id="Rb5e4343c6ba440cf"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d3877261ad7c474c" /><Relationship Type="http://schemas.openxmlformats.org/officeDocument/2006/relationships/notesMaster" Target="/ppt/notesMasters/notesMaster1.xml" Id="R0ccf2d2441a54a1d"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2d284fa03d65472b" /><Relationship Type="http://schemas.openxmlformats.org/officeDocument/2006/relationships/notesMaster" Target="/ppt/notesMasters/notesMaster1.xml" Id="Rff59976ccf984db2"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56518ee14c9d4558" /><Relationship Type="http://schemas.openxmlformats.org/officeDocument/2006/relationships/notesMaster" Target="/ppt/notesMasters/notesMaster1.xml" Id="R2feceedfb3e74c5a"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871fd7bd42e2477d" /><Relationship Type="http://schemas.openxmlformats.org/officeDocument/2006/relationships/notesMaster" Target="/ppt/notesMasters/notesMaster1.xml" Id="R0723d05e22ca43ab"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92162fe222ab40bf" /><Relationship Type="http://schemas.openxmlformats.org/officeDocument/2006/relationships/notesMaster" Target="/ppt/notesMasters/notesMaster1.xml" Id="R231605c26c3045e2"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6de41b29288a4410" /><Relationship Type="http://schemas.openxmlformats.org/officeDocument/2006/relationships/notesMaster" Target="/ppt/notesMasters/notesMaster1.xml" Id="R9665f557ea9c49be"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868964d7780c4e79" /><Relationship Type="http://schemas.openxmlformats.org/officeDocument/2006/relationships/notesMaster" Target="/ppt/notesMasters/notesMaster1.xml" Id="R46e86f0ddc6d488c"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183630c6bdff4264" /><Relationship Type="http://schemas.openxmlformats.org/officeDocument/2006/relationships/notesMaster" Target="/ppt/notesMasters/notesMaster1.xml" Id="R4f7b87e389c544d8"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d358065322b24fa8" /><Relationship Type="http://schemas.openxmlformats.org/officeDocument/2006/relationships/notesMaster" Target="/ppt/notesMasters/notesMaster1.xml" Id="R731ef0e3e58e48ba"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a188a62dce3d4ff5" /><Relationship Type="http://schemas.openxmlformats.org/officeDocument/2006/relationships/notesMaster" Target="/ppt/notesMasters/notesMaster1.xml" Id="R4b0880f4d943493c"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63359e7a267b48cd" /><Relationship Type="http://schemas.openxmlformats.org/officeDocument/2006/relationships/notesMaster" Target="/ppt/notesMasters/notesMaster1.xml" Id="R4814e559b7af496e"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5aea3ae853a94e9e" /><Relationship Type="http://schemas.openxmlformats.org/officeDocument/2006/relationships/notesMaster" Target="/ppt/notesMasters/notesMaster1.xml" Id="Rb7598e00220a48f2"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ed5de60c126e46a2" /><Relationship Type="http://schemas.openxmlformats.org/officeDocument/2006/relationships/notesMaster" Target="/ppt/notesMasters/notesMaster1.xml" Id="R05ebd199dee740a0"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e00604e3841c42c8" /><Relationship Type="http://schemas.openxmlformats.org/officeDocument/2006/relationships/notesMaster" Target="/ppt/notesMasters/notesMaster1.xml" Id="R767f5a12144142e0"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d5b20eb335374498" /><Relationship Type="http://schemas.openxmlformats.org/officeDocument/2006/relationships/notesMaster" Target="/ppt/notesMasters/notesMaster1.xml" Id="Rab4202542c224433"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2278c7c01068456f" /><Relationship Type="http://schemas.openxmlformats.org/officeDocument/2006/relationships/notesMaster" Target="/ppt/notesMasters/notesMaster1.xml" Id="Rfe3b1c5815414036"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16394b3a851a408a" /><Relationship Type="http://schemas.openxmlformats.org/officeDocument/2006/relationships/notesMaster" Target="/ppt/notesMasters/notesMaster1.xml" Id="R29e2c489ebe244bb"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4e7bf8dadf414ca9" /><Relationship Type="http://schemas.openxmlformats.org/officeDocument/2006/relationships/notesMaster" Target="/ppt/notesMasters/notesMaster1.xml" Id="Rd23903b3c4ae42d9"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5cc30f3b9c5040b3" /><Relationship Type="http://schemas.openxmlformats.org/officeDocument/2006/relationships/notesMaster" Target="/ppt/notesMasters/notesMaster1.xml" Id="Ra1f9bf56e4444e1c"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8e8c90da2ab44240" /><Relationship Type="http://schemas.openxmlformats.org/officeDocument/2006/relationships/notesMaster" Target="/ppt/notesMasters/notesMaster1.xml" Id="Ra25b7d0f46bd40fd"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b83c479dd3f84144" /><Relationship Type="http://schemas.openxmlformats.org/officeDocument/2006/relationships/notesMaster" Target="/ppt/notesMasters/notesMaster1.xml" Id="Rb92f464707a14c31"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651082998f354382" /><Relationship Type="http://schemas.openxmlformats.org/officeDocument/2006/relationships/notesMaster" Target="/ppt/notesMasters/notesMaster1.xml" Id="R72d8f1db2fb14dbc"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4a8d5791d28d4ae9" /><Relationship Type="http://schemas.openxmlformats.org/officeDocument/2006/relationships/notesMaster" Target="/ppt/notesMasters/notesMaster1.xml" Id="R94494d5c73cd4e57"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df73d514e02b4a1f" /><Relationship Type="http://schemas.openxmlformats.org/officeDocument/2006/relationships/notesMaster" Target="/ppt/notesMasters/notesMaster1.xml" Id="R715530bf9a7a4c47"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55cf6e3c1ede4be7" /><Relationship Type="http://schemas.openxmlformats.org/officeDocument/2006/relationships/notesMaster" Target="/ppt/notesMasters/notesMaster1.xml" Id="Re47aba547f0c4dfc"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06c79e6d095e4462" /><Relationship Type="http://schemas.openxmlformats.org/officeDocument/2006/relationships/notesMaster" Target="/ppt/notesMasters/notesMaster1.xml" Id="Rf19ecb68e06545dc"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76c7a0550be24d6a" /><Relationship Type="http://schemas.openxmlformats.org/officeDocument/2006/relationships/notesMaster" Target="/ppt/notesMasters/notesMaster1.xml" Id="Rddc92c769e7a419f"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9c10aeb09ca2466d" /><Relationship Type="http://schemas.openxmlformats.org/officeDocument/2006/relationships/notesMaster" Target="/ppt/notesMasters/notesMaster1.xml" Id="R378c3267abb242d9"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ecef0f72fec64084" /><Relationship Type="http://schemas.openxmlformats.org/officeDocument/2006/relationships/notesMaster" Target="/ppt/notesMasters/notesMaster1.xml" Id="Rafdd27319e104111"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b2380cf0de124b49" /><Relationship Type="http://schemas.openxmlformats.org/officeDocument/2006/relationships/notesMaster" Target="/ppt/notesMasters/notesMaster1.xml" Id="R4797cdb3c65d4e94"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18603288108d4a02" /><Relationship Type="http://schemas.openxmlformats.org/officeDocument/2006/relationships/notesMaster" Target="/ppt/notesMasters/notesMaster1.xml" Id="Rf809381b15f74bd4"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ed97ed02f6744786" /><Relationship Type="http://schemas.openxmlformats.org/officeDocument/2006/relationships/notesMaster" Target="/ppt/notesMasters/notesMaster1.xml" Id="R1d18bafae1ea4423"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3b63c50beff94250" /><Relationship Type="http://schemas.openxmlformats.org/officeDocument/2006/relationships/notesMaster" Target="/ppt/notesMasters/notesMaster1.xml" Id="R6b894771b92d4cd7"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e92d533151474603" /><Relationship Type="http://schemas.openxmlformats.org/officeDocument/2006/relationships/notesMaster" Target="/ppt/notesMasters/notesMaster1.xml" Id="R06b7f91a4c474eaa"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a3b638154b114fb7" /><Relationship Type="http://schemas.openxmlformats.org/officeDocument/2006/relationships/notesMaster" Target="/ppt/notesMasters/notesMaster1.xml" Id="Rfc7ac81aa11a48e9"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3ce5d3864d284952" /><Relationship Type="http://schemas.openxmlformats.org/officeDocument/2006/relationships/notesMaster" Target="/ppt/notesMasters/notesMaster1.xml" Id="R6d7e1028b9994a37"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fe6ba3d8434a4089" /><Relationship Type="http://schemas.openxmlformats.org/officeDocument/2006/relationships/notesMaster" Target="/ppt/notesMasters/notesMaster1.xml" Id="Rc1109c70758f46b6"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c98b0b15af054c5e" /><Relationship Type="http://schemas.openxmlformats.org/officeDocument/2006/relationships/notesMaster" Target="/ppt/notesMasters/notesMaster1.xml" Id="R32811ccd95194067"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fb32daba841f4703" /><Relationship Type="http://schemas.openxmlformats.org/officeDocument/2006/relationships/notesMaster" Target="/ppt/notesMasters/notesMaster1.xml" Id="R8e3d6e347ac34e0c"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8bccb0502c0748c4" /><Relationship Type="http://schemas.openxmlformats.org/officeDocument/2006/relationships/notesMaster" Target="/ppt/notesMasters/notesMaster1.xml" Id="R96df4475d5d941f3"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8de8aec4f17c4690" /><Relationship Type="http://schemas.openxmlformats.org/officeDocument/2006/relationships/notesMaster" Target="/ppt/notesMasters/notesMaster1.xml" Id="R199c871a265f482b"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e7f6ea9544f74368" /><Relationship Type="http://schemas.openxmlformats.org/officeDocument/2006/relationships/notesMaster" Target="/ppt/notesMasters/notesMaster1.xml" Id="R529cd47bc6a143ad"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a3a1139fee134a7f" /><Relationship Type="http://schemas.openxmlformats.org/officeDocument/2006/relationships/notesMaster" Target="/ppt/notesMasters/notesMaster1.xml" Id="Rc3508c1e0f8c44f2"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dcadf6dd9a0340e8" /><Relationship Type="http://schemas.openxmlformats.org/officeDocument/2006/relationships/notesMaster" Target="/ppt/notesMasters/notesMaster1.xml" Id="Rba097cf3ddf74601"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c7bc59ee74d34e1f" /><Relationship Type="http://schemas.openxmlformats.org/officeDocument/2006/relationships/notesMaster" Target="/ppt/notesMasters/notesMaster1.xml" Id="R311767094a694ae8"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142b2afe3c0240fe" /><Relationship Type="http://schemas.openxmlformats.org/officeDocument/2006/relationships/notesMaster" Target="/ppt/notesMasters/notesMaster1.xml" Id="R69bbf9e960314397"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10c08273c87d4ae3" /><Relationship Type="http://schemas.openxmlformats.org/officeDocument/2006/relationships/notesMaster" Target="/ppt/notesMasters/notesMaster1.xml" Id="R4e85675b800a417f"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bd242fe57b724dd2" /><Relationship Type="http://schemas.openxmlformats.org/officeDocument/2006/relationships/notesMaster" Target="/ppt/notesMasters/notesMaster1.xml" Id="Rf8e2e433311c499c"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a5cd12dbb6fa4858" /><Relationship Type="http://schemas.openxmlformats.org/officeDocument/2006/relationships/notesMaster" Target="/ppt/notesMasters/notesMaster1.xml" Id="R7697ed60613b47e1"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c7979c5a1e38420f" /><Relationship Type="http://schemas.openxmlformats.org/officeDocument/2006/relationships/notesMaster" Target="/ppt/notesMasters/notesMaster1.xml" Id="R807456450132405f"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fd8be1d4092246ad" /><Relationship Type="http://schemas.openxmlformats.org/officeDocument/2006/relationships/notesMaster" Target="/ppt/notesMasters/notesMaster1.xml" Id="R692efdcb605347ac"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17554791b9394a74" /><Relationship Type="http://schemas.openxmlformats.org/officeDocument/2006/relationships/notesMaster" Target="/ppt/notesMasters/notesMaster1.xml" Id="R89b4647fb20a4038"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4923746dc471428d" /><Relationship Type="http://schemas.openxmlformats.org/officeDocument/2006/relationships/notesMaster" Target="/ppt/notesMasters/notesMaster1.xml" Id="R9d32ef986b604c41"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b8a637a1195740ad" /><Relationship Type="http://schemas.openxmlformats.org/officeDocument/2006/relationships/notesMaster" Target="/ppt/notesMasters/notesMaster1.xml" Id="R3bb0775931124387"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fadf1724297a4747" /><Relationship Type="http://schemas.openxmlformats.org/officeDocument/2006/relationships/notesMaster" Target="/ppt/notesMasters/notesMaster1.xml" Id="Rdff05dfad94a4fae"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fd6f18e05c7d46c3" /><Relationship Type="http://schemas.openxmlformats.org/officeDocument/2006/relationships/notesMaster" Target="/ppt/notesMasters/notesMaster1.xml" Id="Rcd8b306e27dd4dc7"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4b3fb9e9d65d4ff2" /><Relationship Type="http://schemas.openxmlformats.org/officeDocument/2006/relationships/notesMaster" Target="/ppt/notesMasters/notesMaster1.xml" Id="R95e7fe55182d44d3"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a8cbc059d80740b1" /><Relationship Type="http://schemas.openxmlformats.org/officeDocument/2006/relationships/notesMaster" Target="/ppt/notesMasters/notesMaster1.xml" Id="R3d411b6662534fd4"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b483ee4ce73d4e34" /><Relationship Type="http://schemas.openxmlformats.org/officeDocument/2006/relationships/notesMaster" Target="/ppt/notesMasters/notesMaster1.xml" Id="R43353e31e4514a0a"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58bbafc576d149f9" /><Relationship Type="http://schemas.openxmlformats.org/officeDocument/2006/relationships/notesMaster" Target="/ppt/notesMasters/notesMaster1.xml" Id="Rfe1a0ac2f76849ce"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2672156c464c4d9e" /><Relationship Type="http://schemas.openxmlformats.org/officeDocument/2006/relationships/notesMaster" Target="/ppt/notesMasters/notesMaster1.xml" Id="R9722719e235f42e0"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22447581e8754f56" /><Relationship Type="http://schemas.openxmlformats.org/officeDocument/2006/relationships/notesMaster" Target="/ppt/notesMasters/notesMaster1.xml" Id="Rea19cd1dcac34709"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b1644d33ff514d2a" /><Relationship Type="http://schemas.openxmlformats.org/officeDocument/2006/relationships/notesMaster" Target="/ppt/notesMasters/notesMaster1.xml" Id="R0d3e83ac8a3f4101"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1e9c278f14f94799" /><Relationship Type="http://schemas.openxmlformats.org/officeDocument/2006/relationships/notesMaster" Target="/ppt/notesMasters/notesMaster1.xml" Id="R8a47048db70b4bc3"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15689d08c87a4521" /><Relationship Type="http://schemas.openxmlformats.org/officeDocument/2006/relationships/notesMaster" Target="/ppt/notesMasters/notesMaster1.xml" Id="R6dff2b6642db4c31"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4af700154a114939" /><Relationship Type="http://schemas.openxmlformats.org/officeDocument/2006/relationships/notesMaster" Target="/ppt/notesMasters/notesMaster1.xml" Id="R24e2878943ac4d72"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80adcccf7d994514" /><Relationship Type="http://schemas.openxmlformats.org/officeDocument/2006/relationships/notesMaster" Target="/ppt/notesMasters/notesMaster1.xml" Id="Ra693c69ace1042f0"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357ee3b8394c47e4" /><Relationship Type="http://schemas.openxmlformats.org/officeDocument/2006/relationships/notesMaster" Target="/ppt/notesMasters/notesMaster1.xml" Id="R9e7be76b11834561"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5084349cde334f4d" /><Relationship Type="http://schemas.openxmlformats.org/officeDocument/2006/relationships/notesMaster" Target="/ppt/notesMasters/notesMaster1.xml" Id="R07072d611335411d"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20ca932bc7f44c27" /><Relationship Type="http://schemas.openxmlformats.org/officeDocument/2006/relationships/notesMaster" Target="/ppt/notesMasters/notesMaster1.xml" Id="R6cd2d8a1e59341a4"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fcdd2e15bd8a4b65" /><Relationship Type="http://schemas.openxmlformats.org/officeDocument/2006/relationships/notesMaster" Target="/ppt/notesMasters/notesMaster1.xml" Id="R5d75916723e94ba5"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0f273673a054436b" /><Relationship Type="http://schemas.openxmlformats.org/officeDocument/2006/relationships/notesMaster" Target="/ppt/notesMasters/notesMaster1.xml" Id="Re2aaf9afb2f448e0"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381620e04f0d4f57" /><Relationship Type="http://schemas.openxmlformats.org/officeDocument/2006/relationships/notesMaster" Target="/ppt/notesMasters/notesMaster1.xml" Id="Rf888e62a60794a5d"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aa69d37b8c054597" /><Relationship Type="http://schemas.openxmlformats.org/officeDocument/2006/relationships/notesMaster" Target="/ppt/notesMasters/notesMaster1.xml" Id="R2bd18ffa03784dee"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0c8f611c51d14ac3" /><Relationship Type="http://schemas.openxmlformats.org/officeDocument/2006/relationships/notesMaster" Target="/ppt/notesMasters/notesMaster1.xml" Id="R7ce283f4adca4eab"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3bacf73ca4054ac9" /><Relationship Type="http://schemas.openxmlformats.org/officeDocument/2006/relationships/notesMaster" Target="/ppt/notesMasters/notesMaster1.xml" Id="R89c2c38bdb154816"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ab61b69cd7ec4018" /><Relationship Type="http://schemas.openxmlformats.org/officeDocument/2006/relationships/notesMaster" Target="/ppt/notesMasters/notesMaster1.xml" Id="Rc73dc693e0a54945"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e14ebadcd459438e" /><Relationship Type="http://schemas.openxmlformats.org/officeDocument/2006/relationships/notesMaster" Target="/ppt/notesMasters/notesMaster1.xml" Id="R35934e04099a4719"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3d1b1903946948b0" /><Relationship Type="http://schemas.openxmlformats.org/officeDocument/2006/relationships/notesMaster" Target="/ppt/notesMasters/notesMaster1.xml" Id="Ra8106ec231044057"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65d2319ed0964e3e" /><Relationship Type="http://schemas.openxmlformats.org/officeDocument/2006/relationships/notesMaster" Target="/ppt/notesMasters/notesMaster1.xml" Id="R2bccd7db105c4361"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6a1f82fba2d84eef" /><Relationship Type="http://schemas.openxmlformats.org/officeDocument/2006/relationships/notesMaster" Target="/ppt/notesMasters/notesMaster1.xml" Id="R6abb504091f8412c"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184022615291473b" /><Relationship Type="http://schemas.openxmlformats.org/officeDocument/2006/relationships/notesMaster" Target="/ppt/notesMasters/notesMaster1.xml" Id="R12655dd0c3f244f8"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b56c386480db445f" /><Relationship Type="http://schemas.openxmlformats.org/officeDocument/2006/relationships/notesMaster" Target="/ppt/notesMasters/notesMaster1.xml" Id="R5de5d74e9fed4426"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d4f6d16c269e4591" /><Relationship Type="http://schemas.openxmlformats.org/officeDocument/2006/relationships/notesMaster" Target="/ppt/notesMasters/notesMaster1.xml" Id="R5270a1c8a4454181"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7b84b65dc82141f3" /><Relationship Type="http://schemas.openxmlformats.org/officeDocument/2006/relationships/notesMaster" Target="/ppt/notesMasters/notesMaster1.xml" Id="R6786471a106a4702"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43be3476404c4b34" /><Relationship Type="http://schemas.openxmlformats.org/officeDocument/2006/relationships/notesMaster" Target="/ppt/notesMasters/notesMaster1.xml" Id="R1494ef3298554dc3"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5b124016cf9c44d0" /><Relationship Type="http://schemas.openxmlformats.org/officeDocument/2006/relationships/notesMaster" Target="/ppt/notesMasters/notesMaster1.xml" Id="R166210af364a484a"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b30c48c863154bf6" /><Relationship Type="http://schemas.openxmlformats.org/officeDocument/2006/relationships/notesMaster" Target="/ppt/notesMasters/notesMaster1.xml" Id="Ra0bbaf1789c04f62"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1020a86f072e4d14" /><Relationship Type="http://schemas.openxmlformats.org/officeDocument/2006/relationships/notesMaster" Target="/ppt/notesMasters/notesMaster1.xml" Id="R103723d7f72542c3"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8c1a5a399e954dd8" /><Relationship Type="http://schemas.openxmlformats.org/officeDocument/2006/relationships/notesMaster" Target="/ppt/notesMasters/notesMaster1.xml" Id="R8fee4d821ef64ce2"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46be360e2f034e2f" /><Relationship Type="http://schemas.openxmlformats.org/officeDocument/2006/relationships/notesMaster" Target="/ppt/notesMasters/notesMaster1.xml" Id="R2d46bc84707f450f"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3e95a9179ff543d3" /><Relationship Type="http://schemas.openxmlformats.org/officeDocument/2006/relationships/notesMaster" Target="/ppt/notesMasters/notesMaster1.xml" Id="Rf98248d4de724a81"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ee96959a499d42fd" /><Relationship Type="http://schemas.openxmlformats.org/officeDocument/2006/relationships/notesMaster" Target="/ppt/notesMasters/notesMaster1.xml" Id="R182cb430b4c0468a"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263f0e59618042b1" /><Relationship Type="http://schemas.openxmlformats.org/officeDocument/2006/relationships/notesMaster" Target="/ppt/notesMasters/notesMaster1.xml" Id="Rbf1f80e8e7c845de"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d728b7f976834fbb" /><Relationship Type="http://schemas.openxmlformats.org/officeDocument/2006/relationships/notesMaster" Target="/ppt/notesMasters/notesMaster1.xml" Id="R514051e1b23642b1"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a7183a42ffa24b69" /><Relationship Type="http://schemas.openxmlformats.org/officeDocument/2006/relationships/notesMaster" Target="/ppt/notesMasters/notesMaster1.xml" Id="R6badcac42e7d4bd6"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2606730c568a468e" /><Relationship Type="http://schemas.openxmlformats.org/officeDocument/2006/relationships/notesMaster" Target="/ppt/notesMasters/notesMaster1.xml" Id="Rb17540785a864702"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8950705bf3224264" /><Relationship Type="http://schemas.openxmlformats.org/officeDocument/2006/relationships/notesMaster" Target="/ppt/notesMasters/notesMaster1.xml" Id="R709a31da70a040db"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a15cd44a45dc4c38" /><Relationship Type="http://schemas.openxmlformats.org/officeDocument/2006/relationships/notesMaster" Target="/ppt/notesMasters/notesMaster1.xml" Id="Rf06ce5876d4c46ac"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f46b4cb948914059" /><Relationship Type="http://schemas.openxmlformats.org/officeDocument/2006/relationships/notesMaster" Target="/ppt/notesMasters/notesMaster1.xml" Id="R6f14dfb0bed647ea"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6672a25cec514be5" /><Relationship Type="http://schemas.openxmlformats.org/officeDocument/2006/relationships/notesMaster" Target="/ppt/notesMasters/notesMaster1.xml" Id="R935f0305e2b6432c"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a0171110f947476f" /><Relationship Type="http://schemas.openxmlformats.org/officeDocument/2006/relationships/notesMaster" Target="/ppt/notesMasters/notesMaster1.xml" Id="Rc819391cdf3d4f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https://docarcshot.github.io/id-practice-update/lectures/Antibiotic_Resistance_and_Resistant_Organisms.html</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clinical context to interpret resistance Resident core · 30–45 minutes with discussion Identify infection, interpret the resistance pattern, and choose an active drug that reaches the source. Adult bacterial infections for residents and ID fellows. Three fictional cases anchor the core. Detailed mechanisms, doses, trial appraisals, salvage options, and extra cases are optional reading below the lecture. Use the three cases for discussion. Teach the highlighted matrix patterns; consult the remaining cells as reference. The advanced section is optional and comes after the resident core.</a:t>
            </a:r>
          </a:p>
          <a:p xmlns:a="http://schemas.openxmlformats.org/drawingml/2006/main">
            <a:r>
              <a:t/>
            </a:r>
          </a:p>
          <a:p xmlns:a="http://schemas.openxmlformats.org/drawingml/2006/main">
            <a:r>
              <a:t>Module section: https://docarcshot.github.io/id-practice-update/lectures/Antibiotic_Resistance_and_Resistant_Organisms.html#core-start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clinical context to interpret resistance Resident core · 30–45 minutes with discussion Identify infection, interpret the resistance pattern, and choose an active drug that reaches the source. Adult bacterial infections for residents and ID fellows. Three fictional cases anchor the core. Detailed mechanisms, doses, trial appraisals, salvage options, and extra cases are optional reading below the lecture. Use the three cases for discussion. Teach the highlighted matrix patterns; consult the remaining cells as reference. The advanced section is optional and comes after the resident core.</a:t>
            </a:r>
          </a:p>
          <a:p xmlns:a="http://schemas.openxmlformats.org/drawingml/2006/main">
            <a:r>
              <a:t/>
            </a:r>
          </a:p>
          <a:p xmlns:a="http://schemas.openxmlformats.org/drawingml/2006/main">
            <a:r>
              <a:t>Module section: https://docarcshot.github.io/id-practice-update/lectures/Antibiotic_Resistance_and_Resistant_Organisms.html#core-start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Start with the patient Infection? Compatible syndrome and a meaningful specimen. Urgency? Shock, organ dysfunction, immune status. Likely activity? Prior isolates, recent antibiotics, local data. Source? Drain, remove, relieve obstruction; confirm drug exposure. Reassessment? Review cultures, narrow, and set a stop plan. A resistant culture does not establish infection. A rectal CRE screen or a chronically positive tracheal aspirate may indicate colonization. Asymptomatic bacteriuria usually needs no antibiotic; pregnancy and endourologic procedures involving mucosal trauma are key exceptions. In severe infection, obtain appropriate cultures without delaying urgent therapy. Use the patient's prior organism and susceptibility results to choose empiric coverage. “History of MDRO” is less useful than “prior NDM-producing Klebsiella.” Request missing susceptibility tests early. First question for the room: What clinical evidence would make you treat this isolate? Sources amr , asb</a:t>
            </a:r>
          </a:p>
          <a:p xmlns:a="http://schemas.openxmlformats.org/drawingml/2006/main">
            <a:r>
              <a:t/>
            </a:r>
          </a:p>
          <a:p xmlns:a="http://schemas.openxmlformats.org/drawingml/2006/main">
            <a:r>
              <a:t>Module section: https://docarcshot.github.io/id-practice-update/lectures/Antibiotic_Resistance_and_Resistant_Organisms.html#core-approach</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Start with the patient Infection? Compatible syndrome and a meaningful specimen. Urgency? Shock, organ dysfunction, immune status. Likely activity? Prior isolates, recent antibiotics, local data. Source? Drain, remove, relieve obstruction; confirm drug exposure. Reassessment? Review cultures, narrow, and set a stop plan. A resistant culture does not establish infection. A rectal CRE screen or a chronically positive tracheal aspirate may indicate colonization. Asymptomatic bacteriuria usually needs no antibiotic; pregnancy and endourologic procedures involving mucosal trauma are key exceptions. In severe infection, obtain appropriate cultures without delaying urgent therapy. Use the patient's prior organism and susceptibility results to choose empiric coverage. “History of MDRO” is less useful than “prior NDM-producing Klebsiella.” Request missing susceptibility tests early. First question for the room: What clinical evidence would make you treat this isolate? Sources amr , asb</a:t>
            </a:r>
          </a:p>
          <a:p xmlns:a="http://schemas.openxmlformats.org/drawingml/2006/main">
            <a:r>
              <a:t/>
            </a:r>
          </a:p>
          <a:p xmlns:a="http://schemas.openxmlformats.org/drawingml/2006/main">
            <a:r>
              <a:t>Module section: https://docarcshot.github.io/id-practice-update/lectures/Antibiotic_Resistance_and_Resistant_Organisms.html#core-approach</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Start with the patient Infection? Compatible syndrome and a meaningful specimen. Urgency? Shock, organ dysfunction, immune status. Likely activity? Prior isolates, recent antibiotics, local data. Source? Drain, remove, relieve obstruction; confirm drug exposure. Reassessment? Review cultures, narrow, and set a stop plan. A resistant culture does not establish infection. A rectal CRE screen or a chronically positive tracheal aspirate may indicate colonization. Asymptomatic bacteriuria usually needs no antibiotic; pregnancy and endourologic procedures involving mucosal trauma are key exceptions. In severe infection, obtain appropriate cultures without delaying urgent therapy. Use the patient's prior organism and susceptibility results to choose empiric coverage. “History of MDRO” is less useful than “prior NDM-producing Klebsiella.” Request missing susceptibility tests early. First question for the room: What clinical evidence would make you treat this isolate? Sources amr , asb</a:t>
            </a:r>
          </a:p>
          <a:p xmlns:a="http://schemas.openxmlformats.org/drawingml/2006/main">
            <a:r>
              <a:t/>
            </a:r>
          </a:p>
          <a:p xmlns:a="http://schemas.openxmlformats.org/drawingml/2006/main">
            <a:r>
              <a:t>Module section: https://docarcshot.github.io/id-practice-update/lectures/Antibiotic_Resistance_and_Resistant_Organisms.html#core-approach</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organism, mechanism, and MIC together Susceptible does not mean interchangeable Use the drug-specific breakpoint and infection site. A smaller MIC for another drug does not make it a better choice. SDD requires the exposure linked to that category; EUCAST “I” means susceptible with increased exposure. A gene result is a clue A detected carbapenemase can redirect therapy before full AST. A negative panel excludes only its targets. Multiple mechanisms may coexist; confirm the phenotype and test the intended drug. Two distinctions do most of the work today. ESBL and inducible AmpC differ in whether cefepime is a dependable choice. KPC, NDM, and OXA-48-like enzymes differ in which beta-lactamase inhibitor works. Do not read a matrix color as the patient's susceptibility result. AST means antimicrobial susceptibility testing. Check the isolate, site, dose, and current laboratory interpretation before prescribing.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https://docarcshot.github.io/id-practice-update/lectures/Antibiotic_Resistance_and_Resistant_Organisms.html#core-lab</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organism, mechanism, and MIC together Susceptible does not mean interchangeable Use the drug-specific breakpoint and infection site. A smaller MIC for another drug does not make it a better choice. SDD requires the exposure linked to that category; EUCAST “I” means susceptible with increased exposure. A gene result is a clue A detected carbapenemase can redirect therapy before full AST. A negative panel excludes only its targets. Multiple mechanisms may coexist; confirm the phenotype and test the intended drug. Two distinctions do most of the work today. ESBL and inducible AmpC differ in whether cefepime is a dependable choice. KPC, NDM, and OXA-48-like enzymes differ in which beta-lactamase inhibitor works. Do not read a matrix color as the patient's susceptibility result. AST means antimicrobial susceptibility testing. Check the isolate, site, dose, and current laboratory interpretation before prescribing.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https://docarcshot.github.io/id-practice-update/lectures/Antibiotic_Resistance_and_Resistant_Organisms.html#core-lab</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organism, mechanism, and MIC together Susceptible does not mean interchangeable Use the drug-specific breakpoint and infection site. A smaller MIC for another drug does not make it a better choice. SDD requires the exposure linked to that category; EUCAST “I” means susceptible with increased exposure. A gene result is a clue A detected carbapenemase can redirect therapy before full AST. A negative panel excludes only its targets. Multiple mechanisms may coexist; confirm the phenotype and test the intended drug. Two distinctions do most of the work today. ESBL and inducible AmpC differ in whether cefepime is a dependable choice. KPC, NDM, and OXA-48-like enzymes differ in which beta-lactamase inhibitor works. Do not read a matrix color as the patient's susceptibility result. AST means antimicrobial susceptibility testing. Check the isolate, site, dose, and current laboratory interpretation before prescribing.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https://docarcshot.github.io/id-practice-update/lectures/Antibiotic_Resistance_and_Resistant_Organisms.html#core-lab</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matrix to connect resistance with treatment Antibiotics run down the rows; resistance patterns run across the columns. This is a teaching synthesis for invasive infection, not a local antibiogram or a substitute for isolate-specific AST. 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 “Reserve” means activity may be present, but preserve the drug for more resistant infections. Non-beta-lactam susceptibility cannot be inferred from an ESBL or carbapenemase label. A blank qualifier never waives AST. Gram-negative resistance patterns Antibiotic ESBL-E Inducible AmpC-E KPC-E NDM-E OXA-48-like-E DTR Pseudomonas Ceftriaxone R Avoid Induction R R Avoid Unreliable R Piperacillin–tazobactam Avoid Invasive disease Avoid Invasive disease R R R R Cefepime Avoid ESBL disease S* Optimize dose R R Avoid Unreliable R Meropenem / imipenem–cilastatin S* S* R R Avoid Unreliable R Ertapenem Caution Not critical illness S* R R R R Ceftolozane–tazobactam Caution Reserve Avoid AmpC R R R Caution AST; no MBL Ceftazidime–avibactam Caution Reserve Caution Reserve S* R NDM alone S* Caution AST; no MBL Meropenem–vaborbactam Caution Reserve Caution Reserve S* R Avoid Inhibitor mismatch Avoid No added benefit Imipenem–cilastatin–relebactam Caution Reserve Caution Reserve S* R Avoid Inhibitor mismatch Caution AST; no MBL Aztreonam–avibactam Caution Reserve Caution Reserve Caution Alternative S* Confirm AST Caution Alternative Avoid Limited activity Cefiderocol Caution Reserve Caution Reserve Caution Alternative S* Confirm AST Caution Alternative Caution AST; MBL option TMP–SMX Caution AST; site Caution AST; site Caution AST; site Caution AST; site Caution AST; site R Levofloxacin Caution AST; site Caution AST; site Caution AST; site Caution AST; site Caution AST; site R 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 Recognize these three patterns ESBL versus AmpC — For invasive ESBL, start with a carbapenem. For susceptible inducible AmpC, optimized cefepime is a key option. Moderate-risk species include E. cloacae complex, K. aerogenes, C. freundii, and H. alvei. Match the CRE inhibitor — KPC has several active inhibitor combinations; NDM requires aztreonam-avibactam or cefiderocol; OXA-48-like favors ceftazidime-avibactam. NDM can coexist with enzymes that destroy aztreonam alone. DTR Pseudomonas — Request AST for ceftolozane-tazobactam, ceftazidime-avibactam, imipenem-relebactam, and cefiderocol. For MBL producers, cefiderocol is the preferred option if active. 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 Two resistant nonfermenters Antibiotic CRAB S. maltophilia Meropenem / imipenem alone R Partner ≠ monotherapy R Sulbactam–durlobactam Caution Add carbapenem Avoid Not a treatment option Cefiderocol Caution Alternative; combination Caution Preferred; limited human data TMP–SMX Avoid Not standard therapy Caution AST; combination Levofloxacin Avoid Not standard therapy Caution AST; combination Minocycline Caution AST; combination Caution AST; combination 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 Gram-positive resistance patterns Antibiotic MRSA VRE E. faecium Cefazolin / oxacillin R R Ampicillin R Caution Usually R; AST Ceftaroline Caution AST; syndrome R Ceftobiprole Caution AST; syndrome R Vancomycin S* Monitor exposure R Daptomycin Caution No pneumonia Caution MIC; high dose Linezolid Caution Syndrome; CBC S* Monitor CBC Account for the infection site MRSA — Vancomycin or daptomycin are established bacteremia options. For pneumonia, vancomycin or linezolid; daptomycin is inactivated by pulmonary surfactant. VRE bacteremia — Linezolid or optimized high-dose daptomycin based on the MIC and patient factors. E. faecium daptomycin SDD is dose dependent, not permission to use a routine low dose. Ampicillin susceptibility is a separate question from vancomycin resistance. CRAB and Stenotrophomonas — First establish infection. Remember the preferred regimens above; leave salvage combinations for the optional section. Matrix reviewed September 17, 2026. Teaching synthesis of IDSA AMR guidance and the linked gram-positive sources. Green S* = expected activity, yellow = conditional use, red R/Avoid = resistance or a reason to avoid. Confirm isolate-specific AST and site suitability. Sources amr , breakpoints , mrsa , zevtera , dapto-sdd , daptomycin , linezolid</a:t>
            </a:r>
          </a:p>
          <a:p xmlns:a="http://schemas.openxmlformats.org/drawingml/2006/main">
            <a:r>
              <a:t/>
            </a:r>
          </a:p>
          <a:p xmlns:a="http://schemas.openxmlformats.org/drawingml/2006/main">
            <a:r>
              <a:t>Module section: https://docarcshot.github.io/id-practice-update/lectures/Antibiotic_Resistance_and_Resistant_Organisms.html#matrix</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source changes the treatment Bladder versus kidney or blood Nitrofurantoin is not a pyelonephritis or bloodstream drug. Oral fosfomycin is not initial treatment for pyelonephritis or sepsis and is not routine bloodstream therapy. A selected transition after active IV treatment for improving E. coli complicated UTI is a separate use discussed in the antibiotic primer . Oral transition for invasive infection requires an active drug with adequate systemic exposure. Lung versus blood Daptomycin can treat bacteremia but not alveolar pneumonia. A respiratory CRAB or Stenotrophomonas isolate needs a compatible syndrome before treatment. The matrix cannot distinguish a colonizer from the cause of pneumonia. Exposure and toxicity Match dose and infusion to the MIC, site, and renal function. Cefepime accumulation can cause neurotoxicity. Monitor potassium, renal function, and CBC with TMP-SMX; CBC with linezolid; CK with daptomycin. Use pharmacy support for vancomycin and complex dosing. Control the source, then narrow Drain collections, relieve obstruction, and address infected devices. Persistent infection warrants a source and exposure review plus repeat susceptibility testing when appropriate. Stop redundant coverage once a reliable active regimen is established; use combinations when there is a specific rationale. Resistance alone does not determine duration. Base the course on the syndrome, effective treatment, clinical response, and source control. Oral step-down also requires stability, absorption, and a feasible follow-up plan. Sources amr , daptomycin , linezolid</a:t>
            </a:r>
          </a:p>
          <a:p xmlns:a="http://schemas.openxmlformats.org/drawingml/2006/main">
            <a:r>
              <a:t/>
            </a:r>
          </a:p>
          <a:p xmlns:a="http://schemas.openxmlformats.org/drawingml/2006/main">
            <a:r>
              <a:t>Module section: https://docarcshot.github.io/id-practice-update/lectures/Antibiotic_Resistance_and_Resistant_Organisms.html#core-treatment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source changes the treatment Bladder versus kidney or blood Nitrofurantoin is not a pyelonephritis or bloodstream drug. Oral fosfomycin is not initial treatment for pyelonephritis or sepsis and is not routine bloodstream therapy. A selected transition after active IV treatment for improving E. coli complicated UTI is a separate use discussed in the antibiotic primer . Oral transition for invasive infection requires an active drug with adequate systemic exposure. Lung versus blood Daptomycin can treat bacteremia but not alveolar pneumonia. A respiratory CRAB or Stenotrophomonas isolate needs a compatible syndrome before treatment. The matrix cannot distinguish a colonizer from the cause of pneumonia. Exposure and toxicity Match dose and infusion to the MIC, site, and renal function. Cefepime accumulation can cause neurotoxicity. Monitor potassium, renal function, and CBC with TMP-SMX; CBC with linezolid; CK with daptomycin. Use pharmacy support for vancomycin and complex dosing. Control the source, then narrow Drain collections, relieve obstruction, and address infected devices. Persistent infection warrants a source and exposure review plus repeat susceptibility testing when appropriate. Stop redundant coverage once a reliable active regimen is established; use combinations when there is a specific rationale. Resistance alone does not determine duration. Base the course on the syndrome, effective treatment, clinical response, and source control. Oral step-down also requires stability, absorption, and a feasible follow-up plan. Sources amr , daptomycin , linezolid</a:t>
            </a:r>
          </a:p>
          <a:p xmlns:a="http://schemas.openxmlformats.org/drawingml/2006/main">
            <a:r>
              <a:t/>
            </a:r>
          </a:p>
          <a:p xmlns:a="http://schemas.openxmlformats.org/drawingml/2006/main">
            <a:r>
              <a:t>Module section: https://docarcshot.github.io/id-practice-update/lectures/Antibiotic_Resistance_and_Resistant_Organisms.html#core-treatment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source changes the treatment Bladder versus kidney or blood Nitrofurantoin is not a pyelonephritis or bloodstream drug. Oral fosfomycin is not initial treatment for pyelonephritis or sepsis and is not routine bloodstream therapy. A selected transition after active IV treatment for improving E. coli complicated UTI is a separate use discussed in the antibiotic primer . Oral transition for invasive infection requires an active drug with adequate systemic exposure. Lung versus blood Daptomycin can treat bacteremia but not alveolar pneumonia. A respiratory CRAB or Stenotrophomonas isolate needs a compatible syndrome before treatment. The matrix cannot distinguish a colonizer from the cause of pneumonia. Exposure and toxicity Match dose and infusion to the MIC, site, and renal function. Cefepime accumulation can cause neurotoxicity. Monitor potassium, renal function, and CBC with TMP-SMX; CBC with linezolid; CK with daptomycin. Use pharmacy support for vancomycin and complex dosing. Control the source, then narrow Drain collections, relieve obstruction, and address infected devices. Persistent infection warrants a source and exposure review plus repeat susceptibility testing when appropriate. Stop redundant coverage once a reliable active regimen is established; use combinations when there is a specific rationale. Resistance alone does not determine duration. Base the course on the syndrome, effective treatment, clinical response, and source control. Oral step-down also requires stability, absorption, and a feasible follow-up plan. Sources amr , daptomycin , linezolid</a:t>
            </a:r>
          </a:p>
          <a:p xmlns:a="http://schemas.openxmlformats.org/drawingml/2006/main">
            <a:r>
              <a:t/>
            </a:r>
          </a:p>
          <a:p xmlns:a="http://schemas.openxmlformats.org/drawingml/2006/main">
            <a:r>
              <a:t>Module section: https://docarcshot.github.io/id-practice-update/lectures/Antibiotic_Resistance_and_Resistant_Organisms.html#core-treatment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source changes the treatment Bladder versus kidney or blood Nitrofurantoin is not a pyelonephritis or bloodstream drug. Oral fosfomycin is not initial treatment for pyelonephritis or sepsis and is not routine bloodstream therapy. A selected transition after active IV treatment for improving E. coli complicated UTI is a separate use discussed in the antibiotic primer . Oral transition for invasive infection requires an active drug with adequate systemic exposure. Lung versus blood Daptomycin can treat bacteremia but not alveolar pneumonia. A respiratory CRAB or Stenotrophomonas isolate needs a compatible syndrome before treatment. The matrix cannot distinguish a colonizer from the cause of pneumonia. Exposure and toxicity Match dose and infusion to the MIC, site, and renal function. Cefepime accumulation can cause neurotoxicity. Monitor potassium, renal function, and CBC with TMP-SMX; CBC with linezolid; CK with daptomycin. Use pharmacy support for vancomycin and complex dosing. Control the source, then narrow Drain collections, relieve obstruction, and address infected devices. Persistent infection warrants a source and exposure review plus repeat susceptibility testing when appropriate. Stop redundant coverage once a reliable active regimen is established; use combinations when there is a specific rationale. Resistance alone does not determine duration. Base the course on the syndrome, effective treatment, clinical response, and source control. Oral step-down also requires stability, absorption, and a feasible follow-up plan. Sources amr , daptomycin , linezolid</a:t>
            </a:r>
          </a:p>
          <a:p xmlns:a="http://schemas.openxmlformats.org/drawingml/2006/main">
            <a:r>
              <a:t/>
            </a:r>
          </a:p>
          <a:p xmlns:a="http://schemas.openxmlformats.org/drawingml/2006/main">
            <a:r>
              <a:t>Module section: https://docarcshot.github.io/id-practice-update/lectures/Antibiotic_Resistance_and_Resistant_Organisms.html#core-treatment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source changes the treatment Bladder versus kidney or blood Nitrofurantoin is not a pyelonephritis or bloodstream drug. Oral fosfomycin is not initial treatment for pyelonephritis or sepsis and is not routine bloodstream therapy. A selected transition after active IV treatment for improving E. coli complicated UTI is a separate use discussed in the antibiotic primer . Oral transition for invasive infection requires an active drug with adequate systemic exposure. Lung versus blood Daptomycin can treat bacteremia but not alveolar pneumonia. A respiratory CRAB or Stenotrophomonas isolate needs a compatible syndrome before treatment. The matrix cannot distinguish a colonizer from the cause of pneumonia. Exposure and toxicity Match dose and infusion to the MIC, site, and renal function. Cefepime accumulation can cause neurotoxicity. Monitor potassium, renal function, and CBC with TMP-SMX; CBC with linezolid; CK with daptomycin. Use pharmacy support for vancomycin and complex dosing. Control the source, then narrow Drain collections, relieve obstruction, and address infected devices. Persistent infection warrants a source and exposure review plus repeat susceptibility testing when appropriate. Stop redundant coverage once a reliable active regimen is established; use combinations when there is a specific rationale. Resistance alone does not determine duration. Base the course on the syndrome, effective treatment, clinical response, and source control. Oral step-down also requires stability, absorption, and a feasible follow-up plan. Sources amr , daptomycin , linezolid</a:t>
            </a:r>
          </a:p>
          <a:p xmlns:a="http://schemas.openxmlformats.org/drawingml/2006/main">
            <a:r>
              <a:t/>
            </a:r>
          </a:p>
          <a:p xmlns:a="http://schemas.openxmlformats.org/drawingml/2006/main">
            <a:r>
              <a:t>Module section: https://docarcshot.github.io/id-practice-update/lectures/Antibiotic_Resistance_and_Resistant_Organisms.html#core-treatment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practice treatment decisions Case 1 · An ESBL bloodstream isolate A patient with E. coli bacteremia from obstructed pyelonephritis is hypotensive. The isolate is ESBL-producing and reported susceptible to piperacillin-tazobactam. What determines the immediate drug and the source intervention? Reveal teaching point Use meropenem or imipenem-cilastatin if active and urgently relieve the obstruction. A susceptible piperacillin-tazobactam result does not make it the preferred treatment for ESBL bacteremia. After stability and source control, consider an active oral systemic agent when appropriate, not nitrofurantoin. Case 2 · Ceftriaxone-susceptible Enterobacter E. cloacae complex grows in blood. Ceftriaxone and cefepime are reported susceptible. Why is ceftriaxone susceptibility not the end of the decision? Reveal teaching point Inducible AmpC can emerge during treatment. For invasive infection, optimized cefepime is an appropriate option if active and no other mechanism undermines it. Use a carbapenem when indicated by severity, susceptibility, or coexisting ESBL. Check source control and the delivered dose. Case 3 · A carbapenemase result changes the plan K. pneumoniae bacteremia is initially treated with ceftazidime-avibactam. The rapid assay detects NDM. What should change before the complete susceptibility panel returns? Reveal teaching point Ceftazidime-avibactam alone does not cover NDM. Promptly choose a mechanism-appropriate regimen guided by prior AST and local access, then confirm current AST. Preferred options are aztreonam-avibactam or cefiderocol. Ceftazidime-avibactam plus aztreonam is an alternative if the fixed combination is unavailable. Do not transfer this algorithm to MBL Pseudomonas. Sources amr</a:t>
            </a:r>
          </a:p>
          <a:p xmlns:a="http://schemas.openxmlformats.org/drawingml/2006/main">
            <a:r>
              <a:t/>
            </a:r>
          </a:p>
          <a:p xmlns:a="http://schemas.openxmlformats.org/drawingml/2006/main">
            <a:r>
              <a:t>Module section: https://docarcshot.github.io/id-practice-update/lectures/Antibiotic_Resistance_and_Resistant_Organisms.html#core-cases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practice treatment decisions Case 1 · An ESBL bloodstream isolate A patient with E. coli bacteremia from obstructed pyelonephritis is hypotensive. The isolate is ESBL-producing and reported susceptible to piperacillin-tazobactam. What determines the immediate drug and the source intervention? Reveal teaching point Use meropenem or imipenem-cilastatin if active and urgently relieve the obstruction. A susceptible piperacillin-tazobactam result does not make it the preferred treatment for ESBL bacteremia. After stability and source control, consider an active oral systemic agent when appropriate, not nitrofurantoin. Case 2 · Ceftriaxone-susceptible Enterobacter E. cloacae complex grows in blood. Ceftriaxone and cefepime are reported susceptible. Why is ceftriaxone susceptibility not the end of the decision? Reveal teaching point Inducible AmpC can emerge during treatment. For invasive infection, optimized cefepime is an appropriate option if active and no other mechanism undermines it. Use a carbapenem when indicated by severity, susceptibility, or coexisting ESBL. Check source control and the delivered dose. Case 3 · A carbapenemase result changes the plan K. pneumoniae bacteremia is initially treated with ceftazidime-avibactam. The rapid assay detects NDM. What should change before the complete susceptibility panel returns? Reveal teaching point Ceftazidime-avibactam alone does not cover NDM. Promptly choose a mechanism-appropriate regimen guided by prior AST and local access, then confirm current AST. Preferred options are aztreonam-avibactam or cefiderocol. Ceftazidime-avibactam plus aztreonam is an alternative if the fixed combination is unavailable. Do not transfer this algorithm to MBL Pseudomonas. Sources amr</a:t>
            </a:r>
          </a:p>
          <a:p xmlns:a="http://schemas.openxmlformats.org/drawingml/2006/main">
            <a:r>
              <a:t/>
            </a:r>
          </a:p>
          <a:p xmlns:a="http://schemas.openxmlformats.org/drawingml/2006/main">
            <a:r>
              <a:t>Module section: https://docarcshot.github.io/id-practice-update/lectures/Antibiotic_Resistance_and_Resistant_Organisms.html#core-cases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practice treatment decisions Case 1 · An ESBL bloodstream isolate A patient with E. coli bacteremia from obstructed pyelonephritis is hypotensive. The isolate is ESBL-producing and reported susceptible to piperacillin-tazobactam. What determines the immediate drug and the source intervention? Reveal teaching point Use meropenem or imipenem-cilastatin if active and urgently relieve the obstruction. A susceptible piperacillin-tazobactam result does not make it the preferred treatment for ESBL bacteremia. After stability and source control, consider an active oral systemic agent when appropriate, not nitrofurantoin. Case 2 · Ceftriaxone-susceptible Enterobacter E. cloacae complex grows in blood. Ceftriaxone and cefepime are reported susceptible. Why is ceftriaxone susceptibility not the end of the decision? Reveal teaching point Inducible AmpC can emerge during treatment. For invasive infection, optimized cefepime is an appropriate option if active and no other mechanism undermines it. Use a carbapenem when indicated by severity, susceptibility, or coexisting ESBL. Check source control and the delivered dose. Case 3 · A carbapenemase result changes the plan K. pneumoniae bacteremia is initially treated with ceftazidime-avibactam. The rapid assay detects NDM. What should change before the complete susceptibility panel returns? Reveal teaching point Ceftazidime-avibactam alone does not cover NDM. Promptly choose a mechanism-appropriate regimen guided by prior AST and local access, then confirm current AST. Preferred options are aztreonam-avibactam or cefiderocol. Ceftazidime-avibactam plus aztreonam is an alternative if the fixed combination is unavailable. Do not transfer this algorithm to MBL Pseudomonas. Sources amr</a:t>
            </a:r>
          </a:p>
          <a:p xmlns:a="http://schemas.openxmlformats.org/drawingml/2006/main">
            <a:r>
              <a:t/>
            </a:r>
          </a:p>
          <a:p xmlns:a="http://schemas.openxmlformats.org/drawingml/2006/main">
            <a:r>
              <a:t>Module section: https://docarcshot.github.io/id-practice-update/lectures/Antibiotic_Resistance_and_Resistant_Organisms.html#core-cases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practice treatment decisions Case 1 · An ESBL bloodstream isolate A patient with E. coli bacteremia from obstructed pyelonephritis is hypotensive. The isolate is ESBL-producing and reported susceptible to piperacillin-tazobactam. What determines the immediate drug and the source intervention? Reveal teaching point Use meropenem or imipenem-cilastatin if active and urgently relieve the obstruction. A susceptible piperacillin-tazobactam result does not make it the preferred treatment for ESBL bacteremia. After stability and source control, consider an active oral systemic agent when appropriate, not nitrofurantoin. Case 2 · Ceftriaxone-susceptible Enterobacter E. cloacae complex grows in blood. Ceftriaxone and cefepime are reported susceptible. Why is ceftriaxone susceptibility not the end of the decision? Reveal teaching point Inducible AmpC can emerge during treatment. For invasive infection, optimized cefepime is an appropriate option if active and no other mechanism undermines it. Use a carbapenem when indicated by severity, susceptibility, or coexisting ESBL. Check source control and the delivered dose. Case 3 · A carbapenemase result changes the plan K. pneumoniae bacteremia is initially treated with ceftazidime-avibactam. The rapid assay detects NDM. What should change before the complete susceptibility panel returns? Reveal teaching point Ceftazidime-avibactam alone does not cover NDM. Promptly choose a mechanism-appropriate regimen guided by prior AST and local access, then confirm current AST. Preferred options are aztreonam-avibactam or cefiderocol. Ceftazidime-avibactam plus aztreonam is an alternative if the fixed combination is unavailable. Do not transfer this algorithm to MBL Pseudomonas. Sources amr</a:t>
            </a:r>
          </a:p>
          <a:p xmlns:a="http://schemas.openxmlformats.org/drawingml/2006/main">
            <a:r>
              <a:t/>
            </a:r>
          </a:p>
          <a:p xmlns:a="http://schemas.openxmlformats.org/drawingml/2006/main">
            <a:r>
              <a:t>Module section: https://docarcshot.github.io/id-practice-update/lectures/Antibiotic_Resistance_and_Resistant_Organisms.html#core-cases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practice treatment decisions Case 1 · An ESBL bloodstream isolate A patient with E. coli bacteremia from obstructed pyelonephritis is hypotensive. The isolate is ESBL-producing and reported susceptible to piperacillin-tazobactam. What determines the immediate drug and the source intervention? Reveal teaching point Use meropenem or imipenem-cilastatin if active and urgently relieve the obstruction. A susceptible piperacillin-tazobactam result does not make it the preferred treatment for ESBL bacteremia. After stability and source control, consider an active oral systemic agent when appropriate, not nitrofurantoin. Case 2 · Ceftriaxone-susceptible Enterobacter E. cloacae complex grows in blood. Ceftriaxone and cefepime are reported susceptible. Why is ceftriaxone susceptibility not the end of the decision? Reveal teaching point Inducible AmpC can emerge during treatment. For invasive infection, optimized cefepime is an appropriate option if active and no other mechanism undermines it. Use a carbapenem when indicated by severity, susceptibility, or coexisting ESBL. Check source control and the delivered dose. Case 3 · A carbapenemase result changes the plan K. pneumoniae bacteremia is initially treated with ceftazidime-avibactam. The rapid assay detects NDM. What should change before the complete susceptibility panel returns? Reveal teaching point Ceftazidime-avibactam alone does not cover NDM. Promptly choose a mechanism-appropriate regimen guided by prior AST and local access, then confirm current AST. Preferred options are aztreonam-avibactam or cefiderocol. Ceftazidime-avibactam plus aztreonam is an alternative if the fixed combination is unavailable. Do not transfer this algorithm to MBL Pseudomonas. Sources amr</a:t>
            </a:r>
          </a:p>
          <a:p xmlns:a="http://schemas.openxmlformats.org/drawingml/2006/main">
            <a:r>
              <a:t/>
            </a:r>
          </a:p>
          <a:p xmlns:a="http://schemas.openxmlformats.org/drawingml/2006/main">
            <a:r>
              <a:t>Module section: https://docarcshot.github.io/id-practice-update/lectures/Antibiotic_Resistance_and_Resistant_Organisms.html#core-cases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practice treatment decisions Case 1 · An ESBL bloodstream isolate A patient with E. coli bacteremia from obstructed pyelonephritis is hypotensive. The isolate is ESBL-producing and reported susceptible to piperacillin-tazobactam. What determines the immediate drug and the source intervention? Reveal teaching point Use meropenem or imipenem-cilastatin if active and urgently relieve the obstruction. A susceptible piperacillin-tazobactam result does not make it the preferred treatment for ESBL bacteremia. After stability and source control, consider an active oral systemic agent when appropriate, not nitrofurantoin. Case 2 · Ceftriaxone-susceptible Enterobacter E. cloacae complex grows in blood. Ceftriaxone and cefepime are reported susceptible. Why is ceftriaxone susceptibility not the end of the decision? Reveal teaching point Inducible AmpC can emerge during treatment. For invasive infection, optimized cefepime is an appropriate option if active and no other mechanism undermines it. Use a carbapenem when indicated by severity, susceptibility, or coexisting ESBL. Check source control and the delivered dose. Case 3 · A carbapenemase result changes the plan K. pneumoniae bacteremia is initially treated with ceftazidime-avibactam. The rapid assay detects NDM. What should change before the complete susceptibility panel returns? Reveal teaching point Ceftazidime-avibactam alone does not cover NDM. Promptly choose a mechanism-appropriate regimen guided by prior AST and local access, then confirm current AST. Preferred options are aztreonam-avibactam or cefiderocol. Ceftazidime-avibactam plus aztreonam is an alternative if the fixed combination is unavailable. Do not transfer this algorithm to MBL Pseudomonas. Sources amr</a:t>
            </a:r>
          </a:p>
          <a:p xmlns:a="http://schemas.openxmlformats.org/drawingml/2006/main">
            <a:r>
              <a:t/>
            </a:r>
          </a:p>
          <a:p xmlns:a="http://schemas.openxmlformats.org/drawingml/2006/main">
            <a:r>
              <a:t>Module section: https://docarcshot.github.io/id-practice-update/lectures/Antibiotic_Resistance_and_Resistant_Organisms.html#core-cases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Leave with a usable plan Name the syndrome and source. Match the organism, mechanism, and susceptibility result to a drug that reaches the site. Document source control, dose, monitoring, reassessment, and duration. Ask learners to complete one sentence: “I am treating ___ with ___ because ___, and I will reassess ___.” 40–45 min · Questions Use the closing discussion to revisit a case or a matrix cell. The detailed material below is for a separate discussion or independent study. End of the resident core</a:t>
            </a:r>
          </a:p>
          <a:p xmlns:a="http://schemas.openxmlformats.org/drawingml/2006/main">
            <a:r>
              <a:t/>
            </a:r>
          </a:p>
          <a:p xmlns:a="http://schemas.openxmlformats.org/drawingml/2006/main">
            <a:r>
              <a:t>Module section: https://docarcshot.github.io/id-practice-update/lectures/Antibiotic_Resistance_and_Resistant_Organisms.html#core-wrap</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Leave with a usable plan Name the syndrome and source. Match the organism, mechanism, and susceptibility result to a drug that reaches the site. Document source control, dose, monitoring, reassessment, and duration. Ask learners to complete one sentence: “I am treating ___ with ___ because ___, and I will reassess ___.” 40–45 min · Questions Use the closing discussion to revisit a case or a matrix cell. The detailed material below is for a separate discussion or independent study. End of the resident core</a:t>
            </a:r>
          </a:p>
          <a:p xmlns:a="http://schemas.openxmlformats.org/drawingml/2006/main">
            <a:r>
              <a:t/>
            </a:r>
          </a:p>
          <a:p xmlns:a="http://schemas.openxmlformats.org/drawingml/2006/main">
            <a:r>
              <a:t>Module section: https://docarcshot.github.io/id-practice-update/lectures/Antibiotic_Resistance_and_Resistant_Organisms.html#core-wrap</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teaching and detailed reference These expanded sections are outside the resident core. Choose an individual topic for a separate teaching session.</a:t>
            </a:r>
          </a:p>
          <a:p xmlns:a="http://schemas.openxmlformats.org/drawingml/2006/main">
            <a:r>
              <a:t/>
            </a:r>
          </a:p>
          <a:p xmlns:a="http://schemas.openxmlformats.org/drawingml/2006/main">
            <a:r>
              <a:t>Module section: https://docarcshot.github.io/id-practice-update/lectures/Antibiotic_Resistance_and_Resistant_Organisms.html#secondary-teaching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Begin with five clinical decisions before choosing a drug Is this infection? Name the syndrome and assess specimen quality. How urgent is it? Assess shock, organ dysfunction, and immune status. What is likely active? Review prior isolates, recent therapy, and the local antibiogram. Will it reach the site? Check tissue exposure, dose, route, and source control. What changes tomorrow? Set a culture review, narrowing plan, and monitoring plan. A resistant organism in urine, a chronic wound, or a tracheal aspirate may be colonization. A new compatible syndrome, objective findings, and the quality of the specimen determine whether treatment is warranted. A rectal CRE screen guides precautions and empiric risk assessment; it is not an indication for antibiotics. Obtain appropriate cultures before antibiotics when feasible without delaying urgent treatment. In severe infection, use prior organism and susceptibility results, recent antibiotic exposure, the likely source, and current local epidemiology to select initial coverage. Prior NDM or KPC infection can change the first drug; a generic history of “MDRO” is insufficient. Ask microbiology to retain invasive isolates and test additional agents early. Reassess when identification and susceptibility results return. Stop unnecessary MRSA or double gram-negative coverage. A drained collection, relieved urinary obstruction, removed infected catheter, or revised infected device may matter more than adding another antibiotic. Do not treat an asymptomatic culture Asymptomatic bacteriuria generally does not need antibiotics, including when the isolate is ESBL-producing or VRE. Established indications include pregnancy and before endoscopic urologic procedures involving mucosal trauma. Pyuria alone does not distinguish infection from colonization. Severe systemic illness requires a clinical evaluation, not automatic dismissal as asymptomatic bacteriuria. Sources amr , asb , cdc</a:t>
            </a:r>
          </a:p>
          <a:p xmlns:a="http://schemas.openxmlformats.org/drawingml/2006/main">
            <a:r>
              <a:t/>
            </a:r>
          </a:p>
          <a:p xmlns:a="http://schemas.openxmlformats.org/drawingml/2006/main">
            <a:r>
              <a:t>Module section: https://docarcshot.github.io/id-practice-update/lectures/Antibiotic_Resistance_and_Resistant_Organisms.html#approach</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Begin with five clinical decisions before choosing a drug Is this infection? Name the syndrome and assess specimen quality. How urgent is it? Assess shock, organ dysfunction, and immune status. What is likely active? Review prior isolates, recent therapy, and the local antibiogram. Will it reach the site? Check tissue exposure, dose, route, and source control. What changes tomorrow? Set a culture review, narrowing plan, and monitoring plan. A resistant organism in urine, a chronic wound, or a tracheal aspirate may be colonization. A new compatible syndrome, objective findings, and the quality of the specimen determine whether treatment is warranted. A rectal CRE screen guides precautions and empiric risk assessment; it is not an indication for antibiotics. Obtain appropriate cultures before antibiotics when feasible without delaying urgent treatment. In severe infection, use prior organism and susceptibility results, recent antibiotic exposure, the likely source, and current local epidemiology to select initial coverage. Prior NDM or KPC infection can change the first drug; a generic history of “MDRO” is insufficient. Ask microbiology to retain invasive isolates and test additional agents early. Reassess when identification and susceptibility results return. Stop unnecessary MRSA or double gram-negative coverage. A drained collection, relieved urinary obstruction, removed infected catheter, or revised infected device may matter more than adding another antibiotic. Do not treat an asymptomatic culture Asymptomatic bacteriuria generally does not need antibiotics, including when the isolate is ESBL-producing or VRE. Established indications include pregnancy and before endoscopic urologic procedures involving mucosal trauma. Pyuria alone does not distinguish infection from colonization. Severe systemic illness requires a clinical evaluation, not automatic dismissal as asymptomatic bacteriuria. Sources amr , asb , cdc</a:t>
            </a:r>
          </a:p>
          <a:p xmlns:a="http://schemas.openxmlformats.org/drawingml/2006/main">
            <a:r>
              <a:t/>
            </a:r>
          </a:p>
          <a:p xmlns:a="http://schemas.openxmlformats.org/drawingml/2006/main">
            <a:r>
              <a:t>Module section: https://docarcshot.github.io/id-practice-update/lectures/Antibiotic_Resistance_and_Resistant_Organisms.html#approach</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Begin with five clinical decisions before choosing a drug Is this infection? Name the syndrome and assess specimen quality. How urgent is it? Assess shock, organ dysfunction, and immune status. What is likely active? Review prior isolates, recent therapy, and the local antibiogram. Will it reach the site? Check tissue exposure, dose, route, and source control. What changes tomorrow? Set a culture review, narrowing plan, and monitoring plan. A resistant organism in urine, a chronic wound, or a tracheal aspirate may be colonization. A new compatible syndrome, objective findings, and the quality of the specimen determine whether treatment is warranted. A rectal CRE screen guides precautions and empiric risk assessment; it is not an indication for antibiotics. Obtain appropriate cultures before antibiotics when feasible without delaying urgent treatment. In severe infection, use prior organism and susceptibility results, recent antibiotic exposure, the likely source, and current local epidemiology to select initial coverage. Prior NDM or KPC infection can change the first drug; a generic history of “MDRO” is insufficient. Ask microbiology to retain invasive isolates and test additional agents early. Reassess when identification and susceptibility results return. Stop unnecessary MRSA or double gram-negative coverage. A drained collection, relieved urinary obstruction, removed infected catheter, or revised infected device may matter more than adding another antibiotic. Do not treat an asymptomatic culture Asymptomatic bacteriuria generally does not need antibiotics, including when the isolate is ESBL-producing or VRE. Established indications include pregnancy and before endoscopic urologic procedures involving mucosal trauma. Pyuria alone does not distinguish infection from colonization. Severe systemic illness requires a clinical evaluation, not automatic dismissal as asymptomatic bacteriuria. Sources amr , asb , cdc</a:t>
            </a:r>
          </a:p>
          <a:p xmlns:a="http://schemas.openxmlformats.org/drawingml/2006/main">
            <a:r>
              <a:t/>
            </a:r>
          </a:p>
          <a:p xmlns:a="http://schemas.openxmlformats.org/drawingml/2006/main">
            <a:r>
              <a:t>Module section: https://docarcshot.github.io/id-practice-update/lectures/Antibiotic_Resistance_and_Resistant_Organisms.html#approach</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Begin with five clinical decisions before choosing a drug Is this infection? Name the syndrome and assess specimen quality. How urgent is it? Assess shock, organ dysfunction, and immune status. What is likely active? Review prior isolates, recent therapy, and the local antibiogram. Will it reach the site? Check tissue exposure, dose, route, and source control. What changes tomorrow? Set a culture review, narrowing plan, and monitoring plan. A resistant organism in urine, a chronic wound, or a tracheal aspirate may be colonization. A new compatible syndrome, objective findings, and the quality of the specimen determine whether treatment is warranted. A rectal CRE screen guides precautions and empiric risk assessment; it is not an indication for antibiotics. Obtain appropriate cultures before antibiotics when feasible without delaying urgent treatment. In severe infection, use prior organism and susceptibility results, recent antibiotic exposure, the likely source, and current local epidemiology to select initial coverage. Prior NDM or KPC infection can change the first drug; a generic history of “MDRO” is insufficient. Ask microbiology to retain invasive isolates and test additional agents early. Reassess when identification and susceptibility results return. Stop unnecessary MRSA or double gram-negative coverage. A drained collection, relieved urinary obstruction, removed infected catheter, or revised infected device may matter more than adding another antibiotic. Do not treat an asymptomatic culture Asymptomatic bacteriuria generally does not need antibiotics, including when the isolate is ESBL-producing or VRE. Established indications include pregnancy and before endoscopic urologic procedures involving mucosal trauma. Pyuria alone does not distinguish infection from colonization. Severe systemic illness requires a clinical evaluation, not automatic dismissal as asymptomatic bacteriuria. Sources amr , asb , cdc</a:t>
            </a:r>
          </a:p>
          <a:p xmlns:a="http://schemas.openxmlformats.org/drawingml/2006/main">
            <a:r>
              <a:t/>
            </a:r>
          </a:p>
          <a:p xmlns:a="http://schemas.openxmlformats.org/drawingml/2006/main">
            <a:r>
              <a:t>Module section: https://docarcshot.github.io/id-practice-update/lectures/Antibiotic_Resistance_and_Resistant_Organisms.html#approach</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Begin with five clinical decisions before choosing a drug Is this infection? Name the syndrome and assess specimen quality. How urgent is it? Assess shock, organ dysfunction, and immune status. What is likely active? Review prior isolates, recent therapy, and the local antibiogram. Will it reach the site? Check tissue exposure, dose, route, and source control. What changes tomorrow? Set a culture review, narrowing plan, and monitoring plan. A resistant organism in urine, a chronic wound, or a tracheal aspirate may be colonization. A new compatible syndrome, objective findings, and the quality of the specimen determine whether treatment is warranted. A rectal CRE screen guides precautions and empiric risk assessment; it is not an indication for antibiotics. Obtain appropriate cultures before antibiotics when feasible without delaying urgent treatment. In severe infection, use prior organism and susceptibility results, recent antibiotic exposure, the likely source, and current local epidemiology to select initial coverage. Prior NDM or KPC infection can change the first drug; a generic history of “MDRO” is insufficient. Ask microbiology to retain invasive isolates and test additional agents early. Reassess when identification and susceptibility results return. Stop unnecessary MRSA or double gram-negative coverage. A drained collection, relieved urinary obstruction, removed infected catheter, or revised infected device may matter more than adding another antibiotic. Do not treat an asymptomatic culture Asymptomatic bacteriuria generally does not need antibiotics, including when the isolate is ESBL-producing or VRE. Established indications include pregnancy and before endoscopic urologic procedures involving mucosal trauma. Pyuria alone does not distinguish infection from colonization. Severe systemic illness requires a clinical evaluation, not automatic dismissal as asymptomatic bacteriuria. Sources amr , asb , cdc</a:t>
            </a:r>
          </a:p>
          <a:p xmlns:a="http://schemas.openxmlformats.org/drawingml/2006/main">
            <a:r>
              <a:t/>
            </a:r>
          </a:p>
          <a:p xmlns:a="http://schemas.openxmlformats.org/drawingml/2006/main">
            <a:r>
              <a:t>Module section: https://docarcshot.github.io/id-practice-update/lectures/Antibiotic_Resistance_and_Resistant_Organisms.html#approach</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Mechanisms explain which apparently similar drugs are different Resistance mechanisms and clinical consequences Mechanism Examples What changes at the bedside Drug destruction ESBLs, AmpC, KPC, NDM, OXA enzymes The inhibitor must match the enzyme. Ceftazidime-avibactam activity against KPC does not imply activity against NDM. Altered target mecA/mecC and altered penicillin-binding proteins; van genes; gyrase mutations MRSA resists usual antistaphylococcal beta-lactams. Vancomycin resistance does not independently establish ampicillin or daptomycin resistance. Reduced entry Porin loss, including OprD in Pseudomonas Carbapenem resistance can coexist with cefepime susceptibility. Not every carbapenem-resistant isolate produces a carbapenemase. Active drug efflux Pseudomonas and Stenotrophomonas efflux systems Multiple classes can be affected; a single enzyme result cannot fully predict the phenotype. Multiple mechanisms together ESBL or AmpC plus porin loss; NDM plus other beta-lactamases A phenotype may require more than one explanation. Repeat susceptibility testing when infection recurs after treatment. Intrinsic resistance and biofilm are different problems Enterococci are intrinsically resistant to cephalosporin monotherapy. Ertapenem does not cover Pseudomonas or Acinetobacter. Stenotrophomonas is intrinsically resistant to carbapenems. Biofilm-associated persistence may occur despite a susceptible MIC because routine testing evaluates planktonic organisms; investigate the infected surface or device. ESBL and AmpC describe beta-lactamases. CRE describes a resistance phenotype or carbapenemase production. KPC and NDM identify mechanisms. MDR describes resistance across several categories. DTR Pseudomonas means nonsusceptibility to all eight traditional agents listed in the Pseudomonas section. These terms are related but not interchangeable. Sources amr , mrsa , breakpoints</a:t>
            </a:r>
          </a:p>
          <a:p xmlns:a="http://schemas.openxmlformats.org/drawingml/2006/main">
            <a:r>
              <a:t/>
            </a:r>
          </a:p>
          <a:p xmlns:a="http://schemas.openxmlformats.org/drawingml/2006/main">
            <a:r>
              <a:t>Module section: https://docarcshot.github.io/id-practice-update/lectures/Antibiotic_Resistance_and_Resistant_Organisms.html#mechanisms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Mechanisms explain which apparently similar drugs are different Resistance mechanisms and clinical consequences Mechanism Examples What changes at the bedside Drug destruction ESBLs, AmpC, KPC, NDM, OXA enzymes The inhibitor must match the enzyme. Ceftazidime-avibactam activity against KPC does not imply activity against NDM. Altered target mecA/mecC and altered penicillin-binding proteins; van genes; gyrase mutations MRSA resists usual antistaphylococcal beta-lactams. Vancomycin resistance does not independently establish ampicillin or daptomycin resistance. Reduced entry Porin loss, including OprD in Pseudomonas Carbapenem resistance can coexist with cefepime susceptibility. Not every carbapenem-resistant isolate produces a carbapenemase. Active drug efflux Pseudomonas and Stenotrophomonas efflux systems Multiple classes can be affected; a single enzyme result cannot fully predict the phenotype. Multiple mechanisms together ESBL or AmpC plus porin loss; NDM plus other beta-lactamases A phenotype may require more than one explanation. Repeat susceptibility testing when infection recurs after treatment. Intrinsic resistance and biofilm are different problems Enterococci are intrinsically resistant to cephalosporin monotherapy. Ertapenem does not cover Pseudomonas or Acinetobacter. Stenotrophomonas is intrinsically resistant to carbapenems. Biofilm-associated persistence may occur despite a susceptible MIC because routine testing evaluates planktonic organisms; investigate the infected surface or device. ESBL and AmpC describe beta-lactamases. CRE describes a resistance phenotype or carbapenemase production. KPC and NDM identify mechanisms. MDR describes resistance across several categories. DTR Pseudomonas means nonsusceptibility to all eight traditional agents listed in the Pseudomonas section. These terms are related but not interchangeable. Sources amr , mrsa , breakpoints</a:t>
            </a:r>
          </a:p>
          <a:p xmlns:a="http://schemas.openxmlformats.org/drawingml/2006/main">
            <a:r>
              <a:t/>
            </a:r>
          </a:p>
          <a:p xmlns:a="http://schemas.openxmlformats.org/drawingml/2006/main">
            <a:r>
              <a:t>Module section: https://docarcshot.github.io/id-practice-update/lectures/Antibiotic_Resistance_and_Resistant_Organisms.html#mechanisms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Mechanisms explain which apparently similar drugs are different Resistance mechanisms and clinical consequences Mechanism Examples What changes at the bedside Drug destruction ESBLs, AmpC, KPC, NDM, OXA enzymes The inhibitor must match the enzyme. Ceftazidime-avibactam activity against KPC does not imply activity against NDM. Altered target mecA/mecC and altered penicillin-binding proteins; van genes; gyrase mutations MRSA resists usual antistaphylococcal beta-lactams. Vancomycin resistance does not independently establish ampicillin or daptomycin resistance. Reduced entry Porin loss, including OprD in Pseudomonas Carbapenem resistance can coexist with cefepime susceptibility. Not every carbapenem-resistant isolate produces a carbapenemase. Active drug efflux Pseudomonas and Stenotrophomonas efflux systems Multiple classes can be affected; a single enzyme result cannot fully predict the phenotype. Multiple mechanisms together ESBL or AmpC plus porin loss; NDM plus other beta-lactamases A phenotype may require more than one explanation. Repeat susceptibility testing when infection recurs after treatment. Intrinsic resistance and biofilm are different problems Enterococci are intrinsically resistant to cephalosporin monotherapy. Ertapenem does not cover Pseudomonas or Acinetobacter. Stenotrophomonas is intrinsically resistant to carbapenems. Biofilm-associated persistence may occur despite a susceptible MIC because routine testing evaluates planktonic organisms; investigate the infected surface or device. ESBL and AmpC describe beta-lactamases. CRE describes a resistance phenotype or carbapenemase production. KPC and NDM identify mechanisms. MDR describes resistance across several categories. DTR Pseudomonas means nonsusceptibility to all eight traditional agents listed in the Pseudomonas section. These terms are related but not interchangeable. Sources amr , mrsa , breakpoints</a:t>
            </a:r>
          </a:p>
          <a:p xmlns:a="http://schemas.openxmlformats.org/drawingml/2006/main">
            <a:r>
              <a:t/>
            </a:r>
          </a:p>
          <a:p xmlns:a="http://schemas.openxmlformats.org/drawingml/2006/main">
            <a:r>
              <a:t>Module section: https://docarcshot.github.io/id-practice-update/lectures/Antibiotic_Resistance_and_Resistant_Organisms.html#mechanisms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Mechanisms explain which apparently similar drugs are different Resistance mechanisms and clinical consequences Mechanism Examples What changes at the bedside Drug destruction ESBLs, AmpC, KPC, NDM, OXA enzymes The inhibitor must match the enzyme. Ceftazidime-avibactam activity against KPC does not imply activity against NDM. Altered target mecA/mecC and altered penicillin-binding proteins; van genes; gyrase mutations MRSA resists usual antistaphylococcal beta-lactams. Vancomycin resistance does not independently establish ampicillin or daptomycin resistance. Reduced entry Porin loss, including OprD in Pseudomonas Carbapenem resistance can coexist with cefepime susceptibility. Not every carbapenem-resistant isolate produces a carbapenemase. Active drug efflux Pseudomonas and Stenotrophomonas efflux systems Multiple classes can be affected; a single enzyme result cannot fully predict the phenotype. Multiple mechanisms together ESBL or AmpC plus porin loss; NDM plus other beta-lactamases A phenotype may require more than one explanation. Repeat susceptibility testing when infection recurs after treatment. Intrinsic resistance and biofilm are different problems Enterococci are intrinsically resistant to cephalosporin monotherapy. Ertapenem does not cover Pseudomonas or Acinetobacter. Stenotrophomonas is intrinsically resistant to carbapenems. Biofilm-associated persistence may occur despite a susceptible MIC because routine testing evaluates planktonic organisms; investigate the infected surface or device. ESBL and AmpC describe beta-lactamases. CRE describes a resistance phenotype or carbapenemase production. KPC and NDM identify mechanisms. MDR describes resistance across several categories. DTR Pseudomonas means nonsusceptibility to all eight traditional agents listed in the Pseudomonas section. These terms are related but not interchangeable. Sources amr , mrsa , breakpoints</a:t>
            </a:r>
          </a:p>
          <a:p xmlns:a="http://schemas.openxmlformats.org/drawingml/2006/main">
            <a:r>
              <a:t/>
            </a:r>
          </a:p>
          <a:p xmlns:a="http://schemas.openxmlformats.org/drawingml/2006/main">
            <a:r>
              <a:t>Module section: https://docarcshot.github.io/id-practice-update/lectures/Antibiotic_Resistance_and_Resistant_Organisms.html#mechanisms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Mechanisms explain which apparently similar drugs are different Resistance mechanisms and clinical consequences Mechanism Examples What changes at the bedside Drug destruction ESBLs, AmpC, KPC, NDM, OXA enzymes The inhibitor must match the enzyme. Ceftazidime-avibactam activity against KPC does not imply activity against NDM. Altered target mecA/mecC and altered penicillin-binding proteins; van genes; gyrase mutations MRSA resists usual antistaphylococcal beta-lactams. Vancomycin resistance does not independently establish ampicillin or daptomycin resistance. Reduced entry Porin loss, including OprD in Pseudomonas Carbapenem resistance can coexist with cefepime susceptibility. Not every carbapenem-resistant isolate produces a carbapenemase. Active drug efflux Pseudomonas and Stenotrophomonas efflux systems Multiple classes can be affected; a single enzyme result cannot fully predict the phenotype. Multiple mechanisms together ESBL or AmpC plus porin loss; NDM plus other beta-lactamases A phenotype may require more than one explanation. Repeat susceptibility testing when infection recurs after treatment. Intrinsic resistance and biofilm are different problems Enterococci are intrinsically resistant to cephalosporin monotherapy. Ertapenem does not cover Pseudomonas or Acinetobacter. Stenotrophomonas is intrinsically resistant to carbapenems. Biofilm-associated persistence may occur despite a susceptible MIC because routine testing evaluates planktonic organisms; investigate the infected surface or device. ESBL and AmpC describe beta-lactamases. CRE describes a resistance phenotype or carbapenemase production. KPC and NDM identify mechanisms. MDR describes resistance across several categories. DTR Pseudomonas means nonsusceptibility to all eight traditional agents listed in the Pseudomonas section. These terms are related but not interchangeable. Sources amr , mrsa , breakpoints</a:t>
            </a:r>
          </a:p>
          <a:p xmlns:a="http://schemas.openxmlformats.org/drawingml/2006/main">
            <a:r>
              <a:t/>
            </a:r>
          </a:p>
          <a:p xmlns:a="http://schemas.openxmlformats.org/drawingml/2006/main">
            <a:r>
              <a:t>Module section: https://docarcshot.github.io/id-practice-update/lectures/Antibiotic_Resistance_and_Resistant_Organisms.html#mechanisms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Mechanisms explain which apparently similar drugs are different Resistance mechanisms and clinical consequences Mechanism Examples What changes at the bedside Drug destruction ESBLs, AmpC, KPC, NDM, OXA enzymes The inhibitor must match the enzyme. Ceftazidime-avibactam activity against KPC does not imply activity against NDM. Altered target mecA/mecC and altered penicillin-binding proteins; van genes; gyrase mutations MRSA resists usual antistaphylococcal beta-lactams. Vancomycin resistance does not independently establish ampicillin or daptomycin resistance. Reduced entry Porin loss, including OprD in Pseudomonas Carbapenem resistance can coexist with cefepime susceptibility. Not every carbapenem-resistant isolate produces a carbapenemase. Active drug efflux Pseudomonas and Stenotrophomonas efflux systems Multiple classes can be affected; a single enzyme result cannot fully predict the phenotype. Multiple mechanisms together ESBL or AmpC plus porin loss; NDM plus other beta-lactamases A phenotype may require more than one explanation. Repeat susceptibility testing when infection recurs after treatment. Intrinsic resistance and biofilm are different problems Enterococci are intrinsically resistant to cephalosporin monotherapy. Ertapenem does not cover Pseudomonas or Acinetobacter. Stenotrophomonas is intrinsically resistant to carbapenems. Biofilm-associated persistence may occur despite a susceptible MIC because routine testing evaluates planktonic organisms; investigate the infected surface or device. ESBL and AmpC describe beta-lactamases. CRE describes a resistance phenotype or carbapenemase production. KPC and NDM identify mechanisms. MDR describes resistance across several categories. DTR Pseudomonas means nonsusceptibility to all eight traditional agents listed in the Pseudomonas section. These terms are related but not interchangeable. Sources amr , mrsa , breakpoints</a:t>
            </a:r>
          </a:p>
          <a:p xmlns:a="http://schemas.openxmlformats.org/drawingml/2006/main">
            <a:r>
              <a:t/>
            </a:r>
          </a:p>
          <a:p xmlns:a="http://schemas.openxmlformats.org/drawingml/2006/main">
            <a:r>
              <a:t>Module section: https://docarcshot.github.io/id-practice-update/lectures/Antibiotic_Resistance_and_Resistant_Organisms.html#mechanisms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Mechanisms explain which apparently similar drugs are different Resistance mechanisms and clinical consequences Mechanism Examples What changes at the bedside Drug destruction ESBLs, AmpC, KPC, NDM, OXA enzymes The inhibitor must match the enzyme. Ceftazidime-avibactam activity against KPC does not imply activity against NDM. Altered target mecA/mecC and altered penicillin-binding proteins; van genes; gyrase mutations MRSA resists usual antistaphylococcal beta-lactams. Vancomycin resistance does not independently establish ampicillin or daptomycin resistance. Reduced entry Porin loss, including OprD in Pseudomonas Carbapenem resistance can coexist with cefepime susceptibility. Not every carbapenem-resistant isolate produces a carbapenemase. Active drug efflux Pseudomonas and Stenotrophomonas efflux systems Multiple classes can be affected; a single enzyme result cannot fully predict the phenotype. Multiple mechanisms together ESBL or AmpC plus porin loss; NDM plus other beta-lactamases A phenotype may require more than one explanation. Repeat susceptibility testing when infection recurs after treatment. Intrinsic resistance and biofilm are different problems Enterococci are intrinsically resistant to cephalosporin monotherapy. Ertapenem does not cover Pseudomonas or Acinetobacter. Stenotrophomonas is intrinsically resistant to carbapenems. Biofilm-associated persistence may occur despite a susceptible MIC because routine testing evaluates planktonic organisms; investigate the infected surface or device. ESBL and AmpC describe beta-lactamases. CRE describes a resistance phenotype or carbapenemase production. KPC and NDM identify mechanisms. MDR describes resistance across several categories. DTR Pseudomonas means nonsusceptibility to all eight traditional agents listed in the Pseudomonas section. These terms are related but not interchangeable. Sources amr , mrsa , breakpoints</a:t>
            </a:r>
          </a:p>
          <a:p xmlns:a="http://schemas.openxmlformats.org/drawingml/2006/main">
            <a:r>
              <a:t/>
            </a:r>
          </a:p>
          <a:p xmlns:a="http://schemas.openxmlformats.org/drawingml/2006/main">
            <a:r>
              <a:t>Module section: https://docarcshot.github.io/id-practice-update/lectures/Antibiotic_Resistance_and_Resistant_Organisms.html#mechanisms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susceptibility report as a conditional prediction Interpretation pitfalls Report Interpretation Action A lower MIC for drug A than drug B MIC numbers across different antibiotics are not a potency ranking. Breakpoints and achievable exposures differ. Compare each result with the applicable organism, site, and dosing breakpoint. Susceptible dose-dependent (SDD) The category assumes a specified higher exposure. It is not standard-dose susceptibility. Ask which regimen supports the result. Cefepime MIC 4-8 micrograms/mL in Enterobacterales is SDD under the cited 2026 criteria. EUCAST “I” EUCAST defines I as susceptible with increased exposure. It is not interchangeable with the CLSI intermediate category. Confirm which standard your laboratory uses before interpreting an outside report. CTX-M detected Supports an ESBL mechanism in the relevant organism. Use an ESBL-informed regimen while awaiting the full phenotype. A negative CTX-M result does not exclude other ESBLs or AmpC. Carbapenemase panel negative Only the targets on that panel were excluded. Porin/efflux mechanisms and untested enzymes remain possible. Reconcile with the phenotype; obtain broader phenotypic or reference-laboratory testing for discordance. Drug not listed May reflect selective reporting, no routine test, or lack of validated breakpoints. Ask for the actual MIC, method, interpretation, and additional testing. Do not assume susceptibility or resistance. Susceptible but poor site exposure In vitro activity is insufficient if exposure at the infected site is inadequate. Avoid nitrofurantoin for pyelonephritis or bacteremia and daptomycin for alveolar pneumonia. For presumed ESBL in E. coli, K. pneumoniae, or K. oxytoca, the 2026 IDSA document uses ceftriaxone MIC at least 4 micrograms/mL as a surrogate. This is not molecular confirmation and is not a universal rule for every Enterobacterales species. In mixed cultures, confirm which organism carries a detected resistance gene. Ask specifically about newer beta-lactam testing for CRE or DTR Pseudomonas, combination testing when using ceftazidime-avibactam plus aztreonam, and reliable cefiderocol testing. A breakpoint for one species or formulation must not be borrowed for another. Oral and IV fosfomycin have different interpretive criteria.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https://docarcshot.github.io/id-practice-update/lectures/Antibiotic_Resistance_and_Resistant_Organisms.html#laboratory</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susceptibility report as a conditional prediction Interpretation pitfalls Report Interpretation Action A lower MIC for drug A than drug B MIC numbers across different antibiotics are not a potency ranking. Breakpoints and achievable exposures differ. Compare each result with the applicable organism, site, and dosing breakpoint. Susceptible dose-dependent (SDD) The category assumes a specified higher exposure. It is not standard-dose susceptibility. Ask which regimen supports the result. Cefepime MIC 4-8 micrograms/mL in Enterobacterales is SDD under the cited 2026 criteria. EUCAST “I” EUCAST defines I as susceptible with increased exposure. It is not interchangeable with the CLSI intermediate category. Confirm which standard your laboratory uses before interpreting an outside report. CTX-M detected Supports an ESBL mechanism in the relevant organism. Use an ESBL-informed regimen while awaiting the full phenotype. A negative CTX-M result does not exclude other ESBLs or AmpC. Carbapenemase panel negative Only the targets on that panel were excluded. Porin/efflux mechanisms and untested enzymes remain possible. Reconcile with the phenotype; obtain broader phenotypic or reference-laboratory testing for discordance. Drug not listed May reflect selective reporting, no routine test, or lack of validated breakpoints. Ask for the actual MIC, method, interpretation, and additional testing. Do not assume susceptibility or resistance. Susceptible but poor site exposure In vitro activity is insufficient if exposure at the infected site is inadequate. Avoid nitrofurantoin for pyelonephritis or bacteremia and daptomycin for alveolar pneumonia. For presumed ESBL in E. coli, K. pneumoniae, or K. oxytoca, the 2026 IDSA document uses ceftriaxone MIC at least 4 micrograms/mL as a surrogate. This is not molecular confirmation and is not a universal rule for every Enterobacterales species. In mixed cultures, confirm which organism carries a detected resistance gene. Ask specifically about newer beta-lactam testing for CRE or DTR Pseudomonas, combination testing when using ceftazidime-avibactam plus aztreonam, and reliable cefiderocol testing. A breakpoint for one species or formulation must not be borrowed for another. Oral and IV fosfomycin have different interpretive criteria.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https://docarcshot.github.io/id-practice-update/lectures/Antibiotic_Resistance_and_Resistant_Organisms.html#laboratory</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susceptibility report as a conditional prediction Interpretation pitfalls Report Interpretation Action A lower MIC for drug A than drug B MIC numbers across different antibiotics are not a potency ranking. Breakpoints and achievable exposures differ. Compare each result with the applicable organism, site, and dosing breakpoint. Susceptible dose-dependent (SDD) The category assumes a specified higher exposure. It is not standard-dose susceptibility. Ask which regimen supports the result. Cefepime MIC 4-8 micrograms/mL in Enterobacterales is SDD under the cited 2026 criteria. EUCAST “I” EUCAST defines I as susceptible with increased exposure. It is not interchangeable with the CLSI intermediate category. Confirm which standard your laboratory uses before interpreting an outside report. CTX-M detected Supports an ESBL mechanism in the relevant organism. Use an ESBL-informed regimen while awaiting the full phenotype. A negative CTX-M result does not exclude other ESBLs or AmpC. Carbapenemase panel negative Only the targets on that panel were excluded. Porin/efflux mechanisms and untested enzymes remain possible. Reconcile with the phenotype; obtain broader phenotypic or reference-laboratory testing for discordance. Drug not listed May reflect selective reporting, no routine test, or lack of validated breakpoints. Ask for the actual MIC, method, interpretation, and additional testing. Do not assume susceptibility or resistance. Susceptible but poor site exposure In vitro activity is insufficient if exposure at the infected site is inadequate. Avoid nitrofurantoin for pyelonephritis or bacteremia and daptomycin for alveolar pneumonia. For presumed ESBL in E. coli, K. pneumoniae, or K. oxytoca, the 2026 IDSA document uses ceftriaxone MIC at least 4 micrograms/mL as a surrogate. This is not molecular confirmation and is not a universal rule for every Enterobacterales species. In mixed cultures, confirm which organism carries a detected resistance gene. Ask specifically about newer beta-lactam testing for CRE or DTR Pseudomonas, combination testing when using ceftazidime-avibactam plus aztreonam, and reliable cefiderocol testing. A breakpoint for one species or formulation must not be borrowed for another. Oral and IV fosfomycin have different interpretive criteria.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https://docarcshot.github.io/id-practice-update/lectures/Antibiotic_Resistance_and_Resistant_Organisms.html#laboratory</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susceptibility report as a conditional prediction Interpretation pitfalls Report Interpretation Action A lower MIC for drug A than drug B MIC numbers across different antibiotics are not a potency ranking. Breakpoints and achievable exposures differ. Compare each result with the applicable organism, site, and dosing breakpoint. Susceptible dose-dependent (SDD) The category assumes a specified higher exposure. It is not standard-dose susceptibility. Ask which regimen supports the result. Cefepime MIC 4-8 micrograms/mL in Enterobacterales is SDD under the cited 2026 criteria. EUCAST “I” EUCAST defines I as susceptible with increased exposure. It is not interchangeable with the CLSI intermediate category. Confirm which standard your laboratory uses before interpreting an outside report. CTX-M detected Supports an ESBL mechanism in the relevant organism. Use an ESBL-informed regimen while awaiting the full phenotype. A negative CTX-M result does not exclude other ESBLs or AmpC. Carbapenemase panel negative Only the targets on that panel were excluded. Porin/efflux mechanisms and untested enzymes remain possible. Reconcile with the phenotype; obtain broader phenotypic or reference-laboratory testing for discordance. Drug not listed May reflect selective reporting, no routine test, or lack of validated breakpoints. Ask for the actual MIC, method, interpretation, and additional testing. Do not assume susceptibility or resistance. Susceptible but poor site exposure In vitro activity is insufficient if exposure at the infected site is inadequate. Avoid nitrofurantoin for pyelonephritis or bacteremia and daptomycin for alveolar pneumonia. For presumed ESBL in E. coli, K. pneumoniae, or K. oxytoca, the 2026 IDSA document uses ceftriaxone MIC at least 4 micrograms/mL as a surrogate. This is not molecular confirmation and is not a universal rule for every Enterobacterales species. In mixed cultures, confirm which organism carries a detected resistance gene. Ask specifically about newer beta-lactam testing for CRE or DTR Pseudomonas, combination testing when using ceftazidime-avibactam plus aztreonam, and reliable cefiderocol testing. A breakpoint for one species or formulation must not be borrowed for another. Oral and IV fosfomycin have different interpretive criteria.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https://docarcshot.github.io/id-practice-update/lectures/Antibiotic_Resistance_and_Resistant_Organisms.html#laboratory</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susceptibility report as a conditional prediction Interpretation pitfalls Report Interpretation Action A lower MIC for drug A than drug B MIC numbers across different antibiotics are not a potency ranking. Breakpoints and achievable exposures differ. Compare each result with the applicable organism, site, and dosing breakpoint. Susceptible dose-dependent (SDD) The category assumes a specified higher exposure. It is not standard-dose susceptibility. Ask which regimen supports the result. Cefepime MIC 4-8 micrograms/mL in Enterobacterales is SDD under the cited 2026 criteria. EUCAST “I” EUCAST defines I as susceptible with increased exposure. It is not interchangeable with the CLSI intermediate category. Confirm which standard your laboratory uses before interpreting an outside report. CTX-M detected Supports an ESBL mechanism in the relevant organism. Use an ESBL-informed regimen while awaiting the full phenotype. A negative CTX-M result does not exclude other ESBLs or AmpC. Carbapenemase panel negative Only the targets on that panel were excluded. Porin/efflux mechanisms and untested enzymes remain possible. Reconcile with the phenotype; obtain broader phenotypic or reference-laboratory testing for discordance. Drug not listed May reflect selective reporting, no routine test, or lack of validated breakpoints. Ask for the actual MIC, method, interpretation, and additional testing. Do not assume susceptibility or resistance. Susceptible but poor site exposure In vitro activity is insufficient if exposure at the infected site is inadequate. Avoid nitrofurantoin for pyelonephritis or bacteremia and daptomycin for alveolar pneumonia. For presumed ESBL in E. coli, K. pneumoniae, or K. oxytoca, the 2026 IDSA document uses ceftriaxone MIC at least 4 micrograms/mL as a surrogate. This is not molecular confirmation and is not a universal rule for every Enterobacterales species. In mixed cultures, confirm which organism carries a detected resistance gene. Ask specifically about newer beta-lactam testing for CRE or DTR Pseudomonas, combination testing when using ceftazidime-avibactam plus aztreonam, and reliable cefiderocol testing. A breakpoint for one species or formulation must not be borrowed for another. Oral and IV fosfomycin have different interpretive criteria.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https://docarcshot.github.io/id-practice-update/lectures/Antibiotic_Resistance_and_Resistant_Organisms.html#laboratory</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susceptibility report as a conditional prediction Interpretation pitfalls Report Interpretation Action A lower MIC for drug A than drug B MIC numbers across different antibiotics are not a potency ranking. Breakpoints and achievable exposures differ. Compare each result with the applicable organism, site, and dosing breakpoint. Susceptible dose-dependent (SDD) The category assumes a specified higher exposure. It is not standard-dose susceptibility. Ask which regimen supports the result. Cefepime MIC 4-8 micrograms/mL in Enterobacterales is SDD under the cited 2026 criteria. EUCAST “I” EUCAST defines I as susceptible with increased exposure. It is not interchangeable with the CLSI intermediate category. Confirm which standard your laboratory uses before interpreting an outside report. CTX-M detected Supports an ESBL mechanism in the relevant organism. Use an ESBL-informed regimen while awaiting the full phenotype. A negative CTX-M result does not exclude other ESBLs or AmpC. Carbapenemase panel negative Only the targets on that panel were excluded. Porin/efflux mechanisms and untested enzymes remain possible. Reconcile with the phenotype; obtain broader phenotypic or reference-laboratory testing for discordance. Drug not listed May reflect selective reporting, no routine test, or lack of validated breakpoints. Ask for the actual MIC, method, interpretation, and additional testing. Do not assume susceptibility or resistance. Susceptible but poor site exposure In vitro activity is insufficient if exposure at the infected site is inadequate. Avoid nitrofurantoin for pyelonephritis or bacteremia and daptomycin for alveolar pneumonia. For presumed ESBL in E. coli, K. pneumoniae, or K. oxytoca, the 2026 IDSA document uses ceftriaxone MIC at least 4 micrograms/mL as a surrogate. This is not molecular confirmation and is not a universal rule for every Enterobacterales species. In mixed cultures, confirm which organism carries a detected resistance gene. Ask specifically about newer beta-lactam testing for CRE or DTR Pseudomonas, combination testing when using ceftazidime-avibactam plus aztreonam, and reliable cefiderocol testing. A breakpoint for one species or formulation must not be borrowed for another. Oral and IV fosfomycin have different interpretive criteria.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https://docarcshot.github.io/id-practice-update/lectures/Antibiotic_Resistance_and_Resistant_Organisms.html#laboratory</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susceptibility report as a conditional prediction Interpretation pitfalls Report Interpretation Action A lower MIC for drug A than drug B MIC numbers across different antibiotics are not a potency ranking. Breakpoints and achievable exposures differ. Compare each result with the applicable organism, site, and dosing breakpoint. Susceptible dose-dependent (SDD) The category assumes a specified higher exposure. It is not standard-dose susceptibility. Ask which regimen supports the result. Cefepime MIC 4-8 micrograms/mL in Enterobacterales is SDD under the cited 2026 criteria. EUCAST “I” EUCAST defines I as susceptible with increased exposure. It is not interchangeable with the CLSI intermediate category. Confirm which standard your laboratory uses before interpreting an outside report. CTX-M detected Supports an ESBL mechanism in the relevant organism. Use an ESBL-informed regimen while awaiting the full phenotype. A negative CTX-M result does not exclude other ESBLs or AmpC. Carbapenemase panel negative Only the targets on that panel were excluded. Porin/efflux mechanisms and untested enzymes remain possible. Reconcile with the phenotype; obtain broader phenotypic or reference-laboratory testing for discordance. Drug not listed May reflect selective reporting, no routine test, or lack of validated breakpoints. Ask for the actual MIC, method, interpretation, and additional testing. Do not assume susceptibility or resistance. Susceptible but poor site exposure In vitro activity is insufficient if exposure at the infected site is inadequate. Avoid nitrofurantoin for pyelonephritis or bacteremia and daptomycin for alveolar pneumonia. For presumed ESBL in E. coli, K. pneumoniae, or K. oxytoca, the 2026 IDSA document uses ceftriaxone MIC at least 4 micrograms/mL as a surrogate. This is not molecular confirmation and is not a universal rule for every Enterobacterales species. In mixed cultures, confirm which organism carries a detected resistance gene. Ask specifically about newer beta-lactam testing for CRE or DTR Pseudomonas, combination testing when using ceftazidime-avibactam plus aztreonam, and reliable cefiderocol testing. A breakpoint for one species or formulation must not be borrowed for another. Oral and IV fosfomycin have different interpretive criteria.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https://docarcshot.github.io/id-practice-update/lectures/Antibiotic_Resistance_and_Resistant_Organisms.html#laboratory</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susceptibility report as a conditional prediction Interpretation pitfalls Report Interpretation Action A lower MIC for drug A than drug B MIC numbers across different antibiotics are not a potency ranking. Breakpoints and achievable exposures differ. Compare each result with the applicable organism, site, and dosing breakpoint. Susceptible dose-dependent (SDD) The category assumes a specified higher exposure. It is not standard-dose susceptibility. Ask which regimen supports the result. Cefepime MIC 4-8 micrograms/mL in Enterobacterales is SDD under the cited 2026 criteria. EUCAST “I” EUCAST defines I as susceptible with increased exposure. It is not interchangeable with the CLSI intermediate category. Confirm which standard your laboratory uses before interpreting an outside report. CTX-M detected Supports an ESBL mechanism in the relevant organism. Use an ESBL-informed regimen while awaiting the full phenotype. A negative CTX-M result does not exclude other ESBLs or AmpC. Carbapenemase panel negative Only the targets on that panel were excluded. Porin/efflux mechanisms and untested enzymes remain possible. Reconcile with the phenotype; obtain broader phenotypic or reference-laboratory testing for discordance. Drug not listed May reflect selective reporting, no routine test, or lack of validated breakpoints. Ask for the actual MIC, method, interpretation, and additional testing. Do not assume susceptibility or resistance. Susceptible but poor site exposure In vitro activity is insufficient if exposure at the infected site is inadequate. Avoid nitrofurantoin for pyelonephritis or bacteremia and daptomycin for alveolar pneumonia. For presumed ESBL in E. coli, K. pneumoniae, or K. oxytoca, the 2026 IDSA document uses ceftriaxone MIC at least 4 micrograms/mL as a surrogate. This is not molecular confirmation and is not a universal rule for every Enterobacterales species. In mixed cultures, confirm which organism carries a detected resistance gene. Ask specifically about newer beta-lactam testing for CRE or DTR Pseudomonas, combination testing when using ceftazidime-avibactam plus aztreonam, and reliable cefiderocol testing. A breakpoint for one species or formulation must not be borrowed for another. Oral and IV fosfomycin have different interpretive criteria.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https://docarcshot.github.io/id-practice-update/lectures/Antibiotic_Resistance_and_Resistant_Organisms.html#laboratory</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susceptibility report as a conditional prediction Interpretation pitfalls Report Interpretation Action A lower MIC for drug A than drug B MIC numbers across different antibiotics are not a potency ranking. Breakpoints and achievable exposures differ. Compare each result with the applicable organism, site, and dosing breakpoint. Susceptible dose-dependent (SDD) The category assumes a specified higher exposure. It is not standard-dose susceptibility. Ask which regimen supports the result. Cefepime MIC 4-8 micrograms/mL in Enterobacterales is SDD under the cited 2026 criteria. EUCAST “I” EUCAST defines I as susceptible with increased exposure. It is not interchangeable with the CLSI intermediate category. Confirm which standard your laboratory uses before interpreting an outside report. CTX-M detected Supports an ESBL mechanism in the relevant organism. Use an ESBL-informed regimen while awaiting the full phenotype. A negative CTX-M result does not exclude other ESBLs or AmpC. Carbapenemase panel negative Only the targets on that panel were excluded. Porin/efflux mechanisms and untested enzymes remain possible. Reconcile with the phenotype; obtain broader phenotypic or reference-laboratory testing for discordance. Drug not listed May reflect selective reporting, no routine test, or lack of validated breakpoints. Ask for the actual MIC, method, interpretation, and additional testing. Do not assume susceptibility or resistance. Susceptible but poor site exposure In vitro activity is insufficient if exposure at the infected site is inadequate. Avoid nitrofurantoin for pyelonephritis or bacteremia and daptomycin for alveolar pneumonia. For presumed ESBL in E. coli, K. pneumoniae, or K. oxytoca, the 2026 IDSA document uses ceftriaxone MIC at least 4 micrograms/mL as a surrogate. This is not molecular confirmation and is not a universal rule for every Enterobacterales species. In mixed cultures, confirm which organism carries a detected resistance gene. Ask specifically about newer beta-lactam testing for CRE or DTR Pseudomonas, combination testing when using ceftazidime-avibactam plus aztreonam, and reliable cefiderocol testing. A breakpoint for one species or formulation must not be borrowed for another. Oral and IV fosfomycin have different interpretive criteria. Sources amr , breakpoints , eucast</a:t>
            </a:r>
          </a:p>
          <a:p xmlns:a="http://schemas.openxmlformats.org/drawingml/2006/main">
            <a:r>
              <a:t/>
            </a:r>
          </a:p>
          <a:p xmlns:a="http://schemas.openxmlformats.org/drawingml/2006/main">
            <a:r>
              <a:t>Module section: https://docarcshot.github.io/id-practice-update/lectures/Antibiotic_Resistance_and_Resistant_Organisms.html#laboratory</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ESBL infection according to the site and severity ESBL treatment by syndrome Syndrome Practical choice Important limits Bladder-only infection Nitrofurantoin or TMP-SMX when active and appropriate. The 2026 guidance also includes single-dose aminoglycoside, gepotidacin, pivmecillinam, and oral sulopenem-probenecid among preferred options. Check patient eligibility, availability, interactions, and susceptibility. Fosfomycin is an alternative for E. coli cystitis. Do not extrapolate a bladder regimen to febrile or invasive disease. Pyelonephritis / cUTI Susceptible TMP-SMX, ciprofloxacin, or levofloxacin. If unsuitable, a carbapenem or cefepime-enmetazobactam. IV fosfomycin, aminoglycosides, and piperacillin-tazobactam are alternatives in the 2026 guidance. Bacteremia or critical illness favors the invasive-disease approach. Bacteremia, pneumonia, or other invasive infection A carbapenem is preferred. Use meropenem or imipenem-cilastatin in critical illness or hypoalbuminemia. Ertapenem can be useful in stable patients with appropriate pharmacokinetics and source control. Cefepime-enmetazobactam is an alternative; invasive ESBL outcome data are less established. Oral transition after improvement Active TMP-SMX or a fluoroquinolone, after hemodynamic stability, source control, and confirmation of absorption. For bloodstream infection, do not use nitrofurantoin or oral fosfomycin as completion therapy. An ESBL label does not itself mandate a PICC. Avoid plain cefepime for ESBL pyelonephritis/cUTI or invasive disease even when it reports susceptible. Cefepime-enmetazobactam is a distinct combination with a different role. Piperacillin-tazobactam is not preferred for ESBL bacteremia; MERINO failed to establish noninferiority to meropenem. Fosfomycin needs a formulation and a site Oral fosfomycin is principally a cystitis option for E. coli. The 2026 guidance permits selected oral transition use after initial improvement in E. coli cUTI when other oral options are unavailable, with limited supporting evidence. This is not initial therapy for pyelonephritis, nor reliable bacteremia therapy. IV fosfomycin is a separate alternative for cUTI with different dosing, susceptibility criteria, and sodium burden. Sources amr , merino , allium , breakpoints</a:t>
            </a:r>
          </a:p>
          <a:p xmlns:a="http://schemas.openxmlformats.org/drawingml/2006/main">
            <a:r>
              <a:t/>
            </a:r>
          </a:p>
          <a:p xmlns:a="http://schemas.openxmlformats.org/drawingml/2006/main">
            <a:r>
              <a:t>Module section: https://docarcshot.github.io/id-practice-update/lectures/Antibiotic_Resistance_and_Resistant_Organisms.html#esbl</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ESBL infection according to the site and severity ESBL treatment by syndrome Syndrome Practical choice Important limits Bladder-only infection Nitrofurantoin or TMP-SMX when active and appropriate. The 2026 guidance also includes single-dose aminoglycoside, gepotidacin, pivmecillinam, and oral sulopenem-probenecid among preferred options. Check patient eligibility, availability, interactions, and susceptibility. Fosfomycin is an alternative for E. coli cystitis. Do not extrapolate a bladder regimen to febrile or invasive disease. Pyelonephritis / cUTI Susceptible TMP-SMX, ciprofloxacin, or levofloxacin. If unsuitable, a carbapenem or cefepime-enmetazobactam. IV fosfomycin, aminoglycosides, and piperacillin-tazobactam are alternatives in the 2026 guidance. Bacteremia or critical illness favors the invasive-disease approach. Bacteremia, pneumonia, or other invasive infection A carbapenem is preferred. Use meropenem or imipenem-cilastatin in critical illness or hypoalbuminemia. Ertapenem can be useful in stable patients with appropriate pharmacokinetics and source control. Cefepime-enmetazobactam is an alternative; invasive ESBL outcome data are less established. Oral transition after improvement Active TMP-SMX or a fluoroquinolone, after hemodynamic stability, source control, and confirmation of absorption. For bloodstream infection, do not use nitrofurantoin or oral fosfomycin as completion therapy. An ESBL label does not itself mandate a PICC. Avoid plain cefepime for ESBL pyelonephritis/cUTI or invasive disease even when it reports susceptible. Cefepime-enmetazobactam is a distinct combination with a different role. Piperacillin-tazobactam is not preferred for ESBL bacteremia; MERINO failed to establish noninferiority to meropenem. Fosfomycin needs a formulation and a site Oral fosfomycin is principally a cystitis option for E. coli. The 2026 guidance permits selected oral transition use after initial improvement in E. coli cUTI when other oral options are unavailable, with limited supporting evidence. This is not initial therapy for pyelonephritis, nor reliable bacteremia therapy. IV fosfomycin is a separate alternative for cUTI with different dosing, susceptibility criteria, and sodium burden. Sources amr , merino , allium , breakpoints</a:t>
            </a:r>
          </a:p>
          <a:p xmlns:a="http://schemas.openxmlformats.org/drawingml/2006/main">
            <a:r>
              <a:t/>
            </a:r>
          </a:p>
          <a:p xmlns:a="http://schemas.openxmlformats.org/drawingml/2006/main">
            <a:r>
              <a:t>Module section: https://docarcshot.github.io/id-practice-update/lectures/Antibiotic_Resistance_and_Resistant_Organisms.html#esbl</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ESBL infection according to the site and severity ESBL treatment by syndrome Syndrome Practical choice Important limits Bladder-only infection Nitrofurantoin or TMP-SMX when active and appropriate. The 2026 guidance also includes single-dose aminoglycoside, gepotidacin, pivmecillinam, and oral sulopenem-probenecid among preferred options. Check patient eligibility, availability, interactions, and susceptibility. Fosfomycin is an alternative for E. coli cystitis. Do not extrapolate a bladder regimen to febrile or invasive disease. Pyelonephritis / cUTI Susceptible TMP-SMX, ciprofloxacin, or levofloxacin. If unsuitable, a carbapenem or cefepime-enmetazobactam. IV fosfomycin, aminoglycosides, and piperacillin-tazobactam are alternatives in the 2026 guidance. Bacteremia or critical illness favors the invasive-disease approach. Bacteremia, pneumonia, or other invasive infection A carbapenem is preferred. Use meropenem or imipenem-cilastatin in critical illness or hypoalbuminemia. Ertapenem can be useful in stable patients with appropriate pharmacokinetics and source control. Cefepime-enmetazobactam is an alternative; invasive ESBL outcome data are less established. Oral transition after improvement Active TMP-SMX or a fluoroquinolone, after hemodynamic stability, source control, and confirmation of absorption. For bloodstream infection, do not use nitrofurantoin or oral fosfomycin as completion therapy. An ESBL label does not itself mandate a PICC. Avoid plain cefepime for ESBL pyelonephritis/cUTI or invasive disease even when it reports susceptible. Cefepime-enmetazobactam is a distinct combination with a different role. Piperacillin-tazobactam is not preferred for ESBL bacteremia; MERINO failed to establish noninferiority to meropenem. Fosfomycin needs a formulation and a site Oral fosfomycin is principally a cystitis option for E. coli. The 2026 guidance permits selected oral transition use after initial improvement in E. coli cUTI when other oral options are unavailable, with limited supporting evidence. This is not initial therapy for pyelonephritis, nor reliable bacteremia therapy. IV fosfomycin is a separate alternative for cUTI with different dosing, susceptibility criteria, and sodium burden. Sources amr , merino , allium , breakpoints</a:t>
            </a:r>
          </a:p>
          <a:p xmlns:a="http://schemas.openxmlformats.org/drawingml/2006/main">
            <a:r>
              <a:t/>
            </a:r>
          </a:p>
          <a:p xmlns:a="http://schemas.openxmlformats.org/drawingml/2006/main">
            <a:r>
              <a:t>Module section: https://docarcshot.github.io/id-practice-update/lectures/Antibiotic_Resistance_and_Resistant_Organisms.html#esbl</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ESBL infection according to the site and severity ESBL treatment by syndrome Syndrome Practical choice Important limits Bladder-only infection Nitrofurantoin or TMP-SMX when active and appropriate. The 2026 guidance also includes single-dose aminoglycoside, gepotidacin, pivmecillinam, and oral sulopenem-probenecid among preferred options. Check patient eligibility, availability, interactions, and susceptibility. Fosfomycin is an alternative for E. coli cystitis. Do not extrapolate a bladder regimen to febrile or invasive disease. Pyelonephritis / cUTI Susceptible TMP-SMX, ciprofloxacin, or levofloxacin. If unsuitable, a carbapenem or cefepime-enmetazobactam. IV fosfomycin, aminoglycosides, and piperacillin-tazobactam are alternatives in the 2026 guidance. Bacteremia or critical illness favors the invasive-disease approach. Bacteremia, pneumonia, or other invasive infection A carbapenem is preferred. Use meropenem or imipenem-cilastatin in critical illness or hypoalbuminemia. Ertapenem can be useful in stable patients with appropriate pharmacokinetics and source control. Cefepime-enmetazobactam is an alternative; invasive ESBL outcome data are less established. Oral transition after improvement Active TMP-SMX or a fluoroquinolone, after hemodynamic stability, source control, and confirmation of absorption. For bloodstream infection, do not use nitrofurantoin or oral fosfomycin as completion therapy. An ESBL label does not itself mandate a PICC. Avoid plain cefepime for ESBL pyelonephritis/cUTI or invasive disease even when it reports susceptible. Cefepime-enmetazobactam is a distinct combination with a different role. Piperacillin-tazobactam is not preferred for ESBL bacteremia; MERINO failed to establish noninferiority to meropenem. Fosfomycin needs a formulation and a site Oral fosfomycin is principally a cystitis option for E. coli. The 2026 guidance permits selected oral transition use after initial improvement in E. coli cUTI when other oral options are unavailable, with limited supporting evidence. This is not initial therapy for pyelonephritis, nor reliable bacteremia therapy. IV fosfomycin is a separate alternative for cUTI with different dosing, susceptibility criteria, and sodium burden. Sources amr , merino , allium , breakpoints</a:t>
            </a:r>
          </a:p>
          <a:p xmlns:a="http://schemas.openxmlformats.org/drawingml/2006/main">
            <a:r>
              <a:t/>
            </a:r>
          </a:p>
          <a:p xmlns:a="http://schemas.openxmlformats.org/drawingml/2006/main">
            <a:r>
              <a:t>Module section: https://docarcshot.github.io/id-practice-update/lectures/Antibiotic_Resistance_and_Resistant_Organisms.html#esbl</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ESBL infection according to the site and severity ESBL treatment by syndrome Syndrome Practical choice Important limits Bladder-only infection Nitrofurantoin or TMP-SMX when active and appropriate. The 2026 guidance also includes single-dose aminoglycoside, gepotidacin, pivmecillinam, and oral sulopenem-probenecid among preferred options. Check patient eligibility, availability, interactions, and susceptibility. Fosfomycin is an alternative for E. coli cystitis. Do not extrapolate a bladder regimen to febrile or invasive disease. Pyelonephritis / cUTI Susceptible TMP-SMX, ciprofloxacin, or levofloxacin. If unsuitable, a carbapenem or cefepime-enmetazobactam. IV fosfomycin, aminoglycosides, and piperacillin-tazobactam are alternatives in the 2026 guidance. Bacteremia or critical illness favors the invasive-disease approach. Bacteremia, pneumonia, or other invasive infection A carbapenem is preferred. Use meropenem or imipenem-cilastatin in critical illness or hypoalbuminemia. Ertapenem can be useful in stable patients with appropriate pharmacokinetics and source control. Cefepime-enmetazobactam is an alternative; invasive ESBL outcome data are less established. Oral transition after improvement Active TMP-SMX or a fluoroquinolone, after hemodynamic stability, source control, and confirmation of absorption. For bloodstream infection, do not use nitrofurantoin or oral fosfomycin as completion therapy. An ESBL label does not itself mandate a PICC. Avoid plain cefepime for ESBL pyelonephritis/cUTI or invasive disease even when it reports susceptible. Cefepime-enmetazobactam is a distinct combination with a different role. Piperacillin-tazobactam is not preferred for ESBL bacteremia; MERINO failed to establish noninferiority to meropenem. Fosfomycin needs a formulation and a site Oral fosfomycin is principally a cystitis option for E. coli. The 2026 guidance permits selected oral transition use after initial improvement in E. coli cUTI when other oral options are unavailable, with limited supporting evidence. This is not initial therapy for pyelonephritis, nor reliable bacteremia therapy. IV fosfomycin is a separate alternative for cUTI with different dosing, susceptibility criteria, and sodium burden. Sources amr , merino , allium , breakpoints</a:t>
            </a:r>
          </a:p>
          <a:p xmlns:a="http://schemas.openxmlformats.org/drawingml/2006/main">
            <a:r>
              <a:t/>
            </a:r>
          </a:p>
          <a:p xmlns:a="http://schemas.openxmlformats.org/drawingml/2006/main">
            <a:r>
              <a:t>Module section: https://docarcshot.github.io/id-practice-update/lectures/Antibiotic_Resistance_and_Resistant_Organisms.html#esbl</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ESBL infection according to the site and severity ESBL treatment by syndrome Syndrome Practical choice Important limits Bladder-only infection Nitrofurantoin or TMP-SMX when active and appropriate. The 2026 guidance also includes single-dose aminoglycoside, gepotidacin, pivmecillinam, and oral sulopenem-probenecid among preferred options. Check patient eligibility, availability, interactions, and susceptibility. Fosfomycin is an alternative for E. coli cystitis. Do not extrapolate a bladder regimen to febrile or invasive disease. Pyelonephritis / cUTI Susceptible TMP-SMX, ciprofloxacin, or levofloxacin. If unsuitable, a carbapenem or cefepime-enmetazobactam. IV fosfomycin, aminoglycosides, and piperacillin-tazobactam are alternatives in the 2026 guidance. Bacteremia or critical illness favors the invasive-disease approach. Bacteremia, pneumonia, or other invasive infection A carbapenem is preferred. Use meropenem or imipenem-cilastatin in critical illness or hypoalbuminemia. Ertapenem can be useful in stable patients with appropriate pharmacokinetics and source control. Cefepime-enmetazobactam is an alternative; invasive ESBL outcome data are less established. Oral transition after improvement Active TMP-SMX or a fluoroquinolone, after hemodynamic stability, source control, and confirmation of absorption. For bloodstream infection, do not use nitrofurantoin or oral fosfomycin as completion therapy. An ESBL label does not itself mandate a PICC. Avoid plain cefepime for ESBL pyelonephritis/cUTI or invasive disease even when it reports susceptible. Cefepime-enmetazobactam is a distinct combination with a different role. Piperacillin-tazobactam is not preferred for ESBL bacteremia; MERINO failed to establish noninferiority to meropenem. Fosfomycin needs a formulation and a site Oral fosfomycin is principally a cystitis option for E. coli. The 2026 guidance permits selected oral transition use after initial improvement in E. coli cUTI when other oral options are unavailable, with limited supporting evidence. This is not initial therapy for pyelonephritis, nor reliable bacteremia therapy. IV fosfomycin is a separate alternative for cUTI with different dosing, susceptibility criteria, and sodium burden. Sources amr , merino , allium , breakpoints</a:t>
            </a:r>
          </a:p>
          <a:p xmlns:a="http://schemas.openxmlformats.org/drawingml/2006/main">
            <a:r>
              <a:t/>
            </a:r>
          </a:p>
          <a:p xmlns:a="http://schemas.openxmlformats.org/drawingml/2006/main">
            <a:r>
              <a:t>Module section: https://docarcshot.github.io/id-practice-update/lectures/Antibiotic_Resistance_and_Resistant_Organisms.html#esbl</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Species-level identification helps predict resistance emerging during treatment Enterobacter cloacae complex, Klebsiella aerogenes, and Citrobacter freundii have clinically important inducible AmpC risk. The 2026 guidance adds Hafnia alvei, supported mainly by laboratory data and limited clinical experience. A ceftriaxone-susceptible initial isolate can become resistant during therapy. For invasive infection, cefepime is a reasonable definitive option when susceptible or SDD and dosed to the required exposure. A carbapenem is appropriate when cefepime is inactive, ESBL co-production is established, or the clinical situation makes cefepime unreliable. Piperacillin-tazobactam is not suggested for invasive infection from these moderate-risk organisms. Do not apply an old “SPICE” mnemonic uniformly. Serratia marcescens, Morganella morganii, and Providencia species have a lower likelihood of clinically significant AmpC overexpression; generally follow susceptibility testing. In high-burden infection or inadequate source control, cefepime may still be preferred. C. koseri is not C. freundii, and K. pneumoniae is not K. aerogenes. Nuance without losing the default Avoid ceftriaxone as the planned treatment of invasive moderate-risk AmpC infection. The 2026 guidance allows completion with empiric ceftriaxone in selected non-severe infections after clear improvement and adequate source control. This exception should not justify ceftriaxone in shock, an undrained collection, or an endovascular infection. Sources amr , breakpoints</a:t>
            </a:r>
          </a:p>
          <a:p xmlns:a="http://schemas.openxmlformats.org/drawingml/2006/main">
            <a:r>
              <a:t/>
            </a:r>
          </a:p>
          <a:p xmlns:a="http://schemas.openxmlformats.org/drawingml/2006/main">
            <a:r>
              <a:t>Module section: https://docarcshot.github.io/id-practice-update/lectures/Antibiotic_Resistance_and_Resistant_Organisms.html#ampc</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Species-level identification helps predict resistance emerging during treatment Enterobacter cloacae complex, Klebsiella aerogenes, and Citrobacter freundii have clinically important inducible AmpC risk. The 2026 guidance adds Hafnia alvei, supported mainly by laboratory data and limited clinical experience. A ceftriaxone-susceptible initial isolate can become resistant during therapy. For invasive infection, cefepime is a reasonable definitive option when susceptible or SDD and dosed to the required exposure. A carbapenem is appropriate when cefepime is inactive, ESBL co-production is established, or the clinical situation makes cefepime unreliable. Piperacillin-tazobactam is not suggested for invasive infection from these moderate-risk organisms. Do not apply an old “SPICE” mnemonic uniformly. Serratia marcescens, Morganella morganii, and Providencia species have a lower likelihood of clinically significant AmpC overexpression; generally follow susceptibility testing. In high-burden infection or inadequate source control, cefepime may still be preferred. C. koseri is not C. freundii, and K. pneumoniae is not K. aerogenes. Nuance without losing the default Avoid ceftriaxone as the planned treatment of invasive moderate-risk AmpC infection. The 2026 guidance allows completion with empiric ceftriaxone in selected non-severe infections after clear improvement and adequate source control. This exception should not justify ceftriaxone in shock, an undrained collection, or an endovascular infection. Sources amr , breakpoints</a:t>
            </a:r>
          </a:p>
          <a:p xmlns:a="http://schemas.openxmlformats.org/drawingml/2006/main">
            <a:r>
              <a:t/>
            </a:r>
          </a:p>
          <a:p xmlns:a="http://schemas.openxmlformats.org/drawingml/2006/main">
            <a:r>
              <a:t>Module section: https://docarcshot.github.io/id-practice-update/lectures/Antibiotic_Resistance_and_Resistant_Organisms.html#ampc</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Species-level identification helps predict resistance emerging during treatment Enterobacter cloacae complex, Klebsiella aerogenes, and Citrobacter freundii have clinically important inducible AmpC risk. The 2026 guidance adds Hafnia alvei, supported mainly by laboratory data and limited clinical experience. A ceftriaxone-susceptible initial isolate can become resistant during therapy. For invasive infection, cefepime is a reasonable definitive option when susceptible or SDD and dosed to the required exposure. A carbapenem is appropriate when cefepime is inactive, ESBL co-production is established, or the clinical situation makes cefepime unreliable. Piperacillin-tazobactam is not suggested for invasive infection from these moderate-risk organisms. Do not apply an old “SPICE” mnemonic uniformly. Serratia marcescens, Morganella morganii, and Providencia species have a lower likelihood of clinically significant AmpC overexpression; generally follow susceptibility testing. In high-burden infection or inadequate source control, cefepime may still be preferred. C. koseri is not C. freundii, and K. pneumoniae is not K. aerogenes. Nuance without losing the default Avoid ceftriaxone as the planned treatment of invasive moderate-risk AmpC infection. The 2026 guidance allows completion with empiric ceftriaxone in selected non-severe infections after clear improvement and adequate source control. This exception should not justify ceftriaxone in shock, an undrained collection, or an endovascular infection. Sources amr , breakpoints</a:t>
            </a:r>
          </a:p>
          <a:p xmlns:a="http://schemas.openxmlformats.org/drawingml/2006/main">
            <a:r>
              <a:t/>
            </a:r>
          </a:p>
          <a:p xmlns:a="http://schemas.openxmlformats.org/drawingml/2006/main">
            <a:r>
              <a:t>Module section: https://docarcshot.github.io/id-practice-update/lectures/Antibiotic_Resistance_and_Resistant_Organisms.html#ampc</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Species-level identification helps predict resistance emerging during treatment Enterobacter cloacae complex, Klebsiella aerogenes, and Citrobacter freundii have clinically important inducible AmpC risk. The 2026 guidance adds Hafnia alvei, supported mainly by laboratory data and limited clinical experience. A ceftriaxone-susceptible initial isolate can become resistant during therapy. For invasive infection, cefepime is a reasonable definitive option when susceptible or SDD and dosed to the required exposure. A carbapenem is appropriate when cefepime is inactive, ESBL co-production is established, or the clinical situation makes cefepime unreliable. Piperacillin-tazobactam is not suggested for invasive infection from these moderate-risk organisms. Do not apply an old “SPICE” mnemonic uniformly. Serratia marcescens, Morganella morganii, and Providencia species have a lower likelihood of clinically significant AmpC overexpression; generally follow susceptibility testing. In high-burden infection or inadequate source control, cefepime may still be preferred. C. koseri is not C. freundii, and K. pneumoniae is not K. aerogenes. Nuance without losing the default Avoid ceftriaxone as the planned treatment of invasive moderate-risk AmpC infection. The 2026 guidance allows completion with empiric ceftriaxone in selected non-severe infections after clear improvement and adequate source control. This exception should not justify ceftriaxone in shock, an undrained collection, or an endovascular infection. Sources amr , breakpoints</a:t>
            </a:r>
          </a:p>
          <a:p xmlns:a="http://schemas.openxmlformats.org/drawingml/2006/main">
            <a:r>
              <a:t/>
            </a:r>
          </a:p>
          <a:p xmlns:a="http://schemas.openxmlformats.org/drawingml/2006/main">
            <a:r>
              <a:t>Module section: https://docarcshot.github.io/id-practice-update/lectures/Antibiotic_Resistance_and_Resistant_Organisms.html#ampc</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For CRE, identify the carbapenemase before assuming the new drugs are interchangeable Definitive therapy for invasive CRE with demonstrated activity Mechanism or phenotype Preferred approach Avoid the shortcut KPC Meropenem-vaborbactam, ceftazidime-avibactam, or imipenem-cilastatin-relebactam. IDSA slightly favors meropenem-vaborbactam within this group. This preference is not based on a head-to-head randomized trial. Prior exposure and new MICs matter. NDM / other metallo-beta-lactamase For NDM, aztreonam-avibactam or cefiderocol. If aztreonam-avibactam is unavailable, ceftazidime-avibactam plus aztreonam is an alternative. For VIM/IMP, confirm organism-specific testing and specialist interpretation. Ceftazidime-avibactam alone, meropenem-vaborbactam, and imipenem-relebactam do not solve an MBL mechanism. OXA-48-like Ceftazidime-avibactam preferred; cefiderocol or aztreonam-avibactam are alternatives. Vaborbactam and relebactam do not reliably inhibit OXA-48-like enzymes, even if an isolated susceptible report appears reassuring. No carbapenemase; ertapenem nonsusceptible but meropenem and imipenem susceptible IDSA exposure-optimized meropenem or imipenem-cilastatin, with close follow-up; coordinate any departure from local standard infusion with pharmacy. Ertapenem resistance alone does not mean all carbapenems are inactive. No carbapenemase; all carbapenems nonsusceptible A susceptible newer beta-lactam/beta-lactamase inhibitor, selected with microbiology and ID. Do not escalate the dose of an inactive carbapenem and presume the resistance is overcome. Aztreonam survives MBL hydrolysis, but co-produced serine beta-lactamases can destroy it. Avibactam protects aztreonam from those accompanying enzymes. Avibactam does not inhibit NDM itself. This explains why the combination can work when aztreonam alone and ceftazidime-avibactam alone do not. Do not routinely add an aminoglycoside or polymyxin once an active beta-lactam regimen is established. Tigecycline and eravacycline are alternatives only for suitable nonbloodstream, nonurinary sites. They are poor choices for CRE bacteremia or UTI. Guidance use and the US label are not identical The retrieved US aztreonam-avibactam label is for adults with limited or no alternatives who have complicated intra-abdominal infection, with concurrent metronidazole. IDSA-supported use for NDM bacteremia and other sites extends beyond that label. Do not describe all CRE uses as FDA-approved. Sources amr , emblaveo</a:t>
            </a:r>
          </a:p>
          <a:p xmlns:a="http://schemas.openxmlformats.org/drawingml/2006/main">
            <a:r>
              <a:t/>
            </a:r>
          </a:p>
          <a:p xmlns:a="http://schemas.openxmlformats.org/drawingml/2006/main">
            <a:r>
              <a:t>Module section: https://docarcshot.github.io/id-practice-update/lectures/Antibiotic_Resistance_and_Resistant_Organisms.html#cre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For CRE, identify the carbapenemase before assuming the new drugs are interchangeable Definitive therapy for invasive CRE with demonstrated activity Mechanism or phenotype Preferred approach Avoid the shortcut KPC Meropenem-vaborbactam, ceftazidime-avibactam, or imipenem-cilastatin-relebactam. IDSA slightly favors meropenem-vaborbactam within this group. This preference is not based on a head-to-head randomized trial. Prior exposure and new MICs matter. NDM / other metallo-beta-lactamase For NDM, aztreonam-avibactam or cefiderocol. If aztreonam-avibactam is unavailable, ceftazidime-avibactam plus aztreonam is an alternative. For VIM/IMP, confirm organism-specific testing and specialist interpretation. Ceftazidime-avibactam alone, meropenem-vaborbactam, and imipenem-relebactam do not solve an MBL mechanism. OXA-48-like Ceftazidime-avibactam preferred; cefiderocol or aztreonam-avibactam are alternatives. Vaborbactam and relebactam do not reliably inhibit OXA-48-like enzymes, even if an isolated susceptible report appears reassuring. No carbapenemase; ertapenem nonsusceptible but meropenem and imipenem susceptible IDSA exposure-optimized meropenem or imipenem-cilastatin, with close follow-up; coordinate any departure from local standard infusion with pharmacy. Ertapenem resistance alone does not mean all carbapenems are inactive. No carbapenemase; all carbapenems nonsusceptible A susceptible newer beta-lactam/beta-lactamase inhibitor, selected with microbiology and ID. Do not escalate the dose of an inactive carbapenem and presume the resistance is overcome. Aztreonam survives MBL hydrolysis, but co-produced serine beta-lactamases can destroy it. Avibactam protects aztreonam from those accompanying enzymes. Avibactam does not inhibit NDM itself. This explains why the combination can work when aztreonam alone and ceftazidime-avibactam alone do not. Do not routinely add an aminoglycoside or polymyxin once an active beta-lactam regimen is established. Tigecycline and eravacycline are alternatives only for suitable nonbloodstream, nonurinary sites. They are poor choices for CRE bacteremia or UTI. Guidance use and the US label are not identical The retrieved US aztreonam-avibactam label is for adults with limited or no alternatives who have complicated intra-abdominal infection, with concurrent metronidazole. IDSA-supported use for NDM bacteremia and other sites extends beyond that label. Do not describe all CRE uses as FDA-approved. Sources amr , emblaveo</a:t>
            </a:r>
          </a:p>
          <a:p xmlns:a="http://schemas.openxmlformats.org/drawingml/2006/main">
            <a:r>
              <a:t/>
            </a:r>
          </a:p>
          <a:p xmlns:a="http://schemas.openxmlformats.org/drawingml/2006/main">
            <a:r>
              <a:t>Module section: https://docarcshot.github.io/id-practice-update/lectures/Antibiotic_Resistance_and_Resistant_Organisms.html#cre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For CRE, identify the carbapenemase before assuming the new drugs are interchangeable Definitive therapy for invasive CRE with demonstrated activity Mechanism or phenotype Preferred approach Avoid the shortcut KPC Meropenem-vaborbactam, ceftazidime-avibactam, or imipenem-cilastatin-relebactam. IDSA slightly favors meropenem-vaborbactam within this group. This preference is not based on a head-to-head randomized trial. Prior exposure and new MICs matter. NDM / other metallo-beta-lactamase For NDM, aztreonam-avibactam or cefiderocol. If aztreonam-avibactam is unavailable, ceftazidime-avibactam plus aztreonam is an alternative. For VIM/IMP, confirm organism-specific testing and specialist interpretation. Ceftazidime-avibactam alone, meropenem-vaborbactam, and imipenem-relebactam do not solve an MBL mechanism. OXA-48-like Ceftazidime-avibactam preferred; cefiderocol or aztreonam-avibactam are alternatives. Vaborbactam and relebactam do not reliably inhibit OXA-48-like enzymes, even if an isolated susceptible report appears reassuring. No carbapenemase; ertapenem nonsusceptible but meropenem and imipenem susceptible IDSA exposure-optimized meropenem or imipenem-cilastatin, with close follow-up; coordinate any departure from local standard infusion with pharmacy. Ertapenem resistance alone does not mean all carbapenems are inactive. No carbapenemase; all carbapenems nonsusceptible A susceptible newer beta-lactam/beta-lactamase inhibitor, selected with microbiology and ID. Do not escalate the dose of an inactive carbapenem and presume the resistance is overcome. Aztreonam survives MBL hydrolysis, but co-produced serine beta-lactamases can destroy it. Avibactam protects aztreonam from those accompanying enzymes. Avibactam does not inhibit NDM itself. This explains why the combination can work when aztreonam alone and ceftazidime-avibactam alone do not. Do not routinely add an aminoglycoside or polymyxin once an active beta-lactam regimen is established. Tigecycline and eravacycline are alternatives only for suitable nonbloodstream, nonurinary sites. They are poor choices for CRE bacteremia or UTI. Guidance use and the US label are not identical The retrieved US aztreonam-avibactam label is for adults with limited or no alternatives who have complicated intra-abdominal infection, with concurrent metronidazole. IDSA-supported use for NDM bacteremia and other sites extends beyond that label. Do not describe all CRE uses as FDA-approved. Sources amr , emblaveo</a:t>
            </a:r>
          </a:p>
          <a:p xmlns:a="http://schemas.openxmlformats.org/drawingml/2006/main">
            <a:r>
              <a:t/>
            </a:r>
          </a:p>
          <a:p xmlns:a="http://schemas.openxmlformats.org/drawingml/2006/main">
            <a:r>
              <a:t>Module section: https://docarcshot.github.io/id-practice-update/lectures/Antibiotic_Resistance_and_Resistant_Organisms.html#cre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For CRE, identify the carbapenemase before assuming the new drugs are interchangeable Definitive therapy for invasive CRE with demonstrated activity Mechanism or phenotype Preferred approach Avoid the shortcut KPC Meropenem-vaborbactam, ceftazidime-avibactam, or imipenem-cilastatin-relebactam. IDSA slightly favors meropenem-vaborbactam within this group. This preference is not based on a head-to-head randomized trial. Prior exposure and new MICs matter. NDM / other metallo-beta-lactamase For NDM, aztreonam-avibactam or cefiderocol. If aztreonam-avibactam is unavailable, ceftazidime-avibactam plus aztreonam is an alternative. For VIM/IMP, confirm organism-specific testing and specialist interpretation. Ceftazidime-avibactam alone, meropenem-vaborbactam, and imipenem-relebactam do not solve an MBL mechanism. OXA-48-like Ceftazidime-avibactam preferred; cefiderocol or aztreonam-avibactam are alternatives. Vaborbactam and relebactam do not reliably inhibit OXA-48-like enzymes, even if an isolated susceptible report appears reassuring. No carbapenemase; ertapenem nonsusceptible but meropenem and imipenem susceptible IDSA exposure-optimized meropenem or imipenem-cilastatin, with close follow-up; coordinate any departure from local standard infusion with pharmacy. Ertapenem resistance alone does not mean all carbapenems are inactive. No carbapenemase; all carbapenems nonsusceptible A susceptible newer beta-lactam/beta-lactamase inhibitor, selected with microbiology and ID. Do not escalate the dose of an inactive carbapenem and presume the resistance is overcome. Aztreonam survives MBL hydrolysis, but co-produced serine beta-lactamases can destroy it. Avibactam protects aztreonam from those accompanying enzymes. Avibactam does not inhibit NDM itself. This explains why the combination can work when aztreonam alone and ceftazidime-avibactam alone do not. Do not routinely add an aminoglycoside or polymyxin once an active beta-lactam regimen is established. Tigecycline and eravacycline are alternatives only for suitable nonbloodstream, nonurinary sites. They are poor choices for CRE bacteremia or UTI. Guidance use and the US label are not identical The retrieved US aztreonam-avibactam label is for adults with limited or no alternatives who have complicated intra-abdominal infection, with concurrent metronidazole. IDSA-supported use for NDM bacteremia and other sites extends beyond that label. Do not describe all CRE uses as FDA-approved. Sources amr , emblaveo</a:t>
            </a:r>
          </a:p>
          <a:p xmlns:a="http://schemas.openxmlformats.org/drawingml/2006/main">
            <a:r>
              <a:t/>
            </a:r>
          </a:p>
          <a:p xmlns:a="http://schemas.openxmlformats.org/drawingml/2006/main">
            <a:r>
              <a:t>Module section: https://docarcshot.github.io/id-practice-update/lectures/Antibiotic_Resistance_and_Resistant_Organisms.html#cre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For CRE, identify the carbapenemase before assuming the new drugs are interchangeable Definitive therapy for invasive CRE with demonstrated activity Mechanism or phenotype Preferred approach Avoid the shortcut KPC Meropenem-vaborbactam, ceftazidime-avibactam, or imipenem-cilastatin-relebactam. IDSA slightly favors meropenem-vaborbactam within this group. This preference is not based on a head-to-head randomized trial. Prior exposure and new MICs matter. NDM / other metallo-beta-lactamase For NDM, aztreonam-avibactam or cefiderocol. If aztreonam-avibactam is unavailable, ceftazidime-avibactam plus aztreonam is an alternative. For VIM/IMP, confirm organism-specific testing and specialist interpretation. Ceftazidime-avibactam alone, meropenem-vaborbactam, and imipenem-relebactam do not solve an MBL mechanism. OXA-48-like Ceftazidime-avibactam preferred; cefiderocol or aztreonam-avibactam are alternatives. Vaborbactam and relebactam do not reliably inhibit OXA-48-like enzymes, even if an isolated susceptible report appears reassuring. No carbapenemase; ertapenem nonsusceptible but meropenem and imipenem susceptible IDSA exposure-optimized meropenem or imipenem-cilastatin, with close follow-up; coordinate any departure from local standard infusion with pharmacy. Ertapenem resistance alone does not mean all carbapenems are inactive. No carbapenemase; all carbapenems nonsusceptible A susceptible newer beta-lactam/beta-lactamase inhibitor, selected with microbiology and ID. Do not escalate the dose of an inactive carbapenem and presume the resistance is overcome. Aztreonam survives MBL hydrolysis, but co-produced serine beta-lactamases can destroy it. Avibactam protects aztreonam from those accompanying enzymes. Avibactam does not inhibit NDM itself. This explains why the combination can work when aztreonam alone and ceftazidime-avibactam alone do not. Do not routinely add an aminoglycoside or polymyxin once an active beta-lactam regimen is established. Tigecycline and eravacycline are alternatives only for suitable nonbloodstream, nonurinary sites. They are poor choices for CRE bacteremia or UTI. Guidance use and the US label are not identical The retrieved US aztreonam-avibactam label is for adults with limited or no alternatives who have complicated intra-abdominal infection, with concurrent metronidazole. IDSA-supported use for NDM bacteremia and other sites extends beyond that label. Do not describe all CRE uses as FDA-approved. Sources amr , emblaveo</a:t>
            </a:r>
          </a:p>
          <a:p xmlns:a="http://schemas.openxmlformats.org/drawingml/2006/main">
            <a:r>
              <a:t/>
            </a:r>
          </a:p>
          <a:p xmlns:a="http://schemas.openxmlformats.org/drawingml/2006/main">
            <a:r>
              <a:t>Module section: https://docarcshot.github.io/id-practice-update/lectures/Antibiotic_Resistance_and_Resistant_Organisms.html#cre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For CRE, identify the carbapenemase before assuming the new drugs are interchangeable Definitive therapy for invasive CRE with demonstrated activity Mechanism or phenotype Preferred approach Avoid the shortcut KPC Meropenem-vaborbactam, ceftazidime-avibactam, or imipenem-cilastatin-relebactam. IDSA slightly favors meropenem-vaborbactam within this group. This preference is not based on a head-to-head randomized trial. Prior exposure and new MICs matter. NDM / other metallo-beta-lactamase For NDM, aztreonam-avibactam or cefiderocol. If aztreonam-avibactam is unavailable, ceftazidime-avibactam plus aztreonam is an alternative. For VIM/IMP, confirm organism-specific testing and specialist interpretation. Ceftazidime-avibactam alone, meropenem-vaborbactam, and imipenem-relebactam do not solve an MBL mechanism. OXA-48-like Ceftazidime-avibactam preferred; cefiderocol or aztreonam-avibactam are alternatives. Vaborbactam and relebactam do not reliably inhibit OXA-48-like enzymes, even if an isolated susceptible report appears reassuring. No carbapenemase; ertapenem nonsusceptible but meropenem and imipenem susceptible IDSA exposure-optimized meropenem or imipenem-cilastatin, with close follow-up; coordinate any departure from local standard infusion with pharmacy. Ertapenem resistance alone does not mean all carbapenems are inactive. No carbapenemase; all carbapenems nonsusceptible A susceptible newer beta-lactam/beta-lactamase inhibitor, selected with microbiology and ID. Do not escalate the dose of an inactive carbapenem and presume the resistance is overcome. Aztreonam survives MBL hydrolysis, but co-produced serine beta-lactamases can destroy it. Avibactam protects aztreonam from those accompanying enzymes. Avibactam does not inhibit NDM itself. This explains why the combination can work when aztreonam alone and ceftazidime-avibactam alone do not. Do not routinely add an aminoglycoside or polymyxin once an active beta-lactam regimen is established. Tigecycline and eravacycline are alternatives only for suitable nonbloodstream, nonurinary sites. They are poor choices for CRE bacteremia or UTI. Guidance use and the US label are not identical The retrieved US aztreonam-avibactam label is for adults with limited or no alternatives who have complicated intra-abdominal infection, with concurrent metronidazole. IDSA-supported use for NDM bacteremia and other sites extends beyond that label. Do not describe all CRE uses as FDA-approved. Sources amr , emblaveo</a:t>
            </a:r>
          </a:p>
          <a:p xmlns:a="http://schemas.openxmlformats.org/drawingml/2006/main">
            <a:r>
              <a:t/>
            </a:r>
          </a:p>
          <a:p xmlns:a="http://schemas.openxmlformats.org/drawingml/2006/main">
            <a:r>
              <a:t>Module section: https://docarcshot.github.io/id-practice-update/lectures/Antibiotic_Resistance_and_Resistant_Organisms.html#cre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For CRE, identify the carbapenemase before assuming the new drugs are interchangeable Definitive therapy for invasive CRE with demonstrated activity Mechanism or phenotype Preferred approach Avoid the shortcut KPC Meropenem-vaborbactam, ceftazidime-avibactam, or imipenem-cilastatin-relebactam. IDSA slightly favors meropenem-vaborbactam within this group. This preference is not based on a head-to-head randomized trial. Prior exposure and new MICs matter. NDM / other metallo-beta-lactamase For NDM, aztreonam-avibactam or cefiderocol. If aztreonam-avibactam is unavailable, ceftazidime-avibactam plus aztreonam is an alternative. For VIM/IMP, confirm organism-specific testing and specialist interpretation. Ceftazidime-avibactam alone, meropenem-vaborbactam, and imipenem-relebactam do not solve an MBL mechanism. OXA-48-like Ceftazidime-avibactam preferred; cefiderocol or aztreonam-avibactam are alternatives. Vaborbactam and relebactam do not reliably inhibit OXA-48-like enzymes, even if an isolated susceptible report appears reassuring. No carbapenemase; ertapenem nonsusceptible but meropenem and imipenem susceptible IDSA exposure-optimized meropenem or imipenem-cilastatin, with close follow-up; coordinate any departure from local standard infusion with pharmacy. Ertapenem resistance alone does not mean all carbapenems are inactive. No carbapenemase; all carbapenems nonsusceptible A susceptible newer beta-lactam/beta-lactamase inhibitor, selected with microbiology and ID. Do not escalate the dose of an inactive carbapenem and presume the resistance is overcome. Aztreonam survives MBL hydrolysis, but co-produced serine beta-lactamases can destroy it. Avibactam protects aztreonam from those accompanying enzymes. Avibactam does not inhibit NDM itself. This explains why the combination can work when aztreonam alone and ceftazidime-avibactam alone do not. Do not routinely add an aminoglycoside or polymyxin once an active beta-lactam regimen is established. Tigecycline and eravacycline are alternatives only for suitable nonbloodstream, nonurinary sites. They are poor choices for CRE bacteremia or UTI. Guidance use and the US label are not identical The retrieved US aztreonam-avibactam label is for adults with limited or no alternatives who have complicated intra-abdominal infection, with concurrent metronidazole. IDSA-supported use for NDM bacteremia and other sites extends beyond that label. Do not describe all CRE uses as FDA-approved. Sources amr , emblaveo</a:t>
            </a:r>
          </a:p>
          <a:p xmlns:a="http://schemas.openxmlformats.org/drawingml/2006/main">
            <a:r>
              <a:t/>
            </a:r>
          </a:p>
          <a:p xmlns:a="http://schemas.openxmlformats.org/drawingml/2006/main">
            <a:r>
              <a:t>Module section: https://docarcshot.github.io/id-practice-update/lectures/Antibiotic_Resistance_and_Resistant_Organisms.html#cre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Carbapenem resistance in Pseudomonas does not automatically require a reserve antibiotic If cefepime, ceftazidime, piperacillin-tazobactam, or aztreonam remains susceptible, an optimized traditional beta-lactam may be appropriate even when carbapenems are resistant. In critical illness or poor source control, a susceptible newer agent is also reasonable. OprD loss can disproportionately affect carbapenems; this is one reason to interpret the complete pattern. DTR Pseudomonas is nonsusceptible to piperacillin-tazobactam, ceftazidime, cefepime, aztreonam, meropenem, imipenem, ciprofloxacin, and levofloxacin. Request testing of ceftolozane-tazobactam, ceftazidime-avibactam, imipenem-relebactam, and cefiderocol. DTR Pseudomonas by clinical context Context Treatment approach Infection outside the urinary tract Ceftolozane-tazobactam, ceftazidime-avibactam, or imipenem-relebactam when active. Cefiderocol is an alternative. Pneumonia The 2026 guidance favors ceftolozane-tazobactam among the preferred agents when susceptible. The comparative evidence does not establish universal superiority across all sites. cUTI All four newer agents are preferred options when active. Once-daily amikacin or tobramycin may be alternatives with pharmacokinetic monitoring. MBL-producing Pseudomonas Cefiderocol preferred when susceptible. Aztreonam-avibactam has limited activity here; do not transfer the NDM Enterobacterales algorithm to Pseudomonas. Recurrence after a newer beta-lactam Obtain new cultures and repeat susceptibility testing. Cross-resistance can emerge, including between ceftolozane-tazobactam and ceftazidime-avibactam. Once a beta-lactam is confirmed active, routine continued combination therapy is not suggested. Aminoglycoside monotherapy is unsuitable for invasive nonurinary disease. Routine adjunctive inhaled antibiotics are not recommended when an active systemic beta-lactam is available. Sources amr</a:t>
            </a:r>
          </a:p>
          <a:p xmlns:a="http://schemas.openxmlformats.org/drawingml/2006/main">
            <a:r>
              <a:t/>
            </a:r>
          </a:p>
          <a:p xmlns:a="http://schemas.openxmlformats.org/drawingml/2006/main">
            <a:r>
              <a:t>Module section: https://docarcshot.github.io/id-practice-update/lectures/Antibiotic_Resistance_and_Resistant_Organisms.html#pseudomonas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Carbapenem resistance in Pseudomonas does not automatically require a reserve antibiotic If cefepime, ceftazidime, piperacillin-tazobactam, or aztreonam remains susceptible, an optimized traditional beta-lactam may be appropriate even when carbapenems are resistant. In critical illness or poor source control, a susceptible newer agent is also reasonable. OprD loss can disproportionately affect carbapenems; this is one reason to interpret the complete pattern. DTR Pseudomonas is nonsusceptible to piperacillin-tazobactam, ceftazidime, cefepime, aztreonam, meropenem, imipenem, ciprofloxacin, and levofloxacin. Request testing of ceftolozane-tazobactam, ceftazidime-avibactam, imipenem-relebactam, and cefiderocol. DTR Pseudomonas by clinical context Context Treatment approach Infection outside the urinary tract Ceftolozane-tazobactam, ceftazidime-avibactam, or imipenem-relebactam when active. Cefiderocol is an alternative. Pneumonia The 2026 guidance favors ceftolozane-tazobactam among the preferred agents when susceptible. The comparative evidence does not establish universal superiority across all sites. cUTI All four newer agents are preferred options when active. Once-daily amikacin or tobramycin may be alternatives with pharmacokinetic monitoring. MBL-producing Pseudomonas Cefiderocol preferred when susceptible. Aztreonam-avibactam has limited activity here; do not transfer the NDM Enterobacterales algorithm to Pseudomonas. Recurrence after a newer beta-lactam Obtain new cultures and repeat susceptibility testing. Cross-resistance can emerge, including between ceftolozane-tazobactam and ceftazidime-avibactam. Once a beta-lactam is confirmed active, routine continued combination therapy is not suggested. Aminoglycoside monotherapy is unsuitable for invasive nonurinary disease. Routine adjunctive inhaled antibiotics are not recommended when an active systemic beta-lactam is available. Sources amr</a:t>
            </a:r>
          </a:p>
          <a:p xmlns:a="http://schemas.openxmlformats.org/drawingml/2006/main">
            <a:r>
              <a:t/>
            </a:r>
          </a:p>
          <a:p xmlns:a="http://schemas.openxmlformats.org/drawingml/2006/main">
            <a:r>
              <a:t>Module section: https://docarcshot.github.io/id-practice-update/lectures/Antibiotic_Resistance_and_Resistant_Organisms.html#pseudomonas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Carbapenem resistance in Pseudomonas does not automatically require a reserve antibiotic If cefepime, ceftazidime, piperacillin-tazobactam, or aztreonam remains susceptible, an optimized traditional beta-lactam may be appropriate even when carbapenems are resistant. In critical illness or poor source control, a susceptible newer agent is also reasonable. OprD loss can disproportionately affect carbapenems; this is one reason to interpret the complete pattern. DTR Pseudomonas is nonsusceptible to piperacillin-tazobactam, ceftazidime, cefepime, aztreonam, meropenem, imipenem, ciprofloxacin, and levofloxacin. Request testing of ceftolozane-tazobactam, ceftazidime-avibactam, imipenem-relebactam, and cefiderocol. DTR Pseudomonas by clinical context Context Treatment approach Infection outside the urinary tract Ceftolozane-tazobactam, ceftazidime-avibactam, or imipenem-relebactam when active. Cefiderocol is an alternative. Pneumonia The 2026 guidance favors ceftolozane-tazobactam among the preferred agents when susceptible. The comparative evidence does not establish universal superiority across all sites. cUTI All four newer agents are preferred options when active. Once-daily amikacin or tobramycin may be alternatives with pharmacokinetic monitoring. MBL-producing Pseudomonas Cefiderocol preferred when susceptible. Aztreonam-avibactam has limited activity here; do not transfer the NDM Enterobacterales algorithm to Pseudomonas. Recurrence after a newer beta-lactam Obtain new cultures and repeat susceptibility testing. Cross-resistance can emerge, including between ceftolozane-tazobactam and ceftazidime-avibactam. Once a beta-lactam is confirmed active, routine continued combination therapy is not suggested. Aminoglycoside monotherapy is unsuitable for invasive nonurinary disease. Routine adjunctive inhaled antibiotics are not recommended when an active systemic beta-lactam is available. Sources amr</a:t>
            </a:r>
          </a:p>
          <a:p xmlns:a="http://schemas.openxmlformats.org/drawingml/2006/main">
            <a:r>
              <a:t/>
            </a:r>
          </a:p>
          <a:p xmlns:a="http://schemas.openxmlformats.org/drawingml/2006/main">
            <a:r>
              <a:t>Module section: https://docarcshot.github.io/id-practice-update/lectures/Antibiotic_Resistance_and_Resistant_Organisms.html#pseudomonas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Carbapenem resistance in Pseudomonas does not automatically require a reserve antibiotic If cefepime, ceftazidime, piperacillin-tazobactam, or aztreonam remains susceptible, an optimized traditional beta-lactam may be appropriate even when carbapenems are resistant. In critical illness or poor source control, a susceptible newer agent is also reasonable. OprD loss can disproportionately affect carbapenems; this is one reason to interpret the complete pattern. DTR Pseudomonas is nonsusceptible to piperacillin-tazobactam, ceftazidime, cefepime, aztreonam, meropenem, imipenem, ciprofloxacin, and levofloxacin. Request testing of ceftolozane-tazobactam, ceftazidime-avibactam, imipenem-relebactam, and cefiderocol. DTR Pseudomonas by clinical context Context Treatment approach Infection outside the urinary tract Ceftolozane-tazobactam, ceftazidime-avibactam, or imipenem-relebactam when active. Cefiderocol is an alternative. Pneumonia The 2026 guidance favors ceftolozane-tazobactam among the preferred agents when susceptible. The comparative evidence does not establish universal superiority across all sites. cUTI All four newer agents are preferred options when active. Once-daily amikacin or tobramycin may be alternatives with pharmacokinetic monitoring. MBL-producing Pseudomonas Cefiderocol preferred when susceptible. Aztreonam-avibactam has limited activity here; do not transfer the NDM Enterobacterales algorithm to Pseudomonas. Recurrence after a newer beta-lactam Obtain new cultures and repeat susceptibility testing. Cross-resistance can emerge, including between ceftolozane-tazobactam and ceftazidime-avibactam. Once a beta-lactam is confirmed active, routine continued combination therapy is not suggested. Aminoglycoside monotherapy is unsuitable for invasive nonurinary disease. Routine adjunctive inhaled antibiotics are not recommended when an active systemic beta-lactam is available. Sources amr</a:t>
            </a:r>
          </a:p>
          <a:p xmlns:a="http://schemas.openxmlformats.org/drawingml/2006/main">
            <a:r>
              <a:t/>
            </a:r>
          </a:p>
          <a:p xmlns:a="http://schemas.openxmlformats.org/drawingml/2006/main">
            <a:r>
              <a:t>Module section: https://docarcshot.github.io/id-practice-update/lectures/Antibiotic_Resistance_and_Resistant_Organisms.html#pseudomonas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Carbapenem resistance in Pseudomonas does not automatically require a reserve antibiotic If cefepime, ceftazidime, piperacillin-tazobactam, or aztreonam remains susceptible, an optimized traditional beta-lactam may be appropriate even when carbapenems are resistant. In critical illness or poor source control, a susceptible newer agent is also reasonable. OprD loss can disproportionately affect carbapenems; this is one reason to interpret the complete pattern. DTR Pseudomonas is nonsusceptible to piperacillin-tazobactam, ceftazidime, cefepime, aztreonam, meropenem, imipenem, ciprofloxacin, and levofloxacin. Request testing of ceftolozane-tazobactam, ceftazidime-avibactam, imipenem-relebactam, and cefiderocol. DTR Pseudomonas by clinical context Context Treatment approach Infection outside the urinary tract Ceftolozane-tazobactam, ceftazidime-avibactam, or imipenem-relebactam when active. Cefiderocol is an alternative. Pneumonia The 2026 guidance favors ceftolozane-tazobactam among the preferred agents when susceptible. The comparative evidence does not establish universal superiority across all sites. cUTI All four newer agents are preferred options when active. Once-daily amikacin or tobramycin may be alternatives with pharmacokinetic monitoring. MBL-producing Pseudomonas Cefiderocol preferred when susceptible. Aztreonam-avibactam has limited activity here; do not transfer the NDM Enterobacterales algorithm to Pseudomonas. Recurrence after a newer beta-lactam Obtain new cultures and repeat susceptibility testing. Cross-resistance can emerge, including between ceftolozane-tazobactam and ceftazidime-avibactam. Once a beta-lactam is confirmed active, routine continued combination therapy is not suggested. Aminoglycoside monotherapy is unsuitable for invasive nonurinary disease. Routine adjunctive inhaled antibiotics are not recommended when an active systemic beta-lactam is available. Sources amr</a:t>
            </a:r>
          </a:p>
          <a:p xmlns:a="http://schemas.openxmlformats.org/drawingml/2006/main">
            <a:r>
              <a:t/>
            </a:r>
          </a:p>
          <a:p xmlns:a="http://schemas.openxmlformats.org/drawingml/2006/main">
            <a:r>
              <a:t>Module section: https://docarcshot.github.io/id-practice-update/lectures/Antibiotic_Resistance_and_Resistant_Organisms.html#pseudomonas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Carbapenem resistance in Pseudomonas does not automatically require a reserve antibiotic If cefepime, ceftazidime, piperacillin-tazobactam, or aztreonam remains susceptible, an optimized traditional beta-lactam may be appropriate even when carbapenems are resistant. In critical illness or poor source control, a susceptible newer agent is also reasonable. OprD loss can disproportionately affect carbapenems; this is one reason to interpret the complete pattern. DTR Pseudomonas is nonsusceptible to piperacillin-tazobactam, ceftazidime, cefepime, aztreonam, meropenem, imipenem, ciprofloxacin, and levofloxacin. Request testing of ceftolozane-tazobactam, ceftazidime-avibactam, imipenem-relebactam, and cefiderocol. DTR Pseudomonas by clinical context Context Treatment approach Infection outside the urinary tract Ceftolozane-tazobactam, ceftazidime-avibactam, or imipenem-relebactam when active. Cefiderocol is an alternative. Pneumonia The 2026 guidance favors ceftolozane-tazobactam among the preferred agents when susceptible. The comparative evidence does not establish universal superiority across all sites. cUTI All four newer agents are preferred options when active. Once-daily amikacin or tobramycin may be alternatives with pharmacokinetic monitoring. MBL-producing Pseudomonas Cefiderocol preferred when susceptible. Aztreonam-avibactam has limited activity here; do not transfer the NDM Enterobacterales algorithm to Pseudomonas. Recurrence after a newer beta-lactam Obtain new cultures and repeat susceptibility testing. Cross-resistance can emerge, including between ceftolozane-tazobactam and ceftazidime-avibactam. Once a beta-lactam is confirmed active, routine continued combination therapy is not suggested. Aminoglycoside monotherapy is unsuitable for invasive nonurinary disease. Routine adjunctive inhaled antibiotics are not recommended when an active systemic beta-lactam is available. Sources amr</a:t>
            </a:r>
          </a:p>
          <a:p xmlns:a="http://schemas.openxmlformats.org/drawingml/2006/main">
            <a:r>
              <a:t/>
            </a:r>
          </a:p>
          <a:p xmlns:a="http://schemas.openxmlformats.org/drawingml/2006/main">
            <a:r>
              <a:t>Module section: https://docarcshot.github.io/id-practice-update/lectures/Antibiotic_Resistance_and_Resistant_Organisms.html#pseudomonas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Carbapenem resistance in Pseudomonas does not automatically require a reserve antibiotic If cefepime, ceftazidime, piperacillin-tazobactam, or aztreonam remains susceptible, an optimized traditional beta-lactam may be appropriate even when carbapenems are resistant. In critical illness or poor source control, a susceptible newer agent is also reasonable. OprD loss can disproportionately affect carbapenems; this is one reason to interpret the complete pattern. DTR Pseudomonas is nonsusceptible to piperacillin-tazobactam, ceftazidime, cefepime, aztreonam, meropenem, imipenem, ciprofloxacin, and levofloxacin. Request testing of ceftolozane-tazobactam, ceftazidime-avibactam, imipenem-relebactam, and cefiderocol. DTR Pseudomonas by clinical context Context Treatment approach Infection outside the urinary tract Ceftolozane-tazobactam, ceftazidime-avibactam, or imipenem-relebactam when active. Cefiderocol is an alternative. Pneumonia The 2026 guidance favors ceftolozane-tazobactam among the preferred agents when susceptible. The comparative evidence does not establish universal superiority across all sites. cUTI All four newer agents are preferred options when active. Once-daily amikacin or tobramycin may be alternatives with pharmacokinetic monitoring. MBL-producing Pseudomonas Cefiderocol preferred when susceptible. Aztreonam-avibactam has limited activity here; do not transfer the NDM Enterobacterales algorithm to Pseudomonas. Recurrence after a newer beta-lactam Obtain new cultures and repeat susceptibility testing. Cross-resistance can emerge, including between ceftolozane-tazobactam and ceftazidime-avibactam. Once a beta-lactam is confirmed active, routine continued combination therapy is not suggested. Aminoglycoside monotherapy is unsuitable for invasive nonurinary disease. Routine adjunctive inhaled antibiotics are not recommended when an active systemic beta-lactam is available. Sources amr</a:t>
            </a:r>
          </a:p>
          <a:p xmlns:a="http://schemas.openxmlformats.org/drawingml/2006/main">
            <a:r>
              <a:t/>
            </a:r>
          </a:p>
          <a:p xmlns:a="http://schemas.openxmlformats.org/drawingml/2006/main">
            <a:r>
              <a:t>Module section: https://docarcshot.github.io/id-practice-update/lectures/Antibiotic_Resistance_and_Resistant_Organisms.html#pseudomonas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For invasive CRAB, use a sulbactam-durlobactam regimen and verify that the isolate is causing disease CRAB means carbapenem-resistant Acinetobacter baumannii complex. A positive respiratory or wound culture is often difficult to interpret. Establish a compatible infection before exposing a patient to a complex regimen. Preferred treatment is sulbactam-durlobactam plus imipenem-cilastatin or meropenem. Sulbactam has direct antibacterial activity against Acinetobacter; durlobactam protects it from relevant beta-lactamases. The carbapenem is an intentional partner in this regimen, not evidence that carbapenem monotherapy is effective against CRAB. The 2026 guidance places high-dose ampicillin-sulbactam plus another active agent in a temporary bridging role when sulbactam-durlobactam is not immediately available. The target is 9 g/day of the sulbactam component, equal to 27 g/day of the fixed ampicillin-sulbactam product before renal adjustment. Arrange access to preferred therapy rather than assuming these regimens are equivalent. If sulbactam-durlobactam resistance or an MBL is identified, obtain specialist guidance for a nonsulbactam combination using available active agents such as cefiderocol, minocycline, or polymyxin B. The optimal salvage regimen is uncertain. Do not generalize OXA-48 Enterobacterales treatment to Acinetobacter OXA carbapenemases. What ATTACK established Sulbactam-durlobactam plus imipenem-cilastatin met a prespecified noninferiority endpoint against colistin plus imipenem-cilastatin, with substantially less nephrotoxicity. The mortality confidence interval included no difference. The study does not establish a mortality superiority claim, and most patients had pneumonia. Sources amr , attack , doses</a:t>
            </a:r>
          </a:p>
          <a:p xmlns:a="http://schemas.openxmlformats.org/drawingml/2006/main">
            <a:r>
              <a:t/>
            </a:r>
          </a:p>
          <a:p xmlns:a="http://schemas.openxmlformats.org/drawingml/2006/main">
            <a:r>
              <a:t>Module section: https://docarcshot.github.io/id-practice-update/lectures/Antibiotic_Resistance_and_Resistant_Organisms.html#crab</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For invasive CRAB, use a sulbactam-durlobactam regimen and verify that the isolate is causing disease CRAB means carbapenem-resistant Acinetobacter baumannii complex. A positive respiratory or wound culture is often difficult to interpret. Establish a compatible infection before exposing a patient to a complex regimen. Preferred treatment is sulbactam-durlobactam plus imipenem-cilastatin or meropenem. Sulbactam has direct antibacterial activity against Acinetobacter; durlobactam protects it from relevant beta-lactamases. The carbapenem is an intentional partner in this regimen, not evidence that carbapenem monotherapy is effective against CRAB. The 2026 guidance places high-dose ampicillin-sulbactam plus another active agent in a temporary bridging role when sulbactam-durlobactam is not immediately available. The target is 9 g/day of the sulbactam component, equal to 27 g/day of the fixed ampicillin-sulbactam product before renal adjustment. Arrange access to preferred therapy rather than assuming these regimens are equivalent. If sulbactam-durlobactam resistance or an MBL is identified, obtain specialist guidance for a nonsulbactam combination using available active agents such as cefiderocol, minocycline, or polymyxin B. The optimal salvage regimen is uncertain. Do not generalize OXA-48 Enterobacterales treatment to Acinetobacter OXA carbapenemases. What ATTACK established Sulbactam-durlobactam plus imipenem-cilastatin met a prespecified noninferiority endpoint against colistin plus imipenem-cilastatin, with substantially less nephrotoxicity. The mortality confidence interval included no difference. The study does not establish a mortality superiority claim, and most patients had pneumonia. Sources amr , attack , doses</a:t>
            </a:r>
          </a:p>
          <a:p xmlns:a="http://schemas.openxmlformats.org/drawingml/2006/main">
            <a:r>
              <a:t/>
            </a:r>
          </a:p>
          <a:p xmlns:a="http://schemas.openxmlformats.org/drawingml/2006/main">
            <a:r>
              <a:t>Module section: https://docarcshot.github.io/id-practice-update/lectures/Antibiotic_Resistance_and_Resistant_Organisms.html#crab</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For invasive CRAB, use a sulbactam-durlobactam regimen and verify that the isolate is causing disease CRAB means carbapenem-resistant Acinetobacter baumannii complex. A positive respiratory or wound culture is often difficult to interpret. Establish a compatible infection before exposing a patient to a complex regimen. Preferred treatment is sulbactam-durlobactam plus imipenem-cilastatin or meropenem. Sulbactam has direct antibacterial activity against Acinetobacter; durlobactam protects it from relevant beta-lactamases. The carbapenem is an intentional partner in this regimen, not evidence that carbapenem monotherapy is effective against CRAB. The 2026 guidance places high-dose ampicillin-sulbactam plus another active agent in a temporary bridging role when sulbactam-durlobactam is not immediately available. The target is 9 g/day of the sulbactam component, equal to 27 g/day of the fixed ampicillin-sulbactam product before renal adjustment. Arrange access to preferred therapy rather than assuming these regimens are equivalent. If sulbactam-durlobactam resistance or an MBL is identified, obtain specialist guidance for a nonsulbactam combination using available active agents such as cefiderocol, minocycline, or polymyxin B. The optimal salvage regimen is uncertain. Do not generalize OXA-48 Enterobacterales treatment to Acinetobacter OXA carbapenemases. What ATTACK established Sulbactam-durlobactam plus imipenem-cilastatin met a prespecified noninferiority endpoint against colistin plus imipenem-cilastatin, with substantially less nephrotoxicity. The mortality confidence interval included no difference. The study does not establish a mortality superiority claim, and most patients had pneumonia. Sources amr , attack , doses</a:t>
            </a:r>
          </a:p>
          <a:p xmlns:a="http://schemas.openxmlformats.org/drawingml/2006/main">
            <a:r>
              <a:t/>
            </a:r>
          </a:p>
          <a:p xmlns:a="http://schemas.openxmlformats.org/drawingml/2006/main">
            <a:r>
              <a:t>Module section: https://docarcshot.github.io/id-practice-update/lectures/Antibiotic_Resistance_and_Resistant_Organisms.html#crab</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For invasive CRAB, use a sulbactam-durlobactam regimen and verify that the isolate is causing disease CRAB means carbapenem-resistant Acinetobacter baumannii complex. A positive respiratory or wound culture is often difficult to interpret. Establish a compatible infection before exposing a patient to a complex regimen. Preferred treatment is sulbactam-durlobactam plus imipenem-cilastatin or meropenem. Sulbactam has direct antibacterial activity against Acinetobacter; durlobactam protects it from relevant beta-lactamases. The carbapenem is an intentional partner in this regimen, not evidence that carbapenem monotherapy is effective against CRAB. The 2026 guidance places high-dose ampicillin-sulbactam plus another active agent in a temporary bridging role when sulbactam-durlobactam is not immediately available. The target is 9 g/day of the sulbactam component, equal to 27 g/day of the fixed ampicillin-sulbactam product before renal adjustment. Arrange access to preferred therapy rather than assuming these regimens are equivalent. If sulbactam-durlobactam resistance or an MBL is identified, obtain specialist guidance for a nonsulbactam combination using available active agents such as cefiderocol, minocycline, or polymyxin B. The optimal salvage regimen is uncertain. Do not generalize OXA-48 Enterobacterales treatment to Acinetobacter OXA carbapenemases. What ATTACK established Sulbactam-durlobactam plus imipenem-cilastatin met a prespecified noninferiority endpoint against colistin plus imipenem-cilastatin, with substantially less nephrotoxicity. The mortality confidence interval included no difference. The study does not establish a mortality superiority claim, and most patients had pneumonia. Sources amr , attack , doses</a:t>
            </a:r>
          </a:p>
          <a:p xmlns:a="http://schemas.openxmlformats.org/drawingml/2006/main">
            <a:r>
              <a:t/>
            </a:r>
          </a:p>
          <a:p xmlns:a="http://schemas.openxmlformats.org/drawingml/2006/main">
            <a:r>
              <a:t>Module section: https://docarcshot.github.io/id-practice-update/lectures/Antibiotic_Resistance_and_Resistant_Organisms.html#crab</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Stenotrophomonas treatment requires an explicit assessment of the evidence First determine whether a respiratory isolate represents infection. Carbapenem exposure can select Stenotrophomonas, and meropenem does not treat it. Invasive disease includes clinically established pneumonia, bloodstream infection, and other deep infection; a positive airway culture alone is insufficient. A substantive 2026 change The 2026 IDSA guidance favors cefiderocol monotherapy for invasive Stenotrophomonas maltophilia infection. This preference is driven largely by susceptibility, pharmacokinetic/pharmacodynamic data, and animal models. Comparative human studies have not established cefiderocol superiority. Alternative approaches include aztreonam-avibactam preferably with a second agent, or combination regimens incorporating active TMP-SMX, levofloxacin, or minocycline. Ceftazidime-avibactam plus aztreonam is an alternative when aztreonam-avibactam is unavailable. Selection depends on the site, susceptibility, toxicities, and access. Do not present TMP-SMX monotherapy as the current default for invasive disease. After clear and sustained improvement, transition to a single active oral alternative may be considered with specialist review. Minocycline has limited sustained serum exposure and is a poor initial monotherapy choice for bacteremia. Levofloxacin can select resistance during treatment. Monitor potassium, renal function, and CBC with TMP-SMX. Use current testing criteria. The cited minocycline susceptible breakpoint is at most 1 microgram/mL. Aztreonam-avibactam has no established CLSI or FDA breakpoint for Stenotrophomonas in the retrieved guidance. Do not assign “susceptible” by borrowing the Enterobacterales cutoff. Sources amr , breakpoints</a:t>
            </a:r>
          </a:p>
          <a:p xmlns:a="http://schemas.openxmlformats.org/drawingml/2006/main">
            <a:r>
              <a:t/>
            </a:r>
          </a:p>
          <a:p xmlns:a="http://schemas.openxmlformats.org/drawingml/2006/main">
            <a:r>
              <a:t>Module section: https://docarcshot.github.io/id-practice-update/lectures/Antibiotic_Resistance_and_Resistant_Organisms.html#steno</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Stenotrophomonas treatment requires an explicit assessment of the evidence First determine whether a respiratory isolate represents infection. Carbapenem exposure can select Stenotrophomonas, and meropenem does not treat it. Invasive disease includes clinically established pneumonia, bloodstream infection, and other deep infection; a positive airway culture alone is insufficient. A substantive 2026 change The 2026 IDSA guidance favors cefiderocol monotherapy for invasive Stenotrophomonas maltophilia infection. This preference is driven largely by susceptibility, pharmacokinetic/pharmacodynamic data, and animal models. Comparative human studies have not established cefiderocol superiority. Alternative approaches include aztreonam-avibactam preferably with a second agent, or combination regimens incorporating active TMP-SMX, levofloxacin, or minocycline. Ceftazidime-avibactam plus aztreonam is an alternative when aztreonam-avibactam is unavailable. Selection depends on the site, susceptibility, toxicities, and access. Do not present TMP-SMX monotherapy as the current default for invasive disease. After clear and sustained improvement, transition to a single active oral alternative may be considered with specialist review. Minocycline has limited sustained serum exposure and is a poor initial monotherapy choice for bacteremia. Levofloxacin can select resistance during treatment. Monitor potassium, renal function, and CBC with TMP-SMX. Use current testing criteria. The cited minocycline susceptible breakpoint is at most 1 microgram/mL. Aztreonam-avibactam has no established CLSI or FDA breakpoint for Stenotrophomonas in the retrieved guidance. Do not assign “susceptible” by borrowing the Enterobacterales cutoff. Sources amr , breakpoints</a:t>
            </a:r>
          </a:p>
          <a:p xmlns:a="http://schemas.openxmlformats.org/drawingml/2006/main">
            <a:r>
              <a:t/>
            </a:r>
          </a:p>
          <a:p xmlns:a="http://schemas.openxmlformats.org/drawingml/2006/main">
            <a:r>
              <a:t>Module section: https://docarcshot.github.io/id-practice-update/lectures/Antibiotic_Resistance_and_Resistant_Organisms.html#steno</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Stenotrophomonas treatment requires an explicit assessment of the evidence First determine whether a respiratory isolate represents infection. Carbapenem exposure can select Stenotrophomonas, and meropenem does not treat it. Invasive disease includes clinically established pneumonia, bloodstream infection, and other deep infection; a positive airway culture alone is insufficient. A substantive 2026 change The 2026 IDSA guidance favors cefiderocol monotherapy for invasive Stenotrophomonas maltophilia infection. This preference is driven largely by susceptibility, pharmacokinetic/pharmacodynamic data, and animal models. Comparative human studies have not established cefiderocol superiority. Alternative approaches include aztreonam-avibactam preferably with a second agent, or combination regimens incorporating active TMP-SMX, levofloxacin, or minocycline. Ceftazidime-avibactam plus aztreonam is an alternative when aztreonam-avibactam is unavailable. Selection depends on the site, susceptibility, toxicities, and access. Do not present TMP-SMX monotherapy as the current default for invasive disease. After clear and sustained improvement, transition to a single active oral alternative may be considered with specialist review. Minocycline has limited sustained serum exposure and is a poor initial monotherapy choice for bacteremia. Levofloxacin can select resistance during treatment. Monitor potassium, renal function, and CBC with TMP-SMX. Use current testing criteria. The cited minocycline susceptible breakpoint is at most 1 microgram/mL. Aztreonam-avibactam has no established CLSI or FDA breakpoint for Stenotrophomonas in the retrieved guidance. Do not assign “susceptible” by borrowing the Enterobacterales cutoff. Sources amr , breakpoints</a:t>
            </a:r>
          </a:p>
          <a:p xmlns:a="http://schemas.openxmlformats.org/drawingml/2006/main">
            <a:r>
              <a:t/>
            </a:r>
          </a:p>
          <a:p xmlns:a="http://schemas.openxmlformats.org/drawingml/2006/main">
            <a:r>
              <a:t>Module section: https://docarcshot.github.io/id-practice-update/lectures/Antibiotic_Resistance_and_Resistant_Organisms.html#steno</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Stenotrophomonas treatment requires an explicit assessment of the evidence First determine whether a respiratory isolate represents infection. Carbapenem exposure can select Stenotrophomonas, and meropenem does not treat it. Invasive disease includes clinically established pneumonia, bloodstream infection, and other deep infection; a positive airway culture alone is insufficient. A substantive 2026 change The 2026 IDSA guidance favors cefiderocol monotherapy for invasive Stenotrophomonas maltophilia infection. This preference is driven largely by susceptibility, pharmacokinetic/pharmacodynamic data, and animal models. Comparative human studies have not established cefiderocol superiority. Alternative approaches include aztreonam-avibactam preferably with a second agent, or combination regimens incorporating active TMP-SMX, levofloxacin, or minocycline. Ceftazidime-avibactam plus aztreonam is an alternative when aztreonam-avibactam is unavailable. Selection depends on the site, susceptibility, toxicities, and access. Do not present TMP-SMX monotherapy as the current default for invasive disease. After clear and sustained improvement, transition to a single active oral alternative may be considered with specialist review. Minocycline has limited sustained serum exposure and is a poor initial monotherapy choice for bacteremia. Levofloxacin can select resistance during treatment. Monitor potassium, renal function, and CBC with TMP-SMX. Use current testing criteria. The cited minocycline susceptible breakpoint is at most 1 microgram/mL. Aztreonam-avibactam has no established CLSI or FDA breakpoint for Stenotrophomonas in the retrieved guidance. Do not assign “susceptible” by borrowing the Enterobacterales cutoff. Sources amr , breakpoints</a:t>
            </a:r>
          </a:p>
          <a:p xmlns:a="http://schemas.openxmlformats.org/drawingml/2006/main">
            <a:r>
              <a:t/>
            </a:r>
          </a:p>
          <a:p xmlns:a="http://schemas.openxmlformats.org/drawingml/2006/main">
            <a:r>
              <a:t>Module section: https://docarcshot.github.io/id-practice-update/lectures/Antibiotic_Resistance_and_Resistant_Organisms.html#steno</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Stenotrophomonas treatment requires an explicit assessment of the evidence First determine whether a respiratory isolate represents infection. Carbapenem exposure can select Stenotrophomonas, and meropenem does not treat it. Invasive disease includes clinically established pneumonia, bloodstream infection, and other deep infection; a positive airway culture alone is insufficient. A substantive 2026 change The 2026 IDSA guidance favors cefiderocol monotherapy for invasive Stenotrophomonas maltophilia infection. This preference is driven largely by susceptibility, pharmacokinetic/pharmacodynamic data, and animal models. Comparative human studies have not established cefiderocol superiority. Alternative approaches include aztreonam-avibactam preferably with a second agent, or combination regimens incorporating active TMP-SMX, levofloxacin, or minocycline. Ceftazidime-avibactam plus aztreonam is an alternative when aztreonam-avibactam is unavailable. Selection depends on the site, susceptibility, toxicities, and access. Do not present TMP-SMX monotherapy as the current default for invasive disease. After clear and sustained improvement, transition to a single active oral alternative may be considered with specialist review. Minocycline has limited sustained serum exposure and is a poor initial monotherapy choice for bacteremia. Levofloxacin can select resistance during treatment. Monitor potassium, renal function, and CBC with TMP-SMX. Use current testing criteria. The cited minocycline susceptible breakpoint is at most 1 microgram/mL. Aztreonam-avibactam has no established CLSI or FDA breakpoint for Stenotrophomonas in the retrieved guidance. Do not assign “susceptible” by borrowing the Enterobacterales cutoff. Sources amr , breakpoints</a:t>
            </a:r>
          </a:p>
          <a:p xmlns:a="http://schemas.openxmlformats.org/drawingml/2006/main">
            <a:r>
              <a:t/>
            </a:r>
          </a:p>
          <a:p xmlns:a="http://schemas.openxmlformats.org/drawingml/2006/main">
            <a:r>
              <a:t>Module section: https://docarcshot.github.io/id-practice-update/lectures/Antibiotic_Resistance_and_Resistant_Organisms.html#steno</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MRSA and VRE require different treatment decisions at different infection sites Resistant gram-positive organisms Organism and site Treatment framework What must accompany the drug MRSA bacteremia / endovascular infection Vancomycin or daptomycin are established options. Ceftobiprole is another option for adult S. aureus bacteremia within its approved indication; assess availability and trial applicability. Follow-up cultures, source control, evaluation for endocarditis and metastatic infection, and a syndrome-specific duration. MRSA alveolar pneumonia Vancomycin or linezolid. Daptomycin is inactivated by pulmonary surfactant. Drain empyema when present. Oral bioavailability alone does not establish suitability for an unstable patient. Purulent MRSA skin infection Drain an abscess; add a susceptible oral agent such as TMP-SMX or doxycycline when systemic treatment is indicated, or IV therapy for severe disease. If accompanying nonpurulent cellulitis needs streptococcal coverage, ensure the regimen provides it. Clindamycin requires attention to inducible resistance testing. VRE E. faecium bacteremia Linezolid or high-dose daptomycin selected by susceptibility, site, organ function, and toxicity. Daptomycin use for VRE is off-label. Confirm species, actual daptomycin MIC, source control, and clearance. A usual S. aureus daptomycin dose of 6 mg/kg is not the default for serious VRE infection. Vancomycin-resistant but ampicillin-susceptible enterococcus Ampicillin may remain useful; an endovascular infection needs a syndrome-specific regimen. Vancomycin resistance does not rule out all beta-lactams. Cephalosporin monotherapy does not treat enterococci. VRE in urine without symptoms Usually no antibiotic. Apply the asymptomatic bacteriuria framework. For symptomatic cystitis, consider a susceptible urinary agent; for pyelonephritis or bacteremia, use systemic therapy. For E. faecium, a daptomycin MIC at most 4 micrograms/mL is CLSI susceptible dose-dependent, tied to 8-12 mg/kg/day exposure; this is not an FDA-approved VRE dosing indication. An MIC of 4 in another enterococcal species has a different interpretation. Confirm the laboratory standard before prescribing. FDA discussion of CLSI criteria . For serious MRSA infection, national vancomycin guidance favors AUC-guided dosing, generally AUC24/MIC 400-600 when MIC is assumed to be 1 mg/L. Some services use pharmacy-directed trough monitoring. Confirm the treating service’s approach, target, draw timing, and creatinine monitoring; do not equate a single trough with an AUC. For S. aureus bacteremia, the September 2026 IDSA/ESCMID consensus emphasizes risk stratification and diagnostic evaluation. Adults without deep or metastatic foci after appropriate evaluation generally receive 14 days; persistent bacteremia or an incomplete evaluation can justify longer therapy. Endocarditis, osteomyelitis, and retained infected devices require their own plans. Do not prescribe 4-6 weeks solely because the isolate is MRSA. Persistent bacteremia is a diagnostic problem as well as a treatment problem Reassess lines, valves, devices, undrained collections, dosing, and repeat susceptibilities. Daptomycin plus a beta-lactam may be considered as specialist salvage for selected persistent MRSA or VRE infections. Routine upfront combination therapy is not established for every patient; the partner beta-lactam may be intended for synergy rather than independent susceptibility. Sources mrsa , vancomycin , sab2026 , vre-dose , asb , zevtera</a:t>
            </a:r>
          </a:p>
          <a:p xmlns:a="http://schemas.openxmlformats.org/drawingml/2006/main">
            <a:r>
              <a:t/>
            </a:r>
          </a:p>
          <a:p xmlns:a="http://schemas.openxmlformats.org/drawingml/2006/main">
            <a:r>
              <a:t>Module section: https://docarcshot.github.io/id-practice-update/lectures/Antibiotic_Resistance_and_Resistant_Organisms.html#gram-positive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MRSA and VRE require different treatment decisions at different infection sites Resistant gram-positive organisms Organism and site Treatment framework What must accompany the drug MRSA bacteremia / endovascular infection Vancomycin or daptomycin are established options. Ceftobiprole is another option for adult S. aureus bacteremia within its approved indication; assess availability and trial applicability. Follow-up cultures, source control, evaluation for endocarditis and metastatic infection, and a syndrome-specific duration. MRSA alveolar pneumonia Vancomycin or linezolid. Daptomycin is inactivated by pulmonary surfactant. Drain empyema when present. Oral bioavailability alone does not establish suitability for an unstable patient. Purulent MRSA skin infection Drain an abscess; add a susceptible oral agent such as TMP-SMX or doxycycline when systemic treatment is indicated, or IV therapy for severe disease. If accompanying nonpurulent cellulitis needs streptococcal coverage, ensure the regimen provides it. Clindamycin requires attention to inducible resistance testing. VRE E. faecium bacteremia Linezolid or high-dose daptomycin selected by susceptibility, site, organ function, and toxicity. Daptomycin use for VRE is off-label. Confirm species, actual daptomycin MIC, source control, and clearance. A usual S. aureus daptomycin dose of 6 mg/kg is not the default for serious VRE infection. Vancomycin-resistant but ampicillin-susceptible enterococcus Ampicillin may remain useful; an endovascular infection needs a syndrome-specific regimen. Vancomycin resistance does not rule out all beta-lactams. Cephalosporin monotherapy does not treat enterococci. VRE in urine without symptoms Usually no antibiotic. Apply the asymptomatic bacteriuria framework. For symptomatic cystitis, consider a susceptible urinary agent; for pyelonephritis or bacteremia, use systemic therapy. For E. faecium, a daptomycin MIC at most 4 micrograms/mL is CLSI susceptible dose-dependent, tied to 8-12 mg/kg/day exposure; this is not an FDA-approved VRE dosing indication. An MIC of 4 in another enterococcal species has a different interpretation. Confirm the laboratory standard before prescribing. FDA discussion of CLSI criteria . For serious MRSA infection, national vancomycin guidance favors AUC-guided dosing, generally AUC24/MIC 400-600 when MIC is assumed to be 1 mg/L. Some services use pharmacy-directed trough monitoring. Confirm the treating service’s approach, target, draw timing, and creatinine monitoring; do not equate a single trough with an AUC. For S. aureus bacteremia, the September 2026 IDSA/ESCMID consensus emphasizes risk stratification and diagnostic evaluation. Adults without deep or metastatic foci after appropriate evaluation generally receive 14 days; persistent bacteremia or an incomplete evaluation can justify longer therapy. Endocarditis, osteomyelitis, and retained infected devices require their own plans. Do not prescribe 4-6 weeks solely because the isolate is MRSA. Persistent bacteremia is a diagnostic problem as well as a treatment problem Reassess lines, valves, devices, undrained collections, dosing, and repeat susceptibilities. Daptomycin plus a beta-lactam may be considered as specialist salvage for selected persistent MRSA or VRE infections. Routine upfront combination therapy is not established for every patient; the partner beta-lactam may be intended for synergy rather than independent susceptibility. Sources mrsa , vancomycin , sab2026 , vre-dose , asb , zevtera</a:t>
            </a:r>
          </a:p>
          <a:p xmlns:a="http://schemas.openxmlformats.org/drawingml/2006/main">
            <a:r>
              <a:t/>
            </a:r>
          </a:p>
          <a:p xmlns:a="http://schemas.openxmlformats.org/drawingml/2006/main">
            <a:r>
              <a:t>Module section: https://docarcshot.github.io/id-practice-update/lectures/Antibiotic_Resistance_and_Resistant_Organisms.html#gram-positive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MRSA and VRE require different treatment decisions at different infection sites Resistant gram-positive organisms Organism and site Treatment framework What must accompany the drug MRSA bacteremia / endovascular infection Vancomycin or daptomycin are established options. Ceftobiprole is another option for adult S. aureus bacteremia within its approved indication; assess availability and trial applicability. Follow-up cultures, source control, evaluation for endocarditis and metastatic infection, and a syndrome-specific duration. MRSA alveolar pneumonia Vancomycin or linezolid. Daptomycin is inactivated by pulmonary surfactant. Drain empyema when present. Oral bioavailability alone does not establish suitability for an unstable patient. Purulent MRSA skin infection Drain an abscess; add a susceptible oral agent such as TMP-SMX or doxycycline when systemic treatment is indicated, or IV therapy for severe disease. If accompanying nonpurulent cellulitis needs streptococcal coverage, ensure the regimen provides it. Clindamycin requires attention to inducible resistance testing. VRE E. faecium bacteremia Linezolid or high-dose daptomycin selected by susceptibility, site, organ function, and toxicity. Daptomycin use for VRE is off-label. Confirm species, actual daptomycin MIC, source control, and clearance. A usual S. aureus daptomycin dose of 6 mg/kg is not the default for serious VRE infection. Vancomycin-resistant but ampicillin-susceptible enterococcus Ampicillin may remain useful; an endovascular infection needs a syndrome-specific regimen. Vancomycin resistance does not rule out all beta-lactams. Cephalosporin monotherapy does not treat enterococci. VRE in urine without symptoms Usually no antibiotic. Apply the asymptomatic bacteriuria framework. For symptomatic cystitis, consider a susceptible urinary agent; for pyelonephritis or bacteremia, use systemic therapy. For E. faecium, a daptomycin MIC at most 4 micrograms/mL is CLSI susceptible dose-dependent, tied to 8-12 mg/kg/day exposure; this is not an FDA-approved VRE dosing indication. An MIC of 4 in another enterococcal species has a different interpretation. Confirm the laboratory standard before prescribing. FDA discussion of CLSI criteria . For serious MRSA infection, national vancomycin guidance favors AUC-guided dosing, generally AUC24/MIC 400-600 when MIC is assumed to be 1 mg/L. Some services use pharmacy-directed trough monitoring. Confirm the treating service’s approach, target, draw timing, and creatinine monitoring; do not equate a single trough with an AUC. For S. aureus bacteremia, the September 2026 IDSA/ESCMID consensus emphasizes risk stratification and diagnostic evaluation. Adults without deep or metastatic foci after appropriate evaluation generally receive 14 days; persistent bacteremia or an incomplete evaluation can justify longer therapy. Endocarditis, osteomyelitis, and retained infected devices require their own plans. Do not prescribe 4-6 weeks solely because the isolate is MRSA. Persistent bacteremia is a diagnostic problem as well as a treatment problem Reassess lines, valves, devices, undrained collections, dosing, and repeat susceptibilities. Daptomycin plus a beta-lactam may be considered as specialist salvage for selected persistent MRSA or VRE infections. Routine upfront combination therapy is not established for every patient; the partner beta-lactam may be intended for synergy rather than independent susceptibility. Sources mrsa , vancomycin , sab2026 , vre-dose , asb , zevtera</a:t>
            </a:r>
          </a:p>
          <a:p xmlns:a="http://schemas.openxmlformats.org/drawingml/2006/main">
            <a:r>
              <a:t/>
            </a:r>
          </a:p>
          <a:p xmlns:a="http://schemas.openxmlformats.org/drawingml/2006/main">
            <a:r>
              <a:t>Module section: https://docarcshot.github.io/id-practice-update/lectures/Antibiotic_Resistance_and_Resistant_Organisms.html#gram-positive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MRSA and VRE require different treatment decisions at different infection sites Resistant gram-positive organisms Organism and site Treatment framework What must accompany the drug MRSA bacteremia / endovascular infection Vancomycin or daptomycin are established options. Ceftobiprole is another option for adult S. aureus bacteremia within its approved indication; assess availability and trial applicability. Follow-up cultures, source control, evaluation for endocarditis and metastatic infection, and a syndrome-specific duration. MRSA alveolar pneumonia Vancomycin or linezolid. Daptomycin is inactivated by pulmonary surfactant. Drain empyema when present. Oral bioavailability alone does not establish suitability for an unstable patient. Purulent MRSA skin infection Drain an abscess; add a susceptible oral agent such as TMP-SMX or doxycycline when systemic treatment is indicated, or IV therapy for severe disease. If accompanying nonpurulent cellulitis needs streptococcal coverage, ensure the regimen provides it. Clindamycin requires attention to inducible resistance testing. VRE E. faecium bacteremia Linezolid or high-dose daptomycin selected by susceptibility, site, organ function, and toxicity. Daptomycin use for VRE is off-label. Confirm species, actual daptomycin MIC, source control, and clearance. A usual S. aureus daptomycin dose of 6 mg/kg is not the default for serious VRE infection. Vancomycin-resistant but ampicillin-susceptible enterococcus Ampicillin may remain useful; an endovascular infection needs a syndrome-specific regimen. Vancomycin resistance does not rule out all beta-lactams. Cephalosporin monotherapy does not treat enterococci. VRE in urine without symptoms Usually no antibiotic. Apply the asymptomatic bacteriuria framework. For symptomatic cystitis, consider a susceptible urinary agent; for pyelonephritis or bacteremia, use systemic therapy. For E. faecium, a daptomycin MIC at most 4 micrograms/mL is CLSI susceptible dose-dependent, tied to 8-12 mg/kg/day exposure; this is not an FDA-approved VRE dosing indication. An MIC of 4 in another enterococcal species has a different interpretation. Confirm the laboratory standard before prescribing. FDA discussion of CLSI criteria . For serious MRSA infection, national vancomycin guidance favors AUC-guided dosing, generally AUC24/MIC 400-600 when MIC is assumed to be 1 mg/L. Some services use pharmacy-directed trough monitoring. Confirm the treating service’s approach, target, draw timing, and creatinine monitoring; do not equate a single trough with an AUC. For S. aureus bacteremia, the September 2026 IDSA/ESCMID consensus emphasizes risk stratification and diagnostic evaluation. Adults without deep or metastatic foci after appropriate evaluation generally receive 14 days; persistent bacteremia or an incomplete evaluation can justify longer therapy. Endocarditis, osteomyelitis, and retained infected devices require their own plans. Do not prescribe 4-6 weeks solely because the isolate is MRSA. Persistent bacteremia is a diagnostic problem as well as a treatment problem Reassess lines, valves, devices, undrained collections, dosing, and repeat susceptibilities. Daptomycin plus a beta-lactam may be considered as specialist salvage for selected persistent MRSA or VRE infections. Routine upfront combination therapy is not established for every patient; the partner beta-lactam may be intended for synergy rather than independent susceptibility. Sources mrsa , vancomycin , sab2026 , vre-dose , asb , zevtera</a:t>
            </a:r>
          </a:p>
          <a:p xmlns:a="http://schemas.openxmlformats.org/drawingml/2006/main">
            <a:r>
              <a:t/>
            </a:r>
          </a:p>
          <a:p xmlns:a="http://schemas.openxmlformats.org/drawingml/2006/main">
            <a:r>
              <a:t>Module section: https://docarcshot.github.io/id-practice-update/lectures/Antibiotic_Resistance_and_Resistant_Organisms.html#gram-positive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MRSA and VRE require different treatment decisions at different infection sites Resistant gram-positive organisms Organism and site Treatment framework What must accompany the drug MRSA bacteremia / endovascular infection Vancomycin or daptomycin are established options. Ceftobiprole is another option for adult S. aureus bacteremia within its approved indication; assess availability and trial applicability. Follow-up cultures, source control, evaluation for endocarditis and metastatic infection, and a syndrome-specific duration. MRSA alveolar pneumonia Vancomycin or linezolid. Daptomycin is inactivated by pulmonary surfactant. Drain empyema when present. Oral bioavailability alone does not establish suitability for an unstable patient. Purulent MRSA skin infection Drain an abscess; add a susceptible oral agent such as TMP-SMX or doxycycline when systemic treatment is indicated, or IV therapy for severe disease. If accompanying nonpurulent cellulitis needs streptococcal coverage, ensure the regimen provides it. Clindamycin requires attention to inducible resistance testing. VRE E. faecium bacteremia Linezolid or high-dose daptomycin selected by susceptibility, site, organ function, and toxicity. Daptomycin use for VRE is off-label. Confirm species, actual daptomycin MIC, source control, and clearance. A usual S. aureus daptomycin dose of 6 mg/kg is not the default for serious VRE infection. Vancomycin-resistant but ampicillin-susceptible enterococcus Ampicillin may remain useful; an endovascular infection needs a syndrome-specific regimen. Vancomycin resistance does not rule out all beta-lactams. Cephalosporin monotherapy does not treat enterococci. VRE in urine without symptoms Usually no antibiotic. Apply the asymptomatic bacteriuria framework. For symptomatic cystitis, consider a susceptible urinary agent; for pyelonephritis or bacteremia, use systemic therapy. For E. faecium, a daptomycin MIC at most 4 micrograms/mL is CLSI susceptible dose-dependent, tied to 8-12 mg/kg/day exposure; this is not an FDA-approved VRE dosing indication. An MIC of 4 in another enterococcal species has a different interpretation. Confirm the laboratory standard before prescribing. FDA discussion of CLSI criteria . For serious MRSA infection, national vancomycin guidance favors AUC-guided dosing, generally AUC24/MIC 400-600 when MIC is assumed to be 1 mg/L. Some services use pharmacy-directed trough monitoring. Confirm the treating service’s approach, target, draw timing, and creatinine monitoring; do not equate a single trough with an AUC. For S. aureus bacteremia, the September 2026 IDSA/ESCMID consensus emphasizes risk stratification and diagnostic evaluation. Adults without deep or metastatic foci after appropriate evaluation generally receive 14 days; persistent bacteremia or an incomplete evaluation can justify longer therapy. Endocarditis, osteomyelitis, and retained infected devices require their own plans. Do not prescribe 4-6 weeks solely because the isolate is MRSA. Persistent bacteremia is a diagnostic problem as well as a treatment problem Reassess lines, valves, devices, undrained collections, dosing, and repeat susceptibilities. Daptomycin plus a beta-lactam may be considered as specialist salvage for selected persistent MRSA or VRE infections. Routine upfront combination therapy is not established for every patient; the partner beta-lactam may be intended for synergy rather than independent susceptibility. Sources mrsa , vancomycin , sab2026 , vre-dose , asb , zevtera</a:t>
            </a:r>
          </a:p>
          <a:p xmlns:a="http://schemas.openxmlformats.org/drawingml/2006/main">
            <a:r>
              <a:t/>
            </a:r>
          </a:p>
          <a:p xmlns:a="http://schemas.openxmlformats.org/drawingml/2006/main">
            <a:r>
              <a:t>Module section: https://docarcshot.github.io/id-practice-update/lectures/Antibiotic_Resistance_and_Resistant_Organisms.html#gram-positive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MRSA and VRE require different treatment decisions at different infection sites Resistant gram-positive organisms Organism and site Treatment framework What must accompany the drug MRSA bacteremia / endovascular infection Vancomycin or daptomycin are established options. Ceftobiprole is another option for adult S. aureus bacteremia within its approved indication; assess availability and trial applicability. Follow-up cultures, source control, evaluation for endocarditis and metastatic infection, and a syndrome-specific duration. MRSA alveolar pneumonia Vancomycin or linezolid. Daptomycin is inactivated by pulmonary surfactant. Drain empyema when present. Oral bioavailability alone does not establish suitability for an unstable patient. Purulent MRSA skin infection Drain an abscess; add a susceptible oral agent such as TMP-SMX or doxycycline when systemic treatment is indicated, or IV therapy for severe disease. If accompanying nonpurulent cellulitis needs streptococcal coverage, ensure the regimen provides it. Clindamycin requires attention to inducible resistance testing. VRE E. faecium bacteremia Linezolid or high-dose daptomycin selected by susceptibility, site, organ function, and toxicity. Daptomycin use for VRE is off-label. Confirm species, actual daptomycin MIC, source control, and clearance. A usual S. aureus daptomycin dose of 6 mg/kg is not the default for serious VRE infection. Vancomycin-resistant but ampicillin-susceptible enterococcus Ampicillin may remain useful; an endovascular infection needs a syndrome-specific regimen. Vancomycin resistance does not rule out all beta-lactams. Cephalosporin monotherapy does not treat enterococci. VRE in urine without symptoms Usually no antibiotic. Apply the asymptomatic bacteriuria framework. For symptomatic cystitis, consider a susceptible urinary agent; for pyelonephritis or bacteremia, use systemic therapy. For E. faecium, a daptomycin MIC at most 4 micrograms/mL is CLSI susceptible dose-dependent, tied to 8-12 mg/kg/day exposure; this is not an FDA-approved VRE dosing indication. An MIC of 4 in another enterococcal species has a different interpretation. Confirm the laboratory standard before prescribing. FDA discussion of CLSI criteria . For serious MRSA infection, national vancomycin guidance favors AUC-guided dosing, generally AUC24/MIC 400-600 when MIC is assumed to be 1 mg/L. Some services use pharmacy-directed trough monitoring. Confirm the treating service’s approach, target, draw timing, and creatinine monitoring; do not equate a single trough with an AUC. For S. aureus bacteremia, the September 2026 IDSA/ESCMID consensus emphasizes risk stratification and diagnostic evaluation. Adults without deep or metastatic foci after appropriate evaluation generally receive 14 days; persistent bacteremia or an incomplete evaluation can justify longer therapy. Endocarditis, osteomyelitis, and retained infected devices require their own plans. Do not prescribe 4-6 weeks solely because the isolate is MRSA. Persistent bacteremia is a diagnostic problem as well as a treatment problem Reassess lines, valves, devices, undrained collections, dosing, and repeat susceptibilities. Daptomycin plus a beta-lactam may be considered as specialist salvage for selected persistent MRSA or VRE infections. Routine upfront combination therapy is not established for every patient; the partner beta-lactam may be intended for synergy rather than independent susceptibility. Sources mrsa , vancomycin , sab2026 , vre-dose , asb , zevtera</a:t>
            </a:r>
          </a:p>
          <a:p xmlns:a="http://schemas.openxmlformats.org/drawingml/2006/main">
            <a:r>
              <a:t/>
            </a:r>
          </a:p>
          <a:p xmlns:a="http://schemas.openxmlformats.org/drawingml/2006/main">
            <a:r>
              <a:t>Module section: https://docarcshot.github.io/id-practice-update/lectures/Antibiotic_Resistance_and_Resistant_Organisms.html#gram-positive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MRSA and VRE require different treatment decisions at different infection sites Resistant gram-positive organisms Organism and site Treatment framework What must accompany the drug MRSA bacteremia / endovascular infection Vancomycin or daptomycin are established options. Ceftobiprole is another option for adult S. aureus bacteremia within its approved indication; assess availability and trial applicability. Follow-up cultures, source control, evaluation for endocarditis and metastatic infection, and a syndrome-specific duration. MRSA alveolar pneumonia Vancomycin or linezolid. Daptomycin is inactivated by pulmonary surfactant. Drain empyema when present. Oral bioavailability alone does not establish suitability for an unstable patient. Purulent MRSA skin infection Drain an abscess; add a susceptible oral agent such as TMP-SMX or doxycycline when systemic treatment is indicated, or IV therapy for severe disease. If accompanying nonpurulent cellulitis needs streptococcal coverage, ensure the regimen provides it. Clindamycin requires attention to inducible resistance testing. VRE E. faecium bacteremia Linezolid or high-dose daptomycin selected by susceptibility, site, organ function, and toxicity. Daptomycin use for VRE is off-label. Confirm species, actual daptomycin MIC, source control, and clearance. A usual S. aureus daptomycin dose of 6 mg/kg is not the default for serious VRE infection. Vancomycin-resistant but ampicillin-susceptible enterococcus Ampicillin may remain useful; an endovascular infection needs a syndrome-specific regimen. Vancomycin resistance does not rule out all beta-lactams. Cephalosporin monotherapy does not treat enterococci. VRE in urine without symptoms Usually no antibiotic. Apply the asymptomatic bacteriuria framework. For symptomatic cystitis, consider a susceptible urinary agent; for pyelonephritis or bacteremia, use systemic therapy. For E. faecium, a daptomycin MIC at most 4 micrograms/mL is CLSI susceptible dose-dependent, tied to 8-12 mg/kg/day exposure; this is not an FDA-approved VRE dosing indication. An MIC of 4 in another enterococcal species has a different interpretation. Confirm the laboratory standard before prescribing. FDA discussion of CLSI criteria . For serious MRSA infection, national vancomycin guidance favors AUC-guided dosing, generally AUC24/MIC 400-600 when MIC is assumed to be 1 mg/L. Some services use pharmacy-directed trough monitoring. Confirm the treating service’s approach, target, draw timing, and creatinine monitoring; do not equate a single trough with an AUC. For S. aureus bacteremia, the September 2026 IDSA/ESCMID consensus emphasizes risk stratification and diagnostic evaluation. Adults without deep or metastatic foci after appropriate evaluation generally receive 14 days; persistent bacteremia or an incomplete evaluation can justify longer therapy. Endocarditis, osteomyelitis, and retained infected devices require their own plans. Do not prescribe 4-6 weeks solely because the isolate is MRSA. Persistent bacteremia is a diagnostic problem as well as a treatment problem Reassess lines, valves, devices, undrained collections, dosing, and repeat susceptibilities. Daptomycin plus a beta-lactam may be considered as specialist salvage for selected persistent MRSA or VRE infections. Routine upfront combination therapy is not established for every patient; the partner beta-lactam may be intended for synergy rather than independent susceptibility. Sources mrsa , vancomycin , sab2026 , vre-dose , asb , zevtera</a:t>
            </a:r>
          </a:p>
          <a:p xmlns:a="http://schemas.openxmlformats.org/drawingml/2006/main">
            <a:r>
              <a:t/>
            </a:r>
          </a:p>
          <a:p xmlns:a="http://schemas.openxmlformats.org/drawingml/2006/main">
            <a:r>
              <a:t>Module section: https://docarcshot.github.io/id-practice-update/lectures/Antibiotic_Resistance_and_Resistant_Organisms.html#gram-positive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MRSA and VRE require different treatment decisions at different infection sites Resistant gram-positive organisms Organism and site Treatment framework What must accompany the drug MRSA bacteremia / endovascular infection Vancomycin or daptomycin are established options. Ceftobiprole is another option for adult S. aureus bacteremia within its approved indication; assess availability and trial applicability. Follow-up cultures, source control, evaluation for endocarditis and metastatic infection, and a syndrome-specific duration. MRSA alveolar pneumonia Vancomycin or linezolid. Daptomycin is inactivated by pulmonary surfactant. Drain empyema when present. Oral bioavailability alone does not establish suitability for an unstable patient. Purulent MRSA skin infection Drain an abscess; add a susceptible oral agent such as TMP-SMX or doxycycline when systemic treatment is indicated, or IV therapy for severe disease. If accompanying nonpurulent cellulitis needs streptococcal coverage, ensure the regimen provides it. Clindamycin requires attention to inducible resistance testing. VRE E. faecium bacteremia Linezolid or high-dose daptomycin selected by susceptibility, site, organ function, and toxicity. Daptomycin use for VRE is off-label. Confirm species, actual daptomycin MIC, source control, and clearance. A usual S. aureus daptomycin dose of 6 mg/kg is not the default for serious VRE infection. Vancomycin-resistant but ampicillin-susceptible enterococcus Ampicillin may remain useful; an endovascular infection needs a syndrome-specific regimen. Vancomycin resistance does not rule out all beta-lactams. Cephalosporin monotherapy does not treat enterococci. VRE in urine without symptoms Usually no antibiotic. Apply the asymptomatic bacteriuria framework. For symptomatic cystitis, consider a susceptible urinary agent; for pyelonephritis or bacteremia, use systemic therapy. For E. faecium, a daptomycin MIC at most 4 micrograms/mL is CLSI susceptible dose-dependent, tied to 8-12 mg/kg/day exposure; this is not an FDA-approved VRE dosing indication. An MIC of 4 in another enterococcal species has a different interpretation. Confirm the laboratory standard before prescribing. FDA discussion of CLSI criteria . For serious MRSA infection, national vancomycin guidance favors AUC-guided dosing, generally AUC24/MIC 400-600 when MIC is assumed to be 1 mg/L. Some services use pharmacy-directed trough monitoring. Confirm the treating service’s approach, target, draw timing, and creatinine monitoring; do not equate a single trough with an AUC. For S. aureus bacteremia, the September 2026 IDSA/ESCMID consensus emphasizes risk stratification and diagnostic evaluation. Adults without deep or metastatic foci after appropriate evaluation generally receive 14 days; persistent bacteremia or an incomplete evaluation can justify longer therapy. Endocarditis, osteomyelitis, and retained infected devices require their own plans. Do not prescribe 4-6 weeks solely because the isolate is MRSA. Persistent bacteremia is a diagnostic problem as well as a treatment problem Reassess lines, valves, devices, undrained collections, dosing, and repeat susceptibilities. Daptomycin plus a beta-lactam may be considered as specialist salvage for selected persistent MRSA or VRE infections. Routine upfront combination therapy is not established for every patient; the partner beta-lactam may be intended for synergy rather than independent susceptibility. Sources mrsa , vancomycin , sab2026 , vre-dose , asb , zevtera</a:t>
            </a:r>
          </a:p>
          <a:p xmlns:a="http://schemas.openxmlformats.org/drawingml/2006/main">
            <a:r>
              <a:t/>
            </a:r>
          </a:p>
          <a:p xmlns:a="http://schemas.openxmlformats.org/drawingml/2006/main">
            <a:r>
              <a:t>Module section: https://docarcshot.github.io/id-practice-update/lectures/Antibiotic_Resistance_and_Resistant_Organisms.html#gram-positive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MRSA and VRE require different treatment decisions at different infection sites Resistant gram-positive organisms Organism and site Treatment framework What must accompany the drug MRSA bacteremia / endovascular infection Vancomycin or daptomycin are established options. Ceftobiprole is another option for adult S. aureus bacteremia within its approved indication; assess availability and trial applicability. Follow-up cultures, source control, evaluation for endocarditis and metastatic infection, and a syndrome-specific duration. MRSA alveolar pneumonia Vancomycin or linezolid. Daptomycin is inactivated by pulmonary surfactant. Drain empyema when present. Oral bioavailability alone does not establish suitability for an unstable patient. Purulent MRSA skin infection Drain an abscess; add a susceptible oral agent such as TMP-SMX or doxycycline when systemic treatment is indicated, or IV therapy for severe disease. If accompanying nonpurulent cellulitis needs streptococcal coverage, ensure the regimen provides it. Clindamycin requires attention to inducible resistance testing. VRE E. faecium bacteremia Linezolid or high-dose daptomycin selected by susceptibility, site, organ function, and toxicity. Daptomycin use for VRE is off-label. Confirm species, actual daptomycin MIC, source control, and clearance. A usual S. aureus daptomycin dose of 6 mg/kg is not the default for serious VRE infection. Vancomycin-resistant but ampicillin-susceptible enterococcus Ampicillin may remain useful; an endovascular infection needs a syndrome-specific regimen. Vancomycin resistance does not rule out all beta-lactams. Cephalosporin monotherapy does not treat enterococci. VRE in urine without symptoms Usually no antibiotic. Apply the asymptomatic bacteriuria framework. For symptomatic cystitis, consider a susceptible urinary agent; for pyelonephritis or bacteremia, use systemic therapy. For E. faecium, a daptomycin MIC at most 4 micrograms/mL is CLSI susceptible dose-dependent, tied to 8-12 mg/kg/day exposure; this is not an FDA-approved VRE dosing indication. An MIC of 4 in another enterococcal species has a different interpretation. Confirm the laboratory standard before prescribing. FDA discussion of CLSI criteria . For serious MRSA infection, national vancomycin guidance favors AUC-guided dosing, generally AUC24/MIC 400-600 when MIC is assumed to be 1 mg/L. Some services use pharmacy-directed trough monitoring. Confirm the treating service’s approach, target, draw timing, and creatinine monitoring; do not equate a single trough with an AUC. For S. aureus bacteremia, the September 2026 IDSA/ESCMID consensus emphasizes risk stratification and diagnostic evaluation. Adults without deep or metastatic foci after appropriate evaluation generally receive 14 days; persistent bacteremia or an incomplete evaluation can justify longer therapy. Endocarditis, osteomyelitis, and retained infected devices require their own plans. Do not prescribe 4-6 weeks solely because the isolate is MRSA. Persistent bacteremia is a diagnostic problem as well as a treatment problem Reassess lines, valves, devices, undrained collections, dosing, and repeat susceptibilities. Daptomycin plus a beta-lactam may be considered as specialist salvage for selected persistent MRSA or VRE infections. Routine upfront combination therapy is not established for every patient; the partner beta-lactam may be intended for synergy rather than independent susceptibility. Sources mrsa , vancomycin , sab2026 , vre-dose , asb , zevtera</a:t>
            </a:r>
          </a:p>
          <a:p xmlns:a="http://schemas.openxmlformats.org/drawingml/2006/main">
            <a:r>
              <a:t/>
            </a:r>
          </a:p>
          <a:p xmlns:a="http://schemas.openxmlformats.org/drawingml/2006/main">
            <a:r>
              <a:t>Module section: https://docarcshot.github.io/id-practice-update/lectures/Antibiotic_Resistance_and_Resistant_Organisms.html#gram-positive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Dose and infusion strategy are part of whether the regimen is active 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 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 Selected adult regimens requiring careful prescribing Agent / context Example regimen Practical check Cefepime, invasive AmpC or susceptible Pseudomonas 2 g IV loading dose over 30 minutes, then 2 g every 8 hours over 3 hours. Renal adjustment; encephalopathy, myoclonus, or seizures may be toxicity. Meropenem, invasive gram-negative disease 1-2 g IV every 8 hours, prolonged infusion over 3 hours when feasible. Choose exposure for site, MIC, and clearance. Severe or selected high-exposure contexts often use 2 g. Meropenem-vaborbactam 4 g total IV every 8 hours over 3 hours. Contains 2 g of each component; adjust for renal function. Ceftazidime-avibactam 2.5 g total IV every 8 hours over 3 hours in IDSA guidance. If paired with aztreonam, pharmacy coordinates simultaneous infusion; this is not interchangeable with the fixed aztreonam-avibactam product. Aztreonam-avibactam 2.67 g total loading dose, then 2 g total every 6 hours; infuse each over 3 hours. Maintenance contains 1.5 g aztreonam plus 0.5 g avibactam. Renal adjustment; add metronidazole for intra-abdominal anaerobic coverage. Ceftolozane-tazobactam, invasive DTR infection 3 g total IV every 8 hours over 3 hours. Contains 2 g ceftolozane plus 1 g tazobactam; distinguish from lower-dose bladder regimens. Cefiderocol 2 g IV every 8 hours over 3 hours. For creatinine clearance at least 120 mL/min, the cited guidance uses every 6 hours; reduced renal function also changes dosing. Sulbactam-durlobactam 2 g total IV every 6 hours over 3 hours, with a carbapenem partner. Contains 1 g of each component; at creatinine clearance at least 130 mL/min, every 4 hours. Use the full label for other renal strata. Linezolid 600 mg IV or orally every 12 hours. CBC at least weekly; interactions, neuropathy and lactic acidosis with longer use. Renal dysfunction increases hematologic toxicity risk. Daptomycin, serious VRE infection Common specialist dosing is 10-12 mg/kg IV every 24 hours before renal adjustment. Confirm MIC and dosing weight with pharmacy; CK at baseline and at least weekly, more often with risk factors. Assess myalgia and new pulmonary symptoms. TMP-SMX, invasive Stenotrophomonas alternative regimen Dose by trimethoprim, not total tablet weight; individualize with pharmacy using the linked dosing table. Check K+, creatinine, CBC, renal adjustment, and interactions. Do not silently substitute a cystitis dose for invasive disease. 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 Sources doses , emblaveo , vre-dose , linezolid , daptomycin</a:t>
            </a:r>
          </a:p>
          <a:p xmlns:a="http://schemas.openxmlformats.org/drawingml/2006/main">
            <a:r>
              <a:t/>
            </a:r>
          </a:p>
          <a:p xmlns:a="http://schemas.openxmlformats.org/drawingml/2006/main">
            <a:r>
              <a:t>Module section: https://docarcshot.github.io/id-practice-update/lectures/Antibiotic_Resistance_and_Resistant_Organisms.html#dosing</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failure should trigger a structured reassessment When the patient is not improving Question What to look for Was the original diagnosis correct? Colonization, drug fever, inflammatory disease, malignancy, or a second untreated infection. Is the source controlled? Obstruction, abscess, empyema, infected catheter, endocarditis, prosthesis, or other retained focus. Was active exposure actually delivered? Missed doses, overly reduced renal dosing, rising clearance, poor absorption, chelation interactions, line problems, or inadequate site penetration. Has resistance changed? Repeat cultures and AST from clinically relevant specimens; compare with baseline and prior exposure. Is treatment causing harm? AKI, cefepime neurotoxicity, TMP-SMX hyperkalemia, linezolid cytopenia, daptomycin toxicity, or C. difficile infection. Resistance alone does not require a longer course. Use the infection syndrome, source control, host, and response to choose duration. For invasive infection initially treated with an inactive drug, reassess the treatment clock from effective therapy. S. aureus bacteremia has clearance-based duration rules. A bladder infection that has already clinically resolved may not need a new course solely because the final report shows resistance to empiric therapy. An oral transition requires an active oral drug with appropriate systemic/site exposure, stability, source control, and reliable absorption. Fluoroquinolones and TMP-SMX can allow oral completion in selected resistant Enterobacterales infections. That principle does not automatically validate oral treatment for endocarditis, CNS infection, or every resistant bacteremia. Tell infection prevention promptly about newly identified CRE or other targeted resistance. Follow local contact-precaution and containment procedures, communicate colonization/infection status during transfer, and preserve hand hygiene, equipment cleaning, and device prevention practices. Antibiotics are not routine decolonization treatment for CRE. Sources amr , sab2026 , cdc</a:t>
            </a:r>
          </a:p>
          <a:p xmlns:a="http://schemas.openxmlformats.org/drawingml/2006/main">
            <a:r>
              <a:t/>
            </a:r>
          </a:p>
          <a:p xmlns:a="http://schemas.openxmlformats.org/drawingml/2006/main">
            <a:r>
              <a:t>Module section: https://docarcshot.github.io/id-practice-update/lectures/Antibiotic_Resistance_and_Resistant_Organisms.html#reassessment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failure should trigger a structured reassessment When the patient is not improving Question What to look for Was the original diagnosis correct? Colonization, drug fever, inflammatory disease, malignancy, or a second untreated infection. Is the source controlled? Obstruction, abscess, empyema, infected catheter, endocarditis, prosthesis, or other retained focus. Was active exposure actually delivered? Missed doses, overly reduced renal dosing, rising clearance, poor absorption, chelation interactions, line problems, or inadequate site penetration. Has resistance changed? Repeat cultures and AST from clinically relevant specimens; compare with baseline and prior exposure. Is treatment causing harm? AKI, cefepime neurotoxicity, TMP-SMX hyperkalemia, linezolid cytopenia, daptomycin toxicity, or C. difficile infection. Resistance alone does not require a longer course. Use the infection syndrome, source control, host, and response to choose duration. For invasive infection initially treated with an inactive drug, reassess the treatment clock from effective therapy. S. aureus bacteremia has clearance-based duration rules. A bladder infection that has already clinically resolved may not need a new course solely because the final report shows resistance to empiric therapy. An oral transition requires an active oral drug with appropriate systemic/site exposure, stability, source control, and reliable absorption. Fluoroquinolones and TMP-SMX can allow oral completion in selected resistant Enterobacterales infections. That principle does not automatically validate oral treatment for endocarditis, CNS infection, or every resistant bacteremia. Tell infection prevention promptly about newly identified CRE or other targeted resistance. Follow local contact-precaution and containment procedures, communicate colonization/infection status during transfer, and preserve hand hygiene, equipment cleaning, and device prevention practices. Antibiotics are not routine decolonization treatment for CRE. Sources amr , sab2026 , cdc</a:t>
            </a:r>
          </a:p>
          <a:p xmlns:a="http://schemas.openxmlformats.org/drawingml/2006/main">
            <a:r>
              <a:t/>
            </a:r>
          </a:p>
          <a:p xmlns:a="http://schemas.openxmlformats.org/drawingml/2006/main">
            <a:r>
              <a:t>Module section: https://docarcshot.github.io/id-practice-update/lectures/Antibiotic_Resistance_and_Resistant_Organisms.html#reassessment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failure should trigger a structured reassessment When the patient is not improving Question What to look for Was the original diagnosis correct? Colonization, drug fever, inflammatory disease, malignancy, or a second untreated infection. Is the source controlled? Obstruction, abscess, empyema, infected catheter, endocarditis, prosthesis, or other retained focus. Was active exposure actually delivered? Missed doses, overly reduced renal dosing, rising clearance, poor absorption, chelation interactions, line problems, or inadequate site penetration. Has resistance changed? Repeat cultures and AST from clinically relevant specimens; compare with baseline and prior exposure. Is treatment causing harm? AKI, cefepime neurotoxicity, TMP-SMX hyperkalemia, linezolid cytopenia, daptomycin toxicity, or C. difficile infection. Resistance alone does not require a longer course. Use the infection syndrome, source control, host, and response to choose duration. For invasive infection initially treated with an inactive drug, reassess the treatment clock from effective therapy. S. aureus bacteremia has clearance-based duration rules. A bladder infection that has already clinically resolved may not need a new course solely because the final report shows resistance to empiric therapy. An oral transition requires an active oral drug with appropriate systemic/site exposure, stability, source control, and reliable absorption. Fluoroquinolones and TMP-SMX can allow oral completion in selected resistant Enterobacterales infections. That principle does not automatically validate oral treatment for endocarditis, CNS infection, or every resistant bacteremia. Tell infection prevention promptly about newly identified CRE or other targeted resistance. Follow local contact-precaution and containment procedures, communicate colonization/infection status during transfer, and preserve hand hygiene, equipment cleaning, and device prevention practices. Antibiotics are not routine decolonization treatment for CRE. Sources amr , sab2026 , cdc</a:t>
            </a:r>
          </a:p>
          <a:p xmlns:a="http://schemas.openxmlformats.org/drawingml/2006/main">
            <a:r>
              <a:t/>
            </a:r>
          </a:p>
          <a:p xmlns:a="http://schemas.openxmlformats.org/drawingml/2006/main">
            <a:r>
              <a:t>Module section: https://docarcshot.github.io/id-practice-update/lectures/Antibiotic_Resistance_and_Resistant_Organisms.html#reassessment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failure should trigger a structured reassessment When the patient is not improving Question What to look for Was the original diagnosis correct? Colonization, drug fever, inflammatory disease, malignancy, or a second untreated infection. Is the source controlled? Obstruction, abscess, empyema, infected catheter, endocarditis, prosthesis, or other retained focus. Was active exposure actually delivered? Missed doses, overly reduced renal dosing, rising clearance, poor absorption, chelation interactions, line problems, or inadequate site penetration. Has resistance changed? Repeat cultures and AST from clinically relevant specimens; compare with baseline and prior exposure. Is treatment causing harm? AKI, cefepime neurotoxicity, TMP-SMX hyperkalemia, linezolid cytopenia, daptomycin toxicity, or C. difficile infection. Resistance alone does not require a longer course. Use the infection syndrome, source control, host, and response to choose duration. For invasive infection initially treated with an inactive drug, reassess the treatment clock from effective therapy. S. aureus bacteremia has clearance-based duration rules. A bladder infection that has already clinically resolved may not need a new course solely because the final report shows resistance to empiric therapy. An oral transition requires an active oral drug with appropriate systemic/site exposure, stability, source control, and reliable absorption. Fluoroquinolones and TMP-SMX can allow oral completion in selected resistant Enterobacterales infections. That principle does not automatically validate oral treatment for endocarditis, CNS infection, or every resistant bacteremia. Tell infection prevention promptly about newly identified CRE or other targeted resistance. Follow local contact-precaution and containment procedures, communicate colonization/infection status during transfer, and preserve hand hygiene, equipment cleaning, and device prevention practices. Antibiotics are not routine decolonization treatment for CRE. Sources amr , sab2026 , cdc</a:t>
            </a:r>
          </a:p>
          <a:p xmlns:a="http://schemas.openxmlformats.org/drawingml/2006/main">
            <a:r>
              <a:t/>
            </a:r>
          </a:p>
          <a:p xmlns:a="http://schemas.openxmlformats.org/drawingml/2006/main">
            <a:r>
              <a:t>Module section: https://docarcshot.github.io/id-practice-update/lectures/Antibiotic_Resistance_and_Resistant_Organisms.html#reassessment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failure should trigger a structured reassessment When the patient is not improving Question What to look for Was the original diagnosis correct? Colonization, drug fever, inflammatory disease, malignancy, or a second untreated infection. Is the source controlled? Obstruction, abscess, empyema, infected catheter, endocarditis, prosthesis, or other retained focus. Was active exposure actually delivered? Missed doses, overly reduced renal dosing, rising clearance, poor absorption, chelation interactions, line problems, or inadequate site penetration. Has resistance changed? Repeat cultures and AST from clinically relevant specimens; compare with baseline and prior exposure. Is treatment causing harm? AKI, cefepime neurotoxicity, TMP-SMX hyperkalemia, linezolid cytopenia, daptomycin toxicity, or C. difficile infection. Resistance alone does not require a longer course. Use the infection syndrome, source control, host, and response to choose duration. For invasive infection initially treated with an inactive drug, reassess the treatment clock from effective therapy. S. aureus bacteremia has clearance-based duration rules. A bladder infection that has already clinically resolved may not need a new course solely because the final report shows resistance to empiric therapy. An oral transition requires an active oral drug with appropriate systemic/site exposure, stability, source control, and reliable absorption. Fluoroquinolones and TMP-SMX can allow oral completion in selected resistant Enterobacterales infections. That principle does not automatically validate oral treatment for endocarditis, CNS infection, or every resistant bacteremia. Tell infection prevention promptly about newly identified CRE or other targeted resistance. Follow local contact-precaution and containment procedures, communicate colonization/infection status during transfer, and preserve hand hygiene, equipment cleaning, and device prevention practices. Antibiotics are not routine decolonization treatment for CRE. Sources amr , sab2026 , cdc</a:t>
            </a:r>
          </a:p>
          <a:p xmlns:a="http://schemas.openxmlformats.org/drawingml/2006/main">
            <a:r>
              <a:t/>
            </a:r>
          </a:p>
          <a:p xmlns:a="http://schemas.openxmlformats.org/drawingml/2006/main">
            <a:r>
              <a:t>Module section: https://docarcshot.github.io/id-practice-update/lectures/Antibiotic_Resistance_and_Resistant_Organisms.html#reassessment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failure should trigger a structured reassessment When the patient is not improving Question What to look for Was the original diagnosis correct? Colonization, drug fever, inflammatory disease, malignancy, or a second untreated infection. Is the source controlled? Obstruction, abscess, empyema, infected catheter, endocarditis, prosthesis, or other retained focus. Was active exposure actually delivered? Missed doses, overly reduced renal dosing, rising clearance, poor absorption, chelation interactions, line problems, or inadequate site penetration. Has resistance changed? Repeat cultures and AST from clinically relevant specimens; compare with baseline and prior exposure. Is treatment causing harm? AKI, cefepime neurotoxicity, TMP-SMX hyperkalemia, linezolid cytopenia, daptomycin toxicity, or C. difficile infection. Resistance alone does not require a longer course. Use the infection syndrome, source control, host, and response to choose duration. For invasive infection initially treated with an inactive drug, reassess the treatment clock from effective therapy. S. aureus bacteremia has clearance-based duration rules. A bladder infection that has already clinically resolved may not need a new course solely because the final report shows resistance to empiric therapy. An oral transition requires an active oral drug with appropriate systemic/site exposure, stability, source control, and reliable absorption. Fluoroquinolones and TMP-SMX can allow oral completion in selected resistant Enterobacterales infections. That principle does not automatically validate oral treatment for endocarditis, CNS infection, or every resistant bacteremia. Tell infection prevention promptly about newly identified CRE or other targeted resistance. Follow local contact-precaution and containment procedures, communicate colonization/infection status during transfer, and preserve hand hygiene, equipment cleaning, and device prevention practices. Antibiotics are not routine decolonization treatment for CRE. Sources amr , sab2026 , cdc</a:t>
            </a:r>
          </a:p>
          <a:p xmlns:a="http://schemas.openxmlformats.org/drawingml/2006/main">
            <a:r>
              <a:t/>
            </a:r>
          </a:p>
          <a:p xmlns:a="http://schemas.openxmlformats.org/drawingml/2006/main">
            <a:r>
              <a:t>Module section: https://docarcshot.github.io/id-practice-update/lectures/Antibiotic_Resistance_and_Resistant_Organisms.html#reassessment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failure should trigger a structured reassessment When the patient is not improving Question What to look for Was the original diagnosis correct? Colonization, drug fever, inflammatory disease, malignancy, or a second untreated infection. Is the source controlled? Obstruction, abscess, empyema, infected catheter, endocarditis, prosthesis, or other retained focus. Was active exposure actually delivered? Missed doses, overly reduced renal dosing, rising clearance, poor absorption, chelation interactions, line problems, or inadequate site penetration. Has resistance changed? Repeat cultures and AST from clinically relevant specimens; compare with baseline and prior exposure. Is treatment causing harm? AKI, cefepime neurotoxicity, TMP-SMX hyperkalemia, linezolid cytopenia, daptomycin toxicity, or C. difficile infection. Resistance alone does not require a longer course. Use the infection syndrome, source control, host, and response to choose duration. For invasive infection initially treated with an inactive drug, reassess the treatment clock from effective therapy. S. aureus bacteremia has clearance-based duration rules. A bladder infection that has already clinically resolved may not need a new course solely because the final report shows resistance to empiric therapy. An oral transition requires an active oral drug with appropriate systemic/site exposure, stability, source control, and reliable absorption. Fluoroquinolones and TMP-SMX can allow oral completion in selected resistant Enterobacterales infections. That principle does not automatically validate oral treatment for endocarditis, CNS infection, or every resistant bacteremia. Tell infection prevention promptly about newly identified CRE or other targeted resistance. Follow local contact-precaution and containment procedures, communicate colonization/infection status during transfer, and preserve hand hygiene, equipment cleaning, and device prevention practices. Antibiotics are not routine decolonization treatment for CRE. Sources amr , sab2026 , cdc</a:t>
            </a:r>
          </a:p>
          <a:p xmlns:a="http://schemas.openxmlformats.org/drawingml/2006/main">
            <a:r>
              <a:t/>
            </a:r>
          </a:p>
          <a:p xmlns:a="http://schemas.openxmlformats.org/drawingml/2006/main">
            <a:r>
              <a:t>Module section: https://docarcshot.github.io/id-practice-update/lectures/Antibiotic_Resistance_and_Resistant_Organisms.html#reassessment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failure should trigger a structured reassessment When the patient is not improving Question What to look for Was the original diagnosis correct? Colonization, drug fever, inflammatory disease, malignancy, or a second untreated infection. Is the source controlled? Obstruction, abscess, empyema, infected catheter, endocarditis, prosthesis, or other retained focus. Was active exposure actually delivered? Missed doses, overly reduced renal dosing, rising clearance, poor absorption, chelation interactions, line problems, or inadequate site penetration. Has resistance changed? Repeat cultures and AST from clinically relevant specimens; compare with baseline and prior exposure. Is treatment causing harm? AKI, cefepime neurotoxicity, TMP-SMX hyperkalemia, linezolid cytopenia, daptomycin toxicity, or C. difficile infection. Resistance alone does not require a longer course. Use the infection syndrome, source control, host, and response to choose duration. For invasive infection initially treated with an inactive drug, reassess the treatment clock from effective therapy. S. aureus bacteremia has clearance-based duration rules. A bladder infection that has already clinically resolved may not need a new course solely because the final report shows resistance to empiric therapy. An oral transition requires an active oral drug with appropriate systemic/site exposure, stability, source control, and reliable absorption. Fluoroquinolones and TMP-SMX can allow oral completion in selected resistant Enterobacterales infections. That principle does not automatically validate oral treatment for endocarditis, CNS infection, or every resistant bacteremia. Tell infection prevention promptly about newly identified CRE or other targeted resistance. Follow local contact-precaution and containment procedures, communicate colonization/infection status during transfer, and preserve hand hygiene, equipment cleaning, and device prevention practices. Antibiotics are not routine decolonization treatment for CRE. Sources amr , sab2026 , cdc</a:t>
            </a:r>
          </a:p>
          <a:p xmlns:a="http://schemas.openxmlformats.org/drawingml/2006/main">
            <a:r>
              <a:t/>
            </a:r>
          </a:p>
          <a:p xmlns:a="http://schemas.openxmlformats.org/drawingml/2006/main">
            <a:r>
              <a:t>Module section: https://docarcshot.github.io/id-practice-update/lectures/Antibiotic_Resistance_and_Resistant_Organisms.html#reassessment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major studies support specific decisions within specific populations MERINO supports carbapenems for invasive ESBL-type infection Randomized, open-label noninferiority trial in ceftriaxone-resistant E. coli or K. pneumoniae bloodstream infection. In the primary population, 30-day mortality was 23/187 (12.3%) with piperacillin-tazobactam and 7/191 (3.7%) with meropenem. The risk difference was 8.6 percentage points; the one-sided 97.5% CI upper bound was 14.5%, exceeding the 5% noninferiority margin. Susceptibility-testing limitations and standard infusions complicate interpretation. The study does not answer bladder-only infection or prove all optimized piperacillin-tazobactam regimens equivalent to the studied regimen. Sources merino ALLIUM supports cefepime-enmetazobactam for cUTI Randomized trial with 1,034 treated adults. In the primary analysis set, combined clinical cure and microbiological eradication occurred in 273/345 (79.1%) with cefepime-enmetazobactam and 196/333 (58.9%) with piperacillin-tazobactam. The adjusted difference was 21.2 percentage points (95% CI 14.3-27.9), meeting noninferiority and superiority criteria. This composite is not a mortality endpoint. The study did not compare cefepime-enmetazobactam with a carbapenem and does not establish superiority for ESBL bacteremia. Sources allium ATTACK supports a safer preferred CRAB regimen Randomized phase 3 noninferiority study; 125 patients in the primary CRAB analysis, predominantly pneumonia. Both groups received imipenem-cilastatin. Day-28 mortality was 12/63 (19.0%) with sulbactam-durlobactam versus 20/62 (32.3%) with colistin, difference -13.2 percentage points (95% CI -30.0 to 3.5). The noninferiority margin was 20 percentage points. Nephrotoxicity was substantially less frequent with sulbactam-durlobactam. The wide interval and comparator limit claims about mortality superiority and other infection sites. Sources attack VRE dosing evidence is observational A VA cohort included 911 patients receiving daptomycin, but only 60 received at least 10 mg/kg. Standard-dose therapy was associated with poorer survival than high-dose therapy after adjustment (adjusted hazard ratio 2.58, 95% CI 1.27-4.88). Residual confounding, treatment-selection differences, limited quantitative MIC data, and the selected population limit causal conclusions. The study supports avoiding underexposure; it does not prove daptomycin is superior to linezolid or that every patient should receive more than 12 mg/kg. Sources vre-dose A guidance preference is not a comparative trial result The 2026 cefiderocol preference for invasive Stenotrophomonas rests heavily on preclinical evidence, with small and inconsistent human datasets. Similarly, choices among newer CRE agents frequently rely on mechanism, PK/PD, and observational outcomes. When teaching these choices, state the evidence limitation rather than converting “preferred” into “proven superior.”</a:t>
            </a:r>
          </a:p>
          <a:p xmlns:a="http://schemas.openxmlformats.org/drawingml/2006/main">
            <a:r>
              <a:t/>
            </a:r>
          </a:p>
          <a:p xmlns:a="http://schemas.openxmlformats.org/drawingml/2006/main">
            <a:r>
              <a:t>Module section: https://docarcshot.github.io/id-practice-update/lectures/Antibiotic_Resistance_and_Resistant_Organisms.html#evidence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major studies support specific decisions within specific populations MERINO supports carbapenems for invasive ESBL-type infection Randomized, open-label noninferiority trial in ceftriaxone-resistant E. coli or K. pneumoniae bloodstream infection. In the primary population, 30-day mortality was 23/187 (12.3%) with piperacillin-tazobactam and 7/191 (3.7%) with meropenem. The risk difference was 8.6 percentage points; the one-sided 97.5% CI upper bound was 14.5%, exceeding the 5% noninferiority margin. Susceptibility-testing limitations and standard infusions complicate interpretation. The study does not answer bladder-only infection or prove all optimized piperacillin-tazobactam regimens equivalent to the studied regimen. Sources merino ALLIUM supports cefepime-enmetazobactam for cUTI Randomized trial with 1,034 treated adults. In the primary analysis set, combined clinical cure and microbiological eradication occurred in 273/345 (79.1%) with cefepime-enmetazobactam and 196/333 (58.9%) with piperacillin-tazobactam. The adjusted difference was 21.2 percentage points (95% CI 14.3-27.9), meeting noninferiority and superiority criteria. This composite is not a mortality endpoint. The study did not compare cefepime-enmetazobactam with a carbapenem and does not establish superiority for ESBL bacteremia. Sources allium ATTACK supports a safer preferred CRAB regimen Randomized phase 3 noninferiority study; 125 patients in the primary CRAB analysis, predominantly pneumonia. Both groups received imipenem-cilastatin. Day-28 mortality was 12/63 (19.0%) with sulbactam-durlobactam versus 20/62 (32.3%) with colistin, difference -13.2 percentage points (95% CI -30.0 to 3.5). The noninferiority margin was 20 percentage points. Nephrotoxicity was substantially less frequent with sulbactam-durlobactam. The wide interval and comparator limit claims about mortality superiority and other infection sites. Sources attack VRE dosing evidence is observational A VA cohort included 911 patients receiving daptomycin, but only 60 received at least 10 mg/kg. Standard-dose therapy was associated with poorer survival than high-dose therapy after adjustment (adjusted hazard ratio 2.58, 95% CI 1.27-4.88). Residual confounding, treatment-selection differences, limited quantitative MIC data, and the selected population limit causal conclusions. The study supports avoiding underexposure; it does not prove daptomycin is superior to linezolid or that every patient should receive more than 12 mg/kg. Sources vre-dose A guidance preference is not a comparative trial result The 2026 cefiderocol preference for invasive Stenotrophomonas rests heavily on preclinical evidence, with small and inconsistent human datasets. Similarly, choices among newer CRE agents frequently rely on mechanism, PK/PD, and observational outcomes. When teaching these choices, state the evidence limitation rather than converting “preferred” into “proven superior.”</a:t>
            </a:r>
          </a:p>
          <a:p xmlns:a="http://schemas.openxmlformats.org/drawingml/2006/main">
            <a:r>
              <a:t/>
            </a:r>
          </a:p>
          <a:p xmlns:a="http://schemas.openxmlformats.org/drawingml/2006/main">
            <a:r>
              <a:t>Module section: https://docarcshot.github.io/id-practice-update/lectures/Antibiotic_Resistance_and_Resistant_Organisms.html#evidence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major studies support specific decisions within specific populations MERINO supports carbapenems for invasive ESBL-type infection Randomized, open-label noninferiority trial in ceftriaxone-resistant E. coli or K. pneumoniae bloodstream infection. In the primary population, 30-day mortality was 23/187 (12.3%) with piperacillin-tazobactam and 7/191 (3.7%) with meropenem. The risk difference was 8.6 percentage points; the one-sided 97.5% CI upper bound was 14.5%, exceeding the 5% noninferiority margin. Susceptibility-testing limitations and standard infusions complicate interpretation. The study does not answer bladder-only infection or prove all optimized piperacillin-tazobactam regimens equivalent to the studied regimen. Sources merino ALLIUM supports cefepime-enmetazobactam for cUTI Randomized trial with 1,034 treated adults. In the primary analysis set, combined clinical cure and microbiological eradication occurred in 273/345 (79.1%) with cefepime-enmetazobactam and 196/333 (58.9%) with piperacillin-tazobactam. The adjusted difference was 21.2 percentage points (95% CI 14.3-27.9), meeting noninferiority and superiority criteria. This composite is not a mortality endpoint. The study did not compare cefepime-enmetazobactam with a carbapenem and does not establish superiority for ESBL bacteremia. Sources allium ATTACK supports a safer preferred CRAB regimen Randomized phase 3 noninferiority study; 125 patients in the primary CRAB analysis, predominantly pneumonia. Both groups received imipenem-cilastatin. Day-28 mortality was 12/63 (19.0%) with sulbactam-durlobactam versus 20/62 (32.3%) with colistin, difference -13.2 percentage points (95% CI -30.0 to 3.5). The noninferiority margin was 20 percentage points. Nephrotoxicity was substantially less frequent with sulbactam-durlobactam. The wide interval and comparator limit claims about mortality superiority and other infection sites. Sources attack VRE dosing evidence is observational A VA cohort included 911 patients receiving daptomycin, but only 60 received at least 10 mg/kg. Standard-dose therapy was associated with poorer survival than high-dose therapy after adjustment (adjusted hazard ratio 2.58, 95% CI 1.27-4.88). Residual confounding, treatment-selection differences, limited quantitative MIC data, and the selected population limit causal conclusions. The study supports avoiding underexposure; it does not prove daptomycin is superior to linezolid or that every patient should receive more than 12 mg/kg. Sources vre-dose A guidance preference is not a comparative trial result The 2026 cefiderocol preference for invasive Stenotrophomonas rests heavily on preclinical evidence, with small and inconsistent human datasets. Similarly, choices among newer CRE agents frequently rely on mechanism, PK/PD, and observational outcomes. When teaching these choices, state the evidence limitation rather than converting “preferred” into “proven superior.”</a:t>
            </a:r>
          </a:p>
          <a:p xmlns:a="http://schemas.openxmlformats.org/drawingml/2006/main">
            <a:r>
              <a:t/>
            </a:r>
          </a:p>
          <a:p xmlns:a="http://schemas.openxmlformats.org/drawingml/2006/main">
            <a:r>
              <a:t>Module section: https://docarcshot.github.io/id-practice-update/lectures/Antibiotic_Resistance_and_Resistant_Organisms.html#evidence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major studies support specific decisions within specific populations MERINO supports carbapenems for invasive ESBL-type infection Randomized, open-label noninferiority trial in ceftriaxone-resistant E. coli or K. pneumoniae bloodstream infection. In the primary population, 30-day mortality was 23/187 (12.3%) with piperacillin-tazobactam and 7/191 (3.7%) with meropenem. The risk difference was 8.6 percentage points; the one-sided 97.5% CI upper bound was 14.5%, exceeding the 5% noninferiority margin. Susceptibility-testing limitations and standard infusions complicate interpretation. The study does not answer bladder-only infection or prove all optimized piperacillin-tazobactam regimens equivalent to the studied regimen. Sources merino ALLIUM supports cefepime-enmetazobactam for cUTI Randomized trial with 1,034 treated adults. In the primary analysis set, combined clinical cure and microbiological eradication occurred in 273/345 (79.1%) with cefepime-enmetazobactam and 196/333 (58.9%) with piperacillin-tazobactam. The adjusted difference was 21.2 percentage points (95% CI 14.3-27.9), meeting noninferiority and superiority criteria. This composite is not a mortality endpoint. The study did not compare cefepime-enmetazobactam with a carbapenem and does not establish superiority for ESBL bacteremia. Sources allium ATTACK supports a safer preferred CRAB regimen Randomized phase 3 noninferiority study; 125 patients in the primary CRAB analysis, predominantly pneumonia. Both groups received imipenem-cilastatin. Day-28 mortality was 12/63 (19.0%) with sulbactam-durlobactam versus 20/62 (32.3%) with colistin, difference -13.2 percentage points (95% CI -30.0 to 3.5). The noninferiority margin was 20 percentage points. Nephrotoxicity was substantially less frequent with sulbactam-durlobactam. The wide interval and comparator limit claims about mortality superiority and other infection sites. Sources attack VRE dosing evidence is observational A VA cohort included 911 patients receiving daptomycin, but only 60 received at least 10 mg/kg. Standard-dose therapy was associated with poorer survival than high-dose therapy after adjustment (adjusted hazard ratio 2.58, 95% CI 1.27-4.88). Residual confounding, treatment-selection differences, limited quantitative MIC data, and the selected population limit causal conclusions. The study supports avoiding underexposure; it does not prove daptomycin is superior to linezolid or that every patient should receive more than 12 mg/kg. Sources vre-dose A guidance preference is not a comparative trial result The 2026 cefiderocol preference for invasive Stenotrophomonas rests heavily on preclinical evidence, with small and inconsistent human datasets. Similarly, choices among newer CRE agents frequently rely on mechanism, PK/PD, and observational outcomes. When teaching these choices, state the evidence limitation rather than converting “preferred” into “proven superior.”</a:t>
            </a:r>
          </a:p>
          <a:p xmlns:a="http://schemas.openxmlformats.org/drawingml/2006/main">
            <a:r>
              <a:t/>
            </a:r>
          </a:p>
          <a:p xmlns:a="http://schemas.openxmlformats.org/drawingml/2006/main">
            <a:r>
              <a:t>Module section: https://docarcshot.github.io/id-practice-update/lectures/Antibiotic_Resistance_and_Resistant_Organisms.html#evidence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major studies support specific decisions within specific populations MERINO supports carbapenems for invasive ESBL-type infection Randomized, open-label noninferiority trial in ceftriaxone-resistant E. coli or K. pneumoniae bloodstream infection. In the primary population, 30-day mortality was 23/187 (12.3%) with piperacillin-tazobactam and 7/191 (3.7%) with meropenem. The risk difference was 8.6 percentage points; the one-sided 97.5% CI upper bound was 14.5%, exceeding the 5% noninferiority margin. Susceptibility-testing limitations and standard infusions complicate interpretation. The study does not answer bladder-only infection or prove all optimized piperacillin-tazobactam regimens equivalent to the studied regimen. Sources merino ALLIUM supports cefepime-enmetazobactam for cUTI Randomized trial with 1,034 treated adults. In the primary analysis set, combined clinical cure and microbiological eradication occurred in 273/345 (79.1%) with cefepime-enmetazobactam and 196/333 (58.9%) with piperacillin-tazobactam. The adjusted difference was 21.2 percentage points (95% CI 14.3-27.9), meeting noninferiority and superiority criteria. This composite is not a mortality endpoint. The study did not compare cefepime-enmetazobactam with a carbapenem and does not establish superiority for ESBL bacteremia. Sources allium ATTACK supports a safer preferred CRAB regimen Randomized phase 3 noninferiority study; 125 patients in the primary CRAB analysis, predominantly pneumonia. Both groups received imipenem-cilastatin. Day-28 mortality was 12/63 (19.0%) with sulbactam-durlobactam versus 20/62 (32.3%) with colistin, difference -13.2 percentage points (95% CI -30.0 to 3.5). The noninferiority margin was 20 percentage points. Nephrotoxicity was substantially less frequent with sulbactam-durlobactam. The wide interval and comparator limit claims about mortality superiority and other infection sites. Sources attack VRE dosing evidence is observational A VA cohort included 911 patients receiving daptomycin, but only 60 received at least 10 mg/kg. Standard-dose therapy was associated with poorer survival than high-dose therapy after adjustment (adjusted hazard ratio 2.58, 95% CI 1.27-4.88). Residual confounding, treatment-selection differences, limited quantitative MIC data, and the selected population limit causal conclusions. The study supports avoiding underexposure; it does not prove daptomycin is superior to linezolid or that every patient should receive more than 12 mg/kg. Sources vre-dose A guidance preference is not a comparative trial result The 2026 cefiderocol preference for invasive Stenotrophomonas rests heavily on preclinical evidence, with small and inconsistent human datasets. Similarly, choices among newer CRE agents frequently rely on mechanism, PK/PD, and observational outcomes. When teaching these choices, state the evidence limitation rather than converting “preferred” into “proven superior.”</a:t>
            </a:r>
          </a:p>
          <a:p xmlns:a="http://schemas.openxmlformats.org/drawingml/2006/main">
            <a:r>
              <a:t/>
            </a:r>
          </a:p>
          <a:p xmlns:a="http://schemas.openxmlformats.org/drawingml/2006/main">
            <a:r>
              <a:t>Module section: https://docarcshot.github.io/id-practice-update/lectures/Antibiotic_Resistance_and_Resistant_Organisms.html#evidence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 from the syndrome to a defensible treatment plan Pause before opening each discussion. Name the next action, drug choice, and information still missing. Case 1 · A resistant urine culture without symptoms A stable adult with a chronic urinary catheter has ESBL E. coli in urine obtained for odor. There is no new urinary symptom, fever, hemodynamic change, or planned invasive urologic procedure. Discuss the decision Do not treat the culture. Review why it was collected and whether the catheter is needed. Resistance does not convert asymptomatic bacteriuria into infection. Sources asb Case 2 · ESBL bacteremia with a susceptible piperacillin-tazobactam report A patient with fever, hypotension, an obstructing ureteral stone, and E. coli bacteremia has CTX-M detected. Piperacillin-tazobactam is reported susceptible. Discuss the decision Use an active carbapenem while arranging urgent urinary decompression. Once stable with source control and complete results, assess an active oral option. The susceptibility report does not negate the invasive ESBL treatment evidence. Sources merino Case 3 · Enterobacter initially susceptible to ceftriaxone E. cloacae complex grows from blood and an undrained intra-abdominal collection. Ceftriaxone is susceptible; cefepime MIC is 2 micrograms/mL. Discuss the decision Arrange drainage and select cefepime with appropriate exposure, or a carbapenem when indicated by clinical or resistance factors. Include anaerobic coverage if the source requires it. This is not the low-severity, source-controlled exception for continuing ceftriaxone. Sources amr Case 4 · NDM changes the CRE choice A bloodstream K. pneumoniae isolate carries NDM. Ceftazidime-avibactam was started before molecular results. Discuss the decision Ceftazidime-avibactam alone is inadequate. Select aztreonam-avibactam or susceptible cefiderocol; ceftazidime-avibactam plus aztreonam is an alternative if the fixed product is unavailable. Obtain confirmatory AST and source control. Sources amr Case 5 · Carbapenem-resistant Pseudomonas still has an older option A stable patient with a drained source has Pseudomonas resistant to meropenem but susceptible to cefepime. Discuss the decision Optimized cefepime can be appropriate. Carbapenem resistance is not synonymous with DTR or a carbapenemase. Check the MIC, exposure, source, and response; do not automatically escalate to a reserve agent. Sources amr Case 6 · CRAB in a ventilated patient New fever, purulent secretions, a new infiltrate, and rising oxygen requirements accompany a CRAB respiratory isolate. Discuss the decision Evaluate competing causes and specimen quality. If CRAB pneumonia is established, use sulbactam-durlobactam plus a carbapenem partner and request AST. A prior positive respiratory culture without this syndrome would not justify the same treatment. Sources amr Case 7 · Stenotrophomonas after broad-spectrum therapy A neutropenic patient has compatible pneumonia and S. maltophilia in blood and respiratory cultures. Discuss the decision 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 Sources amr Case 8 · VRE with daptomycin MIC 4 A patient has VRE E. faecium bacteremia, daptomycin MIC 4 micrograms/mL, and preserved renal function. Discuss the decision 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 Sources vre-dose</a:t>
            </a:r>
          </a:p>
          <a:p xmlns:a="http://schemas.openxmlformats.org/drawingml/2006/main">
            <a:r>
              <a:t/>
            </a:r>
          </a:p>
          <a:p xmlns:a="http://schemas.openxmlformats.org/drawingml/2006/main">
            <a:r>
              <a:t>Module section: https://docarcshot.github.io/id-practice-update/lectures/Antibiotic_Resistance_and_Resistant_Organisms.html#cases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questions to check the reasoning 1. Does the smallest MIC identify the best antibiotic? Show explanation No. Compare the drug-specific breakpoint, achievable exposure, site, and outcomes evidence. 2. Does a negative CTX-M result exclude ESBL? Show explanation No. Other ESBL families and other resistance mechanisms can produce a similar phenotype. 3. Which Enterobacterales should make you question ceftriaxone despite initial susceptibility? Show explanation E. cloacae complex, K. aerogenes, C. freundii, and, in the 2026 guidance, H. alvei. Severity and source control determine whether the limited continuation exception applies. 4. Why can aztreonam-avibactam work against NDM? Show explanation Aztreonam resists MBL hydrolysis; avibactam blocks accompanying serine beta-lactamases. Avibactam does not inhibit NDM. 5. Can you use the NDM Enterobacterales algorithm for MBL Pseudomonas? Show explanation No. Cefiderocol is preferred when susceptible for MBL Pseudomonas; aztreonam-avibactam has limited activity. 6. Does every CRE infection require two independently active drugs? Show explanation No. Routine combination therapy adds toxicity without established benefit once an active beta-lactam regimen is identified. Specific combinations such as sulbactam-durlobactam plus a carbapenem have separate rationale. 7. Is TMP-SMX monotherapy the 2026 default for invasive Stenotrophomonas? Show explanation No. Cefiderocol monotherapy is preferred in the current guidance, with explicitly limited human comparative evidence. TMP-SMX is an alternative component of combination therapy. 8. Can nitrofurantoin complete treatment of ESBL bacteremia from a urinary source? Show explanation No. Urinary activity does not provide adequate bloodstream exposure. 9. Does MRSA pneumonia respond to daptomycin? Show explanation Daptomycin should not be used for alveolar pneumonia because pulmonary surfactant inactivates it. 10. What laboratory monitoring must accompany TMP-SMX? Show explanation Potassium, renal function, and CBC, with timing based on baseline risk, dose, and treatment duration. Review interacting medications.</a:t>
            </a:r>
          </a:p>
          <a:p xmlns:a="http://schemas.openxmlformats.org/drawingml/2006/main">
            <a:r>
              <a:t/>
            </a:r>
          </a:p>
          <a:p xmlns:a="http://schemas.openxmlformats.org/drawingml/2006/main">
            <a:r>
              <a:t>Module section: https://docarcshot.github.io/id-practice-update/lectures/Antibiotic_Resistance_and_Resistant_Organisms.html#questions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useful consult plan explains why this regimen fits this patient Suggested documentation [Syndrome and source], with [organism and relevant mechanism/MIC]. Evidence for infection is [clinical and microbiological findings]. Source control is [completed/pending]. Use [drug, dose, infusion, renal adjustment] because [mechanism and site]. Stop [unnecessary coverage]. Obtain [missing testing]. Monitor [specific toxicities]. Reassess [response and culture clearance] on [date]. Duration is tied to [syndrome, effective therapy, clearance/source control]. Oral transition requires [criteria]. Communicate [precautions and pending-result ownership]. Before discharge, confirm drug access, infusion feasibility, laboratory follow-up, result ownership, and the responsible clinician. A theoretical active agent that is not available or not administered is not an effective treatment plan.</a:t>
            </a:r>
          </a:p>
          <a:p xmlns:a="http://schemas.openxmlformats.org/drawingml/2006/main">
            <a:r>
              <a:t/>
            </a:r>
          </a:p>
          <a:p xmlns:a="http://schemas.openxmlformats.org/drawingml/2006/main">
            <a:r>
              <a:t>Module section: https://docarcshot.github.io/id-practice-update/lectures/Antibiotic_Resistance_and_Resistant_Organisms.html#handoff</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useful consult plan explains why this regimen fits this patient Suggested documentation [Syndrome and source], with [organism and relevant mechanism/MIC]. Evidence for infection is [clinical and microbiological findings]. Source control is [completed/pending]. Use [drug, dose, infusion, renal adjustment] because [mechanism and site]. Stop [unnecessary coverage]. Obtain [missing testing]. Monitor [specific toxicities]. Reassess [response and culture clearance] on [date]. Duration is tied to [syndrome, effective therapy, clearance/source control]. Oral transition requires [criteria]. Communicate [precautions and pending-result ownership]. Before discharge, confirm drug access, infusion feasibility, laboratory follow-up, result ownership, and the responsible clinician. A theoretical active agent that is not available or not administered is not an effective treatment plan.</a:t>
            </a:r>
          </a:p>
          <a:p xmlns:a="http://schemas.openxmlformats.org/drawingml/2006/main">
            <a:r>
              <a:t/>
            </a:r>
          </a:p>
          <a:p xmlns:a="http://schemas.openxmlformats.org/drawingml/2006/main">
            <a:r>
              <a:t>Module section: https://docarcshot.github.io/id-practice-update/lectures/Antibiotic_Resistance_and_Resistant_Organisms.html#handoff</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https://docarcshot.github.io/id-practice-update/lectures/Antibiotic_Resistance_and_Resistant_Organisms.html#references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https://docarcshot.github.io/id-practice-update/lectures/Antibiotic_Resistance_and_Resistant_Organisms.html#ref-amr</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https://docarcshot.github.io/id-practice-update/lectures/Antibiotic_Resistance_and_Resistant_Organisms.html#ref-breakpoints</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https://docarcshot.github.io/id-practice-update/lectures/Antibiotic_Resistance_and_Resistant_Organisms.html#ref-eucast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https://docarcshot.github.io/id-practice-update/lectures/Antibiotic_Resistance_and_Resistant_Organisms.html#ref-asb</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https://docarcshot.github.io/id-practice-update/lectures/Antibiotic_Resistance_and_Resistant_Organisms.html#ref-cdc</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https://docarcshot.github.io/id-practice-update/lectures/Antibiotic_Resistance_and_Resistant_Organisms.html#ref-mrsa</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https://docarcshot.github.io/id-practice-update/lectures/Antibiotic_Resistance_and_Resistant_Organisms.html#ref-sab2026</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https://docarcshot.github.io/id-practice-update/lectures/Antibiotic_Resistance_and_Resistant_Organisms.html#ref-vancomycin</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https://docarcshot.github.io/id-practice-update/lectures/Antibiotic_Resistance_and_Resistant_Organisms.html#ref-emblaveo</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https://docarcshot.github.io/id-practice-update/lectures/Antibiotic_Resistance_and_Resistant_Organisms.html#ref-zevtera</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https://docarcshot.github.io/id-practice-update/lectures/Antibiotic_Resistance_and_Resistant_Organisms.html#ref-linezolid</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https://docarcshot.github.io/id-practice-update/lectures/Antibiotic_Resistance_and_Resistant_Organisms.html#ref-dapto-sdd</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https://docarcshot.github.io/id-practice-update/lectures/Antibiotic_Resistance_and_Resistant_Organisms.html#ref-daptomycin</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https://docarcshot.github.io/id-practice-update/lectures/Antibiotic_Resistance_and_Resistant_Organisms.html#ref-merino</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https://docarcshot.github.io/id-practice-update/lectures/Antibiotic_Resistance_and_Resistant_Organisms.html#ref-allium</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https://docarcshot.github.io/id-practice-update/lectures/Antibiotic_Resistance_and_Resistant_Organisms.html#ref-attack</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distinguish clinical evidence, guidance, and product labeling 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 Clinical guidance IDSA 2026 Guidance on Antimicrobial Resistant Gram-Negative Infections Dosing reference IDSA 2026 AMR Table 1, adult dosing Laboratory reference IDSA 2026 AMR Table 2, selected CLSI/FDA breakpoints and limitations Laboratory standard EUCAST definitions of S, I, and R Clinical guideline IDSA 2019 asymptomatic bacteriuria guideline Infection prevention CDC CRE infection control Clinical guideline IDSA MRSA guideline, 2011; interpret with subsequent drug approvals and 2026 SAB consensus Consensus guidance IDSA/ESCMID 2026 S. aureus bacteremia consensus, updated September 9, 2026 Consensus guideline ASHP/IDSA/PIDS/SIDP vancomycin monitoring guideline, 2020 US prescribing information Aztreonam-avibactam (Emblaveo) prescribing information FDA approval record FDA approval of ceftobiprole for serious infections, April 2024 US prescribing information Linezolid (Zyvox) prescribing information Breakpoint interpretation FDA recognition rationale explaining CLSI daptomycin SDD criteria and dosing US prescribing information Daptomycin (Cubicin RF) prescribing information Randomized trial Harris et al. MERINO. JAMA 2018. doi 10.1001/jama.2018.12163 Randomized trial Kaye et al. Cefepime-enmetazobactam versus piperacillin-tazobactam for cUTI. JAMA 2022 Randomized trial Kaye et al. ATTACK. Lancet Infect Dis 2023. doi 10.1016/S1473-3099(23)00184-6 Observational cohort Britt et al. Daptomycin dose and VRE bacteremia outcomes. Clin Infect Dis 2017;64:605-613</a:t>
            </a:r>
          </a:p>
          <a:p xmlns:a="http://schemas.openxmlformats.org/drawingml/2006/main">
            <a:r>
              <a:t/>
            </a:r>
          </a:p>
          <a:p xmlns:a="http://schemas.openxmlformats.org/drawingml/2006/main">
            <a:r>
              <a:t>Module section: https://docarcshot.github.io/id-practice-update/lectures/Antibiotic_Resistance_and_Resistant_Organisms.html#ref-vre-dose</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resistance · One-page rounds sheet September 21, 2026 · Teaching companion; faculty/local review pending. See the full module for dosing, evidence, exceptions, and sources. Start with infection Name the syndrome, assess severity, review prior isolates, obtain appropriate cultures, and control the source. A resistant colonizer does not need antibiotics. ESBL and AmpC Invasive ESBL: carbapenem preferred. Invasive moderate-risk AmpC: active, optimized cefepime or a carbapenem when indicated. Do not transfer the cefepime rule from AmpC to ESBL. CRE mechanism KPC: meropenem-vaborbactam, ceftazidime-avibactam, or imipenem-relebactam. NDM: aztreonam-avibactam or cefiderocol. OXA-48-like: ceftazidime-avibactam. Confirm AST. Pseudomonas Use an optimized traditional beta-lactam when appropriate and susceptible. DTR: test the four newer agents. For MBL producers, cefiderocol is preferred if active. CRAB and Stenotrophomonas CRAB: sulbactam-durlobactam plus a carbapenem. Invasive Stenotrophomonas: 2026 guidance favors cefiderocol alone, with limited human comparative evidence. MRSA and VRE MRSA bacteremia: established options include vancomycin or daptomycin; evaluate source and clearance. MRSA pneumonia: no daptomycin. VRE bacteremia: linezolid or optimized high-dose daptomycin based on MIC and patient factors. Exposure and toxicity MICs are not cross-drug rankings. Match SDD to dose. Adjust for changing renal function. TMP-SMX: K+, creatinine, CBC. Linezolid: CBC. Daptomycin: CK. Cefepime: renal function and mental status. Reassess and narrow Repeat AST for recurrence or persistence. Recheck source control and delivered exposure. Resistance alone does not extend duration. Oral transition requires active drug, site exposure, stability, and absorption.</a:t>
            </a:r>
          </a:p>
          <a:p xmlns:a="http://schemas.openxmlformats.org/drawingml/2006/main">
            <a:r>
              <a:t/>
            </a:r>
          </a:p>
          <a:p xmlns:a="http://schemas.openxmlformats.org/drawingml/2006/main">
            <a:r>
              <a:t>Module section: https://docarcshot.github.io/id-practice-update/lectures/Antibiotic_Resistance_and_Resistant_Organisms.html#cheat-sheet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resistance · One-page rounds sheet September 21, 2026 · Teaching companion; faculty/local review pending. See the full module for dosing, evidence, exceptions, and sources. Start with infection Name the syndrome, assess severity, review prior isolates, obtain appropriate cultures, and control the source. A resistant colonizer does not need antibiotics. ESBL and AmpC Invasive ESBL: carbapenem preferred. Invasive moderate-risk AmpC: active, optimized cefepime or a carbapenem when indicated. Do not transfer the cefepime rule from AmpC to ESBL. CRE mechanism KPC: meropenem-vaborbactam, ceftazidime-avibactam, or imipenem-relebactam. NDM: aztreonam-avibactam or cefiderocol. OXA-48-like: ceftazidime-avibactam. Confirm AST. Pseudomonas Use an optimized traditional beta-lactam when appropriate and susceptible. DTR: test the four newer agents. For MBL producers, cefiderocol is preferred if active. CRAB and Stenotrophomonas CRAB: sulbactam-durlobactam plus a carbapenem. Invasive Stenotrophomonas: 2026 guidance favors cefiderocol alone, with limited human comparative evidence. MRSA and VRE MRSA bacteremia: established options include vancomycin or daptomycin; evaluate source and clearance. MRSA pneumonia: no daptomycin. VRE bacteremia: linezolid or optimized high-dose daptomycin based on MIC and patient factors. Exposure and toxicity MICs are not cross-drug rankings. Match SDD to dose. Adjust for changing renal function. TMP-SMX: K+, creatinine, CBC. Linezolid: CBC. Daptomycin: CK. Cefepime: renal function and mental status. Reassess and narrow Repeat AST for recurrence or persistence. Recheck source control and delivered exposure. Resistance alone does not extend duration. Oral transition requires active drug, site exposure, stability, and absorption.</a:t>
            </a:r>
          </a:p>
          <a:p xmlns:a="http://schemas.openxmlformats.org/drawingml/2006/main">
            <a:r>
              <a:t/>
            </a:r>
          </a:p>
          <a:p xmlns:a="http://schemas.openxmlformats.org/drawingml/2006/main">
            <a:r>
              <a:t>Module section: https://docarcshot.github.io/id-practice-update/lectures/Antibiotic_Resistance_and_Resistant_Organisms.html#cheat-sheet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resistance · One-page rounds sheet September 21, 2026 · Teaching companion; faculty/local review pending. See the full module for dosing, evidence, exceptions, and sources. Start with infection Name the syndrome, assess severity, review prior isolates, obtain appropriate cultures, and control the source. A resistant colonizer does not need antibiotics. ESBL and AmpC Invasive ESBL: carbapenem preferred. Invasive moderate-risk AmpC: active, optimized cefepime or a carbapenem when indicated. Do not transfer the cefepime rule from AmpC to ESBL. CRE mechanism KPC: meropenem-vaborbactam, ceftazidime-avibactam, or imipenem-relebactam. NDM: aztreonam-avibactam or cefiderocol. OXA-48-like: ceftazidime-avibactam. Confirm AST. Pseudomonas Use an optimized traditional beta-lactam when appropriate and susceptible. DTR: test the four newer agents. For MBL producers, cefiderocol is preferred if active. CRAB and Stenotrophomonas CRAB: sulbactam-durlobactam plus a carbapenem. Invasive Stenotrophomonas: 2026 guidance favors cefiderocol alone, with limited human comparative evidence. MRSA and VRE MRSA bacteremia: established options include vancomycin or daptomycin; evaluate source and clearance. MRSA pneumonia: no daptomycin. VRE bacteremia: linezolid or optimized high-dose daptomycin based on MIC and patient factors. Exposure and toxicity MICs are not cross-drug rankings. Match SDD to dose. Adjust for changing renal function. TMP-SMX: K+, creatinine, CBC. Linezolid: CBC. Daptomycin: CK. Cefepime: renal function and mental status. Reassess and narrow Repeat AST for recurrence or persistence. Recheck source control and delivered exposure. Resistance alone does not extend duration. Oral transition requires active drug, site exposure, stability, and absorption.</a:t>
            </a:r>
          </a:p>
          <a:p xmlns:a="http://schemas.openxmlformats.org/drawingml/2006/main">
            <a:r>
              <a:t/>
            </a:r>
          </a:p>
          <a:p xmlns:a="http://schemas.openxmlformats.org/drawingml/2006/main">
            <a:r>
              <a:t>Module section: https://docarcshot.github.io/id-practice-update/lectures/Antibiotic_Resistance_and_Resistant_Organisms.html#cheat-sheet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resistance · One-page rounds sheet September 21, 2026 · Teaching companion; faculty/local review pending. See the full module for dosing, evidence, exceptions, and sources. Start with infection Name the syndrome, assess severity, review prior isolates, obtain appropriate cultures, and control the source. A resistant colonizer does not need antibiotics. ESBL and AmpC Invasive ESBL: carbapenem preferred. Invasive moderate-risk AmpC: active, optimized cefepime or a carbapenem when indicated. Do not transfer the cefepime rule from AmpC to ESBL. CRE mechanism KPC: meropenem-vaborbactam, ceftazidime-avibactam, or imipenem-relebactam. NDM: aztreonam-avibactam or cefiderocol. OXA-48-like: ceftazidime-avibactam. Confirm AST. Pseudomonas Use an optimized traditional beta-lactam when appropriate and susceptible. DTR: test the four newer agents. For MBL producers, cefiderocol is preferred if active. CRAB and Stenotrophomonas CRAB: sulbactam-durlobactam plus a carbapenem. Invasive Stenotrophomonas: 2026 guidance favors cefiderocol alone, with limited human comparative evidence. MRSA and VRE MRSA bacteremia: established options include vancomycin or daptomycin; evaluate source and clearance. MRSA pneumonia: no daptomycin. VRE bacteremia: linezolid or optimized high-dose daptomycin based on MIC and patient factors. Exposure and toxicity MICs are not cross-drug rankings. Match SDD to dose. Adjust for changing renal function. TMP-SMX: K+, creatinine, CBC. Linezolid: CBC. Daptomycin: CK. Cefepime: renal function and mental status. Reassess and narrow Repeat AST for recurrence or persistence. Recheck source control and delivered exposure. Resistance alone does not extend duration. Oral transition requires active drug, site exposure, stability, and absorption.</a:t>
            </a:r>
          </a:p>
          <a:p xmlns:a="http://schemas.openxmlformats.org/drawingml/2006/main">
            <a:r>
              <a:t/>
            </a:r>
          </a:p>
          <a:p xmlns:a="http://schemas.openxmlformats.org/drawingml/2006/main">
            <a:r>
              <a:t>Module section: https://docarcshot.github.io/id-practice-update/lectures/Antibiotic_Resistance_and_Resistant_Organisms.html#cheat-sheet</a:t>
            </a:r>
          </a:p>
          <a:p xmlns:a="http://schemas.openxmlformats.org/drawingml/2006/main">
            <a:r>
              <a:t/>
            </a:r>
          </a:p>
          <a:p xmlns:a="http://schemas.openxmlformats.org/drawingml/2006/main">
            <a:r>
              <a:t>Public sources and related reading:</a:t>
            </a:r>
          </a:p>
          <a:p xmlns:a="http://schemas.openxmlformats.org/drawingml/2006/main">
            <a:r>
              <a:t>https://www.idsociety.org/practice-guideline/amr-guidance/</a:t>
            </a:r>
          </a:p>
          <a:p xmlns:a="http://schemas.openxmlformats.org/drawingml/2006/main">
            <a:r>
              <a:t>https://docarcshot.github.io/id-practice-update/lectures/Antibiotics_Practical_Primer_Inpatient_Resident.html#fosfomycin</a:t>
            </a:r>
          </a:p>
          <a:p xmlns:a="http://schemas.openxmlformats.org/drawingml/2006/main">
            <a:r>
              <a:t>https://www.idsociety.org/globalassets/idsa/practice-guidelines/amr-guidance/5.0/table-1.pdf</a:t>
            </a:r>
          </a:p>
          <a:p xmlns:a="http://schemas.openxmlformats.org/drawingml/2006/main">
            <a:r>
              <a:t>https://www.idsociety.org/globalassets/idsa/practice-guidelines/amr-guidance/5.0/table-2.pdf</a:t>
            </a:r>
          </a:p>
          <a:p xmlns:a="http://schemas.openxmlformats.org/drawingml/2006/main">
            <a:r>
              <a:t>https://www.eucast.org/bacteria/clinical-breakpoints-and-interpretation/definition-of-s-i-and-r/</a:t>
            </a:r>
          </a:p>
          <a:p xmlns:a="http://schemas.openxmlformats.org/drawingml/2006/main">
            <a:r>
              <a:t>https://www.idsociety.org/practice-guideline/asymptomatic-bacteriuria/</a:t>
            </a:r>
          </a:p>
          <a:p xmlns:a="http://schemas.openxmlformats.org/drawingml/2006/main">
            <a:r>
              <a:t>https://www.cdc.gov/cre/hcp/infection-control/index.html</a:t>
            </a:r>
          </a:p>
          <a:p xmlns:a="http://schemas.openxmlformats.org/drawingml/2006/main">
            <a:r>
              <a:t>https://www.idsociety.org/practice-guideline/mrsa/</a:t>
            </a:r>
          </a:p>
          <a:p xmlns:a="http://schemas.openxmlformats.org/drawingml/2006/main">
            <a:r>
              <a:t>https://www.idsociety.org/practice-guideline/staphylococcus-aureus-bacteremia/</a:t>
            </a:r>
          </a:p>
          <a:p xmlns:a="http://schemas.openxmlformats.org/drawingml/2006/main">
            <a:r>
              <a:t>https://www.idsociety.org/practice-guideline/vancomycin/</a:t>
            </a:r>
          </a:p>
          <a:p xmlns:a="http://schemas.openxmlformats.org/drawingml/2006/main">
            <a:r>
              <a:t>https://www.rxabbvie.com/pdf/emblaveo_pi.pdf</a:t>
            </a:r>
          </a:p>
          <a:p xmlns:a="http://schemas.openxmlformats.org/drawingml/2006/main">
            <a:r>
              <a:t>https://www.fda.gov/news-events/press-announcements/fda-approves-new-antibiotic-three-different-uses</a:t>
            </a:r>
          </a:p>
          <a:p xmlns:a="http://schemas.openxmlformats.org/drawingml/2006/main">
            <a:r>
              <a:t>https://labeling.pfizer.com/ShowLabeling.aspx?id=649</a:t>
            </a:r>
          </a:p>
          <a:p xmlns:a="http://schemas.openxmlformats.org/drawingml/2006/main">
            <a:r>
              <a:t>https://www.fda.gov/drugs/development-resources/fda-rationale-recognition-decision-daptomycin</a:t>
            </a:r>
          </a:p>
          <a:p xmlns:a="http://schemas.openxmlformats.org/drawingml/2006/main">
            <a:r>
              <a:t>https://www.accessdata.fda.gov/drugsatfda_docs/label/2025/021572s070lbl.pdf</a:t>
            </a:r>
          </a:p>
          <a:p xmlns:a="http://schemas.openxmlformats.org/drawingml/2006/main">
            <a:r>
              <a:t>https://pubmed.ncbi.nlm.nih.gov/30208454/</a:t>
            </a:r>
          </a:p>
          <a:p xmlns:a="http://schemas.openxmlformats.org/drawingml/2006/main">
            <a:r>
              <a:t>https://jamanetwork.com/journals/jama/fullarticle/2796946</a:t>
            </a:r>
          </a:p>
          <a:p xmlns:a="http://schemas.openxmlformats.org/drawingml/2006/main">
            <a:r>
              <a:t>https://doi.org/10.1016/S1473-3099(23)00184-6</a:t>
            </a:r>
          </a:p>
          <a:p xmlns:a="http://schemas.openxmlformats.org/drawingml/2006/main">
            <a:r>
              <a:t>https://academic.oup.com/cid/article/64/5/605/2733099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d73b977dd042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851bf82dea4b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57e8665e6240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2f0d210dad41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605ce75a764b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4af6ecbc5f43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D6CD07-5A46-48E5-AB2B-DC23BA5D278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0402AA-F628-4AF4-B73A-4895D4E7F2D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BDAC2A-411A-42DD-8C7B-BF0B465326A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D0A811-880E-426F-829D-73375BEE13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8BA701-08D5-4FEE-8815-DED6E181178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BC4D56-39D0-4EE9-BD7A-2F799E0461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D4F046-C724-4E0A-8EE3-1327B63DAC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707669-67B7-4DF2-B9F8-8B204543B49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114BF5-DBEC-471D-9AEB-BF3258D6A3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E1068E-7C91-448F-8056-BDD9FADE19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85de233d064b1d" /><Relationship Type="http://schemas.openxmlformats.org/officeDocument/2006/relationships/slideLayout" Target="/ppt/slideLayouts/slideLayout1.xml" Id="R9d436c6f9d6d48ab" /><Relationship Type="http://schemas.openxmlformats.org/officeDocument/2006/relationships/slideLayout" Target="/ppt/slideLayouts/slideLayout2.xml" Id="Rf2e8f9b5bd6c494d" /><Relationship Type="http://schemas.openxmlformats.org/officeDocument/2006/relationships/slideLayout" Target="/ppt/slideLayouts/slideLayout3.xml" Id="Ra03b6ce9ed7b49a9" /><Relationship Type="http://schemas.openxmlformats.org/officeDocument/2006/relationships/slideLayout" Target="/ppt/slideLayouts/slideLayout4.xml" Id="Ra23989bd3f1a4367" /><Relationship Type="http://schemas.openxmlformats.org/officeDocument/2006/relationships/slideLayout" Target="/ppt/slideLayouts/slideLayout5.xml" Id="Rd3c9b3a31b274fc1" /><Relationship Type="http://schemas.openxmlformats.org/officeDocument/2006/relationships/slideLayout" Target="/ppt/slideLayouts/slideLayout6.xml" Id="Rca4522a1c62b49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436c6f9d6d48ab"/>
    <p:sldLayoutId xmlns:r="http://schemas.openxmlformats.org/officeDocument/2006/relationships" id="2147483650" r:id="Rf2e8f9b5bd6c494d"/>
    <p:sldLayoutId xmlns:r="http://schemas.openxmlformats.org/officeDocument/2006/relationships" id="2147483651" r:id="Ra03b6ce9ed7b49a9"/>
    <p:sldLayoutId xmlns:r="http://schemas.openxmlformats.org/officeDocument/2006/relationships" id="2147483652" r:id="Ra23989bd3f1a4367"/>
    <p:sldLayoutId xmlns:r="http://schemas.openxmlformats.org/officeDocument/2006/relationships" id="2147483653" r:id="Rd3c9b3a31b274fc1"/>
    <p:sldLayoutId xmlns:r="http://schemas.openxmlformats.org/officeDocument/2006/relationships" id="2147483654" r:id="Rca4522a1c62b49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9374fb8803493d" /><Relationship Type="http://schemas.openxmlformats.org/officeDocument/2006/relationships/notesSlide" Target="/ppt/notesSlides/notesSlide1.xml" Id="Rdf9e87f5d33046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6514ea483344c41" /><Relationship Type="http://schemas.openxmlformats.org/officeDocument/2006/relationships/notesSlide" Target="/ppt/notesSlides/notesSlide2.xml" Id="R4ac22b364e5e42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7c2e267fc54191" /><Relationship Type="http://schemas.openxmlformats.org/officeDocument/2006/relationships/notesSlide" Target="/ppt/notesSlides/notesSlide3.xml" Id="R4971de9e9cd64e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0ba46a18edb43f5" /><Relationship Type="http://schemas.openxmlformats.org/officeDocument/2006/relationships/notesSlide" Target="/ppt/notesSlides/notesSlide4.xml" Id="R1bf2fee69e7c46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37a3e66c8b42cd" /><Relationship Type="http://schemas.openxmlformats.org/officeDocument/2006/relationships/notesSlide" Target="/ppt/notesSlides/notesSlide5.xml" Id="R6b64a5b020a648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ef99f6c382487c" /><Relationship Type="http://schemas.openxmlformats.org/officeDocument/2006/relationships/notesSlide" Target="/ppt/notesSlides/notesSlide6.xml" Id="R05580b7df04b4b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c42045f606948f5" /><Relationship Type="http://schemas.openxmlformats.org/officeDocument/2006/relationships/notesSlide" Target="/ppt/notesSlides/notesSlide7.xml" Id="R249c2e9c70c84a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d91ca2992f44e9" /><Relationship Type="http://schemas.openxmlformats.org/officeDocument/2006/relationships/notesSlide" Target="/ppt/notesSlides/notesSlide8.xml" Id="R86ac6aab2ae54d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c8705062754d8a" /><Relationship Type="http://schemas.openxmlformats.org/officeDocument/2006/relationships/notesSlide" Target="/ppt/notesSlides/notesSlide9.xml" Id="R6f824783b66b48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03b513e34e1401c" /><Relationship Type="http://schemas.openxmlformats.org/officeDocument/2006/relationships/notesSlide" Target="/ppt/notesSlides/notesSlide10.xml" Id="R7c7962ac116a47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f299a86fbd24a48" /><Relationship Type="http://schemas.openxmlformats.org/officeDocument/2006/relationships/notesSlide" Target="/ppt/notesSlides/notesSlide11.xml" Id="Rc2b0c668d17e49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65bd205cece4229" /><Relationship Type="http://schemas.openxmlformats.org/officeDocument/2006/relationships/notesSlide" Target="/ppt/notesSlides/notesSlide12.xml" Id="Rb9b83969a38c4c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b1d6824bfd1495d" /><Relationship Type="http://schemas.openxmlformats.org/officeDocument/2006/relationships/notesSlide" Target="/ppt/notesSlides/notesSlide13.xml" Id="R80e0379003c34a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c50eee234cc4a05" /><Relationship Type="http://schemas.openxmlformats.org/officeDocument/2006/relationships/notesSlide" Target="/ppt/notesSlides/notesSlide14.xml" Id="R4bdf1a7145b24a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29c34e9f0ea4972" /><Relationship Type="http://schemas.openxmlformats.org/officeDocument/2006/relationships/notesSlide" Target="/ppt/notesSlides/notesSlide15.xml" Id="R66706205eb0f4b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52946188e204e89" /><Relationship Type="http://schemas.openxmlformats.org/officeDocument/2006/relationships/notesSlide" Target="/ppt/notesSlides/notesSlide16.xml" Id="Re9acc78ec9774e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381b9311ee84e16" /><Relationship Type="http://schemas.openxmlformats.org/officeDocument/2006/relationships/notesSlide" Target="/ppt/notesSlides/notesSlide17.xml" Id="R5fa288f909c945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f251626893d436c" /><Relationship Type="http://schemas.openxmlformats.org/officeDocument/2006/relationships/notesSlide" Target="/ppt/notesSlides/notesSlide18.xml" Id="Rc677fd60ace64ea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5d20ade663447ba" /><Relationship Type="http://schemas.openxmlformats.org/officeDocument/2006/relationships/notesSlide" Target="/ppt/notesSlides/notesSlide19.xml" Id="Reff314d425a44bb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ab68039aa5d4dad" /><Relationship Type="http://schemas.openxmlformats.org/officeDocument/2006/relationships/notesSlide" Target="/ppt/notesSlides/notesSlide20.xml" Id="R1556cea6171345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e9faa6e1afb41fc" /><Relationship Type="http://schemas.openxmlformats.org/officeDocument/2006/relationships/notesSlide" Target="/ppt/notesSlides/notesSlide21.xml" Id="Rdac74a572dd9478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804abf71d154583" /><Relationship Type="http://schemas.openxmlformats.org/officeDocument/2006/relationships/notesSlide" Target="/ppt/notesSlides/notesSlide22.xml" Id="Rcd295e77a7974bf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541e2c3eb084fa0" /><Relationship Type="http://schemas.openxmlformats.org/officeDocument/2006/relationships/notesSlide" Target="/ppt/notesSlides/notesSlide23.xml" Id="Rb482c339af3a42f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23e814fa8fa422a" /><Relationship Type="http://schemas.openxmlformats.org/officeDocument/2006/relationships/notesSlide" Target="/ppt/notesSlides/notesSlide24.xml" Id="R2ebdd2f54dff48d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97b5c6d989a4d7b" /><Relationship Type="http://schemas.openxmlformats.org/officeDocument/2006/relationships/notesSlide" Target="/ppt/notesSlides/notesSlide25.xml" Id="R77d15fe3d68c406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4657d8fa0d247d2" /><Relationship Type="http://schemas.openxmlformats.org/officeDocument/2006/relationships/notesSlide" Target="/ppt/notesSlides/notesSlide26.xml" Id="Rbf5f05543d804c1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62aad5961e94318" /><Relationship Type="http://schemas.openxmlformats.org/officeDocument/2006/relationships/notesSlide" Target="/ppt/notesSlides/notesSlide27.xml" Id="R57176c51500447e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a3c6a6ae1b14b0f" /><Relationship Type="http://schemas.openxmlformats.org/officeDocument/2006/relationships/notesSlide" Target="/ppt/notesSlides/notesSlide28.xml" Id="Ra13e3476d7d94cb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0d9600d5ab04b96" /><Relationship Type="http://schemas.openxmlformats.org/officeDocument/2006/relationships/notesSlide" Target="/ppt/notesSlides/notesSlide29.xml" Id="R69b5bf033f1b43a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3d4f562025541d0" /><Relationship Type="http://schemas.openxmlformats.org/officeDocument/2006/relationships/notesSlide" Target="/ppt/notesSlides/notesSlide30.xml" Id="R7cccc153905a470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6ee168903d84d7e" /><Relationship Type="http://schemas.openxmlformats.org/officeDocument/2006/relationships/notesSlide" Target="/ppt/notesSlides/notesSlide31.xml" Id="R0217ef7286ac4cb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88f4eb3fa6d4850" /><Relationship Type="http://schemas.openxmlformats.org/officeDocument/2006/relationships/notesSlide" Target="/ppt/notesSlides/notesSlide32.xml" Id="R07933eb7efbe42e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d194ca2147e4d8b" /><Relationship Type="http://schemas.openxmlformats.org/officeDocument/2006/relationships/notesSlide" Target="/ppt/notesSlides/notesSlide33.xml" Id="R7136b0d2122f4f2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1da727ea5ee4b8a" /><Relationship Type="http://schemas.openxmlformats.org/officeDocument/2006/relationships/notesSlide" Target="/ppt/notesSlides/notesSlide34.xml" Id="Rd6d4bb62a1974ca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1f86e52f2004af1" /><Relationship Type="http://schemas.openxmlformats.org/officeDocument/2006/relationships/notesSlide" Target="/ppt/notesSlides/notesSlide35.xml" Id="R2b98b521fc09451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018e3ea431f4c9d" /><Relationship Type="http://schemas.openxmlformats.org/officeDocument/2006/relationships/notesSlide" Target="/ppt/notesSlides/notesSlide36.xml" Id="Rb89aac73a5e64d4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bdec0740fe748ae" /><Relationship Type="http://schemas.openxmlformats.org/officeDocument/2006/relationships/notesSlide" Target="/ppt/notesSlides/notesSlide37.xml" Id="R1de3a01fb28d4e2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d39a1621c554d48" /><Relationship Type="http://schemas.openxmlformats.org/officeDocument/2006/relationships/notesSlide" Target="/ppt/notesSlides/notesSlide38.xml" Id="R606e98282212488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9e35b3fc0144c7f" /><Relationship Type="http://schemas.openxmlformats.org/officeDocument/2006/relationships/notesSlide" Target="/ppt/notesSlides/notesSlide39.xml" Id="R7c5696b58c714e5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23c48297f4b4ed6" /><Relationship Type="http://schemas.openxmlformats.org/officeDocument/2006/relationships/notesSlide" Target="/ppt/notesSlides/notesSlide40.xml" Id="R2f51f3f54f56400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13cf6e14fa824701" /><Relationship Type="http://schemas.openxmlformats.org/officeDocument/2006/relationships/notesSlide" Target="/ppt/notesSlides/notesSlide41.xml" Id="R76188e3acebb408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2d202574b5e443c" /><Relationship Type="http://schemas.openxmlformats.org/officeDocument/2006/relationships/notesSlide" Target="/ppt/notesSlides/notesSlide42.xml" Id="Rdbbdc95cefe24f7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5d3c414c3dd48fa" /><Relationship Type="http://schemas.openxmlformats.org/officeDocument/2006/relationships/notesSlide" Target="/ppt/notesSlides/notesSlide43.xml" Id="Radfe1ccd31e84b4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9999a88048d4c20" /><Relationship Type="http://schemas.openxmlformats.org/officeDocument/2006/relationships/notesSlide" Target="/ppt/notesSlides/notesSlide44.xml" Id="Rcae773db422b4ee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1c0deb82c1394ac7" /><Relationship Type="http://schemas.openxmlformats.org/officeDocument/2006/relationships/notesSlide" Target="/ppt/notesSlides/notesSlide45.xml" Id="R2dddf169d3cc431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89e232dbf06444c1" /><Relationship Type="http://schemas.openxmlformats.org/officeDocument/2006/relationships/notesSlide" Target="/ppt/notesSlides/notesSlide46.xml" Id="Ree0170939351423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9d6385ba0a6d4b72" /><Relationship Type="http://schemas.openxmlformats.org/officeDocument/2006/relationships/notesSlide" Target="/ppt/notesSlides/notesSlide47.xml" Id="R88340da9569546d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673736b215e4a46" /><Relationship Type="http://schemas.openxmlformats.org/officeDocument/2006/relationships/notesSlide" Target="/ppt/notesSlides/notesSlide48.xml" Id="R8093bfd75504467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e457d00f2ee74ead" /><Relationship Type="http://schemas.openxmlformats.org/officeDocument/2006/relationships/notesSlide" Target="/ppt/notesSlides/notesSlide49.xml" Id="Rbca2f766f3d6449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d5a3382e8fc44b5" /><Relationship Type="http://schemas.openxmlformats.org/officeDocument/2006/relationships/notesSlide" Target="/ppt/notesSlides/notesSlide50.xml" Id="Rb7ae247534084f2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262a907096914793" /><Relationship Type="http://schemas.openxmlformats.org/officeDocument/2006/relationships/notesSlide" Target="/ppt/notesSlides/notesSlide51.xml" Id="Rf162734b7d9647b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ed66d64f90914cd4" /><Relationship Type="http://schemas.openxmlformats.org/officeDocument/2006/relationships/notesSlide" Target="/ppt/notesSlides/notesSlide52.xml" Id="Rb94c85a69f0d47b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e04e4f60fcc74380" /><Relationship Type="http://schemas.openxmlformats.org/officeDocument/2006/relationships/notesSlide" Target="/ppt/notesSlides/notesSlide53.xml" Id="Rf186bbac800447d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b4aefcd4598948d7" /><Relationship Type="http://schemas.openxmlformats.org/officeDocument/2006/relationships/notesSlide" Target="/ppt/notesSlides/notesSlide54.xml" Id="R03f9781929164fd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90de6918f9bf4649" /><Relationship Type="http://schemas.openxmlformats.org/officeDocument/2006/relationships/notesSlide" Target="/ppt/notesSlides/notesSlide55.xml" Id="R80da1a1eabf443a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79a149e062974b2a" /><Relationship Type="http://schemas.openxmlformats.org/officeDocument/2006/relationships/notesSlide" Target="/ppt/notesSlides/notesSlide56.xml" Id="R2415b9dbcac3445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f043cc02447b42a6" /><Relationship Type="http://schemas.openxmlformats.org/officeDocument/2006/relationships/notesSlide" Target="/ppt/notesSlides/notesSlide57.xml" Id="Reffe6ff0d52c493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2205cd66d60345a1" /><Relationship Type="http://schemas.openxmlformats.org/officeDocument/2006/relationships/notesSlide" Target="/ppt/notesSlides/notesSlide58.xml" Id="Rb767403718ca42f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b63ad442680f4918" /><Relationship Type="http://schemas.openxmlformats.org/officeDocument/2006/relationships/notesSlide" Target="/ppt/notesSlides/notesSlide59.xml" Id="Re903cb0df5434d7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30d42596c8d4447f" /><Relationship Type="http://schemas.openxmlformats.org/officeDocument/2006/relationships/notesSlide" Target="/ppt/notesSlides/notesSlide60.xml" Id="R998d2589826e485c"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88088797d9544632" /><Relationship Type="http://schemas.openxmlformats.org/officeDocument/2006/relationships/notesSlide" Target="/ppt/notesSlides/notesSlide61.xml" Id="R46d35bfaf0ad477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ce611d625e90489e" /><Relationship Type="http://schemas.openxmlformats.org/officeDocument/2006/relationships/notesSlide" Target="/ppt/notesSlides/notesSlide62.xml" Id="R200fe01e3bd3493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940bf221400745a1" /><Relationship Type="http://schemas.openxmlformats.org/officeDocument/2006/relationships/notesSlide" Target="/ppt/notesSlides/notesSlide63.xml" Id="R8c3fcbed0b05448d"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99e1992260c94116" /><Relationship Type="http://schemas.openxmlformats.org/officeDocument/2006/relationships/notesSlide" Target="/ppt/notesSlides/notesSlide64.xml" Id="Rd45f4234dd714d15"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f8530b84f9204235" /><Relationship Type="http://schemas.openxmlformats.org/officeDocument/2006/relationships/notesSlide" Target="/ppt/notesSlides/notesSlide65.xml" Id="R65ebbf5526014ec9"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69c5b2bf2b164afc" /><Relationship Type="http://schemas.openxmlformats.org/officeDocument/2006/relationships/notesSlide" Target="/ppt/notesSlides/notesSlide66.xml" Id="Ra9527459441c496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9187abc7907a4c4a" /><Relationship Type="http://schemas.openxmlformats.org/officeDocument/2006/relationships/notesSlide" Target="/ppt/notesSlides/notesSlide67.xml" Id="Rd66a0b435fc44ec2"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32ff6a8eb05e4585" /><Relationship Type="http://schemas.openxmlformats.org/officeDocument/2006/relationships/notesSlide" Target="/ppt/notesSlides/notesSlide68.xml" Id="R225ce1c159be471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88598cf387c54cdf" /><Relationship Type="http://schemas.openxmlformats.org/officeDocument/2006/relationships/notesSlide" Target="/ppt/notesSlides/notesSlide69.xml" Id="Rf62ec497462247a7"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aa001baf65334071" /><Relationship Type="http://schemas.openxmlformats.org/officeDocument/2006/relationships/notesSlide" Target="/ppt/notesSlides/notesSlide70.xml" Id="Rc64dc357ad0545b7"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830c4e002b394fe0" /><Relationship Type="http://schemas.openxmlformats.org/officeDocument/2006/relationships/notesSlide" Target="/ppt/notesSlides/notesSlide71.xml" Id="Rf5e723c62fb848ac"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8c70d64bfb5a4c2c" /><Relationship Type="http://schemas.openxmlformats.org/officeDocument/2006/relationships/notesSlide" Target="/ppt/notesSlides/notesSlide72.xml" Id="R34631c42aaca4766"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fd3f1f310f5e42db" /><Relationship Type="http://schemas.openxmlformats.org/officeDocument/2006/relationships/notesSlide" Target="/ppt/notesSlides/notesSlide73.xml" Id="R3d78b3d955094712"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da8b41012c0d4a6c" /><Relationship Type="http://schemas.openxmlformats.org/officeDocument/2006/relationships/notesSlide" Target="/ppt/notesSlides/notesSlide74.xml" Id="R7588561ae4f0493c"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ffd5eac53ff44f18" /><Relationship Type="http://schemas.openxmlformats.org/officeDocument/2006/relationships/notesSlide" Target="/ppt/notesSlides/notesSlide75.xml" Id="R42bd0aadb1c44c02"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9b451ce407174426" /><Relationship Type="http://schemas.openxmlformats.org/officeDocument/2006/relationships/notesSlide" Target="/ppt/notesSlides/notesSlide76.xml" Id="R0574fb905d454cda"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de01f7c2bc224a92" /><Relationship Type="http://schemas.openxmlformats.org/officeDocument/2006/relationships/notesSlide" Target="/ppt/notesSlides/notesSlide77.xml" Id="R35d85e56b859422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52d8765547704228" /><Relationship Type="http://schemas.openxmlformats.org/officeDocument/2006/relationships/notesSlide" Target="/ppt/notesSlides/notesSlide78.xml" Id="R682ba861fbd048ba"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2992f3229f95494b" /><Relationship Type="http://schemas.openxmlformats.org/officeDocument/2006/relationships/notesSlide" Target="/ppt/notesSlides/notesSlide79.xml" Id="R3bee68e9ad3c446b"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f899684f5d6f4438" /><Relationship Type="http://schemas.openxmlformats.org/officeDocument/2006/relationships/notesSlide" Target="/ppt/notesSlides/notesSlide80.xml" Id="R88e17a3ad44746f7"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710543c6293046d8" /><Relationship Type="http://schemas.openxmlformats.org/officeDocument/2006/relationships/notesSlide" Target="/ppt/notesSlides/notesSlide81.xml" Id="R844d9b9ed10c4fed"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e335a86434564941" /><Relationship Type="http://schemas.openxmlformats.org/officeDocument/2006/relationships/notesSlide" Target="/ppt/notesSlides/notesSlide82.xml" Id="R51d6ce6c39964471"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63691e41707644cb" /><Relationship Type="http://schemas.openxmlformats.org/officeDocument/2006/relationships/notesSlide" Target="/ppt/notesSlides/notesSlide83.xml" Id="R576af9a417cd4f9d"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ac51911dc4f846ff" /><Relationship Type="http://schemas.openxmlformats.org/officeDocument/2006/relationships/notesSlide" Target="/ppt/notesSlides/notesSlide84.xml" Id="Rfbc6b52b54214799"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e2670310e7974bea" /><Relationship Type="http://schemas.openxmlformats.org/officeDocument/2006/relationships/notesSlide" Target="/ppt/notesSlides/notesSlide85.xml" Id="Rd060c34561a243f5"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b0bc54b5512e4b0b" /><Relationship Type="http://schemas.openxmlformats.org/officeDocument/2006/relationships/notesSlide" Target="/ppt/notesSlides/notesSlide86.xml" Id="R0ae32e78767d4b72"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130219b79fbf40c6" /><Relationship Type="http://schemas.openxmlformats.org/officeDocument/2006/relationships/notesSlide" Target="/ppt/notesSlides/notesSlide87.xml" Id="R5a67f4f6a5c54170"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b61697c0eeeb4d62" /><Relationship Type="http://schemas.openxmlformats.org/officeDocument/2006/relationships/notesSlide" Target="/ppt/notesSlides/notesSlide88.xml" Id="Ra41dc10bbd9e4c41"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af298f44676441db" /><Relationship Type="http://schemas.openxmlformats.org/officeDocument/2006/relationships/notesSlide" Target="/ppt/notesSlides/notesSlide89.xml" Id="R001d05d0ddbf4271"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16fe608936084ba8" /><Relationship Type="http://schemas.openxmlformats.org/officeDocument/2006/relationships/notesSlide" Target="/ppt/notesSlides/notesSlide90.xml" Id="Rcfc3e5c9e7494c60"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2072083ccbdc43f5" /><Relationship Type="http://schemas.openxmlformats.org/officeDocument/2006/relationships/notesSlide" Target="/ppt/notesSlides/notesSlide91.xml" Id="R1e34c4a804db4635"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d0a794640c234691" /><Relationship Type="http://schemas.openxmlformats.org/officeDocument/2006/relationships/notesSlide" Target="/ppt/notesSlides/notesSlide92.xml" Id="Rec3c98ed28f345c0"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912e46c288684419" /><Relationship Type="http://schemas.openxmlformats.org/officeDocument/2006/relationships/notesSlide" Target="/ppt/notesSlides/notesSlide93.xml" Id="Rab76d518369a4d0e"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f93852256f444938" /><Relationship Type="http://schemas.openxmlformats.org/officeDocument/2006/relationships/notesSlide" Target="/ppt/notesSlides/notesSlide94.xml" Id="R2492fecea94c4522"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3e4fed88326b4966" /><Relationship Type="http://schemas.openxmlformats.org/officeDocument/2006/relationships/notesSlide" Target="/ppt/notesSlides/notesSlide95.xml" Id="Rbe120102ebd14bbe"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32f89abf0a464e61" /><Relationship Type="http://schemas.openxmlformats.org/officeDocument/2006/relationships/notesSlide" Target="/ppt/notesSlides/notesSlide96.xml" Id="R6f11f15566874aa1"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6ea12f964d2948f9" /><Relationship Type="http://schemas.openxmlformats.org/officeDocument/2006/relationships/notesSlide" Target="/ppt/notesSlides/notesSlide97.xml" Id="R32ee242a56a047c8"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601373c0ee984740" /><Relationship Type="http://schemas.openxmlformats.org/officeDocument/2006/relationships/notesSlide" Target="/ppt/notesSlides/notesSlide98.xml" Id="Rb995039c5fc64065"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904318c5b0f546e2" /><Relationship Type="http://schemas.openxmlformats.org/officeDocument/2006/relationships/notesSlide" Target="/ppt/notesSlides/notesSlide99.xml" Id="Rb66346f5991b4844"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b768086d9e6b4f64" /><Relationship Type="http://schemas.openxmlformats.org/officeDocument/2006/relationships/notesSlide" Target="/ppt/notesSlides/notesSlide100.xml" Id="R3d4deb8badc04d6f"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435d25bf15ee4c97" /><Relationship Type="http://schemas.openxmlformats.org/officeDocument/2006/relationships/notesSlide" Target="/ppt/notesSlides/notesSlide101.xml" Id="R66a09bbe0e904fca"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36f103d0af9a46ee" /><Relationship Type="http://schemas.openxmlformats.org/officeDocument/2006/relationships/notesSlide" Target="/ppt/notesSlides/notesSlide102.xml" Id="Rc3d8342e28b84df8"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c1a3e9b732ea4e8b" /><Relationship Type="http://schemas.openxmlformats.org/officeDocument/2006/relationships/notesSlide" Target="/ppt/notesSlides/notesSlide103.xml" Id="R5b6f28ffec2146c8"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670ecc426afd4e18" /><Relationship Type="http://schemas.openxmlformats.org/officeDocument/2006/relationships/notesSlide" Target="/ppt/notesSlides/notesSlide104.xml" Id="Re878cd5311fe4e48"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a79abf5a537e43fc" /><Relationship Type="http://schemas.openxmlformats.org/officeDocument/2006/relationships/notesSlide" Target="/ppt/notesSlides/notesSlide105.xml" Id="Rbaa999c6d9b541fb"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0c37265d859a4a47" /><Relationship Type="http://schemas.openxmlformats.org/officeDocument/2006/relationships/notesSlide" Target="/ppt/notesSlides/notesSlide106.xml" Id="R06dd387458734a09"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c07f3dd226a6433d" /><Relationship Type="http://schemas.openxmlformats.org/officeDocument/2006/relationships/notesSlide" Target="/ppt/notesSlides/notesSlide107.xml" Id="R354eb46c33034553"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bacdd518e60a4c17" /><Relationship Type="http://schemas.openxmlformats.org/officeDocument/2006/relationships/notesSlide" Target="/ppt/notesSlides/notesSlide108.xml" Id="Rf39b4e159c464cf2"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9e826b6ceb4d42e4" /><Relationship Type="http://schemas.openxmlformats.org/officeDocument/2006/relationships/notesSlide" Target="/ppt/notesSlides/notesSlide109.xml" Id="Read9eee3e1e84f97"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a3370bfccd2942e5" /><Relationship Type="http://schemas.openxmlformats.org/officeDocument/2006/relationships/notesSlide" Target="/ppt/notesSlides/notesSlide110.xml" Id="Rf94584fbd9ec49b0"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9444c0599a834279" /><Relationship Type="http://schemas.openxmlformats.org/officeDocument/2006/relationships/notesSlide" Target="/ppt/notesSlides/notesSlide111.xml" Id="R07dc6078d20b4985"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cc8de671819841ed" /><Relationship Type="http://schemas.openxmlformats.org/officeDocument/2006/relationships/notesSlide" Target="/ppt/notesSlides/notesSlide112.xml" Id="R5e607bbccf67444f"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62be53e1d2bc4710" /><Relationship Type="http://schemas.openxmlformats.org/officeDocument/2006/relationships/notesSlide" Target="/ppt/notesSlides/notesSlide113.xml" Id="R99fd17b8b81444e1"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9223d791a2f64e45" /><Relationship Type="http://schemas.openxmlformats.org/officeDocument/2006/relationships/notesSlide" Target="/ppt/notesSlides/notesSlide114.xml" Id="R7186052be46b4a1f"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722ad8ad231748d7" /><Relationship Type="http://schemas.openxmlformats.org/officeDocument/2006/relationships/notesSlide" Target="/ppt/notesSlides/notesSlide115.xml" Id="Rf7a658d4c3cd420a"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1224f8613da940fa" /><Relationship Type="http://schemas.openxmlformats.org/officeDocument/2006/relationships/notesSlide" Target="/ppt/notesSlides/notesSlide116.xml" Id="R7c48333d786a4257"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763f22bad3704183" /><Relationship Type="http://schemas.openxmlformats.org/officeDocument/2006/relationships/notesSlide" Target="/ppt/notesSlides/notesSlide117.xml" Id="R2708828ad3464ef4"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f548fb1d49de445f" /><Relationship Type="http://schemas.openxmlformats.org/officeDocument/2006/relationships/notesSlide" Target="/ppt/notesSlides/notesSlide118.xml" Id="R71866e285378409c"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ee0a13f678cd47ed" /><Relationship Type="http://schemas.openxmlformats.org/officeDocument/2006/relationships/notesSlide" Target="/ppt/notesSlides/notesSlide119.xml" Id="R8c9268ef78f24f94"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11bdcc9226b84f68" /><Relationship Type="http://schemas.openxmlformats.org/officeDocument/2006/relationships/notesSlide" Target="/ppt/notesSlides/notesSlide120.xml" Id="Ra29281694fd14802"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16366bcf87f848a4" /><Relationship Type="http://schemas.openxmlformats.org/officeDocument/2006/relationships/notesSlide" Target="/ppt/notesSlides/notesSlide121.xml" Id="R078624bb8438445d"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2e45d9468e6f4a28" /><Relationship Type="http://schemas.openxmlformats.org/officeDocument/2006/relationships/notesSlide" Target="/ppt/notesSlides/notesSlide122.xml" Id="Rdfd4fe176d314c99"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d9d7576eef6c4c43" /><Relationship Type="http://schemas.openxmlformats.org/officeDocument/2006/relationships/notesSlide" Target="/ppt/notesSlides/notesSlide123.xml" Id="Rca1894e1574547e3"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08851f9d3bd141ca" /><Relationship Type="http://schemas.openxmlformats.org/officeDocument/2006/relationships/notesSlide" Target="/ppt/notesSlides/notesSlide124.xml" Id="Re00abb656c554009"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97c4e5d070104411" /><Relationship Type="http://schemas.openxmlformats.org/officeDocument/2006/relationships/notesSlide" Target="/ppt/notesSlides/notesSlide125.xml" Id="R3f5653d6d0264739"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198dc97e6c4e4fc8" /><Relationship Type="http://schemas.openxmlformats.org/officeDocument/2006/relationships/notesSlide" Target="/ppt/notesSlides/notesSlide126.xml" Id="R8abbbde646804e87"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e48c60ba640840b5" /><Relationship Type="http://schemas.openxmlformats.org/officeDocument/2006/relationships/notesSlide" Target="/ppt/notesSlides/notesSlide127.xml" Id="R7d0c5b11672c4c87"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7c37426bcb684ac2" /><Relationship Type="http://schemas.openxmlformats.org/officeDocument/2006/relationships/notesSlide" Target="/ppt/notesSlides/notesSlide128.xml" Id="Rafbff3627a964c09"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68a0f646a7e34a7a" /><Relationship Type="http://schemas.openxmlformats.org/officeDocument/2006/relationships/notesSlide" Target="/ppt/notesSlides/notesSlide129.xml" Id="R2a73b8f68ffe493f"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35a921d780ae4f68" /><Relationship Type="http://schemas.openxmlformats.org/officeDocument/2006/relationships/notesSlide" Target="/ppt/notesSlides/notesSlide130.xml" Id="R4b7f889d6a314ac8"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63339a3e67414167" /><Relationship Type="http://schemas.openxmlformats.org/officeDocument/2006/relationships/notesSlide" Target="/ppt/notesSlides/notesSlide131.xml" Id="R3dc283f34c964f4c"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e09b6da9abe742f7" /><Relationship Type="http://schemas.openxmlformats.org/officeDocument/2006/relationships/notesSlide" Target="/ppt/notesSlides/notesSlide132.xml" Id="R76c73db454a34313"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075ec95c62df4a14" /><Relationship Type="http://schemas.openxmlformats.org/officeDocument/2006/relationships/notesSlide" Target="/ppt/notesSlides/notesSlide133.xml" Id="R058b78bf7d9b461e"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62e5818403d34d00" /><Relationship Type="http://schemas.openxmlformats.org/officeDocument/2006/relationships/notesSlide" Target="/ppt/notesSlides/notesSlide134.xml" Id="R0c0eb917ed484e7a"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66192374f2964449" /><Relationship Type="http://schemas.openxmlformats.org/officeDocument/2006/relationships/notesSlide" Target="/ppt/notesSlides/notesSlide135.xml" Id="R789490a478a84039"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e0b13c9ef2e54262" /><Relationship Type="http://schemas.openxmlformats.org/officeDocument/2006/relationships/notesSlide" Target="/ppt/notesSlides/notesSlide136.xml" Id="R19136a5967f94c24"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bab5119063ce45e5" /><Relationship Type="http://schemas.openxmlformats.org/officeDocument/2006/relationships/notesSlide" Target="/ppt/notesSlides/notesSlide137.xml" Id="R15027de966044318"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e0523fcdd6024704" /><Relationship Type="http://schemas.openxmlformats.org/officeDocument/2006/relationships/notesSlide" Target="/ppt/notesSlides/notesSlide138.xml" Id="R2f4cffe6740d4f27"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33b8792ee8c3418c" /><Relationship Type="http://schemas.openxmlformats.org/officeDocument/2006/relationships/notesSlide" Target="/ppt/notesSlides/notesSlide139.xml" Id="R8bf330cf107848a5"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8b954bcdc7974280" /><Relationship Type="http://schemas.openxmlformats.org/officeDocument/2006/relationships/notesSlide" Target="/ppt/notesSlides/notesSlide140.xml" Id="R38da1731ed8c4c57"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da60bf6e2d9b411f" /><Relationship Type="http://schemas.openxmlformats.org/officeDocument/2006/relationships/notesSlide" Target="/ppt/notesSlides/notesSlide141.xml" Id="R4b9762ee3a3e43d0"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2c6a95f318d54ebd" /><Relationship Type="http://schemas.openxmlformats.org/officeDocument/2006/relationships/notesSlide" Target="/ppt/notesSlides/notesSlide142.xml" Id="R7fe4341a9d8344ed"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b7eacae1440646e9" /><Relationship Type="http://schemas.openxmlformats.org/officeDocument/2006/relationships/notesSlide" Target="/ppt/notesSlides/notesSlide143.xml" Id="R9d6f250bccd44926"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be86d2a1f0814fda" /><Relationship Type="http://schemas.openxmlformats.org/officeDocument/2006/relationships/notesSlide" Target="/ppt/notesSlides/notesSlide144.xml" Id="R442202f97a9a48ff"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6fec7f6242e449f7" /><Relationship Type="http://schemas.openxmlformats.org/officeDocument/2006/relationships/notesSlide" Target="/ppt/notesSlides/notesSlide145.xml" Id="R70db7d7c121847cb"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7977f72417bc4f3a" /><Relationship Type="http://schemas.openxmlformats.org/officeDocument/2006/relationships/notesSlide" Target="/ppt/notesSlides/notesSlide146.xml" Id="R5a3295af8b5343db"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286c46dd372447b3" /><Relationship Type="http://schemas.openxmlformats.org/officeDocument/2006/relationships/notesSlide" Target="/ppt/notesSlides/notesSlide147.xml" Id="Rf3e58736e59c46e5"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94b1be50a26b4632" /><Relationship Type="http://schemas.openxmlformats.org/officeDocument/2006/relationships/notesSlide" Target="/ppt/notesSlides/notesSlide148.xml" Id="R7cc2e603e4354e64"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0ddfed6584dc425a" /><Relationship Type="http://schemas.openxmlformats.org/officeDocument/2006/relationships/notesSlide" Target="/ppt/notesSlides/notesSlide149.xml" Id="Rfcfb11890c0e421f"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02aa04acb0234951" /><Relationship Type="http://schemas.openxmlformats.org/officeDocument/2006/relationships/notesSlide" Target="/ppt/notesSlides/notesSlide150.xml" Id="Rb4b036b914fa4ad5"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e7ebd29e59b64676" /><Relationship Type="http://schemas.openxmlformats.org/officeDocument/2006/relationships/notesSlide" Target="/ppt/notesSlides/notesSlide151.xml" Id="Ra1d2571b4ba04509"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6b4621127d004774" /><Relationship Type="http://schemas.openxmlformats.org/officeDocument/2006/relationships/notesSlide" Target="/ppt/notesSlides/notesSlide152.xml" Id="R25a711adf7674f44"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df9ce619bbe14331" /><Relationship Type="http://schemas.openxmlformats.org/officeDocument/2006/relationships/notesSlide" Target="/ppt/notesSlides/notesSlide153.xml" Id="Reab6320e06134b82"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c6ca3ea184384b7d" /><Relationship Type="http://schemas.openxmlformats.org/officeDocument/2006/relationships/notesSlide" Target="/ppt/notesSlides/notesSlide154.xml" Id="R0ddf0f0085d14db5"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6.xml" Id="R290cd3e046b94f79" /><Relationship Type="http://schemas.openxmlformats.org/officeDocument/2006/relationships/notesSlide" Target="/ppt/notesSlides/notesSlide155.xml" Id="Raa35c78a944246d6"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6.xml" Id="Re8f47440e7e8456e" /><Relationship Type="http://schemas.openxmlformats.org/officeDocument/2006/relationships/notesSlide" Target="/ppt/notesSlides/notesSlide156.xml" Id="R72414da286db413e"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6.xml" Id="Rf1c4fdbe2281471c" /><Relationship Type="http://schemas.openxmlformats.org/officeDocument/2006/relationships/notesSlide" Target="/ppt/notesSlides/notesSlide157.xml" Id="R69200c27bff04cbb"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6.xml" Id="Rf043a0115ee34a12" /><Relationship Type="http://schemas.openxmlformats.org/officeDocument/2006/relationships/notesSlide" Target="/ppt/notesSlides/notesSlide158.xml" Id="Raf2b692dca0e4fef"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6.xml" Id="R2a75101656d14520" /><Relationship Type="http://schemas.openxmlformats.org/officeDocument/2006/relationships/notesSlide" Target="/ppt/notesSlides/notesSlide159.xml" Id="Reaf37b1217ce44ae"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6.xml" Id="Rf01cd188cbaf4e3f" /><Relationship Type="http://schemas.openxmlformats.org/officeDocument/2006/relationships/notesSlide" Target="/ppt/notesSlides/notesSlide160.xml" Id="R2d2c3b0b4452474f"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6.xml" Id="R45ca35630cc54661" /><Relationship Type="http://schemas.openxmlformats.org/officeDocument/2006/relationships/notesSlide" Target="/ppt/notesSlides/notesSlide161.xml" Id="R3c20ded9ec3a4d6d"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6.xml" Id="R98a7db2a644f4a1f" /><Relationship Type="http://schemas.openxmlformats.org/officeDocument/2006/relationships/notesSlide" Target="/ppt/notesSlides/notesSlide162.xml" Id="Rca7bfeba41744fd2"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6.xml" Id="R53509eaf92254558" /><Relationship Type="http://schemas.openxmlformats.org/officeDocument/2006/relationships/notesSlide" Target="/ppt/notesSlides/notesSlide163.xml" Id="R437498c0acdf4817"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6.xml" Id="R26770940a33045c7" /><Relationship Type="http://schemas.openxmlformats.org/officeDocument/2006/relationships/notesSlide" Target="/ppt/notesSlides/notesSlide164.xml" Id="R34a93bc2a0954120"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6.xml" Id="Rcd17f095afe14acc" /><Relationship Type="http://schemas.openxmlformats.org/officeDocument/2006/relationships/notesSlide" Target="/ppt/notesSlides/notesSlide165.xml" Id="Rbfbcd004c4304a6d"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6.xml" Id="R3c50c7640ce64530" /><Relationship Type="http://schemas.openxmlformats.org/officeDocument/2006/relationships/notesSlide" Target="/ppt/notesSlides/notesSlide166.xml" Id="Rf7d4391c1ac94c37"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6.xml" Id="Recb90246ac3a4a27" /><Relationship Type="http://schemas.openxmlformats.org/officeDocument/2006/relationships/notesSlide" Target="/ppt/notesSlides/notesSlide167.xml" Id="R4c46bfd7a5074b65"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6.xml" Id="R08d933ed410e470e" /><Relationship Type="http://schemas.openxmlformats.org/officeDocument/2006/relationships/notesSlide" Target="/ppt/notesSlides/notesSlide168.xml" Id="R59eae5c6146a4184"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6.xml" Id="R687ca6d011264f7b" /><Relationship Type="http://schemas.openxmlformats.org/officeDocument/2006/relationships/notesSlide" Target="/ppt/notesSlides/notesSlide169.xml" Id="R6fa7ad2674c74d9f"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6.xml" Id="R9a685b7cdc644be1" /><Relationship Type="http://schemas.openxmlformats.org/officeDocument/2006/relationships/notesSlide" Target="/ppt/notesSlides/notesSlide170.xml" Id="Ra0c59d15e7c54f57"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6.xml" Id="R69228d49b590405f" /><Relationship Type="http://schemas.openxmlformats.org/officeDocument/2006/relationships/notesSlide" Target="/ppt/notesSlides/notesSlide171.xml" Id="Rfecb89c1248544b7"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6.xml" Id="R66cc79ded66748d3" /><Relationship Type="http://schemas.openxmlformats.org/officeDocument/2006/relationships/notesSlide" Target="/ppt/notesSlides/notesSlide172.xml" Id="R0074fbfef9de4e85"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6.xml" Id="Rc31683f458634b6f" /><Relationship Type="http://schemas.openxmlformats.org/officeDocument/2006/relationships/notesSlide" Target="/ppt/notesSlides/notesSlide173.xml" Id="R2b88e8ff29904103"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6.xml" Id="Rdf5dc70898ac47c7" /><Relationship Type="http://schemas.openxmlformats.org/officeDocument/2006/relationships/notesSlide" Target="/ppt/notesSlides/notesSlide174.xml" Id="Ree17220878304262"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6.xml" Id="R6698579af4b94993" /><Relationship Type="http://schemas.openxmlformats.org/officeDocument/2006/relationships/notesSlide" Target="/ppt/notesSlides/notesSlide175.xml" Id="R3dbbe09cb7f640a4"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6.xml" Id="R6646ffc4d9514829" /><Relationship Type="http://schemas.openxmlformats.org/officeDocument/2006/relationships/notesSlide" Target="/ppt/notesSlides/notesSlide176.xml" Id="Rfda2d320cb334671"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6.xml" Id="R51ad45f7a6834e8a" /><Relationship Type="http://schemas.openxmlformats.org/officeDocument/2006/relationships/notesSlide" Target="/ppt/notesSlides/notesSlide177.xml" Id="Reb5c28c390e04181"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6.xml" Id="R0e60ce50984b426f" /><Relationship Type="http://schemas.openxmlformats.org/officeDocument/2006/relationships/notesSlide" Target="/ppt/notesSlides/notesSlide178.xml" Id="Rb266423af6eb4ab9"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6.xml" Id="R9f7d671ee3fb4ed4" /><Relationship Type="http://schemas.openxmlformats.org/officeDocument/2006/relationships/notesSlide" Target="/ppt/notesSlides/notesSlide179.xml" Id="Rd6ba65bfcff648d0"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6.xml" Id="R8d7a55d11106457e" /><Relationship Type="http://schemas.openxmlformats.org/officeDocument/2006/relationships/notesSlide" Target="/ppt/notesSlides/notesSlide180.xml" Id="R07e96e4011e840db"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6.xml" Id="R5f90b8601c8c4a8a" /><Relationship Type="http://schemas.openxmlformats.org/officeDocument/2006/relationships/notesSlide" Target="/ppt/notesSlides/notesSlide181.xml" Id="R67613a16ae3d4928"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6.xml" Id="R9e340f506bae4221" /><Relationship Type="http://schemas.openxmlformats.org/officeDocument/2006/relationships/notesSlide" Target="/ppt/notesSlides/notesSlide182.xml" Id="R4c17144f7f2b4c5a"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6.xml" Id="R621dd807f32f47b0" /><Relationship Type="http://schemas.openxmlformats.org/officeDocument/2006/relationships/notesSlide" Target="/ppt/notesSlides/notesSlide183.xml" Id="R1af7a1dcf3a04004"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6.xml" Id="R64336d08fc034a6a" /><Relationship Type="http://schemas.openxmlformats.org/officeDocument/2006/relationships/notesSlide" Target="/ppt/notesSlides/notesSlide184.xml" Id="Rdeeba911694d481f"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6.xml" Id="R6c92ce33c9ab4bef" /><Relationship Type="http://schemas.openxmlformats.org/officeDocument/2006/relationships/notesSlide" Target="/ppt/notesSlides/notesSlide185.xml" Id="Ra1c716f992bc4666"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6.xml" Id="R78950922e6684592" /><Relationship Type="http://schemas.openxmlformats.org/officeDocument/2006/relationships/notesSlide" Target="/ppt/notesSlides/notesSlide186.xml" Id="R7d9ba5e8eb774f04"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6.xml" Id="R27b56dc138b443a4" /><Relationship Type="http://schemas.openxmlformats.org/officeDocument/2006/relationships/notesSlide" Target="/ppt/notesSlides/notesSlide187.xml" Id="R034da9b43ab34d7d"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6.xml" Id="R8e5ba85a562f49e8" /><Relationship Type="http://schemas.openxmlformats.org/officeDocument/2006/relationships/notesSlide" Target="/ppt/notesSlides/notesSlide188.xml" Id="R2b4b08384e094eea"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6.xml" Id="R9f138aff93b14ac8" /><Relationship Type="http://schemas.openxmlformats.org/officeDocument/2006/relationships/notesSlide" Target="/ppt/notesSlides/notesSlide189.xml" Id="R38bbf4b7d6b14719"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6.xml" Id="R379858555f7f44d2" /><Relationship Type="http://schemas.openxmlformats.org/officeDocument/2006/relationships/notesSlide" Target="/ppt/notesSlides/notesSlide190.xml" Id="R25eb13a038cb4573"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6.xml" Id="R5e2054171fbb46a2" /><Relationship Type="http://schemas.openxmlformats.org/officeDocument/2006/relationships/notesSlide" Target="/ppt/notesSlides/notesSlide191.xml" Id="Rb070dca62a3a48a0"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6.xml" Id="R2d1d62b6e78b4b97" /><Relationship Type="http://schemas.openxmlformats.org/officeDocument/2006/relationships/notesSlide" Target="/ppt/notesSlides/notesSlide192.xml" Id="R9922e9a31626462c"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6.xml" Id="R1c373eebf7ab43af" /><Relationship Type="http://schemas.openxmlformats.org/officeDocument/2006/relationships/notesSlide" Target="/ppt/notesSlides/notesSlide193.xml" Id="Rd7ffe7d7100d444e"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6.xml" Id="Raaf3b70c659a4c15" /><Relationship Type="http://schemas.openxmlformats.org/officeDocument/2006/relationships/notesSlide" Target="/ppt/notesSlides/notesSlide194.xml" Id="R28e32bde2c864ec7"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6.xml" Id="Rff02e93f73854726" /><Relationship Type="http://schemas.openxmlformats.org/officeDocument/2006/relationships/notesSlide" Target="/ppt/notesSlides/notesSlide195.xml" Id="Rce53db19c5064d58"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6.xml" Id="R00204ac02b4c489d" /><Relationship Type="http://schemas.openxmlformats.org/officeDocument/2006/relationships/notesSlide" Target="/ppt/notesSlides/notesSlide196.xml" Id="R112eba7918374cad"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6.xml" Id="Recd8198cdedd4a5d" /><Relationship Type="http://schemas.openxmlformats.org/officeDocument/2006/relationships/notesSlide" Target="/ppt/notesSlides/notesSlide197.xml" Id="Rb57e8141409e48cb"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6.xml" Id="Re01ebebfc41f4e9d" /><Relationship Type="http://schemas.openxmlformats.org/officeDocument/2006/relationships/notesSlide" Target="/ppt/notesSlides/notesSlide198.xml" Id="R13fde50f6c0e4d5c"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EFC7B0-F639-4C49-8A0A-E46A1A25A2FF}"/>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Antibiotic resistance and resistant organisms</a:t>
            </a:r>
          </a:p>
        </p:txBody>
      </p:sp>
      <p:sp>
        <p:nvSpPr>
          <p:cNvPr id="2" name="subtitle">
            <a:extLst xmlns:a="http://schemas.openxmlformats.org/drawingml/2006/main">
              <a:ext uri="{FF2B5EF4-FFF2-40B4-BE49-F238E27FC236}">
                <a16:creationId xmlns:a16="http://schemas.microsoft.com/office/drawing/2014/main" id="{49081573-A545-4F4E-8366-CADE156CB0A7}"/>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11432041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CF811E7-2669-4BA8-80CC-8E59B20FFED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clinical context to interpret resistance</a:t>
            </a:r>
          </a:p>
        </p:txBody>
      </p:sp>
      <p:sp>
        <p:nvSpPr>
          <p:cNvPr id="2" name="paragraph-0">
            <a:extLst xmlns:a="http://schemas.openxmlformats.org/drawingml/2006/main">
              <a:ext uri="{FF2B5EF4-FFF2-40B4-BE49-F238E27FC236}">
                <a16:creationId xmlns:a16="http://schemas.microsoft.com/office/drawing/2014/main" id="{AB951B1E-F01C-44D2-AE41-2AFCD0336F0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 · 30–45 minutes with discussion</a:t>
            </a:r>
          </a:p>
        </p:txBody>
      </p:sp>
      <p:sp>
        <p:nvSpPr>
          <p:cNvPr id="3" name="paragraph-1">
            <a:extLst xmlns:a="http://schemas.openxmlformats.org/drawingml/2006/main">
              <a:ext uri="{FF2B5EF4-FFF2-40B4-BE49-F238E27FC236}">
                <a16:creationId xmlns:a16="http://schemas.microsoft.com/office/drawing/2014/main" id="{49D3D4E5-9B60-488C-AE7E-3F969211B10E}"/>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Identify infection, interpret the resistance pattern, and choose an active drug that reaches the source.</a:t>
            </a:r>
          </a:p>
        </p:txBody>
      </p:sp>
      <p:sp>
        <p:nvSpPr>
          <p:cNvPr id="4" name="paragraph-2">
            <a:extLst xmlns:a="http://schemas.openxmlformats.org/drawingml/2006/main">
              <a:ext uri="{FF2B5EF4-FFF2-40B4-BE49-F238E27FC236}">
                <a16:creationId xmlns:a16="http://schemas.microsoft.com/office/drawing/2014/main" id="{5D720135-A0AD-425D-918D-8227DC21205B}"/>
              </a:ext>
            </a:extLst>
          </p:cNvPr>
          <p:cNvSpPr>
            <a:spLocks xmlns:a="http://schemas.openxmlformats.org/drawingml/2006/main" noGrp="1"/>
          </p:cNvSpPr>
          <p:nvPr/>
        </p:nvSpPr>
        <p:spPr>
          <a:xfrm xmlns:a="http://schemas.openxmlformats.org/drawingml/2006/main">
            <a:off x="647700" y="35242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Adult bacterial infections for residents and ID fellows. Three fictional cases anchor the core. Detailed mechanisms, doses, trial appraisals, salvage options, and extra cases are optional reading below the lecture.</a:t>
            </a:r>
          </a:p>
        </p:txBody>
      </p:sp>
      <p:sp>
        <p:nvSpPr>
          <p:cNvPr id="5" name="footer">
            <a:extLst xmlns:a="http://schemas.openxmlformats.org/drawingml/2006/main">
              <a:ext uri="{FF2B5EF4-FFF2-40B4-BE49-F238E27FC236}">
                <a16:creationId xmlns:a16="http://schemas.microsoft.com/office/drawing/2014/main" id="{7B99D3B8-7385-40B7-BE83-06A5836982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27DE5DB0-CEA0-4C7A-97F6-2047E1822FA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10155888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C323A32-5782-418E-B4B3-0E6DCEFAC3E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clinical context to interpret resistance</a:t>
            </a:r>
          </a:p>
        </p:txBody>
      </p:sp>
      <p:sp>
        <p:nvSpPr>
          <p:cNvPr id="2" name="paragraph-0">
            <a:extLst xmlns:a="http://schemas.openxmlformats.org/drawingml/2006/main">
              <a:ext uri="{FF2B5EF4-FFF2-40B4-BE49-F238E27FC236}">
                <a16:creationId xmlns:a16="http://schemas.microsoft.com/office/drawing/2014/main" id="{336A44B9-709F-40C8-94D4-91B0A95D176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the three cases for discussion. Teach the highlighted matrix patterns; consult the remaining cells as reference. The advanced section is optional and comes after the resident core.</a:t>
            </a:r>
          </a:p>
        </p:txBody>
      </p:sp>
      <p:sp>
        <p:nvSpPr>
          <p:cNvPr id="3" name="footer">
            <a:extLst xmlns:a="http://schemas.openxmlformats.org/drawingml/2006/main">
              <a:ext uri="{FF2B5EF4-FFF2-40B4-BE49-F238E27FC236}">
                <a16:creationId xmlns:a16="http://schemas.microsoft.com/office/drawing/2014/main" id="{BC2DA6D2-5F8E-4417-8113-D45C948DEEC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8108129-85A8-4075-9433-18ED9B14EB8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17645701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F2E2984-F0A6-4FDF-BE5F-4B992736B2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with the patient</a:t>
            </a:r>
          </a:p>
        </p:txBody>
      </p:sp>
      <p:sp>
        <p:nvSpPr>
          <p:cNvPr id="2" name="paragraph-0">
            <a:extLst xmlns:a="http://schemas.openxmlformats.org/drawingml/2006/main">
              <a:ext uri="{FF2B5EF4-FFF2-40B4-BE49-F238E27FC236}">
                <a16:creationId xmlns:a16="http://schemas.microsoft.com/office/drawing/2014/main" id="{9679FAA7-3DD9-416D-8014-9CBBB33FFCEB}"/>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Infection? Compatible syndrome and a meaningful specimen.</a:t>
            </a:r>
          </a:p>
        </p:txBody>
      </p:sp>
      <p:sp>
        <p:nvSpPr>
          <p:cNvPr id="3" name="paragraph-1">
            <a:extLst xmlns:a="http://schemas.openxmlformats.org/drawingml/2006/main">
              <a:ext uri="{FF2B5EF4-FFF2-40B4-BE49-F238E27FC236}">
                <a16:creationId xmlns:a16="http://schemas.microsoft.com/office/drawing/2014/main" id="{C66EA2CF-9EBC-49D7-86C4-AF5714CA3CF7}"/>
              </a:ext>
            </a:extLst>
          </p:cNvPr>
          <p:cNvSpPr>
            <a:spLocks xmlns:a="http://schemas.openxmlformats.org/drawingml/2006/main" noGrp="1"/>
          </p:cNvSpPr>
          <p:nvPr/>
        </p:nvSpPr>
        <p:spPr>
          <a:xfrm xmlns:a="http://schemas.openxmlformats.org/drawingml/2006/main">
            <a:off x="647700" y="25622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Urgency? Shock, organ dysfunction, immune status.</a:t>
            </a:r>
          </a:p>
        </p:txBody>
      </p:sp>
      <p:sp>
        <p:nvSpPr>
          <p:cNvPr id="4" name="paragraph-2">
            <a:extLst xmlns:a="http://schemas.openxmlformats.org/drawingml/2006/main">
              <a:ext uri="{FF2B5EF4-FFF2-40B4-BE49-F238E27FC236}">
                <a16:creationId xmlns:a16="http://schemas.microsoft.com/office/drawing/2014/main" id="{B97A5E86-276A-4657-B35B-E3BB43BB1A9A}"/>
              </a:ext>
            </a:extLst>
          </p:cNvPr>
          <p:cNvSpPr>
            <a:spLocks xmlns:a="http://schemas.openxmlformats.org/drawingml/2006/main" noGrp="1"/>
          </p:cNvSpPr>
          <p:nvPr/>
        </p:nvSpPr>
        <p:spPr>
          <a:xfrm xmlns:a="http://schemas.openxmlformats.org/drawingml/2006/main">
            <a:off x="647700" y="31718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Likely activity? Prior isolates, recent antibiotics, local data.</a:t>
            </a:r>
          </a:p>
        </p:txBody>
      </p:sp>
      <p:sp>
        <p:nvSpPr>
          <p:cNvPr id="5" name="paragraph-3">
            <a:extLst xmlns:a="http://schemas.openxmlformats.org/drawingml/2006/main">
              <a:ext uri="{FF2B5EF4-FFF2-40B4-BE49-F238E27FC236}">
                <a16:creationId xmlns:a16="http://schemas.microsoft.com/office/drawing/2014/main" id="{1CD4E15E-96CB-4D2C-950B-06A598805D6D}"/>
              </a:ext>
            </a:extLst>
          </p:cNvPr>
          <p:cNvSpPr>
            <a:spLocks xmlns:a="http://schemas.openxmlformats.org/drawingml/2006/main" noGrp="1"/>
          </p:cNvSpPr>
          <p:nvPr/>
        </p:nvSpPr>
        <p:spPr>
          <a:xfrm xmlns:a="http://schemas.openxmlformats.org/drawingml/2006/main">
            <a:off x="647700" y="37814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 Drain, remove, relieve obstruction; confirm drug exposure.</a:t>
            </a:r>
          </a:p>
        </p:txBody>
      </p:sp>
      <p:sp>
        <p:nvSpPr>
          <p:cNvPr id="6" name="footer">
            <a:extLst xmlns:a="http://schemas.openxmlformats.org/drawingml/2006/main">
              <a:ext uri="{FF2B5EF4-FFF2-40B4-BE49-F238E27FC236}">
                <a16:creationId xmlns:a16="http://schemas.microsoft.com/office/drawing/2014/main" id="{D4BFEE51-9E46-4C81-9EDD-9CCB555C201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0638E14F-0889-4F81-B856-C16CDB199B1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13181750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1524905-9FEB-405F-98E0-4B73B2E933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with the patient</a:t>
            </a:r>
          </a:p>
        </p:txBody>
      </p:sp>
      <p:sp>
        <p:nvSpPr>
          <p:cNvPr id="2" name="paragraph-0">
            <a:extLst xmlns:a="http://schemas.openxmlformats.org/drawingml/2006/main">
              <a:ext uri="{FF2B5EF4-FFF2-40B4-BE49-F238E27FC236}">
                <a16:creationId xmlns:a16="http://schemas.microsoft.com/office/drawing/2014/main" id="{D9B00F2C-C336-412C-B808-0481BE0B426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Reassessment? Review cultures, narrow, and set a stop plan.</a:t>
            </a:r>
          </a:p>
        </p:txBody>
      </p:sp>
      <p:sp>
        <p:nvSpPr>
          <p:cNvPr id="3" name="paragraph-1">
            <a:extLst xmlns:a="http://schemas.openxmlformats.org/drawingml/2006/main">
              <a:ext uri="{FF2B5EF4-FFF2-40B4-BE49-F238E27FC236}">
                <a16:creationId xmlns:a16="http://schemas.microsoft.com/office/drawing/2014/main" id="{725F7C65-5F91-4FFD-A049-95F688525C55}"/>
              </a:ext>
            </a:extLst>
          </p:cNvPr>
          <p:cNvSpPr>
            <a:spLocks xmlns:a="http://schemas.openxmlformats.org/drawingml/2006/main" noGrp="1"/>
          </p:cNvSpPr>
          <p:nvPr/>
        </p:nvSpPr>
        <p:spPr>
          <a:xfrm xmlns:a="http://schemas.openxmlformats.org/drawingml/2006/main">
            <a:off x="647700" y="25622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resistant culture does not establish infection. A rectal CRE screen or a chronically positive tracheal aspirate may indicate colonization. Asymptomatic bacteriuria usually needs no antibiotic; pregnancy and endourologic procedures involving mucosal trauma are key exceptions.</a:t>
            </a:r>
          </a:p>
        </p:txBody>
      </p:sp>
      <p:sp>
        <p:nvSpPr>
          <p:cNvPr id="4" name="footer">
            <a:extLst xmlns:a="http://schemas.openxmlformats.org/drawingml/2006/main">
              <a:ext uri="{FF2B5EF4-FFF2-40B4-BE49-F238E27FC236}">
                <a16:creationId xmlns:a16="http://schemas.microsoft.com/office/drawing/2014/main" id="{F4F117AE-1CE7-4BFA-A753-2178E06C5F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AEB44C74-EDEB-49C5-87B7-D073430D32B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8601820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590D8CC-2E1B-4B88-804B-4C408C0C9E2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with the patient</a:t>
            </a:r>
          </a:p>
        </p:txBody>
      </p:sp>
      <p:sp>
        <p:nvSpPr>
          <p:cNvPr id="2" name="paragraph-0">
            <a:extLst xmlns:a="http://schemas.openxmlformats.org/drawingml/2006/main">
              <a:ext uri="{FF2B5EF4-FFF2-40B4-BE49-F238E27FC236}">
                <a16:creationId xmlns:a16="http://schemas.microsoft.com/office/drawing/2014/main" id="{DB2EECED-AC0B-4ED6-9124-554234DDE75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severe infection, obtain appropriate cultures without delaying urgent therapy. Use the patient's prior organism and susceptibility results to choose empiric coverage. “History of MDRO” is less useful than “prior NDM-producing Klebsiella.” Request missing susceptibility tests early.</a:t>
            </a:r>
          </a:p>
        </p:txBody>
      </p:sp>
      <p:sp>
        <p:nvSpPr>
          <p:cNvPr id="3" name="paragraph-1">
            <a:extLst xmlns:a="http://schemas.openxmlformats.org/drawingml/2006/main">
              <a:ext uri="{FF2B5EF4-FFF2-40B4-BE49-F238E27FC236}">
                <a16:creationId xmlns:a16="http://schemas.microsoft.com/office/drawing/2014/main" id="{8673644E-CFF5-4C0B-9D57-1E8711573FE2}"/>
              </a:ext>
            </a:extLst>
          </p:cNvPr>
          <p:cNvSpPr>
            <a:spLocks xmlns:a="http://schemas.openxmlformats.org/drawingml/2006/main" noGrp="1"/>
          </p:cNvSpPr>
          <p:nvPr/>
        </p:nvSpPr>
        <p:spPr>
          <a:xfrm xmlns:a="http://schemas.openxmlformats.org/drawingml/2006/main">
            <a:off x="647700" y="39719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First question for the room: What clinical evidence would make you treat this isolate?</a:t>
            </a:r>
          </a:p>
        </p:txBody>
      </p:sp>
      <p:sp>
        <p:nvSpPr>
          <p:cNvPr id="4" name="paragraph-2">
            <a:extLst xmlns:a="http://schemas.openxmlformats.org/drawingml/2006/main">
              <a:ext uri="{FF2B5EF4-FFF2-40B4-BE49-F238E27FC236}">
                <a16:creationId xmlns:a16="http://schemas.microsoft.com/office/drawing/2014/main" id="{F4FCAD0F-248B-4268-82CA-1414C952C891}"/>
              </a:ext>
            </a:extLst>
          </p:cNvPr>
          <p:cNvSpPr>
            <a:spLocks xmlns:a="http://schemas.openxmlformats.org/drawingml/2006/main" noGrp="1"/>
          </p:cNvSpPr>
          <p:nvPr/>
        </p:nvSpPr>
        <p:spPr>
          <a:xfrm xmlns:a="http://schemas.openxmlformats.org/drawingml/2006/main">
            <a:off x="647700" y="49339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asb</a:t>
            </a:r>
          </a:p>
        </p:txBody>
      </p:sp>
      <p:sp>
        <p:nvSpPr>
          <p:cNvPr id="5" name="footer">
            <a:extLst xmlns:a="http://schemas.openxmlformats.org/drawingml/2006/main">
              <a:ext uri="{FF2B5EF4-FFF2-40B4-BE49-F238E27FC236}">
                <a16:creationId xmlns:a16="http://schemas.microsoft.com/office/drawing/2014/main" id="{A43684BF-7695-4772-B4F6-81A32CB861E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2EC30530-3733-40D1-96E9-F159DBA0E6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9633027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86D89F0-E928-4901-8111-23CD1F6FDC8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Susceptible does not mean interchangeable</a:t>
            </a:r>
          </a:p>
        </p:txBody>
      </p:sp>
      <p:sp>
        <p:nvSpPr>
          <p:cNvPr id="2" name="paragraph-0">
            <a:extLst xmlns:a="http://schemas.openxmlformats.org/drawingml/2006/main">
              <a:ext uri="{FF2B5EF4-FFF2-40B4-BE49-F238E27FC236}">
                <a16:creationId xmlns:a16="http://schemas.microsoft.com/office/drawing/2014/main" id="{1E4A0AAB-ABCB-4367-B857-0AB93341C2D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the drug-specific breakpoint and infection site. A smaller MIC for another drug does not make it a better choice. SDD requires the exposure linked to that category; EUCAST “I” means susceptible with increased exposure.</a:t>
            </a:r>
          </a:p>
        </p:txBody>
      </p:sp>
      <p:sp>
        <p:nvSpPr>
          <p:cNvPr id="3" name="footer">
            <a:extLst xmlns:a="http://schemas.openxmlformats.org/drawingml/2006/main">
              <a:ext uri="{FF2B5EF4-FFF2-40B4-BE49-F238E27FC236}">
                <a16:creationId xmlns:a16="http://schemas.microsoft.com/office/drawing/2014/main" id="{DF5EECBB-F67D-4B3D-A2CC-E4E400C88D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B29A60B-D842-49A0-8ECC-BBF347F82D8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18190250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5C1137E-AB1F-4224-8498-0BAEF02FF0C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gene result is a clue</a:t>
            </a:r>
          </a:p>
        </p:txBody>
      </p:sp>
      <p:sp>
        <p:nvSpPr>
          <p:cNvPr id="2" name="paragraph-0">
            <a:extLst xmlns:a="http://schemas.openxmlformats.org/drawingml/2006/main">
              <a:ext uri="{FF2B5EF4-FFF2-40B4-BE49-F238E27FC236}">
                <a16:creationId xmlns:a16="http://schemas.microsoft.com/office/drawing/2014/main" id="{A3962988-A938-491F-A909-2DC5A304277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detected carbapenemase can redirect therapy before full AST. A negative panel excludes only its targets. Multiple mechanisms may coexist; confirm the phenotype and test the intended drug.</a:t>
            </a:r>
          </a:p>
        </p:txBody>
      </p:sp>
      <p:sp>
        <p:nvSpPr>
          <p:cNvPr id="3" name="paragraph-1">
            <a:extLst xmlns:a="http://schemas.openxmlformats.org/drawingml/2006/main">
              <a:ext uri="{FF2B5EF4-FFF2-40B4-BE49-F238E27FC236}">
                <a16:creationId xmlns:a16="http://schemas.microsoft.com/office/drawing/2014/main" id="{5AE83D50-87E7-48CB-AF80-272260DC5AFE}"/>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Two distinctions do most of the work today. ESBL and inducible AmpC differ in whether cefepime is a dependable choice. KPC, NDM, and OXA-48-like enzymes differ in which beta-lactamase inhibitor works.</a:t>
            </a:r>
          </a:p>
        </p:txBody>
      </p:sp>
      <p:sp>
        <p:nvSpPr>
          <p:cNvPr id="4" name="paragraph-2">
            <a:extLst xmlns:a="http://schemas.openxmlformats.org/drawingml/2006/main">
              <a:ext uri="{FF2B5EF4-FFF2-40B4-BE49-F238E27FC236}">
                <a16:creationId xmlns:a16="http://schemas.microsoft.com/office/drawing/2014/main" id="{121530AB-B160-48B8-9673-0070F6A559B9}"/>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read a matrix color as the patient's susceptibility result. AST means antimicrobial susceptibility testing. Check the isolate, site, dose, and current laboratory interpretation before prescribing.</a:t>
            </a:r>
          </a:p>
        </p:txBody>
      </p:sp>
      <p:sp>
        <p:nvSpPr>
          <p:cNvPr id="5" name="footer">
            <a:extLst xmlns:a="http://schemas.openxmlformats.org/drawingml/2006/main">
              <a:ext uri="{FF2B5EF4-FFF2-40B4-BE49-F238E27FC236}">
                <a16:creationId xmlns:a16="http://schemas.microsoft.com/office/drawing/2014/main" id="{DA8D661B-D240-431A-AAF5-81E3FA4FAE3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CCA49BC4-B286-4736-A915-9D27D3F98B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17445318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A3C54EE-1E1E-4458-9809-1A2C2BA848D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gene result is a clue</a:t>
            </a:r>
          </a:p>
        </p:txBody>
      </p:sp>
      <p:sp>
        <p:nvSpPr>
          <p:cNvPr id="2" name="paragraph-0">
            <a:extLst xmlns:a="http://schemas.openxmlformats.org/drawingml/2006/main">
              <a:ext uri="{FF2B5EF4-FFF2-40B4-BE49-F238E27FC236}">
                <a16:creationId xmlns:a16="http://schemas.microsoft.com/office/drawing/2014/main" id="{230BDC81-7406-4C2B-9779-56EF82776DC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breakpoints , eucast</a:t>
            </a:r>
          </a:p>
        </p:txBody>
      </p:sp>
      <p:sp>
        <p:nvSpPr>
          <p:cNvPr id="3" name="footer">
            <a:extLst xmlns:a="http://schemas.openxmlformats.org/drawingml/2006/main">
              <a:ext uri="{FF2B5EF4-FFF2-40B4-BE49-F238E27FC236}">
                <a16:creationId xmlns:a16="http://schemas.microsoft.com/office/drawing/2014/main" id="{6690791F-DA59-4ECD-8BE1-425DB9C6289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F523BB6-E545-4755-AB95-760A5512AD2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5421184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87DED1B-A8F9-439A-9C92-776EB055185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sp>
        <p:nvSpPr>
          <p:cNvPr id="2" name="paragraph-0">
            <a:extLst xmlns:a="http://schemas.openxmlformats.org/drawingml/2006/main">
              <a:ext uri="{FF2B5EF4-FFF2-40B4-BE49-F238E27FC236}">
                <a16:creationId xmlns:a16="http://schemas.microsoft.com/office/drawing/2014/main" id="{5B85D7CC-B17E-4FE2-9E7E-B4EA51CCBDA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Antibiotics run down the rows; resistance patterns run across the columns. This is a teaching synthesis for invasive infection, not a local antibiogram or a substitute for isolate-specific AST.</a:t>
            </a:r>
          </a:p>
        </p:txBody>
      </p:sp>
      <p:sp>
        <p:nvSpPr>
          <p:cNvPr id="3" name="paragraph-1">
            <a:extLst xmlns:a="http://schemas.openxmlformats.org/drawingml/2006/main">
              <a:ext uri="{FF2B5EF4-FFF2-40B4-BE49-F238E27FC236}">
                <a16:creationId xmlns:a16="http://schemas.microsoft.com/office/drawing/2014/main" id="{A8128E51-77AF-40E6-9807-EBD3DEFCEBDD}"/>
              </a:ext>
            </a:extLst>
          </p:cNvPr>
          <p:cNvSpPr>
            <a:spLocks xmlns:a="http://schemas.openxmlformats.org/drawingml/2006/main" noGrp="1"/>
          </p:cNvSpPr>
          <p:nvPr/>
        </p:nvSpPr>
        <p:spPr>
          <a:xfrm xmlns:a="http://schemas.openxmlformats.org/drawingml/2006/main">
            <a:off x="647700" y="326707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Green · S* Usually susceptible / expected activity. Confirm AST; not a guarantee or a preferred-drug ranking. Yellow · Caution Conditional use because of variable susceptibility, site, dosing, reserve status, or limited evidence. Red · R / Avoid R = expected resistance or no useful activity. Avoid = clinically unreliable or not suggested, even if reported susceptible.</a:t>
            </a:r>
          </a:p>
        </p:txBody>
      </p:sp>
      <p:sp>
        <p:nvSpPr>
          <p:cNvPr id="4" name="footer">
            <a:extLst xmlns:a="http://schemas.openxmlformats.org/drawingml/2006/main">
              <a:ext uri="{FF2B5EF4-FFF2-40B4-BE49-F238E27FC236}">
                <a16:creationId xmlns:a16="http://schemas.microsoft.com/office/drawing/2014/main" id="{4638E77F-7F57-4C0E-B210-F03B1089BC2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975E453F-16CE-4957-B150-1983571DF9A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6615331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A9F2FB6-5526-4129-A5B4-AECA8CEEB37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sp>
        <p:nvSpPr>
          <p:cNvPr id="2" name="paragraph-0">
            <a:extLst xmlns:a="http://schemas.openxmlformats.org/drawingml/2006/main">
              <a:ext uri="{FF2B5EF4-FFF2-40B4-BE49-F238E27FC236}">
                <a16:creationId xmlns:a16="http://schemas.microsoft.com/office/drawing/2014/main" id="{EF44AEDF-85F7-43FC-96EF-77C11E2E0A6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“Reserve” means activity may be present, but preserve the drug for more resistant infections. Non-beta-lactam susceptibility cannot be inferred from an ESBL or carbapenemase label. A blank qualifier never waives AST.</a:t>
            </a:r>
          </a:p>
        </p:txBody>
      </p:sp>
      <p:sp>
        <p:nvSpPr>
          <p:cNvPr id="3" name="footer">
            <a:extLst xmlns:a="http://schemas.openxmlformats.org/drawingml/2006/main">
              <a:ext uri="{FF2B5EF4-FFF2-40B4-BE49-F238E27FC236}">
                <a16:creationId xmlns:a16="http://schemas.microsoft.com/office/drawing/2014/main" id="{12DB8125-9260-4C00-8D51-CA6FCE5C30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0BE21AF-92CA-44C5-B531-AC2A5CAD4E7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636802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3EC48F2-5262-4CC1-AC88-DB333EA440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graphicFrame>
        <p:nvGraphicFramePr>
          <p:cNvPr id="2" name="">
            <a:extLst xmlns:a="http://schemas.openxmlformats.org/drawingml/2006/main">
              <a:ext uri="{FF2B5EF4-FFF2-40B4-BE49-F238E27FC236}">
                <a16:creationId xmlns:a16="http://schemas.microsoft.com/office/drawing/2014/main" id="{69E77F4B-EC0E-4C5D-8B7A-2361108915EE}"/>
              </a:ext>
            </a:extLst>
          </p:cNvPr>
          <p:cNvGraphicFramePr/>
          <p:nvPr/>
        </p:nvGraphicFramePr>
        <p:xfrm>
          <a:off xmlns:a="http://schemas.openxmlformats.org/drawingml/2006/main" x="647700" y="1866900"/>
          <a:ext xmlns:a="http://schemas.openxmlformats.org/drawingml/2006/main" cx="10896600" cy="3200400"/>
        </p:xfrm>
        <a:graphic xmlns:a="http://schemas.openxmlformats.org/drawingml/2006/main">
          <a:graphicData uri="http://schemas.openxmlformats.org/drawingml/2006/table">
            <a:tbl>
              <a:tblPr/>
              <a:tblGrid>
                <a:gridCol w="2179320"/>
                <a:gridCol w="2179320"/>
                <a:gridCol w="2179320"/>
                <a:gridCol w="2179320"/>
                <a:gridCol w="2179320"/>
              </a:tblGrid>
              <a:tr h="800100">
                <a:tc>
                  <a:txBody>
                    <a:bodyPr lIns="114300" tIns="114300" rIns="114300" bIns="114300">
                      <a:noAutofit/>
                    </a:bodyPr>
                    <a:lstStyle/>
                    <a:p>
                      <a:r>
                        <a:rPr sz="180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ESBL-E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Inducible AmpC-E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KPC-E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NDM-E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00100">
                <a:tc>
                  <a:txBody>
                    <a:bodyPr lIns="114300" tIns="114300" rIns="114300" bIns="114300">
                      <a:noAutofit/>
                    </a:bodyPr>
                    <a:lstStyle/>
                    <a:p>
                      <a:r>
                        <a:rPr sz="1800" b="0">
                          <a:solidFill>
                            <a:srgbClr val="16323B"/>
                          </a:solidFill>
                          <a:latin typeface="DejaVu Sans"/>
                          <a:ea typeface="DejaVu Sans"/>
                          <a:cs typeface="DejaVu Sans"/>
                        </a:rPr>
                        <a:t>Ceftriaxone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Avoid Induction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00100">
                <a:tc>
                  <a:txBody>
                    <a:bodyPr lIns="114300" tIns="114300" rIns="114300" bIns="114300">
                      <a:noAutofit/>
                    </a:bodyPr>
                    <a:lstStyle/>
                    <a:p>
                      <a:r>
                        <a:rPr sz="1800" b="0">
                          <a:solidFill>
                            <a:srgbClr val="16323B"/>
                          </a:solidFill>
                          <a:latin typeface="DejaVu Sans"/>
                          <a:ea typeface="DejaVu Sans"/>
                          <a:cs typeface="DejaVu Sans"/>
                        </a:rPr>
                        <a:t>Piperacillin–tazobactam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Avoid Invasive disease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Avoid Invasive disease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00100">
                <a:tc>
                  <a:txBody>
                    <a:bodyPr lIns="114300" tIns="114300" rIns="114300" bIns="114300">
                      <a:noAutofit/>
                    </a:bodyPr>
                    <a:lstStyle/>
                    <a:p>
                      <a:r>
                        <a:rPr sz="1800" b="0">
                          <a:solidFill>
                            <a:srgbClr val="16323B"/>
                          </a:solidFill>
                          <a:latin typeface="DejaVu Sans"/>
                          <a:ea typeface="DejaVu Sans"/>
                          <a:cs typeface="DejaVu Sans"/>
                        </a:rPr>
                        <a:t>Cefepime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Avoid ESBL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 Optimize dose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CA64C48-AF4C-4456-BE04-D95DF2799F0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DF70C6B-4448-4489-BD62-EDD23F7BAFF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107460244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46C2F93-FE21-4BC3-9AFD-83834E2884E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graphicFrame>
        <p:nvGraphicFramePr>
          <p:cNvPr id="2" name="">
            <a:extLst xmlns:a="http://schemas.openxmlformats.org/drawingml/2006/main">
              <a:ext uri="{FF2B5EF4-FFF2-40B4-BE49-F238E27FC236}">
                <a16:creationId xmlns:a16="http://schemas.microsoft.com/office/drawing/2014/main" id="{EF167CEE-3B63-4B71-B8B3-372A6AA5E670}"/>
              </a:ext>
            </a:extLst>
          </p:cNvPr>
          <p:cNvGraphicFramePr/>
          <p:nvPr/>
        </p:nvGraphicFramePr>
        <p:xfrm>
          <a:off xmlns:a="http://schemas.openxmlformats.org/drawingml/2006/main" x="647700" y="1866900"/>
          <a:ext xmlns:a="http://schemas.openxmlformats.org/drawingml/2006/main" cx="10896600" cy="3486150"/>
        </p:xfrm>
        <a:graphic xmlns:a="http://schemas.openxmlformats.org/drawingml/2006/main">
          <a:graphicData uri="http://schemas.openxmlformats.org/drawingml/2006/table">
            <a:tbl>
              <a:tblPr/>
              <a:tblGrid>
                <a:gridCol w="2179320"/>
                <a:gridCol w="2179320"/>
                <a:gridCol w="2179320"/>
                <a:gridCol w="2179320"/>
                <a:gridCol w="2179320"/>
              </a:tblGrid>
              <a:tr h="800100">
                <a:tc>
                  <a:txBody>
                    <a:bodyPr lIns="114300" tIns="114300" rIns="114300" bIns="114300">
                      <a:noAutofit/>
                    </a:bodyPr>
                    <a:lstStyle/>
                    <a:p>
                      <a:r>
                        <a:rPr sz="180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ESBL-E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Inducible AmpC-E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KPC-E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NDM-E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085850">
                <a:tc>
                  <a:txBody>
                    <a:bodyPr lIns="114300" tIns="114300" rIns="114300" bIns="114300">
                      <a:noAutofit/>
                    </a:bodyPr>
                    <a:lstStyle/>
                    <a:p>
                      <a:r>
                        <a:rPr sz="1800" b="0">
                          <a:solidFill>
                            <a:srgbClr val="16323B"/>
                          </a:solidFill>
                          <a:latin typeface="DejaVu Sans"/>
                          <a:ea typeface="DejaVu Sans"/>
                          <a:cs typeface="DejaVu Sans"/>
                        </a:rPr>
                        <a:t>Meropenem / imipenem–cilastatin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00100">
                <a:tc>
                  <a:txBody>
                    <a:bodyPr lIns="114300" tIns="114300" rIns="114300" bIns="114300">
                      <a:noAutofit/>
                    </a:bodyPr>
                    <a:lstStyle/>
                    <a:p>
                      <a:r>
                        <a:rPr sz="1800" b="0">
                          <a:solidFill>
                            <a:srgbClr val="16323B"/>
                          </a:solidFill>
                          <a:latin typeface="DejaVu Sans"/>
                          <a:ea typeface="DejaVu Sans"/>
                          <a:cs typeface="DejaVu Sans"/>
                        </a:rPr>
                        <a:t>Ertapenem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Caution Not critical illness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00100">
                <a:tc>
                  <a:txBody>
                    <a:bodyPr lIns="114300" tIns="114300" rIns="114300" bIns="114300">
                      <a:noAutofit/>
                    </a:bodyPr>
                    <a:lstStyle/>
                    <a:p>
                      <a:r>
                        <a:rPr sz="1800" b="0">
                          <a:solidFill>
                            <a:srgbClr val="16323B"/>
                          </a:solidFill>
                          <a:latin typeface="DejaVu Sans"/>
                          <a:ea typeface="DejaVu Sans"/>
                          <a:cs typeface="DejaVu Sans"/>
                        </a:rPr>
                        <a:t>Ceftolozane–tazobactam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Reserve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Avoid AmpC</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60679C1-DA12-4A41-A01A-1239A39379C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9BD1B08-C5EF-4A6A-A12E-0439494EAA1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3757848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0807D78-E1ED-440E-ABED-C894009BBBC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graphicFrame>
        <p:nvGraphicFramePr>
          <p:cNvPr id="2" name="">
            <a:extLst xmlns:a="http://schemas.openxmlformats.org/drawingml/2006/main">
              <a:ext uri="{FF2B5EF4-FFF2-40B4-BE49-F238E27FC236}">
                <a16:creationId xmlns:a16="http://schemas.microsoft.com/office/drawing/2014/main" id="{F1645DDE-D1CC-40FF-9D45-1D091C453399}"/>
              </a:ext>
            </a:extLst>
          </p:cNvPr>
          <p:cNvGraphicFramePr/>
          <p:nvPr/>
        </p:nvGraphicFramePr>
        <p:xfrm>
          <a:off xmlns:a="http://schemas.openxmlformats.org/drawingml/2006/main" x="647700" y="1866900"/>
          <a:ext xmlns:a="http://schemas.openxmlformats.org/drawingml/2006/main" cx="10896600" cy="3486150"/>
        </p:xfrm>
        <a:graphic xmlns:a="http://schemas.openxmlformats.org/drawingml/2006/main">
          <a:graphicData uri="http://schemas.openxmlformats.org/drawingml/2006/table">
            <a:tbl>
              <a:tblPr/>
              <a:tblGrid>
                <a:gridCol w="2179320"/>
                <a:gridCol w="2179320"/>
                <a:gridCol w="2179320"/>
                <a:gridCol w="2179320"/>
                <a:gridCol w="2179320"/>
              </a:tblGrid>
              <a:tr h="800100">
                <a:tc>
                  <a:txBody>
                    <a:bodyPr lIns="114300" tIns="114300" rIns="114300" bIns="114300">
                      <a:noAutofit/>
                    </a:bodyPr>
                    <a:lstStyle/>
                    <a:p>
                      <a:r>
                        <a:rPr sz="180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ESBL-E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Inducible AmpC-E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KPC-E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NDM-E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00100">
                <a:tc>
                  <a:txBody>
                    <a:bodyPr lIns="114300" tIns="114300" rIns="114300" bIns="114300">
                      <a:noAutofit/>
                    </a:bodyPr>
                    <a:lstStyle/>
                    <a:p>
                      <a:r>
                        <a:rPr sz="1800" b="0">
                          <a:solidFill>
                            <a:srgbClr val="16323B"/>
                          </a:solidFill>
                          <a:latin typeface="DejaVu Sans"/>
                          <a:ea typeface="DejaVu Sans"/>
                          <a:cs typeface="DejaVu Sans"/>
                        </a:rPr>
                        <a:t>Ceftazidime–avibactam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Reserve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Reserve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 NDM alone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00100">
                <a:tc>
                  <a:txBody>
                    <a:bodyPr lIns="114300" tIns="114300" rIns="114300" bIns="114300">
                      <a:noAutofit/>
                    </a:bodyPr>
                    <a:lstStyle/>
                    <a:p>
                      <a:r>
                        <a:rPr sz="1800" b="0">
                          <a:solidFill>
                            <a:srgbClr val="16323B"/>
                          </a:solidFill>
                          <a:latin typeface="DejaVu Sans"/>
                          <a:ea typeface="DejaVu Sans"/>
                          <a:cs typeface="DejaVu Sans"/>
                        </a:rPr>
                        <a:t>Meropenem–vaborbactam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Caution Reserve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Caution Reserve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085850">
                <a:tc>
                  <a:txBody>
                    <a:bodyPr lIns="114300" tIns="114300" rIns="114300" bIns="114300">
                      <a:noAutofit/>
                    </a:bodyPr>
                    <a:lstStyle/>
                    <a:p>
                      <a:r>
                        <a:rPr sz="1800" b="0">
                          <a:solidFill>
                            <a:srgbClr val="16323B"/>
                          </a:solidFill>
                          <a:latin typeface="DejaVu Sans"/>
                          <a:ea typeface="DejaVu Sans"/>
                          <a:cs typeface="DejaVu Sans"/>
                        </a:rPr>
                        <a:t>Imipenem–cilastatin–relebactam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Reserve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Reserve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9D30601-532E-4E2F-9931-C4B52CC865E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1E1CF2D-E2DE-4A8C-A69A-099430E92AC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299572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F07F78D-E010-407E-835F-2385DA76DEA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graphicFrame>
        <p:nvGraphicFramePr>
          <p:cNvPr id="2" name="">
            <a:extLst xmlns:a="http://schemas.openxmlformats.org/drawingml/2006/main">
              <a:ext uri="{FF2B5EF4-FFF2-40B4-BE49-F238E27FC236}">
                <a16:creationId xmlns:a16="http://schemas.microsoft.com/office/drawing/2014/main" id="{E3097B6F-6338-445B-B027-F26FD85E4A18}"/>
              </a:ext>
            </a:extLst>
          </p:cNvPr>
          <p:cNvGraphicFramePr/>
          <p:nvPr/>
        </p:nvGraphicFramePr>
        <p:xfrm>
          <a:off xmlns:a="http://schemas.openxmlformats.org/drawingml/2006/main" x="647700" y="1866900"/>
          <a:ext xmlns:a="http://schemas.openxmlformats.org/drawingml/2006/main" cx="10896600" cy="3200400"/>
        </p:xfrm>
        <a:graphic xmlns:a="http://schemas.openxmlformats.org/drawingml/2006/main">
          <a:graphicData uri="http://schemas.openxmlformats.org/drawingml/2006/table">
            <a:tbl>
              <a:tblPr/>
              <a:tblGrid>
                <a:gridCol w="2179320"/>
                <a:gridCol w="2179320"/>
                <a:gridCol w="2179320"/>
                <a:gridCol w="2179320"/>
                <a:gridCol w="2179320"/>
              </a:tblGrid>
              <a:tr h="800100">
                <a:tc>
                  <a:txBody>
                    <a:bodyPr lIns="114300" tIns="114300" rIns="114300" bIns="114300">
                      <a:noAutofit/>
                    </a:bodyPr>
                    <a:lstStyle/>
                    <a:p>
                      <a:r>
                        <a:rPr sz="180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ESBL-E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Inducible AmpC-E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KPC-E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NDM-E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00100">
                <a:tc>
                  <a:txBody>
                    <a:bodyPr lIns="114300" tIns="114300" rIns="114300" bIns="114300">
                      <a:noAutofit/>
                    </a:bodyPr>
                    <a:lstStyle/>
                    <a:p>
                      <a:r>
                        <a:rPr sz="1800" b="0">
                          <a:solidFill>
                            <a:srgbClr val="16323B"/>
                          </a:solidFill>
                          <a:latin typeface="DejaVu Sans"/>
                          <a:ea typeface="DejaVu Sans"/>
                          <a:cs typeface="DejaVu Sans"/>
                        </a:rPr>
                        <a:t>Aztreonam–avibactam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Reserve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Reserve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Alternative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 Confirm AST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00100">
                <a:tc>
                  <a:txBody>
                    <a:bodyPr lIns="114300" tIns="114300" rIns="114300" bIns="114300">
                      <a:noAutofit/>
                    </a:bodyPr>
                    <a:lstStyle/>
                    <a:p>
                      <a:r>
                        <a:rPr sz="1800" b="0">
                          <a:solidFill>
                            <a:srgbClr val="16323B"/>
                          </a:solidFill>
                          <a:latin typeface="DejaVu Sans"/>
                          <a:ea typeface="DejaVu Sans"/>
                          <a:cs typeface="DejaVu Sans"/>
                        </a:rPr>
                        <a:t>Cefiderocol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Caution Reserve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Caution Reserve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Caution Alternative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 Confirm AST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00100">
                <a:tc>
                  <a:txBody>
                    <a:bodyPr lIns="114300" tIns="114300" rIns="114300" bIns="114300">
                      <a:noAutofit/>
                    </a:bodyPr>
                    <a:lstStyle/>
                    <a:p>
                      <a:r>
                        <a:rPr sz="1800" b="0">
                          <a:solidFill>
                            <a:srgbClr val="16323B"/>
                          </a:solidFill>
                          <a:latin typeface="DejaVu Sans"/>
                          <a:ea typeface="DejaVu Sans"/>
                          <a:cs typeface="DejaVu Sans"/>
                        </a:rPr>
                        <a:t>TMP–SMX</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40DD405-5A3C-4A21-A449-8184BD48B1D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C75F142-BE75-419A-93AB-10E1AA4CC48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20403396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0386A1A-4485-448D-9C93-9896A2E661B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graphicFrame>
        <p:nvGraphicFramePr>
          <p:cNvPr id="2" name="">
            <a:extLst xmlns:a="http://schemas.openxmlformats.org/drawingml/2006/main">
              <a:ext uri="{FF2B5EF4-FFF2-40B4-BE49-F238E27FC236}">
                <a16:creationId xmlns:a16="http://schemas.microsoft.com/office/drawing/2014/main" id="{AB88A875-9E9C-444E-AEEF-38C71FB3CEB5}"/>
              </a:ext>
            </a:extLst>
          </p:cNvPr>
          <p:cNvGraphicFramePr/>
          <p:nvPr/>
        </p:nvGraphicFramePr>
        <p:xfrm>
          <a:off xmlns:a="http://schemas.openxmlformats.org/drawingml/2006/main" x="647700" y="1866900"/>
          <a:ext xmlns:a="http://schemas.openxmlformats.org/drawingml/2006/main" cx="10896600" cy="1600200"/>
        </p:xfrm>
        <a:graphic xmlns:a="http://schemas.openxmlformats.org/drawingml/2006/main">
          <a:graphicData uri="http://schemas.openxmlformats.org/drawingml/2006/table">
            <a:tbl>
              <a:tblPr/>
              <a:tblGrid>
                <a:gridCol w="2179320"/>
                <a:gridCol w="2179320"/>
                <a:gridCol w="2179320"/>
                <a:gridCol w="2179320"/>
                <a:gridCol w="2179320"/>
              </a:tblGrid>
              <a:tr h="800100">
                <a:tc>
                  <a:txBody>
                    <a:bodyPr lIns="114300" tIns="114300" rIns="114300" bIns="114300">
                      <a:noAutofit/>
                    </a:bodyPr>
                    <a:lstStyle/>
                    <a:p>
                      <a:r>
                        <a:rPr sz="180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ESBL-E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Inducible AmpC-E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KPC-E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NDM-E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00100">
                <a:tc>
                  <a:txBody>
                    <a:bodyPr lIns="114300" tIns="114300" rIns="114300" bIns="114300">
                      <a:noAutofit/>
                    </a:bodyPr>
                    <a:lstStyle/>
                    <a:p>
                      <a:r>
                        <a:rPr sz="1800" b="0">
                          <a:solidFill>
                            <a:srgbClr val="16323B"/>
                          </a:solidFill>
                          <a:latin typeface="DejaVu Sans"/>
                          <a:ea typeface="DejaVu Sans"/>
                          <a:cs typeface="DejaVu Sans"/>
                        </a:rPr>
                        <a:t>Levofloxacin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C970BC0-D720-447C-BC9B-B530B1EB8B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402CD20-4A1A-4158-B04C-3E40012984E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7530597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A45A73-2388-40A6-8CB8-ABC0F2ECA6F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graphicFrame>
        <p:nvGraphicFramePr>
          <p:cNvPr id="2" name="">
            <a:extLst xmlns:a="http://schemas.openxmlformats.org/drawingml/2006/main">
              <a:ext uri="{FF2B5EF4-FFF2-40B4-BE49-F238E27FC236}">
                <a16:creationId xmlns:a16="http://schemas.microsoft.com/office/drawing/2014/main" id="{D0BAE56D-2D30-4188-998C-D44C4950B513}"/>
              </a:ext>
            </a:extLst>
          </p:cNvPr>
          <p:cNvGraphicFramePr/>
          <p:nvPr/>
        </p:nvGraphicFramePr>
        <p:xfrm>
          <a:off xmlns:a="http://schemas.openxmlformats.org/drawingml/2006/main" x="647700" y="1866900"/>
          <a:ext xmlns:a="http://schemas.openxmlformats.org/drawingml/2006/main" cx="10896600" cy="2057400"/>
        </p:xfrm>
        <a:graphic xmlns:a="http://schemas.openxmlformats.org/drawingml/2006/main">
          <a:graphicData uri="http://schemas.openxmlformats.org/drawingml/2006/table">
            <a:tbl>
              <a:tblPr/>
              <a:tblGrid>
                <a:gridCol w="3632200"/>
                <a:gridCol w="3632200"/>
                <a:gridCol w="3632200"/>
              </a:tblGrid>
              <a:tr h="514350">
                <a:tc>
                  <a:txBody>
                    <a:bodyPr lIns="114300" tIns="114300" rIns="114300" bIns="114300">
                      <a:noAutofit/>
                    </a:bodyPr>
                    <a:lstStyle/>
                    <a:p>
                      <a:r>
                        <a:rPr sz="180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OXA-48-like-E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DTR Pseudomonas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Ceftriaxone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Avoid Unreliable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Piperacillin–tazobactam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Cefepime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Avoid Unreliable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054BA25-7AC0-4241-8C6F-ACDFFCFFCE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6E03F9B-DB1D-4408-A428-2E1DDE07372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145181269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82E5302-27DC-403F-A84F-805BACE870C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graphicFrame>
        <p:nvGraphicFramePr>
          <p:cNvPr id="2" name="">
            <a:extLst xmlns:a="http://schemas.openxmlformats.org/drawingml/2006/main">
              <a:ext uri="{FF2B5EF4-FFF2-40B4-BE49-F238E27FC236}">
                <a16:creationId xmlns:a16="http://schemas.microsoft.com/office/drawing/2014/main" id="{976B33DF-AE8E-497F-A817-453F69057029}"/>
              </a:ext>
            </a:extLst>
          </p:cNvPr>
          <p:cNvGraphicFramePr/>
          <p:nvPr/>
        </p:nvGraphicFramePr>
        <p:xfrm>
          <a:off xmlns:a="http://schemas.openxmlformats.org/drawingml/2006/main" x="647700" y="1866900"/>
          <a:ext xmlns:a="http://schemas.openxmlformats.org/drawingml/2006/main" cx="10896600" cy="2343150"/>
        </p:xfrm>
        <a:graphic xmlns:a="http://schemas.openxmlformats.org/drawingml/2006/main">
          <a:graphicData uri="http://schemas.openxmlformats.org/drawingml/2006/table">
            <a:tbl>
              <a:tblPr/>
              <a:tblGrid>
                <a:gridCol w="3632200"/>
                <a:gridCol w="3632200"/>
                <a:gridCol w="3632200"/>
              </a:tblGrid>
              <a:tr h="514350">
                <a:tc>
                  <a:txBody>
                    <a:bodyPr lIns="114300" tIns="114300" rIns="114300" bIns="114300">
                      <a:noAutofit/>
                    </a:bodyPr>
                    <a:lstStyle/>
                    <a:p>
                      <a:r>
                        <a:rPr sz="180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OXA-48-like-E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DTR Pseudomonas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00100">
                <a:tc>
                  <a:txBody>
                    <a:bodyPr lIns="114300" tIns="114300" rIns="114300" bIns="114300">
                      <a:noAutofit/>
                    </a:bodyPr>
                    <a:lstStyle/>
                    <a:p>
                      <a:r>
                        <a:rPr sz="1800" b="0">
                          <a:solidFill>
                            <a:srgbClr val="16323B"/>
                          </a:solidFill>
                          <a:latin typeface="DejaVu Sans"/>
                          <a:ea typeface="DejaVu Sans"/>
                          <a:cs typeface="DejaVu Sans"/>
                        </a:rPr>
                        <a:t>Meropenem / imipenem–cilastatin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Avoid Unreliable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Ertapenem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Ceftolozane–tazobactam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no MBL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93B0467-5C39-4CA7-BCD7-0C4FE37A88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9C4A1B3-C532-4F6D-A13C-F0E1770ACE3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6263107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5F25BF-AA7D-4F38-B312-85B44D5E25D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graphicFrame>
        <p:nvGraphicFramePr>
          <p:cNvPr id="2" name="">
            <a:extLst xmlns:a="http://schemas.openxmlformats.org/drawingml/2006/main">
              <a:ext uri="{FF2B5EF4-FFF2-40B4-BE49-F238E27FC236}">
                <a16:creationId xmlns:a16="http://schemas.microsoft.com/office/drawing/2014/main" id="{B7CF78D6-C52A-4CE0-BC0F-9F3730AE57D5}"/>
              </a:ext>
            </a:extLst>
          </p:cNvPr>
          <p:cNvGraphicFramePr/>
          <p:nvPr/>
        </p:nvGraphicFramePr>
        <p:xfrm>
          <a:off xmlns:a="http://schemas.openxmlformats.org/drawingml/2006/main" x="647700" y="1866900"/>
          <a:ext xmlns:a="http://schemas.openxmlformats.org/drawingml/2006/main" cx="10896600" cy="2343150"/>
        </p:xfrm>
        <a:graphic xmlns:a="http://schemas.openxmlformats.org/drawingml/2006/main">
          <a:graphicData uri="http://schemas.openxmlformats.org/drawingml/2006/table">
            <a:tbl>
              <a:tblPr/>
              <a:tblGrid>
                <a:gridCol w="3632200"/>
                <a:gridCol w="3632200"/>
                <a:gridCol w="3632200"/>
              </a:tblGrid>
              <a:tr h="514350">
                <a:tc>
                  <a:txBody>
                    <a:bodyPr lIns="114300" tIns="114300" rIns="114300" bIns="114300">
                      <a:noAutofit/>
                    </a:bodyPr>
                    <a:lstStyle/>
                    <a:p>
                      <a:r>
                        <a:rPr sz="180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OXA-48-like-E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DTR Pseudomonas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Ceftazidime–avibactam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no MBL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Meropenem–vaborbactam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Avoid Inhibitor mismatch</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Avoid No added benefit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00100">
                <a:tc>
                  <a:txBody>
                    <a:bodyPr lIns="114300" tIns="114300" rIns="114300" bIns="114300">
                      <a:noAutofit/>
                    </a:bodyPr>
                    <a:lstStyle/>
                    <a:p>
                      <a:r>
                        <a:rPr sz="1800" b="0">
                          <a:solidFill>
                            <a:srgbClr val="16323B"/>
                          </a:solidFill>
                          <a:latin typeface="DejaVu Sans"/>
                          <a:ea typeface="DejaVu Sans"/>
                          <a:cs typeface="DejaVu Sans"/>
                        </a:rPr>
                        <a:t>Imipenem–cilastatin–relebactam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Avoid Inhibitor mismatch</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no MBL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A3DE685-1B45-4D1B-9CA7-D290BDEB79B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1511B82-7387-43ED-9B24-98C98C216E0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5076593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AA1D15-072C-4CCC-B799-F14C867BD09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graphicFrame>
        <p:nvGraphicFramePr>
          <p:cNvPr id="2" name="">
            <a:extLst xmlns:a="http://schemas.openxmlformats.org/drawingml/2006/main">
              <a:ext uri="{FF2B5EF4-FFF2-40B4-BE49-F238E27FC236}">
                <a16:creationId xmlns:a16="http://schemas.microsoft.com/office/drawing/2014/main" id="{2B19C9C9-9C51-4ACF-9718-ADC8755A186D}"/>
              </a:ext>
            </a:extLst>
          </p:cNvPr>
          <p:cNvGraphicFramePr/>
          <p:nvPr/>
        </p:nvGraphicFramePr>
        <p:xfrm>
          <a:off xmlns:a="http://schemas.openxmlformats.org/drawingml/2006/main" x="647700" y="1866900"/>
          <a:ext xmlns:a="http://schemas.openxmlformats.org/drawingml/2006/main" cx="10896600" cy="2057400"/>
        </p:xfrm>
        <a:graphic xmlns:a="http://schemas.openxmlformats.org/drawingml/2006/main">
          <a:graphicData uri="http://schemas.openxmlformats.org/drawingml/2006/table">
            <a:tbl>
              <a:tblPr/>
              <a:tblGrid>
                <a:gridCol w="3632200"/>
                <a:gridCol w="3632200"/>
                <a:gridCol w="3632200"/>
              </a:tblGrid>
              <a:tr h="514350">
                <a:tc>
                  <a:txBody>
                    <a:bodyPr lIns="114300" tIns="114300" rIns="114300" bIns="114300">
                      <a:noAutofit/>
                    </a:bodyPr>
                    <a:lstStyle/>
                    <a:p>
                      <a:r>
                        <a:rPr sz="180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OXA-48-like-E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DTR Pseudomonas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Aztreonam–avibactam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Alternative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Avoid Limited activity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Cefiderocol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Caution Alternative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Caution AST; MBL option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TMP–SMX</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CCEFF14-8B25-4572-9D23-112DE446249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16B3AAC-4F25-4C73-B967-D653CDED855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61215195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0DD7043-7D35-4E68-8466-3A8077B1DC3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graphicFrame>
        <p:nvGraphicFramePr>
          <p:cNvPr id="2" name="">
            <a:extLst xmlns:a="http://schemas.openxmlformats.org/drawingml/2006/main">
              <a:ext uri="{FF2B5EF4-FFF2-40B4-BE49-F238E27FC236}">
                <a16:creationId xmlns:a16="http://schemas.microsoft.com/office/drawing/2014/main" id="{5ADFFC2E-79F0-4495-A9FE-CC03C2ED77E4}"/>
              </a:ext>
            </a:extLst>
          </p:cNvPr>
          <p:cNvGraphicFramePr/>
          <p:nvPr/>
        </p:nvGraphicFramePr>
        <p:xfrm>
          <a:off xmlns:a="http://schemas.openxmlformats.org/drawingml/2006/main" x="647700" y="1866900"/>
          <a:ext xmlns:a="http://schemas.openxmlformats.org/drawingml/2006/main" cx="10896600" cy="1028700"/>
        </p:xfrm>
        <a:graphic xmlns:a="http://schemas.openxmlformats.org/drawingml/2006/main">
          <a:graphicData uri="http://schemas.openxmlformats.org/drawingml/2006/table">
            <a:tbl>
              <a:tblPr/>
              <a:tblGrid>
                <a:gridCol w="3632200"/>
                <a:gridCol w="3632200"/>
                <a:gridCol w="3632200"/>
              </a:tblGrid>
              <a:tr h="514350">
                <a:tc>
                  <a:txBody>
                    <a:bodyPr lIns="114300" tIns="114300" rIns="114300" bIns="114300">
                      <a:noAutofit/>
                    </a:bodyPr>
                    <a:lstStyle/>
                    <a:p>
                      <a:r>
                        <a:rPr sz="180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OXA-48-like-E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DTR Pseudomonas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Levofloxacin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Caution AST;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02B8896-3F3F-433C-9E08-5145EB734FA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D886CE6-4B7D-4394-ADE2-CA3B0834A58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44508684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36C0AD0-C211-438D-922D-FCCF18E9900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matrix to connect resistance with treatment</a:t>
            </a:r>
          </a:p>
        </p:txBody>
      </p:sp>
      <p:sp>
        <p:nvSpPr>
          <p:cNvPr id="2" name="paragraph-0">
            <a:extLst xmlns:a="http://schemas.openxmlformats.org/drawingml/2006/main">
              <a:ext uri="{FF2B5EF4-FFF2-40B4-BE49-F238E27FC236}">
                <a16:creationId xmlns:a16="http://schemas.microsoft.com/office/drawing/2014/main" id="{83B64F12-1154-4FC9-9757-4274C716BC9F}"/>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 = Enterobacterales. AmpC column assumes a species at moderate risk for inducible AmpC, without an additional ESBL or carbapenemase. DTR = nonsusceptible to the usual antipseudomonal beta-lactams and fluoroquinolones. MBL = metallo-beta-lactamase. The NDM-E column does not apply to MBL-producing Pseudomonas.</a:t>
            </a:r>
          </a:p>
        </p:txBody>
      </p:sp>
      <p:sp>
        <p:nvSpPr>
          <p:cNvPr id="3" name="footer">
            <a:extLst xmlns:a="http://schemas.openxmlformats.org/drawingml/2006/main">
              <a:ext uri="{FF2B5EF4-FFF2-40B4-BE49-F238E27FC236}">
                <a16:creationId xmlns:a16="http://schemas.microsoft.com/office/drawing/2014/main" id="{CEA682E9-413A-4ED4-A749-05DE2BB414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A46999B-73EC-4ACD-9534-ADB9A4D6CB6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164947039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BF571FA-BA69-4741-AFCB-9F4DB622CC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Recognize these three patterns</a:t>
            </a:r>
          </a:p>
        </p:txBody>
      </p:sp>
      <p:sp>
        <p:nvSpPr>
          <p:cNvPr id="2" name="paragraph-0">
            <a:extLst xmlns:a="http://schemas.openxmlformats.org/drawingml/2006/main">
              <a:ext uri="{FF2B5EF4-FFF2-40B4-BE49-F238E27FC236}">
                <a16:creationId xmlns:a16="http://schemas.microsoft.com/office/drawing/2014/main" id="{385E515B-B39D-444D-8D54-8D6CAAFEE9F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ESBL versus AmpC — For invasive ESBL, start with a carbapenem. For susceptible inducible AmpC, optimized cefepime is a key option. Moderate-risk species include E. cloacae complex, K. aerogenes, C. freundii, and H. alvei.</a:t>
            </a:r>
          </a:p>
        </p:txBody>
      </p:sp>
      <p:sp>
        <p:nvSpPr>
          <p:cNvPr id="3" name="paragraph-1">
            <a:extLst xmlns:a="http://schemas.openxmlformats.org/drawingml/2006/main">
              <a:ext uri="{FF2B5EF4-FFF2-40B4-BE49-F238E27FC236}">
                <a16:creationId xmlns:a16="http://schemas.microsoft.com/office/drawing/2014/main" id="{2D1AC4BD-D86C-4EFF-88DB-7A06B64CE9F7}"/>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Match the CRE inhibitor — KPC has several active inhibitor combinations; NDM requires aztreonam-avibactam or cefiderocol; OXA-48-like favors ceftazidime-avibactam. NDM can coexist with enzymes that destroy aztreonam alone.</a:t>
            </a:r>
          </a:p>
        </p:txBody>
      </p:sp>
      <p:sp>
        <p:nvSpPr>
          <p:cNvPr id="4" name="footer">
            <a:extLst xmlns:a="http://schemas.openxmlformats.org/drawingml/2006/main">
              <a:ext uri="{FF2B5EF4-FFF2-40B4-BE49-F238E27FC236}">
                <a16:creationId xmlns:a16="http://schemas.microsoft.com/office/drawing/2014/main" id="{144C228F-E245-44EC-BBE8-5F8C16093D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418E2E5B-DABD-466B-A907-BB82F5E5D8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67897692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0F91581-1E54-4360-B8BC-6470E498C40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Recognize these three patterns</a:t>
            </a:r>
          </a:p>
        </p:txBody>
      </p:sp>
      <p:sp>
        <p:nvSpPr>
          <p:cNvPr id="2" name="paragraph-0">
            <a:extLst xmlns:a="http://schemas.openxmlformats.org/drawingml/2006/main">
              <a:ext uri="{FF2B5EF4-FFF2-40B4-BE49-F238E27FC236}">
                <a16:creationId xmlns:a16="http://schemas.microsoft.com/office/drawing/2014/main" id="{5B30E5D2-F797-4411-B693-EED011D27B8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DTR Pseudomonas — Request AST for ceftolozane-tazobactam, ceftazidime-avibactam, imipenem-relebactam, and cefiderocol. For MBL producers, cefiderocol is the preferred option if active.</a:t>
            </a:r>
          </a:p>
        </p:txBody>
      </p:sp>
      <p:sp>
        <p:nvSpPr>
          <p:cNvPr id="3" name="paragraph-1">
            <a:extLst xmlns:a="http://schemas.openxmlformats.org/drawingml/2006/main">
              <a:ext uri="{FF2B5EF4-FFF2-40B4-BE49-F238E27FC236}">
                <a16:creationId xmlns:a16="http://schemas.microsoft.com/office/drawing/2014/main" id="{F4B251FC-66FA-41C7-9AC5-8025D1017EDB}"/>
              </a:ext>
            </a:extLst>
          </p:cNvPr>
          <p:cNvSpPr>
            <a:spLocks xmlns:a="http://schemas.openxmlformats.org/drawingml/2006/main" noGrp="1"/>
          </p:cNvSpPr>
          <p:nvPr/>
        </p:nvSpPr>
        <p:spPr>
          <a:xfrm xmlns:a="http://schemas.openxmlformats.org/drawingml/2006/main">
            <a:off x="647700" y="326707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Scope exceptions: piperacillin-tazobactam can be an alternative for ESBL complicated UTI in the 2026 guidance; this does not establish a role in ESBL bacteremia. Avoid ertapenem initially in critical illness or hypoalbuminemia. Selected AmpC ceftriaxone continuation exceptions and non-carbapenemase CRE are covered in the optional section.</a:t>
            </a:r>
          </a:p>
        </p:txBody>
      </p:sp>
      <p:sp>
        <p:nvSpPr>
          <p:cNvPr id="4" name="footer">
            <a:extLst xmlns:a="http://schemas.openxmlformats.org/drawingml/2006/main">
              <a:ext uri="{FF2B5EF4-FFF2-40B4-BE49-F238E27FC236}">
                <a16:creationId xmlns:a16="http://schemas.microsoft.com/office/drawing/2014/main" id="{7A992757-4F01-4E19-9A71-EBF4C29F2E0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27505B25-B020-4C13-A8C7-37A7C2B9756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127387776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48F56C-EA19-4B26-BF37-99D7E01C97A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Recognize these three patterns</a:t>
            </a:r>
          </a:p>
        </p:txBody>
      </p:sp>
      <p:graphicFrame>
        <p:nvGraphicFramePr>
          <p:cNvPr id="2" name="">
            <a:extLst xmlns:a="http://schemas.openxmlformats.org/drawingml/2006/main">
              <a:ext uri="{FF2B5EF4-FFF2-40B4-BE49-F238E27FC236}">
                <a16:creationId xmlns:a16="http://schemas.microsoft.com/office/drawing/2014/main" id="{DF78C101-CD95-4375-9CFF-E8769951DFF7}"/>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CRAB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 maltophilia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Meropenem / imipenem alone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 Partner ≠ monotherapy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Sulbactam–durlobactam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Caution Add carbapenem</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Avoid Not a treatment option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Cefiderocol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Caution Alternative; combination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Caution Preferred; limited human data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F4582D6-548D-4FBA-A0A9-E4C79784276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4D2C22C-5CB8-4B77-81FA-1CA039C45DE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151324606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C224005-E939-43C7-8BC9-4256077ED01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Recognize these three patterns</a:t>
            </a:r>
          </a:p>
        </p:txBody>
      </p:sp>
      <p:graphicFrame>
        <p:nvGraphicFramePr>
          <p:cNvPr id="2" name="">
            <a:extLst xmlns:a="http://schemas.openxmlformats.org/drawingml/2006/main">
              <a:ext uri="{FF2B5EF4-FFF2-40B4-BE49-F238E27FC236}">
                <a16:creationId xmlns:a16="http://schemas.microsoft.com/office/drawing/2014/main" id="{E7AF94A3-D791-4B8C-9A6A-5EC937E7EB9C}"/>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CRAB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 maltophilia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TMP–SMX</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Avoid Not standard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Caution AST; combination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Levofloxacin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Avoid Not standard therapy</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Caution AST; combination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Minocycline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Caution AST; combination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Caution AST; combination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ABDE096-091E-48BD-90D8-FDA7A59B9DF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2C08A4B-DA10-4781-90C0-92B51B5291C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87511277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CD21682-7CBA-434B-BDB4-92F0F0CCF0E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Recognize these three patterns</a:t>
            </a:r>
          </a:p>
        </p:txBody>
      </p:sp>
      <p:sp>
        <p:nvSpPr>
          <p:cNvPr id="2" name="paragraph-0">
            <a:extLst xmlns:a="http://schemas.openxmlformats.org/drawingml/2006/main">
              <a:ext uri="{FF2B5EF4-FFF2-40B4-BE49-F238E27FC236}">
                <a16:creationId xmlns:a16="http://schemas.microsoft.com/office/drawing/2014/main" id="{B2105773-767B-4169-940F-05F82CD61E08}"/>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CRAB = carbapenem-resistant A. baumannii. Sulbactam-durlobactam plus meropenem or imipenem-cilastatin is preferred for invasive CRAB when active. For invasive S. maltophilia, 2026 IDSA guidance favors cefiderocol monotherapy, with limited human comparative evidence; TMP-SMX, levofloxacin, and minocycline are alternative combination components.</a:t>
            </a:r>
          </a:p>
        </p:txBody>
      </p:sp>
      <p:sp>
        <p:nvSpPr>
          <p:cNvPr id="3" name="footer">
            <a:extLst xmlns:a="http://schemas.openxmlformats.org/drawingml/2006/main">
              <a:ext uri="{FF2B5EF4-FFF2-40B4-BE49-F238E27FC236}">
                <a16:creationId xmlns:a16="http://schemas.microsoft.com/office/drawing/2014/main" id="{D7CF0F58-6E82-41B1-9B12-FC939C4FAB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4133FF5-4DF6-4939-82EC-A8252273891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5690722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CA7B1BE-BEF1-44D1-BADF-EFF5ECDFF7F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Recognize these three patterns</a:t>
            </a:r>
          </a:p>
        </p:txBody>
      </p:sp>
      <p:graphicFrame>
        <p:nvGraphicFramePr>
          <p:cNvPr id="2" name="">
            <a:extLst xmlns:a="http://schemas.openxmlformats.org/drawingml/2006/main">
              <a:ext uri="{FF2B5EF4-FFF2-40B4-BE49-F238E27FC236}">
                <a16:creationId xmlns:a16="http://schemas.microsoft.com/office/drawing/2014/main" id="{764F20E3-4B1C-49CC-ABDB-0D7B15E769AD}"/>
              </a:ext>
            </a:extLst>
          </p:cNvPr>
          <p:cNvGraphicFramePr/>
          <p:nvPr/>
        </p:nvGraphicFramePr>
        <p:xfrm>
          <a:off xmlns:a="http://schemas.openxmlformats.org/drawingml/2006/main" x="647700" y="1866900"/>
          <a:ext xmlns:a="http://schemas.openxmlformats.org/drawingml/2006/main" cx="10896600" cy="2152650"/>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MRSA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VRE E. faecium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Cefazolin / oxacillin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Ampicillin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Caution Usually R; AST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Ceftaroline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Caution AST; syndrome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5E83DF0-C08C-48DC-AB61-13D543F620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CAB50E8-5558-40DC-ADB0-3496776713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2376170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875ABE1-BEE1-498A-A2B7-AEE6BAD648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Recognize these three patterns</a:t>
            </a:r>
          </a:p>
        </p:txBody>
      </p:sp>
      <p:graphicFrame>
        <p:nvGraphicFramePr>
          <p:cNvPr id="2" name="">
            <a:extLst xmlns:a="http://schemas.openxmlformats.org/drawingml/2006/main">
              <a:ext uri="{FF2B5EF4-FFF2-40B4-BE49-F238E27FC236}">
                <a16:creationId xmlns:a16="http://schemas.microsoft.com/office/drawing/2014/main" id="{85825C55-A791-4897-8239-79005297A38A}"/>
              </a:ext>
            </a:extLst>
          </p:cNvPr>
          <p:cNvGraphicFramePr/>
          <p:nvPr/>
        </p:nvGraphicFramePr>
        <p:xfrm>
          <a:off xmlns:a="http://schemas.openxmlformats.org/drawingml/2006/main" x="647700" y="1866900"/>
          <a:ext xmlns:a="http://schemas.openxmlformats.org/drawingml/2006/main" cx="10896600" cy="2152650"/>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MRSA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VRE E. faecium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Ceftobiprole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Caution AST; syndrome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Vancomycin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 Monitor exposure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Daptomycin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Caution No pneumonia</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Caution MIC; high dose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6E477B3-0F28-4B8B-B0C7-3BC51BB65AC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6BE301D-8570-4789-82B0-70A15B99772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1023360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8E355C-C68C-422F-BB5D-ACFAC8ABE98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Recognize these three patterns</a:t>
            </a:r>
          </a:p>
        </p:txBody>
      </p:sp>
      <p:graphicFrame>
        <p:nvGraphicFramePr>
          <p:cNvPr id="2" name="">
            <a:extLst xmlns:a="http://schemas.openxmlformats.org/drawingml/2006/main">
              <a:ext uri="{FF2B5EF4-FFF2-40B4-BE49-F238E27FC236}">
                <a16:creationId xmlns:a16="http://schemas.microsoft.com/office/drawing/2014/main" id="{59B13268-9CE4-4C79-8232-0346370DF47B}"/>
              </a:ext>
            </a:extLst>
          </p:cNvPr>
          <p:cNvGraphicFramePr/>
          <p:nvPr/>
        </p:nvGraphicFramePr>
        <p:xfrm>
          <a:off xmlns:a="http://schemas.openxmlformats.org/drawingml/2006/main" x="647700" y="1866900"/>
          <a:ext xmlns:a="http://schemas.openxmlformats.org/drawingml/2006/main" cx="10896600" cy="1076325"/>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Antibiotic</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MRSA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VRE E. faecium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Linezolid</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Caution Syndrome; CBC</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 Monitor CBC</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BC6B068-3DD5-4DCE-A84E-1ED08F0F12D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F57A0F5-630E-403B-A1A5-99CEF815367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120328207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D8CA4AA-B556-449A-845D-DDFB99C25BC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Account for the infection site</a:t>
            </a:r>
          </a:p>
        </p:txBody>
      </p:sp>
      <p:sp>
        <p:nvSpPr>
          <p:cNvPr id="2" name="paragraph-0">
            <a:extLst xmlns:a="http://schemas.openxmlformats.org/drawingml/2006/main">
              <a:ext uri="{FF2B5EF4-FFF2-40B4-BE49-F238E27FC236}">
                <a16:creationId xmlns:a16="http://schemas.microsoft.com/office/drawing/2014/main" id="{9B5EEADF-215A-4591-B6C2-6A35F0F26F1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MRSA — Vancomycin or daptomycin are established bacteremia options. For pneumonia, vancomycin or linezolid; daptomycin is inactivated by pulmonary surfactant.</a:t>
            </a:r>
          </a:p>
        </p:txBody>
      </p:sp>
      <p:sp>
        <p:nvSpPr>
          <p:cNvPr id="3" name="paragraph-1">
            <a:extLst xmlns:a="http://schemas.openxmlformats.org/drawingml/2006/main">
              <a:ext uri="{FF2B5EF4-FFF2-40B4-BE49-F238E27FC236}">
                <a16:creationId xmlns:a16="http://schemas.microsoft.com/office/drawing/2014/main" id="{B2B67437-A760-4D54-AE00-3B8AFF2EF001}"/>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VRE bacteremia — Linezolid or optimized high-dose daptomycin based on the MIC and patient factors. E. faecium daptomycin SDD is dose dependent, not permission to use a routine low dose. Ampicillin susceptibility is a separate question from vancomycin resistance.</a:t>
            </a:r>
          </a:p>
        </p:txBody>
      </p:sp>
      <p:sp>
        <p:nvSpPr>
          <p:cNvPr id="4" name="footer">
            <a:extLst xmlns:a="http://schemas.openxmlformats.org/drawingml/2006/main">
              <a:ext uri="{FF2B5EF4-FFF2-40B4-BE49-F238E27FC236}">
                <a16:creationId xmlns:a16="http://schemas.microsoft.com/office/drawing/2014/main" id="{E86EA4C4-8979-4CC3-A414-CB0F014B4E5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DFC395A-0931-4E87-9C5A-E66F6BA8DAA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17012111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F6A8416-A31A-470A-9FFC-EEC9F4AF518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Account for the infection site</a:t>
            </a:r>
          </a:p>
        </p:txBody>
      </p:sp>
      <p:sp>
        <p:nvSpPr>
          <p:cNvPr id="2" name="paragraph-0">
            <a:extLst xmlns:a="http://schemas.openxmlformats.org/drawingml/2006/main">
              <a:ext uri="{FF2B5EF4-FFF2-40B4-BE49-F238E27FC236}">
                <a16:creationId xmlns:a16="http://schemas.microsoft.com/office/drawing/2014/main" id="{64F333F1-C53E-47AB-8923-6DF2DCA1EAB6}"/>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CRAB and Stenotrophomonas — First establish infection. Remember the preferred regimens above; leave salvage combinations for the optional section.</a:t>
            </a:r>
          </a:p>
        </p:txBody>
      </p:sp>
      <p:sp>
        <p:nvSpPr>
          <p:cNvPr id="3" name="paragraph-1">
            <a:extLst xmlns:a="http://schemas.openxmlformats.org/drawingml/2006/main">
              <a:ext uri="{FF2B5EF4-FFF2-40B4-BE49-F238E27FC236}">
                <a16:creationId xmlns:a16="http://schemas.microsoft.com/office/drawing/2014/main" id="{67E6A52A-07FE-4A3A-B497-2D43BFD958DD}"/>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Matrix reviewed September 17, 2026. Teaching synthesis of IDSA AMR guidance and the linked gram-positive sources. Green S* = expected activity, yellow = conditional use, red R/Avoid = resistance or a reason to avoid. Confirm isolate-specific AST and site suitability.</a:t>
            </a:r>
          </a:p>
        </p:txBody>
      </p:sp>
      <p:sp>
        <p:nvSpPr>
          <p:cNvPr id="4" name="paragraph-2">
            <a:extLst xmlns:a="http://schemas.openxmlformats.org/drawingml/2006/main">
              <a:ext uri="{FF2B5EF4-FFF2-40B4-BE49-F238E27FC236}">
                <a16:creationId xmlns:a16="http://schemas.microsoft.com/office/drawing/2014/main" id="{4B9A789B-C614-48EF-9081-5A58D075F394}"/>
              </a:ext>
            </a:extLst>
          </p:cNvPr>
          <p:cNvSpPr>
            <a:spLocks xmlns:a="http://schemas.openxmlformats.org/drawingml/2006/main" noGrp="1"/>
          </p:cNvSpPr>
          <p:nvPr/>
        </p:nvSpPr>
        <p:spPr>
          <a:xfrm xmlns:a="http://schemas.openxmlformats.org/drawingml/2006/main">
            <a:off x="647700" y="49339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breakpoints , mrsa , zevtera , dapto-sdd , daptomycin , linezolid</a:t>
            </a:r>
          </a:p>
        </p:txBody>
      </p:sp>
      <p:sp>
        <p:nvSpPr>
          <p:cNvPr id="5" name="footer">
            <a:extLst xmlns:a="http://schemas.openxmlformats.org/drawingml/2006/main">
              <a:ext uri="{FF2B5EF4-FFF2-40B4-BE49-F238E27FC236}">
                <a16:creationId xmlns:a16="http://schemas.microsoft.com/office/drawing/2014/main" id="{CD694A77-7760-4C3F-8EBD-F304D131158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F4DDE524-9AF3-4053-A871-D44F9A37869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79668602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4F92A0-DA05-445B-9A4A-5626F36AD0D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Bladder versus kidney or blood</a:t>
            </a:r>
          </a:p>
        </p:txBody>
      </p:sp>
      <p:sp>
        <p:nvSpPr>
          <p:cNvPr id="2" name="paragraph-0">
            <a:extLst xmlns:a="http://schemas.openxmlformats.org/drawingml/2006/main">
              <a:ext uri="{FF2B5EF4-FFF2-40B4-BE49-F238E27FC236}">
                <a16:creationId xmlns:a16="http://schemas.microsoft.com/office/drawing/2014/main" id="{65991A9F-BF09-4645-A972-B665498254FA}"/>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Nitrofurantoin is not a pyelonephritis or bloodstream drug. Oral fosfomycin is not initial treatment for pyelonephritis or sepsis and is not routine bloodstream therapy. A selected transition after active IV treatment for improving E. coli complicated UTI is a separate use discussed in the antibiotic primer . Oral transition for invasive infection requires an active drug with adequate systemic exposure.</a:t>
            </a:r>
          </a:p>
        </p:txBody>
      </p:sp>
      <p:sp>
        <p:nvSpPr>
          <p:cNvPr id="3" name="footer">
            <a:extLst xmlns:a="http://schemas.openxmlformats.org/drawingml/2006/main">
              <a:ext uri="{FF2B5EF4-FFF2-40B4-BE49-F238E27FC236}">
                <a16:creationId xmlns:a16="http://schemas.microsoft.com/office/drawing/2014/main" id="{3587C4A3-F3A6-428D-A228-3E6BEF1C96A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607506C-F9A1-472E-B9AA-A7C91F77CA4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8922476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C3EA916-8D85-4108-8137-C578F28FD8F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Lung versus blood</a:t>
            </a:r>
          </a:p>
        </p:txBody>
      </p:sp>
      <p:sp>
        <p:nvSpPr>
          <p:cNvPr id="2" name="paragraph-0">
            <a:extLst xmlns:a="http://schemas.openxmlformats.org/drawingml/2006/main">
              <a:ext uri="{FF2B5EF4-FFF2-40B4-BE49-F238E27FC236}">
                <a16:creationId xmlns:a16="http://schemas.microsoft.com/office/drawing/2014/main" id="{97BD7805-F233-4BCB-9969-DA6C352816F4}"/>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Daptomycin can treat bacteremia but not alveolar pneumonia. A respiratory CRAB or Stenotrophomonas isolate needs a compatible syndrome before treatment. The matrix cannot distinguish a colonizer from the cause of pneumonia.</a:t>
            </a:r>
          </a:p>
        </p:txBody>
      </p:sp>
      <p:sp>
        <p:nvSpPr>
          <p:cNvPr id="3" name="footer">
            <a:extLst xmlns:a="http://schemas.openxmlformats.org/drawingml/2006/main">
              <a:ext uri="{FF2B5EF4-FFF2-40B4-BE49-F238E27FC236}">
                <a16:creationId xmlns:a16="http://schemas.microsoft.com/office/drawing/2014/main" id="{A079D86D-338B-4671-8641-B6286ABBB01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38F6CEB-CB1E-4257-B102-AB83536ACB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47955902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CBC3880-0A42-4554-861B-EF13FEF8AC3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Exposure and toxicity</a:t>
            </a:r>
          </a:p>
        </p:txBody>
      </p:sp>
      <p:sp>
        <p:nvSpPr>
          <p:cNvPr id="2" name="paragraph-0">
            <a:extLst xmlns:a="http://schemas.openxmlformats.org/drawingml/2006/main">
              <a:ext uri="{FF2B5EF4-FFF2-40B4-BE49-F238E27FC236}">
                <a16:creationId xmlns:a16="http://schemas.microsoft.com/office/drawing/2014/main" id="{043188EE-8290-4998-B2DD-FCBD308F2AB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Match dose and infusion to the MIC, site, and renal function. Cefepime accumulation can cause neurotoxicity. Monitor potassium, renal function, and CBC with TMP-SMX; CBC with linezolid; CK with daptomycin. Use pharmacy support for vancomycin and complex dosing.</a:t>
            </a:r>
          </a:p>
        </p:txBody>
      </p:sp>
      <p:sp>
        <p:nvSpPr>
          <p:cNvPr id="3" name="footer">
            <a:extLst xmlns:a="http://schemas.openxmlformats.org/drawingml/2006/main">
              <a:ext uri="{FF2B5EF4-FFF2-40B4-BE49-F238E27FC236}">
                <a16:creationId xmlns:a16="http://schemas.microsoft.com/office/drawing/2014/main" id="{E28A22F0-E4B6-4AD7-9081-D0C3C11236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1DD0133-B587-45A4-8877-522BABA50F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11090924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AAE23EC-835F-46D6-B503-44518E69BEE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Control the source, then narrow</a:t>
            </a:r>
          </a:p>
        </p:txBody>
      </p:sp>
      <p:sp>
        <p:nvSpPr>
          <p:cNvPr id="2" name="paragraph-0">
            <a:extLst xmlns:a="http://schemas.openxmlformats.org/drawingml/2006/main">
              <a:ext uri="{FF2B5EF4-FFF2-40B4-BE49-F238E27FC236}">
                <a16:creationId xmlns:a16="http://schemas.microsoft.com/office/drawing/2014/main" id="{F5229FCE-9827-47B9-A8DB-698EEC3A80E6}"/>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Drain collections, relieve obstruction, and address infected devices. Persistent infection warrants a source and exposure review plus repeat susceptibility testing when appropriate. Stop redundant coverage once a reliable active regimen is established; use combinations when there is a specific rationale.</a:t>
            </a:r>
          </a:p>
        </p:txBody>
      </p:sp>
      <p:sp>
        <p:nvSpPr>
          <p:cNvPr id="3" name="paragraph-1">
            <a:extLst xmlns:a="http://schemas.openxmlformats.org/drawingml/2006/main">
              <a:ext uri="{FF2B5EF4-FFF2-40B4-BE49-F238E27FC236}">
                <a16:creationId xmlns:a16="http://schemas.microsoft.com/office/drawing/2014/main" id="{C7BB7781-EE13-473E-AF67-4C4E93C97222}"/>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Resistance alone does not determine duration. Base the course on the syndrome, effective treatment, clinical response, and source control. Oral step-down also requires stability, absorption, and a feasible follow-up plan.</a:t>
            </a:r>
          </a:p>
        </p:txBody>
      </p:sp>
      <p:sp>
        <p:nvSpPr>
          <p:cNvPr id="4" name="footer">
            <a:extLst xmlns:a="http://schemas.openxmlformats.org/drawingml/2006/main">
              <a:ext uri="{FF2B5EF4-FFF2-40B4-BE49-F238E27FC236}">
                <a16:creationId xmlns:a16="http://schemas.microsoft.com/office/drawing/2014/main" id="{34956513-16A1-4332-B425-8A97CA3EEF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AA9D68C4-208A-4AA7-A373-54B1805738C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41542451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ED4FB9-0B62-4777-9B54-086D0963795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Control the source, then narrow</a:t>
            </a:r>
          </a:p>
        </p:txBody>
      </p:sp>
      <p:sp>
        <p:nvSpPr>
          <p:cNvPr id="2" name="paragraph-0">
            <a:extLst xmlns:a="http://schemas.openxmlformats.org/drawingml/2006/main">
              <a:ext uri="{FF2B5EF4-FFF2-40B4-BE49-F238E27FC236}">
                <a16:creationId xmlns:a16="http://schemas.microsoft.com/office/drawing/2014/main" id="{76624209-FFF4-435A-8A29-3A324EA90A3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daptomycin , linezolid</a:t>
            </a:r>
          </a:p>
        </p:txBody>
      </p:sp>
      <p:sp>
        <p:nvSpPr>
          <p:cNvPr id="3" name="footer">
            <a:extLst xmlns:a="http://schemas.openxmlformats.org/drawingml/2006/main">
              <a:ext uri="{FF2B5EF4-FFF2-40B4-BE49-F238E27FC236}">
                <a16:creationId xmlns:a16="http://schemas.microsoft.com/office/drawing/2014/main" id="{1D4B34B0-2AE7-46CE-BEC6-6A6911B4F7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2AFE75F-DB50-4D57-A241-23B81648C14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21167082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67AFB91-776F-4764-A566-379BBBBEF7A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 An ESBL bloodstream isolate</a:t>
            </a:r>
          </a:p>
        </p:txBody>
      </p:sp>
      <p:sp>
        <p:nvSpPr>
          <p:cNvPr id="2" name="paragraph-0">
            <a:extLst xmlns:a="http://schemas.openxmlformats.org/drawingml/2006/main">
              <a:ext uri="{FF2B5EF4-FFF2-40B4-BE49-F238E27FC236}">
                <a16:creationId xmlns:a16="http://schemas.microsoft.com/office/drawing/2014/main" id="{2D024E6B-4679-4ABC-B27B-3CE97F4FAE1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E. coli bacteremia from obstructed pyelonephritis is hypotensive. The isolate is ESBL-producing and reported susceptible to piperacillin-tazobactam.</a:t>
            </a:r>
          </a:p>
        </p:txBody>
      </p:sp>
      <p:sp>
        <p:nvSpPr>
          <p:cNvPr id="3" name="paragraph-1">
            <a:extLst xmlns:a="http://schemas.openxmlformats.org/drawingml/2006/main">
              <a:ext uri="{FF2B5EF4-FFF2-40B4-BE49-F238E27FC236}">
                <a16:creationId xmlns:a16="http://schemas.microsoft.com/office/drawing/2014/main" id="{1966E25A-1774-4EE5-8EE9-21193BCBD2CD}"/>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determines the immediate drug and the source intervention?</a:t>
            </a:r>
          </a:p>
        </p:txBody>
      </p:sp>
      <p:sp>
        <p:nvSpPr>
          <p:cNvPr id="4" name="footer">
            <a:extLst xmlns:a="http://schemas.openxmlformats.org/drawingml/2006/main">
              <a:ext uri="{FF2B5EF4-FFF2-40B4-BE49-F238E27FC236}">
                <a16:creationId xmlns:a16="http://schemas.microsoft.com/office/drawing/2014/main" id="{2C9B99DB-666F-475A-AEFF-010E18BF9E4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02824774-C1C5-4FB0-A294-4C5F90D0537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119225872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8B483F3-935B-4529-AFAC-F9666BC3BE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Reveal teaching point</a:t>
            </a:r>
          </a:p>
        </p:txBody>
      </p:sp>
      <p:sp>
        <p:nvSpPr>
          <p:cNvPr id="2" name="paragraph-0">
            <a:extLst xmlns:a="http://schemas.openxmlformats.org/drawingml/2006/main">
              <a:ext uri="{FF2B5EF4-FFF2-40B4-BE49-F238E27FC236}">
                <a16:creationId xmlns:a16="http://schemas.microsoft.com/office/drawing/2014/main" id="{5BDEF013-FF39-442E-BAF4-31C2ED8AAC8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meropenem or imipenem-cilastatin if active and urgently relieve the obstruction. A susceptible piperacillin-tazobactam result does not make it the preferred treatment for ESBL bacteremia. After stability and source control, consider an active oral systemic agent when appropriate, not nitrofurantoin.</a:t>
            </a:r>
          </a:p>
        </p:txBody>
      </p:sp>
      <p:sp>
        <p:nvSpPr>
          <p:cNvPr id="3" name="footer">
            <a:extLst xmlns:a="http://schemas.openxmlformats.org/drawingml/2006/main">
              <a:ext uri="{FF2B5EF4-FFF2-40B4-BE49-F238E27FC236}">
                <a16:creationId xmlns:a16="http://schemas.microsoft.com/office/drawing/2014/main" id="{B0E83DDB-71F8-4AEC-9CD4-4D4717D45D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13ABEE8-8A36-4E9B-883C-19CED23197D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173604668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1C0BC98-BF87-4B9D-9A1E-5432A072D8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 Ceftriaxone-susceptible Enterobacter</a:t>
            </a:r>
          </a:p>
        </p:txBody>
      </p:sp>
      <p:sp>
        <p:nvSpPr>
          <p:cNvPr id="2" name="paragraph-0">
            <a:extLst xmlns:a="http://schemas.openxmlformats.org/drawingml/2006/main">
              <a:ext uri="{FF2B5EF4-FFF2-40B4-BE49-F238E27FC236}">
                <a16:creationId xmlns:a16="http://schemas.microsoft.com/office/drawing/2014/main" id="{A7D58EF1-43A0-43F3-AF76-29A79B89688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 cloacae complex grows in blood. Ceftriaxone and cefepime are reported susceptible.</a:t>
            </a:r>
          </a:p>
        </p:txBody>
      </p:sp>
      <p:sp>
        <p:nvSpPr>
          <p:cNvPr id="3" name="paragraph-1">
            <a:extLst xmlns:a="http://schemas.openxmlformats.org/drawingml/2006/main">
              <a:ext uri="{FF2B5EF4-FFF2-40B4-BE49-F238E27FC236}">
                <a16:creationId xmlns:a16="http://schemas.microsoft.com/office/drawing/2014/main" id="{BCA95E98-0979-4A52-82AD-C88873EDF1EE}"/>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Why is ceftriaxone susceptibility not the end of the decision?</a:t>
            </a:r>
          </a:p>
        </p:txBody>
      </p:sp>
      <p:sp>
        <p:nvSpPr>
          <p:cNvPr id="4" name="footer">
            <a:extLst xmlns:a="http://schemas.openxmlformats.org/drawingml/2006/main">
              <a:ext uri="{FF2B5EF4-FFF2-40B4-BE49-F238E27FC236}">
                <a16:creationId xmlns:a16="http://schemas.microsoft.com/office/drawing/2014/main" id="{9628B516-9B61-4947-9394-BED4AD0E8AB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9CDC9EF8-26DD-4672-AFB1-867324C3B0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138280777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8A9A2F9-D5D9-4D09-95D7-021257102F7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Reveal teaching point</a:t>
            </a:r>
          </a:p>
        </p:txBody>
      </p:sp>
      <p:sp>
        <p:nvSpPr>
          <p:cNvPr id="2" name="paragraph-0">
            <a:extLst xmlns:a="http://schemas.openxmlformats.org/drawingml/2006/main">
              <a:ext uri="{FF2B5EF4-FFF2-40B4-BE49-F238E27FC236}">
                <a16:creationId xmlns:a16="http://schemas.microsoft.com/office/drawing/2014/main" id="{75E40B3D-8CB6-4C9B-ADDD-5FA8ABFE7A4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Inducible AmpC can emerge during treatment. For invasive infection, optimized cefepime is an appropriate option if active and no other mechanism undermines it. Use a carbapenem when indicated by severity, susceptibility, or coexisting ESBL. Check source control and the delivered dose.</a:t>
            </a:r>
          </a:p>
        </p:txBody>
      </p:sp>
      <p:sp>
        <p:nvSpPr>
          <p:cNvPr id="3" name="footer">
            <a:extLst xmlns:a="http://schemas.openxmlformats.org/drawingml/2006/main">
              <a:ext uri="{FF2B5EF4-FFF2-40B4-BE49-F238E27FC236}">
                <a16:creationId xmlns:a16="http://schemas.microsoft.com/office/drawing/2014/main" id="{18BEACA7-AE82-405A-8197-3E36F8F8BF1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A88D97A-5228-4316-B2E5-A546A83303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97088079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268E2C2-1FB2-4621-A091-AAD2F123E31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 A carbapenemase result changes the plan</a:t>
            </a:r>
          </a:p>
        </p:txBody>
      </p:sp>
      <p:sp>
        <p:nvSpPr>
          <p:cNvPr id="2" name="paragraph-0">
            <a:extLst xmlns:a="http://schemas.openxmlformats.org/drawingml/2006/main">
              <a:ext uri="{FF2B5EF4-FFF2-40B4-BE49-F238E27FC236}">
                <a16:creationId xmlns:a16="http://schemas.microsoft.com/office/drawing/2014/main" id="{4E93BC5F-0403-4E24-9274-DF2B94D44E6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K. pneumoniae bacteremia is initially treated with ceftazidime-avibactam. The rapid assay detects NDM.</a:t>
            </a:r>
          </a:p>
        </p:txBody>
      </p:sp>
      <p:sp>
        <p:nvSpPr>
          <p:cNvPr id="3" name="paragraph-1">
            <a:extLst xmlns:a="http://schemas.openxmlformats.org/drawingml/2006/main">
              <a:ext uri="{FF2B5EF4-FFF2-40B4-BE49-F238E27FC236}">
                <a16:creationId xmlns:a16="http://schemas.microsoft.com/office/drawing/2014/main" id="{CCBA5657-D205-4A3A-BC81-8141FB93FA17}"/>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should change before the complete susceptibility panel returns?</a:t>
            </a:r>
          </a:p>
        </p:txBody>
      </p:sp>
      <p:sp>
        <p:nvSpPr>
          <p:cNvPr id="4" name="footer">
            <a:extLst xmlns:a="http://schemas.openxmlformats.org/drawingml/2006/main">
              <a:ext uri="{FF2B5EF4-FFF2-40B4-BE49-F238E27FC236}">
                <a16:creationId xmlns:a16="http://schemas.microsoft.com/office/drawing/2014/main" id="{1D4E4EA6-E87C-445A-BA68-A0561D4695C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43F625CC-E193-41DB-945C-8B5FF51413E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79933018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A39A664-F876-4315-9AFB-38E596CFFF4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Reveal teaching point</a:t>
            </a:r>
          </a:p>
        </p:txBody>
      </p:sp>
      <p:sp>
        <p:nvSpPr>
          <p:cNvPr id="2" name="paragraph-0">
            <a:extLst xmlns:a="http://schemas.openxmlformats.org/drawingml/2006/main">
              <a:ext uri="{FF2B5EF4-FFF2-40B4-BE49-F238E27FC236}">
                <a16:creationId xmlns:a16="http://schemas.microsoft.com/office/drawing/2014/main" id="{7F142F2F-72AC-46D0-807F-A3F7483B5668}"/>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Ceftazidime-avibactam alone does not cover NDM. Promptly choose a mechanism-appropriate regimen guided by prior AST and local access, then confirm current AST. Preferred options are aztreonam-avibactam or cefiderocol. Ceftazidime-avibactam plus aztreonam is an alternative if the fixed combination is unavailable. Do not transfer this algorithm to MBL Pseudomonas.</a:t>
            </a:r>
          </a:p>
        </p:txBody>
      </p:sp>
      <p:sp>
        <p:nvSpPr>
          <p:cNvPr id="3" name="paragraph-1">
            <a:extLst xmlns:a="http://schemas.openxmlformats.org/drawingml/2006/main">
              <a:ext uri="{FF2B5EF4-FFF2-40B4-BE49-F238E27FC236}">
                <a16:creationId xmlns:a16="http://schemas.microsoft.com/office/drawing/2014/main" id="{637CF87E-AD2C-4043-8AE6-00F17CC274A1}"/>
              </a:ext>
            </a:extLst>
          </p:cNvPr>
          <p:cNvSpPr>
            <a:spLocks xmlns:a="http://schemas.openxmlformats.org/drawingml/2006/main" noGrp="1"/>
          </p:cNvSpPr>
          <p:nvPr/>
        </p:nvSpPr>
        <p:spPr>
          <a:xfrm xmlns:a="http://schemas.openxmlformats.org/drawingml/2006/main">
            <a:off x="647700" y="43243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a:t>
            </a:r>
          </a:p>
        </p:txBody>
      </p:sp>
      <p:sp>
        <p:nvSpPr>
          <p:cNvPr id="4" name="footer">
            <a:extLst xmlns:a="http://schemas.openxmlformats.org/drawingml/2006/main">
              <a:ext uri="{FF2B5EF4-FFF2-40B4-BE49-F238E27FC236}">
                <a16:creationId xmlns:a16="http://schemas.microsoft.com/office/drawing/2014/main" id="{1C869BA1-4218-4BEA-9107-6F59E43A7C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B8028DB7-3978-4A0D-B439-9CDB3C3EBBD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27449626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DE8E160-A014-4FAC-8D05-BAB20045F5C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Leave with a usable plan</a:t>
            </a:r>
          </a:p>
        </p:txBody>
      </p:sp>
      <p:sp>
        <p:nvSpPr>
          <p:cNvPr id="2" name="paragraph-0">
            <a:extLst xmlns:a="http://schemas.openxmlformats.org/drawingml/2006/main">
              <a:ext uri="{FF2B5EF4-FFF2-40B4-BE49-F238E27FC236}">
                <a16:creationId xmlns:a16="http://schemas.microsoft.com/office/drawing/2014/main" id="{59C68B9B-E2EA-42A8-A401-D4DC23991CA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Name the syndrome and source. Match the organism, mechanism, and susceptibility result to a drug that reaches the site. Document source control, dose, monitoring, reassessment, and duration.</a:t>
            </a:r>
          </a:p>
        </p:txBody>
      </p:sp>
      <p:sp>
        <p:nvSpPr>
          <p:cNvPr id="3" name="paragraph-1">
            <a:extLst xmlns:a="http://schemas.openxmlformats.org/drawingml/2006/main">
              <a:ext uri="{FF2B5EF4-FFF2-40B4-BE49-F238E27FC236}">
                <a16:creationId xmlns:a16="http://schemas.microsoft.com/office/drawing/2014/main" id="{C6098418-B056-4E71-A63B-174035B53709}"/>
              </a:ext>
            </a:extLst>
          </p:cNvPr>
          <p:cNvSpPr>
            <a:spLocks xmlns:a="http://schemas.openxmlformats.org/drawingml/2006/main" noGrp="1"/>
          </p:cNvSpPr>
          <p:nvPr/>
        </p:nvSpPr>
        <p:spPr>
          <a:xfrm xmlns:a="http://schemas.openxmlformats.org/drawingml/2006/main">
            <a:off x="647700" y="32670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Ask learners to complete one sentence: “I am treating ___ with ___ because ___, and I will reassess ___.”</a:t>
            </a:r>
          </a:p>
        </p:txBody>
      </p:sp>
      <p:sp>
        <p:nvSpPr>
          <p:cNvPr id="4" name="footer">
            <a:extLst xmlns:a="http://schemas.openxmlformats.org/drawingml/2006/main">
              <a:ext uri="{FF2B5EF4-FFF2-40B4-BE49-F238E27FC236}">
                <a16:creationId xmlns:a16="http://schemas.microsoft.com/office/drawing/2014/main" id="{69092167-095E-4B55-A898-E43A0B01B11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2BC45CE4-5818-42B1-A794-8BBAFCDB497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83416015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F3E4229-E449-48E8-AB7D-426E850234E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40–45 min · Questions</a:t>
            </a:r>
          </a:p>
        </p:txBody>
      </p:sp>
      <p:sp>
        <p:nvSpPr>
          <p:cNvPr id="2" name="paragraph-0">
            <a:extLst xmlns:a="http://schemas.openxmlformats.org/drawingml/2006/main">
              <a:ext uri="{FF2B5EF4-FFF2-40B4-BE49-F238E27FC236}">
                <a16:creationId xmlns:a16="http://schemas.microsoft.com/office/drawing/2014/main" id="{89574584-CD81-4583-AA92-C6877D17C0A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the closing discussion to revisit a case or a matrix cell. The detailed material below is for a separate discussion or independent study.</a:t>
            </a:r>
          </a:p>
        </p:txBody>
      </p:sp>
      <p:sp>
        <p:nvSpPr>
          <p:cNvPr id="3" name="paragraph-1">
            <a:extLst xmlns:a="http://schemas.openxmlformats.org/drawingml/2006/main">
              <a:ext uri="{FF2B5EF4-FFF2-40B4-BE49-F238E27FC236}">
                <a16:creationId xmlns:a16="http://schemas.microsoft.com/office/drawing/2014/main" id="{FBC12054-5439-4DD3-A2C8-92FDF03EEBF4}"/>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End of the resident core</a:t>
            </a:r>
          </a:p>
        </p:txBody>
      </p:sp>
      <p:sp>
        <p:nvSpPr>
          <p:cNvPr id="4" name="footer">
            <a:extLst xmlns:a="http://schemas.openxmlformats.org/drawingml/2006/main">
              <a:ext uri="{FF2B5EF4-FFF2-40B4-BE49-F238E27FC236}">
                <a16:creationId xmlns:a16="http://schemas.microsoft.com/office/drawing/2014/main" id="{84880DB9-A774-46A3-A75A-47E2AF67B9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7F514B8F-EEFD-49A8-B499-12249907066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6858221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FB578CC-4DF4-43F8-8DDA-76F079CF06F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fellow teaching and detailed reference</a:t>
            </a:r>
          </a:p>
        </p:txBody>
      </p:sp>
      <p:sp>
        <p:nvSpPr>
          <p:cNvPr id="2" name="paragraph-0">
            <a:extLst xmlns:a="http://schemas.openxmlformats.org/drawingml/2006/main">
              <a:ext uri="{FF2B5EF4-FFF2-40B4-BE49-F238E27FC236}">
                <a16:creationId xmlns:a16="http://schemas.microsoft.com/office/drawing/2014/main" id="{9CB687C4-ECF2-4861-9D39-E03E89B19FF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These expanded sections are outside the resident core. Choose an individual topic for a separate teaching session.</a:t>
            </a:r>
          </a:p>
        </p:txBody>
      </p:sp>
      <p:sp>
        <p:nvSpPr>
          <p:cNvPr id="3" name="footer">
            <a:extLst xmlns:a="http://schemas.openxmlformats.org/drawingml/2006/main">
              <a:ext uri="{FF2B5EF4-FFF2-40B4-BE49-F238E27FC236}">
                <a16:creationId xmlns:a16="http://schemas.microsoft.com/office/drawing/2014/main" id="{9EA88464-B4D2-40FB-9178-4578D03306F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CFE6885-8CED-4472-B4AD-86E1D4D0937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22143473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6602054-3234-455F-A350-A6FE58C2724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Begin with five clinical decisions before choosing a drug</a:t>
            </a:r>
          </a:p>
        </p:txBody>
      </p:sp>
      <p:sp>
        <p:nvSpPr>
          <p:cNvPr id="2" name="paragraph-0">
            <a:extLst xmlns:a="http://schemas.openxmlformats.org/drawingml/2006/main">
              <a:ext uri="{FF2B5EF4-FFF2-40B4-BE49-F238E27FC236}">
                <a16:creationId xmlns:a16="http://schemas.microsoft.com/office/drawing/2014/main" id="{3041DA66-F691-4A7E-9649-ACBCE592B7D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this infection? Name the syndrome and assess specimen quality.</a:t>
            </a:r>
          </a:p>
        </p:txBody>
      </p:sp>
      <p:sp>
        <p:nvSpPr>
          <p:cNvPr id="3" name="paragraph-1">
            <a:extLst xmlns:a="http://schemas.openxmlformats.org/drawingml/2006/main">
              <a:ext uri="{FF2B5EF4-FFF2-40B4-BE49-F238E27FC236}">
                <a16:creationId xmlns:a16="http://schemas.microsoft.com/office/drawing/2014/main" id="{33F4C9FE-95B7-4A54-A6D8-90F4CC1B20A5}"/>
              </a:ext>
            </a:extLst>
          </p:cNvPr>
          <p:cNvSpPr>
            <a:spLocks xmlns:a="http://schemas.openxmlformats.org/drawingml/2006/main" noGrp="1"/>
          </p:cNvSpPr>
          <p:nvPr/>
        </p:nvSpPr>
        <p:spPr>
          <a:xfrm xmlns:a="http://schemas.openxmlformats.org/drawingml/2006/main">
            <a:off x="647700" y="25622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How urgent is it? Assess shock, organ dysfunction, and immune status.</a:t>
            </a:r>
          </a:p>
        </p:txBody>
      </p:sp>
      <p:sp>
        <p:nvSpPr>
          <p:cNvPr id="4" name="paragraph-2">
            <a:extLst xmlns:a="http://schemas.openxmlformats.org/drawingml/2006/main">
              <a:ext uri="{FF2B5EF4-FFF2-40B4-BE49-F238E27FC236}">
                <a16:creationId xmlns:a16="http://schemas.microsoft.com/office/drawing/2014/main" id="{A2D75D4D-FF3F-4B56-8A7A-D33225662A7F}"/>
              </a:ext>
            </a:extLst>
          </p:cNvPr>
          <p:cNvSpPr>
            <a:spLocks xmlns:a="http://schemas.openxmlformats.org/drawingml/2006/main" noGrp="1"/>
          </p:cNvSpPr>
          <p:nvPr/>
        </p:nvSpPr>
        <p:spPr>
          <a:xfrm xmlns:a="http://schemas.openxmlformats.org/drawingml/2006/main">
            <a:off x="647700" y="31718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is likely active? Review prior isolates, recent therapy, and the local antibiogram.</a:t>
            </a:r>
          </a:p>
        </p:txBody>
      </p:sp>
      <p:sp>
        <p:nvSpPr>
          <p:cNvPr id="5" name="paragraph-3">
            <a:extLst xmlns:a="http://schemas.openxmlformats.org/drawingml/2006/main">
              <a:ext uri="{FF2B5EF4-FFF2-40B4-BE49-F238E27FC236}">
                <a16:creationId xmlns:a16="http://schemas.microsoft.com/office/drawing/2014/main" id="{088C8E15-252E-4D7E-86FA-E6894B9985E5}"/>
              </a:ext>
            </a:extLst>
          </p:cNvPr>
          <p:cNvSpPr>
            <a:spLocks xmlns:a="http://schemas.openxmlformats.org/drawingml/2006/main" noGrp="1"/>
          </p:cNvSpPr>
          <p:nvPr/>
        </p:nvSpPr>
        <p:spPr>
          <a:xfrm xmlns:a="http://schemas.openxmlformats.org/drawingml/2006/main">
            <a:off x="647700" y="41338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Will it reach the site? Check tissue exposure, dose, route, and source control.</a:t>
            </a:r>
          </a:p>
        </p:txBody>
      </p:sp>
      <p:sp>
        <p:nvSpPr>
          <p:cNvPr id="6" name="footer">
            <a:extLst xmlns:a="http://schemas.openxmlformats.org/drawingml/2006/main">
              <a:ext uri="{FF2B5EF4-FFF2-40B4-BE49-F238E27FC236}">
                <a16:creationId xmlns:a16="http://schemas.microsoft.com/office/drawing/2014/main" id="{364C580F-9690-43DE-A3EC-EBB431274FF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7" name="number">
            <a:extLst xmlns:a="http://schemas.openxmlformats.org/drawingml/2006/main">
              <a:ext uri="{FF2B5EF4-FFF2-40B4-BE49-F238E27FC236}">
                <a16:creationId xmlns:a16="http://schemas.microsoft.com/office/drawing/2014/main" id="{70712F59-2A3C-48E5-840B-9324D1196F5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96765500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0D9A596-18A6-46DD-82BA-F431B8440DC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Begin with five clinical decisions before choosing a drug</a:t>
            </a:r>
          </a:p>
        </p:txBody>
      </p:sp>
      <p:sp>
        <p:nvSpPr>
          <p:cNvPr id="2" name="paragraph-0">
            <a:extLst xmlns:a="http://schemas.openxmlformats.org/drawingml/2006/main">
              <a:ext uri="{FF2B5EF4-FFF2-40B4-BE49-F238E27FC236}">
                <a16:creationId xmlns:a16="http://schemas.microsoft.com/office/drawing/2014/main" id="{4516F20F-92C9-4DCB-9705-1377A2989FD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changes tomorrow? Set a culture review, narrowing plan, and monitoring plan.</a:t>
            </a:r>
          </a:p>
        </p:txBody>
      </p:sp>
      <p:sp>
        <p:nvSpPr>
          <p:cNvPr id="3" name="paragraph-1">
            <a:extLst xmlns:a="http://schemas.openxmlformats.org/drawingml/2006/main">
              <a:ext uri="{FF2B5EF4-FFF2-40B4-BE49-F238E27FC236}">
                <a16:creationId xmlns:a16="http://schemas.microsoft.com/office/drawing/2014/main" id="{05D69969-8ACF-4826-92F5-3CFB674F4641}"/>
              </a:ext>
            </a:extLst>
          </p:cNvPr>
          <p:cNvSpPr>
            <a:spLocks xmlns:a="http://schemas.openxmlformats.org/drawingml/2006/main" noGrp="1"/>
          </p:cNvSpPr>
          <p:nvPr/>
        </p:nvSpPr>
        <p:spPr>
          <a:xfrm xmlns:a="http://schemas.openxmlformats.org/drawingml/2006/main">
            <a:off x="647700" y="291465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resistant organism in urine, a chronic wound, or a tracheal aspirate may be colonization. A new compatible syndrome, objective findings, and the quality of the specimen determine whether treatment is warranted. A rectal CRE screen guides precautions and empiric risk assessment; it is not an indication for antibiotics.</a:t>
            </a:r>
          </a:p>
        </p:txBody>
      </p:sp>
      <p:sp>
        <p:nvSpPr>
          <p:cNvPr id="4" name="footer">
            <a:extLst xmlns:a="http://schemas.openxmlformats.org/drawingml/2006/main">
              <a:ext uri="{FF2B5EF4-FFF2-40B4-BE49-F238E27FC236}">
                <a16:creationId xmlns:a16="http://schemas.microsoft.com/office/drawing/2014/main" id="{EC888EA3-7B75-4756-BA5A-A7064FD7267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860A762-CDC4-45A7-BF1A-2C386C3016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134804346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15C56DD-4EF6-4AD6-91C0-155BEAD0321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Begin with five clinical decisions before choosing a drug</a:t>
            </a:r>
          </a:p>
        </p:txBody>
      </p:sp>
      <p:sp>
        <p:nvSpPr>
          <p:cNvPr id="2" name="paragraph-0">
            <a:extLst xmlns:a="http://schemas.openxmlformats.org/drawingml/2006/main">
              <a:ext uri="{FF2B5EF4-FFF2-40B4-BE49-F238E27FC236}">
                <a16:creationId xmlns:a16="http://schemas.microsoft.com/office/drawing/2014/main" id="{012C05F7-4118-4AA8-975A-A2C02B0BAD86}"/>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appropriate cultures before antibiotics when feasible without delaying urgent treatment. In severe infection, use prior organism and susceptibility results, recent antibiotic exposure, the likely source, and current local epidemiology to select initial coverage. Prior NDM or KPC infection can change the first drug; a generic history of “MDRO” is insufficient. Ask microbiology to retain invasive isolates and test additional agents early.</a:t>
            </a:r>
          </a:p>
        </p:txBody>
      </p:sp>
      <p:sp>
        <p:nvSpPr>
          <p:cNvPr id="3" name="footer">
            <a:extLst xmlns:a="http://schemas.openxmlformats.org/drawingml/2006/main">
              <a:ext uri="{FF2B5EF4-FFF2-40B4-BE49-F238E27FC236}">
                <a16:creationId xmlns:a16="http://schemas.microsoft.com/office/drawing/2014/main" id="{620DE1E5-362A-4667-8E10-1202C32B68D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733129C-C494-439C-BD80-583D6806412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38234086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506D9AE-B24D-44D6-840F-F663CD03D5B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Begin with five clinical decisions before choosing a drug</a:t>
            </a:r>
          </a:p>
        </p:txBody>
      </p:sp>
      <p:sp>
        <p:nvSpPr>
          <p:cNvPr id="2" name="paragraph-0">
            <a:extLst xmlns:a="http://schemas.openxmlformats.org/drawingml/2006/main">
              <a:ext uri="{FF2B5EF4-FFF2-40B4-BE49-F238E27FC236}">
                <a16:creationId xmlns:a16="http://schemas.microsoft.com/office/drawing/2014/main" id="{1FCE92E8-63E1-4307-A074-4E9FADE2249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Reassess when identification and susceptibility results return. Stop unnecessary MRSA or double gram-negative coverage. A drained collection, relieved urinary obstruction, removed infected catheter, or revised infected device may matter more than adding another antibiotic.</a:t>
            </a:r>
          </a:p>
        </p:txBody>
      </p:sp>
      <p:sp>
        <p:nvSpPr>
          <p:cNvPr id="3" name="footer">
            <a:extLst xmlns:a="http://schemas.openxmlformats.org/drawingml/2006/main">
              <a:ext uri="{FF2B5EF4-FFF2-40B4-BE49-F238E27FC236}">
                <a16:creationId xmlns:a16="http://schemas.microsoft.com/office/drawing/2014/main" id="{23C4B51B-D9F7-4268-9C22-36F988B6CDD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E507D29-A4AB-4701-B7AF-0CFD7954BB0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198640521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0D950E6-AB65-43AD-913D-99B845BDB4E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 not treat an asymptomatic culture</a:t>
            </a:r>
          </a:p>
        </p:txBody>
      </p:sp>
      <p:sp>
        <p:nvSpPr>
          <p:cNvPr id="2" name="paragraph-0">
            <a:extLst xmlns:a="http://schemas.openxmlformats.org/drawingml/2006/main">
              <a:ext uri="{FF2B5EF4-FFF2-40B4-BE49-F238E27FC236}">
                <a16:creationId xmlns:a16="http://schemas.microsoft.com/office/drawing/2014/main" id="{5C3DCC91-FB18-44E9-8BB2-C955F1C92A7C}"/>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Asymptomatic bacteriuria generally does not need antibiotics, including when the isolate is ESBL-producing or VRE. Established indications include pregnancy and before endoscopic urologic procedures involving mucosal trauma. Pyuria alone does not distinguish infection from colonization. Severe systemic illness requires a clinical evaluation, not automatic dismissal as asymptomatic bacteriuria.</a:t>
            </a:r>
          </a:p>
        </p:txBody>
      </p:sp>
      <p:sp>
        <p:nvSpPr>
          <p:cNvPr id="3" name="paragraph-1">
            <a:extLst xmlns:a="http://schemas.openxmlformats.org/drawingml/2006/main">
              <a:ext uri="{FF2B5EF4-FFF2-40B4-BE49-F238E27FC236}">
                <a16:creationId xmlns:a16="http://schemas.microsoft.com/office/drawing/2014/main" id="{0EEC15FA-AF86-4D8B-9765-53376E79EEF8}"/>
              </a:ext>
            </a:extLst>
          </p:cNvPr>
          <p:cNvSpPr>
            <a:spLocks xmlns:a="http://schemas.openxmlformats.org/drawingml/2006/main" noGrp="1"/>
          </p:cNvSpPr>
          <p:nvPr/>
        </p:nvSpPr>
        <p:spPr>
          <a:xfrm xmlns:a="http://schemas.openxmlformats.org/drawingml/2006/main">
            <a:off x="647700" y="43243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asb , cdc</a:t>
            </a:r>
          </a:p>
        </p:txBody>
      </p:sp>
      <p:sp>
        <p:nvSpPr>
          <p:cNvPr id="4" name="footer">
            <a:extLst xmlns:a="http://schemas.openxmlformats.org/drawingml/2006/main">
              <a:ext uri="{FF2B5EF4-FFF2-40B4-BE49-F238E27FC236}">
                <a16:creationId xmlns:a16="http://schemas.microsoft.com/office/drawing/2014/main" id="{D0761807-2BBF-45DB-AE42-F01609789B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8E81B7DF-7751-4826-82AF-9A0415A0796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184518402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6DEFE8-0A5D-4D51-A638-BFD3A03439E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Mechanisms explain which apparently similar drugs are different</a:t>
            </a:r>
          </a:p>
        </p:txBody>
      </p:sp>
      <p:graphicFrame>
        <p:nvGraphicFramePr>
          <p:cNvPr id="2" name="">
            <a:extLst xmlns:a="http://schemas.openxmlformats.org/drawingml/2006/main">
              <a:ext uri="{FF2B5EF4-FFF2-40B4-BE49-F238E27FC236}">
                <a16:creationId xmlns:a16="http://schemas.microsoft.com/office/drawing/2014/main" id="{0866C32C-4532-4912-870E-CFD8BD68A0E6}"/>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Drug destruction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ESBLs, AmpC, KPC, NDM, OXA enzymes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changes at the bedside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 inhibitor must match the enzyme. Ceftazidime-avibactam activity against KPC does not imply activity against NDM.</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A39058F-522D-4895-A49A-0E068D91AB0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FCA7A01-228A-497F-B0CF-B3C180E7B17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38569474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B1DE91F-AA7F-4548-ADB6-166502F245F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Mechanisms explain which apparently similar drugs are different</a:t>
            </a:r>
          </a:p>
        </p:txBody>
      </p:sp>
      <p:graphicFrame>
        <p:nvGraphicFramePr>
          <p:cNvPr id="2" name="">
            <a:extLst xmlns:a="http://schemas.openxmlformats.org/drawingml/2006/main">
              <a:ext uri="{FF2B5EF4-FFF2-40B4-BE49-F238E27FC236}">
                <a16:creationId xmlns:a16="http://schemas.microsoft.com/office/drawing/2014/main" id="{B89ED1DD-D2AB-49C9-870C-629D354228F0}"/>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Altered target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mecA/mecC and altered penicillin-binding proteins; van genes; gyrase mutations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changes at the bedside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MRSA resists usual antistaphylococcal beta-lactams. Vancomycin resistance does not independently establish ampicillin or daptomycin resistance.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47BF2EF-403A-416E-A706-8DE67318443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8973166-4554-4D86-80EF-2482F128FD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45203014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ADCAAD-D81C-46E1-8FB5-DA46B3C0351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Mechanisms explain which apparently similar drugs are different</a:t>
            </a:r>
          </a:p>
        </p:txBody>
      </p:sp>
      <p:graphicFrame>
        <p:nvGraphicFramePr>
          <p:cNvPr id="2" name="">
            <a:extLst xmlns:a="http://schemas.openxmlformats.org/drawingml/2006/main">
              <a:ext uri="{FF2B5EF4-FFF2-40B4-BE49-F238E27FC236}">
                <a16:creationId xmlns:a16="http://schemas.microsoft.com/office/drawing/2014/main" id="{5E238F30-8C97-40BE-BDC8-2E70756818AE}"/>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Reduced entry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Porin loss, including OprD in Pseudomonas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changes at the bedside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Carbapenem resistance can coexist with cefepime susceptibility. Not every carbapenem-resistant isolate produces a carbapenemase.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BF4A10F-2237-4877-A312-A40255A9892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6D93A14-0382-4101-AF82-AD66A52A421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113029596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86B3250-A413-4D9F-8215-5CB244A2F9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Mechanisms explain which apparently similar drugs are different</a:t>
            </a:r>
          </a:p>
        </p:txBody>
      </p:sp>
      <p:graphicFrame>
        <p:nvGraphicFramePr>
          <p:cNvPr id="2" name="">
            <a:extLst xmlns:a="http://schemas.openxmlformats.org/drawingml/2006/main">
              <a:ext uri="{FF2B5EF4-FFF2-40B4-BE49-F238E27FC236}">
                <a16:creationId xmlns:a16="http://schemas.microsoft.com/office/drawing/2014/main" id="{C3496A49-AE36-4DE1-8F4F-4912B35DC912}"/>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Active drug efflux</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Pseudomonas and Stenotrophomonas efflux systems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changes at the bedside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Multiple classes can be affected; a single enzyme result cannot fully predict the phenotype.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BDD9251-B33E-48E7-97B1-F180F09EF30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2BFC883-432F-409C-BC5C-1301D60D14B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1962592089"/>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EE13475-11BB-4631-9171-769CDACA44A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Mechanisms explain which apparently similar drugs are different</a:t>
            </a:r>
          </a:p>
        </p:txBody>
      </p:sp>
      <p:graphicFrame>
        <p:nvGraphicFramePr>
          <p:cNvPr id="2" name="">
            <a:extLst xmlns:a="http://schemas.openxmlformats.org/drawingml/2006/main">
              <a:ext uri="{FF2B5EF4-FFF2-40B4-BE49-F238E27FC236}">
                <a16:creationId xmlns:a16="http://schemas.microsoft.com/office/drawing/2014/main" id="{D101D64B-3786-492E-9AFC-8023F5695BED}"/>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Multiple mechanisms together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ESBL or AmpC plus porin loss; NDM plus other beta-lactamases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changes at the bedside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 phenotype may require more than one explanation. Repeat susceptibility testing when infection recurs after treatment.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A53AF0E-A715-4CE7-B8D7-DFC65860D61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2830F11-FA62-4A5A-999D-FFDC416F71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162153412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3874074-8A74-405C-8792-AC1B0D63599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Intrinsic resistance and biofilm are different problems</a:t>
            </a:r>
          </a:p>
        </p:txBody>
      </p:sp>
      <p:sp>
        <p:nvSpPr>
          <p:cNvPr id="2" name="paragraph-0">
            <a:extLst xmlns:a="http://schemas.openxmlformats.org/drawingml/2006/main">
              <a:ext uri="{FF2B5EF4-FFF2-40B4-BE49-F238E27FC236}">
                <a16:creationId xmlns:a16="http://schemas.microsoft.com/office/drawing/2014/main" id="{07FDE362-AC3B-48BF-9823-253C5170D74D}"/>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Enterococci are intrinsically resistant to cephalosporin monotherapy. Ertapenem does not cover Pseudomonas or Acinetobacter. Stenotrophomonas is intrinsically resistant to carbapenems. Biofilm-associated persistence may occur despite a susceptible MIC because routine testing evaluates planktonic organisms; investigate the infected surface or device.</a:t>
            </a:r>
          </a:p>
        </p:txBody>
      </p:sp>
      <p:sp>
        <p:nvSpPr>
          <p:cNvPr id="3" name="footer">
            <a:extLst xmlns:a="http://schemas.openxmlformats.org/drawingml/2006/main">
              <a:ext uri="{FF2B5EF4-FFF2-40B4-BE49-F238E27FC236}">
                <a16:creationId xmlns:a16="http://schemas.microsoft.com/office/drawing/2014/main" id="{39C24168-7281-493F-8B8F-C36BBE55C63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3FE3AF4-3C1F-46F7-87CA-B90B22F8285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1262858429"/>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0B0E577-71E5-4173-8A7C-193A62F8A1B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Intrinsic resistance and biofilm are different problems</a:t>
            </a:r>
          </a:p>
        </p:txBody>
      </p:sp>
      <p:sp>
        <p:nvSpPr>
          <p:cNvPr id="2" name="paragraph-0">
            <a:extLst xmlns:a="http://schemas.openxmlformats.org/drawingml/2006/main">
              <a:ext uri="{FF2B5EF4-FFF2-40B4-BE49-F238E27FC236}">
                <a16:creationId xmlns:a16="http://schemas.microsoft.com/office/drawing/2014/main" id="{4E205162-78D2-4041-9BB3-A169F35983C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ESBL and AmpC describe beta-lactamases. CRE describes a resistance phenotype or carbapenemase production. KPC and NDM identify mechanisms. MDR describes resistance across several categories. DTR Pseudomonas means nonsusceptibility to all eight traditional agents listed in the Pseudomonas section. These terms are related but not interchangeable.</a:t>
            </a:r>
          </a:p>
        </p:txBody>
      </p:sp>
      <p:sp>
        <p:nvSpPr>
          <p:cNvPr id="3" name="paragraph-1">
            <a:extLst xmlns:a="http://schemas.openxmlformats.org/drawingml/2006/main">
              <a:ext uri="{FF2B5EF4-FFF2-40B4-BE49-F238E27FC236}">
                <a16:creationId xmlns:a16="http://schemas.microsoft.com/office/drawing/2014/main" id="{34EE1342-F9BB-4A7D-961D-3E36194A5F71}"/>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mrsa , breakpoints</a:t>
            </a:r>
          </a:p>
        </p:txBody>
      </p:sp>
      <p:sp>
        <p:nvSpPr>
          <p:cNvPr id="4" name="footer">
            <a:extLst xmlns:a="http://schemas.openxmlformats.org/drawingml/2006/main">
              <a:ext uri="{FF2B5EF4-FFF2-40B4-BE49-F238E27FC236}">
                <a16:creationId xmlns:a16="http://schemas.microsoft.com/office/drawing/2014/main" id="{9DF3B95E-37CA-4A36-A433-F211A805A37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9B0E30D7-412B-45E7-8363-91C5B5DB90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150293552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72398C1-157B-49E3-990C-DAF06D16D0F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Read the susceptibility report as a conditional prediction</a:t>
            </a:r>
          </a:p>
        </p:txBody>
      </p:sp>
      <p:graphicFrame>
        <p:nvGraphicFramePr>
          <p:cNvPr id="2" name="">
            <a:extLst xmlns:a="http://schemas.openxmlformats.org/drawingml/2006/main">
              <a:ext uri="{FF2B5EF4-FFF2-40B4-BE49-F238E27FC236}">
                <a16:creationId xmlns:a16="http://schemas.microsoft.com/office/drawing/2014/main" id="{37254DFA-CEB1-4551-A569-7BABB91F32C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 lower MIC for drug A than drug 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MIC numbers across different antibiotics are not a potency ranking. Breakpoints and achievable exposures differ.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Compare each result with the applicable organism, site, and dosing breakpoint.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72E8D87-6246-41F5-912D-C8AAC835BC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FCE7CB9-E52B-43EC-9F1C-28EC4AB6801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67490392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BF9DCE8-202B-443E-81E6-7B186FE2D49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Read the susceptibility report as a conditional prediction</a:t>
            </a:r>
          </a:p>
        </p:txBody>
      </p:sp>
      <p:graphicFrame>
        <p:nvGraphicFramePr>
          <p:cNvPr id="2" name="">
            <a:extLst xmlns:a="http://schemas.openxmlformats.org/drawingml/2006/main">
              <a:ext uri="{FF2B5EF4-FFF2-40B4-BE49-F238E27FC236}">
                <a16:creationId xmlns:a16="http://schemas.microsoft.com/office/drawing/2014/main" id="{2A1EAA1D-3102-4A33-B7E0-9481F25FC1B4}"/>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Susceptible dose-dependent (SDD)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 category assumes a specified higher exposure. It is not standard-dose susceptibility.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Ask which regimen supports the result. Cefepime MIC 4-8 micrograms/mL in Enterobacterales is SDD under the cited 2026 criteria.</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7262D4B-1D6C-468D-AD37-17CBE14733C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2E62ECF-829A-4E2E-8310-D7EBF5FB09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174116343"/>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22E0E9B-973F-462A-AB1B-17B5C3A690A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Read the susceptibility report as a conditional prediction</a:t>
            </a:r>
          </a:p>
        </p:txBody>
      </p:sp>
      <p:graphicFrame>
        <p:nvGraphicFramePr>
          <p:cNvPr id="2" name="">
            <a:extLst xmlns:a="http://schemas.openxmlformats.org/drawingml/2006/main">
              <a:ext uri="{FF2B5EF4-FFF2-40B4-BE49-F238E27FC236}">
                <a16:creationId xmlns:a16="http://schemas.microsoft.com/office/drawing/2014/main" id="{244619E0-8A69-434C-96B8-C06F55ED2A1D}"/>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EUCAST “I”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EUCAST defines I as susceptible with increased exposure. It is not interchangeable with the CLSI intermediate category.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Confirm which standard your laboratory uses before interpreting an outside report.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DFA9617-4863-4FB0-8239-49223A0B1C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15CA5DA-C3D6-4616-BC88-91E41E7BA26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1779479951"/>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A85E36B-A84C-47B6-BE55-A32CDF8F5D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Read the susceptibility report as a conditional prediction</a:t>
            </a:r>
          </a:p>
        </p:txBody>
      </p:sp>
      <p:graphicFrame>
        <p:nvGraphicFramePr>
          <p:cNvPr id="2" name="">
            <a:extLst xmlns:a="http://schemas.openxmlformats.org/drawingml/2006/main">
              <a:ext uri="{FF2B5EF4-FFF2-40B4-BE49-F238E27FC236}">
                <a16:creationId xmlns:a16="http://schemas.microsoft.com/office/drawing/2014/main" id="{1339BA29-C544-4054-AC24-27596465542E}"/>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CTX-M detected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Supports an ESBL mechanism in the relevant organism.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Use an ESBL-informed regimen while awaiting the full phenotype. A negative CTX-M result does not exclude other ESBLs or AmpC.</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5A9AA81-070D-48E0-BFE5-95E74EEB58E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FF8C169-F673-48F6-BB86-D54121C3F3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1841588762"/>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41C8166-C858-4942-BAD6-3EA691E1900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Read the susceptibility report as a conditional prediction</a:t>
            </a:r>
          </a:p>
        </p:txBody>
      </p:sp>
      <p:graphicFrame>
        <p:nvGraphicFramePr>
          <p:cNvPr id="2" name="">
            <a:extLst xmlns:a="http://schemas.openxmlformats.org/drawingml/2006/main">
              <a:ext uri="{FF2B5EF4-FFF2-40B4-BE49-F238E27FC236}">
                <a16:creationId xmlns:a16="http://schemas.microsoft.com/office/drawing/2014/main" id="{D68490A0-7B8B-4A56-B4A5-FFB7903CCC8E}"/>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Carbapenemase panel negative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Only the targets on that panel were excluded. Porin/efflux mechanisms and untested enzymes remain possible.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Reconcile with the phenotype; obtain broader phenotypic or reference-laboratory testing for discordance.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5C88E9A-B1DD-4E62-8DBC-2E38FBAE951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4A1EEB0-6D28-4D74-9EF1-C461FE2FAD8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198927664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0CC12C6-B9FF-4094-9107-77F48D881DF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Read the susceptibility report as a conditional prediction</a:t>
            </a:r>
          </a:p>
        </p:txBody>
      </p:sp>
      <p:graphicFrame>
        <p:nvGraphicFramePr>
          <p:cNvPr id="2" name="">
            <a:extLst xmlns:a="http://schemas.openxmlformats.org/drawingml/2006/main">
              <a:ext uri="{FF2B5EF4-FFF2-40B4-BE49-F238E27FC236}">
                <a16:creationId xmlns:a16="http://schemas.microsoft.com/office/drawing/2014/main" id="{FA2A3085-B000-4FB8-9267-0393826A3ACE}"/>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Drug not listed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May reflect selective reporting, no routine test, or lack of validated breakpoints.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Ask for the actual MIC, method, interpretation, and additional testing. Do not assume susceptibility or resistance.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0CA562F-F3B8-446C-B425-86E8176917D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810EC0E-58D7-4E98-A99B-2DA996C3D5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58402621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8B27E7B-F349-428E-A1CA-D0820C49D60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Read the susceptibility report as a conditional prediction</a:t>
            </a:r>
          </a:p>
        </p:txBody>
      </p:sp>
      <p:graphicFrame>
        <p:nvGraphicFramePr>
          <p:cNvPr id="2" name="">
            <a:extLst xmlns:a="http://schemas.openxmlformats.org/drawingml/2006/main">
              <a:ext uri="{FF2B5EF4-FFF2-40B4-BE49-F238E27FC236}">
                <a16:creationId xmlns:a16="http://schemas.microsoft.com/office/drawing/2014/main" id="{2276A654-BF2C-4739-BC81-DE7DFB7F472E}"/>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Susceptible but poor site exposure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 vitro activity is insufficient if exposure at the infected site is inadequate.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Avoid nitrofurantoin for pyelonephritis or bacteremia and daptomycin for alveolar pneumonia.</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CFAA2EF-DEA5-4A8A-B85F-642A0F378E6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051E3AA-0511-4BB3-BE93-1381F4C2BB4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80142659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58C288D-FAF9-427D-BF56-205ED5E3B5F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Read the susceptibility report as a conditional prediction</a:t>
            </a:r>
          </a:p>
        </p:txBody>
      </p:sp>
      <p:sp>
        <p:nvSpPr>
          <p:cNvPr id="2" name="paragraph-0">
            <a:extLst xmlns:a="http://schemas.openxmlformats.org/drawingml/2006/main">
              <a:ext uri="{FF2B5EF4-FFF2-40B4-BE49-F238E27FC236}">
                <a16:creationId xmlns:a16="http://schemas.microsoft.com/office/drawing/2014/main" id="{EB8F11FE-A72E-4BE5-B07F-0280A4834D3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presumed ESBL in E. coli, K. pneumoniae, or K. oxytoca, the 2026 IDSA document uses ceftriaxone MIC at least 4 micrograms/mL as a surrogate. This is not molecular confirmation and is not a universal rule for every Enterobacterales species. In mixed cultures, confirm which organism carries a detected resistance gene.</a:t>
            </a:r>
          </a:p>
        </p:txBody>
      </p:sp>
      <p:sp>
        <p:nvSpPr>
          <p:cNvPr id="3" name="paragraph-1">
            <a:extLst xmlns:a="http://schemas.openxmlformats.org/drawingml/2006/main">
              <a:ext uri="{FF2B5EF4-FFF2-40B4-BE49-F238E27FC236}">
                <a16:creationId xmlns:a16="http://schemas.microsoft.com/office/drawing/2014/main" id="{AFCB36F0-68F8-4A24-AF78-730FAC7C235F}"/>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Ask specifically about newer beta-lactam testing for CRE or DTR Pseudomonas, combination testing when using ceftazidime-avibactam plus aztreonam, and reliable cefiderocol testing. A breakpoint for one species or formulation must not be borrowed for another. Oral and IV fosfomycin have different interpretive criteria.</a:t>
            </a:r>
          </a:p>
        </p:txBody>
      </p:sp>
      <p:sp>
        <p:nvSpPr>
          <p:cNvPr id="4" name="footer">
            <a:extLst xmlns:a="http://schemas.openxmlformats.org/drawingml/2006/main">
              <a:ext uri="{FF2B5EF4-FFF2-40B4-BE49-F238E27FC236}">
                <a16:creationId xmlns:a16="http://schemas.microsoft.com/office/drawing/2014/main" id="{75AF4DBF-6A4E-44E4-AE05-BF25507A140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AD56EDD-6A19-4F0C-B837-DF55C073A42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1698926287"/>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13BFFC-3A61-4C79-91A0-D71DD17EC4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Read the susceptibility report as a conditional prediction</a:t>
            </a:r>
          </a:p>
        </p:txBody>
      </p:sp>
      <p:sp>
        <p:nvSpPr>
          <p:cNvPr id="2" name="paragraph-0">
            <a:extLst xmlns:a="http://schemas.openxmlformats.org/drawingml/2006/main">
              <a:ext uri="{FF2B5EF4-FFF2-40B4-BE49-F238E27FC236}">
                <a16:creationId xmlns:a16="http://schemas.microsoft.com/office/drawing/2014/main" id="{ECBFFE84-B7B2-45A2-B664-D1B99BE7834B}"/>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breakpoints , eucast</a:t>
            </a:r>
          </a:p>
        </p:txBody>
      </p:sp>
      <p:sp>
        <p:nvSpPr>
          <p:cNvPr id="3" name="footer">
            <a:extLst xmlns:a="http://schemas.openxmlformats.org/drawingml/2006/main">
              <a:ext uri="{FF2B5EF4-FFF2-40B4-BE49-F238E27FC236}">
                <a16:creationId xmlns:a16="http://schemas.microsoft.com/office/drawing/2014/main" id="{5BD74551-C63D-408A-BEEA-D544E5B63E9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E771E30-B81D-49F1-9113-416E93D5175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163630037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1A98973-A47F-4D2C-8E0D-81D96F319F6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ESBL infection according to the site and severity</a:t>
            </a:r>
          </a:p>
        </p:txBody>
      </p:sp>
      <p:graphicFrame>
        <p:nvGraphicFramePr>
          <p:cNvPr id="2" name="">
            <a:extLst xmlns:a="http://schemas.openxmlformats.org/drawingml/2006/main">
              <a:ext uri="{FF2B5EF4-FFF2-40B4-BE49-F238E27FC236}">
                <a16:creationId xmlns:a16="http://schemas.microsoft.com/office/drawing/2014/main" id="{1F631AD4-4DCB-43C6-901C-99105725DCFA}"/>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Bladder-only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choice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Nitrofurantoin or TMP-SMX when active and appropriate. The 2026 guidance also includes single-dose aminoglycoside, gepotidacin, pivmecillinam, and oral sulopenem-probenecid among preferred options.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Important limits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Check patient eligibility, availability, interactions, and susceptibility. Fosfomycin is an alternative for E. coli cystitis. Do not extrapolate a bladder regimen to febrile or invasive disease.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CED7130-12D5-4A0D-A2C0-804D5184638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F3D281D-60F0-4F8E-B324-A4DF4510679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1964517090"/>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8EF90D-4086-4098-BC03-F67338BBD4A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ESBL infection according to the site and severity</a:t>
            </a:r>
          </a:p>
        </p:txBody>
      </p:sp>
      <p:graphicFrame>
        <p:nvGraphicFramePr>
          <p:cNvPr id="2" name="">
            <a:extLst xmlns:a="http://schemas.openxmlformats.org/drawingml/2006/main">
              <a:ext uri="{FF2B5EF4-FFF2-40B4-BE49-F238E27FC236}">
                <a16:creationId xmlns:a16="http://schemas.microsoft.com/office/drawing/2014/main" id="{1571EDDF-E522-44DF-97DE-FB917B991AD4}"/>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Pyelonephritis / cUTI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choice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Susceptible TMP-SMX, ciprofloxacin, or levofloxacin. If unsuitable, a carbapenem or cefepime-enmetazobactam.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Important limits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IV fosfomycin, aminoglycosides, and piperacillin-tazobactam are alternatives in the 2026 guidance. Bacteremia or critical illness favors the invasive-disease approach.</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28879B4-3370-42DB-A6C0-FB2A601C844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0F2941C-1A8C-4CBE-A708-85345A0B1D4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1489111704"/>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AF4FD6-8FC6-4DD8-8D35-D5AF655D2F9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ESBL infection according to the site and severity</a:t>
            </a:r>
          </a:p>
        </p:txBody>
      </p:sp>
      <p:graphicFrame>
        <p:nvGraphicFramePr>
          <p:cNvPr id="2" name="">
            <a:extLst xmlns:a="http://schemas.openxmlformats.org/drawingml/2006/main">
              <a:ext uri="{FF2B5EF4-FFF2-40B4-BE49-F238E27FC236}">
                <a16:creationId xmlns:a16="http://schemas.microsoft.com/office/drawing/2014/main" id="{53C0F1AD-D2FB-4F13-A7B9-46BB65869ECF}"/>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Bacteremia, pneumonia, or other invasive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choice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carbapenem is preferred. Use meropenem or imipenem-cilastatin in critical illness or hypoalbuminemia.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Important limits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Ertapenem can be useful in stable patients with appropriate pharmacokinetics and source control. Cefepime-enmetazobactam is an alternative; invasive ESBL outcome data are less established.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E0B9C2A-D26C-4FB0-A2B2-0533FA27A90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8B345FE-244F-40DD-A45D-3C2A45516AD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1911773111"/>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C5B8210-B0FF-4C3D-86BE-AC45C6D265B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ESBL infection according to the site and severity</a:t>
            </a:r>
          </a:p>
        </p:txBody>
      </p:sp>
      <p:graphicFrame>
        <p:nvGraphicFramePr>
          <p:cNvPr id="2" name="">
            <a:extLst xmlns:a="http://schemas.openxmlformats.org/drawingml/2006/main">
              <a:ext uri="{FF2B5EF4-FFF2-40B4-BE49-F238E27FC236}">
                <a16:creationId xmlns:a16="http://schemas.microsoft.com/office/drawing/2014/main" id="{F5AD175D-3F88-4428-86C6-74410940288A}"/>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Oral transition after improvement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choice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Active TMP-SMX or a fluoroquinolone, after hemodynamic stability, source control, and confirmation of absorption.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limits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For bloodstream infection, do not use nitrofurantoin or oral fosfomycin as completion therapy. An ESBL label does not itself mandate a PICC.</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49830DA-A07F-4C77-A221-83B8491C149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E544B88-6838-48FC-A87D-B94681A215B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627693336"/>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FE8400A-B05E-4638-A348-F259A97A3E7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ESBL infection according to the site and severity</a:t>
            </a:r>
          </a:p>
        </p:txBody>
      </p:sp>
      <p:sp>
        <p:nvSpPr>
          <p:cNvPr id="2" name="paragraph-0">
            <a:extLst xmlns:a="http://schemas.openxmlformats.org/drawingml/2006/main">
              <a:ext uri="{FF2B5EF4-FFF2-40B4-BE49-F238E27FC236}">
                <a16:creationId xmlns:a16="http://schemas.microsoft.com/office/drawing/2014/main" id="{A2CE7A6C-49AD-4796-8412-2D74D94FAF2A}"/>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Avoid plain cefepime for ESBL pyelonephritis/cUTI or invasive disease even when it reports susceptible. Cefepime-enmetazobactam is a distinct combination with a different role. Piperacillin-tazobactam is not preferred for ESBL bacteremia; MERINO failed to establish noninferiority to meropenem.</a:t>
            </a:r>
          </a:p>
        </p:txBody>
      </p:sp>
      <p:sp>
        <p:nvSpPr>
          <p:cNvPr id="3" name="footer">
            <a:extLst xmlns:a="http://schemas.openxmlformats.org/drawingml/2006/main">
              <a:ext uri="{FF2B5EF4-FFF2-40B4-BE49-F238E27FC236}">
                <a16:creationId xmlns:a16="http://schemas.microsoft.com/office/drawing/2014/main" id="{8487DB04-4239-4B5B-BAEB-85102390C86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2018C9D-30DB-463A-B17D-5C1513EDC9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142998200"/>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263DA29-B4C6-4C94-971E-E7FFA26B326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Fosfomycin needs a formulation and a site</a:t>
            </a:r>
          </a:p>
        </p:txBody>
      </p:sp>
      <p:sp>
        <p:nvSpPr>
          <p:cNvPr id="2" name="paragraph-0">
            <a:extLst xmlns:a="http://schemas.openxmlformats.org/drawingml/2006/main">
              <a:ext uri="{FF2B5EF4-FFF2-40B4-BE49-F238E27FC236}">
                <a16:creationId xmlns:a16="http://schemas.microsoft.com/office/drawing/2014/main" id="{218B5532-A48C-440B-90CD-50BA6BA7C624}"/>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Oral fosfomycin is principally a cystitis option for E. coli. The 2026 guidance permits selected oral transition use after initial improvement in E. coli cUTI when other oral options are unavailable, with limited supporting evidence. This is not initial therapy for pyelonephritis, nor reliable bacteremia therapy. IV fosfomycin is a separate alternative for cUTI with different dosing, susceptibility criteria, and sodium burden.</a:t>
            </a:r>
          </a:p>
        </p:txBody>
      </p:sp>
      <p:sp>
        <p:nvSpPr>
          <p:cNvPr id="3" name="paragraph-1">
            <a:extLst xmlns:a="http://schemas.openxmlformats.org/drawingml/2006/main">
              <a:ext uri="{FF2B5EF4-FFF2-40B4-BE49-F238E27FC236}">
                <a16:creationId xmlns:a16="http://schemas.microsoft.com/office/drawing/2014/main" id="{B1CB6F4D-4078-4C50-8E5B-A8348DA910E1}"/>
              </a:ext>
            </a:extLst>
          </p:cNvPr>
          <p:cNvSpPr>
            <a:spLocks xmlns:a="http://schemas.openxmlformats.org/drawingml/2006/main" noGrp="1"/>
          </p:cNvSpPr>
          <p:nvPr/>
        </p:nvSpPr>
        <p:spPr>
          <a:xfrm xmlns:a="http://schemas.openxmlformats.org/drawingml/2006/main">
            <a:off x="647700" y="46767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merino , allium , breakpoints</a:t>
            </a:r>
          </a:p>
        </p:txBody>
      </p:sp>
      <p:sp>
        <p:nvSpPr>
          <p:cNvPr id="4" name="footer">
            <a:extLst xmlns:a="http://schemas.openxmlformats.org/drawingml/2006/main">
              <a:ext uri="{FF2B5EF4-FFF2-40B4-BE49-F238E27FC236}">
                <a16:creationId xmlns:a16="http://schemas.microsoft.com/office/drawing/2014/main" id="{14513920-9E00-40FB-A51E-CB3BA6DEAD7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FDCFC38E-7990-4B33-AE4C-CA4DD02D2B2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1249271758"/>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B3978AF-5325-48C0-92FA-37EEF1E4FFB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Species-level identification helps predict resistance emerging during treatment</a:t>
            </a:r>
          </a:p>
        </p:txBody>
      </p:sp>
      <p:sp>
        <p:nvSpPr>
          <p:cNvPr id="2" name="paragraph-0">
            <a:extLst xmlns:a="http://schemas.openxmlformats.org/drawingml/2006/main">
              <a:ext uri="{FF2B5EF4-FFF2-40B4-BE49-F238E27FC236}">
                <a16:creationId xmlns:a16="http://schemas.microsoft.com/office/drawing/2014/main" id="{4D192B70-9077-4701-AB43-FEC53CAB3EC6}"/>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Enterobacter cloacae complex, Klebsiella aerogenes, and Citrobacter freundii have clinically important inducible AmpC risk. The 2026 guidance adds Hafnia alvei, supported mainly by laboratory data and limited clinical experience. A ceftriaxone-susceptible initial isolate can become resistant during therapy.</a:t>
            </a:r>
          </a:p>
        </p:txBody>
      </p:sp>
      <p:sp>
        <p:nvSpPr>
          <p:cNvPr id="3" name="footer">
            <a:extLst xmlns:a="http://schemas.openxmlformats.org/drawingml/2006/main">
              <a:ext uri="{FF2B5EF4-FFF2-40B4-BE49-F238E27FC236}">
                <a16:creationId xmlns:a16="http://schemas.microsoft.com/office/drawing/2014/main" id="{CF29A1DA-AC56-4E84-9275-347CD9BCC3E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C549964-2E97-4A0F-A36D-1784D9BC84A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149729183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BD91E5B-DDD8-4034-96B4-6F4D9E3D592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Species-level identification helps predict resistance emerging during treatment</a:t>
            </a:r>
          </a:p>
        </p:txBody>
      </p:sp>
      <p:sp>
        <p:nvSpPr>
          <p:cNvPr id="2" name="paragraph-0">
            <a:extLst xmlns:a="http://schemas.openxmlformats.org/drawingml/2006/main">
              <a:ext uri="{FF2B5EF4-FFF2-40B4-BE49-F238E27FC236}">
                <a16:creationId xmlns:a16="http://schemas.microsoft.com/office/drawing/2014/main" id="{1A84B4AC-E6BF-4D12-A247-AABF4E4125A5}"/>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invasive infection, cefepime is a reasonable definitive option when susceptible or SDD and dosed to the required exposure. A carbapenem is appropriate when cefepime is inactive, ESBL co-production is established, or the clinical situation makes cefepime unreliable. Piperacillin-tazobactam is not suggested for invasive infection from these moderate-risk organisms.</a:t>
            </a:r>
          </a:p>
        </p:txBody>
      </p:sp>
      <p:sp>
        <p:nvSpPr>
          <p:cNvPr id="3" name="footer">
            <a:extLst xmlns:a="http://schemas.openxmlformats.org/drawingml/2006/main">
              <a:ext uri="{FF2B5EF4-FFF2-40B4-BE49-F238E27FC236}">
                <a16:creationId xmlns:a16="http://schemas.microsoft.com/office/drawing/2014/main" id="{B5B75A12-4C93-428A-8FBA-4559578C7E7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94FA1C9-BE65-4202-AA9E-059D46FB5B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2044354516"/>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C51673-1A30-406B-974D-DF6BD43A63C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Species-level identification helps predict resistance emerging during treatment</a:t>
            </a:r>
          </a:p>
        </p:txBody>
      </p:sp>
      <p:sp>
        <p:nvSpPr>
          <p:cNvPr id="2" name="paragraph-0">
            <a:extLst xmlns:a="http://schemas.openxmlformats.org/drawingml/2006/main">
              <a:ext uri="{FF2B5EF4-FFF2-40B4-BE49-F238E27FC236}">
                <a16:creationId xmlns:a16="http://schemas.microsoft.com/office/drawing/2014/main" id="{3F26F4BF-1AAC-4310-94E2-F81956085949}"/>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apply an old “SPICE” mnemonic uniformly. Serratia marcescens, Morganella morganii, and Providencia species have a lower likelihood of clinically significant AmpC overexpression; generally follow susceptibility testing. In high-burden infection or inadequate source control, cefepime may still be preferred. C. koseri is not C. freundii, and K. pneumoniae is not K. aerogenes.</a:t>
            </a:r>
          </a:p>
        </p:txBody>
      </p:sp>
      <p:sp>
        <p:nvSpPr>
          <p:cNvPr id="3" name="footer">
            <a:extLst xmlns:a="http://schemas.openxmlformats.org/drawingml/2006/main">
              <a:ext uri="{FF2B5EF4-FFF2-40B4-BE49-F238E27FC236}">
                <a16:creationId xmlns:a16="http://schemas.microsoft.com/office/drawing/2014/main" id="{48A35119-132C-4D78-B43D-276F3FF3597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7E90265-475A-4EF1-A980-6E0B3413D53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282629728"/>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E0F02B5-1508-48D5-9B06-D01A2DCF535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Nuance without losing the default</a:t>
            </a:r>
          </a:p>
        </p:txBody>
      </p:sp>
      <p:sp>
        <p:nvSpPr>
          <p:cNvPr id="2" name="paragraph-0">
            <a:extLst xmlns:a="http://schemas.openxmlformats.org/drawingml/2006/main">
              <a:ext uri="{FF2B5EF4-FFF2-40B4-BE49-F238E27FC236}">
                <a16:creationId xmlns:a16="http://schemas.microsoft.com/office/drawing/2014/main" id="{000FFF3E-E25E-4B23-BE8F-6041ECB326D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Avoid ceftriaxone as the planned treatment of invasive moderate-risk AmpC infection. The 2026 guidance allows completion with empiric ceftriaxone in selected non-severe infections after clear improvement and adequate source control. This exception should not justify ceftriaxone in shock, an undrained collection, or an endovascular infection.</a:t>
            </a:r>
          </a:p>
        </p:txBody>
      </p:sp>
      <p:sp>
        <p:nvSpPr>
          <p:cNvPr id="3" name="paragraph-1">
            <a:extLst xmlns:a="http://schemas.openxmlformats.org/drawingml/2006/main">
              <a:ext uri="{FF2B5EF4-FFF2-40B4-BE49-F238E27FC236}">
                <a16:creationId xmlns:a16="http://schemas.microsoft.com/office/drawing/2014/main" id="{3F6C449E-5D7E-425D-B924-2D23A0559B10}"/>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breakpoints</a:t>
            </a:r>
          </a:p>
        </p:txBody>
      </p:sp>
      <p:sp>
        <p:nvSpPr>
          <p:cNvPr id="4" name="footer">
            <a:extLst xmlns:a="http://schemas.openxmlformats.org/drawingml/2006/main">
              <a:ext uri="{FF2B5EF4-FFF2-40B4-BE49-F238E27FC236}">
                <a16:creationId xmlns:a16="http://schemas.microsoft.com/office/drawing/2014/main" id="{43CBFB97-AC65-4E46-A45A-49284242928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C37811E4-AD1C-4EAA-A407-8B2CA3F4792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77</a:t>
            </a:r>
          </a:p>
        </p:txBody>
      </p:sp>
    </p:spTree>
    <p:extLst>
      <p:ext uri="{BB962C8B-B14F-4D97-AF65-F5344CB8AC3E}">
        <p14:creationId xmlns:p14="http://schemas.microsoft.com/office/powerpoint/2010/main" val="756077447"/>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C1B63B3-7DA8-4B41-8705-CC72E5D2013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CRE, identify the carbapenemase before assuming the new drugs are interchangeable</a:t>
            </a:r>
          </a:p>
        </p:txBody>
      </p:sp>
      <p:graphicFrame>
        <p:nvGraphicFramePr>
          <p:cNvPr id="2" name="">
            <a:extLst xmlns:a="http://schemas.openxmlformats.org/drawingml/2006/main">
              <a:ext uri="{FF2B5EF4-FFF2-40B4-BE49-F238E27FC236}">
                <a16:creationId xmlns:a16="http://schemas.microsoft.com/office/drawing/2014/main" id="{D3921D40-9D23-43C4-BACD-1BBBCCB9AF09}"/>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KPC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Preferred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Meropenem-vaborbactam, ceftazidime-avibactam, or imipenem-cilastatin-relebactam. IDSA slightly favors meropenem-vaborbactam within this group.</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Avoid the shortcut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This preference is not based on a head-to-head randomized trial. Prior exposure and new MICs matter.</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58AF9D2-DC0E-4D46-A9C3-3A77E4556EE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E386C48-8712-4573-86B9-AA3726D3D44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78</a:t>
            </a:r>
          </a:p>
        </p:txBody>
      </p:sp>
    </p:spTree>
    <p:extLst>
      <p:ext uri="{BB962C8B-B14F-4D97-AF65-F5344CB8AC3E}">
        <p14:creationId xmlns:p14="http://schemas.microsoft.com/office/powerpoint/2010/main" val="1258834924"/>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683C37D-6BF4-436B-94BE-12AE27411A5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CRE, identify the carbapenemase before assuming the new drugs are interchangeable</a:t>
            </a:r>
          </a:p>
        </p:txBody>
      </p:sp>
      <p:graphicFrame>
        <p:nvGraphicFramePr>
          <p:cNvPr id="2" name="">
            <a:extLst xmlns:a="http://schemas.openxmlformats.org/drawingml/2006/main">
              <a:ext uri="{FF2B5EF4-FFF2-40B4-BE49-F238E27FC236}">
                <a16:creationId xmlns:a16="http://schemas.microsoft.com/office/drawing/2014/main" id="{C8E8C88F-3AEE-4CC5-B2E4-1E2DE870BFE8}"/>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NDM / other metallo-beta-lactamase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Preferred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For NDM, aztreonam-avibactam or cefiderocol. If aztreonam-avibactam is unavailable, ceftazidime-avibactam plus aztreonam is an alternative. For VIM/IMP, confirm organism-specific testing and specialist interpretation.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Avoid the shortcut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Ceftazidime-avibactam alone, meropenem-vaborbactam, and imipenem-relebactam do not solve an MBL mechanism.</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3E1A3C4-E13C-457A-A129-932ADEE6F14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AE7E346-364C-44FC-96C7-9DEFA63C771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79</a:t>
            </a:r>
          </a:p>
        </p:txBody>
      </p:sp>
    </p:spTree>
    <p:extLst>
      <p:ext uri="{BB962C8B-B14F-4D97-AF65-F5344CB8AC3E}">
        <p14:creationId xmlns:p14="http://schemas.microsoft.com/office/powerpoint/2010/main" val="711025304"/>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DDEC54-4526-44B7-84E8-9DC47D5E67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CRE, identify the carbapenemase before assuming the new drugs are interchangeable</a:t>
            </a:r>
          </a:p>
        </p:txBody>
      </p:sp>
      <p:graphicFrame>
        <p:nvGraphicFramePr>
          <p:cNvPr id="2" name="">
            <a:extLst xmlns:a="http://schemas.openxmlformats.org/drawingml/2006/main">
              <a:ext uri="{FF2B5EF4-FFF2-40B4-BE49-F238E27FC236}">
                <a16:creationId xmlns:a16="http://schemas.microsoft.com/office/drawing/2014/main" id="{02D445A2-F9F6-49CD-A5C0-E3F789414C15}"/>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OXA-48-like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Preferred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Ceftazidime-avibactam preferred; cefiderocol or aztreonam-avibactam are alternatives.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Avoid the shortcut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Vaborbactam and relebactam do not reliably inhibit OXA-48-like enzymes, even if an isolated susceptible report appears reassuring.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977758B-25F5-4C5A-BAC7-27159540371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1A1576C-2B7A-4A02-B15E-BFD807FCB50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80</a:t>
            </a:r>
          </a:p>
        </p:txBody>
      </p:sp>
    </p:spTree>
    <p:extLst>
      <p:ext uri="{BB962C8B-B14F-4D97-AF65-F5344CB8AC3E}">
        <p14:creationId xmlns:p14="http://schemas.microsoft.com/office/powerpoint/2010/main" val="1158585928"/>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7AE1133-7C60-4EE1-A07E-02AAA0D196F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CRE, identify the carbapenemase before assuming the new drugs are interchangeable</a:t>
            </a:r>
          </a:p>
        </p:txBody>
      </p:sp>
      <p:graphicFrame>
        <p:nvGraphicFramePr>
          <p:cNvPr id="2" name="">
            <a:extLst xmlns:a="http://schemas.openxmlformats.org/drawingml/2006/main">
              <a:ext uri="{FF2B5EF4-FFF2-40B4-BE49-F238E27FC236}">
                <a16:creationId xmlns:a16="http://schemas.microsoft.com/office/drawing/2014/main" id="{E8ACD38E-A66F-47E5-9AD6-8D7B1E35D2F5}"/>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No carbapenemase; ertapenem nonsusceptible but meropenem and imipenem susceptible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Preferred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IDSA exposure-optimized meropenem or imipenem-cilastatin, with close follow-up; coordinate any departure from local standard infusion with pharmacy.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Avoid the shortcut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Ertapenem resistance alone does not mean all carbapenems are inactive.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7A93CE3-5316-4B4A-B3AA-ADFB534E0A9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193FB6E-62E8-4F41-8621-0BB8F456FE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81</a:t>
            </a:r>
          </a:p>
        </p:txBody>
      </p:sp>
    </p:spTree>
    <p:extLst>
      <p:ext uri="{BB962C8B-B14F-4D97-AF65-F5344CB8AC3E}">
        <p14:creationId xmlns:p14="http://schemas.microsoft.com/office/powerpoint/2010/main" val="1405766520"/>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71FCEE-C9FA-47FC-9F5F-2C15CABB139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CRE, identify the carbapenemase before assuming the new drugs are interchangeable</a:t>
            </a:r>
          </a:p>
        </p:txBody>
      </p:sp>
      <p:graphicFrame>
        <p:nvGraphicFramePr>
          <p:cNvPr id="2" name="">
            <a:extLst xmlns:a="http://schemas.openxmlformats.org/drawingml/2006/main">
              <a:ext uri="{FF2B5EF4-FFF2-40B4-BE49-F238E27FC236}">
                <a16:creationId xmlns:a16="http://schemas.microsoft.com/office/drawing/2014/main" id="{AF58E223-A186-46C8-8C5C-3389EB423120}"/>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No carbapenemase; all carbapenems nonsusceptible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Preferred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susceptible newer beta-lactam/beta-lactamase inhibitor, selected with microbiology and ID.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Avoid the shortcut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escalate the dose of an inactive carbapenem and presume the resistance is overcome.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FDE2050-EF3B-4FC4-8268-2BEA993078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109FD2D-1983-4313-B892-A63F3CA8EF8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82</a:t>
            </a:r>
          </a:p>
        </p:txBody>
      </p:sp>
    </p:spTree>
    <p:extLst>
      <p:ext uri="{BB962C8B-B14F-4D97-AF65-F5344CB8AC3E}">
        <p14:creationId xmlns:p14="http://schemas.microsoft.com/office/powerpoint/2010/main" val="668442977"/>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5A55568-15D2-479E-B0A0-7630040838A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CRE, identify the carbapenemase before assuming the new drugs are interchangeable</a:t>
            </a:r>
          </a:p>
        </p:txBody>
      </p:sp>
      <p:sp>
        <p:nvSpPr>
          <p:cNvPr id="2" name="paragraph-0">
            <a:extLst xmlns:a="http://schemas.openxmlformats.org/drawingml/2006/main">
              <a:ext uri="{FF2B5EF4-FFF2-40B4-BE49-F238E27FC236}">
                <a16:creationId xmlns:a16="http://schemas.microsoft.com/office/drawing/2014/main" id="{01CEFFA1-B53C-4D85-9604-571FAE7AA5A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Aztreonam survives MBL hydrolysis, but co-produced serine beta-lactamases can destroy it. Avibactam protects aztreonam from those accompanying enzymes. Avibactam does not inhibit NDM itself. This explains why the combination can work when aztreonam alone and ceftazidime-avibactam alone do not.</a:t>
            </a:r>
          </a:p>
        </p:txBody>
      </p:sp>
      <p:sp>
        <p:nvSpPr>
          <p:cNvPr id="3" name="paragraph-1">
            <a:extLst xmlns:a="http://schemas.openxmlformats.org/drawingml/2006/main">
              <a:ext uri="{FF2B5EF4-FFF2-40B4-BE49-F238E27FC236}">
                <a16:creationId xmlns:a16="http://schemas.microsoft.com/office/drawing/2014/main" id="{762C889C-F052-4E1A-92D2-8DCB9535C15A}"/>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routinely add an aminoglycoside or polymyxin once an active beta-lactam regimen is established. Tigecycline and eravacycline are alternatives only for suitable nonbloodstream, nonurinary sites. They are poor choices for CRE bacteremia or UTI.</a:t>
            </a:r>
          </a:p>
        </p:txBody>
      </p:sp>
      <p:sp>
        <p:nvSpPr>
          <p:cNvPr id="4" name="footer">
            <a:extLst xmlns:a="http://schemas.openxmlformats.org/drawingml/2006/main">
              <a:ext uri="{FF2B5EF4-FFF2-40B4-BE49-F238E27FC236}">
                <a16:creationId xmlns:a16="http://schemas.microsoft.com/office/drawing/2014/main" id="{B4EE4C66-01DA-42C7-AEC5-D60701B952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234D402B-F130-4858-B226-95EFCE1BDE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83</a:t>
            </a:r>
          </a:p>
        </p:txBody>
      </p:sp>
    </p:spTree>
    <p:extLst>
      <p:ext uri="{BB962C8B-B14F-4D97-AF65-F5344CB8AC3E}">
        <p14:creationId xmlns:p14="http://schemas.microsoft.com/office/powerpoint/2010/main" val="2004081669"/>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2486138-4E59-41FF-93EB-37D68C2C150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Guidance use and the US label are not identical</a:t>
            </a:r>
          </a:p>
        </p:txBody>
      </p:sp>
      <p:sp>
        <p:nvSpPr>
          <p:cNvPr id="2" name="paragraph-0">
            <a:extLst xmlns:a="http://schemas.openxmlformats.org/drawingml/2006/main">
              <a:ext uri="{FF2B5EF4-FFF2-40B4-BE49-F238E27FC236}">
                <a16:creationId xmlns:a16="http://schemas.microsoft.com/office/drawing/2014/main" id="{97E5323C-556F-4A59-A58A-AC7352297E95}"/>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retrieved US aztreonam-avibactam label is for adults with limited or no alternatives who have complicated intra-abdominal infection, with concurrent metronidazole. IDSA-supported use for NDM bacteremia and other sites extends beyond that label. Do not describe all CRE uses as FDA-approved.</a:t>
            </a:r>
          </a:p>
        </p:txBody>
      </p:sp>
      <p:sp>
        <p:nvSpPr>
          <p:cNvPr id="3" name="paragraph-1">
            <a:extLst xmlns:a="http://schemas.openxmlformats.org/drawingml/2006/main">
              <a:ext uri="{FF2B5EF4-FFF2-40B4-BE49-F238E27FC236}">
                <a16:creationId xmlns:a16="http://schemas.microsoft.com/office/drawing/2014/main" id="{4E4071AE-67CB-4C52-9FE3-011A3479BEF7}"/>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emblaveo</a:t>
            </a:r>
          </a:p>
        </p:txBody>
      </p:sp>
      <p:sp>
        <p:nvSpPr>
          <p:cNvPr id="4" name="footer">
            <a:extLst xmlns:a="http://schemas.openxmlformats.org/drawingml/2006/main">
              <a:ext uri="{FF2B5EF4-FFF2-40B4-BE49-F238E27FC236}">
                <a16:creationId xmlns:a16="http://schemas.microsoft.com/office/drawing/2014/main" id="{A168A12D-B3F0-4D0D-8570-397C887BD02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C485DE1F-66CE-47CA-9DF2-664834986AA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84</a:t>
            </a:r>
          </a:p>
        </p:txBody>
      </p:sp>
    </p:spTree>
    <p:extLst>
      <p:ext uri="{BB962C8B-B14F-4D97-AF65-F5344CB8AC3E}">
        <p14:creationId xmlns:p14="http://schemas.microsoft.com/office/powerpoint/2010/main" val="2065102678"/>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96723E9-F2C2-496A-8A4E-BDE6C2DFCC9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Carbapenem resistance in Pseudomonas does not automatically require a reserve antibiotic</a:t>
            </a:r>
          </a:p>
        </p:txBody>
      </p:sp>
      <p:sp>
        <p:nvSpPr>
          <p:cNvPr id="2" name="paragraph-0">
            <a:extLst xmlns:a="http://schemas.openxmlformats.org/drawingml/2006/main">
              <a:ext uri="{FF2B5EF4-FFF2-40B4-BE49-F238E27FC236}">
                <a16:creationId xmlns:a16="http://schemas.microsoft.com/office/drawing/2014/main" id="{7282E439-2379-4F75-B80F-0CA69D9C6E1F}"/>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cefepime, ceftazidime, piperacillin-tazobactam, or aztreonam remains susceptible, an optimized traditional beta-lactam may be appropriate even when carbapenems are resistant. In critical illness or poor source control, a susceptible newer agent is also reasonable. OprD loss can disproportionately affect carbapenems; this is one reason to interpret the complete pattern.</a:t>
            </a:r>
          </a:p>
        </p:txBody>
      </p:sp>
      <p:sp>
        <p:nvSpPr>
          <p:cNvPr id="3" name="paragraph-1">
            <a:extLst xmlns:a="http://schemas.openxmlformats.org/drawingml/2006/main">
              <a:ext uri="{FF2B5EF4-FFF2-40B4-BE49-F238E27FC236}">
                <a16:creationId xmlns:a16="http://schemas.microsoft.com/office/drawing/2014/main" id="{0B8591F5-CA76-4180-8F6B-0CA73723EF55}"/>
              </a:ext>
            </a:extLst>
          </p:cNvPr>
          <p:cNvSpPr>
            <a:spLocks xmlns:a="http://schemas.openxmlformats.org/drawingml/2006/main" noGrp="1"/>
          </p:cNvSpPr>
          <p:nvPr/>
        </p:nvSpPr>
        <p:spPr>
          <a:xfrm xmlns:a="http://schemas.openxmlformats.org/drawingml/2006/main">
            <a:off x="647700" y="43243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DTR Pseudomonas is nonsusceptible to piperacillin-tazobactam, ceftazidime, cefepime, aztreonam, meropenem, imipenem, ciprofloxacin, and levofloxacin. Request testing of ceftolozane-tazobactam, ceftazidime-avibactam, imipenem-relebactam, and cefiderocol.</a:t>
            </a:r>
          </a:p>
        </p:txBody>
      </p:sp>
      <p:sp>
        <p:nvSpPr>
          <p:cNvPr id="4" name="footer">
            <a:extLst xmlns:a="http://schemas.openxmlformats.org/drawingml/2006/main">
              <a:ext uri="{FF2B5EF4-FFF2-40B4-BE49-F238E27FC236}">
                <a16:creationId xmlns:a16="http://schemas.microsoft.com/office/drawing/2014/main" id="{7C22EC7D-92A0-43F5-AFBA-47A30F53FDC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BE5A2E25-F717-477F-A07B-8615A6DFC7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85</a:t>
            </a:r>
          </a:p>
        </p:txBody>
      </p:sp>
    </p:spTree>
    <p:extLst>
      <p:ext uri="{BB962C8B-B14F-4D97-AF65-F5344CB8AC3E}">
        <p14:creationId xmlns:p14="http://schemas.microsoft.com/office/powerpoint/2010/main" val="1238319754"/>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B9E6F08-ACDC-4D0C-9897-405443DBBE3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Carbapenem resistance in Pseudomonas does not automatically require a reserve antibiotic</a:t>
            </a:r>
          </a:p>
        </p:txBody>
      </p:sp>
      <p:graphicFrame>
        <p:nvGraphicFramePr>
          <p:cNvPr id="2" name="">
            <a:extLst xmlns:a="http://schemas.openxmlformats.org/drawingml/2006/main">
              <a:ext uri="{FF2B5EF4-FFF2-40B4-BE49-F238E27FC236}">
                <a16:creationId xmlns:a16="http://schemas.microsoft.com/office/drawing/2014/main" id="{8DDEAC1D-806B-4D1E-B205-BDC9D18345DD}"/>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Infection outside the urinary tract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Ceftolozane-tazobactam, ceftazidime-avibactam, or imipenem-relebactam when active. Cefiderocol is an alternative.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8C63C2E-F74F-418C-A4C8-ADA4F61026F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C7E5761-7DAC-4217-9600-090E3D2379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86</a:t>
            </a:r>
          </a:p>
        </p:txBody>
      </p:sp>
    </p:spTree>
    <p:extLst>
      <p:ext uri="{BB962C8B-B14F-4D97-AF65-F5344CB8AC3E}">
        <p14:creationId xmlns:p14="http://schemas.microsoft.com/office/powerpoint/2010/main" val="1557004763"/>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DF729B4-BDDE-4EC0-8D1F-A13849FFD88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Carbapenem resistance in Pseudomonas does not automatically require a reserve antibiotic</a:t>
            </a:r>
          </a:p>
        </p:txBody>
      </p:sp>
      <p:graphicFrame>
        <p:nvGraphicFramePr>
          <p:cNvPr id="2" name="">
            <a:extLst xmlns:a="http://schemas.openxmlformats.org/drawingml/2006/main">
              <a:ext uri="{FF2B5EF4-FFF2-40B4-BE49-F238E27FC236}">
                <a16:creationId xmlns:a16="http://schemas.microsoft.com/office/drawing/2014/main" id="{DA86BBFB-FE41-4437-85AF-AA5EA2AFAB68}"/>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Pneumonia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Treatment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 2026 guidance favors ceftolozane-tazobactam among the preferred agents when susceptible. The comparative evidence does not establish universal superiority across all sites.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39C91BC-D02A-4897-976F-2653ED536F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81870F1-D753-4DE3-A486-26F8DA86042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87</a:t>
            </a:r>
          </a:p>
        </p:txBody>
      </p:sp>
    </p:spTree>
    <p:extLst>
      <p:ext uri="{BB962C8B-B14F-4D97-AF65-F5344CB8AC3E}">
        <p14:creationId xmlns:p14="http://schemas.microsoft.com/office/powerpoint/2010/main" val="824941383"/>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A0EDB2F-FA99-48A1-A7E8-A6473A559F6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Carbapenem resistance in Pseudomonas does not automatically require a reserve antibiotic</a:t>
            </a:r>
          </a:p>
        </p:txBody>
      </p:sp>
      <p:graphicFrame>
        <p:nvGraphicFramePr>
          <p:cNvPr id="2" name="">
            <a:extLst xmlns:a="http://schemas.openxmlformats.org/drawingml/2006/main">
              <a:ext uri="{FF2B5EF4-FFF2-40B4-BE49-F238E27FC236}">
                <a16:creationId xmlns:a16="http://schemas.microsoft.com/office/drawing/2014/main" id="{71965970-EFD8-46DD-9A0E-4407228B4B64}"/>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cUTI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All four newer agents are preferred options when active. Once-daily amikacin or tobramycin may be alternatives with pharmacokinetic monitoring.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CE0DA9A-9C45-4DC7-BECE-E345C31F9EE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2627DB4-57DB-4E62-8635-11F3D2A04A9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88</a:t>
            </a:r>
          </a:p>
        </p:txBody>
      </p:sp>
    </p:spTree>
    <p:extLst>
      <p:ext uri="{BB962C8B-B14F-4D97-AF65-F5344CB8AC3E}">
        <p14:creationId xmlns:p14="http://schemas.microsoft.com/office/powerpoint/2010/main" val="1272412747"/>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516D11C-8D00-4003-B4F9-765085C23B4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Carbapenem resistance in Pseudomonas does not automatically require a reserve antibiotic</a:t>
            </a:r>
          </a:p>
        </p:txBody>
      </p:sp>
      <p:graphicFrame>
        <p:nvGraphicFramePr>
          <p:cNvPr id="2" name="">
            <a:extLst xmlns:a="http://schemas.openxmlformats.org/drawingml/2006/main">
              <a:ext uri="{FF2B5EF4-FFF2-40B4-BE49-F238E27FC236}">
                <a16:creationId xmlns:a16="http://schemas.microsoft.com/office/drawing/2014/main" id="{A26C1818-ADF8-448F-A186-4C635CC7982E}"/>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MBL-producing Pseudomonas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Cefiderocol preferred when susceptible. Aztreonam-avibactam has limited activity here; do not transfer the NDM Enterobacterales algorithm to Pseudomonas.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AD64ED3-83F7-4326-887F-EE7191F325E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64C3566-CFFA-48BA-8F46-BD12A9DBBAA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89</a:t>
            </a:r>
          </a:p>
        </p:txBody>
      </p:sp>
    </p:spTree>
    <p:extLst>
      <p:ext uri="{BB962C8B-B14F-4D97-AF65-F5344CB8AC3E}">
        <p14:creationId xmlns:p14="http://schemas.microsoft.com/office/powerpoint/2010/main" val="672034213"/>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83F63C5-8C37-4D6A-8C5F-FCB13152621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Carbapenem resistance in Pseudomonas does not automatically require a reserve antibiotic</a:t>
            </a:r>
          </a:p>
        </p:txBody>
      </p:sp>
      <p:graphicFrame>
        <p:nvGraphicFramePr>
          <p:cNvPr id="2" name="">
            <a:extLst xmlns:a="http://schemas.openxmlformats.org/drawingml/2006/main">
              <a:ext uri="{FF2B5EF4-FFF2-40B4-BE49-F238E27FC236}">
                <a16:creationId xmlns:a16="http://schemas.microsoft.com/office/drawing/2014/main" id="{73C6D26A-E906-4871-A5EC-C872CD3C8DBE}"/>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Recurrence after a newer beta-lactam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Obtain new cultures and repeat susceptibility testing. Cross-resistance can emerge, including between ceftolozane-tazobactam and ceftazidime-avibactam.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D0DE6B9-C6CC-4B9B-B28E-67D4DA9831D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F34904D-B64E-4DC4-8BAD-5B0BF24285A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90</a:t>
            </a:r>
          </a:p>
        </p:txBody>
      </p:sp>
    </p:spTree>
    <p:extLst>
      <p:ext uri="{BB962C8B-B14F-4D97-AF65-F5344CB8AC3E}">
        <p14:creationId xmlns:p14="http://schemas.microsoft.com/office/powerpoint/2010/main" val="702787476"/>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53FDA08-53DC-4477-B17F-D14C8A796EC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Carbapenem resistance in Pseudomonas does not automatically require a reserve antibiotic</a:t>
            </a:r>
          </a:p>
        </p:txBody>
      </p:sp>
      <p:sp>
        <p:nvSpPr>
          <p:cNvPr id="2" name="paragraph-0">
            <a:extLst xmlns:a="http://schemas.openxmlformats.org/drawingml/2006/main">
              <a:ext uri="{FF2B5EF4-FFF2-40B4-BE49-F238E27FC236}">
                <a16:creationId xmlns:a16="http://schemas.microsoft.com/office/drawing/2014/main" id="{C31A1BBC-B7AB-4231-A6A7-9A3E326B5A1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Once a beta-lactam is confirmed active, routine continued combination therapy is not suggested. Aminoglycoside monotherapy is unsuitable for invasive nonurinary disease. Routine adjunctive inhaled antibiotics are not recommended when an active systemic beta-lactam is available.</a:t>
            </a:r>
          </a:p>
        </p:txBody>
      </p:sp>
      <p:sp>
        <p:nvSpPr>
          <p:cNvPr id="3" name="paragraph-1">
            <a:extLst xmlns:a="http://schemas.openxmlformats.org/drawingml/2006/main">
              <a:ext uri="{FF2B5EF4-FFF2-40B4-BE49-F238E27FC236}">
                <a16:creationId xmlns:a16="http://schemas.microsoft.com/office/drawing/2014/main" id="{CA7CB006-E0BE-4733-B736-FDC7412613BC}"/>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a:t>
            </a:r>
          </a:p>
        </p:txBody>
      </p:sp>
      <p:sp>
        <p:nvSpPr>
          <p:cNvPr id="4" name="footer">
            <a:extLst xmlns:a="http://schemas.openxmlformats.org/drawingml/2006/main">
              <a:ext uri="{FF2B5EF4-FFF2-40B4-BE49-F238E27FC236}">
                <a16:creationId xmlns:a16="http://schemas.microsoft.com/office/drawing/2014/main" id="{9E9DB3EB-32D1-49B7-B2A6-3545A3EE745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9FD1B914-06CD-4F6F-AD3D-BA315C93A03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91</a:t>
            </a:r>
          </a:p>
        </p:txBody>
      </p:sp>
    </p:spTree>
    <p:extLst>
      <p:ext uri="{BB962C8B-B14F-4D97-AF65-F5344CB8AC3E}">
        <p14:creationId xmlns:p14="http://schemas.microsoft.com/office/powerpoint/2010/main" val="335821867"/>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F482E3C-29F4-4937-AECC-BC5FF85550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invasive CRAB, use a sulbactam-durlobactam regimen and verify that the isolate is causing disease</a:t>
            </a:r>
          </a:p>
        </p:txBody>
      </p:sp>
      <p:sp>
        <p:nvSpPr>
          <p:cNvPr id="2" name="paragraph-0">
            <a:extLst xmlns:a="http://schemas.openxmlformats.org/drawingml/2006/main">
              <a:ext uri="{FF2B5EF4-FFF2-40B4-BE49-F238E27FC236}">
                <a16:creationId xmlns:a16="http://schemas.microsoft.com/office/drawing/2014/main" id="{E690DFBC-FA6C-4FB1-B6CB-3B2B17F6B32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CRAB means carbapenem-resistant Acinetobacter baumannii complex. A positive respiratory or wound culture is often difficult to interpret. Establish a compatible infection before exposing a patient to a complex regimen.</a:t>
            </a:r>
          </a:p>
        </p:txBody>
      </p:sp>
      <p:sp>
        <p:nvSpPr>
          <p:cNvPr id="3" name="paragraph-1">
            <a:extLst xmlns:a="http://schemas.openxmlformats.org/drawingml/2006/main">
              <a:ext uri="{FF2B5EF4-FFF2-40B4-BE49-F238E27FC236}">
                <a16:creationId xmlns:a16="http://schemas.microsoft.com/office/drawing/2014/main" id="{19FC3106-BEA9-46F0-8936-565422DDE842}"/>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Preferred treatment is sulbactam-durlobactam plus imipenem-cilastatin or meropenem. Sulbactam has direct antibacterial activity against Acinetobacter; durlobactam protects it from relevant beta-lactamases. The carbapenem is an intentional partner in this regimen, not evidence that carbapenem monotherapy is effective against CRAB.</a:t>
            </a:r>
          </a:p>
        </p:txBody>
      </p:sp>
      <p:sp>
        <p:nvSpPr>
          <p:cNvPr id="4" name="footer">
            <a:extLst xmlns:a="http://schemas.openxmlformats.org/drawingml/2006/main">
              <a:ext uri="{FF2B5EF4-FFF2-40B4-BE49-F238E27FC236}">
                <a16:creationId xmlns:a16="http://schemas.microsoft.com/office/drawing/2014/main" id="{874E35D7-780C-4F08-9205-D7758DF5DB8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190AACD-5C64-4219-A7B4-1ACE6B67E7B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92</a:t>
            </a:r>
          </a:p>
        </p:txBody>
      </p:sp>
    </p:spTree>
    <p:extLst>
      <p:ext uri="{BB962C8B-B14F-4D97-AF65-F5344CB8AC3E}">
        <p14:creationId xmlns:p14="http://schemas.microsoft.com/office/powerpoint/2010/main" val="1226641385"/>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8C06E8C-AF18-4306-83B3-1A9A97FCD3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invasive CRAB, use a sulbactam-durlobactam regimen and verify that the isolate is causing disease</a:t>
            </a:r>
          </a:p>
        </p:txBody>
      </p:sp>
      <p:sp>
        <p:nvSpPr>
          <p:cNvPr id="2" name="paragraph-0">
            <a:extLst xmlns:a="http://schemas.openxmlformats.org/drawingml/2006/main">
              <a:ext uri="{FF2B5EF4-FFF2-40B4-BE49-F238E27FC236}">
                <a16:creationId xmlns:a16="http://schemas.microsoft.com/office/drawing/2014/main" id="{4FE07A6B-30F2-4E1E-894B-5BC4D30FDC3C}"/>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2026 guidance places high-dose ampicillin-sulbactam plus another active agent in a temporary bridging role when sulbactam-durlobactam is not immediately available. The target is 9 g/day of the sulbactam component, equal to 27 g/day of the fixed ampicillin-sulbactam product before renal adjustment. Arrange access to preferred therapy rather than assuming these regimens are equivalent.</a:t>
            </a:r>
          </a:p>
        </p:txBody>
      </p:sp>
      <p:sp>
        <p:nvSpPr>
          <p:cNvPr id="3" name="footer">
            <a:extLst xmlns:a="http://schemas.openxmlformats.org/drawingml/2006/main">
              <a:ext uri="{FF2B5EF4-FFF2-40B4-BE49-F238E27FC236}">
                <a16:creationId xmlns:a16="http://schemas.microsoft.com/office/drawing/2014/main" id="{EDC48295-1F98-46DC-AE03-506D4BB0153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C55BE2E-A4F0-4156-AFB1-1843BDFD8F4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93</a:t>
            </a:r>
          </a:p>
        </p:txBody>
      </p:sp>
    </p:spTree>
    <p:extLst>
      <p:ext uri="{BB962C8B-B14F-4D97-AF65-F5344CB8AC3E}">
        <p14:creationId xmlns:p14="http://schemas.microsoft.com/office/powerpoint/2010/main" val="859068379"/>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FE8CCF9-B610-42BC-94D5-204C2553FF3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invasive CRAB, use a sulbactam-durlobactam regimen and verify that the isolate is causing disease</a:t>
            </a:r>
          </a:p>
        </p:txBody>
      </p:sp>
      <p:sp>
        <p:nvSpPr>
          <p:cNvPr id="2" name="paragraph-0">
            <a:extLst xmlns:a="http://schemas.openxmlformats.org/drawingml/2006/main">
              <a:ext uri="{FF2B5EF4-FFF2-40B4-BE49-F238E27FC236}">
                <a16:creationId xmlns:a16="http://schemas.microsoft.com/office/drawing/2014/main" id="{E3C2345F-D52D-4574-9610-8B57BAD22BD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sulbactam-durlobactam resistance or an MBL is identified, obtain specialist guidance for a nonsulbactam combination using available active agents such as cefiderocol, minocycline, or polymyxin B. The optimal salvage regimen is uncertain. Do not generalize OXA-48 Enterobacterales treatment to Acinetobacter OXA carbapenemases.</a:t>
            </a:r>
          </a:p>
        </p:txBody>
      </p:sp>
      <p:sp>
        <p:nvSpPr>
          <p:cNvPr id="3" name="footer">
            <a:extLst xmlns:a="http://schemas.openxmlformats.org/drawingml/2006/main">
              <a:ext uri="{FF2B5EF4-FFF2-40B4-BE49-F238E27FC236}">
                <a16:creationId xmlns:a16="http://schemas.microsoft.com/office/drawing/2014/main" id="{2F738616-055C-4679-B5BD-A4CD627950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1C7FB7D-E0C8-47F4-A5D6-A1162A03CE5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94</a:t>
            </a:r>
          </a:p>
        </p:txBody>
      </p:sp>
    </p:spTree>
    <p:extLst>
      <p:ext uri="{BB962C8B-B14F-4D97-AF65-F5344CB8AC3E}">
        <p14:creationId xmlns:p14="http://schemas.microsoft.com/office/powerpoint/2010/main" val="991317122"/>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E124847-4038-4C59-8534-0B8D0143804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ATTACK established</a:t>
            </a:r>
          </a:p>
        </p:txBody>
      </p:sp>
      <p:sp>
        <p:nvSpPr>
          <p:cNvPr id="2" name="paragraph-0">
            <a:extLst xmlns:a="http://schemas.openxmlformats.org/drawingml/2006/main">
              <a:ext uri="{FF2B5EF4-FFF2-40B4-BE49-F238E27FC236}">
                <a16:creationId xmlns:a16="http://schemas.microsoft.com/office/drawing/2014/main" id="{60493706-5F17-48B3-9D67-53456938255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Sulbactam-durlobactam plus imipenem-cilastatin met a prespecified noninferiority endpoint against colistin plus imipenem-cilastatin, with substantially less nephrotoxicity. The mortality confidence interval included no difference. The study does not establish a mortality superiority claim, and most patients had pneumonia.</a:t>
            </a:r>
          </a:p>
        </p:txBody>
      </p:sp>
      <p:sp>
        <p:nvSpPr>
          <p:cNvPr id="3" name="paragraph-1">
            <a:extLst xmlns:a="http://schemas.openxmlformats.org/drawingml/2006/main">
              <a:ext uri="{FF2B5EF4-FFF2-40B4-BE49-F238E27FC236}">
                <a16:creationId xmlns:a16="http://schemas.microsoft.com/office/drawing/2014/main" id="{2946207A-6489-4C85-ADAE-8390024B677C}"/>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attack , doses</a:t>
            </a:r>
          </a:p>
        </p:txBody>
      </p:sp>
      <p:sp>
        <p:nvSpPr>
          <p:cNvPr id="4" name="footer">
            <a:extLst xmlns:a="http://schemas.openxmlformats.org/drawingml/2006/main">
              <a:ext uri="{FF2B5EF4-FFF2-40B4-BE49-F238E27FC236}">
                <a16:creationId xmlns:a16="http://schemas.microsoft.com/office/drawing/2014/main" id="{F02D1BBC-65F6-4C9F-898B-C00A497FE80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83CFD177-892F-4DE4-9E32-4B91F4133EF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95</a:t>
            </a:r>
          </a:p>
        </p:txBody>
      </p:sp>
    </p:spTree>
    <p:extLst>
      <p:ext uri="{BB962C8B-B14F-4D97-AF65-F5344CB8AC3E}">
        <p14:creationId xmlns:p14="http://schemas.microsoft.com/office/powerpoint/2010/main" val="1252115844"/>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265D28E-3D59-4BD0-BBEB-A1FF0A4646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Stenotrophomonas treatment requires an explicit assessment of the evidence</a:t>
            </a:r>
          </a:p>
        </p:txBody>
      </p:sp>
      <p:sp>
        <p:nvSpPr>
          <p:cNvPr id="2" name="paragraph-0">
            <a:extLst xmlns:a="http://schemas.openxmlformats.org/drawingml/2006/main">
              <a:ext uri="{FF2B5EF4-FFF2-40B4-BE49-F238E27FC236}">
                <a16:creationId xmlns:a16="http://schemas.microsoft.com/office/drawing/2014/main" id="{3658DE39-6FBB-4E3B-B0B1-2A2485C047B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First determine whether a respiratory isolate represents infection. Carbapenem exposure can select Stenotrophomonas, and meropenem does not treat it. Invasive disease includes clinically established pneumonia, bloodstream infection, and other deep infection; a positive airway culture alone is insufficient.</a:t>
            </a:r>
          </a:p>
        </p:txBody>
      </p:sp>
      <p:sp>
        <p:nvSpPr>
          <p:cNvPr id="3" name="footer">
            <a:extLst xmlns:a="http://schemas.openxmlformats.org/drawingml/2006/main">
              <a:ext uri="{FF2B5EF4-FFF2-40B4-BE49-F238E27FC236}">
                <a16:creationId xmlns:a16="http://schemas.microsoft.com/office/drawing/2014/main" id="{FD54D5C4-36CA-496C-8602-05B4F9D6A1E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5A4EC4C-5431-42F0-9AE5-5F39CFF878D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96</a:t>
            </a:r>
          </a:p>
        </p:txBody>
      </p:sp>
    </p:spTree>
    <p:extLst>
      <p:ext uri="{BB962C8B-B14F-4D97-AF65-F5344CB8AC3E}">
        <p14:creationId xmlns:p14="http://schemas.microsoft.com/office/powerpoint/2010/main" val="980347287"/>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8B2C42-146A-462D-9036-70B64E7FB52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substantive 2026 change</a:t>
            </a:r>
          </a:p>
        </p:txBody>
      </p:sp>
      <p:sp>
        <p:nvSpPr>
          <p:cNvPr id="2" name="paragraph-0">
            <a:extLst xmlns:a="http://schemas.openxmlformats.org/drawingml/2006/main">
              <a:ext uri="{FF2B5EF4-FFF2-40B4-BE49-F238E27FC236}">
                <a16:creationId xmlns:a16="http://schemas.microsoft.com/office/drawing/2014/main" id="{1B84E083-845D-4167-891B-EA22E813EF94}"/>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2026 IDSA guidance favors cefiderocol monotherapy for invasive Stenotrophomonas maltophilia infection. This preference is driven largely by susceptibility, pharmacokinetic/pharmacodynamic data, and animal models. Comparative human studies have not established cefiderocol superiority.</a:t>
            </a:r>
          </a:p>
        </p:txBody>
      </p:sp>
      <p:sp>
        <p:nvSpPr>
          <p:cNvPr id="3" name="footer">
            <a:extLst xmlns:a="http://schemas.openxmlformats.org/drawingml/2006/main">
              <a:ext uri="{FF2B5EF4-FFF2-40B4-BE49-F238E27FC236}">
                <a16:creationId xmlns:a16="http://schemas.microsoft.com/office/drawing/2014/main" id="{BA8162B9-D168-4857-839B-E4E76D034FC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3AE7759-7F8D-40EA-ADED-900F3587C4B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97</a:t>
            </a:r>
          </a:p>
        </p:txBody>
      </p:sp>
    </p:spTree>
    <p:extLst>
      <p:ext uri="{BB962C8B-B14F-4D97-AF65-F5344CB8AC3E}">
        <p14:creationId xmlns:p14="http://schemas.microsoft.com/office/powerpoint/2010/main" val="1851749692"/>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AFEC407-FA79-4375-8877-C71541220A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substantive 2026 change</a:t>
            </a:r>
          </a:p>
        </p:txBody>
      </p:sp>
      <p:sp>
        <p:nvSpPr>
          <p:cNvPr id="2" name="paragraph-0">
            <a:extLst xmlns:a="http://schemas.openxmlformats.org/drawingml/2006/main">
              <a:ext uri="{FF2B5EF4-FFF2-40B4-BE49-F238E27FC236}">
                <a16:creationId xmlns:a16="http://schemas.microsoft.com/office/drawing/2014/main" id="{E96C28F2-22CB-4017-AD46-B455F0AD1412}"/>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Alternative approaches include aztreonam-avibactam preferably with a second agent, or combination regimens incorporating active TMP-SMX, levofloxacin, or minocycline. Ceftazidime-avibactam plus aztreonam is an alternative when aztreonam-avibactam is unavailable. Selection depends on the site, susceptibility, toxicities, and access. Do not present TMP-SMX monotherapy as the current default for invasive disease.</a:t>
            </a:r>
          </a:p>
        </p:txBody>
      </p:sp>
      <p:sp>
        <p:nvSpPr>
          <p:cNvPr id="3" name="footer">
            <a:extLst xmlns:a="http://schemas.openxmlformats.org/drawingml/2006/main">
              <a:ext uri="{FF2B5EF4-FFF2-40B4-BE49-F238E27FC236}">
                <a16:creationId xmlns:a16="http://schemas.microsoft.com/office/drawing/2014/main" id="{21CEDA27-8609-441B-8148-0622A02415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AD5BC2F-AA21-488B-B7A6-9BAF1ED325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98</a:t>
            </a:r>
          </a:p>
        </p:txBody>
      </p:sp>
    </p:spTree>
    <p:extLst>
      <p:ext uri="{BB962C8B-B14F-4D97-AF65-F5344CB8AC3E}">
        <p14:creationId xmlns:p14="http://schemas.microsoft.com/office/powerpoint/2010/main" val="1733061478"/>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6F2D5D7-C944-4417-B218-DAC57692226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substantive 2026 change</a:t>
            </a:r>
          </a:p>
        </p:txBody>
      </p:sp>
      <p:sp>
        <p:nvSpPr>
          <p:cNvPr id="2" name="paragraph-0">
            <a:extLst xmlns:a="http://schemas.openxmlformats.org/drawingml/2006/main">
              <a:ext uri="{FF2B5EF4-FFF2-40B4-BE49-F238E27FC236}">
                <a16:creationId xmlns:a16="http://schemas.microsoft.com/office/drawing/2014/main" id="{B2243D9D-530E-40CA-B2D9-FF58C73F87CB}"/>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After clear and sustained improvement, transition to a single active oral alternative may be considered with specialist review. Minocycline has limited sustained serum exposure and is a poor initial monotherapy choice for bacteremia. Levofloxacin can select resistance during treatment. Monitor potassium, renal function, and CBC with TMP-SMX.</a:t>
            </a:r>
          </a:p>
        </p:txBody>
      </p:sp>
      <p:sp>
        <p:nvSpPr>
          <p:cNvPr id="3" name="paragraph-1">
            <a:extLst xmlns:a="http://schemas.openxmlformats.org/drawingml/2006/main">
              <a:ext uri="{FF2B5EF4-FFF2-40B4-BE49-F238E27FC236}">
                <a16:creationId xmlns:a16="http://schemas.microsoft.com/office/drawing/2014/main" id="{FC022D40-03D6-4663-A455-75D93955378D}"/>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current testing criteria. The cited minocycline susceptible breakpoint is at most 1 microgram/mL. Aztreonam-avibactam has no established CLSI or FDA breakpoint for Stenotrophomonas in the retrieved guidance. Do not assign “susceptible” by borrowing the Enterobacterales cutoff.</a:t>
            </a:r>
          </a:p>
        </p:txBody>
      </p:sp>
      <p:sp>
        <p:nvSpPr>
          <p:cNvPr id="4" name="footer">
            <a:extLst xmlns:a="http://schemas.openxmlformats.org/drawingml/2006/main">
              <a:ext uri="{FF2B5EF4-FFF2-40B4-BE49-F238E27FC236}">
                <a16:creationId xmlns:a16="http://schemas.microsoft.com/office/drawing/2014/main" id="{B94BBAB3-D234-4FEB-AD1A-9FEA442E803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6E788574-CD9B-4BE2-AC73-4019280E1EE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99</a:t>
            </a:r>
          </a:p>
        </p:txBody>
      </p:sp>
    </p:spTree>
    <p:extLst>
      <p:ext uri="{BB962C8B-B14F-4D97-AF65-F5344CB8AC3E}">
        <p14:creationId xmlns:p14="http://schemas.microsoft.com/office/powerpoint/2010/main" val="1859025358"/>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6632FA6-7823-43B0-A1F7-303DA185CF3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substantive 2026 change</a:t>
            </a:r>
          </a:p>
        </p:txBody>
      </p:sp>
      <p:sp>
        <p:nvSpPr>
          <p:cNvPr id="2" name="paragraph-0">
            <a:extLst xmlns:a="http://schemas.openxmlformats.org/drawingml/2006/main">
              <a:ext uri="{FF2B5EF4-FFF2-40B4-BE49-F238E27FC236}">
                <a16:creationId xmlns:a16="http://schemas.microsoft.com/office/drawing/2014/main" id="{B2D31377-D03C-4F3D-A3B7-CA913BDB502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breakpoints</a:t>
            </a:r>
          </a:p>
        </p:txBody>
      </p:sp>
      <p:sp>
        <p:nvSpPr>
          <p:cNvPr id="3" name="footer">
            <a:extLst xmlns:a="http://schemas.openxmlformats.org/drawingml/2006/main">
              <a:ext uri="{FF2B5EF4-FFF2-40B4-BE49-F238E27FC236}">
                <a16:creationId xmlns:a16="http://schemas.microsoft.com/office/drawing/2014/main" id="{6B98544D-CF89-4D14-A46C-E58C10CA2E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2FB4093-A763-4A1B-A53E-D6DA2EFABBA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100</a:t>
            </a:r>
          </a:p>
        </p:txBody>
      </p:sp>
    </p:spTree>
    <p:extLst>
      <p:ext uri="{BB962C8B-B14F-4D97-AF65-F5344CB8AC3E}">
        <p14:creationId xmlns:p14="http://schemas.microsoft.com/office/powerpoint/2010/main" val="909335422"/>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DCBCD12-40C7-477E-B345-10D1E18AE02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MRSA and VRE require different treatment decisions at different infection sites</a:t>
            </a:r>
          </a:p>
        </p:txBody>
      </p:sp>
      <p:graphicFrame>
        <p:nvGraphicFramePr>
          <p:cNvPr id="2" name="">
            <a:extLst xmlns:a="http://schemas.openxmlformats.org/drawingml/2006/main">
              <a:ext uri="{FF2B5EF4-FFF2-40B4-BE49-F238E27FC236}">
                <a16:creationId xmlns:a16="http://schemas.microsoft.com/office/drawing/2014/main" id="{126487B1-19AE-4844-8CF0-5154991334D9}"/>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MRSA bacteremia / endovascular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Treatment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Vancomycin or daptomycin are established options. Ceftobiprole is another option for adult S. aureus bacteremia within its approved indication; assess availability and trial applicability.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must accompany the drug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Follow-up cultures, source control, evaluation for endocarditis and metastatic infection, and a syndrome-specific duration.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58F8B28-54EB-4E82-9553-F8A8AAD3781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1A5B1AF-1870-4239-BA4A-FEEE0F001E4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101</a:t>
            </a:r>
          </a:p>
        </p:txBody>
      </p:sp>
    </p:spTree>
    <p:extLst>
      <p:ext uri="{BB962C8B-B14F-4D97-AF65-F5344CB8AC3E}">
        <p14:creationId xmlns:p14="http://schemas.microsoft.com/office/powerpoint/2010/main" val="1892547407"/>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C8189D3-F8A0-462F-A36A-67E78ED3D9A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MRSA and VRE require different treatment decisions at different infection sites</a:t>
            </a:r>
          </a:p>
        </p:txBody>
      </p:sp>
      <p:graphicFrame>
        <p:nvGraphicFramePr>
          <p:cNvPr id="2" name="">
            <a:extLst xmlns:a="http://schemas.openxmlformats.org/drawingml/2006/main">
              <a:ext uri="{FF2B5EF4-FFF2-40B4-BE49-F238E27FC236}">
                <a16:creationId xmlns:a16="http://schemas.microsoft.com/office/drawing/2014/main" id="{7522A948-B167-4043-8EC7-9B595D48958D}"/>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MRSA alveolar pneumonia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Treatment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Vancomycin or linezolid.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must accompany the drug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Daptomycin is inactivated by pulmonary surfactant. Drain empyema when present. Oral bioavailability alone does not establish suitability for an unstable patient.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3661553-C71C-47CD-ABA3-03C1A91812B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C85D649-7AE5-407F-8776-6A381863A1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102</a:t>
            </a:r>
          </a:p>
        </p:txBody>
      </p:sp>
    </p:spTree>
    <p:extLst>
      <p:ext uri="{BB962C8B-B14F-4D97-AF65-F5344CB8AC3E}">
        <p14:creationId xmlns:p14="http://schemas.microsoft.com/office/powerpoint/2010/main" val="341956517"/>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28EF8E7-BA0A-46F5-BAB7-00B2FFFC408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MRSA and VRE require different treatment decisions at different infection sites</a:t>
            </a:r>
          </a:p>
        </p:txBody>
      </p:sp>
      <p:graphicFrame>
        <p:nvGraphicFramePr>
          <p:cNvPr id="2" name="">
            <a:extLst xmlns:a="http://schemas.openxmlformats.org/drawingml/2006/main">
              <a:ext uri="{FF2B5EF4-FFF2-40B4-BE49-F238E27FC236}">
                <a16:creationId xmlns:a16="http://schemas.microsoft.com/office/drawing/2014/main" id="{3A88F6EF-5A67-4EED-91A6-CDFE49FA7D06}"/>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Purulent MRSA skin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Drain an abscess; add a susceptible oral agent such as TMP-SMX or doxycycline when systemic treatment is indicated, or IV therapy for severe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must accompany the drug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If accompanying nonpurulent cellulitis needs streptococcal coverage, ensure the regimen provides it. Clindamycin requires attention to inducible resistance testing.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1F12BEF-5DBD-453D-8677-9D6249ECF0B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6CF1203-6CBE-443C-80CF-331B0B99893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103</a:t>
            </a:r>
          </a:p>
        </p:txBody>
      </p:sp>
    </p:spTree>
    <p:extLst>
      <p:ext uri="{BB962C8B-B14F-4D97-AF65-F5344CB8AC3E}">
        <p14:creationId xmlns:p14="http://schemas.microsoft.com/office/powerpoint/2010/main" val="967429305"/>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3ECAB08-B7F7-40F8-9961-B39C666017F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MRSA and VRE require different treatment decisions at different infection sites</a:t>
            </a:r>
          </a:p>
        </p:txBody>
      </p:sp>
      <p:graphicFrame>
        <p:nvGraphicFramePr>
          <p:cNvPr id="2" name="">
            <a:extLst xmlns:a="http://schemas.openxmlformats.org/drawingml/2006/main">
              <a:ext uri="{FF2B5EF4-FFF2-40B4-BE49-F238E27FC236}">
                <a16:creationId xmlns:a16="http://schemas.microsoft.com/office/drawing/2014/main" id="{0AD4C4F1-C9D2-44CD-AC4C-AE5CFC919E9C}"/>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VRE E. faecium bacteremia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Linezolid or high-dose daptomycin selected by susceptibility, site, organ function, and toxicity. Daptomycin use for VRE is off-label.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must accompany the drug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Confirm species, actual daptomycin MIC, source control, and clearance. A usual S. aureus daptomycin dose of 6 mg/kg is not the default for serious VRE infection.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EDB68AB-D68D-4170-A7D3-822CAE8616E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F23879A-90A4-4E56-B919-CA4C97007B3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104</a:t>
            </a:r>
          </a:p>
        </p:txBody>
      </p:sp>
    </p:spTree>
    <p:extLst>
      <p:ext uri="{BB962C8B-B14F-4D97-AF65-F5344CB8AC3E}">
        <p14:creationId xmlns:p14="http://schemas.microsoft.com/office/powerpoint/2010/main" val="1299353536"/>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75C8BAB-F673-4C41-BFC4-2D5D7C1EE71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MRSA and VRE require different treatment decisions at different infection sites</a:t>
            </a:r>
          </a:p>
        </p:txBody>
      </p:sp>
      <p:graphicFrame>
        <p:nvGraphicFramePr>
          <p:cNvPr id="2" name="">
            <a:extLst xmlns:a="http://schemas.openxmlformats.org/drawingml/2006/main">
              <a:ext uri="{FF2B5EF4-FFF2-40B4-BE49-F238E27FC236}">
                <a16:creationId xmlns:a16="http://schemas.microsoft.com/office/drawing/2014/main" id="{2D096CF9-39EE-4ACD-B343-7C9C2CF58718}"/>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Vancomycin-resistant but ampicillin-susceptible enterococcus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Treatment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Ampicillin may remain useful; an endovascular infection needs a syndrome-specific regimen.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must accompany the drug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Vancomycin resistance does not rule out all beta-lactams. Cephalosporin monotherapy does not treat enterococci.</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D1D5AC9-F8E6-47D8-9936-DD2294CFA0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5835FDA-9024-4305-AB00-FC190C3CCC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105</a:t>
            </a:r>
          </a:p>
        </p:txBody>
      </p:sp>
    </p:spTree>
    <p:extLst>
      <p:ext uri="{BB962C8B-B14F-4D97-AF65-F5344CB8AC3E}">
        <p14:creationId xmlns:p14="http://schemas.microsoft.com/office/powerpoint/2010/main" val="769980850"/>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6DE4964-29B0-4105-816F-5AAF3C53A84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MRSA and VRE require different treatment decisions at different infection sites</a:t>
            </a:r>
          </a:p>
        </p:txBody>
      </p:sp>
      <p:graphicFrame>
        <p:nvGraphicFramePr>
          <p:cNvPr id="2" name="">
            <a:extLst xmlns:a="http://schemas.openxmlformats.org/drawingml/2006/main">
              <a:ext uri="{FF2B5EF4-FFF2-40B4-BE49-F238E27FC236}">
                <a16:creationId xmlns:a16="http://schemas.microsoft.com/office/drawing/2014/main" id="{E2FCCABC-B7C5-4FA2-9AAB-849C2BB96198}"/>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VRE in urine without symptoms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Treatment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no antibiotic.</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must accompany the drug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Apply the asymptomatic bacteriuria framework. For symptomatic cystitis, consider a susceptible urinary agent; for pyelonephritis or bacteremia, use systemic therapy.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9B67F8A-BC41-47D3-A1C8-0C97584B531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F6303C7-8B9A-4460-AE96-8133DA5962B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106</a:t>
            </a:r>
          </a:p>
        </p:txBody>
      </p:sp>
    </p:spTree>
    <p:extLst>
      <p:ext uri="{BB962C8B-B14F-4D97-AF65-F5344CB8AC3E}">
        <p14:creationId xmlns:p14="http://schemas.microsoft.com/office/powerpoint/2010/main" val="1241216850"/>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7AD7585-EC14-4937-A9CF-6E6384A449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MRSA and VRE require different treatment decisions at different infection sites</a:t>
            </a:r>
          </a:p>
        </p:txBody>
      </p:sp>
      <p:sp>
        <p:nvSpPr>
          <p:cNvPr id="2" name="paragraph-0">
            <a:extLst xmlns:a="http://schemas.openxmlformats.org/drawingml/2006/main">
              <a:ext uri="{FF2B5EF4-FFF2-40B4-BE49-F238E27FC236}">
                <a16:creationId xmlns:a16="http://schemas.microsoft.com/office/drawing/2014/main" id="{4EE8EA2F-95EB-4C18-AE98-595ED6DCECFA}"/>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E. faecium, a daptomycin MIC at most 4 micrograms/mL is CLSI susceptible dose-dependent, tied to 8-12 mg/kg/day exposure; this is not an FDA-approved VRE dosing indication. An MIC of 4 in another enterococcal species has a different interpretation. Confirm the laboratory standard before prescribing. FDA discussion of CLSI criteria .</a:t>
            </a:r>
          </a:p>
        </p:txBody>
      </p:sp>
      <p:sp>
        <p:nvSpPr>
          <p:cNvPr id="3" name="paragraph-1">
            <a:extLst xmlns:a="http://schemas.openxmlformats.org/drawingml/2006/main">
              <a:ext uri="{FF2B5EF4-FFF2-40B4-BE49-F238E27FC236}">
                <a16:creationId xmlns:a16="http://schemas.microsoft.com/office/drawing/2014/main" id="{80F8C8B4-D064-49C6-8279-4007EBF972B1}"/>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serious MRSA infection, national vancomycin guidance favors AUC-guided dosing, generally AUC24/MIC 400-600 when MIC is assumed to be 1 mg/L. Some services use pharmacy-directed trough monitoring. Confirm the treating service’s approach, target, draw timing, and creatinine monitoring; do not equate a single trough with an AUC.</a:t>
            </a:r>
          </a:p>
        </p:txBody>
      </p:sp>
      <p:sp>
        <p:nvSpPr>
          <p:cNvPr id="4" name="footer">
            <a:extLst xmlns:a="http://schemas.openxmlformats.org/drawingml/2006/main">
              <a:ext uri="{FF2B5EF4-FFF2-40B4-BE49-F238E27FC236}">
                <a16:creationId xmlns:a16="http://schemas.microsoft.com/office/drawing/2014/main" id="{7822720C-58C8-4E85-9F65-98A56B20E17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F4366A5-AA43-4A43-9CB0-997BACEAB02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107</a:t>
            </a:r>
          </a:p>
        </p:txBody>
      </p:sp>
    </p:spTree>
    <p:extLst>
      <p:ext uri="{BB962C8B-B14F-4D97-AF65-F5344CB8AC3E}">
        <p14:creationId xmlns:p14="http://schemas.microsoft.com/office/powerpoint/2010/main" val="607984767"/>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ABB9493-87BF-4179-93D8-B28B5C7CCD0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MRSA and VRE require different treatment decisions at different infection sites</a:t>
            </a:r>
          </a:p>
        </p:txBody>
      </p:sp>
      <p:sp>
        <p:nvSpPr>
          <p:cNvPr id="2" name="paragraph-0">
            <a:extLst xmlns:a="http://schemas.openxmlformats.org/drawingml/2006/main">
              <a:ext uri="{FF2B5EF4-FFF2-40B4-BE49-F238E27FC236}">
                <a16:creationId xmlns:a16="http://schemas.microsoft.com/office/drawing/2014/main" id="{25804B26-40CC-4203-B7C6-3D4605F1E25B}"/>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S. aureus bacteremia, the September 2026 IDSA/ESCMID consensus emphasizes risk stratification and diagnostic evaluation. Adults without deep or metastatic foci after appropriate evaluation generally receive 14 days; persistent bacteremia or an incomplete evaluation can justify longer therapy. Endocarditis, osteomyelitis, and retained infected devices require their own plans. Do not prescribe 4-6 weeks solely because the isolate is MRSA.</a:t>
            </a:r>
          </a:p>
        </p:txBody>
      </p:sp>
      <p:sp>
        <p:nvSpPr>
          <p:cNvPr id="3" name="footer">
            <a:extLst xmlns:a="http://schemas.openxmlformats.org/drawingml/2006/main">
              <a:ext uri="{FF2B5EF4-FFF2-40B4-BE49-F238E27FC236}">
                <a16:creationId xmlns:a16="http://schemas.microsoft.com/office/drawing/2014/main" id="{869565F0-A068-444D-9CAA-F5E2E45D1E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7F4C60C-C1F2-4530-ABDA-1F4BA2A50F8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108</a:t>
            </a:r>
          </a:p>
        </p:txBody>
      </p:sp>
    </p:spTree>
    <p:extLst>
      <p:ext uri="{BB962C8B-B14F-4D97-AF65-F5344CB8AC3E}">
        <p14:creationId xmlns:p14="http://schemas.microsoft.com/office/powerpoint/2010/main" val="539435419"/>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029FB50-B812-4AE8-BBF3-1A2B6B51E28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Persistent bacteremia is a diagnostic problem as well as a treatment problem</a:t>
            </a:r>
          </a:p>
        </p:txBody>
      </p:sp>
      <p:sp>
        <p:nvSpPr>
          <p:cNvPr id="2" name="paragraph-0">
            <a:extLst xmlns:a="http://schemas.openxmlformats.org/drawingml/2006/main">
              <a:ext uri="{FF2B5EF4-FFF2-40B4-BE49-F238E27FC236}">
                <a16:creationId xmlns:a16="http://schemas.microsoft.com/office/drawing/2014/main" id="{AC8733CF-0F0F-4D72-9937-FDB48A510065}"/>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Reassess lines, valves, devices, undrained collections, dosing, and repeat susceptibilities. Daptomycin plus a beta-lactam may be considered as specialist salvage for selected persistent MRSA or VRE infections. Routine upfront combination therapy is not established for every patient; the partner beta-lactam may be intended for synergy rather than independent susceptibility.</a:t>
            </a:r>
          </a:p>
        </p:txBody>
      </p:sp>
      <p:sp>
        <p:nvSpPr>
          <p:cNvPr id="3" name="paragraph-1">
            <a:extLst xmlns:a="http://schemas.openxmlformats.org/drawingml/2006/main">
              <a:ext uri="{FF2B5EF4-FFF2-40B4-BE49-F238E27FC236}">
                <a16:creationId xmlns:a16="http://schemas.microsoft.com/office/drawing/2014/main" id="{DB17CFEC-1D08-496E-92EE-32F2EF755D61}"/>
              </a:ext>
            </a:extLst>
          </p:cNvPr>
          <p:cNvSpPr>
            <a:spLocks xmlns:a="http://schemas.openxmlformats.org/drawingml/2006/main" noGrp="1"/>
          </p:cNvSpPr>
          <p:nvPr/>
        </p:nvSpPr>
        <p:spPr>
          <a:xfrm xmlns:a="http://schemas.openxmlformats.org/drawingml/2006/main">
            <a:off x="647700" y="43243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mrsa , vancomycin , sab2026 , vre-dose , asb , zevtera</a:t>
            </a:r>
          </a:p>
        </p:txBody>
      </p:sp>
      <p:sp>
        <p:nvSpPr>
          <p:cNvPr id="4" name="footer">
            <a:extLst xmlns:a="http://schemas.openxmlformats.org/drawingml/2006/main">
              <a:ext uri="{FF2B5EF4-FFF2-40B4-BE49-F238E27FC236}">
                <a16:creationId xmlns:a16="http://schemas.microsoft.com/office/drawing/2014/main" id="{22A7B8B5-FE9E-4C13-AC8E-E3344702BA5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1D991787-AF50-4308-AE56-D43F1273B32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109</a:t>
            </a:r>
          </a:p>
        </p:txBody>
      </p:sp>
    </p:spTree>
    <p:extLst>
      <p:ext uri="{BB962C8B-B14F-4D97-AF65-F5344CB8AC3E}">
        <p14:creationId xmlns:p14="http://schemas.microsoft.com/office/powerpoint/2010/main" val="802119767"/>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7DA2EBF-3540-4853-B3D9-9A44CAB1A6E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sp>
        <p:nvSpPr>
          <p:cNvPr id="2" name="paragraph-0">
            <a:extLst xmlns:a="http://schemas.openxmlformats.org/drawingml/2006/main">
              <a:ext uri="{FF2B5EF4-FFF2-40B4-BE49-F238E27FC236}">
                <a16:creationId xmlns:a16="http://schemas.microsoft.com/office/drawing/2014/main" id="{A085D117-D43A-46A7-A6B4-27A6891A0F43}"/>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National exposure examples and local administration: the table below includes IDSA prolonged-infusion regimens. These examples are not an order set; infusion methods and access vary by institution. If a susceptibility interpretation or resistant-organism regimen depends on optimized exposure, resolve the dose and administration with ID pharmacy before prescribing. Confirm the treating service’s vancomycin monitoring method with pharmacy.</a:t>
            </a:r>
          </a:p>
        </p:txBody>
      </p:sp>
      <p:sp>
        <p:nvSpPr>
          <p:cNvPr id="3" name="footer">
            <a:extLst xmlns:a="http://schemas.openxmlformats.org/drawingml/2006/main">
              <a:ext uri="{FF2B5EF4-FFF2-40B4-BE49-F238E27FC236}">
                <a16:creationId xmlns:a16="http://schemas.microsoft.com/office/drawing/2014/main" id="{A3F066A8-00E4-4827-8596-285EF244996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981797A-AC3C-4F52-B3E0-CF1FC215491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110</a:t>
            </a:r>
          </a:p>
        </p:txBody>
      </p:sp>
    </p:spTree>
    <p:extLst>
      <p:ext uri="{BB962C8B-B14F-4D97-AF65-F5344CB8AC3E}">
        <p14:creationId xmlns:p14="http://schemas.microsoft.com/office/powerpoint/2010/main" val="293455165"/>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61C53D3-0BF7-48C3-8EA3-97C32305FAC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sp>
        <p:nvSpPr>
          <p:cNvPr id="2" name="paragraph-0">
            <a:extLst xmlns:a="http://schemas.openxmlformats.org/drawingml/2006/main">
              <a:ext uri="{FF2B5EF4-FFF2-40B4-BE49-F238E27FC236}">
                <a16:creationId xmlns:a16="http://schemas.microsoft.com/office/drawing/2014/main" id="{0687060B-7BDC-40C4-B3C8-E3F4D1B01AA9}"/>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Examples below are for adults with normal organ function and the stated infection context. They are not renal-replacement, CNS, pediatric, or pregnancy dosing tables. Recalculate exposure with changing renal function, obesity, augmented clearance, and extracorporeal support. Pharmacy should confirm the exact product components and administration plan.</a:t>
            </a:r>
          </a:p>
        </p:txBody>
      </p:sp>
      <p:sp>
        <p:nvSpPr>
          <p:cNvPr id="3" name="footer">
            <a:extLst xmlns:a="http://schemas.openxmlformats.org/drawingml/2006/main">
              <a:ext uri="{FF2B5EF4-FFF2-40B4-BE49-F238E27FC236}">
                <a16:creationId xmlns:a16="http://schemas.microsoft.com/office/drawing/2014/main" id="{39E74AAA-B9C7-49B9-B824-EE74F29A6CE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57CB8FD-6948-4E42-98F6-67DD5668415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111</a:t>
            </a:r>
          </a:p>
        </p:txBody>
      </p:sp>
    </p:spTree>
    <p:extLst>
      <p:ext uri="{BB962C8B-B14F-4D97-AF65-F5344CB8AC3E}">
        <p14:creationId xmlns:p14="http://schemas.microsoft.com/office/powerpoint/2010/main" val="621794103"/>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3E23858-B9DC-458E-817C-AB33650E10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graphicFrame>
        <p:nvGraphicFramePr>
          <p:cNvPr id="2" name="">
            <a:extLst xmlns:a="http://schemas.openxmlformats.org/drawingml/2006/main">
              <a:ext uri="{FF2B5EF4-FFF2-40B4-BE49-F238E27FC236}">
                <a16:creationId xmlns:a16="http://schemas.microsoft.com/office/drawing/2014/main" id="{B35D37BA-0A0F-4547-B8DD-77854824D5E2}"/>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Cefepime, invasive AmpC or susceptible Pseudomonas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Example 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 g IV loading dose over 30 minutes, then 2 g every 8 hours over 3 hours.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check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Renal adjustment; encephalopathy, myoclonus, or seizures may be toxicity.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A85F10F-2844-4AA8-A265-FDDB816AFBC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1A708EC-612A-441B-925F-8E221917743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112</a:t>
            </a:r>
          </a:p>
        </p:txBody>
      </p:sp>
    </p:spTree>
    <p:extLst>
      <p:ext uri="{BB962C8B-B14F-4D97-AF65-F5344CB8AC3E}">
        <p14:creationId xmlns:p14="http://schemas.microsoft.com/office/powerpoint/2010/main" val="1606243030"/>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D0658A-7AD9-4536-9513-B3E55F9498F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graphicFrame>
        <p:nvGraphicFramePr>
          <p:cNvPr id="2" name="">
            <a:extLst xmlns:a="http://schemas.openxmlformats.org/drawingml/2006/main">
              <a:ext uri="{FF2B5EF4-FFF2-40B4-BE49-F238E27FC236}">
                <a16:creationId xmlns:a16="http://schemas.microsoft.com/office/drawing/2014/main" id="{AAECB9CC-C6B6-4A52-83F2-7A2F0AA9A034}"/>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Meropenem, invasive gram-negative disease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Example 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1-2 g IV every 8 hours, prolonged infusion over 3 hours when feasible.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check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Choose exposure for site, MIC, and clearance. Severe or selected high-exposure contexts often use 2 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98BC62E-7157-4925-9684-7998B58EF9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A8BB717-2E0F-4887-92C3-F9C81C90A8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113</a:t>
            </a:r>
          </a:p>
        </p:txBody>
      </p:sp>
    </p:spTree>
    <p:extLst>
      <p:ext uri="{BB962C8B-B14F-4D97-AF65-F5344CB8AC3E}">
        <p14:creationId xmlns:p14="http://schemas.microsoft.com/office/powerpoint/2010/main" val="1022732940"/>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EC26607-4942-49DD-8D40-C57C9A57432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graphicFrame>
        <p:nvGraphicFramePr>
          <p:cNvPr id="2" name="">
            <a:extLst xmlns:a="http://schemas.openxmlformats.org/drawingml/2006/main">
              <a:ext uri="{FF2B5EF4-FFF2-40B4-BE49-F238E27FC236}">
                <a16:creationId xmlns:a16="http://schemas.microsoft.com/office/drawing/2014/main" id="{C377DC84-41A9-400A-AC6C-0CA0C0BE6940}"/>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Meropenem-vaborbactam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Example 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4 g total IV every 8 hours over 3 hours.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check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Contains 2 g of each component; adjust for renal function.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53D3EF0-528A-412C-A3D8-43E3AFF553D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26DDC7B-D0EC-4CA1-9484-21809A97D16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114</a:t>
            </a:r>
          </a:p>
        </p:txBody>
      </p:sp>
    </p:spTree>
    <p:extLst>
      <p:ext uri="{BB962C8B-B14F-4D97-AF65-F5344CB8AC3E}">
        <p14:creationId xmlns:p14="http://schemas.microsoft.com/office/powerpoint/2010/main" val="1563175036"/>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DB8E3DE-F93F-49BC-818F-1939E7CCF8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graphicFrame>
        <p:nvGraphicFramePr>
          <p:cNvPr id="2" name="">
            <a:extLst xmlns:a="http://schemas.openxmlformats.org/drawingml/2006/main">
              <a:ext uri="{FF2B5EF4-FFF2-40B4-BE49-F238E27FC236}">
                <a16:creationId xmlns:a16="http://schemas.microsoft.com/office/drawing/2014/main" id="{F92652EC-C006-4D9A-92C0-D51779B65182}"/>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Ceftazidime-avibactam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Example 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2.5 g total IV every 8 hours over 3 hours in IDSA guidance.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check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If paired with aztreonam, pharmacy coordinates simultaneous infusion; this is not interchangeable with the fixed aztreonam-avibactam product.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8E55D4B-B2D7-4A0E-A1D2-7C88C9446AA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D8B5D89-14AB-42C7-9369-A5CF2730DE3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115</a:t>
            </a:r>
          </a:p>
        </p:txBody>
      </p:sp>
    </p:spTree>
    <p:extLst>
      <p:ext uri="{BB962C8B-B14F-4D97-AF65-F5344CB8AC3E}">
        <p14:creationId xmlns:p14="http://schemas.microsoft.com/office/powerpoint/2010/main" val="1315832414"/>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7E63AA0-41E8-4DDD-B93F-B8182A2D346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graphicFrame>
        <p:nvGraphicFramePr>
          <p:cNvPr id="2" name="">
            <a:extLst xmlns:a="http://schemas.openxmlformats.org/drawingml/2006/main">
              <a:ext uri="{FF2B5EF4-FFF2-40B4-BE49-F238E27FC236}">
                <a16:creationId xmlns:a16="http://schemas.microsoft.com/office/drawing/2014/main" id="{15EDA33C-5221-44E8-A8A2-CC218F4339EF}"/>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Aztreonam-avibactam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Example 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2.67 g total loading dose, then 2 g total every 6 hours; infuse each over 3 hours.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check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Maintenance contains 1.5 g aztreonam plus 0.5 g avibactam. Renal adjustment; add metronidazole for intra-abdominal anaerobic coverage.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BF38552-DDAE-4615-AE2D-B5CA545FEF5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CFC8CD8-F844-4CC1-A71F-E8F1A78C0CB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116</a:t>
            </a:r>
          </a:p>
        </p:txBody>
      </p:sp>
    </p:spTree>
    <p:extLst>
      <p:ext uri="{BB962C8B-B14F-4D97-AF65-F5344CB8AC3E}">
        <p14:creationId xmlns:p14="http://schemas.microsoft.com/office/powerpoint/2010/main" val="933426761"/>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F5578A3-DED5-4D1C-B039-1220D6232E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graphicFrame>
        <p:nvGraphicFramePr>
          <p:cNvPr id="2" name="">
            <a:extLst xmlns:a="http://schemas.openxmlformats.org/drawingml/2006/main">
              <a:ext uri="{FF2B5EF4-FFF2-40B4-BE49-F238E27FC236}">
                <a16:creationId xmlns:a16="http://schemas.microsoft.com/office/drawing/2014/main" id="{7EC9211C-6CFA-4D59-B6AC-977577D4011E}"/>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Ceftolozane-tazobactam, invasive DTR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Example 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3 g total IV every 8 hours over 3 hours.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check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Contains 2 g ceftolozane plus 1 g tazobactam; distinguish from lower-dose bladder regimens.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7DD8ED2-183F-40C3-95BF-4F7C0F94798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D5C14A9-DDCA-40C3-8A65-B481A4B80B8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117</a:t>
            </a:r>
          </a:p>
        </p:txBody>
      </p:sp>
    </p:spTree>
    <p:extLst>
      <p:ext uri="{BB962C8B-B14F-4D97-AF65-F5344CB8AC3E}">
        <p14:creationId xmlns:p14="http://schemas.microsoft.com/office/powerpoint/2010/main" val="27995376"/>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2BD4709-8127-47AC-A9AD-952EF4DD24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graphicFrame>
        <p:nvGraphicFramePr>
          <p:cNvPr id="2" name="">
            <a:extLst xmlns:a="http://schemas.openxmlformats.org/drawingml/2006/main">
              <a:ext uri="{FF2B5EF4-FFF2-40B4-BE49-F238E27FC236}">
                <a16:creationId xmlns:a16="http://schemas.microsoft.com/office/drawing/2014/main" id="{1113AC17-D317-4666-9ECD-B33C824A9A92}"/>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Cefiderocol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Example 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 g IV every 8 hours over 3 hours.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check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For creatinine clearance at least 120 mL/min, the cited guidance uses every 6 hours; reduced renal function also changes dosing.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78BF837-25DA-4288-AC21-3966965F646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B5C9EA6-349D-4409-960C-382281EE726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118</a:t>
            </a:r>
          </a:p>
        </p:txBody>
      </p:sp>
    </p:spTree>
    <p:extLst>
      <p:ext uri="{BB962C8B-B14F-4D97-AF65-F5344CB8AC3E}">
        <p14:creationId xmlns:p14="http://schemas.microsoft.com/office/powerpoint/2010/main" val="2110364310"/>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1BD35E8-CB59-4D76-AA17-4D2DBE5398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graphicFrame>
        <p:nvGraphicFramePr>
          <p:cNvPr id="2" name="">
            <a:extLst xmlns:a="http://schemas.openxmlformats.org/drawingml/2006/main">
              <a:ext uri="{FF2B5EF4-FFF2-40B4-BE49-F238E27FC236}">
                <a16:creationId xmlns:a16="http://schemas.microsoft.com/office/drawing/2014/main" id="{B4F24FAE-73F3-4960-9FA8-89D8CDB8271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Sulbactam-durlobactam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Example 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 g total IV every 6 hours over 3 hours, with a carbapenem partner.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check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Contains 1 g of each component; at creatinine clearance at least 130 mL/min, every 4 hours. Use the full label for other renal strata.</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BDDF69A-1870-4830-9D45-9582F233D06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CC31713-8A9B-44BB-B2BE-5657E17D2D9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119</a:t>
            </a:r>
          </a:p>
        </p:txBody>
      </p:sp>
    </p:spTree>
    <p:extLst>
      <p:ext uri="{BB962C8B-B14F-4D97-AF65-F5344CB8AC3E}">
        <p14:creationId xmlns:p14="http://schemas.microsoft.com/office/powerpoint/2010/main" val="1299519073"/>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7F00D2-B90F-42A5-9B23-04A893A0C8A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graphicFrame>
        <p:nvGraphicFramePr>
          <p:cNvPr id="2" name="">
            <a:extLst xmlns:a="http://schemas.openxmlformats.org/drawingml/2006/main">
              <a:ext uri="{FF2B5EF4-FFF2-40B4-BE49-F238E27FC236}">
                <a16:creationId xmlns:a16="http://schemas.microsoft.com/office/drawing/2014/main" id="{E9112ECB-B5D2-4194-BCF0-550C5037659B}"/>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Linezolid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Example 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600 mg IV or orally every 12 hours.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check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CBC at least weekly; interactions, neuropathy and lactic acidosis with longer use. Renal dysfunction increases hematologic toxicity risk.</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BA850CA-5D2D-4673-821C-48AE2C631AE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F90995E-5329-43F2-A938-35A9E180344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120</a:t>
            </a:r>
          </a:p>
        </p:txBody>
      </p:sp>
    </p:spTree>
    <p:extLst>
      <p:ext uri="{BB962C8B-B14F-4D97-AF65-F5344CB8AC3E}">
        <p14:creationId xmlns:p14="http://schemas.microsoft.com/office/powerpoint/2010/main" val="494484827"/>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77320D-8C98-4EC0-A976-EDD40C55586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graphicFrame>
        <p:nvGraphicFramePr>
          <p:cNvPr id="2" name="">
            <a:extLst xmlns:a="http://schemas.openxmlformats.org/drawingml/2006/main">
              <a:ext uri="{FF2B5EF4-FFF2-40B4-BE49-F238E27FC236}">
                <a16:creationId xmlns:a16="http://schemas.microsoft.com/office/drawing/2014/main" id="{B9F70B57-F9B2-4626-B6E3-4AD71A75225D}"/>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Daptomycin, serious VRE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Example 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Common specialist dosing is 10-12 mg/kg IV every 24 hours before renal adjustment.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check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Confirm MIC and dosing weight with pharmacy; CK at baseline and at least weekly, more often with risk factors. Assess myalgia and new pulmonary symptoms.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1A410E6-1DC5-4CF0-8412-7CFE68AAF7F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13E51A2-1E02-40F3-B3A2-D80542B392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121</a:t>
            </a:r>
          </a:p>
        </p:txBody>
      </p:sp>
    </p:spTree>
    <p:extLst>
      <p:ext uri="{BB962C8B-B14F-4D97-AF65-F5344CB8AC3E}">
        <p14:creationId xmlns:p14="http://schemas.microsoft.com/office/powerpoint/2010/main" val="1653349732"/>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F18AEC8-D361-4206-B9EF-FFD6806A558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graphicFrame>
        <p:nvGraphicFramePr>
          <p:cNvPr id="2" name="">
            <a:extLst xmlns:a="http://schemas.openxmlformats.org/drawingml/2006/main">
              <a:ext uri="{FF2B5EF4-FFF2-40B4-BE49-F238E27FC236}">
                <a16:creationId xmlns:a16="http://schemas.microsoft.com/office/drawing/2014/main" id="{6464B612-6B04-472C-846B-5AFC0289064E}"/>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TMP-SMX, invasive Stenotrophomonas alternative regimen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Example 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Dose by trimethoprim, not total tablet weight; individualize with pharmacy using the linked dosing table.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check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Check K+, creatinine, CBC, renal adjustment, and interactions. Do not silently substitute a cystitis dose for invasive disease.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D209474-64C0-4FC0-933D-36C1A707153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7F367F3-4261-439C-8A64-3375F4A50F7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122</a:t>
            </a:r>
          </a:p>
        </p:txBody>
      </p:sp>
    </p:spTree>
    <p:extLst>
      <p:ext uri="{BB962C8B-B14F-4D97-AF65-F5344CB8AC3E}">
        <p14:creationId xmlns:p14="http://schemas.microsoft.com/office/powerpoint/2010/main" val="207764711"/>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19B1EF3-18E9-4EA2-87E6-5DA60D6D7E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Dose and infusion strategy are part of whether the regimen is active</a:t>
            </a:r>
          </a:p>
        </p:txBody>
      </p:sp>
      <p:sp>
        <p:nvSpPr>
          <p:cNvPr id="2" name="paragraph-0">
            <a:extLst xmlns:a="http://schemas.openxmlformats.org/drawingml/2006/main">
              <a:ext uri="{FF2B5EF4-FFF2-40B4-BE49-F238E27FC236}">
                <a16:creationId xmlns:a16="http://schemas.microsoft.com/office/drawing/2014/main" id="{D3114E04-ACDC-48FC-AF8B-3C1EAC52CB9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prolonged infusions, avoid a delay in achieving initial therapeutic exposure. Confirm loading-dose strategy, line access, compatibility, and infusion stability. Do not copy an inpatient infusion schedule into OPAT without verifying that the pump, preparation, and home administration can deliver it.</a:t>
            </a:r>
          </a:p>
        </p:txBody>
      </p:sp>
      <p:sp>
        <p:nvSpPr>
          <p:cNvPr id="3" name="paragraph-1">
            <a:extLst xmlns:a="http://schemas.openxmlformats.org/drawingml/2006/main">
              <a:ext uri="{FF2B5EF4-FFF2-40B4-BE49-F238E27FC236}">
                <a16:creationId xmlns:a16="http://schemas.microsoft.com/office/drawing/2014/main" id="{7B334A9E-C11F-4D51-BAB1-065CAE058F6B}"/>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doses , emblaveo , vre-dose , linezolid , daptomycin</a:t>
            </a:r>
          </a:p>
        </p:txBody>
      </p:sp>
      <p:sp>
        <p:nvSpPr>
          <p:cNvPr id="4" name="footer">
            <a:extLst xmlns:a="http://schemas.openxmlformats.org/drawingml/2006/main">
              <a:ext uri="{FF2B5EF4-FFF2-40B4-BE49-F238E27FC236}">
                <a16:creationId xmlns:a16="http://schemas.microsoft.com/office/drawing/2014/main" id="{CDF66E86-6AA4-42BD-A204-9996B4CC73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DB05DD7-A525-452A-A49F-3B09EA547D3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123</a:t>
            </a:r>
          </a:p>
        </p:txBody>
      </p:sp>
    </p:spTree>
    <p:extLst>
      <p:ext uri="{BB962C8B-B14F-4D97-AF65-F5344CB8AC3E}">
        <p14:creationId xmlns:p14="http://schemas.microsoft.com/office/powerpoint/2010/main" val="789238147"/>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B564D76-BDA4-42A8-961C-4DB28B440E7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failure should trigger a structured reassessment</a:t>
            </a:r>
          </a:p>
        </p:txBody>
      </p:sp>
      <p:graphicFrame>
        <p:nvGraphicFramePr>
          <p:cNvPr id="2" name="">
            <a:extLst xmlns:a="http://schemas.openxmlformats.org/drawingml/2006/main">
              <a:ext uri="{FF2B5EF4-FFF2-40B4-BE49-F238E27FC236}">
                <a16:creationId xmlns:a16="http://schemas.microsoft.com/office/drawing/2014/main" id="{EE55F845-EB10-4AB9-BA10-F9F52EDEBC87}"/>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Was the original diagnosis correct?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to look for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Colonization, drug fever, inflammatory disease, malignancy, or a second untreated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7384437-97E5-4579-B973-B27AB8DD780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7145632-1460-498F-B566-3AA85842227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124</a:t>
            </a:r>
          </a:p>
        </p:txBody>
      </p:sp>
    </p:spTree>
    <p:extLst>
      <p:ext uri="{BB962C8B-B14F-4D97-AF65-F5344CB8AC3E}">
        <p14:creationId xmlns:p14="http://schemas.microsoft.com/office/powerpoint/2010/main" val="447034483"/>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D202593-D1C9-4B31-8948-2F2CC58D607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failure should trigger a structured reassessment</a:t>
            </a:r>
          </a:p>
        </p:txBody>
      </p:sp>
      <p:graphicFrame>
        <p:nvGraphicFramePr>
          <p:cNvPr id="2" name="">
            <a:extLst xmlns:a="http://schemas.openxmlformats.org/drawingml/2006/main">
              <a:ext uri="{FF2B5EF4-FFF2-40B4-BE49-F238E27FC236}">
                <a16:creationId xmlns:a16="http://schemas.microsoft.com/office/drawing/2014/main" id="{51B2A494-096F-4576-AF98-F609884961CF}"/>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 the source controlled?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to look for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Obstruction, abscess, empyema, infected catheter, endocarditis, prosthesis, or other retained focus.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A93C994-2D46-43CD-A8D1-B77606C4D91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A022D97-ECCB-4A09-AE0F-8252313EF68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125</a:t>
            </a:r>
          </a:p>
        </p:txBody>
      </p:sp>
    </p:spTree>
    <p:extLst>
      <p:ext uri="{BB962C8B-B14F-4D97-AF65-F5344CB8AC3E}">
        <p14:creationId xmlns:p14="http://schemas.microsoft.com/office/powerpoint/2010/main" val="739655219"/>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DE5489D-9956-4C33-A1EA-1608801F063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failure should trigger a structured reassessment</a:t>
            </a:r>
          </a:p>
        </p:txBody>
      </p:sp>
      <p:graphicFrame>
        <p:nvGraphicFramePr>
          <p:cNvPr id="2" name="">
            <a:extLst xmlns:a="http://schemas.openxmlformats.org/drawingml/2006/main">
              <a:ext uri="{FF2B5EF4-FFF2-40B4-BE49-F238E27FC236}">
                <a16:creationId xmlns:a16="http://schemas.microsoft.com/office/drawing/2014/main" id="{AF29563D-B0EA-4120-9AD9-32235FC6CFEA}"/>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Was active exposure actually delivered?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to look for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Missed doses, overly reduced renal dosing, rising clearance, poor absorption, chelation interactions, line problems, or inadequate site penetration.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1122395-0CCC-487D-BCB7-635F4BC6F3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12EA3A5-515A-4412-8E07-F033F595148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126</a:t>
            </a:r>
          </a:p>
        </p:txBody>
      </p:sp>
    </p:spTree>
    <p:extLst>
      <p:ext uri="{BB962C8B-B14F-4D97-AF65-F5344CB8AC3E}">
        <p14:creationId xmlns:p14="http://schemas.microsoft.com/office/powerpoint/2010/main" val="1297087479"/>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607F32-2933-4740-8668-54EF1D43B6D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failure should trigger a structured reassessment</a:t>
            </a:r>
          </a:p>
        </p:txBody>
      </p:sp>
      <p:graphicFrame>
        <p:nvGraphicFramePr>
          <p:cNvPr id="2" name="">
            <a:extLst xmlns:a="http://schemas.openxmlformats.org/drawingml/2006/main">
              <a:ext uri="{FF2B5EF4-FFF2-40B4-BE49-F238E27FC236}">
                <a16:creationId xmlns:a16="http://schemas.microsoft.com/office/drawing/2014/main" id="{6E3FBA73-5961-448F-8315-7BEBE46FB080}"/>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Has resistance changed?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to look for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Repeat cultures and AST from clinically relevant specimens; compare with baseline and prior exposure.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79A4DC3-A324-4CD6-A1A8-440A3D02D6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FBE26C1-874E-4524-8C52-0D820932511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127</a:t>
            </a:r>
          </a:p>
        </p:txBody>
      </p:sp>
    </p:spTree>
    <p:extLst>
      <p:ext uri="{BB962C8B-B14F-4D97-AF65-F5344CB8AC3E}">
        <p14:creationId xmlns:p14="http://schemas.microsoft.com/office/powerpoint/2010/main" val="2082520889"/>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CEA8A61-3C48-4F85-875A-6139E03F059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failure should trigger a structured reassessment</a:t>
            </a:r>
          </a:p>
        </p:txBody>
      </p:sp>
      <p:graphicFrame>
        <p:nvGraphicFramePr>
          <p:cNvPr id="2" name="">
            <a:extLst xmlns:a="http://schemas.openxmlformats.org/drawingml/2006/main">
              <a:ext uri="{FF2B5EF4-FFF2-40B4-BE49-F238E27FC236}">
                <a16:creationId xmlns:a16="http://schemas.microsoft.com/office/drawing/2014/main" id="{706F75B7-7C6F-4321-92A4-7CC64BC0CB56}"/>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 treatment causing harm?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to look for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AKI, cefepime neurotoxicity, TMP-SMX hyperkalemia, linezolid cytopenia, daptomycin toxicity, or C. difficile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E7A9230-2798-4F23-8278-90C5BD6D0F3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5F8101D-B761-4DEB-898B-65E1F9ECA57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128</a:t>
            </a:r>
          </a:p>
        </p:txBody>
      </p:sp>
    </p:spTree>
    <p:extLst>
      <p:ext uri="{BB962C8B-B14F-4D97-AF65-F5344CB8AC3E}">
        <p14:creationId xmlns:p14="http://schemas.microsoft.com/office/powerpoint/2010/main" val="818675540"/>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D2BDC08-BF62-411B-BA05-EDC62B0287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failure should trigger a structured reassessment</a:t>
            </a:r>
          </a:p>
        </p:txBody>
      </p:sp>
      <p:sp>
        <p:nvSpPr>
          <p:cNvPr id="2" name="paragraph-0">
            <a:extLst xmlns:a="http://schemas.openxmlformats.org/drawingml/2006/main">
              <a:ext uri="{FF2B5EF4-FFF2-40B4-BE49-F238E27FC236}">
                <a16:creationId xmlns:a16="http://schemas.microsoft.com/office/drawing/2014/main" id="{2DD0DF21-0B79-4C98-B3A0-C228905024D0}"/>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Resistance alone does not require a longer course. Use the infection syndrome, source control, host, and response to choose duration. For invasive infection initially treated with an inactive drug, reassess the treatment clock from effective therapy. S. aureus bacteremia has clearance-based duration rules. A bladder infection that has already clinically resolved may not need a new course solely because the final report shows resistance to empiric therapy.</a:t>
            </a:r>
          </a:p>
        </p:txBody>
      </p:sp>
      <p:sp>
        <p:nvSpPr>
          <p:cNvPr id="3" name="footer">
            <a:extLst xmlns:a="http://schemas.openxmlformats.org/drawingml/2006/main">
              <a:ext uri="{FF2B5EF4-FFF2-40B4-BE49-F238E27FC236}">
                <a16:creationId xmlns:a16="http://schemas.microsoft.com/office/drawing/2014/main" id="{ED8C25EC-8110-4B4C-A099-81ACF764D00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E584E1B-11D6-4AF8-BA49-1B8A3260E07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129</a:t>
            </a:r>
          </a:p>
        </p:txBody>
      </p:sp>
    </p:spTree>
    <p:extLst>
      <p:ext uri="{BB962C8B-B14F-4D97-AF65-F5344CB8AC3E}">
        <p14:creationId xmlns:p14="http://schemas.microsoft.com/office/powerpoint/2010/main" val="1233793759"/>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870246-628B-4B57-93CB-D57494D3D4E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failure should trigger a structured reassessment</a:t>
            </a:r>
          </a:p>
        </p:txBody>
      </p:sp>
      <p:sp>
        <p:nvSpPr>
          <p:cNvPr id="2" name="paragraph-0">
            <a:extLst xmlns:a="http://schemas.openxmlformats.org/drawingml/2006/main">
              <a:ext uri="{FF2B5EF4-FFF2-40B4-BE49-F238E27FC236}">
                <a16:creationId xmlns:a16="http://schemas.microsoft.com/office/drawing/2014/main" id="{C69CB67D-A6F2-43BF-9D1C-06390D7D9AE6}"/>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 oral transition requires an active oral drug with appropriate systemic/site exposure, stability, source control, and reliable absorption. Fluoroquinolones and TMP-SMX can allow oral completion in selected resistant Enterobacterales infections. That principle does not automatically validate oral treatment for endocarditis, CNS infection, or every resistant bacteremia.</a:t>
            </a:r>
          </a:p>
        </p:txBody>
      </p:sp>
      <p:sp>
        <p:nvSpPr>
          <p:cNvPr id="3" name="footer">
            <a:extLst xmlns:a="http://schemas.openxmlformats.org/drawingml/2006/main">
              <a:ext uri="{FF2B5EF4-FFF2-40B4-BE49-F238E27FC236}">
                <a16:creationId xmlns:a16="http://schemas.microsoft.com/office/drawing/2014/main" id="{5E6101D9-5E17-4835-97EA-5B5FA4F19CC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167F98F-3E6C-470D-9C8D-556B2E02B81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130</a:t>
            </a:r>
          </a:p>
        </p:txBody>
      </p:sp>
    </p:spTree>
    <p:extLst>
      <p:ext uri="{BB962C8B-B14F-4D97-AF65-F5344CB8AC3E}">
        <p14:creationId xmlns:p14="http://schemas.microsoft.com/office/powerpoint/2010/main" val="762221480"/>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C2BC30A-1BA5-4EA7-BDE7-9DB1B8823D1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failure should trigger a structured reassessment</a:t>
            </a:r>
          </a:p>
        </p:txBody>
      </p:sp>
      <p:sp>
        <p:nvSpPr>
          <p:cNvPr id="2" name="paragraph-0">
            <a:extLst xmlns:a="http://schemas.openxmlformats.org/drawingml/2006/main">
              <a:ext uri="{FF2B5EF4-FFF2-40B4-BE49-F238E27FC236}">
                <a16:creationId xmlns:a16="http://schemas.microsoft.com/office/drawing/2014/main" id="{5E2BEB26-FC18-49C2-8462-FBAFC10F703C}"/>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Tell infection prevention promptly about newly identified CRE or other targeted resistance. Follow local contact-precaution and containment procedures, communicate colonization/infection status during transfer, and preserve hand hygiene, equipment cleaning, and device prevention practices. Antibiotics are not routine decolonization treatment for CRE.</a:t>
            </a:r>
          </a:p>
        </p:txBody>
      </p:sp>
      <p:sp>
        <p:nvSpPr>
          <p:cNvPr id="3" name="paragraph-1">
            <a:extLst xmlns:a="http://schemas.openxmlformats.org/drawingml/2006/main">
              <a:ext uri="{FF2B5EF4-FFF2-40B4-BE49-F238E27FC236}">
                <a16:creationId xmlns:a16="http://schemas.microsoft.com/office/drawing/2014/main" id="{963E5E61-65D4-4AA9-9722-8ADFA2BEC965}"/>
              </a:ext>
            </a:extLst>
          </p:cNvPr>
          <p:cNvSpPr>
            <a:spLocks xmlns:a="http://schemas.openxmlformats.org/drawingml/2006/main" noGrp="1"/>
          </p:cNvSpPr>
          <p:nvPr/>
        </p:nvSpPr>
        <p:spPr>
          <a:xfrm xmlns:a="http://schemas.openxmlformats.org/drawingml/2006/main">
            <a:off x="647700" y="43243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 , sab2026 , cdc</a:t>
            </a:r>
          </a:p>
        </p:txBody>
      </p:sp>
      <p:sp>
        <p:nvSpPr>
          <p:cNvPr id="4" name="footer">
            <a:extLst xmlns:a="http://schemas.openxmlformats.org/drawingml/2006/main">
              <a:ext uri="{FF2B5EF4-FFF2-40B4-BE49-F238E27FC236}">
                <a16:creationId xmlns:a16="http://schemas.microsoft.com/office/drawing/2014/main" id="{D81CD0D1-B2BD-4276-9876-7B7DB3C4B8F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BBD8A8C-1070-4A9C-9A1B-17CC2619373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131</a:t>
            </a:r>
          </a:p>
        </p:txBody>
      </p:sp>
    </p:spTree>
    <p:extLst>
      <p:ext uri="{BB962C8B-B14F-4D97-AF65-F5344CB8AC3E}">
        <p14:creationId xmlns:p14="http://schemas.microsoft.com/office/powerpoint/2010/main" val="756722579"/>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611DE4A-7EB8-4831-B9B6-4AD1518841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MERINO supports carbapenems for invasive ESBL-type infection</a:t>
            </a:r>
          </a:p>
        </p:txBody>
      </p:sp>
      <p:sp>
        <p:nvSpPr>
          <p:cNvPr id="2" name="paragraph-0">
            <a:extLst xmlns:a="http://schemas.openxmlformats.org/drawingml/2006/main">
              <a:ext uri="{FF2B5EF4-FFF2-40B4-BE49-F238E27FC236}">
                <a16:creationId xmlns:a16="http://schemas.microsoft.com/office/drawing/2014/main" id="{F80D55CD-5855-4A23-9AA0-6275ECE4D99D}"/>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Randomized, open-label noninferiority trial in ceftriaxone-resistant E. coli or K. pneumoniae bloodstream infection. In the primary population, 30-day mortality was 23/187 (12.3%) with piperacillin-tazobactam and 7/191 (3.7%) with meropenem. The risk difference was 8.6 percentage points; the one-sided 97.5% CI upper bound was 14.5%, exceeding the 5% noninferiority margin. Susceptibility-testing limitations and standard infusions complicate interpretation. The study does not answer bladder-only infection or prove all optimized piperacillin-tazobactam regimens equivalent to the studied regimen.</a:t>
            </a:r>
          </a:p>
        </p:txBody>
      </p:sp>
      <p:sp>
        <p:nvSpPr>
          <p:cNvPr id="3" name="paragraph-1">
            <a:extLst xmlns:a="http://schemas.openxmlformats.org/drawingml/2006/main">
              <a:ext uri="{FF2B5EF4-FFF2-40B4-BE49-F238E27FC236}">
                <a16:creationId xmlns:a16="http://schemas.microsoft.com/office/drawing/2014/main" id="{F628A182-B7A7-4DA3-BAAE-C47F4A6484CA}"/>
              </a:ext>
            </a:extLst>
          </p:cNvPr>
          <p:cNvSpPr>
            <a:spLocks xmlns:a="http://schemas.openxmlformats.org/drawingml/2006/main" noGrp="1"/>
          </p:cNvSpPr>
          <p:nvPr/>
        </p:nvSpPr>
        <p:spPr>
          <a:xfrm xmlns:a="http://schemas.openxmlformats.org/drawingml/2006/main">
            <a:off x="647700" y="5381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merino</a:t>
            </a:r>
          </a:p>
        </p:txBody>
      </p:sp>
      <p:sp>
        <p:nvSpPr>
          <p:cNvPr id="4" name="footer">
            <a:extLst xmlns:a="http://schemas.openxmlformats.org/drawingml/2006/main">
              <a:ext uri="{FF2B5EF4-FFF2-40B4-BE49-F238E27FC236}">
                <a16:creationId xmlns:a16="http://schemas.microsoft.com/office/drawing/2014/main" id="{BAE77053-4201-4B30-BAE3-45E5251EE2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06D774C3-851A-4258-92BD-A98F4A44E8E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132</a:t>
            </a:r>
          </a:p>
        </p:txBody>
      </p:sp>
    </p:spTree>
    <p:extLst>
      <p:ext uri="{BB962C8B-B14F-4D97-AF65-F5344CB8AC3E}">
        <p14:creationId xmlns:p14="http://schemas.microsoft.com/office/powerpoint/2010/main" val="1705596362"/>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00CEF8C-5212-455B-B3A0-835A1D67C0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ALLIUM supports cefepime-enmetazobactam for cUTI</a:t>
            </a:r>
          </a:p>
        </p:txBody>
      </p:sp>
      <p:sp>
        <p:nvSpPr>
          <p:cNvPr id="2" name="paragraph-0">
            <a:extLst xmlns:a="http://schemas.openxmlformats.org/drawingml/2006/main">
              <a:ext uri="{FF2B5EF4-FFF2-40B4-BE49-F238E27FC236}">
                <a16:creationId xmlns:a16="http://schemas.microsoft.com/office/drawing/2014/main" id="{B8B73D2C-9576-45C8-A802-86A8E2798579}"/>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Randomized trial with 1,034 treated adults. In the primary analysis set, combined clinical cure and microbiological eradication occurred in 273/345 (79.1%) with cefepime-enmetazobactam and 196/333 (58.9%) with piperacillin-tazobactam. The adjusted difference was 21.2 percentage points (95% CI 14.3-27.9), meeting noninferiority and superiority criteria. This composite is not a mortality endpoint. The study did not compare cefepime-enmetazobactam with a carbapenem and does not establish superiority for ESBL bacteremia.</a:t>
            </a:r>
          </a:p>
        </p:txBody>
      </p:sp>
      <p:sp>
        <p:nvSpPr>
          <p:cNvPr id="3" name="paragraph-1">
            <a:extLst xmlns:a="http://schemas.openxmlformats.org/drawingml/2006/main">
              <a:ext uri="{FF2B5EF4-FFF2-40B4-BE49-F238E27FC236}">
                <a16:creationId xmlns:a16="http://schemas.microsoft.com/office/drawing/2014/main" id="{129AAF04-42A6-4089-AD35-DE1D6E1732A3}"/>
              </a:ext>
            </a:extLst>
          </p:cNvPr>
          <p:cNvSpPr>
            <a:spLocks xmlns:a="http://schemas.openxmlformats.org/drawingml/2006/main" noGrp="1"/>
          </p:cNvSpPr>
          <p:nvPr/>
        </p:nvSpPr>
        <p:spPr>
          <a:xfrm xmlns:a="http://schemas.openxmlformats.org/drawingml/2006/main">
            <a:off x="647700" y="50292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allium</a:t>
            </a:r>
          </a:p>
        </p:txBody>
      </p:sp>
      <p:sp>
        <p:nvSpPr>
          <p:cNvPr id="4" name="footer">
            <a:extLst xmlns:a="http://schemas.openxmlformats.org/drawingml/2006/main">
              <a:ext uri="{FF2B5EF4-FFF2-40B4-BE49-F238E27FC236}">
                <a16:creationId xmlns:a16="http://schemas.microsoft.com/office/drawing/2014/main" id="{796B77F7-D8E4-4FA1-BB23-DA04627FBB6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7F95F4BB-C22C-47BF-8CC4-26F1B1E83A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133</a:t>
            </a:r>
          </a:p>
        </p:txBody>
      </p:sp>
    </p:spTree>
    <p:extLst>
      <p:ext uri="{BB962C8B-B14F-4D97-AF65-F5344CB8AC3E}">
        <p14:creationId xmlns:p14="http://schemas.microsoft.com/office/powerpoint/2010/main" val="834167793"/>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A61685D-14C4-41C6-A4D7-05A8FDFA463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ATTACK supports a safer preferred CRAB regimen</a:t>
            </a:r>
          </a:p>
        </p:txBody>
      </p:sp>
      <p:sp>
        <p:nvSpPr>
          <p:cNvPr id="2" name="paragraph-0">
            <a:extLst xmlns:a="http://schemas.openxmlformats.org/drawingml/2006/main">
              <a:ext uri="{FF2B5EF4-FFF2-40B4-BE49-F238E27FC236}">
                <a16:creationId xmlns:a16="http://schemas.microsoft.com/office/drawing/2014/main" id="{D193B2B7-0F44-46A2-887A-42E9796A5B7E}"/>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Randomized phase 3 noninferiority study; 125 patients in the primary CRAB analysis, predominantly pneumonia. Both groups received imipenem-cilastatin. Day-28 mortality was 12/63 (19.0%) with sulbactam-durlobactam versus 20/62 (32.3%) with colistin, difference -13.2 percentage points (95% CI -30.0 to 3.5). The noninferiority margin was 20 percentage points. Nephrotoxicity was substantially less frequent with sulbactam-durlobactam. The wide interval and comparator limit claims about mortality superiority and other infection sites.</a:t>
            </a:r>
          </a:p>
        </p:txBody>
      </p:sp>
      <p:sp>
        <p:nvSpPr>
          <p:cNvPr id="3" name="paragraph-1">
            <a:extLst xmlns:a="http://schemas.openxmlformats.org/drawingml/2006/main">
              <a:ext uri="{FF2B5EF4-FFF2-40B4-BE49-F238E27FC236}">
                <a16:creationId xmlns:a16="http://schemas.microsoft.com/office/drawing/2014/main" id="{543B69A6-7168-411F-8352-4A0499239045}"/>
              </a:ext>
            </a:extLst>
          </p:cNvPr>
          <p:cNvSpPr>
            <a:spLocks xmlns:a="http://schemas.openxmlformats.org/drawingml/2006/main" noGrp="1"/>
          </p:cNvSpPr>
          <p:nvPr/>
        </p:nvSpPr>
        <p:spPr>
          <a:xfrm xmlns:a="http://schemas.openxmlformats.org/drawingml/2006/main">
            <a:off x="647700" y="50292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attack</a:t>
            </a:r>
          </a:p>
        </p:txBody>
      </p:sp>
      <p:sp>
        <p:nvSpPr>
          <p:cNvPr id="4" name="footer">
            <a:extLst xmlns:a="http://schemas.openxmlformats.org/drawingml/2006/main">
              <a:ext uri="{FF2B5EF4-FFF2-40B4-BE49-F238E27FC236}">
                <a16:creationId xmlns:a16="http://schemas.microsoft.com/office/drawing/2014/main" id="{FB71878F-AD51-4DE3-A459-4F987C15EFA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2C7E1EDC-3E27-4BD8-8F02-79C4D4CBB9D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134</a:t>
            </a:r>
          </a:p>
        </p:txBody>
      </p:sp>
    </p:spTree>
    <p:extLst>
      <p:ext uri="{BB962C8B-B14F-4D97-AF65-F5344CB8AC3E}">
        <p14:creationId xmlns:p14="http://schemas.microsoft.com/office/powerpoint/2010/main" val="1240025915"/>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CAF053A-3D88-4D39-9717-2EE8CC634D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VRE dosing evidence is observational</a:t>
            </a:r>
          </a:p>
        </p:txBody>
      </p:sp>
      <p:sp>
        <p:nvSpPr>
          <p:cNvPr id="2" name="paragraph-0">
            <a:extLst xmlns:a="http://schemas.openxmlformats.org/drawingml/2006/main">
              <a:ext uri="{FF2B5EF4-FFF2-40B4-BE49-F238E27FC236}">
                <a16:creationId xmlns:a16="http://schemas.microsoft.com/office/drawing/2014/main" id="{D6842BC6-8932-40A0-9A80-D3580D769D02}"/>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VA cohort included 911 patients receiving daptomycin, but only 60 received at least 10 mg/kg. Standard-dose therapy was associated with poorer survival than high-dose therapy after adjustment (adjusted hazard ratio 2.58, 95% CI 1.27-4.88). Residual confounding, treatment-selection differences, limited quantitative MIC data, and the selected population limit causal conclusions. The study supports avoiding underexposure; it does not prove daptomycin is superior to linezolid or that every patient should receive more than 12 mg/kg.</a:t>
            </a:r>
          </a:p>
        </p:txBody>
      </p:sp>
      <p:sp>
        <p:nvSpPr>
          <p:cNvPr id="3" name="paragraph-1">
            <a:extLst xmlns:a="http://schemas.openxmlformats.org/drawingml/2006/main">
              <a:ext uri="{FF2B5EF4-FFF2-40B4-BE49-F238E27FC236}">
                <a16:creationId xmlns:a16="http://schemas.microsoft.com/office/drawing/2014/main" id="{D97FBD08-7897-49EC-861D-FD31F1CC0AD5}"/>
              </a:ext>
            </a:extLst>
          </p:cNvPr>
          <p:cNvSpPr>
            <a:spLocks xmlns:a="http://schemas.openxmlformats.org/drawingml/2006/main" noGrp="1"/>
          </p:cNvSpPr>
          <p:nvPr/>
        </p:nvSpPr>
        <p:spPr>
          <a:xfrm xmlns:a="http://schemas.openxmlformats.org/drawingml/2006/main">
            <a:off x="647700" y="50292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vre-dose</a:t>
            </a:r>
          </a:p>
        </p:txBody>
      </p:sp>
      <p:sp>
        <p:nvSpPr>
          <p:cNvPr id="4" name="footer">
            <a:extLst xmlns:a="http://schemas.openxmlformats.org/drawingml/2006/main">
              <a:ext uri="{FF2B5EF4-FFF2-40B4-BE49-F238E27FC236}">
                <a16:creationId xmlns:a16="http://schemas.microsoft.com/office/drawing/2014/main" id="{162E8C04-2020-4582-A49E-9823255D94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D7D4C129-1EA1-4B07-A20C-6080DC0E1BE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135</a:t>
            </a:r>
          </a:p>
        </p:txBody>
      </p:sp>
    </p:spTree>
    <p:extLst>
      <p:ext uri="{BB962C8B-B14F-4D97-AF65-F5344CB8AC3E}">
        <p14:creationId xmlns:p14="http://schemas.microsoft.com/office/powerpoint/2010/main" val="648998845"/>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05EFB9-E5E8-45B7-AC4D-F1DC11E2509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guidance preference is not a comparative trial result</a:t>
            </a:r>
          </a:p>
        </p:txBody>
      </p:sp>
      <p:sp>
        <p:nvSpPr>
          <p:cNvPr id="2" name="paragraph-0">
            <a:extLst xmlns:a="http://schemas.openxmlformats.org/drawingml/2006/main">
              <a:ext uri="{FF2B5EF4-FFF2-40B4-BE49-F238E27FC236}">
                <a16:creationId xmlns:a16="http://schemas.microsoft.com/office/drawing/2014/main" id="{701B84A4-8D67-4C0D-BDA7-D29A600FED1B}"/>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2026 cefiderocol preference for invasive Stenotrophomonas rests heavily on preclinical evidence, with small and inconsistent human datasets. Similarly, choices among newer CRE agents frequently rely on mechanism, PK/PD, and observational outcomes. When teaching these choices, state the evidence limitation rather than converting “preferred” into “proven superior.”</a:t>
            </a:r>
          </a:p>
        </p:txBody>
      </p:sp>
      <p:sp>
        <p:nvSpPr>
          <p:cNvPr id="3" name="footer">
            <a:extLst xmlns:a="http://schemas.openxmlformats.org/drawingml/2006/main">
              <a:ext uri="{FF2B5EF4-FFF2-40B4-BE49-F238E27FC236}">
                <a16:creationId xmlns:a16="http://schemas.microsoft.com/office/drawing/2014/main" id="{CF328274-E9EF-45ED-8A7F-EF157E185D0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0C6FC2E-FA41-4A42-9A20-C0927664EF9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136</a:t>
            </a:r>
          </a:p>
        </p:txBody>
      </p:sp>
    </p:spTree>
    <p:extLst>
      <p:ext uri="{BB962C8B-B14F-4D97-AF65-F5344CB8AC3E}">
        <p14:creationId xmlns:p14="http://schemas.microsoft.com/office/powerpoint/2010/main" val="724232584"/>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89C0E99-9322-4D3A-A3BA-1E8C16609AF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Work from the syndrome to a defensible treatment plan</a:t>
            </a:r>
          </a:p>
        </p:txBody>
      </p:sp>
      <p:sp>
        <p:nvSpPr>
          <p:cNvPr id="2" name="paragraph-0">
            <a:extLst xmlns:a="http://schemas.openxmlformats.org/drawingml/2006/main">
              <a:ext uri="{FF2B5EF4-FFF2-40B4-BE49-F238E27FC236}">
                <a16:creationId xmlns:a16="http://schemas.microsoft.com/office/drawing/2014/main" id="{F71D06A3-8244-437D-9D5A-49C3C2894C1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Pause before opening each discussion. Name the next action, drug choice, and information still missing.</a:t>
            </a:r>
          </a:p>
        </p:txBody>
      </p:sp>
      <p:sp>
        <p:nvSpPr>
          <p:cNvPr id="3" name="footer">
            <a:extLst xmlns:a="http://schemas.openxmlformats.org/drawingml/2006/main">
              <a:ext uri="{FF2B5EF4-FFF2-40B4-BE49-F238E27FC236}">
                <a16:creationId xmlns:a16="http://schemas.microsoft.com/office/drawing/2014/main" id="{18419DD4-0F03-40F1-886A-3D533F90494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78B8CD5-D147-4F99-8869-7D8DAC9A6A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137</a:t>
            </a:r>
          </a:p>
        </p:txBody>
      </p:sp>
    </p:spTree>
    <p:extLst>
      <p:ext uri="{BB962C8B-B14F-4D97-AF65-F5344CB8AC3E}">
        <p14:creationId xmlns:p14="http://schemas.microsoft.com/office/powerpoint/2010/main" val="589914973"/>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F56553-F36F-428F-B6C2-A84145E6A65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 A resistant urine culture without symptoms</a:t>
            </a:r>
          </a:p>
        </p:txBody>
      </p:sp>
      <p:sp>
        <p:nvSpPr>
          <p:cNvPr id="2" name="paragraph-0">
            <a:extLst xmlns:a="http://schemas.openxmlformats.org/drawingml/2006/main">
              <a:ext uri="{FF2B5EF4-FFF2-40B4-BE49-F238E27FC236}">
                <a16:creationId xmlns:a16="http://schemas.microsoft.com/office/drawing/2014/main" id="{F72097C7-E501-49CD-90CD-C0D3525409A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stable adult with a chronic urinary catheter has ESBL E. coli in urine obtained for odor. There is no new urinary symptom, fever, hemodynamic change, or planned invasive urologic procedure.</a:t>
            </a:r>
          </a:p>
        </p:txBody>
      </p:sp>
      <p:sp>
        <p:nvSpPr>
          <p:cNvPr id="3" name="footer">
            <a:extLst xmlns:a="http://schemas.openxmlformats.org/drawingml/2006/main">
              <a:ext uri="{FF2B5EF4-FFF2-40B4-BE49-F238E27FC236}">
                <a16:creationId xmlns:a16="http://schemas.microsoft.com/office/drawing/2014/main" id="{30754AA8-0201-4830-B5BE-A99DFB4FE78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9373725-C2B7-42C4-B5BD-9F366D63AD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138</a:t>
            </a:r>
          </a:p>
        </p:txBody>
      </p:sp>
    </p:spTree>
    <p:extLst>
      <p:ext uri="{BB962C8B-B14F-4D97-AF65-F5344CB8AC3E}">
        <p14:creationId xmlns:p14="http://schemas.microsoft.com/office/powerpoint/2010/main" val="1076980879"/>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14973B9-4363-46EB-97FA-5A3ADCB852D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81A2F38A-E343-4C6B-BF45-7FAADB780EA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treat the culture. Review why it was collected and whether the catheter is needed. Resistance does not convert asymptomatic bacteriuria into infection.</a:t>
            </a:r>
          </a:p>
        </p:txBody>
      </p:sp>
      <p:sp>
        <p:nvSpPr>
          <p:cNvPr id="3" name="paragraph-1">
            <a:extLst xmlns:a="http://schemas.openxmlformats.org/drawingml/2006/main">
              <a:ext uri="{FF2B5EF4-FFF2-40B4-BE49-F238E27FC236}">
                <a16:creationId xmlns:a16="http://schemas.microsoft.com/office/drawing/2014/main" id="{CE330548-B423-4650-98A1-9EE2C2361DE0}"/>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asb</a:t>
            </a:r>
          </a:p>
        </p:txBody>
      </p:sp>
      <p:sp>
        <p:nvSpPr>
          <p:cNvPr id="4" name="footer">
            <a:extLst xmlns:a="http://schemas.openxmlformats.org/drawingml/2006/main">
              <a:ext uri="{FF2B5EF4-FFF2-40B4-BE49-F238E27FC236}">
                <a16:creationId xmlns:a16="http://schemas.microsoft.com/office/drawing/2014/main" id="{BFFADDBA-7223-4154-8561-5C20F1BA984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B61AC43E-898D-4D1D-8E9C-7E8FF39CB6E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139</a:t>
            </a:r>
          </a:p>
        </p:txBody>
      </p:sp>
    </p:spTree>
    <p:extLst>
      <p:ext uri="{BB962C8B-B14F-4D97-AF65-F5344CB8AC3E}">
        <p14:creationId xmlns:p14="http://schemas.microsoft.com/office/powerpoint/2010/main" val="1361618531"/>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12B41FF-24E5-40E3-8689-A4462506040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 ESBL bacteremia with a susceptible piperacillin-tazobactam report</a:t>
            </a:r>
          </a:p>
        </p:txBody>
      </p:sp>
      <p:sp>
        <p:nvSpPr>
          <p:cNvPr id="2" name="paragraph-0">
            <a:extLst xmlns:a="http://schemas.openxmlformats.org/drawingml/2006/main">
              <a:ext uri="{FF2B5EF4-FFF2-40B4-BE49-F238E27FC236}">
                <a16:creationId xmlns:a16="http://schemas.microsoft.com/office/drawing/2014/main" id="{25FCDF5C-B8CD-42F7-8747-87BF52506906}"/>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fever, hypotension, an obstructing ureteral stone, and E. coli bacteremia has CTX-M detected. Piperacillin-tazobactam is reported susceptible.</a:t>
            </a:r>
          </a:p>
        </p:txBody>
      </p:sp>
      <p:sp>
        <p:nvSpPr>
          <p:cNvPr id="3" name="footer">
            <a:extLst xmlns:a="http://schemas.openxmlformats.org/drawingml/2006/main">
              <a:ext uri="{FF2B5EF4-FFF2-40B4-BE49-F238E27FC236}">
                <a16:creationId xmlns:a16="http://schemas.microsoft.com/office/drawing/2014/main" id="{BD228BBE-D8FC-4AB1-AC7C-8090B639497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EA308F3-968C-48DC-98B9-17815F8B9A9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140</a:t>
            </a:r>
          </a:p>
        </p:txBody>
      </p:sp>
    </p:spTree>
    <p:extLst>
      <p:ext uri="{BB962C8B-B14F-4D97-AF65-F5344CB8AC3E}">
        <p14:creationId xmlns:p14="http://schemas.microsoft.com/office/powerpoint/2010/main" val="1747425265"/>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6C724FE-CFDC-4CF4-A7C8-44605C1341E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86E80644-EEA5-4667-BF47-5033EA198DD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an active carbapenem while arranging urgent urinary decompression. Once stable with source control and complete results, assess an active oral option. The susceptibility report does not negate the invasive ESBL treatment evidence.</a:t>
            </a:r>
          </a:p>
        </p:txBody>
      </p:sp>
      <p:sp>
        <p:nvSpPr>
          <p:cNvPr id="3" name="paragraph-1">
            <a:extLst xmlns:a="http://schemas.openxmlformats.org/drawingml/2006/main">
              <a:ext uri="{FF2B5EF4-FFF2-40B4-BE49-F238E27FC236}">
                <a16:creationId xmlns:a16="http://schemas.microsoft.com/office/drawing/2014/main" id="{33593D4B-C934-43BE-B778-2A361E38508A}"/>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merino</a:t>
            </a:r>
          </a:p>
        </p:txBody>
      </p:sp>
      <p:sp>
        <p:nvSpPr>
          <p:cNvPr id="4" name="footer">
            <a:extLst xmlns:a="http://schemas.openxmlformats.org/drawingml/2006/main">
              <a:ext uri="{FF2B5EF4-FFF2-40B4-BE49-F238E27FC236}">
                <a16:creationId xmlns:a16="http://schemas.microsoft.com/office/drawing/2014/main" id="{241517B9-B259-4AA7-9E5D-9BB27389D0C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7414CFA-8C9A-4298-B864-9475F3AC2F1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141</a:t>
            </a:r>
          </a:p>
        </p:txBody>
      </p:sp>
    </p:spTree>
    <p:extLst>
      <p:ext uri="{BB962C8B-B14F-4D97-AF65-F5344CB8AC3E}">
        <p14:creationId xmlns:p14="http://schemas.microsoft.com/office/powerpoint/2010/main" val="1719267518"/>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4A8D8C-A7C9-4E66-8274-8725D52F44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 Enterobacter initially susceptible to ceftriaxone</a:t>
            </a:r>
          </a:p>
        </p:txBody>
      </p:sp>
      <p:sp>
        <p:nvSpPr>
          <p:cNvPr id="2" name="paragraph-0">
            <a:extLst xmlns:a="http://schemas.openxmlformats.org/drawingml/2006/main">
              <a:ext uri="{FF2B5EF4-FFF2-40B4-BE49-F238E27FC236}">
                <a16:creationId xmlns:a16="http://schemas.microsoft.com/office/drawing/2014/main" id="{DF431892-504E-47C5-8B04-974D9746EEC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 cloacae complex grows from blood and an undrained intra-abdominal collection. Ceftriaxone is susceptible; cefepime MIC is 2 micrograms/mL.</a:t>
            </a:r>
          </a:p>
        </p:txBody>
      </p:sp>
      <p:sp>
        <p:nvSpPr>
          <p:cNvPr id="3" name="footer">
            <a:extLst xmlns:a="http://schemas.openxmlformats.org/drawingml/2006/main">
              <a:ext uri="{FF2B5EF4-FFF2-40B4-BE49-F238E27FC236}">
                <a16:creationId xmlns:a16="http://schemas.microsoft.com/office/drawing/2014/main" id="{298E99A5-DE86-4DC2-A5DB-D86B8E53243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21DA86B-C2FC-4B4A-9326-55D651AE0C8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142</a:t>
            </a:r>
          </a:p>
        </p:txBody>
      </p:sp>
    </p:spTree>
    <p:extLst>
      <p:ext uri="{BB962C8B-B14F-4D97-AF65-F5344CB8AC3E}">
        <p14:creationId xmlns:p14="http://schemas.microsoft.com/office/powerpoint/2010/main" val="1788553416"/>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698EB0C-F0F9-4CAD-9872-76D690CAB8F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1A013F99-715D-4D11-AAD4-3DD3C0C85D7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Arrange drainage and select cefepime with appropriate exposure, or a carbapenem when indicated by clinical or resistance factors. Include anaerobic coverage if the source requires it. This is not the low-severity, source-controlled exception for continuing ceftriaxone.</a:t>
            </a:r>
          </a:p>
        </p:txBody>
      </p:sp>
      <p:sp>
        <p:nvSpPr>
          <p:cNvPr id="3" name="paragraph-1">
            <a:extLst xmlns:a="http://schemas.openxmlformats.org/drawingml/2006/main">
              <a:ext uri="{FF2B5EF4-FFF2-40B4-BE49-F238E27FC236}">
                <a16:creationId xmlns:a16="http://schemas.microsoft.com/office/drawing/2014/main" id="{B9CD94CD-F4EA-42B9-A349-14AA58864430}"/>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a:t>
            </a:r>
          </a:p>
        </p:txBody>
      </p:sp>
      <p:sp>
        <p:nvSpPr>
          <p:cNvPr id="4" name="footer">
            <a:extLst xmlns:a="http://schemas.openxmlformats.org/drawingml/2006/main">
              <a:ext uri="{FF2B5EF4-FFF2-40B4-BE49-F238E27FC236}">
                <a16:creationId xmlns:a16="http://schemas.microsoft.com/office/drawing/2014/main" id="{484F3B46-6B75-42AD-9F74-0F2B4D8E867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3DF7EB2B-5633-44CD-94F0-BD66AE9017B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143</a:t>
            </a:r>
          </a:p>
        </p:txBody>
      </p:sp>
    </p:spTree>
    <p:extLst>
      <p:ext uri="{BB962C8B-B14F-4D97-AF65-F5344CB8AC3E}">
        <p14:creationId xmlns:p14="http://schemas.microsoft.com/office/powerpoint/2010/main" val="412977448"/>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AA16B12-0AE7-4DC7-9F15-E4C495A7D2E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4 · NDM changes the CRE choice</a:t>
            </a:r>
          </a:p>
        </p:txBody>
      </p:sp>
      <p:sp>
        <p:nvSpPr>
          <p:cNvPr id="2" name="paragraph-0">
            <a:extLst xmlns:a="http://schemas.openxmlformats.org/drawingml/2006/main">
              <a:ext uri="{FF2B5EF4-FFF2-40B4-BE49-F238E27FC236}">
                <a16:creationId xmlns:a16="http://schemas.microsoft.com/office/drawing/2014/main" id="{B651C594-FF53-4AB7-8B19-838B1FD7548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bloodstream K. pneumoniae isolate carries NDM. Ceftazidime-avibactam was started before molecular results.</a:t>
            </a:r>
          </a:p>
        </p:txBody>
      </p:sp>
      <p:sp>
        <p:nvSpPr>
          <p:cNvPr id="3" name="footer">
            <a:extLst xmlns:a="http://schemas.openxmlformats.org/drawingml/2006/main">
              <a:ext uri="{FF2B5EF4-FFF2-40B4-BE49-F238E27FC236}">
                <a16:creationId xmlns:a16="http://schemas.microsoft.com/office/drawing/2014/main" id="{48B88BB2-E74C-40E6-8F07-7ABBF2DF1F0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5A46511-9F5E-470F-826F-0C5C02A3F09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144</a:t>
            </a:r>
          </a:p>
        </p:txBody>
      </p:sp>
    </p:spTree>
    <p:extLst>
      <p:ext uri="{BB962C8B-B14F-4D97-AF65-F5344CB8AC3E}">
        <p14:creationId xmlns:p14="http://schemas.microsoft.com/office/powerpoint/2010/main" val="1385287488"/>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F13334C-BA80-440A-880F-F7F56FED287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62C62837-F239-41C4-84AE-C35F1611BB4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Ceftazidime-avibactam alone is inadequate. Select aztreonam-avibactam or susceptible cefiderocol; ceftazidime-avibactam plus aztreonam is an alternative if the fixed product is unavailable. Obtain confirmatory AST and source control.</a:t>
            </a:r>
          </a:p>
        </p:txBody>
      </p:sp>
      <p:sp>
        <p:nvSpPr>
          <p:cNvPr id="3" name="paragraph-1">
            <a:extLst xmlns:a="http://schemas.openxmlformats.org/drawingml/2006/main">
              <a:ext uri="{FF2B5EF4-FFF2-40B4-BE49-F238E27FC236}">
                <a16:creationId xmlns:a16="http://schemas.microsoft.com/office/drawing/2014/main" id="{88C0C0C2-F3F2-4A4E-87D0-72DEA3454E69}"/>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a:t>
            </a:r>
          </a:p>
        </p:txBody>
      </p:sp>
      <p:sp>
        <p:nvSpPr>
          <p:cNvPr id="4" name="footer">
            <a:extLst xmlns:a="http://schemas.openxmlformats.org/drawingml/2006/main">
              <a:ext uri="{FF2B5EF4-FFF2-40B4-BE49-F238E27FC236}">
                <a16:creationId xmlns:a16="http://schemas.microsoft.com/office/drawing/2014/main" id="{CDEC4FE5-5F12-4D7D-A8C3-05D6261F957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D4637984-FBCA-4FEE-A094-ADBFDB5551F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145</a:t>
            </a:r>
          </a:p>
        </p:txBody>
      </p:sp>
    </p:spTree>
    <p:extLst>
      <p:ext uri="{BB962C8B-B14F-4D97-AF65-F5344CB8AC3E}">
        <p14:creationId xmlns:p14="http://schemas.microsoft.com/office/powerpoint/2010/main" val="599090387"/>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5F49178-6433-4E29-80C5-EB8B8DF950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5 · Carbapenem-resistant Pseudomonas still has an older option</a:t>
            </a:r>
          </a:p>
        </p:txBody>
      </p:sp>
      <p:sp>
        <p:nvSpPr>
          <p:cNvPr id="2" name="paragraph-0">
            <a:extLst xmlns:a="http://schemas.openxmlformats.org/drawingml/2006/main">
              <a:ext uri="{FF2B5EF4-FFF2-40B4-BE49-F238E27FC236}">
                <a16:creationId xmlns:a16="http://schemas.microsoft.com/office/drawing/2014/main" id="{2B0DBB5F-0242-4463-A4DE-BC05B9C1F5E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stable patient with a drained source has Pseudomonas resistant to meropenem but susceptible to cefepime.</a:t>
            </a:r>
          </a:p>
        </p:txBody>
      </p:sp>
      <p:sp>
        <p:nvSpPr>
          <p:cNvPr id="3" name="footer">
            <a:extLst xmlns:a="http://schemas.openxmlformats.org/drawingml/2006/main">
              <a:ext uri="{FF2B5EF4-FFF2-40B4-BE49-F238E27FC236}">
                <a16:creationId xmlns:a16="http://schemas.microsoft.com/office/drawing/2014/main" id="{DD79B72E-8EC1-4394-91B6-DF46A235AB0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DD9E603-B91F-47B5-965E-3C97C0EC1EE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146</a:t>
            </a:r>
          </a:p>
        </p:txBody>
      </p:sp>
    </p:spTree>
    <p:extLst>
      <p:ext uri="{BB962C8B-B14F-4D97-AF65-F5344CB8AC3E}">
        <p14:creationId xmlns:p14="http://schemas.microsoft.com/office/powerpoint/2010/main" val="568528289"/>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9263CC9-655A-4177-A26A-C15274C59CF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157A6E87-1C30-4EDF-9DA8-2908517076E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Optimized cefepime can be appropriate. Carbapenem resistance is not synonymous with DTR or a carbapenemase. Check the MIC, exposure, source, and response; do not automatically escalate to a reserve agent.</a:t>
            </a:r>
          </a:p>
        </p:txBody>
      </p:sp>
      <p:sp>
        <p:nvSpPr>
          <p:cNvPr id="3" name="paragraph-1">
            <a:extLst xmlns:a="http://schemas.openxmlformats.org/drawingml/2006/main">
              <a:ext uri="{FF2B5EF4-FFF2-40B4-BE49-F238E27FC236}">
                <a16:creationId xmlns:a16="http://schemas.microsoft.com/office/drawing/2014/main" id="{71827432-0F66-4287-8CF5-C174F3FF2EA4}"/>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a:t>
            </a:r>
          </a:p>
        </p:txBody>
      </p:sp>
      <p:sp>
        <p:nvSpPr>
          <p:cNvPr id="4" name="footer">
            <a:extLst xmlns:a="http://schemas.openxmlformats.org/drawingml/2006/main">
              <a:ext uri="{FF2B5EF4-FFF2-40B4-BE49-F238E27FC236}">
                <a16:creationId xmlns:a16="http://schemas.microsoft.com/office/drawing/2014/main" id="{9585CEEB-8B02-4A51-BB87-32739113FF9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D59007C9-23C3-4140-B619-6F6DCAC6D2B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147</a:t>
            </a:r>
          </a:p>
        </p:txBody>
      </p:sp>
    </p:spTree>
    <p:extLst>
      <p:ext uri="{BB962C8B-B14F-4D97-AF65-F5344CB8AC3E}">
        <p14:creationId xmlns:p14="http://schemas.microsoft.com/office/powerpoint/2010/main" val="1175258248"/>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F4F7CA1-6B02-4ED4-A079-2551378C473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6 · CRAB in a ventilated patient</a:t>
            </a:r>
          </a:p>
        </p:txBody>
      </p:sp>
      <p:sp>
        <p:nvSpPr>
          <p:cNvPr id="2" name="paragraph-0">
            <a:extLst xmlns:a="http://schemas.openxmlformats.org/drawingml/2006/main">
              <a:ext uri="{FF2B5EF4-FFF2-40B4-BE49-F238E27FC236}">
                <a16:creationId xmlns:a16="http://schemas.microsoft.com/office/drawing/2014/main" id="{11930B6C-D018-4FE5-BFE0-94B9013EAD0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New fever, purulent secretions, a new infiltrate, and rising oxygen requirements accompany a CRAB respiratory isolate.</a:t>
            </a:r>
          </a:p>
        </p:txBody>
      </p:sp>
      <p:sp>
        <p:nvSpPr>
          <p:cNvPr id="3" name="footer">
            <a:extLst xmlns:a="http://schemas.openxmlformats.org/drawingml/2006/main">
              <a:ext uri="{FF2B5EF4-FFF2-40B4-BE49-F238E27FC236}">
                <a16:creationId xmlns:a16="http://schemas.microsoft.com/office/drawing/2014/main" id="{3A930EEC-B744-40FD-A0C4-88D25D3009E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5BE4930-EBEC-4A46-AA01-4140229841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148</a:t>
            </a:r>
          </a:p>
        </p:txBody>
      </p:sp>
    </p:spTree>
    <p:extLst>
      <p:ext uri="{BB962C8B-B14F-4D97-AF65-F5344CB8AC3E}">
        <p14:creationId xmlns:p14="http://schemas.microsoft.com/office/powerpoint/2010/main" val="74898375"/>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F34105D-2AE8-4B98-BF37-0D24C9127BA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E4254525-C505-490B-8545-7DEE32F4D89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Evaluate competing causes and specimen quality. If CRAB pneumonia is established, use sulbactam-durlobactam plus a carbapenem partner and request AST. A prior positive respiratory culture without this syndrome would not justify the same treatment.</a:t>
            </a:r>
          </a:p>
        </p:txBody>
      </p:sp>
      <p:sp>
        <p:nvSpPr>
          <p:cNvPr id="3" name="paragraph-1">
            <a:extLst xmlns:a="http://schemas.openxmlformats.org/drawingml/2006/main">
              <a:ext uri="{FF2B5EF4-FFF2-40B4-BE49-F238E27FC236}">
                <a16:creationId xmlns:a16="http://schemas.microsoft.com/office/drawing/2014/main" id="{7DAA1CBC-A828-4AAC-96E4-59A25436E3C4}"/>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a:t>
            </a:r>
          </a:p>
        </p:txBody>
      </p:sp>
      <p:sp>
        <p:nvSpPr>
          <p:cNvPr id="4" name="footer">
            <a:extLst xmlns:a="http://schemas.openxmlformats.org/drawingml/2006/main">
              <a:ext uri="{FF2B5EF4-FFF2-40B4-BE49-F238E27FC236}">
                <a16:creationId xmlns:a16="http://schemas.microsoft.com/office/drawing/2014/main" id="{2D0646B5-9212-48E0-AC84-F8D92917028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590E799-03CC-4E24-B350-2896879BCE6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149</a:t>
            </a:r>
          </a:p>
        </p:txBody>
      </p:sp>
    </p:spTree>
    <p:extLst>
      <p:ext uri="{BB962C8B-B14F-4D97-AF65-F5344CB8AC3E}">
        <p14:creationId xmlns:p14="http://schemas.microsoft.com/office/powerpoint/2010/main" val="1136669698"/>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BD23E41-1D33-4B32-95C7-34A06E09513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7 · Stenotrophomonas after broad-spectrum therapy</a:t>
            </a:r>
          </a:p>
        </p:txBody>
      </p:sp>
      <p:sp>
        <p:nvSpPr>
          <p:cNvPr id="2" name="paragraph-0">
            <a:extLst xmlns:a="http://schemas.openxmlformats.org/drawingml/2006/main">
              <a:ext uri="{FF2B5EF4-FFF2-40B4-BE49-F238E27FC236}">
                <a16:creationId xmlns:a16="http://schemas.microsoft.com/office/drawing/2014/main" id="{7B764448-C9E7-40E2-BA84-835F1B519CD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neutropenic patient has compatible pneumonia and S. maltophilia in blood and respiratory cultures.</a:t>
            </a:r>
          </a:p>
        </p:txBody>
      </p:sp>
      <p:sp>
        <p:nvSpPr>
          <p:cNvPr id="3" name="footer">
            <a:extLst xmlns:a="http://schemas.openxmlformats.org/drawingml/2006/main">
              <a:ext uri="{FF2B5EF4-FFF2-40B4-BE49-F238E27FC236}">
                <a16:creationId xmlns:a16="http://schemas.microsoft.com/office/drawing/2014/main" id="{589559A3-28D0-4F13-B3D2-1A37B4DA566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D3C808B-4DB4-4A36-A223-44F31BBF9E2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150</a:t>
            </a:r>
          </a:p>
        </p:txBody>
      </p:sp>
    </p:spTree>
    <p:extLst>
      <p:ext uri="{BB962C8B-B14F-4D97-AF65-F5344CB8AC3E}">
        <p14:creationId xmlns:p14="http://schemas.microsoft.com/office/powerpoint/2010/main" val="1176502786"/>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D44ACD7-7863-44CD-87AE-C23C75EFE35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769B60CE-6FB1-47A4-B4F2-DC8C547E8CD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Treat invasive disease promptly with the current guidance-informed approach, favoring active cefiderocol. Assess catheter and pulmonary sources. Explain that this recommendation is not supported by a definitive human superiority trial; alternatives require careful combination and toxicity planning.</a:t>
            </a:r>
          </a:p>
        </p:txBody>
      </p:sp>
      <p:sp>
        <p:nvSpPr>
          <p:cNvPr id="3" name="paragraph-1">
            <a:extLst xmlns:a="http://schemas.openxmlformats.org/drawingml/2006/main">
              <a:ext uri="{FF2B5EF4-FFF2-40B4-BE49-F238E27FC236}">
                <a16:creationId xmlns:a16="http://schemas.microsoft.com/office/drawing/2014/main" id="{18C26E05-7399-4498-B014-92D7E835623E}"/>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amr</a:t>
            </a:r>
          </a:p>
        </p:txBody>
      </p:sp>
      <p:sp>
        <p:nvSpPr>
          <p:cNvPr id="4" name="footer">
            <a:extLst xmlns:a="http://schemas.openxmlformats.org/drawingml/2006/main">
              <a:ext uri="{FF2B5EF4-FFF2-40B4-BE49-F238E27FC236}">
                <a16:creationId xmlns:a16="http://schemas.microsoft.com/office/drawing/2014/main" id="{2DB3DB73-9AD6-4585-80DF-86F9A42B438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D0648856-8A03-4B1C-A509-CB62D0A357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151</a:t>
            </a:r>
          </a:p>
        </p:txBody>
      </p:sp>
    </p:spTree>
    <p:extLst>
      <p:ext uri="{BB962C8B-B14F-4D97-AF65-F5344CB8AC3E}">
        <p14:creationId xmlns:p14="http://schemas.microsoft.com/office/powerpoint/2010/main" val="1380853934"/>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F78F96E-BD2A-463C-8914-D043CAFFB72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8 · VRE with daptomycin MIC 4</a:t>
            </a:r>
          </a:p>
        </p:txBody>
      </p:sp>
      <p:sp>
        <p:nvSpPr>
          <p:cNvPr id="2" name="paragraph-0">
            <a:extLst xmlns:a="http://schemas.openxmlformats.org/drawingml/2006/main">
              <a:ext uri="{FF2B5EF4-FFF2-40B4-BE49-F238E27FC236}">
                <a16:creationId xmlns:a16="http://schemas.microsoft.com/office/drawing/2014/main" id="{6EE168FA-BE71-4F61-9327-502F12D56B6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has VRE E. faecium bacteremia, daptomycin MIC 4 micrograms/mL, and preserved renal function.</a:t>
            </a:r>
          </a:p>
        </p:txBody>
      </p:sp>
      <p:sp>
        <p:nvSpPr>
          <p:cNvPr id="3" name="footer">
            <a:extLst xmlns:a="http://schemas.openxmlformats.org/drawingml/2006/main">
              <a:ext uri="{FF2B5EF4-FFF2-40B4-BE49-F238E27FC236}">
                <a16:creationId xmlns:a16="http://schemas.microsoft.com/office/drawing/2014/main" id="{9CFA4016-8097-400B-9948-74CD1D942B1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EE20E6C-B61F-4A62-8A7F-F1724729B62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152</a:t>
            </a:r>
          </a:p>
        </p:txBody>
      </p:sp>
    </p:spTree>
    <p:extLst>
      <p:ext uri="{BB962C8B-B14F-4D97-AF65-F5344CB8AC3E}">
        <p14:creationId xmlns:p14="http://schemas.microsoft.com/office/powerpoint/2010/main" val="102446116"/>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239A759-1353-409D-B15F-F72ECBD9AD7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decision</a:t>
            </a:r>
          </a:p>
        </p:txBody>
      </p:sp>
      <p:sp>
        <p:nvSpPr>
          <p:cNvPr id="2" name="paragraph-0">
            <a:extLst xmlns:a="http://schemas.openxmlformats.org/drawingml/2006/main">
              <a:ext uri="{FF2B5EF4-FFF2-40B4-BE49-F238E27FC236}">
                <a16:creationId xmlns:a16="http://schemas.microsoft.com/office/drawing/2014/main" id="{C581DEF2-0553-413D-B1CB-04660F75A3D5}"/>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the laboratory interpretation and source. Do not use a low S. aureus dose simply because the report is SDD. Discuss high-dose daptomycin or linezolid, CBC/CK monitoring, clearance cultures, and endovascular evaluation when indicated. Persistent infection requires source and repeat-MIC reassessment.</a:t>
            </a:r>
          </a:p>
        </p:txBody>
      </p:sp>
      <p:sp>
        <p:nvSpPr>
          <p:cNvPr id="3" name="paragraph-1">
            <a:extLst xmlns:a="http://schemas.openxmlformats.org/drawingml/2006/main">
              <a:ext uri="{FF2B5EF4-FFF2-40B4-BE49-F238E27FC236}">
                <a16:creationId xmlns:a16="http://schemas.microsoft.com/office/drawing/2014/main" id="{A7C6C861-5CFD-4669-8D1F-2B1DEA3EBE96}"/>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vre-dose</a:t>
            </a:r>
          </a:p>
        </p:txBody>
      </p:sp>
      <p:sp>
        <p:nvSpPr>
          <p:cNvPr id="4" name="footer">
            <a:extLst xmlns:a="http://schemas.openxmlformats.org/drawingml/2006/main">
              <a:ext uri="{FF2B5EF4-FFF2-40B4-BE49-F238E27FC236}">
                <a16:creationId xmlns:a16="http://schemas.microsoft.com/office/drawing/2014/main" id="{34A4963C-55ED-4113-9C76-ADAC994A257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756D3750-46A8-4B89-9BE5-4C6DDB80B3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153</a:t>
            </a:r>
          </a:p>
        </p:txBody>
      </p:sp>
    </p:spTree>
    <p:extLst>
      <p:ext uri="{BB962C8B-B14F-4D97-AF65-F5344CB8AC3E}">
        <p14:creationId xmlns:p14="http://schemas.microsoft.com/office/powerpoint/2010/main" val="570020075"/>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E9F0D2-D0E5-48F4-8A4F-AB0F3BCF585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these questions to check the reasoning</a:t>
            </a:r>
          </a:p>
        </p:txBody>
      </p:sp>
      <p:sp>
        <p:nvSpPr>
          <p:cNvPr id="2" name="paragraph-0">
            <a:extLst xmlns:a="http://schemas.openxmlformats.org/drawingml/2006/main">
              <a:ext uri="{FF2B5EF4-FFF2-40B4-BE49-F238E27FC236}">
                <a16:creationId xmlns:a16="http://schemas.microsoft.com/office/drawing/2014/main" id="{988D665E-BA3F-45D9-991C-50A1B3350CD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Does the smallest MIC identify the best antibiotic?</a:t>
            </a:r>
          </a:p>
        </p:txBody>
      </p:sp>
      <p:sp>
        <p:nvSpPr>
          <p:cNvPr id="3" name="footer">
            <a:extLst xmlns:a="http://schemas.openxmlformats.org/drawingml/2006/main">
              <a:ext uri="{FF2B5EF4-FFF2-40B4-BE49-F238E27FC236}">
                <a16:creationId xmlns:a16="http://schemas.microsoft.com/office/drawing/2014/main" id="{C5E50437-C5BA-46B3-B802-BF67C86512E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AB16C81-D6D9-49EE-BC6E-FA3CC611CD7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154</a:t>
            </a:r>
          </a:p>
        </p:txBody>
      </p:sp>
    </p:spTree>
    <p:extLst>
      <p:ext uri="{BB962C8B-B14F-4D97-AF65-F5344CB8AC3E}">
        <p14:creationId xmlns:p14="http://schemas.microsoft.com/office/powerpoint/2010/main" val="347615846"/>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26B02A0-535D-45B1-8193-860C9C895B8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9632EEEC-7546-43B4-A494-B3370D5CEA4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Compare the drug-specific breakpoint, achievable exposure, site, and outcomes evidence.</a:t>
            </a:r>
          </a:p>
        </p:txBody>
      </p:sp>
      <p:sp>
        <p:nvSpPr>
          <p:cNvPr id="3" name="footer">
            <a:extLst xmlns:a="http://schemas.openxmlformats.org/drawingml/2006/main">
              <a:ext uri="{FF2B5EF4-FFF2-40B4-BE49-F238E27FC236}">
                <a16:creationId xmlns:a16="http://schemas.microsoft.com/office/drawing/2014/main" id="{F5936B2A-32E2-432E-8143-8979A7558E8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29936F3-5BDB-4004-B2B8-28DADE6C839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155</a:t>
            </a:r>
          </a:p>
        </p:txBody>
      </p:sp>
    </p:spTree>
    <p:extLst>
      <p:ext uri="{BB962C8B-B14F-4D97-AF65-F5344CB8AC3E}">
        <p14:creationId xmlns:p14="http://schemas.microsoft.com/office/powerpoint/2010/main" val="218543984"/>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3A47874-DF40-4A41-B138-B98066A2F4B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these questions to check the reasoning</a:t>
            </a:r>
          </a:p>
        </p:txBody>
      </p:sp>
      <p:sp>
        <p:nvSpPr>
          <p:cNvPr id="2" name="paragraph-0">
            <a:extLst xmlns:a="http://schemas.openxmlformats.org/drawingml/2006/main">
              <a:ext uri="{FF2B5EF4-FFF2-40B4-BE49-F238E27FC236}">
                <a16:creationId xmlns:a16="http://schemas.microsoft.com/office/drawing/2014/main" id="{7E5A6A57-257F-4F2D-A7D9-58F39DFCDAD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Does a negative CTX-M result exclude ESBL?</a:t>
            </a:r>
          </a:p>
        </p:txBody>
      </p:sp>
      <p:sp>
        <p:nvSpPr>
          <p:cNvPr id="3" name="footer">
            <a:extLst xmlns:a="http://schemas.openxmlformats.org/drawingml/2006/main">
              <a:ext uri="{FF2B5EF4-FFF2-40B4-BE49-F238E27FC236}">
                <a16:creationId xmlns:a16="http://schemas.microsoft.com/office/drawing/2014/main" id="{0D28B0AB-14F6-4EB0-A60B-A0E6E8492CF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5ED632B-460F-448C-BF7D-3CC584DD0F3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156</a:t>
            </a:r>
          </a:p>
        </p:txBody>
      </p:sp>
    </p:spTree>
    <p:extLst>
      <p:ext uri="{BB962C8B-B14F-4D97-AF65-F5344CB8AC3E}">
        <p14:creationId xmlns:p14="http://schemas.microsoft.com/office/powerpoint/2010/main" val="1211852706"/>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D6A429F-CE82-4640-9BE0-C869B8FCB7C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3263CEDE-589F-4174-8C1B-58FFA37BEED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Other ESBL families and other resistance mechanisms can produce a similar phenotype.</a:t>
            </a:r>
          </a:p>
        </p:txBody>
      </p:sp>
      <p:sp>
        <p:nvSpPr>
          <p:cNvPr id="3" name="footer">
            <a:extLst xmlns:a="http://schemas.openxmlformats.org/drawingml/2006/main">
              <a:ext uri="{FF2B5EF4-FFF2-40B4-BE49-F238E27FC236}">
                <a16:creationId xmlns:a16="http://schemas.microsoft.com/office/drawing/2014/main" id="{86BCEE29-E0C1-4E52-B44E-BDEE00240C0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0F7A8F8-5F9D-4253-9847-82A5FFD9C67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157</a:t>
            </a:r>
          </a:p>
        </p:txBody>
      </p:sp>
    </p:spTree>
    <p:extLst>
      <p:ext uri="{BB962C8B-B14F-4D97-AF65-F5344CB8AC3E}">
        <p14:creationId xmlns:p14="http://schemas.microsoft.com/office/powerpoint/2010/main" val="1713383493"/>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0FB3588-398F-4099-B80B-71371808A4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these questions to check the reasoning</a:t>
            </a:r>
          </a:p>
        </p:txBody>
      </p:sp>
      <p:sp>
        <p:nvSpPr>
          <p:cNvPr id="2" name="paragraph-0">
            <a:extLst xmlns:a="http://schemas.openxmlformats.org/drawingml/2006/main">
              <a:ext uri="{FF2B5EF4-FFF2-40B4-BE49-F238E27FC236}">
                <a16:creationId xmlns:a16="http://schemas.microsoft.com/office/drawing/2014/main" id="{7023566A-0E13-4C72-BD64-07861411567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Which Enterobacterales should make you question ceftriaxone despite initial susceptibility?</a:t>
            </a:r>
          </a:p>
        </p:txBody>
      </p:sp>
      <p:sp>
        <p:nvSpPr>
          <p:cNvPr id="3" name="footer">
            <a:extLst xmlns:a="http://schemas.openxmlformats.org/drawingml/2006/main">
              <a:ext uri="{FF2B5EF4-FFF2-40B4-BE49-F238E27FC236}">
                <a16:creationId xmlns:a16="http://schemas.microsoft.com/office/drawing/2014/main" id="{9C5B50D2-C8E0-4D5C-977A-FC276B9877C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86883A5-ED65-4623-9674-1A9A006BCD6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158</a:t>
            </a:r>
          </a:p>
        </p:txBody>
      </p:sp>
    </p:spTree>
    <p:extLst>
      <p:ext uri="{BB962C8B-B14F-4D97-AF65-F5344CB8AC3E}">
        <p14:creationId xmlns:p14="http://schemas.microsoft.com/office/powerpoint/2010/main" val="1213199820"/>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A52910C-8978-4C4E-AD8B-94CED75A7E2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BB246C68-2B81-486E-9FC9-C6DBE6777DE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 cloacae complex, K. aerogenes, C. freundii, and, in the 2026 guidance, H. alvei. Severity and source control determine whether the limited continuation exception applies.</a:t>
            </a:r>
          </a:p>
        </p:txBody>
      </p:sp>
      <p:sp>
        <p:nvSpPr>
          <p:cNvPr id="3" name="footer">
            <a:extLst xmlns:a="http://schemas.openxmlformats.org/drawingml/2006/main">
              <a:ext uri="{FF2B5EF4-FFF2-40B4-BE49-F238E27FC236}">
                <a16:creationId xmlns:a16="http://schemas.microsoft.com/office/drawing/2014/main" id="{068B7C28-AE80-404E-9E54-6268F6846A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5F47CF0-4C72-4AA5-BDA0-0DD740502F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159</a:t>
            </a:r>
          </a:p>
        </p:txBody>
      </p:sp>
    </p:spTree>
    <p:extLst>
      <p:ext uri="{BB962C8B-B14F-4D97-AF65-F5344CB8AC3E}">
        <p14:creationId xmlns:p14="http://schemas.microsoft.com/office/powerpoint/2010/main" val="1541785834"/>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8903BE1-0760-47C0-9A21-33CB972F731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these questions to check the reasoning</a:t>
            </a:r>
          </a:p>
        </p:txBody>
      </p:sp>
      <p:sp>
        <p:nvSpPr>
          <p:cNvPr id="2" name="paragraph-0">
            <a:extLst xmlns:a="http://schemas.openxmlformats.org/drawingml/2006/main">
              <a:ext uri="{FF2B5EF4-FFF2-40B4-BE49-F238E27FC236}">
                <a16:creationId xmlns:a16="http://schemas.microsoft.com/office/drawing/2014/main" id="{A2F4E412-1BDB-43D2-B444-99875A1E3AAE}"/>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Why can aztreonam-avibactam work against NDM?</a:t>
            </a:r>
          </a:p>
        </p:txBody>
      </p:sp>
      <p:sp>
        <p:nvSpPr>
          <p:cNvPr id="3" name="footer">
            <a:extLst xmlns:a="http://schemas.openxmlformats.org/drawingml/2006/main">
              <a:ext uri="{FF2B5EF4-FFF2-40B4-BE49-F238E27FC236}">
                <a16:creationId xmlns:a16="http://schemas.microsoft.com/office/drawing/2014/main" id="{55DFB960-D6ED-4339-9FC3-B372EC6DC17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001B8DE-1895-46BF-80E7-583EA7F92F8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160</a:t>
            </a:r>
          </a:p>
        </p:txBody>
      </p:sp>
    </p:spTree>
    <p:extLst>
      <p:ext uri="{BB962C8B-B14F-4D97-AF65-F5344CB8AC3E}">
        <p14:creationId xmlns:p14="http://schemas.microsoft.com/office/powerpoint/2010/main" val="1478040470"/>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104A47-A910-4A86-AB02-7191D65C475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98DAAEFA-0969-4334-8F08-6543340F247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Aztreonam resists MBL hydrolysis; avibactam blocks accompanying serine beta-lactamases. Avibactam does not inhibit NDM.</a:t>
            </a:r>
          </a:p>
        </p:txBody>
      </p:sp>
      <p:sp>
        <p:nvSpPr>
          <p:cNvPr id="3" name="footer">
            <a:extLst xmlns:a="http://schemas.openxmlformats.org/drawingml/2006/main">
              <a:ext uri="{FF2B5EF4-FFF2-40B4-BE49-F238E27FC236}">
                <a16:creationId xmlns:a16="http://schemas.microsoft.com/office/drawing/2014/main" id="{E0784DC6-F29A-4E58-AEB0-55C96332321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F3A83E8-2A09-4361-9D8B-51DAE93ED89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161</a:t>
            </a:r>
          </a:p>
        </p:txBody>
      </p:sp>
    </p:spTree>
    <p:extLst>
      <p:ext uri="{BB962C8B-B14F-4D97-AF65-F5344CB8AC3E}">
        <p14:creationId xmlns:p14="http://schemas.microsoft.com/office/powerpoint/2010/main" val="1753938390"/>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37BC7C-450C-4B2E-8456-5FCC8A84467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these questions to check the reasoning</a:t>
            </a:r>
          </a:p>
        </p:txBody>
      </p:sp>
      <p:sp>
        <p:nvSpPr>
          <p:cNvPr id="2" name="paragraph-0">
            <a:extLst xmlns:a="http://schemas.openxmlformats.org/drawingml/2006/main">
              <a:ext uri="{FF2B5EF4-FFF2-40B4-BE49-F238E27FC236}">
                <a16:creationId xmlns:a16="http://schemas.microsoft.com/office/drawing/2014/main" id="{1411F04F-DFCE-4741-8AAC-573BF71AE1F0}"/>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5. Can you use the NDM Enterobacterales algorithm for MBL Pseudomonas?</a:t>
            </a:r>
          </a:p>
        </p:txBody>
      </p:sp>
      <p:sp>
        <p:nvSpPr>
          <p:cNvPr id="3" name="footer">
            <a:extLst xmlns:a="http://schemas.openxmlformats.org/drawingml/2006/main">
              <a:ext uri="{FF2B5EF4-FFF2-40B4-BE49-F238E27FC236}">
                <a16:creationId xmlns:a16="http://schemas.microsoft.com/office/drawing/2014/main" id="{B66D0CAE-ECAB-499C-9B93-A1CACB36871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1A3E9E7-F35F-4F83-AAA7-4819F37D5AE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162</a:t>
            </a:r>
          </a:p>
        </p:txBody>
      </p:sp>
    </p:spTree>
    <p:extLst>
      <p:ext uri="{BB962C8B-B14F-4D97-AF65-F5344CB8AC3E}">
        <p14:creationId xmlns:p14="http://schemas.microsoft.com/office/powerpoint/2010/main" val="1988396427"/>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1389653-501A-48B9-8CE5-67AD5B5DD63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C2A12F8A-4BB5-46B9-96EA-A00CAB25945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Cefiderocol is preferred when susceptible for MBL Pseudomonas; aztreonam-avibactam has limited activity.</a:t>
            </a:r>
          </a:p>
        </p:txBody>
      </p:sp>
      <p:sp>
        <p:nvSpPr>
          <p:cNvPr id="3" name="footer">
            <a:extLst xmlns:a="http://schemas.openxmlformats.org/drawingml/2006/main">
              <a:ext uri="{FF2B5EF4-FFF2-40B4-BE49-F238E27FC236}">
                <a16:creationId xmlns:a16="http://schemas.microsoft.com/office/drawing/2014/main" id="{3D572F88-7275-420F-9B0C-578A1A087C4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8B27E2E-8CCA-455E-A286-5E32F7E756C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163</a:t>
            </a:r>
          </a:p>
        </p:txBody>
      </p:sp>
    </p:spTree>
    <p:extLst>
      <p:ext uri="{BB962C8B-B14F-4D97-AF65-F5344CB8AC3E}">
        <p14:creationId xmlns:p14="http://schemas.microsoft.com/office/powerpoint/2010/main" val="65120059"/>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A4ED7E0-59E0-44D9-815C-009E5FCCBD3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these questions to check the reasoning</a:t>
            </a:r>
          </a:p>
        </p:txBody>
      </p:sp>
      <p:sp>
        <p:nvSpPr>
          <p:cNvPr id="2" name="paragraph-0">
            <a:extLst xmlns:a="http://schemas.openxmlformats.org/drawingml/2006/main">
              <a:ext uri="{FF2B5EF4-FFF2-40B4-BE49-F238E27FC236}">
                <a16:creationId xmlns:a16="http://schemas.microsoft.com/office/drawing/2014/main" id="{7EC9FAF9-1130-4A1B-98C8-B4E239275DB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6. Does every CRE infection require two independently active drugs?</a:t>
            </a:r>
          </a:p>
        </p:txBody>
      </p:sp>
      <p:sp>
        <p:nvSpPr>
          <p:cNvPr id="3" name="footer">
            <a:extLst xmlns:a="http://schemas.openxmlformats.org/drawingml/2006/main">
              <a:ext uri="{FF2B5EF4-FFF2-40B4-BE49-F238E27FC236}">
                <a16:creationId xmlns:a16="http://schemas.microsoft.com/office/drawing/2014/main" id="{2C5FBF5D-83CF-4C32-9354-67D00B24F70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E1F3514-FAA4-4859-BA2A-2FC754C1B8A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164</a:t>
            </a:r>
          </a:p>
        </p:txBody>
      </p:sp>
    </p:spTree>
    <p:extLst>
      <p:ext uri="{BB962C8B-B14F-4D97-AF65-F5344CB8AC3E}">
        <p14:creationId xmlns:p14="http://schemas.microsoft.com/office/powerpoint/2010/main" val="1178764901"/>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151DA7B-A193-41D9-96D2-B8206F7F622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2A963C76-22B2-4730-A725-56A44FBE3E1D}"/>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Routine combination therapy adds toxicity without established benefit once an active beta-lactam regimen is identified. Specific combinations such as sulbactam-durlobactam plus a carbapenem have separate rationale.</a:t>
            </a:r>
          </a:p>
        </p:txBody>
      </p:sp>
      <p:sp>
        <p:nvSpPr>
          <p:cNvPr id="3" name="footer">
            <a:extLst xmlns:a="http://schemas.openxmlformats.org/drawingml/2006/main">
              <a:ext uri="{FF2B5EF4-FFF2-40B4-BE49-F238E27FC236}">
                <a16:creationId xmlns:a16="http://schemas.microsoft.com/office/drawing/2014/main" id="{5B87F91A-68DF-4A0C-AC13-F5AF5B1F31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49B9AFD-9AF3-476C-AF07-D47883CB64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165</a:t>
            </a:r>
          </a:p>
        </p:txBody>
      </p:sp>
    </p:spTree>
    <p:extLst>
      <p:ext uri="{BB962C8B-B14F-4D97-AF65-F5344CB8AC3E}">
        <p14:creationId xmlns:p14="http://schemas.microsoft.com/office/powerpoint/2010/main" val="1361034792"/>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3298434-9D6C-40AC-AA44-7E5BE539963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these questions to check the reasoning</a:t>
            </a:r>
          </a:p>
        </p:txBody>
      </p:sp>
      <p:sp>
        <p:nvSpPr>
          <p:cNvPr id="2" name="paragraph-0">
            <a:extLst xmlns:a="http://schemas.openxmlformats.org/drawingml/2006/main">
              <a:ext uri="{FF2B5EF4-FFF2-40B4-BE49-F238E27FC236}">
                <a16:creationId xmlns:a16="http://schemas.microsoft.com/office/drawing/2014/main" id="{A5CF3084-F521-4916-9C79-3981DD8BD2E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7. Is TMP-SMX monotherapy the 2026 default for invasive Stenotrophomonas?</a:t>
            </a:r>
          </a:p>
        </p:txBody>
      </p:sp>
      <p:sp>
        <p:nvSpPr>
          <p:cNvPr id="3" name="footer">
            <a:extLst xmlns:a="http://schemas.openxmlformats.org/drawingml/2006/main">
              <a:ext uri="{FF2B5EF4-FFF2-40B4-BE49-F238E27FC236}">
                <a16:creationId xmlns:a16="http://schemas.microsoft.com/office/drawing/2014/main" id="{F4D50005-F8E8-4EAD-A487-32AD6270B70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2888C7F-5583-41DF-BA85-BA373C506B9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166</a:t>
            </a:r>
          </a:p>
        </p:txBody>
      </p:sp>
    </p:spTree>
    <p:extLst>
      <p:ext uri="{BB962C8B-B14F-4D97-AF65-F5344CB8AC3E}">
        <p14:creationId xmlns:p14="http://schemas.microsoft.com/office/powerpoint/2010/main" val="1504549533"/>
      </p:ext>
    </p:extLst>
  </p:cSld>
</p:sld>
</file>

<file path=ppt/slides/slide1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DCE0CE4-684B-4AA0-AF31-7CC85DC6118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0956DF72-E406-43F5-B791-751B7BE62BC6}"/>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Cefiderocol monotherapy is preferred in the current guidance, with explicitly limited human comparative evidence. TMP-SMX is an alternative component of combination therapy.</a:t>
            </a:r>
          </a:p>
        </p:txBody>
      </p:sp>
      <p:sp>
        <p:nvSpPr>
          <p:cNvPr id="3" name="footer">
            <a:extLst xmlns:a="http://schemas.openxmlformats.org/drawingml/2006/main">
              <a:ext uri="{FF2B5EF4-FFF2-40B4-BE49-F238E27FC236}">
                <a16:creationId xmlns:a16="http://schemas.microsoft.com/office/drawing/2014/main" id="{BB243C86-E30E-4E50-A3A6-D45379A287D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13043CA-52CB-4B6E-A184-2F4AB9A451E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167</a:t>
            </a:r>
          </a:p>
        </p:txBody>
      </p:sp>
    </p:spTree>
    <p:extLst>
      <p:ext uri="{BB962C8B-B14F-4D97-AF65-F5344CB8AC3E}">
        <p14:creationId xmlns:p14="http://schemas.microsoft.com/office/powerpoint/2010/main" val="1317222795"/>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A52B4B-8D72-4E70-A237-852ABBFF25A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these questions to check the reasoning</a:t>
            </a:r>
          </a:p>
        </p:txBody>
      </p:sp>
      <p:sp>
        <p:nvSpPr>
          <p:cNvPr id="2" name="paragraph-0">
            <a:extLst xmlns:a="http://schemas.openxmlformats.org/drawingml/2006/main">
              <a:ext uri="{FF2B5EF4-FFF2-40B4-BE49-F238E27FC236}">
                <a16:creationId xmlns:a16="http://schemas.microsoft.com/office/drawing/2014/main" id="{DF2699D5-3B4E-4F48-9D6D-1E810ACD14C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8. Can nitrofurantoin complete treatment of ESBL bacteremia from a urinary source?</a:t>
            </a:r>
          </a:p>
        </p:txBody>
      </p:sp>
      <p:sp>
        <p:nvSpPr>
          <p:cNvPr id="3" name="footer">
            <a:extLst xmlns:a="http://schemas.openxmlformats.org/drawingml/2006/main">
              <a:ext uri="{FF2B5EF4-FFF2-40B4-BE49-F238E27FC236}">
                <a16:creationId xmlns:a16="http://schemas.microsoft.com/office/drawing/2014/main" id="{84D6A9D8-26ED-4F47-AF4A-BC8008B090A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A100D85-75CA-4656-B980-ECE299ACFD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168</a:t>
            </a:r>
          </a:p>
        </p:txBody>
      </p:sp>
    </p:spTree>
    <p:extLst>
      <p:ext uri="{BB962C8B-B14F-4D97-AF65-F5344CB8AC3E}">
        <p14:creationId xmlns:p14="http://schemas.microsoft.com/office/powerpoint/2010/main" val="1684798181"/>
      </p:ext>
    </p:extLst>
  </p:cSld>
</p:sld>
</file>

<file path=ppt/slides/slide1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083FEF-F1AB-4CAE-9E0F-AA355FC9E58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57AE8ECF-16D4-4597-9EF6-7A742251152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Urinary activity does not provide adequate bloodstream exposure.</a:t>
            </a:r>
          </a:p>
        </p:txBody>
      </p:sp>
      <p:sp>
        <p:nvSpPr>
          <p:cNvPr id="3" name="footer">
            <a:extLst xmlns:a="http://schemas.openxmlformats.org/drawingml/2006/main">
              <a:ext uri="{FF2B5EF4-FFF2-40B4-BE49-F238E27FC236}">
                <a16:creationId xmlns:a16="http://schemas.microsoft.com/office/drawing/2014/main" id="{4ACC1704-50F1-442B-9C72-45C5D735992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6393B9E-BDFD-44E7-B3A6-28AC2547F11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169</a:t>
            </a:r>
          </a:p>
        </p:txBody>
      </p:sp>
    </p:spTree>
    <p:extLst>
      <p:ext uri="{BB962C8B-B14F-4D97-AF65-F5344CB8AC3E}">
        <p14:creationId xmlns:p14="http://schemas.microsoft.com/office/powerpoint/2010/main" val="1985971128"/>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00988F7-C399-448B-BD18-851FBD5FFC1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these questions to check the reasoning</a:t>
            </a:r>
          </a:p>
        </p:txBody>
      </p:sp>
      <p:sp>
        <p:nvSpPr>
          <p:cNvPr id="2" name="paragraph-0">
            <a:extLst xmlns:a="http://schemas.openxmlformats.org/drawingml/2006/main">
              <a:ext uri="{FF2B5EF4-FFF2-40B4-BE49-F238E27FC236}">
                <a16:creationId xmlns:a16="http://schemas.microsoft.com/office/drawing/2014/main" id="{09743D53-6E56-4D96-B451-1AC9D86BDFB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9. Does MRSA pneumonia respond to daptomycin?</a:t>
            </a:r>
          </a:p>
        </p:txBody>
      </p:sp>
      <p:sp>
        <p:nvSpPr>
          <p:cNvPr id="3" name="footer">
            <a:extLst xmlns:a="http://schemas.openxmlformats.org/drawingml/2006/main">
              <a:ext uri="{FF2B5EF4-FFF2-40B4-BE49-F238E27FC236}">
                <a16:creationId xmlns:a16="http://schemas.microsoft.com/office/drawing/2014/main" id="{FA14E3EE-CDFD-4111-B39E-DE86CAAA241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B986DDD-BF39-4735-9E4C-5494E9C3B3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170</a:t>
            </a:r>
          </a:p>
        </p:txBody>
      </p:sp>
    </p:spTree>
    <p:extLst>
      <p:ext uri="{BB962C8B-B14F-4D97-AF65-F5344CB8AC3E}">
        <p14:creationId xmlns:p14="http://schemas.microsoft.com/office/powerpoint/2010/main" val="1786401263"/>
      </p:ext>
    </p:extLst>
  </p:cSld>
</p:sld>
</file>

<file path=ppt/slides/slide1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5AEC54-B89F-4422-9CA6-B293D9F1BE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66F1A1F3-6A42-4A2C-AEE4-14DD92B8D5F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Daptomycin should not be used for alveolar pneumonia because pulmonary surfactant inactivates it.</a:t>
            </a:r>
          </a:p>
        </p:txBody>
      </p:sp>
      <p:sp>
        <p:nvSpPr>
          <p:cNvPr id="3" name="footer">
            <a:extLst xmlns:a="http://schemas.openxmlformats.org/drawingml/2006/main">
              <a:ext uri="{FF2B5EF4-FFF2-40B4-BE49-F238E27FC236}">
                <a16:creationId xmlns:a16="http://schemas.microsoft.com/office/drawing/2014/main" id="{59BD8758-8155-4D2C-B8B4-3E5A073404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52BFCE7-3821-4724-8805-9D3C2870DA4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171</a:t>
            </a:r>
          </a:p>
        </p:txBody>
      </p:sp>
    </p:spTree>
    <p:extLst>
      <p:ext uri="{BB962C8B-B14F-4D97-AF65-F5344CB8AC3E}">
        <p14:creationId xmlns:p14="http://schemas.microsoft.com/office/powerpoint/2010/main" val="414618120"/>
      </p:ext>
    </p:extLst>
  </p:cSld>
</p:sld>
</file>

<file path=ppt/slides/slide1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58D537B-14DC-4D54-BF1F-086C2A2AB29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these questions to check the reasoning</a:t>
            </a:r>
          </a:p>
        </p:txBody>
      </p:sp>
      <p:sp>
        <p:nvSpPr>
          <p:cNvPr id="2" name="paragraph-0">
            <a:extLst xmlns:a="http://schemas.openxmlformats.org/drawingml/2006/main">
              <a:ext uri="{FF2B5EF4-FFF2-40B4-BE49-F238E27FC236}">
                <a16:creationId xmlns:a16="http://schemas.microsoft.com/office/drawing/2014/main" id="{8A0A48E6-7AAA-4DAD-BFD6-B9535B716F9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10. What laboratory monitoring must accompany TMP-SMX?</a:t>
            </a:r>
          </a:p>
        </p:txBody>
      </p:sp>
      <p:sp>
        <p:nvSpPr>
          <p:cNvPr id="3" name="footer">
            <a:extLst xmlns:a="http://schemas.openxmlformats.org/drawingml/2006/main">
              <a:ext uri="{FF2B5EF4-FFF2-40B4-BE49-F238E27FC236}">
                <a16:creationId xmlns:a16="http://schemas.microsoft.com/office/drawing/2014/main" id="{65EC57CE-C710-48E3-8049-57BAC6B9E5C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8A4348F-2860-4551-999E-D388CE398CB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172</a:t>
            </a:r>
          </a:p>
        </p:txBody>
      </p:sp>
    </p:spTree>
    <p:extLst>
      <p:ext uri="{BB962C8B-B14F-4D97-AF65-F5344CB8AC3E}">
        <p14:creationId xmlns:p14="http://schemas.microsoft.com/office/powerpoint/2010/main" val="1406452033"/>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043DCB2-CBC0-4629-B3B8-186127638EA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6FEA26E9-414D-413A-9C43-2F5FF2D66ED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Potassium, renal function, and CBC, with timing based on baseline risk, dose, and treatment duration. Review interacting medications.</a:t>
            </a:r>
          </a:p>
        </p:txBody>
      </p:sp>
      <p:sp>
        <p:nvSpPr>
          <p:cNvPr id="3" name="footer">
            <a:extLst xmlns:a="http://schemas.openxmlformats.org/drawingml/2006/main">
              <a:ext uri="{FF2B5EF4-FFF2-40B4-BE49-F238E27FC236}">
                <a16:creationId xmlns:a16="http://schemas.microsoft.com/office/drawing/2014/main" id="{432AC272-31D2-4C13-9203-EC5372F430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6B3C5CE-0F5A-4D3F-A71A-AF9E10C0BF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173</a:t>
            </a:r>
          </a:p>
        </p:txBody>
      </p:sp>
    </p:spTree>
    <p:extLst>
      <p:ext uri="{BB962C8B-B14F-4D97-AF65-F5344CB8AC3E}">
        <p14:creationId xmlns:p14="http://schemas.microsoft.com/office/powerpoint/2010/main" val="981983459"/>
      </p:ext>
    </p:extLst>
  </p:cSld>
</p:sld>
</file>

<file path=ppt/slides/slide1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1962BC3-DF28-45CC-8291-AC98DF8708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Suggested documentation</a:t>
            </a:r>
          </a:p>
        </p:txBody>
      </p:sp>
      <p:sp>
        <p:nvSpPr>
          <p:cNvPr id="2" name="paragraph-0">
            <a:extLst xmlns:a="http://schemas.openxmlformats.org/drawingml/2006/main">
              <a:ext uri="{FF2B5EF4-FFF2-40B4-BE49-F238E27FC236}">
                <a16:creationId xmlns:a16="http://schemas.microsoft.com/office/drawing/2014/main" id="{E239436C-EFF4-4902-96E7-B7B1442BD2C2}"/>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[Syndrome and source], with [organism and relevant mechanism/MIC]. Evidence for infection is [clinical and microbiological findings]. Source control is [completed/pending]. Use [drug, dose, infusion, renal adjustment] because [mechanism and site]. Stop [unnecessary coverage]. Obtain [missing testing]. Monitor [specific toxicities]. Reassess [response and culture clearance] on [date]. Duration is tied to [syndrome, effective therapy, clearance/source control]. Oral transition requires [criteria]. Communicate [precautions and pending-result ownership].</a:t>
            </a:r>
          </a:p>
        </p:txBody>
      </p:sp>
      <p:sp>
        <p:nvSpPr>
          <p:cNvPr id="3" name="footer">
            <a:extLst xmlns:a="http://schemas.openxmlformats.org/drawingml/2006/main">
              <a:ext uri="{FF2B5EF4-FFF2-40B4-BE49-F238E27FC236}">
                <a16:creationId xmlns:a16="http://schemas.microsoft.com/office/drawing/2014/main" id="{F2FF4CD0-F9C9-46DA-8714-58F9F0CDB18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6BCEA5D-79E4-49C8-9F2F-17185876D49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174</a:t>
            </a:r>
          </a:p>
        </p:txBody>
      </p:sp>
    </p:spTree>
    <p:extLst>
      <p:ext uri="{BB962C8B-B14F-4D97-AF65-F5344CB8AC3E}">
        <p14:creationId xmlns:p14="http://schemas.microsoft.com/office/powerpoint/2010/main" val="1432831351"/>
      </p:ext>
    </p:extLst>
  </p:cSld>
</p:sld>
</file>

<file path=ppt/slides/slide1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FC7013-1D1D-4029-9BE0-32821788598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Suggested documentation</a:t>
            </a:r>
          </a:p>
        </p:txBody>
      </p:sp>
      <p:sp>
        <p:nvSpPr>
          <p:cNvPr id="2" name="paragraph-0">
            <a:extLst xmlns:a="http://schemas.openxmlformats.org/drawingml/2006/main">
              <a:ext uri="{FF2B5EF4-FFF2-40B4-BE49-F238E27FC236}">
                <a16:creationId xmlns:a16="http://schemas.microsoft.com/office/drawing/2014/main" id="{923675B6-F16A-430B-974D-2D9FCA66610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discharge, confirm drug access, infusion feasibility, laboratory follow-up, result ownership, and the responsible clinician. A theoretical active agent that is not available or not administered is not an effective treatment plan.</a:t>
            </a:r>
          </a:p>
        </p:txBody>
      </p:sp>
      <p:sp>
        <p:nvSpPr>
          <p:cNvPr id="3" name="footer">
            <a:extLst xmlns:a="http://schemas.openxmlformats.org/drawingml/2006/main">
              <a:ext uri="{FF2B5EF4-FFF2-40B4-BE49-F238E27FC236}">
                <a16:creationId xmlns:a16="http://schemas.microsoft.com/office/drawing/2014/main" id="{D5A085D4-2E49-477D-BCB6-BC1BF6091F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F28CCF4-939E-40D5-98BF-E8E6FB1A099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175</a:t>
            </a:r>
          </a:p>
        </p:txBody>
      </p:sp>
    </p:spTree>
    <p:extLst>
      <p:ext uri="{BB962C8B-B14F-4D97-AF65-F5344CB8AC3E}">
        <p14:creationId xmlns:p14="http://schemas.microsoft.com/office/powerpoint/2010/main" val="1753637645"/>
      </p:ext>
    </p:extLst>
  </p:cSld>
</p:sld>
</file>

<file path=ppt/slides/slide1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F7F1214-1680-49FC-9718-FBCE41505E2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C932DCFE-4CA9-4923-8E5B-02FB541E4BCB}"/>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Original sources accessed September 16, 2026; AMR guidance rechecked September 17 for this revision. Guidance and prescribing information were checked directly where accessible. Some original trial details were verified through indexed abstracts or regulatory records because full-text retrieval was restricted. This is a focused teaching module, not a systematic review. Confirm monitoring recommendations with current site guidance before prescribing.</a:t>
            </a:r>
          </a:p>
        </p:txBody>
      </p:sp>
      <p:sp>
        <p:nvSpPr>
          <p:cNvPr id="3" name="footer">
            <a:extLst xmlns:a="http://schemas.openxmlformats.org/drawingml/2006/main">
              <a:ext uri="{FF2B5EF4-FFF2-40B4-BE49-F238E27FC236}">
                <a16:creationId xmlns:a16="http://schemas.microsoft.com/office/drawing/2014/main" id="{14FF1D32-832B-466A-A5D3-5D03D8B9CBA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351E932-98D2-49DE-8F1E-50F22F431CA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176</a:t>
            </a:r>
          </a:p>
        </p:txBody>
      </p:sp>
    </p:spTree>
    <p:extLst>
      <p:ext uri="{BB962C8B-B14F-4D97-AF65-F5344CB8AC3E}">
        <p14:creationId xmlns:p14="http://schemas.microsoft.com/office/powerpoint/2010/main" val="1198535412"/>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6D5B949-5B22-4621-9083-29018B8077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0416F80A-12CE-432E-8CB1-8642E1BA349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IDSA 2026 Guidance on Antimicrobial Resistant Gram-Negative Infections</a:t>
            </a:r>
          </a:p>
        </p:txBody>
      </p:sp>
      <p:sp>
        <p:nvSpPr>
          <p:cNvPr id="3" name="footer">
            <a:extLst xmlns:a="http://schemas.openxmlformats.org/drawingml/2006/main">
              <a:ext uri="{FF2B5EF4-FFF2-40B4-BE49-F238E27FC236}">
                <a16:creationId xmlns:a16="http://schemas.microsoft.com/office/drawing/2014/main" id="{49486808-00A3-4AE8-8C87-1A06F975967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03DB678C-9A9E-4A8E-BFE7-B16DD4F92F0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177</a:t>
            </a:r>
          </a:p>
        </p:txBody>
      </p:sp>
    </p:spTree>
    <p:extLst>
      <p:ext uri="{BB962C8B-B14F-4D97-AF65-F5344CB8AC3E}">
        <p14:creationId xmlns:p14="http://schemas.microsoft.com/office/powerpoint/2010/main" val="646995730"/>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3D5FC46-15C2-43DD-92E3-7689131CD15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3942E5F7-8A11-4F14-8794-C591092295B0}"/>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Dosing reference IDSA 2026 AMR Table 1, adult dosing</a:t>
            </a:r>
          </a:p>
        </p:txBody>
      </p:sp>
      <p:sp>
        <p:nvSpPr>
          <p:cNvPr id="3" name="footer">
            <a:extLst xmlns:a="http://schemas.openxmlformats.org/drawingml/2006/main">
              <a:ext uri="{FF2B5EF4-FFF2-40B4-BE49-F238E27FC236}">
                <a16:creationId xmlns:a16="http://schemas.microsoft.com/office/drawing/2014/main" id="{AD24EEFC-F8DE-41F3-A634-1340E35175F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B6B2CFC-A109-4900-A0DD-B4F1CAA95A1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178</a:t>
            </a:r>
          </a:p>
        </p:txBody>
      </p:sp>
    </p:spTree>
    <p:extLst>
      <p:ext uri="{BB962C8B-B14F-4D97-AF65-F5344CB8AC3E}">
        <p14:creationId xmlns:p14="http://schemas.microsoft.com/office/powerpoint/2010/main" val="1712988687"/>
      </p:ext>
    </p:extLst>
  </p:cSld>
</p:sld>
</file>

<file path=ppt/slides/slide1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672EFAA-E616-48A3-8735-7C993C6BA5E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81BBD499-1CC1-4BF2-9B65-8CF4E2606BD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Laboratory reference IDSA 2026 AMR Table 2, selected CLSI/FDA breakpoints and limitations</a:t>
            </a:r>
          </a:p>
        </p:txBody>
      </p:sp>
      <p:sp>
        <p:nvSpPr>
          <p:cNvPr id="3" name="footer">
            <a:extLst xmlns:a="http://schemas.openxmlformats.org/drawingml/2006/main">
              <a:ext uri="{FF2B5EF4-FFF2-40B4-BE49-F238E27FC236}">
                <a16:creationId xmlns:a16="http://schemas.microsoft.com/office/drawing/2014/main" id="{0B3CE8B2-7C0D-48B5-9C0E-91C1C9925EE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6B207D2-1210-4123-A780-4A1C943E2C5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179</a:t>
            </a:r>
          </a:p>
        </p:txBody>
      </p:sp>
    </p:spTree>
    <p:extLst>
      <p:ext uri="{BB962C8B-B14F-4D97-AF65-F5344CB8AC3E}">
        <p14:creationId xmlns:p14="http://schemas.microsoft.com/office/powerpoint/2010/main" val="2072489845"/>
      </p:ext>
    </p:extLst>
  </p:cSld>
</p:sld>
</file>

<file path=ppt/slides/slide1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5CAC90-0DA3-425B-9FD0-6D3FC722DB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C2FAD244-CAFB-42AD-A0C4-1E142E212B6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Laboratory standard EUCAST definitions of S, I, and R</a:t>
            </a:r>
          </a:p>
        </p:txBody>
      </p:sp>
      <p:sp>
        <p:nvSpPr>
          <p:cNvPr id="3" name="footer">
            <a:extLst xmlns:a="http://schemas.openxmlformats.org/drawingml/2006/main">
              <a:ext uri="{FF2B5EF4-FFF2-40B4-BE49-F238E27FC236}">
                <a16:creationId xmlns:a16="http://schemas.microsoft.com/office/drawing/2014/main" id="{1CE570B2-5E30-454D-BDA9-3A86097F78D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69A4C8C-4691-4E62-8AF8-B950E9CDA6D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180</a:t>
            </a:r>
          </a:p>
        </p:txBody>
      </p:sp>
    </p:spTree>
    <p:extLst>
      <p:ext uri="{BB962C8B-B14F-4D97-AF65-F5344CB8AC3E}">
        <p14:creationId xmlns:p14="http://schemas.microsoft.com/office/powerpoint/2010/main" val="351449362"/>
      </p:ext>
    </p:extLst>
  </p:cSld>
</p:sld>
</file>

<file path=ppt/slides/slide1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A9B6A2-D934-4A2B-BA9F-27F193262E6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E3F3BB88-03DC-44BF-A81D-BBDB517E96C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guideline IDSA 2019 asymptomatic bacteriuria guideline</a:t>
            </a:r>
          </a:p>
        </p:txBody>
      </p:sp>
      <p:sp>
        <p:nvSpPr>
          <p:cNvPr id="3" name="footer">
            <a:extLst xmlns:a="http://schemas.openxmlformats.org/drawingml/2006/main">
              <a:ext uri="{FF2B5EF4-FFF2-40B4-BE49-F238E27FC236}">
                <a16:creationId xmlns:a16="http://schemas.microsoft.com/office/drawing/2014/main" id="{51DC24D9-04C8-49E3-81BF-C710A589E2C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05421A6-CB7B-4217-9191-1F85AC1568A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181</a:t>
            </a:r>
          </a:p>
        </p:txBody>
      </p:sp>
    </p:spTree>
    <p:extLst>
      <p:ext uri="{BB962C8B-B14F-4D97-AF65-F5344CB8AC3E}">
        <p14:creationId xmlns:p14="http://schemas.microsoft.com/office/powerpoint/2010/main" val="941296046"/>
      </p:ext>
    </p:extLst>
  </p:cSld>
</p:sld>
</file>

<file path=ppt/slides/slide1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195C83-297A-48A3-B3B7-95AD235955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278886D8-19F7-486D-8E68-017B652D65D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Infection prevention CDC CRE infection control</a:t>
            </a:r>
          </a:p>
        </p:txBody>
      </p:sp>
      <p:sp>
        <p:nvSpPr>
          <p:cNvPr id="3" name="footer">
            <a:extLst xmlns:a="http://schemas.openxmlformats.org/drawingml/2006/main">
              <a:ext uri="{FF2B5EF4-FFF2-40B4-BE49-F238E27FC236}">
                <a16:creationId xmlns:a16="http://schemas.microsoft.com/office/drawing/2014/main" id="{80D9AB35-5844-4B13-8689-5974315EED3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F132F9D-6F2A-45F0-B72F-BD496EFA03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182</a:t>
            </a:r>
          </a:p>
        </p:txBody>
      </p:sp>
    </p:spTree>
    <p:extLst>
      <p:ext uri="{BB962C8B-B14F-4D97-AF65-F5344CB8AC3E}">
        <p14:creationId xmlns:p14="http://schemas.microsoft.com/office/powerpoint/2010/main" val="1749896328"/>
      </p:ext>
    </p:extLst>
  </p:cSld>
</p:sld>
</file>

<file path=ppt/slides/slide1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0D0768F-FA82-4E25-8990-7F351789E0C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C6B83155-AA37-46AF-A9E4-57C863AB034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guideline IDSA MRSA guideline, 2011; interpret with subsequent drug approvals and 2026 SAB consensus</a:t>
            </a:r>
          </a:p>
        </p:txBody>
      </p:sp>
      <p:sp>
        <p:nvSpPr>
          <p:cNvPr id="3" name="footer">
            <a:extLst xmlns:a="http://schemas.openxmlformats.org/drawingml/2006/main">
              <a:ext uri="{FF2B5EF4-FFF2-40B4-BE49-F238E27FC236}">
                <a16:creationId xmlns:a16="http://schemas.microsoft.com/office/drawing/2014/main" id="{EFCA698C-1D60-4272-B6F0-8D536F3DAD2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734AAA0-9FFC-4A9E-BC08-A8D1CCB858C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183</a:t>
            </a:r>
          </a:p>
        </p:txBody>
      </p:sp>
    </p:spTree>
    <p:extLst>
      <p:ext uri="{BB962C8B-B14F-4D97-AF65-F5344CB8AC3E}">
        <p14:creationId xmlns:p14="http://schemas.microsoft.com/office/powerpoint/2010/main" val="1485087504"/>
      </p:ext>
    </p:extLst>
  </p:cSld>
</p:sld>
</file>

<file path=ppt/slides/slide1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F8D13C-AD03-4138-BF63-921F20B74AC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69DBF4C4-83DF-436E-A49F-94B7F18C98E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Consensus guidance IDSA/ESCMID 2026 S. aureus bacteremia consensus, updated September 9, 2026</a:t>
            </a:r>
          </a:p>
        </p:txBody>
      </p:sp>
      <p:sp>
        <p:nvSpPr>
          <p:cNvPr id="3" name="footer">
            <a:extLst xmlns:a="http://schemas.openxmlformats.org/drawingml/2006/main">
              <a:ext uri="{FF2B5EF4-FFF2-40B4-BE49-F238E27FC236}">
                <a16:creationId xmlns:a16="http://schemas.microsoft.com/office/drawing/2014/main" id="{5864A190-D55E-4270-82B0-D748AFBD173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BA7B6A3-FF35-4765-8AF0-C25C42C7F11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184</a:t>
            </a:r>
          </a:p>
        </p:txBody>
      </p:sp>
    </p:spTree>
    <p:extLst>
      <p:ext uri="{BB962C8B-B14F-4D97-AF65-F5344CB8AC3E}">
        <p14:creationId xmlns:p14="http://schemas.microsoft.com/office/powerpoint/2010/main" val="375362893"/>
      </p:ext>
    </p:extLst>
  </p:cSld>
</p:sld>
</file>

<file path=ppt/slides/slide1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D89A1E7-0F8D-4E7B-B09D-59FAA3732CC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D4020C28-E123-4483-9924-AEFA7A232AE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Consensus guideline ASHP/IDSA/PIDS/SIDP vancomycin monitoring guideline, 2020</a:t>
            </a:r>
          </a:p>
        </p:txBody>
      </p:sp>
      <p:sp>
        <p:nvSpPr>
          <p:cNvPr id="3" name="footer">
            <a:extLst xmlns:a="http://schemas.openxmlformats.org/drawingml/2006/main">
              <a:ext uri="{FF2B5EF4-FFF2-40B4-BE49-F238E27FC236}">
                <a16:creationId xmlns:a16="http://schemas.microsoft.com/office/drawing/2014/main" id="{CD55E48F-7B89-4A00-983B-6BEE234C80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69EF365-120F-49C4-95CE-E2F2A8314FA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185</a:t>
            </a:r>
          </a:p>
        </p:txBody>
      </p:sp>
    </p:spTree>
    <p:extLst>
      <p:ext uri="{BB962C8B-B14F-4D97-AF65-F5344CB8AC3E}">
        <p14:creationId xmlns:p14="http://schemas.microsoft.com/office/powerpoint/2010/main" val="1115800088"/>
      </p:ext>
    </p:extLst>
  </p:cSld>
</p:sld>
</file>

<file path=ppt/slides/slide1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D41B6E4-3C8E-4A85-AD27-484160A6884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D20D3B8F-2DA9-439A-8CE9-1E4E602411C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 prescribing information Aztreonam-avibactam (Emblaveo) prescribing information</a:t>
            </a:r>
          </a:p>
        </p:txBody>
      </p:sp>
      <p:sp>
        <p:nvSpPr>
          <p:cNvPr id="3" name="footer">
            <a:extLst xmlns:a="http://schemas.openxmlformats.org/drawingml/2006/main">
              <a:ext uri="{FF2B5EF4-FFF2-40B4-BE49-F238E27FC236}">
                <a16:creationId xmlns:a16="http://schemas.microsoft.com/office/drawing/2014/main" id="{4160F030-3517-4AC7-9DBB-70AA209E663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D6FAE96-6982-42B0-8E04-3555D424926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186</a:t>
            </a:r>
          </a:p>
        </p:txBody>
      </p:sp>
    </p:spTree>
    <p:extLst>
      <p:ext uri="{BB962C8B-B14F-4D97-AF65-F5344CB8AC3E}">
        <p14:creationId xmlns:p14="http://schemas.microsoft.com/office/powerpoint/2010/main" val="1698356834"/>
      </p:ext>
    </p:extLst>
  </p:cSld>
</p:sld>
</file>

<file path=ppt/slides/slide1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6CF1BFC-FB77-4743-85B2-E4E8DED974D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C816D028-865B-421D-A8FB-8B59D6B6156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FDA approval record FDA approval of ceftobiprole for serious infections, April 2024</a:t>
            </a:r>
          </a:p>
        </p:txBody>
      </p:sp>
      <p:sp>
        <p:nvSpPr>
          <p:cNvPr id="3" name="footer">
            <a:extLst xmlns:a="http://schemas.openxmlformats.org/drawingml/2006/main">
              <a:ext uri="{FF2B5EF4-FFF2-40B4-BE49-F238E27FC236}">
                <a16:creationId xmlns:a16="http://schemas.microsoft.com/office/drawing/2014/main" id="{0F2C476C-7399-4D31-968F-41C41F6B484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0B12E19-8059-4E1A-B5CB-ECF3757F589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187</a:t>
            </a:r>
          </a:p>
        </p:txBody>
      </p:sp>
    </p:spTree>
    <p:extLst>
      <p:ext uri="{BB962C8B-B14F-4D97-AF65-F5344CB8AC3E}">
        <p14:creationId xmlns:p14="http://schemas.microsoft.com/office/powerpoint/2010/main" val="1511713786"/>
      </p:ext>
    </p:extLst>
  </p:cSld>
</p:sld>
</file>

<file path=ppt/slides/slide1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8DDF594-8EC8-4D43-BE5A-1BDFF825DD3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5BD4C326-7C33-44BF-8792-B07FB38E329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 prescribing information Linezolid (Zyvox) prescribing information</a:t>
            </a:r>
          </a:p>
        </p:txBody>
      </p:sp>
      <p:sp>
        <p:nvSpPr>
          <p:cNvPr id="3" name="footer">
            <a:extLst xmlns:a="http://schemas.openxmlformats.org/drawingml/2006/main">
              <a:ext uri="{FF2B5EF4-FFF2-40B4-BE49-F238E27FC236}">
                <a16:creationId xmlns:a16="http://schemas.microsoft.com/office/drawing/2014/main" id="{30B52280-6D0F-493E-B099-607F7299FAE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A452EAF-FEBB-4652-8C68-1E2BF1BD93B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188</a:t>
            </a:r>
          </a:p>
        </p:txBody>
      </p:sp>
    </p:spTree>
    <p:extLst>
      <p:ext uri="{BB962C8B-B14F-4D97-AF65-F5344CB8AC3E}">
        <p14:creationId xmlns:p14="http://schemas.microsoft.com/office/powerpoint/2010/main" val="1243854825"/>
      </p:ext>
    </p:extLst>
  </p:cSld>
</p:sld>
</file>

<file path=ppt/slides/slide1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5AE3B13-151F-4DC5-A3CD-BB6097E762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3B94B0CF-BBB7-464B-8D59-7AA7FBD0D32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Breakpoint interpretation FDA recognition rationale explaining CLSI daptomycin SDD criteria and dosing</a:t>
            </a:r>
          </a:p>
        </p:txBody>
      </p:sp>
      <p:sp>
        <p:nvSpPr>
          <p:cNvPr id="3" name="footer">
            <a:extLst xmlns:a="http://schemas.openxmlformats.org/drawingml/2006/main">
              <a:ext uri="{FF2B5EF4-FFF2-40B4-BE49-F238E27FC236}">
                <a16:creationId xmlns:a16="http://schemas.microsoft.com/office/drawing/2014/main" id="{F8CBBBD1-7F73-472A-920E-BB549283042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6A5F548-A765-4CEF-8EEC-21AF4175165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189</a:t>
            </a:r>
          </a:p>
        </p:txBody>
      </p:sp>
    </p:spTree>
    <p:extLst>
      <p:ext uri="{BB962C8B-B14F-4D97-AF65-F5344CB8AC3E}">
        <p14:creationId xmlns:p14="http://schemas.microsoft.com/office/powerpoint/2010/main" val="1436302474"/>
      </p:ext>
    </p:extLst>
  </p:cSld>
</p:sld>
</file>

<file path=ppt/slides/slide1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B08BB0E-E699-47AD-855E-05DCEA01D6B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D344D1C9-FE22-4B77-A947-342A6D545A8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 prescribing information Daptomycin (Cubicin RF) prescribing information</a:t>
            </a:r>
          </a:p>
        </p:txBody>
      </p:sp>
      <p:sp>
        <p:nvSpPr>
          <p:cNvPr id="3" name="footer">
            <a:extLst xmlns:a="http://schemas.openxmlformats.org/drawingml/2006/main">
              <a:ext uri="{FF2B5EF4-FFF2-40B4-BE49-F238E27FC236}">
                <a16:creationId xmlns:a16="http://schemas.microsoft.com/office/drawing/2014/main" id="{ED2EF4C3-005A-407A-8D87-B6D8D395C1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0F6D10E-DB4E-4206-A0C6-49B43F3D2F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190</a:t>
            </a:r>
          </a:p>
        </p:txBody>
      </p:sp>
    </p:spTree>
    <p:extLst>
      <p:ext uri="{BB962C8B-B14F-4D97-AF65-F5344CB8AC3E}">
        <p14:creationId xmlns:p14="http://schemas.microsoft.com/office/powerpoint/2010/main" val="1341136031"/>
      </p:ext>
    </p:extLst>
  </p:cSld>
</p:sld>
</file>

<file path=ppt/slides/slide1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78D478-FBB0-4092-A308-F38B105919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700F52E7-51A2-475C-8922-84C8629F2C7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Randomized trial Harris et al. MERINO. JAMA 2018. doi 10.1001/jama.2018.12163</a:t>
            </a:r>
          </a:p>
        </p:txBody>
      </p:sp>
      <p:sp>
        <p:nvSpPr>
          <p:cNvPr id="3" name="footer">
            <a:extLst xmlns:a="http://schemas.openxmlformats.org/drawingml/2006/main">
              <a:ext uri="{FF2B5EF4-FFF2-40B4-BE49-F238E27FC236}">
                <a16:creationId xmlns:a16="http://schemas.microsoft.com/office/drawing/2014/main" id="{73AAE487-96E4-43BC-AA0B-E2934773088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0FFC9B42-A949-42C6-B378-C839845AAD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191</a:t>
            </a:r>
          </a:p>
        </p:txBody>
      </p:sp>
    </p:spTree>
    <p:extLst>
      <p:ext uri="{BB962C8B-B14F-4D97-AF65-F5344CB8AC3E}">
        <p14:creationId xmlns:p14="http://schemas.microsoft.com/office/powerpoint/2010/main" val="1597767049"/>
      </p:ext>
    </p:extLst>
  </p:cSld>
</p:sld>
</file>

<file path=ppt/slides/slide1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A81F94D-A1EA-4D33-8949-AA7F0FB974C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D9E5F25F-37D7-4680-8273-048560E8C88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Randomized trial Kaye et al. Cefepime-enmetazobactam versus piperacillin-tazobactam for cUTI. JAMA 2022</a:t>
            </a:r>
          </a:p>
        </p:txBody>
      </p:sp>
      <p:sp>
        <p:nvSpPr>
          <p:cNvPr id="3" name="footer">
            <a:extLst xmlns:a="http://schemas.openxmlformats.org/drawingml/2006/main">
              <a:ext uri="{FF2B5EF4-FFF2-40B4-BE49-F238E27FC236}">
                <a16:creationId xmlns:a16="http://schemas.microsoft.com/office/drawing/2014/main" id="{2C5F7B21-1E0F-41BA-B300-15971D72476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EE73144-41A4-4BE5-9DD5-7FB8EE5C255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192</a:t>
            </a:r>
          </a:p>
        </p:txBody>
      </p:sp>
    </p:spTree>
    <p:extLst>
      <p:ext uri="{BB962C8B-B14F-4D97-AF65-F5344CB8AC3E}">
        <p14:creationId xmlns:p14="http://schemas.microsoft.com/office/powerpoint/2010/main" val="1955333392"/>
      </p:ext>
    </p:extLst>
  </p:cSld>
</p:sld>
</file>

<file path=ppt/slides/slide1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B0D1673-0091-4A29-B092-6D69987D5F0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C2772DA3-DC51-4A47-B703-FE82A3147F2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Randomized trial Kaye et al. ATTACK. Lancet Infect Dis 2023. doi 10.1016/S1473-3099(23)00184-6</a:t>
            </a:r>
          </a:p>
        </p:txBody>
      </p:sp>
      <p:sp>
        <p:nvSpPr>
          <p:cNvPr id="3" name="footer">
            <a:extLst xmlns:a="http://schemas.openxmlformats.org/drawingml/2006/main">
              <a:ext uri="{FF2B5EF4-FFF2-40B4-BE49-F238E27FC236}">
                <a16:creationId xmlns:a16="http://schemas.microsoft.com/office/drawing/2014/main" id="{E5300740-BF67-43FE-BD1F-3EE0E4D7E36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E0BAD0A-A6EB-4ECA-8581-4538065C38B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193</a:t>
            </a:r>
          </a:p>
        </p:txBody>
      </p:sp>
    </p:spTree>
    <p:extLst>
      <p:ext uri="{BB962C8B-B14F-4D97-AF65-F5344CB8AC3E}">
        <p14:creationId xmlns:p14="http://schemas.microsoft.com/office/powerpoint/2010/main" val="881806586"/>
      </p:ext>
    </p:extLst>
  </p:cSld>
</p:sld>
</file>

<file path=ppt/slides/slide1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9DAB77-270A-4E4D-BAEC-A87E7FAA4EB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distinguish clinical evidence, guidance, and product labeling</a:t>
            </a:r>
          </a:p>
        </p:txBody>
      </p:sp>
      <p:sp>
        <p:nvSpPr>
          <p:cNvPr id="2" name="paragraph-0">
            <a:extLst xmlns:a="http://schemas.openxmlformats.org/drawingml/2006/main">
              <a:ext uri="{FF2B5EF4-FFF2-40B4-BE49-F238E27FC236}">
                <a16:creationId xmlns:a16="http://schemas.microsoft.com/office/drawing/2014/main" id="{A7649717-2F75-42B6-900B-2A6E798799D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Observational cohort Britt et al. Daptomycin dose and VRE bacteremia outcomes. Clin Infect Dis 2017;64:605-613</a:t>
            </a:r>
          </a:p>
        </p:txBody>
      </p:sp>
      <p:sp>
        <p:nvSpPr>
          <p:cNvPr id="3" name="footer">
            <a:extLst xmlns:a="http://schemas.openxmlformats.org/drawingml/2006/main">
              <a:ext uri="{FF2B5EF4-FFF2-40B4-BE49-F238E27FC236}">
                <a16:creationId xmlns:a16="http://schemas.microsoft.com/office/drawing/2014/main" id="{BA70BF2C-CE70-45BF-833B-50A367A52CE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921C9CE-E727-40C3-BF2B-BF89DE0534A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194</a:t>
            </a:r>
          </a:p>
        </p:txBody>
      </p:sp>
    </p:spTree>
    <p:extLst>
      <p:ext uri="{BB962C8B-B14F-4D97-AF65-F5344CB8AC3E}">
        <p14:creationId xmlns:p14="http://schemas.microsoft.com/office/powerpoint/2010/main" val="52236422"/>
      </p:ext>
    </p:extLst>
  </p:cSld>
</p:sld>
</file>

<file path=ppt/slides/slide1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087C6B6-25C0-4FF1-AACD-A8F25CC71D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Antibiotic resistance · One-page rounds sheet</a:t>
            </a:r>
          </a:p>
        </p:txBody>
      </p:sp>
      <p:sp>
        <p:nvSpPr>
          <p:cNvPr id="2" name="paragraph-0">
            <a:extLst xmlns:a="http://schemas.openxmlformats.org/drawingml/2006/main">
              <a:ext uri="{FF2B5EF4-FFF2-40B4-BE49-F238E27FC236}">
                <a16:creationId xmlns:a16="http://schemas.microsoft.com/office/drawing/2014/main" id="{78E9E506-8D22-4D13-A4D4-B607FB6E84F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September 21, 2026 · Teaching companion; faculty/local review pending. See the full module for dosing, evidence, exceptions, and sources.</a:t>
            </a:r>
          </a:p>
        </p:txBody>
      </p:sp>
      <p:sp>
        <p:nvSpPr>
          <p:cNvPr id="3" name="paragraph-1">
            <a:extLst xmlns:a="http://schemas.openxmlformats.org/drawingml/2006/main">
              <a:ext uri="{FF2B5EF4-FFF2-40B4-BE49-F238E27FC236}">
                <a16:creationId xmlns:a16="http://schemas.microsoft.com/office/drawing/2014/main" id="{5B1BF8C5-2B02-40CA-9198-94CAD73778E6}"/>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Name the syndrome, assess severity, review prior isolates, obtain appropriate cultures, and control the source. A resistant colonizer does not need antibiotics.</a:t>
            </a:r>
          </a:p>
        </p:txBody>
      </p:sp>
      <p:sp>
        <p:nvSpPr>
          <p:cNvPr id="4" name="paragraph-2">
            <a:extLst xmlns:a="http://schemas.openxmlformats.org/drawingml/2006/main">
              <a:ext uri="{FF2B5EF4-FFF2-40B4-BE49-F238E27FC236}">
                <a16:creationId xmlns:a16="http://schemas.microsoft.com/office/drawing/2014/main" id="{95BDE611-8433-4C88-9F46-D1DC575F5640}"/>
              </a:ext>
            </a:extLst>
          </p:cNvPr>
          <p:cNvSpPr>
            <a:spLocks xmlns:a="http://schemas.openxmlformats.org/drawingml/2006/main" noGrp="1"/>
          </p:cNvSpPr>
          <p:nvPr/>
        </p:nvSpPr>
        <p:spPr>
          <a:xfrm xmlns:a="http://schemas.openxmlformats.org/drawingml/2006/main">
            <a:off x="647700" y="42291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Invasive ESBL: carbapenem preferred. Invasive moderate-risk AmpC: active, optimized cefepime or a carbapenem when indicated. Do not transfer the cefepime rule from AmpC to ESBL.</a:t>
            </a:r>
          </a:p>
        </p:txBody>
      </p:sp>
      <p:sp>
        <p:nvSpPr>
          <p:cNvPr id="5" name="footer">
            <a:extLst xmlns:a="http://schemas.openxmlformats.org/drawingml/2006/main">
              <a:ext uri="{FF2B5EF4-FFF2-40B4-BE49-F238E27FC236}">
                <a16:creationId xmlns:a16="http://schemas.microsoft.com/office/drawing/2014/main" id="{10A5CACC-91B7-4816-8435-7303C10D403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15289A2C-897B-4A57-ABFA-036B667AE5C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195</a:t>
            </a:r>
          </a:p>
        </p:txBody>
      </p:sp>
    </p:spTree>
    <p:extLst>
      <p:ext uri="{BB962C8B-B14F-4D97-AF65-F5344CB8AC3E}">
        <p14:creationId xmlns:p14="http://schemas.microsoft.com/office/powerpoint/2010/main" val="478835541"/>
      </p:ext>
    </p:extLst>
  </p:cSld>
</p:sld>
</file>

<file path=ppt/slides/slide1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36053D9-C168-44B9-8044-9DCA941A686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Antibiotic resistance · One-page rounds sheet</a:t>
            </a:r>
          </a:p>
        </p:txBody>
      </p:sp>
      <p:sp>
        <p:nvSpPr>
          <p:cNvPr id="2" name="paragraph-0">
            <a:extLst xmlns:a="http://schemas.openxmlformats.org/drawingml/2006/main">
              <a:ext uri="{FF2B5EF4-FFF2-40B4-BE49-F238E27FC236}">
                <a16:creationId xmlns:a16="http://schemas.microsoft.com/office/drawing/2014/main" id="{E3D68AF0-436D-473E-873C-C1D90EC606C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KPC: meropenem-vaborbactam, ceftazidime-avibactam, or imipenem-relebactam. NDM: aztreonam-avibactam or cefiderocol. OXA-48-like: ceftazidime-avibactam. Confirm AST.</a:t>
            </a:r>
          </a:p>
        </p:txBody>
      </p:sp>
      <p:sp>
        <p:nvSpPr>
          <p:cNvPr id="3" name="paragraph-1">
            <a:extLst xmlns:a="http://schemas.openxmlformats.org/drawingml/2006/main">
              <a:ext uri="{FF2B5EF4-FFF2-40B4-BE49-F238E27FC236}">
                <a16:creationId xmlns:a16="http://schemas.microsoft.com/office/drawing/2014/main" id="{38F55C58-BB36-4E31-AD30-D558EA0964CC}"/>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an optimized traditional beta-lactam when appropriate and susceptible. DTR: test the four newer agents. For MBL producers, cefiderocol is preferred if active.</a:t>
            </a:r>
          </a:p>
        </p:txBody>
      </p:sp>
      <p:sp>
        <p:nvSpPr>
          <p:cNvPr id="4" name="paragraph-2">
            <a:extLst xmlns:a="http://schemas.openxmlformats.org/drawingml/2006/main">
              <a:ext uri="{FF2B5EF4-FFF2-40B4-BE49-F238E27FC236}">
                <a16:creationId xmlns:a16="http://schemas.microsoft.com/office/drawing/2014/main" id="{2BB64699-360A-4DAE-9007-A0D027DE1E3D}"/>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CRAB: sulbactam-durlobactam plus a carbapenem. Invasive Stenotrophomonas: 2026 guidance favors cefiderocol alone, with limited human comparative evidence.</a:t>
            </a:r>
          </a:p>
        </p:txBody>
      </p:sp>
      <p:sp>
        <p:nvSpPr>
          <p:cNvPr id="5" name="footer">
            <a:extLst xmlns:a="http://schemas.openxmlformats.org/drawingml/2006/main">
              <a:ext uri="{FF2B5EF4-FFF2-40B4-BE49-F238E27FC236}">
                <a16:creationId xmlns:a16="http://schemas.microsoft.com/office/drawing/2014/main" id="{6CE5589E-0AD4-449F-A074-0F866A1CB7F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9A2ACEC5-AF46-48B1-8B76-4B45A5EA1B2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196</a:t>
            </a:r>
          </a:p>
        </p:txBody>
      </p:sp>
    </p:spTree>
    <p:extLst>
      <p:ext uri="{BB962C8B-B14F-4D97-AF65-F5344CB8AC3E}">
        <p14:creationId xmlns:p14="http://schemas.microsoft.com/office/powerpoint/2010/main" val="1989200081"/>
      </p:ext>
    </p:extLst>
  </p:cSld>
</p:sld>
</file>

<file path=ppt/slides/slide1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71A3884-EF6B-4DFB-992B-7A70DD9AE35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Antibiotic resistance · One-page rounds sheet</a:t>
            </a:r>
          </a:p>
        </p:txBody>
      </p:sp>
      <p:sp>
        <p:nvSpPr>
          <p:cNvPr id="2" name="paragraph-0">
            <a:extLst xmlns:a="http://schemas.openxmlformats.org/drawingml/2006/main">
              <a:ext uri="{FF2B5EF4-FFF2-40B4-BE49-F238E27FC236}">
                <a16:creationId xmlns:a16="http://schemas.microsoft.com/office/drawing/2014/main" id="{E2E454D2-2AE5-4F67-99D9-0D496B3F03F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MRSA bacteremia: established options include vancomycin or daptomycin; evaluate source and clearance. MRSA pneumonia: no daptomycin. VRE bacteremia: linezolid or optimized high-dose daptomycin based on MIC and patient factors.</a:t>
            </a:r>
          </a:p>
        </p:txBody>
      </p:sp>
      <p:sp>
        <p:nvSpPr>
          <p:cNvPr id="3" name="paragraph-1">
            <a:extLst xmlns:a="http://schemas.openxmlformats.org/drawingml/2006/main">
              <a:ext uri="{FF2B5EF4-FFF2-40B4-BE49-F238E27FC236}">
                <a16:creationId xmlns:a16="http://schemas.microsoft.com/office/drawing/2014/main" id="{F240ECA2-CFD5-40CB-A5D6-30346B9C38CA}"/>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MICs are not cross-drug rankings. Match SDD to dose. Adjust for changing renal function. TMP-SMX: K+, creatinine, CBC. Linezolid: CBC. Daptomycin: CK. Cefepime: renal function and mental status.</a:t>
            </a:r>
          </a:p>
        </p:txBody>
      </p:sp>
      <p:sp>
        <p:nvSpPr>
          <p:cNvPr id="4" name="footer">
            <a:extLst xmlns:a="http://schemas.openxmlformats.org/drawingml/2006/main">
              <a:ext uri="{FF2B5EF4-FFF2-40B4-BE49-F238E27FC236}">
                <a16:creationId xmlns:a16="http://schemas.microsoft.com/office/drawing/2014/main" id="{4FDCF58E-CE19-482E-9EEB-CE0A4ABAC17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A910F607-EA1C-4789-9949-EBBBEBE5B16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197</a:t>
            </a:r>
          </a:p>
        </p:txBody>
      </p:sp>
    </p:spTree>
    <p:extLst>
      <p:ext uri="{BB962C8B-B14F-4D97-AF65-F5344CB8AC3E}">
        <p14:creationId xmlns:p14="http://schemas.microsoft.com/office/powerpoint/2010/main" val="553214613"/>
      </p:ext>
    </p:extLst>
  </p:cSld>
</p:sld>
</file>

<file path=ppt/slides/slide1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EBE606-10B2-4F4E-AE3A-70C87B2BD70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Antibiotic resistance · One-page rounds sheet</a:t>
            </a:r>
          </a:p>
        </p:txBody>
      </p:sp>
      <p:sp>
        <p:nvSpPr>
          <p:cNvPr id="2" name="paragraph-0">
            <a:extLst xmlns:a="http://schemas.openxmlformats.org/drawingml/2006/main">
              <a:ext uri="{FF2B5EF4-FFF2-40B4-BE49-F238E27FC236}">
                <a16:creationId xmlns:a16="http://schemas.microsoft.com/office/drawing/2014/main" id="{457FF4DB-0415-4307-9787-6D76FF6291BD}"/>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Repeat AST for recurrence or persistence. Recheck source control and delivered exposure. Resistance alone does not extend duration. Oral transition requires active drug, site exposure, stability, and absorption.</a:t>
            </a:r>
          </a:p>
        </p:txBody>
      </p:sp>
      <p:sp>
        <p:nvSpPr>
          <p:cNvPr id="3" name="footer">
            <a:extLst xmlns:a="http://schemas.openxmlformats.org/drawingml/2006/main">
              <a:ext uri="{FF2B5EF4-FFF2-40B4-BE49-F238E27FC236}">
                <a16:creationId xmlns:a16="http://schemas.microsoft.com/office/drawing/2014/main" id="{2C50D7AD-6F1B-4727-9849-F4E50A100B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A69CF39-505E-4F9A-A3FF-51D76434471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198</a:t>
            </a:r>
          </a:p>
        </p:txBody>
      </p:sp>
    </p:spTree>
    <p:extLst>
      <p:ext uri="{BB962C8B-B14F-4D97-AF65-F5344CB8AC3E}">
        <p14:creationId xmlns:p14="http://schemas.microsoft.com/office/powerpoint/2010/main" val="11349675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2026-10-28T18:28:00.0500000Z</dcterms:created>
  <dcterms:modified xsi:type="dcterms:W3CDTF">2026-10-28T18:28:00.0510000Z</dcterms:modified>
</coreProperties>
</file>