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27da4683184af2" /><Relationship Type="http://schemas.openxmlformats.org/officeDocument/2006/relationships/extended-properties" Target="/docProps/app.xml" Id="R5933e4294d234a53" /><Relationship Type="http://schemas.openxmlformats.org/officeDocument/2006/relationships/officeDocument" Target="/ppt/presentation.xml" Id="Rc5cfc587fb3344e8" /></Relationships>
</file>

<file path=ppt/presentation.xml><?xml version="1.0" encoding="utf-8"?>
<p:presentation xmlns:p="http://schemas.openxmlformats.org/presentationml/2006/main">
  <p:sldMasterIdLst>
    <p:sldMasterId xmlns:r="http://schemas.openxmlformats.org/officeDocument/2006/relationships" id="2147483648" r:id="R533de7571145451b"/>
  </p:sldMasterIdLst>
  <p:notesMasterIdLst>
    <p:notesMasterId xmlns:r="http://schemas.openxmlformats.org/officeDocument/2006/relationships" r:id="Ra74d3059c2364d91"/>
  </p:notesMasterIdLst>
  <p:sldIdLst>
    <p:sldId xmlns:r="http://schemas.openxmlformats.org/officeDocument/2006/relationships" id="256" r:id="R397346aa273c4006"/>
    <p:sldId xmlns:r="http://schemas.openxmlformats.org/officeDocument/2006/relationships" id="257" r:id="R256b2e71b1884ebe"/>
    <p:sldId xmlns:r="http://schemas.openxmlformats.org/officeDocument/2006/relationships" id="258" r:id="Rb3d3a018c7af4195"/>
    <p:sldId xmlns:r="http://schemas.openxmlformats.org/officeDocument/2006/relationships" id="259" r:id="R6381e002af0c4749"/>
    <p:sldId xmlns:r="http://schemas.openxmlformats.org/officeDocument/2006/relationships" id="260" r:id="Rb623fc50bd734a6c"/>
    <p:sldId xmlns:r="http://schemas.openxmlformats.org/officeDocument/2006/relationships" id="261" r:id="Rfdee8ab3ebac430c"/>
    <p:sldId xmlns:r="http://schemas.openxmlformats.org/officeDocument/2006/relationships" id="262" r:id="R7088ad33f04c4246"/>
    <p:sldId xmlns:r="http://schemas.openxmlformats.org/officeDocument/2006/relationships" id="263" r:id="Rece26961fd3c4e19"/>
    <p:sldId xmlns:r="http://schemas.openxmlformats.org/officeDocument/2006/relationships" id="264" r:id="Ra1bc8143d6414eab"/>
    <p:sldId xmlns:r="http://schemas.openxmlformats.org/officeDocument/2006/relationships" id="265" r:id="Raaa812028a3f482c"/>
    <p:sldId xmlns:r="http://schemas.openxmlformats.org/officeDocument/2006/relationships" id="266" r:id="R0051918947e54cff"/>
    <p:sldId xmlns:r="http://schemas.openxmlformats.org/officeDocument/2006/relationships" id="267" r:id="Ra0e5e8075e0a458e"/>
    <p:sldId xmlns:r="http://schemas.openxmlformats.org/officeDocument/2006/relationships" id="268" r:id="Rc3d5e4ad3dd041bc"/>
    <p:sldId xmlns:r="http://schemas.openxmlformats.org/officeDocument/2006/relationships" id="269" r:id="R7b23f51d80784fe2"/>
    <p:sldId xmlns:r="http://schemas.openxmlformats.org/officeDocument/2006/relationships" id="270" r:id="Ref1c89edac9d46ed"/>
    <p:sldId xmlns:r="http://schemas.openxmlformats.org/officeDocument/2006/relationships" id="271" r:id="R5ec9d41436924396"/>
    <p:sldId xmlns:r="http://schemas.openxmlformats.org/officeDocument/2006/relationships" id="272" r:id="R5bd4c91f6fd442ab"/>
    <p:sldId xmlns:r="http://schemas.openxmlformats.org/officeDocument/2006/relationships" id="273" r:id="R55b394999dea4af6"/>
    <p:sldId xmlns:r="http://schemas.openxmlformats.org/officeDocument/2006/relationships" id="274" r:id="R9f3659561c564dba"/>
    <p:sldId xmlns:r="http://schemas.openxmlformats.org/officeDocument/2006/relationships" id="275" r:id="R53e7850783954a0b"/>
    <p:sldId xmlns:r="http://schemas.openxmlformats.org/officeDocument/2006/relationships" id="276" r:id="Rf49ae30b91b94950"/>
    <p:sldId xmlns:r="http://schemas.openxmlformats.org/officeDocument/2006/relationships" id="277" r:id="R168627ec047147a2"/>
    <p:sldId xmlns:r="http://schemas.openxmlformats.org/officeDocument/2006/relationships" id="278" r:id="Rdb5ca4ae4a174451"/>
    <p:sldId xmlns:r="http://schemas.openxmlformats.org/officeDocument/2006/relationships" id="279" r:id="R82aadf9941e64689"/>
    <p:sldId xmlns:r="http://schemas.openxmlformats.org/officeDocument/2006/relationships" id="280" r:id="Rffd66659e7444993"/>
    <p:sldId xmlns:r="http://schemas.openxmlformats.org/officeDocument/2006/relationships" id="281" r:id="R427611aa955e4c0a"/>
    <p:sldId xmlns:r="http://schemas.openxmlformats.org/officeDocument/2006/relationships" id="282" r:id="Rf43b539289324d09"/>
    <p:sldId xmlns:r="http://schemas.openxmlformats.org/officeDocument/2006/relationships" id="283" r:id="R854eb7962f964606"/>
    <p:sldId xmlns:r="http://schemas.openxmlformats.org/officeDocument/2006/relationships" id="284" r:id="Rfbc0bf2163dd4bf3"/>
    <p:sldId xmlns:r="http://schemas.openxmlformats.org/officeDocument/2006/relationships" id="285" r:id="Rf9df3e67420e4a1f"/>
    <p:sldId xmlns:r="http://schemas.openxmlformats.org/officeDocument/2006/relationships" id="286" r:id="Rf3fd6dc946d54dcf"/>
    <p:sldId xmlns:r="http://schemas.openxmlformats.org/officeDocument/2006/relationships" id="287" r:id="R608f272041ec4e31"/>
    <p:sldId xmlns:r="http://schemas.openxmlformats.org/officeDocument/2006/relationships" id="288" r:id="R7dde6e316ba9420d"/>
    <p:sldId xmlns:r="http://schemas.openxmlformats.org/officeDocument/2006/relationships" id="289" r:id="R2c54e62600374638"/>
    <p:sldId xmlns:r="http://schemas.openxmlformats.org/officeDocument/2006/relationships" id="290" r:id="R0e412563dc814847"/>
    <p:sldId xmlns:r="http://schemas.openxmlformats.org/officeDocument/2006/relationships" id="291" r:id="R1fd9db346e9948e7"/>
    <p:sldId xmlns:r="http://schemas.openxmlformats.org/officeDocument/2006/relationships" id="292" r:id="Re5d443f950f24d1f"/>
    <p:sldId xmlns:r="http://schemas.openxmlformats.org/officeDocument/2006/relationships" id="293" r:id="R6cd456248abb4f37"/>
    <p:sldId xmlns:r="http://schemas.openxmlformats.org/officeDocument/2006/relationships" id="294" r:id="Rce3b7e3f3e4745b4"/>
    <p:sldId xmlns:r="http://schemas.openxmlformats.org/officeDocument/2006/relationships" id="295" r:id="R77730f87b0ff44dd"/>
    <p:sldId xmlns:r="http://schemas.openxmlformats.org/officeDocument/2006/relationships" id="296" r:id="R8f3cf7efc5b04e7b"/>
    <p:sldId xmlns:r="http://schemas.openxmlformats.org/officeDocument/2006/relationships" id="297" r:id="Re14ac1278eaa4d02"/>
    <p:sldId xmlns:r="http://schemas.openxmlformats.org/officeDocument/2006/relationships" id="298" r:id="R8c7bace704cc4b92"/>
    <p:sldId xmlns:r="http://schemas.openxmlformats.org/officeDocument/2006/relationships" id="299" r:id="Re84f50d5bda44113"/>
    <p:sldId xmlns:r="http://schemas.openxmlformats.org/officeDocument/2006/relationships" id="300" r:id="Rc6017d2403004d12"/>
    <p:sldId xmlns:r="http://schemas.openxmlformats.org/officeDocument/2006/relationships" id="301" r:id="R7e5284958127414e"/>
    <p:sldId xmlns:r="http://schemas.openxmlformats.org/officeDocument/2006/relationships" id="302" r:id="R674df1d93c994e61"/>
    <p:sldId xmlns:r="http://schemas.openxmlformats.org/officeDocument/2006/relationships" id="303" r:id="R44148ff1d6bb4472"/>
    <p:sldId xmlns:r="http://schemas.openxmlformats.org/officeDocument/2006/relationships" id="304" r:id="Rb0b8d59bedfc4cda"/>
    <p:sldId xmlns:r="http://schemas.openxmlformats.org/officeDocument/2006/relationships" id="305" r:id="R59bb1eaff29241a3"/>
    <p:sldId xmlns:r="http://schemas.openxmlformats.org/officeDocument/2006/relationships" id="306" r:id="R1eba06d533654c4f"/>
    <p:sldId xmlns:r="http://schemas.openxmlformats.org/officeDocument/2006/relationships" id="307" r:id="Re6bee3a887134a96"/>
    <p:sldId xmlns:r="http://schemas.openxmlformats.org/officeDocument/2006/relationships" id="308" r:id="R7bf6ca635a894408"/>
    <p:sldId xmlns:r="http://schemas.openxmlformats.org/officeDocument/2006/relationships" id="309" r:id="R6e080ba6e5ec4ce8"/>
    <p:sldId xmlns:r="http://schemas.openxmlformats.org/officeDocument/2006/relationships" id="310" r:id="Rd670d16313154f67"/>
    <p:sldId xmlns:r="http://schemas.openxmlformats.org/officeDocument/2006/relationships" id="311" r:id="Rbbf91c91b51343f7"/>
    <p:sldId xmlns:r="http://schemas.openxmlformats.org/officeDocument/2006/relationships" id="312" r:id="Reca25e739ba04e4c"/>
    <p:sldId xmlns:r="http://schemas.openxmlformats.org/officeDocument/2006/relationships" id="313" r:id="Rf702addd750d4df1"/>
    <p:sldId xmlns:r="http://schemas.openxmlformats.org/officeDocument/2006/relationships" id="314" r:id="Re7ee48f488944c1e"/>
    <p:sldId xmlns:r="http://schemas.openxmlformats.org/officeDocument/2006/relationships" id="315" r:id="Rd3210cd505c341e3"/>
    <p:sldId xmlns:r="http://schemas.openxmlformats.org/officeDocument/2006/relationships" id="316" r:id="R169cb33d57ba4f81"/>
    <p:sldId xmlns:r="http://schemas.openxmlformats.org/officeDocument/2006/relationships" id="317" r:id="Rac6923a2885348cb"/>
    <p:sldId xmlns:r="http://schemas.openxmlformats.org/officeDocument/2006/relationships" id="318" r:id="R6f34dc5376b64a3e"/>
    <p:sldId xmlns:r="http://schemas.openxmlformats.org/officeDocument/2006/relationships" id="319" r:id="R67080bc854d74802"/>
    <p:sldId xmlns:r="http://schemas.openxmlformats.org/officeDocument/2006/relationships" id="320" r:id="R21d9314b9091463a"/>
    <p:sldId xmlns:r="http://schemas.openxmlformats.org/officeDocument/2006/relationships" id="321" r:id="R9cf6d33831e04ccc"/>
    <p:sldId xmlns:r="http://schemas.openxmlformats.org/officeDocument/2006/relationships" id="322" r:id="R47fc86e22bcc4582"/>
    <p:sldId xmlns:r="http://schemas.openxmlformats.org/officeDocument/2006/relationships" id="323" r:id="R4968a9f975fa47d9"/>
    <p:sldId xmlns:r="http://schemas.openxmlformats.org/officeDocument/2006/relationships" id="324" r:id="Rf7eb678437894af1"/>
    <p:sldId xmlns:r="http://schemas.openxmlformats.org/officeDocument/2006/relationships" id="325" r:id="R88dc46e1ec094c9b"/>
    <p:sldId xmlns:r="http://schemas.openxmlformats.org/officeDocument/2006/relationships" id="326" r:id="Rb91474e9419b44d4"/>
    <p:sldId xmlns:r="http://schemas.openxmlformats.org/officeDocument/2006/relationships" id="327" r:id="R53a636af2d1142e0"/>
    <p:sldId xmlns:r="http://schemas.openxmlformats.org/officeDocument/2006/relationships" id="328" r:id="R1e2e3700cf134954"/>
    <p:sldId xmlns:r="http://schemas.openxmlformats.org/officeDocument/2006/relationships" id="329" r:id="Rf3f9140d1d82413f"/>
    <p:sldId xmlns:r="http://schemas.openxmlformats.org/officeDocument/2006/relationships" id="330" r:id="Re7e13cff927e43ca"/>
    <p:sldId xmlns:r="http://schemas.openxmlformats.org/officeDocument/2006/relationships" id="331" r:id="R73dd0e2131b54806"/>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52991d987a2423c" /><Relationship Type="http://schemas.openxmlformats.org/officeDocument/2006/relationships/slideMaster" Target="/ppt/slideMasters/slideMaster1.xml" Id="R533de7571145451b" /><Relationship Type="http://schemas.openxmlformats.org/officeDocument/2006/relationships/notesMaster" Target="/ppt/notesMasters/notesMaster1.xml" Id="Ra74d3059c2364d91" /><Relationship Type="http://schemas.openxmlformats.org/officeDocument/2006/relationships/presProps" Target="/ppt/presProps.xml" Id="Rf49b136f2bcc48e5" /><Relationship Type="http://schemas.openxmlformats.org/officeDocument/2006/relationships/tableStyles" Target="/ppt/tableStyles.xml" Id="R17c3af83bd654d52" /><Relationship Type="http://schemas.openxmlformats.org/officeDocument/2006/relationships/slide" Target="/ppt/slides/slide1.xml" Id="R397346aa273c4006" /><Relationship Type="http://schemas.openxmlformats.org/officeDocument/2006/relationships/slide" Target="/ppt/slides/slide2.xml" Id="R256b2e71b1884ebe" /><Relationship Type="http://schemas.openxmlformats.org/officeDocument/2006/relationships/slide" Target="/ppt/slides/slide3.xml" Id="Rb3d3a018c7af4195" /><Relationship Type="http://schemas.openxmlformats.org/officeDocument/2006/relationships/slide" Target="/ppt/slides/slide4.xml" Id="R6381e002af0c4749" /><Relationship Type="http://schemas.openxmlformats.org/officeDocument/2006/relationships/slide" Target="/ppt/slides/slide5.xml" Id="Rb623fc50bd734a6c" /><Relationship Type="http://schemas.openxmlformats.org/officeDocument/2006/relationships/slide" Target="/ppt/slides/slide6.xml" Id="Rfdee8ab3ebac430c" /><Relationship Type="http://schemas.openxmlformats.org/officeDocument/2006/relationships/slide" Target="/ppt/slides/slide7.xml" Id="R7088ad33f04c4246" /><Relationship Type="http://schemas.openxmlformats.org/officeDocument/2006/relationships/slide" Target="/ppt/slides/slide8.xml" Id="Rece26961fd3c4e19" /><Relationship Type="http://schemas.openxmlformats.org/officeDocument/2006/relationships/slide" Target="/ppt/slides/slide9.xml" Id="Ra1bc8143d6414eab" /><Relationship Type="http://schemas.openxmlformats.org/officeDocument/2006/relationships/slide" Target="/ppt/slides/slide10.xml" Id="Raaa812028a3f482c" /><Relationship Type="http://schemas.openxmlformats.org/officeDocument/2006/relationships/slide" Target="/ppt/slides/slide11.xml" Id="R0051918947e54cff" /><Relationship Type="http://schemas.openxmlformats.org/officeDocument/2006/relationships/slide" Target="/ppt/slides/slide12.xml" Id="Ra0e5e8075e0a458e" /><Relationship Type="http://schemas.openxmlformats.org/officeDocument/2006/relationships/slide" Target="/ppt/slides/slide13.xml" Id="Rc3d5e4ad3dd041bc" /><Relationship Type="http://schemas.openxmlformats.org/officeDocument/2006/relationships/slide" Target="/ppt/slides/slide14.xml" Id="R7b23f51d80784fe2" /><Relationship Type="http://schemas.openxmlformats.org/officeDocument/2006/relationships/slide" Target="/ppt/slides/slide15.xml" Id="Ref1c89edac9d46ed" /><Relationship Type="http://schemas.openxmlformats.org/officeDocument/2006/relationships/slide" Target="/ppt/slides/slide16.xml" Id="R5ec9d41436924396" /><Relationship Type="http://schemas.openxmlformats.org/officeDocument/2006/relationships/slide" Target="/ppt/slides/slide17.xml" Id="R5bd4c91f6fd442ab" /><Relationship Type="http://schemas.openxmlformats.org/officeDocument/2006/relationships/slide" Target="/ppt/slides/slide18.xml" Id="R55b394999dea4af6" /><Relationship Type="http://schemas.openxmlformats.org/officeDocument/2006/relationships/slide" Target="/ppt/slides/slide19.xml" Id="R9f3659561c564dba" /><Relationship Type="http://schemas.openxmlformats.org/officeDocument/2006/relationships/slide" Target="/ppt/slides/slide20.xml" Id="R53e7850783954a0b" /><Relationship Type="http://schemas.openxmlformats.org/officeDocument/2006/relationships/slide" Target="/ppt/slides/slide21.xml" Id="Rf49ae30b91b94950" /><Relationship Type="http://schemas.openxmlformats.org/officeDocument/2006/relationships/slide" Target="/ppt/slides/slide22.xml" Id="R168627ec047147a2" /><Relationship Type="http://schemas.openxmlformats.org/officeDocument/2006/relationships/slide" Target="/ppt/slides/slide23.xml" Id="Rdb5ca4ae4a174451" /><Relationship Type="http://schemas.openxmlformats.org/officeDocument/2006/relationships/slide" Target="/ppt/slides/slide24.xml" Id="R82aadf9941e64689" /><Relationship Type="http://schemas.openxmlformats.org/officeDocument/2006/relationships/slide" Target="/ppt/slides/slide25.xml" Id="Rffd66659e7444993" /><Relationship Type="http://schemas.openxmlformats.org/officeDocument/2006/relationships/slide" Target="/ppt/slides/slide26.xml" Id="R427611aa955e4c0a" /><Relationship Type="http://schemas.openxmlformats.org/officeDocument/2006/relationships/slide" Target="/ppt/slides/slide27.xml" Id="Rf43b539289324d09" /><Relationship Type="http://schemas.openxmlformats.org/officeDocument/2006/relationships/slide" Target="/ppt/slides/slide28.xml" Id="R854eb7962f964606" /><Relationship Type="http://schemas.openxmlformats.org/officeDocument/2006/relationships/slide" Target="/ppt/slides/slide29.xml" Id="Rfbc0bf2163dd4bf3" /><Relationship Type="http://schemas.openxmlformats.org/officeDocument/2006/relationships/slide" Target="/ppt/slides/slide30.xml" Id="Rf9df3e67420e4a1f" /><Relationship Type="http://schemas.openxmlformats.org/officeDocument/2006/relationships/slide" Target="/ppt/slides/slide31.xml" Id="Rf3fd6dc946d54dcf" /><Relationship Type="http://schemas.openxmlformats.org/officeDocument/2006/relationships/slide" Target="/ppt/slides/slide32.xml" Id="R608f272041ec4e31" /><Relationship Type="http://schemas.openxmlformats.org/officeDocument/2006/relationships/slide" Target="/ppt/slides/slide33.xml" Id="R7dde6e316ba9420d" /><Relationship Type="http://schemas.openxmlformats.org/officeDocument/2006/relationships/slide" Target="/ppt/slides/slide34.xml" Id="R2c54e62600374638" /><Relationship Type="http://schemas.openxmlformats.org/officeDocument/2006/relationships/slide" Target="/ppt/slides/slide35.xml" Id="R0e412563dc814847" /><Relationship Type="http://schemas.openxmlformats.org/officeDocument/2006/relationships/slide" Target="/ppt/slides/slide36.xml" Id="R1fd9db346e9948e7" /><Relationship Type="http://schemas.openxmlformats.org/officeDocument/2006/relationships/slide" Target="/ppt/slides/slide37.xml" Id="Re5d443f950f24d1f" /><Relationship Type="http://schemas.openxmlformats.org/officeDocument/2006/relationships/slide" Target="/ppt/slides/slide38.xml" Id="R6cd456248abb4f37" /><Relationship Type="http://schemas.openxmlformats.org/officeDocument/2006/relationships/slide" Target="/ppt/slides/slide39.xml" Id="Rce3b7e3f3e4745b4" /><Relationship Type="http://schemas.openxmlformats.org/officeDocument/2006/relationships/slide" Target="/ppt/slides/slide40.xml" Id="R77730f87b0ff44dd" /><Relationship Type="http://schemas.openxmlformats.org/officeDocument/2006/relationships/slide" Target="/ppt/slides/slide41.xml" Id="R8f3cf7efc5b04e7b" /><Relationship Type="http://schemas.openxmlformats.org/officeDocument/2006/relationships/slide" Target="/ppt/slides/slide42.xml" Id="Re14ac1278eaa4d02" /><Relationship Type="http://schemas.openxmlformats.org/officeDocument/2006/relationships/slide" Target="/ppt/slides/slide43.xml" Id="R8c7bace704cc4b92" /><Relationship Type="http://schemas.openxmlformats.org/officeDocument/2006/relationships/slide" Target="/ppt/slides/slide44.xml" Id="Re84f50d5bda44113" /><Relationship Type="http://schemas.openxmlformats.org/officeDocument/2006/relationships/slide" Target="/ppt/slides/slide45.xml" Id="Rc6017d2403004d12" /><Relationship Type="http://schemas.openxmlformats.org/officeDocument/2006/relationships/slide" Target="/ppt/slides/slide46.xml" Id="R7e5284958127414e" /><Relationship Type="http://schemas.openxmlformats.org/officeDocument/2006/relationships/slide" Target="/ppt/slides/slide47.xml" Id="R674df1d93c994e61" /><Relationship Type="http://schemas.openxmlformats.org/officeDocument/2006/relationships/slide" Target="/ppt/slides/slide48.xml" Id="R44148ff1d6bb4472" /><Relationship Type="http://schemas.openxmlformats.org/officeDocument/2006/relationships/slide" Target="/ppt/slides/slide49.xml" Id="Rb0b8d59bedfc4cda" /><Relationship Type="http://schemas.openxmlformats.org/officeDocument/2006/relationships/slide" Target="/ppt/slides/slide50.xml" Id="R59bb1eaff29241a3" /><Relationship Type="http://schemas.openxmlformats.org/officeDocument/2006/relationships/slide" Target="/ppt/slides/slide51.xml" Id="R1eba06d533654c4f" /><Relationship Type="http://schemas.openxmlformats.org/officeDocument/2006/relationships/slide" Target="/ppt/slides/slide52.xml" Id="Re6bee3a887134a96" /><Relationship Type="http://schemas.openxmlformats.org/officeDocument/2006/relationships/slide" Target="/ppt/slides/slide53.xml" Id="R7bf6ca635a894408" /><Relationship Type="http://schemas.openxmlformats.org/officeDocument/2006/relationships/slide" Target="/ppt/slides/slide54.xml" Id="R6e080ba6e5ec4ce8" /><Relationship Type="http://schemas.openxmlformats.org/officeDocument/2006/relationships/slide" Target="/ppt/slides/slide55.xml" Id="Rd670d16313154f67" /><Relationship Type="http://schemas.openxmlformats.org/officeDocument/2006/relationships/slide" Target="/ppt/slides/slide56.xml" Id="Rbbf91c91b51343f7" /><Relationship Type="http://schemas.openxmlformats.org/officeDocument/2006/relationships/slide" Target="/ppt/slides/slide57.xml" Id="Reca25e739ba04e4c" /><Relationship Type="http://schemas.openxmlformats.org/officeDocument/2006/relationships/slide" Target="/ppt/slides/slide58.xml" Id="Rf702addd750d4df1" /><Relationship Type="http://schemas.openxmlformats.org/officeDocument/2006/relationships/slide" Target="/ppt/slides/slide59.xml" Id="Re7ee48f488944c1e" /><Relationship Type="http://schemas.openxmlformats.org/officeDocument/2006/relationships/slide" Target="/ppt/slides/slide60.xml" Id="Rd3210cd505c341e3" /><Relationship Type="http://schemas.openxmlformats.org/officeDocument/2006/relationships/slide" Target="/ppt/slides/slide61.xml" Id="R169cb33d57ba4f81" /><Relationship Type="http://schemas.openxmlformats.org/officeDocument/2006/relationships/slide" Target="/ppt/slides/slide62.xml" Id="Rac6923a2885348cb" /><Relationship Type="http://schemas.openxmlformats.org/officeDocument/2006/relationships/slide" Target="/ppt/slides/slide63.xml" Id="R6f34dc5376b64a3e" /><Relationship Type="http://schemas.openxmlformats.org/officeDocument/2006/relationships/slide" Target="/ppt/slides/slide64.xml" Id="R67080bc854d74802" /><Relationship Type="http://schemas.openxmlformats.org/officeDocument/2006/relationships/slide" Target="/ppt/slides/slide65.xml" Id="R21d9314b9091463a" /><Relationship Type="http://schemas.openxmlformats.org/officeDocument/2006/relationships/slide" Target="/ppt/slides/slide66.xml" Id="R9cf6d33831e04ccc" /><Relationship Type="http://schemas.openxmlformats.org/officeDocument/2006/relationships/slide" Target="/ppt/slides/slide67.xml" Id="R47fc86e22bcc4582" /><Relationship Type="http://schemas.openxmlformats.org/officeDocument/2006/relationships/slide" Target="/ppt/slides/slide68.xml" Id="R4968a9f975fa47d9" /><Relationship Type="http://schemas.openxmlformats.org/officeDocument/2006/relationships/slide" Target="/ppt/slides/slide69.xml" Id="Rf7eb678437894af1" /><Relationship Type="http://schemas.openxmlformats.org/officeDocument/2006/relationships/slide" Target="/ppt/slides/slide70.xml" Id="R88dc46e1ec094c9b" /><Relationship Type="http://schemas.openxmlformats.org/officeDocument/2006/relationships/slide" Target="/ppt/slides/slide71.xml" Id="Rb91474e9419b44d4" /><Relationship Type="http://schemas.openxmlformats.org/officeDocument/2006/relationships/slide" Target="/ppt/slides/slide72.xml" Id="R53a636af2d1142e0" /><Relationship Type="http://schemas.openxmlformats.org/officeDocument/2006/relationships/slide" Target="/ppt/slides/slide73.xml" Id="R1e2e3700cf134954" /><Relationship Type="http://schemas.openxmlformats.org/officeDocument/2006/relationships/slide" Target="/ppt/slides/slide74.xml" Id="Rf3f9140d1d82413f" /><Relationship Type="http://schemas.openxmlformats.org/officeDocument/2006/relationships/slide" Target="/ppt/slides/slide75.xml" Id="Re7e13cff927e43ca" /><Relationship Type="http://schemas.openxmlformats.org/officeDocument/2006/relationships/slide" Target="/ppt/slides/slide76.xml" Id="R73dd0e2131b5480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858679497e9461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3634ee687548c7" /><Relationship Type="http://schemas.openxmlformats.org/officeDocument/2006/relationships/notesMaster" Target="/ppt/notesMasters/notesMaster1.xml" Id="R1d9cdb2b82c7432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3546e20dd04426b" /><Relationship Type="http://schemas.openxmlformats.org/officeDocument/2006/relationships/notesMaster" Target="/ppt/notesMasters/notesMaster1.xml" Id="R018e9ea9305c4eaa"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99d93099fc42ac" /><Relationship Type="http://schemas.openxmlformats.org/officeDocument/2006/relationships/notesMaster" Target="/ppt/notesMasters/notesMaster1.xml" Id="R662a28d90edb44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f5c446fed9b4258" /><Relationship Type="http://schemas.openxmlformats.org/officeDocument/2006/relationships/notesMaster" Target="/ppt/notesMasters/notesMaster1.xml" Id="R8f6b72b6519d4f76" /></Relationships>
</file>

<file path=ppt/notesSlides/_rels/notesSlide5.xml.rels>&#65279;<?xml version="1.0" encoding="utf-8"?><Relationships xmlns="http://schemas.openxmlformats.org/package/2006/relationships"><Relationship Type="http://schemas.openxmlformats.org/officeDocument/2006/relationships/slide" Target="/ppt/slides/slide5.xml" Id="Rfb8f5971c7b0474c" /><Relationship Type="http://schemas.openxmlformats.org/officeDocument/2006/relationships/notesMaster" Target="/ppt/notesMasters/notesMaster1.xml" Id="Rcd63e15881464445"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43abe3be2b440c" /><Relationship Type="http://schemas.openxmlformats.org/officeDocument/2006/relationships/notesMaster" Target="/ppt/notesMasters/notesMaster1.xml" Id="R1a2e33e994ae440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aec921f30984581" /><Relationship Type="http://schemas.openxmlformats.org/officeDocument/2006/relationships/notesMaster" Target="/ppt/notesMasters/notesMaster1.xml" Id="Rf8b8da500b544adc" /></Relationships>
</file>

<file path=ppt/notesSlides/_rels/notesSlide8.xml.rels>&#65279;<?xml version="1.0" encoding="utf-8"?><Relationships xmlns="http://schemas.openxmlformats.org/package/2006/relationships"><Relationship Type="http://schemas.openxmlformats.org/officeDocument/2006/relationships/slide" Target="/ppt/slides/slide8.xml" Id="R436b667e3b154781" /><Relationship Type="http://schemas.openxmlformats.org/officeDocument/2006/relationships/notesMaster" Target="/ppt/notesMasters/notesMaster1.xml" Id="R4da7545d05e044a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2d0122879144380" /><Relationship Type="http://schemas.openxmlformats.org/officeDocument/2006/relationships/notesMaster" Target="/ppt/notesMasters/notesMaster1.xml" Id="R5bcd67da236e479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2b67d6afe0b48f4" /><Relationship Type="http://schemas.openxmlformats.org/officeDocument/2006/relationships/notesMaster" Target="/ppt/notesMasters/notesMaster1.xml" Id="Re7cabdfceb114f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1505f61ed3a4527" /><Relationship Type="http://schemas.openxmlformats.org/officeDocument/2006/relationships/notesMaster" Target="/ppt/notesMasters/notesMaster1.xml" Id="R39da896a805346c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923d6861adf4d2a" /><Relationship Type="http://schemas.openxmlformats.org/officeDocument/2006/relationships/notesMaster" Target="/ppt/notesMasters/notesMaster1.xml" Id="R239e67059c194c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d050efdf7d94068" /><Relationship Type="http://schemas.openxmlformats.org/officeDocument/2006/relationships/notesMaster" Target="/ppt/notesMasters/notesMaster1.xml" Id="Rb98675c681f640e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93252816edc4744" /><Relationship Type="http://schemas.openxmlformats.org/officeDocument/2006/relationships/notesMaster" Target="/ppt/notesMasters/notesMaster1.xml" Id="Rb89418c6023749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6d2c43e8472419e" /><Relationship Type="http://schemas.openxmlformats.org/officeDocument/2006/relationships/notesMaster" Target="/ppt/notesMasters/notesMaster1.xml" Id="Rd292112bd51642c5"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b90084bc2384265" /><Relationship Type="http://schemas.openxmlformats.org/officeDocument/2006/relationships/notesMaster" Target="/ppt/notesMasters/notesMaster1.xml" Id="R3808fbf806564a3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34d00359e7f4af3" /><Relationship Type="http://schemas.openxmlformats.org/officeDocument/2006/relationships/notesMaster" Target="/ppt/notesMasters/notesMaster1.xml" Id="Rbb13ebf37d214a56"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6fbb56e345c4a73" /><Relationship Type="http://schemas.openxmlformats.org/officeDocument/2006/relationships/notesMaster" Target="/ppt/notesMasters/notesMaster1.xml" Id="R597807cb710f4f3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f06115ba5ba4c8a" /><Relationship Type="http://schemas.openxmlformats.org/officeDocument/2006/relationships/notesMaster" Target="/ppt/notesMasters/notesMaster1.xml" Id="Rbec4064920bf4d6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6fac326d17c41fc" /><Relationship Type="http://schemas.openxmlformats.org/officeDocument/2006/relationships/notesMaster" Target="/ppt/notesMasters/notesMaster1.xml" Id="R51e91f0112f848b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dc5dda25e3b48ee" /><Relationship Type="http://schemas.openxmlformats.org/officeDocument/2006/relationships/notesMaster" Target="/ppt/notesMasters/notesMaster1.xml" Id="Rabcbb4f1a92c4fd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995975f144c4f73" /><Relationship Type="http://schemas.openxmlformats.org/officeDocument/2006/relationships/notesMaster" Target="/ppt/notesMasters/notesMaster1.xml" Id="R02644762386d44e4"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1aae3e60632f4595" /><Relationship Type="http://schemas.openxmlformats.org/officeDocument/2006/relationships/notesMaster" Target="/ppt/notesMasters/notesMaster1.xml" Id="R3d95970a1bab42d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b9214067875345a1" /><Relationship Type="http://schemas.openxmlformats.org/officeDocument/2006/relationships/notesMaster" Target="/ppt/notesMasters/notesMaster1.xml" Id="R5dee69d93a4a4a5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63a27fe390644983" /><Relationship Type="http://schemas.openxmlformats.org/officeDocument/2006/relationships/notesMaster" Target="/ppt/notesMasters/notesMaster1.xml" Id="R11ca876f08c046b2"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260d328f809941ac" /><Relationship Type="http://schemas.openxmlformats.org/officeDocument/2006/relationships/notesMaster" Target="/ppt/notesMasters/notesMaster1.xml" Id="Rfee1837207b14fc8"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2d40157fb55e4dee" /><Relationship Type="http://schemas.openxmlformats.org/officeDocument/2006/relationships/notesMaster" Target="/ppt/notesMasters/notesMaster1.xml" Id="Re3744f4a09aa46fe"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f7b0b1b44ae24115" /><Relationship Type="http://schemas.openxmlformats.org/officeDocument/2006/relationships/notesMaster" Target="/ppt/notesMasters/notesMaster1.xml" Id="R42091aecd2394e25"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99f9c1f148c0472a" /><Relationship Type="http://schemas.openxmlformats.org/officeDocument/2006/relationships/notesMaster" Target="/ppt/notesMasters/notesMaster1.xml" Id="R8f855f8da79b4236"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e1727a390194a0f" /><Relationship Type="http://schemas.openxmlformats.org/officeDocument/2006/relationships/notesMaster" Target="/ppt/notesMasters/notesMaster1.xml" Id="R43664f37c46c47c8"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ede14cdaeb38442b" /><Relationship Type="http://schemas.openxmlformats.org/officeDocument/2006/relationships/notesMaster" Target="/ppt/notesMasters/notesMaster1.xml" Id="R9a49e4c7d5104853"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1a8aa932cd264651" /><Relationship Type="http://schemas.openxmlformats.org/officeDocument/2006/relationships/notesMaster" Target="/ppt/notesMasters/notesMaster1.xml" Id="Re6e1851880394c6d"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753bbabdb494422a" /><Relationship Type="http://schemas.openxmlformats.org/officeDocument/2006/relationships/notesMaster" Target="/ppt/notesMasters/notesMaster1.xml" Id="R6c15110863f94dcd"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87d6a103980e49d3" /><Relationship Type="http://schemas.openxmlformats.org/officeDocument/2006/relationships/notesMaster" Target="/ppt/notesMasters/notesMaster1.xml" Id="R05dcc39f55584c35"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c44d8b5f3db4427e" /><Relationship Type="http://schemas.openxmlformats.org/officeDocument/2006/relationships/notesMaster" Target="/ppt/notesMasters/notesMaster1.xml" Id="R7def34904f104b14"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5ac215fcb21444c0" /><Relationship Type="http://schemas.openxmlformats.org/officeDocument/2006/relationships/notesMaster" Target="/ppt/notesMasters/notesMaster1.xml" Id="R16116425b5544b27"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8ed02b43934d4848" /><Relationship Type="http://schemas.openxmlformats.org/officeDocument/2006/relationships/notesMaster" Target="/ppt/notesMasters/notesMaster1.xml" Id="R96548c7c84d542dc"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15a57c015f1e4a8d" /><Relationship Type="http://schemas.openxmlformats.org/officeDocument/2006/relationships/notesMaster" Target="/ppt/notesMasters/notesMaster1.xml" Id="R0fd72b83c0034403"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a5b1cb95f3e4177" /><Relationship Type="http://schemas.openxmlformats.org/officeDocument/2006/relationships/notesMaster" Target="/ppt/notesMasters/notesMaster1.xml" Id="R5d96fa006df044b0"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23744774a1794e6b" /><Relationship Type="http://schemas.openxmlformats.org/officeDocument/2006/relationships/notesMaster" Target="/ppt/notesMasters/notesMaster1.xml" Id="R6ee5990932094ac0"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61128c3fb286489a" /><Relationship Type="http://schemas.openxmlformats.org/officeDocument/2006/relationships/notesMaster" Target="/ppt/notesMasters/notesMaster1.xml" Id="R5024087f5df24298"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f5d981ab89fd4797" /><Relationship Type="http://schemas.openxmlformats.org/officeDocument/2006/relationships/notesMaster" Target="/ppt/notesMasters/notesMaster1.xml" Id="R9c72c2f5d4134567"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9c4e8da23b3e45db" /><Relationship Type="http://schemas.openxmlformats.org/officeDocument/2006/relationships/notesMaster" Target="/ppt/notesMasters/notesMaster1.xml" Id="Rd545c6ebed0b4f25"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cd2884ed0a2b4cd5" /><Relationship Type="http://schemas.openxmlformats.org/officeDocument/2006/relationships/notesMaster" Target="/ppt/notesMasters/notesMaster1.xml" Id="R2707b984064d416f"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897433dec85d44cd" /><Relationship Type="http://schemas.openxmlformats.org/officeDocument/2006/relationships/notesMaster" Target="/ppt/notesMasters/notesMaster1.xml" Id="Ra7db74c890724779"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3622719e37234c08" /><Relationship Type="http://schemas.openxmlformats.org/officeDocument/2006/relationships/notesMaster" Target="/ppt/notesMasters/notesMaster1.xml" Id="R1e26c01470144512"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108e719def054df7" /><Relationship Type="http://schemas.openxmlformats.org/officeDocument/2006/relationships/notesMaster" Target="/ppt/notesMasters/notesMaster1.xml" Id="Rf6ec882740de4449"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83a2a45075be4494" /><Relationship Type="http://schemas.openxmlformats.org/officeDocument/2006/relationships/notesMaster" Target="/ppt/notesMasters/notesMaster1.xml" Id="R3d5643370f9440a5"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519d91af1394114" /><Relationship Type="http://schemas.openxmlformats.org/officeDocument/2006/relationships/notesMaster" Target="/ppt/notesMasters/notesMaster1.xml" Id="Rc6face5b4a3947b0"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56dba26e3b994aae" /><Relationship Type="http://schemas.openxmlformats.org/officeDocument/2006/relationships/notesMaster" Target="/ppt/notesMasters/notesMaster1.xml" Id="R949e46e8de2747b3"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243cb0dea9874d4f" /><Relationship Type="http://schemas.openxmlformats.org/officeDocument/2006/relationships/notesMaster" Target="/ppt/notesMasters/notesMaster1.xml" Id="R09a5229e3f7f4d46"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bcce1ad022f649e6" /><Relationship Type="http://schemas.openxmlformats.org/officeDocument/2006/relationships/notesMaster" Target="/ppt/notesMasters/notesMaster1.xml" Id="Rd794dd004c9046fa"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a8f5df054024475a" /><Relationship Type="http://schemas.openxmlformats.org/officeDocument/2006/relationships/notesMaster" Target="/ppt/notesMasters/notesMaster1.xml" Id="R93ca340522b14d90"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ef6093ba5fd2496d" /><Relationship Type="http://schemas.openxmlformats.org/officeDocument/2006/relationships/notesMaster" Target="/ppt/notesMasters/notesMaster1.xml" Id="Rddd0629ef57e47c4"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8a1e1a49661b4569" /><Relationship Type="http://schemas.openxmlformats.org/officeDocument/2006/relationships/notesMaster" Target="/ppt/notesMasters/notesMaster1.xml" Id="R4f5079c9f68f4ce9"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223db249526a4e8a" /><Relationship Type="http://schemas.openxmlformats.org/officeDocument/2006/relationships/notesMaster" Target="/ppt/notesMasters/notesMaster1.xml" Id="R9b9ab63edb1d47f1"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b49b490d83444f0f" /><Relationship Type="http://schemas.openxmlformats.org/officeDocument/2006/relationships/notesMaster" Target="/ppt/notesMasters/notesMaster1.xml" Id="Rd09fed0292944719"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3a825a97ddd04568" /><Relationship Type="http://schemas.openxmlformats.org/officeDocument/2006/relationships/notesMaster" Target="/ppt/notesMasters/notesMaster1.xml" Id="R1edf058a4d774cf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fd5f30aadb0549b7" /><Relationship Type="http://schemas.openxmlformats.org/officeDocument/2006/relationships/notesMaster" Target="/ppt/notesMasters/notesMaster1.xml" Id="R06dfc5475b854326"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d8d73d7e6a7c41aa" /><Relationship Type="http://schemas.openxmlformats.org/officeDocument/2006/relationships/notesMaster" Target="/ppt/notesMasters/notesMaster1.xml" Id="Raeb961bd9f834a1d"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1024485232424485" /><Relationship Type="http://schemas.openxmlformats.org/officeDocument/2006/relationships/notesMaster" Target="/ppt/notesMasters/notesMaster1.xml" Id="Ra139818e9305405c"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33eab33bdac4441" /><Relationship Type="http://schemas.openxmlformats.org/officeDocument/2006/relationships/notesMaster" Target="/ppt/notesMasters/notesMaster1.xml" Id="R60188776803e4117"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d535f9b217e4bb9" /><Relationship Type="http://schemas.openxmlformats.org/officeDocument/2006/relationships/notesMaster" Target="/ppt/notesMasters/notesMaster1.xml" Id="R40a7d549203a498f"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76ef22e695454782" /><Relationship Type="http://schemas.openxmlformats.org/officeDocument/2006/relationships/notesMaster" Target="/ppt/notesMasters/notesMaster1.xml" Id="R5233505e32ae4a03"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958a9efbcc504591" /><Relationship Type="http://schemas.openxmlformats.org/officeDocument/2006/relationships/notesMaster" Target="/ppt/notesMasters/notesMaster1.xml" Id="R6ecbe2fcdf8a4f6d"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f080fec210234843" /><Relationship Type="http://schemas.openxmlformats.org/officeDocument/2006/relationships/notesMaster" Target="/ppt/notesMasters/notesMaster1.xml" Id="R22e2993e823646f5"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b4a97a99039e45ec" /><Relationship Type="http://schemas.openxmlformats.org/officeDocument/2006/relationships/notesMaster" Target="/ppt/notesMasters/notesMaster1.xml" Id="Ra3dd7b6f1ac74584"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a8e5bc8994c14a39" /><Relationship Type="http://schemas.openxmlformats.org/officeDocument/2006/relationships/notesMaster" Target="/ppt/notesMasters/notesMaster1.xml" Id="Rb8699f021fe04d66"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b06feff0f6684922" /><Relationship Type="http://schemas.openxmlformats.org/officeDocument/2006/relationships/notesMaster" Target="/ppt/notesMasters/notesMaster1.xml" Id="R638aad31badb4945"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395aa8ecce8241ed" /><Relationship Type="http://schemas.openxmlformats.org/officeDocument/2006/relationships/notesMaster" Target="/ppt/notesMasters/notesMaster1.xml" Id="R0318f180cb024b0b"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612bae98255840bf" /><Relationship Type="http://schemas.openxmlformats.org/officeDocument/2006/relationships/notesMaster" Target="/ppt/notesMasters/notesMaster1.xml" Id="R3b90ab85b64644be"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35ed782a16ab4a66" /><Relationship Type="http://schemas.openxmlformats.org/officeDocument/2006/relationships/notesMaster" Target="/ppt/notesMasters/notesMaster1.xml" Id="R676297c62c09467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c2d7abd078824c1b" /><Relationship Type="http://schemas.openxmlformats.org/officeDocument/2006/relationships/notesMaster" Target="/ppt/notesMasters/notesMaster1.xml" Id="Rcf006aff313749ac"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27fc88529e4a43c7" /><Relationship Type="http://schemas.openxmlformats.org/officeDocument/2006/relationships/notesMaster" Target="/ppt/notesMasters/notesMaster1.xml" Id="Rde03c64370ed455c"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aac9951f8bba4e0f" /><Relationship Type="http://schemas.openxmlformats.org/officeDocument/2006/relationships/notesMaster" Target="/ppt/notesMasters/notesMaster1.xml" Id="R859c65f662eb42ba"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43a28556efe0470c" /><Relationship Type="http://schemas.openxmlformats.org/officeDocument/2006/relationships/notesMaster" Target="/ppt/notesMasters/notesMaster1.xml" Id="R08ea0d78eb4849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https://docarcshot.github.io/id-practice-update/lectures/Recurrent_UTI_Evaluation_and_Prevention.html</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Three questions before prescribing anything Does the patient have symptomatic infection? Is there an anatomic or functional reason for recurrence? Which preventive approach has a reasonable chance of helping without causing greater harm? Recurrent uncomplicated cystitis generally means at least two separate symptomatic, culture-supported episodes within six months, or at least three in 12 months, with resolution between episodes. Persistent symptoms without resolution are not simply another recurrence. The 2025 AUA guidance primarily addresses otherwise healthy women with recurrent localized cystitis. The IDSA 2025 complicated-UTI guideline addresses acute treatment, not prevention of recurrent cystitis. Patients with devices, neurogenic bladder, stones, obstruction or recurrent febrile infections warrant individualized evaluation; prophylaxis trials in otherwise healthy women may not apply. IDSA 2025 classifies uncomplicated UTI as infection apparently confined to the bladder, in either sex. Fever, rigors, flank pain, CVA tenderness, bacteremia or other extension beyond the bladder suggest cUTI. Symptomatic infections with long-term catheters, stents or nephrostomy tubes are also included as cUTI. Male sex, diabetes, immunocompromise, BPH or cystocele alone do not automatically make an infection complicated. Evaluate risk factors separately and exclude prostatitis when relevant in men. Trautner et al., IDSA cUTI guideline 2025, classification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Three questions before prescribing anything Does the patient have symptomatic infection? Is there an anatomic or functional reason for recurrence? Which preventive approach has a reasonable chance of helping without causing greater harm? Recurrent uncomplicated cystitis generally means at least two separate symptomatic, culture-supported episodes within six months, or at least three in 12 months, with resolution between episodes. Persistent symptoms without resolution are not simply another recurrence. The 2025 AUA guidance primarily addresses otherwise healthy women with recurrent localized cystitis. The IDSA 2025 complicated-UTI guideline addresses acute treatment, not prevention of recurrent cystitis. Patients with devices, neurogenic bladder, stones, obstruction or recurrent febrile infections warrant individualized evaluation; prophylaxis trials in otherwise healthy women may not apply. IDSA 2025 classifies uncomplicated UTI as infection apparently confined to the bladder, in either sex. Fever, rigors, flank pain, CVA tenderness, bacteremia or other extension beyond the bladder suggest cUTI. Symptomatic infections with long-term catheters, stents or nephrostomy tubes are also included as cUTI. Male sex, diabetes, immunocompromise, BPH or cystocele alone do not automatically make an infection complicated. Evaluate risk factors separately and exclude prostatitis when relevant in men. Trautner et al., IDSA cUTI guideline 2025, classification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1. Three questions before prescribing anything Does the patient have symptomatic infection? Is there an anatomic or functional reason for recurrence? Which preventive approach has a reasonable chance of helping without causing greater harm? Recurrent uncomplicated cystitis generally means at least two separate symptomatic, culture-supported episodes within six months, or at least three in 12 months, with resolution between episodes. Persistent symptoms without resolution are not simply another recurrence. The 2025 AUA guidance primarily addresses otherwise healthy women with recurrent localized cystitis. The IDSA 2025 complicated-UTI guideline addresses acute treatment, not prevention of recurrent cystitis. Patients with devices, neurogenic bladder, stones, obstruction or recurrent febrile infections warrant individualized evaluation; prophylaxis trials in otherwise healthy women may not apply. IDSA 2025 classifies uncomplicated UTI as infection apparently confined to the bladder, in either sex. Fever, rigors, flank pain, CVA tenderness, bacteremia or other extension beyond the bladder suggest cUTI. Symptomatic infections with long-term catheters, stents or nephrostomy tubes are also included as cUTI. Male sex, diabetes, immunocompromise, BPH or cystocele alone do not automatically make an infection complicated. Evaluate risk factors separately and exclude prostatitis when relevant in men. Trautner et al., IDSA cUTI guideline 2025, classification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Symptoms matter more than a positive culture Presentation Interpretation and action New dysuria, frequency, urgency, suprapubic discomfort, sometimes visible hematuria Compatible with acute cystitis, especially when new relative to baseline. Obtain urinalysis and urine culture for each suspected recurrence before antibiotics when feasible. Interpret contamination and prior culture history. Fever, rigors, flank pain, CVA tenderness, vomiting, systemic illness Evaluate for pyelonephritis, obstruction, bacteremia, and other sources. Assess severity, renal function, and need for imaging or admission. Positive culture but no attributable urinary symptoms Asymptomatic bacteriuria (ASB), usually do not treat regardless of pyuria, odor, cloudiness, organism, or colony count. Main exceptions are pregnancy and before endoscopic urologic procedures with anticipated mucosal trauma. Chronic urgency, nocturia, incontinence, pelvic pain without a convincing new change Do not equate chronic baseline symptoms or pyuria with active UTI. Evaluate noninfectious causes. Delirium or fall alone in an older adult with bacteriuria, no focal urinary or systemic signs Search for other causes and observe. Positive culture alone does not establish infection. In hemodynamic instability, evaluate and treat suspected sepsis without assuming a urinary source. Catheter or spinal cord injury Chronic bacteriuria is expected. New fever, malaise, autonomic dysreflexia, spasticity, pelvic/flank discomfort, catheter obstruction, or other new compatible findings may prompt evaluation. Symptoms can be atypical; do not screen or treat stable bacteriuria. 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 AUA 2025; IDSA ASB guideline 2019. See references.</a:t>
            </a:r>
          </a:p>
          <a:p xmlns:a="http://schemas.openxmlformats.org/drawingml/2006/main">
            <a:r>
              <a:t/>
            </a:r>
          </a:p>
          <a:p xmlns:a="http://schemas.openxmlformats.org/drawingml/2006/main">
            <a:r>
              <a:t>Module section: https://docarcshot.github.io/id-practice-update/lectures/Recurrent_UTI_Evaluation_and_Prevention.html#diagnosis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Symptoms matter more than a positive culture Presentation Interpretation and action New dysuria, frequency, urgency, suprapubic discomfort, sometimes visible hematuria Compatible with acute cystitis, especially when new relative to baseline. Obtain urinalysis and urine culture for each suspected recurrence before antibiotics when feasible. Interpret contamination and prior culture history. Fever, rigors, flank pain, CVA tenderness, vomiting, systemic illness Evaluate for pyelonephritis, obstruction, bacteremia, and other sources. Assess severity, renal function, and need for imaging or admission. Positive culture but no attributable urinary symptoms Asymptomatic bacteriuria (ASB), usually do not treat regardless of pyuria, odor, cloudiness, organism, or colony count. Main exceptions are pregnancy and before endoscopic urologic procedures with anticipated mucosal trauma. Chronic urgency, nocturia, incontinence, pelvic pain without a convincing new change Do not equate chronic baseline symptoms or pyuria with active UTI. Evaluate noninfectious causes. Delirium or fall alone in an older adult with bacteriuria, no focal urinary or systemic signs Search for other causes and observe. Positive culture alone does not establish infection. In hemodynamic instability, evaluate and treat suspected sepsis without assuming a urinary source. Catheter or spinal cord injury Chronic bacteriuria is expected. New fever, malaise, autonomic dysreflexia, spasticity, pelvic/flank discomfort, catheter obstruction, or other new compatible findings may prompt evaluation. Symptoms can be atypical; do not screen or treat stable bacteriuria. 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 AUA 2025; IDSA ASB guideline 2019. See references.</a:t>
            </a:r>
          </a:p>
          <a:p xmlns:a="http://schemas.openxmlformats.org/drawingml/2006/main">
            <a:r>
              <a:t/>
            </a:r>
          </a:p>
          <a:p xmlns:a="http://schemas.openxmlformats.org/drawingml/2006/main">
            <a:r>
              <a:t>Module section: https://docarcshot.github.io/id-practice-update/lectures/Recurrent_UTI_Evaluation_and_Prevention.html#diagnosis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Symptoms matter more than a positive culture Presentation Interpretation and action New dysuria, frequency, urgency, suprapubic discomfort, sometimes visible hematuria Compatible with acute cystitis, especially when new relative to baseline. Obtain urinalysis and urine culture for each suspected recurrence before antibiotics when feasible. Interpret contamination and prior culture history. Fever, rigors, flank pain, CVA tenderness, vomiting, systemic illness Evaluate for pyelonephritis, obstruction, bacteremia, and other sources. Assess severity, renal function, and need for imaging or admission. Positive culture but no attributable urinary symptoms Asymptomatic bacteriuria (ASB), usually do not treat regardless of pyuria, odor, cloudiness, organism, or colony count. Main exceptions are pregnancy and before endoscopic urologic procedures with anticipated mucosal trauma. Chronic urgency, nocturia, incontinence, pelvic pain without a convincing new change Do not equate chronic baseline symptoms or pyuria with active UTI. Evaluate noninfectious causes. Delirium or fall alone in an older adult with bacteriuria, no focal urinary or systemic signs Search for other causes and observe. Positive culture alone does not establish infection. In hemodynamic instability, evaluate and treat suspected sepsis without assuming a urinary source. Catheter or spinal cord injury Chronic bacteriuria is expected. New fever, malaise, autonomic dysreflexia, spasticity, pelvic/flank discomfort, catheter obstruction, or other new compatible findings may prompt evaluation. Symptoms can be atypical; do not screen or treat stable bacteriuria. 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 AUA 2025; IDSA ASB guideline 2019. See references.</a:t>
            </a:r>
          </a:p>
          <a:p xmlns:a="http://schemas.openxmlformats.org/drawingml/2006/main">
            <a:r>
              <a:t/>
            </a:r>
          </a:p>
          <a:p xmlns:a="http://schemas.openxmlformats.org/drawingml/2006/main">
            <a:r>
              <a:t>Module section: https://docarcshot.github.io/id-practice-update/lectures/Recurrent_UTI_Evaluation_and_Prevention.html#diagnosis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Symptoms matter more than a positive culture Presentation Interpretation and action New dysuria, frequency, urgency, suprapubic discomfort, sometimes visible hematuria Compatible with acute cystitis, especially when new relative to baseline. Obtain urinalysis and urine culture for each suspected recurrence before antibiotics when feasible. Interpret contamination and prior culture history. Fever, rigors, flank pain, CVA tenderness, vomiting, systemic illness Evaluate for pyelonephritis, obstruction, bacteremia, and other sources. Assess severity, renal function, and need for imaging or admission. Positive culture but no attributable urinary symptoms Asymptomatic bacteriuria (ASB), usually do not treat regardless of pyuria, odor, cloudiness, organism, or colony count. Main exceptions are pregnancy and before endoscopic urologic procedures with anticipated mucosal trauma. Chronic urgency, nocturia, incontinence, pelvic pain without a convincing new change Do not equate chronic baseline symptoms or pyuria with active UTI. Evaluate noninfectious causes. Delirium or fall alone in an older adult with bacteriuria, no focal urinary or systemic signs Search for other causes and observe. Positive culture alone does not establish infection. In hemodynamic instability, evaluate and treat suspected sepsis without assuming a urinary source. Catheter or spinal cord injury Chronic bacteriuria is expected. New fever, malaise, autonomic dysreflexia, spasticity, pelvic/flank discomfort, catheter obstruction, or other new compatible findings may prompt evaluation. Symptoms can be atypical; do not screen or treat stable bacteriuria. 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 AUA 2025; IDSA ASB guideline 2019. See references.</a:t>
            </a:r>
          </a:p>
          <a:p xmlns:a="http://schemas.openxmlformats.org/drawingml/2006/main">
            <a:r>
              <a:t/>
            </a:r>
          </a:p>
          <a:p xmlns:a="http://schemas.openxmlformats.org/drawingml/2006/main">
            <a:r>
              <a:t>Module section: https://docarcshot.github.io/id-practice-update/lectures/Recurrent_UTI_Evaluation_and_Prevention.html#diagnosis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Symptoms matter more than a positive culture Presentation Interpretation and action New dysuria, frequency, urgency, suprapubic discomfort, sometimes visible hematuria Compatible with acute cystitis, especially when new relative to baseline. Obtain urinalysis and urine culture for each suspected recurrence before antibiotics when feasible. Interpret contamination and prior culture history. Fever, rigors, flank pain, CVA tenderness, vomiting, systemic illness Evaluate for pyelonephritis, obstruction, bacteremia, and other sources. Assess severity, renal function, and need for imaging or admission. Positive culture but no attributable urinary symptoms Asymptomatic bacteriuria (ASB), usually do not treat regardless of pyuria, odor, cloudiness, organism, or colony count. Main exceptions are pregnancy and before endoscopic urologic procedures with anticipated mucosal trauma. Chronic urgency, nocturia, incontinence, pelvic pain without a convincing new change Do not equate chronic baseline symptoms or pyuria with active UTI. Evaluate noninfectious causes. Delirium or fall alone in an older adult with bacteriuria, no focal urinary or systemic signs Search for other causes and observe. Positive culture alone does not establish infection. In hemodynamic instability, evaluate and treat suspected sepsis without assuming a urinary source. Catheter or spinal cord injury Chronic bacteriuria is expected. New fever, malaise, autonomic dysreflexia, spasticity, pelvic/flank discomfort, catheter obstruction, or other new compatible findings may prompt evaluation. Symptoms can be atypical; do not screen or treat stable bacteriuria. 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 AUA 2025; IDSA ASB guideline 2019. See references.</a:t>
            </a:r>
          </a:p>
          <a:p xmlns:a="http://schemas.openxmlformats.org/drawingml/2006/main">
            <a:r>
              <a:t/>
            </a:r>
          </a:p>
          <a:p xmlns:a="http://schemas.openxmlformats.org/drawingml/2006/main">
            <a:r>
              <a:t>Module section: https://docarcshot.github.io/id-practice-update/lectures/Recurrent_UTI_Evaluation_and_Prevention.html#diagnosis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Symptoms matter more than a positive culture Presentation Interpretation and action New dysuria, frequency, urgency, suprapubic discomfort, sometimes visible hematuria Compatible with acute cystitis, especially when new relative to baseline. Obtain urinalysis and urine culture for each suspected recurrence before antibiotics when feasible. Interpret contamination and prior culture history. Fever, rigors, flank pain, CVA tenderness, vomiting, systemic illness Evaluate for pyelonephritis, obstruction, bacteremia, and other sources. Assess severity, renal function, and need for imaging or admission. Positive culture but no attributable urinary symptoms Asymptomatic bacteriuria (ASB), usually do not treat regardless of pyuria, odor, cloudiness, organism, or colony count. Main exceptions are pregnancy and before endoscopic urologic procedures with anticipated mucosal trauma. Chronic urgency, nocturia, incontinence, pelvic pain without a convincing new change Do not equate chronic baseline symptoms or pyuria with active UTI. Evaluate noninfectious causes. Delirium or fall alone in an older adult with bacteriuria, no focal urinary or systemic signs Search for other causes and observe. Positive culture alone does not establish infection. In hemodynamic instability, evaluate and treat suspected sepsis without assuming a urinary source. Catheter or spinal cord injury Chronic bacteriuria is expected. New fever, malaise, autonomic dysreflexia, spasticity, pelvic/flank discomfort, catheter obstruction, or other new compatible findings may prompt evaluation. Symptoms can be atypical; do not screen or treat stable bacteriuria. 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 AUA 2025; IDSA ASB guideline 2019. See references.</a:t>
            </a:r>
          </a:p>
          <a:p xmlns:a="http://schemas.openxmlformats.org/drawingml/2006/main">
            <a:r>
              <a:t/>
            </a:r>
          </a:p>
          <a:p xmlns:a="http://schemas.openxmlformats.org/drawingml/2006/main">
            <a:r>
              <a:t>Module section: https://docarcshot.github.io/id-practice-update/lectures/Recurrent_UTI_Evaluation_and_Prevention.html#diagnosis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2. Symptoms matter more than a positive culture Presentation Interpretation and action New dysuria, frequency, urgency, suprapubic discomfort, sometimes visible hematuria Compatible with acute cystitis, especially when new relative to baseline. Obtain urinalysis and urine culture for each suspected recurrence before antibiotics when feasible. Interpret contamination and prior culture history. Fever, rigors, flank pain, CVA tenderness, vomiting, systemic illness Evaluate for pyelonephritis, obstruction, bacteremia, and other sources. Assess severity, renal function, and need for imaging or admission. Positive culture but no attributable urinary symptoms Asymptomatic bacteriuria (ASB), usually do not treat regardless of pyuria, odor, cloudiness, organism, or colony count. Main exceptions are pregnancy and before endoscopic urologic procedures with anticipated mucosal trauma. Chronic urgency, nocturia, incontinence, pelvic pain without a convincing new change Do not equate chronic baseline symptoms or pyuria with active UTI. Evaluate noninfectious causes. Delirium or fall alone in an older adult with bacteriuria, no focal urinary or systemic signs Search for other causes and observe. Positive culture alone does not establish infection. In hemodynamic instability, evaluate and treat suspected sepsis without assuming a urinary source. Catheter or spinal cord injury Chronic bacteriuria is expected. New fever, malaise, autonomic dysreflexia, spasticity, pelvic/flank discomfort, catheter obstruction, or other new compatible findings may prompt evaluation. Symptoms can be atypical; do not screen or treat stable bacteriuria. 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 AUA 2025; IDSA ASB guideline 2019. See references.</a:t>
            </a:r>
          </a:p>
          <a:p xmlns:a="http://schemas.openxmlformats.org/drawingml/2006/main">
            <a:r>
              <a:t/>
            </a:r>
          </a:p>
          <a:p xmlns:a="http://schemas.openxmlformats.org/drawingml/2006/main">
            <a:r>
              <a:t>Module section: https://docarcshot.github.io/id-practice-update/lectures/Recurrent_UTI_Evaluation_and_Prevention.html#diagnosis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the bladder is not the source of the symptoms Alternative Clues How to evaluate Genitourinary syndrome of menopause Dryness, irritation, dyspareunia, chronic dysuria; peri/postmenopause Focused vulvovaginal examination for atrophy and other lesions; assess vaginal symptoms and estrogen status. Vaginitis, vulvitis, STI/urethritis Discharge, pruritus, vulvar burning, new partner, urethral symptoms Pelvic/vulvar exam, vaginal pH/wet prep or validated NAAT as appropriate; gonorrhea/chlamydia NAAT and other STI tests according to risk. Overactive bladder or incontinence Urgency/frequency without pain or inflammatory syndrome; leakage Bladder diary, medications and fluid review, pelvic assessment; postvoid residual if retention suspected. Bladder pain syndrome / interstitial cystitis Bladder-associated pain or pressure for at least six weeks, worse with filling and relieved by voiding; repeated negative cultures History, examination, urinalysis/culture to exclude infection; assess pelvic floor. Cystoscopy only for selected indications, not universally diagnostic. Pelvic floor dysfunction Pelvic tenderness, difficult voiding, dyspareunia, constipation Pelvic floor examination and referral for pelvic floor physical therapy when indicated. Stone, tumor, inflammatory or structural lesion Hematuria, colicky pain, unilateral symptoms, persistent same-organism recurrence Renal/bladder imaging; cystoscopy when indicated by hematuria risk, structural concern, or atypical course. Prostatitis or urethral obstruction (men) Perineal pain, obstructive symptoms, recurrent same organism Focused history/exam, postvoid residual, prostate evaluation and urology referral when appropriate. Do not use short bladder-only regimens for suspected prostatic infection.</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the bladder is not the source of the symptoms Alternative Clues How to evaluate Genitourinary syndrome of menopause Dryness, irritation, dyspareunia, chronic dysuria; peri/postmenopause Focused vulvovaginal examination for atrophy and other lesions; assess vaginal symptoms and estrogen status. Vaginitis, vulvitis, STI/urethritis Discharge, pruritus, vulvar burning, new partner, urethral symptoms Pelvic/vulvar exam, vaginal pH/wet prep or validated NAAT as appropriate; gonorrhea/chlamydia NAAT and other STI tests according to risk. Overactive bladder or incontinence Urgency/frequency without pain or inflammatory syndrome; leakage Bladder diary, medications and fluid review, pelvic assessment; postvoid residual if retention suspected. Bladder pain syndrome / interstitial cystitis Bladder-associated pain or pressure for at least six weeks, worse with filling and relieved by voiding; repeated negative cultures History, examination, urinalysis/culture to exclude infection; assess pelvic floor. Cystoscopy only for selected indications, not universally diagnostic. Pelvic floor dysfunction Pelvic tenderness, difficult voiding, dyspareunia, constipation Pelvic floor examination and referral for pelvic floor physical therapy when indicated. Stone, tumor, inflammatory or structural lesion Hematuria, colicky pain, unilateral symptoms, persistent same-organism recurrence Renal/bladder imaging; cystoscopy when indicated by hematuria risk, structural concern, or atypical course. Prostatitis or urethral obstruction (men) Perineal pain, obstructive symptoms, recurrent same organism Focused history/exam, postvoid residual, prostate evaluation and urology referral when appropriate. Do not use short bladder-only regimens for suspected prostatic infection.</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the bladder is not the source of the symptoms Alternative Clues How to evaluate Genitourinary syndrome of menopause Dryness, irritation, dyspareunia, chronic dysuria; peri/postmenopause Focused vulvovaginal examination for atrophy and other lesions; assess vaginal symptoms and estrogen status. Vaginitis, vulvitis, STI/urethritis Discharge, pruritus, vulvar burning, new partner, urethral symptoms Pelvic/vulvar exam, vaginal pH/wet prep or validated NAAT as appropriate; gonorrhea/chlamydia NAAT and other STI tests according to risk. Overactive bladder or incontinence Urgency/frequency without pain or inflammatory syndrome; leakage Bladder diary, medications and fluid review, pelvic assessment; postvoid residual if retention suspected. Bladder pain syndrome / interstitial cystitis Bladder-associated pain or pressure for at least six weeks, worse with filling and relieved by voiding; repeated negative cultures History, examination, urinalysis/culture to exclude infection; assess pelvic floor. Cystoscopy only for selected indications, not universally diagnostic. Pelvic floor dysfunction Pelvic tenderness, difficult voiding, dyspareunia, constipation Pelvic floor examination and referral for pelvic floor physical therapy when indicated. Stone, tumor, inflammatory or structural lesion Hematuria, colicky pain, unilateral symptoms, persistent same-organism recurrence Renal/bladder imaging; cystoscopy when indicated by hematuria risk, structural concern, or atypical course. Prostatitis or urethral obstruction (men) Perineal pain, obstructive symptoms, recurrent same organism Focused history/exam, postvoid residual, prostate evaluation and urology referral when appropriate. Do not use short bladder-only regimens for suspected prostatic infection.</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the bladder is not the source of the symptoms Alternative Clues How to evaluate Genitourinary syndrome of menopause Dryness, irritation, dyspareunia, chronic dysuria; peri/postmenopause Focused vulvovaginal examination for atrophy and other lesions; assess vaginal symptoms and estrogen status. Vaginitis, vulvitis, STI/urethritis Discharge, pruritus, vulvar burning, new partner, urethral symptoms Pelvic/vulvar exam, vaginal pH/wet prep or validated NAAT as appropriate; gonorrhea/chlamydia NAAT and other STI tests according to risk. Overactive bladder or incontinence Urgency/frequency without pain or inflammatory syndrome; leakage Bladder diary, medications and fluid review, pelvic assessment; postvoid residual if retention suspected. Bladder pain syndrome / interstitial cystitis Bladder-associated pain or pressure for at least six weeks, worse with filling and relieved by voiding; repeated negative cultures History, examination, urinalysis/culture to exclude infection; assess pelvic floor. Cystoscopy only for selected indications, not universally diagnostic. Pelvic floor dysfunction Pelvic tenderness, difficult voiding, dyspareunia, constipation Pelvic floor examination and referral for pelvic floor physical therapy when indicated. Stone, tumor, inflammatory or structural lesion Hematuria, colicky pain, unilateral symptoms, persistent same-organism recurrence Renal/bladder imaging; cystoscopy when indicated by hematuria risk, structural concern, or atypical course. Prostatitis or urethral obstruction (men) Perineal pain, obstructive symptoms, recurrent same organism Focused history/exam, postvoid residual, prostate evaluation and urology referral when appropriate. Do not use short bladder-only regimens for suspected prostatic infection.</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the bladder is not the source of the symptoms Alternative Clues How to evaluate Genitourinary syndrome of menopause Dryness, irritation, dyspareunia, chronic dysuria; peri/postmenopause Focused vulvovaginal examination for atrophy and other lesions; assess vaginal symptoms and estrogen status. Vaginitis, vulvitis, STI/urethritis Discharge, pruritus, vulvar burning, new partner, urethral symptoms Pelvic/vulvar exam, vaginal pH/wet prep or validated NAAT as appropriate; gonorrhea/chlamydia NAAT and other STI tests according to risk. Overactive bladder or incontinence Urgency/frequency without pain or inflammatory syndrome; leakage Bladder diary, medications and fluid review, pelvic assessment; postvoid residual if retention suspected. Bladder pain syndrome / interstitial cystitis Bladder-associated pain or pressure for at least six weeks, worse with filling and relieved by voiding; repeated negative cultures History, examination, urinalysis/culture to exclude infection; assess pelvic floor. Cystoscopy only for selected indications, not universally diagnostic. Pelvic floor dysfunction Pelvic tenderness, difficult voiding, dyspareunia, constipation Pelvic floor examination and referral for pelvic floor physical therapy when indicated. Stone, tumor, inflammatory or structural lesion Hematuria, colicky pain, unilateral symptoms, persistent same-organism recurrence Renal/bladder imaging; cystoscopy when indicated by hematuria risk, structural concern, or atypical course. Prostatitis or urethral obstruction (men) Perineal pain, obstructive symptoms, recurrent same organism Focused history/exam, postvoid residual, prostate evaluation and urology referral when appropriate. Do not use short bladder-only regimens for suspected prostatic infection.</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the bladder is not the source of the symptoms Alternative Clues How to evaluate Genitourinary syndrome of menopause Dryness, irritation, dyspareunia, chronic dysuria; peri/postmenopause Focused vulvovaginal examination for atrophy and other lesions; assess vaginal symptoms and estrogen status. Vaginitis, vulvitis, STI/urethritis Discharge, pruritus, vulvar burning, new partner, urethral symptoms Pelvic/vulvar exam, vaginal pH/wet prep or validated NAAT as appropriate; gonorrhea/chlamydia NAAT and other STI tests according to risk. Overactive bladder or incontinence Urgency/frequency without pain or inflammatory syndrome; leakage Bladder diary, medications and fluid review, pelvic assessment; postvoid residual if retention suspected. Bladder pain syndrome / interstitial cystitis Bladder-associated pain or pressure for at least six weeks, worse with filling and relieved by voiding; repeated negative cultures History, examination, urinalysis/culture to exclude infection; assess pelvic floor. Cystoscopy only for selected indications, not universally diagnostic. Pelvic floor dysfunction Pelvic tenderness, difficult voiding, dyspareunia, constipation Pelvic floor examination and referral for pelvic floor physical therapy when indicated. Stone, tumor, inflammatory or structural lesion Hematuria, colicky pain, unilateral symptoms, persistent same-organism recurrence Renal/bladder imaging; cystoscopy when indicated by hematuria risk, structural concern, or atypical course. Prostatitis or urethral obstruction (men) Perineal pain, obstructive symptoms, recurrent same organism Focused history/exam, postvoid residual, prostate evaluation and urology referral when appropriate. Do not use short bladder-only regimens for suspected prostatic infection.</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3. When the bladder is not the source of the symptoms Alternative Clues How to evaluate Genitourinary syndrome of menopause Dryness, irritation, dyspareunia, chronic dysuria; peri/postmenopause Focused vulvovaginal examination for atrophy and other lesions; assess vaginal symptoms and estrogen status. Vaginitis, vulvitis, STI/urethritis Discharge, pruritus, vulvar burning, new partner, urethral symptoms Pelvic/vulvar exam, vaginal pH/wet prep or validated NAAT as appropriate; gonorrhea/chlamydia NAAT and other STI tests according to risk. Overactive bladder or incontinence Urgency/frequency without pain or inflammatory syndrome; leakage Bladder diary, medications and fluid review, pelvic assessment; postvoid residual if retention suspected. Bladder pain syndrome / interstitial cystitis Bladder-associated pain or pressure for at least six weeks, worse with filling and relieved by voiding; repeated negative cultures History, examination, urinalysis/culture to exclude infection; assess pelvic floor. Cystoscopy only for selected indications, not universally diagnostic. Pelvic floor dysfunction Pelvic tenderness, difficult voiding, dyspareunia, constipation Pelvic floor examination and referral for pelvic floor physical therapy when indicated. Stone, tumor, inflammatory or structural lesion Hematuria, colicky pain, unilateral symptoms, persistent same-organism recurrence Renal/bladder imaging; cystoscopy when indicated by hematuria risk, structural concern, or atypical course. Prostatitis or urethral obstruction (men) Perineal pain, obstructive symptoms, recurrent same organism Focused history/exam, postvoid residual, prostate evaluation and urology referral when appropriate. Do not use short bladder-only regimens for suspected prostatic infection.</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4. Look for a persistent reservoir when the pattern warrants it 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 Clue Targeted workup Possible intervention Proteus, other urease-producing organisms, recurrent same isolate, stone history, hematuria Renal/bladder ultrasound or noncontrast CT when stone suspicion is high; assess stone burden and obstruction Urology for infected stone or staghorn calculus management. Antibiotics alone rarely sterilize a retained infected stone. High residual, weak stream, prolapse, neurogenic bladder, constipation, anticholinergic use Postvoid residual by bladder scan, medication review, pelvic/prostate examination; selective urodynamics Relieve retention, address prolapse/constipation, revise medications and catheterization plan. Hydronephrosis, recurrent pyelonephritis, renal dysfunction, flank pain Renal/bladder ultrasound, CT according to question and acuity; evaluate for obstruction Urgent decompression if infected obstructed system; later definitive source control. Catheter, stent, nephrostomy, foreign body Assess indication, drainage, exchange interval and obstruction; imaging if persistent symptoms Remove device when possible, replace when indicated. Do not attempt chronic urine sterilization. Pneumaturia/fecaluria, recurrent polymicrobial enteric flora CT abdomen/pelvis with appropriate protocol; urology/colorectal evaluation for fistula Manage fistula and associated bowel pathology. Unexplained gross hematuria or persistent microscopic hematuria after infection resolves Risk-based hematuria workup including cystoscopy and upper tract imaging when indicated Rule out malignancy rather than attributing all bleeding to UTI. Routine cystoscopy and upper-tract imaging are not recommended in the otherwise uncomplicated index patient. Order them when atypical features, poor response, suspected relapse, hematuria, stones, obstruction, or renal involvement change the pretest probability.</a:t>
            </a:r>
          </a:p>
          <a:p xmlns:a="http://schemas.openxmlformats.org/drawingml/2006/main">
            <a:r>
              <a:t/>
            </a:r>
          </a:p>
          <a:p xmlns:a="http://schemas.openxmlformats.org/drawingml/2006/main">
            <a:r>
              <a:t>Module section: https://docarcshot.github.io/id-practice-update/lectures/Recurrent_UTI_Evaluation_and_Prevention.html#source</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5. Prevention options and what the trials actually show Option Evidence / expected benefit Tolerability, limitations and cautions Vaginal estrogen, e.g., estradiol 10 micrograms vaginally twice weekly after a daily two-week initiation, or low-dose cream/ring Recommended for peri/postmenopausal women with recurrent UTI when appropriate; improves local estrogen deficiency and reduces recurrence. Systemic estrogen is not a UTI preventive substitute. Local irritation/discharge or spotting. Evaluate unexplained bleeding. Discuss breast cancer history with oncology when relevant; systemic absorption varies by preparation but is generally low with low-dose local therapy. Increase fluids if low intake In 140 premenopausal women drinking less than 1.5 L/day, an additional ~1.5 L water/day reduced mean cystitis episodes from 3.2 to 1.7 over 12 months. Trial applies to low baseline intake. Avoid forced fluids with heart failure, hyponatremia, or fluid restriction; may worsen frequency/nocturia. Cranberry products Modest preventive benefit in women with recurrent UTI; 2023 Cochrane estimate RR 0.74 (95% CI 0.55–0.99) for symptomatic culture-verified UTI in this subgroup. Juice sugar/calories, GI symptoms, inconsistent proanthocyanidin content; optimal product and dose not firmly established. Caution with warfarin interactions and stone history, especially concentrated high-oxalate products. Methenamine hippurate 1 g orally twice daily ALTAR: 1.38 versus 0.89 antibiotic-treated symptomatic episodes/person-year with methenamine versus daily antibiotic, difference 0.49 (90% CI 0.15–0.84); met prespecified noninferiority margin of 1 episode/person-year. 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 Postcoital single-dose antibiotic Effective when episodes follow intercourse; often much less antibiotic exposure than daily suppression. Requires a clear trigger, susceptibility-informed selection; adverse effects and resistance remain possible. Patient-initiated short-course treatment Can shorten delay to treatment for patients who reliably recognize symptoms; not preventive. Collect urine before starting when practical and arrange follow-up if nonresponse, fever, or atypical symptoms. Avoid indiscriminate standing antibiotic use. Continuous low-dose antibiotic, usually trial 3–6 months then reassess Strong reduction in recurrences while taking therapy; recurrence often returns after discontinuation. Resistance, microbiome effects, C. difficile, drug-specific toxicity. Selection guided by cultures, allergy, renal function, tolerability, and shared decision-making. D-mannose 2 g/day Large 2024 placebo-controlled trial did not show meaningful reduction (51.0% vs 55.7% had clinically suspected UTI). Not recommended as a stand-alone preventive. Cost, GI upset, uncertain quality; do not present as equivalent to established options. Probiotics, vitamin C, hygiene rituals Insufficient consistent benefit to recommend as primary prophylaxis. Avoid spermicide if relevant; correct bowel/bladder factors. Product variability; vitamin C may raise urinary oxalate and stone risk at high doses, and does not reliably improve methenamine efficacy. AUA 2025; EAU 2026; ALTAR 2022; Hooton 2018; Cochrane cranberry 2023; Hayward 2024. See references.</a:t>
            </a:r>
          </a:p>
          <a:p xmlns:a="http://schemas.openxmlformats.org/drawingml/2006/main">
            <a:r>
              <a:t/>
            </a:r>
          </a:p>
          <a:p xmlns:a="http://schemas.openxmlformats.org/drawingml/2006/main">
            <a:r>
              <a:t>Module section: https://docarcshot.github.io/id-practice-update/lectures/Recurrent_UTI_Evaluation_and_Prevention.html#prevention</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6. Suppressive antibiotics when needed 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 Drug Continuous dose Postcoital dose Major limitation Nitrofurantoin macrocrystals 50–100 mg PO nightly 50–100 mg PO once after intercourse 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 Trimethoprim-sulfamethoxazole 40/200 mg PO nightly or three times weekly 40/200 to 80/400 mg PO once Rash/SCAR, cytopenias, hyperkalemia, AKI, drug interactions (ACEi/ARB, spironolactone, warfarin); renal adjustment when CrCl &lt;30. Monitor CBC, creatinine, potassium. Trimethoprim alone 100 mg PO nightly 100 mg PO once Hyperkalemia, marrow effects and renal adjustment; US availability varies. Cephalexin 125–250 mg PO nightly 250 mg PO once GI effects, candidiasis, C. difficile, selection of resistant flora; renal dose adjustment in CKD. 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 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 Before starting suppression 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a:p xmlns:a="http://schemas.openxmlformats.org/drawingml/2006/main">
            <a:r>
              <a:t/>
            </a:r>
          </a:p>
          <a:p xmlns:a="http://schemas.openxmlformats.org/drawingml/2006/main">
            <a:r>
              <a:t>Module section: https://docarcshot.github.io/id-practice-update/lectures/Recurrent_UTI_Evaluation_and_Prevention.html#antibiotics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Acute treatment and follow-up Treat each symptomatic recurrence according to syndrome, prior cultures, current susceptibility, renal function, allergies, and recent drug exposure. For uncomplicated cystitis, use a short effective regimen (e.g., nitrofurantoin 100 mg twice daily for five days, TMP-SMX DS twice daily for three days when susceptible and appropriate, or fosfomycin 3 g once for susceptible E. coli with awareness of limitations). A positive urine culture alone is not an indication to escalate. Avoid routine post-treatment cultures if symptoms resolve. Persistent symptoms after 48–72 hours, relapse within days, fever, flank pain, or progressive illness should prompt reassessment of culture, antibiotic exposure, alternative diagnoses, and source control. Treat infected obstruction as urgent.</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7. Acute treatment and follow-up Treat each symptomatic recurrence according to syndrome, prior cultures, current susceptibility, renal function, allergies, and recent drug exposure. For uncomplicated cystitis, use a short effective regimen (e.g., nitrofurantoin 100 mg twice daily for five days, TMP-SMX DS twice daily for three days when susceptible and appropriate, or fosfomycin 3 g once for susceptible E. coli with awareness of limitations). A positive urine culture alone is not an indication to escalate. Avoid routine post-treatment cultures if symptoms resolve. Persistent symptoms after 48–72 hours, relapse within days, fever, flank pain, or progressive illness should prompt reassessment of culture, antibiotic exposure, alternative diagnoses, and source control. Treat infected obstruction as urgent.</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discussion A 71-year-old with chronic frequency, no new urinary symptoms, and urine culture with ESBL E. coli . She has requested another antibiotic. Discussion Do not treat ASB. Determine what, if anything, changed from baseline. Evaluate atrophy, incontinence, retention, medications, and bladder symptoms. A resistant isolate does not convert colonization into infection. A 39-year-old has four culture-confirmed cystitis episodes in a year, each within 48 hours after intercourse. Normal exam, no hematuria, no febrile episodes. Discussion No routine CT or cystoscopy. Avoid spermicide, discuss postcoital prophylaxis based on susceptibility versus patient-initiated treatment, and review whether nonantibiotic measures are preferred. A 63-year-old has recurrent Proteus bacteriuria and febrile episodes after antibiotics. She has a history of stones. Discussion Image for stone and obstruction, particularly struvite/infected calculi. Urology source control is central; repeated suppressive antibiotics without source evaluation may fail.</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discussion A 71-year-old with chronic frequency, no new urinary symptoms, and urine culture with ESBL E. coli . She has requested another antibiotic. Discussion Do not treat ASB. Determine what, if anything, changed from baseline. Evaluate atrophy, incontinence, retention, medications, and bladder symptoms. A resistant isolate does not convert colonization into infection. A 39-year-old has four culture-confirmed cystitis episodes in a year, each within 48 hours after intercourse. Normal exam, no hematuria, no febrile episodes. Discussion No routine CT or cystoscopy. Avoid spermicide, discuss postcoital prophylaxis based on susceptibility versus patient-initiated treatment, and review whether nonantibiotic measures are preferred. A 63-year-old has recurrent Proteus bacteriuria and febrile episodes after antibiotics. She has a history of stones. Discussion Image for stone and obstruction, particularly struvite/infected calculi. Urology source control is central; repeated suppressive antibiotics without source evaluation may fail.</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discussion A 71-year-old with chronic frequency, no new urinary symptoms, and urine culture with ESBL E. coli . She has requested another antibiotic. Discussion Do not treat ASB. Determine what, if anything, changed from baseline. Evaluate atrophy, incontinence, retention, medications, and bladder symptoms. A resistant isolate does not convert colonization into infection. A 39-year-old has four culture-confirmed cystitis episodes in a year, each within 48 hours after intercourse. Normal exam, no hematuria, no febrile episodes. Discussion No routine CT or cystoscopy. Avoid spermicide, discuss postcoital prophylaxis based on susceptibility versus patient-initiated treatment, and review whether nonantibiotic measures are preferred. A 63-year-old has recurrent Proteus bacteriuria and febrile episodes after antibiotics. She has a history of stones. Discussion Image for stone and obstruction, particularly struvite/infected calculi. Urology source control is central; repeated suppressive antibiotics without source evaluation may fail.</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Acute complicated UTI and the 2025 IDSA guideline These recommendations apply to acute cUTI, including pyelonephritis, not asymptomatic bacteriuria or routine recurrent-cystitis prevention. Decision Recommended approach and limitation Empiric therapy 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 Culture results De-escalate to the narrowest effective regimen once susceptibilities are available. An effective cUTI antibiotic must reach the urine and relevant tissue; bloodstream exposure also matters with bacteremia. IV to oral 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 Duration For improving cUTI, use 5–7 days of an effective fluoroquinolone or 7 days of an effective non-fluoroquinolone, counted from the first day of effective therapy. In improving cUTI with Gram-negative bacteremia, 7 days is suggested over 14 days. Exceptions and uncertainty 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 Failure to improve promptly should trigger reassessment for obstruction, retained stone, abscess, inadequate drug exposure or another diagnosis rather than automatic antibiotic extension. The cUTI guideline does not provide a treatment algorithm for chronic urinary symptoms. Trautner et al., IDSA 2025 cUTI guideline: empiric and definitive therapy, IV-to-oral transition, and duration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Acute complicated UTI and the 2025 IDSA guideline These recommendations apply to acute cUTI, including pyelonephritis, not asymptomatic bacteriuria or routine recurrent-cystitis prevention. Decision Recommended approach and limitation Empiric therapy 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 Culture results De-escalate to the narrowest effective regimen once susceptibilities are available. An effective cUTI antibiotic must reach the urine and relevant tissue; bloodstream exposure also matters with bacteremia. IV to oral 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 Duration For improving cUTI, use 5–7 days of an effective fluoroquinolone or 7 days of an effective non-fluoroquinolone, counted from the first day of effective therapy. In improving cUTI with Gram-negative bacteremia, 7 days is suggested over 14 days. Exceptions and uncertainty 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 Failure to improve promptly should trigger reassessment for obstruction, retained stone, abscess, inadequate drug exposure or another diagnosis rather than automatic antibiotic extension. The cUTI guideline does not provide a treatment algorithm for chronic urinary symptoms. Trautner et al., IDSA 2025 cUTI guideline: empiric and definitive therapy, IV-to-oral transition, and duration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Acute complicated UTI and the 2025 IDSA guideline These recommendations apply to acute cUTI, including pyelonephritis, not asymptomatic bacteriuria or routine recurrent-cystitis prevention. Decision Recommended approach and limitation Empiric therapy 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 Culture results De-escalate to the narrowest effective regimen once susceptibilities are available. An effective cUTI antibiotic must reach the urine and relevant tissue; bloodstream exposure also matters with bacteremia. IV to oral 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 Duration For improving cUTI, use 5–7 days of an effective fluoroquinolone or 7 days of an effective non-fluoroquinolone, counted from the first day of effective therapy. In improving cUTI with Gram-negative bacteremia, 7 days is suggested over 14 days. Exceptions and uncertainty 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 Failure to improve promptly should trigger reassessment for obstruction, retained stone, abscess, inadequate drug exposure or another diagnosis rather than automatic antibiotic extension. The cUTI guideline does not provide a treatment algorithm for chronic urinary symptoms. Trautner et al., IDSA 2025 cUTI guideline: empiric and definitive therapy, IV-to-oral transition, and duration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Acute complicated UTI and the 2025 IDSA guideline These recommendations apply to acute cUTI, including pyelonephritis, not asymptomatic bacteriuria or routine recurrent-cystitis prevention. Decision Recommended approach and limitation Empiric therapy 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 Culture results De-escalate to the narrowest effective regimen once susceptibilities are available. An effective cUTI antibiotic must reach the urine and relevant tissue; bloodstream exposure also matters with bacteremia. IV to oral 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 Duration For improving cUTI, use 5–7 days of an effective fluoroquinolone or 7 days of an effective non-fluoroquinolone, counted from the first day of effective therapy. In improving cUTI with Gram-negative bacteremia, 7 days is suggested over 14 days. Exceptions and uncertainty 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 Failure to improve promptly should trigger reassessment for obstruction, retained stone, abscess, inadequate drug exposure or another diagnosis rather than automatic antibiotic extension. The cUTI guideline does not provide a treatment algorithm for chronic urinary symptoms. Trautner et al., IDSA 2025 cUTI guideline: empiric and definitive therapy, IV-to-oral transition, and duration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Acute complicated UTI and the 2025 IDSA guideline These recommendations apply to acute cUTI, including pyelonephritis, not asymptomatic bacteriuria or routine recurrent-cystitis prevention. Decision Recommended approach and limitation Empiric therapy 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 Culture results De-escalate to the narrowest effective regimen once susceptibilities are available. An effective cUTI antibiotic must reach the urine and relevant tissue; bloodstream exposure also matters with bacteremia. IV to oral 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 Duration For improving cUTI, use 5–7 days of an effective fluoroquinolone or 7 days of an effective non-fluoroquinolone, counted from the first day of effective therapy. In improving cUTI with Gram-negative bacteremia, 7 days is suggested over 14 days. Exceptions and uncertainty 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 Failure to improve promptly should trigger reassessment for obstruction, retained stone, abscess, inadequate drug exposure or another diagnosis rather than automatic antibiotic extension. The cUTI guideline does not provide a treatment algorithm for chronic urinary symptoms. Trautner et al., IDSA 2025 cUTI guideline: empiric and definitive therapy, IV-to-oral transition, and duration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Acute complicated UTI and the 2025 IDSA guideline These recommendations apply to acute cUTI, including pyelonephritis, not asymptomatic bacteriuria or routine recurrent-cystitis prevention. Decision Recommended approach and limitation Empiric therapy 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 Culture results De-escalate to the narrowest effective regimen once susceptibilities are available. An effective cUTI antibiotic must reach the urine and relevant tissue; bloodstream exposure also matters with bacteremia. IV to oral 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 Duration For improving cUTI, use 5–7 days of an effective fluoroquinolone or 7 days of an effective non-fluoroquinolone, counted from the first day of effective therapy. In improving cUTI with Gram-negative bacteremia, 7 days is suggested over 14 days. Exceptions and uncertainty 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 Failure to improve promptly should trigger reassessment for obstruction, retained stone, abscess, inadequate drug exposure or another diagnosis rather than automatic antibiotic extension. The cUTI guideline does not provide a treatment algorithm for chronic urinary symptoms. Trautner et al., IDSA 2025 cUTI guideline: empiric and definitive therapy, IV-to-oral transition, and duration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9. Acute complicated UTI and the 2025 IDSA guideline These recommendations apply to acute cUTI, including pyelonephritis, not asymptomatic bacteriuria or routine recurrent-cystitis prevention. Decision Recommended approach and limitation Empiric therapy 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 Culture results De-escalate to the narrowest effective regimen once susceptibilities are available. An effective cUTI antibiotic must reach the urine and relevant tissue; bloodstream exposure also matters with bacteremia. IV to oral 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 Duration For improving cUTI, use 5–7 days of an effective fluoroquinolone or 7 days of an effective non-fluoroquinolone, counted from the first day of effective therapy. In improving cUTI with Gram-negative bacteremia, 7 days is suggested over 14 days. Exceptions and uncertainty 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 Failure to improve promptly should trigger reassessment for obstruction, retained stone, abscess, inadequate drug exposure or another diagnosis rather than automatic antibiotic extension. The cUTI guideline does not provide a treatment algorithm for chronic urinary symptoms. Trautner et al., IDSA 2025 cUTI guideline: empiric and definitive therapy, IV-to-oral transition, and duration .</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discussion A 71-year-old with chronic frequency, no new urinary symptoms, and urine culture with ESBL E. coli . She has requested another antibiotic. Discussion Do not treat ASB. Determine what, if anything, changed from baseline. Evaluate atrophy, incontinence, retention, medications, and bladder symptoms. A resistant isolate does not convert colonization into infection. A 39-year-old has four culture-confirmed cystitis episodes in a year, each within 48 hours after intercourse. Normal exam, no hematuria, no febrile episodes. Discussion No routine CT or cystoscopy. Avoid spermicide, discuss postcoital prophylaxis based on susceptibility versus patient-initiated treatment, and review whether nonantibiotic measures are preferred. A 63-year-old has recurrent Proteus bacteriuria and febrile episodes after antibiotics. She has a history of stones. Discussion Image for stone and obstruction, particularly struvite/infected calculi. Urology source control is central; repeated suppressive antibiotics without source evaluation may fail.</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discussion A 71-year-old with chronic frequency, no new urinary symptoms, and urine culture with ESBL E. coli . She has requested another antibiotic. Discussion Do not treat ASB. Determine what, if anything, changed from baseline. Evaluate atrophy, incontinence, retention, medications, and bladder symptoms. A resistant isolate does not convert colonization into infection. A 39-year-old has four culture-confirmed cystitis episodes in a year, each within 48 hours after intercourse. Normal exam, no hematuria, no febrile episodes. Discussion No routine CT or cystoscopy. Avoid spermicide, discuss postcoital prophylaxis based on susceptibility versus patient-initiated treatment, and review whether nonantibiotic measures are preferred. A 63-year-old has recurrent Proteus bacteriuria and febrile episodes after antibiotics. She has a history of stones. Discussion Image for stone and obstruction, particularly struvite/infected calculi. Urology source control is central; repeated suppressive antibiotics without source evaluation may fail.</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8. Cases for discussion A 71-year-old with chronic frequency, no new urinary symptoms, and urine culture with ESBL E. coli . She has requested another antibiotic. Discussion Do not treat ASB. Determine what, if anything, changed from baseline. Evaluate atrophy, incontinence, retention, medications, and bladder symptoms. A resistant isolate does not convert colonization into infection. A 39-year-old has four culture-confirmed cystitis episodes in a year, each within 48 hours after intercourse. Normal exam, no hematuria, no febrile episodes. Discussion No routine CT or cystoscopy. Avoid spermicide, discuss postcoital prophylaxis based on susceptibility versus patient-initiated treatment, and review whether nonantibiotic measures are preferred. A 63-year-old has recurrent Proteus bacteriuria and febrile episodes after antibiotics. She has a history of stones. Discussion Image for stone and obstruction, particularly struvite/infected calculi. Urology source control is central; repeated suppressive antibiotics without source evaluation may fail.</a:t>
            </a:r>
          </a:p>
          <a:p xmlns:a="http://schemas.openxmlformats.org/drawingml/2006/main">
            <a:r>
              <a:t/>
            </a:r>
          </a:p>
          <a:p xmlns:a="http://schemas.openxmlformats.org/drawingml/2006/main">
            <a:r>
              <a:t>Module section: https://docarcshot.github.io/id-practice-update/lectures/Recurrent_UTI_Evaluation_and_Prevention.html</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Relapse, devices and special populations Repeated same-species growth does not prove a genetically identical strain. A short symptom-free interval after apparently adequate therapy changes the probability of a reservoir and should prompt review of culture collection, adherence, drug penetration, upper tract involvement, and device/stone status. Consider prostatic infection in men and occult obstruction with febrile relapses. In indwelling-catheter or intermittent-catheter users, avoid routine prophylaxis and surveillance cultures as a default. Assess obstruction, catheter necessity and technique, bladder pressures/emptying, and stone burden. Evidence from uncomplicated women is not directly applicable. In neurogenic bladder, distinguish individual baseline symptoms and true new changes; specialist evaluation may be necessary. Pregnancy has different screening, treatment and prophylaxis decisions.</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Relapse, devices and special populations Repeated same-species growth does not prove a genetically identical strain. A short symptom-free interval after apparently adequate therapy changes the probability of a reservoir and should prompt review of culture collection, adherence, drug penetration, upper tract involvement, and device/stone status. Consider prostatic infection in men and occult obstruction with febrile relapses. In indwelling-catheter or intermittent-catheter users, avoid routine prophylaxis and surveillance cultures as a default. Assess obstruction, catheter necessity and technique, bladder pressures/emptying, and stone burden. Evidence from uncomplicated women is not directly applicable. In neurogenic bladder, distinguish individual baseline symptoms and true new changes; specialist evaluation may be necessary. Pregnancy has different screening, treatment and prophylaxis decisions.</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Stones, urinary pH and preventive products Struvite stones arise with urease-producing organisms; remove infected stone burden when feasible. Other stones can still predispose to recurrent infection through obstruction or bacterial persistence. Consider stone analysis and metabolic evaluation for recurrent stone formers. High-dose ascorbic acid may increase urinary oxalate. Cranberry products are not proven to prevent stones and concentrated products may add oxalate; the magnitude of stone risk varies by formulation and evidence is limited. Methenamine hydrolyzes to formaldehyde in acidic urine, with poor activity when urine is alkaline. Proteus may alkalinize urine, undermining efficacy. Methenamine is not a replacement for drainage of infected obstruction. US labeling contraindicates renal insufficiency without specifying a CrCl threshold; do not present a fixed cutoff as a product-label fact. Some trials excluded advanced CKD, so extrapolation is unsafe.</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Stones, urinary pH and preventive products Struvite stones arise with urease-producing organisms; remove infected stone burden when feasible. Other stones can still predispose to recurrent infection through obstruction or bacterial persistence. Consider stone analysis and metabolic evaluation for recurrent stone formers. High-dose ascorbic acid may increase urinary oxalate. Cranberry products are not proven to prevent stones and concentrated products may add oxalate; the magnitude of stone risk varies by formulation and evidence is limited. Methenamine hydrolyzes to formaldehyde in acidic urine, with poor activity when urine is alkaline. Proteus may alkalinize urine, undermining efficacy. Methenamine is not a replacement for drainage of infected obstruction. US labeling contraindicates renal insufficiency without specifying a CrCl threshold; do not present a fixed cutoff as a product-label fact. Some trials excluded advanced CKD, so extrapolation is unsafe.</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Emerging options: separate treatment from prevention Approach Status as of October 2026 Interpretation Gepotidacin (Blujepa) FDA-approved in 2025 for susceptible uncomplicated UTI in females aged 12 years and older weighing at least 40 kg; 1,500 mg PO twice daily for five days Acute treatment, not prevention. Consider QT/drug interactions, renal restrictions, susceptibility and access. Pivmecillinam (Pivya) FDA-approved in 2024 for uncomplicated UTI in adult women due to specified susceptible organisms Another acute treatment option, not suppressive prophylaxis. Check availability and label. Oral sulopenem etzadroxil/probenecid (Orlynvah) FDA-approved in 2024 for selected adult women with uncomplicated UTI who have limited or no alternative oral options Restricted acute-treatment niche; not routine prevention. MV140 sublingual bacterial immunotherapy Randomized prevention data are promising; not FDA-approved for recurrent UTI prevention in the United States Trial populations and access vary. Avoid implying vaccine efficacy is settled or available locally. Other bacterial vaccines, microbiome approaches, intravesical agents, phage therapy Investigational or variably available outside the US Not routine substitutes for culture-based diagnosis and correction of structural problems. Novel acute antibiotics do not solve recurrent bacteriuria, and they should not be prescribed as prophylaxis without evidence. Review current FDA labeling when considering a recently approved agent.</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Emerging options: separate treatment from prevention Approach Status as of October 2026 Interpretation Gepotidacin (Blujepa) FDA-approved in 2025 for susceptible uncomplicated UTI in females aged 12 years and older weighing at least 40 kg; 1,500 mg PO twice daily for five days Acute treatment, not prevention. Consider QT/drug interactions, renal restrictions, susceptibility and access. Pivmecillinam (Pivya) FDA-approved in 2024 for uncomplicated UTI in adult women due to specified susceptible organisms Another acute treatment option, not suppressive prophylaxis. Check availability and label. Oral sulopenem etzadroxil/probenecid (Orlynvah) FDA-approved in 2024 for selected adult women with uncomplicated UTI who have limited or no alternative oral options Restricted acute-treatment niche; not routine prevention. MV140 sublingual bacterial immunotherapy Randomized prevention data are promising; not FDA-approved for recurrent UTI prevention in the United States Trial populations and access vary. Avoid implying vaccine efficacy is settled or available locally. Other bacterial vaccines, microbiome approaches, intravesical agents, phage therapy Investigational or variably available outside the US Not routine substitutes for culture-based diagnosis and correction of structural problems. Novel acute antibiotics do not solve recurrent bacteriuria, and they should not be prescribed as prophylaxis without evidence. Review current FDA labeling when considering a recently approved agent.</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Emerging options: separate treatment from prevention Approach Status as of October 2026 Interpretation Gepotidacin (Blujepa) FDA-approved in 2025 for susceptible uncomplicated UTI in females aged 12 years and older weighing at least 40 kg; 1,500 mg PO twice daily for five days Acute treatment, not prevention. Consider QT/drug interactions, renal restrictions, susceptibility and access. Pivmecillinam (Pivya) FDA-approved in 2024 for uncomplicated UTI in adult women due to specified susceptible organisms Another acute treatment option, not suppressive prophylaxis. Check availability and label. Oral sulopenem etzadroxil/probenecid (Orlynvah) FDA-approved in 2024 for selected adult women with uncomplicated UTI who have limited or no alternative oral options Restricted acute-treatment niche; not routine prevention. MV140 sublingual bacterial immunotherapy Randomized prevention data are promising; not FDA-approved for recurrent UTI prevention in the United States Trial populations and access vary. Avoid implying vaccine efficacy is settled or available locally. Other bacterial vaccines, microbiome approaches, intravesical agents, phage therapy Investigational or variably available outside the US Not routine substitutes for culture-based diagnosis and correction of structural problems. Novel acute antibiotics do not solve recurrent bacteriuria, and they should not be prescribed as prophylaxis without evidence. Review current FDA labeling when considering a recently approved agent.</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Emerging options: separate treatment from prevention Approach Status as of October 2026 Interpretation Gepotidacin (Blujepa) FDA-approved in 2025 for susceptible uncomplicated UTI in females aged 12 years and older weighing at least 40 kg; 1,500 mg PO twice daily for five days Acute treatment, not prevention. Consider QT/drug interactions, renal restrictions, susceptibility and access. Pivmecillinam (Pivya) FDA-approved in 2024 for uncomplicated UTI in adult women due to specified susceptible organisms Another acute treatment option, not suppressive prophylaxis. Check availability and label. Oral sulopenem etzadroxil/probenecid (Orlynvah) FDA-approved in 2024 for selected adult women with uncomplicated UTI who have limited or no alternative oral options Restricted acute-treatment niche; not routine prevention. MV140 sublingual bacterial immunotherapy Randomized prevention data are promising; not FDA-approved for recurrent UTI prevention in the United States Trial populations and access vary. Avoid implying vaccine efficacy is settled or available locally. Other bacterial vaccines, microbiome approaches, intravesical agents, phage therapy Investigational or variably available outside the US Not routine substitutes for culture-based diagnosis and correction of structural problems. Novel acute antibiotics do not solve recurrent bacteriuria, and they should not be prescribed as prophylaxis without evidence. Review current FDA labeling when considering a recently approved agent.</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Emerging options: separate treatment from prevention Approach Status as of October 2026 Interpretation Gepotidacin (Blujepa) FDA-approved in 2025 for susceptible uncomplicated UTI in females aged 12 years and older weighing at least 40 kg; 1,500 mg PO twice daily for five days Acute treatment, not prevention. Consider QT/drug interactions, renal restrictions, susceptibility and access. Pivmecillinam (Pivya) FDA-approved in 2024 for uncomplicated UTI in adult women due to specified susceptible organisms Another acute treatment option, not suppressive prophylaxis. Check availability and label. Oral sulopenem etzadroxil/probenecid (Orlynvah) FDA-approved in 2024 for selected adult women with uncomplicated UTI who have limited or no alternative oral options Restricted acute-treatment niche; not routine prevention. MV140 sublingual bacterial immunotherapy Randomized prevention data are promising; not FDA-approved for recurrent UTI prevention in the United States Trial populations and access vary. Avoid implying vaccine efficacy is settled or available locally. Other bacterial vaccines, microbiome approaches, intravesical agents, phage therapy Investigational or variably available outside the US Not routine substitutes for culture-based diagnosis and correction of structural problems. Novel acute antibiotics do not solve recurrent bacteriuria, and they should not be prescribed as prophylaxis without evidence. Review current FDA labeling when considering a recently approved agent.</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Emerging options: separate treatment from prevention Approach Status as of October 2026 Interpretation Gepotidacin (Blujepa) FDA-approved in 2025 for susceptible uncomplicated UTI in females aged 12 years and older weighing at least 40 kg; 1,500 mg PO twice daily for five days Acute treatment, not prevention. Consider QT/drug interactions, renal restrictions, susceptibility and access. Pivmecillinam (Pivya) FDA-approved in 2024 for uncomplicated UTI in adult women due to specified susceptible organisms Another acute treatment option, not suppressive prophylaxis. Check availability and label. Oral sulopenem etzadroxil/probenecid (Orlynvah) FDA-approved in 2024 for selected adult women with uncomplicated UTI who have limited or no alternative oral options Restricted acute-treatment niche; not routine prevention. MV140 sublingual bacterial immunotherapy Randomized prevention data are promising; not FDA-approved for recurrent UTI prevention in the United States Trial populations and access vary. Avoid implying vaccine efficacy is settled or available locally. Other bacterial vaccines, microbiome approaches, intravesical agents, phage therapy Investigational or variably available outside the US Not routine substitutes for culture-based diagnosis and correction of structural problems. Novel acute antibiotics do not solve recurrent bacteriuria, and they should not be prescribed as prophylaxis without evidence. Review current FDA labeling when considering a recently approved agent.</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Evidence limits and shared decisions ALTAR was open-label and used episodes requiring antibiotics as its principal outcome; its noninferiority margin allowed as many as one additional UTI per person-year with methenamine. Patients need the absolute event rates, not just the word “noninferior.” Long-term antibiotic prevention works during exposure but may select resistant flora. Trials frequently exclude significant urinary tract abnormalities and advanced CKD. For the patient with frequent symptom reports and intermittent normal cultures, offer symptom-triggered urine testing with a documented threshold for treatment. A standing culture order can be reasonable; automatic antibiotics after a positive result are not. Agree to revisit the diagnosis if symptoms and microbiology repeatedly diverge.</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Evidence limits and shared decisions ALTAR was open-label and used episodes requiring antibiotics as its principal outcome; its noninferiority margin allowed as many as one additional UTI per person-year with methenamine. Patients need the absolute event rates, not just the word “noninferior.” Long-term antibiotic prevention works during exposure but may select resistant flora. Trials frequently exclude significant urinary tract abnormalities and advanced CKD. For the patient with frequent symptom reports and intermittent normal cultures, offer symptom-triggered urine testing with a documented threshold for treatment. A standing culture order can be reasonable; automatic antibiotics after a positive result are not. Agree to revisit the diagnosis if symptoms and microbiology repeatedly diverge.</a:t>
            </a:r>
          </a:p>
          <a:p xmlns:a="http://schemas.openxmlformats.org/drawingml/2006/main">
            <a:r>
              <a:t/>
            </a:r>
          </a:p>
          <a:p xmlns:a="http://schemas.openxmlformats.org/drawingml/2006/main">
            <a:r>
              <a:t>Module section: https://docarcshot.github.io/id-practice-update/lectures/Recurrent_UTI_Evaluation_and_Prevention.html#advanced</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public sources AUA/CUA/SUFU recurrent uncomplicated UTI guideline, amended 2025 · EAU urological infections guideline, 2026 · IDSA asymptomatic bacteriuria guideline, 2019 · Trautner et al., IDSA complicated UTI guideline, 2025 Harding et al., ALTAR randomized trial, BMJ 2022 · Hooton et al., water-intake randomized trial, JAMA Internal Medicine 2018 · Hayward et al., D-mannose randomized trial, 2024 · Cochrane cranberry review, 2023 Methenamine prescribing information · Nitrofurantoin macrocrystals prescribing information · FDA gepotidacin evidence · MV140 placebo-controlled trial Teaching doses require patient-specific prescribing review. This module does not represent institutional formulary approval.</a:t>
            </a:r>
          </a:p>
          <a:p xmlns:a="http://schemas.openxmlformats.org/drawingml/2006/main">
            <a:r>
              <a:t/>
            </a:r>
          </a:p>
          <a:p xmlns:a="http://schemas.openxmlformats.org/drawingml/2006/main">
            <a:r>
              <a:t>Module section: https://docarcshot.github.io/id-practice-update/lectures/Recurrent_UTI_Evaluation_and_Prevention.html#references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Complete source section:</a:t>
            </a:r>
          </a:p>
          <a:p xmlns:a="http://schemas.openxmlformats.org/drawingml/2006/main">
            <a:r>
              <a:t>Selected public sources AUA/CUA/SUFU recurrent uncomplicated UTI guideline, amended 2025 · EAU urological infections guideline, 2026 · IDSA asymptomatic bacteriuria guideline, 2019 · Trautner et al., IDSA complicated UTI guideline, 2025 Harding et al., ALTAR randomized trial, BMJ 2022 · Hooton et al., water-intake randomized trial, JAMA Internal Medicine 2018 · Hayward et al., D-mannose randomized trial, 2024 · Cochrane cranberry review, 2023 Methenamine prescribing information · Nitrofurantoin macrocrystals prescribing information · FDA gepotidacin evidence · MV140 placebo-controlled trial Teaching doses require patient-specific prescribing review. This module does not represent institutional formulary approval.</a:t>
            </a:r>
          </a:p>
          <a:p xmlns:a="http://schemas.openxmlformats.org/drawingml/2006/main">
            <a:r>
              <a:t/>
            </a:r>
          </a:p>
          <a:p xmlns:a="http://schemas.openxmlformats.org/drawingml/2006/main">
            <a:r>
              <a:t>Module section: https://docarcshot.github.io/id-practice-update/lectures/Recurrent_UTI_Evaluation_and_Prevention.html#references</a:t>
            </a:r>
          </a:p>
          <a:p xmlns:a="http://schemas.openxmlformats.org/drawingml/2006/main">
            <a:r>
              <a:t/>
            </a:r>
          </a:p>
          <a:p xmlns:a="http://schemas.openxmlformats.org/drawingml/2006/main">
            <a:r>
              <a:t>Public sources and related reading:</a:t>
            </a:r>
          </a:p>
          <a:p xmlns:a="http://schemas.openxmlformats.org/drawingml/2006/main">
            <a:r>
              <a:t>https://www.idsociety.org/practice-guideline/complicated-urinary-tract-infections/</a:t>
            </a:r>
          </a:p>
          <a:p xmlns:a="http://schemas.openxmlformats.org/drawingml/2006/main">
            <a:r>
              <a:t>https://www.auanet.org/guidelines-and-quality/guidelines/recurrent-uti</a:t>
            </a:r>
          </a:p>
          <a:p xmlns:a="http://schemas.openxmlformats.org/drawingml/2006/main">
            <a:r>
              <a:t>https://uroweb.org/guidelines/urological-infections/chapter/the-guideline</a:t>
            </a:r>
          </a:p>
          <a:p xmlns:a="http://schemas.openxmlformats.org/drawingml/2006/main">
            <a:r>
              <a:t>https://www.idsociety.org/practice-guideline/asymptomatic-bacteriuria/</a:t>
            </a:r>
          </a:p>
          <a:p xmlns:a="http://schemas.openxmlformats.org/drawingml/2006/main">
            <a:r>
              <a:t>https://www.bmj.com/content/376/bmj-2021-0068229</a:t>
            </a:r>
          </a:p>
          <a:p xmlns:a="http://schemas.openxmlformats.org/drawingml/2006/main">
            <a:r>
              <a:t>https://pubmed.ncbi.nlm.nih.gov/30285042/</a:t>
            </a:r>
          </a:p>
          <a:p xmlns:a="http://schemas.openxmlformats.org/drawingml/2006/main">
            <a:r>
              <a:t>https://jamanetwork.com/journals/jamainternalmedicine/fullarticle/2817488</a:t>
            </a:r>
          </a:p>
          <a:p xmlns:a="http://schemas.openxmlformats.org/drawingml/2006/main">
            <a:r>
              <a:t>https://www.cochranelibrary.com/cdsr/doi/10.1002/14651858.CD001321.pub6/full</a:t>
            </a:r>
          </a:p>
          <a:p xmlns:a="http://schemas.openxmlformats.org/drawingml/2006/main">
            <a:r>
              <a:t>https://dailymed.nlm.nih.gov/dailymed/drugInfo.cfm?setid=4263d826-7de2-4011-b8ec-ba1f5222f0e6</a:t>
            </a:r>
          </a:p>
          <a:p xmlns:a="http://schemas.openxmlformats.org/drawingml/2006/main">
            <a:r>
              <a:t>https://dailymed.nlm.nih.gov/dailymed/drugInfo.cfm?setid=341c75ac-fba5-480d-a221-868c4195cb6f</a:t>
            </a:r>
          </a:p>
          <a:p xmlns:a="http://schemas.openxmlformats.org/drawingml/2006/main">
            <a:r>
              <a:t>https://www.fda.gov/drugs/drug-approvals-and-databases/drug-trials-snapshots-blujepa</a:t>
            </a:r>
          </a:p>
          <a:p xmlns:a="http://schemas.openxmlformats.org/drawingml/2006/main">
            <a:r>
              <a:t>https://pubmed.ncbi.nlm.nih.gov/38319200/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17983a0b4d04212"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7e7f877d5d347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ac924bb60c946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2a74d8b3f7648e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570301f6278412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fc507ca23449f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3B1660-AFC5-47CC-B0E7-E0BBB43B8A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A13F650-180E-4640-99F3-FC024707B8A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BB653DA-2955-4D48-9872-A0AF3D36BE5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23A027F-72D8-45B9-B7FA-D5460A9856E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3360C97-F3A4-4367-9904-3968CE79EFFD}"/>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38BC9B9-D95E-45CB-8DE6-D76E09ED9E0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3363307-8148-46AF-9016-7B608240ED4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7E83568-5D4F-4863-B228-746BA0EEC11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05235D0-C576-4178-B4CE-EE13DE6F5015}"/>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1F3E75-4E6D-4EA0-82E5-8D57931B43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439b55a1f94352" /><Relationship Type="http://schemas.openxmlformats.org/officeDocument/2006/relationships/slideLayout" Target="/ppt/slideLayouts/slideLayout1.xml" Id="R817be1317b194c4d" /><Relationship Type="http://schemas.openxmlformats.org/officeDocument/2006/relationships/slideLayout" Target="/ppt/slideLayouts/slideLayout2.xml" Id="R4a00a93d5db64023" /><Relationship Type="http://schemas.openxmlformats.org/officeDocument/2006/relationships/slideLayout" Target="/ppt/slideLayouts/slideLayout3.xml" Id="Rc309432347734456" /><Relationship Type="http://schemas.openxmlformats.org/officeDocument/2006/relationships/slideLayout" Target="/ppt/slideLayouts/slideLayout4.xml" Id="Rdf9685be80b84327" /><Relationship Type="http://schemas.openxmlformats.org/officeDocument/2006/relationships/slideLayout" Target="/ppt/slideLayouts/slideLayout5.xml" Id="R2c150b1c44674eb7" /><Relationship Type="http://schemas.openxmlformats.org/officeDocument/2006/relationships/slideLayout" Target="/ppt/slideLayouts/slideLayout6.xml" Id="R103f508c012446e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17be1317b194c4d"/>
    <p:sldLayoutId xmlns:r="http://schemas.openxmlformats.org/officeDocument/2006/relationships" id="2147483650" r:id="R4a00a93d5db64023"/>
    <p:sldLayoutId xmlns:r="http://schemas.openxmlformats.org/officeDocument/2006/relationships" id="2147483651" r:id="Rc309432347734456"/>
    <p:sldLayoutId xmlns:r="http://schemas.openxmlformats.org/officeDocument/2006/relationships" id="2147483652" r:id="Rdf9685be80b84327"/>
    <p:sldLayoutId xmlns:r="http://schemas.openxmlformats.org/officeDocument/2006/relationships" id="2147483653" r:id="R2c150b1c44674eb7"/>
    <p:sldLayoutId xmlns:r="http://schemas.openxmlformats.org/officeDocument/2006/relationships" id="2147483654" r:id="R103f508c012446e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ffe7410873c4a7a" /><Relationship Type="http://schemas.openxmlformats.org/officeDocument/2006/relationships/notesSlide" Target="/ppt/notesSlides/notesSlide1.xml" Id="R8030643db4f1492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b58fad1e9bbc43d5" /><Relationship Type="http://schemas.openxmlformats.org/officeDocument/2006/relationships/notesSlide" Target="/ppt/notesSlides/notesSlide2.xml" Id="Rc268eb38482d4ac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7fcfa37a5be4683" /><Relationship Type="http://schemas.openxmlformats.org/officeDocument/2006/relationships/notesSlide" Target="/ppt/notesSlides/notesSlide3.xml" Id="R91d2b1e568e646d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dcbe51af3fc4ffe" /><Relationship Type="http://schemas.openxmlformats.org/officeDocument/2006/relationships/notesSlide" Target="/ppt/notesSlides/notesSlide4.xml" Id="Rf4e2f7b905c64b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05daefa5f384d67" /><Relationship Type="http://schemas.openxmlformats.org/officeDocument/2006/relationships/notesSlide" Target="/ppt/notesSlides/notesSlide5.xml" Id="R107ad2ced733449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d70bff4a59d4fd2" /><Relationship Type="http://schemas.openxmlformats.org/officeDocument/2006/relationships/notesSlide" Target="/ppt/notesSlides/notesSlide6.xml" Id="R92d910f1afad45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a67c34a2114d19" /><Relationship Type="http://schemas.openxmlformats.org/officeDocument/2006/relationships/notesSlide" Target="/ppt/notesSlides/notesSlide7.xml" Id="R65135899b2aa4f3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8d916b2ae2ac49d6" /><Relationship Type="http://schemas.openxmlformats.org/officeDocument/2006/relationships/notesSlide" Target="/ppt/notesSlides/notesSlide8.xml" Id="Re840642f46b843ac"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7c49cec13b54291" /><Relationship Type="http://schemas.openxmlformats.org/officeDocument/2006/relationships/notesSlide" Target="/ppt/notesSlides/notesSlide9.xml" Id="R7db994587868427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256a9e84522d4248" /><Relationship Type="http://schemas.openxmlformats.org/officeDocument/2006/relationships/notesSlide" Target="/ppt/notesSlides/notesSlide10.xml" Id="Rdc307b11ba6a4de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6e585542b1a46ba" /><Relationship Type="http://schemas.openxmlformats.org/officeDocument/2006/relationships/notesSlide" Target="/ppt/notesSlides/notesSlide11.xml" Id="Racdaf758fb0c43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26bfaa245e44f5c" /><Relationship Type="http://schemas.openxmlformats.org/officeDocument/2006/relationships/notesSlide" Target="/ppt/notesSlides/notesSlide12.xml" Id="R31d59db6e6f7401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1faf1136db440a7" /><Relationship Type="http://schemas.openxmlformats.org/officeDocument/2006/relationships/notesSlide" Target="/ppt/notesSlides/notesSlide13.xml" Id="R306e3b8c5438466a"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c94adfc3679c40c2" /><Relationship Type="http://schemas.openxmlformats.org/officeDocument/2006/relationships/notesSlide" Target="/ppt/notesSlides/notesSlide14.xml" Id="R9748e18010fe4873"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c6ed9016c13c4fe8" /><Relationship Type="http://schemas.openxmlformats.org/officeDocument/2006/relationships/notesSlide" Target="/ppt/notesSlides/notesSlide15.xml" Id="R81f46ee3b6f44c7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19c2c0b606554cee" /><Relationship Type="http://schemas.openxmlformats.org/officeDocument/2006/relationships/notesSlide" Target="/ppt/notesSlides/notesSlide16.xml" Id="R6a1c1437f911489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40f4c9c88174275" /><Relationship Type="http://schemas.openxmlformats.org/officeDocument/2006/relationships/notesSlide" Target="/ppt/notesSlides/notesSlide17.xml" Id="Rc112ef520f7543a6"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bfca19fd3ea4b61" /><Relationship Type="http://schemas.openxmlformats.org/officeDocument/2006/relationships/notesSlide" Target="/ppt/notesSlides/notesSlide18.xml" Id="R938549be5277487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ec3fbecddc045fb" /><Relationship Type="http://schemas.openxmlformats.org/officeDocument/2006/relationships/notesSlide" Target="/ppt/notesSlides/notesSlide19.xml" Id="R2fd41c62216642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bc8809c39c85402c" /><Relationship Type="http://schemas.openxmlformats.org/officeDocument/2006/relationships/notesSlide" Target="/ppt/notesSlides/notesSlide20.xml" Id="R2a87b30134d44fb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34bc576b24b24fea" /><Relationship Type="http://schemas.openxmlformats.org/officeDocument/2006/relationships/notesSlide" Target="/ppt/notesSlides/notesSlide21.xml" Id="R44f2a39c6cce4f79"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c889fe50e0404ebe" /><Relationship Type="http://schemas.openxmlformats.org/officeDocument/2006/relationships/notesSlide" Target="/ppt/notesSlides/notesSlide22.xml" Id="R83e11315247f420e"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4753536e7e93407f" /><Relationship Type="http://schemas.openxmlformats.org/officeDocument/2006/relationships/notesSlide" Target="/ppt/notesSlides/notesSlide23.xml" Id="Rbb4e3ddccffe429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022bc32ffa14340" /><Relationship Type="http://schemas.openxmlformats.org/officeDocument/2006/relationships/notesSlide" Target="/ppt/notesSlides/notesSlide24.xml" Id="R3a7f2d96790b4a4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0bdee8bb3214065" /><Relationship Type="http://schemas.openxmlformats.org/officeDocument/2006/relationships/notesSlide" Target="/ppt/notesSlides/notesSlide25.xml" Id="R316526b89a87411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5ec17c3b32c44e67" /><Relationship Type="http://schemas.openxmlformats.org/officeDocument/2006/relationships/notesSlide" Target="/ppt/notesSlides/notesSlide26.xml" Id="R037dde4d93cf406f"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1b7d9312669499d" /><Relationship Type="http://schemas.openxmlformats.org/officeDocument/2006/relationships/notesSlide" Target="/ppt/notesSlides/notesSlide27.xml" Id="Re73c89ef50704da9"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59acce9b6d7448ea" /><Relationship Type="http://schemas.openxmlformats.org/officeDocument/2006/relationships/notesSlide" Target="/ppt/notesSlides/notesSlide28.xml" Id="Rd71d373285d14561"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4a8d8d243d444370" /><Relationship Type="http://schemas.openxmlformats.org/officeDocument/2006/relationships/notesSlide" Target="/ppt/notesSlides/notesSlide29.xml" Id="R138bd6deb95e4950"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9fbccde3f2a641d2" /><Relationship Type="http://schemas.openxmlformats.org/officeDocument/2006/relationships/notesSlide" Target="/ppt/notesSlides/notesSlide30.xml" Id="Refbcb68d260c4820"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7329468ed4c4677" /><Relationship Type="http://schemas.openxmlformats.org/officeDocument/2006/relationships/notesSlide" Target="/ppt/notesSlides/notesSlide31.xml" Id="R321a13fae4b84226"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2cfb2e5a958a4efa" /><Relationship Type="http://schemas.openxmlformats.org/officeDocument/2006/relationships/notesSlide" Target="/ppt/notesSlides/notesSlide32.xml" Id="R476215b2529a473a"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fe9ef0b2e7e64217" /><Relationship Type="http://schemas.openxmlformats.org/officeDocument/2006/relationships/notesSlide" Target="/ppt/notesSlides/notesSlide33.xml" Id="Ra87a21c8019d42ec"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dae9a77963db46b6" /><Relationship Type="http://schemas.openxmlformats.org/officeDocument/2006/relationships/notesSlide" Target="/ppt/notesSlides/notesSlide34.xml" Id="Re3e0c50a31ab480d"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6b47b1822bde4f90" /><Relationship Type="http://schemas.openxmlformats.org/officeDocument/2006/relationships/notesSlide" Target="/ppt/notesSlides/notesSlide35.xml" Id="Recdd28ae55f94c4f"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994121ecc6de46bb" /><Relationship Type="http://schemas.openxmlformats.org/officeDocument/2006/relationships/notesSlide" Target="/ppt/notesSlides/notesSlide36.xml" Id="Rfa8ff1b49b6448e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cc183b33a6ac48c8" /><Relationship Type="http://schemas.openxmlformats.org/officeDocument/2006/relationships/notesSlide" Target="/ppt/notesSlides/notesSlide37.xml" Id="Rca3798c5018046eb"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d5ad87898a464b50" /><Relationship Type="http://schemas.openxmlformats.org/officeDocument/2006/relationships/notesSlide" Target="/ppt/notesSlides/notesSlide38.xml" Id="R9730ba32a9204db6"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1a466385d1f54e0c" /><Relationship Type="http://schemas.openxmlformats.org/officeDocument/2006/relationships/notesSlide" Target="/ppt/notesSlides/notesSlide39.xml" Id="R67e3beca4d7e4d0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94d3b613b0f54295" /><Relationship Type="http://schemas.openxmlformats.org/officeDocument/2006/relationships/notesSlide" Target="/ppt/notesSlides/notesSlide40.xml" Id="R041f55f1c46f480a"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83e88280db6a4621" /><Relationship Type="http://schemas.openxmlformats.org/officeDocument/2006/relationships/notesSlide" Target="/ppt/notesSlides/notesSlide41.xml" Id="R952152d6aec049a3"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7ebc8c2961594a11" /><Relationship Type="http://schemas.openxmlformats.org/officeDocument/2006/relationships/notesSlide" Target="/ppt/notesSlides/notesSlide42.xml" Id="R7acb2bfd27254cd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b511167ee2e4478d" /><Relationship Type="http://schemas.openxmlformats.org/officeDocument/2006/relationships/notesSlide" Target="/ppt/notesSlides/notesSlide43.xml" Id="R7ee21ea7c1d84d4a"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55f70c0472a248dd" /><Relationship Type="http://schemas.openxmlformats.org/officeDocument/2006/relationships/notesSlide" Target="/ppt/notesSlides/notesSlide44.xml" Id="R823dfdd7145a4622"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e6c9208fbc904716" /><Relationship Type="http://schemas.openxmlformats.org/officeDocument/2006/relationships/notesSlide" Target="/ppt/notesSlides/notesSlide45.xml" Id="Rf05427019e8d4de9"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7586a59b80d461b" /><Relationship Type="http://schemas.openxmlformats.org/officeDocument/2006/relationships/notesSlide" Target="/ppt/notesSlides/notesSlide46.xml" Id="R5db1e56fbd04476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57f72c90fd824159" /><Relationship Type="http://schemas.openxmlformats.org/officeDocument/2006/relationships/notesSlide" Target="/ppt/notesSlides/notesSlide47.xml" Id="R8d80cee44c1a4116"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eab05adcc44840c5" /><Relationship Type="http://schemas.openxmlformats.org/officeDocument/2006/relationships/notesSlide" Target="/ppt/notesSlides/notesSlide48.xml" Id="R6796d88ab62949ae"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59733ae067634467" /><Relationship Type="http://schemas.openxmlformats.org/officeDocument/2006/relationships/notesSlide" Target="/ppt/notesSlides/notesSlide49.xml" Id="Rf55d1e27f67e4ed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62f3addf9a664b0d" /><Relationship Type="http://schemas.openxmlformats.org/officeDocument/2006/relationships/notesSlide" Target="/ppt/notesSlides/notesSlide50.xml" Id="R3f27baf938ca466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d6739cb27f4e4719" /><Relationship Type="http://schemas.openxmlformats.org/officeDocument/2006/relationships/notesSlide" Target="/ppt/notesSlides/notesSlide51.xml" Id="Rc312fd0526e34881"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5633dc1b55ca46d0" /><Relationship Type="http://schemas.openxmlformats.org/officeDocument/2006/relationships/notesSlide" Target="/ppt/notesSlides/notesSlide52.xml" Id="R7f1b29e699704caa"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d6cba0ebac594236" /><Relationship Type="http://schemas.openxmlformats.org/officeDocument/2006/relationships/notesSlide" Target="/ppt/notesSlides/notesSlide53.xml" Id="R1a2e8298be4b4d5d"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a5637099489e4be3" /><Relationship Type="http://schemas.openxmlformats.org/officeDocument/2006/relationships/notesSlide" Target="/ppt/notesSlides/notesSlide54.xml" Id="Rff13d3216df9478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69dbf26f97d545be" /><Relationship Type="http://schemas.openxmlformats.org/officeDocument/2006/relationships/notesSlide" Target="/ppt/notesSlides/notesSlide55.xml" Id="R571d0a071933488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7662f203d7e44bf8" /><Relationship Type="http://schemas.openxmlformats.org/officeDocument/2006/relationships/notesSlide" Target="/ppt/notesSlides/notesSlide56.xml" Id="R18cbbd457ee84c92"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ec6240fbec194cb8" /><Relationship Type="http://schemas.openxmlformats.org/officeDocument/2006/relationships/notesSlide" Target="/ppt/notesSlides/notesSlide57.xml" Id="R4fb7108e0a614ed1"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3e1ccd7c3dd04a7b" /><Relationship Type="http://schemas.openxmlformats.org/officeDocument/2006/relationships/notesSlide" Target="/ppt/notesSlides/notesSlide58.xml" Id="Rc1dbf6386f53407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80b74a373a1a4844" /><Relationship Type="http://schemas.openxmlformats.org/officeDocument/2006/relationships/notesSlide" Target="/ppt/notesSlides/notesSlide59.xml" Id="Rbea5d5bcaef54acb"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50444ddd92b0455c" /><Relationship Type="http://schemas.openxmlformats.org/officeDocument/2006/relationships/notesSlide" Target="/ppt/notesSlides/notesSlide60.xml" Id="Rb81d2b207a2f44a9"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64b097a19c1b4713" /><Relationship Type="http://schemas.openxmlformats.org/officeDocument/2006/relationships/notesSlide" Target="/ppt/notesSlides/notesSlide61.xml" Id="R3f2605c338074ffc"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6b8330e214d44f47" /><Relationship Type="http://schemas.openxmlformats.org/officeDocument/2006/relationships/notesSlide" Target="/ppt/notesSlides/notesSlide62.xml" Id="R41a0070a8eac47b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8b771ecc3ea34a4f" /><Relationship Type="http://schemas.openxmlformats.org/officeDocument/2006/relationships/notesSlide" Target="/ppt/notesSlides/notesSlide63.xml" Id="R211dd4d1f1324637"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4ba97b0461ea4cf4" /><Relationship Type="http://schemas.openxmlformats.org/officeDocument/2006/relationships/notesSlide" Target="/ppt/notesSlides/notesSlide64.xml" Id="R1e69225e4ab644c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521e25d01004438d" /><Relationship Type="http://schemas.openxmlformats.org/officeDocument/2006/relationships/notesSlide" Target="/ppt/notesSlides/notesSlide65.xml" Id="Rd5b7bcb82fee401c"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b87ec8b8ede44309" /><Relationship Type="http://schemas.openxmlformats.org/officeDocument/2006/relationships/notesSlide" Target="/ppt/notesSlides/notesSlide66.xml" Id="R0b42f807e8324ba9"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2457c893080a4c75" /><Relationship Type="http://schemas.openxmlformats.org/officeDocument/2006/relationships/notesSlide" Target="/ppt/notesSlides/notesSlide67.xml" Id="R779ad2e478c8484a"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03736bb38cde4e10" /><Relationship Type="http://schemas.openxmlformats.org/officeDocument/2006/relationships/notesSlide" Target="/ppt/notesSlides/notesSlide68.xml" Id="R4771f7b6ffb147ad"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b9317410e24f4cf9" /><Relationship Type="http://schemas.openxmlformats.org/officeDocument/2006/relationships/notesSlide" Target="/ppt/notesSlides/notesSlide69.xml" Id="Rc9492cd98bd441bc"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d8fdc8c059ec4e54" /><Relationship Type="http://schemas.openxmlformats.org/officeDocument/2006/relationships/notesSlide" Target="/ppt/notesSlides/notesSlide70.xml" Id="R657e7ab4a0274835"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880187f41979401c" /><Relationship Type="http://schemas.openxmlformats.org/officeDocument/2006/relationships/notesSlide" Target="/ppt/notesSlides/notesSlide71.xml" Id="Raa50a6779ca14c8b"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5b46744a005a4b57" /><Relationship Type="http://schemas.openxmlformats.org/officeDocument/2006/relationships/notesSlide" Target="/ppt/notesSlides/notesSlide72.xml" Id="R8ed290353d6c4ac2"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836eb05bcf3246b4" /><Relationship Type="http://schemas.openxmlformats.org/officeDocument/2006/relationships/notesSlide" Target="/ppt/notesSlides/notesSlide73.xml" Id="R0d3a3e1cdab54970"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0e170a53c50047d2" /><Relationship Type="http://schemas.openxmlformats.org/officeDocument/2006/relationships/notesSlide" Target="/ppt/notesSlides/notesSlide74.xml" Id="R1c3f1c41edcd4c08"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f5354647df844c48" /><Relationship Type="http://schemas.openxmlformats.org/officeDocument/2006/relationships/notesSlide" Target="/ppt/notesSlides/notesSlide75.xml" Id="R96c5962594184895"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95bc0fa84f0d475e" /><Relationship Type="http://schemas.openxmlformats.org/officeDocument/2006/relationships/notesSlide" Target="/ppt/notesSlides/notesSlide76.xml" Id="R6d8a623fd72d4c28" /></Relationships>
</file>

<file path=ppt/slides/slide1.xml><?xml version="1.0" encoding="utf-8"?>
<p:sld xmlns:p="http://schemas.openxmlformats.org/presentationml/2006/main">
  <p:cSld>
    <p:bg>
      <p:bgPr>
        <a:solidFill xmlns:a="http://schemas.openxmlformats.org/drawingml/2006/main">
          <a:srgbClr val="173E48"/>
        </a:solidFill>
      </p:bgPr>
    </p:bg>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BA64C7B-020D-42B7-98DD-BB4F5715CCF3}"/>
              </a:ext>
            </a:extLst>
          </p:cNvPr>
          <p:cNvSpPr>
            <a:spLocks xmlns:a="http://schemas.openxmlformats.org/drawingml/2006/main" noGrp="1"/>
          </p:cNvSpPr>
          <p:nvPr/>
        </p:nvSpPr>
        <p:spPr>
          <a:xfrm xmlns:a="http://schemas.openxmlformats.org/drawingml/2006/main">
            <a:off x="685800" y="1714500"/>
            <a:ext cx="10820400" cy="2857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4200" b="1">
                <a:solidFill>
                  <a:srgbClr val="FFFFFF"/>
                </a:solidFill>
                <a:latin typeface="DejaVu Sans"/>
                <a:ea typeface="DejaVu Sans"/>
                <a:cs typeface="DejaVu Sans"/>
              </a:defRPr>
            </a:defPPr>
            <a:lvl1pPr>
              <a:defRPr sz="4200" b="1">
                <a:solidFill>
                  <a:srgbClr val="FFFFFF"/>
                </a:solidFill>
                <a:latin typeface="DejaVu Sans"/>
                <a:ea typeface="DejaVu Sans"/>
                <a:cs typeface="DejaVu Sans"/>
              </a:defRPr>
            </a:lvl1pPr>
            <a:lvl2pPr>
              <a:defRPr sz="4200" b="1">
                <a:solidFill>
                  <a:srgbClr val="FFFFFF"/>
                </a:solidFill>
                <a:latin typeface="DejaVu Sans"/>
                <a:ea typeface="DejaVu Sans"/>
                <a:cs typeface="DejaVu Sans"/>
              </a:defRPr>
            </a:lvl2pPr>
            <a:lvl3pPr>
              <a:defRPr sz="4200" b="1">
                <a:solidFill>
                  <a:srgbClr val="FFFFFF"/>
                </a:solidFill>
                <a:latin typeface="DejaVu Sans"/>
                <a:ea typeface="DejaVu Sans"/>
                <a:cs typeface="DejaVu Sans"/>
              </a:defRPr>
            </a:lvl3pPr>
            <a:lvl4pPr>
              <a:defRPr sz="4200" b="1">
                <a:solidFill>
                  <a:srgbClr val="FFFFFF"/>
                </a:solidFill>
                <a:latin typeface="DejaVu Sans"/>
                <a:ea typeface="DejaVu Sans"/>
                <a:cs typeface="DejaVu Sans"/>
              </a:defRPr>
            </a:lvl4pPr>
            <a:lvl5pPr>
              <a:defRPr sz="4200" b="1">
                <a:solidFill>
                  <a:srgbClr val="FFFFFF"/>
                </a:solidFill>
                <a:latin typeface="DejaVu Sans"/>
                <a:ea typeface="DejaVu Sans"/>
                <a:cs typeface="DejaVu Sans"/>
              </a:defRPr>
            </a:lvl5pPr>
            <a:lvl6pPr>
              <a:defRPr sz="4200" b="1">
                <a:solidFill>
                  <a:srgbClr val="FFFFFF"/>
                </a:solidFill>
                <a:latin typeface="DejaVu Sans"/>
                <a:ea typeface="DejaVu Sans"/>
                <a:cs typeface="DejaVu Sans"/>
              </a:defRPr>
            </a:lvl6pPr>
            <a:lvl7pPr>
              <a:defRPr sz="4200" b="1">
                <a:solidFill>
                  <a:srgbClr val="FFFFFF"/>
                </a:solidFill>
                <a:latin typeface="DejaVu Sans"/>
                <a:ea typeface="DejaVu Sans"/>
                <a:cs typeface="DejaVu Sans"/>
              </a:defRPr>
            </a:lvl7pPr>
            <a:lvl8pPr>
              <a:defRPr sz="4200" b="1">
                <a:solidFill>
                  <a:srgbClr val="FFFFFF"/>
                </a:solidFill>
                <a:latin typeface="DejaVu Sans"/>
                <a:ea typeface="DejaVu Sans"/>
                <a:cs typeface="DejaVu Sans"/>
              </a:defRPr>
            </a:lvl8pPr>
            <a:lvl9pPr>
              <a:defRPr sz="4200" b="1">
                <a:solidFill>
                  <a:srgbClr val="FFFFFF"/>
                </a:solidFill>
                <a:latin typeface="DejaVu Sans"/>
                <a:ea typeface="DejaVu Sans"/>
                <a:cs typeface="DejaVu Sans"/>
              </a:defRPr>
            </a:lvl9pPr>
          </a:lstStyle>
          <a:p xmlns:a="http://schemas.openxmlformats.org/drawingml/2006/main">
            <a:pPr>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Recurrent urinary tract infection</a:t>
            </a:r>
          </a:p>
        </p:txBody>
      </p:sp>
      <p:sp>
        <p:nvSpPr>
          <p:cNvPr id="2" name="subtitle">
            <a:extLst xmlns:a="http://schemas.openxmlformats.org/drawingml/2006/main">
              <a:ext uri="{FF2B5EF4-FFF2-40B4-BE49-F238E27FC236}">
                <a16:creationId xmlns:a16="http://schemas.microsoft.com/office/drawing/2014/main" id="{53C34820-CFDD-4E05-A350-E718747F025A}"/>
              </a:ext>
            </a:extLst>
          </p:cNvPr>
          <p:cNvSpPr>
            <a:spLocks xmlns:a="http://schemas.openxmlformats.org/drawingml/2006/main" noGrp="1"/>
          </p:cNvSpPr>
          <p:nvPr/>
        </p:nvSpPr>
        <p:spPr>
          <a:xfrm xmlns:a="http://schemas.openxmlformats.org/drawingml/2006/main">
            <a:off x="723900" y="5143500"/>
            <a:ext cx="106680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950" b="0">
                <a:solidFill>
                  <a:srgbClr val="D7E8E8"/>
                </a:solidFill>
                <a:latin typeface="DejaVu Sans"/>
                <a:ea typeface="DejaVu Sans"/>
                <a:cs typeface="DejaVu Sans"/>
              </a:defRPr>
            </a:defPPr>
            <a:lvl1pPr>
              <a:defRPr sz="1950" b="0">
                <a:solidFill>
                  <a:srgbClr val="D7E8E8"/>
                </a:solidFill>
                <a:latin typeface="DejaVu Sans"/>
                <a:ea typeface="DejaVu Sans"/>
                <a:cs typeface="DejaVu Sans"/>
              </a:defRPr>
            </a:lvl1pPr>
            <a:lvl2pPr>
              <a:defRPr sz="1950" b="0">
                <a:solidFill>
                  <a:srgbClr val="D7E8E8"/>
                </a:solidFill>
                <a:latin typeface="DejaVu Sans"/>
                <a:ea typeface="DejaVu Sans"/>
                <a:cs typeface="DejaVu Sans"/>
              </a:defRPr>
            </a:lvl2pPr>
            <a:lvl3pPr>
              <a:defRPr sz="1950" b="0">
                <a:solidFill>
                  <a:srgbClr val="D7E8E8"/>
                </a:solidFill>
                <a:latin typeface="DejaVu Sans"/>
                <a:ea typeface="DejaVu Sans"/>
                <a:cs typeface="DejaVu Sans"/>
              </a:defRPr>
            </a:lvl3pPr>
            <a:lvl4pPr>
              <a:defRPr sz="1950" b="0">
                <a:solidFill>
                  <a:srgbClr val="D7E8E8"/>
                </a:solidFill>
                <a:latin typeface="DejaVu Sans"/>
                <a:ea typeface="DejaVu Sans"/>
                <a:cs typeface="DejaVu Sans"/>
              </a:defRPr>
            </a:lvl4pPr>
            <a:lvl5pPr>
              <a:defRPr sz="1950" b="0">
                <a:solidFill>
                  <a:srgbClr val="D7E8E8"/>
                </a:solidFill>
                <a:latin typeface="DejaVu Sans"/>
                <a:ea typeface="DejaVu Sans"/>
                <a:cs typeface="DejaVu Sans"/>
              </a:defRPr>
            </a:lvl5pPr>
            <a:lvl6pPr>
              <a:defRPr sz="1950" b="0">
                <a:solidFill>
                  <a:srgbClr val="D7E8E8"/>
                </a:solidFill>
                <a:latin typeface="DejaVu Sans"/>
                <a:ea typeface="DejaVu Sans"/>
                <a:cs typeface="DejaVu Sans"/>
              </a:defRPr>
            </a:lvl6pPr>
            <a:lvl7pPr>
              <a:defRPr sz="1950" b="0">
                <a:solidFill>
                  <a:srgbClr val="D7E8E8"/>
                </a:solidFill>
                <a:latin typeface="DejaVu Sans"/>
                <a:ea typeface="DejaVu Sans"/>
                <a:cs typeface="DejaVu Sans"/>
              </a:defRPr>
            </a:lvl7pPr>
            <a:lvl8pPr>
              <a:defRPr sz="1950" b="0">
                <a:solidFill>
                  <a:srgbClr val="D7E8E8"/>
                </a:solidFill>
                <a:latin typeface="DejaVu Sans"/>
                <a:ea typeface="DejaVu Sans"/>
                <a:cs typeface="DejaVu Sans"/>
              </a:defRPr>
            </a:lvl8pPr>
            <a:lvl9pPr>
              <a:defRPr sz="1950" b="0">
                <a:solidFill>
                  <a:srgbClr val="D7E8E8"/>
                </a:solidFill>
                <a:latin typeface="DejaVu Sans"/>
                <a:ea typeface="DejaVu Sans"/>
                <a:cs typeface="DejaVu Sans"/>
              </a:defRPr>
            </a:lvl9pPr>
          </a:lstStyle>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ID Practice Update</a:t>
            </a:r>
          </a:p>
          <a:p xmlns:a="http://schemas.openxmlformats.org/drawingml/2006/main">
            <a:pPr>
              <a:defRPr sz="1950" b="0">
                <a:solidFill>
                  <a:srgbClr val="D7E8E8"/>
                </a:solidFill>
                <a:latin typeface="DejaVu Sans"/>
                <a:ea typeface="DejaVu Sans"/>
                <a:cs typeface="DejaVu Sans"/>
              </a:defRPr>
            </a:pPr>
            <a:r>
              <a:rPr sz="1950" b="0">
                <a:solidFill>
                  <a:srgbClr val="D7E8E8"/>
                </a:solidFill>
                <a:latin typeface="DejaVu Sans"/>
                <a:ea typeface="DejaVu Sans"/>
                <a:cs typeface="DejaVu Sans"/>
              </a:rPr>
              <a:t>Resident teaching and advanced reference</a:t>
            </a:r>
          </a:p>
        </p:txBody>
      </p:sp>
    </p:spTree>
    <p:extLst>
      <p:ext uri="{BB962C8B-B14F-4D97-AF65-F5344CB8AC3E}">
        <p14:creationId xmlns:p14="http://schemas.microsoft.com/office/powerpoint/2010/main" val="74893877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26C7BA4-9D76-4C60-8DE8-0C8059B880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Three questions before prescribing anything</a:t>
            </a:r>
          </a:p>
        </p:txBody>
      </p:sp>
      <p:sp>
        <p:nvSpPr>
          <p:cNvPr id="2" name="paragraph-0">
            <a:extLst xmlns:a="http://schemas.openxmlformats.org/drawingml/2006/main">
              <a:ext uri="{FF2B5EF4-FFF2-40B4-BE49-F238E27FC236}">
                <a16:creationId xmlns:a16="http://schemas.microsoft.com/office/drawing/2014/main" id="{66C770F8-CADC-40DC-80BB-E061967370DD}"/>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Does the patient have symptomatic infection? Is there an anatomic or functional reason for recurrence? Which preventive approach has a reasonable chance of helping without causing greater harm?</a:t>
            </a:r>
          </a:p>
        </p:txBody>
      </p:sp>
      <p:sp>
        <p:nvSpPr>
          <p:cNvPr id="3" name="paragraph-1">
            <a:extLst xmlns:a="http://schemas.openxmlformats.org/drawingml/2006/main">
              <a:ext uri="{FF2B5EF4-FFF2-40B4-BE49-F238E27FC236}">
                <a16:creationId xmlns:a16="http://schemas.microsoft.com/office/drawing/2014/main" id="{C734C901-D673-464D-8E1A-71530CC54B01}"/>
              </a:ext>
            </a:extLst>
          </p:cNvPr>
          <p:cNvSpPr>
            <a:spLocks xmlns:a="http://schemas.openxmlformats.org/drawingml/2006/main" noGrp="1"/>
          </p:cNvSpPr>
          <p:nvPr/>
        </p:nvSpPr>
        <p:spPr>
          <a:xfrm xmlns:a="http://schemas.openxmlformats.org/drawingml/2006/main">
            <a:off x="647700" y="326707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Recurrent uncomplicated cystitis generally means at least two separate symptomatic, culture-supported episodes within six months, or at least three in 12 months, with resolution between episodes. Persistent symptoms without resolution are not simply another recurrence.</a:t>
            </a:r>
          </a:p>
        </p:txBody>
      </p:sp>
      <p:sp>
        <p:nvSpPr>
          <p:cNvPr id="4" name="footer">
            <a:extLst xmlns:a="http://schemas.openxmlformats.org/drawingml/2006/main">
              <a:ext uri="{FF2B5EF4-FFF2-40B4-BE49-F238E27FC236}">
                <a16:creationId xmlns:a16="http://schemas.microsoft.com/office/drawing/2014/main" id="{E95A8024-24FE-42C6-9887-AFCD6A8DBE7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330965A6-EC71-4541-B593-683F3BF64DC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a:t>
            </a:r>
          </a:p>
        </p:txBody>
      </p:sp>
    </p:spTree>
    <p:extLst>
      <p:ext uri="{BB962C8B-B14F-4D97-AF65-F5344CB8AC3E}">
        <p14:creationId xmlns:p14="http://schemas.microsoft.com/office/powerpoint/2010/main" val="54077539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8DD362-0CE7-4741-B9BC-7409543DF83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Three questions before prescribing anything</a:t>
            </a:r>
          </a:p>
        </p:txBody>
      </p:sp>
      <p:sp>
        <p:nvSpPr>
          <p:cNvPr id="2" name="paragraph-0">
            <a:extLst xmlns:a="http://schemas.openxmlformats.org/drawingml/2006/main">
              <a:ext uri="{FF2B5EF4-FFF2-40B4-BE49-F238E27FC236}">
                <a16:creationId xmlns:a16="http://schemas.microsoft.com/office/drawing/2014/main" id="{A1A72555-D90C-4CDD-A99D-866B3CE7D7FD}"/>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 2025 AUA guidance primarily addresses otherwise healthy women with recurrent localized cystitis. The IDSA 2025 complicated-UTI guideline addresses acute treatment, not prevention of recurrent cystitis. Patients with devices, neurogenic bladder, stones, obstruction or recurrent febrile infections warrant individualized evaluation; prophylaxis trials in otherwise healthy women may not apply.</a:t>
            </a:r>
          </a:p>
        </p:txBody>
      </p:sp>
      <p:sp>
        <p:nvSpPr>
          <p:cNvPr id="3" name="footer">
            <a:extLst xmlns:a="http://schemas.openxmlformats.org/drawingml/2006/main">
              <a:ext uri="{FF2B5EF4-FFF2-40B4-BE49-F238E27FC236}">
                <a16:creationId xmlns:a16="http://schemas.microsoft.com/office/drawing/2014/main" id="{E2B8EC4A-5C7D-42A8-8143-8E0C16BF500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E50AAB8-C058-47D9-B490-42E4026D008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a:t>
            </a:r>
          </a:p>
        </p:txBody>
      </p:sp>
    </p:spTree>
    <p:extLst>
      <p:ext uri="{BB962C8B-B14F-4D97-AF65-F5344CB8AC3E}">
        <p14:creationId xmlns:p14="http://schemas.microsoft.com/office/powerpoint/2010/main" val="872430960"/>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2407AB2B-D5B4-4CB4-958A-BE6613671B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Three questions before prescribing anything</a:t>
            </a:r>
          </a:p>
        </p:txBody>
      </p:sp>
      <p:sp>
        <p:nvSpPr>
          <p:cNvPr id="2" name="paragraph-0">
            <a:extLst xmlns:a="http://schemas.openxmlformats.org/drawingml/2006/main">
              <a:ext uri="{FF2B5EF4-FFF2-40B4-BE49-F238E27FC236}">
                <a16:creationId xmlns:a16="http://schemas.microsoft.com/office/drawing/2014/main" id="{9CBBD217-2C74-4818-8EBD-8374BD40867E}"/>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IDSA 2025 classifies uncomplicated UTI as infection apparently confined to the bladder, in either sex. Fever, rigors, flank pain, CVA tenderness, bacteremia or other extension beyond the bladder suggest cUTI. Symptomatic infections with long-term catheters, stents or nephrostomy tubes are also included as cUTI. Male sex, diabetes, immunocompromise, BPH or cystocele alone do not automatically make an infection complicated. Evaluate risk factors separately and exclude prostatitis when relevant in men.</a:t>
            </a:r>
          </a:p>
        </p:txBody>
      </p:sp>
      <p:sp>
        <p:nvSpPr>
          <p:cNvPr id="3" name="paragraph-1">
            <a:extLst xmlns:a="http://schemas.openxmlformats.org/drawingml/2006/main">
              <a:ext uri="{FF2B5EF4-FFF2-40B4-BE49-F238E27FC236}">
                <a16:creationId xmlns:a16="http://schemas.microsoft.com/office/drawing/2014/main" id="{B6BF8228-2A19-4F3A-ABBC-B3EB01CCD740}"/>
              </a:ext>
            </a:extLst>
          </p:cNvPr>
          <p:cNvSpPr>
            <a:spLocks xmlns:a="http://schemas.openxmlformats.org/drawingml/2006/main" noGrp="1"/>
          </p:cNvSpPr>
          <p:nvPr/>
        </p:nvSpPr>
        <p:spPr>
          <a:xfrm xmlns:a="http://schemas.openxmlformats.org/drawingml/2006/main">
            <a:off x="647700" y="5029200"/>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Trautner et al., IDSA cUTI guideline 2025, classification .</a:t>
            </a:r>
          </a:p>
        </p:txBody>
      </p:sp>
      <p:sp>
        <p:nvSpPr>
          <p:cNvPr id="4" name="footer">
            <a:extLst xmlns:a="http://schemas.openxmlformats.org/drawingml/2006/main">
              <a:ext uri="{FF2B5EF4-FFF2-40B4-BE49-F238E27FC236}">
                <a16:creationId xmlns:a16="http://schemas.microsoft.com/office/drawing/2014/main" id="{B011AC3C-021D-49E6-8EDE-9492DB9DD5A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827058F-E51A-46C5-A7B4-1C9E5D26639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a:t>
            </a:r>
          </a:p>
        </p:txBody>
      </p:sp>
    </p:spTree>
    <p:extLst>
      <p:ext uri="{BB962C8B-B14F-4D97-AF65-F5344CB8AC3E}">
        <p14:creationId xmlns:p14="http://schemas.microsoft.com/office/powerpoint/2010/main" val="13855410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4BF41AF-27E2-4A07-AE91-BBD7BDB042A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matter more than a positive culture</a:t>
            </a:r>
          </a:p>
        </p:txBody>
      </p:sp>
      <p:graphicFrame>
        <p:nvGraphicFramePr>
          <p:cNvPr id="2" name="">
            <a:extLst xmlns:a="http://schemas.openxmlformats.org/drawingml/2006/main">
              <a:ext uri="{FF2B5EF4-FFF2-40B4-BE49-F238E27FC236}">
                <a16:creationId xmlns:a16="http://schemas.microsoft.com/office/drawing/2014/main" id="{A041B71F-4FDA-44F2-8651-6B7F83E9A3EA}"/>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New dysuria, frequency, urgency, suprapubic discomfort, sometimes visible hematuria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Interpretation and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Compatible with acute cystitis, especially when new relative to baseline. Obtain urinalysis and urine culture for each suspected recurrence before antibiotics when feasible. Interpret contamination and prior culture history.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AC6A504-8028-4C0E-BDC3-7A50FA29026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A436934E-C1FD-4A4D-B32A-2223065AE08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a:t>
            </a:r>
          </a:p>
        </p:txBody>
      </p:sp>
    </p:spTree>
    <p:extLst>
      <p:ext uri="{BB962C8B-B14F-4D97-AF65-F5344CB8AC3E}">
        <p14:creationId xmlns:p14="http://schemas.microsoft.com/office/powerpoint/2010/main" val="1288517972"/>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83AA8BF-801E-4714-A357-DE17827D37C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matter more than a positive culture</a:t>
            </a:r>
          </a:p>
        </p:txBody>
      </p:sp>
      <p:graphicFrame>
        <p:nvGraphicFramePr>
          <p:cNvPr id="2" name="">
            <a:extLst xmlns:a="http://schemas.openxmlformats.org/drawingml/2006/main">
              <a:ext uri="{FF2B5EF4-FFF2-40B4-BE49-F238E27FC236}">
                <a16:creationId xmlns:a16="http://schemas.microsoft.com/office/drawing/2014/main" id="{9F20A40F-8633-4267-9E56-8F197B2A73A8}"/>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Fever, rigors, flank pain, CVA tenderness, vomiting, systemic illness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Interpretation and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Evaluate for pyelonephritis, obstruction, bacteremia, and other sources. Assess severity, renal function, and need for imaging or admission.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E4E8136-C3BF-4986-AF9B-15BFC7950C1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AA13B75-9F95-4765-AE9C-033560F12CE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a:t>
            </a:r>
          </a:p>
        </p:txBody>
      </p:sp>
    </p:spTree>
    <p:extLst>
      <p:ext uri="{BB962C8B-B14F-4D97-AF65-F5344CB8AC3E}">
        <p14:creationId xmlns:p14="http://schemas.microsoft.com/office/powerpoint/2010/main" val="121424042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8572CE9-1A02-48E0-AA78-8E72F0A7CEB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matter more than a positive culture</a:t>
            </a:r>
          </a:p>
        </p:txBody>
      </p:sp>
      <p:graphicFrame>
        <p:nvGraphicFramePr>
          <p:cNvPr id="2" name="">
            <a:extLst xmlns:a="http://schemas.openxmlformats.org/drawingml/2006/main">
              <a:ext uri="{FF2B5EF4-FFF2-40B4-BE49-F238E27FC236}">
                <a16:creationId xmlns:a16="http://schemas.microsoft.com/office/drawing/2014/main" id="{5F725B10-0EE6-46BF-BF2B-55CC1DE2D692}"/>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Positive culture but no attributable urinary symptoms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Interpretation and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Asymptomatic bacteriuria (ASB), usually do not treat regardless of pyuria, odor, cloudiness, organism, or colony count. Main exceptions are pregnancy and before endoscopic urologic procedures with anticipated mucosal trauma.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9959423-2751-4023-93B9-2556966646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833B0D5-7291-4592-92B6-31F8318DBDA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a:t>
            </a:r>
          </a:p>
        </p:txBody>
      </p:sp>
    </p:spTree>
    <p:extLst>
      <p:ext uri="{BB962C8B-B14F-4D97-AF65-F5344CB8AC3E}">
        <p14:creationId xmlns:p14="http://schemas.microsoft.com/office/powerpoint/2010/main" val="4439511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27A79F-E042-4BFB-BB66-E36310AC522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matter more than a positive culture</a:t>
            </a:r>
          </a:p>
        </p:txBody>
      </p:sp>
      <p:graphicFrame>
        <p:nvGraphicFramePr>
          <p:cNvPr id="2" name="">
            <a:extLst xmlns:a="http://schemas.openxmlformats.org/drawingml/2006/main">
              <a:ext uri="{FF2B5EF4-FFF2-40B4-BE49-F238E27FC236}">
                <a16:creationId xmlns:a16="http://schemas.microsoft.com/office/drawing/2014/main" id="{BF60A15F-E471-4553-9381-F8FD95E1FC5E}"/>
              </a:ext>
            </a:extLst>
          </p:cNvPr>
          <p:cNvGraphicFramePr/>
          <p:nvPr/>
        </p:nvGraphicFramePr>
        <p:xfrm>
          <a:off xmlns:a="http://schemas.openxmlformats.org/drawingml/2006/main" x="647700" y="1866900"/>
          <a:ext xmlns:a="http://schemas.openxmlformats.org/drawingml/2006/main" cx="10896600" cy="169545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Chronic urgency, nocturia, incontinence, pelvic pain without a convincing new change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 and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Do not equate chronic baseline symptoms or pyuria with active UTI. Evaluate noninfectious causes.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33FBAD5-B89A-4216-9AF1-EF70BF2D8D8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8C1888B-FA84-4AEB-822D-344BDA2E1D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8</a:t>
            </a:r>
          </a:p>
        </p:txBody>
      </p:sp>
    </p:spTree>
    <p:extLst>
      <p:ext uri="{BB962C8B-B14F-4D97-AF65-F5344CB8AC3E}">
        <p14:creationId xmlns:p14="http://schemas.microsoft.com/office/powerpoint/2010/main" val="20576530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79CB4EF-F5CF-4AFC-BC2E-63F519DF588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matter more than a positive culture</a:t>
            </a:r>
          </a:p>
        </p:txBody>
      </p:sp>
      <p:graphicFrame>
        <p:nvGraphicFramePr>
          <p:cNvPr id="2" name="">
            <a:extLst xmlns:a="http://schemas.openxmlformats.org/drawingml/2006/main">
              <a:ext uri="{FF2B5EF4-FFF2-40B4-BE49-F238E27FC236}">
                <a16:creationId xmlns:a16="http://schemas.microsoft.com/office/drawing/2014/main" id="{836D0ACE-8399-4CDC-B7F6-36F3491B2D16}"/>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Delirium or fall alone in an older adult with bacteriuria, no focal urinary or systemic signs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Interpretation and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Search for other causes and observe. Positive culture alone does not establish infection. In hemodynamic instability, evaluate and treat suspected sepsis without assuming a urinary source.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46F39386-AAFE-4C7C-87F6-E602BB8C27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33BABD62-3CAA-45FC-9DD3-91C5A346D00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9</a:t>
            </a:r>
          </a:p>
        </p:txBody>
      </p:sp>
    </p:spTree>
    <p:extLst>
      <p:ext uri="{BB962C8B-B14F-4D97-AF65-F5344CB8AC3E}">
        <p14:creationId xmlns:p14="http://schemas.microsoft.com/office/powerpoint/2010/main" val="95730083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1F3D71F-4C36-4661-9DEF-C60E522E1BE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matter more than a positive culture</a:t>
            </a:r>
          </a:p>
        </p:txBody>
      </p:sp>
      <p:graphicFrame>
        <p:nvGraphicFramePr>
          <p:cNvPr id="2" name="">
            <a:extLst xmlns:a="http://schemas.openxmlformats.org/drawingml/2006/main">
              <a:ext uri="{FF2B5EF4-FFF2-40B4-BE49-F238E27FC236}">
                <a16:creationId xmlns:a16="http://schemas.microsoft.com/office/drawing/2014/main" id="{E6BA4334-E8F1-4CAE-AE9F-62202FC633F5}"/>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Catheter or spinal cord injury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Interpretation and action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Chronic bacteriuria is expected. New fever, malaise, autonomic dysreflexia, spasticity, pelvic/flank discomfort, catheter obstruction, or other new compatible findings may prompt evaluation. Symptoms can be atypical; do not screen or treat stable bacteriuria.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0F4D0C7-546C-4A4B-960B-80649A279FA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4D895790-B21E-47AC-9B11-0CEEFB8F5E5E}"/>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10</a:t>
            </a:r>
          </a:p>
        </p:txBody>
      </p:sp>
    </p:spTree>
    <p:extLst>
      <p:ext uri="{BB962C8B-B14F-4D97-AF65-F5344CB8AC3E}">
        <p14:creationId xmlns:p14="http://schemas.microsoft.com/office/powerpoint/2010/main" val="995741211"/>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972B943D-DE27-4E0C-AF64-69B128A9DF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Symptoms matter more than a positive culture</a:t>
            </a:r>
          </a:p>
        </p:txBody>
      </p:sp>
      <p:sp>
        <p:nvSpPr>
          <p:cNvPr id="2" name="paragraph-0">
            <a:extLst xmlns:a="http://schemas.openxmlformats.org/drawingml/2006/main">
              <a:ext uri="{FF2B5EF4-FFF2-40B4-BE49-F238E27FC236}">
                <a16:creationId xmlns:a16="http://schemas.microsoft.com/office/drawing/2014/main" id="{B841417D-F912-4E64-925D-DFD6DC592A03}"/>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Pyuria supports inflammation but is not proof of UTI. Absence of pyuria in a patient with typical baseline immune function should prompt reconsideration. A positive culture without a compatible syndrome may be colonization; a negative culture during symptoms warrants reassessment, particularly if collected before antibiotics.</a:t>
            </a:r>
          </a:p>
        </p:txBody>
      </p:sp>
      <p:sp>
        <p:nvSpPr>
          <p:cNvPr id="3" name="paragraph-1">
            <a:extLst xmlns:a="http://schemas.openxmlformats.org/drawingml/2006/main">
              <a:ext uri="{FF2B5EF4-FFF2-40B4-BE49-F238E27FC236}">
                <a16:creationId xmlns:a16="http://schemas.microsoft.com/office/drawing/2014/main" id="{941D777C-9CB4-4042-9B98-8DAE9CDD2487}"/>
              </a:ext>
            </a:extLst>
          </p:cNvPr>
          <p:cNvSpPr>
            <a:spLocks xmlns:a="http://schemas.openxmlformats.org/drawingml/2006/main" noGrp="1"/>
          </p:cNvSpPr>
          <p:nvPr/>
        </p:nvSpPr>
        <p:spPr>
          <a:xfrm xmlns:a="http://schemas.openxmlformats.org/drawingml/2006/main">
            <a:off x="647700" y="3971925"/>
            <a:ext cx="10858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AUA 2025; IDSA ASB guideline 2019. See references.</a:t>
            </a:r>
          </a:p>
        </p:txBody>
      </p:sp>
      <p:sp>
        <p:nvSpPr>
          <p:cNvPr id="4" name="footer">
            <a:extLst xmlns:a="http://schemas.openxmlformats.org/drawingml/2006/main">
              <a:ext uri="{FF2B5EF4-FFF2-40B4-BE49-F238E27FC236}">
                <a16:creationId xmlns:a16="http://schemas.microsoft.com/office/drawing/2014/main" id="{816886A5-B6EC-4F3A-BA4E-1BE2F55E0BB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B617EBE4-D48D-4F21-8D09-E49A19D2C1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11</a:t>
            </a:r>
          </a:p>
        </p:txBody>
      </p:sp>
    </p:spTree>
    <p:extLst>
      <p:ext uri="{BB962C8B-B14F-4D97-AF65-F5344CB8AC3E}">
        <p14:creationId xmlns:p14="http://schemas.microsoft.com/office/powerpoint/2010/main" val="163897978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4B2A31B-8FBF-4EC4-B841-B7C29DDC56F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bladder is not the source of the symptoms</a:t>
            </a:r>
          </a:p>
        </p:txBody>
      </p:sp>
      <p:graphicFrame>
        <p:nvGraphicFramePr>
          <p:cNvPr id="2" name="">
            <a:extLst xmlns:a="http://schemas.openxmlformats.org/drawingml/2006/main">
              <a:ext uri="{FF2B5EF4-FFF2-40B4-BE49-F238E27FC236}">
                <a16:creationId xmlns:a16="http://schemas.microsoft.com/office/drawing/2014/main" id="{9A638724-AE48-4003-86A2-BE744B086DC4}"/>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Genitourinary syndrome of menopause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Clues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Dryness, irritation, dyspareunia, chronic dysuria; peri/postmenopause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How to evaluate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Focused vulvovaginal examination for atrophy and other lesions; assess vaginal symptoms and estrogen status.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B8DD60BC-F71E-403E-9244-7313F3122B4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0B2E9C6-2261-40FA-B013-8115A52D71A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12</a:t>
            </a:r>
          </a:p>
        </p:txBody>
      </p:sp>
    </p:spTree>
    <p:extLst>
      <p:ext uri="{BB962C8B-B14F-4D97-AF65-F5344CB8AC3E}">
        <p14:creationId xmlns:p14="http://schemas.microsoft.com/office/powerpoint/2010/main" val="34606812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61CDAD5C-4A41-4BB1-8DF0-2CF8674A8AC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bladder is not the source of the symptoms</a:t>
            </a:r>
          </a:p>
        </p:txBody>
      </p:sp>
      <p:graphicFrame>
        <p:nvGraphicFramePr>
          <p:cNvPr id="2" name="">
            <a:extLst xmlns:a="http://schemas.openxmlformats.org/drawingml/2006/main">
              <a:ext uri="{FF2B5EF4-FFF2-40B4-BE49-F238E27FC236}">
                <a16:creationId xmlns:a16="http://schemas.microsoft.com/office/drawing/2014/main" id="{D7387B70-93DF-46AD-95CE-C5E00BF5F11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Vaginitis, vulvitis, STI/urethritis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Clues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Discharge, pruritus, vulvar burning, new partner, urethral symptoms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How to evaluate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Pelvic/vulvar exam, vaginal pH/wet prep or validated NAAT as appropriate; gonorrhea/chlamydia NAAT and other STI tests according to risk.</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E126A12-0210-444A-B9DC-3F90016B0D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1AB7C40-1DF0-48C5-A1F2-DFFE6E2B35C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13</a:t>
            </a:r>
          </a:p>
        </p:txBody>
      </p:sp>
    </p:spTree>
    <p:extLst>
      <p:ext uri="{BB962C8B-B14F-4D97-AF65-F5344CB8AC3E}">
        <p14:creationId xmlns:p14="http://schemas.microsoft.com/office/powerpoint/2010/main" val="1537968476"/>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78B17B2-DD0F-401F-AAE8-3AE3772F65F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bladder is not the source of the symptoms</a:t>
            </a:r>
          </a:p>
        </p:txBody>
      </p:sp>
      <p:graphicFrame>
        <p:nvGraphicFramePr>
          <p:cNvPr id="2" name="">
            <a:extLst xmlns:a="http://schemas.openxmlformats.org/drawingml/2006/main">
              <a:ext uri="{FF2B5EF4-FFF2-40B4-BE49-F238E27FC236}">
                <a16:creationId xmlns:a16="http://schemas.microsoft.com/office/drawing/2014/main" id="{3DD7A279-428B-43C9-B034-071BBA143400}"/>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Overactive bladder or incontinence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Clues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Urgency/frequency without pain or inflammatory syndrome; leakage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How to evaluate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Bladder diary, medications and fluid review, pelvic assessment; postvoid residual if retention suspected.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1A3F69E-D398-4477-B922-0949B7137AF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AD00229-6CC6-4BF9-A734-13B00B0811D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14</a:t>
            </a:r>
          </a:p>
        </p:txBody>
      </p:sp>
    </p:spTree>
    <p:extLst>
      <p:ext uri="{BB962C8B-B14F-4D97-AF65-F5344CB8AC3E}">
        <p14:creationId xmlns:p14="http://schemas.microsoft.com/office/powerpoint/2010/main" val="1906782076"/>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0753B4A-7BF9-40F1-98FE-D34CA8438C4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bladder is not the source of the symptoms</a:t>
            </a:r>
          </a:p>
        </p:txBody>
      </p:sp>
      <p:graphicFrame>
        <p:nvGraphicFramePr>
          <p:cNvPr id="2" name="">
            <a:extLst xmlns:a="http://schemas.openxmlformats.org/drawingml/2006/main">
              <a:ext uri="{FF2B5EF4-FFF2-40B4-BE49-F238E27FC236}">
                <a16:creationId xmlns:a16="http://schemas.microsoft.com/office/drawing/2014/main" id="{F7DAE96E-12E7-48F7-8EA2-BDDAAD38E45F}"/>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Bladder pain syndrome / interstitial cystitis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Clues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Bladder-associated pain or pressure for at least six weeks, worse with filling and relieved by voiding; repeated negative cultures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How to evaluate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History, examination, urinalysis/culture to exclude infection; assess pelvic floor. Cystoscopy only for selected indications, not universally diagnostic.</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50430ED-039C-46B9-9196-EA6E412CD0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E46D0A1-3BAC-4F73-B3D3-C2D1CEAE542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15</a:t>
            </a:r>
          </a:p>
        </p:txBody>
      </p:sp>
    </p:spTree>
    <p:extLst>
      <p:ext uri="{BB962C8B-B14F-4D97-AF65-F5344CB8AC3E}">
        <p14:creationId xmlns:p14="http://schemas.microsoft.com/office/powerpoint/2010/main" val="13651525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E00CB58-D6B7-459B-9F04-7D4DD2773F5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bladder is not the source of the symptoms</a:t>
            </a:r>
          </a:p>
        </p:txBody>
      </p:sp>
      <p:graphicFrame>
        <p:nvGraphicFramePr>
          <p:cNvPr id="2" name="">
            <a:extLst xmlns:a="http://schemas.openxmlformats.org/drawingml/2006/main">
              <a:ext uri="{FF2B5EF4-FFF2-40B4-BE49-F238E27FC236}">
                <a16:creationId xmlns:a16="http://schemas.microsoft.com/office/drawing/2014/main" id="{C48D5C7D-2966-4A6A-A68D-ECA940F514F7}"/>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Pelvic floor dysfunction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Clues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Pelvic tenderness, difficult voiding, dyspareunia, constipation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How to evaluate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Pelvic floor examination and referral for pelvic floor physical therapy when indicated.</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6863AB6-FA6B-4D62-AE50-D87C28F72FE0}"/>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8F16DA3-D121-4A6E-9BF5-4532ADFBF6F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16</a:t>
            </a:r>
          </a:p>
        </p:txBody>
      </p:sp>
    </p:spTree>
    <p:extLst>
      <p:ext uri="{BB962C8B-B14F-4D97-AF65-F5344CB8AC3E}">
        <p14:creationId xmlns:p14="http://schemas.microsoft.com/office/powerpoint/2010/main" val="161393548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3EA04E8-5370-48D3-9764-74C1EE3AA2B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bladder is not the source of the symptoms</a:t>
            </a:r>
          </a:p>
        </p:txBody>
      </p:sp>
      <p:graphicFrame>
        <p:nvGraphicFramePr>
          <p:cNvPr id="2" name="">
            <a:extLst xmlns:a="http://schemas.openxmlformats.org/drawingml/2006/main">
              <a:ext uri="{FF2B5EF4-FFF2-40B4-BE49-F238E27FC236}">
                <a16:creationId xmlns:a16="http://schemas.microsoft.com/office/drawing/2014/main" id="{C8FD53C8-B2A8-4EAD-8472-0DD78C00C34C}"/>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Stone, tumor, inflammatory or structural lesion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Clues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Hematuria, colicky pain, unilateral symptoms, persistent same-organism recurrence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How to evaluate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Renal/bladder imaging; cystoscopy when indicated by hematuria risk, structural concern, or atypical course.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CB9A92D-1B39-432A-9179-E33CDC5E308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69321E3-400B-4875-A48C-D66622440BD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17</a:t>
            </a:r>
          </a:p>
        </p:txBody>
      </p:sp>
    </p:spTree>
    <p:extLst>
      <p:ext uri="{BB962C8B-B14F-4D97-AF65-F5344CB8AC3E}">
        <p14:creationId xmlns:p14="http://schemas.microsoft.com/office/powerpoint/2010/main" val="37825902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B7977B2-8FB6-46EE-B6E3-DA364944FD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When the bladder is not the source of the symptoms</a:t>
            </a:r>
          </a:p>
        </p:txBody>
      </p:sp>
      <p:graphicFrame>
        <p:nvGraphicFramePr>
          <p:cNvPr id="2" name="">
            <a:extLst xmlns:a="http://schemas.openxmlformats.org/drawingml/2006/main">
              <a:ext uri="{FF2B5EF4-FFF2-40B4-BE49-F238E27FC236}">
                <a16:creationId xmlns:a16="http://schemas.microsoft.com/office/drawing/2014/main" id="{2C3A1ED4-477C-419F-BACC-B3C450FA2322}"/>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Prostatitis or urethral obstruction (men)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Clues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Perineal pain, obstructive symptoms, recurrent same organism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How to evaluate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Focused history/exam, postvoid residual, prostate evaluation and urology referral when appropriate. Do not use short bladder-only regimens for suspected prostatic infection.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625AE60-30EC-48E5-94AB-7718C901752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A06E483-E9CB-4F91-9799-58594F4A43A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18</a:t>
            </a:r>
          </a:p>
        </p:txBody>
      </p:sp>
    </p:spTree>
    <p:extLst>
      <p:ext uri="{BB962C8B-B14F-4D97-AF65-F5344CB8AC3E}">
        <p14:creationId xmlns:p14="http://schemas.microsoft.com/office/powerpoint/2010/main" val="1214763645"/>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21B14FC-3E01-4E87-83F4-71503D890F00}"/>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sp>
        <p:nvSpPr>
          <p:cNvPr id="2" name="paragraph-0">
            <a:extLst xmlns:a="http://schemas.openxmlformats.org/drawingml/2006/main">
              <a:ext uri="{FF2B5EF4-FFF2-40B4-BE49-F238E27FC236}">
                <a16:creationId xmlns:a16="http://schemas.microsoft.com/office/drawing/2014/main" id="{0B7A24FE-8CB3-4E5B-9037-D23D798E7C33}"/>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Compare dates, species, susceptibilities, symptom-free intervals, and antibiotic exposure. Prompt recurrence with the same organism shortly after apparently appropriate therapy raises concern for relapse, inadequate drug exposure, retained stone, obstruction, prostatic infection, or device biofilm. Repeated different isolates separated by wellness usually represent reinfection.</a:t>
            </a:r>
          </a:p>
        </p:txBody>
      </p:sp>
      <p:sp>
        <p:nvSpPr>
          <p:cNvPr id="3" name="footer">
            <a:extLst xmlns:a="http://schemas.openxmlformats.org/drawingml/2006/main">
              <a:ext uri="{FF2B5EF4-FFF2-40B4-BE49-F238E27FC236}">
                <a16:creationId xmlns:a16="http://schemas.microsoft.com/office/drawing/2014/main" id="{8921468F-3489-474D-A034-0A5160AFB6B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73786AE-22B5-402E-AAE7-E4D62288256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19</a:t>
            </a:r>
          </a:p>
        </p:txBody>
      </p:sp>
    </p:spTree>
    <p:extLst>
      <p:ext uri="{BB962C8B-B14F-4D97-AF65-F5344CB8AC3E}">
        <p14:creationId xmlns:p14="http://schemas.microsoft.com/office/powerpoint/2010/main" val="58470194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39C03A8-EB17-4FAB-9284-CEE1205617F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graphicFrame>
        <p:nvGraphicFramePr>
          <p:cNvPr id="2" name="">
            <a:extLst xmlns:a="http://schemas.openxmlformats.org/drawingml/2006/main">
              <a:ext uri="{FF2B5EF4-FFF2-40B4-BE49-F238E27FC236}">
                <a16:creationId xmlns:a16="http://schemas.microsoft.com/office/drawing/2014/main" id="{A1D50786-BB7B-4B9E-A38B-896BE6B0D07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Proteus, other urease-producing organisms, recurrent same isolate, stone history, hematuria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Targeted 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Renal/bladder ultrasound or noncontrast CT when stone suspicion is high; assess stone burden and obstruction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Possible intervention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Urology for infected stone or staghorn calculus management. Antibiotics alone rarely sterilize a retained infected stone.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3E48FE9-691B-4363-A6D8-F07A1B8767A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CE952F2-E8C4-4C0A-9BBA-34598C8C1C5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20</a:t>
            </a:r>
          </a:p>
        </p:txBody>
      </p:sp>
    </p:spTree>
    <p:extLst>
      <p:ext uri="{BB962C8B-B14F-4D97-AF65-F5344CB8AC3E}">
        <p14:creationId xmlns:p14="http://schemas.microsoft.com/office/powerpoint/2010/main" val="291860215"/>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D628D81-625B-4C2A-825C-E12C42C8D05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graphicFrame>
        <p:nvGraphicFramePr>
          <p:cNvPr id="2" name="">
            <a:extLst xmlns:a="http://schemas.openxmlformats.org/drawingml/2006/main">
              <a:ext uri="{FF2B5EF4-FFF2-40B4-BE49-F238E27FC236}">
                <a16:creationId xmlns:a16="http://schemas.microsoft.com/office/drawing/2014/main" id="{089A1E8E-7552-44F5-B710-796FE762F8E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High residual, weak stream, prolapse, neurogenic bladder, constipation, anticholinergic use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Targeted 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Postvoid residual by bladder scan, medication review, pelvic/prostate examination; selective urodynamics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Possible intervention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Relieve retention, address prolapse/constipation, revise medications and catheterization plan.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7E90A6A-B4C9-4217-843D-5430584F33C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8803900-7354-498F-8998-CBB82A2ECA8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21</a:t>
            </a:r>
          </a:p>
        </p:txBody>
      </p:sp>
    </p:spTree>
    <p:extLst>
      <p:ext uri="{BB962C8B-B14F-4D97-AF65-F5344CB8AC3E}">
        <p14:creationId xmlns:p14="http://schemas.microsoft.com/office/powerpoint/2010/main" val="1229908725"/>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A2B0222-ABC3-4FF5-A3E4-44C7110DCD5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graphicFrame>
        <p:nvGraphicFramePr>
          <p:cNvPr id="2" name="">
            <a:extLst xmlns:a="http://schemas.openxmlformats.org/drawingml/2006/main">
              <a:ext uri="{FF2B5EF4-FFF2-40B4-BE49-F238E27FC236}">
                <a16:creationId xmlns:a16="http://schemas.microsoft.com/office/drawing/2014/main" id="{CC784A96-58CF-46FC-80BC-09337A43FF3D}"/>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Hydronephrosis, recurrent pyelonephritis, renal dysfunction, flank pain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Targeted 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Renal/bladder ultrasound, CT according to question and acuity; evaluate for obstruction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Possible intervention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Urgent decompression if infected obstructed system; later definitive source control.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016FCCE4-8EE1-471C-87DF-EC8F4EE9001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006F9EA-2D9A-4B5C-A06C-BA242077BB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22</a:t>
            </a:r>
          </a:p>
        </p:txBody>
      </p:sp>
    </p:spTree>
    <p:extLst>
      <p:ext uri="{BB962C8B-B14F-4D97-AF65-F5344CB8AC3E}">
        <p14:creationId xmlns:p14="http://schemas.microsoft.com/office/powerpoint/2010/main" val="1305632811"/>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43FD688-45AB-4CA4-AFFD-E53EB8E551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graphicFrame>
        <p:nvGraphicFramePr>
          <p:cNvPr id="2" name="">
            <a:extLst xmlns:a="http://schemas.openxmlformats.org/drawingml/2006/main">
              <a:ext uri="{FF2B5EF4-FFF2-40B4-BE49-F238E27FC236}">
                <a16:creationId xmlns:a16="http://schemas.microsoft.com/office/drawing/2014/main" id="{CDEB4AD1-35CB-469C-833D-815683B7761F}"/>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Catheter, stent, nephrostomy, foreign body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Targeted 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indication, drainage, exchange interval and obstruction; imaging if persistent symptoms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Possible intervention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Remove device when possible, replace when indicated. Do not attempt chronic urine sterilization.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A88ECC8-1EBD-4CBD-8D3A-BE1D7125DE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57DA3BB-AB2D-445D-8F15-6360F91EA8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23</a:t>
            </a:r>
          </a:p>
        </p:txBody>
      </p:sp>
    </p:spTree>
    <p:extLst>
      <p:ext uri="{BB962C8B-B14F-4D97-AF65-F5344CB8AC3E}">
        <p14:creationId xmlns:p14="http://schemas.microsoft.com/office/powerpoint/2010/main" val="60820844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C1BB237-2AE7-4045-B37E-938887C1C52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graphicFrame>
        <p:nvGraphicFramePr>
          <p:cNvPr id="2" name="">
            <a:extLst xmlns:a="http://schemas.openxmlformats.org/drawingml/2006/main">
              <a:ext uri="{FF2B5EF4-FFF2-40B4-BE49-F238E27FC236}">
                <a16:creationId xmlns:a16="http://schemas.microsoft.com/office/drawing/2014/main" id="{C5C32431-3BDA-4924-9B15-541491420F55}"/>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Pneumaturia/fecaluria, recurrent polymicrobial enteric flora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Targeted 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CT abdomen/pelvis with appropriate protocol; urology/colorectal evaluation for fistula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Possible intervention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Manage fistula and associated bowel pathology.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080960F-E137-4214-92B8-02B7C63F0F2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67FAD7D-D756-4673-B172-C160566961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24</a:t>
            </a:r>
          </a:p>
        </p:txBody>
      </p:sp>
    </p:spTree>
    <p:extLst>
      <p:ext uri="{BB962C8B-B14F-4D97-AF65-F5344CB8AC3E}">
        <p14:creationId xmlns:p14="http://schemas.microsoft.com/office/powerpoint/2010/main" val="1754525185"/>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CFFAE6-4645-4ACD-B09D-6BF2ED3E4B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graphicFrame>
        <p:nvGraphicFramePr>
          <p:cNvPr id="2" name="">
            <a:extLst xmlns:a="http://schemas.openxmlformats.org/drawingml/2006/main">
              <a:ext uri="{FF2B5EF4-FFF2-40B4-BE49-F238E27FC236}">
                <a16:creationId xmlns:a16="http://schemas.microsoft.com/office/drawing/2014/main" id="{CCA0502E-9147-46CC-A96C-5E34ABEEDC6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Unexplained gross hematuria or persistent microscopic hematuria after infection resolves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Targeted workup</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Risk-based hematuria workup including cystoscopy and upper tract imaging when indicated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Possible intervention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Rule out malignancy rather than attributing all bleeding to UTI.</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3C0BD04-199F-4567-A531-EEAA0BAC6C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20E7BACE-C1D9-4FC5-9C27-6FA900FCC17D}"/>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25</a:t>
            </a:r>
          </a:p>
        </p:txBody>
      </p:sp>
    </p:spTree>
    <p:extLst>
      <p:ext uri="{BB962C8B-B14F-4D97-AF65-F5344CB8AC3E}">
        <p14:creationId xmlns:p14="http://schemas.microsoft.com/office/powerpoint/2010/main" val="109637012"/>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8274211-2837-4570-8B7C-382639E16D4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Look for a persistent reservoir when the pattern warrants it</a:t>
            </a:r>
          </a:p>
        </p:txBody>
      </p:sp>
      <p:sp>
        <p:nvSpPr>
          <p:cNvPr id="2" name="paragraph-0">
            <a:extLst xmlns:a="http://schemas.openxmlformats.org/drawingml/2006/main">
              <a:ext uri="{FF2B5EF4-FFF2-40B4-BE49-F238E27FC236}">
                <a16:creationId xmlns:a16="http://schemas.microsoft.com/office/drawing/2014/main" id="{808073CC-85AE-4365-9DB0-BAD28FE6D1BF}"/>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Routine cystoscopy and upper-tract imaging are not recommended in the otherwise uncomplicated index patient. Order them when atypical features, poor response, suspected relapse, hematuria, stones, obstruction, or renal involvement change the pretest probability.</a:t>
            </a:r>
          </a:p>
        </p:txBody>
      </p:sp>
      <p:sp>
        <p:nvSpPr>
          <p:cNvPr id="3" name="footer">
            <a:extLst xmlns:a="http://schemas.openxmlformats.org/drawingml/2006/main">
              <a:ext uri="{FF2B5EF4-FFF2-40B4-BE49-F238E27FC236}">
                <a16:creationId xmlns:a16="http://schemas.microsoft.com/office/drawing/2014/main" id="{43D557C8-7663-4353-B797-BD989735E8B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F1347A0-7630-4FC4-9BAD-94730768C2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26</a:t>
            </a:r>
          </a:p>
        </p:txBody>
      </p:sp>
    </p:spTree>
    <p:extLst>
      <p:ext uri="{BB962C8B-B14F-4D97-AF65-F5344CB8AC3E}">
        <p14:creationId xmlns:p14="http://schemas.microsoft.com/office/powerpoint/2010/main" val="769708167"/>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D73AD2-E567-4711-85AD-C3E238C3409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B2447B42-5911-4653-B394-C55E68F1C527}"/>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Vaginal estrogen, e.g., estradiol 10 micrograms vaginally twice weekly after a daily two-week initiation, or low-dose cream/ring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Recommended for peri/postmenopausal women with recurrent UTI when appropriate; improves local estrogen deficiency and reduces recurrence. Systemic estrogen is not a UTI preventive substitute.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CE9A5B1-BE0C-44CE-A41D-9A355DAF0F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7BB6978-6F60-41E0-A8AB-BC4297EFD48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27</a:t>
            </a:r>
          </a:p>
        </p:txBody>
      </p:sp>
    </p:spTree>
    <p:extLst>
      <p:ext uri="{BB962C8B-B14F-4D97-AF65-F5344CB8AC3E}">
        <p14:creationId xmlns:p14="http://schemas.microsoft.com/office/powerpoint/2010/main" val="74493082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707C72F-84AC-4759-91D1-99DF041A8D2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CB16FA57-8F52-498B-897C-966B235126EC}"/>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1157288">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Vaginal estrogen, e.g., estradiol 10 micrograms vaginally twice weekly after a daily two-week initiation, or low-dose cream/ring</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Local irritation/discharge or spotting. Evaluate unexplained bleeding. Discuss breast cancer history with oncology when relevant; systemic absorption varies by preparation but is generally low with low-dose local therapy.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F44EF81-06F3-41E6-902D-11E2604B38B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161729A-8615-408C-B2ED-825C3D4ACB3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28</a:t>
            </a:r>
          </a:p>
        </p:txBody>
      </p:sp>
    </p:spTree>
    <p:extLst>
      <p:ext uri="{BB962C8B-B14F-4D97-AF65-F5344CB8AC3E}">
        <p14:creationId xmlns:p14="http://schemas.microsoft.com/office/powerpoint/2010/main" val="648903502"/>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E82897-C83D-4B81-A59E-68D2D4004F7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AAD83CB6-BDDA-4ABC-9188-817EFF78BEC6}"/>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Increase fluids if low intake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 140 premenopausal women drinking less than 1.5 L/day, an additional ~1.5 L water/day reduced mean cystitis episodes from 3.2 to 1.7 over 12 months.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Trial applies to low baseline intake. Avoid forced fluids with heart failure, hyponatremia, or fluid restriction; may worsen frequency/nocturia.</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2B6BD7C3-EA7E-4B24-8BDB-0DE06ABF9A3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4AACF8C-02FA-4D09-95CE-4B6395B570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29</a:t>
            </a:r>
          </a:p>
        </p:txBody>
      </p:sp>
    </p:spTree>
    <p:extLst>
      <p:ext uri="{BB962C8B-B14F-4D97-AF65-F5344CB8AC3E}">
        <p14:creationId xmlns:p14="http://schemas.microsoft.com/office/powerpoint/2010/main" val="213009405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CB147A44-05C5-4FF5-8BBC-3B37BB205D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307CB823-A1C2-4DB2-A965-4A95262A108F}"/>
              </a:ext>
            </a:extLst>
          </p:cNvPr>
          <p:cNvGraphicFramePr/>
          <p:nvPr/>
        </p:nvGraphicFramePr>
        <p:xfrm>
          <a:off xmlns:a="http://schemas.openxmlformats.org/drawingml/2006/main" x="647700" y="1866900"/>
          <a:ext xmlns:a="http://schemas.openxmlformats.org/drawingml/2006/main" cx="10896600" cy="34718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Cranberry products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Modest preventive benefit in women with recurrent UTI; 2023 Cochrane estimate RR 0.74 (95% CI 0.55–0.99) for symptomatic culture-verified UTI in this subgroup.</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776413">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Juice sugar/calories, GI symptoms, inconsistent proanthocyanidin content; optimal product and dose not firmly established. Caution with warfarin interactions and stone history, especially concentrated high-oxalate products.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5B4FCCD-D8B6-4351-A528-A2BEAC28BAE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54A1D3F-F8D5-4004-A00B-712937A9765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30</a:t>
            </a:r>
          </a:p>
        </p:txBody>
      </p:sp>
    </p:spTree>
    <p:extLst>
      <p:ext uri="{BB962C8B-B14F-4D97-AF65-F5344CB8AC3E}">
        <p14:creationId xmlns:p14="http://schemas.microsoft.com/office/powerpoint/2010/main" val="7107064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ADEC7A5-D9D8-41AB-8C75-9FF0A69C03A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436EB83B-E8F7-4191-B8C4-66D313D3BB1C}"/>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Methenamine hippurate 1 g orally twice daily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ALTAR: 1.38 versus 0.89 antibiotic-treated symptomatic episodes/person-year with methenamine versus daily antibiotic, difference 0.49 (90% CI 0.15–0.84); met prespecified noninferiority margin of 1 episode/person-year.</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A73BCDC-629D-4C54-B77C-300F5116BA4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29D7078-D079-4A08-8D24-4341116B48D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31</a:t>
            </a:r>
          </a:p>
        </p:txBody>
      </p:sp>
    </p:spTree>
    <p:extLst>
      <p:ext uri="{BB962C8B-B14F-4D97-AF65-F5344CB8AC3E}">
        <p14:creationId xmlns:p14="http://schemas.microsoft.com/office/powerpoint/2010/main" val="914787992"/>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1271421-B076-41F9-99C5-478BEF1A104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59304EA6-6E1F-4CC0-B550-019EB32A578D}"/>
              </a:ext>
            </a:extLst>
          </p:cNvPr>
          <p:cNvGraphicFramePr/>
          <p:nvPr/>
        </p:nvGraphicFramePr>
        <p:xfrm>
          <a:off xmlns:a="http://schemas.openxmlformats.org/drawingml/2006/main" x="647700" y="1866900"/>
          <a:ext xmlns:a="http://schemas.openxmlformats.org/drawingml/2006/main" cx="10896600" cy="32432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Methenamine hippurate 1 g orally twice daily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705100">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GI upset, dysuria, rash. Needs acidic urine; avoid urinary alkalinizers and concurrent sulfonamides. Contraindicated with renal insufficiency, severe hepatic insufficiency, or severe dehydration by US label; no validated numerical CrCl threshold in US label. Not treatment for active UTI. Evidence best in women without urinary tract abnormalities. Do not routinely add vitamin C for acidification.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A6406875-FD0A-4EAA-96AA-AAA42011B59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2DFC188-357E-4994-9675-D792AD571C4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32</a:t>
            </a:r>
          </a:p>
        </p:txBody>
      </p:sp>
    </p:spTree>
    <p:extLst>
      <p:ext uri="{BB962C8B-B14F-4D97-AF65-F5344CB8AC3E}">
        <p14:creationId xmlns:p14="http://schemas.microsoft.com/office/powerpoint/2010/main" val="864242946"/>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1B2EEBB-D702-4A50-896B-CD0EBEB0FB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D1521DEA-2135-4DB9-98C2-88819DC4779B}"/>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Postcoital single-dose antibiotic</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Effective when episodes follow intercourse; often much less antibiotic exposure than daily suppression.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Requires a clear trigger, susceptibility-informed selection; adverse effects and resistance remain possible.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C0000F8F-DCE3-4EB9-94AC-7B62952C436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019A8A1-E156-425F-82A1-E72274F96F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33</a:t>
            </a:r>
          </a:p>
        </p:txBody>
      </p:sp>
    </p:spTree>
    <p:extLst>
      <p:ext uri="{BB962C8B-B14F-4D97-AF65-F5344CB8AC3E}">
        <p14:creationId xmlns:p14="http://schemas.microsoft.com/office/powerpoint/2010/main" val="763315024"/>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B221D4C-B593-4786-BAF1-A0028021B30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F8FE8F31-8C33-434B-8BD5-9BBA21F5B8C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Patient-initiated short-course treatment</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Can shorten delay to treatment for patients who reliably recognize symptoms; not preventive.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Collect urine before starting when practical and arrange follow-up if nonresponse, fever, or atypical symptoms. Avoid indiscriminate standing antibiotic use.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AD163E7-B82C-4119-AF92-AEC57F2F715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CF6B74D-6828-447E-9D59-5CBDCAC6E24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34</a:t>
            </a:r>
          </a:p>
        </p:txBody>
      </p:sp>
    </p:spTree>
    <p:extLst>
      <p:ext uri="{BB962C8B-B14F-4D97-AF65-F5344CB8AC3E}">
        <p14:creationId xmlns:p14="http://schemas.microsoft.com/office/powerpoint/2010/main" val="148121486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1F2CEB1-767B-4491-AF29-46BFFEA642C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ADAAEA4C-5102-4F1D-87D8-5B7D70497744}"/>
              </a:ext>
            </a:extLst>
          </p:cNvPr>
          <p:cNvGraphicFramePr/>
          <p:nvPr/>
        </p:nvGraphicFramePr>
        <p:xfrm>
          <a:off xmlns:a="http://schemas.openxmlformats.org/drawingml/2006/main" x="647700" y="1866900"/>
          <a:ext xmlns:a="http://schemas.openxmlformats.org/drawingml/2006/main" cx="10896600" cy="3162300"/>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Continuous low-dose antibiotic, usually trial 3–6 months then reassess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Strong reduction in recurrences while taking therapy; recurrence often returns after discontinuation.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466850">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Resistance, microbiome effects, C. difficile, drug-specific toxicity. Selection guided by cultures, allergy, renal function, tolerability, and shared decision-making.</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76261500-4CE4-4788-BDF7-5DEBB0652D3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5DDA86E-C3D6-4579-9AB8-B7926A48C5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35</a:t>
            </a:r>
          </a:p>
        </p:txBody>
      </p:sp>
    </p:spTree>
    <p:extLst>
      <p:ext uri="{BB962C8B-B14F-4D97-AF65-F5344CB8AC3E}">
        <p14:creationId xmlns:p14="http://schemas.microsoft.com/office/powerpoint/2010/main" val="208142322"/>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716089C-DC73-48CC-B882-FB4BD770A01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8A35ABAF-F700-42D4-9F94-31EF2BE23F98}"/>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D-mannose 2 g/day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Large 2024 placebo-controlled trial did not show meaningful reduction (51.0% vs 55.7% had clinically suspected UTI). Not recommended as a stand-alone preventive.</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Cost, GI upset, uncertain quality; do not present as equivalent to established options.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093B71C-18A1-44B3-BA1B-DB878A17E2C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AA47516-45E8-4495-83EE-21B679679A3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36</a:t>
            </a:r>
          </a:p>
        </p:txBody>
      </p:sp>
    </p:spTree>
    <p:extLst>
      <p:ext uri="{BB962C8B-B14F-4D97-AF65-F5344CB8AC3E}">
        <p14:creationId xmlns:p14="http://schemas.microsoft.com/office/powerpoint/2010/main" val="1701952609"/>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0EEA36A-975E-4727-99DB-0B894D21975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graphicFrame>
        <p:nvGraphicFramePr>
          <p:cNvPr id="2" name="">
            <a:extLst xmlns:a="http://schemas.openxmlformats.org/drawingml/2006/main">
              <a:ext uri="{FF2B5EF4-FFF2-40B4-BE49-F238E27FC236}">
                <a16:creationId xmlns:a16="http://schemas.microsoft.com/office/drawing/2014/main" id="{5C8759C8-7FD3-4860-9EFF-159E43ECA021}"/>
              </a:ext>
            </a:extLst>
          </p:cNvPr>
          <p:cNvGraphicFramePr/>
          <p:nvPr/>
        </p:nvGraphicFramePr>
        <p:xfrm>
          <a:off xmlns:a="http://schemas.openxmlformats.org/drawingml/2006/main" x="647700" y="1866900"/>
          <a:ext xmlns:a="http://schemas.openxmlformats.org/drawingml/2006/main" cx="10896600" cy="28527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Probiotics, vitamin C, hygiene rituals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Evidence / expected benefit</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Insufficient consistent benefit to recommend as primary prophylaxis. Avoid spermicide if relevant; correct bowel/bladder factors.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1157288">
                <a:tc>
                  <a:txBody>
                    <a:bodyPr lIns="114300" tIns="114300" rIns="114300" bIns="114300">
                      <a:noAutofit/>
                    </a:bodyPr>
                    <a:lstStyle/>
                    <a:p>
                      <a:r>
                        <a:rPr sz="1950" b="0">
                          <a:solidFill>
                            <a:srgbClr val="16323B"/>
                          </a:solidFill>
                          <a:latin typeface="DejaVu Sans"/>
                          <a:ea typeface="DejaVu Sans"/>
                          <a:cs typeface="DejaVu Sans"/>
                        </a:rPr>
                        <a:t>Tolerability, limitations and cautions</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Product variability; vitamin C may raise urinary oxalate and stone risk at high doses, and does not reliably improve methenamine efficacy.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9EE98268-C495-4C7A-BF4D-FC1BED730F2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D0BA247-EA13-442E-817A-F6BA4834A31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37</a:t>
            </a:r>
          </a:p>
        </p:txBody>
      </p:sp>
    </p:spTree>
    <p:extLst>
      <p:ext uri="{BB962C8B-B14F-4D97-AF65-F5344CB8AC3E}">
        <p14:creationId xmlns:p14="http://schemas.microsoft.com/office/powerpoint/2010/main" val="885854139"/>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7FAE42F-458B-4FB8-AF26-A7D86E356E8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Prevention options and what the trials actually show</a:t>
            </a:r>
          </a:p>
        </p:txBody>
      </p:sp>
      <p:sp>
        <p:nvSpPr>
          <p:cNvPr id="2" name="paragraph-0">
            <a:extLst xmlns:a="http://schemas.openxmlformats.org/drawingml/2006/main">
              <a:ext uri="{FF2B5EF4-FFF2-40B4-BE49-F238E27FC236}">
                <a16:creationId xmlns:a16="http://schemas.microsoft.com/office/drawing/2014/main" id="{B0BB4D6E-5789-4F27-9E66-A640FBCF0919}"/>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AUA 2025; EAU 2026; ALTAR 2022; Hooton 2018; Cochrane cranberry 2023; Hayward 2024. See references.</a:t>
            </a:r>
          </a:p>
        </p:txBody>
      </p:sp>
      <p:sp>
        <p:nvSpPr>
          <p:cNvPr id="3" name="footer">
            <a:extLst xmlns:a="http://schemas.openxmlformats.org/drawingml/2006/main">
              <a:ext uri="{FF2B5EF4-FFF2-40B4-BE49-F238E27FC236}">
                <a16:creationId xmlns:a16="http://schemas.microsoft.com/office/drawing/2014/main" id="{A4996A32-A0F7-45D1-B9F4-BD5D8E97027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F4AAFAD-AB90-45BA-9B0B-0628C45076A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38</a:t>
            </a:r>
          </a:p>
        </p:txBody>
      </p:sp>
    </p:spTree>
    <p:extLst>
      <p:ext uri="{BB962C8B-B14F-4D97-AF65-F5344CB8AC3E}">
        <p14:creationId xmlns:p14="http://schemas.microsoft.com/office/powerpoint/2010/main" val="96495278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E2E0DAA-53B9-45FA-ADE4-9431950A918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sp>
        <p:nvSpPr>
          <p:cNvPr id="2" name="paragraph-0">
            <a:extLst xmlns:a="http://schemas.openxmlformats.org/drawingml/2006/main">
              <a:ext uri="{FF2B5EF4-FFF2-40B4-BE49-F238E27FC236}">
                <a16:creationId xmlns:a16="http://schemas.microsoft.com/office/drawing/2014/main" id="{950EECE8-A3C3-4C1A-940B-374BC1A8313D}"/>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are example adult oral doses for prophylaxis of recurrent uncomplicated lower UTI, not acute infection, pyelonephritis, or chronic infected hardware/stone. Confirm recent susceptible isolates and local availability. Most use is off-label. Reassess efficacy, toxicities and indication after about three to six months rather than prescribing indefinitely by default.</a:t>
            </a:r>
          </a:p>
        </p:txBody>
      </p:sp>
      <p:sp>
        <p:nvSpPr>
          <p:cNvPr id="3" name="footer">
            <a:extLst xmlns:a="http://schemas.openxmlformats.org/drawingml/2006/main">
              <a:ext uri="{FF2B5EF4-FFF2-40B4-BE49-F238E27FC236}">
                <a16:creationId xmlns:a16="http://schemas.microsoft.com/office/drawing/2014/main" id="{5640F701-1966-49F1-A0F2-8EB1722F556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8EA04FF5-FF39-4B17-ACE6-813E57B44E5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39</a:t>
            </a:r>
          </a:p>
        </p:txBody>
      </p:sp>
    </p:spTree>
    <p:extLst>
      <p:ext uri="{BB962C8B-B14F-4D97-AF65-F5344CB8AC3E}">
        <p14:creationId xmlns:p14="http://schemas.microsoft.com/office/powerpoint/2010/main" val="143227972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4615CDB-1F85-4ACA-BC01-968548C9916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graphicFrame>
        <p:nvGraphicFramePr>
          <p:cNvPr id="2" name="">
            <a:extLst xmlns:a="http://schemas.openxmlformats.org/drawingml/2006/main">
              <a:ext uri="{FF2B5EF4-FFF2-40B4-BE49-F238E27FC236}">
                <a16:creationId xmlns:a16="http://schemas.microsoft.com/office/drawing/2014/main" id="{5C3AA36B-8CAD-4989-94C4-FDA880322991}"/>
              </a:ext>
            </a:extLst>
          </p:cNvPr>
          <p:cNvGraphicFramePr/>
          <p:nvPr/>
        </p:nvGraphicFramePr>
        <p:xfrm>
          <a:off xmlns:a="http://schemas.openxmlformats.org/drawingml/2006/main" x="647700" y="1866900"/>
          <a:ext xmlns:a="http://schemas.openxmlformats.org/drawingml/2006/main" cx="10896600" cy="161448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Nitrofurantoin macrocrystals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Continuous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50–100 mg PO nightly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Postcoital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50–100 mg PO once after intercourse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39DF7428-0DD1-4B1D-BFE3-3B754521987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2D0462C-40B6-43A4-A587-9B57B5A0FE7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40</a:t>
            </a:r>
          </a:p>
        </p:txBody>
      </p:sp>
    </p:spTree>
    <p:extLst>
      <p:ext uri="{BB962C8B-B14F-4D97-AF65-F5344CB8AC3E}">
        <p14:creationId xmlns:p14="http://schemas.microsoft.com/office/powerpoint/2010/main" val="296180730"/>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D5E7B39-DE71-4EA0-A207-7F9F5476071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graphicFrame>
        <p:nvGraphicFramePr>
          <p:cNvPr id="2" name="">
            <a:extLst xmlns:a="http://schemas.openxmlformats.org/drawingml/2006/main">
              <a:ext uri="{FF2B5EF4-FFF2-40B4-BE49-F238E27FC236}">
                <a16:creationId xmlns:a16="http://schemas.microsoft.com/office/drawing/2014/main" id="{FE84AC3C-56A0-4CA9-B476-C33620F2FC83}"/>
              </a:ext>
            </a:extLst>
          </p:cNvPr>
          <p:cNvGraphicFramePr/>
          <p:nvPr/>
        </p:nvGraphicFramePr>
        <p:xfrm>
          <a:off xmlns:a="http://schemas.openxmlformats.org/drawingml/2006/main" x="647700" y="1866900"/>
          <a:ext xmlns:a="http://schemas.openxmlformats.org/drawingml/2006/main" cx="10896600" cy="32432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Nitrofurantoin macrocrystals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705100">
                <a:tc>
                  <a:txBody>
                    <a:bodyPr lIns="114300" tIns="114300" rIns="114300" bIns="114300">
                      <a:noAutofit/>
                    </a:bodyPr>
                    <a:lstStyle/>
                    <a:p>
                      <a:r>
                        <a:rPr sz="1950" b="0">
                          <a:solidFill>
                            <a:srgbClr val="16323B"/>
                          </a:solidFill>
                          <a:latin typeface="DejaVu Sans"/>
                          <a:ea typeface="DejaVu Sans"/>
                          <a:cs typeface="DejaVu Sans"/>
                        </a:rPr>
                        <a:t>Major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For bladder only. Avoid with significant renal impairment; many contemporary practices use CrCl &lt;30 mL/min as a cutoff for short courses, but long-term suppression at reduced CrCl is poorly studied and some US product labeling still states &lt;60. Rare pulmonary fibrosis/pneumonitis, hepatitis, neuropathy, hemolysis with G6PD deficiency. Monitor symptoms and periodic renal/liver function.</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74776357-FFE5-47D2-9AD4-C9D453D4F9F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66C0069-58BA-4298-856C-344E0D16FF0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41</a:t>
            </a:r>
          </a:p>
        </p:txBody>
      </p:sp>
    </p:spTree>
    <p:extLst>
      <p:ext uri="{BB962C8B-B14F-4D97-AF65-F5344CB8AC3E}">
        <p14:creationId xmlns:p14="http://schemas.microsoft.com/office/powerpoint/2010/main" val="171470854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614130B-7D58-4AA4-8AEC-D744635EF16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graphicFrame>
        <p:nvGraphicFramePr>
          <p:cNvPr id="2" name="">
            <a:extLst xmlns:a="http://schemas.openxmlformats.org/drawingml/2006/main">
              <a:ext uri="{FF2B5EF4-FFF2-40B4-BE49-F238E27FC236}">
                <a16:creationId xmlns:a16="http://schemas.microsoft.com/office/drawing/2014/main" id="{DB454C64-E112-49AC-8DCE-551B7C89F850}"/>
              </a:ext>
            </a:extLst>
          </p:cNvPr>
          <p:cNvGraphicFramePr/>
          <p:nvPr/>
        </p:nvGraphicFramePr>
        <p:xfrm>
          <a:off xmlns:a="http://schemas.openxmlformats.org/drawingml/2006/main" x="647700" y="1866900"/>
          <a:ext xmlns:a="http://schemas.openxmlformats.org/drawingml/2006/main" cx="10896600" cy="27717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Trimethoprim-sulfamethoxazole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Continuous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40/200 mg PO nightly or three times weekly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Postcoital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40/200 to 80/400 mg PO once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1157288">
                <a:tc>
                  <a:txBody>
                    <a:bodyPr lIns="114300" tIns="114300" rIns="114300" bIns="114300">
                      <a:noAutofit/>
                    </a:bodyPr>
                    <a:lstStyle/>
                    <a:p>
                      <a:r>
                        <a:rPr sz="1950" b="0">
                          <a:solidFill>
                            <a:srgbClr val="16323B"/>
                          </a:solidFill>
                          <a:latin typeface="DejaVu Sans"/>
                          <a:ea typeface="DejaVu Sans"/>
                          <a:cs typeface="DejaVu Sans"/>
                        </a:rPr>
                        <a:t>Major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Rash/SCAR, cytopenias, hyperkalemia, AKI, drug interactions (ACEi/ARB, spironolactone, warfarin); renal adjustment when CrCl &lt;30. Monitor CBC, creatinine, potassium.</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2CC37BC1-F1BE-477D-9373-B69A05DF9A2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935E5CD6-B26F-465D-9945-91152F9905F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42</a:t>
            </a:r>
          </a:p>
        </p:txBody>
      </p:sp>
    </p:spTree>
    <p:extLst>
      <p:ext uri="{BB962C8B-B14F-4D97-AF65-F5344CB8AC3E}">
        <p14:creationId xmlns:p14="http://schemas.microsoft.com/office/powerpoint/2010/main" val="1669144873"/>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D43B9AB-E9E3-42A2-BE51-DFF55E0B16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graphicFrame>
        <p:nvGraphicFramePr>
          <p:cNvPr id="2" name="">
            <a:extLst xmlns:a="http://schemas.openxmlformats.org/drawingml/2006/main">
              <a:ext uri="{FF2B5EF4-FFF2-40B4-BE49-F238E27FC236}">
                <a16:creationId xmlns:a16="http://schemas.microsoft.com/office/drawing/2014/main" id="{7A4C4085-B67A-4F3D-896F-C9656FC49266}"/>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Trimethoprim alone</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Continuous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100 mg PO nightly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Postcoital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100 mg PO once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Major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Hyperkalemia, marrow effects and renal adjustment; US availability varies.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09BD0235-E7AA-4FC5-A3B5-72425B8376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DE599AB-FFF7-43C8-A611-7CDB4EE1DD8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43</a:t>
            </a:r>
          </a:p>
        </p:txBody>
      </p:sp>
    </p:spTree>
    <p:extLst>
      <p:ext uri="{BB962C8B-B14F-4D97-AF65-F5344CB8AC3E}">
        <p14:creationId xmlns:p14="http://schemas.microsoft.com/office/powerpoint/2010/main" val="1615327689"/>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2EC96A3-8355-4CEA-8ED2-3849E684797F}"/>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graphicFrame>
        <p:nvGraphicFramePr>
          <p:cNvPr id="2" name="">
            <a:extLst xmlns:a="http://schemas.openxmlformats.org/drawingml/2006/main">
              <a:ext uri="{FF2B5EF4-FFF2-40B4-BE49-F238E27FC236}">
                <a16:creationId xmlns:a16="http://schemas.microsoft.com/office/drawing/2014/main" id="{84004528-83E8-4B3D-BE02-234A4D9E36AD}"/>
              </a:ext>
            </a:extLst>
          </p:cNvPr>
          <p:cNvGraphicFramePr/>
          <p:nvPr/>
        </p:nvGraphicFramePr>
        <p:xfrm>
          <a:off xmlns:a="http://schemas.openxmlformats.org/drawingml/2006/main" x="647700" y="1866900"/>
          <a:ext xmlns:a="http://schemas.openxmlformats.org/drawingml/2006/main" cx="10896600" cy="24622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Cephalexin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538163">
                <a:tc>
                  <a:txBody>
                    <a:bodyPr lIns="114300" tIns="114300" rIns="114300" bIns="114300">
                      <a:noAutofit/>
                    </a:bodyPr>
                    <a:lstStyle/>
                    <a:p>
                      <a:r>
                        <a:rPr sz="1950" b="0">
                          <a:solidFill>
                            <a:srgbClr val="16323B"/>
                          </a:solidFill>
                          <a:latin typeface="DejaVu Sans"/>
                          <a:ea typeface="DejaVu Sans"/>
                          <a:cs typeface="DejaVu Sans"/>
                        </a:rPr>
                        <a:t>Continuous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125–250 mg PO nightly</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538163">
                <a:tc>
                  <a:txBody>
                    <a:bodyPr lIns="114300" tIns="114300" rIns="114300" bIns="114300">
                      <a:noAutofit/>
                    </a:bodyPr>
                    <a:lstStyle/>
                    <a:p>
                      <a:r>
                        <a:rPr sz="1950" b="0">
                          <a:solidFill>
                            <a:srgbClr val="16323B"/>
                          </a:solidFill>
                          <a:latin typeface="DejaVu Sans"/>
                          <a:ea typeface="DejaVu Sans"/>
                          <a:cs typeface="DejaVu Sans"/>
                        </a:rPr>
                        <a:t>Postcoital dose</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250 mg PO once</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r h="847725">
                <a:tc>
                  <a:txBody>
                    <a:bodyPr lIns="114300" tIns="114300" rIns="114300" bIns="114300">
                      <a:noAutofit/>
                    </a:bodyPr>
                    <a:lstStyle/>
                    <a:p>
                      <a:r>
                        <a:rPr sz="1950" b="0">
                          <a:solidFill>
                            <a:srgbClr val="16323B"/>
                          </a:solidFill>
                          <a:latin typeface="DejaVu Sans"/>
                          <a:ea typeface="DejaVu Sans"/>
                          <a:cs typeface="DejaVu Sans"/>
                        </a:rPr>
                        <a:t>Major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GI effects, candidiasis, C. difficile, selection of resistant flora; renal dose adjustment in CKD.</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32D0DB38-637A-4F60-BC35-5720D948290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B6A74AA8-9E4B-4A68-86E0-78CE9FDA59D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44</a:t>
            </a:r>
          </a:p>
        </p:txBody>
      </p:sp>
    </p:spTree>
    <p:extLst>
      <p:ext uri="{BB962C8B-B14F-4D97-AF65-F5344CB8AC3E}">
        <p14:creationId xmlns:p14="http://schemas.microsoft.com/office/powerpoint/2010/main" val="1434502572"/>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2501D0E-27A3-4DFD-A306-0C00E17140C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sp>
        <p:nvSpPr>
          <p:cNvPr id="2" name="paragraph-0">
            <a:extLst xmlns:a="http://schemas.openxmlformats.org/drawingml/2006/main">
              <a:ext uri="{FF2B5EF4-FFF2-40B4-BE49-F238E27FC236}">
                <a16:creationId xmlns:a16="http://schemas.microsoft.com/office/drawing/2014/main" id="{3798098A-5044-4E06-B2C2-6F6B42E68BEA}"/>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Fosfomycin 3 g every 10 days appears in some European prophylaxis guidance but evidence and dosing intervals are less established in US practice; reserve for selected resistant-organism cases with ID/pharmacy input. Fluoroquinolones should generally not be used for chronic uncomplicated-cystitis suppression because of serious adverse effects and resistance selection. Do not use nitrofurantoin or fosfomycin when pyelonephritis or prostatitis is suspected.</a:t>
            </a:r>
          </a:p>
        </p:txBody>
      </p:sp>
      <p:sp>
        <p:nvSpPr>
          <p:cNvPr id="3" name="footer">
            <a:extLst xmlns:a="http://schemas.openxmlformats.org/drawingml/2006/main">
              <a:ext uri="{FF2B5EF4-FFF2-40B4-BE49-F238E27FC236}">
                <a16:creationId xmlns:a16="http://schemas.microsoft.com/office/drawing/2014/main" id="{72A8E383-0B98-42C4-B970-220E913400C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34880D5-5A66-4E9F-B4EE-28B5B8D9C47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45</a:t>
            </a:r>
          </a:p>
        </p:txBody>
      </p:sp>
    </p:spTree>
    <p:extLst>
      <p:ext uri="{BB962C8B-B14F-4D97-AF65-F5344CB8AC3E}">
        <p14:creationId xmlns:p14="http://schemas.microsoft.com/office/powerpoint/2010/main" val="209596123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4D1CEFC-F101-4F07-BD90-07DD2E1F996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Suppressive antibiotics when needed</a:t>
            </a:r>
          </a:p>
        </p:txBody>
      </p:sp>
      <p:sp>
        <p:nvSpPr>
          <p:cNvPr id="2" name="paragraph-0">
            <a:extLst xmlns:a="http://schemas.openxmlformats.org/drawingml/2006/main">
              <a:ext uri="{FF2B5EF4-FFF2-40B4-BE49-F238E27FC236}">
                <a16:creationId xmlns:a16="http://schemas.microsoft.com/office/drawing/2014/main" id="{C6D434AE-1F8C-4469-AC71-31F7AB2DA7D1}"/>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Renal function matters, but numerical cutoffs differ by drug and regulatory label. Methenamine has no universally validated US-label CrCl cutoff. A history of stones is a reason to evaluate composition and persistent infection, not an automatic contraindication to every prophylactic agent.</a:t>
            </a:r>
          </a:p>
        </p:txBody>
      </p:sp>
      <p:sp>
        <p:nvSpPr>
          <p:cNvPr id="3" name="footer">
            <a:extLst xmlns:a="http://schemas.openxmlformats.org/drawingml/2006/main">
              <a:ext uri="{FF2B5EF4-FFF2-40B4-BE49-F238E27FC236}">
                <a16:creationId xmlns:a16="http://schemas.microsoft.com/office/drawing/2014/main" id="{9D392990-6CD0-403C-8248-7F4D7EAC850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F6259C76-5E03-4266-9E0F-DC8AE65FCB2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46</a:t>
            </a:r>
          </a:p>
        </p:txBody>
      </p:sp>
    </p:spTree>
    <p:extLst>
      <p:ext uri="{BB962C8B-B14F-4D97-AF65-F5344CB8AC3E}">
        <p14:creationId xmlns:p14="http://schemas.microsoft.com/office/powerpoint/2010/main" val="470537322"/>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EA211FA-4AD6-480A-8DD4-72B7ED2EE56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Before starting suppression</a:t>
            </a:r>
          </a:p>
        </p:txBody>
      </p:sp>
      <p:sp>
        <p:nvSpPr>
          <p:cNvPr id="2" name="paragraph-0">
            <a:extLst xmlns:a="http://schemas.openxmlformats.org/drawingml/2006/main">
              <a:ext uri="{FF2B5EF4-FFF2-40B4-BE49-F238E27FC236}">
                <a16:creationId xmlns:a16="http://schemas.microsoft.com/office/drawing/2014/main" id="{F0AAB7B3-935E-4A7C-A2F5-B3A9785BC752}"/>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Document true symptomatic episode count, culture results, baseline renal function, medication interactions, pregnancy status where relevant, and prior adverse effects. Agree on the target (e.g., fewer symptomatic culture-confirmed episodes), duration, breakthrough-culture plan, and stopping point. Do not perform surveillance cultures while asymptomatic.</a:t>
            </a:r>
          </a:p>
        </p:txBody>
      </p:sp>
      <p:sp>
        <p:nvSpPr>
          <p:cNvPr id="3" name="footer">
            <a:extLst xmlns:a="http://schemas.openxmlformats.org/drawingml/2006/main">
              <a:ext uri="{FF2B5EF4-FFF2-40B4-BE49-F238E27FC236}">
                <a16:creationId xmlns:a16="http://schemas.microsoft.com/office/drawing/2014/main" id="{F7ECF0E6-5C99-4BD0-95CF-636520D3EBF6}"/>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E4529DFF-3A7B-421A-B56F-2B5485EC5F5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47</a:t>
            </a:r>
          </a:p>
        </p:txBody>
      </p:sp>
    </p:spTree>
    <p:extLst>
      <p:ext uri="{BB962C8B-B14F-4D97-AF65-F5344CB8AC3E}">
        <p14:creationId xmlns:p14="http://schemas.microsoft.com/office/powerpoint/2010/main" val="26162044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176773C-3494-4D08-8760-0787AE9DFE0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treatment and follow-up</a:t>
            </a:r>
          </a:p>
        </p:txBody>
      </p:sp>
      <p:sp>
        <p:nvSpPr>
          <p:cNvPr id="2" name="paragraph-0">
            <a:extLst xmlns:a="http://schemas.openxmlformats.org/drawingml/2006/main">
              <a:ext uri="{FF2B5EF4-FFF2-40B4-BE49-F238E27FC236}">
                <a16:creationId xmlns:a16="http://schemas.microsoft.com/office/drawing/2014/main" id="{C069689E-4321-436B-B1A7-3653C2D24154}"/>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Treat each symptomatic recurrence according to syndrome, prior cultures, current susceptibility, renal function, allergies, and recent drug exposure. For uncomplicated cystitis, use a short effective regimen (e.g., nitrofurantoin 100 mg twice daily for five days, TMP-SMX DS twice daily for three days when susceptible and appropriate, or fosfomycin 3 g once for susceptible E. coli with awareness of limitations). A positive urine culture alone is not an indication to escalate. Avoid routine post-treatment cultures if symptoms resolve.</a:t>
            </a:r>
          </a:p>
        </p:txBody>
      </p:sp>
      <p:sp>
        <p:nvSpPr>
          <p:cNvPr id="3" name="footer">
            <a:extLst xmlns:a="http://schemas.openxmlformats.org/drawingml/2006/main">
              <a:ext uri="{FF2B5EF4-FFF2-40B4-BE49-F238E27FC236}">
                <a16:creationId xmlns:a16="http://schemas.microsoft.com/office/drawing/2014/main" id="{0DAC75EC-BBDD-4256-A5C3-F218E900B595}"/>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6A3973B-EB25-494F-A4B8-D63C0DF421A0}"/>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48</a:t>
            </a:r>
          </a:p>
        </p:txBody>
      </p:sp>
    </p:spTree>
    <p:extLst>
      <p:ext uri="{BB962C8B-B14F-4D97-AF65-F5344CB8AC3E}">
        <p14:creationId xmlns:p14="http://schemas.microsoft.com/office/powerpoint/2010/main" val="29324160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FEE5EBB-A51B-4F6F-8E83-140D9BFDBE9B}"/>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treatment and follow-up</a:t>
            </a:r>
          </a:p>
        </p:txBody>
      </p:sp>
      <p:sp>
        <p:nvSpPr>
          <p:cNvPr id="2" name="paragraph-0">
            <a:extLst xmlns:a="http://schemas.openxmlformats.org/drawingml/2006/main">
              <a:ext uri="{FF2B5EF4-FFF2-40B4-BE49-F238E27FC236}">
                <a16:creationId xmlns:a16="http://schemas.microsoft.com/office/drawing/2014/main" id="{87FF1C36-0677-44FD-A8C6-6A17CB13E099}"/>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Persistent symptoms after 48–72 hours, relapse within days, fever, flank pain, or progressive illness should prompt reassessment of culture, antibiotic exposure, alternative diagnoses, and source control. Treat infected obstruction as urgent.</a:t>
            </a:r>
          </a:p>
        </p:txBody>
      </p:sp>
      <p:sp>
        <p:nvSpPr>
          <p:cNvPr id="3" name="footer">
            <a:extLst xmlns:a="http://schemas.openxmlformats.org/drawingml/2006/main">
              <a:ext uri="{FF2B5EF4-FFF2-40B4-BE49-F238E27FC236}">
                <a16:creationId xmlns:a16="http://schemas.microsoft.com/office/drawing/2014/main" id="{AC51F0EF-5AE9-42AD-A209-9A40D6DC53E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D96DE23-4BCD-49A7-9405-096B1EDEAB0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49</a:t>
            </a:r>
          </a:p>
        </p:txBody>
      </p:sp>
    </p:spTree>
    <p:extLst>
      <p:ext uri="{BB962C8B-B14F-4D97-AF65-F5344CB8AC3E}">
        <p14:creationId xmlns:p14="http://schemas.microsoft.com/office/powerpoint/2010/main" val="730561386"/>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B9026E0-4D02-47EE-8D37-B1EEDAA3397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Cases for discussion</a:t>
            </a:r>
          </a:p>
        </p:txBody>
      </p:sp>
      <p:sp>
        <p:nvSpPr>
          <p:cNvPr id="2" name="paragraph-0">
            <a:extLst xmlns:a="http://schemas.openxmlformats.org/drawingml/2006/main">
              <a:ext uri="{FF2B5EF4-FFF2-40B4-BE49-F238E27FC236}">
                <a16:creationId xmlns:a16="http://schemas.microsoft.com/office/drawing/2014/main" id="{ED776871-705E-4ADC-B8C9-E7996D64D871}"/>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71-year-old with chronic frequency, no new urinary symptoms, and urine culture with ESBL E. coli . She has requested another antibiotic.</a:t>
            </a:r>
          </a:p>
        </p:txBody>
      </p:sp>
      <p:sp>
        <p:nvSpPr>
          <p:cNvPr id="3" name="footer">
            <a:extLst xmlns:a="http://schemas.openxmlformats.org/drawingml/2006/main">
              <a:ext uri="{FF2B5EF4-FFF2-40B4-BE49-F238E27FC236}">
                <a16:creationId xmlns:a16="http://schemas.microsoft.com/office/drawing/2014/main" id="{7DA391E6-F3AF-4B05-9363-F11F5DC50DFD}"/>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161DC1D1-6707-4EC9-AF1E-5268F9E3D0C6}"/>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50</a:t>
            </a:r>
          </a:p>
        </p:txBody>
      </p:sp>
    </p:spTree>
    <p:extLst>
      <p:ext uri="{BB962C8B-B14F-4D97-AF65-F5344CB8AC3E}">
        <p14:creationId xmlns:p14="http://schemas.microsoft.com/office/powerpoint/2010/main" val="2138252426"/>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ECBC9D1-6FA7-44D0-BA77-C7152374347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1BC551BC-6713-41C7-9CCA-BC875028CC1E}"/>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39-year-old has four culture-confirmed cystitis episodes in a year, each within 48 hours after intercourse. Normal exam, no hematuria, no febrile episodes.</a:t>
            </a:r>
          </a:p>
        </p:txBody>
      </p:sp>
      <p:sp>
        <p:nvSpPr>
          <p:cNvPr id="3" name="footer">
            <a:extLst xmlns:a="http://schemas.openxmlformats.org/drawingml/2006/main">
              <a:ext uri="{FF2B5EF4-FFF2-40B4-BE49-F238E27FC236}">
                <a16:creationId xmlns:a16="http://schemas.microsoft.com/office/drawing/2014/main" id="{C0AD6220-894E-46F9-B835-D3B7A63F699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05977584-F3E2-4731-908D-DDA093DEBC8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51</a:t>
            </a:r>
          </a:p>
        </p:txBody>
      </p:sp>
    </p:spTree>
    <p:extLst>
      <p:ext uri="{BB962C8B-B14F-4D97-AF65-F5344CB8AC3E}">
        <p14:creationId xmlns:p14="http://schemas.microsoft.com/office/powerpoint/2010/main" val="841229773"/>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E9B9FCEC-103B-4DBA-86DE-26855E6F4DA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003FFA1C-7BA0-4EE1-B0FA-D59F6FA65325}"/>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 63-year-old has recurrent Proteus bacteriuria and febrile episodes after antibiotics. She has a history of stones.</a:t>
            </a:r>
          </a:p>
        </p:txBody>
      </p:sp>
      <p:sp>
        <p:nvSpPr>
          <p:cNvPr id="3" name="footer">
            <a:extLst xmlns:a="http://schemas.openxmlformats.org/drawingml/2006/main">
              <a:ext uri="{FF2B5EF4-FFF2-40B4-BE49-F238E27FC236}">
                <a16:creationId xmlns:a16="http://schemas.microsoft.com/office/drawing/2014/main" id="{2C9FDAF3-650C-43A0-A38E-84139CDA082B}"/>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CE296AF3-43DF-4047-B251-15C382B6972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52</a:t>
            </a:r>
          </a:p>
        </p:txBody>
      </p:sp>
    </p:spTree>
    <p:extLst>
      <p:ext uri="{BB962C8B-B14F-4D97-AF65-F5344CB8AC3E}">
        <p14:creationId xmlns:p14="http://schemas.microsoft.com/office/powerpoint/2010/main" val="96325911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A160A07-9F1E-44E2-A854-8F9BE784A39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complicated UTI and the 2025 IDSA guideline</a:t>
            </a:r>
          </a:p>
        </p:txBody>
      </p:sp>
      <p:sp>
        <p:nvSpPr>
          <p:cNvPr id="2" name="paragraph-0">
            <a:extLst xmlns:a="http://schemas.openxmlformats.org/drawingml/2006/main">
              <a:ext uri="{FF2B5EF4-FFF2-40B4-BE49-F238E27FC236}">
                <a16:creationId xmlns:a16="http://schemas.microsoft.com/office/drawing/2014/main" id="{236C8DA8-EF24-4E63-99D2-40514C56BE94}"/>
              </a:ext>
            </a:extLst>
          </p:cNvPr>
          <p:cNvSpPr>
            <a:spLocks xmlns:a="http://schemas.openxmlformats.org/drawingml/2006/main" noGrp="1"/>
          </p:cNvSpPr>
          <p:nvPr/>
        </p:nvSpPr>
        <p:spPr>
          <a:xfrm xmlns:a="http://schemas.openxmlformats.org/drawingml/2006/main">
            <a:off x="647700" y="195262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These recommendations apply to acute cUTI, including pyelonephritis, not asymptomatic bacteriuria or routine recurrent-cystitis prevention.</a:t>
            </a:r>
          </a:p>
        </p:txBody>
      </p:sp>
      <p:sp>
        <p:nvSpPr>
          <p:cNvPr id="3" name="footer">
            <a:extLst xmlns:a="http://schemas.openxmlformats.org/drawingml/2006/main">
              <a:ext uri="{FF2B5EF4-FFF2-40B4-BE49-F238E27FC236}">
                <a16:creationId xmlns:a16="http://schemas.microsoft.com/office/drawing/2014/main" id="{D593625F-062A-4363-BDFB-2343ECBA79F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D89D92B1-E34D-467E-9300-68ED58A02BF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53</a:t>
            </a:r>
          </a:p>
        </p:txBody>
      </p:sp>
    </p:spTree>
    <p:extLst>
      <p:ext uri="{BB962C8B-B14F-4D97-AF65-F5344CB8AC3E}">
        <p14:creationId xmlns:p14="http://schemas.microsoft.com/office/powerpoint/2010/main" val="1392726447"/>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F88CD27-0F8E-4A23-B482-A67105AE3A82}"/>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complicated UTI and the 2025 IDSA guideline</a:t>
            </a:r>
          </a:p>
        </p:txBody>
      </p:sp>
      <p:graphicFrame>
        <p:nvGraphicFramePr>
          <p:cNvPr id="2" name="">
            <a:extLst xmlns:a="http://schemas.openxmlformats.org/drawingml/2006/main">
              <a:ext uri="{FF2B5EF4-FFF2-40B4-BE49-F238E27FC236}">
                <a16:creationId xmlns:a16="http://schemas.microsoft.com/office/drawing/2014/main" id="{BF0EAA74-89A5-445A-87EF-09A75AC31609}"/>
              </a:ext>
            </a:extLst>
          </p:cNvPr>
          <p:cNvGraphicFramePr/>
          <p:nvPr/>
        </p:nvGraphicFramePr>
        <p:xfrm>
          <a:off xmlns:a="http://schemas.openxmlformats.org/drawingml/2006/main" x="647700" y="1866900"/>
          <a:ext xmlns:a="http://schemas.openxmlformats.org/drawingml/2006/main" cx="10896600" cy="324326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Empiric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705100">
                <a:tc>
                  <a:txBody>
                    <a:bodyPr lIns="114300" tIns="114300" rIns="114300" bIns="114300">
                      <a:noAutofit/>
                    </a:bodyPr>
                    <a:lstStyle/>
                    <a:p>
                      <a:r>
                        <a:rPr sz="1950" b="0">
                          <a:solidFill>
                            <a:srgbClr val="16323B"/>
                          </a:solidFill>
                          <a:latin typeface="DejaVu Sans"/>
                          <a:ea typeface="DejaVu Sans"/>
                          <a:cs typeface="DejaVu Sans"/>
                        </a:rPr>
                        <a:t>Recommended approach and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Assess severity and sepsis first, then recent urine cultures and resistance, prior antibiotic exposure, patient-specific adverse effects, and the local antibiogram when septic. Avoid agents with recent documented resistance. The guideline suggests avoiding fluoroquinolones if exposed to that class in the prior 12 months. Nonseptic cUTI does not automatically warrant a carbapenem or a novel agent.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5170CA24-AF93-45B8-A9C1-5D2BD5A778E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676824F4-A4C6-49A2-98D3-A33D95299A8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54</a:t>
            </a:r>
          </a:p>
        </p:txBody>
      </p:sp>
    </p:spTree>
    <p:extLst>
      <p:ext uri="{BB962C8B-B14F-4D97-AF65-F5344CB8AC3E}">
        <p14:creationId xmlns:p14="http://schemas.microsoft.com/office/powerpoint/2010/main" val="1193725018"/>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392E5C62-8F3E-4E00-B70B-C6C8D5DD7EE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complicated UTI and the 2025 IDSA guideline</a:t>
            </a:r>
          </a:p>
        </p:txBody>
      </p:sp>
      <p:graphicFrame>
        <p:nvGraphicFramePr>
          <p:cNvPr id="2" name="">
            <a:extLst xmlns:a="http://schemas.openxmlformats.org/drawingml/2006/main">
              <a:ext uri="{FF2B5EF4-FFF2-40B4-BE49-F238E27FC236}">
                <a16:creationId xmlns:a16="http://schemas.microsoft.com/office/drawing/2014/main" id="{9032A271-AD1B-45D9-B711-C82490F0ADEB}"/>
              </a:ext>
            </a:extLst>
          </p:cNvPr>
          <p:cNvGraphicFramePr/>
          <p:nvPr/>
        </p:nvGraphicFramePr>
        <p:xfrm>
          <a:off xmlns:a="http://schemas.openxmlformats.org/drawingml/2006/main" x="647700" y="1866900"/>
          <a:ext xmlns:a="http://schemas.openxmlformats.org/drawingml/2006/main" cx="10896600" cy="20050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Culture results</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466850">
                <a:tc>
                  <a:txBody>
                    <a:bodyPr lIns="114300" tIns="114300" rIns="114300" bIns="114300">
                      <a:noAutofit/>
                    </a:bodyPr>
                    <a:lstStyle/>
                    <a:p>
                      <a:r>
                        <a:rPr sz="1950" b="0">
                          <a:solidFill>
                            <a:srgbClr val="16323B"/>
                          </a:solidFill>
                          <a:latin typeface="DejaVu Sans"/>
                          <a:ea typeface="DejaVu Sans"/>
                          <a:cs typeface="DejaVu Sans"/>
                        </a:rPr>
                        <a:t>Recommended approach and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De-escalate to the narrowest effective regimen once susceptibilities are available. An effective cUTI antibiotic must reach the urine and relevant tissue; bloodstream exposure also matters with bacteremia.</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878CE85-7A5D-40D3-9DC4-D08C30A0F0B3}"/>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835233B-7D30-4723-8231-89BA3B4C64E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55</a:t>
            </a:r>
          </a:p>
        </p:txBody>
      </p:sp>
    </p:spTree>
    <p:extLst>
      <p:ext uri="{BB962C8B-B14F-4D97-AF65-F5344CB8AC3E}">
        <p14:creationId xmlns:p14="http://schemas.microsoft.com/office/powerpoint/2010/main" val="184479037"/>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9B460826-9B26-4328-957A-3C1DC588088D}"/>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complicated UTI and the 2025 IDSA guideline</a:t>
            </a:r>
          </a:p>
        </p:txBody>
      </p:sp>
      <p:graphicFrame>
        <p:nvGraphicFramePr>
          <p:cNvPr id="2" name="">
            <a:extLst xmlns:a="http://schemas.openxmlformats.org/drawingml/2006/main">
              <a:ext uri="{FF2B5EF4-FFF2-40B4-BE49-F238E27FC236}">
                <a16:creationId xmlns:a16="http://schemas.microsoft.com/office/drawing/2014/main" id="{906ED6C6-BDF7-47B8-85AE-257BFDB2BC92}"/>
              </a:ext>
            </a:extLst>
          </p:cNvPr>
          <p:cNvGraphicFramePr/>
          <p:nvPr/>
        </p:nvGraphicFramePr>
        <p:xfrm>
          <a:off xmlns:a="http://schemas.openxmlformats.org/drawingml/2006/main" x="647700" y="1866900"/>
          <a:ext xmlns:a="http://schemas.openxmlformats.org/drawingml/2006/main" cx="10896600" cy="2624138"/>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IV to oral</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085975">
                <a:tc>
                  <a:txBody>
                    <a:bodyPr lIns="114300" tIns="114300" rIns="114300" bIns="114300">
                      <a:noAutofit/>
                    </a:bodyPr>
                    <a:lstStyle/>
                    <a:p>
                      <a:r>
                        <a:rPr sz="1950" b="0">
                          <a:solidFill>
                            <a:srgbClr val="16323B"/>
                          </a:solidFill>
                          <a:latin typeface="DejaVu Sans"/>
                          <a:ea typeface="DejaVu Sans"/>
                          <a:cs typeface="DejaVu Sans"/>
                        </a:rPr>
                        <a:t>Recommended approach and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Switch if clinically improving, able to take oral medication, and an active oral agent is available. In selected Gram-negative bacteremia, this is reasonable after stability and source control. Trials underrepresented severe sepsis, catheterized patients, immunocompromise, severe renal insufficiency and structural abnormalities.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CD40256C-4C21-49AE-BE3F-94FBA29D05E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79C07670-24C1-48C8-811E-4DFA2138218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56</a:t>
            </a:r>
          </a:p>
        </p:txBody>
      </p:sp>
    </p:spTree>
    <p:extLst>
      <p:ext uri="{BB962C8B-B14F-4D97-AF65-F5344CB8AC3E}">
        <p14:creationId xmlns:p14="http://schemas.microsoft.com/office/powerpoint/2010/main" val="321700029"/>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6F4AAC6-AA3C-42F6-9350-DC912D3C798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complicated UTI and the 2025 IDSA guideline</a:t>
            </a:r>
          </a:p>
        </p:txBody>
      </p:sp>
      <p:graphicFrame>
        <p:nvGraphicFramePr>
          <p:cNvPr id="2" name="">
            <a:extLst xmlns:a="http://schemas.openxmlformats.org/drawingml/2006/main">
              <a:ext uri="{FF2B5EF4-FFF2-40B4-BE49-F238E27FC236}">
                <a16:creationId xmlns:a16="http://schemas.microsoft.com/office/drawing/2014/main" id="{BFA2578F-81A1-4AFB-B98F-2CC7F94E14B7}"/>
              </a:ext>
            </a:extLst>
          </p:cNvPr>
          <p:cNvGraphicFramePr/>
          <p:nvPr/>
        </p:nvGraphicFramePr>
        <p:xfrm>
          <a:off xmlns:a="http://schemas.openxmlformats.org/drawingml/2006/main" x="647700" y="1866900"/>
          <a:ext xmlns:a="http://schemas.openxmlformats.org/drawingml/2006/main" cx="10896600" cy="23145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Duration</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776413">
                <a:tc>
                  <a:txBody>
                    <a:bodyPr lIns="114300" tIns="114300" rIns="114300" bIns="114300">
                      <a:noAutofit/>
                    </a:bodyPr>
                    <a:lstStyle/>
                    <a:p>
                      <a:r>
                        <a:rPr sz="1950" b="0">
                          <a:solidFill>
                            <a:srgbClr val="16323B"/>
                          </a:solidFill>
                          <a:latin typeface="DejaVu Sans"/>
                          <a:ea typeface="DejaVu Sans"/>
                          <a:cs typeface="DejaVu Sans"/>
                        </a:rPr>
                        <a:t>Recommended approach and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For improving cUTI, use 5–7 days of an effective fluoroquinolone or 7 days of an effective non-fluoroquinolone, counted from the first day of effective therapy. In improving cUTI with Gram-negative bacteremia, 7 days is suggested over 14 days.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F442CBB4-2C5E-42E2-BAD4-30A849273ED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20A59CD-8F05-4A4D-A8C4-C939A225ACD7}"/>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57</a:t>
            </a:r>
          </a:p>
        </p:txBody>
      </p:sp>
    </p:spTree>
    <p:extLst>
      <p:ext uri="{BB962C8B-B14F-4D97-AF65-F5344CB8AC3E}">
        <p14:creationId xmlns:p14="http://schemas.microsoft.com/office/powerpoint/2010/main" val="1681391611"/>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0FE2C1D-1902-4269-85F8-C3111C694F31}"/>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complicated UTI and the 2025 IDSA guideline</a:t>
            </a:r>
          </a:p>
        </p:txBody>
      </p:sp>
      <p:graphicFrame>
        <p:nvGraphicFramePr>
          <p:cNvPr id="2" name="">
            <a:extLst xmlns:a="http://schemas.openxmlformats.org/drawingml/2006/main">
              <a:ext uri="{FF2B5EF4-FFF2-40B4-BE49-F238E27FC236}">
                <a16:creationId xmlns:a16="http://schemas.microsoft.com/office/drawing/2014/main" id="{E5FA57CF-92C7-4BD7-8274-9255FA914DD9}"/>
              </a:ext>
            </a:extLst>
          </p:cNvPr>
          <p:cNvGraphicFramePr/>
          <p:nvPr/>
        </p:nvGraphicFramePr>
        <p:xfrm>
          <a:off xmlns:a="http://schemas.openxmlformats.org/drawingml/2006/main" x="647700" y="1866900"/>
          <a:ext xmlns:a="http://schemas.openxmlformats.org/drawingml/2006/main" cx="10896600" cy="2933700"/>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Exceptions and uncertainty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2395538">
                <a:tc>
                  <a:txBody>
                    <a:bodyPr lIns="114300" tIns="114300" rIns="114300" bIns="114300">
                      <a:noAutofit/>
                    </a:bodyPr>
                    <a:lstStyle/>
                    <a:p>
                      <a:r>
                        <a:rPr sz="1950" b="0">
                          <a:solidFill>
                            <a:srgbClr val="16323B"/>
                          </a:solidFill>
                          <a:latin typeface="DejaVu Sans"/>
                          <a:ea typeface="DejaVu Sans"/>
                          <a:cs typeface="DejaVu Sans"/>
                        </a:rPr>
                        <a:t>Recommended approach and limitation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Individualize with inadequate source control, urinary abscess, complete obstruction, severe sepsis, indwelling devices, CKD or substantial immunocompromise; many trials excluded these patients. Suspected acute bacterial prostatitis in febrile men may warrant 10–14 days. Evidence for short-course oral beta-lactams in cUTI is more limited and adequate dosing is important.</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bl>
          </a:graphicData>
        </a:graphic>
      </p:graphicFrame>
      <p:sp>
        <p:nvSpPr>
          <p:cNvPr id="3" name="footer">
            <a:extLst xmlns:a="http://schemas.openxmlformats.org/drawingml/2006/main">
              <a:ext uri="{FF2B5EF4-FFF2-40B4-BE49-F238E27FC236}">
                <a16:creationId xmlns:a16="http://schemas.microsoft.com/office/drawing/2014/main" id="{8BB3CE80-D6A2-40C7-BF43-4DEA835248F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4" name="number">
            <a:extLst xmlns:a="http://schemas.openxmlformats.org/drawingml/2006/main">
              <a:ext uri="{FF2B5EF4-FFF2-40B4-BE49-F238E27FC236}">
                <a16:creationId xmlns:a16="http://schemas.microsoft.com/office/drawing/2014/main" id="{5AC5BF6B-D269-45E1-8C13-45209233C88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58</a:t>
            </a:r>
          </a:p>
        </p:txBody>
      </p:sp>
    </p:spTree>
    <p:extLst>
      <p:ext uri="{BB962C8B-B14F-4D97-AF65-F5344CB8AC3E}">
        <p14:creationId xmlns:p14="http://schemas.microsoft.com/office/powerpoint/2010/main" val="1700558371"/>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4951AA7-F514-4620-8583-F52CC80B7C09}"/>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Acute complicated UTI and the 2025 IDSA guideline</a:t>
            </a:r>
          </a:p>
        </p:txBody>
      </p:sp>
      <p:sp>
        <p:nvSpPr>
          <p:cNvPr id="2" name="paragraph-0">
            <a:extLst xmlns:a="http://schemas.openxmlformats.org/drawingml/2006/main">
              <a:ext uri="{FF2B5EF4-FFF2-40B4-BE49-F238E27FC236}">
                <a16:creationId xmlns:a16="http://schemas.microsoft.com/office/drawing/2014/main" id="{14D98F27-A78D-44C4-A5F0-4E013DD9C9C0}"/>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Failure to improve promptly should trigger reassessment for obstruction, retained stone, abscess, inadequate drug exposure or another diagnosis rather than automatic antibiotic extension. The cUTI guideline does not provide a treatment algorithm for chronic urinary symptoms.</a:t>
            </a:r>
          </a:p>
        </p:txBody>
      </p:sp>
      <p:sp>
        <p:nvSpPr>
          <p:cNvPr id="3" name="paragraph-1">
            <a:extLst xmlns:a="http://schemas.openxmlformats.org/drawingml/2006/main">
              <a:ext uri="{FF2B5EF4-FFF2-40B4-BE49-F238E27FC236}">
                <a16:creationId xmlns:a16="http://schemas.microsoft.com/office/drawing/2014/main" id="{4EA9B67D-866F-413E-86F9-95A8848354A3}"/>
              </a:ext>
            </a:extLst>
          </p:cNvPr>
          <p:cNvSpPr>
            <a:spLocks xmlns:a="http://schemas.openxmlformats.org/drawingml/2006/main" noGrp="1"/>
          </p:cNvSpPr>
          <p:nvPr/>
        </p:nvSpPr>
        <p:spPr>
          <a:xfrm xmlns:a="http://schemas.openxmlformats.org/drawingml/2006/main">
            <a:off x="647700" y="3619500"/>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Trautner et al., IDSA 2025 cUTI guideline: empiric and definitive therapy, IV-to-oral transition, and duration .</a:t>
            </a:r>
          </a:p>
        </p:txBody>
      </p:sp>
      <p:sp>
        <p:nvSpPr>
          <p:cNvPr id="4" name="footer">
            <a:extLst xmlns:a="http://schemas.openxmlformats.org/drawingml/2006/main">
              <a:ext uri="{FF2B5EF4-FFF2-40B4-BE49-F238E27FC236}">
                <a16:creationId xmlns:a16="http://schemas.microsoft.com/office/drawing/2014/main" id="{FF10F788-64E2-4FE6-B8DC-D1CEF501D7AF}"/>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Resident teaching</a:t>
            </a:r>
          </a:p>
        </p:txBody>
      </p:sp>
      <p:sp>
        <p:nvSpPr>
          <p:cNvPr id="5" name="number">
            <a:extLst xmlns:a="http://schemas.openxmlformats.org/drawingml/2006/main">
              <a:ext uri="{FF2B5EF4-FFF2-40B4-BE49-F238E27FC236}">
                <a16:creationId xmlns:a16="http://schemas.microsoft.com/office/drawing/2014/main" id="{5A7E07F5-C02D-4434-9095-2A8F1541EE5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59</a:t>
            </a:r>
          </a:p>
        </p:txBody>
      </p:sp>
    </p:spTree>
    <p:extLst>
      <p:ext uri="{BB962C8B-B14F-4D97-AF65-F5344CB8AC3E}">
        <p14:creationId xmlns:p14="http://schemas.microsoft.com/office/powerpoint/2010/main" val="270636834"/>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55A4791-E287-4D0E-A4F6-D2A5E322F52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7BF9DE56-54E7-4002-9CB3-573ED0145625}"/>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Do not treat ASB. Determine what, if anything, changed from baseline. Evaluate atrophy, incontinence, retention, medications, and bladder symptoms. A resistant isolate does not convert colonization into infection.</a:t>
            </a:r>
          </a:p>
        </p:txBody>
      </p:sp>
      <p:sp>
        <p:nvSpPr>
          <p:cNvPr id="3" name="footer">
            <a:extLst xmlns:a="http://schemas.openxmlformats.org/drawingml/2006/main">
              <a:ext uri="{FF2B5EF4-FFF2-40B4-BE49-F238E27FC236}">
                <a16:creationId xmlns:a16="http://schemas.microsoft.com/office/drawing/2014/main" id="{886EB0CE-C6E5-411E-993A-FA1C4372F7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04C6AD9-F044-43FA-A80A-C05514F5906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60</a:t>
            </a:r>
          </a:p>
        </p:txBody>
      </p:sp>
    </p:spTree>
    <p:extLst>
      <p:ext uri="{BB962C8B-B14F-4D97-AF65-F5344CB8AC3E}">
        <p14:creationId xmlns:p14="http://schemas.microsoft.com/office/powerpoint/2010/main" val="360164031"/>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D4ACA42-575E-401F-B943-119E166F0015}"/>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522C14E1-6DE5-41DE-9AA9-DD0DCF6C54B6}"/>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 routine CT or cystoscopy. Avoid spermicide, discuss postcoital prophylaxis based on susceptibility versus patient-initiated treatment, and review whether nonantibiotic measures are preferred.</a:t>
            </a:r>
          </a:p>
        </p:txBody>
      </p:sp>
      <p:sp>
        <p:nvSpPr>
          <p:cNvPr id="3" name="footer">
            <a:extLst xmlns:a="http://schemas.openxmlformats.org/drawingml/2006/main">
              <a:ext uri="{FF2B5EF4-FFF2-40B4-BE49-F238E27FC236}">
                <a16:creationId xmlns:a16="http://schemas.microsoft.com/office/drawing/2014/main" id="{8A894CDA-32FA-49A3-BBD1-70A0F4C5A5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F95F7EE-EDC3-486D-8905-81D2939E0D3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61</a:t>
            </a:r>
          </a:p>
        </p:txBody>
      </p:sp>
    </p:spTree>
    <p:extLst>
      <p:ext uri="{BB962C8B-B14F-4D97-AF65-F5344CB8AC3E}">
        <p14:creationId xmlns:p14="http://schemas.microsoft.com/office/powerpoint/2010/main" val="28366345"/>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28E25BF-6FFC-4844-BBE9-E93544065438}"/>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Discussion</a:t>
            </a:r>
          </a:p>
        </p:txBody>
      </p:sp>
      <p:sp>
        <p:nvSpPr>
          <p:cNvPr id="2" name="paragraph-0">
            <a:extLst xmlns:a="http://schemas.openxmlformats.org/drawingml/2006/main">
              <a:ext uri="{FF2B5EF4-FFF2-40B4-BE49-F238E27FC236}">
                <a16:creationId xmlns:a16="http://schemas.microsoft.com/office/drawing/2014/main" id="{A3E10035-BB79-4DE4-9F22-3703DCCF22D2}"/>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Image for stone and obstruction, particularly struvite/infected calculi. Urology source control is central; repeated suppressive antibiotics without source evaluation may fail.</a:t>
            </a:r>
          </a:p>
        </p:txBody>
      </p:sp>
      <p:sp>
        <p:nvSpPr>
          <p:cNvPr id="3" name="footer">
            <a:extLst xmlns:a="http://schemas.openxmlformats.org/drawingml/2006/main">
              <a:ext uri="{FF2B5EF4-FFF2-40B4-BE49-F238E27FC236}">
                <a16:creationId xmlns:a16="http://schemas.microsoft.com/office/drawing/2014/main" id="{B809364E-4590-455A-AEAE-815A127D886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2EB61F0-14EC-46F7-A95A-B875A534A32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62</a:t>
            </a:r>
          </a:p>
        </p:txBody>
      </p:sp>
    </p:spTree>
    <p:extLst>
      <p:ext uri="{BB962C8B-B14F-4D97-AF65-F5344CB8AC3E}">
        <p14:creationId xmlns:p14="http://schemas.microsoft.com/office/powerpoint/2010/main" val="2086993616"/>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9C537C0-56F5-4287-B7C6-EC361C361B2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Relapse, devices and special populations</a:t>
            </a:r>
          </a:p>
        </p:txBody>
      </p:sp>
      <p:sp>
        <p:nvSpPr>
          <p:cNvPr id="2" name="paragraph-0">
            <a:extLst xmlns:a="http://schemas.openxmlformats.org/drawingml/2006/main">
              <a:ext uri="{FF2B5EF4-FFF2-40B4-BE49-F238E27FC236}">
                <a16:creationId xmlns:a16="http://schemas.microsoft.com/office/drawing/2014/main" id="{4133EB7D-C133-4F1F-9C0A-526D7A3CE480}"/>
              </a:ext>
            </a:extLst>
          </p:cNvPr>
          <p:cNvSpPr>
            <a:spLocks xmlns:a="http://schemas.openxmlformats.org/drawingml/2006/main" noGrp="1"/>
          </p:cNvSpPr>
          <p:nvPr/>
        </p:nvSpPr>
        <p:spPr>
          <a:xfrm xmlns:a="http://schemas.openxmlformats.org/drawingml/2006/main">
            <a:off x="647700" y="1952625"/>
            <a:ext cx="10858500" cy="2228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Repeated same-species growth does not prove a genetically identical strain. A short symptom-free interval after apparently adequate therapy changes the probability of a reservoir and should prompt review of culture collection, adherence, drug penetration, upper tract involvement, and device/stone status. Consider prostatic infection in men and occult obstruction with febrile relapses.</a:t>
            </a:r>
          </a:p>
        </p:txBody>
      </p:sp>
      <p:sp>
        <p:nvSpPr>
          <p:cNvPr id="3" name="footer">
            <a:extLst xmlns:a="http://schemas.openxmlformats.org/drawingml/2006/main">
              <a:ext uri="{FF2B5EF4-FFF2-40B4-BE49-F238E27FC236}">
                <a16:creationId xmlns:a16="http://schemas.microsoft.com/office/drawing/2014/main" id="{BD27712B-8D0B-4813-A485-67A2CEC5A8DA}"/>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EC8F16BC-C7EA-4CBA-8DB2-FD368F12FEF4}"/>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63</a:t>
            </a:r>
          </a:p>
        </p:txBody>
      </p:sp>
    </p:spTree>
    <p:extLst>
      <p:ext uri="{BB962C8B-B14F-4D97-AF65-F5344CB8AC3E}">
        <p14:creationId xmlns:p14="http://schemas.microsoft.com/office/powerpoint/2010/main" val="707945391"/>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0B37BFE8-FA47-4E01-8E10-056E077DFD3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Relapse, devices and special populations</a:t>
            </a:r>
          </a:p>
        </p:txBody>
      </p:sp>
      <p:sp>
        <p:nvSpPr>
          <p:cNvPr id="2" name="paragraph-0">
            <a:extLst xmlns:a="http://schemas.openxmlformats.org/drawingml/2006/main">
              <a:ext uri="{FF2B5EF4-FFF2-40B4-BE49-F238E27FC236}">
                <a16:creationId xmlns:a16="http://schemas.microsoft.com/office/drawing/2014/main" id="{96422322-3E88-4F29-911C-CAD9538262CD}"/>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In indwelling-catheter or intermittent-catheter users, avoid routine prophylaxis and surveillance cultures as a default. Assess obstruction, catheter necessity and technique, bladder pressures/emptying, and stone burden. Evidence from uncomplicated women is not directly applicable. In neurogenic bladder, distinguish individual baseline symptoms and true new changes; specialist evaluation may be necessary. Pregnancy has different screening, treatment and prophylaxis decisions.</a:t>
            </a:r>
          </a:p>
        </p:txBody>
      </p:sp>
      <p:sp>
        <p:nvSpPr>
          <p:cNvPr id="3" name="footer">
            <a:extLst xmlns:a="http://schemas.openxmlformats.org/drawingml/2006/main">
              <a:ext uri="{FF2B5EF4-FFF2-40B4-BE49-F238E27FC236}">
                <a16:creationId xmlns:a16="http://schemas.microsoft.com/office/drawing/2014/main" id="{55BE803D-EFB9-4448-9E52-DA1A125EF1FC}"/>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F9CC0D4-F176-4227-88A9-1064B4CBAF51}"/>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64</a:t>
            </a:r>
          </a:p>
        </p:txBody>
      </p:sp>
    </p:spTree>
    <p:extLst>
      <p:ext uri="{BB962C8B-B14F-4D97-AF65-F5344CB8AC3E}">
        <p14:creationId xmlns:p14="http://schemas.microsoft.com/office/powerpoint/2010/main" val="538239557"/>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15612D78-645B-451E-A3F1-485CE6943ED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Stones, urinary pH and preventive products</a:t>
            </a:r>
          </a:p>
        </p:txBody>
      </p:sp>
      <p:sp>
        <p:nvSpPr>
          <p:cNvPr id="2" name="paragraph-0">
            <a:extLst xmlns:a="http://schemas.openxmlformats.org/drawingml/2006/main">
              <a:ext uri="{FF2B5EF4-FFF2-40B4-BE49-F238E27FC236}">
                <a16:creationId xmlns:a16="http://schemas.microsoft.com/office/drawing/2014/main" id="{317D56A3-7880-49DE-A33D-A4ED83CEE781}"/>
              </a:ext>
            </a:extLst>
          </p:cNvPr>
          <p:cNvSpPr>
            <a:spLocks xmlns:a="http://schemas.openxmlformats.org/drawingml/2006/main" noGrp="1"/>
          </p:cNvSpPr>
          <p:nvPr/>
        </p:nvSpPr>
        <p:spPr>
          <a:xfrm xmlns:a="http://schemas.openxmlformats.org/drawingml/2006/main">
            <a:off x="647700" y="1952625"/>
            <a:ext cx="10858500" cy="2933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Struvite stones arise with urease-producing organisms; remove infected stone burden when feasible. Other stones can still predispose to recurrent infection through obstruction or bacterial persistence. Consider stone analysis and metabolic evaluation for recurrent stone formers. High-dose ascorbic acid may increase urinary oxalate. Cranberry products are not proven to prevent stones and concentrated products may add oxalate; the magnitude of stone risk varies by formulation and evidence is limited.</a:t>
            </a:r>
          </a:p>
        </p:txBody>
      </p:sp>
      <p:sp>
        <p:nvSpPr>
          <p:cNvPr id="3" name="footer">
            <a:extLst xmlns:a="http://schemas.openxmlformats.org/drawingml/2006/main">
              <a:ext uri="{FF2B5EF4-FFF2-40B4-BE49-F238E27FC236}">
                <a16:creationId xmlns:a16="http://schemas.microsoft.com/office/drawing/2014/main" id="{E32E8ECA-5C20-43C3-BD4E-A851FEAF50D2}"/>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95E440A-ABAC-4D1A-83E4-1712714DD7D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65</a:t>
            </a:r>
          </a:p>
        </p:txBody>
      </p:sp>
    </p:spTree>
    <p:extLst>
      <p:ext uri="{BB962C8B-B14F-4D97-AF65-F5344CB8AC3E}">
        <p14:creationId xmlns:p14="http://schemas.microsoft.com/office/powerpoint/2010/main" val="138179957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7101B03C-3D3D-4673-A47C-847E35AD1FC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Stones, urinary pH and preventive products</a:t>
            </a:r>
          </a:p>
        </p:txBody>
      </p:sp>
      <p:sp>
        <p:nvSpPr>
          <p:cNvPr id="2" name="paragraph-0">
            <a:extLst xmlns:a="http://schemas.openxmlformats.org/drawingml/2006/main">
              <a:ext uri="{FF2B5EF4-FFF2-40B4-BE49-F238E27FC236}">
                <a16:creationId xmlns:a16="http://schemas.microsoft.com/office/drawing/2014/main" id="{3E9F31FF-AF25-451A-AFBA-B48CB98377C7}"/>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Methenamine hydrolyzes to formaldehyde in acidic urine, with poor activity when urine is alkaline. Proteus may alkalinize urine, undermining efficacy. Methenamine is not a replacement for drainage of infected obstruction. US labeling contraindicates renal insufficiency without specifying a CrCl threshold; do not present a fixed cutoff as a product-label fact. Some trials excluded advanced CKD, so extrapolation is unsafe.</a:t>
            </a:r>
          </a:p>
        </p:txBody>
      </p:sp>
      <p:sp>
        <p:nvSpPr>
          <p:cNvPr id="3" name="footer">
            <a:extLst xmlns:a="http://schemas.openxmlformats.org/drawingml/2006/main">
              <a:ext uri="{FF2B5EF4-FFF2-40B4-BE49-F238E27FC236}">
                <a16:creationId xmlns:a16="http://schemas.microsoft.com/office/drawing/2014/main" id="{38BC5919-8362-4F7A-809B-A97ACD87ADD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C9C793FA-59C1-46DA-ACEE-0287AFFE7F3B}"/>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66</a:t>
            </a:r>
          </a:p>
        </p:txBody>
      </p:sp>
    </p:spTree>
    <p:extLst>
      <p:ext uri="{BB962C8B-B14F-4D97-AF65-F5344CB8AC3E}">
        <p14:creationId xmlns:p14="http://schemas.microsoft.com/office/powerpoint/2010/main" val="710778543"/>
      </p:ext>
    </p:extLst>
  </p:cSld>
</p:sld>
</file>

<file path=ppt/slides/slide6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53E3E4E4-0698-44CA-8146-D60B64D66D4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Emerging options: separate treatment from prevention</a:t>
            </a:r>
          </a:p>
        </p:txBody>
      </p:sp>
      <p:graphicFrame>
        <p:nvGraphicFramePr>
          <p:cNvPr id="2" name="">
            <a:extLst xmlns:a="http://schemas.openxmlformats.org/drawingml/2006/main">
              <a:ext uri="{FF2B5EF4-FFF2-40B4-BE49-F238E27FC236}">
                <a16:creationId xmlns:a16="http://schemas.microsoft.com/office/drawing/2014/main" id="{F4E41BAA-0BB0-42AE-A2E6-B461AF28C04A}"/>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Gepotidacin (Blujepa)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Status as of October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FDA-approved in 2025 for susceptible uncomplicated UTI in females aged 12 years and older weighing at least 40 kg; 1,500 mg PO twice daily for five days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Acute treatment, not prevention. Consider QT/drug interactions, renal restrictions, susceptibility and access.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D51FD6A1-F48C-4DA1-88E9-801539A0301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31EA39DF-BD2F-4FBE-8083-B05758D3FE9A}"/>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67</a:t>
            </a:r>
          </a:p>
        </p:txBody>
      </p:sp>
    </p:spTree>
    <p:extLst>
      <p:ext uri="{BB962C8B-B14F-4D97-AF65-F5344CB8AC3E}">
        <p14:creationId xmlns:p14="http://schemas.microsoft.com/office/powerpoint/2010/main" val="2131501837"/>
      </p:ext>
    </p:extLst>
  </p:cSld>
</p:sld>
</file>

<file path=ppt/slides/slide6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157FA47-6DAA-4F8A-A437-12B8435B63A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Emerging options: separate treatment from prevention</a:t>
            </a:r>
          </a:p>
        </p:txBody>
      </p:sp>
      <p:graphicFrame>
        <p:nvGraphicFramePr>
          <p:cNvPr id="2" name="">
            <a:extLst xmlns:a="http://schemas.openxmlformats.org/drawingml/2006/main">
              <a:ext uri="{FF2B5EF4-FFF2-40B4-BE49-F238E27FC236}">
                <a16:creationId xmlns:a16="http://schemas.microsoft.com/office/drawing/2014/main" id="{13D1DF4D-5752-425E-96A6-047475CC1E5D}"/>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Pivmecillinam (Pivya)</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Status as of October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FDA-approved in 2024 for uncomplicated UTI in adult women due to specified susceptible organisms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Another acute treatment option, not suppressive prophylaxis. Check availability and label.</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1D6FD54A-7561-4416-8B42-9EBF9C5B28DE}"/>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924696C1-8639-4B19-A26E-2F60845F26DC}"/>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68</a:t>
            </a:r>
          </a:p>
        </p:txBody>
      </p:sp>
    </p:spTree>
    <p:extLst>
      <p:ext uri="{BB962C8B-B14F-4D97-AF65-F5344CB8AC3E}">
        <p14:creationId xmlns:p14="http://schemas.microsoft.com/office/powerpoint/2010/main" val="2125501782"/>
      </p:ext>
    </p:extLst>
  </p:cSld>
</p:sld>
</file>

<file path=ppt/slides/slide6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B2BEFB9A-1C57-437B-AC20-AE5E0D64CC4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Emerging options: separate treatment from prevention</a:t>
            </a:r>
          </a:p>
        </p:txBody>
      </p:sp>
      <p:graphicFrame>
        <p:nvGraphicFramePr>
          <p:cNvPr id="2" name="">
            <a:extLst xmlns:a="http://schemas.openxmlformats.org/drawingml/2006/main">
              <a:ext uri="{FF2B5EF4-FFF2-40B4-BE49-F238E27FC236}">
                <a16:creationId xmlns:a16="http://schemas.microsoft.com/office/drawing/2014/main" id="{95035764-5891-441C-85A6-3C7136908C70}"/>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Oral sulopenem etzadroxil/probenecid (Orlynvah)</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1157288">
                <a:tc>
                  <a:txBody>
                    <a:bodyPr lIns="114300" tIns="114300" rIns="114300" bIns="114300">
                      <a:noAutofit/>
                    </a:bodyPr>
                    <a:lstStyle/>
                    <a:p>
                      <a:r>
                        <a:rPr sz="1950" b="0">
                          <a:solidFill>
                            <a:srgbClr val="16323B"/>
                          </a:solidFill>
                          <a:latin typeface="DejaVu Sans"/>
                          <a:ea typeface="DejaVu Sans"/>
                          <a:cs typeface="DejaVu Sans"/>
                        </a:rPr>
                        <a:t>Status as of October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FDA-approved in 2024 for selected adult women with uncomplicated UTI who have limited or no alternative oral options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Restricted acute-treatment niche; not routine prevention.</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AB1C988C-D9C7-4A00-B2DD-F0F31DAB259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DC876398-7FA6-4253-B20D-9C8D904C45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69</a:t>
            </a:r>
          </a:p>
        </p:txBody>
      </p:sp>
    </p:spTree>
    <p:extLst>
      <p:ext uri="{BB962C8B-B14F-4D97-AF65-F5344CB8AC3E}">
        <p14:creationId xmlns:p14="http://schemas.microsoft.com/office/powerpoint/2010/main" val="589723460"/>
      </p:ext>
    </p:extLst>
  </p:cSld>
</p:sld>
</file>

<file path=ppt/slides/slide7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D79884F1-FF29-4FCE-99DE-631C8793762E}"/>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Emerging options: separate treatment from prevention</a:t>
            </a:r>
          </a:p>
        </p:txBody>
      </p:sp>
      <p:graphicFrame>
        <p:nvGraphicFramePr>
          <p:cNvPr id="2" name="">
            <a:extLst xmlns:a="http://schemas.openxmlformats.org/drawingml/2006/main">
              <a:ext uri="{FF2B5EF4-FFF2-40B4-BE49-F238E27FC236}">
                <a16:creationId xmlns:a16="http://schemas.microsoft.com/office/drawing/2014/main" id="{7C2DC92F-7CA5-488F-9739-87404844B2EC}"/>
              </a:ext>
            </a:extLst>
          </p:cNvPr>
          <p:cNvGraphicFramePr/>
          <p:nvPr/>
        </p:nvGraphicFramePr>
        <p:xfrm>
          <a:off xmlns:a="http://schemas.openxmlformats.org/drawingml/2006/main" x="647700" y="1866900"/>
          <a:ext xmlns:a="http://schemas.openxmlformats.org/drawingml/2006/main" cx="10896600" cy="2233613"/>
        </p:xfrm>
        <a:graphic xmlns:a="http://schemas.openxmlformats.org/drawingml/2006/main">
          <a:graphicData uri="http://schemas.openxmlformats.org/drawingml/2006/table">
            <a:tbl>
              <a:tblPr/>
              <a:tblGrid>
                <a:gridCol w="2571750"/>
                <a:gridCol w="8324850"/>
              </a:tblGrid>
              <a:tr h="538163">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MV140 sublingual bacterial immunotherapy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Status as of October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Randomized prevention data are promising; not FDA-approved for recurrent UTI prevention in the United States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Trial populations and access vary. Avoid implying vaccine efficacy is settled or available locally.</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FB09FAE3-CE49-4E40-87AE-4C5EEF366444}"/>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0B5B956E-C1AD-4118-9640-EF7C715359A9}"/>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70</a:t>
            </a:r>
          </a:p>
        </p:txBody>
      </p:sp>
    </p:spTree>
    <p:extLst>
      <p:ext uri="{BB962C8B-B14F-4D97-AF65-F5344CB8AC3E}">
        <p14:creationId xmlns:p14="http://schemas.microsoft.com/office/powerpoint/2010/main" val="731321835"/>
      </p:ext>
    </p:extLst>
  </p:cSld>
</p:sld>
</file>

<file path=ppt/slides/slide7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FEF3F403-A523-43D8-8627-EBDAAF847F3A}"/>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Emerging options: separate treatment from prevention</a:t>
            </a:r>
          </a:p>
        </p:txBody>
      </p:sp>
      <p:graphicFrame>
        <p:nvGraphicFramePr>
          <p:cNvPr id="2" name="">
            <a:extLst xmlns:a="http://schemas.openxmlformats.org/drawingml/2006/main">
              <a:ext uri="{FF2B5EF4-FFF2-40B4-BE49-F238E27FC236}">
                <a16:creationId xmlns:a16="http://schemas.microsoft.com/office/drawing/2014/main" id="{97926008-EEA3-44A1-B1C4-508560F116E8}"/>
              </a:ext>
            </a:extLst>
          </p:cNvPr>
          <p:cNvGraphicFramePr/>
          <p:nvPr/>
        </p:nvGraphicFramePr>
        <p:xfrm>
          <a:off xmlns:a="http://schemas.openxmlformats.org/drawingml/2006/main" x="647700" y="1866900"/>
          <a:ext xmlns:a="http://schemas.openxmlformats.org/drawingml/2006/main" cx="10896600" cy="2543175"/>
        </p:xfrm>
        <a:graphic xmlns:a="http://schemas.openxmlformats.org/drawingml/2006/main">
          <a:graphicData uri="http://schemas.openxmlformats.org/drawingml/2006/table">
            <a:tbl>
              <a:tblPr/>
              <a:tblGrid>
                <a:gridCol w="2571750"/>
                <a:gridCol w="8324850"/>
              </a:tblGrid>
              <a:tr h="847725">
                <a:tc>
                  <a:txBody>
                    <a:bodyPr lIns="114300" tIns="114300" rIns="114300" bIns="114300">
                      <a:noAutofit/>
                    </a:bodyPr>
                    <a:lstStyle/>
                    <a:p>
                      <a:r>
                        <a:rPr sz="1950" b="1">
                          <a:solidFill>
                            <a:srgbClr val="FFFFFF"/>
                          </a:solidFill>
                          <a:latin typeface="DejaVu Sans"/>
                          <a:ea typeface="DejaVu Sans"/>
                          <a:cs typeface="DejaVu Sans"/>
                        </a:rPr>
                        <a:t/>
                      </a:r>
                    </a:p>
                  </a:txBody>
                  <a:tcPr marL="91440" marR="91440" marT="45720" marB="45720" anchor="ctr">
                    <a:lnL w="9525">
                      <a:solidFill>
                        <a:srgbClr val="CEDADB"/>
                      </a:solidFill>
                      <a:prstDash val="solid"/>
                    </a:lnL>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c>
                  <a:txBody>
                    <a:bodyPr lIns="114300" tIns="114300" rIns="114300" bIns="114300">
                      <a:noAutofit/>
                    </a:bodyPr>
                    <a:lstStyle/>
                    <a:p>
                      <a:r>
                        <a:rPr sz="1950" b="1">
                          <a:solidFill>
                            <a:srgbClr val="FFFFFF"/>
                          </a:solidFill>
                          <a:latin typeface="DejaVu Sans"/>
                          <a:ea typeface="DejaVu Sans"/>
                          <a:cs typeface="DejaVu Sans"/>
                        </a:rPr>
                        <a:t>Other bacterial vaccines, microbiome approaches, intravesical agents, phage therapy</a:t>
                      </a:r>
                    </a:p>
                  </a:txBody>
                  <a:tcPr marL="91440" marR="91440" marT="45720" marB="45720" anchor="ctr">
                    <a:lnR w="9525">
                      <a:solidFill>
                        <a:srgbClr val="CEDADB"/>
                      </a:solidFill>
                      <a:prstDash val="solid"/>
                    </a:lnR>
                    <a:lnT w="9525">
                      <a:solidFill>
                        <a:srgbClr val="CEDADB"/>
                      </a:solidFill>
                      <a:prstDash val="solid"/>
                    </a:lnT>
                    <a:lnB w="9525">
                      <a:solidFill>
                        <a:srgbClr val="CEDADB"/>
                      </a:solidFill>
                      <a:prstDash val="solid"/>
                    </a:lnB>
                    <a:solidFill>
                      <a:srgbClr val="173E48"/>
                    </a:solidFill>
                  </a:tcPr>
                </a:tc>
              </a:tr>
              <a:tr h="847725">
                <a:tc>
                  <a:txBody>
                    <a:bodyPr lIns="114300" tIns="114300" rIns="114300" bIns="114300">
                      <a:noAutofit/>
                    </a:bodyPr>
                    <a:lstStyle/>
                    <a:p>
                      <a:r>
                        <a:rPr sz="1950" b="0">
                          <a:solidFill>
                            <a:srgbClr val="16323B"/>
                          </a:solidFill>
                          <a:latin typeface="DejaVu Sans"/>
                          <a:ea typeface="DejaVu Sans"/>
                          <a:cs typeface="DejaVu Sans"/>
                        </a:rPr>
                        <a:t>Status as of October 2026</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EFF5F5"/>
                    </a:solidFill>
                  </a:tcPr>
                </a:tc>
                <a:tc>
                  <a:txBody>
                    <a:bodyPr lIns="114300" tIns="114300" rIns="114300" bIns="114300">
                      <a:noAutofit/>
                    </a:bodyPr>
                    <a:lstStyle/>
                    <a:p>
                      <a:r>
                        <a:rPr sz="1950" b="0">
                          <a:solidFill>
                            <a:srgbClr val="16323B"/>
                          </a:solidFill>
                          <a:latin typeface="DejaVu Sans"/>
                          <a:ea typeface="DejaVu Sans"/>
                          <a:cs typeface="DejaVu Sans"/>
                        </a:rPr>
                        <a:t>Investigational or variably available outside the US</a:t>
                      </a:r>
                    </a:p>
                  </a:txBody>
                  <a:tcPr marL="91440" marR="91440" marT="45720" marB="45720" anchor="ctr">
                    <a:lnR w="9525">
                      <a:solidFill>
                        <a:srgbClr val="CEDADB"/>
                      </a:solidFill>
                      <a:prstDash val="solid"/>
                    </a:lnR>
                    <a:lnB w="9525">
                      <a:solidFill>
                        <a:srgbClr val="CEDADB"/>
                      </a:solidFill>
                      <a:prstDash val="solid"/>
                    </a:lnB>
                    <a:solidFill>
                      <a:srgbClr val="EFF5F5"/>
                    </a:solidFill>
                  </a:tcPr>
                </a:tc>
              </a:tr>
              <a:tr h="847725">
                <a:tc>
                  <a:txBody>
                    <a:bodyPr lIns="114300" tIns="114300" rIns="114300" bIns="114300">
                      <a:noAutofit/>
                    </a:bodyPr>
                    <a:lstStyle/>
                    <a:p>
                      <a:r>
                        <a:rPr sz="1950" b="0">
                          <a:solidFill>
                            <a:srgbClr val="16323B"/>
                          </a:solidFill>
                          <a:latin typeface="DejaVu Sans"/>
                          <a:ea typeface="DejaVu Sans"/>
                          <a:cs typeface="DejaVu Sans"/>
                        </a:rPr>
                        <a:t>Interpretation</a:t>
                      </a:r>
                    </a:p>
                  </a:txBody>
                  <a:tcPr marL="91440" marR="91440" marT="45720" marB="45720" anchor="ctr">
                    <a:lnL w="9525">
                      <a:solidFill>
                        <a:srgbClr val="CEDADB"/>
                      </a:solidFill>
                      <a:prstDash val="solid"/>
                    </a:lnL>
                    <a:lnR w="9525">
                      <a:solidFill>
                        <a:srgbClr val="CEDADB"/>
                      </a:solidFill>
                      <a:prstDash val="solid"/>
                    </a:lnR>
                    <a:lnB w="9525">
                      <a:solidFill>
                        <a:srgbClr val="CEDADB"/>
                      </a:solidFill>
                      <a:prstDash val="solid"/>
                    </a:lnB>
                    <a:solidFill>
                      <a:srgbClr val="FFFFFF"/>
                    </a:solidFill>
                  </a:tcPr>
                </a:tc>
                <a:tc>
                  <a:txBody>
                    <a:bodyPr lIns="114300" tIns="114300" rIns="114300" bIns="114300">
                      <a:noAutofit/>
                    </a:bodyPr>
                    <a:lstStyle/>
                    <a:p>
                      <a:r>
                        <a:rPr sz="1950" b="0">
                          <a:solidFill>
                            <a:srgbClr val="16323B"/>
                          </a:solidFill>
                          <a:latin typeface="DejaVu Sans"/>
                          <a:ea typeface="DejaVu Sans"/>
                          <a:cs typeface="DejaVu Sans"/>
                        </a:rPr>
                        <a:t>Not routine substitutes for culture-based diagnosis and correction of structural problems.</a:t>
                      </a:r>
                    </a:p>
                  </a:txBody>
                  <a:tcPr marL="91440" marR="91440" marT="45720" marB="45720" anchor="ctr">
                    <a:lnR w="9525">
                      <a:solidFill>
                        <a:srgbClr val="CEDADB"/>
                      </a:solidFill>
                      <a:prstDash val="solid"/>
                    </a:lnR>
                    <a:lnB w="9525">
                      <a:solidFill>
                        <a:srgbClr val="CEDADB"/>
                      </a:solidFill>
                      <a:prstDash val="solid"/>
                    </a:lnB>
                    <a:solidFill>
                      <a:srgbClr val="FFFFFF"/>
                    </a:solidFill>
                  </a:tcPr>
                </a:tc>
              </a:tr>
            </a:tbl>
          </a:graphicData>
        </a:graphic>
      </p:graphicFrame>
      <p:sp>
        <p:nvSpPr>
          <p:cNvPr id="3" name="footer">
            <a:extLst xmlns:a="http://schemas.openxmlformats.org/drawingml/2006/main">
              <a:ext uri="{FF2B5EF4-FFF2-40B4-BE49-F238E27FC236}">
                <a16:creationId xmlns:a16="http://schemas.microsoft.com/office/drawing/2014/main" id="{65569DCE-E38E-46EF-9110-A01C3181A47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28D8AECA-4833-4611-8A1B-A2F1C01AD7E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71</a:t>
            </a:r>
          </a:p>
        </p:txBody>
      </p:sp>
    </p:spTree>
    <p:extLst>
      <p:ext uri="{BB962C8B-B14F-4D97-AF65-F5344CB8AC3E}">
        <p14:creationId xmlns:p14="http://schemas.microsoft.com/office/powerpoint/2010/main" val="938517118"/>
      </p:ext>
    </p:extLst>
  </p:cSld>
</p:sld>
</file>

<file path=ppt/slides/slide7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8041094B-310A-4737-8D18-ECB0533E0506}"/>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Emerging options: separate treatment from prevention</a:t>
            </a:r>
          </a:p>
        </p:txBody>
      </p:sp>
      <p:sp>
        <p:nvSpPr>
          <p:cNvPr id="2" name="paragraph-0">
            <a:extLst xmlns:a="http://schemas.openxmlformats.org/drawingml/2006/main">
              <a:ext uri="{FF2B5EF4-FFF2-40B4-BE49-F238E27FC236}">
                <a16:creationId xmlns:a16="http://schemas.microsoft.com/office/drawing/2014/main" id="{8FAFA59C-BD7E-40F1-A1E1-5D1F780CBE34}"/>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Novel acute antibiotics do not solve recurrent bacteriuria, and they should not be prescribed as prophylaxis without evidence. Review current FDA labeling when considering a recently approved agent.</a:t>
            </a:r>
          </a:p>
        </p:txBody>
      </p:sp>
      <p:sp>
        <p:nvSpPr>
          <p:cNvPr id="3" name="footer">
            <a:extLst xmlns:a="http://schemas.openxmlformats.org/drawingml/2006/main">
              <a:ext uri="{FF2B5EF4-FFF2-40B4-BE49-F238E27FC236}">
                <a16:creationId xmlns:a16="http://schemas.microsoft.com/office/drawing/2014/main" id="{26C9B23C-7DC9-4088-A9EF-A134E8D05358}"/>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78FC2B79-6C24-4DCF-B0ED-05316F9BDA95}"/>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72</a:t>
            </a:r>
          </a:p>
        </p:txBody>
      </p:sp>
    </p:spTree>
    <p:extLst>
      <p:ext uri="{BB962C8B-B14F-4D97-AF65-F5344CB8AC3E}">
        <p14:creationId xmlns:p14="http://schemas.microsoft.com/office/powerpoint/2010/main" val="630930291"/>
      </p:ext>
    </p:extLst>
  </p:cSld>
</p:sld>
</file>

<file path=ppt/slides/slide7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2D7527F8-4B8C-4F55-920F-094FCEF6834C}"/>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Evidence limits and shared decisions</a:t>
            </a:r>
          </a:p>
        </p:txBody>
      </p:sp>
      <p:sp>
        <p:nvSpPr>
          <p:cNvPr id="2" name="paragraph-0">
            <a:extLst xmlns:a="http://schemas.openxmlformats.org/drawingml/2006/main">
              <a:ext uri="{FF2B5EF4-FFF2-40B4-BE49-F238E27FC236}">
                <a16:creationId xmlns:a16="http://schemas.microsoft.com/office/drawing/2014/main" id="{6E29DBC4-C937-460A-9841-8FF305652B0F}"/>
              </a:ext>
            </a:extLst>
          </p:cNvPr>
          <p:cNvSpPr>
            <a:spLocks xmlns:a="http://schemas.openxmlformats.org/drawingml/2006/main" noGrp="1"/>
          </p:cNvSpPr>
          <p:nvPr/>
        </p:nvSpPr>
        <p:spPr>
          <a:xfrm xmlns:a="http://schemas.openxmlformats.org/drawingml/2006/main">
            <a:off x="647700" y="1952625"/>
            <a:ext cx="10858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ALTAR was open-label and used episodes requiring antibiotics as its principal outcome; its noninferiority margin allowed as many as one additional UTI per person-year with methenamine. Patients need the absolute event rates, not just the word “noninferior.” Long-term antibiotic prevention works during exposure but may select resistant flora. Trials frequently exclude significant urinary tract abnormalities and advanced CKD.</a:t>
            </a:r>
          </a:p>
        </p:txBody>
      </p:sp>
      <p:sp>
        <p:nvSpPr>
          <p:cNvPr id="3" name="footer">
            <a:extLst xmlns:a="http://schemas.openxmlformats.org/drawingml/2006/main">
              <a:ext uri="{FF2B5EF4-FFF2-40B4-BE49-F238E27FC236}">
                <a16:creationId xmlns:a16="http://schemas.microsoft.com/office/drawing/2014/main" id="{1B96E7D6-BBAE-477E-8443-FAB4F122CA27}"/>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ACE1B1C5-A2AB-4B84-9600-1D49F5D08E33}"/>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73</a:t>
            </a:r>
          </a:p>
        </p:txBody>
      </p:sp>
    </p:spTree>
    <p:extLst>
      <p:ext uri="{BB962C8B-B14F-4D97-AF65-F5344CB8AC3E}">
        <p14:creationId xmlns:p14="http://schemas.microsoft.com/office/powerpoint/2010/main" val="711466351"/>
      </p:ext>
    </p:extLst>
  </p:cSld>
</p:sld>
</file>

<file path=ppt/slides/slide7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A23BC574-97E6-4694-A968-066FEA875CE4}"/>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Evidence limits and shared decisions</a:t>
            </a:r>
          </a:p>
        </p:txBody>
      </p:sp>
      <p:sp>
        <p:nvSpPr>
          <p:cNvPr id="2" name="paragraph-0">
            <a:extLst xmlns:a="http://schemas.openxmlformats.org/drawingml/2006/main">
              <a:ext uri="{FF2B5EF4-FFF2-40B4-BE49-F238E27FC236}">
                <a16:creationId xmlns:a16="http://schemas.microsoft.com/office/drawing/2014/main" id="{33241C34-CE0E-46AE-9835-BF9D99886D33}"/>
              </a:ext>
            </a:extLst>
          </p:cNvPr>
          <p:cNvSpPr>
            <a:spLocks xmlns:a="http://schemas.openxmlformats.org/drawingml/2006/main" noGrp="1"/>
          </p:cNvSpPr>
          <p:nvPr/>
        </p:nvSpPr>
        <p:spPr>
          <a:xfrm xmlns:a="http://schemas.openxmlformats.org/drawingml/2006/main">
            <a:off x="647700" y="1952625"/>
            <a:ext cx="10858500" cy="1876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For the patient with frequent symptom reports and intermittent normal cultures, offer symptom-triggered urine testing with a documented threshold for treatment. A standing culture order can be reasonable; automatic antibiotics after a positive result are not. Agree to revisit the diagnosis if symptoms and microbiology repeatedly diverge.</a:t>
            </a:r>
          </a:p>
        </p:txBody>
      </p:sp>
      <p:sp>
        <p:nvSpPr>
          <p:cNvPr id="3" name="footer">
            <a:extLst xmlns:a="http://schemas.openxmlformats.org/drawingml/2006/main">
              <a:ext uri="{FF2B5EF4-FFF2-40B4-BE49-F238E27FC236}">
                <a16:creationId xmlns:a16="http://schemas.microsoft.com/office/drawing/2014/main" id="{56E266A9-9E43-401F-85D1-C7F0D818708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Advanced teaching</a:t>
            </a:r>
          </a:p>
        </p:txBody>
      </p:sp>
      <p:sp>
        <p:nvSpPr>
          <p:cNvPr id="4" name="number">
            <a:extLst xmlns:a="http://schemas.openxmlformats.org/drawingml/2006/main">
              <a:ext uri="{FF2B5EF4-FFF2-40B4-BE49-F238E27FC236}">
                <a16:creationId xmlns:a16="http://schemas.microsoft.com/office/drawing/2014/main" id="{1B008B24-0C64-4E48-BA15-F3147808AE62}"/>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74</a:t>
            </a:r>
          </a:p>
        </p:txBody>
      </p:sp>
    </p:spTree>
    <p:extLst>
      <p:ext uri="{BB962C8B-B14F-4D97-AF65-F5344CB8AC3E}">
        <p14:creationId xmlns:p14="http://schemas.microsoft.com/office/powerpoint/2010/main" val="1901097468"/>
      </p:ext>
    </p:extLst>
  </p:cSld>
</p:sld>
</file>

<file path=ppt/slides/slide7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F80082AE-4286-4C25-8B4D-703BD3895987}"/>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public sources</a:t>
            </a:r>
          </a:p>
        </p:txBody>
      </p:sp>
      <p:sp>
        <p:nvSpPr>
          <p:cNvPr id="2" name="paragraph-0">
            <a:extLst xmlns:a="http://schemas.openxmlformats.org/drawingml/2006/main">
              <a:ext uri="{FF2B5EF4-FFF2-40B4-BE49-F238E27FC236}">
                <a16:creationId xmlns:a16="http://schemas.microsoft.com/office/drawing/2014/main" id="{1C5061EE-FD04-4CA4-9BB5-6F82E23F3108}"/>
              </a:ext>
            </a:extLst>
          </p:cNvPr>
          <p:cNvSpPr>
            <a:spLocks xmlns:a="http://schemas.openxmlformats.org/drawingml/2006/main" noGrp="1"/>
          </p:cNvSpPr>
          <p:nvPr/>
        </p:nvSpPr>
        <p:spPr>
          <a:xfrm xmlns:a="http://schemas.openxmlformats.org/drawingml/2006/main">
            <a:off x="647700" y="1952625"/>
            <a:ext cx="108585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AUA/CUA/SUFU recurrent uncomplicated UTI guideline, amended 2025 · EAU urological infections guideline, 2026 · IDSA asymptomatic bacteriuria guideline, 2019 · Trautner et al., IDSA complicated UTI guideline, 2025</a:t>
            </a:r>
          </a:p>
        </p:txBody>
      </p:sp>
      <p:sp>
        <p:nvSpPr>
          <p:cNvPr id="3" name="paragraph-1">
            <a:extLst xmlns:a="http://schemas.openxmlformats.org/drawingml/2006/main">
              <a:ext uri="{FF2B5EF4-FFF2-40B4-BE49-F238E27FC236}">
                <a16:creationId xmlns:a16="http://schemas.microsoft.com/office/drawing/2014/main" id="{39E5E096-A603-4802-BA71-6495F8C09939}"/>
              </a:ext>
            </a:extLst>
          </p:cNvPr>
          <p:cNvSpPr>
            <a:spLocks xmlns:a="http://schemas.openxmlformats.org/drawingml/2006/main" noGrp="1"/>
          </p:cNvSpPr>
          <p:nvPr/>
        </p:nvSpPr>
        <p:spPr>
          <a:xfrm xmlns:a="http://schemas.openxmlformats.org/drawingml/2006/main">
            <a:off x="647700" y="3619500"/>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Harding et al., ALTAR randomized trial, BMJ 2022 · Hooton et al., water-intake randomized trial, JAMA Internal Medicine 2018 · Hayward et al., D-mannose randomized trial, 2024 · Cochrane cranberry review, 2023</a:t>
            </a:r>
          </a:p>
        </p:txBody>
      </p:sp>
      <p:sp>
        <p:nvSpPr>
          <p:cNvPr id="4" name="footer">
            <a:extLst xmlns:a="http://schemas.openxmlformats.org/drawingml/2006/main">
              <a:ext uri="{FF2B5EF4-FFF2-40B4-BE49-F238E27FC236}">
                <a16:creationId xmlns:a16="http://schemas.microsoft.com/office/drawing/2014/main" id="{36F827A8-175C-4119-B319-EA3F46D199E1}"/>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98F2C81E-575B-4A74-B99D-FF77E91B51B8}"/>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75</a:t>
            </a:r>
          </a:p>
        </p:txBody>
      </p:sp>
    </p:spTree>
    <p:extLst>
      <p:ext uri="{BB962C8B-B14F-4D97-AF65-F5344CB8AC3E}">
        <p14:creationId xmlns:p14="http://schemas.microsoft.com/office/powerpoint/2010/main" val="1122119987"/>
      </p:ext>
    </p:extLst>
  </p:cSld>
</p:sld>
</file>

<file path=ppt/slides/slide7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3606D3B0-87B7-425E-A297-C8B83B447E63}"/>
              </a:ext>
            </a:extLst>
          </p:cNvPr>
          <p:cNvSpPr>
            <a:spLocks xmlns:a="http://schemas.openxmlformats.org/drawingml/2006/main" noGrp="1"/>
          </p:cNvSpPr>
          <p:nvPr/>
        </p:nvSpPr>
        <p:spPr>
          <a:xfrm xmlns:a="http://schemas.openxmlformats.org/drawingml/2006/main">
            <a:off x="609600" y="381000"/>
            <a:ext cx="10972800" cy="1352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3300" b="1">
                <a:solidFill>
                  <a:srgbClr val="173E48"/>
                </a:solidFill>
                <a:latin typeface="DejaVu Sans"/>
                <a:ea typeface="DejaVu Sans"/>
                <a:cs typeface="DejaVu Sans"/>
              </a:defRPr>
            </a:defPPr>
            <a:lvl1pPr>
              <a:defRPr sz="3300" b="1">
                <a:solidFill>
                  <a:srgbClr val="173E48"/>
                </a:solidFill>
                <a:latin typeface="DejaVu Sans"/>
                <a:ea typeface="DejaVu Sans"/>
                <a:cs typeface="DejaVu Sans"/>
              </a:defRPr>
            </a:lvl1pPr>
            <a:lvl2pPr>
              <a:defRPr sz="3300" b="1">
                <a:solidFill>
                  <a:srgbClr val="173E48"/>
                </a:solidFill>
                <a:latin typeface="DejaVu Sans"/>
                <a:ea typeface="DejaVu Sans"/>
                <a:cs typeface="DejaVu Sans"/>
              </a:defRPr>
            </a:lvl2pPr>
            <a:lvl3pPr>
              <a:defRPr sz="3300" b="1">
                <a:solidFill>
                  <a:srgbClr val="173E48"/>
                </a:solidFill>
                <a:latin typeface="DejaVu Sans"/>
                <a:ea typeface="DejaVu Sans"/>
                <a:cs typeface="DejaVu Sans"/>
              </a:defRPr>
            </a:lvl3pPr>
            <a:lvl4pPr>
              <a:defRPr sz="3300" b="1">
                <a:solidFill>
                  <a:srgbClr val="173E48"/>
                </a:solidFill>
                <a:latin typeface="DejaVu Sans"/>
                <a:ea typeface="DejaVu Sans"/>
                <a:cs typeface="DejaVu Sans"/>
              </a:defRPr>
            </a:lvl4pPr>
            <a:lvl5pPr>
              <a:defRPr sz="3300" b="1">
                <a:solidFill>
                  <a:srgbClr val="173E48"/>
                </a:solidFill>
                <a:latin typeface="DejaVu Sans"/>
                <a:ea typeface="DejaVu Sans"/>
                <a:cs typeface="DejaVu Sans"/>
              </a:defRPr>
            </a:lvl5pPr>
            <a:lvl6pPr>
              <a:defRPr sz="3300" b="1">
                <a:solidFill>
                  <a:srgbClr val="173E48"/>
                </a:solidFill>
                <a:latin typeface="DejaVu Sans"/>
                <a:ea typeface="DejaVu Sans"/>
                <a:cs typeface="DejaVu Sans"/>
              </a:defRPr>
            </a:lvl6pPr>
            <a:lvl7pPr>
              <a:defRPr sz="3300" b="1">
                <a:solidFill>
                  <a:srgbClr val="173E48"/>
                </a:solidFill>
                <a:latin typeface="DejaVu Sans"/>
                <a:ea typeface="DejaVu Sans"/>
                <a:cs typeface="DejaVu Sans"/>
              </a:defRPr>
            </a:lvl7pPr>
            <a:lvl8pPr>
              <a:defRPr sz="3300" b="1">
                <a:solidFill>
                  <a:srgbClr val="173E48"/>
                </a:solidFill>
                <a:latin typeface="DejaVu Sans"/>
                <a:ea typeface="DejaVu Sans"/>
                <a:cs typeface="DejaVu Sans"/>
              </a:defRPr>
            </a:lvl8pPr>
            <a:lvl9pPr>
              <a:defRPr sz="3300" b="1">
                <a:solidFill>
                  <a:srgbClr val="173E48"/>
                </a:solidFill>
                <a:latin typeface="DejaVu Sans"/>
                <a:ea typeface="DejaVu Sans"/>
                <a:cs typeface="DejaVu Sans"/>
              </a:defRPr>
            </a:lvl9pPr>
          </a:lstStyle>
          <a:p xmlns:a="http://schemas.openxmlformats.org/drawingml/2006/main">
            <a:pPr>
              <a:defRPr sz="3300" b="1">
                <a:solidFill>
                  <a:srgbClr val="173E48"/>
                </a:solidFill>
                <a:latin typeface="DejaVu Sans"/>
                <a:ea typeface="DejaVu Sans"/>
                <a:cs typeface="DejaVu Sans"/>
              </a:defRPr>
            </a:pPr>
            <a:r>
              <a:rPr sz="3300" b="1">
                <a:solidFill>
                  <a:srgbClr val="173E48"/>
                </a:solidFill>
                <a:latin typeface="DejaVu Sans"/>
                <a:ea typeface="DejaVu Sans"/>
                <a:cs typeface="DejaVu Sans"/>
              </a:rPr>
              <a:t>Selected public sources</a:t>
            </a:r>
          </a:p>
        </p:txBody>
      </p:sp>
      <p:sp>
        <p:nvSpPr>
          <p:cNvPr id="2" name="paragraph-0">
            <a:extLst xmlns:a="http://schemas.openxmlformats.org/drawingml/2006/main">
              <a:ext uri="{FF2B5EF4-FFF2-40B4-BE49-F238E27FC236}">
                <a16:creationId xmlns:a16="http://schemas.microsoft.com/office/drawing/2014/main" id="{7ED7F17E-CFE5-4755-AA4E-377880AE081A}"/>
              </a:ext>
            </a:extLst>
          </p:cNvPr>
          <p:cNvSpPr>
            <a:spLocks xmlns:a="http://schemas.openxmlformats.org/drawingml/2006/main" noGrp="1"/>
          </p:cNvSpPr>
          <p:nvPr/>
        </p:nvSpPr>
        <p:spPr>
          <a:xfrm xmlns:a="http://schemas.openxmlformats.org/drawingml/2006/main">
            <a:off x="647700" y="1952625"/>
            <a:ext cx="10858500" cy="1171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Methenamine prescribing information · Nitrofurantoin macrocrystals prescribing information · FDA gepotidacin evidence · MV140 placebo-controlled trial</a:t>
            </a:r>
          </a:p>
        </p:txBody>
      </p:sp>
      <p:sp>
        <p:nvSpPr>
          <p:cNvPr id="3" name="paragraph-1">
            <a:extLst xmlns:a="http://schemas.openxmlformats.org/drawingml/2006/main">
              <a:ext uri="{FF2B5EF4-FFF2-40B4-BE49-F238E27FC236}">
                <a16:creationId xmlns:a16="http://schemas.microsoft.com/office/drawing/2014/main" id="{907DDB6A-7933-441B-9B41-583260A6D699}"/>
              </a:ext>
            </a:extLst>
          </p:cNvPr>
          <p:cNvSpPr>
            <a:spLocks xmlns:a="http://schemas.openxmlformats.org/drawingml/2006/main" noGrp="1"/>
          </p:cNvSpPr>
          <p:nvPr/>
        </p:nvSpPr>
        <p:spPr>
          <a:xfrm xmlns:a="http://schemas.openxmlformats.org/drawingml/2006/main">
            <a:off x="647700" y="3267075"/>
            <a:ext cx="10858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2250" b="0">
                <a:solidFill>
                  <a:srgbClr val="16323B"/>
                </a:solidFill>
                <a:latin typeface="DejaVu Sans"/>
                <a:ea typeface="DejaVu Sans"/>
                <a:cs typeface="DejaVu Sans"/>
              </a:defRPr>
            </a:defPPr>
            <a:lvl1pPr>
              <a:defRPr sz="2250" b="0">
                <a:solidFill>
                  <a:srgbClr val="16323B"/>
                </a:solidFill>
                <a:latin typeface="DejaVu Sans"/>
                <a:ea typeface="DejaVu Sans"/>
                <a:cs typeface="DejaVu Sans"/>
              </a:defRPr>
            </a:lvl1pPr>
            <a:lvl2pPr>
              <a:defRPr sz="2250" b="0">
                <a:solidFill>
                  <a:srgbClr val="16323B"/>
                </a:solidFill>
                <a:latin typeface="DejaVu Sans"/>
                <a:ea typeface="DejaVu Sans"/>
                <a:cs typeface="DejaVu Sans"/>
              </a:defRPr>
            </a:lvl2pPr>
            <a:lvl3pPr>
              <a:defRPr sz="2250" b="0">
                <a:solidFill>
                  <a:srgbClr val="16323B"/>
                </a:solidFill>
                <a:latin typeface="DejaVu Sans"/>
                <a:ea typeface="DejaVu Sans"/>
                <a:cs typeface="DejaVu Sans"/>
              </a:defRPr>
            </a:lvl3pPr>
            <a:lvl4pPr>
              <a:defRPr sz="2250" b="0">
                <a:solidFill>
                  <a:srgbClr val="16323B"/>
                </a:solidFill>
                <a:latin typeface="DejaVu Sans"/>
                <a:ea typeface="DejaVu Sans"/>
                <a:cs typeface="DejaVu Sans"/>
              </a:defRPr>
            </a:lvl4pPr>
            <a:lvl5pPr>
              <a:defRPr sz="2250" b="0">
                <a:solidFill>
                  <a:srgbClr val="16323B"/>
                </a:solidFill>
                <a:latin typeface="DejaVu Sans"/>
                <a:ea typeface="DejaVu Sans"/>
                <a:cs typeface="DejaVu Sans"/>
              </a:defRPr>
            </a:lvl5pPr>
            <a:lvl6pPr>
              <a:defRPr sz="2250" b="0">
                <a:solidFill>
                  <a:srgbClr val="16323B"/>
                </a:solidFill>
                <a:latin typeface="DejaVu Sans"/>
                <a:ea typeface="DejaVu Sans"/>
                <a:cs typeface="DejaVu Sans"/>
              </a:defRPr>
            </a:lvl6pPr>
            <a:lvl7pPr>
              <a:defRPr sz="2250" b="0">
                <a:solidFill>
                  <a:srgbClr val="16323B"/>
                </a:solidFill>
                <a:latin typeface="DejaVu Sans"/>
                <a:ea typeface="DejaVu Sans"/>
                <a:cs typeface="DejaVu Sans"/>
              </a:defRPr>
            </a:lvl7pPr>
            <a:lvl8pPr>
              <a:defRPr sz="2250" b="0">
                <a:solidFill>
                  <a:srgbClr val="16323B"/>
                </a:solidFill>
                <a:latin typeface="DejaVu Sans"/>
                <a:ea typeface="DejaVu Sans"/>
                <a:cs typeface="DejaVu Sans"/>
              </a:defRPr>
            </a:lvl8pPr>
            <a:lvl9pPr>
              <a:defRPr sz="2250" b="0">
                <a:solidFill>
                  <a:srgbClr val="16323B"/>
                </a:solidFill>
                <a:latin typeface="DejaVu Sans"/>
                <a:ea typeface="DejaVu Sans"/>
                <a:cs typeface="DejaVu Sans"/>
              </a:defRPr>
            </a:lvl9pPr>
          </a:lstStyle>
          <a:p xmlns:a="http://schemas.openxmlformats.org/drawingml/2006/main">
            <a:pPr>
              <a:defRPr sz="2250" b="0">
                <a:solidFill>
                  <a:srgbClr val="16323B"/>
                </a:solidFill>
                <a:latin typeface="DejaVu Sans"/>
                <a:ea typeface="DejaVu Sans"/>
                <a:cs typeface="DejaVu Sans"/>
              </a:defRPr>
            </a:pPr>
            <a:r>
              <a:rPr sz="2250" b="0">
                <a:solidFill>
                  <a:srgbClr val="16323B"/>
                </a:solidFill>
                <a:latin typeface="DejaVu Sans"/>
                <a:ea typeface="DejaVu Sans"/>
                <a:cs typeface="DejaVu Sans"/>
              </a:rPr>
              <a:t>Teaching doses require patient-specific prescribing review. This module does not represent institutional formulary approval.</a:t>
            </a:r>
          </a:p>
        </p:txBody>
      </p:sp>
      <p:sp>
        <p:nvSpPr>
          <p:cNvPr id="4" name="footer">
            <a:extLst xmlns:a="http://schemas.openxmlformats.org/drawingml/2006/main">
              <a:ext uri="{FF2B5EF4-FFF2-40B4-BE49-F238E27FC236}">
                <a16:creationId xmlns:a16="http://schemas.microsoft.com/office/drawing/2014/main" id="{B9A2A4AA-3AA6-4FF2-B2C5-E8BF482B8559}"/>
              </a:ext>
            </a:extLst>
          </p:cNvPr>
          <p:cNvSpPr>
            <a:spLocks xmlns:a="http://schemas.openxmlformats.org/drawingml/2006/main" noGrp="1"/>
          </p:cNvSpPr>
          <p:nvPr/>
        </p:nvSpPr>
        <p:spPr>
          <a:xfrm xmlns:a="http://schemas.openxmlformats.org/drawingml/2006/main">
            <a:off x="609600" y="6419850"/>
            <a:ext cx="1019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Reference</a:t>
            </a:r>
          </a:p>
        </p:txBody>
      </p:sp>
      <p:sp>
        <p:nvSpPr>
          <p:cNvPr id="5" name="number">
            <a:extLst xmlns:a="http://schemas.openxmlformats.org/drawingml/2006/main">
              <a:ext uri="{FF2B5EF4-FFF2-40B4-BE49-F238E27FC236}">
                <a16:creationId xmlns:a16="http://schemas.microsoft.com/office/drawing/2014/main" id="{74DD5629-7272-46E4-AE51-43359D66B69F}"/>
              </a:ext>
            </a:extLst>
          </p:cNvPr>
          <p:cNvSpPr>
            <a:spLocks xmlns:a="http://schemas.openxmlformats.org/drawingml/2006/main" noGrp="1"/>
          </p:cNvSpPr>
          <p:nvPr/>
        </p:nvSpPr>
        <p:spPr>
          <a:xfrm xmlns:a="http://schemas.openxmlformats.org/drawingml/2006/main">
            <a:off x="11049000" y="6419850"/>
            <a:ext cx="533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oAutofit/>
          </a:bodyPr>
          <a:lstStyle xmlns:a="http://schemas.openxmlformats.org/drawingml/2006/main">
            <a:defPPr>
              <a:defRPr sz="1200" b="0">
                <a:solidFill>
                  <a:srgbClr val="51656B"/>
                </a:solidFill>
                <a:latin typeface="DejaVu Sans"/>
                <a:ea typeface="DejaVu Sans"/>
                <a:cs typeface="DejaVu Sans"/>
              </a:defRPr>
            </a:defPPr>
            <a:lvl1pPr>
              <a:defRPr sz="1200" b="0">
                <a:solidFill>
                  <a:srgbClr val="51656B"/>
                </a:solidFill>
                <a:latin typeface="DejaVu Sans"/>
                <a:ea typeface="DejaVu Sans"/>
                <a:cs typeface="DejaVu Sans"/>
              </a:defRPr>
            </a:lvl1pPr>
            <a:lvl2pPr>
              <a:defRPr sz="1200" b="0">
                <a:solidFill>
                  <a:srgbClr val="51656B"/>
                </a:solidFill>
                <a:latin typeface="DejaVu Sans"/>
                <a:ea typeface="DejaVu Sans"/>
                <a:cs typeface="DejaVu Sans"/>
              </a:defRPr>
            </a:lvl2pPr>
            <a:lvl3pPr>
              <a:defRPr sz="1200" b="0">
                <a:solidFill>
                  <a:srgbClr val="51656B"/>
                </a:solidFill>
                <a:latin typeface="DejaVu Sans"/>
                <a:ea typeface="DejaVu Sans"/>
                <a:cs typeface="DejaVu Sans"/>
              </a:defRPr>
            </a:lvl3pPr>
            <a:lvl4pPr>
              <a:defRPr sz="1200" b="0">
                <a:solidFill>
                  <a:srgbClr val="51656B"/>
                </a:solidFill>
                <a:latin typeface="DejaVu Sans"/>
                <a:ea typeface="DejaVu Sans"/>
                <a:cs typeface="DejaVu Sans"/>
              </a:defRPr>
            </a:lvl4pPr>
            <a:lvl5pPr>
              <a:defRPr sz="1200" b="0">
                <a:solidFill>
                  <a:srgbClr val="51656B"/>
                </a:solidFill>
                <a:latin typeface="DejaVu Sans"/>
                <a:ea typeface="DejaVu Sans"/>
                <a:cs typeface="DejaVu Sans"/>
              </a:defRPr>
            </a:lvl5pPr>
            <a:lvl6pPr>
              <a:defRPr sz="1200" b="0">
                <a:solidFill>
                  <a:srgbClr val="51656B"/>
                </a:solidFill>
                <a:latin typeface="DejaVu Sans"/>
                <a:ea typeface="DejaVu Sans"/>
                <a:cs typeface="DejaVu Sans"/>
              </a:defRPr>
            </a:lvl6pPr>
            <a:lvl7pPr>
              <a:defRPr sz="1200" b="0">
                <a:solidFill>
                  <a:srgbClr val="51656B"/>
                </a:solidFill>
                <a:latin typeface="DejaVu Sans"/>
                <a:ea typeface="DejaVu Sans"/>
                <a:cs typeface="DejaVu Sans"/>
              </a:defRPr>
            </a:lvl7pPr>
            <a:lvl8pPr>
              <a:defRPr sz="1200" b="0">
                <a:solidFill>
                  <a:srgbClr val="51656B"/>
                </a:solidFill>
                <a:latin typeface="DejaVu Sans"/>
                <a:ea typeface="DejaVu Sans"/>
                <a:cs typeface="DejaVu Sans"/>
              </a:defRPr>
            </a:lvl8pPr>
            <a:lvl9pPr>
              <a:defRPr sz="1200" b="0">
                <a:solidFill>
                  <a:srgbClr val="51656B"/>
                </a:solidFill>
                <a:latin typeface="DejaVu Sans"/>
                <a:ea typeface="DejaVu Sans"/>
                <a:cs typeface="DejaVu Sans"/>
              </a:defRPr>
            </a:lvl9pPr>
          </a:lstStyle>
          <a:p xmlns:a="http://schemas.openxmlformats.org/drawingml/2006/main">
            <a:pPr>
              <a:defRPr sz="1200" b="0">
                <a:solidFill>
                  <a:srgbClr val="51656B"/>
                </a:solidFill>
                <a:latin typeface="DejaVu Sans"/>
                <a:ea typeface="DejaVu Sans"/>
                <a:cs typeface="DejaVu Sans"/>
              </a:defRPr>
            </a:pPr>
            <a:r>
              <a:rPr sz="1200" b="0">
                <a:solidFill>
                  <a:srgbClr val="51656B"/>
                </a:solidFill>
                <a:latin typeface="DejaVu Sans"/>
                <a:ea typeface="DejaVu Sans"/>
                <a:cs typeface="DejaVu Sans"/>
              </a:rPr>
              <a:t>76</a:t>
            </a:r>
          </a:p>
        </p:txBody>
      </p:sp>
    </p:spTree>
    <p:extLst>
      <p:ext uri="{BB962C8B-B14F-4D97-AF65-F5344CB8AC3E}">
        <p14:creationId xmlns:p14="http://schemas.microsoft.com/office/powerpoint/2010/main" val="144979527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2026-10-28T18:29:43.3100000Z</dcterms:created>
  <dcterms:modified xsi:type="dcterms:W3CDTF">2026-10-28T18:29:43.3100000Z</dcterms:modified>
</coreProperties>
</file>