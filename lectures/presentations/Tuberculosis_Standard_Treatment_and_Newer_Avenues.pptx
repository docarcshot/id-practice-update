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3.xml" ContentType="application/vnd.openxmlformats-officedocument.presentationml.slide+xml"/>
  <Override PartName="/ppt/notesSlides/notesSlide203.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notesSlides/notesSlide205.xml" ContentType="application/vnd.openxmlformats-officedocument.presentationml.notesSlide+xml"/>
  <Override PartName="/ppt/slides/slide206.xml" ContentType="application/vnd.openxmlformats-officedocument.presentationml.slide+xml"/>
  <Override PartName="/ppt/notesSlides/notesSlide206.xml" ContentType="application/vnd.openxmlformats-officedocument.presentationml.notesSlide+xml"/>
  <Override PartName="/ppt/slides/slide207.xml" ContentType="application/vnd.openxmlformats-officedocument.presentationml.slide+xml"/>
  <Override PartName="/ppt/notesSlides/notesSlide207.xml" ContentType="application/vnd.openxmlformats-officedocument.presentationml.notesSlide+xml"/>
  <Override PartName="/ppt/slides/slide208.xml" ContentType="application/vnd.openxmlformats-officedocument.presentationml.slide+xml"/>
  <Override PartName="/ppt/notesSlides/notesSlide208.xml" ContentType="application/vnd.openxmlformats-officedocument.presentationml.notesSlide+xml"/>
  <Override PartName="/ppt/slides/slide209.xml" ContentType="application/vnd.openxmlformats-officedocument.presentationml.slide+xml"/>
  <Override PartName="/ppt/notesSlides/notesSlide209.xml" ContentType="application/vnd.openxmlformats-officedocument.presentationml.notesSlide+xml"/>
  <Override PartName="/ppt/slides/slide210.xml" ContentType="application/vnd.openxmlformats-officedocument.presentationml.slide+xml"/>
  <Override PartName="/ppt/notesSlides/notesSlide210.xml" ContentType="application/vnd.openxmlformats-officedocument.presentationml.notesSlide+xml"/>
  <Override PartName="/ppt/slides/slide211.xml" ContentType="application/vnd.openxmlformats-officedocument.presentationml.slide+xml"/>
  <Override PartName="/ppt/notesSlides/notesSlide211.xml" ContentType="application/vnd.openxmlformats-officedocument.presentationml.notesSlide+xml"/>
  <Override PartName="/ppt/slides/slide212.xml" ContentType="application/vnd.openxmlformats-officedocument.presentationml.slide+xml"/>
  <Override PartName="/ppt/notesSlides/notesSlide212.xml" ContentType="application/vnd.openxmlformats-officedocument.presentationml.notesSlide+xml"/>
  <Override PartName="/ppt/slides/slide213.xml" ContentType="application/vnd.openxmlformats-officedocument.presentationml.slide+xml"/>
  <Override PartName="/ppt/notesSlides/notesSlide213.xml" ContentType="application/vnd.openxmlformats-officedocument.presentationml.notesSlide+xml"/>
  <Override PartName="/ppt/slides/slide214.xml" ContentType="application/vnd.openxmlformats-officedocument.presentationml.slide+xml"/>
  <Override PartName="/ppt/notesSlides/notesSlide214.xml" ContentType="application/vnd.openxmlformats-officedocument.presentationml.notesSlide+xml"/>
  <Override PartName="/ppt/slides/slide215.xml" ContentType="application/vnd.openxmlformats-officedocument.presentationml.slide+xml"/>
  <Override PartName="/ppt/notesSlides/notesSlide215.xml" ContentType="application/vnd.openxmlformats-officedocument.presentationml.notesSlide+xml"/>
  <Override PartName="/ppt/slides/slide216.xml" ContentType="application/vnd.openxmlformats-officedocument.presentationml.slide+xml"/>
  <Override PartName="/ppt/notesSlides/notesSlide216.xml" ContentType="application/vnd.openxmlformats-officedocument.presentationml.notesSlide+xml"/>
  <Override PartName="/ppt/slides/slide217.xml" ContentType="application/vnd.openxmlformats-officedocument.presentationml.slide+xml"/>
  <Override PartName="/ppt/notesSlides/notesSlide217.xml" ContentType="application/vnd.openxmlformats-officedocument.presentationml.notesSlide+xml"/>
  <Override PartName="/ppt/slides/slide218.xml" ContentType="application/vnd.openxmlformats-officedocument.presentationml.slide+xml"/>
  <Override PartName="/ppt/notesSlides/notesSlide218.xml" ContentType="application/vnd.openxmlformats-officedocument.presentationml.notesSlide+xml"/>
  <Override PartName="/ppt/slides/slide219.xml" ContentType="application/vnd.openxmlformats-officedocument.presentationml.slide+xml"/>
  <Override PartName="/ppt/notesSlides/notesSlide219.xml" ContentType="application/vnd.openxmlformats-officedocument.presentationml.notesSlide+xml"/>
  <Override PartName="/ppt/slides/slide220.xml" ContentType="application/vnd.openxmlformats-officedocument.presentationml.slide+xml"/>
  <Override PartName="/ppt/notesSlides/notesSlide220.xml" ContentType="application/vnd.openxmlformats-officedocument.presentationml.notesSlide+xml"/>
  <Override PartName="/ppt/slides/slide221.xml" ContentType="application/vnd.openxmlformats-officedocument.presentationml.slide+xml"/>
  <Override PartName="/ppt/notesSlides/notesSlide221.xml" ContentType="application/vnd.openxmlformats-officedocument.presentationml.notesSlide+xml"/>
  <Override PartName="/ppt/slides/slide222.xml" ContentType="application/vnd.openxmlformats-officedocument.presentationml.slide+xml"/>
  <Override PartName="/ppt/notesSlides/notesSlide222.xml" ContentType="application/vnd.openxmlformats-officedocument.presentationml.notesSlide+xml"/>
  <Override PartName="/ppt/slides/slide223.xml" ContentType="application/vnd.openxmlformats-officedocument.presentationml.slide+xml"/>
  <Override PartName="/ppt/notesSlides/notesSlide223.xml" ContentType="application/vnd.openxmlformats-officedocument.presentationml.notesSlide+xml"/>
  <Override PartName="/ppt/slides/slide224.xml" ContentType="application/vnd.openxmlformats-officedocument.presentationml.slide+xml"/>
  <Override PartName="/ppt/notesSlides/notesSlide224.xml" ContentType="application/vnd.openxmlformats-officedocument.presentationml.notesSlide+xml"/>
  <Override PartName="/ppt/slides/slide225.xml" ContentType="application/vnd.openxmlformats-officedocument.presentationml.slide+xml"/>
  <Override PartName="/ppt/notesSlides/notesSlide225.xml" ContentType="application/vnd.openxmlformats-officedocument.presentationml.notesSlide+xml"/>
  <Override PartName="/ppt/slides/slide226.xml" ContentType="application/vnd.openxmlformats-officedocument.presentationml.slide+xml"/>
  <Override PartName="/ppt/notesSlides/notesSlide226.xml" ContentType="application/vnd.openxmlformats-officedocument.presentationml.notesSlide+xml"/>
  <Override PartName="/ppt/slides/slide227.xml" ContentType="application/vnd.openxmlformats-officedocument.presentationml.slide+xml"/>
  <Override PartName="/ppt/notesSlides/notesSlide227.xml" ContentType="application/vnd.openxmlformats-officedocument.presentationml.notesSlide+xml"/>
  <Override PartName="/ppt/slides/slide228.xml" ContentType="application/vnd.openxmlformats-officedocument.presentationml.slide+xml"/>
  <Override PartName="/ppt/notesSlides/notesSlide228.xml" ContentType="application/vnd.openxmlformats-officedocument.presentationml.notesSlide+xml"/>
  <Override PartName="/ppt/slides/slide229.xml" ContentType="application/vnd.openxmlformats-officedocument.presentationml.slide+xml"/>
  <Override PartName="/ppt/notesSlides/notesSlide229.xml" ContentType="application/vnd.openxmlformats-officedocument.presentationml.notesSlide+xml"/>
  <Override PartName="/ppt/slides/slide230.xml" ContentType="application/vnd.openxmlformats-officedocument.presentationml.slide+xml"/>
  <Override PartName="/ppt/notesSlides/notesSlide230.xml" ContentType="application/vnd.openxmlformats-officedocument.presentationml.notesSlide+xml"/>
  <Override PartName="/ppt/slides/slide231.xml" ContentType="application/vnd.openxmlformats-officedocument.presentationml.slide+xml"/>
  <Override PartName="/ppt/notesSlides/notesSlide2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6e478549dd47f3" /><Relationship Type="http://schemas.openxmlformats.org/officeDocument/2006/relationships/extended-properties" Target="/docProps/app.xml" Id="R672af89f9b9a48d5" /><Relationship Type="http://schemas.openxmlformats.org/officeDocument/2006/relationships/officeDocument" Target="/ppt/presentation.xml" Id="R29a4bab608604065" /></Relationships>
</file>

<file path=ppt/presentation.xml><?xml version="1.0" encoding="utf-8"?>
<p:presentation xmlns:p="http://schemas.openxmlformats.org/presentationml/2006/main">
  <p:sldMasterIdLst>
    <p:sldMasterId xmlns:r="http://schemas.openxmlformats.org/officeDocument/2006/relationships" id="2147483648" r:id="Rc44b1063d9804721"/>
  </p:sldMasterIdLst>
  <p:notesMasterIdLst>
    <p:notesMasterId xmlns:r="http://schemas.openxmlformats.org/officeDocument/2006/relationships" r:id="Rad5aa005d471413e"/>
  </p:notesMasterIdLst>
  <p:sldIdLst>
    <p:sldId xmlns:r="http://schemas.openxmlformats.org/officeDocument/2006/relationships" id="256" r:id="R7d85e09eb7644a77"/>
    <p:sldId xmlns:r="http://schemas.openxmlformats.org/officeDocument/2006/relationships" id="257" r:id="R2b9ffdbd987b4637"/>
    <p:sldId xmlns:r="http://schemas.openxmlformats.org/officeDocument/2006/relationships" id="258" r:id="Rba6ba17edc82456f"/>
    <p:sldId xmlns:r="http://schemas.openxmlformats.org/officeDocument/2006/relationships" id="259" r:id="R6378a5b7943c46d5"/>
    <p:sldId xmlns:r="http://schemas.openxmlformats.org/officeDocument/2006/relationships" id="260" r:id="R870a8d00af484480"/>
    <p:sldId xmlns:r="http://schemas.openxmlformats.org/officeDocument/2006/relationships" id="261" r:id="Rad0f9092d8684581"/>
    <p:sldId xmlns:r="http://schemas.openxmlformats.org/officeDocument/2006/relationships" id="262" r:id="Re384fc65135447af"/>
    <p:sldId xmlns:r="http://schemas.openxmlformats.org/officeDocument/2006/relationships" id="263" r:id="R5dba39f406204a3e"/>
    <p:sldId xmlns:r="http://schemas.openxmlformats.org/officeDocument/2006/relationships" id="264" r:id="R29d2e1ec56bd4d87"/>
    <p:sldId xmlns:r="http://schemas.openxmlformats.org/officeDocument/2006/relationships" id="265" r:id="R9456e9b9342c4b5e"/>
    <p:sldId xmlns:r="http://schemas.openxmlformats.org/officeDocument/2006/relationships" id="266" r:id="R130a3b12431d4298"/>
    <p:sldId xmlns:r="http://schemas.openxmlformats.org/officeDocument/2006/relationships" id="267" r:id="R504bbe0ddc484fef"/>
    <p:sldId xmlns:r="http://schemas.openxmlformats.org/officeDocument/2006/relationships" id="268" r:id="Ra0ff0b2c75d54c5b"/>
    <p:sldId xmlns:r="http://schemas.openxmlformats.org/officeDocument/2006/relationships" id="269" r:id="R64241a70cab7466f"/>
    <p:sldId xmlns:r="http://schemas.openxmlformats.org/officeDocument/2006/relationships" id="270" r:id="R950390b2ecca453a"/>
    <p:sldId xmlns:r="http://schemas.openxmlformats.org/officeDocument/2006/relationships" id="271" r:id="R8a4a1706462d4d46"/>
    <p:sldId xmlns:r="http://schemas.openxmlformats.org/officeDocument/2006/relationships" id="272" r:id="R1bdb516cf58d43b6"/>
    <p:sldId xmlns:r="http://schemas.openxmlformats.org/officeDocument/2006/relationships" id="273" r:id="R601af92c327c47e3"/>
    <p:sldId xmlns:r="http://schemas.openxmlformats.org/officeDocument/2006/relationships" id="274" r:id="Rfa9c92ae9b3a427f"/>
    <p:sldId xmlns:r="http://schemas.openxmlformats.org/officeDocument/2006/relationships" id="275" r:id="Re72f813358e2464d"/>
    <p:sldId xmlns:r="http://schemas.openxmlformats.org/officeDocument/2006/relationships" id="276" r:id="R54baf3f3315f4036"/>
    <p:sldId xmlns:r="http://schemas.openxmlformats.org/officeDocument/2006/relationships" id="277" r:id="R13fcedd8accd4981"/>
    <p:sldId xmlns:r="http://schemas.openxmlformats.org/officeDocument/2006/relationships" id="278" r:id="Rd9f1f0f37b58442a"/>
    <p:sldId xmlns:r="http://schemas.openxmlformats.org/officeDocument/2006/relationships" id="279" r:id="R4f4e517c5f0a4ec6"/>
    <p:sldId xmlns:r="http://schemas.openxmlformats.org/officeDocument/2006/relationships" id="280" r:id="R0b8f335fcd6a47e1"/>
    <p:sldId xmlns:r="http://schemas.openxmlformats.org/officeDocument/2006/relationships" id="281" r:id="R5cc0da5e9177411c"/>
    <p:sldId xmlns:r="http://schemas.openxmlformats.org/officeDocument/2006/relationships" id="282" r:id="Rb7e04c51e3a74e68"/>
    <p:sldId xmlns:r="http://schemas.openxmlformats.org/officeDocument/2006/relationships" id="283" r:id="Rb901b9bb685c47ba"/>
    <p:sldId xmlns:r="http://schemas.openxmlformats.org/officeDocument/2006/relationships" id="284" r:id="R3b663befef104b1e"/>
    <p:sldId xmlns:r="http://schemas.openxmlformats.org/officeDocument/2006/relationships" id="285" r:id="R3c307eac2a9a4baa"/>
    <p:sldId xmlns:r="http://schemas.openxmlformats.org/officeDocument/2006/relationships" id="286" r:id="R15ad6baf73ec4409"/>
    <p:sldId xmlns:r="http://schemas.openxmlformats.org/officeDocument/2006/relationships" id="287" r:id="R77293edd24274ae8"/>
    <p:sldId xmlns:r="http://schemas.openxmlformats.org/officeDocument/2006/relationships" id="288" r:id="R78fe9cadfd5142fa"/>
    <p:sldId xmlns:r="http://schemas.openxmlformats.org/officeDocument/2006/relationships" id="289" r:id="R6f0df52e737449a6"/>
    <p:sldId xmlns:r="http://schemas.openxmlformats.org/officeDocument/2006/relationships" id="290" r:id="Re462dc5c92d64d92"/>
    <p:sldId xmlns:r="http://schemas.openxmlformats.org/officeDocument/2006/relationships" id="291" r:id="Rd66b13714ae14636"/>
    <p:sldId xmlns:r="http://schemas.openxmlformats.org/officeDocument/2006/relationships" id="292" r:id="R18f3df4bbc70441d"/>
    <p:sldId xmlns:r="http://schemas.openxmlformats.org/officeDocument/2006/relationships" id="293" r:id="R710903aa28a942c6"/>
    <p:sldId xmlns:r="http://schemas.openxmlformats.org/officeDocument/2006/relationships" id="294" r:id="Rdc46ec24bb8843da"/>
    <p:sldId xmlns:r="http://schemas.openxmlformats.org/officeDocument/2006/relationships" id="295" r:id="R1f0a4e0aa4704530"/>
    <p:sldId xmlns:r="http://schemas.openxmlformats.org/officeDocument/2006/relationships" id="296" r:id="R93b951d02edc424c"/>
    <p:sldId xmlns:r="http://schemas.openxmlformats.org/officeDocument/2006/relationships" id="297" r:id="R00d5a0f546bb482f"/>
    <p:sldId xmlns:r="http://schemas.openxmlformats.org/officeDocument/2006/relationships" id="298" r:id="Ra599f5ccb51a4726"/>
    <p:sldId xmlns:r="http://schemas.openxmlformats.org/officeDocument/2006/relationships" id="299" r:id="Rff07356bc4cc4a5b"/>
    <p:sldId xmlns:r="http://schemas.openxmlformats.org/officeDocument/2006/relationships" id="300" r:id="R62dd080465cc4321"/>
    <p:sldId xmlns:r="http://schemas.openxmlformats.org/officeDocument/2006/relationships" id="301" r:id="R28add98b4e5e4aa7"/>
    <p:sldId xmlns:r="http://schemas.openxmlformats.org/officeDocument/2006/relationships" id="302" r:id="Ra4488c335ddc474c"/>
    <p:sldId xmlns:r="http://schemas.openxmlformats.org/officeDocument/2006/relationships" id="303" r:id="Rcc26a7851aa844c8"/>
    <p:sldId xmlns:r="http://schemas.openxmlformats.org/officeDocument/2006/relationships" id="304" r:id="Rddad3b1bd2c447cf"/>
    <p:sldId xmlns:r="http://schemas.openxmlformats.org/officeDocument/2006/relationships" id="305" r:id="R42a17736014b439c"/>
    <p:sldId xmlns:r="http://schemas.openxmlformats.org/officeDocument/2006/relationships" id="306" r:id="Raa9c4329cafb4c32"/>
    <p:sldId xmlns:r="http://schemas.openxmlformats.org/officeDocument/2006/relationships" id="307" r:id="R28f5fb14abb44cd2"/>
    <p:sldId xmlns:r="http://schemas.openxmlformats.org/officeDocument/2006/relationships" id="308" r:id="Radceeaac0b4d4ec1"/>
    <p:sldId xmlns:r="http://schemas.openxmlformats.org/officeDocument/2006/relationships" id="309" r:id="R3231798f88494842"/>
    <p:sldId xmlns:r="http://schemas.openxmlformats.org/officeDocument/2006/relationships" id="310" r:id="R934eb4bfb09b4213"/>
    <p:sldId xmlns:r="http://schemas.openxmlformats.org/officeDocument/2006/relationships" id="311" r:id="Ra17e0bfad62b40f3"/>
    <p:sldId xmlns:r="http://schemas.openxmlformats.org/officeDocument/2006/relationships" id="312" r:id="R0d83e53d927b4589"/>
    <p:sldId xmlns:r="http://schemas.openxmlformats.org/officeDocument/2006/relationships" id="313" r:id="R4ad47681c92b4e36"/>
    <p:sldId xmlns:r="http://schemas.openxmlformats.org/officeDocument/2006/relationships" id="314" r:id="R0a0bd599a90a4292"/>
    <p:sldId xmlns:r="http://schemas.openxmlformats.org/officeDocument/2006/relationships" id="315" r:id="R0e05ee1013734fd7"/>
    <p:sldId xmlns:r="http://schemas.openxmlformats.org/officeDocument/2006/relationships" id="316" r:id="R9aeefe60c37b4075"/>
    <p:sldId xmlns:r="http://schemas.openxmlformats.org/officeDocument/2006/relationships" id="317" r:id="Rb89c1fd87a0e48eb"/>
    <p:sldId xmlns:r="http://schemas.openxmlformats.org/officeDocument/2006/relationships" id="318" r:id="Rb2f578ddf39644ca"/>
    <p:sldId xmlns:r="http://schemas.openxmlformats.org/officeDocument/2006/relationships" id="319" r:id="R62f8496d916a405a"/>
    <p:sldId xmlns:r="http://schemas.openxmlformats.org/officeDocument/2006/relationships" id="320" r:id="R108a7c6d430349fe"/>
    <p:sldId xmlns:r="http://schemas.openxmlformats.org/officeDocument/2006/relationships" id="321" r:id="R91972cbfeece4b80"/>
    <p:sldId xmlns:r="http://schemas.openxmlformats.org/officeDocument/2006/relationships" id="322" r:id="R592169e842bb4960"/>
    <p:sldId xmlns:r="http://schemas.openxmlformats.org/officeDocument/2006/relationships" id="323" r:id="Rb7d3b2ac337b4c0d"/>
    <p:sldId xmlns:r="http://schemas.openxmlformats.org/officeDocument/2006/relationships" id="324" r:id="Raeae28ba06144a9d"/>
    <p:sldId xmlns:r="http://schemas.openxmlformats.org/officeDocument/2006/relationships" id="325" r:id="R8642eba477d0403c"/>
    <p:sldId xmlns:r="http://schemas.openxmlformats.org/officeDocument/2006/relationships" id="326" r:id="Rc39224e68b42438e"/>
    <p:sldId xmlns:r="http://schemas.openxmlformats.org/officeDocument/2006/relationships" id="327" r:id="Rd257dc77a1db4dbb"/>
    <p:sldId xmlns:r="http://schemas.openxmlformats.org/officeDocument/2006/relationships" id="328" r:id="R0c99cf5bc4524675"/>
    <p:sldId xmlns:r="http://schemas.openxmlformats.org/officeDocument/2006/relationships" id="329" r:id="R3be397f2eb664d0c"/>
    <p:sldId xmlns:r="http://schemas.openxmlformats.org/officeDocument/2006/relationships" id="330" r:id="R42e64e1c199f4e6d"/>
    <p:sldId xmlns:r="http://schemas.openxmlformats.org/officeDocument/2006/relationships" id="331" r:id="R7c497bd76b5b4397"/>
    <p:sldId xmlns:r="http://schemas.openxmlformats.org/officeDocument/2006/relationships" id="332" r:id="R3469d61a389445f0"/>
    <p:sldId xmlns:r="http://schemas.openxmlformats.org/officeDocument/2006/relationships" id="333" r:id="R4797dab4d1844b56"/>
    <p:sldId xmlns:r="http://schemas.openxmlformats.org/officeDocument/2006/relationships" id="334" r:id="R74f4055e0e7249b0"/>
    <p:sldId xmlns:r="http://schemas.openxmlformats.org/officeDocument/2006/relationships" id="335" r:id="Rd38faa75092748f4"/>
    <p:sldId xmlns:r="http://schemas.openxmlformats.org/officeDocument/2006/relationships" id="336" r:id="R814377816c884b5b"/>
    <p:sldId xmlns:r="http://schemas.openxmlformats.org/officeDocument/2006/relationships" id="337" r:id="Rd27f1b4f172d483a"/>
    <p:sldId xmlns:r="http://schemas.openxmlformats.org/officeDocument/2006/relationships" id="338" r:id="R471218dbb4a74296"/>
    <p:sldId xmlns:r="http://schemas.openxmlformats.org/officeDocument/2006/relationships" id="339" r:id="R57e59db237124e29"/>
    <p:sldId xmlns:r="http://schemas.openxmlformats.org/officeDocument/2006/relationships" id="340" r:id="R59ce867d1339405f"/>
    <p:sldId xmlns:r="http://schemas.openxmlformats.org/officeDocument/2006/relationships" id="341" r:id="Rbbe414fda5864870"/>
    <p:sldId xmlns:r="http://schemas.openxmlformats.org/officeDocument/2006/relationships" id="342" r:id="R5c3df3fe225a44c4"/>
    <p:sldId xmlns:r="http://schemas.openxmlformats.org/officeDocument/2006/relationships" id="343" r:id="R0ba6a06da2fb4021"/>
    <p:sldId xmlns:r="http://schemas.openxmlformats.org/officeDocument/2006/relationships" id="344" r:id="R61fbd0c1b5dc4f79"/>
    <p:sldId xmlns:r="http://schemas.openxmlformats.org/officeDocument/2006/relationships" id="345" r:id="R4f3c51a9dcba4012"/>
    <p:sldId xmlns:r="http://schemas.openxmlformats.org/officeDocument/2006/relationships" id="346" r:id="R8bd9345d091a4781"/>
    <p:sldId xmlns:r="http://schemas.openxmlformats.org/officeDocument/2006/relationships" id="347" r:id="Rf88142613dca4a3a"/>
    <p:sldId xmlns:r="http://schemas.openxmlformats.org/officeDocument/2006/relationships" id="348" r:id="R7f9e27f49c894136"/>
    <p:sldId xmlns:r="http://schemas.openxmlformats.org/officeDocument/2006/relationships" id="349" r:id="Re58179610e4a4500"/>
    <p:sldId xmlns:r="http://schemas.openxmlformats.org/officeDocument/2006/relationships" id="350" r:id="Rfdb4382713b84451"/>
    <p:sldId xmlns:r="http://schemas.openxmlformats.org/officeDocument/2006/relationships" id="351" r:id="Rfeec12c2086d437b"/>
    <p:sldId xmlns:r="http://schemas.openxmlformats.org/officeDocument/2006/relationships" id="352" r:id="R9ff33c98b87d405c"/>
    <p:sldId xmlns:r="http://schemas.openxmlformats.org/officeDocument/2006/relationships" id="353" r:id="R12e0254fdd084434"/>
    <p:sldId xmlns:r="http://schemas.openxmlformats.org/officeDocument/2006/relationships" id="354" r:id="R8df05cd150714fae"/>
    <p:sldId xmlns:r="http://schemas.openxmlformats.org/officeDocument/2006/relationships" id="355" r:id="R4f5022cb0e984c3d"/>
    <p:sldId xmlns:r="http://schemas.openxmlformats.org/officeDocument/2006/relationships" id="356" r:id="R18ce0fd371db4fb6"/>
    <p:sldId xmlns:r="http://schemas.openxmlformats.org/officeDocument/2006/relationships" id="357" r:id="R8ccfb199105441a1"/>
    <p:sldId xmlns:r="http://schemas.openxmlformats.org/officeDocument/2006/relationships" id="358" r:id="Rb0c77fa461cb4fd2"/>
    <p:sldId xmlns:r="http://schemas.openxmlformats.org/officeDocument/2006/relationships" id="359" r:id="R6e0a9bd877934fa5"/>
    <p:sldId xmlns:r="http://schemas.openxmlformats.org/officeDocument/2006/relationships" id="360" r:id="R9922608693f04366"/>
    <p:sldId xmlns:r="http://schemas.openxmlformats.org/officeDocument/2006/relationships" id="361" r:id="Rdac5a44c90334306"/>
    <p:sldId xmlns:r="http://schemas.openxmlformats.org/officeDocument/2006/relationships" id="362" r:id="Ra235435becfc450c"/>
    <p:sldId xmlns:r="http://schemas.openxmlformats.org/officeDocument/2006/relationships" id="363" r:id="R2d10a8db059648d0"/>
    <p:sldId xmlns:r="http://schemas.openxmlformats.org/officeDocument/2006/relationships" id="364" r:id="R1072499de2eb4476"/>
    <p:sldId xmlns:r="http://schemas.openxmlformats.org/officeDocument/2006/relationships" id="365" r:id="R68945c53705d42e4"/>
    <p:sldId xmlns:r="http://schemas.openxmlformats.org/officeDocument/2006/relationships" id="366" r:id="Reff7dd576b1a46a1"/>
    <p:sldId xmlns:r="http://schemas.openxmlformats.org/officeDocument/2006/relationships" id="367" r:id="R8e8e931362fa46e0"/>
    <p:sldId xmlns:r="http://schemas.openxmlformats.org/officeDocument/2006/relationships" id="368" r:id="R241bc9ca03b34923"/>
    <p:sldId xmlns:r="http://schemas.openxmlformats.org/officeDocument/2006/relationships" id="369" r:id="Rf21f5d9cbabc4992"/>
    <p:sldId xmlns:r="http://schemas.openxmlformats.org/officeDocument/2006/relationships" id="370" r:id="R5cf30462157241bb"/>
    <p:sldId xmlns:r="http://schemas.openxmlformats.org/officeDocument/2006/relationships" id="371" r:id="R2cb30a065c914eec"/>
    <p:sldId xmlns:r="http://schemas.openxmlformats.org/officeDocument/2006/relationships" id="372" r:id="Re643bc68065e4168"/>
    <p:sldId xmlns:r="http://schemas.openxmlformats.org/officeDocument/2006/relationships" id="373" r:id="R113aaef1f536430c"/>
    <p:sldId xmlns:r="http://schemas.openxmlformats.org/officeDocument/2006/relationships" id="374" r:id="Rb9464ad8011146f6"/>
    <p:sldId xmlns:r="http://schemas.openxmlformats.org/officeDocument/2006/relationships" id="375" r:id="R0f9ae06402264318"/>
    <p:sldId xmlns:r="http://schemas.openxmlformats.org/officeDocument/2006/relationships" id="376" r:id="R9909afdbf31d4147"/>
    <p:sldId xmlns:r="http://schemas.openxmlformats.org/officeDocument/2006/relationships" id="377" r:id="R6fabcda632d643dc"/>
    <p:sldId xmlns:r="http://schemas.openxmlformats.org/officeDocument/2006/relationships" id="378" r:id="R2097e9403f2f49f5"/>
    <p:sldId xmlns:r="http://schemas.openxmlformats.org/officeDocument/2006/relationships" id="379" r:id="R47cb0304691641bb"/>
    <p:sldId xmlns:r="http://schemas.openxmlformats.org/officeDocument/2006/relationships" id="380" r:id="R5e8b9e199bba439c"/>
    <p:sldId xmlns:r="http://schemas.openxmlformats.org/officeDocument/2006/relationships" id="381" r:id="Rdd79a4a2cec24fe4"/>
    <p:sldId xmlns:r="http://schemas.openxmlformats.org/officeDocument/2006/relationships" id="382" r:id="Rc16d8351ec2a4671"/>
    <p:sldId xmlns:r="http://schemas.openxmlformats.org/officeDocument/2006/relationships" id="383" r:id="R8610a2265dba4c66"/>
    <p:sldId xmlns:r="http://schemas.openxmlformats.org/officeDocument/2006/relationships" id="384" r:id="R9ff61123dbc94f5d"/>
    <p:sldId xmlns:r="http://schemas.openxmlformats.org/officeDocument/2006/relationships" id="385" r:id="Rf45c1efc326044ec"/>
    <p:sldId xmlns:r="http://schemas.openxmlformats.org/officeDocument/2006/relationships" id="386" r:id="R619f5485f20c429e"/>
    <p:sldId xmlns:r="http://schemas.openxmlformats.org/officeDocument/2006/relationships" id="387" r:id="Rf8616e6d5d71442b"/>
    <p:sldId xmlns:r="http://schemas.openxmlformats.org/officeDocument/2006/relationships" id="388" r:id="R92e588fdb002436b"/>
    <p:sldId xmlns:r="http://schemas.openxmlformats.org/officeDocument/2006/relationships" id="389" r:id="R5339c500caa14bc4"/>
    <p:sldId xmlns:r="http://schemas.openxmlformats.org/officeDocument/2006/relationships" id="390" r:id="R3d2ca588da1443ed"/>
    <p:sldId xmlns:r="http://schemas.openxmlformats.org/officeDocument/2006/relationships" id="391" r:id="R0e0a56935ae74b6a"/>
    <p:sldId xmlns:r="http://schemas.openxmlformats.org/officeDocument/2006/relationships" id="392" r:id="R743b49e87cb34076"/>
    <p:sldId xmlns:r="http://schemas.openxmlformats.org/officeDocument/2006/relationships" id="393" r:id="Rbdae62404f07418d"/>
    <p:sldId xmlns:r="http://schemas.openxmlformats.org/officeDocument/2006/relationships" id="394" r:id="Rfadd96aa372c4cbd"/>
    <p:sldId xmlns:r="http://schemas.openxmlformats.org/officeDocument/2006/relationships" id="395" r:id="R33a360390e104f56"/>
    <p:sldId xmlns:r="http://schemas.openxmlformats.org/officeDocument/2006/relationships" id="396" r:id="R2dcc5a1bbb6a45d9"/>
    <p:sldId xmlns:r="http://schemas.openxmlformats.org/officeDocument/2006/relationships" id="397" r:id="R6f5e0ee4e19242c8"/>
    <p:sldId xmlns:r="http://schemas.openxmlformats.org/officeDocument/2006/relationships" id="398" r:id="R71209fd0fc9640dc"/>
    <p:sldId xmlns:r="http://schemas.openxmlformats.org/officeDocument/2006/relationships" id="399" r:id="Reb4d68d7337846c3"/>
    <p:sldId xmlns:r="http://schemas.openxmlformats.org/officeDocument/2006/relationships" id="400" r:id="Rb893047592874486"/>
    <p:sldId xmlns:r="http://schemas.openxmlformats.org/officeDocument/2006/relationships" id="401" r:id="Re85d54e754a84651"/>
    <p:sldId xmlns:r="http://schemas.openxmlformats.org/officeDocument/2006/relationships" id="402" r:id="R225f679e4c7042d7"/>
    <p:sldId xmlns:r="http://schemas.openxmlformats.org/officeDocument/2006/relationships" id="403" r:id="R867664d2b53e4fed"/>
    <p:sldId xmlns:r="http://schemas.openxmlformats.org/officeDocument/2006/relationships" id="404" r:id="Rb0621f6badf34c5d"/>
    <p:sldId xmlns:r="http://schemas.openxmlformats.org/officeDocument/2006/relationships" id="405" r:id="Rd80a5e723e724d17"/>
    <p:sldId xmlns:r="http://schemas.openxmlformats.org/officeDocument/2006/relationships" id="406" r:id="R30033b48fb8a4535"/>
    <p:sldId xmlns:r="http://schemas.openxmlformats.org/officeDocument/2006/relationships" id="407" r:id="R1a6b0d2b26594071"/>
    <p:sldId xmlns:r="http://schemas.openxmlformats.org/officeDocument/2006/relationships" id="408" r:id="R3ee81073a5514938"/>
    <p:sldId xmlns:r="http://schemas.openxmlformats.org/officeDocument/2006/relationships" id="409" r:id="Rd0a42064900142eb"/>
    <p:sldId xmlns:r="http://schemas.openxmlformats.org/officeDocument/2006/relationships" id="410" r:id="R70ace2a1ac16495e"/>
    <p:sldId xmlns:r="http://schemas.openxmlformats.org/officeDocument/2006/relationships" id="411" r:id="R959fd229da464951"/>
    <p:sldId xmlns:r="http://schemas.openxmlformats.org/officeDocument/2006/relationships" id="412" r:id="R5a67811598d14e8b"/>
    <p:sldId xmlns:r="http://schemas.openxmlformats.org/officeDocument/2006/relationships" id="413" r:id="R81acbf57096d4040"/>
    <p:sldId xmlns:r="http://schemas.openxmlformats.org/officeDocument/2006/relationships" id="414" r:id="R2407fd6716b644c1"/>
    <p:sldId xmlns:r="http://schemas.openxmlformats.org/officeDocument/2006/relationships" id="415" r:id="R462884162c844456"/>
    <p:sldId xmlns:r="http://schemas.openxmlformats.org/officeDocument/2006/relationships" id="416" r:id="R808b7ec118f0490d"/>
    <p:sldId xmlns:r="http://schemas.openxmlformats.org/officeDocument/2006/relationships" id="417" r:id="R820d87e9110548d3"/>
    <p:sldId xmlns:r="http://schemas.openxmlformats.org/officeDocument/2006/relationships" id="418" r:id="Ra5ff7cf2fb6a406c"/>
    <p:sldId xmlns:r="http://schemas.openxmlformats.org/officeDocument/2006/relationships" id="419" r:id="R7386ec3fb15745a1"/>
    <p:sldId xmlns:r="http://schemas.openxmlformats.org/officeDocument/2006/relationships" id="420" r:id="Rf0e5f306e3d044e1"/>
    <p:sldId xmlns:r="http://schemas.openxmlformats.org/officeDocument/2006/relationships" id="421" r:id="Rde84a211481d4d23"/>
    <p:sldId xmlns:r="http://schemas.openxmlformats.org/officeDocument/2006/relationships" id="422" r:id="R87dcad816d6a4f59"/>
    <p:sldId xmlns:r="http://schemas.openxmlformats.org/officeDocument/2006/relationships" id="423" r:id="Rbd190b6dfa584247"/>
    <p:sldId xmlns:r="http://schemas.openxmlformats.org/officeDocument/2006/relationships" id="424" r:id="R8b58ad34e70f4786"/>
    <p:sldId xmlns:r="http://schemas.openxmlformats.org/officeDocument/2006/relationships" id="425" r:id="Rf4db2c8d283f42a8"/>
    <p:sldId xmlns:r="http://schemas.openxmlformats.org/officeDocument/2006/relationships" id="426" r:id="R928a328ead3641a4"/>
    <p:sldId xmlns:r="http://schemas.openxmlformats.org/officeDocument/2006/relationships" id="427" r:id="R46a0cf283c64409e"/>
    <p:sldId xmlns:r="http://schemas.openxmlformats.org/officeDocument/2006/relationships" id="428" r:id="R23fff70c74ba42bb"/>
    <p:sldId xmlns:r="http://schemas.openxmlformats.org/officeDocument/2006/relationships" id="429" r:id="Rab0bf28b3bf44fd4"/>
    <p:sldId xmlns:r="http://schemas.openxmlformats.org/officeDocument/2006/relationships" id="430" r:id="R4364ad2d12684bab"/>
    <p:sldId xmlns:r="http://schemas.openxmlformats.org/officeDocument/2006/relationships" id="431" r:id="R2d2c89ee1c254d13"/>
    <p:sldId xmlns:r="http://schemas.openxmlformats.org/officeDocument/2006/relationships" id="432" r:id="R2ca79d375baa40ad"/>
    <p:sldId xmlns:r="http://schemas.openxmlformats.org/officeDocument/2006/relationships" id="433" r:id="R81e647422c674d96"/>
    <p:sldId xmlns:r="http://schemas.openxmlformats.org/officeDocument/2006/relationships" id="434" r:id="Rad1a763b8d9d4af5"/>
    <p:sldId xmlns:r="http://schemas.openxmlformats.org/officeDocument/2006/relationships" id="435" r:id="R14aa33090a0446d1"/>
    <p:sldId xmlns:r="http://schemas.openxmlformats.org/officeDocument/2006/relationships" id="436" r:id="R8eb18eba499f461b"/>
    <p:sldId xmlns:r="http://schemas.openxmlformats.org/officeDocument/2006/relationships" id="437" r:id="Rdb27c77957864be9"/>
    <p:sldId xmlns:r="http://schemas.openxmlformats.org/officeDocument/2006/relationships" id="438" r:id="Rcad83599e81e4fed"/>
    <p:sldId xmlns:r="http://schemas.openxmlformats.org/officeDocument/2006/relationships" id="439" r:id="R4d10448f47d74749"/>
    <p:sldId xmlns:r="http://schemas.openxmlformats.org/officeDocument/2006/relationships" id="440" r:id="R30597cbbd93745f9"/>
    <p:sldId xmlns:r="http://schemas.openxmlformats.org/officeDocument/2006/relationships" id="441" r:id="R9d675bb865fe474c"/>
    <p:sldId xmlns:r="http://schemas.openxmlformats.org/officeDocument/2006/relationships" id="442" r:id="Rac34d3d2580f4d52"/>
    <p:sldId xmlns:r="http://schemas.openxmlformats.org/officeDocument/2006/relationships" id="443" r:id="Re386c3c0260e4ab4"/>
    <p:sldId xmlns:r="http://schemas.openxmlformats.org/officeDocument/2006/relationships" id="444" r:id="R3d494facf6784dba"/>
    <p:sldId xmlns:r="http://schemas.openxmlformats.org/officeDocument/2006/relationships" id="445" r:id="R3150b7836f6f4028"/>
    <p:sldId xmlns:r="http://schemas.openxmlformats.org/officeDocument/2006/relationships" id="446" r:id="R38737cea9e9c4903"/>
    <p:sldId xmlns:r="http://schemas.openxmlformats.org/officeDocument/2006/relationships" id="447" r:id="Red49298ce63b4588"/>
    <p:sldId xmlns:r="http://schemas.openxmlformats.org/officeDocument/2006/relationships" id="448" r:id="R2dc0240261fa4754"/>
    <p:sldId xmlns:r="http://schemas.openxmlformats.org/officeDocument/2006/relationships" id="449" r:id="R85689578176f4232"/>
    <p:sldId xmlns:r="http://schemas.openxmlformats.org/officeDocument/2006/relationships" id="450" r:id="R084da2f8791c40e6"/>
    <p:sldId xmlns:r="http://schemas.openxmlformats.org/officeDocument/2006/relationships" id="451" r:id="R67ab8993465c4234"/>
    <p:sldId xmlns:r="http://schemas.openxmlformats.org/officeDocument/2006/relationships" id="452" r:id="R1df214d6f8af4e59"/>
    <p:sldId xmlns:r="http://schemas.openxmlformats.org/officeDocument/2006/relationships" id="453" r:id="Rfc2c9998271f4dc0"/>
    <p:sldId xmlns:r="http://schemas.openxmlformats.org/officeDocument/2006/relationships" id="454" r:id="R1526efa4f7804028"/>
    <p:sldId xmlns:r="http://schemas.openxmlformats.org/officeDocument/2006/relationships" id="455" r:id="Rd4908f8aff5c44b2"/>
    <p:sldId xmlns:r="http://schemas.openxmlformats.org/officeDocument/2006/relationships" id="456" r:id="R005550b627164067"/>
    <p:sldId xmlns:r="http://schemas.openxmlformats.org/officeDocument/2006/relationships" id="457" r:id="R1e9288b8c5a94f2a"/>
    <p:sldId xmlns:r="http://schemas.openxmlformats.org/officeDocument/2006/relationships" id="458" r:id="Rd909f03281e44867"/>
    <p:sldId xmlns:r="http://schemas.openxmlformats.org/officeDocument/2006/relationships" id="459" r:id="R4295b8327ec84478"/>
    <p:sldId xmlns:r="http://schemas.openxmlformats.org/officeDocument/2006/relationships" id="460" r:id="R8fdaa9f93c1341f8"/>
    <p:sldId xmlns:r="http://schemas.openxmlformats.org/officeDocument/2006/relationships" id="461" r:id="R07cab22a52134b9c"/>
    <p:sldId xmlns:r="http://schemas.openxmlformats.org/officeDocument/2006/relationships" id="462" r:id="R189e6f819a1b4236"/>
    <p:sldId xmlns:r="http://schemas.openxmlformats.org/officeDocument/2006/relationships" id="463" r:id="Rf7b014e8fe474c76"/>
    <p:sldId xmlns:r="http://schemas.openxmlformats.org/officeDocument/2006/relationships" id="464" r:id="Rf8e246536d0b43bf"/>
    <p:sldId xmlns:r="http://schemas.openxmlformats.org/officeDocument/2006/relationships" id="465" r:id="R3a366ee42f3943da"/>
    <p:sldId xmlns:r="http://schemas.openxmlformats.org/officeDocument/2006/relationships" id="466" r:id="R6cc316453df24b6b"/>
    <p:sldId xmlns:r="http://schemas.openxmlformats.org/officeDocument/2006/relationships" id="467" r:id="R2e3fbf8c075a413b"/>
    <p:sldId xmlns:r="http://schemas.openxmlformats.org/officeDocument/2006/relationships" id="468" r:id="R61f37b1b4d9141fc"/>
    <p:sldId xmlns:r="http://schemas.openxmlformats.org/officeDocument/2006/relationships" id="469" r:id="R095179a54b224242"/>
    <p:sldId xmlns:r="http://schemas.openxmlformats.org/officeDocument/2006/relationships" id="470" r:id="R371c6da24fae4eec"/>
    <p:sldId xmlns:r="http://schemas.openxmlformats.org/officeDocument/2006/relationships" id="471" r:id="R014a48b825714a52"/>
    <p:sldId xmlns:r="http://schemas.openxmlformats.org/officeDocument/2006/relationships" id="472" r:id="R0a6e12db7a554fa9"/>
    <p:sldId xmlns:r="http://schemas.openxmlformats.org/officeDocument/2006/relationships" id="473" r:id="R6862a15813804fe3"/>
    <p:sldId xmlns:r="http://schemas.openxmlformats.org/officeDocument/2006/relationships" id="474" r:id="R3594c3910d93472f"/>
    <p:sldId xmlns:r="http://schemas.openxmlformats.org/officeDocument/2006/relationships" id="475" r:id="R1558a8f69614401d"/>
    <p:sldId xmlns:r="http://schemas.openxmlformats.org/officeDocument/2006/relationships" id="476" r:id="Rfc065c9307f64fb6"/>
    <p:sldId xmlns:r="http://schemas.openxmlformats.org/officeDocument/2006/relationships" id="477" r:id="R5cc17c749bba4198"/>
    <p:sldId xmlns:r="http://schemas.openxmlformats.org/officeDocument/2006/relationships" id="478" r:id="Re5cec89fc1e041aa"/>
    <p:sldId xmlns:r="http://schemas.openxmlformats.org/officeDocument/2006/relationships" id="479" r:id="R38f873ea4b734456"/>
    <p:sldId xmlns:r="http://schemas.openxmlformats.org/officeDocument/2006/relationships" id="480" r:id="Rc055adc9714e4aea"/>
    <p:sldId xmlns:r="http://schemas.openxmlformats.org/officeDocument/2006/relationships" id="481" r:id="R1416ce863f7d4d14"/>
    <p:sldId xmlns:r="http://schemas.openxmlformats.org/officeDocument/2006/relationships" id="482" r:id="R1484fd1b7cc24e04"/>
    <p:sldId xmlns:r="http://schemas.openxmlformats.org/officeDocument/2006/relationships" id="483" r:id="R3f71edd1cc0c4d2b"/>
    <p:sldId xmlns:r="http://schemas.openxmlformats.org/officeDocument/2006/relationships" id="484" r:id="R77dc7bf7915a4bb7"/>
    <p:sldId xmlns:r="http://schemas.openxmlformats.org/officeDocument/2006/relationships" id="485" r:id="Re28d23f686fe4c20"/>
    <p:sldId xmlns:r="http://schemas.openxmlformats.org/officeDocument/2006/relationships" id="486" r:id="R2ea66984f32b44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1bce8d4fdd4efa" /><Relationship Type="http://schemas.openxmlformats.org/officeDocument/2006/relationships/slideMaster" Target="/ppt/slideMasters/slideMaster1.xml" Id="Rc44b1063d9804721" /><Relationship Type="http://schemas.openxmlformats.org/officeDocument/2006/relationships/notesMaster" Target="/ppt/notesMasters/notesMaster1.xml" Id="Rad5aa005d471413e" /><Relationship Type="http://schemas.openxmlformats.org/officeDocument/2006/relationships/presProps" Target="/ppt/presProps.xml" Id="R7955dd1636044ccc" /><Relationship Type="http://schemas.openxmlformats.org/officeDocument/2006/relationships/tableStyles" Target="/ppt/tableStyles.xml" Id="Rccba35ebb5384edd" /><Relationship Type="http://schemas.openxmlformats.org/officeDocument/2006/relationships/slide" Target="/ppt/slides/slide1.xml" Id="R7d85e09eb7644a77" /><Relationship Type="http://schemas.openxmlformats.org/officeDocument/2006/relationships/slide" Target="/ppt/slides/slide2.xml" Id="R2b9ffdbd987b4637" /><Relationship Type="http://schemas.openxmlformats.org/officeDocument/2006/relationships/slide" Target="/ppt/slides/slide3.xml" Id="Rba6ba17edc82456f" /><Relationship Type="http://schemas.openxmlformats.org/officeDocument/2006/relationships/slide" Target="/ppt/slides/slide4.xml" Id="R6378a5b7943c46d5" /><Relationship Type="http://schemas.openxmlformats.org/officeDocument/2006/relationships/slide" Target="/ppt/slides/slide5.xml" Id="R870a8d00af484480" /><Relationship Type="http://schemas.openxmlformats.org/officeDocument/2006/relationships/slide" Target="/ppt/slides/slide6.xml" Id="Rad0f9092d8684581" /><Relationship Type="http://schemas.openxmlformats.org/officeDocument/2006/relationships/slide" Target="/ppt/slides/slide7.xml" Id="Re384fc65135447af" /><Relationship Type="http://schemas.openxmlformats.org/officeDocument/2006/relationships/slide" Target="/ppt/slides/slide8.xml" Id="R5dba39f406204a3e" /><Relationship Type="http://schemas.openxmlformats.org/officeDocument/2006/relationships/slide" Target="/ppt/slides/slide9.xml" Id="R29d2e1ec56bd4d87" /><Relationship Type="http://schemas.openxmlformats.org/officeDocument/2006/relationships/slide" Target="/ppt/slides/slide10.xml" Id="R9456e9b9342c4b5e" /><Relationship Type="http://schemas.openxmlformats.org/officeDocument/2006/relationships/slide" Target="/ppt/slides/slide11.xml" Id="R130a3b12431d4298" /><Relationship Type="http://schemas.openxmlformats.org/officeDocument/2006/relationships/slide" Target="/ppt/slides/slide12.xml" Id="R504bbe0ddc484fef" /><Relationship Type="http://schemas.openxmlformats.org/officeDocument/2006/relationships/slide" Target="/ppt/slides/slide13.xml" Id="Ra0ff0b2c75d54c5b" /><Relationship Type="http://schemas.openxmlformats.org/officeDocument/2006/relationships/slide" Target="/ppt/slides/slide14.xml" Id="R64241a70cab7466f" /><Relationship Type="http://schemas.openxmlformats.org/officeDocument/2006/relationships/slide" Target="/ppt/slides/slide15.xml" Id="R950390b2ecca453a" /><Relationship Type="http://schemas.openxmlformats.org/officeDocument/2006/relationships/slide" Target="/ppt/slides/slide16.xml" Id="R8a4a1706462d4d46" /><Relationship Type="http://schemas.openxmlformats.org/officeDocument/2006/relationships/slide" Target="/ppt/slides/slide17.xml" Id="R1bdb516cf58d43b6" /><Relationship Type="http://schemas.openxmlformats.org/officeDocument/2006/relationships/slide" Target="/ppt/slides/slide18.xml" Id="R601af92c327c47e3" /><Relationship Type="http://schemas.openxmlformats.org/officeDocument/2006/relationships/slide" Target="/ppt/slides/slide19.xml" Id="Rfa9c92ae9b3a427f" /><Relationship Type="http://schemas.openxmlformats.org/officeDocument/2006/relationships/slide" Target="/ppt/slides/slide20.xml" Id="Re72f813358e2464d" /><Relationship Type="http://schemas.openxmlformats.org/officeDocument/2006/relationships/slide" Target="/ppt/slides/slide21.xml" Id="R54baf3f3315f4036" /><Relationship Type="http://schemas.openxmlformats.org/officeDocument/2006/relationships/slide" Target="/ppt/slides/slide22.xml" Id="R13fcedd8accd4981" /><Relationship Type="http://schemas.openxmlformats.org/officeDocument/2006/relationships/slide" Target="/ppt/slides/slide23.xml" Id="Rd9f1f0f37b58442a" /><Relationship Type="http://schemas.openxmlformats.org/officeDocument/2006/relationships/slide" Target="/ppt/slides/slide24.xml" Id="R4f4e517c5f0a4ec6" /><Relationship Type="http://schemas.openxmlformats.org/officeDocument/2006/relationships/slide" Target="/ppt/slides/slide25.xml" Id="R0b8f335fcd6a47e1" /><Relationship Type="http://schemas.openxmlformats.org/officeDocument/2006/relationships/slide" Target="/ppt/slides/slide26.xml" Id="R5cc0da5e9177411c" /><Relationship Type="http://schemas.openxmlformats.org/officeDocument/2006/relationships/slide" Target="/ppt/slides/slide27.xml" Id="Rb7e04c51e3a74e68" /><Relationship Type="http://schemas.openxmlformats.org/officeDocument/2006/relationships/slide" Target="/ppt/slides/slide28.xml" Id="Rb901b9bb685c47ba" /><Relationship Type="http://schemas.openxmlformats.org/officeDocument/2006/relationships/slide" Target="/ppt/slides/slide29.xml" Id="R3b663befef104b1e" /><Relationship Type="http://schemas.openxmlformats.org/officeDocument/2006/relationships/slide" Target="/ppt/slides/slide30.xml" Id="R3c307eac2a9a4baa" /><Relationship Type="http://schemas.openxmlformats.org/officeDocument/2006/relationships/slide" Target="/ppt/slides/slide31.xml" Id="R15ad6baf73ec4409" /><Relationship Type="http://schemas.openxmlformats.org/officeDocument/2006/relationships/slide" Target="/ppt/slides/slide32.xml" Id="R77293edd24274ae8" /><Relationship Type="http://schemas.openxmlformats.org/officeDocument/2006/relationships/slide" Target="/ppt/slides/slide33.xml" Id="R78fe9cadfd5142fa" /><Relationship Type="http://schemas.openxmlformats.org/officeDocument/2006/relationships/slide" Target="/ppt/slides/slide34.xml" Id="R6f0df52e737449a6" /><Relationship Type="http://schemas.openxmlformats.org/officeDocument/2006/relationships/slide" Target="/ppt/slides/slide35.xml" Id="Re462dc5c92d64d92" /><Relationship Type="http://schemas.openxmlformats.org/officeDocument/2006/relationships/slide" Target="/ppt/slides/slide36.xml" Id="Rd66b13714ae14636" /><Relationship Type="http://schemas.openxmlformats.org/officeDocument/2006/relationships/slide" Target="/ppt/slides/slide37.xml" Id="R18f3df4bbc70441d" /><Relationship Type="http://schemas.openxmlformats.org/officeDocument/2006/relationships/slide" Target="/ppt/slides/slide38.xml" Id="R710903aa28a942c6" /><Relationship Type="http://schemas.openxmlformats.org/officeDocument/2006/relationships/slide" Target="/ppt/slides/slide39.xml" Id="Rdc46ec24bb8843da" /><Relationship Type="http://schemas.openxmlformats.org/officeDocument/2006/relationships/slide" Target="/ppt/slides/slide40.xml" Id="R1f0a4e0aa4704530" /><Relationship Type="http://schemas.openxmlformats.org/officeDocument/2006/relationships/slide" Target="/ppt/slides/slide41.xml" Id="R93b951d02edc424c" /><Relationship Type="http://schemas.openxmlformats.org/officeDocument/2006/relationships/slide" Target="/ppt/slides/slide42.xml" Id="R00d5a0f546bb482f" /><Relationship Type="http://schemas.openxmlformats.org/officeDocument/2006/relationships/slide" Target="/ppt/slides/slide43.xml" Id="Ra599f5ccb51a4726" /><Relationship Type="http://schemas.openxmlformats.org/officeDocument/2006/relationships/slide" Target="/ppt/slides/slide44.xml" Id="Rff07356bc4cc4a5b" /><Relationship Type="http://schemas.openxmlformats.org/officeDocument/2006/relationships/slide" Target="/ppt/slides/slide45.xml" Id="R62dd080465cc4321" /><Relationship Type="http://schemas.openxmlformats.org/officeDocument/2006/relationships/slide" Target="/ppt/slides/slide46.xml" Id="R28add98b4e5e4aa7" /><Relationship Type="http://schemas.openxmlformats.org/officeDocument/2006/relationships/slide" Target="/ppt/slides/slide47.xml" Id="Ra4488c335ddc474c" /><Relationship Type="http://schemas.openxmlformats.org/officeDocument/2006/relationships/slide" Target="/ppt/slides/slide48.xml" Id="Rcc26a7851aa844c8" /><Relationship Type="http://schemas.openxmlformats.org/officeDocument/2006/relationships/slide" Target="/ppt/slides/slide49.xml" Id="Rddad3b1bd2c447cf" /><Relationship Type="http://schemas.openxmlformats.org/officeDocument/2006/relationships/slide" Target="/ppt/slides/slide50.xml" Id="R42a17736014b439c" /><Relationship Type="http://schemas.openxmlformats.org/officeDocument/2006/relationships/slide" Target="/ppt/slides/slide51.xml" Id="Raa9c4329cafb4c32" /><Relationship Type="http://schemas.openxmlformats.org/officeDocument/2006/relationships/slide" Target="/ppt/slides/slide52.xml" Id="R28f5fb14abb44cd2" /><Relationship Type="http://schemas.openxmlformats.org/officeDocument/2006/relationships/slide" Target="/ppt/slides/slide53.xml" Id="Radceeaac0b4d4ec1" /><Relationship Type="http://schemas.openxmlformats.org/officeDocument/2006/relationships/slide" Target="/ppt/slides/slide54.xml" Id="R3231798f88494842" /><Relationship Type="http://schemas.openxmlformats.org/officeDocument/2006/relationships/slide" Target="/ppt/slides/slide55.xml" Id="R934eb4bfb09b4213" /><Relationship Type="http://schemas.openxmlformats.org/officeDocument/2006/relationships/slide" Target="/ppt/slides/slide56.xml" Id="Ra17e0bfad62b40f3" /><Relationship Type="http://schemas.openxmlformats.org/officeDocument/2006/relationships/slide" Target="/ppt/slides/slide57.xml" Id="R0d83e53d927b4589" /><Relationship Type="http://schemas.openxmlformats.org/officeDocument/2006/relationships/slide" Target="/ppt/slides/slide58.xml" Id="R4ad47681c92b4e36" /><Relationship Type="http://schemas.openxmlformats.org/officeDocument/2006/relationships/slide" Target="/ppt/slides/slide59.xml" Id="R0a0bd599a90a4292" /><Relationship Type="http://schemas.openxmlformats.org/officeDocument/2006/relationships/slide" Target="/ppt/slides/slide60.xml" Id="R0e05ee1013734fd7" /><Relationship Type="http://schemas.openxmlformats.org/officeDocument/2006/relationships/slide" Target="/ppt/slides/slide61.xml" Id="R9aeefe60c37b4075" /><Relationship Type="http://schemas.openxmlformats.org/officeDocument/2006/relationships/slide" Target="/ppt/slides/slide62.xml" Id="Rb89c1fd87a0e48eb" /><Relationship Type="http://schemas.openxmlformats.org/officeDocument/2006/relationships/slide" Target="/ppt/slides/slide63.xml" Id="Rb2f578ddf39644ca" /><Relationship Type="http://schemas.openxmlformats.org/officeDocument/2006/relationships/slide" Target="/ppt/slides/slide64.xml" Id="R62f8496d916a405a" /><Relationship Type="http://schemas.openxmlformats.org/officeDocument/2006/relationships/slide" Target="/ppt/slides/slide65.xml" Id="R108a7c6d430349fe" /><Relationship Type="http://schemas.openxmlformats.org/officeDocument/2006/relationships/slide" Target="/ppt/slides/slide66.xml" Id="R91972cbfeece4b80" /><Relationship Type="http://schemas.openxmlformats.org/officeDocument/2006/relationships/slide" Target="/ppt/slides/slide67.xml" Id="R592169e842bb4960" /><Relationship Type="http://schemas.openxmlformats.org/officeDocument/2006/relationships/slide" Target="/ppt/slides/slide68.xml" Id="Rb7d3b2ac337b4c0d" /><Relationship Type="http://schemas.openxmlformats.org/officeDocument/2006/relationships/slide" Target="/ppt/slides/slide69.xml" Id="Raeae28ba06144a9d" /><Relationship Type="http://schemas.openxmlformats.org/officeDocument/2006/relationships/slide" Target="/ppt/slides/slide70.xml" Id="R8642eba477d0403c" /><Relationship Type="http://schemas.openxmlformats.org/officeDocument/2006/relationships/slide" Target="/ppt/slides/slide71.xml" Id="Rc39224e68b42438e" /><Relationship Type="http://schemas.openxmlformats.org/officeDocument/2006/relationships/slide" Target="/ppt/slides/slide72.xml" Id="Rd257dc77a1db4dbb" /><Relationship Type="http://schemas.openxmlformats.org/officeDocument/2006/relationships/slide" Target="/ppt/slides/slide73.xml" Id="R0c99cf5bc4524675" /><Relationship Type="http://schemas.openxmlformats.org/officeDocument/2006/relationships/slide" Target="/ppt/slides/slide74.xml" Id="R3be397f2eb664d0c" /><Relationship Type="http://schemas.openxmlformats.org/officeDocument/2006/relationships/slide" Target="/ppt/slides/slide75.xml" Id="R42e64e1c199f4e6d" /><Relationship Type="http://schemas.openxmlformats.org/officeDocument/2006/relationships/slide" Target="/ppt/slides/slide76.xml" Id="R7c497bd76b5b4397" /><Relationship Type="http://schemas.openxmlformats.org/officeDocument/2006/relationships/slide" Target="/ppt/slides/slide77.xml" Id="R3469d61a389445f0" /><Relationship Type="http://schemas.openxmlformats.org/officeDocument/2006/relationships/slide" Target="/ppt/slides/slide78.xml" Id="R4797dab4d1844b56" /><Relationship Type="http://schemas.openxmlformats.org/officeDocument/2006/relationships/slide" Target="/ppt/slides/slide79.xml" Id="R74f4055e0e7249b0" /><Relationship Type="http://schemas.openxmlformats.org/officeDocument/2006/relationships/slide" Target="/ppt/slides/slide80.xml" Id="Rd38faa75092748f4" /><Relationship Type="http://schemas.openxmlformats.org/officeDocument/2006/relationships/slide" Target="/ppt/slides/slide81.xml" Id="R814377816c884b5b" /><Relationship Type="http://schemas.openxmlformats.org/officeDocument/2006/relationships/slide" Target="/ppt/slides/slide82.xml" Id="Rd27f1b4f172d483a" /><Relationship Type="http://schemas.openxmlformats.org/officeDocument/2006/relationships/slide" Target="/ppt/slides/slide83.xml" Id="R471218dbb4a74296" /><Relationship Type="http://schemas.openxmlformats.org/officeDocument/2006/relationships/slide" Target="/ppt/slides/slide84.xml" Id="R57e59db237124e29" /><Relationship Type="http://schemas.openxmlformats.org/officeDocument/2006/relationships/slide" Target="/ppt/slides/slide85.xml" Id="R59ce867d1339405f" /><Relationship Type="http://schemas.openxmlformats.org/officeDocument/2006/relationships/slide" Target="/ppt/slides/slide86.xml" Id="Rbbe414fda5864870" /><Relationship Type="http://schemas.openxmlformats.org/officeDocument/2006/relationships/slide" Target="/ppt/slides/slide87.xml" Id="R5c3df3fe225a44c4" /><Relationship Type="http://schemas.openxmlformats.org/officeDocument/2006/relationships/slide" Target="/ppt/slides/slide88.xml" Id="R0ba6a06da2fb4021" /><Relationship Type="http://schemas.openxmlformats.org/officeDocument/2006/relationships/slide" Target="/ppt/slides/slide89.xml" Id="R61fbd0c1b5dc4f79" /><Relationship Type="http://schemas.openxmlformats.org/officeDocument/2006/relationships/slide" Target="/ppt/slides/slide90.xml" Id="R4f3c51a9dcba4012" /><Relationship Type="http://schemas.openxmlformats.org/officeDocument/2006/relationships/slide" Target="/ppt/slides/slide91.xml" Id="R8bd9345d091a4781" /><Relationship Type="http://schemas.openxmlformats.org/officeDocument/2006/relationships/slide" Target="/ppt/slides/slide92.xml" Id="Rf88142613dca4a3a" /><Relationship Type="http://schemas.openxmlformats.org/officeDocument/2006/relationships/slide" Target="/ppt/slides/slide93.xml" Id="R7f9e27f49c894136" /><Relationship Type="http://schemas.openxmlformats.org/officeDocument/2006/relationships/slide" Target="/ppt/slides/slide94.xml" Id="Re58179610e4a4500" /><Relationship Type="http://schemas.openxmlformats.org/officeDocument/2006/relationships/slide" Target="/ppt/slides/slide95.xml" Id="Rfdb4382713b84451" /><Relationship Type="http://schemas.openxmlformats.org/officeDocument/2006/relationships/slide" Target="/ppt/slides/slide96.xml" Id="Rfeec12c2086d437b" /><Relationship Type="http://schemas.openxmlformats.org/officeDocument/2006/relationships/slide" Target="/ppt/slides/slide97.xml" Id="R9ff33c98b87d405c" /><Relationship Type="http://schemas.openxmlformats.org/officeDocument/2006/relationships/slide" Target="/ppt/slides/slide98.xml" Id="R12e0254fdd084434" /><Relationship Type="http://schemas.openxmlformats.org/officeDocument/2006/relationships/slide" Target="/ppt/slides/slide99.xml" Id="R8df05cd150714fae" /><Relationship Type="http://schemas.openxmlformats.org/officeDocument/2006/relationships/slide" Target="/ppt/slides/slide100.xml" Id="R4f5022cb0e984c3d" /><Relationship Type="http://schemas.openxmlformats.org/officeDocument/2006/relationships/slide" Target="/ppt/slides/slide101.xml" Id="R18ce0fd371db4fb6" /><Relationship Type="http://schemas.openxmlformats.org/officeDocument/2006/relationships/slide" Target="/ppt/slides/slide102.xml" Id="R8ccfb199105441a1" /><Relationship Type="http://schemas.openxmlformats.org/officeDocument/2006/relationships/slide" Target="/ppt/slides/slide103.xml" Id="Rb0c77fa461cb4fd2" /><Relationship Type="http://schemas.openxmlformats.org/officeDocument/2006/relationships/slide" Target="/ppt/slides/slide104.xml" Id="R6e0a9bd877934fa5" /><Relationship Type="http://schemas.openxmlformats.org/officeDocument/2006/relationships/slide" Target="/ppt/slides/slide105.xml" Id="R9922608693f04366" /><Relationship Type="http://schemas.openxmlformats.org/officeDocument/2006/relationships/slide" Target="/ppt/slides/slide106.xml" Id="Rdac5a44c90334306" /><Relationship Type="http://schemas.openxmlformats.org/officeDocument/2006/relationships/slide" Target="/ppt/slides/slide107.xml" Id="Ra235435becfc450c" /><Relationship Type="http://schemas.openxmlformats.org/officeDocument/2006/relationships/slide" Target="/ppt/slides/slide108.xml" Id="R2d10a8db059648d0" /><Relationship Type="http://schemas.openxmlformats.org/officeDocument/2006/relationships/slide" Target="/ppt/slides/slide109.xml" Id="R1072499de2eb4476" /><Relationship Type="http://schemas.openxmlformats.org/officeDocument/2006/relationships/slide" Target="/ppt/slides/slide110.xml" Id="R68945c53705d42e4" /><Relationship Type="http://schemas.openxmlformats.org/officeDocument/2006/relationships/slide" Target="/ppt/slides/slide111.xml" Id="Reff7dd576b1a46a1" /><Relationship Type="http://schemas.openxmlformats.org/officeDocument/2006/relationships/slide" Target="/ppt/slides/slide112.xml" Id="R8e8e931362fa46e0" /><Relationship Type="http://schemas.openxmlformats.org/officeDocument/2006/relationships/slide" Target="/ppt/slides/slide113.xml" Id="R241bc9ca03b34923" /><Relationship Type="http://schemas.openxmlformats.org/officeDocument/2006/relationships/slide" Target="/ppt/slides/slide114.xml" Id="Rf21f5d9cbabc4992" /><Relationship Type="http://schemas.openxmlformats.org/officeDocument/2006/relationships/slide" Target="/ppt/slides/slide115.xml" Id="R5cf30462157241bb" /><Relationship Type="http://schemas.openxmlformats.org/officeDocument/2006/relationships/slide" Target="/ppt/slides/slide116.xml" Id="R2cb30a065c914eec" /><Relationship Type="http://schemas.openxmlformats.org/officeDocument/2006/relationships/slide" Target="/ppt/slides/slide117.xml" Id="Re643bc68065e4168" /><Relationship Type="http://schemas.openxmlformats.org/officeDocument/2006/relationships/slide" Target="/ppt/slides/slide118.xml" Id="R113aaef1f536430c" /><Relationship Type="http://schemas.openxmlformats.org/officeDocument/2006/relationships/slide" Target="/ppt/slides/slide119.xml" Id="Rb9464ad8011146f6" /><Relationship Type="http://schemas.openxmlformats.org/officeDocument/2006/relationships/slide" Target="/ppt/slides/slide120.xml" Id="R0f9ae06402264318" /><Relationship Type="http://schemas.openxmlformats.org/officeDocument/2006/relationships/slide" Target="/ppt/slides/slide121.xml" Id="R9909afdbf31d4147" /><Relationship Type="http://schemas.openxmlformats.org/officeDocument/2006/relationships/slide" Target="/ppt/slides/slide122.xml" Id="R6fabcda632d643dc" /><Relationship Type="http://schemas.openxmlformats.org/officeDocument/2006/relationships/slide" Target="/ppt/slides/slide123.xml" Id="R2097e9403f2f49f5" /><Relationship Type="http://schemas.openxmlformats.org/officeDocument/2006/relationships/slide" Target="/ppt/slides/slide124.xml" Id="R47cb0304691641bb" /><Relationship Type="http://schemas.openxmlformats.org/officeDocument/2006/relationships/slide" Target="/ppt/slides/slide125.xml" Id="R5e8b9e199bba439c" /><Relationship Type="http://schemas.openxmlformats.org/officeDocument/2006/relationships/slide" Target="/ppt/slides/slide126.xml" Id="Rdd79a4a2cec24fe4" /><Relationship Type="http://schemas.openxmlformats.org/officeDocument/2006/relationships/slide" Target="/ppt/slides/slide127.xml" Id="Rc16d8351ec2a4671" /><Relationship Type="http://schemas.openxmlformats.org/officeDocument/2006/relationships/slide" Target="/ppt/slides/slide128.xml" Id="R8610a2265dba4c66" /><Relationship Type="http://schemas.openxmlformats.org/officeDocument/2006/relationships/slide" Target="/ppt/slides/slide129.xml" Id="R9ff61123dbc94f5d" /><Relationship Type="http://schemas.openxmlformats.org/officeDocument/2006/relationships/slide" Target="/ppt/slides/slide130.xml" Id="Rf45c1efc326044ec" /><Relationship Type="http://schemas.openxmlformats.org/officeDocument/2006/relationships/slide" Target="/ppt/slides/slide131.xml" Id="R619f5485f20c429e" /><Relationship Type="http://schemas.openxmlformats.org/officeDocument/2006/relationships/slide" Target="/ppt/slides/slide132.xml" Id="Rf8616e6d5d71442b" /><Relationship Type="http://schemas.openxmlformats.org/officeDocument/2006/relationships/slide" Target="/ppt/slides/slide133.xml" Id="R92e588fdb002436b" /><Relationship Type="http://schemas.openxmlformats.org/officeDocument/2006/relationships/slide" Target="/ppt/slides/slide134.xml" Id="R5339c500caa14bc4" /><Relationship Type="http://schemas.openxmlformats.org/officeDocument/2006/relationships/slide" Target="/ppt/slides/slide135.xml" Id="R3d2ca588da1443ed" /><Relationship Type="http://schemas.openxmlformats.org/officeDocument/2006/relationships/slide" Target="/ppt/slides/slide136.xml" Id="R0e0a56935ae74b6a" /><Relationship Type="http://schemas.openxmlformats.org/officeDocument/2006/relationships/slide" Target="/ppt/slides/slide137.xml" Id="R743b49e87cb34076" /><Relationship Type="http://schemas.openxmlformats.org/officeDocument/2006/relationships/slide" Target="/ppt/slides/slide138.xml" Id="Rbdae62404f07418d" /><Relationship Type="http://schemas.openxmlformats.org/officeDocument/2006/relationships/slide" Target="/ppt/slides/slide139.xml" Id="Rfadd96aa372c4cbd" /><Relationship Type="http://schemas.openxmlformats.org/officeDocument/2006/relationships/slide" Target="/ppt/slides/slide140.xml" Id="R33a360390e104f56" /><Relationship Type="http://schemas.openxmlformats.org/officeDocument/2006/relationships/slide" Target="/ppt/slides/slide141.xml" Id="R2dcc5a1bbb6a45d9" /><Relationship Type="http://schemas.openxmlformats.org/officeDocument/2006/relationships/slide" Target="/ppt/slides/slide142.xml" Id="R6f5e0ee4e19242c8" /><Relationship Type="http://schemas.openxmlformats.org/officeDocument/2006/relationships/slide" Target="/ppt/slides/slide143.xml" Id="R71209fd0fc9640dc" /><Relationship Type="http://schemas.openxmlformats.org/officeDocument/2006/relationships/slide" Target="/ppt/slides/slide144.xml" Id="Reb4d68d7337846c3" /><Relationship Type="http://schemas.openxmlformats.org/officeDocument/2006/relationships/slide" Target="/ppt/slides/slide145.xml" Id="Rb893047592874486" /><Relationship Type="http://schemas.openxmlformats.org/officeDocument/2006/relationships/slide" Target="/ppt/slides/slide146.xml" Id="Re85d54e754a84651" /><Relationship Type="http://schemas.openxmlformats.org/officeDocument/2006/relationships/slide" Target="/ppt/slides/slide147.xml" Id="R225f679e4c7042d7" /><Relationship Type="http://schemas.openxmlformats.org/officeDocument/2006/relationships/slide" Target="/ppt/slides/slide148.xml" Id="R867664d2b53e4fed" /><Relationship Type="http://schemas.openxmlformats.org/officeDocument/2006/relationships/slide" Target="/ppt/slides/slide149.xml" Id="Rb0621f6badf34c5d" /><Relationship Type="http://schemas.openxmlformats.org/officeDocument/2006/relationships/slide" Target="/ppt/slides/slide150.xml" Id="Rd80a5e723e724d17" /><Relationship Type="http://schemas.openxmlformats.org/officeDocument/2006/relationships/slide" Target="/ppt/slides/slide151.xml" Id="R30033b48fb8a4535" /><Relationship Type="http://schemas.openxmlformats.org/officeDocument/2006/relationships/slide" Target="/ppt/slides/slide152.xml" Id="R1a6b0d2b26594071" /><Relationship Type="http://schemas.openxmlformats.org/officeDocument/2006/relationships/slide" Target="/ppt/slides/slide153.xml" Id="R3ee81073a5514938" /><Relationship Type="http://schemas.openxmlformats.org/officeDocument/2006/relationships/slide" Target="/ppt/slides/slide154.xml" Id="Rd0a42064900142eb" /><Relationship Type="http://schemas.openxmlformats.org/officeDocument/2006/relationships/slide" Target="/ppt/slides/slide155.xml" Id="R70ace2a1ac16495e" /><Relationship Type="http://schemas.openxmlformats.org/officeDocument/2006/relationships/slide" Target="/ppt/slides/slide156.xml" Id="R959fd229da464951" /><Relationship Type="http://schemas.openxmlformats.org/officeDocument/2006/relationships/slide" Target="/ppt/slides/slide157.xml" Id="R5a67811598d14e8b" /><Relationship Type="http://schemas.openxmlformats.org/officeDocument/2006/relationships/slide" Target="/ppt/slides/slide158.xml" Id="R81acbf57096d4040" /><Relationship Type="http://schemas.openxmlformats.org/officeDocument/2006/relationships/slide" Target="/ppt/slides/slide159.xml" Id="R2407fd6716b644c1" /><Relationship Type="http://schemas.openxmlformats.org/officeDocument/2006/relationships/slide" Target="/ppt/slides/slide160.xml" Id="R462884162c844456" /><Relationship Type="http://schemas.openxmlformats.org/officeDocument/2006/relationships/slide" Target="/ppt/slides/slide161.xml" Id="R808b7ec118f0490d" /><Relationship Type="http://schemas.openxmlformats.org/officeDocument/2006/relationships/slide" Target="/ppt/slides/slide162.xml" Id="R820d87e9110548d3" /><Relationship Type="http://schemas.openxmlformats.org/officeDocument/2006/relationships/slide" Target="/ppt/slides/slide163.xml" Id="Ra5ff7cf2fb6a406c" /><Relationship Type="http://schemas.openxmlformats.org/officeDocument/2006/relationships/slide" Target="/ppt/slides/slide164.xml" Id="R7386ec3fb15745a1" /><Relationship Type="http://schemas.openxmlformats.org/officeDocument/2006/relationships/slide" Target="/ppt/slides/slide165.xml" Id="Rf0e5f306e3d044e1" /><Relationship Type="http://schemas.openxmlformats.org/officeDocument/2006/relationships/slide" Target="/ppt/slides/slide166.xml" Id="Rde84a211481d4d23" /><Relationship Type="http://schemas.openxmlformats.org/officeDocument/2006/relationships/slide" Target="/ppt/slides/slide167.xml" Id="R87dcad816d6a4f59" /><Relationship Type="http://schemas.openxmlformats.org/officeDocument/2006/relationships/slide" Target="/ppt/slides/slide168.xml" Id="Rbd190b6dfa584247" /><Relationship Type="http://schemas.openxmlformats.org/officeDocument/2006/relationships/slide" Target="/ppt/slides/slide169.xml" Id="R8b58ad34e70f4786" /><Relationship Type="http://schemas.openxmlformats.org/officeDocument/2006/relationships/slide" Target="/ppt/slides/slide170.xml" Id="Rf4db2c8d283f42a8" /><Relationship Type="http://schemas.openxmlformats.org/officeDocument/2006/relationships/slide" Target="/ppt/slides/slide171.xml" Id="R928a328ead3641a4" /><Relationship Type="http://schemas.openxmlformats.org/officeDocument/2006/relationships/slide" Target="/ppt/slides/slide172.xml" Id="R46a0cf283c64409e" /><Relationship Type="http://schemas.openxmlformats.org/officeDocument/2006/relationships/slide" Target="/ppt/slides/slide173.xml" Id="R23fff70c74ba42bb" /><Relationship Type="http://schemas.openxmlformats.org/officeDocument/2006/relationships/slide" Target="/ppt/slides/slide174.xml" Id="Rab0bf28b3bf44fd4" /><Relationship Type="http://schemas.openxmlformats.org/officeDocument/2006/relationships/slide" Target="/ppt/slides/slide175.xml" Id="R4364ad2d12684bab" /><Relationship Type="http://schemas.openxmlformats.org/officeDocument/2006/relationships/slide" Target="/ppt/slides/slide176.xml" Id="R2d2c89ee1c254d13" /><Relationship Type="http://schemas.openxmlformats.org/officeDocument/2006/relationships/slide" Target="/ppt/slides/slide177.xml" Id="R2ca79d375baa40ad" /><Relationship Type="http://schemas.openxmlformats.org/officeDocument/2006/relationships/slide" Target="/ppt/slides/slide178.xml" Id="R81e647422c674d96" /><Relationship Type="http://schemas.openxmlformats.org/officeDocument/2006/relationships/slide" Target="/ppt/slides/slide179.xml" Id="Rad1a763b8d9d4af5" /><Relationship Type="http://schemas.openxmlformats.org/officeDocument/2006/relationships/slide" Target="/ppt/slides/slide180.xml" Id="R14aa33090a0446d1" /><Relationship Type="http://schemas.openxmlformats.org/officeDocument/2006/relationships/slide" Target="/ppt/slides/slide181.xml" Id="R8eb18eba499f461b" /><Relationship Type="http://schemas.openxmlformats.org/officeDocument/2006/relationships/slide" Target="/ppt/slides/slide182.xml" Id="Rdb27c77957864be9" /><Relationship Type="http://schemas.openxmlformats.org/officeDocument/2006/relationships/slide" Target="/ppt/slides/slide183.xml" Id="Rcad83599e81e4fed" /><Relationship Type="http://schemas.openxmlformats.org/officeDocument/2006/relationships/slide" Target="/ppt/slides/slide184.xml" Id="R4d10448f47d74749" /><Relationship Type="http://schemas.openxmlformats.org/officeDocument/2006/relationships/slide" Target="/ppt/slides/slide185.xml" Id="R30597cbbd93745f9" /><Relationship Type="http://schemas.openxmlformats.org/officeDocument/2006/relationships/slide" Target="/ppt/slides/slide186.xml" Id="R9d675bb865fe474c" /><Relationship Type="http://schemas.openxmlformats.org/officeDocument/2006/relationships/slide" Target="/ppt/slides/slide187.xml" Id="Rac34d3d2580f4d52" /><Relationship Type="http://schemas.openxmlformats.org/officeDocument/2006/relationships/slide" Target="/ppt/slides/slide188.xml" Id="Re386c3c0260e4ab4" /><Relationship Type="http://schemas.openxmlformats.org/officeDocument/2006/relationships/slide" Target="/ppt/slides/slide189.xml" Id="R3d494facf6784dba" /><Relationship Type="http://schemas.openxmlformats.org/officeDocument/2006/relationships/slide" Target="/ppt/slides/slide190.xml" Id="R3150b7836f6f4028" /><Relationship Type="http://schemas.openxmlformats.org/officeDocument/2006/relationships/slide" Target="/ppt/slides/slide191.xml" Id="R38737cea9e9c4903" /><Relationship Type="http://schemas.openxmlformats.org/officeDocument/2006/relationships/slide" Target="/ppt/slides/slide192.xml" Id="Red49298ce63b4588" /><Relationship Type="http://schemas.openxmlformats.org/officeDocument/2006/relationships/slide" Target="/ppt/slides/slide193.xml" Id="R2dc0240261fa4754" /><Relationship Type="http://schemas.openxmlformats.org/officeDocument/2006/relationships/slide" Target="/ppt/slides/slide194.xml" Id="R85689578176f4232" /><Relationship Type="http://schemas.openxmlformats.org/officeDocument/2006/relationships/slide" Target="/ppt/slides/slide195.xml" Id="R084da2f8791c40e6" /><Relationship Type="http://schemas.openxmlformats.org/officeDocument/2006/relationships/slide" Target="/ppt/slides/slide196.xml" Id="R67ab8993465c4234" /><Relationship Type="http://schemas.openxmlformats.org/officeDocument/2006/relationships/slide" Target="/ppt/slides/slide197.xml" Id="R1df214d6f8af4e59" /><Relationship Type="http://schemas.openxmlformats.org/officeDocument/2006/relationships/slide" Target="/ppt/slides/slide198.xml" Id="Rfc2c9998271f4dc0" /><Relationship Type="http://schemas.openxmlformats.org/officeDocument/2006/relationships/slide" Target="/ppt/slides/slide199.xml" Id="R1526efa4f7804028" /><Relationship Type="http://schemas.openxmlformats.org/officeDocument/2006/relationships/slide" Target="/ppt/slides/slide200.xml" Id="Rd4908f8aff5c44b2" /><Relationship Type="http://schemas.openxmlformats.org/officeDocument/2006/relationships/slide" Target="/ppt/slides/slide201.xml" Id="R005550b627164067" /><Relationship Type="http://schemas.openxmlformats.org/officeDocument/2006/relationships/slide" Target="/ppt/slides/slide202.xml" Id="R1e9288b8c5a94f2a" /><Relationship Type="http://schemas.openxmlformats.org/officeDocument/2006/relationships/slide" Target="/ppt/slides/slide203.xml" Id="Rd909f03281e44867" /><Relationship Type="http://schemas.openxmlformats.org/officeDocument/2006/relationships/slide" Target="/ppt/slides/slide204.xml" Id="R4295b8327ec84478" /><Relationship Type="http://schemas.openxmlformats.org/officeDocument/2006/relationships/slide" Target="/ppt/slides/slide205.xml" Id="R8fdaa9f93c1341f8" /><Relationship Type="http://schemas.openxmlformats.org/officeDocument/2006/relationships/slide" Target="/ppt/slides/slide206.xml" Id="R07cab22a52134b9c" /><Relationship Type="http://schemas.openxmlformats.org/officeDocument/2006/relationships/slide" Target="/ppt/slides/slide207.xml" Id="R189e6f819a1b4236" /><Relationship Type="http://schemas.openxmlformats.org/officeDocument/2006/relationships/slide" Target="/ppt/slides/slide208.xml" Id="Rf7b014e8fe474c76" /><Relationship Type="http://schemas.openxmlformats.org/officeDocument/2006/relationships/slide" Target="/ppt/slides/slide209.xml" Id="Rf8e246536d0b43bf" /><Relationship Type="http://schemas.openxmlformats.org/officeDocument/2006/relationships/slide" Target="/ppt/slides/slide210.xml" Id="R3a366ee42f3943da" /><Relationship Type="http://schemas.openxmlformats.org/officeDocument/2006/relationships/slide" Target="/ppt/slides/slide211.xml" Id="R6cc316453df24b6b" /><Relationship Type="http://schemas.openxmlformats.org/officeDocument/2006/relationships/slide" Target="/ppt/slides/slide212.xml" Id="R2e3fbf8c075a413b" /><Relationship Type="http://schemas.openxmlformats.org/officeDocument/2006/relationships/slide" Target="/ppt/slides/slide213.xml" Id="R61f37b1b4d9141fc" /><Relationship Type="http://schemas.openxmlformats.org/officeDocument/2006/relationships/slide" Target="/ppt/slides/slide214.xml" Id="R095179a54b224242" /><Relationship Type="http://schemas.openxmlformats.org/officeDocument/2006/relationships/slide" Target="/ppt/slides/slide215.xml" Id="R371c6da24fae4eec" /><Relationship Type="http://schemas.openxmlformats.org/officeDocument/2006/relationships/slide" Target="/ppt/slides/slide216.xml" Id="R014a48b825714a52" /><Relationship Type="http://schemas.openxmlformats.org/officeDocument/2006/relationships/slide" Target="/ppt/slides/slide217.xml" Id="R0a6e12db7a554fa9" /><Relationship Type="http://schemas.openxmlformats.org/officeDocument/2006/relationships/slide" Target="/ppt/slides/slide218.xml" Id="R6862a15813804fe3" /><Relationship Type="http://schemas.openxmlformats.org/officeDocument/2006/relationships/slide" Target="/ppt/slides/slide219.xml" Id="R3594c3910d93472f" /><Relationship Type="http://schemas.openxmlformats.org/officeDocument/2006/relationships/slide" Target="/ppt/slides/slide220.xml" Id="R1558a8f69614401d" /><Relationship Type="http://schemas.openxmlformats.org/officeDocument/2006/relationships/slide" Target="/ppt/slides/slide221.xml" Id="Rfc065c9307f64fb6" /><Relationship Type="http://schemas.openxmlformats.org/officeDocument/2006/relationships/slide" Target="/ppt/slides/slide222.xml" Id="R5cc17c749bba4198" /><Relationship Type="http://schemas.openxmlformats.org/officeDocument/2006/relationships/slide" Target="/ppt/slides/slide223.xml" Id="Re5cec89fc1e041aa" /><Relationship Type="http://schemas.openxmlformats.org/officeDocument/2006/relationships/slide" Target="/ppt/slides/slide224.xml" Id="R38f873ea4b734456" /><Relationship Type="http://schemas.openxmlformats.org/officeDocument/2006/relationships/slide" Target="/ppt/slides/slide225.xml" Id="Rc055adc9714e4aea" /><Relationship Type="http://schemas.openxmlformats.org/officeDocument/2006/relationships/slide" Target="/ppt/slides/slide226.xml" Id="R1416ce863f7d4d14" /><Relationship Type="http://schemas.openxmlformats.org/officeDocument/2006/relationships/slide" Target="/ppt/slides/slide227.xml" Id="R1484fd1b7cc24e04" /><Relationship Type="http://schemas.openxmlformats.org/officeDocument/2006/relationships/slide" Target="/ppt/slides/slide228.xml" Id="R3f71edd1cc0c4d2b" /><Relationship Type="http://schemas.openxmlformats.org/officeDocument/2006/relationships/slide" Target="/ppt/slides/slide229.xml" Id="R77dc7bf7915a4bb7" /><Relationship Type="http://schemas.openxmlformats.org/officeDocument/2006/relationships/slide" Target="/ppt/slides/slide230.xml" Id="Re28d23f686fe4c20" /><Relationship Type="http://schemas.openxmlformats.org/officeDocument/2006/relationships/slide" Target="/ppt/slides/slide231.xml" Id="R2ea66984f32b44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a5b604736f41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eb9630bb8f4f70" /><Relationship Type="http://schemas.openxmlformats.org/officeDocument/2006/relationships/notesMaster" Target="/ppt/notesMasters/notesMaster1.xml" Id="Rf3e90ecaff4746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8aecef9b0c48e9" /><Relationship Type="http://schemas.openxmlformats.org/officeDocument/2006/relationships/notesMaster" Target="/ppt/notesMasters/notesMaster1.xml" Id="R9b004e6dadd64c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9a80f7a24d48d7" /><Relationship Type="http://schemas.openxmlformats.org/officeDocument/2006/relationships/notesMaster" Target="/ppt/notesMasters/notesMaster1.xml" Id="R10875adea09c44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f6067cbbeb4f7c" /><Relationship Type="http://schemas.openxmlformats.org/officeDocument/2006/relationships/notesMaster" Target="/ppt/notesMasters/notesMaster1.xml" Id="R016221099d864f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9dd058d48745e6" /><Relationship Type="http://schemas.openxmlformats.org/officeDocument/2006/relationships/notesMaster" Target="/ppt/notesMasters/notesMaster1.xml" Id="R65623f77e5974a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d8b0f12143414e" /><Relationship Type="http://schemas.openxmlformats.org/officeDocument/2006/relationships/notesMaster" Target="/ppt/notesMasters/notesMaster1.xml" Id="Rd66a90a2907643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37df5d5da64c3c" /><Relationship Type="http://schemas.openxmlformats.org/officeDocument/2006/relationships/notesMaster" Target="/ppt/notesMasters/notesMaster1.xml" Id="R0fba4d091c7841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d17587e9d94f12" /><Relationship Type="http://schemas.openxmlformats.org/officeDocument/2006/relationships/notesMaster" Target="/ppt/notesMasters/notesMaster1.xml" Id="Ra3df8e563e8c4f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c35a195cc0448e" /><Relationship Type="http://schemas.openxmlformats.org/officeDocument/2006/relationships/notesMaster" Target="/ppt/notesMasters/notesMaster1.xml" Id="R162b5fe9c15046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d54a85349540d2" /><Relationship Type="http://schemas.openxmlformats.org/officeDocument/2006/relationships/notesMaster" Target="/ppt/notesMasters/notesMaster1.xml" Id="Rdb46ff4401ef4f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342513cf8a4230" /><Relationship Type="http://schemas.openxmlformats.org/officeDocument/2006/relationships/notesMaster" Target="/ppt/notesMasters/notesMaster1.xml" Id="R8c777b4600014c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dad173a1bb4d30" /><Relationship Type="http://schemas.openxmlformats.org/officeDocument/2006/relationships/notesMaster" Target="/ppt/notesMasters/notesMaster1.xml" Id="R074bc733a6164f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096e7ab29c4e85" /><Relationship Type="http://schemas.openxmlformats.org/officeDocument/2006/relationships/notesMaster" Target="/ppt/notesMasters/notesMaster1.xml" Id="Re4569d7cff5741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2132989b0845a5" /><Relationship Type="http://schemas.openxmlformats.org/officeDocument/2006/relationships/notesMaster" Target="/ppt/notesMasters/notesMaster1.xml" Id="R581a8df5bbbd4f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fc0b4d605b407a" /><Relationship Type="http://schemas.openxmlformats.org/officeDocument/2006/relationships/notesMaster" Target="/ppt/notesMasters/notesMaster1.xml" Id="Rb476d7c8f5984c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e17ecf089841a7" /><Relationship Type="http://schemas.openxmlformats.org/officeDocument/2006/relationships/notesMaster" Target="/ppt/notesMasters/notesMaster1.xml" Id="R597cab99ffbf42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eb62398eeb488a" /><Relationship Type="http://schemas.openxmlformats.org/officeDocument/2006/relationships/notesMaster" Target="/ppt/notesMasters/notesMaster1.xml" Id="R5b3d0730bd9b416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57db83724da4613" /><Relationship Type="http://schemas.openxmlformats.org/officeDocument/2006/relationships/notesMaster" Target="/ppt/notesMasters/notesMaster1.xml" Id="Rc0dee175834040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a7b513adf142f7" /><Relationship Type="http://schemas.openxmlformats.org/officeDocument/2006/relationships/notesMaster" Target="/ppt/notesMasters/notesMaster1.xml" Id="Rd296d17b187345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ab5a13676f47b3" /><Relationship Type="http://schemas.openxmlformats.org/officeDocument/2006/relationships/notesMaster" Target="/ppt/notesMasters/notesMaster1.xml" Id="R216e862d40464d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a07ec8b96d4d88" /><Relationship Type="http://schemas.openxmlformats.org/officeDocument/2006/relationships/notesMaster" Target="/ppt/notesMasters/notesMaster1.xml" Id="R860b3e786c7148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8a9c2a9eb244fe" /><Relationship Type="http://schemas.openxmlformats.org/officeDocument/2006/relationships/notesMaster" Target="/ppt/notesMasters/notesMaster1.xml" Id="Rce196cec6f364be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d27b7c2201a421e" /><Relationship Type="http://schemas.openxmlformats.org/officeDocument/2006/relationships/notesMaster" Target="/ppt/notesMasters/notesMaster1.xml" Id="R44b1d980cda6424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82c271f22d54f52" /><Relationship Type="http://schemas.openxmlformats.org/officeDocument/2006/relationships/notesMaster" Target="/ppt/notesMasters/notesMaster1.xml" Id="R56af281c004a4e0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e6e311578624eec" /><Relationship Type="http://schemas.openxmlformats.org/officeDocument/2006/relationships/notesMaster" Target="/ppt/notesMasters/notesMaster1.xml" Id="R707bbe05934a44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191a46ce834574" /><Relationship Type="http://schemas.openxmlformats.org/officeDocument/2006/relationships/notesMaster" Target="/ppt/notesMasters/notesMaster1.xml" Id="R980f0cb97fc441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a4c473b454848aa" /><Relationship Type="http://schemas.openxmlformats.org/officeDocument/2006/relationships/notesMaster" Target="/ppt/notesMasters/notesMaster1.xml" Id="Rbd62247a441c461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9ffc3780996411b" /><Relationship Type="http://schemas.openxmlformats.org/officeDocument/2006/relationships/notesMaster" Target="/ppt/notesMasters/notesMaster1.xml" Id="R11351b98f89a482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8013d8582ad48a9" /><Relationship Type="http://schemas.openxmlformats.org/officeDocument/2006/relationships/notesMaster" Target="/ppt/notesMasters/notesMaster1.xml" Id="Rcbf8d8dc2b6247a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eab73f3bed4237" /><Relationship Type="http://schemas.openxmlformats.org/officeDocument/2006/relationships/notesMaster" Target="/ppt/notesMasters/notesMaster1.xml" Id="Rd4fe8ae444954cf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523da7e6554b18" /><Relationship Type="http://schemas.openxmlformats.org/officeDocument/2006/relationships/notesMaster" Target="/ppt/notesMasters/notesMaster1.xml" Id="R9c62bb3a96a0485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f358ea8858b4889" /><Relationship Type="http://schemas.openxmlformats.org/officeDocument/2006/relationships/notesMaster" Target="/ppt/notesMasters/notesMaster1.xml" Id="R80f92ec101c5410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5efd950385e4606" /><Relationship Type="http://schemas.openxmlformats.org/officeDocument/2006/relationships/notesMaster" Target="/ppt/notesMasters/notesMaster1.xml" Id="R302f3e6ec9894b0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4cba68109d94707" /><Relationship Type="http://schemas.openxmlformats.org/officeDocument/2006/relationships/notesMaster" Target="/ppt/notesMasters/notesMaster1.xml" Id="R604ba0fa2ce54ed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730f819d7eb4f03" /><Relationship Type="http://schemas.openxmlformats.org/officeDocument/2006/relationships/notesMaster" Target="/ppt/notesMasters/notesMaster1.xml" Id="Re7fa772c251c461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0d64f4d877a4ad6" /><Relationship Type="http://schemas.openxmlformats.org/officeDocument/2006/relationships/notesMaster" Target="/ppt/notesMasters/notesMaster1.xml" Id="Rd8fc233279054b4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201137bd724432c" /><Relationship Type="http://schemas.openxmlformats.org/officeDocument/2006/relationships/notesMaster" Target="/ppt/notesMasters/notesMaster1.xml" Id="R2783330ea665404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5fe81f0dff847ed" /><Relationship Type="http://schemas.openxmlformats.org/officeDocument/2006/relationships/notesMaster" Target="/ppt/notesMasters/notesMaster1.xml" Id="R29a0d99f036d4bd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ec605a501454346" /><Relationship Type="http://schemas.openxmlformats.org/officeDocument/2006/relationships/notesMaster" Target="/ppt/notesMasters/notesMaster1.xml" Id="R14428bfc9da9407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08fa5ffb8364daf" /><Relationship Type="http://schemas.openxmlformats.org/officeDocument/2006/relationships/notesMaster" Target="/ppt/notesMasters/notesMaster1.xml" Id="R7d3433bc7332461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9bc9c513ebb476a" /><Relationship Type="http://schemas.openxmlformats.org/officeDocument/2006/relationships/notesMaster" Target="/ppt/notesMasters/notesMaster1.xml" Id="R1882694b0073451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612d99e18a44fd" /><Relationship Type="http://schemas.openxmlformats.org/officeDocument/2006/relationships/notesMaster" Target="/ppt/notesMasters/notesMaster1.xml" Id="R999e1c4e77db489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540838c9eda46b5" /><Relationship Type="http://schemas.openxmlformats.org/officeDocument/2006/relationships/notesMaster" Target="/ppt/notesMasters/notesMaster1.xml" Id="R3d8926d14b974ce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ce6eb37d3954604" /><Relationship Type="http://schemas.openxmlformats.org/officeDocument/2006/relationships/notesMaster" Target="/ppt/notesMasters/notesMaster1.xml" Id="R9153b250d1b2482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fe37718c2144d91" /><Relationship Type="http://schemas.openxmlformats.org/officeDocument/2006/relationships/notesMaster" Target="/ppt/notesMasters/notesMaster1.xml" Id="R685c5238b9dc479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580b8f8a3214e7a" /><Relationship Type="http://schemas.openxmlformats.org/officeDocument/2006/relationships/notesMaster" Target="/ppt/notesMasters/notesMaster1.xml" Id="R5cf923324a1c41d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96e455c06b5457f" /><Relationship Type="http://schemas.openxmlformats.org/officeDocument/2006/relationships/notesMaster" Target="/ppt/notesMasters/notesMaster1.xml" Id="R9a90e06529574a0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dcdd74760784e86" /><Relationship Type="http://schemas.openxmlformats.org/officeDocument/2006/relationships/notesMaster" Target="/ppt/notesMasters/notesMaster1.xml" Id="R41b183d32fde469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1d4cfbafbfe47a5" /><Relationship Type="http://schemas.openxmlformats.org/officeDocument/2006/relationships/notesMaster" Target="/ppt/notesMasters/notesMaster1.xml" Id="Rcc8140faefb3428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7ff767691e54029" /><Relationship Type="http://schemas.openxmlformats.org/officeDocument/2006/relationships/notesMaster" Target="/ppt/notesMasters/notesMaster1.xml" Id="R39c915b178624bd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980664ed431456f" /><Relationship Type="http://schemas.openxmlformats.org/officeDocument/2006/relationships/notesMaster" Target="/ppt/notesMasters/notesMaster1.xml" Id="Rc5453355d8bd4cf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36ed23c2c224695" /><Relationship Type="http://schemas.openxmlformats.org/officeDocument/2006/relationships/notesMaster" Target="/ppt/notesMasters/notesMaster1.xml" Id="R1ccb296682574c7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855fe02f0eb4563" /><Relationship Type="http://schemas.openxmlformats.org/officeDocument/2006/relationships/notesMaster" Target="/ppt/notesMasters/notesMaster1.xml" Id="R4ae826b5b60640f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9682a59a8c64bb3" /><Relationship Type="http://schemas.openxmlformats.org/officeDocument/2006/relationships/notesMaster" Target="/ppt/notesMasters/notesMaster1.xml" Id="Rad923c436be0494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8160be31df345f2" /><Relationship Type="http://schemas.openxmlformats.org/officeDocument/2006/relationships/notesMaster" Target="/ppt/notesMasters/notesMaster1.xml" Id="Rbcb6aadee9c0449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675c2f8d43247ec" /><Relationship Type="http://schemas.openxmlformats.org/officeDocument/2006/relationships/notesMaster" Target="/ppt/notesMasters/notesMaster1.xml" Id="R931360dc118f48c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a77ec3e2d7d4da0" /><Relationship Type="http://schemas.openxmlformats.org/officeDocument/2006/relationships/notesMaster" Target="/ppt/notesMasters/notesMaster1.xml" Id="R1501a6fd5510406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e98d0ce5d40411f" /><Relationship Type="http://schemas.openxmlformats.org/officeDocument/2006/relationships/notesMaster" Target="/ppt/notesMasters/notesMaster1.xml" Id="R525d338bda5d49c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bba65deca9c432a" /><Relationship Type="http://schemas.openxmlformats.org/officeDocument/2006/relationships/notesMaster" Target="/ppt/notesMasters/notesMaster1.xml" Id="Rb7f41d8431fc4a0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bc926c41b2246f4" /><Relationship Type="http://schemas.openxmlformats.org/officeDocument/2006/relationships/notesMaster" Target="/ppt/notesMasters/notesMaster1.xml" Id="Rf35c9c3cd9184f5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b2d77c813b44e10" /><Relationship Type="http://schemas.openxmlformats.org/officeDocument/2006/relationships/notesMaster" Target="/ppt/notesMasters/notesMaster1.xml" Id="R8c243eef7f844e9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3d4b49e286d4cc0" /><Relationship Type="http://schemas.openxmlformats.org/officeDocument/2006/relationships/notesMaster" Target="/ppt/notesMasters/notesMaster1.xml" Id="R1f52e8093ab9462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c07ea8c81bb4124" /><Relationship Type="http://schemas.openxmlformats.org/officeDocument/2006/relationships/notesMaster" Target="/ppt/notesMasters/notesMaster1.xml" Id="R7499ec996f6a4358"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6be870b82e9423f" /><Relationship Type="http://schemas.openxmlformats.org/officeDocument/2006/relationships/notesMaster" Target="/ppt/notesMasters/notesMaster1.xml" Id="Rc9a35697f6ad4fa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61ed9687db34478" /><Relationship Type="http://schemas.openxmlformats.org/officeDocument/2006/relationships/notesMaster" Target="/ppt/notesMasters/notesMaster1.xml" Id="Re7221b2a53794a7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7fe0a1cc27494853" /><Relationship Type="http://schemas.openxmlformats.org/officeDocument/2006/relationships/notesMaster" Target="/ppt/notesMasters/notesMaster1.xml" Id="Rbd10bd82b0a649b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ab9fb1ddefc4006" /><Relationship Type="http://schemas.openxmlformats.org/officeDocument/2006/relationships/notesMaster" Target="/ppt/notesMasters/notesMaster1.xml" Id="R069f06c67fce412f"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7603ae7c7d94dcd" /><Relationship Type="http://schemas.openxmlformats.org/officeDocument/2006/relationships/notesMaster" Target="/ppt/notesMasters/notesMaster1.xml" Id="R4c2cdba1789d47a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d487a572b4e4f8c" /><Relationship Type="http://schemas.openxmlformats.org/officeDocument/2006/relationships/notesMaster" Target="/ppt/notesMasters/notesMaster1.xml" Id="R07022b23155a476c"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83e9e90590844d34" /><Relationship Type="http://schemas.openxmlformats.org/officeDocument/2006/relationships/notesMaster" Target="/ppt/notesMasters/notesMaster1.xml" Id="R6d6da1caf5734a21"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c9aeab5ed41a4f32" /><Relationship Type="http://schemas.openxmlformats.org/officeDocument/2006/relationships/notesMaster" Target="/ppt/notesMasters/notesMaster1.xml" Id="R6f79e4c37a9e483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bf920131433479d" /><Relationship Type="http://schemas.openxmlformats.org/officeDocument/2006/relationships/notesMaster" Target="/ppt/notesMasters/notesMaster1.xml" Id="R6158daae0a414a2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8d1cb09d42824a94" /><Relationship Type="http://schemas.openxmlformats.org/officeDocument/2006/relationships/notesMaster" Target="/ppt/notesMasters/notesMaster1.xml" Id="R7ff234fae08745e3"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0b0a1098b8d45c0" /><Relationship Type="http://schemas.openxmlformats.org/officeDocument/2006/relationships/notesMaster" Target="/ppt/notesMasters/notesMaster1.xml" Id="Rafd3da86040d4b2a"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51ce1a436cfd4146" /><Relationship Type="http://schemas.openxmlformats.org/officeDocument/2006/relationships/notesMaster" Target="/ppt/notesMasters/notesMaster1.xml" Id="R676d6aad21ba4fd3"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5dd5b73bf7944d9a" /><Relationship Type="http://schemas.openxmlformats.org/officeDocument/2006/relationships/notesMaster" Target="/ppt/notesMasters/notesMaster1.xml" Id="R26763d35c4e24a88"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b25f50e20b3341b7" /><Relationship Type="http://schemas.openxmlformats.org/officeDocument/2006/relationships/notesMaster" Target="/ppt/notesMasters/notesMaster1.xml" Id="Rfc0b20f4bff94ab4"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1a2ec6651d2a4d7c" /><Relationship Type="http://schemas.openxmlformats.org/officeDocument/2006/relationships/notesMaster" Target="/ppt/notesMasters/notesMaster1.xml" Id="Red8a0891c04c433e"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313a52c8fda84e69" /><Relationship Type="http://schemas.openxmlformats.org/officeDocument/2006/relationships/notesMaster" Target="/ppt/notesMasters/notesMaster1.xml" Id="Re55fc2ddc5534974"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d4f7d8b5a7646c3" /><Relationship Type="http://schemas.openxmlformats.org/officeDocument/2006/relationships/notesMaster" Target="/ppt/notesMasters/notesMaster1.xml" Id="R4c8791b1dcc44d89"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e3bd801a54c455a" /><Relationship Type="http://schemas.openxmlformats.org/officeDocument/2006/relationships/notesMaster" Target="/ppt/notesMasters/notesMaster1.xml" Id="Rd8de27b87c41465e"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1e38dc3950df4853" /><Relationship Type="http://schemas.openxmlformats.org/officeDocument/2006/relationships/notesMaster" Target="/ppt/notesMasters/notesMaster1.xml" Id="R5a113cf368da47f8"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44662171c7d4d2d" /><Relationship Type="http://schemas.openxmlformats.org/officeDocument/2006/relationships/notesMaster" Target="/ppt/notesMasters/notesMaster1.xml" Id="R9e0e55cf2a3b48a6"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1c63c34e3794740" /><Relationship Type="http://schemas.openxmlformats.org/officeDocument/2006/relationships/notesMaster" Target="/ppt/notesMasters/notesMaster1.xml" Id="Ra4b001dcece6456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c5585478aa9c453b" /><Relationship Type="http://schemas.openxmlformats.org/officeDocument/2006/relationships/notesMaster" Target="/ppt/notesMasters/notesMaster1.xml" Id="R81b12314abb94032"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8049286b638a4444" /><Relationship Type="http://schemas.openxmlformats.org/officeDocument/2006/relationships/notesMaster" Target="/ppt/notesMasters/notesMaster1.xml" Id="R3dad1045220c4684"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80748d8498d4f63" /><Relationship Type="http://schemas.openxmlformats.org/officeDocument/2006/relationships/notesMaster" Target="/ppt/notesMasters/notesMaster1.xml" Id="R13d908953ebe4b17"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8f469dc3f4b74455" /><Relationship Type="http://schemas.openxmlformats.org/officeDocument/2006/relationships/notesMaster" Target="/ppt/notesMasters/notesMaster1.xml" Id="R840cb319f2a2475e"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346061de7ff4de8" /><Relationship Type="http://schemas.openxmlformats.org/officeDocument/2006/relationships/notesMaster" Target="/ppt/notesMasters/notesMaster1.xml" Id="Re0d9c8f6f30e471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0351d0f7a7ec4bfe" /><Relationship Type="http://schemas.openxmlformats.org/officeDocument/2006/relationships/notesMaster" Target="/ppt/notesMasters/notesMaster1.xml" Id="Raf11b022412c49ea"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a7f0910199484e2f" /><Relationship Type="http://schemas.openxmlformats.org/officeDocument/2006/relationships/notesMaster" Target="/ppt/notesMasters/notesMaster1.xml" Id="R54f7a6c8d5ea488b"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c7916e32bf884f72" /><Relationship Type="http://schemas.openxmlformats.org/officeDocument/2006/relationships/notesMaster" Target="/ppt/notesMasters/notesMaster1.xml" Id="R27827970d9a24ba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0a720bb328b4463e" /><Relationship Type="http://schemas.openxmlformats.org/officeDocument/2006/relationships/notesMaster" Target="/ppt/notesMasters/notesMaster1.xml" Id="R7c49d728cf3444b4"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bc51f8c7829346f8" /><Relationship Type="http://schemas.openxmlformats.org/officeDocument/2006/relationships/notesMaster" Target="/ppt/notesMasters/notesMaster1.xml" Id="Re7c6b6f02af440ce"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df3c396671b245b4" /><Relationship Type="http://schemas.openxmlformats.org/officeDocument/2006/relationships/notesMaster" Target="/ppt/notesMasters/notesMaster1.xml" Id="R32f38085d12b4438"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45f943bb08c34109" /><Relationship Type="http://schemas.openxmlformats.org/officeDocument/2006/relationships/notesMaster" Target="/ppt/notesMasters/notesMaster1.xml" Id="R331eec8cf2264126"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6931c59ecad04148" /><Relationship Type="http://schemas.openxmlformats.org/officeDocument/2006/relationships/notesMaster" Target="/ppt/notesMasters/notesMaster1.xml" Id="R89692ae8243f4d12"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9690fad039144099" /><Relationship Type="http://schemas.openxmlformats.org/officeDocument/2006/relationships/notesMaster" Target="/ppt/notesMasters/notesMaster1.xml" Id="Rab6d1e76745941e4"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d5069f27f0534b60" /><Relationship Type="http://schemas.openxmlformats.org/officeDocument/2006/relationships/notesMaster" Target="/ppt/notesMasters/notesMaster1.xml" Id="Rd87787a2f37940f2"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7143a760d5c344b4" /><Relationship Type="http://schemas.openxmlformats.org/officeDocument/2006/relationships/notesMaster" Target="/ppt/notesMasters/notesMaster1.xml" Id="Re173e0c25ddd472b"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3c2afd272a6645e9" /><Relationship Type="http://schemas.openxmlformats.org/officeDocument/2006/relationships/notesMaster" Target="/ppt/notesMasters/notesMaster1.xml" Id="Rf73acbff35db4920"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8006b7cb6d2a4ec2" /><Relationship Type="http://schemas.openxmlformats.org/officeDocument/2006/relationships/notesMaster" Target="/ppt/notesMasters/notesMaster1.xml" Id="R6190f41b8a3f4307"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405c0b2fdfa548f2" /><Relationship Type="http://schemas.openxmlformats.org/officeDocument/2006/relationships/notesMaster" Target="/ppt/notesMasters/notesMaster1.xml" Id="Rf4febc525744481c"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35f74191319c4877" /><Relationship Type="http://schemas.openxmlformats.org/officeDocument/2006/relationships/notesMaster" Target="/ppt/notesMasters/notesMaster1.xml" Id="Rd8542bccce0742c8"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f888379adb08480b" /><Relationship Type="http://schemas.openxmlformats.org/officeDocument/2006/relationships/notesMaster" Target="/ppt/notesMasters/notesMaster1.xml" Id="R6ae36750fc894485"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9387aac1c02b4e5e" /><Relationship Type="http://schemas.openxmlformats.org/officeDocument/2006/relationships/notesMaster" Target="/ppt/notesMasters/notesMaster1.xml" Id="R22932c21796c4e71"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e02001ac0444aa8" /><Relationship Type="http://schemas.openxmlformats.org/officeDocument/2006/relationships/notesMaster" Target="/ppt/notesMasters/notesMaster1.xml" Id="Rf7d5002808034c27"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f35df2a16a0f4b77" /><Relationship Type="http://schemas.openxmlformats.org/officeDocument/2006/relationships/notesMaster" Target="/ppt/notesMasters/notesMaster1.xml" Id="R26ed723f8ed94179"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a877363bb8b8484f" /><Relationship Type="http://schemas.openxmlformats.org/officeDocument/2006/relationships/notesMaster" Target="/ppt/notesMasters/notesMaster1.xml" Id="Rd510019915c44fd5"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5c8cd56bbf8848bd" /><Relationship Type="http://schemas.openxmlformats.org/officeDocument/2006/relationships/notesMaster" Target="/ppt/notesMasters/notesMaster1.xml" Id="Rbaab74d8f3f54138"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115f1130663449b6" /><Relationship Type="http://schemas.openxmlformats.org/officeDocument/2006/relationships/notesMaster" Target="/ppt/notesMasters/notesMaster1.xml" Id="R3dba55938d474f8f"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6fb36d6406fc4a33" /><Relationship Type="http://schemas.openxmlformats.org/officeDocument/2006/relationships/notesMaster" Target="/ppt/notesMasters/notesMaster1.xml" Id="Re2b0c2081dfd4d91"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7c4a8975a12845f6" /><Relationship Type="http://schemas.openxmlformats.org/officeDocument/2006/relationships/notesMaster" Target="/ppt/notesMasters/notesMaster1.xml" Id="R24247afe14044a99"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2c69bdcb5fb14175" /><Relationship Type="http://schemas.openxmlformats.org/officeDocument/2006/relationships/notesMaster" Target="/ppt/notesMasters/notesMaster1.xml" Id="Re537c2f5f1bb440e"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9411ab6b872540ed" /><Relationship Type="http://schemas.openxmlformats.org/officeDocument/2006/relationships/notesMaster" Target="/ppt/notesMasters/notesMaster1.xml" Id="R5f85d4e0d2e0498d"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f47806e1af5d45f7" /><Relationship Type="http://schemas.openxmlformats.org/officeDocument/2006/relationships/notesMaster" Target="/ppt/notesMasters/notesMaster1.xml" Id="Rdce28f92e16f4b4e"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85a1f2d621d44fe4" /><Relationship Type="http://schemas.openxmlformats.org/officeDocument/2006/relationships/notesMaster" Target="/ppt/notesMasters/notesMaster1.xml" Id="R9a74727e7daf457c"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a3207771d1df4780" /><Relationship Type="http://schemas.openxmlformats.org/officeDocument/2006/relationships/notesMaster" Target="/ppt/notesMasters/notesMaster1.xml" Id="R30be0477f26d4c92"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50e62c4fed7f455e" /><Relationship Type="http://schemas.openxmlformats.org/officeDocument/2006/relationships/notesMaster" Target="/ppt/notesMasters/notesMaster1.xml" Id="R7bb20658545f44c6"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c1f0a9870fce431a" /><Relationship Type="http://schemas.openxmlformats.org/officeDocument/2006/relationships/notesMaster" Target="/ppt/notesMasters/notesMaster1.xml" Id="R95bc1d0856c742ba"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387b28aac0944ee2" /><Relationship Type="http://schemas.openxmlformats.org/officeDocument/2006/relationships/notesMaster" Target="/ppt/notesMasters/notesMaster1.xml" Id="Ree1db0e55fea464c"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80fc8725b5894b85" /><Relationship Type="http://schemas.openxmlformats.org/officeDocument/2006/relationships/notesMaster" Target="/ppt/notesMasters/notesMaster1.xml" Id="Rcce8b30170b14ff6"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5710ba510bfb4715" /><Relationship Type="http://schemas.openxmlformats.org/officeDocument/2006/relationships/notesMaster" Target="/ppt/notesMasters/notesMaster1.xml" Id="Rd70bd343ef484bd2"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016f166c0ad8427d" /><Relationship Type="http://schemas.openxmlformats.org/officeDocument/2006/relationships/notesMaster" Target="/ppt/notesMasters/notesMaster1.xml" Id="Rb4a63d9c1a28438b"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05011397642a4ad4" /><Relationship Type="http://schemas.openxmlformats.org/officeDocument/2006/relationships/notesMaster" Target="/ppt/notesMasters/notesMaster1.xml" Id="Rbe6efc0763e64334"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19438d177d7942b9" /><Relationship Type="http://schemas.openxmlformats.org/officeDocument/2006/relationships/notesMaster" Target="/ppt/notesMasters/notesMaster1.xml" Id="R2826e91e616d4a48"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7ecb775316144d8a" /><Relationship Type="http://schemas.openxmlformats.org/officeDocument/2006/relationships/notesMaster" Target="/ppt/notesMasters/notesMaster1.xml" Id="R1adba1d332104bf1"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f13c5c30686e409a" /><Relationship Type="http://schemas.openxmlformats.org/officeDocument/2006/relationships/notesMaster" Target="/ppt/notesMasters/notesMaster1.xml" Id="R9e10f3b2704d4dd6"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23a398d803604fbf" /><Relationship Type="http://schemas.openxmlformats.org/officeDocument/2006/relationships/notesMaster" Target="/ppt/notesMasters/notesMaster1.xml" Id="Rb6bd6a25c6c143cf"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101a260e92404d0d" /><Relationship Type="http://schemas.openxmlformats.org/officeDocument/2006/relationships/notesMaster" Target="/ppt/notesMasters/notesMaster1.xml" Id="Rf1d3720bd75c4a65"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2d2c032ece274759" /><Relationship Type="http://schemas.openxmlformats.org/officeDocument/2006/relationships/notesMaster" Target="/ppt/notesMasters/notesMaster1.xml" Id="R9fef774be6074a7d"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05e5b1bb1e6b453b" /><Relationship Type="http://schemas.openxmlformats.org/officeDocument/2006/relationships/notesMaster" Target="/ppt/notesMasters/notesMaster1.xml" Id="R2ebaa1862d494010"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4b130a03c9474156" /><Relationship Type="http://schemas.openxmlformats.org/officeDocument/2006/relationships/notesMaster" Target="/ppt/notesMasters/notesMaster1.xml" Id="R717717d54326449d"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3b3f210c9bae4c06" /><Relationship Type="http://schemas.openxmlformats.org/officeDocument/2006/relationships/notesMaster" Target="/ppt/notesMasters/notesMaster1.xml" Id="R842ce53ab7ca4afc"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cc8e80900d124bf2" /><Relationship Type="http://schemas.openxmlformats.org/officeDocument/2006/relationships/notesMaster" Target="/ppt/notesMasters/notesMaster1.xml" Id="Rfedba37180474b19"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fa8120b03fe64ccd" /><Relationship Type="http://schemas.openxmlformats.org/officeDocument/2006/relationships/notesMaster" Target="/ppt/notesMasters/notesMaster1.xml" Id="R3badda28e56945ec"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b4ca6ae8b3ba470e" /><Relationship Type="http://schemas.openxmlformats.org/officeDocument/2006/relationships/notesMaster" Target="/ppt/notesMasters/notesMaster1.xml" Id="R9143a1d7c9ce4b3a"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f816d72dcc1c41ff" /><Relationship Type="http://schemas.openxmlformats.org/officeDocument/2006/relationships/notesMaster" Target="/ppt/notesMasters/notesMaster1.xml" Id="R2f870d7062c54e8f"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20591d16353f4e3d" /><Relationship Type="http://schemas.openxmlformats.org/officeDocument/2006/relationships/notesMaster" Target="/ppt/notesMasters/notesMaster1.xml" Id="R9e4569785ec1489b"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55b2102f84914505" /><Relationship Type="http://schemas.openxmlformats.org/officeDocument/2006/relationships/notesMaster" Target="/ppt/notesMasters/notesMaster1.xml" Id="R882d7361901f4728"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47c95f847bc745b5" /><Relationship Type="http://schemas.openxmlformats.org/officeDocument/2006/relationships/notesMaster" Target="/ppt/notesMasters/notesMaster1.xml" Id="Rec9b21baedd34c90"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052a9e4e1cca4516" /><Relationship Type="http://schemas.openxmlformats.org/officeDocument/2006/relationships/notesMaster" Target="/ppt/notesMasters/notesMaster1.xml" Id="Rb80d323f34f64a74"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3fd748c45e444226" /><Relationship Type="http://schemas.openxmlformats.org/officeDocument/2006/relationships/notesMaster" Target="/ppt/notesMasters/notesMaster1.xml" Id="R0c9074c61559480c"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928ee236d43d494e" /><Relationship Type="http://schemas.openxmlformats.org/officeDocument/2006/relationships/notesMaster" Target="/ppt/notesMasters/notesMaster1.xml" Id="R6d5baaefd8424a41"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02b4b7a406e24eac" /><Relationship Type="http://schemas.openxmlformats.org/officeDocument/2006/relationships/notesMaster" Target="/ppt/notesMasters/notesMaster1.xml" Id="R9a7ecaec7f7e467f"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e10ee803688a4824" /><Relationship Type="http://schemas.openxmlformats.org/officeDocument/2006/relationships/notesMaster" Target="/ppt/notesMasters/notesMaster1.xml" Id="Rb190321668dc4157"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970bb2a899754b3c" /><Relationship Type="http://schemas.openxmlformats.org/officeDocument/2006/relationships/notesMaster" Target="/ppt/notesMasters/notesMaster1.xml" Id="R024e209e7ac94185"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8d3f607c3aad4199" /><Relationship Type="http://schemas.openxmlformats.org/officeDocument/2006/relationships/notesMaster" Target="/ppt/notesMasters/notesMaster1.xml" Id="Ra99258e46d1d49cd"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9512b353206249b9" /><Relationship Type="http://schemas.openxmlformats.org/officeDocument/2006/relationships/notesMaster" Target="/ppt/notesMasters/notesMaster1.xml" Id="Rfcfe0069c8624534"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0220b148ef6f48af" /><Relationship Type="http://schemas.openxmlformats.org/officeDocument/2006/relationships/notesMaster" Target="/ppt/notesMasters/notesMaster1.xml" Id="Ra458475344af4b04"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a963da8732fa4ac4" /><Relationship Type="http://schemas.openxmlformats.org/officeDocument/2006/relationships/notesMaster" Target="/ppt/notesMasters/notesMaster1.xml" Id="R322c47ec1d9a486e"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0f0d836bd46844b6" /><Relationship Type="http://schemas.openxmlformats.org/officeDocument/2006/relationships/notesMaster" Target="/ppt/notesMasters/notesMaster1.xml" Id="R0ee24bf24be0425d"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dcd89e3ae0ff4904" /><Relationship Type="http://schemas.openxmlformats.org/officeDocument/2006/relationships/notesMaster" Target="/ppt/notesMasters/notesMaster1.xml" Id="Rcde997cd6a314331"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b29b509c62d549d8" /><Relationship Type="http://schemas.openxmlformats.org/officeDocument/2006/relationships/notesMaster" Target="/ppt/notesMasters/notesMaster1.xml" Id="R4de1e6195ac14365"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0333bac0b2744231" /><Relationship Type="http://schemas.openxmlformats.org/officeDocument/2006/relationships/notesMaster" Target="/ppt/notesMasters/notesMaster1.xml" Id="R822034843b0446c5"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074c9999197a4b90" /><Relationship Type="http://schemas.openxmlformats.org/officeDocument/2006/relationships/notesMaster" Target="/ppt/notesMasters/notesMaster1.xml" Id="R6ecb8e3f39c1403b"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4599d583c552486d" /><Relationship Type="http://schemas.openxmlformats.org/officeDocument/2006/relationships/notesMaster" Target="/ppt/notesMasters/notesMaster1.xml" Id="Rab22580b244e4bf1"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37c77d2f82554168" /><Relationship Type="http://schemas.openxmlformats.org/officeDocument/2006/relationships/notesMaster" Target="/ppt/notesMasters/notesMaster1.xml" Id="R73dc2b777e5a4307"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6700b5306d034d0c" /><Relationship Type="http://schemas.openxmlformats.org/officeDocument/2006/relationships/notesMaster" Target="/ppt/notesMasters/notesMaster1.xml" Id="Raaff10cdd990428c"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574847966a134078" /><Relationship Type="http://schemas.openxmlformats.org/officeDocument/2006/relationships/notesMaster" Target="/ppt/notesMasters/notesMaster1.xml" Id="R2729f0d87606414b"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68880bdce33c4c60" /><Relationship Type="http://schemas.openxmlformats.org/officeDocument/2006/relationships/notesMaster" Target="/ppt/notesMasters/notesMaster1.xml" Id="Re3343a98f2d94b2d"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5b90319aab854e68" /><Relationship Type="http://schemas.openxmlformats.org/officeDocument/2006/relationships/notesMaster" Target="/ppt/notesMasters/notesMaster1.xml" Id="R9fa9c7f99c3142b7"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db6b05fe3a324c18" /><Relationship Type="http://schemas.openxmlformats.org/officeDocument/2006/relationships/notesMaster" Target="/ppt/notesMasters/notesMaster1.xml" Id="R94c1eecf185b4171"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1087d1b3137d46f4" /><Relationship Type="http://schemas.openxmlformats.org/officeDocument/2006/relationships/notesMaster" Target="/ppt/notesMasters/notesMaster1.xml" Id="R208cb0df643c4e2b"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0ddabdcc1028404b" /><Relationship Type="http://schemas.openxmlformats.org/officeDocument/2006/relationships/notesMaster" Target="/ppt/notesMasters/notesMaster1.xml" Id="R06b7cdee99e243f4"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f72202a5398c49c1" /><Relationship Type="http://schemas.openxmlformats.org/officeDocument/2006/relationships/notesMaster" Target="/ppt/notesMasters/notesMaster1.xml" Id="R9ba3091b88694376"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bcb8a3cc43da49c2" /><Relationship Type="http://schemas.openxmlformats.org/officeDocument/2006/relationships/notesMaster" Target="/ppt/notesMasters/notesMaster1.xml" Id="Rb3d1de271cf84224"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f2c02e4007e24aed" /><Relationship Type="http://schemas.openxmlformats.org/officeDocument/2006/relationships/notesMaster" Target="/ppt/notesMasters/notesMaster1.xml" Id="R5885d033085b48c4"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2476c238ba244957" /><Relationship Type="http://schemas.openxmlformats.org/officeDocument/2006/relationships/notesMaster" Target="/ppt/notesMasters/notesMaster1.xml" Id="R3c5c55563afa4276"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869ffa0b9055417f" /><Relationship Type="http://schemas.openxmlformats.org/officeDocument/2006/relationships/notesMaster" Target="/ppt/notesMasters/notesMaster1.xml" Id="Rc4be4eef8e884384"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00265eef25b0489a" /><Relationship Type="http://schemas.openxmlformats.org/officeDocument/2006/relationships/notesMaster" Target="/ppt/notesMasters/notesMaster1.xml" Id="R88907b42c7bc4a5b"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33bb4da62d0b4465" /><Relationship Type="http://schemas.openxmlformats.org/officeDocument/2006/relationships/notesMaster" Target="/ppt/notesMasters/notesMaster1.xml" Id="R5c5a25ca70b64fc0"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ee51e50b7e224e04" /><Relationship Type="http://schemas.openxmlformats.org/officeDocument/2006/relationships/notesMaster" Target="/ppt/notesMasters/notesMaster1.xml" Id="Re077e1c23f5946cd"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d048ab1606964943" /><Relationship Type="http://schemas.openxmlformats.org/officeDocument/2006/relationships/notesMaster" Target="/ppt/notesMasters/notesMaster1.xml" Id="R09fc05d590b84fb5"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c18b6ca928c149c8" /><Relationship Type="http://schemas.openxmlformats.org/officeDocument/2006/relationships/notesMaster" Target="/ppt/notesMasters/notesMaster1.xml" Id="R46eb6578fbc64921"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75aaeff6f92342b2" /><Relationship Type="http://schemas.openxmlformats.org/officeDocument/2006/relationships/notesMaster" Target="/ppt/notesMasters/notesMaster1.xml" Id="Ra7df0a03399a4234"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f771d14f37564cd8" /><Relationship Type="http://schemas.openxmlformats.org/officeDocument/2006/relationships/notesMaster" Target="/ppt/notesMasters/notesMaster1.xml" Id="R4ade772aff244376"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fa33551618374315" /><Relationship Type="http://schemas.openxmlformats.org/officeDocument/2006/relationships/notesMaster" Target="/ppt/notesMasters/notesMaster1.xml" Id="R49bc303d1fab4612"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1c6241b58aab4107" /><Relationship Type="http://schemas.openxmlformats.org/officeDocument/2006/relationships/notesMaster" Target="/ppt/notesMasters/notesMaster1.xml" Id="R6746f27dd7154376"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df42bb4bd8b344f7" /><Relationship Type="http://schemas.openxmlformats.org/officeDocument/2006/relationships/notesMaster" Target="/ppt/notesMasters/notesMaster1.xml" Id="R4515d56c6f704110"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8757686499474ab7" /><Relationship Type="http://schemas.openxmlformats.org/officeDocument/2006/relationships/notesMaster" Target="/ppt/notesMasters/notesMaster1.xml" Id="R1b0cc7fa5bc54a90"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1e04063628f0472b" /><Relationship Type="http://schemas.openxmlformats.org/officeDocument/2006/relationships/notesMaster" Target="/ppt/notesMasters/notesMaster1.xml" Id="R0f5e164c5de94741"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36bb6c00c1c54418" /><Relationship Type="http://schemas.openxmlformats.org/officeDocument/2006/relationships/notesMaster" Target="/ppt/notesMasters/notesMaster1.xml" Id="Rd2079d9d43494974"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acfa807317304138" /><Relationship Type="http://schemas.openxmlformats.org/officeDocument/2006/relationships/notesMaster" Target="/ppt/notesMasters/notesMaster1.xml" Id="R90378917520b4c76"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cbd6e336e8ed4861" /><Relationship Type="http://schemas.openxmlformats.org/officeDocument/2006/relationships/notesMaster" Target="/ppt/notesMasters/notesMaster1.xml" Id="Rc9391d56dfea473f"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4c7266ea66b24396" /><Relationship Type="http://schemas.openxmlformats.org/officeDocument/2006/relationships/notesMaster" Target="/ppt/notesMasters/notesMaster1.xml" Id="R1815cbafcb4140f3"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2a259f74ee8743f1" /><Relationship Type="http://schemas.openxmlformats.org/officeDocument/2006/relationships/notesMaster" Target="/ppt/notesMasters/notesMaster1.xml" Id="R0726f492a5214730"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b40b57a8d6114a0d" /><Relationship Type="http://schemas.openxmlformats.org/officeDocument/2006/relationships/notesMaster" Target="/ppt/notesMasters/notesMaster1.xml" Id="R8f2b4be103174fb4"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ce5d3e4ea7764465" /><Relationship Type="http://schemas.openxmlformats.org/officeDocument/2006/relationships/notesMaster" Target="/ppt/notesMasters/notesMaster1.xml" Id="R1a9667b4a3b24de9"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ed19e1587f5d426f" /><Relationship Type="http://schemas.openxmlformats.org/officeDocument/2006/relationships/notesMaster" Target="/ppt/notesMasters/notesMaster1.xml" Id="R4430da1811ae4da5"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3de51ff2924849b7" /><Relationship Type="http://schemas.openxmlformats.org/officeDocument/2006/relationships/notesMaster" Target="/ppt/notesMasters/notesMaster1.xml" Id="Rd3cfb5b3eafa4e19"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6e8168cca005473c" /><Relationship Type="http://schemas.openxmlformats.org/officeDocument/2006/relationships/notesMaster" Target="/ppt/notesMasters/notesMaster1.xml" Id="R4c291aa24d26410e"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de8a484a424145a4" /><Relationship Type="http://schemas.openxmlformats.org/officeDocument/2006/relationships/notesMaster" Target="/ppt/notesMasters/notesMaster1.xml" Id="Raac8bacfcf284c05"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ad86076036ba49f4" /><Relationship Type="http://schemas.openxmlformats.org/officeDocument/2006/relationships/notesMaster" Target="/ppt/notesMasters/notesMaster1.xml" Id="R8d05eb70319e49de"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c27483b473404201" /><Relationship Type="http://schemas.openxmlformats.org/officeDocument/2006/relationships/notesMaster" Target="/ppt/notesMasters/notesMaster1.xml" Id="R17ccdea66dae4730"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250a00ea6cf44441" /><Relationship Type="http://schemas.openxmlformats.org/officeDocument/2006/relationships/notesMaster" Target="/ppt/notesMasters/notesMaster1.xml" Id="R6152187d4632491b"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711ad0d7a9994b0f" /><Relationship Type="http://schemas.openxmlformats.org/officeDocument/2006/relationships/notesMaster" Target="/ppt/notesMasters/notesMaster1.xml" Id="R92214f059ae94460"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d04bff77716042f7" /><Relationship Type="http://schemas.openxmlformats.org/officeDocument/2006/relationships/notesMaster" Target="/ppt/notesMasters/notesMaster1.xml" Id="Raa269d75e60b4987"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7e7032a4258142eb" /><Relationship Type="http://schemas.openxmlformats.org/officeDocument/2006/relationships/notesMaster" Target="/ppt/notesMasters/notesMaster1.xml" Id="R7af02ff7a5da4072"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0a4e8b00e9814e23" /><Relationship Type="http://schemas.openxmlformats.org/officeDocument/2006/relationships/notesMaster" Target="/ppt/notesMasters/notesMaster1.xml" Id="Rb1c5ef043dc445df" /></Relationships>
</file>

<file path=ppt/notesSlides/_rels/notesSlide201.xml.rels>&#65279;<?xml version="1.0" encoding="utf-8"?><Relationships xmlns="http://schemas.openxmlformats.org/package/2006/relationships"><Relationship Type="http://schemas.openxmlformats.org/officeDocument/2006/relationships/slide" Target="/ppt/slides/slide201.xml" Id="Rb36ca8ee75fb481f" /><Relationship Type="http://schemas.openxmlformats.org/officeDocument/2006/relationships/notesMaster" Target="/ppt/notesMasters/notesMaster1.xml" Id="R24641bc93a714a76" /></Relationships>
</file>

<file path=ppt/notesSlides/_rels/notesSlide202.xml.rels>&#65279;<?xml version="1.0" encoding="utf-8"?><Relationships xmlns="http://schemas.openxmlformats.org/package/2006/relationships"><Relationship Type="http://schemas.openxmlformats.org/officeDocument/2006/relationships/slide" Target="/ppt/slides/slide202.xml" Id="R6f641a6ab35a4a2d" /><Relationship Type="http://schemas.openxmlformats.org/officeDocument/2006/relationships/notesMaster" Target="/ppt/notesMasters/notesMaster1.xml" Id="Raafea3bf557a49c9" /></Relationships>
</file>

<file path=ppt/notesSlides/_rels/notesSlide203.xml.rels>&#65279;<?xml version="1.0" encoding="utf-8"?><Relationships xmlns="http://schemas.openxmlformats.org/package/2006/relationships"><Relationship Type="http://schemas.openxmlformats.org/officeDocument/2006/relationships/slide" Target="/ppt/slides/slide203.xml" Id="Re89d4eb4cef44db3" /><Relationship Type="http://schemas.openxmlformats.org/officeDocument/2006/relationships/notesMaster" Target="/ppt/notesMasters/notesMaster1.xml" Id="R658d7c474eab4303" /></Relationships>
</file>

<file path=ppt/notesSlides/_rels/notesSlide204.xml.rels>&#65279;<?xml version="1.0" encoding="utf-8"?><Relationships xmlns="http://schemas.openxmlformats.org/package/2006/relationships"><Relationship Type="http://schemas.openxmlformats.org/officeDocument/2006/relationships/slide" Target="/ppt/slides/slide204.xml" Id="Rd076a6c9ce3c41a6" /><Relationship Type="http://schemas.openxmlformats.org/officeDocument/2006/relationships/notesMaster" Target="/ppt/notesMasters/notesMaster1.xml" Id="R3695da5ba34f495a" /></Relationships>
</file>

<file path=ppt/notesSlides/_rels/notesSlide205.xml.rels>&#65279;<?xml version="1.0" encoding="utf-8"?><Relationships xmlns="http://schemas.openxmlformats.org/package/2006/relationships"><Relationship Type="http://schemas.openxmlformats.org/officeDocument/2006/relationships/slide" Target="/ppt/slides/slide205.xml" Id="R7e608d4e0a9a4518" /><Relationship Type="http://schemas.openxmlformats.org/officeDocument/2006/relationships/notesMaster" Target="/ppt/notesMasters/notesMaster1.xml" Id="R28d7ed5722b040b7" /></Relationships>
</file>

<file path=ppt/notesSlides/_rels/notesSlide206.xml.rels>&#65279;<?xml version="1.0" encoding="utf-8"?><Relationships xmlns="http://schemas.openxmlformats.org/package/2006/relationships"><Relationship Type="http://schemas.openxmlformats.org/officeDocument/2006/relationships/slide" Target="/ppt/slides/slide206.xml" Id="R29d18e4830a24932" /><Relationship Type="http://schemas.openxmlformats.org/officeDocument/2006/relationships/notesMaster" Target="/ppt/notesMasters/notesMaster1.xml" Id="R1f6d4fcd9beb46d7" /></Relationships>
</file>

<file path=ppt/notesSlides/_rels/notesSlide207.xml.rels>&#65279;<?xml version="1.0" encoding="utf-8"?><Relationships xmlns="http://schemas.openxmlformats.org/package/2006/relationships"><Relationship Type="http://schemas.openxmlformats.org/officeDocument/2006/relationships/slide" Target="/ppt/slides/slide207.xml" Id="R616d0a510e464234" /><Relationship Type="http://schemas.openxmlformats.org/officeDocument/2006/relationships/notesMaster" Target="/ppt/notesMasters/notesMaster1.xml" Id="R22a9f0ce25994a94" /></Relationships>
</file>

<file path=ppt/notesSlides/_rels/notesSlide208.xml.rels>&#65279;<?xml version="1.0" encoding="utf-8"?><Relationships xmlns="http://schemas.openxmlformats.org/package/2006/relationships"><Relationship Type="http://schemas.openxmlformats.org/officeDocument/2006/relationships/slide" Target="/ppt/slides/slide208.xml" Id="R3aa972ca163849b2" /><Relationship Type="http://schemas.openxmlformats.org/officeDocument/2006/relationships/notesMaster" Target="/ppt/notesMasters/notesMaster1.xml" Id="Rfb66269ddab943cb" /></Relationships>
</file>

<file path=ppt/notesSlides/_rels/notesSlide209.xml.rels>&#65279;<?xml version="1.0" encoding="utf-8"?><Relationships xmlns="http://schemas.openxmlformats.org/package/2006/relationships"><Relationship Type="http://schemas.openxmlformats.org/officeDocument/2006/relationships/slide" Target="/ppt/slides/slide209.xml" Id="R5bea93c0d9444dbd" /><Relationship Type="http://schemas.openxmlformats.org/officeDocument/2006/relationships/notesMaster" Target="/ppt/notesMasters/notesMaster1.xml" Id="Rceebc9d5b53744bd" /></Relationships>
</file>

<file path=ppt/notesSlides/_rels/notesSlide210.xml.rels>&#65279;<?xml version="1.0" encoding="utf-8"?><Relationships xmlns="http://schemas.openxmlformats.org/package/2006/relationships"><Relationship Type="http://schemas.openxmlformats.org/officeDocument/2006/relationships/slide" Target="/ppt/slides/slide210.xml" Id="R72ea591c264b475f" /><Relationship Type="http://schemas.openxmlformats.org/officeDocument/2006/relationships/notesMaster" Target="/ppt/notesMasters/notesMaster1.xml" Id="Reba864de4d434163" /></Relationships>
</file>

<file path=ppt/notesSlides/_rels/notesSlide211.xml.rels>&#65279;<?xml version="1.0" encoding="utf-8"?><Relationships xmlns="http://schemas.openxmlformats.org/package/2006/relationships"><Relationship Type="http://schemas.openxmlformats.org/officeDocument/2006/relationships/slide" Target="/ppt/slides/slide211.xml" Id="R83019bfc398c421e" /><Relationship Type="http://schemas.openxmlformats.org/officeDocument/2006/relationships/notesMaster" Target="/ppt/notesMasters/notesMaster1.xml" Id="R6a331d9121054f2f" /></Relationships>
</file>

<file path=ppt/notesSlides/_rels/notesSlide212.xml.rels>&#65279;<?xml version="1.0" encoding="utf-8"?><Relationships xmlns="http://schemas.openxmlformats.org/package/2006/relationships"><Relationship Type="http://schemas.openxmlformats.org/officeDocument/2006/relationships/slide" Target="/ppt/slides/slide212.xml" Id="Rf83af5a81e0040fb" /><Relationship Type="http://schemas.openxmlformats.org/officeDocument/2006/relationships/notesMaster" Target="/ppt/notesMasters/notesMaster1.xml" Id="Rd0d179ac69984a1b" /></Relationships>
</file>

<file path=ppt/notesSlides/_rels/notesSlide213.xml.rels>&#65279;<?xml version="1.0" encoding="utf-8"?><Relationships xmlns="http://schemas.openxmlformats.org/package/2006/relationships"><Relationship Type="http://schemas.openxmlformats.org/officeDocument/2006/relationships/slide" Target="/ppt/slides/slide213.xml" Id="R703e2c774fa64397" /><Relationship Type="http://schemas.openxmlformats.org/officeDocument/2006/relationships/notesMaster" Target="/ppt/notesMasters/notesMaster1.xml" Id="Raae1d0982a5446c5" /></Relationships>
</file>

<file path=ppt/notesSlides/_rels/notesSlide214.xml.rels>&#65279;<?xml version="1.0" encoding="utf-8"?><Relationships xmlns="http://schemas.openxmlformats.org/package/2006/relationships"><Relationship Type="http://schemas.openxmlformats.org/officeDocument/2006/relationships/slide" Target="/ppt/slides/slide214.xml" Id="R7f2a33e8cbb149f3" /><Relationship Type="http://schemas.openxmlformats.org/officeDocument/2006/relationships/notesMaster" Target="/ppt/notesMasters/notesMaster1.xml" Id="Raa4bca9a860f4feb" /></Relationships>
</file>

<file path=ppt/notesSlides/_rels/notesSlide215.xml.rels>&#65279;<?xml version="1.0" encoding="utf-8"?><Relationships xmlns="http://schemas.openxmlformats.org/package/2006/relationships"><Relationship Type="http://schemas.openxmlformats.org/officeDocument/2006/relationships/slide" Target="/ppt/slides/slide215.xml" Id="Rb0aa1e84e41b49a9" /><Relationship Type="http://schemas.openxmlformats.org/officeDocument/2006/relationships/notesMaster" Target="/ppt/notesMasters/notesMaster1.xml" Id="Rbb64613ad15c4040" /></Relationships>
</file>

<file path=ppt/notesSlides/_rels/notesSlide216.xml.rels>&#65279;<?xml version="1.0" encoding="utf-8"?><Relationships xmlns="http://schemas.openxmlformats.org/package/2006/relationships"><Relationship Type="http://schemas.openxmlformats.org/officeDocument/2006/relationships/slide" Target="/ppt/slides/slide216.xml" Id="Re4e1db87419442e3" /><Relationship Type="http://schemas.openxmlformats.org/officeDocument/2006/relationships/notesMaster" Target="/ppt/notesMasters/notesMaster1.xml" Id="R1d391f95636c498a" /></Relationships>
</file>

<file path=ppt/notesSlides/_rels/notesSlide217.xml.rels>&#65279;<?xml version="1.0" encoding="utf-8"?><Relationships xmlns="http://schemas.openxmlformats.org/package/2006/relationships"><Relationship Type="http://schemas.openxmlformats.org/officeDocument/2006/relationships/slide" Target="/ppt/slides/slide217.xml" Id="R3b970ab59a6b4b91" /><Relationship Type="http://schemas.openxmlformats.org/officeDocument/2006/relationships/notesMaster" Target="/ppt/notesMasters/notesMaster1.xml" Id="R76737493689c47c3" /></Relationships>
</file>

<file path=ppt/notesSlides/_rels/notesSlide218.xml.rels>&#65279;<?xml version="1.0" encoding="utf-8"?><Relationships xmlns="http://schemas.openxmlformats.org/package/2006/relationships"><Relationship Type="http://schemas.openxmlformats.org/officeDocument/2006/relationships/slide" Target="/ppt/slides/slide218.xml" Id="R4bef8b82399247e9" /><Relationship Type="http://schemas.openxmlformats.org/officeDocument/2006/relationships/notesMaster" Target="/ppt/notesMasters/notesMaster1.xml" Id="Rbc0487b01554416f" /></Relationships>
</file>

<file path=ppt/notesSlides/_rels/notesSlide219.xml.rels>&#65279;<?xml version="1.0" encoding="utf-8"?><Relationships xmlns="http://schemas.openxmlformats.org/package/2006/relationships"><Relationship Type="http://schemas.openxmlformats.org/officeDocument/2006/relationships/slide" Target="/ppt/slides/slide219.xml" Id="Rc732e31c93e14c77" /><Relationship Type="http://schemas.openxmlformats.org/officeDocument/2006/relationships/notesMaster" Target="/ppt/notesMasters/notesMaster1.xml" Id="R7556e57b7f694f0b" /></Relationships>
</file>

<file path=ppt/notesSlides/_rels/notesSlide220.xml.rels>&#65279;<?xml version="1.0" encoding="utf-8"?><Relationships xmlns="http://schemas.openxmlformats.org/package/2006/relationships"><Relationship Type="http://schemas.openxmlformats.org/officeDocument/2006/relationships/slide" Target="/ppt/slides/slide220.xml" Id="Rce58d7ac131d4c76" /><Relationship Type="http://schemas.openxmlformats.org/officeDocument/2006/relationships/notesMaster" Target="/ppt/notesMasters/notesMaster1.xml" Id="Rda95228686a0428a" /></Relationships>
</file>

<file path=ppt/notesSlides/_rels/notesSlide221.xml.rels>&#65279;<?xml version="1.0" encoding="utf-8"?><Relationships xmlns="http://schemas.openxmlformats.org/package/2006/relationships"><Relationship Type="http://schemas.openxmlformats.org/officeDocument/2006/relationships/slide" Target="/ppt/slides/slide221.xml" Id="R2a6adbafc0c54ffd" /><Relationship Type="http://schemas.openxmlformats.org/officeDocument/2006/relationships/notesMaster" Target="/ppt/notesMasters/notesMaster1.xml" Id="R1c3f43ffd1824235" /></Relationships>
</file>

<file path=ppt/notesSlides/_rels/notesSlide222.xml.rels>&#65279;<?xml version="1.0" encoding="utf-8"?><Relationships xmlns="http://schemas.openxmlformats.org/package/2006/relationships"><Relationship Type="http://schemas.openxmlformats.org/officeDocument/2006/relationships/slide" Target="/ppt/slides/slide222.xml" Id="R7e1c9f1e15bf4362" /><Relationship Type="http://schemas.openxmlformats.org/officeDocument/2006/relationships/notesMaster" Target="/ppt/notesMasters/notesMaster1.xml" Id="Rcb61be494af14eb3" /></Relationships>
</file>

<file path=ppt/notesSlides/_rels/notesSlide223.xml.rels>&#65279;<?xml version="1.0" encoding="utf-8"?><Relationships xmlns="http://schemas.openxmlformats.org/package/2006/relationships"><Relationship Type="http://schemas.openxmlformats.org/officeDocument/2006/relationships/slide" Target="/ppt/slides/slide223.xml" Id="Rd84bc40e8a3846f1" /><Relationship Type="http://schemas.openxmlformats.org/officeDocument/2006/relationships/notesMaster" Target="/ppt/notesMasters/notesMaster1.xml" Id="Rc16874d043304f21" /></Relationships>
</file>

<file path=ppt/notesSlides/_rels/notesSlide224.xml.rels>&#65279;<?xml version="1.0" encoding="utf-8"?><Relationships xmlns="http://schemas.openxmlformats.org/package/2006/relationships"><Relationship Type="http://schemas.openxmlformats.org/officeDocument/2006/relationships/slide" Target="/ppt/slides/slide224.xml" Id="Rfd338edb20b14c34" /><Relationship Type="http://schemas.openxmlformats.org/officeDocument/2006/relationships/notesMaster" Target="/ppt/notesMasters/notesMaster1.xml" Id="Rc1e6a8e1226640b4" /></Relationships>
</file>

<file path=ppt/notesSlides/_rels/notesSlide225.xml.rels>&#65279;<?xml version="1.0" encoding="utf-8"?><Relationships xmlns="http://schemas.openxmlformats.org/package/2006/relationships"><Relationship Type="http://schemas.openxmlformats.org/officeDocument/2006/relationships/slide" Target="/ppt/slides/slide225.xml" Id="Rff794771fb05420d" /><Relationship Type="http://schemas.openxmlformats.org/officeDocument/2006/relationships/notesMaster" Target="/ppt/notesMasters/notesMaster1.xml" Id="Ra9ae91dc2fdd4245" /></Relationships>
</file>

<file path=ppt/notesSlides/_rels/notesSlide226.xml.rels>&#65279;<?xml version="1.0" encoding="utf-8"?><Relationships xmlns="http://schemas.openxmlformats.org/package/2006/relationships"><Relationship Type="http://schemas.openxmlformats.org/officeDocument/2006/relationships/slide" Target="/ppt/slides/slide226.xml" Id="Rc6a75b6de2a44146" /><Relationship Type="http://schemas.openxmlformats.org/officeDocument/2006/relationships/notesMaster" Target="/ppt/notesMasters/notesMaster1.xml" Id="R503980503e71479b" /></Relationships>
</file>

<file path=ppt/notesSlides/_rels/notesSlide227.xml.rels>&#65279;<?xml version="1.0" encoding="utf-8"?><Relationships xmlns="http://schemas.openxmlformats.org/package/2006/relationships"><Relationship Type="http://schemas.openxmlformats.org/officeDocument/2006/relationships/slide" Target="/ppt/slides/slide227.xml" Id="Rd1548d9b4fa74c18" /><Relationship Type="http://schemas.openxmlformats.org/officeDocument/2006/relationships/notesMaster" Target="/ppt/notesMasters/notesMaster1.xml" Id="R382dfc43f9bf48c1" /></Relationships>
</file>

<file path=ppt/notesSlides/_rels/notesSlide228.xml.rels>&#65279;<?xml version="1.0" encoding="utf-8"?><Relationships xmlns="http://schemas.openxmlformats.org/package/2006/relationships"><Relationship Type="http://schemas.openxmlformats.org/officeDocument/2006/relationships/slide" Target="/ppt/slides/slide228.xml" Id="Rfa6bb70ada2148c2" /><Relationship Type="http://schemas.openxmlformats.org/officeDocument/2006/relationships/notesMaster" Target="/ppt/notesMasters/notesMaster1.xml" Id="R436e907c58a7465f" /></Relationships>
</file>

<file path=ppt/notesSlides/_rels/notesSlide229.xml.rels>&#65279;<?xml version="1.0" encoding="utf-8"?><Relationships xmlns="http://schemas.openxmlformats.org/package/2006/relationships"><Relationship Type="http://schemas.openxmlformats.org/officeDocument/2006/relationships/slide" Target="/ppt/slides/slide229.xml" Id="R3a71e119420d4dfb" /><Relationship Type="http://schemas.openxmlformats.org/officeDocument/2006/relationships/notesMaster" Target="/ppt/notesMasters/notesMaster1.xml" Id="Rc271c65f75594c5d" /></Relationships>
</file>

<file path=ppt/notesSlides/_rels/notesSlide230.xml.rels>&#65279;<?xml version="1.0" encoding="utf-8"?><Relationships xmlns="http://schemas.openxmlformats.org/package/2006/relationships"><Relationship Type="http://schemas.openxmlformats.org/officeDocument/2006/relationships/slide" Target="/ppt/slides/slide230.xml" Id="R28113dd27a274ef5" /><Relationship Type="http://schemas.openxmlformats.org/officeDocument/2006/relationships/notesMaster" Target="/ppt/notesMasters/notesMaster1.xml" Id="R5197e6fc8b9049ca" /></Relationships>
</file>

<file path=ppt/notesSlides/_rels/notesSlide231.xml.rels>&#65279;<?xml version="1.0" encoding="utf-8"?><Relationships xmlns="http://schemas.openxmlformats.org/package/2006/relationships"><Relationship Type="http://schemas.openxmlformats.org/officeDocument/2006/relationships/slide" Target="/ppt/slides/slide231.xml" Id="R7848dd005e35488c" /><Relationship Type="http://schemas.openxmlformats.org/officeDocument/2006/relationships/notesMaster" Target="/ppt/notesMasters/notesMaster1.xml" Id="R9d5e26bbbaa140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https://docarcshot.github.io/id-practice-update/lectures/Tuberculosis_Standard_Treatment_and_Newer_Avenues.html</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infection, active disease, infectiousness, and resistance Resident core · 30–45 minutes with discussion By the end, decide when to isolate, choose the first diagnostic specimens, recognize the standard treatment pathways, and explain why a positive immune test does not establish active TB. Work through three cases before using the advanced drug, special-population, and trial sections. Keep four questions separate: has the patient been infected, is there active disease, could they transmit it now, and which drugs are likely to work? One test rarely answers all four.</a:t>
            </a:r>
          </a:p>
          <a:p xmlns:a="http://schemas.openxmlformats.org/drawingml/2006/main">
            <a:r>
              <a:t/>
            </a:r>
          </a:p>
          <a:p xmlns:a="http://schemas.openxmlformats.org/drawingml/2006/main">
            <a:r>
              <a:t>Module section: https://docarcshot.github.io/id-practice-update/lectures/Tuberculosis_Standard_Treatment_and_Newer_Avenues.html#core-start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while obtaining specimens that can establish the diagnosis With suspected infectious pulmonary or laryngeal TB, initiate airborne precautions and involve infection prevention and the TB program. Use the institutional pathway for de-isolation; neither a negative IGRA nor one negative respiratory test is a universal clearance rule. Obtain chest imaging and respiratory specimens for AFB smear and mycobacterial culture, with a TB NAAT on an initial specimen. The usual U.S. collection approach uses three specimens separated by 8–24 hours, including an early-morning specimen. Induced sputum or bronchoscopy may be needed when the patient cannot provide an adequate sample. AFB smear can support infectiousness assessment but does not identify M. tuberculosis by itself. NAAT can rapidly support TB and, on some platforms, identify resistance markers. A negative NAAT does not exclude all paucibacillary disease. Culture and susceptibility testing remain necessary. For extrapulmonary disease, sample the involved site and tell the laboratory what is suspected. Plan tissue handling before the biopsy so that the entire specimen is not placed in formalin. In severe illness, do not let a prolonged diagnostic process delay appropriate multidrug treatment. Sources: diagnosis , dx-guideline , ip .</a:t>
            </a:r>
          </a:p>
          <a:p xmlns:a="http://schemas.openxmlformats.org/drawingml/2006/main">
            <a:r>
              <a:t/>
            </a:r>
          </a:p>
          <a:p xmlns:a="http://schemas.openxmlformats.org/drawingml/2006/main">
            <a:r>
              <a:t>Module section: https://docarcshot.github.io/id-practice-update/lectures/Tuberculosis_Standard_Treatment_and_Newer_Avenues.html#core-diagnosis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while obtaining specimens that can establish the diagnosis With suspected infectious pulmonary or laryngeal TB, initiate airborne precautions and involve infection prevention and the TB program. Use the institutional pathway for de-isolation; neither a negative IGRA nor one negative respiratory test is a universal clearance rule. Obtain chest imaging and respiratory specimens for AFB smear and mycobacterial culture, with a TB NAAT on an initial specimen. The usual U.S. collection approach uses three specimens separated by 8–24 hours, including an early-morning specimen. Induced sputum or bronchoscopy may be needed when the patient cannot provide an adequate sample. AFB smear can support infectiousness assessment but does not identify M. tuberculosis by itself. NAAT can rapidly support TB and, on some platforms, identify resistance markers. A negative NAAT does not exclude all paucibacillary disease. Culture and susceptibility testing remain necessary. For extrapulmonary disease, sample the involved site and tell the laboratory what is suspected. Plan tissue handling before the biopsy so that the entire specimen is not placed in formalin. In severe illness, do not let a prolonged diagnostic process delay appropriate multidrug treatment. Sources: diagnosis , dx-guideline , ip .</a:t>
            </a:r>
          </a:p>
          <a:p xmlns:a="http://schemas.openxmlformats.org/drawingml/2006/main">
            <a:r>
              <a:t/>
            </a:r>
          </a:p>
          <a:p xmlns:a="http://schemas.openxmlformats.org/drawingml/2006/main">
            <a:r>
              <a:t>Module section: https://docarcshot.github.io/id-practice-update/lectures/Tuberculosis_Standard_Treatment_and_Newer_Avenues.html#core-diagnosis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while obtaining specimens that can establish the diagnosis With suspected infectious pulmonary or laryngeal TB, initiate airborne precautions and involve infection prevention and the TB program. Use the institutional pathway for de-isolation; neither a negative IGRA nor one negative respiratory test is a universal clearance rule. Obtain chest imaging and respiratory specimens for AFB smear and mycobacterial culture, with a TB NAAT on an initial specimen. The usual U.S. collection approach uses three specimens separated by 8–24 hours, including an early-morning specimen. Induced sputum or bronchoscopy may be needed when the patient cannot provide an adequate sample. AFB smear can support infectiousness assessment but does not identify M. tuberculosis by itself. NAAT can rapidly support TB and, on some platforms, identify resistance markers. A negative NAAT does not exclude all paucibacillary disease. Culture and susceptibility testing remain necessary. For extrapulmonary disease, sample the involved site and tell the laboratory what is suspected. Plan tissue handling before the biopsy so that the entire specimen is not placed in formalin. In severe illness, do not let a prolonged diagnostic process delay appropriate multidrug treatment. Sources: diagnosis , dx-guideline , ip .</a:t>
            </a:r>
          </a:p>
          <a:p xmlns:a="http://schemas.openxmlformats.org/drawingml/2006/main">
            <a:r>
              <a:t/>
            </a:r>
          </a:p>
          <a:p xmlns:a="http://schemas.openxmlformats.org/drawingml/2006/main">
            <a:r>
              <a:t>Module section: https://docarcshot.github.io/id-practice-update/lectures/Tuberculosis_Standard_Treatment_and_Newer_Avenues.html#core-diagnosis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Interpret immune tests and mimics in their clinical context What the result can establish Finding Interpretation Next decision Positive IGRA or tuberculin skin test Supports TB infection; does not distinguish latent infection from active disease. Assess symptoms and imaging, and obtain microbiology when disease is possible before preventive treatment. Negative immune test Does not exclude active TB, particularly with immunosuppression or recent exposure. Continue the active-disease evaluation when suspicion remains high. AFB smear positive, TB NAAT negative Could represent NTM, a testing limitation, or another discordant result. Review specimen quality and repeat/confirm testing with the laboratory; do not equate every AFB isolate with TB. Cavity or granulomatous pathology Neither finding is specific for TB. Consider endemic fungi, NTM, malignancy, bacterial abscess, and inflammatory disease using exposure and host clues. In Missouri, histoplasmosis is an important alternative diagnosis. Avoid a “TB versus nothing” differential. A positive NTM culture also needs clinical, radiographic, and microbiologic interpretation before committing to prolonged NTM therapy. Sources: igra , tst , ntm , histo .</a:t>
            </a:r>
          </a:p>
          <a:p xmlns:a="http://schemas.openxmlformats.org/drawingml/2006/main">
            <a:r>
              <a:t/>
            </a:r>
          </a:p>
          <a:p xmlns:a="http://schemas.openxmlformats.org/drawingml/2006/main">
            <a:r>
              <a:t>Module section: https://docarcshot.github.io/id-practice-update/lectures/Tuberculosis_Standard_Treatment_and_Newer_Avenues.html#core-interpret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Interpret immune tests and mimics in their clinical context What the result can establish Finding Interpretation Next decision Positive IGRA or tuberculin skin test Supports TB infection; does not distinguish latent infection from active disease. Assess symptoms and imaging, and obtain microbiology when disease is possible before preventive treatment. Negative immune test Does not exclude active TB, particularly with immunosuppression or recent exposure. Continue the active-disease evaluation when suspicion remains high. AFB smear positive, TB NAAT negative Could represent NTM, a testing limitation, or another discordant result. Review specimen quality and repeat/confirm testing with the laboratory; do not equate every AFB isolate with TB. Cavity or granulomatous pathology Neither finding is specific for TB. Consider endemic fungi, NTM, malignancy, bacterial abscess, and inflammatory disease using exposure and host clues. In Missouri, histoplasmosis is an important alternative diagnosis. Avoid a “TB versus nothing” differential. A positive NTM culture also needs clinical, radiographic, and microbiologic interpretation before committing to prolonged NTM therapy. Sources: igra , tst , ntm , histo .</a:t>
            </a:r>
          </a:p>
          <a:p xmlns:a="http://schemas.openxmlformats.org/drawingml/2006/main">
            <a:r>
              <a:t/>
            </a:r>
          </a:p>
          <a:p xmlns:a="http://schemas.openxmlformats.org/drawingml/2006/main">
            <a:r>
              <a:t>Module section: https://docarcshot.github.io/id-practice-update/lectures/Tuberculosis_Standard_Treatment_and_Newer_Avenues.html#core-interpret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Interpret immune tests and mimics in their clinical context What the result can establish Finding Interpretation Next decision Positive IGRA or tuberculin skin test Supports TB infection; does not distinguish latent infection from active disease. Assess symptoms and imaging, and obtain microbiology when disease is possible before preventive treatment. Negative immune test Does not exclude active TB, particularly with immunosuppression or recent exposure. Continue the active-disease evaluation when suspicion remains high. AFB smear positive, TB NAAT negative Could represent NTM, a testing limitation, or another discordant result. Review specimen quality and repeat/confirm testing with the laboratory; do not equate every AFB isolate with TB. Cavity or granulomatous pathology Neither finding is specific for TB. Consider endemic fungi, NTM, malignancy, bacterial abscess, and inflammatory disease using exposure and host clues. In Missouri, histoplasmosis is an important alternative diagnosis. Avoid a “TB versus nothing” differential. A positive NTM culture also needs clinical, radiographic, and microbiologic interpretation before committing to prolonged NTM therapy. Sources: igra , tst , ntm , histo .</a:t>
            </a:r>
          </a:p>
          <a:p xmlns:a="http://schemas.openxmlformats.org/drawingml/2006/main">
            <a:r>
              <a:t/>
            </a:r>
          </a:p>
          <a:p xmlns:a="http://schemas.openxmlformats.org/drawingml/2006/main">
            <a:r>
              <a:t>Module section: https://docarcshot.github.io/id-practice-update/lectures/Tuberculosis_Standard_Treatment_and_Newer_Avenues.html#core-interpret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standard regimen and then check eligibility for shorter treatment For most adults with drug-susceptible pulmonary TB, the familiar regimen is two months of isoniazid, rifampin, pyrazinamide, and ethambutol, followed by four months of isoniazid and rifampin. Adjust the plan to confirmed susceptibility, response, disease site, and interruptions. Ethambutol can be stopped when susceptibility to the necessary companion drugs is established. Selected adolescents and adults can use the four-month rifapentine-moxifloxacin regimen. It is a specific 17-week, 119-dose regimen with eligibility and interaction checks, not an instruction to stop a standard six-month regimen early. Key U.S. criteria include age at least 12 years and weight at least 40 kg; pregnancy, important drug interactions, and many extrapulmonary presentations require a different plan. In people with HIV, the supporting eligibility includes CD4 at least 100 and compatible ART. Cavitation plus a positive culture at the end of two months is a reason to consider extending conventional treatment. CNS disease, bone/joint disease, pregnancy, hepatic disease, and renal failure need site- and patient-specific review rather than automatic use of the shortest pulmonary regimen. Rifampin resistance changes the pathway. Obtain rapid and expanded resistance testing and involve a TB expert. Eligible patients may receive six-month BPaLM or BPaL; eligibility, fluoroquinolone susceptibility, prior drug exposure, and toxicity monitoring determine the choice. Never add one drug to a failing regimen. Sources: ds , short , cdc-dr .</a:t>
            </a:r>
          </a:p>
          <a:p xmlns:a="http://schemas.openxmlformats.org/drawingml/2006/main">
            <a:r>
              <a:t/>
            </a:r>
          </a:p>
          <a:p xmlns:a="http://schemas.openxmlformats.org/drawingml/2006/main">
            <a:r>
              <a:t>Module section: https://docarcshot.github.io/id-practice-update/lectures/Tuberculosis_Standard_Treatment_and_Newer_Avenues.html#core-treatment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standard regimen and then check eligibility for shorter treatment For most adults with drug-susceptible pulmonary TB, the familiar regimen is two months of isoniazid, rifampin, pyrazinamide, and ethambutol, followed by four months of isoniazid and rifampin. Adjust the plan to confirmed susceptibility, response, disease site, and interruptions. Ethambutol can be stopped when susceptibility to the necessary companion drugs is established. Selected adolescents and adults can use the four-month rifapentine-moxifloxacin regimen. It is a specific 17-week, 119-dose regimen with eligibility and interaction checks, not an instruction to stop a standard six-month regimen early. Key U.S. criteria include age at least 12 years and weight at least 40 kg; pregnancy, important drug interactions, and many extrapulmonary presentations require a different plan. In people with HIV, the supporting eligibility includes CD4 at least 100 and compatible ART. Cavitation plus a positive culture at the end of two months is a reason to consider extending conventional treatment. CNS disease, bone/joint disease, pregnancy, hepatic disease, and renal failure need site- and patient-specific review rather than automatic use of the shortest pulmonary regimen. Rifampin resistance changes the pathway. Obtain rapid and expanded resistance testing and involve a TB expert. Eligible patients may receive six-month BPaLM or BPaL; eligibility, fluoroquinolone susceptibility, prior drug exposure, and toxicity monitoring determine the choice. Never add one drug to a failing regimen. Sources: ds , short , cdc-dr .</a:t>
            </a:r>
          </a:p>
          <a:p xmlns:a="http://schemas.openxmlformats.org/drawingml/2006/main">
            <a:r>
              <a:t/>
            </a:r>
          </a:p>
          <a:p xmlns:a="http://schemas.openxmlformats.org/drawingml/2006/main">
            <a:r>
              <a:t>Module section: https://docarcshot.github.io/id-practice-update/lectures/Tuberculosis_Standard_Treatment_and_Newer_Avenues.html#core-treatment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standard regimen and then check eligibility for shorter treatment For most adults with drug-susceptible pulmonary TB, the familiar regimen is two months of isoniazid, rifampin, pyrazinamide, and ethambutol, followed by four months of isoniazid and rifampin. Adjust the plan to confirmed susceptibility, response, disease site, and interruptions. Ethambutol can be stopped when susceptibility to the necessary companion drugs is established. Selected adolescents and adults can use the four-month rifapentine-moxifloxacin regimen. It is a specific 17-week, 119-dose regimen with eligibility and interaction checks, not an instruction to stop a standard six-month regimen early. Key U.S. criteria include age at least 12 years and weight at least 40 kg; pregnancy, important drug interactions, and many extrapulmonary presentations require a different plan. In people with HIV, the supporting eligibility includes CD4 at least 100 and compatible ART. Cavitation plus a positive culture at the end of two months is a reason to consider extending conventional treatment. CNS disease, bone/joint disease, pregnancy, hepatic disease, and renal failure need site- and patient-specific review rather than automatic use of the shortest pulmonary regimen. Rifampin resistance changes the pathway. Obtain rapid and expanded resistance testing and involve a TB expert. Eligible patients may receive six-month BPaLM or BPaL; eligibility, fluoroquinolone susceptibility, prior drug exposure, and toxicity monitoring determine the choice. Never add one drug to a failing regimen. Sources: ds , short , cdc-dr .</a:t>
            </a:r>
          </a:p>
          <a:p xmlns:a="http://schemas.openxmlformats.org/drawingml/2006/main">
            <a:r>
              <a:t/>
            </a:r>
          </a:p>
          <a:p xmlns:a="http://schemas.openxmlformats.org/drawingml/2006/main">
            <a:r>
              <a:t>Module section: https://docarcshot.github.io/id-practice-update/lectures/Tuberculosis_Standard_Treatment_and_Newer_Avenues.html#core-treatment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with the standard regimen and then check eligibility for shorter treatment For most adults with drug-susceptible pulmonary TB, the familiar regimen is two months of isoniazid, rifampin, pyrazinamide, and ethambutol, followed by four months of isoniazid and rifampin. Adjust the plan to confirmed susceptibility, response, disease site, and interruptions. Ethambutol can be stopped when susceptibility to the necessary companion drugs is established. Selected adolescents and adults can use the four-month rifapentine-moxifloxacin regimen. It is a specific 17-week, 119-dose regimen with eligibility and interaction checks, not an instruction to stop a standard six-month regimen early. Key U.S. criteria include age at least 12 years and weight at least 40 kg; pregnancy, important drug interactions, and many extrapulmonary presentations require a different plan. In people with HIV, the supporting eligibility includes CD4 at least 100 and compatible ART. Cavitation plus a positive culture at the end of two months is a reason to consider extending conventional treatment. CNS disease, bone/joint disease, pregnancy, hepatic disease, and renal failure need site- and patient-specific review rather than automatic use of the shortest pulmonary regimen. Rifampin resistance changes the pathway. Obtain rapid and expanded resistance testing and involve a TB expert. Eligible patients may receive six-month BPaLM or BPaL; eligibility, fluoroquinolone susceptibility, prior drug exposure, and toxicity monitoring determine the choice. Never add one drug to a failing regimen. Sources: ds , short , cdc-dr .</a:t>
            </a:r>
          </a:p>
          <a:p xmlns:a="http://schemas.openxmlformats.org/drawingml/2006/main">
            <a:r>
              <a:t/>
            </a:r>
          </a:p>
          <a:p xmlns:a="http://schemas.openxmlformats.org/drawingml/2006/main">
            <a:r>
              <a:t>Module section: https://docarcshot.github.io/id-practice-update/lectures/Tuberculosis_Standard_Treatment_and_Newer_Avenues.html#core-treatment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 response, toxicity, interactions, and the ability to complete treatment Safety checks during treatment Issue Practical action Hepatic injury Review baseline risk and liver tests when indicated. New anorexia, nausea, abdominal pain, or jaundice needs prompt assessment; do not simply reassure the patient to finish the drugs. Ethambutol toxicity Assess baseline visual acuity and color discrimination and ask about vision changes during treatment. Renal impairment changes exposure. Isoniazid neuropathy Provide pyridoxine for patients at risk, including pregnancy, HIV, diabetes, malnutrition, alcohol use disorder, and renal failure. Rifamycin interactions Review ART, anticoagulants, anticonvulsants, transplant drugs, and hormonal contraception. A rifamycin substitution still needs an interaction check. Microbiologic response Track sputum culture conversion and clinical response. Persistently positive cultures require adherence, absorption, resistance, and source reassessment. Completion Coordinate public-health reporting, adherence support, medication access, and observed therapy as appropriate. Completion is based on the prescribed doses and permitted time window, not the calendar alone. Do not withhold ART until all TB treatment is complete. ART timing depends on CD4 count, the TB site, and interactions; TB meningitis is a separate timing decision. Detailed recommendations are in the advanced section. Sources: ds , nih-tb .</a:t>
            </a:r>
          </a:p>
          <a:p xmlns:a="http://schemas.openxmlformats.org/drawingml/2006/main">
            <a:r>
              <a:t/>
            </a:r>
          </a:p>
          <a:p xmlns:a="http://schemas.openxmlformats.org/drawingml/2006/main">
            <a:r>
              <a:t>Module section: https://docarcshot.github.io/id-practice-update/lectures/Tuberculosis_Standard_Treatment_and_Newer_Avenues.html#core-monitor</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 response, toxicity, interactions, and the ability to complete treatment Safety checks during treatment Issue Practical action Hepatic injury Review baseline risk and liver tests when indicated. New anorexia, nausea, abdominal pain, or jaundice needs prompt assessment; do not simply reassure the patient to finish the drugs. Ethambutol toxicity Assess baseline visual acuity and color discrimination and ask about vision changes during treatment. Renal impairment changes exposure. Isoniazid neuropathy Provide pyridoxine for patients at risk, including pregnancy, HIV, diabetes, malnutrition, alcohol use disorder, and renal failure. Rifamycin interactions Review ART, anticoagulants, anticonvulsants, transplant drugs, and hormonal contraception. A rifamycin substitution still needs an interaction check. Microbiologic response Track sputum culture conversion and clinical response. Persistently positive cultures require adherence, absorption, resistance, and source reassessment. Completion Coordinate public-health reporting, adherence support, medication access, and observed therapy as appropriate. Completion is based on the prescribed doses and permitted time window, not the calendar alone. Do not withhold ART until all TB treatment is complete. ART timing depends on CD4 count, the TB site, and interactions; TB meningitis is a separate timing decision. Detailed recommendations are in the advanced section. Sources: ds , nih-tb .</a:t>
            </a:r>
          </a:p>
          <a:p xmlns:a="http://schemas.openxmlformats.org/drawingml/2006/main">
            <a:r>
              <a:t/>
            </a:r>
          </a:p>
          <a:p xmlns:a="http://schemas.openxmlformats.org/drawingml/2006/main">
            <a:r>
              <a:t>Module section: https://docarcshot.github.io/id-practice-update/lectures/Tuberculosis_Standard_Treatment_and_Newer_Avenues.html#core-monitor</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 response, toxicity, interactions, and the ability to complete treatment Safety checks during treatment Issue Practical action Hepatic injury Review baseline risk and liver tests when indicated. New anorexia, nausea, abdominal pain, or jaundice needs prompt assessment; do not simply reassure the patient to finish the drugs. Ethambutol toxicity Assess baseline visual acuity and color discrimination and ask about vision changes during treatment. Renal impairment changes exposure. Isoniazid neuropathy Provide pyridoxine for patients at risk, including pregnancy, HIV, diabetes, malnutrition, alcohol use disorder, and renal failure. Rifamycin interactions Review ART, anticoagulants, anticonvulsants, transplant drugs, and hormonal contraception. A rifamycin substitution still needs an interaction check. Microbiologic response Track sputum culture conversion and clinical response. Persistently positive cultures require adherence, absorption, resistance, and source reassessment. Completion Coordinate public-health reporting, adherence support, medication access, and observed therapy as appropriate. Completion is based on the prescribed doses and permitted time window, not the calendar alone. Do not withhold ART until all TB treatment is complete. ART timing depends on CD4 count, the TB site, and interactions; TB meningitis is a separate timing decision. Detailed recommendations are in the advanced section. Sources: ds , nih-tb .</a:t>
            </a:r>
          </a:p>
          <a:p xmlns:a="http://schemas.openxmlformats.org/drawingml/2006/main">
            <a:r>
              <a:t/>
            </a:r>
          </a:p>
          <a:p xmlns:a="http://schemas.openxmlformats.org/drawingml/2006/main">
            <a:r>
              <a:t>Module section: https://docarcshot.github.io/id-practice-update/lectures/Tuberculosis_Standard_Treatment_and_Newer_Avenues.html#core-monitor</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 response, toxicity, interactions, and the ability to complete treatment Safety checks during treatment Issue Practical action Hepatic injury Review baseline risk and liver tests when indicated. New anorexia, nausea, abdominal pain, or jaundice needs prompt assessment; do not simply reassure the patient to finish the drugs. Ethambutol toxicity Assess baseline visual acuity and color discrimination and ask about vision changes during treatment. Renal impairment changes exposure. Isoniazid neuropathy Provide pyridoxine for patients at risk, including pregnancy, HIV, diabetes, malnutrition, alcohol use disorder, and renal failure. Rifamycin interactions Review ART, anticoagulants, anticonvulsants, transplant drugs, and hormonal contraception. A rifamycin substitution still needs an interaction check. Microbiologic response Track sputum culture conversion and clinical response. Persistently positive cultures require adherence, absorption, resistance, and source reassessment. Completion Coordinate public-health reporting, adherence support, medication access, and observed therapy as appropriate. Completion is based on the prescribed doses and permitted time window, not the calendar alone. Do not withhold ART until all TB treatment is complete. ART timing depends on CD4 count, the TB site, and interactions; TB meningitis is a separate timing decision. Detailed recommendations are in the advanced section. Sources: ds , nih-tb .</a:t>
            </a:r>
          </a:p>
          <a:p xmlns:a="http://schemas.openxmlformats.org/drawingml/2006/main">
            <a:r>
              <a:t/>
            </a:r>
          </a:p>
          <a:p xmlns:a="http://schemas.openxmlformats.org/drawingml/2006/main">
            <a:r>
              <a:t>Module section: https://docarcshot.github.io/id-practice-update/lectures/Tuberculosis_Standard_Treatment_and_Newer_Avenues.html#core-monitor</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 response, toxicity, interactions, and the ability to complete treatment Safety checks during treatment Issue Practical action Hepatic injury Review baseline risk and liver tests when indicated. New anorexia, nausea, abdominal pain, or jaundice needs prompt assessment; do not simply reassure the patient to finish the drugs. Ethambutol toxicity Assess baseline visual acuity and color discrimination and ask about vision changes during treatment. Renal impairment changes exposure. Isoniazid neuropathy Provide pyridoxine for patients at risk, including pregnancy, HIV, diabetes, malnutrition, alcohol use disorder, and renal failure. Rifamycin interactions Review ART, anticoagulants, anticonvulsants, transplant drugs, and hormonal contraception. A rifamycin substitution still needs an interaction check. Microbiologic response Track sputum culture conversion and clinical response. Persistently positive cultures require adherence, absorption, resistance, and source reassessment. Completion Coordinate public-health reporting, adherence support, medication access, and observed therapy as appropriate. Completion is based on the prescribed doses and permitted time window, not the calendar alone. Do not withhold ART until all TB treatment is complete. ART timing depends on CD4 count, the TB site, and interactions; TB meningitis is a separate timing decision. Detailed recommendations are in the advanced section. Sources: ds , nih-tb .</a:t>
            </a:r>
          </a:p>
          <a:p xmlns:a="http://schemas.openxmlformats.org/drawingml/2006/main">
            <a:r>
              <a:t/>
            </a:r>
          </a:p>
          <a:p xmlns:a="http://schemas.openxmlformats.org/drawingml/2006/main">
            <a:r>
              <a:t>Module section: https://docarcshot.github.io/id-practice-update/lectures/Tuberculosis_Standard_Treatment_and_Newer_Avenues.html#core-monitor</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 response, toxicity, interactions, and the ability to complete treatment Safety checks during treatment Issue Practical action Hepatic injury Review baseline risk and liver tests when indicated. New anorexia, nausea, abdominal pain, or jaundice needs prompt assessment; do not simply reassure the patient to finish the drugs. Ethambutol toxicity Assess baseline visual acuity and color discrimination and ask about vision changes during treatment. Renal impairment changes exposure. Isoniazid neuropathy Provide pyridoxine for patients at risk, including pregnancy, HIV, diabetes, malnutrition, alcohol use disorder, and renal failure. Rifamycin interactions Review ART, anticoagulants, anticonvulsants, transplant drugs, and hormonal contraception. A rifamycin substitution still needs an interaction check. Microbiologic response Track sputum culture conversion and clinical response. Persistently positive cultures require adherence, absorption, resistance, and source reassessment. Completion Coordinate public-health reporting, adherence support, medication access, and observed therapy as appropriate. Completion is based on the prescribed doses and permitted time window, not the calendar alone. Do not withhold ART until all TB treatment is complete. ART timing depends on CD4 count, the TB site, and interactions; TB meningitis is a separate timing decision. Detailed recommendations are in the advanced section. Sources: ds , nih-tb .</a:t>
            </a:r>
          </a:p>
          <a:p xmlns:a="http://schemas.openxmlformats.org/drawingml/2006/main">
            <a:r>
              <a:t/>
            </a:r>
          </a:p>
          <a:p xmlns:a="http://schemas.openxmlformats.org/drawingml/2006/main">
            <a:r>
              <a:t>Module section: https://docarcshot.github.io/id-practice-update/lectures/Tuberculosis_Standard_Treatment_and_Newer_Avenues.html#core-monitor</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 response, toxicity, interactions, and the ability to complete treatment Safety checks during treatment Issue Practical action Hepatic injury Review baseline risk and liver tests when indicated. New anorexia, nausea, abdominal pain, or jaundice needs prompt assessment; do not simply reassure the patient to finish the drugs. Ethambutol toxicity Assess baseline visual acuity and color discrimination and ask about vision changes during treatment. Renal impairment changes exposure. Isoniazid neuropathy Provide pyridoxine for patients at risk, including pregnancy, HIV, diabetes, malnutrition, alcohol use disorder, and renal failure. Rifamycin interactions Review ART, anticoagulants, anticonvulsants, transplant drugs, and hormonal contraception. A rifamycin substitution still needs an interaction check. Microbiologic response Track sputum culture conversion and clinical response. Persistently positive cultures require adherence, absorption, resistance, and source reassessment. Completion Coordinate public-health reporting, adherence support, medication access, and observed therapy as appropriate. Completion is based on the prescribed doses and permitted time window, not the calendar alone. Do not withhold ART until all TB treatment is complete. ART timing depends on CD4 count, the TB site, and interactions; TB meningitis is a separate timing decision. Detailed recommendations are in the advanced section. Sources: ds , nih-tb .</a:t>
            </a:r>
          </a:p>
          <a:p xmlns:a="http://schemas.openxmlformats.org/drawingml/2006/main">
            <a:r>
              <a:t/>
            </a:r>
          </a:p>
          <a:p xmlns:a="http://schemas.openxmlformats.org/drawingml/2006/main">
            <a:r>
              <a:t>Module section: https://docarcshot.github.io/id-practice-update/lectures/Tuberculosis_Standard_Treatment_and_Newer_Avenues.html#core-monitor</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Exclude active disease before choosing preventive treatment A patient with latent TB infection has evidence of infection without active disease. Choose a preventive regimen only after the active-disease assessment is adequate. CDC preferentially recommends short rifamycin-based options when suitable, such as three months of weekly isoniazid-rifapentine, four months of daily rifampin, or three months of daily isoniazid-rifampin. Check pregnancy, age, HIV treatment, drug interactions, and the presumed source isolate. Isoniazid-only courses remain alternatives when a short regimen cannot be used. A drug-resistant contact needs specialist selection based on the source isolate, not automatic routine latent-TB treatment. Reassess symptoms, adherence, and adverse effects during preventive treatment. Patients should know which symptoms require stopping medication and calling the treating team. Sources: ltbi , ltbi-guideline .</a:t>
            </a:r>
          </a:p>
          <a:p xmlns:a="http://schemas.openxmlformats.org/drawingml/2006/main">
            <a:r>
              <a:t/>
            </a:r>
          </a:p>
          <a:p xmlns:a="http://schemas.openxmlformats.org/drawingml/2006/main">
            <a:r>
              <a:t>Module section: https://docarcshot.github.io/id-practice-update/lectures/Tuberculosis_Standard_Treatment_and_Newer_Avenues.html#core-prevention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Exclude active disease before choosing preventive treatment A patient with latent TB infection has evidence of infection without active disease. Choose a preventive regimen only after the active-disease assessment is adequate. CDC preferentially recommends short rifamycin-based options when suitable, such as three months of weekly isoniazid-rifapentine, four months of daily rifampin, or three months of daily isoniazid-rifampin. Check pregnancy, age, HIV treatment, drug interactions, and the presumed source isolate. Isoniazid-only courses remain alternatives when a short regimen cannot be used. A drug-resistant contact needs specialist selection based on the source isolate, not automatic routine latent-TB treatment. Reassess symptoms, adherence, and adverse effects during preventive treatment. Patients should know which symptoms require stopping medication and calling the treating team. Sources: ltbi , ltbi-guideline .</a:t>
            </a:r>
          </a:p>
          <a:p xmlns:a="http://schemas.openxmlformats.org/drawingml/2006/main">
            <a:r>
              <a:t/>
            </a:r>
          </a:p>
          <a:p xmlns:a="http://schemas.openxmlformats.org/drawingml/2006/main">
            <a:r>
              <a:t>Module section: https://docarcshot.github.io/id-practice-update/lectures/Tuberculosis_Standard_Treatment_and_Newer_Avenues.html#core-prevention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connect the test result to the next step Case 1 · The immune test is not the disease diagnosis An asymptomatic patient has a positive IGRA before starting a TNF inhibitor. Discuss the next action and the finding that would change it. Discussion Assess symptoms and chest imaging and investigate any concern for active disease before selecting preventive treatment. Do not label this active TB from the IGRA alone, and do not begin a preventive regimen while an unexplained pulmonary syndrome is still being evaluated. Case 2 · A negative result does not close the case A patient with weight loss, cough, an upper-lobe cavity, and immunosuppression has a negative IGRA. Discuss the next action and the finding that would change it. Discussion Continue airborne precautions and the respiratory microbiologic evaluation. The negative immune test does not rule out active disease. Simultaneously investigate credible mimics and obtain specimens that can distinguish them. Case 3 · Resistance requires a regimen decision A respiratory NAAT detects M. tuberculosis and a rifampin-resistance marker. Discuss the next action and the finding that would change it. Discussion Treat the result as urgent. Contact the TB program and an experienced clinician, obtain expanded susceptibility testing, and select a complete active regimen. Do not continue the standard plan unchanged or append a single new drug.</a:t>
            </a:r>
          </a:p>
          <a:p xmlns:a="http://schemas.openxmlformats.org/drawingml/2006/main">
            <a:r>
              <a:t/>
            </a:r>
          </a:p>
          <a:p xmlns:a="http://schemas.openxmlformats.org/drawingml/2006/main">
            <a:r>
              <a:t>Module section: https://docarcshot.github.io/id-practice-update/lectures/Tuberculosis_Standard_Treatment_and_Newer_Avenues.html#core-cases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connect the test result to the next step Case 1 · The immune test is not the disease diagnosis An asymptomatic patient has a positive IGRA before starting a TNF inhibitor. Discuss the next action and the finding that would change it. Discussion Assess symptoms and chest imaging and investigate any concern for active disease before selecting preventive treatment. Do not label this active TB from the IGRA alone, and do not begin a preventive regimen while an unexplained pulmonary syndrome is still being evaluated. Case 2 · A negative result does not close the case A patient with weight loss, cough, an upper-lobe cavity, and immunosuppression has a negative IGRA. Discuss the next action and the finding that would change it. Discussion Continue airborne precautions and the respiratory microbiologic evaluation. The negative immune test does not rule out active disease. Simultaneously investigate credible mimics and obtain specimens that can distinguish them. Case 3 · Resistance requires a regimen decision A respiratory NAAT detects M. tuberculosis and a rifampin-resistance marker. Discuss the next action and the finding that would change it. Discussion Treat the result as urgent. Contact the TB program and an experienced clinician, obtain expanded susceptibility testing, and select a complete active regimen. Do not continue the standard plan unchanged or append a single new drug.</a:t>
            </a:r>
          </a:p>
          <a:p xmlns:a="http://schemas.openxmlformats.org/drawingml/2006/main">
            <a:r>
              <a:t/>
            </a:r>
          </a:p>
          <a:p xmlns:a="http://schemas.openxmlformats.org/drawingml/2006/main">
            <a:r>
              <a:t>Module section: https://docarcshot.github.io/id-practice-update/lectures/Tuberculosis_Standard_Treatment_and_Newer_Avenues.html#core-cases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connect the test result to the next step Case 1 · The immune test is not the disease diagnosis An asymptomatic patient has a positive IGRA before starting a TNF inhibitor. Discuss the next action and the finding that would change it. Discussion Assess symptoms and chest imaging and investigate any concern for active disease before selecting preventive treatment. Do not label this active TB from the IGRA alone, and do not begin a preventive regimen while an unexplained pulmonary syndrome is still being evaluated. Case 2 · A negative result does not close the case A patient with weight loss, cough, an upper-lobe cavity, and immunosuppression has a negative IGRA. Discuss the next action and the finding that would change it. Discussion Continue airborne precautions and the respiratory microbiologic evaluation. The negative immune test does not rule out active disease. Simultaneously investigate credible mimics and obtain specimens that can distinguish them. Case 3 · Resistance requires a regimen decision A respiratory NAAT detects M. tuberculosis and a rifampin-resistance marker. Discuss the next action and the finding that would change it. Discussion Treat the result as urgent. Contact the TB program and an experienced clinician, obtain expanded susceptibility testing, and select a complete active regimen. Do not continue the standard plan unchanged or append a single new drug.</a:t>
            </a:r>
          </a:p>
          <a:p xmlns:a="http://schemas.openxmlformats.org/drawingml/2006/main">
            <a:r>
              <a:t/>
            </a:r>
          </a:p>
          <a:p xmlns:a="http://schemas.openxmlformats.org/drawingml/2006/main">
            <a:r>
              <a:t>Module section: https://docarcshot.github.io/id-practice-update/lectures/Tuberculosis_Standard_Treatment_and_Newer_Avenues.html#core-cases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connect the test result to the next step Case 1 · The immune test is not the disease diagnosis An asymptomatic patient has a positive IGRA before starting a TNF inhibitor. Discuss the next action and the finding that would change it. Discussion Assess symptoms and chest imaging and investigate any concern for active disease before selecting preventive treatment. Do not label this active TB from the IGRA alone, and do not begin a preventive regimen while an unexplained pulmonary syndrome is still being evaluated. Case 2 · A negative result does not close the case A patient with weight loss, cough, an upper-lobe cavity, and immunosuppression has a negative IGRA. Discuss the next action and the finding that would change it. Discussion Continue airborne precautions and the respiratory microbiologic evaluation. The negative immune test does not rule out active disease. Simultaneously investigate credible mimics and obtain specimens that can distinguish them. Case 3 · Resistance requires a regimen decision A respiratory NAAT detects M. tuberculosis and a rifampin-resistance marker. Discuss the next action and the finding that would change it. Discussion Treat the result as urgent. Contact the TB program and an experienced clinician, obtain expanded susceptibility testing, and select a complete active regimen. Do not continue the standard plan unchanged or append a single new drug.</a:t>
            </a:r>
          </a:p>
          <a:p xmlns:a="http://schemas.openxmlformats.org/drawingml/2006/main">
            <a:r>
              <a:t/>
            </a:r>
          </a:p>
          <a:p xmlns:a="http://schemas.openxmlformats.org/drawingml/2006/main">
            <a:r>
              <a:t>Module section: https://docarcshot.github.io/id-practice-update/lectures/Tuberculosis_Standard_Treatment_and_Newer_Avenues.html#core-cases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connect the test result to the next step Case 1 · The immune test is not the disease diagnosis An asymptomatic patient has a positive IGRA before starting a TNF inhibitor. Discuss the next action and the finding that would change it. Discussion Assess symptoms and chest imaging and investigate any concern for active disease before selecting preventive treatment. Do not label this active TB from the IGRA alone, and do not begin a preventive regimen while an unexplained pulmonary syndrome is still being evaluated. Case 2 · A negative result does not close the case A patient with weight loss, cough, an upper-lobe cavity, and immunosuppression has a negative IGRA. Discuss the next action and the finding that would change it. Discussion Continue airborne precautions and the respiratory microbiologic evaluation. The negative immune test does not rule out active disease. Simultaneously investigate credible mimics and obtain specimens that can distinguish them. Case 3 · Resistance requires a regimen decision A respiratory NAAT detects M. tuberculosis and a rifampin-resistance marker. Discuss the next action and the finding that would change it. Discussion Treat the result as urgent. Contact the TB program and an experienced clinician, obtain expanded susceptibility testing, and select a complete active regimen. Do not continue the standard plan unchanged or append a single new drug.</a:t>
            </a:r>
          </a:p>
          <a:p xmlns:a="http://schemas.openxmlformats.org/drawingml/2006/main">
            <a:r>
              <a:t/>
            </a:r>
          </a:p>
          <a:p xmlns:a="http://schemas.openxmlformats.org/drawingml/2006/main">
            <a:r>
              <a:t>Module section: https://docarcshot.github.io/id-practice-update/lectures/Tuberculosis_Standard_Treatment_and_Newer_Avenues.html#core-cases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connect the test result to the next step Case 1 · The immune test is not the disease diagnosis An asymptomatic patient has a positive IGRA before starting a TNF inhibitor. Discuss the next action and the finding that would change it. Discussion Assess symptoms and chest imaging and investigate any concern for active disease before selecting preventive treatment. Do not label this active TB from the IGRA alone, and do not begin a preventive regimen while an unexplained pulmonary syndrome is still being evaluated. Case 2 · A negative result does not close the case A patient with weight loss, cough, an upper-lobe cavity, and immunosuppression has a negative IGRA. Discuss the next action and the finding that would change it. Discussion Continue airborne precautions and the respiratory microbiologic evaluation. The negative immune test does not rule out active disease. Simultaneously investigate credible mimics and obtain specimens that can distinguish them. Case 3 · Resistance requires a regimen decision A respiratory NAAT detects M. tuberculosis and a rifampin-resistance marker. Discuss the next action and the finding that would change it. Discussion Treat the result as urgent. Contact the TB program and an experienced clinician, obtain expanded susceptibility testing, and select a complete active regimen. Do not continue the standard plan unchanged or append a single new drug.</a:t>
            </a:r>
          </a:p>
          <a:p xmlns:a="http://schemas.openxmlformats.org/drawingml/2006/main">
            <a:r>
              <a:t/>
            </a:r>
          </a:p>
          <a:p xmlns:a="http://schemas.openxmlformats.org/drawingml/2006/main">
            <a:r>
              <a:t>Module section: https://docarcshot.github.io/id-practice-update/lectures/Tuberculosis_Standard_Treatment_and_Newer_Avenues.html#core-cases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Make the isolation, treatment, and follow-up plans explicit Hand off the disease site, infectiousness assessment, specimens and resistance results still pending, complete regimen, interaction and toxicity checks, and named public-health and clinical follow-up. Newer trial results belong in the eligible population and care setting described in the study. End of the resident core. Advanced diagnostic, treatment, and evidence discussions follow.</a:t>
            </a:r>
          </a:p>
          <a:p xmlns:a="http://schemas.openxmlformats.org/drawingml/2006/main">
            <a:r>
              <a:t/>
            </a:r>
          </a:p>
          <a:p xmlns:a="http://schemas.openxmlformats.org/drawingml/2006/main">
            <a:r>
              <a:t>Module section: https://docarcshot.github.io/id-practice-update/lectures/Tuberculosis_Standard_Treatment_and_Newer_Avenues.html#core-wrap</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teaching and detailed reference begin here Use these sections for fellow discussion, additional cases, and prescribing or evidence questions. They are outside the resident core. Diagnostic detail Susceptible TB Resistant TB Special populations New evidence Additional cases</a:t>
            </a:r>
          </a:p>
          <a:p xmlns:a="http://schemas.openxmlformats.org/drawingml/2006/main">
            <a:r>
              <a:t/>
            </a:r>
          </a:p>
          <a:p xmlns:a="http://schemas.openxmlformats.org/drawingml/2006/main">
            <a:r>
              <a:t>Module section: https://docarcshot.github.io/id-practice-update/lectures/Tuberculosis_Standard_Treatment_and_Newer_Avenues.html#advanced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regimen for the patient, organism, and disease site TB treatment is more than a prescription for four drugs. The first decisions are whether disease is active, whether the patient may transmit it, what resistance is present, and whether the evidence for a particular regimen applies to this patient. This module is intended for internal medicine residents, ID fellows and attending physicians. The resident core is designed for 30–45 minutes; evidence details are optional. Cases are fictional teaching examples. Separate TB infection from disease and common mimics; select diagnostic tests and infection-prevention actions. Select a standard or shortened regimen for drug-susceptible pulmonary TB and identify reasons to use a different course. Distinguish BPaLM, BPaL and newer WHO regimens for resistant TB. Select preventive treatment for latent TB and build a toxicity, interaction, microbiology and follow-up plan. Critique newer treatment studies using population, comparator, endpoint, effect size and limitations. Resident pathway Read the initial approach, diagnostics, mimics, prevention, drug-susceptible and resistant-TB sections, drug monitoring, cases and rounds summary. Be able to explain the regimen and what would change it. Fellow pathway Add the evidence review and special-population discussion. Pay particular attention to trial eligibility, the distinction between regimen and strategy trials, resistance mechanisms, and how drug toxicity can weaken a regimen. Attending review pathway Start with diagnostic discordance and mimics, then review shortened-regimen eligibility, resistant-TB options, preventive care and the trial tables. Use the cases to ask which finding would change the plan. Allow 30–40 minutes for a focused update or 80–105 minutes for the full primer. Version 1.1, September 15, 2026. Sources checked September 15, 2026. Educational synthesis prepared with AI assistance. Specialty review is pending. This module is educational and does not establish treatment or isolation policy.</a:t>
            </a:r>
          </a:p>
          <a:p xmlns:a="http://schemas.openxmlformats.org/drawingml/2006/main">
            <a:r>
              <a:t/>
            </a:r>
          </a:p>
          <a:p xmlns:a="http://schemas.openxmlformats.org/drawingml/2006/main">
            <a:r>
              <a:t>Module section: https://docarcshot.github.io/id-practice-update/lectures/Tuberculosis_Standard_Treatment_and_Newer_Avenues.html#start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regimen for the patient, organism, and disease site TB treatment is more than a prescription for four drugs. The first decisions are whether disease is active, whether the patient may transmit it, what resistance is present, and whether the evidence for a particular regimen applies to this patient. This module is intended for internal medicine residents, ID fellows and attending physicians. The resident core is designed for 30–45 minutes; evidence details are optional. Cases are fictional teaching examples. Separate TB infection from disease and common mimics; select diagnostic tests and infection-prevention actions. Select a standard or shortened regimen for drug-susceptible pulmonary TB and identify reasons to use a different course. Distinguish BPaLM, BPaL and newer WHO regimens for resistant TB. Select preventive treatment for latent TB and build a toxicity, interaction, microbiology and follow-up plan. Critique newer treatment studies using population, comparator, endpoint, effect size and limitations. Resident pathway Read the initial approach, diagnostics, mimics, prevention, drug-susceptible and resistant-TB sections, drug monitoring, cases and rounds summary. Be able to explain the regimen and what would change it. Fellow pathway Add the evidence review and special-population discussion. Pay particular attention to trial eligibility, the distinction between regimen and strategy trials, resistance mechanisms, and how drug toxicity can weaken a regimen. Attending review pathway Start with diagnostic discordance and mimics, then review shortened-regimen eligibility, resistant-TB options, preventive care and the trial tables. Use the cases to ask which finding would change the plan. Allow 30–40 minutes for a focused update or 80–105 minutes for the full primer. Version 1.1, September 15, 2026. Sources checked September 15, 2026. Educational synthesis prepared with AI assistance. Specialty review is pending. This module is educational and does not establish treatment or isolation policy.</a:t>
            </a:r>
          </a:p>
          <a:p xmlns:a="http://schemas.openxmlformats.org/drawingml/2006/main">
            <a:r>
              <a:t/>
            </a:r>
          </a:p>
          <a:p xmlns:a="http://schemas.openxmlformats.org/drawingml/2006/main">
            <a:r>
              <a:t>Module section: https://docarcshot.github.io/id-practice-update/lectures/Tuberculosis_Standard_Treatment_and_Newer_Avenues.html#start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regimen for the patient, organism, and disease site TB treatment is more than a prescription for four drugs. The first decisions are whether disease is active, whether the patient may transmit it, what resistance is present, and whether the evidence for a particular regimen applies to this patient. This module is intended for internal medicine residents, ID fellows and attending physicians. The resident core is designed for 30–45 minutes; evidence details are optional. Cases are fictional teaching examples. Separate TB infection from disease and common mimics; select diagnostic tests and infection-prevention actions. Select a standard or shortened regimen for drug-susceptible pulmonary TB and identify reasons to use a different course. Distinguish BPaLM, BPaL and newer WHO regimens for resistant TB. Select preventive treatment for latent TB and build a toxicity, interaction, microbiology and follow-up plan. Critique newer treatment studies using population, comparator, endpoint, effect size and limitations. Resident pathway Read the initial approach, diagnostics, mimics, prevention, drug-susceptible and resistant-TB sections, drug monitoring, cases and rounds summary. Be able to explain the regimen and what would change it. Fellow pathway Add the evidence review and special-population discussion. Pay particular attention to trial eligibility, the distinction between regimen and strategy trials, resistance mechanisms, and how drug toxicity can weaken a regimen. Attending review pathway Start with diagnostic discordance and mimics, then review shortened-regimen eligibility, resistant-TB options, preventive care and the trial tables. Use the cases to ask which finding would change the plan. Allow 30–40 minutes for a focused update or 80–105 minutes for the full primer. Version 1.1, September 15, 2026. Sources checked September 15, 2026. Educational synthesis prepared with AI assistance. Specialty review is pending. This module is educational and does not establish treatment or isolation policy.</a:t>
            </a:r>
          </a:p>
          <a:p xmlns:a="http://schemas.openxmlformats.org/drawingml/2006/main">
            <a:r>
              <a:t/>
            </a:r>
          </a:p>
          <a:p xmlns:a="http://schemas.openxmlformats.org/drawingml/2006/main">
            <a:r>
              <a:t>Module section: https://docarcshot.github.io/id-practice-update/lectures/Tuberculosis_Standard_Treatment_and_Newer_Avenues.html#start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regimen for the patient, organism, and disease site TB treatment is more than a prescription for four drugs. The first decisions are whether disease is active, whether the patient may transmit it, what resistance is present, and whether the evidence for a particular regimen applies to this patient. This module is intended for internal medicine residents, ID fellows and attending physicians. The resident core is designed for 30–45 minutes; evidence details are optional. Cases are fictional teaching examples. Separate TB infection from disease and common mimics; select diagnostic tests and infection-prevention actions. Select a standard or shortened regimen for drug-susceptible pulmonary TB and identify reasons to use a different course. Distinguish BPaLM, BPaL and newer WHO regimens for resistant TB. Select preventive treatment for latent TB and build a toxicity, interaction, microbiology and follow-up plan. Critique newer treatment studies using population, comparator, endpoint, effect size and limitations. Resident pathway Read the initial approach, diagnostics, mimics, prevention, drug-susceptible and resistant-TB sections, drug monitoring, cases and rounds summary. Be able to explain the regimen and what would change it. Fellow pathway Add the evidence review and special-population discussion. Pay particular attention to trial eligibility, the distinction between regimen and strategy trials, resistance mechanisms, and how drug toxicity can weaken a regimen. Attending review pathway Start with diagnostic discordance and mimics, then review shortened-regimen eligibility, resistant-TB options, preventive care and the trial tables. Use the cases to ask which finding would change the plan. Allow 30–40 minutes for a focused update or 80–105 minutes for the full primer. Version 1.1, September 15, 2026. Sources checked September 15, 2026. Educational synthesis prepared with AI assistance. Specialty review is pending. This module is educational and does not establish treatment or isolation policy.</a:t>
            </a:r>
          </a:p>
          <a:p xmlns:a="http://schemas.openxmlformats.org/drawingml/2006/main">
            <a:r>
              <a:t/>
            </a:r>
          </a:p>
          <a:p xmlns:a="http://schemas.openxmlformats.org/drawingml/2006/main">
            <a:r>
              <a:t>Module section: https://docarcshot.github.io/id-practice-update/lectures/Tuberculosis_Standard_Treatment_and_Newer_Avenues.html#start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regimen for the patient, organism, and disease site TB treatment is more than a prescription for four drugs. The first decisions are whether disease is active, whether the patient may transmit it, what resistance is present, and whether the evidence for a particular regimen applies to this patient. This module is intended for internal medicine residents, ID fellows and attending physicians. The resident core is designed for 30–45 minutes; evidence details are optional. Cases are fictional teaching examples. Separate TB infection from disease and common mimics; select diagnostic tests and infection-prevention actions. Select a standard or shortened regimen for drug-susceptible pulmonary TB and identify reasons to use a different course. Distinguish BPaLM, BPaL and newer WHO regimens for resistant TB. Select preventive treatment for latent TB and build a toxicity, interaction, microbiology and follow-up plan. Critique newer treatment studies using population, comparator, endpoint, effect size and limitations. Resident pathway Read the initial approach, diagnostics, mimics, prevention, drug-susceptible and resistant-TB sections, drug monitoring, cases and rounds summary. Be able to explain the regimen and what would change it. Fellow pathway Add the evidence review and special-population discussion. Pay particular attention to trial eligibility, the distinction between regimen and strategy trials, resistance mechanisms, and how drug toxicity can weaken a regimen. Attending review pathway Start with diagnostic discordance and mimics, then review shortened-regimen eligibility, resistant-TB options, preventive care and the trial tables. Use the cases to ask which finding would change the plan. Allow 30–40 minutes for a focused update or 80–105 minutes for the full primer. Version 1.1, September 15, 2026. Sources checked September 15, 2026. Educational synthesis prepared with AI assistance. Specialty review is pending. This module is educational and does not establish treatment or isolation policy.</a:t>
            </a:r>
          </a:p>
          <a:p xmlns:a="http://schemas.openxmlformats.org/drawingml/2006/main">
            <a:r>
              <a:t/>
            </a:r>
          </a:p>
          <a:p xmlns:a="http://schemas.openxmlformats.org/drawingml/2006/main">
            <a:r>
              <a:t>Module section: https://docarcshot.github.io/id-practice-update/lectures/Tuberculosis_Standard_Treatment_and_Newer_Avenues.html#start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the regimen for the patient, organism, and disease site TB treatment is more than a prescription for four drugs. The first decisions are whether disease is active, whether the patient may transmit it, what resistance is present, and whether the evidence for a particular regimen applies to this patient. This module is intended for internal medicine residents, ID fellows and attending physicians. The resident core is designed for 30–45 minutes; evidence details are optional. Cases are fictional teaching examples. Separate TB infection from disease and common mimics; select diagnostic tests and infection-prevention actions. Select a standard or shortened regimen for drug-susceptible pulmonary TB and identify reasons to use a different course. Distinguish BPaLM, BPaL and newer WHO regimens for resistant TB. Select preventive treatment for latent TB and build a toxicity, interaction, microbiology and follow-up plan. Critique newer treatment studies using population, comparator, endpoint, effect size and limitations. Resident pathway Read the initial approach, diagnostics, mimics, prevention, drug-susceptible and resistant-TB sections, drug monitoring, cases and rounds summary. Be able to explain the regimen and what would change it. Fellow pathway Add the evidence review and special-population discussion. Pay particular attention to trial eligibility, the distinction between regimen and strategy trials, resistance mechanisms, and how drug toxicity can weaken a regimen. Attending review pathway Start with diagnostic discordance and mimics, then review shortened-regimen eligibility, resistant-TB options, preventive care and the trial tables. Use the cases to ask which finding would change the plan. Allow 30–40 minutes for a focused update or 80–105 minutes for the full primer. Version 1.1, September 15, 2026. Sources checked September 15, 2026. Educational synthesis prepared with AI assistance. Specialty review is pending. This module is educational and does not establish treatment or isolation policy.</a:t>
            </a:r>
          </a:p>
          <a:p xmlns:a="http://schemas.openxmlformats.org/drawingml/2006/main">
            <a:r>
              <a:t/>
            </a:r>
          </a:p>
          <a:p xmlns:a="http://schemas.openxmlformats.org/drawingml/2006/main">
            <a:r>
              <a:t>Module section: https://docarcshot.github.io/id-practice-update/lectures/Tuberculosis_Standard_Treatment_and_Newer_Avenues.html#start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and establish the diagnosis while planning treatment The clinical spectrum Inhaled M. tuberculosis can cause infection without symptoms or evidence of disease. Latent TB infection is not contagious. Progression to disease may follow recent acquisition or occur years later, particularly with impaired immunity. Pulmonary and laryngeal disease drive most transmission; extrapulmonary disease can coexist with an infectious pulmonary focus. Treat infection to prevent progression, and treat disease with an adequate combination to cure it and prevent resistance. [5] Recognize Symptoms, exposures, immune status and imaging. Isolate Airborne precautions when pulmonary or laryngeal TB is suspected. Sample AFB smear, culture, NAAT and resistance testing. Treat Active multidrug therapy when indicated. Coordinate ID, infection prevention and public health. Cough, fever, night sweats, weight loss, hemoptysis or compatible imaging should prompt consideration of TB. Advanced immunosuppression can produce atypical pulmonary findings or disseminated disease. An IGRA or TST measures immune sensitization. It does not distinguish latent infection from disease, establish infectiousness, or exclude active TB when negative. [5] [22] Obtain three sputum specimens for AFB smear and mycobacterial culture, generally 8-24 hours apart with at least one early-morning specimen. Send a respiratory NAAT on at least one specimen and request rapid molecular resistance testing as appropriate. Induced sputum or bronchoscopy may be needed if adequate sputum cannot be obtained. AFB smear positivity is not specific for M. tuberculosis ; culture and organism identification still matter. [5] A positive NAAT can accelerate treatment and public-health action. A negative result does not independently exclude smear-negative TB. Obtain cultures for susceptibility testing and treatment monitoring even when NAAT is positive. If the patient is seriously ill or suspicion is high, obtain specimens promptly and start an appropriate multidrug regimen without waiting weeks for culture. [5] [2] Airborne precautions are a separate decision Use an airborne infection isolation room and appropriate respiratory protection. Mask the patient for necessary transport. The traditional CDC hospital pathway includes three negative AFB smears, but its application differs between a patient being evaluated for TB and one with confirmed infectious TB. Confirmed disease also requires assessment of effective treatment and clinical improvement. Persistent suspicion, resistance, or inadequate treatment changes the decision. Follow the current institutional NAAT-based or smear-based pathway with infection prevention; neither one negative test nor a fixed number of treatment days guarantees clearance. [6] Notify the local/state TB program promptly for suspected or confirmed disease. Coordinate contact evaluation, reporting and discharge planning. Do not leave the first public-health call until discharge. [7] [6]</a:t>
            </a:r>
          </a:p>
          <a:p xmlns:a="http://schemas.openxmlformats.org/drawingml/2006/main">
            <a:r>
              <a:t/>
            </a:r>
          </a:p>
          <a:p xmlns:a="http://schemas.openxmlformats.org/drawingml/2006/main">
            <a:r>
              <a:t>Module section: https://docarcshot.github.io/id-practice-update/lectures/Tuberculosis_Standard_Treatment_and_Newer_Avenues.html#initial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and establish the diagnosis while planning treatment The clinical spectrum Inhaled M. tuberculosis can cause infection without symptoms or evidence of disease. Latent TB infection is not contagious. Progression to disease may follow recent acquisition or occur years later, particularly with impaired immunity. Pulmonary and laryngeal disease drive most transmission; extrapulmonary disease can coexist with an infectious pulmonary focus. Treat infection to prevent progression, and treat disease with an adequate combination to cure it and prevent resistance. [5] Recognize Symptoms, exposures, immune status and imaging. Isolate Airborne precautions when pulmonary or laryngeal TB is suspected. Sample AFB smear, culture, NAAT and resistance testing. Treat Active multidrug therapy when indicated. Coordinate ID, infection prevention and public health. Cough, fever, night sweats, weight loss, hemoptysis or compatible imaging should prompt consideration of TB. Advanced immunosuppression can produce atypical pulmonary findings or disseminated disease. An IGRA or TST measures immune sensitization. It does not distinguish latent infection from disease, establish infectiousness, or exclude active TB when negative. [5] [22] Obtain three sputum specimens for AFB smear and mycobacterial culture, generally 8-24 hours apart with at least one early-morning specimen. Send a respiratory NAAT on at least one specimen and request rapid molecular resistance testing as appropriate. Induced sputum or bronchoscopy may be needed if adequate sputum cannot be obtained. AFB smear positivity is not specific for M. tuberculosis ; culture and organism identification still matter. [5] A positive NAAT can accelerate treatment and public-health action. A negative result does not independently exclude smear-negative TB. Obtain cultures for susceptibility testing and treatment monitoring even when NAAT is positive. If the patient is seriously ill or suspicion is high, obtain specimens promptly and start an appropriate multidrug regimen without waiting weeks for culture. [5] [2] Airborne precautions are a separate decision Use an airborne infection isolation room and appropriate respiratory protection. Mask the patient for necessary transport. The traditional CDC hospital pathway includes three negative AFB smears, but its application differs between a patient being evaluated for TB and one with confirmed infectious TB. Confirmed disease also requires assessment of effective treatment and clinical improvement. Persistent suspicion, resistance, or inadequate treatment changes the decision. Follow the current institutional NAAT-based or smear-based pathway with infection prevention; neither one negative test nor a fixed number of treatment days guarantees clearance. [6] Notify the local/state TB program promptly for suspected or confirmed disease. Coordinate contact evaluation, reporting and discharge planning. Do not leave the first public-health call until discharge. [7] [6]</a:t>
            </a:r>
          </a:p>
          <a:p xmlns:a="http://schemas.openxmlformats.org/drawingml/2006/main">
            <a:r>
              <a:t/>
            </a:r>
          </a:p>
          <a:p xmlns:a="http://schemas.openxmlformats.org/drawingml/2006/main">
            <a:r>
              <a:t>Module section: https://docarcshot.github.io/id-practice-update/lectures/Tuberculosis_Standard_Treatment_and_Newer_Avenues.html#initial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and establish the diagnosis while planning treatment The clinical spectrum Inhaled M. tuberculosis can cause infection without symptoms or evidence of disease. Latent TB infection is not contagious. Progression to disease may follow recent acquisition or occur years later, particularly with impaired immunity. Pulmonary and laryngeal disease drive most transmission; extrapulmonary disease can coexist with an infectious pulmonary focus. Treat infection to prevent progression, and treat disease with an adequate combination to cure it and prevent resistance. [5] Recognize Symptoms, exposures, immune status and imaging. Isolate Airborne precautions when pulmonary or laryngeal TB is suspected. Sample AFB smear, culture, NAAT and resistance testing. Treat Active multidrug therapy when indicated. Coordinate ID, infection prevention and public health. Cough, fever, night sweats, weight loss, hemoptysis or compatible imaging should prompt consideration of TB. Advanced immunosuppression can produce atypical pulmonary findings or disseminated disease. An IGRA or TST measures immune sensitization. It does not distinguish latent infection from disease, establish infectiousness, or exclude active TB when negative. [5] [22] Obtain three sputum specimens for AFB smear and mycobacterial culture, generally 8-24 hours apart with at least one early-morning specimen. Send a respiratory NAAT on at least one specimen and request rapid molecular resistance testing as appropriate. Induced sputum or bronchoscopy may be needed if adequate sputum cannot be obtained. AFB smear positivity is not specific for M. tuberculosis ; culture and organism identification still matter. [5] A positive NAAT can accelerate treatment and public-health action. A negative result does not independently exclude smear-negative TB. Obtain cultures for susceptibility testing and treatment monitoring even when NAAT is positive. If the patient is seriously ill or suspicion is high, obtain specimens promptly and start an appropriate multidrug regimen without waiting weeks for culture. [5] [2] Airborne precautions are a separate decision Use an airborne infection isolation room and appropriate respiratory protection. Mask the patient for necessary transport. The traditional CDC hospital pathway includes three negative AFB smears, but its application differs between a patient being evaluated for TB and one with confirmed infectious TB. Confirmed disease also requires assessment of effective treatment and clinical improvement. Persistent suspicion, resistance, or inadequate treatment changes the decision. Follow the current institutional NAAT-based or smear-based pathway with infection prevention; neither one negative test nor a fixed number of treatment days guarantees clearance. [6] Notify the local/state TB program promptly for suspected or confirmed disease. Coordinate contact evaluation, reporting and discharge planning. Do not leave the first public-health call until discharge. [7] [6]</a:t>
            </a:r>
          </a:p>
          <a:p xmlns:a="http://schemas.openxmlformats.org/drawingml/2006/main">
            <a:r>
              <a:t/>
            </a:r>
          </a:p>
          <a:p xmlns:a="http://schemas.openxmlformats.org/drawingml/2006/main">
            <a:r>
              <a:t>Module section: https://docarcshot.github.io/id-practice-update/lectures/Tuberculosis_Standard_Treatment_and_Newer_Avenues.html#initial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and establish the diagnosis while planning treatment The clinical spectrum Inhaled M. tuberculosis can cause infection without symptoms or evidence of disease. Latent TB infection is not contagious. Progression to disease may follow recent acquisition or occur years later, particularly with impaired immunity. Pulmonary and laryngeal disease drive most transmission; extrapulmonary disease can coexist with an infectious pulmonary focus. Treat infection to prevent progression, and treat disease with an adequate combination to cure it and prevent resistance. [5] Recognize Symptoms, exposures, immune status and imaging. Isolate Airborne precautions when pulmonary or laryngeal TB is suspected. Sample AFB smear, culture, NAAT and resistance testing. Treat Active multidrug therapy when indicated. Coordinate ID, infection prevention and public health. Cough, fever, night sweats, weight loss, hemoptysis or compatible imaging should prompt consideration of TB. Advanced immunosuppression can produce atypical pulmonary findings or disseminated disease. An IGRA or TST measures immune sensitization. It does not distinguish latent infection from disease, establish infectiousness, or exclude active TB when negative. [5] [22] Obtain three sputum specimens for AFB smear and mycobacterial culture, generally 8-24 hours apart with at least one early-morning specimen. Send a respiratory NAAT on at least one specimen and request rapid molecular resistance testing as appropriate. Induced sputum or bronchoscopy may be needed if adequate sputum cannot be obtained. AFB smear positivity is not specific for M. tuberculosis ; culture and organism identification still matter. [5] A positive NAAT can accelerate treatment and public-health action. A negative result does not independently exclude smear-negative TB. Obtain cultures for susceptibility testing and treatment monitoring even when NAAT is positive. If the patient is seriously ill or suspicion is high, obtain specimens promptly and start an appropriate multidrug regimen without waiting weeks for culture. [5] [2] Airborne precautions are a separate decision Use an airborne infection isolation room and appropriate respiratory protection. Mask the patient for necessary transport. The traditional CDC hospital pathway includes three negative AFB smears, but its application differs between a patient being evaluated for TB and one with confirmed infectious TB. Confirmed disease also requires assessment of effective treatment and clinical improvement. Persistent suspicion, resistance, or inadequate treatment changes the decision. Follow the current institutional NAAT-based or smear-based pathway with infection prevention; neither one negative test nor a fixed number of treatment days guarantees clearance. [6] Notify the local/state TB program promptly for suspected or confirmed disease. Coordinate contact evaluation, reporting and discharge planning. Do not leave the first public-health call until discharge. [7] [6]</a:t>
            </a:r>
          </a:p>
          <a:p xmlns:a="http://schemas.openxmlformats.org/drawingml/2006/main">
            <a:r>
              <a:t/>
            </a:r>
          </a:p>
          <a:p xmlns:a="http://schemas.openxmlformats.org/drawingml/2006/main">
            <a:r>
              <a:t>Module section: https://docarcshot.github.io/id-practice-update/lectures/Tuberculosis_Standard_Treatment_and_Newer_Avenues.html#initial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and establish the diagnosis while planning treatment The clinical spectrum Inhaled M. tuberculosis can cause infection without symptoms or evidence of disease. Latent TB infection is not contagious. Progression to disease may follow recent acquisition or occur years later, particularly with impaired immunity. Pulmonary and laryngeal disease drive most transmission; extrapulmonary disease can coexist with an infectious pulmonary focus. Treat infection to prevent progression, and treat disease with an adequate combination to cure it and prevent resistance. [5] Recognize Symptoms, exposures, immune status and imaging. Isolate Airborne precautions when pulmonary or laryngeal TB is suspected. Sample AFB smear, culture, NAAT and resistance testing. Treat Active multidrug therapy when indicated. Coordinate ID, infection prevention and public health. Cough, fever, night sweats, weight loss, hemoptysis or compatible imaging should prompt consideration of TB. Advanced immunosuppression can produce atypical pulmonary findings or disseminated disease. An IGRA or TST measures immune sensitization. It does not distinguish latent infection from disease, establish infectiousness, or exclude active TB when negative. [5] [22] Obtain three sputum specimens for AFB smear and mycobacterial culture, generally 8-24 hours apart with at least one early-morning specimen. Send a respiratory NAAT on at least one specimen and request rapid molecular resistance testing as appropriate. Induced sputum or bronchoscopy may be needed if adequate sputum cannot be obtained. AFB smear positivity is not specific for M. tuberculosis ; culture and organism identification still matter. [5] A positive NAAT can accelerate treatment and public-health action. A negative result does not independently exclude smear-negative TB. Obtain cultures for susceptibility testing and treatment monitoring even when NAAT is positive. If the patient is seriously ill or suspicion is high, obtain specimens promptly and start an appropriate multidrug regimen without waiting weeks for culture. [5] [2] Airborne precautions are a separate decision Use an airborne infection isolation room and appropriate respiratory protection. Mask the patient for necessary transport. The traditional CDC hospital pathway includes three negative AFB smears, but its application differs between a patient being evaluated for TB and one with confirmed infectious TB. Confirmed disease also requires assessment of effective treatment and clinical improvement. Persistent suspicion, resistance, or inadequate treatment changes the decision. Follow the current institutional NAAT-based or smear-based pathway with infection prevention; neither one negative test nor a fixed number of treatment days guarantees clearance. [6] Notify the local/state TB program promptly for suspected or confirmed disease. Coordinate contact evaluation, reporting and discharge planning. Do not leave the first public-health call until discharge. [7] [6]</a:t>
            </a:r>
          </a:p>
          <a:p xmlns:a="http://schemas.openxmlformats.org/drawingml/2006/main">
            <a:r>
              <a:t/>
            </a:r>
          </a:p>
          <a:p xmlns:a="http://schemas.openxmlformats.org/drawingml/2006/main">
            <a:r>
              <a:t>Module section: https://docarcshot.github.io/id-practice-update/lectures/Tuberculosis_Standard_Treatment_and_Newer_Avenues.html#initial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and establish the diagnosis while planning treatment The clinical spectrum Inhaled M. tuberculosis can cause infection without symptoms or evidence of disease. Latent TB infection is not contagious. Progression to disease may follow recent acquisition or occur years later, particularly with impaired immunity. Pulmonary and laryngeal disease drive most transmission; extrapulmonary disease can coexist with an infectious pulmonary focus. Treat infection to prevent progression, and treat disease with an adequate combination to cure it and prevent resistance. [5] Recognize Symptoms, exposures, immune status and imaging. Isolate Airborne precautions when pulmonary or laryngeal TB is suspected. Sample AFB smear, culture, NAAT and resistance testing. Treat Active multidrug therapy when indicated. Coordinate ID, infection prevention and public health. Cough, fever, night sweats, weight loss, hemoptysis or compatible imaging should prompt consideration of TB. Advanced immunosuppression can produce atypical pulmonary findings or disseminated disease. An IGRA or TST measures immune sensitization. It does not distinguish latent infection from disease, establish infectiousness, or exclude active TB when negative. [5] [22] Obtain three sputum specimens for AFB smear and mycobacterial culture, generally 8-24 hours apart with at least one early-morning specimen. Send a respiratory NAAT on at least one specimen and request rapid molecular resistance testing as appropriate. Induced sputum or bronchoscopy may be needed if adequate sputum cannot be obtained. AFB smear positivity is not specific for M. tuberculosis ; culture and organism identification still matter. [5] A positive NAAT can accelerate treatment and public-health action. A negative result does not independently exclude smear-negative TB. Obtain cultures for susceptibility testing and treatment monitoring even when NAAT is positive. If the patient is seriously ill or suspicion is high, obtain specimens promptly and start an appropriate multidrug regimen without waiting weeks for culture. [5] [2] Airborne precautions are a separate decision Use an airborne infection isolation room and appropriate respiratory protection. Mask the patient for necessary transport. The traditional CDC hospital pathway includes three negative AFB smears, but its application differs between a patient being evaluated for TB and one with confirmed infectious TB. Confirmed disease also requires assessment of effective treatment and clinical improvement. Persistent suspicion, resistance, or inadequate treatment changes the decision. Follow the current institutional NAAT-based or smear-based pathway with infection prevention; neither one negative test nor a fixed number of treatment days guarantees clearance. [6] Notify the local/state TB program promptly for suspected or confirmed disease. Coordinate contact evaluation, reporting and discharge planning. Do not leave the first public-health call until discharge. [7] [6]</a:t>
            </a:r>
          </a:p>
          <a:p xmlns:a="http://schemas.openxmlformats.org/drawingml/2006/main">
            <a:r>
              <a:t/>
            </a:r>
          </a:p>
          <a:p xmlns:a="http://schemas.openxmlformats.org/drawingml/2006/main">
            <a:r>
              <a:t>Module section: https://docarcshot.github.io/id-practice-update/lectures/Tuberculosis_Standard_Treatment_and_Newer_Avenues.html#initial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Protect others and establish the diagnosis while planning treatment The clinical spectrum Inhaled M. tuberculosis can cause infection without symptoms or evidence of disease. Latent TB infection is not contagious. Progression to disease may follow recent acquisition or occur years later, particularly with impaired immunity. Pulmonary and laryngeal disease drive most transmission; extrapulmonary disease can coexist with an infectious pulmonary focus. Treat infection to prevent progression, and treat disease with an adequate combination to cure it and prevent resistance. [5] Recognize Symptoms, exposures, immune status and imaging. Isolate Airborne precautions when pulmonary or laryngeal TB is suspected. Sample AFB smear, culture, NAAT and resistance testing. Treat Active multidrug therapy when indicated. Coordinate ID, infection prevention and public health. Cough, fever, night sweats, weight loss, hemoptysis or compatible imaging should prompt consideration of TB. Advanced immunosuppression can produce atypical pulmonary findings or disseminated disease. An IGRA or TST measures immune sensitization. It does not distinguish latent infection from disease, establish infectiousness, or exclude active TB when negative. [5] [22] Obtain three sputum specimens for AFB smear and mycobacterial culture, generally 8-24 hours apart with at least one early-morning specimen. Send a respiratory NAAT on at least one specimen and request rapid molecular resistance testing as appropriate. Induced sputum or bronchoscopy may be needed if adequate sputum cannot be obtained. AFB smear positivity is not specific for M. tuberculosis ; culture and organism identification still matter. [5] A positive NAAT can accelerate treatment and public-health action. A negative result does not independently exclude smear-negative TB. Obtain cultures for susceptibility testing and treatment monitoring even when NAAT is positive. If the patient is seriously ill or suspicion is high, obtain specimens promptly and start an appropriate multidrug regimen without waiting weeks for culture. [5] [2] Airborne precautions are a separate decision Use an airborne infection isolation room and appropriate respiratory protection. Mask the patient for necessary transport. The traditional CDC hospital pathway includes three negative AFB smears, but its application differs between a patient being evaluated for TB and one with confirmed infectious TB. Confirmed disease also requires assessment of effective treatment and clinical improvement. Persistent suspicion, resistance, or inadequate treatment changes the decision. Follow the current institutional NAAT-based or smear-based pathway with infection prevention; neither one negative test nor a fixed number of treatment days guarantees clearance. [6] Notify the local/state TB program promptly for suspected or confirmed disease. Coordinate contact evaluation, reporting and discharge planning. Do not leave the first public-health call until discharge. [7] [6]</a:t>
            </a:r>
          </a:p>
          <a:p xmlns:a="http://schemas.openxmlformats.org/drawingml/2006/main">
            <a:r>
              <a:t/>
            </a:r>
          </a:p>
          <a:p xmlns:a="http://schemas.openxmlformats.org/drawingml/2006/main">
            <a:r>
              <a:t>Module section: https://docarcshot.github.io/id-practice-update/lectures/Tuberculosis_Standard_Treatment_and_Newer_Avenues.html#initial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each diagnostic test to answer the right question Infection, disease and infectiousness are different questions Question Useful evidence Common mistake Has infection occurred? Exposure history plus IGRA or TST in someone for whom testing is indicated. Calling a positive immune test active TB, or using a negative result to exclude disease. Is there TB disease now? Symptoms, examination, imaging and microbiology from the involved site. Treating an abnormal CT or granulomas as organism identification. Which drugs will work? Rapid molecular resistance testing followed by culture-based DST as needed. Assuming rifampin susceptibility proves susceptibility to every regimen component. Can this patient transmit TB? Disease site, respiratory burden, cough, treatment effectiveness and the institutional isolation pathway. Equating an IGRA result or a single negative sputum test with clearance. 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 Respiratory smear and NAAT: interpret the combination Smear / NAAT Interpretation Next action Positive / positive Strong presumptive evidence of pulmonary TB. Treat and coordinate public health; retain culture and DST. Positive / negative NTM becomes more likely; consider assay inhibition or specimen issues. Discuss with the laboratory, obtain additional specimens and identify the organism. Reassess precautions with IP in clinical context. Negative / positive Can support presumptive TB when suspicion is meaningful. Do not dismiss the NAAT because the smear is negative; obtain cultures and resistance information. Negative / negative Does not exclude paucibacillary or smear-negative disease. Reassess pretest probability, specimen quality and alternative diagnoses; repeat or sample another site when warranted. 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 Extrapulmonary disease: sample the involved compartment Choosing specimens beyond sputum Presentation Specimens and complementary tests Pitfall Lymphadenopathy or focal tissue lesion Aspirate or biopsy for mycobacterial culture, NAAT where validated, and histopathology. Send a fresh sterile portion for microbiology; a specimen entirely in formalin cannot be cultured. Pleural disease Pleural fluid cells/chemistry, culture and appropriate molecular testing; consider pleural biopsy if fluid testing is nondiagnostic. ADA may support the diagnosis in context but is not organism-specific; negative fluid tests do not reliably exclude TB. Meningitis CSF opening pressure, cells, glucose/protein, mycobacterial culture and molecular testing; evaluate for other infections. Low organism burden limits sensitivity. A negative CSF result must not delay treatment when the clinical suspicion is high. Disseminated, bone/joint or genitourinary disease Target accessible tissue, aspirate, urine or other involved sites; obtain respiratory specimens if pulmonary involvement is possible. One negative compartment does not exclude disease elsewhere; alert the laboratory to the suspected diagnosis. Interpret pathology alongside microbiology: necrotizing granulomas raise suspicion but can occur with fungi and NTM; nonnecrotizing granulomas do not rule out TB. Negative extrapulmonary smear, culture or NAAT results are often insufficient to exclude disease. [29] [34] IGRA and TST: useful for infection, weak shortcuts for disease 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 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 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a:p xmlns:a="http://schemas.openxmlformats.org/drawingml/2006/main">
            <a:r>
              <a:t/>
            </a:r>
          </a:p>
          <a:p xmlns:a="http://schemas.openxmlformats.org/drawingml/2006/main">
            <a:r>
              <a:t>Module section: https://docarcshot.github.io/id-practice-update/lectures/Tuberculosis_Standard_Treatment_and_Newer_Avenues.html#diagnostics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Keep a competing diagnosis until the evidence separates it from TB A positive IGRA can coexist with cancer, fungal infection or bacterial pneumonia. It does not explain a cavity, lymph node or constitutional syndrome. Ask whether the proposed diagnosis accounts for the time course, immune status, exposures and microbiology. TB mimics and the next discriminating step Mimic Clues that shift the differential Useful next step NTM, including MAC and M. kansasii Structural lung disease, bronchiectasis/nodules or cavities; AFB-positive samples with a negative TB NAAT. Speciation and repeated cultures. Require compatible clinical/radiographic findings and microbiologic criteria, not an isolated sputum result. Histoplasmosis and other endemic fungi Geography, travel, soil/bird/bat exposure or immunosuppression; nodules, nodes, cavities or dissemination. Select fungal antigen, antibody, culture and tissue tests for the syndrome. Histoplasma antigen cross-reacts with Blastomyces; negative early testing may need repetition. Chronic pulmonary aspergillosis Pre-existing cavity, chronic symptoms, pleural thickening or a fungal ball. Aspergillus serology and respiratory testing interpreted with imaging and duration. Bacterial lung abscess or septic emboli Aspiration/dental risk, acute toxicity, bacteremia, endocarditis risk or multiple peripheral cavities. Routine cultures, blood cultures when indicated and evaluation of the relevant anatomic or endovascular source. Nocardia Immunosuppression with nodules/cavities; possible CNS dissemination. Alert microbiology to suspected Nocardia and obtain organism identification; evaluate dissemination as appropriate. Malignancy Smoking history, progressive focal lesion, obstruction or persistent adenopathy. Obtain cytology/tissue when indicated; a positive TB infection test must not close the cancer workup. GPA or other inflammatory disease Pulmonary nodules/cavities with ENT, renal or systemic inflammatory findings; sarcoidosis may cause adenopathy/granulomas. Urinalysis, directed serology and tissue in context. Evaluate infection before escalating immunosuppression. [32] [33] [34] 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 Attending checkpoint 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a:p xmlns:a="http://schemas.openxmlformats.org/drawingml/2006/main">
            <a:r>
              <a:t/>
            </a:r>
          </a:p>
          <a:p xmlns:a="http://schemas.openxmlformats.org/drawingml/2006/main">
            <a:r>
              <a:t>Module section: https://docarcshot.github.io/id-practice-update/lectures/Tuberculosis_Standard_Treatment_and_Newer_Avenues.html#mimics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Six-month therapy remains useful, and selected patients can receive four months Drug-susceptible treatment choices Clinical situation Regimen Practical interpretation Usual drug-susceptible pulmonary TB 2HRZE/4HR H = isoniazid, R = rifampin, Z = pyrazinamide, E = ethambutol. Give HRZE for the initial 2 months, then HR for 4 months. Daily dosing is preferred. Eligible adolescent or adult with drug-susceptible pulmonary TB 2HPZM/2HPM, a 17-week course P = rifapentine, M = moxifloxacin. Initial 8 weeks of HPZM, then 9 weeks of HPM. This changes both the rifamycin and companion drug; it is not four months of RIPE. Cavitation plus a positive culture at completion of 2 months on the standard regimen Usually 2HRZE/7HR, 9 months total Both features together support extension. Review adherence, susceptibility and response rather than extending every cavitary case automatically. Pyrazinamide omitted or ineffective Usually a 9-month rifamycin/isoniazid-based course Initial ethambutol is used while susceptibility is clarified. PZA-resistant disease, including typical M. bovis, needs a revised plan. Selected child with nonsevere drug-susceptible TB 2HRZ(E)/2HR, 4 months A separate pediatric recommendation for ages 3 months to 16 years. Nonsevere criteria and pediatric dosing must be checked; this is not the adult rifapentine-moxifloxacin regimen. [3] [1] [2] Ethambutol protects the initial regimen while susceptibility is unknown. It can be stopped once isoniazid and rifampin susceptibility is established and the treatment plan remains appropriate. Count completed doses and interruptions, not simply elapsed calendar time. [2] Before choosing rifapentine-moxifloxacin 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 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 A shorter regimen is an option, not a reason to improvise If the patient cannot receive moxifloxacin, simply removing it from the four-month regimen is not supported. Similarly, stopping standard HRZE/HR at four months because sputum converted early does not reproduce Study 31. [10]</a:t>
            </a:r>
          </a:p>
          <a:p xmlns:a="http://schemas.openxmlformats.org/drawingml/2006/main">
            <a:r>
              <a:t/>
            </a:r>
          </a:p>
          <a:p xmlns:a="http://schemas.openxmlformats.org/drawingml/2006/main">
            <a:r>
              <a:t>Module section: https://docarcshot.github.io/id-practice-update/lectures/Tuberculosis_Standard_Treatment_and_Newer_Avenues.html#susceptible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Rifampin resistance changes the entire regimen 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 Short oral regimens for resistant TB Regimen Where it fits What needs checking BPaLM Bedaquiline + pretomanid + linezolid + moxifloxacin. U.S. guideline-recommended six-month option for eligible patients aged at least 14 years with rifampin-resistant, fluoroquinolone-susceptible pulmonary TB. Component activity, prior exposure, disease site, pregnancy/breastfeeding, interactions, ECG and ability to monitor linezolid toxicity. BPaL Bedaquiline + pretomanid + linezolid. U.S. guideline option for eligible patients aged at least 14 years with RR pulmonary TB and fluoroquinolone resistance or intolerance. Do not treat this as a universal three-drug salvage regimen. Known or suspected resistance to bedaquiline, pretomanid or linezolid can undermine it. Prior exposure of at least one month to a component requires expert review and appropriate resistance exclusion. BDLLfxC strategy Bedaquiline + delamanid + linezolid + levofloxacin + clofazimine. WHO six-month option for MDR/RR-TB, including additional fluoroquinolone resistance. Use susceptibility results to simplify to BDLLfx when FQ susceptible or BDLC when FQ resistant. WHO eligibility is broader, including children and pregnancy, but CNS, osteoarticular and disseminated multiorgan disease require other approaches. Nine-month endTB regimens WHO options include BLMZ, BCLLfxZ and BDLLfxZ for selected fluoroquinolone-susceptible MDR/RR-TB. Each is a studied combination, not a menu of interchangeable drugs. These are alternatives when six-month regimens are unsuitable; they were not compared directly with BPaLM. Individualized longer treatment For resistance, intolerance, disease sites or prior drug exposure that invalidate short-regimen eligibility. Construct a sufficiently active combination with expert input and DST. Duration depends on the actual regimen and response, not the RR label alone. [1] [8] [9] [13] Abbreviations in resistant-TB combinations: B, bedaquiline; Pa, pretomanid; L, linezolid; M, moxifloxacin; D, delamanid; Lfx, levofloxacin; C, clofazimine; Z, pyrazinamide. These letters name the full combination and do not authorize substitutions. 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 Resistance is more than a rifampin result 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 WHO recommendation, FDA labeling and local access are different questions. In the U.S., arrange expert consultation and access before prescribing delamanid-based or other nonstandard combinations. No local formulary availability is assumed here.</a:t>
            </a:r>
          </a:p>
          <a:p xmlns:a="http://schemas.openxmlformats.org/drawingml/2006/main">
            <a:r>
              <a:t/>
            </a:r>
          </a:p>
          <a:p xmlns:a="http://schemas.openxmlformats.org/drawingml/2006/main">
            <a:r>
              <a:t>Module section: https://docarcshot.github.io/id-practice-update/lectures/Tuberculosis_Standard_Treatment_and_Newer_Avenues.html#resistant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Monitoring should follow the toxicities of the actual regimen Core adult drugs and monitoring Drug Usual adult framework Monitoring and common traps Isoniazid 5 mg/kg daily, usually 300 mg maximum Hepatotoxicity and peripheral neuropathy. Give pyridoxine, especially with neuropathy risk; the four-month regimen uses 25-50 mg daily for all patients. Rifampin 10 mg/kg daily, usually 600 mg maximum Major enzyme/transporter induction. Review ART, azoles, anticoagulants, transplant drugs, methadone and hormonal contraception. Orange secretions are expected; jaundice is not. Pyrazinamide Weight-band dosing, generally about 20-25 mg/kg daily Hepatotoxicity, arthralgia and hyperuricemia. Asymptomatic hyperuricemia alone is not an indication to stop. Adjust interval in severe renal impairment. Ethambutol Weight-band dosing, generally 15-20 mg/kg daily Baseline visual acuity and color discrimination, then symptom surveillance and repeat testing according to duration/risk. Stop and evaluate new visual symptoms. Accumulates with renal impairment. Rifapentine 1,200 mg daily in the 17-week active-TB regimen Do not confuse with the weekly dose/frequency used in 3HP prevention. Review interactions; give with food. Moxifloxacin / levofloxacin Moxifloxacin 400 mg daily in HPMZ/BPaLM; levofloxacin dosing depends on weight and kidney function QT, tendinopathy, neuropathy, dysglycemia and cation binding. Correct K+ and Mg2+, assess other QT drugs. Levofloxacin needs renal adjustment. Bedaquiline Use the selected regimen’s loading and continuation schedule ECG/QTc, K+, Mg2+, Ca2+, liver tests and interacting drugs. Rifamycins can markedly lower exposure. Pretomanid 200 mg daily with food within an appropriate combination Hepatic toxicity and combination-regimen adverse effects. Avoid extrapolating pulmonary-trial evidence to CNS disease or pregnancy. Linezolid Usually 600 mg daily initially in current BPaL/BPaLM CBC, peripheral neuropathy, vision and symptoms of lactic acidosis. Review serotonergic drugs. Six months is very different from a short antibacterial course. Delamanid / clofazimine Regimen-specific dosing under TB-program direction Additive QT risk. Clofazimine can cause skin discoloration and GI toxicity. Monitor the combination, not each drug in isolation. [2] [4] [1] [9] Baseline and follow-up plan 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 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 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 New hepatitis needs a same-day plan 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 [2] 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a:p xmlns:a="http://schemas.openxmlformats.org/drawingml/2006/main">
            <a:r>
              <a:t/>
            </a:r>
          </a:p>
          <a:p xmlns:a="http://schemas.openxmlformats.org/drawingml/2006/main">
            <a:r>
              <a:t>Module section: https://docarcshot.github.io/id-practice-update/lectures/Tuberculosis_Standard_Treatment_and_Newer_Avenues.html#drugs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Disease site and host factors can override the short-course option Situations requiring a different discussion Situation Teaching point TB meningitis 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 Bone, joint or spinal TB Rifamycin-containing therapy is often 6-9 months; many experts favor 9 months, with longer courses in selected circumstances such as extensive hardware. Assess neurologic compromise, instability, large abscesses and need for tissue diagnosis or surgery. Pleural or lymph-node TB Often treatable with a standard six-month course. Enlarging nodes during treatment can be paradoxical, but assess adherence, resistance and other diagnoses before assigning that explanation. TB and HIV Coordinate ART and TB treatment together. Do not remove the rifamycin solely to preserve an incompatible ART regimen without expert review. Low CD4 counts and CNS disease affect eligibility and ART timing. Pregnancy Treat active disease without delay. U.S. guidance individualizes pyrazinamide use; WHO routinely includes it in standard drug-susceptible treatment. Avoid assuming the rifapentine-moxifloxacin or pretomanid regimens are supported in pregnancy. Isoniazid resistance with rifampin susceptibility Do not continue standard HR as if both were active. WHO recommends a six-month rifampin, ethambutol, pyrazinamide and levofloxacin regimen when appropriate susceptibility is established. Check for additional resistance and seek expert input. [2] [22] [23] [8] [21] 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 Source control in TB is selective 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a:p xmlns:a="http://schemas.openxmlformats.org/drawingml/2006/main">
            <a:r>
              <a:t/>
            </a:r>
          </a:p>
          <a:p xmlns:a="http://schemas.openxmlformats.org/drawingml/2006/main">
            <a:r>
              <a:t>Module section: https://docarcshot.github.io/id-practice-update/lectures/Tuberculosis_Standard_Treatment_and_Newer_Avenues.html#special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Disease site and host factors can override the short-course option Situations requiring a different discussion Situation Teaching point TB meningitis 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 Bone, joint or spinal TB Rifamycin-containing therapy is often 6-9 months; many experts favor 9 months, with longer courses in selected circumstances such as extensive hardware. Assess neurologic compromise, instability, large abscesses and need for tissue diagnosis or surgery. Pleural or lymph-node TB Often treatable with a standard six-month course. Enlarging nodes during treatment can be paradoxical, but assess adherence, resistance and other diagnoses before assigning that explanation. TB and HIV Coordinate ART and TB treatment together. Do not remove the rifamycin solely to preserve an incompatible ART regimen without expert review. Low CD4 counts and CNS disease affect eligibility and ART timing. Pregnancy Treat active disease without delay. U.S. guidance individualizes pyrazinamide use; WHO routinely includes it in standard drug-susceptible treatment. Avoid assuming the rifapentine-moxifloxacin or pretomanid regimens are supported in pregnancy. Isoniazid resistance with rifampin susceptibility Do not continue standard HR as if both were active. WHO recommends a six-month rifampin, ethambutol, pyrazinamide and levofloxacin regimen when appropriate susceptibility is established. Check for additional resistance and seek expert input. [2] [22] [23] [8] [21] 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 Source control in TB is selective 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a:p xmlns:a="http://schemas.openxmlformats.org/drawingml/2006/main">
            <a:r>
              <a:t/>
            </a:r>
          </a:p>
          <a:p xmlns:a="http://schemas.openxmlformats.org/drawingml/2006/main">
            <a:r>
              <a:t>Module section: https://docarcshot.github.io/id-practice-update/lectures/Tuberculosis_Standard_Treatment_and_Newer_Avenues.html#special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Disease site and host factors can override the short-course option Situations requiring a different discussion Situation Teaching point TB meningitis 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 Bone, joint or spinal TB Rifamycin-containing therapy is often 6-9 months; many experts favor 9 months, with longer courses in selected circumstances such as extensive hardware. Assess neurologic compromise, instability, large abscesses and need for tissue diagnosis or surgery. Pleural or lymph-node TB Often treatable with a standard six-month course. Enlarging nodes during treatment can be paradoxical, but assess adherence, resistance and other diagnoses before assigning that explanation. TB and HIV Coordinate ART and TB treatment together. Do not remove the rifamycin solely to preserve an incompatible ART regimen without expert review. Low CD4 counts and CNS disease affect eligibility and ART timing. Pregnancy Treat active disease without delay. U.S. guidance individualizes pyrazinamide use; WHO routinely includes it in standard drug-susceptible treatment. Avoid assuming the rifapentine-moxifloxacin or pretomanid regimens are supported in pregnancy. Isoniazid resistance with rifampin susceptibility Do not continue standard HR as if both were active. WHO recommends a six-month rifampin, ethambutol, pyrazinamide and levofloxacin regimen when appropriate susceptibility is established. Check for additional resistance and seek expert input. [2] [22] [23] [8] [21] 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 Source control in TB is selective 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a:p xmlns:a="http://schemas.openxmlformats.org/drawingml/2006/main">
            <a:r>
              <a:t/>
            </a:r>
          </a:p>
          <a:p xmlns:a="http://schemas.openxmlformats.org/drawingml/2006/main">
            <a:r>
              <a:t>Module section: https://docarcshot.github.io/id-practice-update/lectures/Tuberculosis_Standard_Treatment_and_Newer_Avenues.html#special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Disease site and host factors can override the short-course option Situations requiring a different discussion Situation Teaching point TB meningitis 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 Bone, joint or spinal TB Rifamycin-containing therapy is often 6-9 months; many experts favor 9 months, with longer courses in selected circumstances such as extensive hardware. Assess neurologic compromise, instability, large abscesses and need for tissue diagnosis or surgery. Pleural or lymph-node TB Often treatable with a standard six-month course. Enlarging nodes during treatment can be paradoxical, but assess adherence, resistance and other diagnoses before assigning that explanation. TB and HIV Coordinate ART and TB treatment together. Do not remove the rifamycin solely to preserve an incompatible ART regimen without expert review. Low CD4 counts and CNS disease affect eligibility and ART timing. Pregnancy Treat active disease without delay. U.S. guidance individualizes pyrazinamide use; WHO routinely includes it in standard drug-susceptible treatment. Avoid assuming the rifapentine-moxifloxacin or pretomanid regimens are supported in pregnancy. Isoniazid resistance with rifampin susceptibility Do not continue standard HR as if both were active. WHO recommends a six-month rifampin, ethambutol, pyrazinamide and levofloxacin regimen when appropriate susceptibility is established. Check for additional resistance and seek expert input. [2] [22] [23] [8] [21] 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 Source control in TB is selective 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a:p xmlns:a="http://schemas.openxmlformats.org/drawingml/2006/main">
            <a:r>
              <a:t/>
            </a:r>
          </a:p>
          <a:p xmlns:a="http://schemas.openxmlformats.org/drawingml/2006/main">
            <a:r>
              <a:t>Module section: https://docarcshot.github.io/id-practice-update/lectures/Tuberculosis_Standard_Treatment_and_Newer_Avenues.html#special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Disease site and host factors can override the short-course option Situations requiring a different discussion Situation Teaching point TB meningitis 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 Bone, joint or spinal TB Rifamycin-containing therapy is often 6-9 months; many experts favor 9 months, with longer courses in selected circumstances such as extensive hardware. Assess neurologic compromise, instability, large abscesses and need for tissue diagnosis or surgery. Pleural or lymph-node TB Often treatable with a standard six-month course. Enlarging nodes during treatment can be paradoxical, but assess adherence, resistance and other diagnoses before assigning that explanation. TB and HIV Coordinate ART and TB treatment together. Do not remove the rifamycin solely to preserve an incompatible ART regimen without expert review. Low CD4 counts and CNS disease affect eligibility and ART timing. Pregnancy Treat active disease without delay. U.S. guidance individualizes pyrazinamide use; WHO routinely includes it in standard drug-susceptible treatment. Avoid assuming the rifapentine-moxifloxacin or pretomanid regimens are supported in pregnancy. Isoniazid resistance with rifampin susceptibility Do not continue standard HR as if both were active. WHO recommends a six-month rifampin, ethambutol, pyrazinamide and levofloxacin regimen when appropriate susceptibility is established. Check for additional resistance and seek expert input. [2] [22] [23] [8] [21] 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 Source control in TB is selective 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a:p xmlns:a="http://schemas.openxmlformats.org/drawingml/2006/main">
            <a:r>
              <a:t/>
            </a:r>
          </a:p>
          <a:p xmlns:a="http://schemas.openxmlformats.org/drawingml/2006/main">
            <a:r>
              <a:t>Module section: https://docarcshot.github.io/id-practice-update/lectures/Tuberculosis_Standard_Treatment_and_Newer_Avenues.html#special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Disease site and host factors can override the short-course option Situations requiring a different discussion Situation Teaching point TB meningitis 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 Bone, joint or spinal TB Rifamycin-containing therapy is often 6-9 months; many experts favor 9 months, with longer courses in selected circumstances such as extensive hardware. Assess neurologic compromise, instability, large abscesses and need for tissue diagnosis or surgery. Pleural or lymph-node TB Often treatable with a standard six-month course. Enlarging nodes during treatment can be paradoxical, but assess adherence, resistance and other diagnoses before assigning that explanation. TB and HIV Coordinate ART and TB treatment together. Do not remove the rifamycin solely to preserve an incompatible ART regimen without expert review. Low CD4 counts and CNS disease affect eligibility and ART timing. Pregnancy Treat active disease without delay. U.S. guidance individualizes pyrazinamide use; WHO routinely includes it in standard drug-susceptible treatment. Avoid assuming the rifapentine-moxifloxacin or pretomanid regimens are supported in pregnancy. Isoniazid resistance with rifampin susceptibility Do not continue standard HR as if both were active. WHO recommends a six-month rifampin, ethambutol, pyrazinamide and levofloxacin regimen when appropriate susceptibility is established. Check for additional resistance and seek expert input. [2] [22] [23] [8] [21] 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 Source control in TB is selective 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a:p xmlns:a="http://schemas.openxmlformats.org/drawingml/2006/main">
            <a:r>
              <a:t/>
            </a:r>
          </a:p>
          <a:p xmlns:a="http://schemas.openxmlformats.org/drawingml/2006/main">
            <a:r>
              <a:t>Module section: https://docarcshot.github.io/id-practice-update/lectures/Tuberculosis_Standard_Treatment_and_Newer_Avenues.html#special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Disease site and host factors can override the short-course option Situations requiring a different discussion Situation Teaching point TB meningitis 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 Bone, joint or spinal TB Rifamycin-containing therapy is often 6-9 months; many experts favor 9 months, with longer courses in selected circumstances such as extensive hardware. Assess neurologic compromise, instability, large abscesses and need for tissue diagnosis or surgery. Pleural or lymph-node TB Often treatable with a standard six-month course. Enlarging nodes during treatment can be paradoxical, but assess adherence, resistance and other diagnoses before assigning that explanation. TB and HIV Coordinate ART and TB treatment together. Do not remove the rifamycin solely to preserve an incompatible ART regimen without expert review. Low CD4 counts and CNS disease affect eligibility and ART timing. Pregnancy Treat active disease without delay. U.S. guidance individualizes pyrazinamide use; WHO routinely includes it in standard drug-susceptible treatment. Avoid assuming the rifapentine-moxifloxacin or pretomanid regimens are supported in pregnancy. Isoniazid resistance with rifampin susceptibility Do not continue standard HR as if both were active. WHO recommends a six-month rifampin, ethambutol, pyrazinamide and levofloxacin regimen when appropriate susceptibility is established. Check for additional resistance and seek expert input. [2] [22] [23] [8] [21] 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 Source control in TB is selective 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a:p xmlns:a="http://schemas.openxmlformats.org/drawingml/2006/main">
            <a:r>
              <a:t/>
            </a:r>
          </a:p>
          <a:p xmlns:a="http://schemas.openxmlformats.org/drawingml/2006/main">
            <a:r>
              <a:t>Module section: https://docarcshot.github.io/id-practice-update/lectures/Tuberculosis_Standard_Treatment_and_Newer_Avenues.html#special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Disease site and host factors can override the short-course option Situations requiring a different discussion Situation Teaching point TB meningitis 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 Bone, joint or spinal TB Rifamycin-containing therapy is often 6-9 months; many experts favor 9 months, with longer courses in selected circumstances such as extensive hardware. Assess neurologic compromise, instability, large abscesses and need for tissue diagnosis or surgery. Pleural or lymph-node TB Often treatable with a standard six-month course. Enlarging nodes during treatment can be paradoxical, but assess adherence, resistance and other diagnoses before assigning that explanation. TB and HIV Coordinate ART and TB treatment together. Do not remove the rifamycin solely to preserve an incompatible ART regimen without expert review. Low CD4 counts and CNS disease affect eligibility and ART timing. Pregnancy Treat active disease without delay. U.S. guidance individualizes pyrazinamide use; WHO routinely includes it in standard drug-susceptible treatment. Avoid assuming the rifapentine-moxifloxacin or pretomanid regimens are supported in pregnancy. Isoniazid resistance with rifampin susceptibility Do not continue standard HR as if both were active. WHO recommends a six-month rifampin, ethambutol, pyrazinamide and levofloxacin regimen when appropriate susceptibility is established. Check for additional resistance and seek expert input. [2] [22] [23] [8] [21] 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 Source control in TB is selective 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a:p xmlns:a="http://schemas.openxmlformats.org/drawingml/2006/main">
            <a:r>
              <a:t/>
            </a:r>
          </a:p>
          <a:p xmlns:a="http://schemas.openxmlformats.org/drawingml/2006/main">
            <a:r>
              <a:t>Module section: https://docarcshot.github.io/id-practice-update/lectures/Tuberculosis_Standard_Treatment_and_Newer_Avenues.html#special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before accepting a shorter treatment claim 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 Phase 3 RCT Study 31/A5349 established an eligible four-month option 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 Practice implication: use the complete studied regimen in eligible pulmonary TB. The result does not support arbitrary four-month courses, and the trial exclusions remain clinically important. [10] [4] Randomized trial TB-PRACTECAL changed the burden of resistant-TB treatment 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 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 Dose/duration RCT ZeNix helped reduce linezolid exposure while preserving activity All 181 participants received bedaquiline and pretomanid; linezolid was randomized to 1,200 or 600 mg daily for 26 or 9 weeks. Favorable outcomes were 93%, 89%, 91% and 84%, respectively. In the 600-mg/26-week group, peripheral neuropathy occurred in 24% and myelosuppression in 2%. This supports the current lower-dose approach and intensive toxicity surveillance. It was not a comparison of BPaL with an external standard-care control, and four modest-sized groups cannot exclude important efficacy differences. [12] [1] Phase 3 RCT endTB provided several nine-month alternatives 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 DCMZ met the modified intention-to-treat criterion but was not supported by the per-protocol analysis. Grade 3 or higher adverse events were common across arms. This trial expands options; it does not establish that nine-month therapy is preferable to BPaLM. [13] Phase 3 RCT · 2026 BEAT-TB supports a pretomanid-free six-month strategy 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 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a:p xmlns:a="http://schemas.openxmlformats.org/drawingml/2006/main">
            <a:r>
              <a:t/>
            </a:r>
          </a:p>
          <a:p xmlns:a="http://schemas.openxmlformats.org/drawingml/2006/main">
            <a:r>
              <a:t>Module section: https://docarcshot.github.io/id-practice-update/lectures/Tuberculosis_Standard_Treatment_and_Newer_Avenues.html#evidence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next advances must demonstrate durable cure and acceptable toxicity Investigational strategy TRUNCATE-TB is not routine two-month treatment 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 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 Phase 2b/c · 2026 Quabodepistat offers a new target and a rifamycin-free combination 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 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 Phase 2b dose finding Sutezolid aims to improve on linezolid's therapeutic window 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 This is a model-based bacteriologic effect, not a 16.7% improvement in cure. The study did not establish a final dose, durable-cure advantage or comparative long-course safety against linezolid. Sutezolid remains a research option. [18] Phase 2 early activity Telacebec demonstrates activity without establishing a treatment regimen 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 The study confirms human antimycobacterial activity of an energy-production target. It does not establish monotherapy as treatment, a cure rate, resistance protection or safety over months. Combination studies with relapse follow-up are needed. [19] Negative phase 3 result HARVEST did not show a survival benefit from high-dose rifampin in TB meningitis In 499 adults, adding rifampin to reach 35 mg/kg daily for 8 weeks was compared with 10 mg/kg daily, both within multidrug treatment. Six-month mortality estimates were 44.6% versus 40.7%; hazard ratio 1.17, 95% CI 0.89 to 1.54, P=0.25. Improved drug exposure is not itself clinical benefit. This trial does not support routine high-dose oral rifampin to improve adult TB-meningitis survival. The interval also does not prove the two strategies equally safe. [20] Host-directed therapy needs the same evidentiary discipline 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 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 For every new avenue, ask whether it reduces relapse, death, toxicity or treatment burden, and whether resistance was measured. This is a selected evidence review, not an exhaustive inventory of every compound in development. No unpublished cure rates are assumed.</a:t>
            </a:r>
          </a:p>
          <a:p xmlns:a="http://schemas.openxmlformats.org/drawingml/2006/main">
            <a:r>
              <a:t/>
            </a:r>
          </a:p>
          <a:p xmlns:a="http://schemas.openxmlformats.org/drawingml/2006/main">
            <a:r>
              <a:t>Module section: https://docarcshot.github.io/id-practice-update/lectures/Tuberculosis_Standard_Treatment_and_Newer_Avenues.html#new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Preventive treatment is a different treatment problem Exclude active TB before prescribing preventive monotherapy or dual therapy. Symptoms, radiographic abnormalities or significant immunosuppression may require sputum testing even when the referral says “latent TB.” [24] Common preventive regimens Regimen Course Selection issue 3HP Isoniazid + rifapentine weekly for 3 months, 12 doses CDC option from age 2 years. Check ART interactions. Not recommended during pregnancy or when pregnancy is expected during treatment. 4R Rifampin daily for 4 months Often useful in HIV-negative adults and children. Check all interacting medications and source-case resistance. 3HR Isoniazid + rifampin daily for 3 months Option for adults and children, including selected people with HIV when interactions permit. 6H / 9H Isoniazid daily for 6 or 9 months Alternatives when rifamycin interactions or other constraints preclude short-course therapy; generally less favorable completion and toxicity profiles. 1HP Isoniazid + rifapentine daily for 1 month WHO option, with evidence and age/ART restrictions. It is not the same as 3HP and is not listed as a standard regimen on the CDC general LTBI page. 6Lfx after MDR/RR-TB exposure Levofloxacin daily for 6 months WHO-recommended prevention after appropriate exposure evaluation. Exclude disease and review source-case susceptibility, particularly FQ resistance, with the TB program. [24] [26] [25] 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 Turn a positive test into a complete preventive-care plan 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 Common adult preventive doses; verify weight and interactions Course Adult dose Scheduled doses 3HP Isoniazid 15 mg/kg, rounded up to nearest 50 or 100 mg, maximum 900 mg; rifapentine 900 mg when weight ≥50 kg. Lower weights need the CDC weight-band table. Both once weekly ×12. This is not daily active-TB rifapentine dosing. 4R Rifampin 10 mg/kg, maximum 600 mg daily. 120 daily doses. 3HR Isoniazid 5 mg/kg, maximum 300 mg, plus rifampin 10 mg/kg, maximum 600 mg daily. 90 daily doses. 6H / 9H Isoniazid 5 mg/kg, maximum 300 mg daily. 180 / 270 daily doses. These are adult schedules; children need pediatric dosing. Add pyridoxine with isoniazid for neuropathy risk, including pregnancy, HIV, diabetes, malnutrition and renal disease, commonly 25–50 mg/day. [24] [2] 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 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a:p xmlns:a="http://schemas.openxmlformats.org/drawingml/2006/main">
            <a:r>
              <a:t/>
            </a:r>
          </a:p>
          <a:p xmlns:a="http://schemas.openxmlformats.org/drawingml/2006/main">
            <a:r>
              <a:t>Module section: https://docarcshot.github.io/id-practice-update/lectures/Tuberculosis_Standard_Treatment_and_Newer_Avenues.html#prevention</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the regimen and evidence to the bedside Case 1. A negative IGRA is not an exit from the workup A 47-year-old receiving anti-TNF therapy has 6 weeks of cough, weight loss and an upper-lobe cavity. The IGRA is negative. Can airborne precautions and the TB evaluation be stopped? Reason through the decision No. Continue the disease evaluation and airborne precautions. Collect appropriate respiratory specimens, NAAT and cultures. Immunosuppression can blunt immune-based tests. Decide on empiric multidrug treatment from the full clinical picture, not the IGRA alone. [5] [6] Case 2. A genuine four-month candidate A 28-year-old, 65-kg patient has pulmonary TB with susceptible testing, no extrapulmonary disease, no pregnancy, no relevant interactions and acceptable QT risk. What is the shorter option, and what is not interchangeable? Reason through the decision Discuss 8 weeks of HPZM followed by 9 weeks of HPM with the TB program. Confirm the full daily 119-dose course and follow-up. Four months of standard RIPE-based therapy or rifapentine without moxifloxacin does not reproduce the evidence. [4] [10] Case 3. Cavitation and a positive two-month culture A patient on standard HRZE had cavitary disease at baseline. The culture obtained at completion of 2 months remains positive and is still drug susceptible. Is this automatically treatment failure? Reason through the decision It is a relapse-risk signal, not automatic failure at two months. Review observed doses, interactions, absorption and DST. With cavitation plus the positive two-month culture, plan a 7-month continuation phase, usually 9 months total, under TB-program direction. [3] [2] Case 4. Rifampin resistance is not solved by adding moxifloxacin A respiratory NAAT detects rifampin resistance. Fluoroquinolone susceptibility is pending. What information must guide the next regimen? Reason through the decision 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 Case 5. Linezolid toxicity threatens the combination During BPaLM therapy, a patient develops falling hemoglobin and new distal tingling. Cultures have converted. Can linezolid simply be stopped for the remainder? Reason through the decision 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 Case 6. An eight-week headline does not establish an eight-week cure A patient asks for the “two-month TB treatment” after reading about TRUNCATE-TB. How would you explain the actual evidence? Reason through the decision 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 Case 7. An AFB-positive result without a TB NAAT signal A 70-year-old with bronchiectasis has chronic cough. The sputum is smear positive but the TB NAAT is negative. Is this confirmed TB? Reason through the decision 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 Case 8. A positive IGRA and a growing lung mass A patient with remote TB exposure has a positive IGRA and an enlarging cavitary lung lesion. Initial sputum studies are unrevealing. Does the IGRA justify closing the differential? Reason through the decision No. Infection testing does not identify the cause of the lesion. Continue a directed TB evaluation and consider tissue for malignancy, fungal infection and other mimics. Coordinate fresh tissue for cultures alongside pathology. [5] [34] Case 9. Prevention before anti-TNF therapy An asymptomatic adult has a positive IGRA before anti-TNF treatment, a normal chest radiograph and no evidence of active disease. What makes a useful LTBI plan? Reason through the decision 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a:p xmlns:a="http://schemas.openxmlformats.org/drawingml/2006/main">
            <a:r>
              <a:t/>
            </a:r>
          </a:p>
          <a:p xmlns:a="http://schemas.openxmlformats.org/drawingml/2006/main">
            <a:r>
              <a:t>Module section: https://docarcshot.github.io/id-practice-update/lectures/Tuberculosis_Standard_Treatment_and_Newer_Avenues.html#cases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useful consult note specifies what happens next Communicate the disease classification, infectiousness assessment, regimen and its rationale, completed doses, pending resistance results, toxicity plan and person responsible for follow-up. A prescription without an access and follow-up plan is incomplete. Suspected/confirmed TB at [site], with [microbiology and resistance results]. Airborne precautions [status and criteria to reassess with infection prevention]. Regimen [full drug names, doses, start date and rationale]. Pending tests [culture, molecular and phenotypic DST, other sites]. Monitoring [specific tests, next date and clinician/program reviewing them]. Duration [provisional course and findings that would change it]. Public-health coordination [program, contact and plan for DOT/vDOT]. Discharge [medication supply, follow-up, household risk assessment and transport plan]. Clinical implementation Confirm current isolation rules, laboratory testing, reporting, TB-program consultation, and drug access with the treating institution. A lecture summary does not establish an isolation decision.</a:t>
            </a:r>
          </a:p>
          <a:p xmlns:a="http://schemas.openxmlformats.org/drawingml/2006/main">
            <a:r>
              <a:t/>
            </a:r>
          </a:p>
          <a:p xmlns:a="http://schemas.openxmlformats.org/drawingml/2006/main">
            <a:r>
              <a:t>Module section: https://docarcshot.github.io/id-practice-update/lectures/Tuberculosis_Standard_Treatment_and_Newer_Avenues.html#consult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useful consult note specifies what happens next Communicate the disease classification, infectiousness assessment, regimen and its rationale, completed doses, pending resistance results, toxicity plan and person responsible for follow-up. A prescription without an access and follow-up plan is incomplete. Suspected/confirmed TB at [site], with [microbiology and resistance results]. Airborne precautions [status and criteria to reassess with infection prevention]. Regimen [full drug names, doses, start date and rationale]. Pending tests [culture, molecular and phenotypic DST, other sites]. Monitoring [specific tests, next date and clinician/program reviewing them]. Duration [provisional course and findings that would change it]. Public-health coordination [program, contact and plan for DOT/vDOT]. Discharge [medication supply, follow-up, household risk assessment and transport plan]. Clinical implementation Confirm current isolation rules, laboratory testing, reporting, TB-program consultation, and drug access with the treating institution. A lecture summary does not establish an isolation decision.</a:t>
            </a:r>
          </a:p>
          <a:p xmlns:a="http://schemas.openxmlformats.org/drawingml/2006/main">
            <a:r>
              <a:t/>
            </a:r>
          </a:p>
          <a:p xmlns:a="http://schemas.openxmlformats.org/drawingml/2006/main">
            <a:r>
              <a:t>Module section: https://docarcshot.github.io/id-practice-update/lectures/Tuberculosis_Standard_Treatment_and_Newer_Avenues.html#consult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useful consult note specifies what happens next Communicate the disease classification, infectiousness assessment, regimen and its rationale, completed doses, pending resistance results, toxicity plan and person responsible for follow-up. A prescription without an access and follow-up plan is incomplete. Suspected/confirmed TB at [site], with [microbiology and resistance results]. Airborne precautions [status and criteria to reassess with infection prevention]. Regimen [full drug names, doses, start date and rationale]. Pending tests [culture, molecular and phenotypic DST, other sites]. Monitoring [specific tests, next date and clinician/program reviewing them]. Duration [provisional course and findings that would change it]. Public-health coordination [program, contact and plan for DOT/vDOT]. Discharge [medication supply, follow-up, household risk assessment and transport plan]. Clinical implementation Confirm current isolation rules, laboratory testing, reporting, TB-program consultation, and drug access with the treating institution. A lecture summary does not establish an isolation decision.</a:t>
            </a:r>
          </a:p>
          <a:p xmlns:a="http://schemas.openxmlformats.org/drawingml/2006/main">
            <a:r>
              <a:t/>
            </a:r>
          </a:p>
          <a:p xmlns:a="http://schemas.openxmlformats.org/drawingml/2006/main">
            <a:r>
              <a:t>Module section: https://docarcshot.github.io/id-practice-update/lectures/Tuberculosis_Standard_Treatment_and_Newer_Avenues.html#consult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that you can explain the decisions Pause before reading each answer. These are discussion questions for individual study or facilitated teaching. 1. Why should a positive NAAT still be followed by culture? Answer and rationale Culture supports organism recovery, susceptibility testing and response assessment. A molecular result does not replace those functions. [5] 2. Which two findings commonly extend the standard pulmonary course to nine months? Answer and rationale Baseline cavitation plus a positive sputum culture at completion of two months. Investigate adherence, susceptibility and exposure as part of the same decision. [3] 3. How does daily rifapentine for active TB differ from 3HP? Answer and rationale The active-TB regimen uses daily rifapentine within HPZM/HPM for 17 weeks. 3HP uses weekly isoniazid-rifapentine for prevention. Neither the schedules nor the treatment purposes are interchangeable. [4] 4. When does BPaL replace BPaLM in the U.S. guideline? Answer and rationale In otherwise eligible rifampin-resistant pulmonary disease with fluoroquinolone resistance or intolerance. Component activity and other eligibility restrictions still apply. [1] 5. What is the response to symptomatic ALT elevation above three times the upper limit of normal? Answer and rationale Hold hepatotoxic drugs and evaluate promptly. Determine severity and an active interim/reintroduction plan with the TB team rather than continuing an ineffective partial regimen. [2] 6. What does the quabodepistat primary endpoint fail to prove? Answer and rationale End-of-treatment sputum conversion is not the same as relapse-free cure. A small proof-of-concept study cannot establish effectiveness across disease sites or resistance patterns. [17] 7. Why can the TRUNCATE strategy succeed while its initial regimen has more relapse? Answer and rationale The strategy includes detection and retreatment of relapse; successful retreatment can prevent a week-96 strategy failure. That does not erase failure of the initial course. [16] 8. Can a contact with cough and an abnormal radiograph start levofloxacin prevention immediately? Answer and rationale Evaluate for active TB first. If disease is present, monotherapy is inappropriate and risks acquired resistance. Source-case DST also informs preventive selection. [25] 9. Does a positive IGRA explain a cavitary lung lesion? Answer and rationale No. It supports infection but does not establish the cause of the lesion. Evaluate TB disease and competing diagnoses, with microbiology and tissue when indicated. [5] 10. What must happen before starting 4R for latent infection? Answer and rationale Exclude active TB, review source resistance and drug interactions, and arrange dosing, counseling and monthly follow-up. Rifampin alone is inappropriate treatment for active TB. [35]</a:t>
            </a:r>
          </a:p>
          <a:p xmlns:a="http://schemas.openxmlformats.org/drawingml/2006/main">
            <a:r>
              <a:t/>
            </a:r>
          </a:p>
          <a:p xmlns:a="http://schemas.openxmlformats.org/drawingml/2006/main">
            <a:r>
              <a:t>Module section: https://docarcshot.github.io/id-practice-update/lectures/Tuberculosis_Standard_Treatment_and_Newer_Avenues.html#quiz</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TB on rounds: diagnose, distinguish, treat Adult-oriented memory aid • September 21, 2026 • Use with the eligibility and dosing details in the full module. Do not anchor on TB Consider NTM, endemic fungi, bacterial abscess/emboli, Nocardia, cancer and inflammatory disease. IGRA positivity does not explain a lesion; target culture and tissue. Treat latent infection Exclude active disease first. Prefer eligible 3HP, 4R or 3HR; use 6H/9H when appropriate. Check interactions, source resistance and pregnancy; arrange monthly review. Recognize and isolate Suspected pulmonary/laryngeal TB: airborne precautions, appropriate respirator and prompt IP/TB-program contact. IGRA/TST cannot rule out disease. Get the right samples Sputum AFB smear/culture, typically three specimens 8-24 h apart with one early morning; respiratory NAAT and rapid resistance testing. Preserve culture for DST. Drug-susceptible pulmonary TB Standard 2HRZE/4HR. Eligible age ≥12, weight ≥40 kg: 8 weeks HPZM then 9 weeks HPM. Pregnancy, most extrapulmonary disease, interactions or resistance may preclude shortening. Reassess duration For the standard regimen, cavitation plus positive culture at 2 months usually means 9 months total. Review doses, DST and exposure. CNS and bone/joint disease need site-specific plans. Rifampin-resistant disease Urgent expert input. FQ susceptible: consider BPaLM; FQ resistant/intolerant: consider BPaL if otherwise eligible. U.S. guidance uses 26 weeks. Never add one drug to failure. Monitor the combination Monthly response/adherence review and sputum cultures until conversion. Liver tests; CBC/neuropathy/vision for linezolid; vision for ethambutol; ECG and K+/Mg2+/Ca2+ for QT-active regimens. Act on toxicity Hepatitis symptoms plus ALT ≥3× ULN or ALT ≥5× without symptoms: hold hepatotoxic agents and evaluate. New neuropathy, cytopenia or visual change requires prompt review. Keep evidence in context BEAT and endTB expand selected options. Quabodepistat/sutezolid/telacebec remain investigational. TRUNCATE tested surveillance and retreatment, not universal two-month cure. H isoniazid · R rifampin · Z pyrazinamide · E ethambutol · P rifapentine · M moxifloxacin · B bedaquiline · Pa pretomanid · L linezolid. Full references and local-policy limitations are in the module.</a:t>
            </a:r>
          </a:p>
          <a:p xmlns:a="http://schemas.openxmlformats.org/drawingml/2006/main">
            <a:r>
              <a:t/>
            </a:r>
          </a:p>
          <a:p xmlns:a="http://schemas.openxmlformats.org/drawingml/2006/main">
            <a:r>
              <a:t>Module section: https://docarcshot.github.io/id-practice-update/lectures/Tuberculosis_Standard_Treatment_and_Newer_Avenues.html#cheat-sheet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TB on rounds: diagnose, distinguish, treat Adult-oriented memory aid • September 21, 2026 • Use with the eligibility and dosing details in the full module. Do not anchor on TB Consider NTM, endemic fungi, bacterial abscess/emboli, Nocardia, cancer and inflammatory disease. IGRA positivity does not explain a lesion; target culture and tissue. Treat latent infection Exclude active disease first. Prefer eligible 3HP, 4R or 3HR; use 6H/9H when appropriate. Check interactions, source resistance and pregnancy; arrange monthly review. Recognize and isolate Suspected pulmonary/laryngeal TB: airborne precautions, appropriate respirator and prompt IP/TB-program contact. IGRA/TST cannot rule out disease. Get the right samples Sputum AFB smear/culture, typically three specimens 8-24 h apart with one early morning; respiratory NAAT and rapid resistance testing. Preserve culture for DST. Drug-susceptible pulmonary TB Standard 2HRZE/4HR. Eligible age ≥12, weight ≥40 kg: 8 weeks HPZM then 9 weeks HPM. Pregnancy, most extrapulmonary disease, interactions or resistance may preclude shortening. Reassess duration For the standard regimen, cavitation plus positive culture at 2 months usually means 9 months total. Review doses, DST and exposure. CNS and bone/joint disease need site-specific plans. Rifampin-resistant disease Urgent expert input. FQ susceptible: consider BPaLM; FQ resistant/intolerant: consider BPaL if otherwise eligible. U.S. guidance uses 26 weeks. Never add one drug to failure. Monitor the combination Monthly response/adherence review and sputum cultures until conversion. Liver tests; CBC/neuropathy/vision for linezolid; vision for ethambutol; ECG and K+/Mg2+/Ca2+ for QT-active regimens. Act on toxicity Hepatitis symptoms plus ALT ≥3× ULN or ALT ≥5× without symptoms: hold hepatotoxic agents and evaluate. New neuropathy, cytopenia or visual change requires prompt review. Keep evidence in context BEAT and endTB expand selected options. Quabodepistat/sutezolid/telacebec remain investigational. TRUNCATE tested surveillance and retreatment, not universal two-month cure. H isoniazid · R rifampin · Z pyrazinamide · E ethambutol · P rifapentine · M moxifloxacin · B bedaquiline · Pa pretomanid · L linezolid. Full references and local-policy limitations are in the module.</a:t>
            </a:r>
          </a:p>
          <a:p xmlns:a="http://schemas.openxmlformats.org/drawingml/2006/main">
            <a:r>
              <a:t/>
            </a:r>
          </a:p>
          <a:p xmlns:a="http://schemas.openxmlformats.org/drawingml/2006/main">
            <a:r>
              <a:t>Module section: https://docarcshot.github.io/id-practice-update/lectures/Tuberculosis_Standard_Treatment_and_Newer_Avenues.html#cheat-sheet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TB on rounds: diagnose, distinguish, treat Adult-oriented memory aid • September 21, 2026 • Use with the eligibility and dosing details in the full module. Do not anchor on TB Consider NTM, endemic fungi, bacterial abscess/emboli, Nocardia, cancer and inflammatory disease. IGRA positivity does not explain a lesion; target culture and tissue. Treat latent infection Exclude active disease first. Prefer eligible 3HP, 4R or 3HR; use 6H/9H when appropriate. Check interactions, source resistance and pregnancy; arrange monthly review. Recognize and isolate Suspected pulmonary/laryngeal TB: airborne precautions, appropriate respirator and prompt IP/TB-program contact. IGRA/TST cannot rule out disease. Get the right samples Sputum AFB smear/culture, typically three specimens 8-24 h apart with one early morning; respiratory NAAT and rapid resistance testing. Preserve culture for DST. Drug-susceptible pulmonary TB Standard 2HRZE/4HR. Eligible age ≥12, weight ≥40 kg: 8 weeks HPZM then 9 weeks HPM. Pregnancy, most extrapulmonary disease, interactions or resistance may preclude shortening. Reassess duration For the standard regimen, cavitation plus positive culture at 2 months usually means 9 months total. Review doses, DST and exposure. CNS and bone/joint disease need site-specific plans. Rifampin-resistant disease Urgent expert input. FQ susceptible: consider BPaLM; FQ resistant/intolerant: consider BPaL if otherwise eligible. U.S. guidance uses 26 weeks. Never add one drug to failure. Monitor the combination Monthly response/adherence review and sputum cultures until conversion. Liver tests; CBC/neuropathy/vision for linezolid; vision for ethambutol; ECG and K+/Mg2+/Ca2+ for QT-active regimens. Act on toxicity Hepatitis symptoms plus ALT ≥3× ULN or ALT ≥5× without symptoms: hold hepatotoxic agents and evaluate. New neuropathy, cytopenia or visual change requires prompt review. Keep evidence in context BEAT and endTB expand selected options. Quabodepistat/sutezolid/telacebec remain investigational. TRUNCATE tested surveillance and retreatment, not universal two-month cure. H isoniazid · R rifampin · Z pyrazinamide · E ethambutol · P rifapentine · M moxifloxacin · B bedaquiline · Pa pretomanid · L linezolid. Full references and local-policy limitations are in the module.</a:t>
            </a:r>
          </a:p>
          <a:p xmlns:a="http://schemas.openxmlformats.org/drawingml/2006/main">
            <a:r>
              <a:t/>
            </a:r>
          </a:p>
          <a:p xmlns:a="http://schemas.openxmlformats.org/drawingml/2006/main">
            <a:r>
              <a:t>Module section: https://docarcshot.github.io/id-practice-update/lectures/Tuberculosis_Standard_Treatment_and_Newer_Avenues.html#cheat-sheet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TB on rounds: diagnose, distinguish, treat Adult-oriented memory aid • September 21, 2026 • Use with the eligibility and dosing details in the full module. Do not anchor on TB Consider NTM, endemic fungi, bacterial abscess/emboli, Nocardia, cancer and inflammatory disease. IGRA positivity does not explain a lesion; target culture and tissue. Treat latent infection Exclude active disease first. Prefer eligible 3HP, 4R or 3HR; use 6H/9H when appropriate. Check interactions, source resistance and pregnancy; arrange monthly review. Recognize and isolate Suspected pulmonary/laryngeal TB: airborne precautions, appropriate respirator and prompt IP/TB-program contact. IGRA/TST cannot rule out disease. Get the right samples Sputum AFB smear/culture, typically three specimens 8-24 h apart with one early morning; respiratory NAAT and rapid resistance testing. Preserve culture for DST. Drug-susceptible pulmonary TB Standard 2HRZE/4HR. Eligible age ≥12, weight ≥40 kg: 8 weeks HPZM then 9 weeks HPM. Pregnancy, most extrapulmonary disease, interactions or resistance may preclude shortening. Reassess duration For the standard regimen, cavitation plus positive culture at 2 months usually means 9 months total. Review doses, DST and exposure. CNS and bone/joint disease need site-specific plans. Rifampin-resistant disease Urgent expert input. FQ susceptible: consider BPaLM; FQ resistant/intolerant: consider BPaL if otherwise eligible. U.S. guidance uses 26 weeks. Never add one drug to failure. Monitor the combination Monthly response/adherence review and sputum cultures until conversion. Liver tests; CBC/neuropathy/vision for linezolid; vision for ethambutol; ECG and K+/Mg2+/Ca2+ for QT-active regimens. Act on toxicity Hepatitis symptoms plus ALT ≥3× ULN or ALT ≥5× without symptoms: hold hepatotoxic agents and evaluate. New neuropathy, cytopenia or visual change requires prompt review. Keep evidence in context BEAT and endTB expand selected options. Quabodepistat/sutezolid/telacebec remain investigational. TRUNCATE tested surveillance and retreatment, not universal two-month cure. H isoniazid · R rifampin · Z pyrazinamide · E ethambutol · P rifapentine · M moxifloxacin · B bedaquiline · Pa pretomanid · L linezolid. Full references and local-policy limitations are in the module.</a:t>
            </a:r>
          </a:p>
          <a:p xmlns:a="http://schemas.openxmlformats.org/drawingml/2006/main">
            <a:r>
              <a:t/>
            </a:r>
          </a:p>
          <a:p xmlns:a="http://schemas.openxmlformats.org/drawingml/2006/main">
            <a:r>
              <a:t>Module section: https://docarcshot.github.io/id-practice-update/lectures/Tuberculosis_Standard_Treatment_and_Newer_Avenues.html#cheat-sheet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https://docarcshot.github.io/id-practice-update/lectures/Tuberculosis_Standard_Treatment_and_Newer_Avenues.html#references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https://docarcshot.github.io/id-practice-update/lectures/Tuberculosis_Standard_Treatment_and_Newer_Avenues.html#ref-update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https://docarcshot.github.io/id-practice-update/lectures/Tuberculosis_Standard_Treatment_and_Newer_Avenues.html#ref-ds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https://docarcshot.github.io/id-practice-update/lectures/Tuberculosis_Standard_Treatment_and_Newer_Avenues.html#ref-cdc-ds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https://docarcshot.github.io/id-practice-update/lectures/Tuberculosis_Standard_Treatment_and_Newer_Avenues.html#ref-short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https://docarcshot.github.io/id-practice-update/lectures/Tuberculosis_Standard_Treatment_and_Newer_Avenues.html#ref-diagnosis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https://docarcshot.github.io/id-practice-update/lectures/Tuberculosis_Standard_Treatment_and_Newer_Avenues.html#ref-ip</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https://docarcshot.github.io/id-practice-update/lectures/Tuberculosis_Standard_Treatment_and_Newer_Avenues.html#ref-cdc-dr</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https://docarcshot.github.io/id-practice-update/lectures/Tuberculosis_Standard_Treatment_and_Newer_Avenues.html#ref-who</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https://docarcshot.github.io/id-practice-update/lectures/Tuberculosis_Standard_Treatment_and_Newer_Avenues.html#ref-who-six</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https://docarcshot.github.io/id-practice-update/lectures/Tuberculosis_Standard_Treatment_and_Newer_Avenues.html#ref-s31</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https://docarcshot.github.io/id-practice-update/lectures/Tuberculosis_Standard_Treatment_and_Newer_Avenues.html#ref-practecal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https://docarcshot.github.io/id-practice-update/lectures/Tuberculosis_Standard_Treatment_and_Newer_Avenues.html#ref-zenix</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https://docarcshot.github.io/id-practice-update/lectures/Tuberculosis_Standard_Treatment_and_Newer_Avenues.html#ref-endtb</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https://docarcshot.github.io/id-practice-update/lectures/Tuberculosis_Standard_Treatment_and_Newer_Avenues.html#ref-beat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https://docarcshot.github.io/id-practice-update/lectures/Tuberculosis_Standard_Treatment_and_Newer_Avenues.html#ref-truncate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https://docarcshot.github.io/id-practice-update/lectures/Tuberculosis_Standard_Treatment_and_Newer_Avenues.html#ref-truncate-follow</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https://docarcshot.github.io/id-practice-update/lectures/Tuberculosis_Standard_Treatment_and_Newer_Avenues.html#ref-dbq</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https://docarcshot.github.io/id-practice-update/lectures/Tuberculosis_Standard_Treatment_and_Newer_Avenues.html#ref-sutezolid</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https://docarcshot.github.io/id-practice-update/lectures/Tuberculosis_Standard_Treatment_and_Newer_Avenues.html#ref-telacebec</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https://docarcshot.github.io/id-practice-update/lectures/Tuberculosis_Standard_Treatment_and_Newer_Avenues.html#ref-harvest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https://docarcshot.github.io/id-practice-update/lectures/Tuberculosis_Standard_Treatment_and_Newer_Avenues.html#ref-lastact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https://docarcshot.github.io/id-practice-update/lectures/Tuberculosis_Standard_Treatment_and_Newer_Avenues.html#ref-hiv</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https://docarcshot.github.io/id-practice-update/lectures/Tuberculosis_Standard_Treatment_and_Newer_Avenues.html#ref-pregnancy</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https://docarcshot.github.io/id-practice-update/lectures/Tuberculosis_Standard_Treatment_and_Newer_Avenues.html#ref-ltbi</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https://docarcshot.github.io/id-practice-update/lectures/Tuberculosis_Standard_Treatment_and_Newer_Avenues.html#ref-tpt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https://docarcshot.github.io/id-practice-update/lectures/Tuberculosis_Standard_Treatment_and_Newer_Avenues.html#ref-tpt-options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https://docarcshot.github.io/id-practice-update/lectures/Tuberculosis_Standard_Treatment_and_Newer_Avenues.html#ref-contacts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https://docarcshot.github.io/id-practice-update/lectures/Tuberculosis_Standard_Treatment_and_Newer_Avenues.html#ref-renal</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https://docarcshot.github.io/id-practice-update/lectures/Tuberculosis_Standard_Treatment_and_Newer_Avenues.html#ref-dx-guideline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https://docarcshot.github.io/id-practice-update/lectures/Tuberculosis_Standard_Treatment_and_Newer_Avenues.html#ref-igra</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https://docarcshot.github.io/id-practice-update/lectures/Tuberculosis_Standard_Treatment_and_Newer_Avenues.html#ref-tst</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https://docarcshot.github.io/id-practice-update/lectures/Tuberculosis_Standard_Treatment_and_Newer_Avenues.html#ref-ntm</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https://docarcshot.github.io/id-practice-update/lectures/Tuberculosis_Standard_Treatment_and_Newer_Avenues.html#ref-histo</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https://docarcshot.github.io/id-practice-update/lectures/Tuberculosis_Standard_Treatment_and_Newer_Avenues.html#ref-cavities</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https://docarcshot.github.io/id-practice-update/lectures/Tuberculosis_Standard_Treatment_and_Newer_Avenues.html#ref-ltbi-guideline</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boundaries 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 ATS/CDC/ERS/IDSA treatment update . 2025. Guideline. Four-month drug-susceptible treatment, pediatric shortening, BPaL/BPaLM and monitoring. ATS/CDC/IDSA drug-susceptible TB guideline . 2016. Guideline. Standard treatment, dose adjustment, toxicity, extrapulmonary disease and response assessment. CDC treatment of drug-susceptible TB . April 17, 2025. U.S. implementation guidance. CDC rifapentine-moxifloxacin implementation guidance . February 25, 2022. Eligibility, exclusions, doses and 119-dose schedule. CDC clinical and laboratory diagnosis . Current online guidance. Specimen collection, NAAT, culture and resistance testing. CDC prevention of TB transmission in health-care settings . 2005. Hospital airborne precautions. Apply the current institutional implementation policy. CDC drug-resistant TB treatment . Current online guidance. U.S. approach to resistant disease and expert consultation. WHO consolidated guidelines, module 4, treatment and care . 2025. WHO recommendations; these do not establish U.S. regulatory approval or local availability. WHO operational handbook, six-month resistant-TB regimens . 2025. BDLLfxC selection, fluoroquinolone-based adjustment, subgroups and duration. Dorman et al. Study 31/A5349 . 2021. Randomized phase 3 noninferiority trial. Four-month rifapentine regimens with or without moxifloxacin. Nyang’wa et al. TB-PRACTECAL . 2022. Randomized trial. A 24-week all-oral regimen for rifampin-resistant TB. Numerical results here refer to the 2022 report. Conradie et al. ZeNix . 2022. Randomized linezolid dose/duration trial within BPaL. Guglielmetti et al. endTB . January 30, 2025. Randomized phase 3 trial of nine-month oral regimens for fluoroquinolone-susceptible RR-TB. Conradie et al. BEAT Tuberculosis . June 25, 2026. Pragmatic randomized phase 3 trial of a six-month strategy for RR-TB. Published abstract and WHO implementation materials reviewed. Paton et al. TRUNCATE-TB strategy trial . 2023. Randomized strategy trial with extension, monitoring and retreatment. Paton et al. TRUNCATE-TB regimen analysis . 2025. Prespecified exploratory analysis of initial eight-week regimens, distinct from the strategy outcome. Dawson et al. Quabodepistat-delamanid-bedaquiline . May 29, 2026. Randomized phase 2b/c proof-of-concept study. Published abstract reviewed; no claim of full-text/supplement review. Heinrich et al. PanACEA-SUDOCU-01 . Online July 8, 2025. Randomized phase 2b dose-finding study. Published abstract reviewed. Janssen et al. Telacebec phase 2 trial . 2025. Randomized 14-day early bactericidal activity study. Published abstract reviewed. Meya et al. HARVEST . December 18, 2025. Randomized trial of high-dose oral rifampin in adult TB meningitis. Published abstract reviewed. Donovan et al. Genotype-stratified adjunctive dexamethasone . Online January 15, 2026. Randomized phase 3 trial in HIV-negative adults with TB meningitis. Published abstract reviewed. CDC care for people with TB and HIV . April 17, 2025. HIV-specific treatment considerations and links to NIH guidance. CDC TB treatment during pregnancy . Current online guidance. U.S. approach, including individualized pyrazinamide use. CDC treatment for latent TB infection . Current online guidance. Preferred short rifamycin-based regimens, exclusions and monitoring. WHO preventive treatment options . 2024 update. Recommendation for six months of levofloxacin after MDR/RR-TB exposure. WHO recommended preventive regimens . 2024 update. Includes 1HP and comparison of preventive regimens. Duong et al. VQUIN and TB-CHAMP individual-participant meta-analysis . Online December 18, 2024. Randomized preventive-treatment evidence in household contacts, distinct from active-TB treatment. WHO drug-susceptible TB in special situations . 2025. Renal and hepatic considerations; used here for renal dosing and monitoring. ATS/CDC/IDSA diagnosis of TB in adults and children . 2017. Diagnostic guideline: discordant results, specimen selection and interpretation. CDC IGRA clinical testing guidance . Current online guidance. Immune-test interpretation, limitations and repeat testing. CDC tuberculin skin testing guidance . Current online guidance. Reading and risk-based thresholds. ATS/ERS/ESCMID/IDSA NTM pulmonary disease guideline . 2020. Distinguishing NTM isolation from pulmonary disease. CDC histoplasmosis testing algorithm . May 13, 2024. Endemic fungal testing and antigen/antibody limitations. Gadkowski and Stout. Cavitary pulmonary disease . 2008. Background differential diagnosis; not used for current treatment recommendations. NTCA/CDC latent TB treatment recommendations . 2020. Regimen selection, benefits, interactions and toxicity. NIH adult and adolescent OI guidance, Mycobacterium tuberculosis . Updated May 2, 2024; reviewed by NIH March 16, 2026. ART timing and TB/HIV interactions; checked September 15, 2026.</a:t>
            </a:r>
          </a:p>
          <a:p xmlns:a="http://schemas.openxmlformats.org/drawingml/2006/main">
            <a:r>
              <a:t/>
            </a:r>
          </a:p>
          <a:p xmlns:a="http://schemas.openxmlformats.org/drawingml/2006/main">
            <a:r>
              <a:t>Module section: https://docarcshot.github.io/id-practice-update/lectures/Tuberculosis_Standard_Treatment_and_Newer_Avenues.html#ref-nih-tb</a:t>
            </a:r>
          </a:p>
          <a:p xmlns:a="http://schemas.openxmlformats.org/drawingml/2006/main">
            <a:r>
              <a:t/>
            </a:r>
          </a:p>
          <a:p xmlns:a="http://schemas.openxmlformats.org/drawingml/2006/main">
            <a:r>
              <a:t>Public sources and related reading:</a:t>
            </a:r>
          </a:p>
          <a:p xmlns:a="http://schemas.openxmlformats.org/drawingml/2006/main">
            <a:r>
              <a:t>https://pmc.ncbi.nlm.nih.gov/articles/PMC11755361/</a:t>
            </a:r>
          </a:p>
          <a:p xmlns:a="http://schemas.openxmlformats.org/drawingml/2006/main">
            <a:r>
              <a:t>https://www.idsociety.org/practice-guideline/treatment-of-drug-susceptible-tb/</a:t>
            </a:r>
          </a:p>
          <a:p xmlns:a="http://schemas.openxmlformats.org/drawingml/2006/main">
            <a:r>
              <a:t>https://www.cdc.gov/tb/hcp/treatment/tuberculosis-disease.html</a:t>
            </a:r>
          </a:p>
          <a:p xmlns:a="http://schemas.openxmlformats.org/drawingml/2006/main">
            <a:r>
              <a:t>https://www.cdc.gov/mmwr/volumes/71/wr/mm7108a1.htm</a:t>
            </a:r>
          </a:p>
          <a:p xmlns:a="http://schemas.openxmlformats.org/drawingml/2006/main">
            <a:r>
              <a:t>https://www.cdc.gov/tb/hcp/testing-diagnosis/clinical-and-laboratory-diagnosis.html</a:t>
            </a:r>
          </a:p>
          <a:p xmlns:a="http://schemas.openxmlformats.org/drawingml/2006/main">
            <a:r>
              <a:t>https://www.cdc.gov/mmwr/preview/mmwrhtml/rr5417a1.htm</a:t>
            </a:r>
          </a:p>
          <a:p xmlns:a="http://schemas.openxmlformats.org/drawingml/2006/main">
            <a:r>
              <a:t>https://www.cdc.gov/tb/hcp/treatment/drug-resistant-tuberculosis-disease.html</a:t>
            </a:r>
          </a:p>
          <a:p xmlns:a="http://schemas.openxmlformats.org/drawingml/2006/main">
            <a:r>
              <a:t>https://www.who.int/publications/i/item/9789240107243</a:t>
            </a:r>
          </a:p>
          <a:p xmlns:a="http://schemas.openxmlformats.org/drawingml/2006/main">
            <a:r>
              <a:t>https://tbksp.who.int/en/node/3033</a:t>
            </a:r>
          </a:p>
          <a:p xmlns:a="http://schemas.openxmlformats.org/drawingml/2006/main">
            <a:r>
              <a:t>https://doi.org/10.1056/NEJMoa2033400</a:t>
            </a:r>
          </a:p>
          <a:p xmlns:a="http://schemas.openxmlformats.org/drawingml/2006/main">
            <a:r>
              <a:t>https://doi.org/10.1056/NEJMoa2117166</a:t>
            </a:r>
          </a:p>
          <a:p xmlns:a="http://schemas.openxmlformats.org/drawingml/2006/main">
            <a:r>
              <a:t>https://doi.org/10.1056/NEJMoa2119430</a:t>
            </a:r>
          </a:p>
          <a:p xmlns:a="http://schemas.openxmlformats.org/drawingml/2006/main">
            <a:r>
              <a:t>https://doi.org/10.1056/NEJMoa2400327</a:t>
            </a:r>
          </a:p>
          <a:p xmlns:a="http://schemas.openxmlformats.org/drawingml/2006/main">
            <a:r>
              <a:t>https://doi.org/10.1056/NEJMoa2503687</a:t>
            </a:r>
          </a:p>
          <a:p xmlns:a="http://schemas.openxmlformats.org/drawingml/2006/main">
            <a:r>
              <a:t>https://doi.org/10.1056/NEJMoa2212537</a:t>
            </a:r>
          </a:p>
          <a:p xmlns:a="http://schemas.openxmlformats.org/drawingml/2006/main">
            <a:r>
              <a:t>https://doi.org/10.1016/S1473-3099(25)00151-3</a:t>
            </a:r>
          </a:p>
          <a:p xmlns:a="http://schemas.openxmlformats.org/drawingml/2006/main">
            <a:r>
              <a:t>https://doi.org/10.1016/S1473-3099(26)00143-X</a:t>
            </a:r>
          </a:p>
          <a:p xmlns:a="http://schemas.openxmlformats.org/drawingml/2006/main">
            <a:r>
              <a:t>https://doi.org/10.1016/S1473-3099(25)00213-0</a:t>
            </a:r>
          </a:p>
          <a:p xmlns:a="http://schemas.openxmlformats.org/drawingml/2006/main">
            <a:r>
              <a:t>https://doi.org/10.1164/rccm.202408-1632OC</a:t>
            </a:r>
          </a:p>
          <a:p xmlns:a="http://schemas.openxmlformats.org/drawingml/2006/main">
            <a:r>
              <a:t>https://doi.org/10.1056/NEJMoa2502866</a:t>
            </a:r>
          </a:p>
          <a:p xmlns:a="http://schemas.openxmlformats.org/drawingml/2006/main">
            <a:r>
              <a:t>https://doi.org/10.1038/s41591-025-04138-z</a:t>
            </a:r>
          </a:p>
          <a:p xmlns:a="http://schemas.openxmlformats.org/drawingml/2006/main">
            <a:r>
              <a:t>https://www.cdc.gov/tb/hcp/clinical-care/hiv.html</a:t>
            </a:r>
          </a:p>
          <a:p xmlns:a="http://schemas.openxmlformats.org/drawingml/2006/main">
            <a:r>
              <a:t>https://www.cdc.gov/tb/hcp/clinical-care/pregnancy.html</a:t>
            </a:r>
          </a:p>
          <a:p xmlns:a="http://schemas.openxmlformats.org/drawingml/2006/main">
            <a:r>
              <a:t>https://www.cdc.gov/tb/hcp/treatment/latent-tuberculosis-infection.html</a:t>
            </a:r>
          </a:p>
          <a:p xmlns:a="http://schemas.openxmlformats.org/drawingml/2006/main">
            <a:r>
              <a:t>https://tbksp.who.int/en/node/43</a:t>
            </a:r>
          </a:p>
          <a:p xmlns:a="http://schemas.openxmlformats.org/drawingml/2006/main">
            <a:r>
              <a:t>https://tbksp.who.int/en/node/1271</a:t>
            </a:r>
          </a:p>
          <a:p xmlns:a="http://schemas.openxmlformats.org/drawingml/2006/main">
            <a:r>
              <a:t>https://doi.org/10.1056/EVIDoa2400190</a:t>
            </a:r>
          </a:p>
          <a:p xmlns:a="http://schemas.openxmlformats.org/drawingml/2006/main">
            <a:r>
              <a:t>https://tbksp.who.int/en/node/3025</a:t>
            </a:r>
          </a:p>
          <a:p xmlns:a="http://schemas.openxmlformats.org/drawingml/2006/main">
            <a:r>
              <a:t>https://www.idsociety.org/practice-guideline/diagnosis-of-tb-in-adults-and-children/</a:t>
            </a:r>
          </a:p>
          <a:p xmlns:a="http://schemas.openxmlformats.org/drawingml/2006/main">
            <a:r>
              <a:t>https://www.cdc.gov/tb/hcp/testing-diagnosis/interferon-gamma-release-assay.html</a:t>
            </a:r>
          </a:p>
          <a:p xmlns:a="http://schemas.openxmlformats.org/drawingml/2006/main">
            <a:r>
              <a:t>https://www.cdc.gov/tb/hcp/testing-diagnosis/tuberculin-skin-test.html</a:t>
            </a:r>
          </a:p>
          <a:p xmlns:a="http://schemas.openxmlformats.org/drawingml/2006/main">
            <a:r>
              <a:t>https://www.idsociety.org/practice-guideline/nontuberculous-mycobacterial-ntm-diseases/</a:t>
            </a:r>
          </a:p>
          <a:p xmlns:a="http://schemas.openxmlformats.org/drawingml/2006/main">
            <a:r>
              <a:t>https://www.cdc.gov/histoplasmosis/hcp/algorithm/index.html</a:t>
            </a:r>
          </a:p>
          <a:p xmlns:a="http://schemas.openxmlformats.org/drawingml/2006/main">
            <a:r>
              <a:t>https://doi.org/10.1128/CMR.00060-07</a:t>
            </a:r>
          </a:p>
          <a:p xmlns:a="http://schemas.openxmlformats.org/drawingml/2006/main">
            <a:r>
              <a:t>https://www.cdc.gov/mmwr/volumes/69/rr/rr6901a1.htm</a:t>
            </a:r>
          </a:p>
          <a:p xmlns:a="http://schemas.openxmlformats.org/drawingml/2006/main">
            <a:r>
              <a:t>https://clinicalinfo.hiv.gov/en/guidelines/hiv-clinical-guidelines-adult-and-adolescent-opportunistic-infections/mycobacterium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3eab07955348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4b43dea95442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fbe41c10784f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f8f9dea81a49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a99972d49347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d91397ec7449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64F373-7B0B-46B6-88F2-C3AA6F0A59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609396-665C-467A-9E22-1C9AB9EB64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CDCBE4-B141-4686-9961-A5ABBB3046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C2C3EA-A567-4F04-9F45-600E965C83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EF6338-39DA-4E92-B758-B74F4A7CD7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C8BAF66-C77E-4504-A5B8-FD151F098B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A2F18A-0B8E-460D-9DB1-A54FD8199B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0BF802-8832-4104-9112-D46AF066761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105CB7-C102-4598-955A-ED48A21170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955E32-1E5F-4627-9B3A-2D46EC25E1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358eda76ca43df" /><Relationship Type="http://schemas.openxmlformats.org/officeDocument/2006/relationships/slideLayout" Target="/ppt/slideLayouts/slideLayout1.xml" Id="R758c0e9656a747fe" /><Relationship Type="http://schemas.openxmlformats.org/officeDocument/2006/relationships/slideLayout" Target="/ppt/slideLayouts/slideLayout2.xml" Id="R93e99e1fd7b94fbc" /><Relationship Type="http://schemas.openxmlformats.org/officeDocument/2006/relationships/slideLayout" Target="/ppt/slideLayouts/slideLayout3.xml" Id="R622aae4689c24758" /><Relationship Type="http://schemas.openxmlformats.org/officeDocument/2006/relationships/slideLayout" Target="/ppt/slideLayouts/slideLayout4.xml" Id="R8abcdeb026544590" /><Relationship Type="http://schemas.openxmlformats.org/officeDocument/2006/relationships/slideLayout" Target="/ppt/slideLayouts/slideLayout5.xml" Id="Rfa718e080cc648a1" /><Relationship Type="http://schemas.openxmlformats.org/officeDocument/2006/relationships/slideLayout" Target="/ppt/slideLayouts/slideLayout6.xml" Id="Rf3676e5c5c1e4d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8c0e9656a747fe"/>
    <p:sldLayoutId xmlns:r="http://schemas.openxmlformats.org/officeDocument/2006/relationships" id="2147483650" r:id="R93e99e1fd7b94fbc"/>
    <p:sldLayoutId xmlns:r="http://schemas.openxmlformats.org/officeDocument/2006/relationships" id="2147483651" r:id="R622aae4689c24758"/>
    <p:sldLayoutId xmlns:r="http://schemas.openxmlformats.org/officeDocument/2006/relationships" id="2147483652" r:id="R8abcdeb026544590"/>
    <p:sldLayoutId xmlns:r="http://schemas.openxmlformats.org/officeDocument/2006/relationships" id="2147483653" r:id="Rfa718e080cc648a1"/>
    <p:sldLayoutId xmlns:r="http://schemas.openxmlformats.org/officeDocument/2006/relationships" id="2147483654" r:id="Rf3676e5c5c1e4d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320e22a4234bc1" /><Relationship Type="http://schemas.openxmlformats.org/officeDocument/2006/relationships/notesSlide" Target="/ppt/notesSlides/notesSlide1.xml" Id="Ree98e0f7023849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8def2beed94ed1" /><Relationship Type="http://schemas.openxmlformats.org/officeDocument/2006/relationships/notesSlide" Target="/ppt/notesSlides/notesSlide2.xml" Id="R6f25afdcffd74c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ce1de5314e4059" /><Relationship Type="http://schemas.openxmlformats.org/officeDocument/2006/relationships/notesSlide" Target="/ppt/notesSlides/notesSlide3.xml" Id="R449b3c9acc4049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23784e679e4cab" /><Relationship Type="http://schemas.openxmlformats.org/officeDocument/2006/relationships/notesSlide" Target="/ppt/notesSlides/notesSlide4.xml" Id="R7346ac9d444645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150420a6054a1e" /><Relationship Type="http://schemas.openxmlformats.org/officeDocument/2006/relationships/notesSlide" Target="/ppt/notesSlides/notesSlide5.xml" Id="Re27b6c51a01640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dfa87cfb4c4294" /><Relationship Type="http://schemas.openxmlformats.org/officeDocument/2006/relationships/notesSlide" Target="/ppt/notesSlides/notesSlide6.xml" Id="R89fb9c59b91e4b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85fa1859a64885" /><Relationship Type="http://schemas.openxmlformats.org/officeDocument/2006/relationships/notesSlide" Target="/ppt/notesSlides/notesSlide7.xml" Id="Rbc8adf33a8644f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eacc9ad2c941f2" /><Relationship Type="http://schemas.openxmlformats.org/officeDocument/2006/relationships/notesSlide" Target="/ppt/notesSlides/notesSlide8.xml" Id="R14a176bdcd2c4e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11557bd9af4520" /><Relationship Type="http://schemas.openxmlformats.org/officeDocument/2006/relationships/notesSlide" Target="/ppt/notesSlides/notesSlide9.xml" Id="Re329ae58fbde4f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b76e56afd54556" /><Relationship Type="http://schemas.openxmlformats.org/officeDocument/2006/relationships/notesSlide" Target="/ppt/notesSlides/notesSlide10.xml" Id="Rc03b31dc317443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15433786244ee0" /><Relationship Type="http://schemas.openxmlformats.org/officeDocument/2006/relationships/notesSlide" Target="/ppt/notesSlides/notesSlide11.xml" Id="Rdd1b5a92283b40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73bfa7e7d94305" /><Relationship Type="http://schemas.openxmlformats.org/officeDocument/2006/relationships/notesSlide" Target="/ppt/notesSlides/notesSlide12.xml" Id="Rd29e5e52d20648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cc5c43398e34a3a" /><Relationship Type="http://schemas.openxmlformats.org/officeDocument/2006/relationships/notesSlide" Target="/ppt/notesSlides/notesSlide13.xml" Id="R96d5990f77cb47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f834eccede740e1" /><Relationship Type="http://schemas.openxmlformats.org/officeDocument/2006/relationships/notesSlide" Target="/ppt/notesSlides/notesSlide14.xml" Id="R6859af772a294b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873866ed6d4fdd" /><Relationship Type="http://schemas.openxmlformats.org/officeDocument/2006/relationships/notesSlide" Target="/ppt/notesSlides/notesSlide15.xml" Id="Ra2f3a32808b14c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ced51599b1b44f1" /><Relationship Type="http://schemas.openxmlformats.org/officeDocument/2006/relationships/notesSlide" Target="/ppt/notesSlides/notesSlide16.xml" Id="R395d4a66c21142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7cb01e8de3c4771" /><Relationship Type="http://schemas.openxmlformats.org/officeDocument/2006/relationships/notesSlide" Target="/ppt/notesSlides/notesSlide17.xml" Id="R05e680248b174a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788e6826b374903" /><Relationship Type="http://schemas.openxmlformats.org/officeDocument/2006/relationships/notesSlide" Target="/ppt/notesSlides/notesSlide18.xml" Id="Rd5bd00fa0c9e471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f327ece680d4c29" /><Relationship Type="http://schemas.openxmlformats.org/officeDocument/2006/relationships/notesSlide" Target="/ppt/notesSlides/notesSlide19.xml" Id="Rcb751a22f9b2497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8e0e00e1dd041bd" /><Relationship Type="http://schemas.openxmlformats.org/officeDocument/2006/relationships/notesSlide" Target="/ppt/notesSlides/notesSlide20.xml" Id="Rbeacef6db18d4a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a2f43360b794240" /><Relationship Type="http://schemas.openxmlformats.org/officeDocument/2006/relationships/notesSlide" Target="/ppt/notesSlides/notesSlide21.xml" Id="R908333119fc346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10fde8588e14eaf" /><Relationship Type="http://schemas.openxmlformats.org/officeDocument/2006/relationships/notesSlide" Target="/ppt/notesSlides/notesSlide22.xml" Id="R4cdb91932ada4e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96c868aa19d4cf8" /><Relationship Type="http://schemas.openxmlformats.org/officeDocument/2006/relationships/notesSlide" Target="/ppt/notesSlides/notesSlide23.xml" Id="R6721741865c645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40c1a1b077448d3" /><Relationship Type="http://schemas.openxmlformats.org/officeDocument/2006/relationships/notesSlide" Target="/ppt/notesSlides/notesSlide24.xml" Id="R12549570aaa24a6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be86b5d27584585" /><Relationship Type="http://schemas.openxmlformats.org/officeDocument/2006/relationships/notesSlide" Target="/ppt/notesSlides/notesSlide25.xml" Id="R8130a14803ba497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defb81a859848f6" /><Relationship Type="http://schemas.openxmlformats.org/officeDocument/2006/relationships/notesSlide" Target="/ppt/notesSlides/notesSlide26.xml" Id="Rad55dc7963d747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dc465281d694332" /><Relationship Type="http://schemas.openxmlformats.org/officeDocument/2006/relationships/notesSlide" Target="/ppt/notesSlides/notesSlide27.xml" Id="R92ba3f817377443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24190d133d94951" /><Relationship Type="http://schemas.openxmlformats.org/officeDocument/2006/relationships/notesSlide" Target="/ppt/notesSlides/notesSlide28.xml" Id="R616e71f61ecc484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59f846006054a8d" /><Relationship Type="http://schemas.openxmlformats.org/officeDocument/2006/relationships/notesSlide" Target="/ppt/notesSlides/notesSlide29.xml" Id="R4c7cb4aab7264e1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f1fa392c1074f35" /><Relationship Type="http://schemas.openxmlformats.org/officeDocument/2006/relationships/notesSlide" Target="/ppt/notesSlides/notesSlide30.xml" Id="R3b8d7f5c267e41b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f47d9ca37c4408e" /><Relationship Type="http://schemas.openxmlformats.org/officeDocument/2006/relationships/notesSlide" Target="/ppt/notesSlides/notesSlide31.xml" Id="R03f347f3fcf141f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1f999734d794753" /><Relationship Type="http://schemas.openxmlformats.org/officeDocument/2006/relationships/notesSlide" Target="/ppt/notesSlides/notesSlide32.xml" Id="R9b38a404c7644a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cbb0f33e3154853" /><Relationship Type="http://schemas.openxmlformats.org/officeDocument/2006/relationships/notesSlide" Target="/ppt/notesSlides/notesSlide33.xml" Id="R809102f06beb4a5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294ee89158a4c19" /><Relationship Type="http://schemas.openxmlformats.org/officeDocument/2006/relationships/notesSlide" Target="/ppt/notesSlides/notesSlide34.xml" Id="Rea1835a61f4a481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847a812ebfa471d" /><Relationship Type="http://schemas.openxmlformats.org/officeDocument/2006/relationships/notesSlide" Target="/ppt/notesSlides/notesSlide35.xml" Id="Rce6d45c9a5ed42d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41331820ad64ecc" /><Relationship Type="http://schemas.openxmlformats.org/officeDocument/2006/relationships/notesSlide" Target="/ppt/notesSlides/notesSlide36.xml" Id="Re236cf7a1c8c4c5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b2b58c7c4d94ef7" /><Relationship Type="http://schemas.openxmlformats.org/officeDocument/2006/relationships/notesSlide" Target="/ppt/notesSlides/notesSlide37.xml" Id="Re028447894b44c0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46a7df743794007" /><Relationship Type="http://schemas.openxmlformats.org/officeDocument/2006/relationships/notesSlide" Target="/ppt/notesSlides/notesSlide38.xml" Id="Rbfad02593188432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ebc2382cbc44ea0" /><Relationship Type="http://schemas.openxmlformats.org/officeDocument/2006/relationships/notesSlide" Target="/ppt/notesSlides/notesSlide39.xml" Id="R53b41a4dfa0b446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6e3495cac11467c" /><Relationship Type="http://schemas.openxmlformats.org/officeDocument/2006/relationships/notesSlide" Target="/ppt/notesSlides/notesSlide40.xml" Id="R210b200f0b074ea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02cfb6b380d412d" /><Relationship Type="http://schemas.openxmlformats.org/officeDocument/2006/relationships/notesSlide" Target="/ppt/notesSlides/notesSlide41.xml" Id="R5556b5f60bad48c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c6236239e1f4504" /><Relationship Type="http://schemas.openxmlformats.org/officeDocument/2006/relationships/notesSlide" Target="/ppt/notesSlides/notesSlide42.xml" Id="R9e93a01cf60949c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ce7a8c86f2d48e6" /><Relationship Type="http://schemas.openxmlformats.org/officeDocument/2006/relationships/notesSlide" Target="/ppt/notesSlides/notesSlide43.xml" Id="R1213b65134e54c1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d16f18ead6d4906" /><Relationship Type="http://schemas.openxmlformats.org/officeDocument/2006/relationships/notesSlide" Target="/ppt/notesSlides/notesSlide44.xml" Id="R216b0b42af8b42d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4fb1fc9ba27a4457" /><Relationship Type="http://schemas.openxmlformats.org/officeDocument/2006/relationships/notesSlide" Target="/ppt/notesSlides/notesSlide45.xml" Id="R44d1e5e6b82044f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80f7d100df0473a" /><Relationship Type="http://schemas.openxmlformats.org/officeDocument/2006/relationships/notesSlide" Target="/ppt/notesSlides/notesSlide46.xml" Id="R66835349472b412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82f467ce6294dba" /><Relationship Type="http://schemas.openxmlformats.org/officeDocument/2006/relationships/notesSlide" Target="/ppt/notesSlides/notesSlide47.xml" Id="Rae47e238cd794f8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79f16e2b13fc4f83" /><Relationship Type="http://schemas.openxmlformats.org/officeDocument/2006/relationships/notesSlide" Target="/ppt/notesSlides/notesSlide48.xml" Id="R653f19924028443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0f32881399a4bc6" /><Relationship Type="http://schemas.openxmlformats.org/officeDocument/2006/relationships/notesSlide" Target="/ppt/notesSlides/notesSlide49.xml" Id="Rc9c5438359dc433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926d266a14d4528" /><Relationship Type="http://schemas.openxmlformats.org/officeDocument/2006/relationships/notesSlide" Target="/ppt/notesSlides/notesSlide50.xml" Id="R35fa27113989407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bb9904ccda24f1c" /><Relationship Type="http://schemas.openxmlformats.org/officeDocument/2006/relationships/notesSlide" Target="/ppt/notesSlides/notesSlide51.xml" Id="R7606d8833266484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f38e6b1727794e18" /><Relationship Type="http://schemas.openxmlformats.org/officeDocument/2006/relationships/notesSlide" Target="/ppt/notesSlides/notesSlide52.xml" Id="R31905858a91f437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c17ab99ab41b427b" /><Relationship Type="http://schemas.openxmlformats.org/officeDocument/2006/relationships/notesSlide" Target="/ppt/notesSlides/notesSlide53.xml" Id="Rc4667e22321c434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bdbbadd2d58b45c7" /><Relationship Type="http://schemas.openxmlformats.org/officeDocument/2006/relationships/notesSlide" Target="/ppt/notesSlides/notesSlide54.xml" Id="Rcd441fbbc59249a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9e8ed18b5ae44e2f" /><Relationship Type="http://schemas.openxmlformats.org/officeDocument/2006/relationships/notesSlide" Target="/ppt/notesSlides/notesSlide55.xml" Id="R047385cfab9b4d4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b4db9bb68e394a83" /><Relationship Type="http://schemas.openxmlformats.org/officeDocument/2006/relationships/notesSlide" Target="/ppt/notesSlides/notesSlide56.xml" Id="Rcf3e1627ecc14f2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ef8601be49dd466c" /><Relationship Type="http://schemas.openxmlformats.org/officeDocument/2006/relationships/notesSlide" Target="/ppt/notesSlides/notesSlide57.xml" Id="Re54891695183446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e19ab94ca1ce4172" /><Relationship Type="http://schemas.openxmlformats.org/officeDocument/2006/relationships/notesSlide" Target="/ppt/notesSlides/notesSlide58.xml" Id="R6d1618974172417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357b8b35f65147f6" /><Relationship Type="http://schemas.openxmlformats.org/officeDocument/2006/relationships/notesSlide" Target="/ppt/notesSlides/notesSlide59.xml" Id="R1fc558cb1e024fc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fbfeaffabe494802" /><Relationship Type="http://schemas.openxmlformats.org/officeDocument/2006/relationships/notesSlide" Target="/ppt/notesSlides/notesSlide60.xml" Id="Rcf819f993c0541d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46155ff8f397497c" /><Relationship Type="http://schemas.openxmlformats.org/officeDocument/2006/relationships/notesSlide" Target="/ppt/notesSlides/notesSlide61.xml" Id="R9ebb3e46efad456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001892444bbf497c" /><Relationship Type="http://schemas.openxmlformats.org/officeDocument/2006/relationships/notesSlide" Target="/ppt/notesSlides/notesSlide62.xml" Id="Ra94b77845e07477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a4f8353cd5294379" /><Relationship Type="http://schemas.openxmlformats.org/officeDocument/2006/relationships/notesSlide" Target="/ppt/notesSlides/notesSlide63.xml" Id="R6e7aba974b8342d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ae65d56264c54e73" /><Relationship Type="http://schemas.openxmlformats.org/officeDocument/2006/relationships/notesSlide" Target="/ppt/notesSlides/notesSlide64.xml" Id="R4495bcd84d2d4ab8"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7d471193bcb44a54" /><Relationship Type="http://schemas.openxmlformats.org/officeDocument/2006/relationships/notesSlide" Target="/ppt/notesSlides/notesSlide65.xml" Id="R3dacbb886332442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1adb736fefcd4025" /><Relationship Type="http://schemas.openxmlformats.org/officeDocument/2006/relationships/notesSlide" Target="/ppt/notesSlides/notesSlide66.xml" Id="R19aaf4201e4b4f0a"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badbc9b254f4175" /><Relationship Type="http://schemas.openxmlformats.org/officeDocument/2006/relationships/notesSlide" Target="/ppt/notesSlides/notesSlide67.xml" Id="Rd245a4e0d7a346a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3e3412d0339f46c0" /><Relationship Type="http://schemas.openxmlformats.org/officeDocument/2006/relationships/notesSlide" Target="/ppt/notesSlides/notesSlide68.xml" Id="Re2a9027cb2ce4b9c"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328a7cd901d0403b" /><Relationship Type="http://schemas.openxmlformats.org/officeDocument/2006/relationships/notesSlide" Target="/ppt/notesSlides/notesSlide69.xml" Id="R5c573e6006a442f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2ffd10c4285843c9" /><Relationship Type="http://schemas.openxmlformats.org/officeDocument/2006/relationships/notesSlide" Target="/ppt/notesSlides/notesSlide70.xml" Id="R49d20733f92544e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e2a27f37f55d4a9d" /><Relationship Type="http://schemas.openxmlformats.org/officeDocument/2006/relationships/notesSlide" Target="/ppt/notesSlides/notesSlide71.xml" Id="R14117ee417174ed9"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6a798b10c2d24c37" /><Relationship Type="http://schemas.openxmlformats.org/officeDocument/2006/relationships/notesSlide" Target="/ppt/notesSlides/notesSlide72.xml" Id="Rc59f009711934df6"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47092cbd1b2144a4" /><Relationship Type="http://schemas.openxmlformats.org/officeDocument/2006/relationships/notesSlide" Target="/ppt/notesSlides/notesSlide73.xml" Id="R7258b9373970461e"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6e81eb4718ba4737" /><Relationship Type="http://schemas.openxmlformats.org/officeDocument/2006/relationships/notesSlide" Target="/ppt/notesSlides/notesSlide74.xml" Id="R9f3289f126ba4855"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176560d763764ec6" /><Relationship Type="http://schemas.openxmlformats.org/officeDocument/2006/relationships/notesSlide" Target="/ppt/notesSlides/notesSlide75.xml" Id="R4741e872d7f3442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3ced79c452294b95" /><Relationship Type="http://schemas.openxmlformats.org/officeDocument/2006/relationships/notesSlide" Target="/ppt/notesSlides/notesSlide76.xml" Id="R3e7fdf00ccee4210"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9f0c2e41f656484b" /><Relationship Type="http://schemas.openxmlformats.org/officeDocument/2006/relationships/notesSlide" Target="/ppt/notesSlides/notesSlide77.xml" Id="Rf40834e355254614"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41006e090ba64c62" /><Relationship Type="http://schemas.openxmlformats.org/officeDocument/2006/relationships/notesSlide" Target="/ppt/notesSlides/notesSlide78.xml" Id="Re46fd65e3799407b"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5d298309c4cc416c" /><Relationship Type="http://schemas.openxmlformats.org/officeDocument/2006/relationships/notesSlide" Target="/ppt/notesSlides/notesSlide79.xml" Id="R8e89658947fd4b8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e8cbf99d2a3f4d14" /><Relationship Type="http://schemas.openxmlformats.org/officeDocument/2006/relationships/notesSlide" Target="/ppt/notesSlides/notesSlide80.xml" Id="R58deccd4f6f44775"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950248eac34b483d" /><Relationship Type="http://schemas.openxmlformats.org/officeDocument/2006/relationships/notesSlide" Target="/ppt/notesSlides/notesSlide81.xml" Id="Rf699d773fc8548cc"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b34bba1c5f654bf4" /><Relationship Type="http://schemas.openxmlformats.org/officeDocument/2006/relationships/notesSlide" Target="/ppt/notesSlides/notesSlide82.xml" Id="Rc76b1e2466474c9c"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b8810738c6ae4a09" /><Relationship Type="http://schemas.openxmlformats.org/officeDocument/2006/relationships/notesSlide" Target="/ppt/notesSlides/notesSlide83.xml" Id="Rafcf785332b0464b"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0ca130eec3814b0d" /><Relationship Type="http://schemas.openxmlformats.org/officeDocument/2006/relationships/notesSlide" Target="/ppt/notesSlides/notesSlide84.xml" Id="R7ce5c422b4394a96"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41e30f4383a641e3" /><Relationship Type="http://schemas.openxmlformats.org/officeDocument/2006/relationships/notesSlide" Target="/ppt/notesSlides/notesSlide85.xml" Id="R920abd2226614662"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0df6a7bbbc524a79" /><Relationship Type="http://schemas.openxmlformats.org/officeDocument/2006/relationships/notesSlide" Target="/ppt/notesSlides/notesSlide86.xml" Id="R2bb9c76b88cd4457"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a5235a8269994361" /><Relationship Type="http://schemas.openxmlformats.org/officeDocument/2006/relationships/notesSlide" Target="/ppt/notesSlides/notesSlide87.xml" Id="R59eb7f4e37504b8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1fac542ac95f4dc4" /><Relationship Type="http://schemas.openxmlformats.org/officeDocument/2006/relationships/notesSlide" Target="/ppt/notesSlides/notesSlide88.xml" Id="R302895a1c0434d7e"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18f06a6f7f8a4164" /><Relationship Type="http://schemas.openxmlformats.org/officeDocument/2006/relationships/notesSlide" Target="/ppt/notesSlides/notesSlide89.xml" Id="Rfb6e7926d9da4539"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0701190c3c6540bc" /><Relationship Type="http://schemas.openxmlformats.org/officeDocument/2006/relationships/notesSlide" Target="/ppt/notesSlides/notesSlide90.xml" Id="Ra6cc03daf7ad47d1"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fa376e079aa04e7d" /><Relationship Type="http://schemas.openxmlformats.org/officeDocument/2006/relationships/notesSlide" Target="/ppt/notesSlides/notesSlide91.xml" Id="R75b71edb06094294"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806e51b67ca04fe6" /><Relationship Type="http://schemas.openxmlformats.org/officeDocument/2006/relationships/notesSlide" Target="/ppt/notesSlides/notesSlide92.xml" Id="Rb5854ff930524543"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1b49aed101be4d85" /><Relationship Type="http://schemas.openxmlformats.org/officeDocument/2006/relationships/notesSlide" Target="/ppt/notesSlides/notesSlide93.xml" Id="R93386e462a9a441a"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91eb915f7c404d4e" /><Relationship Type="http://schemas.openxmlformats.org/officeDocument/2006/relationships/notesSlide" Target="/ppt/notesSlides/notesSlide94.xml" Id="Ra0d509da08bf4305"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4e897c15026a42af" /><Relationship Type="http://schemas.openxmlformats.org/officeDocument/2006/relationships/notesSlide" Target="/ppt/notesSlides/notesSlide95.xml" Id="R1adbc48514954278"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83cb13450d194f33" /><Relationship Type="http://schemas.openxmlformats.org/officeDocument/2006/relationships/notesSlide" Target="/ppt/notesSlides/notesSlide96.xml" Id="Ref4af943d7514351"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93f24477926b48cc" /><Relationship Type="http://schemas.openxmlformats.org/officeDocument/2006/relationships/notesSlide" Target="/ppt/notesSlides/notesSlide97.xml" Id="R2cf737fa11b442c8"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195b78a7a8be41d5" /><Relationship Type="http://schemas.openxmlformats.org/officeDocument/2006/relationships/notesSlide" Target="/ppt/notesSlides/notesSlide98.xml" Id="R29c951f08466469f"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99de511b343f4305" /><Relationship Type="http://schemas.openxmlformats.org/officeDocument/2006/relationships/notesSlide" Target="/ppt/notesSlides/notesSlide99.xml" Id="R78d67a6995eb4efd"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abb7e7bbef434f91" /><Relationship Type="http://schemas.openxmlformats.org/officeDocument/2006/relationships/notesSlide" Target="/ppt/notesSlides/notesSlide100.xml" Id="R5af30191e97c4408"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b1c28d04ae584928" /><Relationship Type="http://schemas.openxmlformats.org/officeDocument/2006/relationships/notesSlide" Target="/ppt/notesSlides/notesSlide101.xml" Id="Re868a25d3a6841f6"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44751ceca54a4efc" /><Relationship Type="http://schemas.openxmlformats.org/officeDocument/2006/relationships/notesSlide" Target="/ppt/notesSlides/notesSlide102.xml" Id="R8f5898e62a434025"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972068a907274ed9" /><Relationship Type="http://schemas.openxmlformats.org/officeDocument/2006/relationships/notesSlide" Target="/ppt/notesSlides/notesSlide103.xml" Id="R56c12b8da59e4111"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aec25288b6c24ab3" /><Relationship Type="http://schemas.openxmlformats.org/officeDocument/2006/relationships/notesSlide" Target="/ppt/notesSlides/notesSlide104.xml" Id="Rd184b4e7e55b4891"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166f0069cd6a45bb" /><Relationship Type="http://schemas.openxmlformats.org/officeDocument/2006/relationships/notesSlide" Target="/ppt/notesSlides/notesSlide105.xml" Id="R77c7107c375b49cb"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daa2e24ba80a4584" /><Relationship Type="http://schemas.openxmlformats.org/officeDocument/2006/relationships/notesSlide" Target="/ppt/notesSlides/notesSlide106.xml" Id="Re30518b7cb92404a"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b728776c43934e05" /><Relationship Type="http://schemas.openxmlformats.org/officeDocument/2006/relationships/notesSlide" Target="/ppt/notesSlides/notesSlide107.xml" Id="R4dd20f87b3314c6c"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436d2ce2dd5d43c8" /><Relationship Type="http://schemas.openxmlformats.org/officeDocument/2006/relationships/notesSlide" Target="/ppt/notesSlides/notesSlide108.xml" Id="R16a8a0049143433f"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9c851a6b0bd04045" /><Relationship Type="http://schemas.openxmlformats.org/officeDocument/2006/relationships/notesSlide" Target="/ppt/notesSlides/notesSlide109.xml" Id="R80d54ca8e6f14929"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54dafab43f1b40ad" /><Relationship Type="http://schemas.openxmlformats.org/officeDocument/2006/relationships/notesSlide" Target="/ppt/notesSlides/notesSlide110.xml" Id="R533ca80ae9cb4c1b"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e269ee23382241f1" /><Relationship Type="http://schemas.openxmlformats.org/officeDocument/2006/relationships/notesSlide" Target="/ppt/notesSlides/notesSlide111.xml" Id="Rce5acbe47f474242"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f082c03b43e74b87" /><Relationship Type="http://schemas.openxmlformats.org/officeDocument/2006/relationships/notesSlide" Target="/ppt/notesSlides/notesSlide112.xml" Id="Rbf160c433d6949d2"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2752d49568a14117" /><Relationship Type="http://schemas.openxmlformats.org/officeDocument/2006/relationships/notesSlide" Target="/ppt/notesSlides/notesSlide113.xml" Id="R4da3ae6512ef4995"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4c4d9a6fdf17491d" /><Relationship Type="http://schemas.openxmlformats.org/officeDocument/2006/relationships/notesSlide" Target="/ppt/notesSlides/notesSlide114.xml" Id="R83c5c2199aa84d61"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02ced1de0734425c" /><Relationship Type="http://schemas.openxmlformats.org/officeDocument/2006/relationships/notesSlide" Target="/ppt/notesSlides/notesSlide115.xml" Id="R1088a92115564e09"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0b43f5c728b74bde" /><Relationship Type="http://schemas.openxmlformats.org/officeDocument/2006/relationships/notesSlide" Target="/ppt/notesSlides/notesSlide116.xml" Id="R0ce1b6f9e7144f22"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fb749f0a55f54e8a" /><Relationship Type="http://schemas.openxmlformats.org/officeDocument/2006/relationships/notesSlide" Target="/ppt/notesSlides/notesSlide117.xml" Id="R91ce2a606d6a4418"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206438b26f354a02" /><Relationship Type="http://schemas.openxmlformats.org/officeDocument/2006/relationships/notesSlide" Target="/ppt/notesSlides/notesSlide118.xml" Id="R2ada6dc8cbd740c2"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98da05c285b64427" /><Relationship Type="http://schemas.openxmlformats.org/officeDocument/2006/relationships/notesSlide" Target="/ppt/notesSlides/notesSlide119.xml" Id="R815230fbf51c479c"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bbcdcf9340694c20" /><Relationship Type="http://schemas.openxmlformats.org/officeDocument/2006/relationships/notesSlide" Target="/ppt/notesSlides/notesSlide120.xml" Id="R20e38509bee54e0d"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96f66c4629174a72" /><Relationship Type="http://schemas.openxmlformats.org/officeDocument/2006/relationships/notesSlide" Target="/ppt/notesSlides/notesSlide121.xml" Id="Racd382e574e74cdf"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44b731cbfa9349a5" /><Relationship Type="http://schemas.openxmlformats.org/officeDocument/2006/relationships/notesSlide" Target="/ppt/notesSlides/notesSlide122.xml" Id="Ree9acf4f289349ae"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d39912a8f5014a08" /><Relationship Type="http://schemas.openxmlformats.org/officeDocument/2006/relationships/notesSlide" Target="/ppt/notesSlides/notesSlide123.xml" Id="Rb18455b7c68e4ddb"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27a46ab7f076495f" /><Relationship Type="http://schemas.openxmlformats.org/officeDocument/2006/relationships/notesSlide" Target="/ppt/notesSlides/notesSlide124.xml" Id="Rbed33d4102474aa1"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24cd3f0e787846a7" /><Relationship Type="http://schemas.openxmlformats.org/officeDocument/2006/relationships/notesSlide" Target="/ppt/notesSlides/notesSlide125.xml" Id="R1f34cd0efc724ca2"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9a156c7b4a4441e7" /><Relationship Type="http://schemas.openxmlformats.org/officeDocument/2006/relationships/notesSlide" Target="/ppt/notesSlides/notesSlide126.xml" Id="R07ed24b3dd0040d8"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632fa14b7ca44ce7" /><Relationship Type="http://schemas.openxmlformats.org/officeDocument/2006/relationships/notesSlide" Target="/ppt/notesSlides/notesSlide127.xml" Id="R318f4af267424b14"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1d28bec741d74ad5" /><Relationship Type="http://schemas.openxmlformats.org/officeDocument/2006/relationships/notesSlide" Target="/ppt/notesSlides/notesSlide128.xml" Id="R1e60cfb9b3754d1c"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31e56d5cd550426c" /><Relationship Type="http://schemas.openxmlformats.org/officeDocument/2006/relationships/notesSlide" Target="/ppt/notesSlides/notesSlide129.xml" Id="R8f5f9efa0a594bd5"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e4ba232b49c3485f" /><Relationship Type="http://schemas.openxmlformats.org/officeDocument/2006/relationships/notesSlide" Target="/ppt/notesSlides/notesSlide130.xml" Id="R0ab1b620df954987"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7ed471c3c29247ef" /><Relationship Type="http://schemas.openxmlformats.org/officeDocument/2006/relationships/notesSlide" Target="/ppt/notesSlides/notesSlide131.xml" Id="Rc566a5e8b4354732"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eba20d7aa6174d8e" /><Relationship Type="http://schemas.openxmlformats.org/officeDocument/2006/relationships/notesSlide" Target="/ppt/notesSlides/notesSlide132.xml" Id="Rd6ee66a1fa494544"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561e55fd461d4a29" /><Relationship Type="http://schemas.openxmlformats.org/officeDocument/2006/relationships/notesSlide" Target="/ppt/notesSlides/notesSlide133.xml" Id="R96d175b28e3049d4"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19aeab3c31904a71" /><Relationship Type="http://schemas.openxmlformats.org/officeDocument/2006/relationships/notesSlide" Target="/ppt/notesSlides/notesSlide134.xml" Id="R8c887a24c3104027"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aef648db61954131" /><Relationship Type="http://schemas.openxmlformats.org/officeDocument/2006/relationships/notesSlide" Target="/ppt/notesSlides/notesSlide135.xml" Id="R9901eff3f2574b50"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54b46c8ec53945c1" /><Relationship Type="http://schemas.openxmlformats.org/officeDocument/2006/relationships/notesSlide" Target="/ppt/notesSlides/notesSlide136.xml" Id="Rb6c6b1b2e7224df3"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6c080a85e4bd4d66" /><Relationship Type="http://schemas.openxmlformats.org/officeDocument/2006/relationships/notesSlide" Target="/ppt/notesSlides/notesSlide137.xml" Id="Ra88c40d1c1de45a9"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d4207cd67bcc4096" /><Relationship Type="http://schemas.openxmlformats.org/officeDocument/2006/relationships/notesSlide" Target="/ppt/notesSlides/notesSlide138.xml" Id="R123fd2703d314b33"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c093a5476cdc40ea" /><Relationship Type="http://schemas.openxmlformats.org/officeDocument/2006/relationships/notesSlide" Target="/ppt/notesSlides/notesSlide139.xml" Id="Rc27e45781b754082"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dae43ae69dfd45ce" /><Relationship Type="http://schemas.openxmlformats.org/officeDocument/2006/relationships/notesSlide" Target="/ppt/notesSlides/notesSlide140.xml" Id="Rdc4eeee49521438f"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fdad91242fde418e" /><Relationship Type="http://schemas.openxmlformats.org/officeDocument/2006/relationships/notesSlide" Target="/ppt/notesSlides/notesSlide141.xml" Id="Re6c2df6ec7ec4d80"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c7f03cc58e90407f" /><Relationship Type="http://schemas.openxmlformats.org/officeDocument/2006/relationships/notesSlide" Target="/ppt/notesSlides/notesSlide142.xml" Id="R28a02735e63742fc"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e3d6d774bc0e4970" /><Relationship Type="http://schemas.openxmlformats.org/officeDocument/2006/relationships/notesSlide" Target="/ppt/notesSlides/notesSlide143.xml" Id="R11a9f66582784dcb"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1d608b3dac184f5c" /><Relationship Type="http://schemas.openxmlformats.org/officeDocument/2006/relationships/notesSlide" Target="/ppt/notesSlides/notesSlide144.xml" Id="Re56f09010ec54d96"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699f516ca8634e3b" /><Relationship Type="http://schemas.openxmlformats.org/officeDocument/2006/relationships/notesSlide" Target="/ppt/notesSlides/notesSlide145.xml" Id="R73af9ba009cd4c77"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12cc81abe39942a0" /><Relationship Type="http://schemas.openxmlformats.org/officeDocument/2006/relationships/notesSlide" Target="/ppt/notesSlides/notesSlide146.xml" Id="R9fa26ac8f1d347c2"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2b102565dcef4c7b" /><Relationship Type="http://schemas.openxmlformats.org/officeDocument/2006/relationships/notesSlide" Target="/ppt/notesSlides/notesSlide147.xml" Id="R4d76c40d79804736"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1f259b0181b647f9" /><Relationship Type="http://schemas.openxmlformats.org/officeDocument/2006/relationships/notesSlide" Target="/ppt/notesSlides/notesSlide148.xml" Id="R427c35e52c9544d4"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c72c2fc9d94e491e" /><Relationship Type="http://schemas.openxmlformats.org/officeDocument/2006/relationships/notesSlide" Target="/ppt/notesSlides/notesSlide149.xml" Id="R325133e7273041f3"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d51f31f269364a81" /><Relationship Type="http://schemas.openxmlformats.org/officeDocument/2006/relationships/notesSlide" Target="/ppt/notesSlides/notesSlide150.xml" Id="Ra8fcc136de9f4141"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a34d643b0fc54c80" /><Relationship Type="http://schemas.openxmlformats.org/officeDocument/2006/relationships/notesSlide" Target="/ppt/notesSlides/notesSlide151.xml" Id="Rcc7907b27fc24b43"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fa72c7ca9eec4875" /><Relationship Type="http://schemas.openxmlformats.org/officeDocument/2006/relationships/notesSlide" Target="/ppt/notesSlides/notesSlide152.xml" Id="R82e61a20808c48c8"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3cd7c759bc6148e6" /><Relationship Type="http://schemas.openxmlformats.org/officeDocument/2006/relationships/notesSlide" Target="/ppt/notesSlides/notesSlide153.xml" Id="Rb5ee8c95b8584944"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92e05b0f7f9048a0" /><Relationship Type="http://schemas.openxmlformats.org/officeDocument/2006/relationships/notesSlide" Target="/ppt/notesSlides/notesSlide154.xml" Id="R5651baf0041646c1"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ad886e4419ce4b44" /><Relationship Type="http://schemas.openxmlformats.org/officeDocument/2006/relationships/notesSlide" Target="/ppt/notesSlides/notesSlide155.xml" Id="Rf51d0836f944440f"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fe4f54e27adf4d38" /><Relationship Type="http://schemas.openxmlformats.org/officeDocument/2006/relationships/notesSlide" Target="/ppt/notesSlides/notesSlide156.xml" Id="R31e8858c3e5e4f1a"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2bde9c107ae64f5c" /><Relationship Type="http://schemas.openxmlformats.org/officeDocument/2006/relationships/notesSlide" Target="/ppt/notesSlides/notesSlide157.xml" Id="Rb6ed58aa323848ea"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e531471371cb4e51" /><Relationship Type="http://schemas.openxmlformats.org/officeDocument/2006/relationships/notesSlide" Target="/ppt/notesSlides/notesSlide158.xml" Id="R78fba5744b9241df"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276caffafff8442a" /><Relationship Type="http://schemas.openxmlformats.org/officeDocument/2006/relationships/notesSlide" Target="/ppt/notesSlides/notesSlide159.xml" Id="Rd7fda74e591a4820"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a4d38dc8424d41a8" /><Relationship Type="http://schemas.openxmlformats.org/officeDocument/2006/relationships/notesSlide" Target="/ppt/notesSlides/notesSlide160.xml" Id="Rc9f3e64c8831408a"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e7ae517e0a004d3a" /><Relationship Type="http://schemas.openxmlformats.org/officeDocument/2006/relationships/notesSlide" Target="/ppt/notesSlides/notesSlide161.xml" Id="Rf394586f83f5496e"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d833539c32014d44" /><Relationship Type="http://schemas.openxmlformats.org/officeDocument/2006/relationships/notesSlide" Target="/ppt/notesSlides/notesSlide162.xml" Id="R1d56d084442843c1"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04b0d511e93d4251" /><Relationship Type="http://schemas.openxmlformats.org/officeDocument/2006/relationships/notesSlide" Target="/ppt/notesSlides/notesSlide163.xml" Id="Rbaefdcc7d5004a4e"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cdadfdeeff0e4774" /><Relationship Type="http://schemas.openxmlformats.org/officeDocument/2006/relationships/notesSlide" Target="/ppt/notesSlides/notesSlide164.xml" Id="Re34712a634bc42b4"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0dac98fb88094aa1" /><Relationship Type="http://schemas.openxmlformats.org/officeDocument/2006/relationships/notesSlide" Target="/ppt/notesSlides/notesSlide165.xml" Id="R3d2fbfacd6414bcc"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9809490cdd7a4e8c" /><Relationship Type="http://schemas.openxmlformats.org/officeDocument/2006/relationships/notesSlide" Target="/ppt/notesSlides/notesSlide166.xml" Id="R077b65dc419142a7"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6845614ce3df49c6" /><Relationship Type="http://schemas.openxmlformats.org/officeDocument/2006/relationships/notesSlide" Target="/ppt/notesSlides/notesSlide167.xml" Id="R20f619e0a4a148e9"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65d7c4be654d4c20" /><Relationship Type="http://schemas.openxmlformats.org/officeDocument/2006/relationships/notesSlide" Target="/ppt/notesSlides/notesSlide168.xml" Id="Rf37ea94902ea4249"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54d0b42e295047d3" /><Relationship Type="http://schemas.openxmlformats.org/officeDocument/2006/relationships/notesSlide" Target="/ppt/notesSlides/notesSlide169.xml" Id="Rd9c79b369d8349ff"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d23fb0f3ec074805" /><Relationship Type="http://schemas.openxmlformats.org/officeDocument/2006/relationships/notesSlide" Target="/ppt/notesSlides/notesSlide170.xml" Id="R6c0903a777044172"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20ada7f9295c4f3b" /><Relationship Type="http://schemas.openxmlformats.org/officeDocument/2006/relationships/notesSlide" Target="/ppt/notesSlides/notesSlide171.xml" Id="R070c039b2836466b"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362caf43c8ae45aa" /><Relationship Type="http://schemas.openxmlformats.org/officeDocument/2006/relationships/notesSlide" Target="/ppt/notesSlides/notesSlide172.xml" Id="R84f34c0c06da45ff"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fa7640aac5e04735" /><Relationship Type="http://schemas.openxmlformats.org/officeDocument/2006/relationships/notesSlide" Target="/ppt/notesSlides/notesSlide173.xml" Id="R5234e5c224ce4b3a"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3cd43e3539ef4099" /><Relationship Type="http://schemas.openxmlformats.org/officeDocument/2006/relationships/notesSlide" Target="/ppt/notesSlides/notesSlide174.xml" Id="R766f8ce2b315471b"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f9396019a5db4e25" /><Relationship Type="http://schemas.openxmlformats.org/officeDocument/2006/relationships/notesSlide" Target="/ppt/notesSlides/notesSlide175.xml" Id="R38cc178fa0a54da5"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734ba79ca0134a60" /><Relationship Type="http://schemas.openxmlformats.org/officeDocument/2006/relationships/notesSlide" Target="/ppt/notesSlides/notesSlide176.xml" Id="Re4f2c9e09e9d4d1c"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0aa8a88d670c45f4" /><Relationship Type="http://schemas.openxmlformats.org/officeDocument/2006/relationships/notesSlide" Target="/ppt/notesSlides/notesSlide177.xml" Id="R458d6c38ff9741cb"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087846cdb8714c98" /><Relationship Type="http://schemas.openxmlformats.org/officeDocument/2006/relationships/notesSlide" Target="/ppt/notesSlides/notesSlide178.xml" Id="Re612b25358d6419a"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b5c48a82d119464a" /><Relationship Type="http://schemas.openxmlformats.org/officeDocument/2006/relationships/notesSlide" Target="/ppt/notesSlides/notesSlide179.xml" Id="R4aa18f90dbba4408"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541b0a36bd8e4785" /><Relationship Type="http://schemas.openxmlformats.org/officeDocument/2006/relationships/notesSlide" Target="/ppt/notesSlides/notesSlide180.xml" Id="R34d56bf5e6a7467f"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9feda1c2b8914f5a" /><Relationship Type="http://schemas.openxmlformats.org/officeDocument/2006/relationships/notesSlide" Target="/ppt/notesSlides/notesSlide181.xml" Id="Rcdd7566ee5684ccb"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0b6af7d19f9b4e16" /><Relationship Type="http://schemas.openxmlformats.org/officeDocument/2006/relationships/notesSlide" Target="/ppt/notesSlides/notesSlide182.xml" Id="Rb842436b12a8451e"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3a27847535d94cb5" /><Relationship Type="http://schemas.openxmlformats.org/officeDocument/2006/relationships/notesSlide" Target="/ppt/notesSlides/notesSlide183.xml" Id="R2099ad31617246ec"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d28fbc7f06cd4a99" /><Relationship Type="http://schemas.openxmlformats.org/officeDocument/2006/relationships/notesSlide" Target="/ppt/notesSlides/notesSlide184.xml" Id="Rac2764bd7c3b4dfb"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a3ea96182eb64d67" /><Relationship Type="http://schemas.openxmlformats.org/officeDocument/2006/relationships/notesSlide" Target="/ppt/notesSlides/notesSlide185.xml" Id="R52ab14bedff74741"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4aedc4d3173f4c63" /><Relationship Type="http://schemas.openxmlformats.org/officeDocument/2006/relationships/notesSlide" Target="/ppt/notesSlides/notesSlide186.xml" Id="R63b5a87c86744716"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601232deee4f4414" /><Relationship Type="http://schemas.openxmlformats.org/officeDocument/2006/relationships/notesSlide" Target="/ppt/notesSlides/notesSlide187.xml" Id="Ref0d6fb178164906"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83cca4e87c934c0d" /><Relationship Type="http://schemas.openxmlformats.org/officeDocument/2006/relationships/notesSlide" Target="/ppt/notesSlides/notesSlide188.xml" Id="Re80ce60487d9410c"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f81550dc15474813" /><Relationship Type="http://schemas.openxmlformats.org/officeDocument/2006/relationships/notesSlide" Target="/ppt/notesSlides/notesSlide189.xml" Id="R883bfcb809dd423f"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03235fdc3ed347db" /><Relationship Type="http://schemas.openxmlformats.org/officeDocument/2006/relationships/notesSlide" Target="/ppt/notesSlides/notesSlide190.xml" Id="R20bd542cf0b34292"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dc1a1c352ee94795" /><Relationship Type="http://schemas.openxmlformats.org/officeDocument/2006/relationships/notesSlide" Target="/ppt/notesSlides/notesSlide191.xml" Id="R02e72e20b4c44a21"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4d0aa88d25b045e8" /><Relationship Type="http://schemas.openxmlformats.org/officeDocument/2006/relationships/notesSlide" Target="/ppt/notesSlides/notesSlide192.xml" Id="R3ebd977c2227409d"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6e266d921db94eca" /><Relationship Type="http://schemas.openxmlformats.org/officeDocument/2006/relationships/notesSlide" Target="/ppt/notesSlides/notesSlide193.xml" Id="Rbd4586c777294a8b"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9db1098f1fa64708" /><Relationship Type="http://schemas.openxmlformats.org/officeDocument/2006/relationships/notesSlide" Target="/ppt/notesSlides/notesSlide194.xml" Id="R5b2fead2124a4842"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06cf71eb9b3f41b1" /><Relationship Type="http://schemas.openxmlformats.org/officeDocument/2006/relationships/notesSlide" Target="/ppt/notesSlides/notesSlide195.xml" Id="R2a6a4dee5d6441e9"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d0fb01fed2ab4cc1" /><Relationship Type="http://schemas.openxmlformats.org/officeDocument/2006/relationships/notesSlide" Target="/ppt/notesSlides/notesSlide196.xml" Id="Ra6b1487b0de8400a"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d9d1e1028c604d7e" /><Relationship Type="http://schemas.openxmlformats.org/officeDocument/2006/relationships/notesSlide" Target="/ppt/notesSlides/notesSlide197.xml" Id="R0dc44283ab0342d0"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6.xml" Id="R6e98324c5a7849eb" /><Relationship Type="http://schemas.openxmlformats.org/officeDocument/2006/relationships/notesSlide" Target="/ppt/notesSlides/notesSlide198.xml" Id="R946cd13ef7244e1b"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6.xml" Id="R4f559ad762e64978" /><Relationship Type="http://schemas.openxmlformats.org/officeDocument/2006/relationships/notesSlide" Target="/ppt/notesSlides/notesSlide199.xml" Id="R1e8a3230678e4226"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6.xml" Id="R2448424316784416" /><Relationship Type="http://schemas.openxmlformats.org/officeDocument/2006/relationships/notesSlide" Target="/ppt/notesSlides/notesSlide200.xml" Id="Reb65b30e05014597"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6.xml" Id="R10f62dcc6f304958" /><Relationship Type="http://schemas.openxmlformats.org/officeDocument/2006/relationships/notesSlide" Target="/ppt/notesSlides/notesSlide201.xml" Id="R63955ab3023a4e69"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6.xml" Id="Re6aac37a3f5348c7" /><Relationship Type="http://schemas.openxmlformats.org/officeDocument/2006/relationships/notesSlide" Target="/ppt/notesSlides/notesSlide202.xml" Id="Raaa96726ae144500"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6.xml" Id="Rff21d03a160c47cb" /><Relationship Type="http://schemas.openxmlformats.org/officeDocument/2006/relationships/notesSlide" Target="/ppt/notesSlides/notesSlide203.xml" Id="Ra5dd66af4b094bfd" /></Relationships>
</file>

<file path=ppt/slides/_rels/slide204.xml.rels>&#65279;<?xml version="1.0" encoding="utf-8"?><Relationships xmlns="http://schemas.openxmlformats.org/package/2006/relationships"><Relationship Type="http://schemas.openxmlformats.org/officeDocument/2006/relationships/slideLayout" Target="/ppt/slideLayouts/slideLayout6.xml" Id="R579615f59c2a4393" /><Relationship Type="http://schemas.openxmlformats.org/officeDocument/2006/relationships/notesSlide" Target="/ppt/notesSlides/notesSlide204.xml" Id="R136fc46976db4754" /></Relationships>
</file>

<file path=ppt/slides/_rels/slide205.xml.rels>&#65279;<?xml version="1.0" encoding="utf-8"?><Relationships xmlns="http://schemas.openxmlformats.org/package/2006/relationships"><Relationship Type="http://schemas.openxmlformats.org/officeDocument/2006/relationships/slideLayout" Target="/ppt/slideLayouts/slideLayout6.xml" Id="Rb8972d7b6ccf41e3" /><Relationship Type="http://schemas.openxmlformats.org/officeDocument/2006/relationships/notesSlide" Target="/ppt/notesSlides/notesSlide205.xml" Id="Rcf72b54a046e40b7" /></Relationships>
</file>

<file path=ppt/slides/_rels/slide206.xml.rels>&#65279;<?xml version="1.0" encoding="utf-8"?><Relationships xmlns="http://schemas.openxmlformats.org/package/2006/relationships"><Relationship Type="http://schemas.openxmlformats.org/officeDocument/2006/relationships/slideLayout" Target="/ppt/slideLayouts/slideLayout6.xml" Id="R40a10a0f9c4844c2" /><Relationship Type="http://schemas.openxmlformats.org/officeDocument/2006/relationships/notesSlide" Target="/ppt/notesSlides/notesSlide206.xml" Id="Rb358fb25449b41fd" /></Relationships>
</file>

<file path=ppt/slides/_rels/slide207.xml.rels>&#65279;<?xml version="1.0" encoding="utf-8"?><Relationships xmlns="http://schemas.openxmlformats.org/package/2006/relationships"><Relationship Type="http://schemas.openxmlformats.org/officeDocument/2006/relationships/slideLayout" Target="/ppt/slideLayouts/slideLayout6.xml" Id="R6ec6c1a1ddd64aa9" /><Relationship Type="http://schemas.openxmlformats.org/officeDocument/2006/relationships/notesSlide" Target="/ppt/notesSlides/notesSlide207.xml" Id="R189449ceb30f4275" /></Relationships>
</file>

<file path=ppt/slides/_rels/slide208.xml.rels>&#65279;<?xml version="1.0" encoding="utf-8"?><Relationships xmlns="http://schemas.openxmlformats.org/package/2006/relationships"><Relationship Type="http://schemas.openxmlformats.org/officeDocument/2006/relationships/slideLayout" Target="/ppt/slideLayouts/slideLayout6.xml" Id="Rd73e9c4af2954e9c" /><Relationship Type="http://schemas.openxmlformats.org/officeDocument/2006/relationships/notesSlide" Target="/ppt/notesSlides/notesSlide208.xml" Id="R185fd4a2ebef43cd" /></Relationships>
</file>

<file path=ppt/slides/_rels/slide209.xml.rels>&#65279;<?xml version="1.0" encoding="utf-8"?><Relationships xmlns="http://schemas.openxmlformats.org/package/2006/relationships"><Relationship Type="http://schemas.openxmlformats.org/officeDocument/2006/relationships/slideLayout" Target="/ppt/slideLayouts/slideLayout6.xml" Id="R70a0dc2db3934514" /><Relationship Type="http://schemas.openxmlformats.org/officeDocument/2006/relationships/notesSlide" Target="/ppt/notesSlides/notesSlide209.xml" Id="R5725490562584d2b" /></Relationships>
</file>

<file path=ppt/slides/_rels/slide210.xml.rels>&#65279;<?xml version="1.0" encoding="utf-8"?><Relationships xmlns="http://schemas.openxmlformats.org/package/2006/relationships"><Relationship Type="http://schemas.openxmlformats.org/officeDocument/2006/relationships/slideLayout" Target="/ppt/slideLayouts/slideLayout6.xml" Id="R1f98fda556524434" /><Relationship Type="http://schemas.openxmlformats.org/officeDocument/2006/relationships/notesSlide" Target="/ppt/notesSlides/notesSlide210.xml" Id="Rc582b6f9c47f4e62" /></Relationships>
</file>

<file path=ppt/slides/_rels/slide211.xml.rels>&#65279;<?xml version="1.0" encoding="utf-8"?><Relationships xmlns="http://schemas.openxmlformats.org/package/2006/relationships"><Relationship Type="http://schemas.openxmlformats.org/officeDocument/2006/relationships/slideLayout" Target="/ppt/slideLayouts/slideLayout6.xml" Id="R15bde2b2d6cb4e29" /><Relationship Type="http://schemas.openxmlformats.org/officeDocument/2006/relationships/notesSlide" Target="/ppt/notesSlides/notesSlide211.xml" Id="Rb7547144b6be4582" /></Relationships>
</file>

<file path=ppt/slides/_rels/slide212.xml.rels>&#65279;<?xml version="1.0" encoding="utf-8"?><Relationships xmlns="http://schemas.openxmlformats.org/package/2006/relationships"><Relationship Type="http://schemas.openxmlformats.org/officeDocument/2006/relationships/slideLayout" Target="/ppt/slideLayouts/slideLayout6.xml" Id="R55a76ede4bc4401c" /><Relationship Type="http://schemas.openxmlformats.org/officeDocument/2006/relationships/notesSlide" Target="/ppt/notesSlides/notesSlide212.xml" Id="R7765db2fd4314656" /></Relationships>
</file>

<file path=ppt/slides/_rels/slide213.xml.rels>&#65279;<?xml version="1.0" encoding="utf-8"?><Relationships xmlns="http://schemas.openxmlformats.org/package/2006/relationships"><Relationship Type="http://schemas.openxmlformats.org/officeDocument/2006/relationships/slideLayout" Target="/ppt/slideLayouts/slideLayout6.xml" Id="Re185e85a3e6f43e2" /><Relationship Type="http://schemas.openxmlformats.org/officeDocument/2006/relationships/notesSlide" Target="/ppt/notesSlides/notesSlide213.xml" Id="R4eeb288793434203" /></Relationships>
</file>

<file path=ppt/slides/_rels/slide214.xml.rels>&#65279;<?xml version="1.0" encoding="utf-8"?><Relationships xmlns="http://schemas.openxmlformats.org/package/2006/relationships"><Relationship Type="http://schemas.openxmlformats.org/officeDocument/2006/relationships/slideLayout" Target="/ppt/slideLayouts/slideLayout6.xml" Id="R85bf2037b6994632" /><Relationship Type="http://schemas.openxmlformats.org/officeDocument/2006/relationships/notesSlide" Target="/ppt/notesSlides/notesSlide214.xml" Id="R97272c11dc45404f" /></Relationships>
</file>

<file path=ppt/slides/_rels/slide215.xml.rels>&#65279;<?xml version="1.0" encoding="utf-8"?><Relationships xmlns="http://schemas.openxmlformats.org/package/2006/relationships"><Relationship Type="http://schemas.openxmlformats.org/officeDocument/2006/relationships/slideLayout" Target="/ppt/slideLayouts/slideLayout6.xml" Id="R48ae7b4c3f354b44" /><Relationship Type="http://schemas.openxmlformats.org/officeDocument/2006/relationships/notesSlide" Target="/ppt/notesSlides/notesSlide215.xml" Id="R23b043f1090d40e2" /></Relationships>
</file>

<file path=ppt/slides/_rels/slide216.xml.rels>&#65279;<?xml version="1.0" encoding="utf-8"?><Relationships xmlns="http://schemas.openxmlformats.org/package/2006/relationships"><Relationship Type="http://schemas.openxmlformats.org/officeDocument/2006/relationships/slideLayout" Target="/ppt/slideLayouts/slideLayout6.xml" Id="R69758b454ce64e0f" /><Relationship Type="http://schemas.openxmlformats.org/officeDocument/2006/relationships/notesSlide" Target="/ppt/notesSlides/notesSlide216.xml" Id="R75c442a0908f40be" /></Relationships>
</file>

<file path=ppt/slides/_rels/slide217.xml.rels>&#65279;<?xml version="1.0" encoding="utf-8"?><Relationships xmlns="http://schemas.openxmlformats.org/package/2006/relationships"><Relationship Type="http://schemas.openxmlformats.org/officeDocument/2006/relationships/slideLayout" Target="/ppt/slideLayouts/slideLayout6.xml" Id="Rbabf641dabd34c12" /><Relationship Type="http://schemas.openxmlformats.org/officeDocument/2006/relationships/notesSlide" Target="/ppt/notesSlides/notesSlide217.xml" Id="Rf878a78650914b9a" /></Relationships>
</file>

<file path=ppt/slides/_rels/slide218.xml.rels>&#65279;<?xml version="1.0" encoding="utf-8"?><Relationships xmlns="http://schemas.openxmlformats.org/package/2006/relationships"><Relationship Type="http://schemas.openxmlformats.org/officeDocument/2006/relationships/slideLayout" Target="/ppt/slideLayouts/slideLayout6.xml" Id="R720735fb35a54997" /><Relationship Type="http://schemas.openxmlformats.org/officeDocument/2006/relationships/notesSlide" Target="/ppt/notesSlides/notesSlide218.xml" Id="Ra379fc1d67074b2d" /></Relationships>
</file>

<file path=ppt/slides/_rels/slide219.xml.rels>&#65279;<?xml version="1.0" encoding="utf-8"?><Relationships xmlns="http://schemas.openxmlformats.org/package/2006/relationships"><Relationship Type="http://schemas.openxmlformats.org/officeDocument/2006/relationships/slideLayout" Target="/ppt/slideLayouts/slideLayout6.xml" Id="Rf8c782d31c0a4ca8" /><Relationship Type="http://schemas.openxmlformats.org/officeDocument/2006/relationships/notesSlide" Target="/ppt/notesSlides/notesSlide219.xml" Id="R16682401de564aef" /></Relationships>
</file>

<file path=ppt/slides/_rels/slide220.xml.rels>&#65279;<?xml version="1.0" encoding="utf-8"?><Relationships xmlns="http://schemas.openxmlformats.org/package/2006/relationships"><Relationship Type="http://schemas.openxmlformats.org/officeDocument/2006/relationships/slideLayout" Target="/ppt/slideLayouts/slideLayout6.xml" Id="Rb460aeb2b1a54020" /><Relationship Type="http://schemas.openxmlformats.org/officeDocument/2006/relationships/notesSlide" Target="/ppt/notesSlides/notesSlide220.xml" Id="Ra90ee44a80fd4d8d" /></Relationships>
</file>

<file path=ppt/slides/_rels/slide221.xml.rels>&#65279;<?xml version="1.0" encoding="utf-8"?><Relationships xmlns="http://schemas.openxmlformats.org/package/2006/relationships"><Relationship Type="http://schemas.openxmlformats.org/officeDocument/2006/relationships/slideLayout" Target="/ppt/slideLayouts/slideLayout6.xml" Id="Ra3a0e4c69b024549" /><Relationship Type="http://schemas.openxmlformats.org/officeDocument/2006/relationships/notesSlide" Target="/ppt/notesSlides/notesSlide221.xml" Id="R736bfd40a74847c9" /></Relationships>
</file>

<file path=ppt/slides/_rels/slide222.xml.rels>&#65279;<?xml version="1.0" encoding="utf-8"?><Relationships xmlns="http://schemas.openxmlformats.org/package/2006/relationships"><Relationship Type="http://schemas.openxmlformats.org/officeDocument/2006/relationships/slideLayout" Target="/ppt/slideLayouts/slideLayout6.xml" Id="R4692f3c53177496d" /><Relationship Type="http://schemas.openxmlformats.org/officeDocument/2006/relationships/notesSlide" Target="/ppt/notesSlides/notesSlide222.xml" Id="Re8512690346a4b50" /></Relationships>
</file>

<file path=ppt/slides/_rels/slide223.xml.rels>&#65279;<?xml version="1.0" encoding="utf-8"?><Relationships xmlns="http://schemas.openxmlformats.org/package/2006/relationships"><Relationship Type="http://schemas.openxmlformats.org/officeDocument/2006/relationships/slideLayout" Target="/ppt/slideLayouts/slideLayout6.xml" Id="R1029babbe3174ab8" /><Relationship Type="http://schemas.openxmlformats.org/officeDocument/2006/relationships/notesSlide" Target="/ppt/notesSlides/notesSlide223.xml" Id="Rb247f02e0be64372" /></Relationships>
</file>

<file path=ppt/slides/_rels/slide224.xml.rels>&#65279;<?xml version="1.0" encoding="utf-8"?><Relationships xmlns="http://schemas.openxmlformats.org/package/2006/relationships"><Relationship Type="http://schemas.openxmlformats.org/officeDocument/2006/relationships/slideLayout" Target="/ppt/slideLayouts/slideLayout6.xml" Id="Rbb69a55f40514a45" /><Relationship Type="http://schemas.openxmlformats.org/officeDocument/2006/relationships/notesSlide" Target="/ppt/notesSlides/notesSlide224.xml" Id="Rba19d0fc4bac4f86" /></Relationships>
</file>

<file path=ppt/slides/_rels/slide225.xml.rels>&#65279;<?xml version="1.0" encoding="utf-8"?><Relationships xmlns="http://schemas.openxmlformats.org/package/2006/relationships"><Relationship Type="http://schemas.openxmlformats.org/officeDocument/2006/relationships/slideLayout" Target="/ppt/slideLayouts/slideLayout6.xml" Id="R3ef6cac694594860" /><Relationship Type="http://schemas.openxmlformats.org/officeDocument/2006/relationships/notesSlide" Target="/ppt/notesSlides/notesSlide225.xml" Id="R4f2e030644254328" /></Relationships>
</file>

<file path=ppt/slides/_rels/slide226.xml.rels>&#65279;<?xml version="1.0" encoding="utf-8"?><Relationships xmlns="http://schemas.openxmlformats.org/package/2006/relationships"><Relationship Type="http://schemas.openxmlformats.org/officeDocument/2006/relationships/slideLayout" Target="/ppt/slideLayouts/slideLayout6.xml" Id="R9a079f7acc5b4782" /><Relationship Type="http://schemas.openxmlformats.org/officeDocument/2006/relationships/notesSlide" Target="/ppt/notesSlides/notesSlide226.xml" Id="Rc31ec8b8e59f4c1e" /></Relationships>
</file>

<file path=ppt/slides/_rels/slide227.xml.rels>&#65279;<?xml version="1.0" encoding="utf-8"?><Relationships xmlns="http://schemas.openxmlformats.org/package/2006/relationships"><Relationship Type="http://schemas.openxmlformats.org/officeDocument/2006/relationships/slideLayout" Target="/ppt/slideLayouts/slideLayout6.xml" Id="Rb442c1f115244ccf" /><Relationship Type="http://schemas.openxmlformats.org/officeDocument/2006/relationships/notesSlide" Target="/ppt/notesSlides/notesSlide227.xml" Id="Rd18c5d7c54cd4a8b" /></Relationships>
</file>

<file path=ppt/slides/_rels/slide228.xml.rels>&#65279;<?xml version="1.0" encoding="utf-8"?><Relationships xmlns="http://schemas.openxmlformats.org/package/2006/relationships"><Relationship Type="http://schemas.openxmlformats.org/officeDocument/2006/relationships/slideLayout" Target="/ppt/slideLayouts/slideLayout6.xml" Id="R38b99d2bf90444b1" /><Relationship Type="http://schemas.openxmlformats.org/officeDocument/2006/relationships/notesSlide" Target="/ppt/notesSlides/notesSlide228.xml" Id="Rf37fa7bc72b94be8" /></Relationships>
</file>

<file path=ppt/slides/_rels/slide229.xml.rels>&#65279;<?xml version="1.0" encoding="utf-8"?><Relationships xmlns="http://schemas.openxmlformats.org/package/2006/relationships"><Relationship Type="http://schemas.openxmlformats.org/officeDocument/2006/relationships/slideLayout" Target="/ppt/slideLayouts/slideLayout6.xml" Id="R32df83c4ee6a41c6" /><Relationship Type="http://schemas.openxmlformats.org/officeDocument/2006/relationships/notesSlide" Target="/ppt/notesSlides/notesSlide229.xml" Id="Rc51af430abcd4639" /></Relationships>
</file>

<file path=ppt/slides/_rels/slide230.xml.rels>&#65279;<?xml version="1.0" encoding="utf-8"?><Relationships xmlns="http://schemas.openxmlformats.org/package/2006/relationships"><Relationship Type="http://schemas.openxmlformats.org/officeDocument/2006/relationships/slideLayout" Target="/ppt/slideLayouts/slideLayout6.xml" Id="Reba8bd49b9304c54" /><Relationship Type="http://schemas.openxmlformats.org/officeDocument/2006/relationships/notesSlide" Target="/ppt/notesSlides/notesSlide230.xml" Id="Rbb595841941144f1" /></Relationships>
</file>

<file path=ppt/slides/_rels/slide231.xml.rels>&#65279;<?xml version="1.0" encoding="utf-8"?><Relationships xmlns="http://schemas.openxmlformats.org/package/2006/relationships"><Relationship Type="http://schemas.openxmlformats.org/officeDocument/2006/relationships/slideLayout" Target="/ppt/slideLayouts/slideLayout6.xml" Id="R3d41b8a8ebaf4048" /><Relationship Type="http://schemas.openxmlformats.org/officeDocument/2006/relationships/notesSlide" Target="/ppt/notesSlides/notesSlide231.xml" Id="Rafaeb0ec1fe64418"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878C59-0CFC-4D43-9E54-C7C82209B01F}"/>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Tuberculosis</a:t>
            </a:r>
          </a:p>
        </p:txBody>
      </p:sp>
      <p:sp>
        <p:nvSpPr>
          <p:cNvPr id="2" name="subtitle">
            <a:extLst xmlns:a="http://schemas.openxmlformats.org/drawingml/2006/main">
              <a:ext uri="{FF2B5EF4-FFF2-40B4-BE49-F238E27FC236}">
                <a16:creationId xmlns:a16="http://schemas.microsoft.com/office/drawing/2014/main" id="{082D631B-7BBC-491F-8ACD-CD9DA0633922}"/>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133510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853A2D1-B636-454E-A229-9648CC37B9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infection, active disease, infectiousness, and resistance</a:t>
            </a:r>
          </a:p>
        </p:txBody>
      </p:sp>
      <p:sp>
        <p:nvSpPr>
          <p:cNvPr id="2" name="paragraph-0">
            <a:extLst xmlns:a="http://schemas.openxmlformats.org/drawingml/2006/main">
              <a:ext uri="{FF2B5EF4-FFF2-40B4-BE49-F238E27FC236}">
                <a16:creationId xmlns:a16="http://schemas.microsoft.com/office/drawing/2014/main" id="{DAD98182-0CAF-4F83-8E39-20BDCC9AD4A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 · 30–45 minutes with discussion</a:t>
            </a:r>
          </a:p>
        </p:txBody>
      </p:sp>
      <p:sp>
        <p:nvSpPr>
          <p:cNvPr id="3" name="paragraph-1">
            <a:extLst xmlns:a="http://schemas.openxmlformats.org/drawingml/2006/main">
              <a:ext uri="{FF2B5EF4-FFF2-40B4-BE49-F238E27FC236}">
                <a16:creationId xmlns:a16="http://schemas.microsoft.com/office/drawing/2014/main" id="{DBB64F74-C840-44FA-9584-C645075945C4}"/>
              </a:ext>
            </a:extLst>
          </p:cNvPr>
          <p:cNvSpPr>
            <a:spLocks xmlns:a="http://schemas.openxmlformats.org/drawingml/2006/main" noGrp="1"/>
          </p:cNvSpPr>
          <p:nvPr/>
        </p:nvSpPr>
        <p:spPr>
          <a:xfrm xmlns:a="http://schemas.openxmlformats.org/drawingml/2006/main">
            <a:off x="647700" y="25622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By the end, decide when to isolate, choose the first diagnostic specimens, recognize the standard treatment pathways, and explain why a positive immune test does not establish active TB. Work through three cases before using the advanced drug, special-population, and trial sections.</a:t>
            </a:r>
          </a:p>
        </p:txBody>
      </p:sp>
      <p:sp>
        <p:nvSpPr>
          <p:cNvPr id="4" name="paragraph-2">
            <a:extLst xmlns:a="http://schemas.openxmlformats.org/drawingml/2006/main">
              <a:ext uri="{FF2B5EF4-FFF2-40B4-BE49-F238E27FC236}">
                <a16:creationId xmlns:a16="http://schemas.microsoft.com/office/drawing/2014/main" id="{1BA7E4F2-3D6F-4FFD-A972-1024781DE143}"/>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Keep four questions separate: has the patient been infected, is there active disease, could they transmit it now, and which drugs are likely to work? One test rarely answers all four.</a:t>
            </a:r>
          </a:p>
        </p:txBody>
      </p:sp>
      <p:sp>
        <p:nvSpPr>
          <p:cNvPr id="5" name="footer">
            <a:extLst xmlns:a="http://schemas.openxmlformats.org/drawingml/2006/main">
              <a:ext uri="{FF2B5EF4-FFF2-40B4-BE49-F238E27FC236}">
                <a16:creationId xmlns:a16="http://schemas.microsoft.com/office/drawing/2014/main" id="{47422B8C-6415-4B36-8E7B-4C6CB7F233B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CB9B0D6E-6F55-4228-B395-6B4AD67234C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364980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4577DDB-380B-4461-A254-EBA48E6782A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Protect others while obtaining specimens that can establish the diagnosis</a:t>
            </a:r>
          </a:p>
        </p:txBody>
      </p:sp>
      <p:sp>
        <p:nvSpPr>
          <p:cNvPr id="2" name="paragraph-0">
            <a:extLst xmlns:a="http://schemas.openxmlformats.org/drawingml/2006/main">
              <a:ext uri="{FF2B5EF4-FFF2-40B4-BE49-F238E27FC236}">
                <a16:creationId xmlns:a16="http://schemas.microsoft.com/office/drawing/2014/main" id="{A33AEF7F-F41D-464F-9E74-B001C206945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With suspected infectious pulmonary or laryngeal TB, initiate airborne precautions and involve infection prevention and the TB program. Use the institutional pathway for de-isolation; neither a negative IGRA nor one negative respiratory test is a universal clearance rule.</a:t>
            </a:r>
          </a:p>
        </p:txBody>
      </p:sp>
      <p:sp>
        <p:nvSpPr>
          <p:cNvPr id="3" name="paragraph-1">
            <a:extLst xmlns:a="http://schemas.openxmlformats.org/drawingml/2006/main">
              <a:ext uri="{FF2B5EF4-FFF2-40B4-BE49-F238E27FC236}">
                <a16:creationId xmlns:a16="http://schemas.microsoft.com/office/drawing/2014/main" id="{2791FFF6-EDF2-4AFC-A1A2-C5E8ABB87297}"/>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chest imaging and respiratory specimens for AFB smear and mycobacterial culture, with a TB NAAT on an initial specimen. The usual U.S. collection approach uses three specimens separated by 8–24 hours, including an early-morning specimen. Induced sputum or bronchoscopy may be needed when the patient cannot provide an adequate sample.</a:t>
            </a:r>
          </a:p>
        </p:txBody>
      </p:sp>
      <p:sp>
        <p:nvSpPr>
          <p:cNvPr id="4" name="footer">
            <a:extLst xmlns:a="http://schemas.openxmlformats.org/drawingml/2006/main">
              <a:ext uri="{FF2B5EF4-FFF2-40B4-BE49-F238E27FC236}">
                <a16:creationId xmlns:a16="http://schemas.microsoft.com/office/drawing/2014/main" id="{75BB576B-E95A-4D64-B30A-1E9A0411D42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4F634235-E9D7-4E6F-B400-1FABC261DE9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20673723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A5A4B41-4B0B-4741-B56E-CAE16E02F8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Protect others while obtaining specimens that can establish the diagnosis</a:t>
            </a:r>
          </a:p>
        </p:txBody>
      </p:sp>
      <p:sp>
        <p:nvSpPr>
          <p:cNvPr id="2" name="paragraph-0">
            <a:extLst xmlns:a="http://schemas.openxmlformats.org/drawingml/2006/main">
              <a:ext uri="{FF2B5EF4-FFF2-40B4-BE49-F238E27FC236}">
                <a16:creationId xmlns:a16="http://schemas.microsoft.com/office/drawing/2014/main" id="{5F7E42ED-65B4-43C1-8B0B-B3A8AD0AB9E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AFB smear can support infectiousness assessment but does not identify M. tuberculosis by itself. NAAT can rapidly support TB and, on some platforms, identify resistance markers. A negative NAAT does not exclude all paucibacillary disease. Culture and susceptibility testing remain necessary.</a:t>
            </a:r>
          </a:p>
        </p:txBody>
      </p:sp>
      <p:sp>
        <p:nvSpPr>
          <p:cNvPr id="3" name="paragraph-1">
            <a:extLst xmlns:a="http://schemas.openxmlformats.org/drawingml/2006/main">
              <a:ext uri="{FF2B5EF4-FFF2-40B4-BE49-F238E27FC236}">
                <a16:creationId xmlns:a16="http://schemas.microsoft.com/office/drawing/2014/main" id="{0ACAB480-1346-4331-96A6-2542D50D19DE}"/>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extrapulmonary disease, sample the involved site and tell the laboratory what is suspected. Plan tissue handling before the biopsy so that the entire specimen is not placed in formalin. In severe illness, do not let a prolonged diagnostic process delay appropriate multidrug treatment.</a:t>
            </a:r>
          </a:p>
        </p:txBody>
      </p:sp>
      <p:sp>
        <p:nvSpPr>
          <p:cNvPr id="4" name="footer">
            <a:extLst xmlns:a="http://schemas.openxmlformats.org/drawingml/2006/main">
              <a:ext uri="{FF2B5EF4-FFF2-40B4-BE49-F238E27FC236}">
                <a16:creationId xmlns:a16="http://schemas.microsoft.com/office/drawing/2014/main" id="{402D02AF-7E75-48DB-AC86-4B611406F96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D3AC6B9-4A03-4415-9174-FCFF18B6E8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9777491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7A1EFA4-BDB2-4FFC-91CF-5C9C571F4F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Protect others while obtaining specimens that can establish the diagnosis</a:t>
            </a:r>
          </a:p>
        </p:txBody>
      </p:sp>
      <p:sp>
        <p:nvSpPr>
          <p:cNvPr id="2" name="paragraph-0">
            <a:extLst xmlns:a="http://schemas.openxmlformats.org/drawingml/2006/main">
              <a:ext uri="{FF2B5EF4-FFF2-40B4-BE49-F238E27FC236}">
                <a16:creationId xmlns:a16="http://schemas.microsoft.com/office/drawing/2014/main" id="{BC1EDD6E-B842-4859-9811-96E48AB6656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diagnosis , dx-guideline , ip .</a:t>
            </a:r>
          </a:p>
        </p:txBody>
      </p:sp>
      <p:sp>
        <p:nvSpPr>
          <p:cNvPr id="3" name="footer">
            <a:extLst xmlns:a="http://schemas.openxmlformats.org/drawingml/2006/main">
              <a:ext uri="{FF2B5EF4-FFF2-40B4-BE49-F238E27FC236}">
                <a16:creationId xmlns:a16="http://schemas.microsoft.com/office/drawing/2014/main" id="{B3D2C8A2-523A-425C-A6AB-06C571593F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C3CE250-4483-47FE-942E-F7C80B5D7A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10324797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9DAA3D-9728-4709-9E90-50F15165D03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 immune tests and mimics in their clinical context</a:t>
            </a:r>
          </a:p>
        </p:txBody>
      </p:sp>
      <p:graphicFrame>
        <p:nvGraphicFramePr>
          <p:cNvPr id="2" name="">
            <a:extLst xmlns:a="http://schemas.openxmlformats.org/drawingml/2006/main">
              <a:ext uri="{FF2B5EF4-FFF2-40B4-BE49-F238E27FC236}">
                <a16:creationId xmlns:a16="http://schemas.microsoft.com/office/drawing/2014/main" id="{72FD225A-3F8D-4112-90E2-677FCF94BCF4}"/>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Finding</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Interpretation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Next decision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Positive IGRA or tuberculin skin test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Supports TB infection; does not distinguish latent infection from active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symptoms and imaging, and obtain microbiology when disease is possible before preventive treatment.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Negative immune test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Does not exclude active TB, particularly with immunosuppression or recent exposure.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Continue the active-disease evaluation when suspicion remains high.</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FF88B15-CE2E-4363-87BE-6C84B24F4D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9282C09-7703-4FD0-9C4E-3D072DAD84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21160412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4B570D1-DA0E-4758-A98A-B94A1B4D85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 immune tests and mimics in their clinical context</a:t>
            </a:r>
          </a:p>
        </p:txBody>
      </p:sp>
      <p:graphicFrame>
        <p:nvGraphicFramePr>
          <p:cNvPr id="2" name="">
            <a:extLst xmlns:a="http://schemas.openxmlformats.org/drawingml/2006/main">
              <a:ext uri="{FF2B5EF4-FFF2-40B4-BE49-F238E27FC236}">
                <a16:creationId xmlns:a16="http://schemas.microsoft.com/office/drawing/2014/main" id="{9904EA7E-9709-4404-AC5C-8286C8CCE4CB}"/>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Finding</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Interpretation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Next decision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AFB smear positive, TB NAAT negative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Could represent NTM, a testing limitation, or another discordant result.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specimen quality and repeat/confirm testing with the laboratory; do not equate every AFB isolate with TB.</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Cavity or granulomatous pathology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Neither finding is specific for TB.</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Consider endemic fungi, NTM, malignancy, bacterial abscess, and inflammatory disease using exposure and host clues.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FC346DE-B12B-4C94-B235-FC7CDE0ED3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3CAA185-CE2B-4D76-841C-179BDF2DF3F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2331128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12A6C08-7F62-4423-ADB1-ACBD9E7E0EF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 immune tests and mimics in their clinical context</a:t>
            </a:r>
          </a:p>
        </p:txBody>
      </p:sp>
      <p:sp>
        <p:nvSpPr>
          <p:cNvPr id="2" name="paragraph-0">
            <a:extLst xmlns:a="http://schemas.openxmlformats.org/drawingml/2006/main">
              <a:ext uri="{FF2B5EF4-FFF2-40B4-BE49-F238E27FC236}">
                <a16:creationId xmlns:a16="http://schemas.microsoft.com/office/drawing/2014/main" id="{C2A384DC-E6A0-4136-8888-E733E29019D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Missouri, histoplasmosis is an important alternative diagnosis. Avoid a “TB versus nothing” differential. A positive NTM culture also needs clinical, radiographic, and microbiologic interpretation before committing to prolonged NTM therapy.</a:t>
            </a:r>
          </a:p>
        </p:txBody>
      </p:sp>
      <p:sp>
        <p:nvSpPr>
          <p:cNvPr id="3" name="paragraph-1">
            <a:extLst xmlns:a="http://schemas.openxmlformats.org/drawingml/2006/main">
              <a:ext uri="{FF2B5EF4-FFF2-40B4-BE49-F238E27FC236}">
                <a16:creationId xmlns:a16="http://schemas.microsoft.com/office/drawing/2014/main" id="{752652CB-5668-4106-B3B6-F59DBFE2886C}"/>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igra , tst , ntm , histo .</a:t>
            </a:r>
          </a:p>
        </p:txBody>
      </p:sp>
      <p:sp>
        <p:nvSpPr>
          <p:cNvPr id="4" name="footer">
            <a:extLst xmlns:a="http://schemas.openxmlformats.org/drawingml/2006/main">
              <a:ext uri="{FF2B5EF4-FFF2-40B4-BE49-F238E27FC236}">
                <a16:creationId xmlns:a16="http://schemas.microsoft.com/office/drawing/2014/main" id="{F60FDF1D-8DB4-4A6C-BD33-77E9CAD0A3E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3AD982FA-6B03-4B5F-9B4C-E7D1F4B06B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11201361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E3E5D27-F31B-408B-9DB7-DEDC2752681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standard regimen and then check eligibility for shorter treatment</a:t>
            </a:r>
          </a:p>
        </p:txBody>
      </p:sp>
      <p:sp>
        <p:nvSpPr>
          <p:cNvPr id="2" name="paragraph-0">
            <a:extLst xmlns:a="http://schemas.openxmlformats.org/drawingml/2006/main">
              <a:ext uri="{FF2B5EF4-FFF2-40B4-BE49-F238E27FC236}">
                <a16:creationId xmlns:a16="http://schemas.microsoft.com/office/drawing/2014/main" id="{DAFC0AA3-287A-4E5B-A216-C2154300B9F8}"/>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most adults with drug-susceptible pulmonary TB, the familiar regimen is two months of isoniazid, rifampin, pyrazinamide, and ethambutol, followed by four months of isoniazid and rifampin. Adjust the plan to confirmed susceptibility, response, disease site, and interruptions. Ethambutol can be stopped when susceptibility to the necessary companion drugs is established.</a:t>
            </a:r>
          </a:p>
        </p:txBody>
      </p:sp>
      <p:sp>
        <p:nvSpPr>
          <p:cNvPr id="3" name="footer">
            <a:extLst xmlns:a="http://schemas.openxmlformats.org/drawingml/2006/main">
              <a:ext uri="{FF2B5EF4-FFF2-40B4-BE49-F238E27FC236}">
                <a16:creationId xmlns:a16="http://schemas.microsoft.com/office/drawing/2014/main" id="{841A88E6-9B6D-4A8C-9942-1A26E9A351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1FCD42D-C1BF-4EFF-BE1C-1231A21E87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4288763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8CBE2A-A363-402F-BFE3-816EBA3933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standard regimen and then check eligibility for shorter treatment</a:t>
            </a:r>
          </a:p>
        </p:txBody>
      </p:sp>
      <p:sp>
        <p:nvSpPr>
          <p:cNvPr id="2" name="paragraph-0">
            <a:extLst xmlns:a="http://schemas.openxmlformats.org/drawingml/2006/main">
              <a:ext uri="{FF2B5EF4-FFF2-40B4-BE49-F238E27FC236}">
                <a16:creationId xmlns:a16="http://schemas.microsoft.com/office/drawing/2014/main" id="{A2AB0DE5-C72C-4824-AF98-BCE73E0C6320}"/>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Selected adolescents and adults can use the four-month rifapentine-moxifloxacin regimen. It is a specific 17-week, 119-dose regimen with eligibility and interaction checks, not an instruction to stop a standard six-month regimen early. Key U.S. criteria include age at least 12 years and weight at least 40 kg; pregnancy, important drug interactions, and many extrapulmonary presentations require a different plan. In people with HIV, the supporting eligibility includes CD4 at least 100 and compatible ART.</a:t>
            </a:r>
          </a:p>
        </p:txBody>
      </p:sp>
      <p:sp>
        <p:nvSpPr>
          <p:cNvPr id="3" name="footer">
            <a:extLst xmlns:a="http://schemas.openxmlformats.org/drawingml/2006/main">
              <a:ext uri="{FF2B5EF4-FFF2-40B4-BE49-F238E27FC236}">
                <a16:creationId xmlns:a16="http://schemas.microsoft.com/office/drawing/2014/main" id="{C04B1235-6CF1-4075-8437-2AC0203CA1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058461-C5DE-4786-97C3-5D3E000019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995240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BB7A8BE-7C67-40A4-AAC4-9DB02914CB5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standard regimen and then check eligibility for shorter treatment</a:t>
            </a:r>
          </a:p>
        </p:txBody>
      </p:sp>
      <p:sp>
        <p:nvSpPr>
          <p:cNvPr id="2" name="paragraph-0">
            <a:extLst xmlns:a="http://schemas.openxmlformats.org/drawingml/2006/main">
              <a:ext uri="{FF2B5EF4-FFF2-40B4-BE49-F238E27FC236}">
                <a16:creationId xmlns:a16="http://schemas.microsoft.com/office/drawing/2014/main" id="{D123EC9E-F393-413F-901B-D3CBE3E2076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Cavitation plus a positive culture at the end of two months is a reason to consider extending conventional treatment. CNS disease, bone/joint disease, pregnancy, hepatic disease, and renal failure need site- and patient-specific review rather than automatic use of the shortest pulmonary regimen.</a:t>
            </a:r>
          </a:p>
        </p:txBody>
      </p:sp>
      <p:sp>
        <p:nvSpPr>
          <p:cNvPr id="3" name="paragraph-1">
            <a:extLst xmlns:a="http://schemas.openxmlformats.org/drawingml/2006/main">
              <a:ext uri="{FF2B5EF4-FFF2-40B4-BE49-F238E27FC236}">
                <a16:creationId xmlns:a16="http://schemas.microsoft.com/office/drawing/2014/main" id="{FA3A42CA-8DC6-4B2C-9ADC-8AE3554B5634}"/>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Rifampin resistance changes the pathway. Obtain rapid and expanded resistance testing and involve a TB expert. Eligible patients may receive six-month BPaLM or BPaL; eligibility, fluoroquinolone susceptibility, prior drug exposure, and toxicity monitoring determine the choice. Never add one drug to a failing regimen.</a:t>
            </a:r>
          </a:p>
        </p:txBody>
      </p:sp>
      <p:sp>
        <p:nvSpPr>
          <p:cNvPr id="4" name="footer">
            <a:extLst xmlns:a="http://schemas.openxmlformats.org/drawingml/2006/main">
              <a:ext uri="{FF2B5EF4-FFF2-40B4-BE49-F238E27FC236}">
                <a16:creationId xmlns:a16="http://schemas.microsoft.com/office/drawing/2014/main" id="{2AAAA7CB-8377-4686-B6F3-E6BD8D67050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5AD149A-CA49-4111-8EA7-5FBD5F58C2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2837752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685606-939A-42E2-A507-B66B420E6C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with the standard regimen and then check eligibility for shorter treatment</a:t>
            </a:r>
          </a:p>
        </p:txBody>
      </p:sp>
      <p:sp>
        <p:nvSpPr>
          <p:cNvPr id="2" name="paragraph-0">
            <a:extLst xmlns:a="http://schemas.openxmlformats.org/drawingml/2006/main">
              <a:ext uri="{FF2B5EF4-FFF2-40B4-BE49-F238E27FC236}">
                <a16:creationId xmlns:a16="http://schemas.microsoft.com/office/drawing/2014/main" id="{52B37D92-74F9-4D9A-924F-234DDECEF8C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ds , short , cdc-dr .</a:t>
            </a:r>
          </a:p>
        </p:txBody>
      </p:sp>
      <p:sp>
        <p:nvSpPr>
          <p:cNvPr id="3" name="footer">
            <a:extLst xmlns:a="http://schemas.openxmlformats.org/drawingml/2006/main">
              <a:ext uri="{FF2B5EF4-FFF2-40B4-BE49-F238E27FC236}">
                <a16:creationId xmlns:a16="http://schemas.microsoft.com/office/drawing/2014/main" id="{8E34527C-5759-4F7D-8825-DF4D9EDECF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446AEEA-8321-41CE-BA88-F2489993CA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6288291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46AFB11-E905-47C3-AF02-B9229FCE2BA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 response, toxicity, interactions, and the ability to complete treatment</a:t>
            </a:r>
          </a:p>
        </p:txBody>
      </p:sp>
      <p:graphicFrame>
        <p:nvGraphicFramePr>
          <p:cNvPr id="2" name="">
            <a:extLst xmlns:a="http://schemas.openxmlformats.org/drawingml/2006/main">
              <a:ext uri="{FF2B5EF4-FFF2-40B4-BE49-F238E27FC236}">
                <a16:creationId xmlns:a16="http://schemas.microsoft.com/office/drawing/2014/main" id="{2F81E6F5-2155-4693-86FB-3526EF18CAF5}"/>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Hepatic injury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baseline risk and liver tests when indicated. New anorexia, nausea, abdominal pain, or jaundice needs prompt assessment; do not simply reassure the patient to finish the drugs.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9054091-BA9A-467F-AAF4-39640EDDD16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3348166-E152-45FF-AF90-44420431BD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2441078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CC89EBB-CD45-424C-BF63-42994774B8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 response, toxicity, interactions, and the ability to complete treatment</a:t>
            </a:r>
          </a:p>
        </p:txBody>
      </p:sp>
      <p:graphicFrame>
        <p:nvGraphicFramePr>
          <p:cNvPr id="2" name="">
            <a:extLst xmlns:a="http://schemas.openxmlformats.org/drawingml/2006/main">
              <a:ext uri="{FF2B5EF4-FFF2-40B4-BE49-F238E27FC236}">
                <a16:creationId xmlns:a16="http://schemas.microsoft.com/office/drawing/2014/main" id="{E1A0AD2E-A4BD-4C9A-950A-CC66601A517F}"/>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Ethambutol toxicity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baseline visual acuity and color discrimination and ask about vision changes during treatment. Renal impairment changes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009C526-9CA7-4AB7-96A3-20B8920404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A94D96D-95BD-427E-AA10-9705CC5483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9378837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0C8EC1-CF5E-405C-B0AE-3FEF997051F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 response, toxicity, interactions, and the ability to complete treatment</a:t>
            </a:r>
          </a:p>
        </p:txBody>
      </p:sp>
      <p:graphicFrame>
        <p:nvGraphicFramePr>
          <p:cNvPr id="2" name="">
            <a:extLst xmlns:a="http://schemas.openxmlformats.org/drawingml/2006/main">
              <a:ext uri="{FF2B5EF4-FFF2-40B4-BE49-F238E27FC236}">
                <a16:creationId xmlns:a16="http://schemas.microsoft.com/office/drawing/2014/main" id="{3B1F2834-6419-4036-85D1-1482B71BC98B}"/>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Isoniazid neuropathy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Provide pyridoxine for patients at risk, including pregnancy, HIV, diabetes, malnutrition, alcohol use disorder, and renal failure.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E8CA208-51F3-4C75-B189-BC8E08F218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88E5656-0F48-4156-BB2E-D7B2BF7BEAF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16210906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DE2D24-5D9E-4EB0-9CCF-1B0C2181EE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 response, toxicity, interactions, and the ability to complete treatment</a:t>
            </a:r>
          </a:p>
        </p:txBody>
      </p:sp>
      <p:graphicFrame>
        <p:nvGraphicFramePr>
          <p:cNvPr id="2" name="">
            <a:extLst xmlns:a="http://schemas.openxmlformats.org/drawingml/2006/main">
              <a:ext uri="{FF2B5EF4-FFF2-40B4-BE49-F238E27FC236}">
                <a16:creationId xmlns:a16="http://schemas.microsoft.com/office/drawing/2014/main" id="{ED5FAF72-0EA6-4FFB-9DCC-1753FAD60AF6}"/>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Rifamycin interactions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ART, anticoagulants, anticonvulsants, transplant drugs, and hormonal contraception. A rifamycin substitution still needs an interaction check.</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5388798-8C88-4694-9BFB-3E7F17AAB1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559A7E7-2369-48EB-A8C8-AF5123BEA08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9460349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0EAE11-22D9-4620-8D68-23364A9C65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 response, toxicity, interactions, and the ability to complete treatment</a:t>
            </a:r>
          </a:p>
        </p:txBody>
      </p:sp>
      <p:graphicFrame>
        <p:nvGraphicFramePr>
          <p:cNvPr id="2" name="">
            <a:extLst xmlns:a="http://schemas.openxmlformats.org/drawingml/2006/main">
              <a:ext uri="{FF2B5EF4-FFF2-40B4-BE49-F238E27FC236}">
                <a16:creationId xmlns:a16="http://schemas.microsoft.com/office/drawing/2014/main" id="{2B2BE71B-4327-4398-8C16-11ACDE66320B}"/>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Microbiologic response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Track sputum culture conversion and clinical response. Persistently positive cultures require adherence, absorption, resistance, and source reassessment.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0F32057-9FEB-4F2F-9F9F-918F637FEC5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E73EA12-32E3-47C0-A9B9-217B413D79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19494918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2095C56-3EE9-46B3-A749-402DF42C769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 response, toxicity, interactions, and the ability to complete treatment</a:t>
            </a:r>
          </a:p>
        </p:txBody>
      </p:sp>
      <p:graphicFrame>
        <p:nvGraphicFramePr>
          <p:cNvPr id="2" name="">
            <a:extLst xmlns:a="http://schemas.openxmlformats.org/drawingml/2006/main">
              <a:ext uri="{FF2B5EF4-FFF2-40B4-BE49-F238E27FC236}">
                <a16:creationId xmlns:a16="http://schemas.microsoft.com/office/drawing/2014/main" id="{7F23F19A-16B5-4800-B9E3-3E35F06AC537}"/>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Completion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Coordinate public-health reporting, adherence support, medication access, and observed therapy as appropriate. Completion is based on the prescribed doses and permitted time window, not the calendar alone.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0661950-DB98-4386-B0D0-40EFFBAFADF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74FD990-E279-41A1-AFBA-1D4D610415F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6676034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220ADFB-3849-4C5C-9633-D819BA9BD1D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 response, toxicity, interactions, and the ability to complete treatment</a:t>
            </a:r>
          </a:p>
        </p:txBody>
      </p:sp>
      <p:sp>
        <p:nvSpPr>
          <p:cNvPr id="2" name="paragraph-0">
            <a:extLst xmlns:a="http://schemas.openxmlformats.org/drawingml/2006/main">
              <a:ext uri="{FF2B5EF4-FFF2-40B4-BE49-F238E27FC236}">
                <a16:creationId xmlns:a16="http://schemas.microsoft.com/office/drawing/2014/main" id="{C4BA17BC-70B3-4660-AD8D-E5288FB55F8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withhold ART until all TB treatment is complete. ART timing depends on CD4 count, the TB site, and interactions; TB meningitis is a separate timing decision. Detailed recommendations are in the advanced section.</a:t>
            </a:r>
          </a:p>
        </p:txBody>
      </p:sp>
      <p:sp>
        <p:nvSpPr>
          <p:cNvPr id="3" name="paragraph-1">
            <a:extLst xmlns:a="http://schemas.openxmlformats.org/drawingml/2006/main">
              <a:ext uri="{FF2B5EF4-FFF2-40B4-BE49-F238E27FC236}">
                <a16:creationId xmlns:a16="http://schemas.microsoft.com/office/drawing/2014/main" id="{14443A0C-6A0A-438F-A667-7670E7A62BE3}"/>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ds , nih-tb .</a:t>
            </a:r>
          </a:p>
        </p:txBody>
      </p:sp>
      <p:sp>
        <p:nvSpPr>
          <p:cNvPr id="4" name="footer">
            <a:extLst xmlns:a="http://schemas.openxmlformats.org/drawingml/2006/main">
              <a:ext uri="{FF2B5EF4-FFF2-40B4-BE49-F238E27FC236}">
                <a16:creationId xmlns:a16="http://schemas.microsoft.com/office/drawing/2014/main" id="{BA366401-93F3-4CE3-91B4-4B4E9C3A77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700BEC0-9F83-4640-8870-1B90B01836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3015132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33B3F6-7A91-4362-86B2-F46ED3C64A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Exclude active disease before choosing preventive treatment</a:t>
            </a:r>
          </a:p>
        </p:txBody>
      </p:sp>
      <p:sp>
        <p:nvSpPr>
          <p:cNvPr id="2" name="paragraph-0">
            <a:extLst xmlns:a="http://schemas.openxmlformats.org/drawingml/2006/main">
              <a:ext uri="{FF2B5EF4-FFF2-40B4-BE49-F238E27FC236}">
                <a16:creationId xmlns:a16="http://schemas.microsoft.com/office/drawing/2014/main" id="{5F0F0F24-76BE-4974-8BE1-F92ACE7B42F0}"/>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latent TB infection has evidence of infection without active disease. Choose a preventive regimen only after the active-disease assessment is adequate. CDC preferentially recommends short rifamycin-based options when suitable, such as three months of weekly isoniazid-rifapentine, four months of daily rifampin, or three months of daily isoniazid-rifampin.</a:t>
            </a:r>
          </a:p>
        </p:txBody>
      </p:sp>
      <p:sp>
        <p:nvSpPr>
          <p:cNvPr id="3" name="footer">
            <a:extLst xmlns:a="http://schemas.openxmlformats.org/drawingml/2006/main">
              <a:ext uri="{FF2B5EF4-FFF2-40B4-BE49-F238E27FC236}">
                <a16:creationId xmlns:a16="http://schemas.microsoft.com/office/drawing/2014/main" id="{9A9EF666-D203-4543-9BA7-6BFA412E714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91F6D0A-5FA4-4964-A9C2-6C6E90EE8F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14137729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0B78F76-874A-4C35-B69C-1F5B6596E98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Exclude active disease before choosing preventive treatment</a:t>
            </a:r>
          </a:p>
        </p:txBody>
      </p:sp>
      <p:sp>
        <p:nvSpPr>
          <p:cNvPr id="2" name="paragraph-0">
            <a:extLst xmlns:a="http://schemas.openxmlformats.org/drawingml/2006/main">
              <a:ext uri="{FF2B5EF4-FFF2-40B4-BE49-F238E27FC236}">
                <a16:creationId xmlns:a16="http://schemas.microsoft.com/office/drawing/2014/main" id="{E1D1A98A-44A3-475C-8983-7F401F6747E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Check pregnancy, age, HIV treatment, drug interactions, and the presumed source isolate. Isoniazid-only courses remain alternatives when a short regimen cannot be used. A drug-resistant contact needs specialist selection based on the source isolate, not automatic routine latent-TB treatment.</a:t>
            </a:r>
          </a:p>
        </p:txBody>
      </p:sp>
      <p:sp>
        <p:nvSpPr>
          <p:cNvPr id="3" name="paragraph-1">
            <a:extLst xmlns:a="http://schemas.openxmlformats.org/drawingml/2006/main">
              <a:ext uri="{FF2B5EF4-FFF2-40B4-BE49-F238E27FC236}">
                <a16:creationId xmlns:a16="http://schemas.microsoft.com/office/drawing/2014/main" id="{099488C2-D4EC-46A1-82F2-333578A0C46B}"/>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Reassess symptoms, adherence, and adverse effects during preventive treatment. Patients should know which symptoms require stopping medication and calling the treating team.</a:t>
            </a:r>
          </a:p>
        </p:txBody>
      </p:sp>
      <p:sp>
        <p:nvSpPr>
          <p:cNvPr id="4" name="paragraph-2">
            <a:extLst xmlns:a="http://schemas.openxmlformats.org/drawingml/2006/main">
              <a:ext uri="{FF2B5EF4-FFF2-40B4-BE49-F238E27FC236}">
                <a16:creationId xmlns:a16="http://schemas.microsoft.com/office/drawing/2014/main" id="{5CE15B14-4B17-4C89-89C0-954917B3857A}"/>
              </a:ext>
            </a:extLst>
          </p:cNvPr>
          <p:cNvSpPr>
            <a:spLocks xmlns:a="http://schemas.openxmlformats.org/drawingml/2006/main" noGrp="1"/>
          </p:cNvSpPr>
          <p:nvPr/>
        </p:nvSpPr>
        <p:spPr>
          <a:xfrm xmlns:a="http://schemas.openxmlformats.org/drawingml/2006/main">
            <a:off x="647700" y="52863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ltbi , ltbi-guideline .</a:t>
            </a:r>
          </a:p>
        </p:txBody>
      </p:sp>
      <p:sp>
        <p:nvSpPr>
          <p:cNvPr id="5" name="footer">
            <a:extLst xmlns:a="http://schemas.openxmlformats.org/drawingml/2006/main">
              <a:ext uri="{FF2B5EF4-FFF2-40B4-BE49-F238E27FC236}">
                <a16:creationId xmlns:a16="http://schemas.microsoft.com/office/drawing/2014/main" id="{87F3D5B2-A670-4AF0-8A44-027410C5BA3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70205FF6-33F3-4423-9B73-BCC3B60EC7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3812534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AF4803A-8ACC-4A9F-A712-249CDC9265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 The immune test is not the disease diagnosis</a:t>
            </a:r>
          </a:p>
        </p:txBody>
      </p:sp>
      <p:sp>
        <p:nvSpPr>
          <p:cNvPr id="2" name="paragraph-0">
            <a:extLst xmlns:a="http://schemas.openxmlformats.org/drawingml/2006/main">
              <a:ext uri="{FF2B5EF4-FFF2-40B4-BE49-F238E27FC236}">
                <a16:creationId xmlns:a16="http://schemas.microsoft.com/office/drawing/2014/main" id="{AA02A9A1-8914-4EDB-8995-035C28A0002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asymptomatic patient has a positive IGRA before starting a TNF inhibitor.</a:t>
            </a:r>
          </a:p>
        </p:txBody>
      </p:sp>
      <p:sp>
        <p:nvSpPr>
          <p:cNvPr id="3" name="paragraph-1">
            <a:extLst xmlns:a="http://schemas.openxmlformats.org/drawingml/2006/main">
              <a:ext uri="{FF2B5EF4-FFF2-40B4-BE49-F238E27FC236}">
                <a16:creationId xmlns:a16="http://schemas.microsoft.com/office/drawing/2014/main" id="{E003632E-0DAD-428D-913D-956A063892A7}"/>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the next action and the finding that would change it.</a:t>
            </a:r>
          </a:p>
        </p:txBody>
      </p:sp>
      <p:sp>
        <p:nvSpPr>
          <p:cNvPr id="4" name="footer">
            <a:extLst xmlns:a="http://schemas.openxmlformats.org/drawingml/2006/main">
              <a:ext uri="{FF2B5EF4-FFF2-40B4-BE49-F238E27FC236}">
                <a16:creationId xmlns:a16="http://schemas.microsoft.com/office/drawing/2014/main" id="{253285C7-88D2-4F03-92C6-331807A88B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17C3001-A2E3-4925-8DF5-A764805F1F9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213018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398184-EB55-487D-926E-36D176010B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DCF8776B-DFDE-4378-93B8-B0CBDD9DD0F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Assess symptoms and chest imaging and investigate any concern for active disease before selecting preventive treatment. Do not label this active TB from the IGRA alone, and do not begin a preventive regimen while an unexplained pulmonary syndrome is still being evaluated.</a:t>
            </a:r>
          </a:p>
        </p:txBody>
      </p:sp>
      <p:sp>
        <p:nvSpPr>
          <p:cNvPr id="3" name="footer">
            <a:extLst xmlns:a="http://schemas.openxmlformats.org/drawingml/2006/main">
              <a:ext uri="{FF2B5EF4-FFF2-40B4-BE49-F238E27FC236}">
                <a16:creationId xmlns:a16="http://schemas.microsoft.com/office/drawing/2014/main" id="{A9A6EF72-06BB-4983-9A57-306CBC1AE41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599DCD0-3751-45DE-8994-3D9556005A6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95393581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3C31A6D-EF13-41F8-BC2B-9D100030BD5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 A negative result does not close the case</a:t>
            </a:r>
          </a:p>
        </p:txBody>
      </p:sp>
      <p:sp>
        <p:nvSpPr>
          <p:cNvPr id="2" name="paragraph-0">
            <a:extLst xmlns:a="http://schemas.openxmlformats.org/drawingml/2006/main">
              <a:ext uri="{FF2B5EF4-FFF2-40B4-BE49-F238E27FC236}">
                <a16:creationId xmlns:a16="http://schemas.microsoft.com/office/drawing/2014/main" id="{27DB9634-57A3-477D-ADDA-DBAC3C9AC2E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weight loss, cough, an upper-lobe cavity, and immunosuppression has a negative IGRA.</a:t>
            </a:r>
          </a:p>
        </p:txBody>
      </p:sp>
      <p:sp>
        <p:nvSpPr>
          <p:cNvPr id="3" name="paragraph-1">
            <a:extLst xmlns:a="http://schemas.openxmlformats.org/drawingml/2006/main">
              <a:ext uri="{FF2B5EF4-FFF2-40B4-BE49-F238E27FC236}">
                <a16:creationId xmlns:a16="http://schemas.microsoft.com/office/drawing/2014/main" id="{6726D4DB-A60A-4DB1-9EB8-0AAF5884FBF8}"/>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the next action and the finding that would change it.</a:t>
            </a:r>
          </a:p>
        </p:txBody>
      </p:sp>
      <p:sp>
        <p:nvSpPr>
          <p:cNvPr id="4" name="footer">
            <a:extLst xmlns:a="http://schemas.openxmlformats.org/drawingml/2006/main">
              <a:ext uri="{FF2B5EF4-FFF2-40B4-BE49-F238E27FC236}">
                <a16:creationId xmlns:a16="http://schemas.microsoft.com/office/drawing/2014/main" id="{A45E215A-42E9-45EA-A378-3DADA13BEE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60F9741-3017-410E-84E8-B301E737E2F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11228962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B23AC16-D9DA-49FA-9B49-D8EF64BA19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7556F770-9B3C-49C0-9164-B768EEBC300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Continue airborne precautions and the respiratory microbiologic evaluation. The negative immune test does not rule out active disease. Simultaneously investigate credible mimics and obtain specimens that can distinguish them.</a:t>
            </a:r>
          </a:p>
        </p:txBody>
      </p:sp>
      <p:sp>
        <p:nvSpPr>
          <p:cNvPr id="3" name="footer">
            <a:extLst xmlns:a="http://schemas.openxmlformats.org/drawingml/2006/main">
              <a:ext uri="{FF2B5EF4-FFF2-40B4-BE49-F238E27FC236}">
                <a16:creationId xmlns:a16="http://schemas.microsoft.com/office/drawing/2014/main" id="{73BA7B16-41D4-4936-85E6-22C7284E0F7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6E00ABA-7007-4886-9ABB-AB015D19F1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4560257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27FE282-1AD7-4C95-B216-AF160D32FA4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 Resistance requires a regimen decision</a:t>
            </a:r>
          </a:p>
        </p:txBody>
      </p:sp>
      <p:sp>
        <p:nvSpPr>
          <p:cNvPr id="2" name="paragraph-0">
            <a:extLst xmlns:a="http://schemas.openxmlformats.org/drawingml/2006/main">
              <a:ext uri="{FF2B5EF4-FFF2-40B4-BE49-F238E27FC236}">
                <a16:creationId xmlns:a16="http://schemas.microsoft.com/office/drawing/2014/main" id="{E0BE42C2-7C94-4888-BEFC-C4FB0860610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respiratory NAAT detects M. tuberculosis and a rifampin-resistance marker.</a:t>
            </a:r>
          </a:p>
        </p:txBody>
      </p:sp>
      <p:sp>
        <p:nvSpPr>
          <p:cNvPr id="3" name="paragraph-1">
            <a:extLst xmlns:a="http://schemas.openxmlformats.org/drawingml/2006/main">
              <a:ext uri="{FF2B5EF4-FFF2-40B4-BE49-F238E27FC236}">
                <a16:creationId xmlns:a16="http://schemas.microsoft.com/office/drawing/2014/main" id="{F3A91C0C-341C-4D7C-9B4F-9A945C39359B}"/>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the next action and the finding that would change it.</a:t>
            </a:r>
          </a:p>
        </p:txBody>
      </p:sp>
      <p:sp>
        <p:nvSpPr>
          <p:cNvPr id="4" name="footer">
            <a:extLst xmlns:a="http://schemas.openxmlformats.org/drawingml/2006/main">
              <a:ext uri="{FF2B5EF4-FFF2-40B4-BE49-F238E27FC236}">
                <a16:creationId xmlns:a16="http://schemas.microsoft.com/office/drawing/2014/main" id="{537DFEA9-5295-4F48-BD54-716F0DFD22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9A150D7-9A32-45FA-9900-A152360ABD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62411401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30C7672-4E43-486D-B43E-7CA421AC95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5A1514BC-5685-43AB-9E98-A031BEF429D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Treat the result as urgent. Contact the TB program and an experienced clinician, obtain expanded susceptibility testing, and select a complete active regimen. Do not continue the standard plan unchanged or append a single new drug.</a:t>
            </a:r>
          </a:p>
        </p:txBody>
      </p:sp>
      <p:sp>
        <p:nvSpPr>
          <p:cNvPr id="3" name="footer">
            <a:extLst xmlns:a="http://schemas.openxmlformats.org/drawingml/2006/main">
              <a:ext uri="{FF2B5EF4-FFF2-40B4-BE49-F238E27FC236}">
                <a16:creationId xmlns:a16="http://schemas.microsoft.com/office/drawing/2014/main" id="{E5F27F8D-E77E-456B-994F-15C401FF29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9C73C83-DC59-42E5-859A-04E58DC620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8003873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F63494B-C1D4-4B98-A67D-AA8C24217C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Make the isolation, treatment, and follow-up plans explicit</a:t>
            </a:r>
          </a:p>
        </p:txBody>
      </p:sp>
      <p:sp>
        <p:nvSpPr>
          <p:cNvPr id="2" name="paragraph-0">
            <a:extLst xmlns:a="http://schemas.openxmlformats.org/drawingml/2006/main">
              <a:ext uri="{FF2B5EF4-FFF2-40B4-BE49-F238E27FC236}">
                <a16:creationId xmlns:a16="http://schemas.microsoft.com/office/drawing/2014/main" id="{EF5C7179-A3B4-404E-8358-F4D0DF6FBAE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Hand off the disease site, infectiousness assessment, specimens and resistance results still pending, complete regimen, interaction and toxicity checks, and named public-health and clinical follow-up. Newer trial results belong in the eligible population and care setting described in the study.</a:t>
            </a:r>
          </a:p>
        </p:txBody>
      </p:sp>
      <p:sp>
        <p:nvSpPr>
          <p:cNvPr id="3" name="paragraph-1">
            <a:extLst xmlns:a="http://schemas.openxmlformats.org/drawingml/2006/main">
              <a:ext uri="{FF2B5EF4-FFF2-40B4-BE49-F238E27FC236}">
                <a16:creationId xmlns:a16="http://schemas.microsoft.com/office/drawing/2014/main" id="{99CB2F02-2141-43D2-AE88-43F843F42ACB}"/>
              </a:ext>
            </a:extLst>
          </p:cNvPr>
          <p:cNvSpPr>
            <a:spLocks xmlns:a="http://schemas.openxmlformats.org/drawingml/2006/main" noGrp="1"/>
          </p:cNvSpPr>
          <p:nvPr/>
        </p:nvSpPr>
        <p:spPr>
          <a:xfrm xmlns:a="http://schemas.openxmlformats.org/drawingml/2006/main">
            <a:off x="647700" y="39719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End of the resident core. Advanced diagnostic, treatment, and evidence discussions follow.</a:t>
            </a:r>
          </a:p>
        </p:txBody>
      </p:sp>
      <p:sp>
        <p:nvSpPr>
          <p:cNvPr id="4" name="footer">
            <a:extLst xmlns:a="http://schemas.openxmlformats.org/drawingml/2006/main">
              <a:ext uri="{FF2B5EF4-FFF2-40B4-BE49-F238E27FC236}">
                <a16:creationId xmlns:a16="http://schemas.microsoft.com/office/drawing/2014/main" id="{BE8EA763-A2B0-4DA2-A5DA-A434AF05AEC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314943E-B9BC-4D12-BA90-5E0547A7C4D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176857454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AE06714-FFC9-40D5-92F9-618BBA2D893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teaching and detailed reference begin here</a:t>
            </a:r>
          </a:p>
        </p:txBody>
      </p:sp>
      <p:sp>
        <p:nvSpPr>
          <p:cNvPr id="2" name="paragraph-0">
            <a:extLst xmlns:a="http://schemas.openxmlformats.org/drawingml/2006/main">
              <a:ext uri="{FF2B5EF4-FFF2-40B4-BE49-F238E27FC236}">
                <a16:creationId xmlns:a16="http://schemas.microsoft.com/office/drawing/2014/main" id="{6C7EEF1F-A427-484D-AD33-41369A01CC5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these sections for fellow discussion, additional cases, and prescribing or evidence questions. They are outside the resident core.</a:t>
            </a:r>
          </a:p>
        </p:txBody>
      </p:sp>
      <p:sp>
        <p:nvSpPr>
          <p:cNvPr id="3" name="paragraph-1">
            <a:extLst xmlns:a="http://schemas.openxmlformats.org/drawingml/2006/main">
              <a:ext uri="{FF2B5EF4-FFF2-40B4-BE49-F238E27FC236}">
                <a16:creationId xmlns:a16="http://schemas.microsoft.com/office/drawing/2014/main" id="{A6F16AE7-F8A8-4CEE-B4D3-B8A78B422A2C}"/>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Diagnostic detail Susceptible TB Resistant TB Special populations New evidence Additional cases</a:t>
            </a:r>
          </a:p>
        </p:txBody>
      </p:sp>
      <p:sp>
        <p:nvSpPr>
          <p:cNvPr id="4" name="footer">
            <a:extLst xmlns:a="http://schemas.openxmlformats.org/drawingml/2006/main">
              <a:ext uri="{FF2B5EF4-FFF2-40B4-BE49-F238E27FC236}">
                <a16:creationId xmlns:a16="http://schemas.microsoft.com/office/drawing/2014/main" id="{0007A886-6E05-4C75-893B-20F0D1EECE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6137CD4-7D3E-441F-A09D-1B56B2E5FEF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2488156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4104261-F07D-4321-9D4F-393EB3B361C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regimen for the patient, organism, and disease site</a:t>
            </a:r>
          </a:p>
        </p:txBody>
      </p:sp>
      <p:sp>
        <p:nvSpPr>
          <p:cNvPr id="2" name="paragraph-0">
            <a:extLst xmlns:a="http://schemas.openxmlformats.org/drawingml/2006/main">
              <a:ext uri="{FF2B5EF4-FFF2-40B4-BE49-F238E27FC236}">
                <a16:creationId xmlns:a16="http://schemas.microsoft.com/office/drawing/2014/main" id="{2ECD3B64-5543-4945-86D5-3B63802D970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TB treatment is more than a prescription for four drugs. The first decisions are whether disease is active, whether the patient may transmit it, what resistance is present, and whether the evidence for a particular regimen applies to this patient.</a:t>
            </a:r>
          </a:p>
        </p:txBody>
      </p:sp>
      <p:sp>
        <p:nvSpPr>
          <p:cNvPr id="3" name="paragraph-1">
            <a:extLst xmlns:a="http://schemas.openxmlformats.org/drawingml/2006/main">
              <a:ext uri="{FF2B5EF4-FFF2-40B4-BE49-F238E27FC236}">
                <a16:creationId xmlns:a16="http://schemas.microsoft.com/office/drawing/2014/main" id="{8AF2F8F6-4A50-4478-99CF-287243D8B27C}"/>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module is intended for internal medicine residents, ID fellows and attending physicians. The resident core is designed for 30–45 minutes; evidence details are optional. Cases are fictional teaching examples.</a:t>
            </a:r>
          </a:p>
        </p:txBody>
      </p:sp>
      <p:sp>
        <p:nvSpPr>
          <p:cNvPr id="4" name="footer">
            <a:extLst xmlns:a="http://schemas.openxmlformats.org/drawingml/2006/main">
              <a:ext uri="{FF2B5EF4-FFF2-40B4-BE49-F238E27FC236}">
                <a16:creationId xmlns:a16="http://schemas.microsoft.com/office/drawing/2014/main" id="{7F9FCE30-1C8B-49C1-836E-03D669F6C75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D8BA883-CF7C-488D-BCAD-24190DBD61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179184949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715BDEC-1255-40B2-B251-0F5C18F67C7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regimen for the patient, organism, and disease site</a:t>
            </a:r>
          </a:p>
        </p:txBody>
      </p:sp>
      <p:sp>
        <p:nvSpPr>
          <p:cNvPr id="2" name="paragraph-0">
            <a:extLst xmlns:a="http://schemas.openxmlformats.org/drawingml/2006/main">
              <a:ext uri="{FF2B5EF4-FFF2-40B4-BE49-F238E27FC236}">
                <a16:creationId xmlns:a16="http://schemas.microsoft.com/office/drawing/2014/main" id="{10B38A81-49F7-44D6-A7B3-55BFD666CD1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Separate TB infection from disease and common mimics; select diagnostic tests and infection-prevention actions.</a:t>
            </a:r>
          </a:p>
        </p:txBody>
      </p:sp>
      <p:sp>
        <p:nvSpPr>
          <p:cNvPr id="3" name="paragraph-1">
            <a:extLst xmlns:a="http://schemas.openxmlformats.org/drawingml/2006/main">
              <a:ext uri="{FF2B5EF4-FFF2-40B4-BE49-F238E27FC236}">
                <a16:creationId xmlns:a16="http://schemas.microsoft.com/office/drawing/2014/main" id="{F9B57C08-E99B-4C86-9988-3AD8072CBAD3}"/>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Select a standard or shortened regimen for drug-susceptible pulmonary TB and identify reasons to use a different course.</a:t>
            </a:r>
          </a:p>
        </p:txBody>
      </p:sp>
      <p:sp>
        <p:nvSpPr>
          <p:cNvPr id="4" name="paragraph-2">
            <a:extLst xmlns:a="http://schemas.openxmlformats.org/drawingml/2006/main">
              <a:ext uri="{FF2B5EF4-FFF2-40B4-BE49-F238E27FC236}">
                <a16:creationId xmlns:a16="http://schemas.microsoft.com/office/drawing/2014/main" id="{68958A4D-EDC8-417F-A256-B428A1574C1B}"/>
              </a:ext>
            </a:extLst>
          </p:cNvPr>
          <p:cNvSpPr>
            <a:spLocks xmlns:a="http://schemas.openxmlformats.org/drawingml/2006/main" noGrp="1"/>
          </p:cNvSpPr>
          <p:nvPr/>
        </p:nvSpPr>
        <p:spPr>
          <a:xfrm xmlns:a="http://schemas.openxmlformats.org/drawingml/2006/main">
            <a:off x="647700" y="38766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Distinguish BPaLM, BPaL and newer WHO regimens for resistant TB.</a:t>
            </a:r>
          </a:p>
        </p:txBody>
      </p:sp>
      <p:sp>
        <p:nvSpPr>
          <p:cNvPr id="5" name="paragraph-3">
            <a:extLst xmlns:a="http://schemas.openxmlformats.org/drawingml/2006/main">
              <a:ext uri="{FF2B5EF4-FFF2-40B4-BE49-F238E27FC236}">
                <a16:creationId xmlns:a16="http://schemas.microsoft.com/office/drawing/2014/main" id="{06970004-D0B0-471D-BF3F-6BD3B9649DEC}"/>
              </a:ext>
            </a:extLst>
          </p:cNvPr>
          <p:cNvSpPr>
            <a:spLocks xmlns:a="http://schemas.openxmlformats.org/drawingml/2006/main" noGrp="1"/>
          </p:cNvSpPr>
          <p:nvPr/>
        </p:nvSpPr>
        <p:spPr>
          <a:xfrm xmlns:a="http://schemas.openxmlformats.org/drawingml/2006/main">
            <a:off x="647700" y="44862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Select preventive treatment for latent TB and build a toxicity, interaction, microbiology and follow-up plan.</a:t>
            </a:r>
          </a:p>
        </p:txBody>
      </p:sp>
      <p:sp>
        <p:nvSpPr>
          <p:cNvPr id="6" name="footer">
            <a:extLst xmlns:a="http://schemas.openxmlformats.org/drawingml/2006/main">
              <a:ext uri="{FF2B5EF4-FFF2-40B4-BE49-F238E27FC236}">
                <a16:creationId xmlns:a16="http://schemas.microsoft.com/office/drawing/2014/main" id="{BD0510C1-013E-4493-A05B-8E678A32E5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7" name="number">
            <a:extLst xmlns:a="http://schemas.openxmlformats.org/drawingml/2006/main">
              <a:ext uri="{FF2B5EF4-FFF2-40B4-BE49-F238E27FC236}">
                <a16:creationId xmlns:a16="http://schemas.microsoft.com/office/drawing/2014/main" id="{65715BE6-B743-433B-8818-2F95266B1BE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201925023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B99189-6F75-4757-969B-9DE2C79FDE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the regimen for the patient, organism, and disease site</a:t>
            </a:r>
          </a:p>
        </p:txBody>
      </p:sp>
      <p:sp>
        <p:nvSpPr>
          <p:cNvPr id="2" name="paragraph-0">
            <a:extLst xmlns:a="http://schemas.openxmlformats.org/drawingml/2006/main">
              <a:ext uri="{FF2B5EF4-FFF2-40B4-BE49-F238E27FC236}">
                <a16:creationId xmlns:a16="http://schemas.microsoft.com/office/drawing/2014/main" id="{0B1D9C73-60B9-4022-9F65-A500B3FA281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Critique newer treatment studies using population, comparator, endpoint, effect size and limitations.</a:t>
            </a:r>
          </a:p>
        </p:txBody>
      </p:sp>
      <p:sp>
        <p:nvSpPr>
          <p:cNvPr id="3" name="footer">
            <a:extLst xmlns:a="http://schemas.openxmlformats.org/drawingml/2006/main">
              <a:ext uri="{FF2B5EF4-FFF2-40B4-BE49-F238E27FC236}">
                <a16:creationId xmlns:a16="http://schemas.microsoft.com/office/drawing/2014/main" id="{492460FE-4760-4DF0-8D08-25FEE864B0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13A0595-76BF-4718-8D41-5C2E2B84A3A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41921870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39DBE2-3108-485B-8972-79422700695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Resident pathway</a:t>
            </a:r>
          </a:p>
        </p:txBody>
      </p:sp>
      <p:sp>
        <p:nvSpPr>
          <p:cNvPr id="2" name="paragraph-0">
            <a:extLst xmlns:a="http://schemas.openxmlformats.org/drawingml/2006/main">
              <a:ext uri="{FF2B5EF4-FFF2-40B4-BE49-F238E27FC236}">
                <a16:creationId xmlns:a16="http://schemas.microsoft.com/office/drawing/2014/main" id="{0E90D7F2-B679-4BD9-B01C-7E7ED242984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Read the initial approach, diagnostics, mimics, prevention, drug-susceptible and resistant-TB sections, drug monitoring, cases and rounds summary. Be able to explain the regimen and what would change it.</a:t>
            </a:r>
          </a:p>
        </p:txBody>
      </p:sp>
      <p:sp>
        <p:nvSpPr>
          <p:cNvPr id="3" name="footer">
            <a:extLst xmlns:a="http://schemas.openxmlformats.org/drawingml/2006/main">
              <a:ext uri="{FF2B5EF4-FFF2-40B4-BE49-F238E27FC236}">
                <a16:creationId xmlns:a16="http://schemas.microsoft.com/office/drawing/2014/main" id="{31B4709A-4255-4D21-8BC5-34673B020D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0A3DBC1-0C59-49B4-B0F3-C52CA0BEB1D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49767986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D08F85-38A3-4F52-A048-E7951EA6D1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pathway</a:t>
            </a:r>
          </a:p>
        </p:txBody>
      </p:sp>
      <p:sp>
        <p:nvSpPr>
          <p:cNvPr id="2" name="paragraph-0">
            <a:extLst xmlns:a="http://schemas.openxmlformats.org/drawingml/2006/main">
              <a:ext uri="{FF2B5EF4-FFF2-40B4-BE49-F238E27FC236}">
                <a16:creationId xmlns:a16="http://schemas.microsoft.com/office/drawing/2014/main" id="{66E83A48-AA59-4C51-8B88-06FF5EF6E86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Add the evidence review and special-population discussion. Pay particular attention to trial eligibility, the distinction between regimen and strategy trials, resistance mechanisms, and how drug toxicity can weaken a regimen.</a:t>
            </a:r>
          </a:p>
        </p:txBody>
      </p:sp>
      <p:sp>
        <p:nvSpPr>
          <p:cNvPr id="3" name="footer">
            <a:extLst xmlns:a="http://schemas.openxmlformats.org/drawingml/2006/main">
              <a:ext uri="{FF2B5EF4-FFF2-40B4-BE49-F238E27FC236}">
                <a16:creationId xmlns:a16="http://schemas.microsoft.com/office/drawing/2014/main" id="{DE4827E5-6490-4AF6-BC93-46434CD947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391E161-B733-413D-9594-C4C4909A458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182288533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421102B-86C8-44C7-BB11-78ECB88329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Attending review pathway</a:t>
            </a:r>
          </a:p>
        </p:txBody>
      </p:sp>
      <p:sp>
        <p:nvSpPr>
          <p:cNvPr id="2" name="paragraph-0">
            <a:extLst xmlns:a="http://schemas.openxmlformats.org/drawingml/2006/main">
              <a:ext uri="{FF2B5EF4-FFF2-40B4-BE49-F238E27FC236}">
                <a16:creationId xmlns:a16="http://schemas.microsoft.com/office/drawing/2014/main" id="{243CBE17-B2D8-46E1-A1DD-E7E151CC0CC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Start with diagnostic discordance and mimics, then review shortened-regimen eligibility, resistant-TB options, preventive care and the trial tables. Use the cases to ask which finding would change the plan. Allow 30–40 minutes for a focused update or 80–105 minutes for the full primer.</a:t>
            </a:r>
          </a:p>
        </p:txBody>
      </p:sp>
      <p:sp>
        <p:nvSpPr>
          <p:cNvPr id="3" name="paragraph-1">
            <a:extLst xmlns:a="http://schemas.openxmlformats.org/drawingml/2006/main">
              <a:ext uri="{FF2B5EF4-FFF2-40B4-BE49-F238E27FC236}">
                <a16:creationId xmlns:a16="http://schemas.microsoft.com/office/drawing/2014/main" id="{D1B443AD-B0EE-4CB5-A826-F9F839843A25}"/>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Version 1.1, September 15, 2026. Sources checked September 15, 2026. Educational synthesis prepared with AI assistance. Specialty review is pending. This module is educational and does not establish treatment or isolation policy.</a:t>
            </a:r>
          </a:p>
        </p:txBody>
      </p:sp>
      <p:sp>
        <p:nvSpPr>
          <p:cNvPr id="4" name="footer">
            <a:extLst xmlns:a="http://schemas.openxmlformats.org/drawingml/2006/main">
              <a:ext uri="{FF2B5EF4-FFF2-40B4-BE49-F238E27FC236}">
                <a16:creationId xmlns:a16="http://schemas.microsoft.com/office/drawing/2014/main" id="{1CD5D329-81DB-4A9F-AEA7-B7A49544BC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B394179-DFA1-4DBF-9232-75DDE1D7F6B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123308708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F8A5EA7-4E58-4861-820E-A3C1DAB85B3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clinical spectrum</a:t>
            </a:r>
          </a:p>
        </p:txBody>
      </p:sp>
      <p:sp>
        <p:nvSpPr>
          <p:cNvPr id="2" name="paragraph-0">
            <a:extLst xmlns:a="http://schemas.openxmlformats.org/drawingml/2006/main">
              <a:ext uri="{FF2B5EF4-FFF2-40B4-BE49-F238E27FC236}">
                <a16:creationId xmlns:a16="http://schemas.microsoft.com/office/drawing/2014/main" id="{6716FEC0-7085-4806-920F-F6F9B0C42354}"/>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Inhaled M. tuberculosis can cause infection without symptoms or evidence of disease. Latent TB infection is not contagious. Progression to disease may follow recent acquisition or occur years later, particularly with impaired immunity. Pulmonary and laryngeal disease drive most transmission; extrapulmonary disease can coexist with an infectious pulmonary focus. Treat infection to prevent progression, and treat disease with an adequate combination to cure it and prevent resistance. [5]</a:t>
            </a:r>
          </a:p>
        </p:txBody>
      </p:sp>
      <p:sp>
        <p:nvSpPr>
          <p:cNvPr id="3" name="paragraph-1">
            <a:extLst xmlns:a="http://schemas.openxmlformats.org/drawingml/2006/main">
              <a:ext uri="{FF2B5EF4-FFF2-40B4-BE49-F238E27FC236}">
                <a16:creationId xmlns:a16="http://schemas.microsoft.com/office/drawing/2014/main" id="{642C58EF-81C9-476E-AB06-9FB76F57FA74}"/>
              </a:ext>
            </a:extLst>
          </p:cNvPr>
          <p:cNvSpPr>
            <a:spLocks xmlns:a="http://schemas.openxmlformats.org/drawingml/2006/main" noGrp="1"/>
          </p:cNvSpPr>
          <p:nvPr/>
        </p:nvSpPr>
        <p:spPr>
          <a:xfrm xmlns:a="http://schemas.openxmlformats.org/drawingml/2006/main">
            <a:off x="647700" y="46767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Recognize Symptoms, exposures, immune status and imaging.</a:t>
            </a:r>
          </a:p>
        </p:txBody>
      </p:sp>
      <p:sp>
        <p:nvSpPr>
          <p:cNvPr id="4" name="footer">
            <a:extLst xmlns:a="http://schemas.openxmlformats.org/drawingml/2006/main">
              <a:ext uri="{FF2B5EF4-FFF2-40B4-BE49-F238E27FC236}">
                <a16:creationId xmlns:a16="http://schemas.microsoft.com/office/drawing/2014/main" id="{12153428-E616-40F9-A235-725C495DC8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67DC910-1AEB-4A91-A158-C850E72D92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71162729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3BF1C23-1AF0-4427-9929-716AC5081E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clinical spectrum</a:t>
            </a:r>
          </a:p>
        </p:txBody>
      </p:sp>
      <p:sp>
        <p:nvSpPr>
          <p:cNvPr id="2" name="paragraph-0">
            <a:extLst xmlns:a="http://schemas.openxmlformats.org/drawingml/2006/main">
              <a:ext uri="{FF2B5EF4-FFF2-40B4-BE49-F238E27FC236}">
                <a16:creationId xmlns:a16="http://schemas.microsoft.com/office/drawing/2014/main" id="{202D9542-998D-4040-A496-5E1DCD80E53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Isolate Airborne precautions when pulmonary or laryngeal TB is suspected.</a:t>
            </a:r>
          </a:p>
        </p:txBody>
      </p:sp>
      <p:sp>
        <p:nvSpPr>
          <p:cNvPr id="3" name="paragraph-1">
            <a:extLst xmlns:a="http://schemas.openxmlformats.org/drawingml/2006/main">
              <a:ext uri="{FF2B5EF4-FFF2-40B4-BE49-F238E27FC236}">
                <a16:creationId xmlns:a16="http://schemas.microsoft.com/office/drawing/2014/main" id="{0911A97D-E458-4F93-BE8D-25A4EDEFBD41}"/>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Sample AFB smear, culture, NAAT and resistance testing.</a:t>
            </a:r>
          </a:p>
        </p:txBody>
      </p:sp>
      <p:sp>
        <p:nvSpPr>
          <p:cNvPr id="4" name="paragraph-2">
            <a:extLst xmlns:a="http://schemas.openxmlformats.org/drawingml/2006/main">
              <a:ext uri="{FF2B5EF4-FFF2-40B4-BE49-F238E27FC236}">
                <a16:creationId xmlns:a16="http://schemas.microsoft.com/office/drawing/2014/main" id="{E3B0900E-6FF3-43CB-97AB-3C5B9E99B82C}"/>
              </a:ext>
            </a:extLst>
          </p:cNvPr>
          <p:cNvSpPr>
            <a:spLocks xmlns:a="http://schemas.openxmlformats.org/drawingml/2006/main" noGrp="1"/>
          </p:cNvSpPr>
          <p:nvPr/>
        </p:nvSpPr>
        <p:spPr>
          <a:xfrm xmlns:a="http://schemas.openxmlformats.org/drawingml/2006/main">
            <a:off x="647700" y="35242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Treat Active multidrug therapy when indicated.</a:t>
            </a:r>
          </a:p>
        </p:txBody>
      </p:sp>
      <p:sp>
        <p:nvSpPr>
          <p:cNvPr id="5" name="paragraph-3">
            <a:extLst xmlns:a="http://schemas.openxmlformats.org/drawingml/2006/main">
              <a:ext uri="{FF2B5EF4-FFF2-40B4-BE49-F238E27FC236}">
                <a16:creationId xmlns:a16="http://schemas.microsoft.com/office/drawing/2014/main" id="{D1C58EAC-035C-43DB-857F-CAEC22873A49}"/>
              </a:ext>
            </a:extLst>
          </p:cNvPr>
          <p:cNvSpPr>
            <a:spLocks xmlns:a="http://schemas.openxmlformats.org/drawingml/2006/main" noGrp="1"/>
          </p:cNvSpPr>
          <p:nvPr/>
        </p:nvSpPr>
        <p:spPr>
          <a:xfrm xmlns:a="http://schemas.openxmlformats.org/drawingml/2006/main">
            <a:off x="647700" y="41338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Coordinate ID, infection prevention and public health.</a:t>
            </a:r>
          </a:p>
        </p:txBody>
      </p:sp>
      <p:sp>
        <p:nvSpPr>
          <p:cNvPr id="6" name="footer">
            <a:extLst xmlns:a="http://schemas.openxmlformats.org/drawingml/2006/main">
              <a:ext uri="{FF2B5EF4-FFF2-40B4-BE49-F238E27FC236}">
                <a16:creationId xmlns:a16="http://schemas.microsoft.com/office/drawing/2014/main" id="{0EA17167-4BE1-4A59-8DB3-1A908EE7635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7" name="number">
            <a:extLst xmlns:a="http://schemas.openxmlformats.org/drawingml/2006/main">
              <a:ext uri="{FF2B5EF4-FFF2-40B4-BE49-F238E27FC236}">
                <a16:creationId xmlns:a16="http://schemas.microsoft.com/office/drawing/2014/main" id="{826E7056-0F20-4C80-9D8E-7EF34CF017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16227682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2A1715-E391-4722-849D-71E1E5DD02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clinical spectrum</a:t>
            </a:r>
          </a:p>
        </p:txBody>
      </p:sp>
      <p:sp>
        <p:nvSpPr>
          <p:cNvPr id="2" name="paragraph-0">
            <a:extLst xmlns:a="http://schemas.openxmlformats.org/drawingml/2006/main">
              <a:ext uri="{FF2B5EF4-FFF2-40B4-BE49-F238E27FC236}">
                <a16:creationId xmlns:a16="http://schemas.microsoft.com/office/drawing/2014/main" id="{86D19A35-4337-46DB-8DA1-875A4C6C93B5}"/>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Cough, fever, night sweats, weight loss, hemoptysis or compatible imaging should prompt consideration of TB. Advanced immunosuppression can produce atypical pulmonary findings or disseminated disease. An IGRA or TST measures immune sensitization. It does not distinguish latent infection from disease, establish infectiousness, or exclude active TB when negative. [5] [22]</a:t>
            </a:r>
          </a:p>
        </p:txBody>
      </p:sp>
      <p:sp>
        <p:nvSpPr>
          <p:cNvPr id="3" name="footer">
            <a:extLst xmlns:a="http://schemas.openxmlformats.org/drawingml/2006/main">
              <a:ext uri="{FF2B5EF4-FFF2-40B4-BE49-F238E27FC236}">
                <a16:creationId xmlns:a16="http://schemas.microsoft.com/office/drawing/2014/main" id="{E0C21A3C-A23D-4EBE-BB36-6C2E8329E5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6428AD3-B026-48FE-BF7D-81B9AB1BFE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84735056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29BE161-BB12-45D4-9686-1285F530231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clinical spectrum</a:t>
            </a:r>
          </a:p>
        </p:txBody>
      </p:sp>
      <p:sp>
        <p:nvSpPr>
          <p:cNvPr id="2" name="paragraph-0">
            <a:extLst xmlns:a="http://schemas.openxmlformats.org/drawingml/2006/main">
              <a:ext uri="{FF2B5EF4-FFF2-40B4-BE49-F238E27FC236}">
                <a16:creationId xmlns:a16="http://schemas.microsoft.com/office/drawing/2014/main" id="{E7D845F4-7F76-4710-AE6F-55B64CEDCCE2}"/>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three sputum specimens for AFB smear and mycobacterial culture, generally 8-24 hours apart with at least one early-morning specimen. Send a respiratory NAAT on at least one specimen and request rapid molecular resistance testing as appropriate. Induced sputum or bronchoscopy may be needed if adequate sputum cannot be obtained. AFB smear positivity is not specific for M. tuberculosis ; culture and organism identification still matter. [5]</a:t>
            </a:r>
          </a:p>
        </p:txBody>
      </p:sp>
      <p:sp>
        <p:nvSpPr>
          <p:cNvPr id="3" name="footer">
            <a:extLst xmlns:a="http://schemas.openxmlformats.org/drawingml/2006/main">
              <a:ext uri="{FF2B5EF4-FFF2-40B4-BE49-F238E27FC236}">
                <a16:creationId xmlns:a16="http://schemas.microsoft.com/office/drawing/2014/main" id="{BEB15E9E-F2FA-494B-BA90-402164E568D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9355F5A-07AB-4584-8964-3A2A9C2B32D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38326076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BFF915-B35E-447A-8415-9AAEEDBCA7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clinical spectrum</a:t>
            </a:r>
          </a:p>
        </p:txBody>
      </p:sp>
      <p:sp>
        <p:nvSpPr>
          <p:cNvPr id="2" name="paragraph-0">
            <a:extLst xmlns:a="http://schemas.openxmlformats.org/drawingml/2006/main">
              <a:ext uri="{FF2B5EF4-FFF2-40B4-BE49-F238E27FC236}">
                <a16:creationId xmlns:a16="http://schemas.microsoft.com/office/drawing/2014/main" id="{666F4B55-6832-4647-92B8-27B11F32F76C}"/>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positive NAAT can accelerate treatment and public-health action. A negative result does not independently exclude smear-negative TB. Obtain cultures for susceptibility testing and treatment monitoring even when NAAT is positive. If the patient is seriously ill or suspicion is high, obtain specimens promptly and start an appropriate multidrug regimen without waiting weeks for culture. [5] [2]</a:t>
            </a:r>
          </a:p>
        </p:txBody>
      </p:sp>
      <p:sp>
        <p:nvSpPr>
          <p:cNvPr id="3" name="footer">
            <a:extLst xmlns:a="http://schemas.openxmlformats.org/drawingml/2006/main">
              <a:ext uri="{FF2B5EF4-FFF2-40B4-BE49-F238E27FC236}">
                <a16:creationId xmlns:a16="http://schemas.microsoft.com/office/drawing/2014/main" id="{B87E014E-F40D-4266-BF88-D4A58E3C41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15D070B-A26D-43F6-BF28-E378E641B40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34374051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632F56A-E06E-47F3-A4EC-BE7942639DD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Airborne precautions are a separate decision</a:t>
            </a:r>
          </a:p>
        </p:txBody>
      </p:sp>
      <p:sp>
        <p:nvSpPr>
          <p:cNvPr id="2" name="paragraph-0">
            <a:extLst xmlns:a="http://schemas.openxmlformats.org/drawingml/2006/main">
              <a:ext uri="{FF2B5EF4-FFF2-40B4-BE49-F238E27FC236}">
                <a16:creationId xmlns:a16="http://schemas.microsoft.com/office/drawing/2014/main" id="{ACF70156-507A-418B-9CD4-E495E41C9EBD}"/>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an airborne infection isolation room and appropriate respiratory protection. Mask the patient for necessary transport. The traditional CDC hospital pathway includes three negative AFB smears, but its application differs between a patient being evaluated for TB and one with confirmed infectious TB. Confirmed disease also requires assessment of effective treatment and clinical improvement. Persistent suspicion, resistance, or inadequate treatment changes the decision.</a:t>
            </a:r>
          </a:p>
        </p:txBody>
      </p:sp>
      <p:sp>
        <p:nvSpPr>
          <p:cNvPr id="3" name="paragraph-1">
            <a:extLst xmlns:a="http://schemas.openxmlformats.org/drawingml/2006/main">
              <a:ext uri="{FF2B5EF4-FFF2-40B4-BE49-F238E27FC236}">
                <a16:creationId xmlns:a16="http://schemas.microsoft.com/office/drawing/2014/main" id="{674675E2-80E7-4F20-8618-264BFED1E21E}"/>
              </a:ext>
            </a:extLst>
          </p:cNvPr>
          <p:cNvSpPr>
            <a:spLocks xmlns:a="http://schemas.openxmlformats.org/drawingml/2006/main" noGrp="1"/>
          </p:cNvSpPr>
          <p:nvPr/>
        </p:nvSpPr>
        <p:spPr>
          <a:xfrm xmlns:a="http://schemas.openxmlformats.org/drawingml/2006/main">
            <a:off x="647700" y="46767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Follow the current institutional NAAT-based or smear-based pathway with infection prevention; neither one negative test nor a fixed number of treatment days guarantees clearance.</a:t>
            </a:r>
          </a:p>
        </p:txBody>
      </p:sp>
      <p:sp>
        <p:nvSpPr>
          <p:cNvPr id="4" name="footer">
            <a:extLst xmlns:a="http://schemas.openxmlformats.org/drawingml/2006/main">
              <a:ext uri="{FF2B5EF4-FFF2-40B4-BE49-F238E27FC236}">
                <a16:creationId xmlns:a16="http://schemas.microsoft.com/office/drawing/2014/main" id="{C3980845-EE91-4747-8FB6-0E441F9D1A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CBC11371-7CBD-4928-AB7B-AA3ECAB7D25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91588464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900A4EF-1D5E-4A90-8464-5D9F99F27F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Airborne precautions are a separate decision</a:t>
            </a:r>
          </a:p>
        </p:txBody>
      </p:sp>
      <p:sp>
        <p:nvSpPr>
          <p:cNvPr id="2" name="paragraph-0">
            <a:extLst xmlns:a="http://schemas.openxmlformats.org/drawingml/2006/main">
              <a:ext uri="{FF2B5EF4-FFF2-40B4-BE49-F238E27FC236}">
                <a16:creationId xmlns:a16="http://schemas.microsoft.com/office/drawing/2014/main" id="{071221E0-0A62-4536-B1D9-1248762E06C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a:t>
            </a:r>
          </a:p>
        </p:txBody>
      </p:sp>
      <p:sp>
        <p:nvSpPr>
          <p:cNvPr id="3" name="paragraph-1">
            <a:extLst xmlns:a="http://schemas.openxmlformats.org/drawingml/2006/main">
              <a:ext uri="{FF2B5EF4-FFF2-40B4-BE49-F238E27FC236}">
                <a16:creationId xmlns:a16="http://schemas.microsoft.com/office/drawing/2014/main" id="{8A1BCEC6-0116-4BEF-9AA4-41D1B83E1E5A}"/>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Notify the local/state TB program promptly for suspected or confirmed disease. Coordinate contact evaluation, reporting and discharge planning. Do not leave the first public-health call until discharge. [7] [6]</a:t>
            </a:r>
          </a:p>
        </p:txBody>
      </p:sp>
      <p:sp>
        <p:nvSpPr>
          <p:cNvPr id="4" name="footer">
            <a:extLst xmlns:a="http://schemas.openxmlformats.org/drawingml/2006/main">
              <a:ext uri="{FF2B5EF4-FFF2-40B4-BE49-F238E27FC236}">
                <a16:creationId xmlns:a16="http://schemas.microsoft.com/office/drawing/2014/main" id="{BFB65450-2D5C-498E-BDE8-351B4C44DE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65BB21C-E868-4B72-9D35-FDF5EA26081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86408707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32B88C1-9D68-4FE2-A874-E463B71B3CA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each diagnostic test to answer the right question</a:t>
            </a:r>
          </a:p>
        </p:txBody>
      </p:sp>
      <p:graphicFrame>
        <p:nvGraphicFramePr>
          <p:cNvPr id="2" name="">
            <a:extLst xmlns:a="http://schemas.openxmlformats.org/drawingml/2006/main">
              <a:ext uri="{FF2B5EF4-FFF2-40B4-BE49-F238E27FC236}">
                <a16:creationId xmlns:a16="http://schemas.microsoft.com/office/drawing/2014/main" id="{116DDD82-00FD-48B0-8A6F-FCF13D4D939F}"/>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Question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Useful evidence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Common mistake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Has infection occurred?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Exposure history plus IGRA or TST in someone for whom testing is 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Calling a positive immune test active TB, or using a negative result to exclude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Is there TB disease now?</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Symptoms, examination, imaging and microbiology from the involved site.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Treating an abnormal CT or granulomas as organism identification.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DC59EF2-BB39-4181-B717-A5FD4B685B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D7EAD08-4DD4-4BAB-A88B-7B8D61D9FAD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98325670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E15022-4B2A-4164-AB6E-30DA3B3D970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each diagnostic test to answer the right question</a:t>
            </a:r>
          </a:p>
        </p:txBody>
      </p:sp>
      <p:graphicFrame>
        <p:nvGraphicFramePr>
          <p:cNvPr id="2" name="">
            <a:extLst xmlns:a="http://schemas.openxmlformats.org/drawingml/2006/main">
              <a:ext uri="{FF2B5EF4-FFF2-40B4-BE49-F238E27FC236}">
                <a16:creationId xmlns:a16="http://schemas.microsoft.com/office/drawing/2014/main" id="{67CCFD5F-3F45-42F2-9A00-C4F1DD16D203}"/>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Question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Useful evidence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Common mistake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Which drugs will 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Rapid molecular resistance testing followed by culture-based DST as needed.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Assuming rifampin susceptibility proves susceptibility to every regimen component.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Can this patient transmit TB?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Disease site, respiratory burden, cough, treatment effectiveness and the institutional isolation pathway.</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Equating an IGRA result or a single negative sputum test with clearance.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997E14D-D2E4-499A-8689-32D5D68D480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1B5701C-AA6A-412A-8225-2E03689560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65242454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37E9DE-5B0C-4859-B96A-79651E428F4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each diagnostic test to answer the right question</a:t>
            </a:r>
          </a:p>
        </p:txBody>
      </p:sp>
      <p:sp>
        <p:nvSpPr>
          <p:cNvPr id="2" name="paragraph-0">
            <a:extLst xmlns:a="http://schemas.openxmlformats.org/drawingml/2006/main">
              <a:ext uri="{FF2B5EF4-FFF2-40B4-BE49-F238E27FC236}">
                <a16:creationId xmlns:a16="http://schemas.microsoft.com/office/drawing/2014/main" id="{4D15B9AA-778C-4660-8E46-532752480A9A}"/>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chest radiograph is a starting point; CT can clarify cavities, nodules, adenopathy or a sampling target. Upper-lobe cavitation is suggestive but neither required nor specific. Advanced HIV may produce little cavitation, lower-zone disease or even a deceptively unrevealing radiograph. Imaging cannot reliably distinguish active from healed infection by itself. [5] [22]</a:t>
            </a:r>
          </a:p>
        </p:txBody>
      </p:sp>
      <p:sp>
        <p:nvSpPr>
          <p:cNvPr id="3" name="footer">
            <a:extLst xmlns:a="http://schemas.openxmlformats.org/drawingml/2006/main">
              <a:ext uri="{FF2B5EF4-FFF2-40B4-BE49-F238E27FC236}">
                <a16:creationId xmlns:a16="http://schemas.microsoft.com/office/drawing/2014/main" id="{EFF36044-37BD-45DC-80E9-35B94FCB5F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8A008DD-9057-4505-8166-8A88C3DA350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200577429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7E10E86-6359-47DB-8C7D-B385FD98AA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each diagnostic test to answer the right question</a:t>
            </a:r>
          </a:p>
        </p:txBody>
      </p:sp>
      <p:graphicFrame>
        <p:nvGraphicFramePr>
          <p:cNvPr id="2" name="">
            <a:extLst xmlns:a="http://schemas.openxmlformats.org/drawingml/2006/main">
              <a:ext uri="{FF2B5EF4-FFF2-40B4-BE49-F238E27FC236}">
                <a16:creationId xmlns:a16="http://schemas.microsoft.com/office/drawing/2014/main" id="{7C108805-C663-4DA4-AC91-F3BD43B8C59A}"/>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Positive / positive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Strong presumptive evidence of pulmonary TB.</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 and coordinate public health; retain culture and DST.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DAC46CB-1722-4576-9BD1-DEB1FA0C81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C49729C-80BF-44E1-885E-B0BCCB8F9A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122014264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7FC6E0-F16A-4F59-AB31-F449E01250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each diagnostic test to answer the right question</a:t>
            </a:r>
          </a:p>
        </p:txBody>
      </p:sp>
      <p:graphicFrame>
        <p:nvGraphicFramePr>
          <p:cNvPr id="2" name="">
            <a:extLst xmlns:a="http://schemas.openxmlformats.org/drawingml/2006/main">
              <a:ext uri="{FF2B5EF4-FFF2-40B4-BE49-F238E27FC236}">
                <a16:creationId xmlns:a16="http://schemas.microsoft.com/office/drawing/2014/main" id="{EC8CD5ED-B619-4D63-9715-61683C37EA6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Positive / negative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NTM becomes more likely; consider assay inhibition or specimen issues.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Discuss with the laboratory, obtain additional specimens and identify the organism. Reassess precautions with IP in clinical context.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133E87A-668C-4591-8327-E327BE906FA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0A7E89F-443A-48C9-8FD1-783D0E8025F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199458665"/>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E53757-6A3B-4FB5-B201-428F034BC8C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each diagnostic test to answer the right question</a:t>
            </a:r>
          </a:p>
        </p:txBody>
      </p:sp>
      <p:graphicFrame>
        <p:nvGraphicFramePr>
          <p:cNvPr id="2" name="">
            <a:extLst xmlns:a="http://schemas.openxmlformats.org/drawingml/2006/main">
              <a:ext uri="{FF2B5EF4-FFF2-40B4-BE49-F238E27FC236}">
                <a16:creationId xmlns:a16="http://schemas.microsoft.com/office/drawing/2014/main" id="{88D59C4C-9205-40A2-B63E-E618177B9174}"/>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Negative / positive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Can support presumptive TB when suspicion is meaningful.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dismiss the NAAT because the smear is negative; obtain cultures and resistance information.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6ECCDC8-5C18-4D21-ABFC-87D222FC69C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163747E-6B90-459A-BD73-33615BFCB3A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191114224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9E6646C-B73B-468C-A809-D8F02902E6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each diagnostic test to answer the right question</a:t>
            </a:r>
          </a:p>
        </p:txBody>
      </p:sp>
      <p:graphicFrame>
        <p:nvGraphicFramePr>
          <p:cNvPr id="2" name="">
            <a:extLst xmlns:a="http://schemas.openxmlformats.org/drawingml/2006/main">
              <a:ext uri="{FF2B5EF4-FFF2-40B4-BE49-F238E27FC236}">
                <a16:creationId xmlns:a16="http://schemas.microsoft.com/office/drawing/2014/main" id="{7E8645DE-41B8-4B88-8B32-17746C8EEFF7}"/>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Negative / negative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Does not exclude paucibacillary or smear-negative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Reassess pretest probability, specimen quality and alternative diagnoses; repeat or sample another site when warranted.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BBCDB30-CFB2-41D2-8B15-8E63D7DB6C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C1392AE-A4EC-49A2-997D-BEFF3EC507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196684188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FAB7FB-D1FA-426B-9D29-C5710E3545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each diagnostic test to answer the right question</a:t>
            </a:r>
          </a:p>
        </p:txBody>
      </p:sp>
      <p:sp>
        <p:nvSpPr>
          <p:cNvPr id="2" name="paragraph-0">
            <a:extLst xmlns:a="http://schemas.openxmlformats.org/drawingml/2006/main">
              <a:ext uri="{FF2B5EF4-FFF2-40B4-BE49-F238E27FC236}">
                <a16:creationId xmlns:a16="http://schemas.microsoft.com/office/drawing/2014/main" id="{ABF75673-EC58-467D-87E4-98F319EDB47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Prefer induced sputum before bronchoscopy when a patient cannot expectorate or initial expectorated testing is unrevealing. If bronchoscopy is needed, send appropriate BAL specimens and collect post-bronchoscopy sputum. Plan specimen handling with the laboratory before an invasive procedure. [29]</a:t>
            </a:r>
          </a:p>
        </p:txBody>
      </p:sp>
      <p:sp>
        <p:nvSpPr>
          <p:cNvPr id="3" name="footer">
            <a:extLst xmlns:a="http://schemas.openxmlformats.org/drawingml/2006/main">
              <a:ext uri="{FF2B5EF4-FFF2-40B4-BE49-F238E27FC236}">
                <a16:creationId xmlns:a16="http://schemas.microsoft.com/office/drawing/2014/main" id="{36FD16B1-2B54-42EF-8766-7507D27E913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5D0B360-BDD7-4615-AB6D-5A9740B48A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65819245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80CA13A-1E5E-4059-B1D9-64DC3FD5F5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Extrapulmonary disease: sample the involved compartment</a:t>
            </a:r>
          </a:p>
        </p:txBody>
      </p:sp>
      <p:graphicFrame>
        <p:nvGraphicFramePr>
          <p:cNvPr id="2" name="">
            <a:extLst xmlns:a="http://schemas.openxmlformats.org/drawingml/2006/main">
              <a:ext uri="{FF2B5EF4-FFF2-40B4-BE49-F238E27FC236}">
                <a16:creationId xmlns:a16="http://schemas.microsoft.com/office/drawing/2014/main" id="{D52C9123-2690-44B7-9D5A-278A6693DFE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Lymphadenopathy or focal tissue lesion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Specimens and complementary tests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Aspirate or biopsy for mycobacterial culture, NAAT where validated, and histopathology.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Send a fresh sterile portion for microbiology; a specimen entirely in formalin cannot be cultured.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F1672C3-4950-4BA2-8EA2-D940A41433C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7F49388-CABA-4B36-B012-ED761C1CDDC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152884686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5500BC-CB97-4C78-BB80-7AD66134D4D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Extrapulmonary disease: sample the involved compartment</a:t>
            </a:r>
          </a:p>
        </p:txBody>
      </p:sp>
      <p:graphicFrame>
        <p:nvGraphicFramePr>
          <p:cNvPr id="2" name="">
            <a:extLst xmlns:a="http://schemas.openxmlformats.org/drawingml/2006/main">
              <a:ext uri="{FF2B5EF4-FFF2-40B4-BE49-F238E27FC236}">
                <a16:creationId xmlns:a16="http://schemas.microsoft.com/office/drawing/2014/main" id="{665EAE9A-7279-4E51-9CC8-6658889F0DC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Pleural disease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Specimens and complementary tests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Pleural fluid cells/chemistry, culture and appropriate molecular testing; consider pleural biopsy if fluid testing is nondiagnostic.</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ADA may support the diagnosis in context but is not organism-specific; negative fluid tests do not reliably exclude TB.</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DEE473B-9EFE-4CC0-91A4-DEE53D0A723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77B2014-4478-4FA1-9AAF-3393C88406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56261087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34B0AA7-65C1-458A-BF08-BC2B0BB7F8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Extrapulmonary disease: sample the involved compartment</a:t>
            </a:r>
          </a:p>
        </p:txBody>
      </p:sp>
      <p:graphicFrame>
        <p:nvGraphicFramePr>
          <p:cNvPr id="2" name="">
            <a:extLst xmlns:a="http://schemas.openxmlformats.org/drawingml/2006/main">
              <a:ext uri="{FF2B5EF4-FFF2-40B4-BE49-F238E27FC236}">
                <a16:creationId xmlns:a16="http://schemas.microsoft.com/office/drawing/2014/main" id="{950C516D-CF48-4E7C-9F2F-03256DF84353}"/>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Meningitis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Specimens and complementary tests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CSF opening pressure, cells, glucose/protein, mycobacterial culture and molecular testing; evaluate for other infections.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 organism burden limits sensitivity. A negative CSF result must not delay treatment when the clinical suspicion is high.</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AA0C785-7BDE-4F86-9D6C-D6B48AC80C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C2C9DE9-B2BD-4340-A667-2AFCEB94396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152142367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964C5DE-9BB5-4CBE-AC8F-1FBCE2D252F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Extrapulmonary disease: sample the involved compartment</a:t>
            </a:r>
          </a:p>
        </p:txBody>
      </p:sp>
      <p:graphicFrame>
        <p:nvGraphicFramePr>
          <p:cNvPr id="2" name="">
            <a:extLst xmlns:a="http://schemas.openxmlformats.org/drawingml/2006/main">
              <a:ext uri="{FF2B5EF4-FFF2-40B4-BE49-F238E27FC236}">
                <a16:creationId xmlns:a16="http://schemas.microsoft.com/office/drawing/2014/main" id="{A464E926-E6C3-41DE-B895-8365D35A2B59}"/>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Disseminated, bone/joint or genitourinary disease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Specimens and complementary tests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Target accessible tissue, aspirate, urine or other involved sites; obtain respiratory specimens if pulmonary involvement is possible.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Pitfall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One negative compartment does not exclude disease elsewhere; alert the laboratory to the suspected diagnosis.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456D8B0-2DFE-4DF5-82EB-682429A2E31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D2ABEDD-0B35-4BC3-81EE-20E18564ABC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2123200778"/>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2BEE17C-CF04-443E-B4EE-A1917DF185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Extrapulmonary disease: sample the involved compartment</a:t>
            </a:r>
          </a:p>
        </p:txBody>
      </p:sp>
      <p:sp>
        <p:nvSpPr>
          <p:cNvPr id="2" name="paragraph-0">
            <a:extLst xmlns:a="http://schemas.openxmlformats.org/drawingml/2006/main">
              <a:ext uri="{FF2B5EF4-FFF2-40B4-BE49-F238E27FC236}">
                <a16:creationId xmlns:a16="http://schemas.microsoft.com/office/drawing/2014/main" id="{46F5C27C-2CFE-46A1-8C8F-C9635B1DDFE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Interpret pathology alongside microbiology: necrotizing granulomas raise suspicion but can occur with fungi and NTM; nonnecrotizing granulomas do not rule out TB. Negative extrapulmonary smear, culture or NAAT results are often insufficient to exclude disease. [29] [34]</a:t>
            </a:r>
          </a:p>
        </p:txBody>
      </p:sp>
      <p:sp>
        <p:nvSpPr>
          <p:cNvPr id="3" name="footer">
            <a:extLst xmlns:a="http://schemas.openxmlformats.org/drawingml/2006/main">
              <a:ext uri="{FF2B5EF4-FFF2-40B4-BE49-F238E27FC236}">
                <a16:creationId xmlns:a16="http://schemas.microsoft.com/office/drawing/2014/main" id="{7A2D7D48-AC06-4F1A-A907-28EF8F9A7C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65AD84-D22A-4E50-A94F-511AC4FC632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131793813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D11C2F-D110-465D-9533-3E17DE5E21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IGRA and TST: useful for infection, weak shortcuts for disease</a:t>
            </a:r>
          </a:p>
        </p:txBody>
      </p:sp>
      <p:sp>
        <p:nvSpPr>
          <p:cNvPr id="2" name="paragraph-0">
            <a:extLst xmlns:a="http://schemas.openxmlformats.org/drawingml/2006/main">
              <a:ext uri="{FF2B5EF4-FFF2-40B4-BE49-F238E27FC236}">
                <a16:creationId xmlns:a16="http://schemas.microsoft.com/office/drawing/2014/main" id="{ECB86F4A-8DCF-49EA-8ABE-E1EE9B523A98}"/>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IGRA avoids BCG-related false positivity and is generally preferred for BCG-vaccinated people aged at least 5 years. An indeterminate, borderline or invalid result is not a negative test; repeat testing or TST may help after reviewing immune status and collection issues. Recent infection may not yet be detectable: repeat contact testing 8–10 weeks after the last exposure when indicated. Do not order serial IGRAs to demonstrate treatment response. [30]</a:t>
            </a:r>
          </a:p>
        </p:txBody>
      </p:sp>
      <p:sp>
        <p:nvSpPr>
          <p:cNvPr id="3" name="footer">
            <a:extLst xmlns:a="http://schemas.openxmlformats.org/drawingml/2006/main">
              <a:ext uri="{FF2B5EF4-FFF2-40B4-BE49-F238E27FC236}">
                <a16:creationId xmlns:a16="http://schemas.microsoft.com/office/drawing/2014/main" id="{B459C6AE-4185-42BB-AD49-BD83B560952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FFBA3DA-0B89-438E-82A6-95EF43FB136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40904993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92B11E-8C9B-42E8-8F9C-5EE09C43E6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IGRA and TST: useful for infection, weak shortcuts for disease</a:t>
            </a:r>
          </a:p>
        </p:txBody>
      </p:sp>
      <p:sp>
        <p:nvSpPr>
          <p:cNvPr id="2" name="paragraph-0">
            <a:extLst xmlns:a="http://schemas.openxmlformats.org/drawingml/2006/main">
              <a:ext uri="{FF2B5EF4-FFF2-40B4-BE49-F238E27FC236}">
                <a16:creationId xmlns:a16="http://schemas.microsoft.com/office/drawing/2014/main" id="{A8BB9072-5D41-452B-B06E-86F1BC96A5F4}"/>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Read a TST at 48–72 hours, measuring transverse induration rather than redness. Positivity depends on risk: at least 5 mm for HIV, recent close contacts, transplant recipients and major immunosuppression; at least 10 mm for groups such as people born in high-incidence countries, high-risk congregate settings, diabetes and children under 5; at least 15 mm when no risk factors are known. Consult the complete risk list. BCG history does not change these risk-based cutoffs. [31]</a:t>
            </a:r>
          </a:p>
        </p:txBody>
      </p:sp>
      <p:sp>
        <p:nvSpPr>
          <p:cNvPr id="3" name="footer">
            <a:extLst xmlns:a="http://schemas.openxmlformats.org/drawingml/2006/main">
              <a:ext uri="{FF2B5EF4-FFF2-40B4-BE49-F238E27FC236}">
                <a16:creationId xmlns:a16="http://schemas.microsoft.com/office/drawing/2014/main" id="{49A99B46-44DE-4AAE-A8D6-123DA32DAFE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7025753-044D-420B-9B4B-A286A87A2E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37730547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0CAB672-790E-410F-A15B-8A0EBEBEE6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IGRA and TST: useful for infection, weak shortcuts for disease</a:t>
            </a:r>
          </a:p>
        </p:txBody>
      </p:sp>
      <p:sp>
        <p:nvSpPr>
          <p:cNvPr id="2" name="paragraph-0">
            <a:extLst xmlns:a="http://schemas.openxmlformats.org/drawingml/2006/main">
              <a:ext uri="{FF2B5EF4-FFF2-40B4-BE49-F238E27FC236}">
                <a16:creationId xmlns:a16="http://schemas.microsoft.com/office/drawing/2014/main" id="{92CCE561-B9F5-4B79-9E9B-155C9558B53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an unexpectedly positive screening test in someone truly at low risk, reconsider why testing was done and use the guideline's confirmatory second-test approach. For high-risk exposure or compatible illness, pursue the relevant infection or disease pathway even when an immune test is negative. [29]</a:t>
            </a:r>
          </a:p>
        </p:txBody>
      </p:sp>
      <p:sp>
        <p:nvSpPr>
          <p:cNvPr id="3" name="footer">
            <a:extLst xmlns:a="http://schemas.openxmlformats.org/drawingml/2006/main">
              <a:ext uri="{FF2B5EF4-FFF2-40B4-BE49-F238E27FC236}">
                <a16:creationId xmlns:a16="http://schemas.microsoft.com/office/drawing/2014/main" id="{A4804B95-798D-4324-8AD3-872D1D676F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2B27819-CF2F-4330-B214-391513CC21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24788928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99C03A0-D1D4-45C2-9699-F77302E34D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sp>
        <p:nvSpPr>
          <p:cNvPr id="2" name="paragraph-0">
            <a:extLst xmlns:a="http://schemas.openxmlformats.org/drawingml/2006/main">
              <a:ext uri="{FF2B5EF4-FFF2-40B4-BE49-F238E27FC236}">
                <a16:creationId xmlns:a16="http://schemas.microsoft.com/office/drawing/2014/main" id="{BE9617FD-C944-4CFA-9A60-3807952B861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positive IGRA can coexist with cancer, fungal infection or bacterial pneumonia. It does not explain a cavity, lymph node or constitutional syndrome. Ask whether the proposed diagnosis accounts for the time course, immune status, exposures and microbiology.</a:t>
            </a:r>
          </a:p>
        </p:txBody>
      </p:sp>
      <p:sp>
        <p:nvSpPr>
          <p:cNvPr id="3" name="footer">
            <a:extLst xmlns:a="http://schemas.openxmlformats.org/drawingml/2006/main">
              <a:ext uri="{FF2B5EF4-FFF2-40B4-BE49-F238E27FC236}">
                <a16:creationId xmlns:a16="http://schemas.microsoft.com/office/drawing/2014/main" id="{CB99A91E-7513-406A-B8CE-12D4AC232AC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C88E848-1E3A-4DD9-BCA6-E366B031FC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270685592"/>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542615-AA01-4AD0-B5C7-8F51466AD6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graphicFrame>
        <p:nvGraphicFramePr>
          <p:cNvPr id="2" name="">
            <a:extLst xmlns:a="http://schemas.openxmlformats.org/drawingml/2006/main">
              <a:ext uri="{FF2B5EF4-FFF2-40B4-BE49-F238E27FC236}">
                <a16:creationId xmlns:a16="http://schemas.microsoft.com/office/drawing/2014/main" id="{69453A4F-1E3E-4F32-A6C8-CC2C7A5EF84F}"/>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NTM, including MAC and M. kansasii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Clues that shift the differential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Structural lung disease, bronchiectasis/nodules or cavities; AFB-positive samples with a negative TB NAAT.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Useful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Speciation and repeated cultures. Require compatible clinical/radiographic findings and microbiologic criteria, not an isolated sputum result.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F73C48A-C900-4613-B23E-51922912066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FD11EBB-BD15-4450-8B2E-F2131DF22D6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142126262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8D7D89-0CA1-41D9-B869-49549E2585A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graphicFrame>
        <p:nvGraphicFramePr>
          <p:cNvPr id="2" name="">
            <a:extLst xmlns:a="http://schemas.openxmlformats.org/drawingml/2006/main">
              <a:ext uri="{FF2B5EF4-FFF2-40B4-BE49-F238E27FC236}">
                <a16:creationId xmlns:a16="http://schemas.microsoft.com/office/drawing/2014/main" id="{5D6448D4-4075-4138-A185-013414A86D72}"/>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Histoplasmosis and other endemic fungi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Clues that shift the differential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Geography, travel, soil/bird/bat exposure or immunosuppression; nodules, nodes, cavities or dissemination.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Useful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Select fungal antigen, antibody, culture and tissue tests for the syndrome. Histoplasma antigen cross-reacts with Blastomyces; negative early testing may need repetition.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C8DE242-40B8-4F78-9508-E6B40D0B478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8B937E4-2B35-4E89-B717-7799A4BEF4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35952285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B786D3-ACC6-4AAA-ADD4-CD70EAE62B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graphicFrame>
        <p:nvGraphicFramePr>
          <p:cNvPr id="2" name="">
            <a:extLst xmlns:a="http://schemas.openxmlformats.org/drawingml/2006/main">
              <a:ext uri="{FF2B5EF4-FFF2-40B4-BE49-F238E27FC236}">
                <a16:creationId xmlns:a16="http://schemas.microsoft.com/office/drawing/2014/main" id="{98583B52-13A5-442E-A389-97F07BA508A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Chronic pulmonary aspergillosis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Clues that shift the differential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Pre-existing cavity, chronic symptoms, pleural thickening or a fungal ball.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Useful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Aspergillus serology and respiratory testing interpreted with imaging and duration.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3C11828-C645-46EB-A91F-AC515C5C5A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3E10CB6-38AB-4B1B-9A12-F3DBB8757A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1718386630"/>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0E7A3D-C7DD-4447-80D8-D237AE8438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graphicFrame>
        <p:nvGraphicFramePr>
          <p:cNvPr id="2" name="">
            <a:extLst xmlns:a="http://schemas.openxmlformats.org/drawingml/2006/main">
              <a:ext uri="{FF2B5EF4-FFF2-40B4-BE49-F238E27FC236}">
                <a16:creationId xmlns:a16="http://schemas.microsoft.com/office/drawing/2014/main" id="{AE2FFF72-9397-477F-ABF4-ED02F7D6C651}"/>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Bacterial lung abscess or septic emboli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Clues that shift the differential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Aspiration/dental risk, acute toxicity, bacteremia, endocarditis risk or multiple peripheral cavities.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Useful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Routine cultures, blood cultures when indicated and evaluation of the relevant anatomic or endovascular source.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91F512F-8741-41A9-9F28-0FB8147F31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3A320B7-F98B-43D5-845C-E81EDCD9D7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63000234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F68ABFD-AD98-46ED-A60D-8D1CE42C0AC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graphicFrame>
        <p:nvGraphicFramePr>
          <p:cNvPr id="2" name="">
            <a:extLst xmlns:a="http://schemas.openxmlformats.org/drawingml/2006/main">
              <a:ext uri="{FF2B5EF4-FFF2-40B4-BE49-F238E27FC236}">
                <a16:creationId xmlns:a16="http://schemas.microsoft.com/office/drawing/2014/main" id="{090A150D-7E4E-4863-B238-E1924EA906E3}"/>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Nocardia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Clues that shift the differential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Immunosuppression with nodules/cavities; possible CNS dissemination.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Useful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Alert microbiology to suspected Nocardia and obtain organism identification; evaluate dissemination as appropriate.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1219182-A2F5-459F-8FE1-D1EBC0FDB73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5E434E3-FDD2-40FC-8D74-1A82C62DE8F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47447432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A80929-91B3-468E-B764-121FD32E81A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graphicFrame>
        <p:nvGraphicFramePr>
          <p:cNvPr id="2" name="">
            <a:extLst xmlns:a="http://schemas.openxmlformats.org/drawingml/2006/main">
              <a:ext uri="{FF2B5EF4-FFF2-40B4-BE49-F238E27FC236}">
                <a16:creationId xmlns:a16="http://schemas.microsoft.com/office/drawing/2014/main" id="{63BD7004-DA5D-44CB-9083-BE47024ACA5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Malignancy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Clues that shift the differential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Smoking history, progressive focal lesion, obstruction or persistent adenopathy.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Useful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cytology/tissue when indicated; a positive TB infection test must not close the cancer workup.</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7A29C28-298E-4F2C-B0DB-CC5DEC61BA3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FAA8957-B29F-4DFD-94DF-643589C11E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120697066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60C085F-EF43-4EAA-8BA0-C51CFE007A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graphicFrame>
        <p:nvGraphicFramePr>
          <p:cNvPr id="2" name="">
            <a:extLst xmlns:a="http://schemas.openxmlformats.org/drawingml/2006/main">
              <a:ext uri="{FF2B5EF4-FFF2-40B4-BE49-F238E27FC236}">
                <a16:creationId xmlns:a16="http://schemas.microsoft.com/office/drawing/2014/main" id="{1FC94B05-4B89-4DBA-8AE8-51F06B081FF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GPA or other inflammatory disease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Clues that shift the differential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Pulmonary nodules/cavities with ENT, renal or systemic inflammatory findings; sarcoidosis may cause adenopathy/granulomas.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Useful 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Urinalysis, directed serology and tissue in context. Evaluate infection before escalating immunosuppression.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60BA02C-A60A-405C-B2A6-33FBE0BB273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560614C-6791-43B1-B3CF-3BB3C377AE0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120886455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E65CD3B-681E-4F1B-A8F7-692400C076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Keep a competing diagnosis until the evidence separates it from TB</a:t>
            </a:r>
          </a:p>
        </p:txBody>
      </p:sp>
      <p:sp>
        <p:nvSpPr>
          <p:cNvPr id="2" name="paragraph-0">
            <a:extLst xmlns:a="http://schemas.openxmlformats.org/drawingml/2006/main">
              <a:ext uri="{FF2B5EF4-FFF2-40B4-BE49-F238E27FC236}">
                <a16:creationId xmlns:a16="http://schemas.microsoft.com/office/drawing/2014/main" id="{C3327077-6E00-4EC1-BAEC-1C1AD34F910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[32] [33] [34]</a:t>
            </a:r>
          </a:p>
        </p:txBody>
      </p:sp>
      <p:sp>
        <p:nvSpPr>
          <p:cNvPr id="3" name="paragraph-1">
            <a:extLst xmlns:a="http://schemas.openxmlformats.org/drawingml/2006/main">
              <a:ext uri="{FF2B5EF4-FFF2-40B4-BE49-F238E27FC236}">
                <a16:creationId xmlns:a16="http://schemas.microsoft.com/office/drawing/2014/main" id="{D2D3BE79-F04A-4BEE-A90C-B9BDE3CABB6C}"/>
              </a:ext>
            </a:extLst>
          </p:cNvPr>
          <p:cNvSpPr>
            <a:spLocks xmlns:a="http://schemas.openxmlformats.org/drawingml/2006/main" noGrp="1"/>
          </p:cNvSpPr>
          <p:nvPr/>
        </p:nvSpPr>
        <p:spPr>
          <a:xfrm xmlns:a="http://schemas.openxmlformats.org/drawingml/2006/main">
            <a:off x="647700" y="25622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NTM pulmonary disease generally requires the same species in at least two separately collected sputum cultures, or a qualifying bronchoscopic or biopsy result, alongside compatible illness and imaging and exclusion of alternatives. Meeting diagnostic criteria does not automatically require treatment; species, progression and patient priorities matter. Do not apply an empiric TB regimen to all AFB-positive disease. [32]</a:t>
            </a:r>
          </a:p>
        </p:txBody>
      </p:sp>
      <p:sp>
        <p:nvSpPr>
          <p:cNvPr id="4" name="footer">
            <a:extLst xmlns:a="http://schemas.openxmlformats.org/drawingml/2006/main">
              <a:ext uri="{FF2B5EF4-FFF2-40B4-BE49-F238E27FC236}">
                <a16:creationId xmlns:a16="http://schemas.microsoft.com/office/drawing/2014/main" id="{391C6F5B-4189-4AAE-9A26-80DA0BA02B9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36FD1BAF-B3BF-4F8F-B027-1706C04064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312111418"/>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9564DC-C257-46CC-83B2-D87CC80E5D1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Attending checkpoint</a:t>
            </a:r>
          </a:p>
        </p:txBody>
      </p:sp>
      <p:sp>
        <p:nvSpPr>
          <p:cNvPr id="2" name="paragraph-0">
            <a:extLst xmlns:a="http://schemas.openxmlformats.org/drawingml/2006/main">
              <a:ext uri="{FF2B5EF4-FFF2-40B4-BE49-F238E27FC236}">
                <a16:creationId xmlns:a16="http://schemas.microsoft.com/office/drawing/2014/main" id="{D1F00E1B-9FFB-4AE5-9273-E2C847DBFC2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the patient is not improving, reconsider the diagnosis before reflexively extending treatment. Review adherence, drug exposure, resistance, a second infection or malignancy, and paradoxical inflammation. Clinical deterioration is a reason to reassess and resample, not proof of either resistance or IRIS.</a:t>
            </a:r>
          </a:p>
        </p:txBody>
      </p:sp>
      <p:sp>
        <p:nvSpPr>
          <p:cNvPr id="3" name="footer">
            <a:extLst xmlns:a="http://schemas.openxmlformats.org/drawingml/2006/main">
              <a:ext uri="{FF2B5EF4-FFF2-40B4-BE49-F238E27FC236}">
                <a16:creationId xmlns:a16="http://schemas.microsoft.com/office/drawing/2014/main" id="{08B66D45-7123-465C-80B7-017649217E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9BDD89F-34B0-4B47-9FA6-78999884299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521254282"/>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757E2B-792F-4119-A7F5-96BB19D5F0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Six-month therapy remains useful, and selected patients can receive four months</a:t>
            </a:r>
          </a:p>
        </p:txBody>
      </p:sp>
      <p:graphicFrame>
        <p:nvGraphicFramePr>
          <p:cNvPr id="2" name="">
            <a:extLst xmlns:a="http://schemas.openxmlformats.org/drawingml/2006/main">
              <a:ext uri="{FF2B5EF4-FFF2-40B4-BE49-F238E27FC236}">
                <a16:creationId xmlns:a16="http://schemas.microsoft.com/office/drawing/2014/main" id="{B92776EE-D569-4F03-B24B-83C39580A23F}"/>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Usual drug-susceptible pulmonary TB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2HRZE/4HR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 = isoniazid, R = rifampin, Z = pyrazinamide, E = ethambutol. Give HRZE for the initial 2 months, then HR for 4 months. Daily dosing is preferred.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E8F30CA-5921-4E07-8C5A-BFF4B6EFBE1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E9131BB-FC2D-48E9-9234-D3464E1FE32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31026335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900C1C-E046-4A7F-A142-3B70FE8F1F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Six-month therapy remains useful, and selected patients can receive four months</a:t>
            </a:r>
          </a:p>
        </p:txBody>
      </p:sp>
      <p:graphicFrame>
        <p:nvGraphicFramePr>
          <p:cNvPr id="2" name="">
            <a:extLst xmlns:a="http://schemas.openxmlformats.org/drawingml/2006/main">
              <a:ext uri="{FF2B5EF4-FFF2-40B4-BE49-F238E27FC236}">
                <a16:creationId xmlns:a16="http://schemas.microsoft.com/office/drawing/2014/main" id="{F46D3A1B-B07C-43FD-9BAE-29CE9E790ED4}"/>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Eligible adolescent or adult with drug-susceptible pulmonary TB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2HPZM/2HPM, a 17-week course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 = rifapentine, M = moxifloxacin. Initial 8 weeks of HPZM, then 9 weeks of HPM. This changes both the rifamycin and companion drug; it is not four months of RIPE.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FF1B26A-AE9D-4790-9466-725A154767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969F4A7-9D07-43B4-9C7F-53526F6C02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1349743033"/>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FD0E5DF-6D98-40D2-BDE0-7859EDE2766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Six-month therapy remains useful, and selected patients can receive four months</a:t>
            </a:r>
          </a:p>
        </p:txBody>
      </p:sp>
      <p:graphicFrame>
        <p:nvGraphicFramePr>
          <p:cNvPr id="2" name="">
            <a:extLst xmlns:a="http://schemas.openxmlformats.org/drawingml/2006/main">
              <a:ext uri="{FF2B5EF4-FFF2-40B4-BE49-F238E27FC236}">
                <a16:creationId xmlns:a16="http://schemas.microsoft.com/office/drawing/2014/main" id="{A313DB5A-EAD1-4299-8DAF-54102E2DB589}"/>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Cavitation plus a positive culture at completion of 2 months on the standard regimen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2HRZE/7HR, 9 months total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Both features together support extension. Review adherence, susceptibility and response rather than extending every cavitary case automatically.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00438B0-0351-4EF7-B705-A08D5909575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F694321-C0F6-4909-9D2B-9211328B783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98919823"/>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2D54569-9F92-4DBA-9A20-6C7013BC6DE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Six-month therapy remains useful, and selected patients can receive four months</a:t>
            </a:r>
          </a:p>
        </p:txBody>
      </p:sp>
      <p:graphicFrame>
        <p:nvGraphicFramePr>
          <p:cNvPr id="2" name="">
            <a:extLst xmlns:a="http://schemas.openxmlformats.org/drawingml/2006/main">
              <a:ext uri="{FF2B5EF4-FFF2-40B4-BE49-F238E27FC236}">
                <a16:creationId xmlns:a16="http://schemas.microsoft.com/office/drawing/2014/main" id="{645B8020-9F71-4A8D-9F2B-4651D62638B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Pyrazinamide omitted or ineffective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a 9-month rifamycin/isoniazid-based course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Initial ethambutol is used while susceptibility is clarified. PZA-resistant disease, including typical M. bovis, needs a revised plan.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D8F22A7-D061-4493-B00A-380E7E42E16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AB88AED-5780-4CF3-84CC-6CA8D55C39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137170791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F60CD4-40D6-490C-9A9E-A8FB368A4A5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Six-month therapy remains useful, and selected patients can receive four months</a:t>
            </a:r>
          </a:p>
        </p:txBody>
      </p:sp>
      <p:graphicFrame>
        <p:nvGraphicFramePr>
          <p:cNvPr id="2" name="">
            <a:extLst xmlns:a="http://schemas.openxmlformats.org/drawingml/2006/main">
              <a:ext uri="{FF2B5EF4-FFF2-40B4-BE49-F238E27FC236}">
                <a16:creationId xmlns:a16="http://schemas.microsoft.com/office/drawing/2014/main" id="{83627909-5BDF-40C3-BA9E-07FF6F45A8B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Selected child with nonsevere drug-susceptible TB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Regimen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2HRZ(E)/2HR, 4 months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 separate pediatric recommendation for ages 3 months to 16 years. Nonsevere criteria and pediatric dosing must be checked; this is not the adult rifapentine-moxifloxacin regimen.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65F2B1E-ED4B-4723-B832-2B37A6A5FCC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DF4B56B-E813-4BB4-9F32-1B8F0630D1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1601988885"/>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0093940-4EC2-465D-8773-1432B15181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Six-month therapy remains useful, and selected patients can receive four months</a:t>
            </a:r>
          </a:p>
        </p:txBody>
      </p:sp>
      <p:sp>
        <p:nvSpPr>
          <p:cNvPr id="2" name="paragraph-0">
            <a:extLst xmlns:a="http://schemas.openxmlformats.org/drawingml/2006/main">
              <a:ext uri="{FF2B5EF4-FFF2-40B4-BE49-F238E27FC236}">
                <a16:creationId xmlns:a16="http://schemas.microsoft.com/office/drawing/2014/main" id="{4A533AB8-761C-47CB-A516-EC1E848D002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[1] [2]</a:t>
            </a:r>
          </a:p>
        </p:txBody>
      </p:sp>
      <p:sp>
        <p:nvSpPr>
          <p:cNvPr id="3" name="paragraph-1">
            <a:extLst xmlns:a="http://schemas.openxmlformats.org/drawingml/2006/main">
              <a:ext uri="{FF2B5EF4-FFF2-40B4-BE49-F238E27FC236}">
                <a16:creationId xmlns:a16="http://schemas.microsoft.com/office/drawing/2014/main" id="{32A299E2-1D53-4328-8688-90F4DF2AB368}"/>
              </a:ext>
            </a:extLst>
          </p:cNvPr>
          <p:cNvSpPr>
            <a:spLocks xmlns:a="http://schemas.openxmlformats.org/drawingml/2006/main" noGrp="1"/>
          </p:cNvSpPr>
          <p:nvPr/>
        </p:nvSpPr>
        <p:spPr>
          <a:xfrm xmlns:a="http://schemas.openxmlformats.org/drawingml/2006/main">
            <a:off x="647700" y="25622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Ethambutol protects the initial regimen while susceptibility is unknown. It can be stopped once isoniazid and rifampin susceptibility is established and the treatment plan remains appropriate. Count completed doses and interruptions, not simply elapsed calendar time. [2]</a:t>
            </a:r>
          </a:p>
        </p:txBody>
      </p:sp>
      <p:sp>
        <p:nvSpPr>
          <p:cNvPr id="4" name="footer">
            <a:extLst xmlns:a="http://schemas.openxmlformats.org/drawingml/2006/main">
              <a:ext uri="{FF2B5EF4-FFF2-40B4-BE49-F238E27FC236}">
                <a16:creationId xmlns:a16="http://schemas.microsoft.com/office/drawing/2014/main" id="{95472AE5-2052-43FB-BA78-14F32FA3A54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7106EEC-8D12-4037-8EB0-D6431005C9E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397839035"/>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0B0CA1-5317-4EA3-8452-D6F9F5FC625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choosing rifapentine-moxifloxacin</a:t>
            </a:r>
          </a:p>
        </p:txBody>
      </p:sp>
      <p:sp>
        <p:nvSpPr>
          <p:cNvPr id="2" name="paragraph-0">
            <a:extLst xmlns:a="http://schemas.openxmlformats.org/drawingml/2006/main">
              <a:ext uri="{FF2B5EF4-FFF2-40B4-BE49-F238E27FC236}">
                <a16:creationId xmlns:a16="http://schemas.microsoft.com/office/drawing/2014/main" id="{06828E85-72C8-48CD-80EE-10B4CC40F5B1}"/>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pulmonary disease, age at least 12 years, weight at least 40 kg, no known or suspected resistance to a component, and acceptable interactions and QT risk. For people with HIV, CDC implementation guidance specifies CD4 counts at least 100 cells/µL and efavirenz-based ART. Do not assume that another ART regimen is compatible with daily high-dose rifapentine. The evidence does not justify routine use during pregnancy or breastfeeding, in most extrapulmonary disease, or when resistance is suspected. Prior TB therapy or recent exposure to fluoroquinolones warrants careful review. [4]</a:t>
            </a:r>
          </a:p>
        </p:txBody>
      </p:sp>
      <p:sp>
        <p:nvSpPr>
          <p:cNvPr id="3" name="footer">
            <a:extLst xmlns:a="http://schemas.openxmlformats.org/drawingml/2006/main">
              <a:ext uri="{FF2B5EF4-FFF2-40B4-BE49-F238E27FC236}">
                <a16:creationId xmlns:a16="http://schemas.microsoft.com/office/drawing/2014/main" id="{F6702894-61CE-4B7F-9A82-585C337835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E9C3089-231E-410F-8547-4B9EA4C9D7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1236223626"/>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CAF665-A5CC-432A-A491-E8DA0ADCB7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choosing rifapentine-moxifloxacin</a:t>
            </a:r>
          </a:p>
        </p:txBody>
      </p:sp>
      <p:sp>
        <p:nvSpPr>
          <p:cNvPr id="2" name="paragraph-0">
            <a:extLst xmlns:a="http://schemas.openxmlformats.org/drawingml/2006/main">
              <a:ext uri="{FF2B5EF4-FFF2-40B4-BE49-F238E27FC236}">
                <a16:creationId xmlns:a16="http://schemas.microsoft.com/office/drawing/2014/main" id="{3BEFB692-8CC1-426A-8356-FA7F7D491F9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regimen is 119 daily doses with food. Isoniazid is 300 mg daily, rifapentine 1,200 mg daily and moxifloxacin 400 mg daily; pyrazinamide is weight-based during the first 8 weeks. Add pyridoxine 25-50 mg daily. Ensure the complete course, follow-up testing and observed-therapy support are available before selecting it. [4] [1]</a:t>
            </a:r>
          </a:p>
        </p:txBody>
      </p:sp>
      <p:sp>
        <p:nvSpPr>
          <p:cNvPr id="3" name="footer">
            <a:extLst xmlns:a="http://schemas.openxmlformats.org/drawingml/2006/main">
              <a:ext uri="{FF2B5EF4-FFF2-40B4-BE49-F238E27FC236}">
                <a16:creationId xmlns:a16="http://schemas.microsoft.com/office/drawing/2014/main" id="{31B8E4D3-2D30-4F9F-AA8C-A9A5716D02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6055612-9B28-4B66-80DA-FE059BE54C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264879402"/>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D0077F1-A926-4A54-88DD-6623E5D9CF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shorter regimen is an option, not a reason to improvise</a:t>
            </a:r>
          </a:p>
        </p:txBody>
      </p:sp>
      <p:sp>
        <p:nvSpPr>
          <p:cNvPr id="2" name="paragraph-0">
            <a:extLst xmlns:a="http://schemas.openxmlformats.org/drawingml/2006/main">
              <a:ext uri="{FF2B5EF4-FFF2-40B4-BE49-F238E27FC236}">
                <a16:creationId xmlns:a16="http://schemas.microsoft.com/office/drawing/2014/main" id="{229A7707-A553-4205-B21B-996608165C1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the patient cannot receive moxifloxacin, simply removing it from the four-month regimen is not supported. Similarly, stopping standard HRZE/HR at four months because sputum converted early does not reproduce Study 31.</a:t>
            </a:r>
          </a:p>
        </p:txBody>
      </p:sp>
      <p:sp>
        <p:nvSpPr>
          <p:cNvPr id="3" name="paragraph-1">
            <a:extLst xmlns:a="http://schemas.openxmlformats.org/drawingml/2006/main">
              <a:ext uri="{FF2B5EF4-FFF2-40B4-BE49-F238E27FC236}">
                <a16:creationId xmlns:a16="http://schemas.microsoft.com/office/drawing/2014/main" id="{278E0380-5206-49A9-9383-021CBED7E9E7}"/>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[10]</a:t>
            </a:r>
          </a:p>
        </p:txBody>
      </p:sp>
      <p:sp>
        <p:nvSpPr>
          <p:cNvPr id="4" name="footer">
            <a:extLst xmlns:a="http://schemas.openxmlformats.org/drawingml/2006/main">
              <a:ext uri="{FF2B5EF4-FFF2-40B4-BE49-F238E27FC236}">
                <a16:creationId xmlns:a16="http://schemas.microsoft.com/office/drawing/2014/main" id="{F2DE12E3-688C-459C-824D-B15F89A0431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3CEE2F5A-770F-4E4D-8D7E-4B689B7058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1265841177"/>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E42773-4525-49B5-9973-90D3E6C6E81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resistance changes the entire regimen</a:t>
            </a:r>
          </a:p>
        </p:txBody>
      </p:sp>
      <p:sp>
        <p:nvSpPr>
          <p:cNvPr id="2" name="paragraph-0">
            <a:extLst xmlns:a="http://schemas.openxmlformats.org/drawingml/2006/main">
              <a:ext uri="{FF2B5EF4-FFF2-40B4-BE49-F238E27FC236}">
                <a16:creationId xmlns:a16="http://schemas.microsoft.com/office/drawing/2014/main" id="{22A93546-A697-44F6-9926-1E7BD746738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RR-TB means rifampin-resistant TB. MDR-TB is resistant to at least isoniazid and rifampin. Fluoroquinolone susceptibility is a major treatment branch point. Confirm the molecular result, obtain expanded susceptibility testing, review previous TB drugs and contact a TB expert promptly. Never add one drug to a failing regimen. [7] [8]</a:t>
            </a:r>
          </a:p>
        </p:txBody>
      </p:sp>
      <p:sp>
        <p:nvSpPr>
          <p:cNvPr id="3" name="footer">
            <a:extLst xmlns:a="http://schemas.openxmlformats.org/drawingml/2006/main">
              <a:ext uri="{FF2B5EF4-FFF2-40B4-BE49-F238E27FC236}">
                <a16:creationId xmlns:a16="http://schemas.microsoft.com/office/drawing/2014/main" id="{72B45CA1-2D5E-410D-90D7-9555288488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737D147-2C0F-459C-AFE3-107E160649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1027898611"/>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070598-E56F-4D54-BF41-F89C5768C0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resistance changes the entire regimen</a:t>
            </a:r>
          </a:p>
        </p:txBody>
      </p:sp>
      <p:graphicFrame>
        <p:nvGraphicFramePr>
          <p:cNvPr id="2" name="">
            <a:extLst xmlns:a="http://schemas.openxmlformats.org/drawingml/2006/main">
              <a:ext uri="{FF2B5EF4-FFF2-40B4-BE49-F238E27FC236}">
                <a16:creationId xmlns:a16="http://schemas.microsoft.com/office/drawing/2014/main" id="{3B686480-51F4-4272-A216-AE04A45D6DD1}"/>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BPaLM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Where it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Bedaquiline + pretomanid + linezolid + moxifloxacin. U.S. guideline-recommended six-month option for eligible patients aged at least 14 years with rifampin-resistant, fluoroquinolone-susceptible pulmonary TB.</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needs checking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Component activity, prior exposure, disease site, pregnancy/breastfeeding, interactions, ECG and ability to monitor linezolid toxicity.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6CA11B1-F9E4-4468-97DB-4D9A6297B1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AAA3C3A-F1F7-4A93-B20A-00F3A8F6A6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1672615978"/>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4885C2E-BA6D-4D27-B9C2-447E7013CB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resistance changes the entire regimen</a:t>
            </a:r>
          </a:p>
        </p:txBody>
      </p:sp>
      <p:graphicFrame>
        <p:nvGraphicFramePr>
          <p:cNvPr id="2" name="">
            <a:extLst xmlns:a="http://schemas.openxmlformats.org/drawingml/2006/main">
              <a:ext uri="{FF2B5EF4-FFF2-40B4-BE49-F238E27FC236}">
                <a16:creationId xmlns:a16="http://schemas.microsoft.com/office/drawing/2014/main" id="{4AD810C5-61C8-4795-A8BE-B794B6041475}"/>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BPaL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Where it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Bedaquiline + pretomanid + linezolid. U.S. guideline option for eligible patients aged at least 14 years with RR pulmonary TB and fluoroquinolone resistance or intolerance.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needs checking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treat this as a universal three-drug salvage regimen. Known or suspected resistance to bedaquiline, pretomanid or linezolid can undermine it. Prior exposure of at least one month to a component requires expert review and appropriate resistance exclusion.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BDAE1E8-CD03-462D-95C0-E697B35542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B35CEFC-2206-4267-8AA4-A0B01ECC5E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1260362283"/>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45DC2C7-5E08-4E06-AF9E-953352BCA1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resistance changes the entire regimen</a:t>
            </a:r>
          </a:p>
        </p:txBody>
      </p:sp>
      <p:graphicFrame>
        <p:nvGraphicFramePr>
          <p:cNvPr id="2" name="">
            <a:extLst xmlns:a="http://schemas.openxmlformats.org/drawingml/2006/main">
              <a:ext uri="{FF2B5EF4-FFF2-40B4-BE49-F238E27FC236}">
                <a16:creationId xmlns:a16="http://schemas.microsoft.com/office/drawing/2014/main" id="{40F4757E-75B2-4769-BEE2-46603C303CAB}"/>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BDLLfxC strategy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Where it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Bedaquiline + delamanid + linezolid + levofloxacin + clofazimine. WHO six-month option for MDR/RR-TB, including additional fluoroquinolone resistance.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needs checking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susceptibility results to simplify to BDLLfx when FQ susceptible or BDLC when FQ resistant. WHO eligibility is broader, including children and pregnancy, but CNS, osteoarticular and disseminated multiorgan disease require other approaches.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25C500E-725F-4F8A-B6B4-A6D053C52E9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E5760A6-5233-474F-BA59-3CAE228FD2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29573489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5037BD-4C50-48BC-93E7-519DA44C522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resistance changes the entire regimen</a:t>
            </a:r>
          </a:p>
        </p:txBody>
      </p:sp>
      <p:graphicFrame>
        <p:nvGraphicFramePr>
          <p:cNvPr id="2" name="">
            <a:extLst xmlns:a="http://schemas.openxmlformats.org/drawingml/2006/main">
              <a:ext uri="{FF2B5EF4-FFF2-40B4-BE49-F238E27FC236}">
                <a16:creationId xmlns:a16="http://schemas.microsoft.com/office/drawing/2014/main" id="{EF0121DC-8715-41CF-B4FA-F1F818AEDF24}"/>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Nine-month endTB regimens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Where it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WHO options include BLMZ, BCLLfxZ and BDLLfxZ for selected fluoroquinolone-susceptible MDR/RR-TB.</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needs checking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Each is a studied combination, not a menu of interchangeable drugs. These are alternatives when six-month regimens are unsuitable; they were not compared directly with BPaLM.</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30A8D06-9FAA-4FB2-9A71-DE30154A6E4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1DF612B-5C8A-4CB1-A116-933F9D96169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67470179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3197FBC-EEB0-4EE3-B98F-6AE37A62FB3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resistance changes the entire regimen</a:t>
            </a:r>
          </a:p>
        </p:txBody>
      </p:sp>
      <p:graphicFrame>
        <p:nvGraphicFramePr>
          <p:cNvPr id="2" name="">
            <a:extLst xmlns:a="http://schemas.openxmlformats.org/drawingml/2006/main">
              <a:ext uri="{FF2B5EF4-FFF2-40B4-BE49-F238E27FC236}">
                <a16:creationId xmlns:a16="http://schemas.microsoft.com/office/drawing/2014/main" id="{3109336F-8A05-4DBE-9FBC-A25C665CF879}"/>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Individualized longer treatment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Where it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For resistance, intolerance, disease sites or prior drug exposure that invalidate short-regimen eligibility.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needs checking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Construct a sufficiently active combination with expert input and DST. Duration depends on the actual regimen and response, not the RR label alone.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B9CBE6D-4C37-4CEE-B97A-F4CD18F776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D2DBC11-7E00-47F8-837B-E566DB8EFF8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1066697227"/>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E95F10B-A89E-4C80-85D9-A03B2A57E1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resistance changes the entire regimen</a:t>
            </a:r>
          </a:p>
        </p:txBody>
      </p:sp>
      <p:sp>
        <p:nvSpPr>
          <p:cNvPr id="2" name="paragraph-0">
            <a:extLst xmlns:a="http://schemas.openxmlformats.org/drawingml/2006/main">
              <a:ext uri="{FF2B5EF4-FFF2-40B4-BE49-F238E27FC236}">
                <a16:creationId xmlns:a16="http://schemas.microsoft.com/office/drawing/2014/main" id="{8634899F-BEC9-4287-BCC2-B2102DF2CF2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[8] [9] [13]</a:t>
            </a:r>
          </a:p>
        </p:txBody>
      </p:sp>
      <p:sp>
        <p:nvSpPr>
          <p:cNvPr id="3" name="paragraph-1">
            <a:extLst xmlns:a="http://schemas.openxmlformats.org/drawingml/2006/main">
              <a:ext uri="{FF2B5EF4-FFF2-40B4-BE49-F238E27FC236}">
                <a16:creationId xmlns:a16="http://schemas.microsoft.com/office/drawing/2014/main" id="{B339E22E-B068-4EFC-B843-ACBBA347090D}"/>
              </a:ext>
            </a:extLst>
          </p:cNvPr>
          <p:cNvSpPr>
            <a:spLocks xmlns:a="http://schemas.openxmlformats.org/drawingml/2006/main" noGrp="1"/>
          </p:cNvSpPr>
          <p:nvPr/>
        </p:nvSpPr>
        <p:spPr>
          <a:xfrm xmlns:a="http://schemas.openxmlformats.org/drawingml/2006/main">
            <a:off x="647700" y="25622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Abbreviations in resistant-TB combinations: B, bedaquiline; Pa, pretomanid; L, linezolid; M, moxifloxacin; D, delamanid; Lfx, levofloxacin; C, clofazimine; Z, pyrazinamide. These letters name the full combination and do not authorize substitutions.</a:t>
            </a:r>
          </a:p>
        </p:txBody>
      </p:sp>
      <p:sp>
        <p:nvSpPr>
          <p:cNvPr id="4" name="footer">
            <a:extLst xmlns:a="http://schemas.openxmlformats.org/drawingml/2006/main">
              <a:ext uri="{FF2B5EF4-FFF2-40B4-BE49-F238E27FC236}">
                <a16:creationId xmlns:a16="http://schemas.microsoft.com/office/drawing/2014/main" id="{006021CB-143F-4B75-BF51-A27DE91098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53042A4-DC54-4345-AA85-57B1592C557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384302082"/>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0F5FA3-B000-4FF9-B30D-AD524C945F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Rifampin resistance changes the entire regimen</a:t>
            </a:r>
          </a:p>
        </p:txBody>
      </p:sp>
      <p:sp>
        <p:nvSpPr>
          <p:cNvPr id="2" name="paragraph-0">
            <a:extLst xmlns:a="http://schemas.openxmlformats.org/drawingml/2006/main">
              <a:ext uri="{FF2B5EF4-FFF2-40B4-BE49-F238E27FC236}">
                <a16:creationId xmlns:a16="http://schemas.microsoft.com/office/drawing/2014/main" id="{309C2302-9D42-45CA-830E-7D735A517CCF}"/>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2025 U.S. panel recommends 26 weeks of BPaL/BPaLM, despite the 24-week TB-PRACTECAL study regimen. The usual adult framework uses pretomanid 200 mg daily, linezolid 600 mg daily and, for BPaLM, moxifloxacin 400 mg daily. One established bedaquiline schedule is 400 mg daily for 2 weeks, then 200 mg three times weekly, separated by at least 48 hours. Use the exact selected protocol; alternative bedaquiline schedules and toxicity-driven changes should not be mixed casually. [1]</a:t>
            </a:r>
          </a:p>
        </p:txBody>
      </p:sp>
      <p:sp>
        <p:nvSpPr>
          <p:cNvPr id="3" name="footer">
            <a:extLst xmlns:a="http://schemas.openxmlformats.org/drawingml/2006/main">
              <a:ext uri="{FF2B5EF4-FFF2-40B4-BE49-F238E27FC236}">
                <a16:creationId xmlns:a16="http://schemas.microsoft.com/office/drawing/2014/main" id="{63E7F9C1-6447-412D-BBE0-B6986BB3B0F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EA4E8EF-F9C0-414B-BC8B-DEEE1C1B8A3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1475132668"/>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85AF1D-0911-470A-BD84-2376C0A039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is more than a rifampin result</a:t>
            </a:r>
          </a:p>
        </p:txBody>
      </p:sp>
      <p:sp>
        <p:nvSpPr>
          <p:cNvPr id="2" name="paragraph-0">
            <a:extLst xmlns:a="http://schemas.openxmlformats.org/drawingml/2006/main">
              <a:ext uri="{FF2B5EF4-FFF2-40B4-BE49-F238E27FC236}">
                <a16:creationId xmlns:a16="http://schemas.microsoft.com/office/drawing/2014/main" id="{A5AF599B-B244-4AF6-B1BC-EC2F8F3325B0}"/>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Prior bedaquiline/clofazimine or nitroimidazole exposure can matter even when the patient has never received the proposed full combination. Review molecular and phenotypic results with the reference laboratory; the availability and interpretation of newer-drug DST differ from routine antibacterial testing. Loss of linezolid to toxicity can leave too few active companion drugs. Persistent or recurrent culture positivity should prompt renewed DST and adherence/exposure review, not automatic prolongation of the same drugs. [9] [1]</a:t>
            </a:r>
          </a:p>
        </p:txBody>
      </p:sp>
      <p:sp>
        <p:nvSpPr>
          <p:cNvPr id="3" name="footer">
            <a:extLst xmlns:a="http://schemas.openxmlformats.org/drawingml/2006/main">
              <a:ext uri="{FF2B5EF4-FFF2-40B4-BE49-F238E27FC236}">
                <a16:creationId xmlns:a16="http://schemas.microsoft.com/office/drawing/2014/main" id="{5513C595-CE96-49CB-B0BF-B9B0EC434AC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BB22D4D-8029-42D9-A729-618FC5666C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207487346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606E60-04C4-4A5F-843E-80C4E859FD5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is more than a rifampin result</a:t>
            </a:r>
          </a:p>
        </p:txBody>
      </p:sp>
      <p:sp>
        <p:nvSpPr>
          <p:cNvPr id="2" name="paragraph-0">
            <a:extLst xmlns:a="http://schemas.openxmlformats.org/drawingml/2006/main">
              <a:ext uri="{FF2B5EF4-FFF2-40B4-BE49-F238E27FC236}">
                <a16:creationId xmlns:a16="http://schemas.microsoft.com/office/drawing/2014/main" id="{8FA1461D-77CC-4736-9D87-3C3D79ED74BE}"/>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WHO recommendation, FDA labeling and local access are different questions. In the U.S., arrange expert consultation and access before prescribing delamanid-based or other nonstandard combinations. No local formulary availability is assumed here.</a:t>
            </a:r>
          </a:p>
        </p:txBody>
      </p:sp>
      <p:sp>
        <p:nvSpPr>
          <p:cNvPr id="3" name="footer">
            <a:extLst xmlns:a="http://schemas.openxmlformats.org/drawingml/2006/main">
              <a:ext uri="{FF2B5EF4-FFF2-40B4-BE49-F238E27FC236}">
                <a16:creationId xmlns:a16="http://schemas.microsoft.com/office/drawing/2014/main" id="{55316716-AF24-4527-A206-583F3F3EE92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D92FCB2-7C25-4069-B63B-E557EBF01A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167685750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471E7D2-3A1A-42D6-9593-A78A79CA46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AF39CB53-E11A-4ABC-B79E-4758DC5CC56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Isoniazid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5 mg/kg daily, usually 300 mg maximum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Hepatotoxicity and peripheral neuropathy. Give pyridoxine, especially with neuropathy risk; the four-month regimen uses 25-50 mg daily for all patients.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C1A7BB5-2D28-471E-A109-6BDBAA81B4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40CE737-7354-4D37-9ECE-102FFA4D0A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1359324562"/>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E893243-EA48-4CFA-9BDE-79CFDEB417F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40F013DB-2755-4CBC-BE10-3CC3486157D6}"/>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Rifampin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10 mg/kg daily, usually 600 mg maximum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Major enzyme/transporter induction. Review ART, azoles, anticoagulants, transplant drugs, methadone and hormonal contraception. Orange secretions are expected; jaundice is not.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AF680C0-2BE3-4608-B023-3FE1074E16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92E3447-1FFB-4A76-9FE0-17CDADEAC01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758612799"/>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1EEF03D-F1D8-4EC5-8AAD-8EEE154324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82292724-FDE6-4CC5-B960-F86570B50D4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Pyrazinamide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Weight-band dosing, generally about 20-25 mg/kg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Hepatotoxicity, arthralgia and hyperuricemia. Asymptomatic hyperuricemia alone is not an indication to stop. Adjust interval in severe renal impairment.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B6069EB-A249-40A8-A195-5BA0A2662E4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0F8EC7A-EECD-4998-ACB1-5778647E0C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2012643094"/>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5E2B881-892B-41E4-B11B-9B13AC2D57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4D9F33BD-1B7F-40EE-BE1F-0D8F8E486AF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Ethambutol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Weight-band dosing, generally 15-20 mg/kg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Baseline visual acuity and color discrimination, then symptom surveillance and repeat testing according to duration/risk. Stop and evaluate new visual symptoms. Accumulates with renal impairment.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5546F6B-5B30-4D63-BF40-D96AA9982CB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4D72C99-40EB-4174-937C-BF051853A6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1478402821"/>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101207A-7543-48A2-9681-1118A3CF40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316D152D-8E6D-4A99-AAB3-E1C32FEE5DC4}"/>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Rifapentine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1,200 mg daily in the 17-week active-TB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confuse with the weekly dose/frequency used in 3HP prevention. Review interactions; give with food.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B94B184-41B7-4234-964E-56CC6B22A77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0CDBBE3-DFDA-4696-ACFB-966A118B27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28889663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F2F600E-CB4E-45FD-891A-100AB652D4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D199EA57-B781-4BBC-A12C-79B3B3EF67C7}"/>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Moxifloxacin / levofloxacin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Moxifloxacin 400 mg daily in HPMZ/BPaLM; levofloxacin dosing depends on weight and kidney function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QT, tendinopathy, neuropathy, dysglycemia and cation binding. Correct K+ and Mg2+, assess other QT drugs. Levofloxacin needs renal adjustment.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9B7C107-D896-416F-B0BF-CD3B58F281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F221076-B530-41F8-B323-97F852C39B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1458520894"/>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F99E5C5-3CE1-49FF-9D44-157EC25421D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A016BEF1-CA3B-4C32-9D3C-C645CB849100}"/>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Bedaquiline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the selected regimen’s loading and continuation schedule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ECG/QTc, K+, Mg2+, Ca2+, liver tests and interacting drugs. Rifamycins can markedly lower exposure.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7B08258-3F21-4E50-B38C-B3A00DCFBC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43CACE5-7F3A-4517-98CF-C72EC43596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14352014"/>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4A49719-73FD-4BC9-9128-441F0A8E67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1F1B7873-2CFF-4896-B22B-558DE53150BC}"/>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Pretomanid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200 mg daily with food within an appropriate combination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Hepatic toxicity and combination-regimen adverse effects. Avoid extrapolating pulmonary-trial evidence to CNS disease or pregnancy.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972AD62-E3F2-4E1F-A9F9-BA9B08E3B52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E22C39B-6D88-4B23-B5E7-965006244F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195589562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96A5A6-2B66-47C0-A895-684F46892F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FEF30A25-BA82-4DA2-AD5B-A4005AAD3D2F}"/>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Linezolid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600 mg daily initially in current BPaL/BPaLM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CBC, peripheral neuropathy, vision and symptoms of lactic acidosis. Review serotonergic drugs. Six months is very different from a short antibacterial course.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039D4DE-AE60-441A-866A-81D5EC7BD7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470E5A6-3F47-4574-AAAA-BC7DCA5A52F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1558598992"/>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D3AB5D5-932F-4509-9251-E876074FFF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graphicFrame>
        <p:nvGraphicFramePr>
          <p:cNvPr id="2" name="">
            <a:extLst xmlns:a="http://schemas.openxmlformats.org/drawingml/2006/main">
              <a:ext uri="{FF2B5EF4-FFF2-40B4-BE49-F238E27FC236}">
                <a16:creationId xmlns:a16="http://schemas.microsoft.com/office/drawing/2014/main" id="{0C509425-9405-457F-91CE-6DC962C7A8B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Delamanid / clofazimine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Usual adult framework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Regimen-specific dosing under TB-program direction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Monitoring and common traps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Additive QT risk. Clofazimine can cause skin discoloration and GI toxicity. Monitor the combination, not each drug in isolation.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62E89D9-1D6E-4D8C-819C-493C0E8E93E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DA4764E-5EE2-4BBE-B3A7-2FB9F99B18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263076687"/>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877D664-317A-4B16-8D38-B3987E8703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Monitoring should follow the toxicities of the actual regimen</a:t>
            </a:r>
          </a:p>
        </p:txBody>
      </p:sp>
      <p:sp>
        <p:nvSpPr>
          <p:cNvPr id="2" name="paragraph-0">
            <a:extLst xmlns:a="http://schemas.openxmlformats.org/drawingml/2006/main">
              <a:ext uri="{FF2B5EF4-FFF2-40B4-BE49-F238E27FC236}">
                <a16:creationId xmlns:a16="http://schemas.microsoft.com/office/drawing/2014/main" id="{F1B5D090-3780-4863-86D1-A950D709A93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[4] [1] [9]</a:t>
            </a:r>
          </a:p>
        </p:txBody>
      </p:sp>
      <p:sp>
        <p:nvSpPr>
          <p:cNvPr id="3" name="footer">
            <a:extLst xmlns:a="http://schemas.openxmlformats.org/drawingml/2006/main">
              <a:ext uri="{FF2B5EF4-FFF2-40B4-BE49-F238E27FC236}">
                <a16:creationId xmlns:a16="http://schemas.microsoft.com/office/drawing/2014/main" id="{E24B2F5E-77A1-4CB2-9C8A-4DD6F485F2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F0A37F1-6F50-48BD-9F68-7D5E998B6CC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1978516812"/>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A7B4554-3C07-4187-84CC-23F64BCE21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Baseline and follow-up plan</a:t>
            </a:r>
          </a:p>
        </p:txBody>
      </p:sp>
      <p:sp>
        <p:nvSpPr>
          <p:cNvPr id="2" name="paragraph-0">
            <a:extLst xmlns:a="http://schemas.openxmlformats.org/drawingml/2006/main">
              <a:ext uri="{FF2B5EF4-FFF2-40B4-BE49-F238E27FC236}">
                <a16:creationId xmlns:a16="http://schemas.microsoft.com/office/drawing/2014/main" id="{92743204-53BB-47E6-94E5-DC84579142F4}"/>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Document weight, HIV status, pregnancy possibility, complete medication history, prior TB therapy and disease sites. Obtain CBC, creatinine/eGFR, AST/ALT and bilirubin, with hepatitis testing based on risk. Add baseline vision testing for ethambutol or prolonged linezolid and ECG/electrolytes for QT-active regimens. [2] [1]</a:t>
            </a:r>
          </a:p>
        </p:txBody>
      </p:sp>
      <p:sp>
        <p:nvSpPr>
          <p:cNvPr id="3" name="footer">
            <a:extLst xmlns:a="http://schemas.openxmlformats.org/drawingml/2006/main">
              <a:ext uri="{FF2B5EF4-FFF2-40B4-BE49-F238E27FC236}">
                <a16:creationId xmlns:a16="http://schemas.microsoft.com/office/drawing/2014/main" id="{A5454841-E34E-4124-B72B-0FD454A861B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8515788-17B1-4764-8B54-A78AA613AB8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1013757323"/>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8ED61AA-C1DA-40A2-B1B0-ADD2455F88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Baseline and follow-up plan</a:t>
            </a:r>
          </a:p>
        </p:txBody>
      </p:sp>
      <p:sp>
        <p:nvSpPr>
          <p:cNvPr id="2" name="paragraph-0">
            <a:extLst xmlns:a="http://schemas.openxmlformats.org/drawingml/2006/main">
              <a:ext uri="{FF2B5EF4-FFF2-40B4-BE49-F238E27FC236}">
                <a16:creationId xmlns:a16="http://schemas.microsoft.com/office/drawing/2014/main" id="{2655E337-B926-46F3-BD32-5067158F389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symptoms, adherence, weight and toxicity at least monthly. In pulmonary disease, obtain sputum cultures monthly until conversion is documented; the end-of-intensive-phase culture is particularly important. Continue cultures and other response assessment as required by the selected drug-resistant protocol. Smear or NAAT positivity alone is not proof of viable bacilli or failure. [2] [3] [9]</a:t>
            </a:r>
          </a:p>
        </p:txBody>
      </p:sp>
      <p:sp>
        <p:nvSpPr>
          <p:cNvPr id="3" name="footer">
            <a:extLst xmlns:a="http://schemas.openxmlformats.org/drawingml/2006/main">
              <a:ext uri="{FF2B5EF4-FFF2-40B4-BE49-F238E27FC236}">
                <a16:creationId xmlns:a16="http://schemas.microsoft.com/office/drawing/2014/main" id="{D3E39C18-7CE0-4545-ACC8-C5E507F424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4C9BC86-52EB-4857-BE1D-206E6C83C3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163792212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DDF497-AF4B-4CBB-8A89-F3CEDFE0A6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Baseline and follow-up plan</a:t>
            </a:r>
          </a:p>
        </p:txBody>
      </p:sp>
      <p:sp>
        <p:nvSpPr>
          <p:cNvPr id="2" name="paragraph-0">
            <a:extLst xmlns:a="http://schemas.openxmlformats.org/drawingml/2006/main">
              <a:ext uri="{FF2B5EF4-FFF2-40B4-BE49-F238E27FC236}">
                <a16:creationId xmlns:a16="http://schemas.microsoft.com/office/drawing/2014/main" id="{2494B640-D83D-44BF-8A4B-F0CA9920B757}"/>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prolonged linezolid, check CBC early and frequently, commonly weekly initially, with ongoing neurologic and visual assessment. Use the published regimen-specific ECG and laboratory schedule for BPaL/BPaLM or BDLLfxC. Increase surveillance when renal dysfunction, abnormal baseline results, QT-active combinations or new symptoms raise risk. Therapeutic drug monitoring may help with toxicity, suspected malabsorption or poor response. [1] [9]</a:t>
            </a:r>
          </a:p>
        </p:txBody>
      </p:sp>
      <p:sp>
        <p:nvSpPr>
          <p:cNvPr id="3" name="footer">
            <a:extLst xmlns:a="http://schemas.openxmlformats.org/drawingml/2006/main">
              <a:ext uri="{FF2B5EF4-FFF2-40B4-BE49-F238E27FC236}">
                <a16:creationId xmlns:a16="http://schemas.microsoft.com/office/drawing/2014/main" id="{82AFD79B-B3D2-409E-A36D-15BDBD69056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CC14707-4E61-4E49-B518-A842EF2E795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601065467"/>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531248B-91DB-4C90-BBED-EDCD648086A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 hepatitis needs a same-day plan</a:t>
            </a:r>
          </a:p>
        </p:txBody>
      </p:sp>
      <p:sp>
        <p:nvSpPr>
          <p:cNvPr id="2" name="paragraph-0">
            <a:extLst xmlns:a="http://schemas.openxmlformats.org/drawingml/2006/main">
              <a:ext uri="{FF2B5EF4-FFF2-40B4-BE49-F238E27FC236}">
                <a16:creationId xmlns:a16="http://schemas.microsoft.com/office/drawing/2014/main" id="{435F0691-4975-4336-B170-FE6480922B1E}"/>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Hold hepatotoxic TB drugs and evaluate when ALT is at least 3 times the upper limit of normal with hepatitis symptoms, or at least 5 times without symptoms. Assess bilirubin, INR and other causes. In severe disease, arrange an active nonhepatotoxic interim combination with a TB expert. Reintroduction is supervised and sequential after recovery; do not leave the patient on an accidentally ineffective partial regimen.</a:t>
            </a:r>
          </a:p>
        </p:txBody>
      </p:sp>
      <p:sp>
        <p:nvSpPr>
          <p:cNvPr id="3" name="paragraph-1">
            <a:extLst xmlns:a="http://schemas.openxmlformats.org/drawingml/2006/main">
              <a:ext uri="{FF2B5EF4-FFF2-40B4-BE49-F238E27FC236}">
                <a16:creationId xmlns:a16="http://schemas.microsoft.com/office/drawing/2014/main" id="{B22FED6F-53E9-4E2A-BDA5-546DD7FA6BCB}"/>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a:t>
            </a:r>
          </a:p>
        </p:txBody>
      </p:sp>
      <p:sp>
        <p:nvSpPr>
          <p:cNvPr id="4" name="footer">
            <a:extLst xmlns:a="http://schemas.openxmlformats.org/drawingml/2006/main">
              <a:ext uri="{FF2B5EF4-FFF2-40B4-BE49-F238E27FC236}">
                <a16:creationId xmlns:a16="http://schemas.microsoft.com/office/drawing/2014/main" id="{B264B5C6-ADFA-45D5-ADA1-3562E982E0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2DFF373-8ACD-4ECB-ABCA-EE8D4ACCF2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32471773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4DD72AE-EDEC-4638-9756-D0166B3396A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 hepatitis needs a same-day plan</a:t>
            </a:r>
          </a:p>
        </p:txBody>
      </p:sp>
      <p:sp>
        <p:nvSpPr>
          <p:cNvPr id="2" name="paragraph-0">
            <a:extLst xmlns:a="http://schemas.openxmlformats.org/drawingml/2006/main">
              <a:ext uri="{FF2B5EF4-FFF2-40B4-BE49-F238E27FC236}">
                <a16:creationId xmlns:a16="http://schemas.microsoft.com/office/drawing/2014/main" id="{F46D2254-2FD2-404C-A10C-047A7097611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With creatinine clearance below 30 mL/min or hemodialysis, pyrazinamide and ethambutol generally require interval adjustment, often three times weekly after dialysis. Isoniazid and rifampin usually retain standard dosing. Confirm the exact weight-based dose and monitoring with pharmacy. [28] [2]</a:t>
            </a:r>
          </a:p>
        </p:txBody>
      </p:sp>
      <p:sp>
        <p:nvSpPr>
          <p:cNvPr id="3" name="footer">
            <a:extLst xmlns:a="http://schemas.openxmlformats.org/drawingml/2006/main">
              <a:ext uri="{FF2B5EF4-FFF2-40B4-BE49-F238E27FC236}">
                <a16:creationId xmlns:a16="http://schemas.microsoft.com/office/drawing/2014/main" id="{439E86B4-AFCD-4F18-B7E2-E04CBF2CFD8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B22DE66-0C77-4281-A594-2D5B5B70576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1196956655"/>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7B71BB5-4236-4561-BD18-D844EEA13B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Disease site and host factors can override the short-course option</a:t>
            </a:r>
          </a:p>
        </p:txBody>
      </p:sp>
      <p:graphicFrame>
        <p:nvGraphicFramePr>
          <p:cNvPr id="2" name="">
            <a:extLst xmlns:a="http://schemas.openxmlformats.org/drawingml/2006/main">
              <a:ext uri="{FF2B5EF4-FFF2-40B4-BE49-F238E27FC236}">
                <a16:creationId xmlns:a16="http://schemas.microsoft.com/office/drawing/2014/main" id="{8B4AB787-31FA-436B-9709-131828B0D1FF}"/>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TB meningitis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Teaching point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 promptly with a CNS-appropriate multidrug regimen, generally a prolonged course such as 9-12 months. Standard pulmonary shortening trials do not apply. Adjunctive corticosteroids are guideline-supported, but HIV-specific evidence and the 2026 genotype trial require careful interpretation.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C78F8A0-2256-49B2-B504-224820FC27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EA3B502-16BE-4C4C-A3F3-618CD8B115B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135618232"/>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DEFB5D2-54C7-4042-9885-9A31ED4F64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Disease site and host factors can override the short-course option</a:t>
            </a:r>
          </a:p>
        </p:txBody>
      </p:sp>
      <p:graphicFrame>
        <p:nvGraphicFramePr>
          <p:cNvPr id="2" name="">
            <a:extLst xmlns:a="http://schemas.openxmlformats.org/drawingml/2006/main">
              <a:ext uri="{FF2B5EF4-FFF2-40B4-BE49-F238E27FC236}">
                <a16:creationId xmlns:a16="http://schemas.microsoft.com/office/drawing/2014/main" id="{D4901E25-DB50-46FD-8761-5B33BDFA9BF4}"/>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Bone, joint or spinal TB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Teaching point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Rifamycin-containing therapy is often 6-9 months; many experts favor 9 months, with longer courses in selected circumstances such as extensive hardware. Assess neurologic compromise, instability, large abscesses and need for tissue diagnosis or surgery.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84BCB51-B006-4F11-A35C-0966239786E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27425D1-3115-46D6-B01A-2A634AE2E38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806338302"/>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79FC8CE-D6B9-438D-BFF9-371CD1A770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Disease site and host factors can override the short-course option</a:t>
            </a:r>
          </a:p>
        </p:txBody>
      </p:sp>
      <p:graphicFrame>
        <p:nvGraphicFramePr>
          <p:cNvPr id="2" name="">
            <a:extLst xmlns:a="http://schemas.openxmlformats.org/drawingml/2006/main">
              <a:ext uri="{FF2B5EF4-FFF2-40B4-BE49-F238E27FC236}">
                <a16:creationId xmlns:a16="http://schemas.microsoft.com/office/drawing/2014/main" id="{EF09169F-A384-46EC-A0C1-C7B820F6EE9F}"/>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Pleural or lymph-node TB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Teaching point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treatable with a standard six-month course. Enlarging nodes during treatment can be paradoxical, but assess adherence, resistance and other diagnoses before assigning that explanation.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3D2087A-ACE7-468F-9B6B-F58468E6DD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AAFB084-9096-4D89-A427-C43A6893136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106</a:t>
            </a:r>
          </a:p>
        </p:txBody>
      </p:sp>
    </p:spTree>
    <p:extLst>
      <p:ext uri="{BB962C8B-B14F-4D97-AF65-F5344CB8AC3E}">
        <p14:creationId xmlns:p14="http://schemas.microsoft.com/office/powerpoint/2010/main" val="2056914308"/>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7E034E-A843-430F-88FE-3AC44C81921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Disease site and host factors can override the short-course option</a:t>
            </a:r>
          </a:p>
        </p:txBody>
      </p:sp>
      <p:graphicFrame>
        <p:nvGraphicFramePr>
          <p:cNvPr id="2" name="">
            <a:extLst xmlns:a="http://schemas.openxmlformats.org/drawingml/2006/main">
              <a:ext uri="{FF2B5EF4-FFF2-40B4-BE49-F238E27FC236}">
                <a16:creationId xmlns:a16="http://schemas.microsoft.com/office/drawing/2014/main" id="{72E90F38-645C-4EB9-8C80-FF400EB72351}"/>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TB and HIV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Teaching point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Coordinate ART and TB treatment together. Do not remove the rifamycin solely to preserve an incompatible ART regimen without expert review. Low CD4 counts and CNS disease affect eligibility and ART timing.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6B515AE-0172-446E-BF78-5FE46FAF36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0380888-DF1D-499C-A97B-4160C33CB1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107</a:t>
            </a:r>
          </a:p>
        </p:txBody>
      </p:sp>
    </p:spTree>
    <p:extLst>
      <p:ext uri="{BB962C8B-B14F-4D97-AF65-F5344CB8AC3E}">
        <p14:creationId xmlns:p14="http://schemas.microsoft.com/office/powerpoint/2010/main" val="524128427"/>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1E87FF-D094-4B0D-ABE8-F9134B56B46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Disease site and host factors can override the short-course option</a:t>
            </a:r>
          </a:p>
        </p:txBody>
      </p:sp>
      <p:graphicFrame>
        <p:nvGraphicFramePr>
          <p:cNvPr id="2" name="">
            <a:extLst xmlns:a="http://schemas.openxmlformats.org/drawingml/2006/main">
              <a:ext uri="{FF2B5EF4-FFF2-40B4-BE49-F238E27FC236}">
                <a16:creationId xmlns:a16="http://schemas.microsoft.com/office/drawing/2014/main" id="{20C89B89-5B55-472D-89AA-336AC66EB26A}"/>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Pregnancy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Teaching point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 active disease without delay. U.S. guidance individualizes pyrazinamide use; WHO routinely includes it in standard drug-susceptible treatment. Avoid assuming the rifapentine-moxifloxacin or pretomanid regimens are supported in pregnancy.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FDF47E2-04BA-480E-8758-1D6F81771E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E13348A-4E7A-4491-A727-3F874F3624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108</a:t>
            </a:r>
          </a:p>
        </p:txBody>
      </p:sp>
    </p:spTree>
    <p:extLst>
      <p:ext uri="{BB962C8B-B14F-4D97-AF65-F5344CB8AC3E}">
        <p14:creationId xmlns:p14="http://schemas.microsoft.com/office/powerpoint/2010/main" val="2024766521"/>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529A24-8479-43E8-8FB8-CAEBCF8945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Disease site and host factors can override the short-course option</a:t>
            </a:r>
          </a:p>
        </p:txBody>
      </p:sp>
      <p:graphicFrame>
        <p:nvGraphicFramePr>
          <p:cNvPr id="2" name="">
            <a:extLst xmlns:a="http://schemas.openxmlformats.org/drawingml/2006/main">
              <a:ext uri="{FF2B5EF4-FFF2-40B4-BE49-F238E27FC236}">
                <a16:creationId xmlns:a16="http://schemas.microsoft.com/office/drawing/2014/main" id="{EE504D50-6C2F-4B26-BC8C-4564EC4B3A5A}"/>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Isoniazid resistance with rifampin susceptibility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Teaching point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continue standard HR as if both were active. WHO recommends a six-month rifampin, ethambutol, pyrazinamide and levofloxacin regimen when appropriate susceptibility is established. Check for additional resistance and seek expert input.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8C00D20-D5C6-496C-9225-2AE7D2BE0C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5B73B23-B05B-433A-8334-BCC35AF1858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109</a:t>
            </a:r>
          </a:p>
        </p:txBody>
      </p:sp>
    </p:spTree>
    <p:extLst>
      <p:ext uri="{BB962C8B-B14F-4D97-AF65-F5344CB8AC3E}">
        <p14:creationId xmlns:p14="http://schemas.microsoft.com/office/powerpoint/2010/main" val="1710978052"/>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AE3A4EA-F7D5-498E-A464-FB755E6EF6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Disease site and host factors can override the short-course option</a:t>
            </a:r>
          </a:p>
        </p:txBody>
      </p:sp>
      <p:sp>
        <p:nvSpPr>
          <p:cNvPr id="2" name="paragraph-0">
            <a:extLst xmlns:a="http://schemas.openxmlformats.org/drawingml/2006/main">
              <a:ext uri="{FF2B5EF4-FFF2-40B4-BE49-F238E27FC236}">
                <a16:creationId xmlns:a16="http://schemas.microsoft.com/office/drawing/2014/main" id="{51716F39-6F81-45CE-8B89-098CF1A1944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[22] [23] [8] [21]</a:t>
            </a:r>
          </a:p>
        </p:txBody>
      </p:sp>
      <p:sp>
        <p:nvSpPr>
          <p:cNvPr id="3" name="paragraph-1">
            <a:extLst xmlns:a="http://schemas.openxmlformats.org/drawingml/2006/main">
              <a:ext uri="{FF2B5EF4-FFF2-40B4-BE49-F238E27FC236}">
                <a16:creationId xmlns:a16="http://schemas.microsoft.com/office/drawing/2014/main" id="{8D28F7C4-5553-435A-B798-1A088DED80E5}"/>
              </a:ext>
            </a:extLst>
          </p:cNvPr>
          <p:cNvSpPr>
            <a:spLocks xmlns:a="http://schemas.openxmlformats.org/drawingml/2006/main" noGrp="1"/>
          </p:cNvSpPr>
          <p:nvPr/>
        </p:nvSpPr>
        <p:spPr>
          <a:xfrm xmlns:a="http://schemas.openxmlformats.org/drawingml/2006/main">
            <a:off x="647700" y="25622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patients with HIV who are not receiving ART and do not have TB meningitis, NIH recommends starting ART within 2 weeks of TB treatment if CD4 is below 50 cells/mm³, and within 2-8 weeks if CD4 is at least 50. This is the timing used in the companion HIV module. For TB meningitis, NIH permits ART after at least 2 weeks once meningitis is controlled, while ATS/CDC/IDSA guidance favors waiting 8 weeks. Select and document a CNS-specific plan with the HIV/TB team. [36] [22]</a:t>
            </a:r>
          </a:p>
        </p:txBody>
      </p:sp>
      <p:sp>
        <p:nvSpPr>
          <p:cNvPr id="4" name="footer">
            <a:extLst xmlns:a="http://schemas.openxmlformats.org/drawingml/2006/main">
              <a:ext uri="{FF2B5EF4-FFF2-40B4-BE49-F238E27FC236}">
                <a16:creationId xmlns:a16="http://schemas.microsoft.com/office/drawing/2014/main" id="{64E9720A-98D1-4B1A-9B2E-23F5968D03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170F544-E5B4-4577-B45D-C69245185E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110</a:t>
            </a:r>
          </a:p>
        </p:txBody>
      </p:sp>
    </p:spTree>
    <p:extLst>
      <p:ext uri="{BB962C8B-B14F-4D97-AF65-F5344CB8AC3E}">
        <p14:creationId xmlns:p14="http://schemas.microsoft.com/office/powerpoint/2010/main" val="1835858911"/>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884A3F0-01E0-4930-95EC-AD3AC39B2F9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 control in TB is selective</a:t>
            </a:r>
          </a:p>
        </p:txBody>
      </p:sp>
      <p:sp>
        <p:nvSpPr>
          <p:cNvPr id="2" name="paragraph-0">
            <a:extLst xmlns:a="http://schemas.openxmlformats.org/drawingml/2006/main">
              <a:ext uri="{FF2B5EF4-FFF2-40B4-BE49-F238E27FC236}">
                <a16:creationId xmlns:a16="http://schemas.microsoft.com/office/drawing/2014/main" id="{504E1771-FCDF-4C40-9B1C-40539EA4E470}"/>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Antimicrobial therapy is central. Drainage, decompression or surgery is indicated for specific complications, such as neurologic compromise, mechanical instability, selected abscesses or empyema, rather than for every residual lesion. Obtain tissue for histology, mycobacterial culture and DST when diagnosis remains uncertain. Coordinate specimen handling so the only diagnostic sample is not placed entirely in formalin. [2] [5]</a:t>
            </a:r>
          </a:p>
        </p:txBody>
      </p:sp>
      <p:sp>
        <p:nvSpPr>
          <p:cNvPr id="3" name="footer">
            <a:extLst xmlns:a="http://schemas.openxmlformats.org/drawingml/2006/main">
              <a:ext uri="{FF2B5EF4-FFF2-40B4-BE49-F238E27FC236}">
                <a16:creationId xmlns:a16="http://schemas.microsoft.com/office/drawing/2014/main" id="{E903D54F-9EEC-4346-B21C-ED6E962EA2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CE624FA-D1FF-4892-8CD6-23DA9E7E536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111</a:t>
            </a:r>
          </a:p>
        </p:txBody>
      </p:sp>
    </p:spTree>
    <p:extLst>
      <p:ext uri="{BB962C8B-B14F-4D97-AF65-F5344CB8AC3E}">
        <p14:creationId xmlns:p14="http://schemas.microsoft.com/office/powerpoint/2010/main" val="2089529319"/>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818FC4F-F640-4D14-9A91-4FC107AD7D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endpoint before accepting a shorter treatment claim</a:t>
            </a:r>
          </a:p>
        </p:txBody>
      </p:sp>
      <p:sp>
        <p:nvSpPr>
          <p:cNvPr id="2" name="paragraph-0">
            <a:extLst xmlns:a="http://schemas.openxmlformats.org/drawingml/2006/main">
              <a:ext uri="{FF2B5EF4-FFF2-40B4-BE49-F238E27FC236}">
                <a16:creationId xmlns:a16="http://schemas.microsoft.com/office/drawing/2014/main" id="{56E80F64-3EC5-4F2C-9332-90DE4A1E4832}"/>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Noninferiority means that the confidence interval stayed within a prespecified margin for a specified endpoint in a specified population. It does not establish identical efficacy, prove superiority or show that the regimen works at every disease site. A composite outcome can include loss to follow-up, treatment changes and death as well as microbiologic failure.</a:t>
            </a:r>
          </a:p>
        </p:txBody>
      </p:sp>
      <p:sp>
        <p:nvSpPr>
          <p:cNvPr id="3" name="paragraph-1">
            <a:extLst xmlns:a="http://schemas.openxmlformats.org/drawingml/2006/main">
              <a:ext uri="{FF2B5EF4-FFF2-40B4-BE49-F238E27FC236}">
                <a16:creationId xmlns:a16="http://schemas.microsoft.com/office/drawing/2014/main" id="{6F3A27E8-77D6-4573-9D23-1833210AC767}"/>
              </a:ext>
            </a:extLst>
          </p:cNvPr>
          <p:cNvSpPr>
            <a:spLocks xmlns:a="http://schemas.openxmlformats.org/drawingml/2006/main" noGrp="1"/>
          </p:cNvSpPr>
          <p:nvPr/>
        </p:nvSpPr>
        <p:spPr>
          <a:xfrm xmlns:a="http://schemas.openxmlformats.org/drawingml/2006/main">
            <a:off x="647700" y="43243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Phase 3 RCT</a:t>
            </a:r>
          </a:p>
        </p:txBody>
      </p:sp>
      <p:sp>
        <p:nvSpPr>
          <p:cNvPr id="4" name="footer">
            <a:extLst xmlns:a="http://schemas.openxmlformats.org/drawingml/2006/main">
              <a:ext uri="{FF2B5EF4-FFF2-40B4-BE49-F238E27FC236}">
                <a16:creationId xmlns:a16="http://schemas.microsoft.com/office/drawing/2014/main" id="{5D7C0FC3-1934-4CF6-A245-747B4A376B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B1F582B1-E9DB-4A11-8651-59FBF08A86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112</a:t>
            </a:r>
          </a:p>
        </p:txBody>
      </p:sp>
    </p:spTree>
    <p:extLst>
      <p:ext uri="{BB962C8B-B14F-4D97-AF65-F5344CB8AC3E}">
        <p14:creationId xmlns:p14="http://schemas.microsoft.com/office/powerpoint/2010/main" val="491153689"/>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FDA4D41-03F8-4985-BF44-05CD209BF85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Study 31/A5349 established an eligible four-month option</a:t>
            </a:r>
          </a:p>
        </p:txBody>
      </p:sp>
      <p:sp>
        <p:nvSpPr>
          <p:cNvPr id="2" name="paragraph-0">
            <a:extLst xmlns:a="http://schemas.openxmlformats.org/drawingml/2006/main">
              <a:ext uri="{FF2B5EF4-FFF2-40B4-BE49-F238E27FC236}">
                <a16:creationId xmlns:a16="http://schemas.microsoft.com/office/drawing/2014/main" id="{16862A33-45EC-4492-A115-E6D76746C9C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Among 2,516 randomized participants, the four-month rifapentine-moxifloxacin regimen had unfavorable outcomes in 15.5% versus 14.6% with standard therapy in the microbiologically eligible population. The reported difference was 1.0 percentage point, 95% CI -2.6 to 4.5, within a 6-percentage-point noninferiority margin. The rifapentine regimen without moxifloxacin did not establish noninferiority.</a:t>
            </a:r>
          </a:p>
        </p:txBody>
      </p:sp>
      <p:sp>
        <p:nvSpPr>
          <p:cNvPr id="3" name="paragraph-1">
            <a:extLst xmlns:a="http://schemas.openxmlformats.org/drawingml/2006/main">
              <a:ext uri="{FF2B5EF4-FFF2-40B4-BE49-F238E27FC236}">
                <a16:creationId xmlns:a16="http://schemas.microsoft.com/office/drawing/2014/main" id="{D73AA4BB-C225-4563-BF50-B8A03AC13141}"/>
              </a:ext>
            </a:extLst>
          </p:cNvPr>
          <p:cNvSpPr>
            <a:spLocks xmlns:a="http://schemas.openxmlformats.org/drawingml/2006/main" noGrp="1"/>
          </p:cNvSpPr>
          <p:nvPr/>
        </p:nvSpPr>
        <p:spPr>
          <a:xfrm xmlns:a="http://schemas.openxmlformats.org/drawingml/2006/main">
            <a:off x="647700" y="43243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Practice implication: use the complete studied regimen in eligible pulmonary TB. The result does not support arbitrary four-month courses, and the trial exclusions remain clinically important. [10] [4]</a:t>
            </a:r>
          </a:p>
        </p:txBody>
      </p:sp>
      <p:sp>
        <p:nvSpPr>
          <p:cNvPr id="4" name="footer">
            <a:extLst xmlns:a="http://schemas.openxmlformats.org/drawingml/2006/main">
              <a:ext uri="{FF2B5EF4-FFF2-40B4-BE49-F238E27FC236}">
                <a16:creationId xmlns:a16="http://schemas.microsoft.com/office/drawing/2014/main" id="{43FEFDDD-AEDE-4C9D-AD1A-33635C00BC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EDCB7AF-D0F3-4C78-9A91-9DCC0E32056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113</a:t>
            </a:r>
          </a:p>
        </p:txBody>
      </p:sp>
    </p:spTree>
    <p:extLst>
      <p:ext uri="{BB962C8B-B14F-4D97-AF65-F5344CB8AC3E}">
        <p14:creationId xmlns:p14="http://schemas.microsoft.com/office/powerpoint/2010/main" val="853937829"/>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475CE8F-1FD1-4FC0-B2BB-CB9CC34B6D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Study 31/A5349 established an eligible four-month option</a:t>
            </a:r>
          </a:p>
        </p:txBody>
      </p:sp>
      <p:sp>
        <p:nvSpPr>
          <p:cNvPr id="2" name="paragraph-0">
            <a:extLst xmlns:a="http://schemas.openxmlformats.org/drawingml/2006/main">
              <a:ext uri="{FF2B5EF4-FFF2-40B4-BE49-F238E27FC236}">
                <a16:creationId xmlns:a16="http://schemas.microsoft.com/office/drawing/2014/main" id="{985CCD36-C55B-434E-9A5C-1D4010595B1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Randomized trial</a:t>
            </a:r>
          </a:p>
        </p:txBody>
      </p:sp>
      <p:sp>
        <p:nvSpPr>
          <p:cNvPr id="3" name="footer">
            <a:extLst xmlns:a="http://schemas.openxmlformats.org/drawingml/2006/main">
              <a:ext uri="{FF2B5EF4-FFF2-40B4-BE49-F238E27FC236}">
                <a16:creationId xmlns:a16="http://schemas.microsoft.com/office/drawing/2014/main" id="{A1C5B5B0-7AE1-4031-BB0E-C5A18CE2AB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5A1632B-9636-42E2-8377-0D4BE3993D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114</a:t>
            </a:r>
          </a:p>
        </p:txBody>
      </p:sp>
    </p:spTree>
    <p:extLst>
      <p:ext uri="{BB962C8B-B14F-4D97-AF65-F5344CB8AC3E}">
        <p14:creationId xmlns:p14="http://schemas.microsoft.com/office/powerpoint/2010/main" val="587858969"/>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9C17B1-C58A-4ABD-9097-983AF702B42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TB-PRACTECAL changed the burden of resistant-TB treatment</a:t>
            </a:r>
          </a:p>
        </p:txBody>
      </p:sp>
      <p:sp>
        <p:nvSpPr>
          <p:cNvPr id="2" name="paragraph-0">
            <a:extLst xmlns:a="http://schemas.openxmlformats.org/drawingml/2006/main">
              <a:ext uri="{FF2B5EF4-FFF2-40B4-BE49-F238E27FC236}">
                <a16:creationId xmlns:a16="http://schemas.microsoft.com/office/drawing/2014/main" id="{6D549F66-9C57-4F88-9942-105B4EFDD80E}"/>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2022 report evaluated 24-week BPaLM against 9-20 months of standard care. Of 301 stage-2 participants, 128 were included in the modified intention-to-treat efficacy population. Unfavorable outcomes at 72 weeks occurred in 11% versus 48%; the risk difference was -37 percentage points, 96.6% CI -53 to -22. Grade 3 or higher or serious adverse events occurred in 19% versus 59%.</a:t>
            </a:r>
          </a:p>
        </p:txBody>
      </p:sp>
      <p:sp>
        <p:nvSpPr>
          <p:cNvPr id="3" name="footer">
            <a:extLst xmlns:a="http://schemas.openxmlformats.org/drawingml/2006/main">
              <a:ext uri="{FF2B5EF4-FFF2-40B4-BE49-F238E27FC236}">
                <a16:creationId xmlns:a16="http://schemas.microsoft.com/office/drawing/2014/main" id="{C44F1CB1-2A36-4878-872B-C0E19059AC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804935A-84B4-4E52-8B66-C84B91D952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115</a:t>
            </a:r>
          </a:p>
        </p:txBody>
      </p:sp>
    </p:spTree>
    <p:extLst>
      <p:ext uri="{BB962C8B-B14F-4D97-AF65-F5344CB8AC3E}">
        <p14:creationId xmlns:p14="http://schemas.microsoft.com/office/powerpoint/2010/main" val="783146622"/>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3E73C5D-E1A3-456C-A2BA-7C1EA446F3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TB-PRACTECAL changed the burden of resistant-TB treatment</a:t>
            </a:r>
          </a:p>
        </p:txBody>
      </p:sp>
      <p:sp>
        <p:nvSpPr>
          <p:cNvPr id="2" name="paragraph-0">
            <a:extLst xmlns:a="http://schemas.openxmlformats.org/drawingml/2006/main">
              <a:ext uri="{FF2B5EF4-FFF2-40B4-BE49-F238E27FC236}">
                <a16:creationId xmlns:a16="http://schemas.microsoft.com/office/drawing/2014/main" id="{E9A5BB7D-E468-485E-95B2-53343F46F65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comparator, open-label design, early stopping and composite endpoint matter. This was a major efficacy/tolerability advance over the comparator regimens, but the 37-point difference should not be described as a mortality benefit or as a comparison against every modern oral regimen. [11]</a:t>
            </a:r>
          </a:p>
        </p:txBody>
      </p:sp>
      <p:sp>
        <p:nvSpPr>
          <p:cNvPr id="3" name="paragraph-1">
            <a:extLst xmlns:a="http://schemas.openxmlformats.org/drawingml/2006/main">
              <a:ext uri="{FF2B5EF4-FFF2-40B4-BE49-F238E27FC236}">
                <a16:creationId xmlns:a16="http://schemas.microsoft.com/office/drawing/2014/main" id="{EC2A5F98-D9AB-4A89-8AB4-1FDC8E3B96F8}"/>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Dose/duration RCT</a:t>
            </a:r>
          </a:p>
        </p:txBody>
      </p:sp>
      <p:sp>
        <p:nvSpPr>
          <p:cNvPr id="4" name="footer">
            <a:extLst xmlns:a="http://schemas.openxmlformats.org/drawingml/2006/main">
              <a:ext uri="{FF2B5EF4-FFF2-40B4-BE49-F238E27FC236}">
                <a16:creationId xmlns:a16="http://schemas.microsoft.com/office/drawing/2014/main" id="{B8B1E244-9E22-4044-8C28-6CC0FF3D525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1C429954-0378-4A0C-9EBF-FFB1866C45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116</a:t>
            </a:r>
          </a:p>
        </p:txBody>
      </p:sp>
    </p:spTree>
    <p:extLst>
      <p:ext uri="{BB962C8B-B14F-4D97-AF65-F5344CB8AC3E}">
        <p14:creationId xmlns:p14="http://schemas.microsoft.com/office/powerpoint/2010/main" val="1695031504"/>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79ED4F6-CFC1-40CF-8BAF-3E48CD150F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ZeNix helped reduce linezolid exposure while preserving activity</a:t>
            </a:r>
          </a:p>
        </p:txBody>
      </p:sp>
      <p:sp>
        <p:nvSpPr>
          <p:cNvPr id="2" name="paragraph-0">
            <a:extLst xmlns:a="http://schemas.openxmlformats.org/drawingml/2006/main">
              <a:ext uri="{FF2B5EF4-FFF2-40B4-BE49-F238E27FC236}">
                <a16:creationId xmlns:a16="http://schemas.microsoft.com/office/drawing/2014/main" id="{B4112915-28A5-4A8F-B870-89BE08296EE4}"/>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All 181 participants received bedaquiline and pretomanid; linezolid was randomized to 1,200 or 600 mg daily for 26 or 9 weeks. Favorable outcomes were 93%, 89%, 91% and 84%, respectively. In the 600-mg/26-week group, peripheral neuropathy occurred in 24% and myelosuppression in 2%.</a:t>
            </a:r>
          </a:p>
        </p:txBody>
      </p:sp>
      <p:sp>
        <p:nvSpPr>
          <p:cNvPr id="3" name="paragraph-1">
            <a:extLst xmlns:a="http://schemas.openxmlformats.org/drawingml/2006/main">
              <a:ext uri="{FF2B5EF4-FFF2-40B4-BE49-F238E27FC236}">
                <a16:creationId xmlns:a16="http://schemas.microsoft.com/office/drawing/2014/main" id="{668FD1C7-161A-460C-A260-EB52ACD50ADF}"/>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supports the current lower-dose approach and intensive toxicity surveillance. It was not a comparison of BPaL with an external standard-care control, and four modest-sized groups cannot exclude important efficacy differences. [12] [1]</a:t>
            </a:r>
          </a:p>
        </p:txBody>
      </p:sp>
      <p:sp>
        <p:nvSpPr>
          <p:cNvPr id="4" name="footer">
            <a:extLst xmlns:a="http://schemas.openxmlformats.org/drawingml/2006/main">
              <a:ext uri="{FF2B5EF4-FFF2-40B4-BE49-F238E27FC236}">
                <a16:creationId xmlns:a16="http://schemas.microsoft.com/office/drawing/2014/main" id="{6274B125-8CBC-4B7D-96D5-AC12168658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643359B8-C508-4F1B-A850-7A0DC7E026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117</a:t>
            </a:r>
          </a:p>
        </p:txBody>
      </p:sp>
    </p:spTree>
    <p:extLst>
      <p:ext uri="{BB962C8B-B14F-4D97-AF65-F5344CB8AC3E}">
        <p14:creationId xmlns:p14="http://schemas.microsoft.com/office/powerpoint/2010/main" val="137899371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2AF9DF9-04EF-446F-89BB-13280564399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ZeNix helped reduce linezolid exposure while preserving activity</a:t>
            </a:r>
          </a:p>
        </p:txBody>
      </p:sp>
      <p:sp>
        <p:nvSpPr>
          <p:cNvPr id="2" name="paragraph-0">
            <a:extLst xmlns:a="http://schemas.openxmlformats.org/drawingml/2006/main">
              <a:ext uri="{FF2B5EF4-FFF2-40B4-BE49-F238E27FC236}">
                <a16:creationId xmlns:a16="http://schemas.microsoft.com/office/drawing/2014/main" id="{2A932024-CD43-42B7-9577-CA50AC41E50D}"/>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Phase 3 RCT</a:t>
            </a:r>
          </a:p>
        </p:txBody>
      </p:sp>
      <p:sp>
        <p:nvSpPr>
          <p:cNvPr id="3" name="footer">
            <a:extLst xmlns:a="http://schemas.openxmlformats.org/drawingml/2006/main">
              <a:ext uri="{FF2B5EF4-FFF2-40B4-BE49-F238E27FC236}">
                <a16:creationId xmlns:a16="http://schemas.microsoft.com/office/drawing/2014/main" id="{ECA716E2-2E07-48CF-9AD7-58D8E6D563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C85824D-E700-4F1D-90CD-3E41DC0FD1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118</a:t>
            </a:r>
          </a:p>
        </p:txBody>
      </p:sp>
    </p:spTree>
    <p:extLst>
      <p:ext uri="{BB962C8B-B14F-4D97-AF65-F5344CB8AC3E}">
        <p14:creationId xmlns:p14="http://schemas.microsoft.com/office/powerpoint/2010/main" val="1029840404"/>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1C135D-F43E-407D-90A5-A9361856DB7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endTB provided several nine-month alternatives</a:t>
            </a:r>
          </a:p>
        </p:txBody>
      </p:sp>
      <p:sp>
        <p:nvSpPr>
          <p:cNvPr id="2" name="paragraph-0">
            <a:extLst xmlns:a="http://schemas.openxmlformats.org/drawingml/2006/main">
              <a:ext uri="{FF2B5EF4-FFF2-40B4-BE49-F238E27FC236}">
                <a16:creationId xmlns:a16="http://schemas.microsoft.com/office/drawing/2014/main" id="{6C7E9BC3-19C5-473B-8A1B-9D917709627B}"/>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trial randomized 754 participants with fluoroquinolone-susceptible RR pulmonary TB; 699 entered the modified intention-to-treat analysis. At week 73, the control favorable-outcome rate was 80.7%. Differences versus control were +9.8 points for BCLLfxZ (95% CI 0.9 to 18.7), +8.3 for BLMZ (-0.8 to 17.4), and +4.6 for BDLLfxZ (-4.9 to 14.1). These three regimens had consistent noninferiority support across analyses, using a 12-point margin.</a:t>
            </a:r>
          </a:p>
        </p:txBody>
      </p:sp>
      <p:sp>
        <p:nvSpPr>
          <p:cNvPr id="3" name="footer">
            <a:extLst xmlns:a="http://schemas.openxmlformats.org/drawingml/2006/main">
              <a:ext uri="{FF2B5EF4-FFF2-40B4-BE49-F238E27FC236}">
                <a16:creationId xmlns:a16="http://schemas.microsoft.com/office/drawing/2014/main" id="{E7794E51-154D-485F-8FE8-9AD2C27F6ED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7D83CB9-3262-4542-9CE4-A42B5FD6F6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119</a:t>
            </a:r>
          </a:p>
        </p:txBody>
      </p:sp>
    </p:spTree>
    <p:extLst>
      <p:ext uri="{BB962C8B-B14F-4D97-AF65-F5344CB8AC3E}">
        <p14:creationId xmlns:p14="http://schemas.microsoft.com/office/powerpoint/2010/main" val="2086875685"/>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8BFA008-A652-4D09-B4CD-25077786B57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endTB provided several nine-month alternatives</a:t>
            </a:r>
          </a:p>
        </p:txBody>
      </p:sp>
      <p:sp>
        <p:nvSpPr>
          <p:cNvPr id="2" name="paragraph-0">
            <a:extLst xmlns:a="http://schemas.openxmlformats.org/drawingml/2006/main">
              <a:ext uri="{FF2B5EF4-FFF2-40B4-BE49-F238E27FC236}">
                <a16:creationId xmlns:a16="http://schemas.microsoft.com/office/drawing/2014/main" id="{6EA42993-0267-4CBE-81EA-0F4907610C3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DCMZ met the modified intention-to-treat criterion but was not supported by the per-protocol analysis. Grade 3 or higher adverse events were common across arms. This trial expands options; it does not establish that nine-month therapy is preferable to BPaLM. [13]</a:t>
            </a:r>
          </a:p>
        </p:txBody>
      </p:sp>
      <p:sp>
        <p:nvSpPr>
          <p:cNvPr id="3" name="paragraph-1">
            <a:extLst xmlns:a="http://schemas.openxmlformats.org/drawingml/2006/main">
              <a:ext uri="{FF2B5EF4-FFF2-40B4-BE49-F238E27FC236}">
                <a16:creationId xmlns:a16="http://schemas.microsoft.com/office/drawing/2014/main" id="{6C711BD6-451D-4A9F-844D-D1D472541D86}"/>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Phase 3 RCT · 2026</a:t>
            </a:r>
          </a:p>
        </p:txBody>
      </p:sp>
      <p:sp>
        <p:nvSpPr>
          <p:cNvPr id="4" name="footer">
            <a:extLst xmlns:a="http://schemas.openxmlformats.org/drawingml/2006/main">
              <a:ext uri="{FF2B5EF4-FFF2-40B4-BE49-F238E27FC236}">
                <a16:creationId xmlns:a16="http://schemas.microsoft.com/office/drawing/2014/main" id="{13DC0B6A-9DF2-42AA-BCCD-890A786F706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0FE7BE80-B676-4C2D-88BB-A72BC787B2A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120</a:t>
            </a:r>
          </a:p>
        </p:txBody>
      </p:sp>
    </p:spTree>
    <p:extLst>
      <p:ext uri="{BB962C8B-B14F-4D97-AF65-F5344CB8AC3E}">
        <p14:creationId xmlns:p14="http://schemas.microsoft.com/office/powerpoint/2010/main" val="1882095457"/>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D1AE882-056A-4801-BE61-E9C4B81471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BEAT-TB supports a pretomanid-free six-month strategy</a:t>
            </a:r>
          </a:p>
        </p:txBody>
      </p:sp>
      <p:sp>
        <p:nvSpPr>
          <p:cNvPr id="2" name="paragraph-0">
            <a:extLst xmlns:a="http://schemas.openxmlformats.org/drawingml/2006/main">
              <a:ext uri="{FF2B5EF4-FFF2-40B4-BE49-F238E27FC236}">
                <a16:creationId xmlns:a16="http://schemas.microsoft.com/office/drawing/2014/main" id="{526B5AC0-EF0B-4FA6-A570-158F686DF68E}"/>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pragmatic South African trial randomized 403 participants to six-month bedaquiline, delamanid and linezolid with levofloxacin and/or clofazimine, adjusted to susceptibility, or the local standard strategy. Treatment success sustained through week 76 occurred in 174/202 (86.1%) versus 172/200 (86.0%). The adjusted difference was -0.2 points, 95% CI -6.9 to 6.5, meeting the trial noninferiority criterion.</a:t>
            </a:r>
          </a:p>
        </p:txBody>
      </p:sp>
      <p:sp>
        <p:nvSpPr>
          <p:cNvPr id="3" name="footer">
            <a:extLst xmlns:a="http://schemas.openxmlformats.org/drawingml/2006/main">
              <a:ext uri="{FF2B5EF4-FFF2-40B4-BE49-F238E27FC236}">
                <a16:creationId xmlns:a16="http://schemas.microsoft.com/office/drawing/2014/main" id="{FD26E191-5763-4BDD-8564-D72B96CBE8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C973FAD-EE38-4455-91E1-778E9CD393D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121</a:t>
            </a:r>
          </a:p>
        </p:txBody>
      </p:sp>
    </p:spTree>
    <p:extLst>
      <p:ext uri="{BB962C8B-B14F-4D97-AF65-F5344CB8AC3E}">
        <p14:creationId xmlns:p14="http://schemas.microsoft.com/office/powerpoint/2010/main" val="590091614"/>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512A9D-FA59-439B-B70F-86B06EBF625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BEAT-TB supports a pretomanid-free six-month strategy</a:t>
            </a:r>
          </a:p>
        </p:txBody>
      </p:sp>
      <p:sp>
        <p:nvSpPr>
          <p:cNvPr id="2" name="paragraph-0">
            <a:extLst xmlns:a="http://schemas.openxmlformats.org/drawingml/2006/main">
              <a:ext uri="{FF2B5EF4-FFF2-40B4-BE49-F238E27FC236}">
                <a16:creationId xmlns:a16="http://schemas.microsoft.com/office/drawing/2014/main" id="{FA4BFFEC-BAC6-4EF8-820C-6B85B93253E8}"/>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study included groups often excluded elsewhere, including pregnancy and people with HIV. Inclusion does not make every subgroup estimate precise. Its comparator was not BPaLM. WHO incorporated the underlying BEAT evidence into 2025 recommendations before this 2026 journal publication. [14] [9]</a:t>
            </a:r>
          </a:p>
        </p:txBody>
      </p:sp>
      <p:sp>
        <p:nvSpPr>
          <p:cNvPr id="3" name="footer">
            <a:extLst xmlns:a="http://schemas.openxmlformats.org/drawingml/2006/main">
              <a:ext uri="{FF2B5EF4-FFF2-40B4-BE49-F238E27FC236}">
                <a16:creationId xmlns:a16="http://schemas.microsoft.com/office/drawing/2014/main" id="{D0ACE042-45C6-421C-B2F4-0077DCE46B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725C48D-2914-4968-9CB9-93D61BCE77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122</a:t>
            </a:r>
          </a:p>
        </p:txBody>
      </p:sp>
    </p:spTree>
    <p:extLst>
      <p:ext uri="{BB962C8B-B14F-4D97-AF65-F5344CB8AC3E}">
        <p14:creationId xmlns:p14="http://schemas.microsoft.com/office/powerpoint/2010/main" val="86458796"/>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453955-8134-4051-8B50-ED5424479D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next advances must demonstrate durable cure and acceptable toxicity</a:t>
            </a:r>
          </a:p>
        </p:txBody>
      </p:sp>
      <p:sp>
        <p:nvSpPr>
          <p:cNvPr id="2" name="paragraph-0">
            <a:extLst xmlns:a="http://schemas.openxmlformats.org/drawingml/2006/main">
              <a:ext uri="{FF2B5EF4-FFF2-40B4-BE49-F238E27FC236}">
                <a16:creationId xmlns:a16="http://schemas.microsoft.com/office/drawing/2014/main" id="{80B2285C-D2CC-44D3-89AE-D76791317E6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Investigational strategy</a:t>
            </a:r>
          </a:p>
        </p:txBody>
      </p:sp>
      <p:sp>
        <p:nvSpPr>
          <p:cNvPr id="3" name="footer">
            <a:extLst xmlns:a="http://schemas.openxmlformats.org/drawingml/2006/main">
              <a:ext uri="{FF2B5EF4-FFF2-40B4-BE49-F238E27FC236}">
                <a16:creationId xmlns:a16="http://schemas.microsoft.com/office/drawing/2014/main" id="{CB138CCB-4BE8-46F2-9586-6607F4B1CD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E799499-6D93-44D8-A57A-D971332F600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123</a:t>
            </a:r>
          </a:p>
        </p:txBody>
      </p:sp>
    </p:spTree>
    <p:extLst>
      <p:ext uri="{BB962C8B-B14F-4D97-AF65-F5344CB8AC3E}">
        <p14:creationId xmlns:p14="http://schemas.microsoft.com/office/powerpoint/2010/main" val="387673697"/>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894847-33A8-45F6-8BED-4F3D16D7AA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TRUNCATE-TB is not routine two-month treatment</a:t>
            </a:r>
          </a:p>
        </p:txBody>
      </p:sp>
      <p:sp>
        <p:nvSpPr>
          <p:cNvPr id="2" name="paragraph-0">
            <a:extLst xmlns:a="http://schemas.openxmlformats.org/drawingml/2006/main">
              <a:ext uri="{FF2B5EF4-FFF2-40B4-BE49-F238E27FC236}">
                <a16:creationId xmlns:a16="http://schemas.microsoft.com/office/drawing/2014/main" id="{65341C6B-9E2E-4354-9CBF-AC8F4088225A}"/>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strategy trial included 674 participants in its intention-to-treat population. Initial eight-week bedaquiline-linezolid, with isoniazid, pyrazinamide and ethambutol, was followed by extension for persistent disease, surveillance and retreatment for relapse. At week 96, death, ongoing treatment or active TB occurred in 5.8% versus 3.9% with standard treatment. The adjusted difference was 0.8 points, 97.5% CI -3.4 to 5.1. Mean total treatment time was 85 versus 180 days. [15]</a:t>
            </a:r>
          </a:p>
        </p:txBody>
      </p:sp>
      <p:sp>
        <p:nvSpPr>
          <p:cNvPr id="3" name="footer">
            <a:extLst xmlns:a="http://schemas.openxmlformats.org/drawingml/2006/main">
              <a:ext uri="{FF2B5EF4-FFF2-40B4-BE49-F238E27FC236}">
                <a16:creationId xmlns:a16="http://schemas.microsoft.com/office/drawing/2014/main" id="{D42EED17-AB02-451A-8800-F748AF6DF90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300BB46-32E2-4561-A2FA-5B88837D20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124</a:t>
            </a:r>
          </a:p>
        </p:txBody>
      </p:sp>
    </p:spTree>
    <p:extLst>
      <p:ext uri="{BB962C8B-B14F-4D97-AF65-F5344CB8AC3E}">
        <p14:creationId xmlns:p14="http://schemas.microsoft.com/office/powerpoint/2010/main" val="1870804474"/>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AE5FC5B-3E82-4F7F-B601-0D8A04B700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TRUNCATE-TB is not routine two-month treatment</a:t>
            </a:r>
          </a:p>
        </p:txBody>
      </p:sp>
      <p:sp>
        <p:nvSpPr>
          <p:cNvPr id="2" name="paragraph-0">
            <a:extLst xmlns:a="http://schemas.openxmlformats.org/drawingml/2006/main">
              <a:ext uri="{FF2B5EF4-FFF2-40B4-BE49-F238E27FC236}">
                <a16:creationId xmlns:a16="http://schemas.microsoft.com/office/drawing/2014/main" id="{5DB6442D-A1F9-4F03-BF2D-D744A84B130F}"/>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2025 regimen analysis used a different question. Unfavorable outcomes, mainly relapse, occurred in 26/189 (14%) on the bedaquiline-linezolid regimen versus 7/181 (4%) with standard therapy; adjusted difference 9.3 points, 95% Bayesian credible interval 4.3 to 14.9. Successful retreatment could rescue the strategy outcome while the initial regimen still had more relapses. Do not present these results as equivalent durable cure after eight weeks. [16]</a:t>
            </a:r>
          </a:p>
        </p:txBody>
      </p:sp>
      <p:sp>
        <p:nvSpPr>
          <p:cNvPr id="3" name="paragraph-1">
            <a:extLst xmlns:a="http://schemas.openxmlformats.org/drawingml/2006/main">
              <a:ext uri="{FF2B5EF4-FFF2-40B4-BE49-F238E27FC236}">
                <a16:creationId xmlns:a16="http://schemas.microsoft.com/office/drawing/2014/main" id="{AD3F9D3D-2CB3-4EC3-BA85-FA30D40CD531}"/>
              </a:ext>
            </a:extLst>
          </p:cNvPr>
          <p:cNvSpPr>
            <a:spLocks xmlns:a="http://schemas.openxmlformats.org/drawingml/2006/main" noGrp="1"/>
          </p:cNvSpPr>
          <p:nvPr/>
        </p:nvSpPr>
        <p:spPr>
          <a:xfrm xmlns:a="http://schemas.openxmlformats.org/drawingml/2006/main">
            <a:off x="647700" y="46767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Phase 2b/c · 2026</a:t>
            </a:r>
          </a:p>
        </p:txBody>
      </p:sp>
      <p:sp>
        <p:nvSpPr>
          <p:cNvPr id="4" name="footer">
            <a:extLst xmlns:a="http://schemas.openxmlformats.org/drawingml/2006/main">
              <a:ext uri="{FF2B5EF4-FFF2-40B4-BE49-F238E27FC236}">
                <a16:creationId xmlns:a16="http://schemas.microsoft.com/office/drawing/2014/main" id="{424E8141-3C6A-4888-904B-2519A48B12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0A56C4B-70C5-4DCB-85BB-F5AD45FD0A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125</a:t>
            </a:r>
          </a:p>
        </p:txBody>
      </p:sp>
    </p:spTree>
    <p:extLst>
      <p:ext uri="{BB962C8B-B14F-4D97-AF65-F5344CB8AC3E}">
        <p14:creationId xmlns:p14="http://schemas.microsoft.com/office/powerpoint/2010/main" val="1552566343"/>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39D0F1-3651-4016-A306-790FBC646D8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Quabodepistat offers a new target and a rifamycin-free combination</a:t>
            </a:r>
          </a:p>
        </p:txBody>
      </p:sp>
      <p:sp>
        <p:nvSpPr>
          <p:cNvPr id="2" name="paragraph-0">
            <a:extLst xmlns:a="http://schemas.openxmlformats.org/drawingml/2006/main">
              <a:ext uri="{FF2B5EF4-FFF2-40B4-BE49-F238E27FC236}">
                <a16:creationId xmlns:a16="http://schemas.microsoft.com/office/drawing/2014/main" id="{42F0467A-A951-4AF9-AA49-FB0697F62669}"/>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Quabodepistat inhibits DprE1, a cell-wall synthesis target. A proof-of-concept trial randomized 122 participants with drug-susceptible pulmonary TB to four months of delamanid-bedaquiline-quabodepistat at three dose levels or six months of standard treatment. In the modified intention-to-treat population, end-of-treatment sputum culture conversion was 96/100 (96%) across pooled experimental groups and 21/21 (100%) in control. The difference was -4.0 points, with an 80% CI of -7.4 to 3.4, meeting its 12-point margin.</a:t>
            </a:r>
          </a:p>
        </p:txBody>
      </p:sp>
      <p:sp>
        <p:nvSpPr>
          <p:cNvPr id="3" name="footer">
            <a:extLst xmlns:a="http://schemas.openxmlformats.org/drawingml/2006/main">
              <a:ext uri="{FF2B5EF4-FFF2-40B4-BE49-F238E27FC236}">
                <a16:creationId xmlns:a16="http://schemas.microsoft.com/office/drawing/2014/main" id="{12EC4BBB-033F-4B12-884F-E1B313ACF37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3C7B4D8-7FFB-4BD7-A849-18D02D2131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126</a:t>
            </a:r>
          </a:p>
        </p:txBody>
      </p:sp>
    </p:spTree>
    <p:extLst>
      <p:ext uri="{BB962C8B-B14F-4D97-AF65-F5344CB8AC3E}">
        <p14:creationId xmlns:p14="http://schemas.microsoft.com/office/powerpoint/2010/main" val="2055559570"/>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70B8CC8-0F4E-4C7D-A73A-285F37C1BA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Quabodepistat offers a new target and a rifamycin-free combination</a:t>
            </a:r>
          </a:p>
        </p:txBody>
      </p:sp>
      <p:sp>
        <p:nvSpPr>
          <p:cNvPr id="2" name="paragraph-0">
            <a:extLst xmlns:a="http://schemas.openxmlformats.org/drawingml/2006/main">
              <a:ext uri="{FF2B5EF4-FFF2-40B4-BE49-F238E27FC236}">
                <a16:creationId xmlns:a16="http://schemas.microsoft.com/office/drawing/2014/main" id="{E5385894-F07A-420E-AB46-971353D2CF8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encouraging regimen-development evidence, not proof of equal relapse-free cure. The small control arm, pooled doses, surrogate primary endpoint and 80% rather than 95% interval limit certainty. It does not establish effectiveness in drug-resistant or extrapulmonary TB, and it is not a routine prescribing option. [17]</a:t>
            </a:r>
          </a:p>
        </p:txBody>
      </p:sp>
      <p:sp>
        <p:nvSpPr>
          <p:cNvPr id="3" name="paragraph-1">
            <a:extLst xmlns:a="http://schemas.openxmlformats.org/drawingml/2006/main">
              <a:ext uri="{FF2B5EF4-FFF2-40B4-BE49-F238E27FC236}">
                <a16:creationId xmlns:a16="http://schemas.microsoft.com/office/drawing/2014/main" id="{DA31E627-736C-4411-BC30-6F6FDB73ECDC}"/>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Phase 2b dose finding</a:t>
            </a:r>
          </a:p>
        </p:txBody>
      </p:sp>
      <p:sp>
        <p:nvSpPr>
          <p:cNvPr id="4" name="footer">
            <a:extLst xmlns:a="http://schemas.openxmlformats.org/drawingml/2006/main">
              <a:ext uri="{FF2B5EF4-FFF2-40B4-BE49-F238E27FC236}">
                <a16:creationId xmlns:a16="http://schemas.microsoft.com/office/drawing/2014/main" id="{DC66DE80-3DF5-42F2-99DE-BD2200DB4E1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0D980E8C-C53C-4C31-BB43-3CDF724B0D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127</a:t>
            </a:r>
          </a:p>
        </p:txBody>
      </p:sp>
    </p:spTree>
    <p:extLst>
      <p:ext uri="{BB962C8B-B14F-4D97-AF65-F5344CB8AC3E}">
        <p14:creationId xmlns:p14="http://schemas.microsoft.com/office/powerpoint/2010/main" val="118369089"/>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C2F7A31-4166-4B6F-A67F-C2F76B10BB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Sutezolid aims to improve on linezolid's therapeutic window</a:t>
            </a:r>
          </a:p>
        </p:txBody>
      </p:sp>
      <p:sp>
        <p:nvSpPr>
          <p:cNvPr id="2" name="paragraph-0">
            <a:extLst xmlns:a="http://schemas.openxmlformats.org/drawingml/2006/main">
              <a:ext uri="{FF2B5EF4-FFF2-40B4-BE49-F238E27FC236}">
                <a16:creationId xmlns:a16="http://schemas.microsoft.com/office/drawing/2014/main" id="{1035E05D-A774-49B4-9499-9F125817AAD8}"/>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PanACEA-SUDOCU-01 randomized 75 participants to different sutezolid doses or no sutezolid on a bedaquiline-delamanid-moxifloxacin background. The pharmacokinetic/pharmacodynamic model estimated a 16.7% increase in time-to-positivity slope steepness at exposure typical of 1,200 mg, 95% CI 0.7 to 35.0, relative to no exposure. No neuropathy was reported.</a:t>
            </a:r>
          </a:p>
        </p:txBody>
      </p:sp>
      <p:sp>
        <p:nvSpPr>
          <p:cNvPr id="3" name="paragraph-1">
            <a:extLst xmlns:a="http://schemas.openxmlformats.org/drawingml/2006/main">
              <a:ext uri="{FF2B5EF4-FFF2-40B4-BE49-F238E27FC236}">
                <a16:creationId xmlns:a16="http://schemas.microsoft.com/office/drawing/2014/main" id="{6CA8AC97-12E2-453C-A173-2ADE141625DA}"/>
              </a:ext>
            </a:extLst>
          </p:cNvPr>
          <p:cNvSpPr>
            <a:spLocks xmlns:a="http://schemas.openxmlformats.org/drawingml/2006/main" noGrp="1"/>
          </p:cNvSpPr>
          <p:nvPr/>
        </p:nvSpPr>
        <p:spPr>
          <a:xfrm xmlns:a="http://schemas.openxmlformats.org/drawingml/2006/main">
            <a:off x="647700" y="43243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a model-based bacteriologic effect, not a 16.7% improvement in cure. The study did not establish a final dose, durable-cure advantage or comparative long-course safety against linezolid. Sutezolid remains a research option. [18]</a:t>
            </a:r>
          </a:p>
        </p:txBody>
      </p:sp>
      <p:sp>
        <p:nvSpPr>
          <p:cNvPr id="4" name="footer">
            <a:extLst xmlns:a="http://schemas.openxmlformats.org/drawingml/2006/main">
              <a:ext uri="{FF2B5EF4-FFF2-40B4-BE49-F238E27FC236}">
                <a16:creationId xmlns:a16="http://schemas.microsoft.com/office/drawing/2014/main" id="{BD1AA0CA-EC2B-4C40-BEC3-3F94792F803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CBF932B2-F5A8-41BB-8526-B3BD684F66E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128</a:t>
            </a:r>
          </a:p>
        </p:txBody>
      </p:sp>
    </p:spTree>
    <p:extLst>
      <p:ext uri="{BB962C8B-B14F-4D97-AF65-F5344CB8AC3E}">
        <p14:creationId xmlns:p14="http://schemas.microsoft.com/office/powerpoint/2010/main" val="965358375"/>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4A80F2-A4D8-4C8E-A214-46438D233F9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Sutezolid aims to improve on linezolid's therapeutic window</a:t>
            </a:r>
          </a:p>
        </p:txBody>
      </p:sp>
      <p:sp>
        <p:nvSpPr>
          <p:cNvPr id="2" name="paragraph-0">
            <a:extLst xmlns:a="http://schemas.openxmlformats.org/drawingml/2006/main">
              <a:ext uri="{FF2B5EF4-FFF2-40B4-BE49-F238E27FC236}">
                <a16:creationId xmlns:a16="http://schemas.microsoft.com/office/drawing/2014/main" id="{3B9A2443-5887-431A-9F09-EB8DFDB2DF5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Phase 2 early activity</a:t>
            </a:r>
          </a:p>
        </p:txBody>
      </p:sp>
      <p:sp>
        <p:nvSpPr>
          <p:cNvPr id="3" name="footer">
            <a:extLst xmlns:a="http://schemas.openxmlformats.org/drawingml/2006/main">
              <a:ext uri="{FF2B5EF4-FFF2-40B4-BE49-F238E27FC236}">
                <a16:creationId xmlns:a16="http://schemas.microsoft.com/office/drawing/2014/main" id="{853A2EA0-D4B4-42D0-A2E9-61F03BA6ABA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8C517BC-5FEC-4B02-B059-B44E6DACF5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129</a:t>
            </a:r>
          </a:p>
        </p:txBody>
      </p:sp>
    </p:spTree>
    <p:extLst>
      <p:ext uri="{BB962C8B-B14F-4D97-AF65-F5344CB8AC3E}">
        <p14:creationId xmlns:p14="http://schemas.microsoft.com/office/powerpoint/2010/main" val="1454918932"/>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338915C-A3B0-47A9-8E7E-FADFF452D7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Telacebec demonstrates activity without establishing a treatment regimen</a:t>
            </a:r>
          </a:p>
        </p:txBody>
      </p:sp>
      <p:sp>
        <p:nvSpPr>
          <p:cNvPr id="2" name="paragraph-0">
            <a:extLst xmlns:a="http://schemas.openxmlformats.org/drawingml/2006/main">
              <a:ext uri="{FF2B5EF4-FFF2-40B4-BE49-F238E27FC236}">
                <a16:creationId xmlns:a16="http://schemas.microsoft.com/office/drawing/2014/main" id="{97491163-140C-4A6C-AB9D-E1B3BB58064B}"/>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a 64-patient randomized trial, telacebec 100, 200 or 300 mg daily was compared with standard four-drug treatment for 14 days. At 300 mg, the mean daily decline in sputum bacterial load was 0.097 log CFU versus 0.200 with the four-drug control. Activity was dose-dependent and tolerability was favorable during this short observation period.</a:t>
            </a:r>
          </a:p>
        </p:txBody>
      </p:sp>
      <p:sp>
        <p:nvSpPr>
          <p:cNvPr id="3" name="paragraph-1">
            <a:extLst xmlns:a="http://schemas.openxmlformats.org/drawingml/2006/main">
              <a:ext uri="{FF2B5EF4-FFF2-40B4-BE49-F238E27FC236}">
                <a16:creationId xmlns:a16="http://schemas.microsoft.com/office/drawing/2014/main" id="{3541CD8B-6811-4C03-AEAF-90980C554670}"/>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study confirms human antimycobacterial activity of an energy-production target. It does not establish monotherapy as treatment, a cure rate, resistance protection or safety over months. Combination studies with relapse follow-up are needed. [19]</a:t>
            </a:r>
          </a:p>
        </p:txBody>
      </p:sp>
      <p:sp>
        <p:nvSpPr>
          <p:cNvPr id="4" name="footer">
            <a:extLst xmlns:a="http://schemas.openxmlformats.org/drawingml/2006/main">
              <a:ext uri="{FF2B5EF4-FFF2-40B4-BE49-F238E27FC236}">
                <a16:creationId xmlns:a16="http://schemas.microsoft.com/office/drawing/2014/main" id="{C5C891D4-306D-4852-9CE5-2A9D69BBDF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CC6B91C-557A-4705-8B0E-7C219373C9A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130</a:t>
            </a:r>
          </a:p>
        </p:txBody>
      </p:sp>
    </p:spTree>
    <p:extLst>
      <p:ext uri="{BB962C8B-B14F-4D97-AF65-F5344CB8AC3E}">
        <p14:creationId xmlns:p14="http://schemas.microsoft.com/office/powerpoint/2010/main" val="54770136"/>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62E97D-3BAD-4B20-B91F-36B81B950C0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Telacebec demonstrates activity without establishing a treatment regimen</a:t>
            </a:r>
          </a:p>
        </p:txBody>
      </p:sp>
      <p:sp>
        <p:nvSpPr>
          <p:cNvPr id="2" name="paragraph-0">
            <a:extLst xmlns:a="http://schemas.openxmlformats.org/drawingml/2006/main">
              <a:ext uri="{FF2B5EF4-FFF2-40B4-BE49-F238E27FC236}">
                <a16:creationId xmlns:a16="http://schemas.microsoft.com/office/drawing/2014/main" id="{1E0C71E3-84F8-46CB-9A38-763B8C5F73E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Negative phase 3 result</a:t>
            </a:r>
          </a:p>
        </p:txBody>
      </p:sp>
      <p:sp>
        <p:nvSpPr>
          <p:cNvPr id="3" name="footer">
            <a:extLst xmlns:a="http://schemas.openxmlformats.org/drawingml/2006/main">
              <a:ext uri="{FF2B5EF4-FFF2-40B4-BE49-F238E27FC236}">
                <a16:creationId xmlns:a16="http://schemas.microsoft.com/office/drawing/2014/main" id="{49FE77A8-3B60-4998-AB07-FCFABFC4DC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19A257D-5057-4CA0-A067-8F805348CF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131</a:t>
            </a:r>
          </a:p>
        </p:txBody>
      </p:sp>
    </p:spTree>
    <p:extLst>
      <p:ext uri="{BB962C8B-B14F-4D97-AF65-F5344CB8AC3E}">
        <p14:creationId xmlns:p14="http://schemas.microsoft.com/office/powerpoint/2010/main" val="140816154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8A9DF5A-04F1-4EEA-8E6D-7F00EEA7FFA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HARVEST did not show a survival benefit from high-dose rifampin in TB meningitis</a:t>
            </a:r>
          </a:p>
        </p:txBody>
      </p:sp>
      <p:sp>
        <p:nvSpPr>
          <p:cNvPr id="2" name="paragraph-0">
            <a:extLst xmlns:a="http://schemas.openxmlformats.org/drawingml/2006/main">
              <a:ext uri="{FF2B5EF4-FFF2-40B4-BE49-F238E27FC236}">
                <a16:creationId xmlns:a16="http://schemas.microsoft.com/office/drawing/2014/main" id="{011D2D04-DC58-49DB-BA78-A6CEA070F27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499 adults, adding rifampin to reach 35 mg/kg daily for 8 weeks was compared with 10 mg/kg daily, both within multidrug treatment. Six-month mortality estimates were 44.6% versus 40.7%; hazard ratio 1.17, 95% CI 0.89 to 1.54, P=0.25.</a:t>
            </a:r>
          </a:p>
        </p:txBody>
      </p:sp>
      <p:sp>
        <p:nvSpPr>
          <p:cNvPr id="3" name="paragraph-1">
            <a:extLst xmlns:a="http://schemas.openxmlformats.org/drawingml/2006/main">
              <a:ext uri="{FF2B5EF4-FFF2-40B4-BE49-F238E27FC236}">
                <a16:creationId xmlns:a16="http://schemas.microsoft.com/office/drawing/2014/main" id="{265A3266-3362-4BDF-BC0C-065DBA986374}"/>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Improved drug exposure is not itself clinical benefit. This trial does not support routine high-dose oral rifampin to improve adult TB-meningitis survival. The interval also does not prove the two strategies equally safe. [20]</a:t>
            </a:r>
          </a:p>
        </p:txBody>
      </p:sp>
      <p:sp>
        <p:nvSpPr>
          <p:cNvPr id="4" name="footer">
            <a:extLst xmlns:a="http://schemas.openxmlformats.org/drawingml/2006/main">
              <a:ext uri="{FF2B5EF4-FFF2-40B4-BE49-F238E27FC236}">
                <a16:creationId xmlns:a16="http://schemas.microsoft.com/office/drawing/2014/main" id="{9F4F60EA-3067-456D-90D6-A685C86DD2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E3AB1A7B-A3EB-49B7-8560-C104F2DDC03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132</a:t>
            </a:r>
          </a:p>
        </p:txBody>
      </p:sp>
    </p:spTree>
    <p:extLst>
      <p:ext uri="{BB962C8B-B14F-4D97-AF65-F5344CB8AC3E}">
        <p14:creationId xmlns:p14="http://schemas.microsoft.com/office/powerpoint/2010/main" val="335110278"/>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E616591-8B9D-4FE5-9306-4514A14701E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Host-directed therapy needs the same evidentiary discipline</a:t>
            </a:r>
          </a:p>
        </p:txBody>
      </p:sp>
      <p:sp>
        <p:nvSpPr>
          <p:cNvPr id="2" name="paragraph-0">
            <a:extLst xmlns:a="http://schemas.openxmlformats.org/drawingml/2006/main">
              <a:ext uri="{FF2B5EF4-FFF2-40B4-BE49-F238E27FC236}">
                <a16:creationId xmlns:a16="http://schemas.microsoft.com/office/drawing/2014/main" id="{F772F8E1-7E3D-47BA-B9BD-C5E31513771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the 2026 genotype-stratified dexamethasone trial in HIV-negative TB meningitis, neither noninferiority nor superiority of placebo was established in the LTA4H CC/CT groups. This does not justify routine genotype-guided steroid omission. Serious adverse events were similar, 52.8% with dexamethasone versus 51.9% with placebo. [21]</a:t>
            </a:r>
          </a:p>
        </p:txBody>
      </p:sp>
      <p:sp>
        <p:nvSpPr>
          <p:cNvPr id="3" name="paragraph-1">
            <a:extLst xmlns:a="http://schemas.openxmlformats.org/drawingml/2006/main">
              <a:ext uri="{FF2B5EF4-FFF2-40B4-BE49-F238E27FC236}">
                <a16:creationId xmlns:a16="http://schemas.microsoft.com/office/drawing/2014/main" id="{3D31FF8A-08B5-4F95-ADC0-EE10910EA25F}"/>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other host-directed agents or long-acting formulations, distinguish preclinical activity, exposure studies and registered trials from demonstrated patient benefit. A proposed anti-inflammatory mechanism or convenient dosing interval is not a reason to add a drug to a standard regimen.</a:t>
            </a:r>
          </a:p>
        </p:txBody>
      </p:sp>
      <p:sp>
        <p:nvSpPr>
          <p:cNvPr id="4" name="footer">
            <a:extLst xmlns:a="http://schemas.openxmlformats.org/drawingml/2006/main">
              <a:ext uri="{FF2B5EF4-FFF2-40B4-BE49-F238E27FC236}">
                <a16:creationId xmlns:a16="http://schemas.microsoft.com/office/drawing/2014/main" id="{A525A574-F774-498F-977D-5596002B49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C067E4E4-F246-4C5B-9504-8CD4971A03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133</a:t>
            </a:r>
          </a:p>
        </p:txBody>
      </p:sp>
    </p:spTree>
    <p:extLst>
      <p:ext uri="{BB962C8B-B14F-4D97-AF65-F5344CB8AC3E}">
        <p14:creationId xmlns:p14="http://schemas.microsoft.com/office/powerpoint/2010/main" val="717657557"/>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3DECA53-A122-4DA2-A24C-650EF2D788E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Host-directed therapy needs the same evidentiary discipline</a:t>
            </a:r>
          </a:p>
        </p:txBody>
      </p:sp>
      <p:sp>
        <p:nvSpPr>
          <p:cNvPr id="2" name="paragraph-0">
            <a:extLst xmlns:a="http://schemas.openxmlformats.org/drawingml/2006/main">
              <a:ext uri="{FF2B5EF4-FFF2-40B4-BE49-F238E27FC236}">
                <a16:creationId xmlns:a16="http://schemas.microsoft.com/office/drawing/2014/main" id="{394FB53E-427B-43A3-9320-8FB16CB5B41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every new avenue, ask whether it reduces relapse, death, toxicity or treatment burden, and whether resistance was measured. This is a selected evidence review, not an exhaustive inventory of every compound in development. No unpublished cure rates are assumed.</a:t>
            </a:r>
          </a:p>
        </p:txBody>
      </p:sp>
      <p:sp>
        <p:nvSpPr>
          <p:cNvPr id="3" name="footer">
            <a:extLst xmlns:a="http://schemas.openxmlformats.org/drawingml/2006/main">
              <a:ext uri="{FF2B5EF4-FFF2-40B4-BE49-F238E27FC236}">
                <a16:creationId xmlns:a16="http://schemas.microsoft.com/office/drawing/2014/main" id="{442303CE-9A7D-4512-B547-753D68F0046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04C60BA-E045-4F40-98D7-4A94236B59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134</a:t>
            </a:r>
          </a:p>
        </p:txBody>
      </p:sp>
    </p:spTree>
    <p:extLst>
      <p:ext uri="{BB962C8B-B14F-4D97-AF65-F5344CB8AC3E}">
        <p14:creationId xmlns:p14="http://schemas.microsoft.com/office/powerpoint/2010/main" val="1857408686"/>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DA4F30C-BD07-4B15-B675-C6256B46E47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Preventive treatment is a different treatment problem</a:t>
            </a:r>
          </a:p>
        </p:txBody>
      </p:sp>
      <p:sp>
        <p:nvSpPr>
          <p:cNvPr id="2" name="paragraph-0">
            <a:extLst xmlns:a="http://schemas.openxmlformats.org/drawingml/2006/main">
              <a:ext uri="{FF2B5EF4-FFF2-40B4-BE49-F238E27FC236}">
                <a16:creationId xmlns:a16="http://schemas.microsoft.com/office/drawing/2014/main" id="{046BDE1B-C356-4323-8DC8-2311BEB01C3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Exclude active TB before prescribing preventive monotherapy or dual therapy. Symptoms, radiographic abnormalities or significant immunosuppression may require sputum testing even when the referral says “latent TB.” [24]</a:t>
            </a:r>
          </a:p>
        </p:txBody>
      </p:sp>
      <p:sp>
        <p:nvSpPr>
          <p:cNvPr id="3" name="footer">
            <a:extLst xmlns:a="http://schemas.openxmlformats.org/drawingml/2006/main">
              <a:ext uri="{FF2B5EF4-FFF2-40B4-BE49-F238E27FC236}">
                <a16:creationId xmlns:a16="http://schemas.microsoft.com/office/drawing/2014/main" id="{0E3463D8-7EEF-4213-9290-76CD558B0A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7CCDBEB-5B41-4906-8A26-D68CAA7D0E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135</a:t>
            </a:r>
          </a:p>
        </p:txBody>
      </p:sp>
    </p:spTree>
    <p:extLst>
      <p:ext uri="{BB962C8B-B14F-4D97-AF65-F5344CB8AC3E}">
        <p14:creationId xmlns:p14="http://schemas.microsoft.com/office/powerpoint/2010/main" val="176427933"/>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85AF85-B3DF-4FED-9EFA-CD9F863004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Preventive treatment is a different treatment problem</a:t>
            </a:r>
          </a:p>
        </p:txBody>
      </p:sp>
      <p:graphicFrame>
        <p:nvGraphicFramePr>
          <p:cNvPr id="2" name="">
            <a:extLst xmlns:a="http://schemas.openxmlformats.org/drawingml/2006/main">
              <a:ext uri="{FF2B5EF4-FFF2-40B4-BE49-F238E27FC236}">
                <a16:creationId xmlns:a16="http://schemas.microsoft.com/office/drawing/2014/main" id="{B94A7AF4-D53B-43E5-9FE1-C2E7D561FE47}"/>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3HP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Course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Isoniazid + rifapentine weekly for 3 months, 12 doses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Selection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CDC option from age 2 years. Check ART interactions. Not recommended during pregnancy or when pregnancy is expected during treatment.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2C79F64-B82D-4817-AC63-AC715ECEE7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5E5F0D3-AE9F-4ADA-ABA2-5630ED3CDA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136</a:t>
            </a:r>
          </a:p>
        </p:txBody>
      </p:sp>
    </p:spTree>
    <p:extLst>
      <p:ext uri="{BB962C8B-B14F-4D97-AF65-F5344CB8AC3E}">
        <p14:creationId xmlns:p14="http://schemas.microsoft.com/office/powerpoint/2010/main" val="171010779"/>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CD7BAC6-34BC-47DC-9128-E140F37FA9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Preventive treatment is a different treatment problem</a:t>
            </a:r>
          </a:p>
        </p:txBody>
      </p:sp>
      <p:graphicFrame>
        <p:nvGraphicFramePr>
          <p:cNvPr id="2" name="">
            <a:extLst xmlns:a="http://schemas.openxmlformats.org/drawingml/2006/main">
              <a:ext uri="{FF2B5EF4-FFF2-40B4-BE49-F238E27FC236}">
                <a16:creationId xmlns:a16="http://schemas.microsoft.com/office/drawing/2014/main" id="{5E31B7D6-997D-4263-8471-E28ABE6D2BD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4R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Course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Rifampin daily for 4 months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Selection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Often useful in HIV-negative adults and children. Check all interacting medications and source-case resistance.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EEC06C2-00A1-42FA-A79C-F72EFB383A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3C1FD69-67D4-465E-8F76-ED70D75AD5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137</a:t>
            </a:r>
          </a:p>
        </p:txBody>
      </p:sp>
    </p:spTree>
    <p:extLst>
      <p:ext uri="{BB962C8B-B14F-4D97-AF65-F5344CB8AC3E}">
        <p14:creationId xmlns:p14="http://schemas.microsoft.com/office/powerpoint/2010/main" val="42589444"/>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155CE6-BE57-4AA7-8478-DAE948F4E17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Preventive treatment is a different treatment problem</a:t>
            </a:r>
          </a:p>
        </p:txBody>
      </p:sp>
      <p:graphicFrame>
        <p:nvGraphicFramePr>
          <p:cNvPr id="2" name="">
            <a:extLst xmlns:a="http://schemas.openxmlformats.org/drawingml/2006/main">
              <a:ext uri="{FF2B5EF4-FFF2-40B4-BE49-F238E27FC236}">
                <a16:creationId xmlns:a16="http://schemas.microsoft.com/office/drawing/2014/main" id="{614B0C2E-5B2A-48DA-82FE-3168A66E2AD1}"/>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3HR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Course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Isoniazid + rifampin daily for 3 months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Selection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Option for adults and children, including selected people with HIV when interactions permit.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BF532E3-8901-4BA5-854C-9E6DE5B6A76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2B0DC20-CF39-4B12-BF6F-18708647DE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138</a:t>
            </a:r>
          </a:p>
        </p:txBody>
      </p:sp>
    </p:spTree>
    <p:extLst>
      <p:ext uri="{BB962C8B-B14F-4D97-AF65-F5344CB8AC3E}">
        <p14:creationId xmlns:p14="http://schemas.microsoft.com/office/powerpoint/2010/main" val="2118494444"/>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544FB04-56F7-4CBC-9633-90CF207569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Preventive treatment is a different treatment problem</a:t>
            </a:r>
          </a:p>
        </p:txBody>
      </p:sp>
      <p:graphicFrame>
        <p:nvGraphicFramePr>
          <p:cNvPr id="2" name="">
            <a:extLst xmlns:a="http://schemas.openxmlformats.org/drawingml/2006/main">
              <a:ext uri="{FF2B5EF4-FFF2-40B4-BE49-F238E27FC236}">
                <a16:creationId xmlns:a16="http://schemas.microsoft.com/office/drawing/2014/main" id="{417F766C-7ED7-4F19-924E-CEE09203B49A}"/>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6H / 9H</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Course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Isoniazid daily for 6 or 9 months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Selection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Alternatives when rifamycin interactions or other constraints preclude short-course therapy; generally less favorable completion and toxicity profiles.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C72E6A2-CFAE-461D-9389-3FF9957C63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B068A42-AE3E-402A-BE9B-06324404EF8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139</a:t>
            </a:r>
          </a:p>
        </p:txBody>
      </p:sp>
    </p:spTree>
    <p:extLst>
      <p:ext uri="{BB962C8B-B14F-4D97-AF65-F5344CB8AC3E}">
        <p14:creationId xmlns:p14="http://schemas.microsoft.com/office/powerpoint/2010/main" val="110904820"/>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FC1934-35E9-47A4-8586-BDA9F05CA3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Preventive treatment is a different treatment problem</a:t>
            </a:r>
          </a:p>
        </p:txBody>
      </p:sp>
      <p:graphicFrame>
        <p:nvGraphicFramePr>
          <p:cNvPr id="2" name="">
            <a:extLst xmlns:a="http://schemas.openxmlformats.org/drawingml/2006/main">
              <a:ext uri="{FF2B5EF4-FFF2-40B4-BE49-F238E27FC236}">
                <a16:creationId xmlns:a16="http://schemas.microsoft.com/office/drawing/2014/main" id="{902C9333-7D7E-404B-B072-B78B69A00D1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1HP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Course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Isoniazid + rifapentine daily for 1 month</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Selection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WHO option, with evidence and age/ART restrictions. It is not the same as 3HP and is not listed as a standard regimen on the CDC general LTBI page.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5F5048D-0B80-4636-840C-65DB64954D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DBD2334-C6AC-4C6B-AA8A-7BBC3A9B22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140</a:t>
            </a:r>
          </a:p>
        </p:txBody>
      </p:sp>
    </p:spTree>
    <p:extLst>
      <p:ext uri="{BB962C8B-B14F-4D97-AF65-F5344CB8AC3E}">
        <p14:creationId xmlns:p14="http://schemas.microsoft.com/office/powerpoint/2010/main" val="433992129"/>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57B370-54D9-4ECF-AC71-5B3E1BD40C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Preventive treatment is a different treatment problem</a:t>
            </a:r>
          </a:p>
        </p:txBody>
      </p:sp>
      <p:graphicFrame>
        <p:nvGraphicFramePr>
          <p:cNvPr id="2" name="">
            <a:extLst xmlns:a="http://schemas.openxmlformats.org/drawingml/2006/main">
              <a:ext uri="{FF2B5EF4-FFF2-40B4-BE49-F238E27FC236}">
                <a16:creationId xmlns:a16="http://schemas.microsoft.com/office/drawing/2014/main" id="{B94A8EE0-09D3-4D49-B424-02D996E9E839}"/>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6Lfx after MDR/RR-TB exposure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Course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Levofloxacin daily for 6 months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Selection issue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WHO-recommended prevention after appropriate exposure evaluation. Exclude disease and review source-case susceptibility, particularly FQ resistance, with the TB program.</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DBD9764-923A-4351-88BA-787166BA500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3DBD1D9-EA4F-4843-AAD4-6D2FAD0E1F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141</a:t>
            </a:r>
          </a:p>
        </p:txBody>
      </p:sp>
    </p:spTree>
    <p:extLst>
      <p:ext uri="{BB962C8B-B14F-4D97-AF65-F5344CB8AC3E}">
        <p14:creationId xmlns:p14="http://schemas.microsoft.com/office/powerpoint/2010/main" val="509982466"/>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7FB5E62-FF9B-40DF-90B0-29D8AAED3A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Preventive treatment is a different treatment problem</a:t>
            </a:r>
          </a:p>
        </p:txBody>
      </p:sp>
      <p:sp>
        <p:nvSpPr>
          <p:cNvPr id="2" name="paragraph-0">
            <a:extLst xmlns:a="http://schemas.openxmlformats.org/drawingml/2006/main">
              <a:ext uri="{FF2B5EF4-FFF2-40B4-BE49-F238E27FC236}">
                <a16:creationId xmlns:a16="http://schemas.microsoft.com/office/drawing/2014/main" id="{C4B4E271-0BB3-401F-AB7D-B0B3344F22D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[24] [26] [25]</a:t>
            </a:r>
          </a:p>
        </p:txBody>
      </p:sp>
      <p:sp>
        <p:nvSpPr>
          <p:cNvPr id="3" name="paragraph-1">
            <a:extLst xmlns:a="http://schemas.openxmlformats.org/drawingml/2006/main">
              <a:ext uri="{FF2B5EF4-FFF2-40B4-BE49-F238E27FC236}">
                <a16:creationId xmlns:a16="http://schemas.microsoft.com/office/drawing/2014/main" id="{6D9DFF6E-A87F-458D-B14C-C2A4D9BE6FC6}"/>
              </a:ext>
            </a:extLst>
          </p:cNvPr>
          <p:cNvSpPr>
            <a:spLocks xmlns:a="http://schemas.openxmlformats.org/drawingml/2006/main" noGrp="1"/>
          </p:cNvSpPr>
          <p:nvPr/>
        </p:nvSpPr>
        <p:spPr>
          <a:xfrm xmlns:a="http://schemas.openxmlformats.org/drawingml/2006/main">
            <a:off x="647700" y="25622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VQUIN and TB-CHAMP pooled analysis combined trials enrolling 2,041 and 922 contacts, respectively. By 54 weeks, TB developed in 8 levofloxacin recipients versus 21 placebo recipients. Low event counts limit precision, and tolerability and adherence remain relevant. This supports a prevention pathway after resistant-TB exposure, not levofloxacin monotherapy for active disease. [27]</a:t>
            </a:r>
          </a:p>
        </p:txBody>
      </p:sp>
      <p:sp>
        <p:nvSpPr>
          <p:cNvPr id="4" name="footer">
            <a:extLst xmlns:a="http://schemas.openxmlformats.org/drawingml/2006/main">
              <a:ext uri="{FF2B5EF4-FFF2-40B4-BE49-F238E27FC236}">
                <a16:creationId xmlns:a16="http://schemas.microsoft.com/office/drawing/2014/main" id="{1A59B255-4791-4B05-81F3-C466EC7BB0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4DF6908-26BC-4104-B258-3C5B9D58DCE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142</a:t>
            </a:r>
          </a:p>
        </p:txBody>
      </p:sp>
    </p:spTree>
    <p:extLst>
      <p:ext uri="{BB962C8B-B14F-4D97-AF65-F5344CB8AC3E}">
        <p14:creationId xmlns:p14="http://schemas.microsoft.com/office/powerpoint/2010/main" val="725457240"/>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D117B8-BC19-4588-9A8D-ABF2DA5319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Turn a positive test into a complete preventive-care plan</a:t>
            </a:r>
          </a:p>
        </p:txBody>
      </p:sp>
      <p:sp>
        <p:nvSpPr>
          <p:cNvPr id="2" name="paragraph-0">
            <a:extLst xmlns:a="http://schemas.openxmlformats.org/drawingml/2006/main">
              <a:ext uri="{FF2B5EF4-FFF2-40B4-BE49-F238E27FC236}">
                <a16:creationId xmlns:a16="http://schemas.microsoft.com/office/drawing/2014/main" id="{9D9FD10A-8838-4FF6-97F0-7411C1F619E9}"/>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First exclude disease. Then establish exposure timing, source-case susceptibility, prior treatment, pregnancy status, liver risk and all medications. Recent contacts and people facing substantial immunosuppression deserve prompt coordination. Prefer a short rifamycin regimen when feasible; interactions may favor isoniazid instead. Rifampin plus pyrazinamide is not an LTBI regimen because of hepatotoxicity. [35]</a:t>
            </a:r>
          </a:p>
        </p:txBody>
      </p:sp>
      <p:sp>
        <p:nvSpPr>
          <p:cNvPr id="3" name="footer">
            <a:extLst xmlns:a="http://schemas.openxmlformats.org/drawingml/2006/main">
              <a:ext uri="{FF2B5EF4-FFF2-40B4-BE49-F238E27FC236}">
                <a16:creationId xmlns:a16="http://schemas.microsoft.com/office/drawing/2014/main" id="{210CA8BE-CE51-46BA-8EBC-943F746EE3E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E480904-FB16-43CF-AEA6-10055BC3BD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143</a:t>
            </a:r>
          </a:p>
        </p:txBody>
      </p:sp>
    </p:spTree>
    <p:extLst>
      <p:ext uri="{BB962C8B-B14F-4D97-AF65-F5344CB8AC3E}">
        <p14:creationId xmlns:p14="http://schemas.microsoft.com/office/powerpoint/2010/main" val="76171363"/>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5180E6-7DFE-4683-BD93-568A15EA5D8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Turn a positive test into a complete preventive-care plan</a:t>
            </a:r>
          </a:p>
        </p:txBody>
      </p:sp>
      <p:graphicFrame>
        <p:nvGraphicFramePr>
          <p:cNvPr id="2" name="">
            <a:extLst xmlns:a="http://schemas.openxmlformats.org/drawingml/2006/main">
              <a:ext uri="{FF2B5EF4-FFF2-40B4-BE49-F238E27FC236}">
                <a16:creationId xmlns:a16="http://schemas.microsoft.com/office/drawing/2014/main" id="{B2DB9F40-39E4-4919-9CD7-5E23D8EA1E4A}"/>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3HP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Adult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Isoniazid 15 mg/kg, rounded up to nearest 50 or 100 mg, maximum 900 mg; rifapentine 900 mg when weight ≥50 kg. Lower weights need the CDC weight-band table.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Scheduled doses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Both once weekly ×12. This is not daily active-TB rifapentine dosing.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FBD9A8D-AFF3-4983-84A2-8A33FFDC398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AD97F03-054F-48CA-A33F-E12843324F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144</a:t>
            </a:r>
          </a:p>
        </p:txBody>
      </p:sp>
    </p:spTree>
    <p:extLst>
      <p:ext uri="{BB962C8B-B14F-4D97-AF65-F5344CB8AC3E}">
        <p14:creationId xmlns:p14="http://schemas.microsoft.com/office/powerpoint/2010/main" val="974100266"/>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43858FA-754D-4954-8F26-427D098406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Turn a positive test into a complete preventive-care plan</a:t>
            </a:r>
          </a:p>
        </p:txBody>
      </p:sp>
      <p:graphicFrame>
        <p:nvGraphicFramePr>
          <p:cNvPr id="2" name="">
            <a:extLst xmlns:a="http://schemas.openxmlformats.org/drawingml/2006/main">
              <a:ext uri="{FF2B5EF4-FFF2-40B4-BE49-F238E27FC236}">
                <a16:creationId xmlns:a16="http://schemas.microsoft.com/office/drawing/2014/main" id="{7DE839EC-D2C3-4A0A-8904-BC0A9D685658}"/>
              </a:ext>
            </a:extLst>
          </p:cNvPr>
          <p:cNvGraphicFramePr/>
          <p:nvPr/>
        </p:nvGraphicFramePr>
        <p:xfrm>
          <a:off xmlns:a="http://schemas.openxmlformats.org/drawingml/2006/main" x="647700" y="1866900"/>
          <a:ext xmlns:a="http://schemas.openxmlformats.org/drawingml/2006/main" cx="10896600" cy="16144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4R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Adult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Rifampin 10 mg/kg, maximum 600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Scheduled doses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120 daily doses.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0749A35-A1D2-4275-BE9D-D6B7039DF9D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EC93933-AF90-4D90-A7CB-98F506E5E45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145</a:t>
            </a:r>
          </a:p>
        </p:txBody>
      </p:sp>
    </p:spTree>
    <p:extLst>
      <p:ext uri="{BB962C8B-B14F-4D97-AF65-F5344CB8AC3E}">
        <p14:creationId xmlns:p14="http://schemas.microsoft.com/office/powerpoint/2010/main" val="1913347736"/>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D2AF1F3-EF0D-4A31-BF7A-E4E8D2D299D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Turn a positive test into a complete preventive-care plan</a:t>
            </a:r>
          </a:p>
        </p:txBody>
      </p:sp>
      <p:graphicFrame>
        <p:nvGraphicFramePr>
          <p:cNvPr id="2" name="">
            <a:extLst xmlns:a="http://schemas.openxmlformats.org/drawingml/2006/main">
              <a:ext uri="{FF2B5EF4-FFF2-40B4-BE49-F238E27FC236}">
                <a16:creationId xmlns:a16="http://schemas.microsoft.com/office/drawing/2014/main" id="{AEAC53A7-6B00-459C-9DD9-3B87CBE05520}"/>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3HR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Adult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Isoniazid 5 mg/kg, maximum 300 mg, plus rifampin 10 mg/kg, maximum 600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Scheduled doses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90 daily doses.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152B776-7A5B-42B4-96F7-98366ED605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C70D373-C7F6-4C96-B412-0AD01A4CA59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146</a:t>
            </a:r>
          </a:p>
        </p:txBody>
      </p:sp>
    </p:spTree>
    <p:extLst>
      <p:ext uri="{BB962C8B-B14F-4D97-AF65-F5344CB8AC3E}">
        <p14:creationId xmlns:p14="http://schemas.microsoft.com/office/powerpoint/2010/main" val="1337164302"/>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CB5AD8-F0A0-459D-9CCB-AFE99F4E26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Turn a positive test into a complete preventive-care plan</a:t>
            </a:r>
          </a:p>
        </p:txBody>
      </p:sp>
      <p:graphicFrame>
        <p:nvGraphicFramePr>
          <p:cNvPr id="2" name="">
            <a:extLst xmlns:a="http://schemas.openxmlformats.org/drawingml/2006/main">
              <a:ext uri="{FF2B5EF4-FFF2-40B4-BE49-F238E27FC236}">
                <a16:creationId xmlns:a16="http://schemas.microsoft.com/office/drawing/2014/main" id="{D274F2B6-DC53-4B3C-8BB9-3D09298BB07E}"/>
              </a:ext>
            </a:extLst>
          </p:cNvPr>
          <p:cNvGraphicFramePr/>
          <p:nvPr/>
        </p:nvGraphicFramePr>
        <p:xfrm>
          <a:off xmlns:a="http://schemas.openxmlformats.org/drawingml/2006/main" x="647700" y="1866900"/>
          <a:ext xmlns:a="http://schemas.openxmlformats.org/drawingml/2006/main" cx="10896600" cy="16144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6H / 9H</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Adult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Isoniazid 5 mg/kg, maximum 300 mg daily.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Scheduled doses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180 / 270 daily doses.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E0196E2-4DFF-468B-B9C8-F927CA81D6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D726C89-ED64-40E2-A8E4-200AA748B49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147</a:t>
            </a:r>
          </a:p>
        </p:txBody>
      </p:sp>
    </p:spTree>
    <p:extLst>
      <p:ext uri="{BB962C8B-B14F-4D97-AF65-F5344CB8AC3E}">
        <p14:creationId xmlns:p14="http://schemas.microsoft.com/office/powerpoint/2010/main" val="291116377"/>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D5487EA-05EF-4C98-BE72-5D2E5316B48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Turn a positive test into a complete preventive-care plan</a:t>
            </a:r>
          </a:p>
        </p:txBody>
      </p:sp>
      <p:sp>
        <p:nvSpPr>
          <p:cNvPr id="2" name="paragraph-0">
            <a:extLst xmlns:a="http://schemas.openxmlformats.org/drawingml/2006/main">
              <a:ext uri="{FF2B5EF4-FFF2-40B4-BE49-F238E27FC236}">
                <a16:creationId xmlns:a16="http://schemas.microsoft.com/office/drawing/2014/main" id="{B50CF952-568F-461A-B020-3FF0C994C80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are adult schedules; children need pediatric dosing. Add pyridoxine with isoniazid for neuropathy risk, including pregnancy, HIV, diabetes, malnutrition and renal disease, commonly 25–50 mg/day. [24] [2]</a:t>
            </a:r>
          </a:p>
        </p:txBody>
      </p:sp>
      <p:sp>
        <p:nvSpPr>
          <p:cNvPr id="3" name="paragraph-1">
            <a:extLst xmlns:a="http://schemas.openxmlformats.org/drawingml/2006/main">
              <a:ext uri="{FF2B5EF4-FFF2-40B4-BE49-F238E27FC236}">
                <a16:creationId xmlns:a16="http://schemas.microsoft.com/office/drawing/2014/main" id="{B5DAD50B-C68A-4195-BD50-BA01596DE693}"/>
              </a:ext>
            </a:extLst>
          </p:cNvPr>
          <p:cNvSpPr>
            <a:spLocks xmlns:a="http://schemas.openxmlformats.org/drawingml/2006/main" noGrp="1"/>
          </p:cNvSpPr>
          <p:nvPr/>
        </p:nvSpPr>
        <p:spPr>
          <a:xfrm xmlns:a="http://schemas.openxmlformats.org/drawingml/2006/main">
            <a:off x="647700" y="326707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adherence, new TB symptoms and toxicity monthly. Obtain baseline AST/ALT and bilirubin for hepatic risk, HIV, pregnancy or the first three postpartum months; repeat for abnormal baseline values, ongoing risk or symptoms. Give explicit stop-and-call instructions for hepatitis symptoms, rash, or persistent neuropathy. [24]</a:t>
            </a:r>
          </a:p>
        </p:txBody>
      </p:sp>
      <p:sp>
        <p:nvSpPr>
          <p:cNvPr id="4" name="footer">
            <a:extLst xmlns:a="http://schemas.openxmlformats.org/drawingml/2006/main">
              <a:ext uri="{FF2B5EF4-FFF2-40B4-BE49-F238E27FC236}">
                <a16:creationId xmlns:a16="http://schemas.microsoft.com/office/drawing/2014/main" id="{B71C9E7E-3577-4CFE-8BC7-F5CECFF7EF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11A972D3-B758-4D0B-BA59-A7AFEC34269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148</a:t>
            </a:r>
          </a:p>
        </p:txBody>
      </p:sp>
    </p:spTree>
    <p:extLst>
      <p:ext uri="{BB962C8B-B14F-4D97-AF65-F5344CB8AC3E}">
        <p14:creationId xmlns:p14="http://schemas.microsoft.com/office/powerpoint/2010/main" val="230656934"/>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5EB8549-5248-4B8D-8C59-6E9B5587D8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Turn a positive test into a complete preventive-care plan</a:t>
            </a:r>
          </a:p>
        </p:txBody>
      </p:sp>
      <p:sp>
        <p:nvSpPr>
          <p:cNvPr id="2" name="paragraph-0">
            <a:extLst xmlns:a="http://schemas.openxmlformats.org/drawingml/2006/main">
              <a:ext uri="{FF2B5EF4-FFF2-40B4-BE49-F238E27FC236}">
                <a16:creationId xmlns:a16="http://schemas.microsoft.com/office/drawing/2014/main" id="{5B094C17-613E-4A6C-B7AE-BCEFA1BE359E}"/>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rifamycin interactions with ART, anticoagulants, transplant drugs and contraception before prescribing. Document the infection test, disease-exclusion assessment, regimen, doses completed and completion date. Do not use a repeat IGRA/TST as a cure test. Many pregnant patients can defer prevention until 2–3 months postpartum, but recent exposure or high progression risk can favor treatment during pregnancy. Avoid 3HP during pregnancy; coordinate high-risk decisions with the TB program. [35] [30] [23]</a:t>
            </a:r>
          </a:p>
        </p:txBody>
      </p:sp>
      <p:sp>
        <p:nvSpPr>
          <p:cNvPr id="3" name="footer">
            <a:extLst xmlns:a="http://schemas.openxmlformats.org/drawingml/2006/main">
              <a:ext uri="{FF2B5EF4-FFF2-40B4-BE49-F238E27FC236}">
                <a16:creationId xmlns:a16="http://schemas.microsoft.com/office/drawing/2014/main" id="{413945C8-7BFF-4DC4-A7BF-3AA67D9E54C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3A0549F-B365-446B-9EAD-F358C3D101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149</a:t>
            </a:r>
          </a:p>
        </p:txBody>
      </p:sp>
    </p:spTree>
    <p:extLst>
      <p:ext uri="{BB962C8B-B14F-4D97-AF65-F5344CB8AC3E}">
        <p14:creationId xmlns:p14="http://schemas.microsoft.com/office/powerpoint/2010/main" val="2021582536"/>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DECEF38-88CF-4C72-90CE-3711125EE3A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A negative IGRA is not an exit from the workup</a:t>
            </a:r>
          </a:p>
        </p:txBody>
      </p:sp>
      <p:sp>
        <p:nvSpPr>
          <p:cNvPr id="2" name="paragraph-0">
            <a:extLst xmlns:a="http://schemas.openxmlformats.org/drawingml/2006/main">
              <a:ext uri="{FF2B5EF4-FFF2-40B4-BE49-F238E27FC236}">
                <a16:creationId xmlns:a16="http://schemas.microsoft.com/office/drawing/2014/main" id="{4747BA3C-3C8B-4A20-9A60-027C9E05366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47-year-old receiving anti-TNF therapy has 6 weeks of cough, weight loss and an upper-lobe cavity. The IGRA is negative.</a:t>
            </a:r>
          </a:p>
        </p:txBody>
      </p:sp>
      <p:sp>
        <p:nvSpPr>
          <p:cNvPr id="3" name="paragraph-1">
            <a:extLst xmlns:a="http://schemas.openxmlformats.org/drawingml/2006/main">
              <a:ext uri="{FF2B5EF4-FFF2-40B4-BE49-F238E27FC236}">
                <a16:creationId xmlns:a16="http://schemas.microsoft.com/office/drawing/2014/main" id="{FC467DCE-9D05-4C4D-B50A-448312CA2619}"/>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Can airborne precautions and the TB evaluation be stopped?</a:t>
            </a:r>
          </a:p>
        </p:txBody>
      </p:sp>
      <p:sp>
        <p:nvSpPr>
          <p:cNvPr id="4" name="footer">
            <a:extLst xmlns:a="http://schemas.openxmlformats.org/drawingml/2006/main">
              <a:ext uri="{FF2B5EF4-FFF2-40B4-BE49-F238E27FC236}">
                <a16:creationId xmlns:a16="http://schemas.microsoft.com/office/drawing/2014/main" id="{908A47E6-8320-4B5C-A077-7F2B791B0C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35277D2F-F122-4EC1-B38A-CF95F5CE2A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150</a:t>
            </a:r>
          </a:p>
        </p:txBody>
      </p:sp>
    </p:spTree>
    <p:extLst>
      <p:ext uri="{BB962C8B-B14F-4D97-AF65-F5344CB8AC3E}">
        <p14:creationId xmlns:p14="http://schemas.microsoft.com/office/powerpoint/2010/main" val="396397252"/>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11BC797-DD8F-49DF-9D74-3F5B5C90206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373806AF-3E7D-48F4-9655-DFF19A57D4C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Continue the disease evaluation and airborne precautions. Collect appropriate respiratory specimens, NAAT and cultures. Immunosuppression can blunt immune-based tests. Decide on empiric multidrug treatment from the full clinical picture, not the IGRA alone. [5] [6]</a:t>
            </a:r>
          </a:p>
        </p:txBody>
      </p:sp>
      <p:sp>
        <p:nvSpPr>
          <p:cNvPr id="3" name="footer">
            <a:extLst xmlns:a="http://schemas.openxmlformats.org/drawingml/2006/main">
              <a:ext uri="{FF2B5EF4-FFF2-40B4-BE49-F238E27FC236}">
                <a16:creationId xmlns:a16="http://schemas.microsoft.com/office/drawing/2014/main" id="{DD436B1D-65C0-4ABA-A28C-6F9A3EF548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91FE9F6-DD9D-4D8E-932F-54ECB00F3E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151</a:t>
            </a:r>
          </a:p>
        </p:txBody>
      </p:sp>
    </p:spTree>
    <p:extLst>
      <p:ext uri="{BB962C8B-B14F-4D97-AF65-F5344CB8AC3E}">
        <p14:creationId xmlns:p14="http://schemas.microsoft.com/office/powerpoint/2010/main" val="1594898528"/>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65F5B97-ADD7-4B76-99F2-7FF4094F798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A genuine four-month candidate</a:t>
            </a:r>
          </a:p>
        </p:txBody>
      </p:sp>
      <p:sp>
        <p:nvSpPr>
          <p:cNvPr id="2" name="paragraph-0">
            <a:extLst xmlns:a="http://schemas.openxmlformats.org/drawingml/2006/main">
              <a:ext uri="{FF2B5EF4-FFF2-40B4-BE49-F238E27FC236}">
                <a16:creationId xmlns:a16="http://schemas.microsoft.com/office/drawing/2014/main" id="{29668E07-11B9-4E4E-B1D0-50F0DC401CA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28-year-old, 65-kg patient has pulmonary TB with susceptible testing, no extrapulmonary disease, no pregnancy, no relevant interactions and acceptable QT risk.</a:t>
            </a:r>
          </a:p>
        </p:txBody>
      </p:sp>
      <p:sp>
        <p:nvSpPr>
          <p:cNvPr id="3" name="paragraph-1">
            <a:extLst xmlns:a="http://schemas.openxmlformats.org/drawingml/2006/main">
              <a:ext uri="{FF2B5EF4-FFF2-40B4-BE49-F238E27FC236}">
                <a16:creationId xmlns:a16="http://schemas.microsoft.com/office/drawing/2014/main" id="{BF9E8394-F05B-4C8F-9317-2E5D3D6C9ED1}"/>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is the shorter option, and what is not interchangeable?</a:t>
            </a:r>
          </a:p>
        </p:txBody>
      </p:sp>
      <p:sp>
        <p:nvSpPr>
          <p:cNvPr id="4" name="footer">
            <a:extLst xmlns:a="http://schemas.openxmlformats.org/drawingml/2006/main">
              <a:ext uri="{FF2B5EF4-FFF2-40B4-BE49-F238E27FC236}">
                <a16:creationId xmlns:a16="http://schemas.microsoft.com/office/drawing/2014/main" id="{310AB162-1C34-4633-BAC0-2D3B701864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FD87FE0-9A67-4060-AB53-90938F1677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152</a:t>
            </a:r>
          </a:p>
        </p:txBody>
      </p:sp>
    </p:spTree>
    <p:extLst>
      <p:ext uri="{BB962C8B-B14F-4D97-AF65-F5344CB8AC3E}">
        <p14:creationId xmlns:p14="http://schemas.microsoft.com/office/powerpoint/2010/main" val="140580225"/>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A26A7F-4A91-4636-A723-E21A15D16A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CD56C311-9198-4B3D-8B59-3C5F99C4A73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8 weeks of HPZM followed by 9 weeks of HPM with the TB program. Confirm the full daily 119-dose course and follow-up. Four months of standard RIPE-based therapy or rifapentine without moxifloxacin does not reproduce the evidence. [4] [10]</a:t>
            </a:r>
          </a:p>
        </p:txBody>
      </p:sp>
      <p:sp>
        <p:nvSpPr>
          <p:cNvPr id="3" name="footer">
            <a:extLst xmlns:a="http://schemas.openxmlformats.org/drawingml/2006/main">
              <a:ext uri="{FF2B5EF4-FFF2-40B4-BE49-F238E27FC236}">
                <a16:creationId xmlns:a16="http://schemas.microsoft.com/office/drawing/2014/main" id="{BE33307B-0645-45C8-B038-A4FE9B62E1E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81D4C8A-9982-4E6A-BB1A-B605C1B19C7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153</a:t>
            </a:r>
          </a:p>
        </p:txBody>
      </p:sp>
    </p:spTree>
    <p:extLst>
      <p:ext uri="{BB962C8B-B14F-4D97-AF65-F5344CB8AC3E}">
        <p14:creationId xmlns:p14="http://schemas.microsoft.com/office/powerpoint/2010/main" val="4453038"/>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C0B5302-1AD8-4AC0-B8AD-41306292A3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Cavitation and a positive two-month culture</a:t>
            </a:r>
          </a:p>
        </p:txBody>
      </p:sp>
      <p:sp>
        <p:nvSpPr>
          <p:cNvPr id="2" name="paragraph-0">
            <a:extLst xmlns:a="http://schemas.openxmlformats.org/drawingml/2006/main">
              <a:ext uri="{FF2B5EF4-FFF2-40B4-BE49-F238E27FC236}">
                <a16:creationId xmlns:a16="http://schemas.microsoft.com/office/drawing/2014/main" id="{8EBBA4F5-5EF9-47EE-B207-5B0F098AB7E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on standard HRZE had cavitary disease at baseline. The culture obtained at completion of 2 months remains positive and is still drug susceptible.</a:t>
            </a:r>
          </a:p>
        </p:txBody>
      </p:sp>
      <p:sp>
        <p:nvSpPr>
          <p:cNvPr id="3" name="paragraph-1">
            <a:extLst xmlns:a="http://schemas.openxmlformats.org/drawingml/2006/main">
              <a:ext uri="{FF2B5EF4-FFF2-40B4-BE49-F238E27FC236}">
                <a16:creationId xmlns:a16="http://schemas.microsoft.com/office/drawing/2014/main" id="{BB3D70EB-90F2-4ECC-8445-429FDE5E28AC}"/>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this automatically treatment failure?</a:t>
            </a:r>
          </a:p>
        </p:txBody>
      </p:sp>
      <p:sp>
        <p:nvSpPr>
          <p:cNvPr id="4" name="footer">
            <a:extLst xmlns:a="http://schemas.openxmlformats.org/drawingml/2006/main">
              <a:ext uri="{FF2B5EF4-FFF2-40B4-BE49-F238E27FC236}">
                <a16:creationId xmlns:a16="http://schemas.microsoft.com/office/drawing/2014/main" id="{7E04231E-52EA-4327-B4FF-D50F379594F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16F8C518-9B79-43B6-BC08-214D15DA526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154</a:t>
            </a:r>
          </a:p>
        </p:txBody>
      </p:sp>
    </p:spTree>
    <p:extLst>
      <p:ext uri="{BB962C8B-B14F-4D97-AF65-F5344CB8AC3E}">
        <p14:creationId xmlns:p14="http://schemas.microsoft.com/office/powerpoint/2010/main" val="650102108"/>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A642C9-493B-4260-BD86-195109FFC3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CADCD41E-A23C-478F-ACAB-147D44C1825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It is a relapse-risk signal, not automatic failure at two months. Review observed doses, interactions, absorption and DST. With cavitation plus the positive two-month culture, plan a 7-month continuation phase, usually 9 months total, under TB-program direction. [3] [2]</a:t>
            </a:r>
          </a:p>
        </p:txBody>
      </p:sp>
      <p:sp>
        <p:nvSpPr>
          <p:cNvPr id="3" name="footer">
            <a:extLst xmlns:a="http://schemas.openxmlformats.org/drawingml/2006/main">
              <a:ext uri="{FF2B5EF4-FFF2-40B4-BE49-F238E27FC236}">
                <a16:creationId xmlns:a16="http://schemas.microsoft.com/office/drawing/2014/main" id="{C463C865-9251-4D84-8CB6-D110F597DD0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D3F749F-40C3-47F1-A2CD-EE5E9E74CF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155</a:t>
            </a:r>
          </a:p>
        </p:txBody>
      </p:sp>
    </p:spTree>
    <p:extLst>
      <p:ext uri="{BB962C8B-B14F-4D97-AF65-F5344CB8AC3E}">
        <p14:creationId xmlns:p14="http://schemas.microsoft.com/office/powerpoint/2010/main" val="1722945407"/>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A9B5B89-2764-4BCF-B8CA-A6FEA078F9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4. Rifampin resistance is not solved by adding moxifloxacin</a:t>
            </a:r>
          </a:p>
        </p:txBody>
      </p:sp>
      <p:sp>
        <p:nvSpPr>
          <p:cNvPr id="2" name="paragraph-0">
            <a:extLst xmlns:a="http://schemas.openxmlformats.org/drawingml/2006/main">
              <a:ext uri="{FF2B5EF4-FFF2-40B4-BE49-F238E27FC236}">
                <a16:creationId xmlns:a16="http://schemas.microsoft.com/office/drawing/2014/main" id="{7F914F24-BFB5-4B0E-A84C-4B4F1C308E0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respiratory NAAT detects rifampin resistance. Fluoroquinolone susceptibility is pending.</a:t>
            </a:r>
          </a:p>
        </p:txBody>
      </p:sp>
      <p:sp>
        <p:nvSpPr>
          <p:cNvPr id="3" name="paragraph-1">
            <a:extLst xmlns:a="http://schemas.openxmlformats.org/drawingml/2006/main">
              <a:ext uri="{FF2B5EF4-FFF2-40B4-BE49-F238E27FC236}">
                <a16:creationId xmlns:a16="http://schemas.microsoft.com/office/drawing/2014/main" id="{2684A174-FEFE-45AF-A7C4-8D0C7352F318}"/>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information must guide the next regimen?</a:t>
            </a:r>
          </a:p>
        </p:txBody>
      </p:sp>
      <p:sp>
        <p:nvSpPr>
          <p:cNvPr id="4" name="footer">
            <a:extLst xmlns:a="http://schemas.openxmlformats.org/drawingml/2006/main">
              <a:ext uri="{FF2B5EF4-FFF2-40B4-BE49-F238E27FC236}">
                <a16:creationId xmlns:a16="http://schemas.microsoft.com/office/drawing/2014/main" id="{665E7648-5F0B-4E49-8378-F68BC3B8B2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E7727F4-7077-42F9-A70E-C5D9D4CD22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156</a:t>
            </a:r>
          </a:p>
        </p:txBody>
      </p:sp>
    </p:spTree>
    <p:extLst>
      <p:ext uri="{BB962C8B-B14F-4D97-AF65-F5344CB8AC3E}">
        <p14:creationId xmlns:p14="http://schemas.microsoft.com/office/powerpoint/2010/main" val="896866026"/>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086511-1062-471A-A941-EF0AB86609A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85F5CE48-A68F-429B-A7DF-960210B5FD56}"/>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Arrange urgent TB-expert consultation, expanded molecular and phenotypic DST, prior-drug history and an active resistant-TB combination. FQ susceptibility distinguishes BPaLM from BPaL eligibility. Pregnancy, disease site and component resistance can rule out both. Do not simply add one drug to HRZE. [7] [1]</a:t>
            </a:r>
          </a:p>
        </p:txBody>
      </p:sp>
      <p:sp>
        <p:nvSpPr>
          <p:cNvPr id="3" name="footer">
            <a:extLst xmlns:a="http://schemas.openxmlformats.org/drawingml/2006/main">
              <a:ext uri="{FF2B5EF4-FFF2-40B4-BE49-F238E27FC236}">
                <a16:creationId xmlns:a16="http://schemas.microsoft.com/office/drawing/2014/main" id="{C124C06E-8223-4EB3-AA8D-EAAABB443A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A56D828-3178-47EE-A92B-900A76773A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157</a:t>
            </a:r>
          </a:p>
        </p:txBody>
      </p:sp>
    </p:spTree>
    <p:extLst>
      <p:ext uri="{BB962C8B-B14F-4D97-AF65-F5344CB8AC3E}">
        <p14:creationId xmlns:p14="http://schemas.microsoft.com/office/powerpoint/2010/main" val="2081514590"/>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D2CE05F-04C8-41C5-BA6B-451CFD0402A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5. Linezolid toxicity threatens the combination</a:t>
            </a:r>
          </a:p>
        </p:txBody>
      </p:sp>
      <p:sp>
        <p:nvSpPr>
          <p:cNvPr id="2" name="paragraph-0">
            <a:extLst xmlns:a="http://schemas.openxmlformats.org/drawingml/2006/main">
              <a:ext uri="{FF2B5EF4-FFF2-40B4-BE49-F238E27FC236}">
                <a16:creationId xmlns:a16="http://schemas.microsoft.com/office/drawing/2014/main" id="{FC17994D-D6CA-49E8-AAB7-C389AD6E61A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During BPaLM therapy, a patient develops falling hemoglobin and new distal tingling. Cultures have converted.</a:t>
            </a:r>
          </a:p>
        </p:txBody>
      </p:sp>
      <p:sp>
        <p:nvSpPr>
          <p:cNvPr id="3" name="paragraph-1">
            <a:extLst xmlns:a="http://schemas.openxmlformats.org/drawingml/2006/main">
              <a:ext uri="{FF2B5EF4-FFF2-40B4-BE49-F238E27FC236}">
                <a16:creationId xmlns:a16="http://schemas.microsoft.com/office/drawing/2014/main" id="{8050E632-A3A6-4F87-80F5-78F78D83C5DE}"/>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Can linezolid simply be stopped for the remainder?</a:t>
            </a:r>
          </a:p>
        </p:txBody>
      </p:sp>
      <p:sp>
        <p:nvSpPr>
          <p:cNvPr id="4" name="footer">
            <a:extLst xmlns:a="http://schemas.openxmlformats.org/drawingml/2006/main">
              <a:ext uri="{FF2B5EF4-FFF2-40B4-BE49-F238E27FC236}">
                <a16:creationId xmlns:a16="http://schemas.microsoft.com/office/drawing/2014/main" id="{32516DE0-B3FF-4BEA-BB4E-90B75F49185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C893B4FE-A19E-4965-811C-3DECA974A4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158</a:t>
            </a:r>
          </a:p>
        </p:txBody>
      </p:sp>
    </p:spTree>
    <p:extLst>
      <p:ext uri="{BB962C8B-B14F-4D97-AF65-F5344CB8AC3E}">
        <p14:creationId xmlns:p14="http://schemas.microsoft.com/office/powerpoint/2010/main" val="2002916475"/>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0A4EF21-344C-425F-9B52-FBDCD362C70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DE1D7738-24D7-46A3-8349-5920FEC9C15C}"/>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Assess severity and hold or modify the offending drug when clinically necessary, but make the revised regimen with a TB expert. Culture conversion does not eliminate the need for active companion drugs. Check CBC, neurologic findings, visual symptoms, drug exposure and other causes. The duration of prior linezolid and activity of remaining drugs determine the options. [1] [9]</a:t>
            </a:r>
          </a:p>
        </p:txBody>
      </p:sp>
      <p:sp>
        <p:nvSpPr>
          <p:cNvPr id="3" name="footer">
            <a:extLst xmlns:a="http://schemas.openxmlformats.org/drawingml/2006/main">
              <a:ext uri="{FF2B5EF4-FFF2-40B4-BE49-F238E27FC236}">
                <a16:creationId xmlns:a16="http://schemas.microsoft.com/office/drawing/2014/main" id="{0B0E691C-3371-49D3-A1A2-45B72C095D6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0270452-A73D-453F-8B13-1DF818FF58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159</a:t>
            </a:r>
          </a:p>
        </p:txBody>
      </p:sp>
    </p:spTree>
    <p:extLst>
      <p:ext uri="{BB962C8B-B14F-4D97-AF65-F5344CB8AC3E}">
        <p14:creationId xmlns:p14="http://schemas.microsoft.com/office/powerpoint/2010/main" val="681746503"/>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F36898F-046B-43A8-A9CA-30DE370868A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6. An eight-week headline does not establish an eight-week cure</a:t>
            </a:r>
          </a:p>
        </p:txBody>
      </p:sp>
      <p:sp>
        <p:nvSpPr>
          <p:cNvPr id="2" name="paragraph-0">
            <a:extLst xmlns:a="http://schemas.openxmlformats.org/drawingml/2006/main">
              <a:ext uri="{FF2B5EF4-FFF2-40B4-BE49-F238E27FC236}">
                <a16:creationId xmlns:a16="http://schemas.microsoft.com/office/drawing/2014/main" id="{1D1C8B4F-10A1-4505-9AD5-D68A3DE160D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asks for the “two-month TB treatment” after reading about TRUNCATE-TB.</a:t>
            </a:r>
          </a:p>
        </p:txBody>
      </p:sp>
      <p:sp>
        <p:nvSpPr>
          <p:cNvPr id="3" name="paragraph-1">
            <a:extLst xmlns:a="http://schemas.openxmlformats.org/drawingml/2006/main">
              <a:ext uri="{FF2B5EF4-FFF2-40B4-BE49-F238E27FC236}">
                <a16:creationId xmlns:a16="http://schemas.microsoft.com/office/drawing/2014/main" id="{C4347E72-4058-448A-9D49-64C730DC0A44}"/>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How would you explain the actual evidence?</a:t>
            </a:r>
          </a:p>
        </p:txBody>
      </p:sp>
      <p:sp>
        <p:nvSpPr>
          <p:cNvPr id="4" name="footer">
            <a:extLst xmlns:a="http://schemas.openxmlformats.org/drawingml/2006/main">
              <a:ext uri="{FF2B5EF4-FFF2-40B4-BE49-F238E27FC236}">
                <a16:creationId xmlns:a16="http://schemas.microsoft.com/office/drawing/2014/main" id="{8270A636-E446-4AFB-8B8F-4ADB046ECE4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FF3E273-2455-453C-9523-5DFDD0C5112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160</a:t>
            </a:r>
          </a:p>
        </p:txBody>
      </p:sp>
    </p:spTree>
    <p:extLst>
      <p:ext uri="{BB962C8B-B14F-4D97-AF65-F5344CB8AC3E}">
        <p14:creationId xmlns:p14="http://schemas.microsoft.com/office/powerpoint/2010/main" val="1478347791"/>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446787-3DFD-4A31-8F0E-D3029F67A30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DDCBA1CC-0F55-47DF-8772-67305CC78F4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trial shortened initial treatment and then closely monitored patients, extending or restarting therapy when needed. The later analysis found more unfavorable outcomes with the initial short regimen. It is not a routine alternative to the recommended four- or six-month course. [15] [16]</a:t>
            </a:r>
          </a:p>
        </p:txBody>
      </p:sp>
      <p:sp>
        <p:nvSpPr>
          <p:cNvPr id="3" name="footer">
            <a:extLst xmlns:a="http://schemas.openxmlformats.org/drawingml/2006/main">
              <a:ext uri="{FF2B5EF4-FFF2-40B4-BE49-F238E27FC236}">
                <a16:creationId xmlns:a16="http://schemas.microsoft.com/office/drawing/2014/main" id="{B9160D86-DA53-4AE3-B362-408E2835C51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C83DE3F-39CB-4FFA-909F-94DA14C4AB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161</a:t>
            </a:r>
          </a:p>
        </p:txBody>
      </p:sp>
    </p:spTree>
    <p:extLst>
      <p:ext uri="{BB962C8B-B14F-4D97-AF65-F5344CB8AC3E}">
        <p14:creationId xmlns:p14="http://schemas.microsoft.com/office/powerpoint/2010/main" val="152612851"/>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83F4D4E-397E-4562-8873-C62A3D446C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7. An AFB-positive result without a TB NAAT signal</a:t>
            </a:r>
          </a:p>
        </p:txBody>
      </p:sp>
      <p:sp>
        <p:nvSpPr>
          <p:cNvPr id="2" name="paragraph-0">
            <a:extLst xmlns:a="http://schemas.openxmlformats.org/drawingml/2006/main">
              <a:ext uri="{FF2B5EF4-FFF2-40B4-BE49-F238E27FC236}">
                <a16:creationId xmlns:a16="http://schemas.microsoft.com/office/drawing/2014/main" id="{7CA2B1AF-C0DE-44E8-8F78-6DA7F9CC700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70-year-old with bronchiectasis has chronic cough. The sputum is smear positive but the TB NAAT is negative.</a:t>
            </a:r>
          </a:p>
        </p:txBody>
      </p:sp>
      <p:sp>
        <p:nvSpPr>
          <p:cNvPr id="3" name="paragraph-1">
            <a:extLst xmlns:a="http://schemas.openxmlformats.org/drawingml/2006/main">
              <a:ext uri="{FF2B5EF4-FFF2-40B4-BE49-F238E27FC236}">
                <a16:creationId xmlns:a16="http://schemas.microsoft.com/office/drawing/2014/main" id="{CDB14FA5-A131-4621-AD8B-2F27CA7FD629}"/>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this confirmed TB?</a:t>
            </a:r>
          </a:p>
        </p:txBody>
      </p:sp>
      <p:sp>
        <p:nvSpPr>
          <p:cNvPr id="4" name="footer">
            <a:extLst xmlns:a="http://schemas.openxmlformats.org/drawingml/2006/main">
              <a:ext uri="{FF2B5EF4-FFF2-40B4-BE49-F238E27FC236}">
                <a16:creationId xmlns:a16="http://schemas.microsoft.com/office/drawing/2014/main" id="{5D5DF306-9C22-406F-9889-60B009246A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141C2B4-62DB-4AF2-88DF-AA48B1AE71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162</a:t>
            </a:r>
          </a:p>
        </p:txBody>
      </p:sp>
    </p:spTree>
    <p:extLst>
      <p:ext uri="{BB962C8B-B14F-4D97-AF65-F5344CB8AC3E}">
        <p14:creationId xmlns:p14="http://schemas.microsoft.com/office/powerpoint/2010/main" val="78040491"/>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F14FA2-EEEE-4C51-9ACC-DC019D986E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19A73147-2DB5-4F08-A089-72135CCDE1B4}"/>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Consider NTM, specimen or assay issues, and the remaining probability of TB. Ask the laboratory about the discordance, collect additional specimens and await identification/culture. Make the isolation decision with IP; one result does not replace the institutional pathway. If NTM is isolated, assess full disease criteria before treating. [29] [32]</a:t>
            </a:r>
          </a:p>
        </p:txBody>
      </p:sp>
      <p:sp>
        <p:nvSpPr>
          <p:cNvPr id="3" name="footer">
            <a:extLst xmlns:a="http://schemas.openxmlformats.org/drawingml/2006/main">
              <a:ext uri="{FF2B5EF4-FFF2-40B4-BE49-F238E27FC236}">
                <a16:creationId xmlns:a16="http://schemas.microsoft.com/office/drawing/2014/main" id="{F5E72BBE-F00A-487C-94A4-BDA313DCCB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14421A4-E9F9-470C-9D6B-4F6F1E3ED9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163</a:t>
            </a:r>
          </a:p>
        </p:txBody>
      </p:sp>
    </p:spTree>
    <p:extLst>
      <p:ext uri="{BB962C8B-B14F-4D97-AF65-F5344CB8AC3E}">
        <p14:creationId xmlns:p14="http://schemas.microsoft.com/office/powerpoint/2010/main" val="1152901521"/>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88E1560-0640-462B-8B8B-F7D29D8115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8. A positive IGRA and a growing lung mass</a:t>
            </a:r>
          </a:p>
        </p:txBody>
      </p:sp>
      <p:sp>
        <p:nvSpPr>
          <p:cNvPr id="2" name="paragraph-0">
            <a:extLst xmlns:a="http://schemas.openxmlformats.org/drawingml/2006/main">
              <a:ext uri="{FF2B5EF4-FFF2-40B4-BE49-F238E27FC236}">
                <a16:creationId xmlns:a16="http://schemas.microsoft.com/office/drawing/2014/main" id="{D6E6CFDC-E6F3-4FEB-B28B-710817D7396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remote TB exposure has a positive IGRA and an enlarging cavitary lung lesion. Initial sputum studies are unrevealing.</a:t>
            </a:r>
          </a:p>
        </p:txBody>
      </p:sp>
      <p:sp>
        <p:nvSpPr>
          <p:cNvPr id="3" name="paragraph-1">
            <a:extLst xmlns:a="http://schemas.openxmlformats.org/drawingml/2006/main">
              <a:ext uri="{FF2B5EF4-FFF2-40B4-BE49-F238E27FC236}">
                <a16:creationId xmlns:a16="http://schemas.microsoft.com/office/drawing/2014/main" id="{7BA1E0CC-E365-48F8-9D67-8364F9EDF485}"/>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Does the IGRA justify closing the differential?</a:t>
            </a:r>
          </a:p>
        </p:txBody>
      </p:sp>
      <p:sp>
        <p:nvSpPr>
          <p:cNvPr id="4" name="footer">
            <a:extLst xmlns:a="http://schemas.openxmlformats.org/drawingml/2006/main">
              <a:ext uri="{FF2B5EF4-FFF2-40B4-BE49-F238E27FC236}">
                <a16:creationId xmlns:a16="http://schemas.microsoft.com/office/drawing/2014/main" id="{32D5B952-F14F-47AC-95D8-D57B1550EA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A7EE3BE-90EB-4222-8D13-3C866AA0102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164</a:t>
            </a:r>
          </a:p>
        </p:txBody>
      </p:sp>
    </p:spTree>
    <p:extLst>
      <p:ext uri="{BB962C8B-B14F-4D97-AF65-F5344CB8AC3E}">
        <p14:creationId xmlns:p14="http://schemas.microsoft.com/office/powerpoint/2010/main" val="924507117"/>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9E3594-DC35-4A08-8C66-C404B217118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9F8D1FB5-845F-4F60-B0BF-A5BA784096D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Infection testing does not identify the cause of the lesion. Continue a directed TB evaluation and consider tissue for malignancy, fungal infection and other mimics. Coordinate fresh tissue for cultures alongside pathology. [5] [34]</a:t>
            </a:r>
          </a:p>
        </p:txBody>
      </p:sp>
      <p:sp>
        <p:nvSpPr>
          <p:cNvPr id="3" name="footer">
            <a:extLst xmlns:a="http://schemas.openxmlformats.org/drawingml/2006/main">
              <a:ext uri="{FF2B5EF4-FFF2-40B4-BE49-F238E27FC236}">
                <a16:creationId xmlns:a16="http://schemas.microsoft.com/office/drawing/2014/main" id="{40797FAF-3AA9-43EB-B040-086CBDB5E8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2C0F6B1-6151-4443-830F-68E924B55B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165</a:t>
            </a:r>
          </a:p>
        </p:txBody>
      </p:sp>
    </p:spTree>
    <p:extLst>
      <p:ext uri="{BB962C8B-B14F-4D97-AF65-F5344CB8AC3E}">
        <p14:creationId xmlns:p14="http://schemas.microsoft.com/office/powerpoint/2010/main" val="467772368"/>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79A835-7214-415F-852B-68CD78E29D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9. Prevention before anti-TNF therapy</a:t>
            </a:r>
          </a:p>
        </p:txBody>
      </p:sp>
      <p:sp>
        <p:nvSpPr>
          <p:cNvPr id="2" name="paragraph-0">
            <a:extLst xmlns:a="http://schemas.openxmlformats.org/drawingml/2006/main">
              <a:ext uri="{FF2B5EF4-FFF2-40B4-BE49-F238E27FC236}">
                <a16:creationId xmlns:a16="http://schemas.microsoft.com/office/drawing/2014/main" id="{87748C38-B123-46AB-84E6-1770F754CF7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asymptomatic adult has a positive IGRA before anti-TNF treatment, a normal chest radiograph and no evidence of active disease.</a:t>
            </a:r>
          </a:p>
        </p:txBody>
      </p:sp>
      <p:sp>
        <p:nvSpPr>
          <p:cNvPr id="3" name="paragraph-1">
            <a:extLst xmlns:a="http://schemas.openxmlformats.org/drawingml/2006/main">
              <a:ext uri="{FF2B5EF4-FFF2-40B4-BE49-F238E27FC236}">
                <a16:creationId xmlns:a16="http://schemas.microsoft.com/office/drawing/2014/main" id="{F656F94B-DC73-4EB9-AA4A-F8FD4A00CC26}"/>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makes a useful LTBI plan?</a:t>
            </a:r>
          </a:p>
        </p:txBody>
      </p:sp>
      <p:sp>
        <p:nvSpPr>
          <p:cNvPr id="4" name="footer">
            <a:extLst xmlns:a="http://schemas.openxmlformats.org/drawingml/2006/main">
              <a:ext uri="{FF2B5EF4-FFF2-40B4-BE49-F238E27FC236}">
                <a16:creationId xmlns:a16="http://schemas.microsoft.com/office/drawing/2014/main" id="{B3809734-4215-4601-AC6C-AB6C75F78FB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BB6EF498-90E7-48B8-91F4-135945BE79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166</a:t>
            </a:r>
          </a:p>
        </p:txBody>
      </p:sp>
    </p:spTree>
    <p:extLst>
      <p:ext uri="{BB962C8B-B14F-4D97-AF65-F5344CB8AC3E}">
        <p14:creationId xmlns:p14="http://schemas.microsoft.com/office/powerpoint/2010/main" val="1472199925"/>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78C0B4-0805-4EA1-BADE-95B75DCA4DA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Reason through the decision</a:t>
            </a:r>
          </a:p>
        </p:txBody>
      </p:sp>
      <p:sp>
        <p:nvSpPr>
          <p:cNvPr id="2" name="paragraph-0">
            <a:extLst xmlns:a="http://schemas.openxmlformats.org/drawingml/2006/main">
              <a:ext uri="{FF2B5EF4-FFF2-40B4-BE49-F238E27FC236}">
                <a16:creationId xmlns:a16="http://schemas.microsoft.com/office/drawing/2014/main" id="{D3A3B521-F0E2-4B75-9ECC-E20A0830EF3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Choose a compatible short-course regimen when possible after medication and exposure review. Specify doses, monitoring, adherence support and documentation. Coordinate timing of immunosuppression with the treating team; do not apply one universal interval to every biologic and clinical urgency. [35] [24]</a:t>
            </a:r>
          </a:p>
        </p:txBody>
      </p:sp>
      <p:sp>
        <p:nvSpPr>
          <p:cNvPr id="3" name="footer">
            <a:extLst xmlns:a="http://schemas.openxmlformats.org/drawingml/2006/main">
              <a:ext uri="{FF2B5EF4-FFF2-40B4-BE49-F238E27FC236}">
                <a16:creationId xmlns:a16="http://schemas.microsoft.com/office/drawing/2014/main" id="{049D9013-790E-4E7E-90BF-0AAA80BA1FD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A8AF72F-F339-4BB8-B378-0C4783200D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167</a:t>
            </a:r>
          </a:p>
        </p:txBody>
      </p:sp>
    </p:spTree>
    <p:extLst>
      <p:ext uri="{BB962C8B-B14F-4D97-AF65-F5344CB8AC3E}">
        <p14:creationId xmlns:p14="http://schemas.microsoft.com/office/powerpoint/2010/main" val="2004677493"/>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6EFBC8B-C7DF-47B7-973F-33E164E4BF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useful consult note specifies what happens next</a:t>
            </a:r>
          </a:p>
        </p:txBody>
      </p:sp>
      <p:sp>
        <p:nvSpPr>
          <p:cNvPr id="2" name="paragraph-0">
            <a:extLst xmlns:a="http://schemas.openxmlformats.org/drawingml/2006/main">
              <a:ext uri="{FF2B5EF4-FFF2-40B4-BE49-F238E27FC236}">
                <a16:creationId xmlns:a16="http://schemas.microsoft.com/office/drawing/2014/main" id="{2F128C39-BB28-493E-BF88-33F34B323F8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Communicate the disease classification, infectiousness assessment, regimen and its rationale, completed doses, pending resistance results, toxicity plan and person responsible for follow-up. A prescription without an access and follow-up plan is incomplete.</a:t>
            </a:r>
          </a:p>
        </p:txBody>
      </p:sp>
      <p:sp>
        <p:nvSpPr>
          <p:cNvPr id="3" name="footer">
            <a:extLst xmlns:a="http://schemas.openxmlformats.org/drawingml/2006/main">
              <a:ext uri="{FF2B5EF4-FFF2-40B4-BE49-F238E27FC236}">
                <a16:creationId xmlns:a16="http://schemas.microsoft.com/office/drawing/2014/main" id="{BECD56FC-BEFB-4A8A-B182-16AFABB1227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91381B3-F664-460D-AAEE-A7A99AF6042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168</a:t>
            </a:r>
          </a:p>
        </p:txBody>
      </p:sp>
    </p:spTree>
    <p:extLst>
      <p:ext uri="{BB962C8B-B14F-4D97-AF65-F5344CB8AC3E}">
        <p14:creationId xmlns:p14="http://schemas.microsoft.com/office/powerpoint/2010/main" val="378537580"/>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503641-DE99-4AAD-875C-6AB523828A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useful consult note specifies what happens next</a:t>
            </a:r>
          </a:p>
        </p:txBody>
      </p:sp>
      <p:sp>
        <p:nvSpPr>
          <p:cNvPr id="2" name="paragraph-0">
            <a:extLst xmlns:a="http://schemas.openxmlformats.org/drawingml/2006/main">
              <a:ext uri="{FF2B5EF4-FFF2-40B4-BE49-F238E27FC236}">
                <a16:creationId xmlns:a16="http://schemas.microsoft.com/office/drawing/2014/main" id="{6C338F39-5458-4623-8932-F18DF53956FA}"/>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Suspected/confirmed TB at [site], with [microbiology and resistance results]. Airborne precautions [status and criteria to reassess with infection prevention]. Regimen [full drug names, doses, start date and rationale]. Pending tests [culture, molecular and phenotypic DST, other sites]. Monitoring [specific tests, next date and clinician/program reviewing them]. Duration [provisional course and findings that would change it]. Public-health coordination [program, contact and plan for DOT/vDOT]. Discharge [medication supply, follow-up, household risk assessment and transport plan].</a:t>
            </a:r>
          </a:p>
        </p:txBody>
      </p:sp>
      <p:sp>
        <p:nvSpPr>
          <p:cNvPr id="3" name="footer">
            <a:extLst xmlns:a="http://schemas.openxmlformats.org/drawingml/2006/main">
              <a:ext uri="{FF2B5EF4-FFF2-40B4-BE49-F238E27FC236}">
                <a16:creationId xmlns:a16="http://schemas.microsoft.com/office/drawing/2014/main" id="{0BAAE11F-34B2-4A80-B53E-F84609E5DE6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4F62381-3011-4EC7-9D8F-0C4DA8C6E0C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169</a:t>
            </a:r>
          </a:p>
        </p:txBody>
      </p:sp>
    </p:spTree>
    <p:extLst>
      <p:ext uri="{BB962C8B-B14F-4D97-AF65-F5344CB8AC3E}">
        <p14:creationId xmlns:p14="http://schemas.microsoft.com/office/powerpoint/2010/main" val="709913751"/>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17CC156-2ADA-42E3-A657-076372BB98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implementation</a:t>
            </a:r>
          </a:p>
        </p:txBody>
      </p:sp>
      <p:sp>
        <p:nvSpPr>
          <p:cNvPr id="2" name="paragraph-0">
            <a:extLst xmlns:a="http://schemas.openxmlformats.org/drawingml/2006/main">
              <a:ext uri="{FF2B5EF4-FFF2-40B4-BE49-F238E27FC236}">
                <a16:creationId xmlns:a16="http://schemas.microsoft.com/office/drawing/2014/main" id="{7660A61C-37A6-4BB9-82B4-F76C35130D2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current isolation rules, laboratory testing, reporting, TB-program consultation, and drug access with the treating institution. A lecture summary does not establish an isolation decision.</a:t>
            </a:r>
          </a:p>
        </p:txBody>
      </p:sp>
      <p:sp>
        <p:nvSpPr>
          <p:cNvPr id="3" name="footer">
            <a:extLst xmlns:a="http://schemas.openxmlformats.org/drawingml/2006/main">
              <a:ext uri="{FF2B5EF4-FFF2-40B4-BE49-F238E27FC236}">
                <a16:creationId xmlns:a16="http://schemas.microsoft.com/office/drawing/2014/main" id="{AEA7E635-51AB-4597-BF48-C80BF611BE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2E6C389-35C1-487B-99FA-D8E20A7485A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170</a:t>
            </a:r>
          </a:p>
        </p:txBody>
      </p:sp>
    </p:spTree>
    <p:extLst>
      <p:ext uri="{BB962C8B-B14F-4D97-AF65-F5344CB8AC3E}">
        <p14:creationId xmlns:p14="http://schemas.microsoft.com/office/powerpoint/2010/main" val="1679429040"/>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EE7ABF5-9804-4794-861F-C3714AB10B7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289B41F6-0381-4447-A893-A67B04FF110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Pause before reading each answer. These are discussion questions for individual study or facilitated teaching.</a:t>
            </a:r>
          </a:p>
        </p:txBody>
      </p:sp>
      <p:sp>
        <p:nvSpPr>
          <p:cNvPr id="3" name="paragraph-1">
            <a:extLst xmlns:a="http://schemas.openxmlformats.org/drawingml/2006/main">
              <a:ext uri="{FF2B5EF4-FFF2-40B4-BE49-F238E27FC236}">
                <a16:creationId xmlns:a16="http://schemas.microsoft.com/office/drawing/2014/main" id="{CC6FF121-BCD5-49B2-A9E3-4DF469F2BBBA}"/>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Why should a positive NAAT still be followed by culture?</a:t>
            </a:r>
          </a:p>
        </p:txBody>
      </p:sp>
      <p:sp>
        <p:nvSpPr>
          <p:cNvPr id="4" name="footer">
            <a:extLst xmlns:a="http://schemas.openxmlformats.org/drawingml/2006/main">
              <a:ext uri="{FF2B5EF4-FFF2-40B4-BE49-F238E27FC236}">
                <a16:creationId xmlns:a16="http://schemas.microsoft.com/office/drawing/2014/main" id="{03BFFA39-AA76-4BDD-BB6E-0807ACF770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515F09B-72B0-4FBD-8035-EB1D023678F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171</a:t>
            </a:r>
          </a:p>
        </p:txBody>
      </p:sp>
    </p:spTree>
    <p:extLst>
      <p:ext uri="{BB962C8B-B14F-4D97-AF65-F5344CB8AC3E}">
        <p14:creationId xmlns:p14="http://schemas.microsoft.com/office/powerpoint/2010/main" val="1785491783"/>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48A7CF-90B2-4394-8F07-CE3456A93A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F0C1BC44-B13E-4F62-A6CC-01F0427E9C2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Culture supports organism recovery, susceptibility testing and response assessment. A molecular result does not replace those functions. [5]</a:t>
            </a:r>
          </a:p>
        </p:txBody>
      </p:sp>
      <p:sp>
        <p:nvSpPr>
          <p:cNvPr id="3" name="footer">
            <a:extLst xmlns:a="http://schemas.openxmlformats.org/drawingml/2006/main">
              <a:ext uri="{FF2B5EF4-FFF2-40B4-BE49-F238E27FC236}">
                <a16:creationId xmlns:a16="http://schemas.microsoft.com/office/drawing/2014/main" id="{7C906326-4F9A-43BF-BFC6-CD946BFA42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B49007D-AC74-4CFC-AF9F-5FD2CF0D960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172</a:t>
            </a:r>
          </a:p>
        </p:txBody>
      </p:sp>
    </p:spTree>
    <p:extLst>
      <p:ext uri="{BB962C8B-B14F-4D97-AF65-F5344CB8AC3E}">
        <p14:creationId xmlns:p14="http://schemas.microsoft.com/office/powerpoint/2010/main" val="1143000468"/>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02574BA-64D1-4A49-B00C-396F03FF02A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D6904B07-62DF-4590-8698-092B3562D49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Which two findings commonly extend the standard pulmonary course to nine months?</a:t>
            </a:r>
          </a:p>
        </p:txBody>
      </p:sp>
      <p:sp>
        <p:nvSpPr>
          <p:cNvPr id="3" name="footer">
            <a:extLst xmlns:a="http://schemas.openxmlformats.org/drawingml/2006/main">
              <a:ext uri="{FF2B5EF4-FFF2-40B4-BE49-F238E27FC236}">
                <a16:creationId xmlns:a16="http://schemas.microsoft.com/office/drawing/2014/main" id="{4E44DC54-6D47-412E-9496-03860383BDE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C8C6D5A-FE80-4EF5-8EC6-50DC348D76E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173</a:t>
            </a:r>
          </a:p>
        </p:txBody>
      </p:sp>
    </p:spTree>
    <p:extLst>
      <p:ext uri="{BB962C8B-B14F-4D97-AF65-F5344CB8AC3E}">
        <p14:creationId xmlns:p14="http://schemas.microsoft.com/office/powerpoint/2010/main" val="2053843367"/>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3D6438-333A-4899-8134-ECD80871C4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8044BB54-132F-4E38-892A-B01361EBDD3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Baseline cavitation plus a positive sputum culture at completion of two months. Investigate adherence, susceptibility and exposure as part of the same decision. [3]</a:t>
            </a:r>
          </a:p>
        </p:txBody>
      </p:sp>
      <p:sp>
        <p:nvSpPr>
          <p:cNvPr id="3" name="footer">
            <a:extLst xmlns:a="http://schemas.openxmlformats.org/drawingml/2006/main">
              <a:ext uri="{FF2B5EF4-FFF2-40B4-BE49-F238E27FC236}">
                <a16:creationId xmlns:a16="http://schemas.microsoft.com/office/drawing/2014/main" id="{5D3BBEE8-4F99-4E53-A09C-CD1F6C5FCA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D53C8A7-3F92-4324-A867-2AF0DFC999E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174</a:t>
            </a:r>
          </a:p>
        </p:txBody>
      </p:sp>
    </p:spTree>
    <p:extLst>
      <p:ext uri="{BB962C8B-B14F-4D97-AF65-F5344CB8AC3E}">
        <p14:creationId xmlns:p14="http://schemas.microsoft.com/office/powerpoint/2010/main" val="1344916444"/>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82FD8F-7CB6-4749-A530-AF18FC67CFA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FA868152-DE56-4D14-B3B1-05B4AD7974D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How does daily rifapentine for active TB differ from 3HP?</a:t>
            </a:r>
          </a:p>
        </p:txBody>
      </p:sp>
      <p:sp>
        <p:nvSpPr>
          <p:cNvPr id="3" name="footer">
            <a:extLst xmlns:a="http://schemas.openxmlformats.org/drawingml/2006/main">
              <a:ext uri="{FF2B5EF4-FFF2-40B4-BE49-F238E27FC236}">
                <a16:creationId xmlns:a16="http://schemas.microsoft.com/office/drawing/2014/main" id="{FA1DD7E0-C2CB-4736-B2C3-49B55D9359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462CFC4-5D4B-4ABD-BCE9-5940612312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175</a:t>
            </a:r>
          </a:p>
        </p:txBody>
      </p:sp>
    </p:spTree>
    <p:extLst>
      <p:ext uri="{BB962C8B-B14F-4D97-AF65-F5344CB8AC3E}">
        <p14:creationId xmlns:p14="http://schemas.microsoft.com/office/powerpoint/2010/main" val="1148996827"/>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4BD36E-B17A-4AAE-BD92-C884D5A123D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434AE718-D836-48C7-8EE8-242AB983BA8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active-TB regimen uses daily rifapentine within HPZM/HPM for 17 weeks. 3HP uses weekly isoniazid-rifapentine for prevention. Neither the schedules nor the treatment purposes are interchangeable. [4]</a:t>
            </a:r>
          </a:p>
        </p:txBody>
      </p:sp>
      <p:sp>
        <p:nvSpPr>
          <p:cNvPr id="3" name="footer">
            <a:extLst xmlns:a="http://schemas.openxmlformats.org/drawingml/2006/main">
              <a:ext uri="{FF2B5EF4-FFF2-40B4-BE49-F238E27FC236}">
                <a16:creationId xmlns:a16="http://schemas.microsoft.com/office/drawing/2014/main" id="{71DB78F3-93F3-48A8-B0B1-EF8AC0B5A4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E50B4EF-2E85-4D19-BB80-8FEC6256847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176</a:t>
            </a:r>
          </a:p>
        </p:txBody>
      </p:sp>
    </p:spTree>
    <p:extLst>
      <p:ext uri="{BB962C8B-B14F-4D97-AF65-F5344CB8AC3E}">
        <p14:creationId xmlns:p14="http://schemas.microsoft.com/office/powerpoint/2010/main" val="189940029"/>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71EF83-BC99-4B52-BDAD-8603EAC912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962D99BD-5582-4EFC-9728-5B4D7797CC2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When does BPaL replace BPaLM in the U.S. guideline?</a:t>
            </a:r>
          </a:p>
        </p:txBody>
      </p:sp>
      <p:sp>
        <p:nvSpPr>
          <p:cNvPr id="3" name="footer">
            <a:extLst xmlns:a="http://schemas.openxmlformats.org/drawingml/2006/main">
              <a:ext uri="{FF2B5EF4-FFF2-40B4-BE49-F238E27FC236}">
                <a16:creationId xmlns:a16="http://schemas.microsoft.com/office/drawing/2014/main" id="{E1B86684-10E7-4CED-8411-9497B33AA81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06EBA59-C00C-418F-8EC2-2AF3C96A43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177</a:t>
            </a:r>
          </a:p>
        </p:txBody>
      </p:sp>
    </p:spTree>
    <p:extLst>
      <p:ext uri="{BB962C8B-B14F-4D97-AF65-F5344CB8AC3E}">
        <p14:creationId xmlns:p14="http://schemas.microsoft.com/office/powerpoint/2010/main" val="1561036835"/>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C383DB-830D-415F-B7A0-D8A1A3505F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BB01EFE1-5EE7-40A1-9456-FF40498B238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otherwise eligible rifampin-resistant pulmonary disease with fluoroquinolone resistance or intolerance. Component activity and other eligibility restrictions still apply. [1]</a:t>
            </a:r>
          </a:p>
        </p:txBody>
      </p:sp>
      <p:sp>
        <p:nvSpPr>
          <p:cNvPr id="3" name="footer">
            <a:extLst xmlns:a="http://schemas.openxmlformats.org/drawingml/2006/main">
              <a:ext uri="{FF2B5EF4-FFF2-40B4-BE49-F238E27FC236}">
                <a16:creationId xmlns:a16="http://schemas.microsoft.com/office/drawing/2014/main" id="{89F9A7D7-0097-4066-943E-E81C10961DE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4B93DDF-BD1D-4BEC-8915-3AFBD906F9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178</a:t>
            </a:r>
          </a:p>
        </p:txBody>
      </p:sp>
    </p:spTree>
    <p:extLst>
      <p:ext uri="{BB962C8B-B14F-4D97-AF65-F5344CB8AC3E}">
        <p14:creationId xmlns:p14="http://schemas.microsoft.com/office/powerpoint/2010/main" val="1363711245"/>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047BDA-0C01-4500-997F-2DCCFEF4573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CBE940A8-817A-47CB-B37D-0272DEDC28F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What is the response to symptomatic ALT elevation above three times the upper limit of normal?</a:t>
            </a:r>
          </a:p>
        </p:txBody>
      </p:sp>
      <p:sp>
        <p:nvSpPr>
          <p:cNvPr id="3" name="footer">
            <a:extLst xmlns:a="http://schemas.openxmlformats.org/drawingml/2006/main">
              <a:ext uri="{FF2B5EF4-FFF2-40B4-BE49-F238E27FC236}">
                <a16:creationId xmlns:a16="http://schemas.microsoft.com/office/drawing/2014/main" id="{47464FA8-E2D7-41A8-8C55-6B29D07F1BA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BC5F5D2-2B06-4AC0-A7AC-03A62ABA62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179</a:t>
            </a:r>
          </a:p>
        </p:txBody>
      </p:sp>
    </p:spTree>
    <p:extLst>
      <p:ext uri="{BB962C8B-B14F-4D97-AF65-F5344CB8AC3E}">
        <p14:creationId xmlns:p14="http://schemas.microsoft.com/office/powerpoint/2010/main" val="464313135"/>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29D026-30A8-437B-B6A4-E26BD84A062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9485AB74-9672-45D8-8CE8-32AB632804D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Hold hepatotoxic drugs and evaluate promptly. Determine severity and an active interim/reintroduction plan with the TB team rather than continuing an ineffective partial regimen. [2]</a:t>
            </a:r>
          </a:p>
        </p:txBody>
      </p:sp>
      <p:sp>
        <p:nvSpPr>
          <p:cNvPr id="3" name="footer">
            <a:extLst xmlns:a="http://schemas.openxmlformats.org/drawingml/2006/main">
              <a:ext uri="{FF2B5EF4-FFF2-40B4-BE49-F238E27FC236}">
                <a16:creationId xmlns:a16="http://schemas.microsoft.com/office/drawing/2014/main" id="{F8DF5AB5-126B-4A3F-88B8-A9E4C50D77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C96FC0F-A10E-4937-B305-BB3381A0647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180</a:t>
            </a:r>
          </a:p>
        </p:txBody>
      </p:sp>
    </p:spTree>
    <p:extLst>
      <p:ext uri="{BB962C8B-B14F-4D97-AF65-F5344CB8AC3E}">
        <p14:creationId xmlns:p14="http://schemas.microsoft.com/office/powerpoint/2010/main" val="2032669286"/>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F7F3D76-3F0A-4D87-8538-DDEF06328C4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21B8F371-1124-402D-BAFF-465E8CCE4F1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What does the quabodepistat primary endpoint fail to prove?</a:t>
            </a:r>
          </a:p>
        </p:txBody>
      </p:sp>
      <p:sp>
        <p:nvSpPr>
          <p:cNvPr id="3" name="footer">
            <a:extLst xmlns:a="http://schemas.openxmlformats.org/drawingml/2006/main">
              <a:ext uri="{FF2B5EF4-FFF2-40B4-BE49-F238E27FC236}">
                <a16:creationId xmlns:a16="http://schemas.microsoft.com/office/drawing/2014/main" id="{C466A2DC-E90F-490F-82D8-EAA18B611D2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EF7AD98-61D5-4AD5-B6F4-BDD8123136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181</a:t>
            </a:r>
          </a:p>
        </p:txBody>
      </p:sp>
    </p:spTree>
    <p:extLst>
      <p:ext uri="{BB962C8B-B14F-4D97-AF65-F5344CB8AC3E}">
        <p14:creationId xmlns:p14="http://schemas.microsoft.com/office/powerpoint/2010/main" val="1099105861"/>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2AD4FAD-9428-45D0-891A-01E1DEC9F5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D5581595-7596-4C04-A5D1-9DC23324920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End-of-treatment sputum conversion is not the same as relapse-free cure. A small proof-of-concept study cannot establish effectiveness across disease sites or resistance patterns. [17]</a:t>
            </a:r>
          </a:p>
        </p:txBody>
      </p:sp>
      <p:sp>
        <p:nvSpPr>
          <p:cNvPr id="3" name="footer">
            <a:extLst xmlns:a="http://schemas.openxmlformats.org/drawingml/2006/main">
              <a:ext uri="{FF2B5EF4-FFF2-40B4-BE49-F238E27FC236}">
                <a16:creationId xmlns:a16="http://schemas.microsoft.com/office/drawing/2014/main" id="{6761D8CF-6E4A-46CF-B034-52F6F341C21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DD77310-034A-44B4-B702-357358B013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182</a:t>
            </a:r>
          </a:p>
        </p:txBody>
      </p:sp>
    </p:spTree>
    <p:extLst>
      <p:ext uri="{BB962C8B-B14F-4D97-AF65-F5344CB8AC3E}">
        <p14:creationId xmlns:p14="http://schemas.microsoft.com/office/powerpoint/2010/main" val="1357870799"/>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37E876-AF86-46BA-8B69-F7C7B1A84BC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3D9EB86F-95BA-4D75-89C8-A37284FB0BC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7. Why can the TRUNCATE strategy succeed while its initial regimen has more relapse?</a:t>
            </a:r>
          </a:p>
        </p:txBody>
      </p:sp>
      <p:sp>
        <p:nvSpPr>
          <p:cNvPr id="3" name="footer">
            <a:extLst xmlns:a="http://schemas.openxmlformats.org/drawingml/2006/main">
              <a:ext uri="{FF2B5EF4-FFF2-40B4-BE49-F238E27FC236}">
                <a16:creationId xmlns:a16="http://schemas.microsoft.com/office/drawing/2014/main" id="{809378D1-F5D8-4994-B4E0-FBEFB995CDA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8EFD2A8-C6EF-4111-AFF7-C5684F48AB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183</a:t>
            </a:r>
          </a:p>
        </p:txBody>
      </p:sp>
    </p:spTree>
    <p:extLst>
      <p:ext uri="{BB962C8B-B14F-4D97-AF65-F5344CB8AC3E}">
        <p14:creationId xmlns:p14="http://schemas.microsoft.com/office/powerpoint/2010/main" val="92183336"/>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1B66CFD-F0A1-42F1-A968-7916847B8B6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6B2092B4-6A6C-45C7-9D88-97454F5F41E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strategy includes detection and retreatment of relapse; successful retreatment can prevent a week-96 strategy failure. That does not erase failure of the initial course. [16]</a:t>
            </a:r>
          </a:p>
        </p:txBody>
      </p:sp>
      <p:sp>
        <p:nvSpPr>
          <p:cNvPr id="3" name="footer">
            <a:extLst xmlns:a="http://schemas.openxmlformats.org/drawingml/2006/main">
              <a:ext uri="{FF2B5EF4-FFF2-40B4-BE49-F238E27FC236}">
                <a16:creationId xmlns:a16="http://schemas.microsoft.com/office/drawing/2014/main" id="{DD863087-C0E2-4999-80BB-7FD0F044DA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72026D0-AFF6-4821-B974-D4A00E2779F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184</a:t>
            </a:r>
          </a:p>
        </p:txBody>
      </p:sp>
    </p:spTree>
    <p:extLst>
      <p:ext uri="{BB962C8B-B14F-4D97-AF65-F5344CB8AC3E}">
        <p14:creationId xmlns:p14="http://schemas.microsoft.com/office/powerpoint/2010/main" val="160736695"/>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1F45F67-1717-44C3-8495-ED3D686A6FE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360DA35A-A773-4697-81F5-F0D03E83139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8. Can a contact with cough and an abnormal radiograph start levofloxacin prevention immediately?</a:t>
            </a:r>
          </a:p>
        </p:txBody>
      </p:sp>
      <p:sp>
        <p:nvSpPr>
          <p:cNvPr id="3" name="footer">
            <a:extLst xmlns:a="http://schemas.openxmlformats.org/drawingml/2006/main">
              <a:ext uri="{FF2B5EF4-FFF2-40B4-BE49-F238E27FC236}">
                <a16:creationId xmlns:a16="http://schemas.microsoft.com/office/drawing/2014/main" id="{6CA9A671-1581-437D-98E2-409A03DBF7D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A7AB003-63D7-428D-A5C5-AFD02A6016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185</a:t>
            </a:r>
          </a:p>
        </p:txBody>
      </p:sp>
    </p:spTree>
    <p:extLst>
      <p:ext uri="{BB962C8B-B14F-4D97-AF65-F5344CB8AC3E}">
        <p14:creationId xmlns:p14="http://schemas.microsoft.com/office/powerpoint/2010/main" val="81130512"/>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EE47B65-EFDB-41BC-89A3-AE9F2D02A2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10D94DAD-2ACF-408E-BD7B-F29F5BB7782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Evaluate for active TB first. If disease is present, monotherapy is inappropriate and risks acquired resistance. Source-case DST also informs preventive selection. [25]</a:t>
            </a:r>
          </a:p>
        </p:txBody>
      </p:sp>
      <p:sp>
        <p:nvSpPr>
          <p:cNvPr id="3" name="footer">
            <a:extLst xmlns:a="http://schemas.openxmlformats.org/drawingml/2006/main">
              <a:ext uri="{FF2B5EF4-FFF2-40B4-BE49-F238E27FC236}">
                <a16:creationId xmlns:a16="http://schemas.microsoft.com/office/drawing/2014/main" id="{03037509-259F-4845-ADA2-94CEAE6AC1D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DCDEE0D-2EEF-4282-97FC-9648F9AF59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186</a:t>
            </a:r>
          </a:p>
        </p:txBody>
      </p:sp>
    </p:spTree>
    <p:extLst>
      <p:ext uri="{BB962C8B-B14F-4D97-AF65-F5344CB8AC3E}">
        <p14:creationId xmlns:p14="http://schemas.microsoft.com/office/powerpoint/2010/main" val="1256113550"/>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2308C6B-C2C8-4C7D-A87F-15983639992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8FFEC62F-FB0E-41C7-AD93-76CC6C3D2360}"/>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9. Does a positive IGRA explain a cavitary lung lesion?</a:t>
            </a:r>
          </a:p>
        </p:txBody>
      </p:sp>
      <p:sp>
        <p:nvSpPr>
          <p:cNvPr id="3" name="footer">
            <a:extLst xmlns:a="http://schemas.openxmlformats.org/drawingml/2006/main">
              <a:ext uri="{FF2B5EF4-FFF2-40B4-BE49-F238E27FC236}">
                <a16:creationId xmlns:a16="http://schemas.microsoft.com/office/drawing/2014/main" id="{3D0DC5AE-F673-478B-B5E7-7448FBC8B0A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44F2D72-EA92-4042-8F17-5E8896DD5A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187</a:t>
            </a:r>
          </a:p>
        </p:txBody>
      </p:sp>
    </p:spTree>
    <p:extLst>
      <p:ext uri="{BB962C8B-B14F-4D97-AF65-F5344CB8AC3E}">
        <p14:creationId xmlns:p14="http://schemas.microsoft.com/office/powerpoint/2010/main" val="1706119766"/>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98AAEF-1594-4890-8007-093A96DE854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05D25428-51E8-43F3-ACA4-9CB57AD9114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It supports infection but does not establish the cause of the lesion. Evaluate TB disease and competing diagnoses, with microbiology and tissue when indicated. [5]</a:t>
            </a:r>
          </a:p>
        </p:txBody>
      </p:sp>
      <p:sp>
        <p:nvSpPr>
          <p:cNvPr id="3" name="footer">
            <a:extLst xmlns:a="http://schemas.openxmlformats.org/drawingml/2006/main">
              <a:ext uri="{FF2B5EF4-FFF2-40B4-BE49-F238E27FC236}">
                <a16:creationId xmlns:a16="http://schemas.microsoft.com/office/drawing/2014/main" id="{79B336D3-BE6C-4CF0-81E5-68BE69FA85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1FF3247-17CB-4EFF-9478-C5C878BB5A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188</a:t>
            </a:r>
          </a:p>
        </p:txBody>
      </p:sp>
    </p:spTree>
    <p:extLst>
      <p:ext uri="{BB962C8B-B14F-4D97-AF65-F5344CB8AC3E}">
        <p14:creationId xmlns:p14="http://schemas.microsoft.com/office/powerpoint/2010/main" val="1098736091"/>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33FABA-C134-4EAF-BAD0-55032611199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that you can explain the decisions</a:t>
            </a:r>
          </a:p>
        </p:txBody>
      </p:sp>
      <p:sp>
        <p:nvSpPr>
          <p:cNvPr id="2" name="paragraph-0">
            <a:extLst xmlns:a="http://schemas.openxmlformats.org/drawingml/2006/main">
              <a:ext uri="{FF2B5EF4-FFF2-40B4-BE49-F238E27FC236}">
                <a16:creationId xmlns:a16="http://schemas.microsoft.com/office/drawing/2014/main" id="{DE6AB487-0EB0-49A6-B99A-3BD4768B73D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10. What must happen before starting 4R for latent infection?</a:t>
            </a:r>
          </a:p>
        </p:txBody>
      </p:sp>
      <p:sp>
        <p:nvSpPr>
          <p:cNvPr id="3" name="footer">
            <a:extLst xmlns:a="http://schemas.openxmlformats.org/drawingml/2006/main">
              <a:ext uri="{FF2B5EF4-FFF2-40B4-BE49-F238E27FC236}">
                <a16:creationId xmlns:a16="http://schemas.microsoft.com/office/drawing/2014/main" id="{81913F27-BEBB-45D4-8770-CDA46113FA7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78DE750-7834-4A8B-AE62-204354A946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189</a:t>
            </a:r>
          </a:p>
        </p:txBody>
      </p:sp>
    </p:spTree>
    <p:extLst>
      <p:ext uri="{BB962C8B-B14F-4D97-AF65-F5344CB8AC3E}">
        <p14:creationId xmlns:p14="http://schemas.microsoft.com/office/powerpoint/2010/main" val="1589245940"/>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4803CE-A828-492C-A8E6-502FD7F493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and rationale</a:t>
            </a:r>
          </a:p>
        </p:txBody>
      </p:sp>
      <p:sp>
        <p:nvSpPr>
          <p:cNvPr id="2" name="paragraph-0">
            <a:extLst xmlns:a="http://schemas.openxmlformats.org/drawingml/2006/main">
              <a:ext uri="{FF2B5EF4-FFF2-40B4-BE49-F238E27FC236}">
                <a16:creationId xmlns:a16="http://schemas.microsoft.com/office/drawing/2014/main" id="{E9E172C2-166A-4738-8F0E-B37F182D1BC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Exclude active TB, review source resistance and drug interactions, and arrange dosing, counseling and monthly follow-up. Rifampin alone is inappropriate treatment for active TB. [35]</a:t>
            </a:r>
          </a:p>
        </p:txBody>
      </p:sp>
      <p:sp>
        <p:nvSpPr>
          <p:cNvPr id="3" name="footer">
            <a:extLst xmlns:a="http://schemas.openxmlformats.org/drawingml/2006/main">
              <a:ext uri="{FF2B5EF4-FFF2-40B4-BE49-F238E27FC236}">
                <a16:creationId xmlns:a16="http://schemas.microsoft.com/office/drawing/2014/main" id="{C2305F56-0E6B-4818-80C0-5BA52D43588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6C4AEFF-E79F-4E17-AC9F-91A760C2CC8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190</a:t>
            </a:r>
          </a:p>
        </p:txBody>
      </p:sp>
    </p:spTree>
    <p:extLst>
      <p:ext uri="{BB962C8B-B14F-4D97-AF65-F5344CB8AC3E}">
        <p14:creationId xmlns:p14="http://schemas.microsoft.com/office/powerpoint/2010/main" val="2048419786"/>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1E0B57A-89BD-40A0-87E1-F4868B16680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TB on rounds: diagnose, distinguish, treat</a:t>
            </a:r>
          </a:p>
        </p:txBody>
      </p:sp>
      <p:sp>
        <p:nvSpPr>
          <p:cNvPr id="2" name="paragraph-0">
            <a:extLst xmlns:a="http://schemas.openxmlformats.org/drawingml/2006/main">
              <a:ext uri="{FF2B5EF4-FFF2-40B4-BE49-F238E27FC236}">
                <a16:creationId xmlns:a16="http://schemas.microsoft.com/office/drawing/2014/main" id="{1D3FD094-3877-4424-AAAB-791E73638CD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Adult-oriented memory aid • September 21, 2026 • Use with the eligibility and dosing details in the full module.</a:t>
            </a:r>
          </a:p>
        </p:txBody>
      </p:sp>
      <p:sp>
        <p:nvSpPr>
          <p:cNvPr id="3" name="paragraph-1">
            <a:extLst xmlns:a="http://schemas.openxmlformats.org/drawingml/2006/main">
              <a:ext uri="{FF2B5EF4-FFF2-40B4-BE49-F238E27FC236}">
                <a16:creationId xmlns:a16="http://schemas.microsoft.com/office/drawing/2014/main" id="{7965447D-DE5C-4810-B411-FE718D27F0F0}"/>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Consider NTM, endemic fungi, bacterial abscess/emboli, Nocardia, cancer and inflammatory disease. IGRA positivity does not explain a lesion; target culture and tissue.</a:t>
            </a:r>
          </a:p>
        </p:txBody>
      </p:sp>
      <p:sp>
        <p:nvSpPr>
          <p:cNvPr id="4" name="paragraph-2">
            <a:extLst xmlns:a="http://schemas.openxmlformats.org/drawingml/2006/main">
              <a:ext uri="{FF2B5EF4-FFF2-40B4-BE49-F238E27FC236}">
                <a16:creationId xmlns:a16="http://schemas.microsoft.com/office/drawing/2014/main" id="{492436BD-DBB1-4320-9CC4-2C3096C1163F}"/>
              </a:ext>
            </a:extLst>
          </p:cNvPr>
          <p:cNvSpPr>
            <a:spLocks xmlns:a="http://schemas.openxmlformats.org/drawingml/2006/main" noGrp="1"/>
          </p:cNvSpPr>
          <p:nvPr/>
        </p:nvSpPr>
        <p:spPr>
          <a:xfrm xmlns:a="http://schemas.openxmlformats.org/drawingml/2006/main">
            <a:off x="647700" y="42291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Exclude active disease first. Prefer eligible 3HP, 4R or 3HR; use 6H/9H when appropriate. Check interactions, source resistance and pregnancy; arrange monthly review.</a:t>
            </a:r>
          </a:p>
        </p:txBody>
      </p:sp>
      <p:sp>
        <p:nvSpPr>
          <p:cNvPr id="5" name="footer">
            <a:extLst xmlns:a="http://schemas.openxmlformats.org/drawingml/2006/main">
              <a:ext uri="{FF2B5EF4-FFF2-40B4-BE49-F238E27FC236}">
                <a16:creationId xmlns:a16="http://schemas.microsoft.com/office/drawing/2014/main" id="{8B8EA797-78A4-4BF3-8D25-34DF23081CE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ABDB9264-8173-43D9-BE8F-61E66A1B8C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191</a:t>
            </a:r>
          </a:p>
        </p:txBody>
      </p:sp>
    </p:spTree>
    <p:extLst>
      <p:ext uri="{BB962C8B-B14F-4D97-AF65-F5344CB8AC3E}">
        <p14:creationId xmlns:p14="http://schemas.microsoft.com/office/powerpoint/2010/main" val="1301199569"/>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5BAF9B2-EDC2-4F72-9876-4E0B828C9A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TB on rounds: diagnose, distinguish, treat</a:t>
            </a:r>
          </a:p>
        </p:txBody>
      </p:sp>
      <p:sp>
        <p:nvSpPr>
          <p:cNvPr id="2" name="paragraph-0">
            <a:extLst xmlns:a="http://schemas.openxmlformats.org/drawingml/2006/main">
              <a:ext uri="{FF2B5EF4-FFF2-40B4-BE49-F238E27FC236}">
                <a16:creationId xmlns:a16="http://schemas.microsoft.com/office/drawing/2014/main" id="{4E319051-B09C-4297-8E2D-2C48992976D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Suspected pulmonary/laryngeal TB: airborne precautions, appropriate respirator and prompt IP/TB-program contact. IGRA/TST cannot rule out disease.</a:t>
            </a:r>
          </a:p>
        </p:txBody>
      </p:sp>
      <p:sp>
        <p:nvSpPr>
          <p:cNvPr id="3" name="paragraph-1">
            <a:extLst xmlns:a="http://schemas.openxmlformats.org/drawingml/2006/main">
              <a:ext uri="{FF2B5EF4-FFF2-40B4-BE49-F238E27FC236}">
                <a16:creationId xmlns:a16="http://schemas.microsoft.com/office/drawing/2014/main" id="{3BC26CDF-DCF5-403C-9C74-CCD74DE947CD}"/>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Sputum AFB smear/culture, typically three specimens 8-24 h apart with one early morning; respiratory NAAT and rapid resistance testing. Preserve culture for DST.</a:t>
            </a:r>
          </a:p>
        </p:txBody>
      </p:sp>
      <p:sp>
        <p:nvSpPr>
          <p:cNvPr id="4" name="paragraph-2">
            <a:extLst xmlns:a="http://schemas.openxmlformats.org/drawingml/2006/main">
              <a:ext uri="{FF2B5EF4-FFF2-40B4-BE49-F238E27FC236}">
                <a16:creationId xmlns:a16="http://schemas.microsoft.com/office/drawing/2014/main" id="{E98960F6-5CFE-4107-8193-A8D945EE7887}"/>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Standard 2HRZE/4HR. Eligible age ≥12, weight ≥40 kg: 8 weeks HPZM then 9 weeks HPM. Pregnancy, most extrapulmonary disease, interactions or resistance may preclude shortening.</a:t>
            </a:r>
          </a:p>
        </p:txBody>
      </p:sp>
      <p:sp>
        <p:nvSpPr>
          <p:cNvPr id="5" name="footer">
            <a:extLst xmlns:a="http://schemas.openxmlformats.org/drawingml/2006/main">
              <a:ext uri="{FF2B5EF4-FFF2-40B4-BE49-F238E27FC236}">
                <a16:creationId xmlns:a16="http://schemas.microsoft.com/office/drawing/2014/main" id="{BE898A09-F8B3-4EDF-AB6A-7928EBE918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7338854E-7996-47A5-A025-070F8B78D93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192</a:t>
            </a:r>
          </a:p>
        </p:txBody>
      </p:sp>
    </p:spTree>
    <p:extLst>
      <p:ext uri="{BB962C8B-B14F-4D97-AF65-F5344CB8AC3E}">
        <p14:creationId xmlns:p14="http://schemas.microsoft.com/office/powerpoint/2010/main" val="1955195105"/>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52F6A33-5FAE-4809-ADC9-BA90B748C9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TB on rounds: diagnose, distinguish, treat</a:t>
            </a:r>
          </a:p>
        </p:txBody>
      </p:sp>
      <p:sp>
        <p:nvSpPr>
          <p:cNvPr id="2" name="paragraph-0">
            <a:extLst xmlns:a="http://schemas.openxmlformats.org/drawingml/2006/main">
              <a:ext uri="{FF2B5EF4-FFF2-40B4-BE49-F238E27FC236}">
                <a16:creationId xmlns:a16="http://schemas.microsoft.com/office/drawing/2014/main" id="{EB150FB0-C488-4B4A-BA22-62FE630EF69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the standard regimen, cavitation plus positive culture at 2 months usually means 9 months total. Review doses, DST and exposure. CNS and bone/joint disease need site-specific plans.</a:t>
            </a:r>
          </a:p>
        </p:txBody>
      </p:sp>
      <p:sp>
        <p:nvSpPr>
          <p:cNvPr id="3" name="paragraph-1">
            <a:extLst xmlns:a="http://schemas.openxmlformats.org/drawingml/2006/main">
              <a:ext uri="{FF2B5EF4-FFF2-40B4-BE49-F238E27FC236}">
                <a16:creationId xmlns:a16="http://schemas.microsoft.com/office/drawing/2014/main" id="{9A531A96-9A86-42E0-8B9B-DB28E8AF5949}"/>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Urgent expert input. FQ susceptible: consider BPaLM; FQ resistant/intolerant: consider BPaL if otherwise eligible. U.S. guidance uses 26 weeks. Never add one drug to failure.</a:t>
            </a:r>
          </a:p>
        </p:txBody>
      </p:sp>
      <p:sp>
        <p:nvSpPr>
          <p:cNvPr id="4" name="paragraph-2">
            <a:extLst xmlns:a="http://schemas.openxmlformats.org/drawingml/2006/main">
              <a:ext uri="{FF2B5EF4-FFF2-40B4-BE49-F238E27FC236}">
                <a16:creationId xmlns:a16="http://schemas.microsoft.com/office/drawing/2014/main" id="{31D0339F-C708-487B-AF2E-A885D968DB32}"/>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Monthly response/adherence review and sputum cultures until conversion. Liver tests; CBC/neuropathy/vision for linezolid; vision for ethambutol; ECG and K+/Mg2+/Ca2+ for QT-active regimens.</a:t>
            </a:r>
          </a:p>
        </p:txBody>
      </p:sp>
      <p:sp>
        <p:nvSpPr>
          <p:cNvPr id="5" name="footer">
            <a:extLst xmlns:a="http://schemas.openxmlformats.org/drawingml/2006/main">
              <a:ext uri="{FF2B5EF4-FFF2-40B4-BE49-F238E27FC236}">
                <a16:creationId xmlns:a16="http://schemas.microsoft.com/office/drawing/2014/main" id="{68DBBA41-5A2C-4EED-B6FC-055000A4564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C605F2FA-BC07-4394-80A7-1D8548C093D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193</a:t>
            </a:r>
          </a:p>
        </p:txBody>
      </p:sp>
    </p:spTree>
    <p:extLst>
      <p:ext uri="{BB962C8B-B14F-4D97-AF65-F5344CB8AC3E}">
        <p14:creationId xmlns:p14="http://schemas.microsoft.com/office/powerpoint/2010/main" val="195707303"/>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72EFEAE-EF30-4B0D-8BF4-98F6520A63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TB on rounds: diagnose, distinguish, treat</a:t>
            </a:r>
          </a:p>
        </p:txBody>
      </p:sp>
      <p:sp>
        <p:nvSpPr>
          <p:cNvPr id="2" name="paragraph-0">
            <a:extLst xmlns:a="http://schemas.openxmlformats.org/drawingml/2006/main">
              <a:ext uri="{FF2B5EF4-FFF2-40B4-BE49-F238E27FC236}">
                <a16:creationId xmlns:a16="http://schemas.microsoft.com/office/drawing/2014/main" id="{CC00B03B-0BD4-4C2D-B000-387507AD651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Hepatitis symptoms plus ALT ≥3× ULN or ALT ≥5× without symptoms: hold hepatotoxic agents and evaluate. New neuropathy, cytopenia or visual change requires prompt review.</a:t>
            </a:r>
          </a:p>
        </p:txBody>
      </p:sp>
      <p:sp>
        <p:nvSpPr>
          <p:cNvPr id="3" name="paragraph-1">
            <a:extLst xmlns:a="http://schemas.openxmlformats.org/drawingml/2006/main">
              <a:ext uri="{FF2B5EF4-FFF2-40B4-BE49-F238E27FC236}">
                <a16:creationId xmlns:a16="http://schemas.microsoft.com/office/drawing/2014/main" id="{33F3B69D-7081-41BB-9E9B-FCD0A3A493DB}"/>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BEAT and endTB expand selected options. Quabodepistat/sutezolid/telacebec remain investigational. TRUNCATE tested surveillance and retreatment, not universal two-month cure.</a:t>
            </a:r>
          </a:p>
        </p:txBody>
      </p:sp>
      <p:sp>
        <p:nvSpPr>
          <p:cNvPr id="4" name="paragraph-2">
            <a:extLst xmlns:a="http://schemas.openxmlformats.org/drawingml/2006/main">
              <a:ext uri="{FF2B5EF4-FFF2-40B4-BE49-F238E27FC236}">
                <a16:creationId xmlns:a16="http://schemas.microsoft.com/office/drawing/2014/main" id="{8E73648C-E4D1-48F2-A780-9597FB7FB193}"/>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 isoniazid · R rifampin · Z pyrazinamide · E ethambutol · P rifapentine · M moxifloxacin · B bedaquiline · Pa pretomanid · L linezolid. Full references and local-policy limitations are in the module.</a:t>
            </a:r>
          </a:p>
        </p:txBody>
      </p:sp>
      <p:sp>
        <p:nvSpPr>
          <p:cNvPr id="5" name="footer">
            <a:extLst xmlns:a="http://schemas.openxmlformats.org/drawingml/2006/main">
              <a:ext uri="{FF2B5EF4-FFF2-40B4-BE49-F238E27FC236}">
                <a16:creationId xmlns:a16="http://schemas.microsoft.com/office/drawing/2014/main" id="{69CECA65-91E0-49EA-A4C2-833543639C2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F0B1A46A-ACF3-48D3-B868-9DA18329BCF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194</a:t>
            </a:r>
          </a:p>
        </p:txBody>
      </p:sp>
    </p:spTree>
    <p:extLst>
      <p:ext uri="{BB962C8B-B14F-4D97-AF65-F5344CB8AC3E}">
        <p14:creationId xmlns:p14="http://schemas.microsoft.com/office/powerpoint/2010/main" val="1331851871"/>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546C49-08AA-4B72-A32E-2C27B5E0565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368EC681-5E6F-4FC5-955B-BE199F3B3F12}"/>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Reviewed September 15, 2026. Guidelines and primary studies are linked below. Numerical trial summaries use the populations and endpoints named in the text. Some newer reports were available as abstracts; detailed eligibility and prescribing decisions should use the complete trial protocol and current guidance. No faculty approval or local-policy verification is implied.</a:t>
            </a:r>
          </a:p>
        </p:txBody>
      </p:sp>
      <p:sp>
        <p:nvSpPr>
          <p:cNvPr id="3" name="footer">
            <a:extLst xmlns:a="http://schemas.openxmlformats.org/drawingml/2006/main">
              <a:ext uri="{FF2B5EF4-FFF2-40B4-BE49-F238E27FC236}">
                <a16:creationId xmlns:a16="http://schemas.microsoft.com/office/drawing/2014/main" id="{55F2AD6D-1A78-4F1D-A09B-B3D673CDEE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B29E3FE-1F23-4AC0-8915-76484F6218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195</a:t>
            </a:r>
          </a:p>
        </p:txBody>
      </p:sp>
    </p:spTree>
    <p:extLst>
      <p:ext uri="{BB962C8B-B14F-4D97-AF65-F5344CB8AC3E}">
        <p14:creationId xmlns:p14="http://schemas.microsoft.com/office/powerpoint/2010/main" val="83223936"/>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7CBBB0-B179-4556-8008-608CDA78F1B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C3A4514C-A264-4BD8-8AFA-B2F0A40102C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ATS/CDC/ERS/IDSA treatment update . 2025. Guideline. Four-month drug-susceptible treatment, pediatric shortening, BPaL/BPaLM and monitoring.</a:t>
            </a:r>
          </a:p>
        </p:txBody>
      </p:sp>
      <p:sp>
        <p:nvSpPr>
          <p:cNvPr id="3" name="footer">
            <a:extLst xmlns:a="http://schemas.openxmlformats.org/drawingml/2006/main">
              <a:ext uri="{FF2B5EF4-FFF2-40B4-BE49-F238E27FC236}">
                <a16:creationId xmlns:a16="http://schemas.microsoft.com/office/drawing/2014/main" id="{CDE77652-0005-4E02-931F-251DF60731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926A833-83B7-4CA9-BCDE-16A8D9D2B8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196</a:t>
            </a:r>
          </a:p>
        </p:txBody>
      </p:sp>
    </p:spTree>
    <p:extLst>
      <p:ext uri="{BB962C8B-B14F-4D97-AF65-F5344CB8AC3E}">
        <p14:creationId xmlns:p14="http://schemas.microsoft.com/office/powerpoint/2010/main" val="108344475"/>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0B30E1E-B7FD-419A-A1B5-4D0FE50DED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C5E5C2B1-0A19-4398-8E4C-C16212FB22A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ATS/CDC/IDSA drug-susceptible TB guideline . 2016. Guideline. Standard treatment, dose adjustment, toxicity, extrapulmonary disease and response assessment.</a:t>
            </a:r>
          </a:p>
        </p:txBody>
      </p:sp>
      <p:sp>
        <p:nvSpPr>
          <p:cNvPr id="3" name="footer">
            <a:extLst xmlns:a="http://schemas.openxmlformats.org/drawingml/2006/main">
              <a:ext uri="{FF2B5EF4-FFF2-40B4-BE49-F238E27FC236}">
                <a16:creationId xmlns:a16="http://schemas.microsoft.com/office/drawing/2014/main" id="{302BB76E-0663-4CFA-A479-5F31FB5461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ECF4A2F-2C8F-489F-B652-ADEFE4434C7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197</a:t>
            </a:r>
          </a:p>
        </p:txBody>
      </p:sp>
    </p:spTree>
    <p:extLst>
      <p:ext uri="{BB962C8B-B14F-4D97-AF65-F5344CB8AC3E}">
        <p14:creationId xmlns:p14="http://schemas.microsoft.com/office/powerpoint/2010/main" val="1746465492"/>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3FA19D-2302-4D0A-A58C-B756E523A8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F2417E7F-D6E1-423D-8E02-EADE73A11D2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treatment of drug-susceptible TB . April 17, 2025. U.S. implementation guidance.</a:t>
            </a:r>
          </a:p>
        </p:txBody>
      </p:sp>
      <p:sp>
        <p:nvSpPr>
          <p:cNvPr id="3" name="footer">
            <a:extLst xmlns:a="http://schemas.openxmlformats.org/drawingml/2006/main">
              <a:ext uri="{FF2B5EF4-FFF2-40B4-BE49-F238E27FC236}">
                <a16:creationId xmlns:a16="http://schemas.microsoft.com/office/drawing/2014/main" id="{00C8BC37-B72F-483D-AB82-F8749633F9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E17C49D-8BC7-4278-8AC0-6D364AD53B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198</a:t>
            </a:r>
          </a:p>
        </p:txBody>
      </p:sp>
    </p:spTree>
    <p:extLst>
      <p:ext uri="{BB962C8B-B14F-4D97-AF65-F5344CB8AC3E}">
        <p14:creationId xmlns:p14="http://schemas.microsoft.com/office/powerpoint/2010/main" val="739439492"/>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93B124-8374-4444-A80C-7D361B59DB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D2E93136-6061-469A-85AC-91430D2A81B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rifapentine-moxifloxacin implementation guidance . February 25, 2022. Eligibility, exclusions, doses and 119-dose schedule.</a:t>
            </a:r>
          </a:p>
        </p:txBody>
      </p:sp>
      <p:sp>
        <p:nvSpPr>
          <p:cNvPr id="3" name="footer">
            <a:extLst xmlns:a="http://schemas.openxmlformats.org/drawingml/2006/main">
              <a:ext uri="{FF2B5EF4-FFF2-40B4-BE49-F238E27FC236}">
                <a16:creationId xmlns:a16="http://schemas.microsoft.com/office/drawing/2014/main" id="{88C3EFA7-24E1-4ED8-A7A7-E0A4525EDE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320700B-395C-4EB4-83E9-53B5F3E413D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199</a:t>
            </a:r>
          </a:p>
        </p:txBody>
      </p:sp>
    </p:spTree>
    <p:extLst>
      <p:ext uri="{BB962C8B-B14F-4D97-AF65-F5344CB8AC3E}">
        <p14:creationId xmlns:p14="http://schemas.microsoft.com/office/powerpoint/2010/main" val="470092463"/>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579C0FB-AD10-48AB-94A0-53D4EE9A26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01292FA2-9F8C-4026-8B7A-22F98811863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clinical and laboratory diagnosis . Current online guidance. Specimen collection, NAAT, culture and resistance testing.</a:t>
            </a:r>
          </a:p>
        </p:txBody>
      </p:sp>
      <p:sp>
        <p:nvSpPr>
          <p:cNvPr id="3" name="footer">
            <a:extLst xmlns:a="http://schemas.openxmlformats.org/drawingml/2006/main">
              <a:ext uri="{FF2B5EF4-FFF2-40B4-BE49-F238E27FC236}">
                <a16:creationId xmlns:a16="http://schemas.microsoft.com/office/drawing/2014/main" id="{65045607-8236-4E7A-85AF-315F20D1B7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6167FFB-E955-4D09-9D90-52FF854B6D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200</a:t>
            </a:r>
          </a:p>
        </p:txBody>
      </p:sp>
    </p:spTree>
    <p:extLst>
      <p:ext uri="{BB962C8B-B14F-4D97-AF65-F5344CB8AC3E}">
        <p14:creationId xmlns:p14="http://schemas.microsoft.com/office/powerpoint/2010/main" val="28812643"/>
      </p:ext>
    </p:extLst>
  </p:cSld>
</p:sld>
</file>

<file path=ppt/slides/slide2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4D02CF-5817-48CC-8A1A-8E17D8C36EA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FEC67C1B-2BE6-411E-9022-CA1890021C8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prevention of TB transmission in health-care settings . 2005. Hospital airborne precautions. Apply the current institutional implementation policy.</a:t>
            </a:r>
          </a:p>
        </p:txBody>
      </p:sp>
      <p:sp>
        <p:nvSpPr>
          <p:cNvPr id="3" name="footer">
            <a:extLst xmlns:a="http://schemas.openxmlformats.org/drawingml/2006/main">
              <a:ext uri="{FF2B5EF4-FFF2-40B4-BE49-F238E27FC236}">
                <a16:creationId xmlns:a16="http://schemas.microsoft.com/office/drawing/2014/main" id="{8A31BA4B-245B-4B2E-95D2-7EFECA8A96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1AE9D51-85B0-487C-9822-F9E017CFD6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201</a:t>
            </a:r>
          </a:p>
        </p:txBody>
      </p:sp>
    </p:spTree>
    <p:extLst>
      <p:ext uri="{BB962C8B-B14F-4D97-AF65-F5344CB8AC3E}">
        <p14:creationId xmlns:p14="http://schemas.microsoft.com/office/powerpoint/2010/main" val="1485544073"/>
      </p:ext>
    </p:extLst>
  </p:cSld>
</p:sld>
</file>

<file path=ppt/slides/slide2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6077AEB-ACD8-4799-86B1-A2CB4C627B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AC7AB91A-8162-458B-B7FA-CFD8DC7708B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drug-resistant TB treatment . Current online guidance. U.S. approach to resistant disease and expert consultation.</a:t>
            </a:r>
          </a:p>
        </p:txBody>
      </p:sp>
      <p:sp>
        <p:nvSpPr>
          <p:cNvPr id="3" name="footer">
            <a:extLst xmlns:a="http://schemas.openxmlformats.org/drawingml/2006/main">
              <a:ext uri="{FF2B5EF4-FFF2-40B4-BE49-F238E27FC236}">
                <a16:creationId xmlns:a16="http://schemas.microsoft.com/office/drawing/2014/main" id="{D76F8EB0-697D-484D-9096-5AA46A37CA3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AB5D642-A7ED-4729-B3E8-EAFC9DD018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202</a:t>
            </a:r>
          </a:p>
        </p:txBody>
      </p:sp>
    </p:spTree>
    <p:extLst>
      <p:ext uri="{BB962C8B-B14F-4D97-AF65-F5344CB8AC3E}">
        <p14:creationId xmlns:p14="http://schemas.microsoft.com/office/powerpoint/2010/main" val="260220845"/>
      </p:ext>
    </p:extLst>
  </p:cSld>
</p:sld>
</file>

<file path=ppt/slides/slide2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9B37FB-F79F-4698-8D5C-CDF3B62256C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FE10F6F2-5216-40D4-9690-AD33D195B2C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WHO consolidated guidelines, module 4, treatment and care . 2025. WHO recommendations; these do not establish U.S. regulatory approval or local availability.</a:t>
            </a:r>
          </a:p>
        </p:txBody>
      </p:sp>
      <p:sp>
        <p:nvSpPr>
          <p:cNvPr id="3" name="footer">
            <a:extLst xmlns:a="http://schemas.openxmlformats.org/drawingml/2006/main">
              <a:ext uri="{FF2B5EF4-FFF2-40B4-BE49-F238E27FC236}">
                <a16:creationId xmlns:a16="http://schemas.microsoft.com/office/drawing/2014/main" id="{59747A39-5B0B-4C61-8062-ACC84C8093C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5CB51EE-20A8-413F-9D06-38235A6CE2A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203</a:t>
            </a:r>
          </a:p>
        </p:txBody>
      </p:sp>
    </p:spTree>
    <p:extLst>
      <p:ext uri="{BB962C8B-B14F-4D97-AF65-F5344CB8AC3E}">
        <p14:creationId xmlns:p14="http://schemas.microsoft.com/office/powerpoint/2010/main" val="1464517887"/>
      </p:ext>
    </p:extLst>
  </p:cSld>
</p:sld>
</file>

<file path=ppt/slides/slide2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FAED8E-050E-47BA-9CFF-F47FB9F5BF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75F4FE95-6387-4A4F-A669-9FB22152FE0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WHO operational handbook, six-month resistant-TB regimens . 2025. BDLLfxC selection, fluoroquinolone-based adjustment, subgroups and duration.</a:t>
            </a:r>
          </a:p>
        </p:txBody>
      </p:sp>
      <p:sp>
        <p:nvSpPr>
          <p:cNvPr id="3" name="footer">
            <a:extLst xmlns:a="http://schemas.openxmlformats.org/drawingml/2006/main">
              <a:ext uri="{FF2B5EF4-FFF2-40B4-BE49-F238E27FC236}">
                <a16:creationId xmlns:a16="http://schemas.microsoft.com/office/drawing/2014/main" id="{3C952650-6B28-4A6B-B5FB-1170C0EA68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A2EF404-147F-483C-8860-6010E8E1FC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204</a:t>
            </a:r>
          </a:p>
        </p:txBody>
      </p:sp>
    </p:spTree>
    <p:extLst>
      <p:ext uri="{BB962C8B-B14F-4D97-AF65-F5344CB8AC3E}">
        <p14:creationId xmlns:p14="http://schemas.microsoft.com/office/powerpoint/2010/main" val="1365657106"/>
      </p:ext>
    </p:extLst>
  </p:cSld>
</p:sld>
</file>

<file path=ppt/slides/slide2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B6C25A9-6258-4ADA-9EC1-2A282E35EBA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41485F5E-E217-41AA-BB31-15A85AD6F0E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Dorman et al. Study 31/A5349 . 2021. Randomized phase 3 noninferiority trial. Four-month rifapentine regimens with or without moxifloxacin.</a:t>
            </a:r>
          </a:p>
        </p:txBody>
      </p:sp>
      <p:sp>
        <p:nvSpPr>
          <p:cNvPr id="3" name="footer">
            <a:extLst xmlns:a="http://schemas.openxmlformats.org/drawingml/2006/main">
              <a:ext uri="{FF2B5EF4-FFF2-40B4-BE49-F238E27FC236}">
                <a16:creationId xmlns:a16="http://schemas.microsoft.com/office/drawing/2014/main" id="{F29C3E18-10E1-4393-A427-92C2EDEB7DB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8BE5EB4-4DD5-41B7-8C92-3110FF845C0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205</a:t>
            </a:r>
          </a:p>
        </p:txBody>
      </p:sp>
    </p:spTree>
    <p:extLst>
      <p:ext uri="{BB962C8B-B14F-4D97-AF65-F5344CB8AC3E}">
        <p14:creationId xmlns:p14="http://schemas.microsoft.com/office/powerpoint/2010/main" val="1617270731"/>
      </p:ext>
    </p:extLst>
  </p:cSld>
</p:sld>
</file>

<file path=ppt/slides/slide2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A6C379-E6C4-4940-97C9-B48655329CF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07EE15B8-2AD8-4147-B49C-2BED88FD083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Nyang’wa et al. TB-PRACTECAL . 2022. Randomized trial. A 24-week all-oral regimen for rifampin-resistant TB. Numerical results here refer to the 2022 report.</a:t>
            </a:r>
          </a:p>
        </p:txBody>
      </p:sp>
      <p:sp>
        <p:nvSpPr>
          <p:cNvPr id="3" name="footer">
            <a:extLst xmlns:a="http://schemas.openxmlformats.org/drawingml/2006/main">
              <a:ext uri="{FF2B5EF4-FFF2-40B4-BE49-F238E27FC236}">
                <a16:creationId xmlns:a16="http://schemas.microsoft.com/office/drawing/2014/main" id="{781CD14F-7BCF-45F3-9FD7-D431D8636CA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7313F52-CA36-42D9-BC84-2689B1CB54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206</a:t>
            </a:r>
          </a:p>
        </p:txBody>
      </p:sp>
    </p:spTree>
    <p:extLst>
      <p:ext uri="{BB962C8B-B14F-4D97-AF65-F5344CB8AC3E}">
        <p14:creationId xmlns:p14="http://schemas.microsoft.com/office/powerpoint/2010/main" val="565024033"/>
      </p:ext>
    </p:extLst>
  </p:cSld>
</p:sld>
</file>

<file path=ppt/slides/slide2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8F69A2-D211-402D-BFA1-AD554A1FA8D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FEFB9F67-0977-4066-8D1B-0EA3FEA30E8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Conradie et al. ZeNix . 2022. Randomized linezolid dose/duration trial within BPaL.</a:t>
            </a:r>
          </a:p>
        </p:txBody>
      </p:sp>
      <p:sp>
        <p:nvSpPr>
          <p:cNvPr id="3" name="footer">
            <a:extLst xmlns:a="http://schemas.openxmlformats.org/drawingml/2006/main">
              <a:ext uri="{FF2B5EF4-FFF2-40B4-BE49-F238E27FC236}">
                <a16:creationId xmlns:a16="http://schemas.microsoft.com/office/drawing/2014/main" id="{57C9715C-BF85-41C3-9892-1439778F3F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9F6FDE1-3471-4187-8AEB-4DE9375F19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207</a:t>
            </a:r>
          </a:p>
        </p:txBody>
      </p:sp>
    </p:spTree>
    <p:extLst>
      <p:ext uri="{BB962C8B-B14F-4D97-AF65-F5344CB8AC3E}">
        <p14:creationId xmlns:p14="http://schemas.microsoft.com/office/powerpoint/2010/main" val="2022079345"/>
      </p:ext>
    </p:extLst>
  </p:cSld>
</p:sld>
</file>

<file path=ppt/slides/slide2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23FCC19-6C35-4484-B9F5-F01EE810B4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79E19946-16AE-4E2D-8A65-84C59C80AAA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Guglielmetti et al. endTB . January 30, 2025. Randomized phase 3 trial of nine-month oral regimens for fluoroquinolone-susceptible RR-TB.</a:t>
            </a:r>
          </a:p>
        </p:txBody>
      </p:sp>
      <p:sp>
        <p:nvSpPr>
          <p:cNvPr id="3" name="footer">
            <a:extLst xmlns:a="http://schemas.openxmlformats.org/drawingml/2006/main">
              <a:ext uri="{FF2B5EF4-FFF2-40B4-BE49-F238E27FC236}">
                <a16:creationId xmlns:a16="http://schemas.microsoft.com/office/drawing/2014/main" id="{89A9452E-C678-47FD-A710-CF69CC40FE3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EE2D61E-A1F1-4135-AF42-8D8AA2C864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208</a:t>
            </a:r>
          </a:p>
        </p:txBody>
      </p:sp>
    </p:spTree>
    <p:extLst>
      <p:ext uri="{BB962C8B-B14F-4D97-AF65-F5344CB8AC3E}">
        <p14:creationId xmlns:p14="http://schemas.microsoft.com/office/powerpoint/2010/main" val="138346146"/>
      </p:ext>
    </p:extLst>
  </p:cSld>
</p:sld>
</file>

<file path=ppt/slides/slide2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6EC7B0-1FC1-41FC-9E97-A7E160499E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5EF23252-F8F8-4721-8289-3E5C4D87909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Conradie et al. BEAT Tuberculosis . June 25, 2026. Pragmatic randomized phase 3 trial of a six-month strategy for RR-TB. Published abstract and WHO implementation materials reviewed.</a:t>
            </a:r>
          </a:p>
        </p:txBody>
      </p:sp>
      <p:sp>
        <p:nvSpPr>
          <p:cNvPr id="3" name="footer">
            <a:extLst xmlns:a="http://schemas.openxmlformats.org/drawingml/2006/main">
              <a:ext uri="{FF2B5EF4-FFF2-40B4-BE49-F238E27FC236}">
                <a16:creationId xmlns:a16="http://schemas.microsoft.com/office/drawing/2014/main" id="{1C7F5E4D-50FC-4F7C-835F-2A0890CD6C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5824050-89F8-4159-8784-F48AA0AA2A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209</a:t>
            </a:r>
          </a:p>
        </p:txBody>
      </p:sp>
    </p:spTree>
    <p:extLst>
      <p:ext uri="{BB962C8B-B14F-4D97-AF65-F5344CB8AC3E}">
        <p14:creationId xmlns:p14="http://schemas.microsoft.com/office/powerpoint/2010/main" val="94299370"/>
      </p:ext>
    </p:extLst>
  </p:cSld>
</p:sld>
</file>

<file path=ppt/slides/slide2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E96C78-621A-4930-994E-0A9CA96EA2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22118838-BB0E-45DA-8100-9266BA6514A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Paton et al. TRUNCATE-TB strategy trial . 2023. Randomized strategy trial with extension, monitoring and retreatment.</a:t>
            </a:r>
          </a:p>
        </p:txBody>
      </p:sp>
      <p:sp>
        <p:nvSpPr>
          <p:cNvPr id="3" name="footer">
            <a:extLst xmlns:a="http://schemas.openxmlformats.org/drawingml/2006/main">
              <a:ext uri="{FF2B5EF4-FFF2-40B4-BE49-F238E27FC236}">
                <a16:creationId xmlns:a16="http://schemas.microsoft.com/office/drawing/2014/main" id="{D7933ED8-59EE-4AFA-83F7-CA74E87FA3C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F1DC730-950C-452B-9C4E-CBECA27B8D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210</a:t>
            </a:r>
          </a:p>
        </p:txBody>
      </p:sp>
    </p:spTree>
    <p:extLst>
      <p:ext uri="{BB962C8B-B14F-4D97-AF65-F5344CB8AC3E}">
        <p14:creationId xmlns:p14="http://schemas.microsoft.com/office/powerpoint/2010/main" val="556032856"/>
      </p:ext>
    </p:extLst>
  </p:cSld>
</p:sld>
</file>

<file path=ppt/slides/slide2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49D776A-8196-46F4-80CF-494579886F3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01580710-4B99-4E33-9898-F8FB4971E8A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Paton et al. TRUNCATE-TB regimen analysis . 2025. Prespecified exploratory analysis of initial eight-week regimens, distinct from the strategy outcome.</a:t>
            </a:r>
          </a:p>
        </p:txBody>
      </p:sp>
      <p:sp>
        <p:nvSpPr>
          <p:cNvPr id="3" name="footer">
            <a:extLst xmlns:a="http://schemas.openxmlformats.org/drawingml/2006/main">
              <a:ext uri="{FF2B5EF4-FFF2-40B4-BE49-F238E27FC236}">
                <a16:creationId xmlns:a16="http://schemas.microsoft.com/office/drawing/2014/main" id="{63A7A15A-5037-48E8-ADF9-D53376FCB4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6501819-CB28-4112-8AA4-C5AE758944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211</a:t>
            </a:r>
          </a:p>
        </p:txBody>
      </p:sp>
    </p:spTree>
    <p:extLst>
      <p:ext uri="{BB962C8B-B14F-4D97-AF65-F5344CB8AC3E}">
        <p14:creationId xmlns:p14="http://schemas.microsoft.com/office/powerpoint/2010/main" val="2024498871"/>
      </p:ext>
    </p:extLst>
  </p:cSld>
</p:sld>
</file>

<file path=ppt/slides/slide2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EC3FB2-481D-4738-967A-9FA17438342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7736987C-A0FB-4868-955E-4E5ACA0EB9C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Dawson et al. Quabodepistat-delamanid-bedaquiline . May 29, 2026. Randomized phase 2b/c proof-of-concept study. Published abstract reviewed; no claim of full-text/supplement review.</a:t>
            </a:r>
          </a:p>
        </p:txBody>
      </p:sp>
      <p:sp>
        <p:nvSpPr>
          <p:cNvPr id="3" name="footer">
            <a:extLst xmlns:a="http://schemas.openxmlformats.org/drawingml/2006/main">
              <a:ext uri="{FF2B5EF4-FFF2-40B4-BE49-F238E27FC236}">
                <a16:creationId xmlns:a16="http://schemas.microsoft.com/office/drawing/2014/main" id="{B912B80C-BDB4-469A-94FE-668FF60B5E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D753E76-D028-49EA-BC0A-3BD188F4158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212</a:t>
            </a:r>
          </a:p>
        </p:txBody>
      </p:sp>
    </p:spTree>
    <p:extLst>
      <p:ext uri="{BB962C8B-B14F-4D97-AF65-F5344CB8AC3E}">
        <p14:creationId xmlns:p14="http://schemas.microsoft.com/office/powerpoint/2010/main" val="1943922515"/>
      </p:ext>
    </p:extLst>
  </p:cSld>
</p:sld>
</file>

<file path=ppt/slides/slide2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2090C2-D0E3-4097-9946-C69A0F8673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C15D5BDA-EEE2-476F-A209-F28921D6DD9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Heinrich et al. PanACEA-SUDOCU-01 . Online July 8, 2025. Randomized phase 2b dose-finding study. Published abstract reviewed.</a:t>
            </a:r>
          </a:p>
        </p:txBody>
      </p:sp>
      <p:sp>
        <p:nvSpPr>
          <p:cNvPr id="3" name="footer">
            <a:extLst xmlns:a="http://schemas.openxmlformats.org/drawingml/2006/main">
              <a:ext uri="{FF2B5EF4-FFF2-40B4-BE49-F238E27FC236}">
                <a16:creationId xmlns:a16="http://schemas.microsoft.com/office/drawing/2014/main" id="{8D6DCE4D-62F5-4D7E-9DE1-62066B4DB8B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1269B1F-3CB5-4C89-BC55-A3E8D19BD7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213</a:t>
            </a:r>
          </a:p>
        </p:txBody>
      </p:sp>
    </p:spTree>
    <p:extLst>
      <p:ext uri="{BB962C8B-B14F-4D97-AF65-F5344CB8AC3E}">
        <p14:creationId xmlns:p14="http://schemas.microsoft.com/office/powerpoint/2010/main" val="619435870"/>
      </p:ext>
    </p:extLst>
  </p:cSld>
</p:sld>
</file>

<file path=ppt/slides/slide2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03B520-72EF-482E-9F82-40F36FA87E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37BF877F-4EEB-4557-96C1-FB7F9B4B62E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Janssen et al. Telacebec phase 2 trial . 2025. Randomized 14-day early bactericidal activity study. Published abstract reviewed.</a:t>
            </a:r>
          </a:p>
        </p:txBody>
      </p:sp>
      <p:sp>
        <p:nvSpPr>
          <p:cNvPr id="3" name="footer">
            <a:extLst xmlns:a="http://schemas.openxmlformats.org/drawingml/2006/main">
              <a:ext uri="{FF2B5EF4-FFF2-40B4-BE49-F238E27FC236}">
                <a16:creationId xmlns:a16="http://schemas.microsoft.com/office/drawing/2014/main" id="{0D74D9F9-80EE-4878-B9AE-E4E794B868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8990FAE-0831-4950-BECE-D503F80ED9F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214</a:t>
            </a:r>
          </a:p>
        </p:txBody>
      </p:sp>
    </p:spTree>
    <p:extLst>
      <p:ext uri="{BB962C8B-B14F-4D97-AF65-F5344CB8AC3E}">
        <p14:creationId xmlns:p14="http://schemas.microsoft.com/office/powerpoint/2010/main" val="1728936543"/>
      </p:ext>
    </p:extLst>
  </p:cSld>
</p:sld>
</file>

<file path=ppt/slides/slide2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45CA0B-0D5A-4168-B8EB-6493943F2B0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EDFB817A-FCCE-4921-B741-AA64FB11913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Meya et al. HARVEST . December 18, 2025. Randomized trial of high-dose oral rifampin in adult TB meningitis. Published abstract reviewed.</a:t>
            </a:r>
          </a:p>
        </p:txBody>
      </p:sp>
      <p:sp>
        <p:nvSpPr>
          <p:cNvPr id="3" name="footer">
            <a:extLst xmlns:a="http://schemas.openxmlformats.org/drawingml/2006/main">
              <a:ext uri="{FF2B5EF4-FFF2-40B4-BE49-F238E27FC236}">
                <a16:creationId xmlns:a16="http://schemas.microsoft.com/office/drawing/2014/main" id="{679ED336-AAF4-4E03-8597-5A4A05C0AE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C4B6835-2164-4B76-BC83-E587E728A4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215</a:t>
            </a:r>
          </a:p>
        </p:txBody>
      </p:sp>
    </p:spTree>
    <p:extLst>
      <p:ext uri="{BB962C8B-B14F-4D97-AF65-F5344CB8AC3E}">
        <p14:creationId xmlns:p14="http://schemas.microsoft.com/office/powerpoint/2010/main" val="1086637061"/>
      </p:ext>
    </p:extLst>
  </p:cSld>
</p:sld>
</file>

<file path=ppt/slides/slide2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65093E-1109-4F6A-AC94-4185C6E935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9E1BA476-6300-43A5-9070-F56B16E0A15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Donovan et al. Genotype-stratified adjunctive dexamethasone . Online January 15, 2026. Randomized phase 3 trial in HIV-negative adults with TB meningitis. Published abstract reviewed.</a:t>
            </a:r>
          </a:p>
        </p:txBody>
      </p:sp>
      <p:sp>
        <p:nvSpPr>
          <p:cNvPr id="3" name="footer">
            <a:extLst xmlns:a="http://schemas.openxmlformats.org/drawingml/2006/main">
              <a:ext uri="{FF2B5EF4-FFF2-40B4-BE49-F238E27FC236}">
                <a16:creationId xmlns:a16="http://schemas.microsoft.com/office/drawing/2014/main" id="{AC2B3BD8-548C-4714-A74B-8997D1DA73C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2053882-0907-473B-965E-2889493744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216</a:t>
            </a:r>
          </a:p>
        </p:txBody>
      </p:sp>
    </p:spTree>
    <p:extLst>
      <p:ext uri="{BB962C8B-B14F-4D97-AF65-F5344CB8AC3E}">
        <p14:creationId xmlns:p14="http://schemas.microsoft.com/office/powerpoint/2010/main" val="1633417356"/>
      </p:ext>
    </p:extLst>
  </p:cSld>
</p:sld>
</file>

<file path=ppt/slides/slide2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3CD0B5-E243-4BD6-A04A-3B966C82915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E6FA0F0F-8106-4960-AB56-8F6C8B32460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care for people with TB and HIV . April 17, 2025. HIV-specific treatment considerations and links to NIH guidance.</a:t>
            </a:r>
          </a:p>
        </p:txBody>
      </p:sp>
      <p:sp>
        <p:nvSpPr>
          <p:cNvPr id="3" name="footer">
            <a:extLst xmlns:a="http://schemas.openxmlformats.org/drawingml/2006/main">
              <a:ext uri="{FF2B5EF4-FFF2-40B4-BE49-F238E27FC236}">
                <a16:creationId xmlns:a16="http://schemas.microsoft.com/office/drawing/2014/main" id="{3364D8BC-A97E-4760-8428-534D1D2B5D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C34613E-D381-4714-9A2E-7A9F5474FA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217</a:t>
            </a:r>
          </a:p>
        </p:txBody>
      </p:sp>
    </p:spTree>
    <p:extLst>
      <p:ext uri="{BB962C8B-B14F-4D97-AF65-F5344CB8AC3E}">
        <p14:creationId xmlns:p14="http://schemas.microsoft.com/office/powerpoint/2010/main" val="1967004072"/>
      </p:ext>
    </p:extLst>
  </p:cSld>
</p:sld>
</file>

<file path=ppt/slides/slide2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C3BBB9-9FAA-4709-9BE8-7D9A2B3174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E59EFB55-1B98-4F13-B4A1-A7F61541792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TB treatment during pregnancy . Current online guidance. U.S. approach, including individualized pyrazinamide use.</a:t>
            </a:r>
          </a:p>
        </p:txBody>
      </p:sp>
      <p:sp>
        <p:nvSpPr>
          <p:cNvPr id="3" name="footer">
            <a:extLst xmlns:a="http://schemas.openxmlformats.org/drawingml/2006/main">
              <a:ext uri="{FF2B5EF4-FFF2-40B4-BE49-F238E27FC236}">
                <a16:creationId xmlns:a16="http://schemas.microsoft.com/office/drawing/2014/main" id="{307C5F23-E1A1-43BE-BEC7-4B45853EFE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31EDF44-6D80-49C1-953D-CB00C03DC6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218</a:t>
            </a:r>
          </a:p>
        </p:txBody>
      </p:sp>
    </p:spTree>
    <p:extLst>
      <p:ext uri="{BB962C8B-B14F-4D97-AF65-F5344CB8AC3E}">
        <p14:creationId xmlns:p14="http://schemas.microsoft.com/office/powerpoint/2010/main" val="93202979"/>
      </p:ext>
    </p:extLst>
  </p:cSld>
</p:sld>
</file>

<file path=ppt/slides/slide2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0B466FF-16FE-4A73-847B-669F97B3B58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E4DFC338-141B-4E98-B3CB-D5F82C15777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treatment for latent TB infection . Current online guidance. Preferred short rifamycin-based regimens, exclusions and monitoring.</a:t>
            </a:r>
          </a:p>
        </p:txBody>
      </p:sp>
      <p:sp>
        <p:nvSpPr>
          <p:cNvPr id="3" name="footer">
            <a:extLst xmlns:a="http://schemas.openxmlformats.org/drawingml/2006/main">
              <a:ext uri="{FF2B5EF4-FFF2-40B4-BE49-F238E27FC236}">
                <a16:creationId xmlns:a16="http://schemas.microsoft.com/office/drawing/2014/main" id="{49AA5B48-D523-4250-92CA-D1B2AFC4F1B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0989606-76A4-4E00-ADE4-8488C25BD33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219</a:t>
            </a:r>
          </a:p>
        </p:txBody>
      </p:sp>
    </p:spTree>
    <p:extLst>
      <p:ext uri="{BB962C8B-B14F-4D97-AF65-F5344CB8AC3E}">
        <p14:creationId xmlns:p14="http://schemas.microsoft.com/office/powerpoint/2010/main" val="737218230"/>
      </p:ext>
    </p:extLst>
  </p:cSld>
</p:sld>
</file>

<file path=ppt/slides/slide2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2482830-D763-4DA1-9411-B97C59C419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0FE72701-3511-497A-B76A-C9F89CA28D6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WHO preventive treatment options . 2024 update. Recommendation for six months of levofloxacin after MDR/RR-TB exposure.</a:t>
            </a:r>
          </a:p>
        </p:txBody>
      </p:sp>
      <p:sp>
        <p:nvSpPr>
          <p:cNvPr id="3" name="footer">
            <a:extLst xmlns:a="http://schemas.openxmlformats.org/drawingml/2006/main">
              <a:ext uri="{FF2B5EF4-FFF2-40B4-BE49-F238E27FC236}">
                <a16:creationId xmlns:a16="http://schemas.microsoft.com/office/drawing/2014/main" id="{F2C87932-C2D0-4088-8088-6B3FE0B3150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FC22F34-477C-4B30-BEB6-90F3898B313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220</a:t>
            </a:r>
          </a:p>
        </p:txBody>
      </p:sp>
    </p:spTree>
    <p:extLst>
      <p:ext uri="{BB962C8B-B14F-4D97-AF65-F5344CB8AC3E}">
        <p14:creationId xmlns:p14="http://schemas.microsoft.com/office/powerpoint/2010/main" val="900800055"/>
      </p:ext>
    </p:extLst>
  </p:cSld>
</p:sld>
</file>

<file path=ppt/slides/slide2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5C12B2-C576-4BE9-8351-B03561A2788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87563D31-BDC3-4A33-A955-40D3D8A19DE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WHO recommended preventive regimens . 2024 update. Includes 1HP and comparison of preventive regimens.</a:t>
            </a:r>
          </a:p>
        </p:txBody>
      </p:sp>
      <p:sp>
        <p:nvSpPr>
          <p:cNvPr id="3" name="footer">
            <a:extLst xmlns:a="http://schemas.openxmlformats.org/drawingml/2006/main">
              <a:ext uri="{FF2B5EF4-FFF2-40B4-BE49-F238E27FC236}">
                <a16:creationId xmlns:a16="http://schemas.microsoft.com/office/drawing/2014/main" id="{AFD1384A-0D69-4339-8882-72C9F3F5F64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C3992C7-3F1D-42B7-9BB5-D8B4AC2751D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221</a:t>
            </a:r>
          </a:p>
        </p:txBody>
      </p:sp>
    </p:spTree>
    <p:extLst>
      <p:ext uri="{BB962C8B-B14F-4D97-AF65-F5344CB8AC3E}">
        <p14:creationId xmlns:p14="http://schemas.microsoft.com/office/powerpoint/2010/main" val="1574035334"/>
      </p:ext>
    </p:extLst>
  </p:cSld>
</p:sld>
</file>

<file path=ppt/slides/slide2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8093C1-0866-4567-A299-35EE9AC011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A9F0924F-F274-4D9D-BCFD-0DF4256D8F8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Duong et al. VQUIN and TB-CHAMP individual-participant meta-analysis . Online December 18, 2024. Randomized preventive-treatment evidence in household contacts, distinct from active-TB treatment.</a:t>
            </a:r>
          </a:p>
        </p:txBody>
      </p:sp>
      <p:sp>
        <p:nvSpPr>
          <p:cNvPr id="3" name="footer">
            <a:extLst xmlns:a="http://schemas.openxmlformats.org/drawingml/2006/main">
              <a:ext uri="{FF2B5EF4-FFF2-40B4-BE49-F238E27FC236}">
                <a16:creationId xmlns:a16="http://schemas.microsoft.com/office/drawing/2014/main" id="{FB761E52-78D1-490E-883B-8E19C13DEBF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1CE7287-E2D6-4A69-9458-9F7C37D7C8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222</a:t>
            </a:r>
          </a:p>
        </p:txBody>
      </p:sp>
    </p:spTree>
    <p:extLst>
      <p:ext uri="{BB962C8B-B14F-4D97-AF65-F5344CB8AC3E}">
        <p14:creationId xmlns:p14="http://schemas.microsoft.com/office/powerpoint/2010/main" val="1939834423"/>
      </p:ext>
    </p:extLst>
  </p:cSld>
</p:sld>
</file>

<file path=ppt/slides/slide2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10A683-398E-4347-98EE-3DA874A2E2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ACACDF67-6BE1-43C9-882B-8CFCC3C3B88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WHO drug-susceptible TB in special situations . 2025. Renal and hepatic considerations; used here for renal dosing and monitoring.</a:t>
            </a:r>
          </a:p>
        </p:txBody>
      </p:sp>
      <p:sp>
        <p:nvSpPr>
          <p:cNvPr id="3" name="footer">
            <a:extLst xmlns:a="http://schemas.openxmlformats.org/drawingml/2006/main">
              <a:ext uri="{FF2B5EF4-FFF2-40B4-BE49-F238E27FC236}">
                <a16:creationId xmlns:a16="http://schemas.microsoft.com/office/drawing/2014/main" id="{EA99D7D8-5CE4-4394-86A6-7FD9864CD76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C9C976E-DCDC-4BE6-8C1E-67FDA0E5B33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223</a:t>
            </a:r>
          </a:p>
        </p:txBody>
      </p:sp>
    </p:spTree>
    <p:extLst>
      <p:ext uri="{BB962C8B-B14F-4D97-AF65-F5344CB8AC3E}">
        <p14:creationId xmlns:p14="http://schemas.microsoft.com/office/powerpoint/2010/main" val="781176577"/>
      </p:ext>
    </p:extLst>
  </p:cSld>
</p:sld>
</file>

<file path=ppt/slides/slide2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F29D639-3B18-40A0-A1D2-B5A28792BA8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C6A4DC8D-2769-4183-88B8-1607A80EAE1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ATS/CDC/IDSA diagnosis of TB in adults and children . 2017. Diagnostic guideline: discordant results, specimen selection and interpretation.</a:t>
            </a:r>
          </a:p>
        </p:txBody>
      </p:sp>
      <p:sp>
        <p:nvSpPr>
          <p:cNvPr id="3" name="footer">
            <a:extLst xmlns:a="http://schemas.openxmlformats.org/drawingml/2006/main">
              <a:ext uri="{FF2B5EF4-FFF2-40B4-BE49-F238E27FC236}">
                <a16:creationId xmlns:a16="http://schemas.microsoft.com/office/drawing/2014/main" id="{7B58A681-40CF-48BD-9BC4-8D4C66B1A4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21813EB-F0BD-40F1-BF80-CE7E2F3488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224</a:t>
            </a:r>
          </a:p>
        </p:txBody>
      </p:sp>
    </p:spTree>
    <p:extLst>
      <p:ext uri="{BB962C8B-B14F-4D97-AF65-F5344CB8AC3E}">
        <p14:creationId xmlns:p14="http://schemas.microsoft.com/office/powerpoint/2010/main" val="1596956931"/>
      </p:ext>
    </p:extLst>
  </p:cSld>
</p:sld>
</file>

<file path=ppt/slides/slide2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1D3F33-9A80-44DB-8F07-EE36E5C0C8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E639D4BF-A5AE-4D54-B4B1-582F408BF09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IGRA clinical testing guidance . Current online guidance. Immune-test interpretation, limitations and repeat testing.</a:t>
            </a:r>
          </a:p>
        </p:txBody>
      </p:sp>
      <p:sp>
        <p:nvSpPr>
          <p:cNvPr id="3" name="footer">
            <a:extLst xmlns:a="http://schemas.openxmlformats.org/drawingml/2006/main">
              <a:ext uri="{FF2B5EF4-FFF2-40B4-BE49-F238E27FC236}">
                <a16:creationId xmlns:a16="http://schemas.microsoft.com/office/drawing/2014/main" id="{44FF334F-E39F-40CA-8B08-E37A5CD4A39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050F5E8-4A55-4ADF-9DE5-B6D66D4AA6F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225</a:t>
            </a:r>
          </a:p>
        </p:txBody>
      </p:sp>
    </p:spTree>
    <p:extLst>
      <p:ext uri="{BB962C8B-B14F-4D97-AF65-F5344CB8AC3E}">
        <p14:creationId xmlns:p14="http://schemas.microsoft.com/office/powerpoint/2010/main" val="1592726877"/>
      </p:ext>
    </p:extLst>
  </p:cSld>
</p:sld>
</file>

<file path=ppt/slides/slide2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572768-1577-44A2-9C4D-0E9F7F11F8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B265F466-D442-47FC-BA04-9D2458D541E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tuberculin skin testing guidance . Current online guidance. Reading and risk-based thresholds.</a:t>
            </a:r>
          </a:p>
        </p:txBody>
      </p:sp>
      <p:sp>
        <p:nvSpPr>
          <p:cNvPr id="3" name="footer">
            <a:extLst xmlns:a="http://schemas.openxmlformats.org/drawingml/2006/main">
              <a:ext uri="{FF2B5EF4-FFF2-40B4-BE49-F238E27FC236}">
                <a16:creationId xmlns:a16="http://schemas.microsoft.com/office/drawing/2014/main" id="{3C920E5E-C702-4B98-BFCD-44295A9933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F8B4841-DC4B-468D-B429-5ED812C3A48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226</a:t>
            </a:r>
          </a:p>
        </p:txBody>
      </p:sp>
    </p:spTree>
    <p:extLst>
      <p:ext uri="{BB962C8B-B14F-4D97-AF65-F5344CB8AC3E}">
        <p14:creationId xmlns:p14="http://schemas.microsoft.com/office/powerpoint/2010/main" val="875714667"/>
      </p:ext>
    </p:extLst>
  </p:cSld>
</p:sld>
</file>

<file path=ppt/slides/slide2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5D29BC-C6E2-46FE-9F1B-5C7513AFAF4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C56A12D2-221E-4CD4-9F0A-B2827071E36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ATS/ERS/ESCMID/IDSA NTM pulmonary disease guideline . 2020. Distinguishing NTM isolation from pulmonary disease.</a:t>
            </a:r>
          </a:p>
        </p:txBody>
      </p:sp>
      <p:sp>
        <p:nvSpPr>
          <p:cNvPr id="3" name="footer">
            <a:extLst xmlns:a="http://schemas.openxmlformats.org/drawingml/2006/main">
              <a:ext uri="{FF2B5EF4-FFF2-40B4-BE49-F238E27FC236}">
                <a16:creationId xmlns:a16="http://schemas.microsoft.com/office/drawing/2014/main" id="{CFAEC077-FD4E-433E-8ABA-1B47D19173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386A865-A8BD-4E9C-B8B0-9BB21DB917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227</a:t>
            </a:r>
          </a:p>
        </p:txBody>
      </p:sp>
    </p:spTree>
    <p:extLst>
      <p:ext uri="{BB962C8B-B14F-4D97-AF65-F5344CB8AC3E}">
        <p14:creationId xmlns:p14="http://schemas.microsoft.com/office/powerpoint/2010/main" val="860441010"/>
      </p:ext>
    </p:extLst>
  </p:cSld>
</p:sld>
</file>

<file path=ppt/slides/slide2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22A6496-7C2B-48CB-A3C5-C7BC084B5A0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99B7BE91-985C-48A4-A2E1-51D06D41D66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histoplasmosis testing algorithm . May 13, 2024. Endemic fungal testing and antigen/antibody limitations.</a:t>
            </a:r>
          </a:p>
        </p:txBody>
      </p:sp>
      <p:sp>
        <p:nvSpPr>
          <p:cNvPr id="3" name="footer">
            <a:extLst xmlns:a="http://schemas.openxmlformats.org/drawingml/2006/main">
              <a:ext uri="{FF2B5EF4-FFF2-40B4-BE49-F238E27FC236}">
                <a16:creationId xmlns:a16="http://schemas.microsoft.com/office/drawing/2014/main" id="{22FD1D29-AEE4-4898-962A-E1EA93CB00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787041E-0477-4A74-AB8D-FA923EDDB94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228</a:t>
            </a:r>
          </a:p>
        </p:txBody>
      </p:sp>
    </p:spTree>
    <p:extLst>
      <p:ext uri="{BB962C8B-B14F-4D97-AF65-F5344CB8AC3E}">
        <p14:creationId xmlns:p14="http://schemas.microsoft.com/office/powerpoint/2010/main" val="198843417"/>
      </p:ext>
    </p:extLst>
  </p:cSld>
</p:sld>
</file>

<file path=ppt/slides/slide2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F33F644-CAEB-48B4-A212-81BAD1C4AE3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26DF2D25-7D32-4F56-A28D-51476D154E4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Gadkowski and Stout. Cavitary pulmonary disease . 2008. Background differential diagnosis; not used for current treatment recommendations.</a:t>
            </a:r>
          </a:p>
        </p:txBody>
      </p:sp>
      <p:sp>
        <p:nvSpPr>
          <p:cNvPr id="3" name="footer">
            <a:extLst xmlns:a="http://schemas.openxmlformats.org/drawingml/2006/main">
              <a:ext uri="{FF2B5EF4-FFF2-40B4-BE49-F238E27FC236}">
                <a16:creationId xmlns:a16="http://schemas.microsoft.com/office/drawing/2014/main" id="{BF6A50C6-0DCA-4E3F-AD56-4351E823B4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88CA6CB-4178-4E6A-9C9D-3DA342F442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229</a:t>
            </a:r>
          </a:p>
        </p:txBody>
      </p:sp>
    </p:spTree>
    <p:extLst>
      <p:ext uri="{BB962C8B-B14F-4D97-AF65-F5344CB8AC3E}">
        <p14:creationId xmlns:p14="http://schemas.microsoft.com/office/powerpoint/2010/main" val="1677839800"/>
      </p:ext>
    </p:extLst>
  </p:cSld>
</p:sld>
</file>

<file path=ppt/slides/slide2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F465699-C1F7-419E-B035-4568698336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67E40220-FC20-49FD-AE05-4476A535D62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NTCA/CDC latent TB treatment recommendations . 2020. Regimen selection, benefits, interactions and toxicity.</a:t>
            </a:r>
          </a:p>
        </p:txBody>
      </p:sp>
      <p:sp>
        <p:nvSpPr>
          <p:cNvPr id="3" name="footer">
            <a:extLst xmlns:a="http://schemas.openxmlformats.org/drawingml/2006/main">
              <a:ext uri="{FF2B5EF4-FFF2-40B4-BE49-F238E27FC236}">
                <a16:creationId xmlns:a16="http://schemas.microsoft.com/office/drawing/2014/main" id="{003B6307-B9DF-4097-98F2-877A8D4FC1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A775A47-C2AA-4F73-84D5-4550232AEF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230</a:t>
            </a:r>
          </a:p>
        </p:txBody>
      </p:sp>
    </p:spTree>
    <p:extLst>
      <p:ext uri="{BB962C8B-B14F-4D97-AF65-F5344CB8AC3E}">
        <p14:creationId xmlns:p14="http://schemas.microsoft.com/office/powerpoint/2010/main" val="418300142"/>
      </p:ext>
    </p:extLst>
  </p:cSld>
</p:sld>
</file>

<file path=ppt/slides/slide2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5E5F74-265E-42B7-B429-11549B3958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boundaries</a:t>
            </a:r>
          </a:p>
        </p:txBody>
      </p:sp>
      <p:sp>
        <p:nvSpPr>
          <p:cNvPr id="2" name="paragraph-0">
            <a:extLst xmlns:a="http://schemas.openxmlformats.org/drawingml/2006/main">
              <a:ext uri="{FF2B5EF4-FFF2-40B4-BE49-F238E27FC236}">
                <a16:creationId xmlns:a16="http://schemas.microsoft.com/office/drawing/2014/main" id="{E4A3BF27-9FBB-4309-95BE-C44CAC95516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NIH adult and adolescent OI guidance, Mycobacterium tuberculosis . Updated May 2, 2024; reviewed by NIH March 16, 2026. ART timing and TB/HIV interactions; checked September 15, 2026.</a:t>
            </a:r>
          </a:p>
        </p:txBody>
      </p:sp>
      <p:sp>
        <p:nvSpPr>
          <p:cNvPr id="3" name="footer">
            <a:extLst xmlns:a="http://schemas.openxmlformats.org/drawingml/2006/main">
              <a:ext uri="{FF2B5EF4-FFF2-40B4-BE49-F238E27FC236}">
                <a16:creationId xmlns:a16="http://schemas.microsoft.com/office/drawing/2014/main" id="{242B3201-1A35-4638-9F9F-B9BCB718455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EE2AAE9-9C8E-4DDA-9AF7-6A34B3E356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231</a:t>
            </a:r>
          </a:p>
        </p:txBody>
      </p:sp>
    </p:spTree>
    <p:extLst>
      <p:ext uri="{BB962C8B-B14F-4D97-AF65-F5344CB8AC3E}">
        <p14:creationId xmlns:p14="http://schemas.microsoft.com/office/powerpoint/2010/main" val="13024871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2026-10-28T18:29:46.4620000Z</dcterms:created>
  <dcterms:modified xsi:type="dcterms:W3CDTF">2026-10-28T18:29:46.4620000Z</dcterms:modified>
</coreProperties>
</file>