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9d93e2b055a4e06" /><Relationship Type="http://schemas.openxmlformats.org/officeDocument/2006/relationships/extended-properties" Target="/docProps/app.xml" Id="R11a09dc219e14128" /><Relationship Type="http://schemas.openxmlformats.org/officeDocument/2006/relationships/officeDocument" Target="/ppt/presentation.xml" Id="R18c52ad07f404aa0" /></Relationships>
</file>

<file path=ppt/presentation.xml><?xml version="1.0" encoding="utf-8"?>
<p:presentation xmlns:p="http://schemas.openxmlformats.org/presentationml/2006/main">
  <p:sldMasterIdLst>
    <p:sldMasterId xmlns:r="http://schemas.openxmlformats.org/officeDocument/2006/relationships" id="2147483648" r:id="R73e506d11ac9432b"/>
  </p:sldMasterIdLst>
  <p:notesMasterIdLst>
    <p:notesMasterId xmlns:r="http://schemas.openxmlformats.org/officeDocument/2006/relationships" r:id="R1ab42e3e36d84b24"/>
  </p:notesMasterIdLst>
  <p:sldIdLst>
    <p:sldId xmlns:r="http://schemas.openxmlformats.org/officeDocument/2006/relationships" id="256" r:id="R97f60fdbe34b4521"/>
    <p:sldId xmlns:r="http://schemas.openxmlformats.org/officeDocument/2006/relationships" id="257" r:id="R235b8d46b7be4d3f"/>
    <p:sldId xmlns:r="http://schemas.openxmlformats.org/officeDocument/2006/relationships" id="258" r:id="Rdcfde174c5544c85"/>
    <p:sldId xmlns:r="http://schemas.openxmlformats.org/officeDocument/2006/relationships" id="259" r:id="R8c05ae04b388458c"/>
    <p:sldId xmlns:r="http://schemas.openxmlformats.org/officeDocument/2006/relationships" id="260" r:id="R67693fd3eba14a51"/>
    <p:sldId xmlns:r="http://schemas.openxmlformats.org/officeDocument/2006/relationships" id="261" r:id="R4a0180f547f8475d"/>
    <p:sldId xmlns:r="http://schemas.openxmlformats.org/officeDocument/2006/relationships" id="262" r:id="Rd8f3a2d92a994c5a"/>
    <p:sldId xmlns:r="http://schemas.openxmlformats.org/officeDocument/2006/relationships" id="263" r:id="R97a7479d67864bf7"/>
    <p:sldId xmlns:r="http://schemas.openxmlformats.org/officeDocument/2006/relationships" id="264" r:id="R7622b5b4ef454369"/>
    <p:sldId xmlns:r="http://schemas.openxmlformats.org/officeDocument/2006/relationships" id="265" r:id="Rf9bdf7f8ebd545bf"/>
    <p:sldId xmlns:r="http://schemas.openxmlformats.org/officeDocument/2006/relationships" id="266" r:id="R32ea9249f6724c6e"/>
    <p:sldId xmlns:r="http://schemas.openxmlformats.org/officeDocument/2006/relationships" id="267" r:id="R39540dfd567a41f8"/>
    <p:sldId xmlns:r="http://schemas.openxmlformats.org/officeDocument/2006/relationships" id="268" r:id="R789f497e3fad43da"/>
    <p:sldId xmlns:r="http://schemas.openxmlformats.org/officeDocument/2006/relationships" id="269" r:id="R4f8b04f68bff48ee"/>
    <p:sldId xmlns:r="http://schemas.openxmlformats.org/officeDocument/2006/relationships" id="270" r:id="R3c9269ba033b4809"/>
    <p:sldId xmlns:r="http://schemas.openxmlformats.org/officeDocument/2006/relationships" id="271" r:id="Ref759e0169fe44b8"/>
    <p:sldId xmlns:r="http://schemas.openxmlformats.org/officeDocument/2006/relationships" id="272" r:id="Rfa028fb6717644ef"/>
    <p:sldId xmlns:r="http://schemas.openxmlformats.org/officeDocument/2006/relationships" id="273" r:id="R0497e3d53c65430b"/>
    <p:sldId xmlns:r="http://schemas.openxmlformats.org/officeDocument/2006/relationships" id="274" r:id="R0bc122b7b8aa4db0"/>
    <p:sldId xmlns:r="http://schemas.openxmlformats.org/officeDocument/2006/relationships" id="275" r:id="R307d03aee5514c06"/>
    <p:sldId xmlns:r="http://schemas.openxmlformats.org/officeDocument/2006/relationships" id="276" r:id="Re66426581f9e4f67"/>
    <p:sldId xmlns:r="http://schemas.openxmlformats.org/officeDocument/2006/relationships" id="277" r:id="R28f876122b344e86"/>
    <p:sldId xmlns:r="http://schemas.openxmlformats.org/officeDocument/2006/relationships" id="278" r:id="Rc3d5db6642d54f45"/>
    <p:sldId xmlns:r="http://schemas.openxmlformats.org/officeDocument/2006/relationships" id="279" r:id="Rcc3489eae1394dc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524832c9d07443d" /><Relationship Type="http://schemas.openxmlformats.org/officeDocument/2006/relationships/slideMaster" Target="/ppt/slideMasters/slideMaster1.xml" Id="R73e506d11ac9432b" /><Relationship Type="http://schemas.openxmlformats.org/officeDocument/2006/relationships/notesMaster" Target="/ppt/notesMasters/notesMaster1.xml" Id="R1ab42e3e36d84b24" /><Relationship Type="http://schemas.openxmlformats.org/officeDocument/2006/relationships/presProps" Target="/ppt/presProps.xml" Id="Rff57fc0e63a046f7" /><Relationship Type="http://schemas.openxmlformats.org/officeDocument/2006/relationships/tableStyles" Target="/ppt/tableStyles.xml" Id="R9fd53ff6d885408d" /><Relationship Type="http://schemas.openxmlformats.org/officeDocument/2006/relationships/slide" Target="/ppt/slides/slide1.xml" Id="R97f60fdbe34b4521" /><Relationship Type="http://schemas.openxmlformats.org/officeDocument/2006/relationships/slide" Target="/ppt/slides/slide2.xml" Id="R235b8d46b7be4d3f" /><Relationship Type="http://schemas.openxmlformats.org/officeDocument/2006/relationships/slide" Target="/ppt/slides/slide3.xml" Id="Rdcfde174c5544c85" /><Relationship Type="http://schemas.openxmlformats.org/officeDocument/2006/relationships/slide" Target="/ppt/slides/slide4.xml" Id="R8c05ae04b388458c" /><Relationship Type="http://schemas.openxmlformats.org/officeDocument/2006/relationships/slide" Target="/ppt/slides/slide5.xml" Id="R67693fd3eba14a51" /><Relationship Type="http://schemas.openxmlformats.org/officeDocument/2006/relationships/slide" Target="/ppt/slides/slide6.xml" Id="R4a0180f547f8475d" /><Relationship Type="http://schemas.openxmlformats.org/officeDocument/2006/relationships/slide" Target="/ppt/slides/slide7.xml" Id="Rd8f3a2d92a994c5a" /><Relationship Type="http://schemas.openxmlformats.org/officeDocument/2006/relationships/slide" Target="/ppt/slides/slide8.xml" Id="R97a7479d67864bf7" /><Relationship Type="http://schemas.openxmlformats.org/officeDocument/2006/relationships/slide" Target="/ppt/slides/slide9.xml" Id="R7622b5b4ef454369" /><Relationship Type="http://schemas.openxmlformats.org/officeDocument/2006/relationships/slide" Target="/ppt/slides/slide10.xml" Id="Rf9bdf7f8ebd545bf" /><Relationship Type="http://schemas.openxmlformats.org/officeDocument/2006/relationships/slide" Target="/ppt/slides/slide11.xml" Id="R32ea9249f6724c6e" /><Relationship Type="http://schemas.openxmlformats.org/officeDocument/2006/relationships/slide" Target="/ppt/slides/slide12.xml" Id="R39540dfd567a41f8" /><Relationship Type="http://schemas.openxmlformats.org/officeDocument/2006/relationships/slide" Target="/ppt/slides/slide13.xml" Id="R789f497e3fad43da" /><Relationship Type="http://schemas.openxmlformats.org/officeDocument/2006/relationships/slide" Target="/ppt/slides/slide14.xml" Id="R4f8b04f68bff48ee" /><Relationship Type="http://schemas.openxmlformats.org/officeDocument/2006/relationships/slide" Target="/ppt/slides/slide15.xml" Id="R3c9269ba033b4809" /><Relationship Type="http://schemas.openxmlformats.org/officeDocument/2006/relationships/slide" Target="/ppt/slides/slide16.xml" Id="Ref759e0169fe44b8" /><Relationship Type="http://schemas.openxmlformats.org/officeDocument/2006/relationships/slide" Target="/ppt/slides/slide17.xml" Id="Rfa028fb6717644ef" /><Relationship Type="http://schemas.openxmlformats.org/officeDocument/2006/relationships/slide" Target="/ppt/slides/slide18.xml" Id="R0497e3d53c65430b" /><Relationship Type="http://schemas.openxmlformats.org/officeDocument/2006/relationships/slide" Target="/ppt/slides/slide19.xml" Id="R0bc122b7b8aa4db0" /><Relationship Type="http://schemas.openxmlformats.org/officeDocument/2006/relationships/slide" Target="/ppt/slides/slide20.xml" Id="R307d03aee5514c06" /><Relationship Type="http://schemas.openxmlformats.org/officeDocument/2006/relationships/slide" Target="/ppt/slides/slide21.xml" Id="Re66426581f9e4f67" /><Relationship Type="http://schemas.openxmlformats.org/officeDocument/2006/relationships/slide" Target="/ppt/slides/slide22.xml" Id="R28f876122b344e86" /><Relationship Type="http://schemas.openxmlformats.org/officeDocument/2006/relationships/slide" Target="/ppt/slides/slide23.xml" Id="Rc3d5db6642d54f45" /><Relationship Type="http://schemas.openxmlformats.org/officeDocument/2006/relationships/slide" Target="/ppt/slides/slide24.xml" Id="Rcc3489eae1394dc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68c6a5413cb4c4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89db89df0644c9a" /><Relationship Type="http://schemas.openxmlformats.org/officeDocument/2006/relationships/notesMaster" Target="/ppt/notesMasters/notesMaster1.xml" Id="R910a115ab2bf4a57" /></Relationships>
</file>

<file path=ppt/notesSlides/_rels/notesSlide2.xml.rels>&#65279;<?xml version="1.0" encoding="utf-8"?><Relationships xmlns="http://schemas.openxmlformats.org/package/2006/relationships"><Relationship Type="http://schemas.openxmlformats.org/officeDocument/2006/relationships/slide" Target="/ppt/slides/slide2.xml" Id="Rb405ebf037f44317" /><Relationship Type="http://schemas.openxmlformats.org/officeDocument/2006/relationships/notesMaster" Target="/ppt/notesMasters/notesMaster1.xml" Id="Reaf830ddd3e04c80" /></Relationships>
</file>

<file path=ppt/notesSlides/_rels/notesSlide3.xml.rels>&#65279;<?xml version="1.0" encoding="utf-8"?><Relationships xmlns="http://schemas.openxmlformats.org/package/2006/relationships"><Relationship Type="http://schemas.openxmlformats.org/officeDocument/2006/relationships/slide" Target="/ppt/slides/slide3.xml" Id="R8f243ff298a94f39" /><Relationship Type="http://schemas.openxmlformats.org/officeDocument/2006/relationships/notesMaster" Target="/ppt/notesMasters/notesMaster1.xml" Id="R884910859cfe4249" /></Relationships>
</file>

<file path=ppt/notesSlides/_rels/notesSlide4.xml.rels>&#65279;<?xml version="1.0" encoding="utf-8"?><Relationships xmlns="http://schemas.openxmlformats.org/package/2006/relationships"><Relationship Type="http://schemas.openxmlformats.org/officeDocument/2006/relationships/slide" Target="/ppt/slides/slide4.xml" Id="R7890d093a2a4425e" /><Relationship Type="http://schemas.openxmlformats.org/officeDocument/2006/relationships/notesMaster" Target="/ppt/notesMasters/notesMaster1.xml" Id="R653397f2d7bf4d92" /></Relationships>
</file>

<file path=ppt/notesSlides/_rels/notesSlide5.xml.rels>&#65279;<?xml version="1.0" encoding="utf-8"?><Relationships xmlns="http://schemas.openxmlformats.org/package/2006/relationships"><Relationship Type="http://schemas.openxmlformats.org/officeDocument/2006/relationships/slide" Target="/ppt/slides/slide5.xml" Id="R5d96206f0b0946dc" /><Relationship Type="http://schemas.openxmlformats.org/officeDocument/2006/relationships/notesMaster" Target="/ppt/notesMasters/notesMaster1.xml" Id="R5c68c0d33678423b" /></Relationships>
</file>

<file path=ppt/notesSlides/_rels/notesSlide6.xml.rels>&#65279;<?xml version="1.0" encoding="utf-8"?><Relationships xmlns="http://schemas.openxmlformats.org/package/2006/relationships"><Relationship Type="http://schemas.openxmlformats.org/officeDocument/2006/relationships/slide" Target="/ppt/slides/slide6.xml" Id="Rb3d825aabf8f4fcb" /><Relationship Type="http://schemas.openxmlformats.org/officeDocument/2006/relationships/notesMaster" Target="/ppt/notesMasters/notesMaster1.xml" Id="Ra1f13ae390d84081" /></Relationships>
</file>

<file path=ppt/notesSlides/_rels/notesSlide7.xml.rels>&#65279;<?xml version="1.0" encoding="utf-8"?><Relationships xmlns="http://schemas.openxmlformats.org/package/2006/relationships"><Relationship Type="http://schemas.openxmlformats.org/officeDocument/2006/relationships/slide" Target="/ppt/slides/slide7.xml" Id="R0d2801f5159f4015" /><Relationship Type="http://schemas.openxmlformats.org/officeDocument/2006/relationships/notesMaster" Target="/ppt/notesMasters/notesMaster1.xml" Id="R60d34ef3e9c44717" /></Relationships>
</file>

<file path=ppt/notesSlides/_rels/notesSlide8.xml.rels>&#65279;<?xml version="1.0" encoding="utf-8"?><Relationships xmlns="http://schemas.openxmlformats.org/package/2006/relationships"><Relationship Type="http://schemas.openxmlformats.org/officeDocument/2006/relationships/slide" Target="/ppt/slides/slide8.xml" Id="Rab626d2b37bd49e7" /><Relationship Type="http://schemas.openxmlformats.org/officeDocument/2006/relationships/notesMaster" Target="/ppt/notesMasters/notesMaster1.xml" Id="R3f5f988817dc4fff" /></Relationships>
</file>

<file path=ppt/notesSlides/_rels/notesSlide9.xml.rels>&#65279;<?xml version="1.0" encoding="utf-8"?><Relationships xmlns="http://schemas.openxmlformats.org/package/2006/relationships"><Relationship Type="http://schemas.openxmlformats.org/officeDocument/2006/relationships/slide" Target="/ppt/slides/slide9.xml" Id="Rfa4fdb30e4594f54" /><Relationship Type="http://schemas.openxmlformats.org/officeDocument/2006/relationships/notesMaster" Target="/ppt/notesMasters/notesMaster1.xml" Id="R28f2dfe731494a9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e3155ba2db84d2b" /><Relationship Type="http://schemas.openxmlformats.org/officeDocument/2006/relationships/notesMaster" Target="/ppt/notesMasters/notesMaster1.xml" Id="R4f8ed50a850c4ab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f95460ef7cd4379" /><Relationship Type="http://schemas.openxmlformats.org/officeDocument/2006/relationships/notesMaster" Target="/ppt/notesMasters/notesMaster1.xml" Id="Re44c7038796e433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5a31e0a31e6411a" /><Relationship Type="http://schemas.openxmlformats.org/officeDocument/2006/relationships/notesMaster" Target="/ppt/notesMasters/notesMaster1.xml" Id="Rdd0ea665e980426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6228d2608094c27" /><Relationship Type="http://schemas.openxmlformats.org/officeDocument/2006/relationships/notesMaster" Target="/ppt/notesMasters/notesMaster1.xml" Id="R183c1f87c94d454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bd6662a3c224444" /><Relationship Type="http://schemas.openxmlformats.org/officeDocument/2006/relationships/notesMaster" Target="/ppt/notesMasters/notesMaster1.xml" Id="R70fed1a0128043d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5bd3da5f446419b" /><Relationship Type="http://schemas.openxmlformats.org/officeDocument/2006/relationships/notesMaster" Target="/ppt/notesMasters/notesMaster1.xml" Id="Rb79ccd654d924c3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fc543d39f1d495f" /><Relationship Type="http://schemas.openxmlformats.org/officeDocument/2006/relationships/notesMaster" Target="/ppt/notesMasters/notesMaster1.xml" Id="Rd3265116d8c6459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0e13b0d00c34aff" /><Relationship Type="http://schemas.openxmlformats.org/officeDocument/2006/relationships/notesMaster" Target="/ppt/notesMasters/notesMaster1.xml" Id="R1337bc096993400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6fd9e2c12ae4fe7" /><Relationship Type="http://schemas.openxmlformats.org/officeDocument/2006/relationships/notesMaster" Target="/ppt/notesMasters/notesMaster1.xml" Id="R1055540721a346b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cb3401f8eb14bd6" /><Relationship Type="http://schemas.openxmlformats.org/officeDocument/2006/relationships/notesMaster" Target="/ppt/notesMasters/notesMaster1.xml" Id="R5d52235246114f6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f28c4fa1f4d4a30" /><Relationship Type="http://schemas.openxmlformats.org/officeDocument/2006/relationships/notesMaster" Target="/ppt/notesMasters/notesMaster1.xml" Id="R3edc27a65bef4a4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4b024bcbf1e4b85" /><Relationship Type="http://schemas.openxmlformats.org/officeDocument/2006/relationships/notesMaster" Target="/ppt/notesMasters/notesMaster1.xml" Id="Rcc7e5dbd2a7b491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f6a220fb91b47b8" /><Relationship Type="http://schemas.openxmlformats.org/officeDocument/2006/relationships/notesMaster" Target="/ppt/notesMasters/notesMaster1.xml" Id="R06d47c0c513743b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01ffedbda2a4ad9" /><Relationship Type="http://schemas.openxmlformats.org/officeDocument/2006/relationships/notesMaster" Target="/ppt/notesMasters/notesMaster1.xml" Id="Rc3f0ded51e274a6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812819ce4a643b6" /><Relationship Type="http://schemas.openxmlformats.org/officeDocument/2006/relationships/notesMaster" Target="/ppt/notesMasters/notesMaster1.xml" Id="Rf1c5f25d50a24dd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https://docarcshot.github.io/id-practice-update/lectures/Asymptomatic_Bacteriuria_Short_Module.html</a:t>
            </a:r>
          </a:p>
          <a:p xmlns:a="http://schemas.openxmlformats.org/drawingml/2006/main">
            <a:r>
              <a:t>https://www.idsociety.org/practice-guideline/asymptomatic-bacteriuria/</a:t>
            </a:r>
          </a:p>
          <a:p xmlns:a="http://schemas.openxmlformats.org/drawingml/2006/main">
            <a:r>
              <a:t>https://uroweb.org/guidelines/urological-infections/chapter/the-guideline</a:t>
            </a:r>
          </a:p>
          <a:p xmlns:a="http://schemas.openxmlformats.org/drawingml/2006/main">
            <a:r>
              <a:t>https://www.cdc.gov/uti/hcp/clinical-guidance/index.html</a:t>
            </a:r>
          </a:p>
          <a:p xmlns:a="http://schemas.openxmlformats.org/drawingml/2006/main">
            <a:r>
              <a:t>https://www.uspreventiveservicestaskforce.org/uspstf/recommendation/asymptomatic-bacteriuria-in-adults-screening</a:t>
            </a:r>
          </a:p>
          <a:p xmlns:a="http://schemas.openxmlformats.org/drawingml/2006/main">
            <a:r>
              <a:t>https://www.cdc.gov/infection-control/hcp/cauti/summary-of-recommendations.html</a:t>
            </a:r>
          </a:p>
          <a:p xmlns:a="http://schemas.openxmlformats.org/drawingml/2006/main">
            <a:r>
              <a:t>https://doi.org/10.1001/jamainternmed.2019.2871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Start with the symptoms that prompted the culture An 82-year-old is admitted with confusion after poor intake and a medication change. Temperature and blood pressure are normal. There is no dysuria, new urgency, suprapubic pain, or flank pain. Urine testing shows pyuria and more than 100,000 CFU/mL of E. coli. Discuss before reading on. What establishes a urinary infection here? What other explanations for delirium need evaluation? Asymptomatic bacteriuria means bacteria in urine without an attributable urinary infection syndrome. Pyuria can accompany colonization. Neither the organism name nor its resistance pattern establishes a need for antibiotics. [1] [2]</a:t>
            </a:r>
          </a:p>
          <a:p xmlns:a="http://schemas.openxmlformats.org/drawingml/2006/main">
            <a:r>
              <a:t/>
            </a:r>
          </a:p>
          <a:p xmlns:a="http://schemas.openxmlformats.org/drawingml/2006/main">
            <a:r>
              <a:t>Module section: https://docarcshot.github.io/id-practice-update/lectures/Asymptomatic_Bacteriuria_Short_Module.html#core-1</a:t>
            </a:r>
          </a:p>
          <a:p xmlns:a="http://schemas.openxmlformats.org/drawingml/2006/main">
            <a:r>
              <a:t/>
            </a:r>
          </a:p>
          <a:p xmlns:a="http://schemas.openxmlformats.org/drawingml/2006/main">
            <a:r>
              <a:t>Public sources and related reading:</a:t>
            </a:r>
          </a:p>
          <a:p xmlns:a="http://schemas.openxmlformats.org/drawingml/2006/main">
            <a:r>
              <a:t>https://www.idsociety.org/practice-guideline/asymptomatic-bacteriuria/</a:t>
            </a:r>
          </a:p>
          <a:p xmlns:a="http://schemas.openxmlformats.org/drawingml/2006/main">
            <a:r>
              <a:t>https://uroweb.org/guidelines/urological-infections/chapter/the-guideline</a:t>
            </a:r>
          </a:p>
          <a:p xmlns:a="http://schemas.openxmlformats.org/drawingml/2006/main">
            <a:r>
              <a:t>https://www.cdc.gov/uti/hcp/clinical-guidance/index.html</a:t>
            </a:r>
          </a:p>
          <a:p xmlns:a="http://schemas.openxmlformats.org/drawingml/2006/main">
            <a:r>
              <a:t>https://www.uspreventiveservicestaskforce.org/uspstf/recommendation/asymptomatic-bacteriuria-in-adults-screening</a:t>
            </a:r>
          </a:p>
          <a:p xmlns:a="http://schemas.openxmlformats.org/drawingml/2006/main">
            <a:r>
              <a:t>https://www.cdc.gov/infection-control/hcp/cauti/summary-of-recommendations.html</a:t>
            </a:r>
          </a:p>
          <a:p xmlns:a="http://schemas.openxmlformats.org/drawingml/2006/main">
            <a:r>
              <a:t>https://doi.org/10.1001/jamainternmed.2019.2871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Start with the symptoms that prompted the culture An 82-year-old is admitted with confusion after poor intake and a medication change. Temperature and blood pressure are normal. There is no dysuria, new urgency, suprapubic pain, or flank pain. Urine testing shows pyuria and more than 100,000 CFU/mL of E. coli. Discuss before reading on. What establishes a urinary infection here? What other explanations for delirium need evaluation? Asymptomatic bacteriuria means bacteria in urine without an attributable urinary infection syndrome. Pyuria can accompany colonization. Neither the organism name nor its resistance pattern establishes a need for antibiotics. [1] [2]</a:t>
            </a:r>
          </a:p>
          <a:p xmlns:a="http://schemas.openxmlformats.org/drawingml/2006/main">
            <a:r>
              <a:t/>
            </a:r>
          </a:p>
          <a:p xmlns:a="http://schemas.openxmlformats.org/drawingml/2006/main">
            <a:r>
              <a:t>Module section: https://docarcshot.github.io/id-practice-update/lectures/Asymptomatic_Bacteriuria_Short_Module.html#core-1</a:t>
            </a:r>
          </a:p>
          <a:p xmlns:a="http://schemas.openxmlformats.org/drawingml/2006/main">
            <a:r>
              <a:t/>
            </a:r>
          </a:p>
          <a:p xmlns:a="http://schemas.openxmlformats.org/drawingml/2006/main">
            <a:r>
              <a:t>Public sources and related reading:</a:t>
            </a:r>
          </a:p>
          <a:p xmlns:a="http://schemas.openxmlformats.org/drawingml/2006/main">
            <a:r>
              <a:t>https://www.idsociety.org/practice-guideline/asymptomatic-bacteriuria/</a:t>
            </a:r>
          </a:p>
          <a:p xmlns:a="http://schemas.openxmlformats.org/drawingml/2006/main">
            <a:r>
              <a:t>https://uroweb.org/guidelines/urological-infections/chapter/the-guideline</a:t>
            </a:r>
          </a:p>
          <a:p xmlns:a="http://schemas.openxmlformats.org/drawingml/2006/main">
            <a:r>
              <a:t>https://www.cdc.gov/uti/hcp/clinical-guidance/index.html</a:t>
            </a:r>
          </a:p>
          <a:p xmlns:a="http://schemas.openxmlformats.org/drawingml/2006/main">
            <a:r>
              <a:t>https://www.uspreventiveservicestaskforce.org/uspstf/recommendation/asymptomatic-bacteriuria-in-adults-screening</a:t>
            </a:r>
          </a:p>
          <a:p xmlns:a="http://schemas.openxmlformats.org/drawingml/2006/main">
            <a:r>
              <a:t>https://www.cdc.gov/infection-control/hcp/cauti/summary-of-recommendations.html</a:t>
            </a:r>
          </a:p>
          <a:p xmlns:a="http://schemas.openxmlformats.org/drawingml/2006/main">
            <a:r>
              <a:t>https://doi.org/10.1001/jamainternmed.2019.2871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Decide whether urine testing can answer a clinical question A positive result is useful only in the clinical context. Clinical finding Approach New dysuria, frequency, urgency, or suprapubic pain Assess for symptomatic lower UTI and competing causes. Culture when it will guide management. Fever with flank pain, rigors, or otherwise unexplained systemic illness Evaluate for systemic UTI and alternative sources; obtain a culture when UTI is plausible. Delirium or a fall without urinary symptoms, fever, or instability Assess other causes and observe. Bacteriuria alone does not establish the cause. Cloudy urine, odor, or pyuria alone Do not use these findings alone to trigger treatment. Avoid collecting a culture solely to explain them. In a patient unable to report symptoms, obtain collateral history, examine for localizing findings, and reassess the trajectory. Inability to give a history is not proof that bacteriuria is symptomatic. [1] [2] [3]</a:t>
            </a:r>
          </a:p>
          <a:p xmlns:a="http://schemas.openxmlformats.org/drawingml/2006/main">
            <a:r>
              <a:t/>
            </a:r>
          </a:p>
          <a:p xmlns:a="http://schemas.openxmlformats.org/drawingml/2006/main">
            <a:r>
              <a:t>Module section: https://docarcshot.github.io/id-practice-update/lectures/Asymptomatic_Bacteriuria_Short_Module.html#core-2</a:t>
            </a:r>
          </a:p>
          <a:p xmlns:a="http://schemas.openxmlformats.org/drawingml/2006/main">
            <a:r>
              <a:t/>
            </a:r>
          </a:p>
          <a:p xmlns:a="http://schemas.openxmlformats.org/drawingml/2006/main">
            <a:r>
              <a:t>Public sources and related reading:</a:t>
            </a:r>
          </a:p>
          <a:p xmlns:a="http://schemas.openxmlformats.org/drawingml/2006/main">
            <a:r>
              <a:t>https://www.idsociety.org/practice-guideline/asymptomatic-bacteriuria/</a:t>
            </a:r>
          </a:p>
          <a:p xmlns:a="http://schemas.openxmlformats.org/drawingml/2006/main">
            <a:r>
              <a:t>https://uroweb.org/guidelines/urological-infections/chapter/the-guideline</a:t>
            </a:r>
          </a:p>
          <a:p xmlns:a="http://schemas.openxmlformats.org/drawingml/2006/main">
            <a:r>
              <a:t>https://www.cdc.gov/uti/hcp/clinical-guidance/index.html</a:t>
            </a:r>
          </a:p>
          <a:p xmlns:a="http://schemas.openxmlformats.org/drawingml/2006/main">
            <a:r>
              <a:t>https://www.uspreventiveservicestaskforce.org/uspstf/recommendation/asymptomatic-bacteriuria-in-adults-screening</a:t>
            </a:r>
          </a:p>
          <a:p xmlns:a="http://schemas.openxmlformats.org/drawingml/2006/main">
            <a:r>
              <a:t>https://www.cdc.gov/infection-control/hcp/cauti/summary-of-recommendations.html</a:t>
            </a:r>
          </a:p>
          <a:p xmlns:a="http://schemas.openxmlformats.org/drawingml/2006/main">
            <a:r>
              <a:t>https://doi.org/10.1001/jamainternmed.2019.2871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Decide whether urine testing can answer a clinical question A positive result is useful only in the clinical context. Clinical finding Approach New dysuria, frequency, urgency, or suprapubic pain Assess for symptomatic lower UTI and competing causes. Culture when it will guide management. Fever with flank pain, rigors, or otherwise unexplained systemic illness Evaluate for systemic UTI and alternative sources; obtain a culture when UTI is plausible. Delirium or a fall without urinary symptoms, fever, or instability Assess other causes and observe. Bacteriuria alone does not establish the cause. Cloudy urine, odor, or pyuria alone Do not use these findings alone to trigger treatment. Avoid collecting a culture solely to explain them. In a patient unable to report symptoms, obtain collateral history, examine for localizing findings, and reassess the trajectory. Inability to give a history is not proof that bacteriuria is symptomatic. [1] [2] [3]</a:t>
            </a:r>
          </a:p>
          <a:p xmlns:a="http://schemas.openxmlformats.org/drawingml/2006/main">
            <a:r>
              <a:t/>
            </a:r>
          </a:p>
          <a:p xmlns:a="http://schemas.openxmlformats.org/drawingml/2006/main">
            <a:r>
              <a:t>Module section: https://docarcshot.github.io/id-practice-update/lectures/Asymptomatic_Bacteriuria_Short_Module.html#core-2</a:t>
            </a:r>
          </a:p>
          <a:p xmlns:a="http://schemas.openxmlformats.org/drawingml/2006/main">
            <a:r>
              <a:t/>
            </a:r>
          </a:p>
          <a:p xmlns:a="http://schemas.openxmlformats.org/drawingml/2006/main">
            <a:r>
              <a:t>Public sources and related reading:</a:t>
            </a:r>
          </a:p>
          <a:p xmlns:a="http://schemas.openxmlformats.org/drawingml/2006/main">
            <a:r>
              <a:t>https://www.idsociety.org/practice-guideline/asymptomatic-bacteriuria/</a:t>
            </a:r>
          </a:p>
          <a:p xmlns:a="http://schemas.openxmlformats.org/drawingml/2006/main">
            <a:r>
              <a:t>https://uroweb.org/guidelines/urological-infections/chapter/the-guideline</a:t>
            </a:r>
          </a:p>
          <a:p xmlns:a="http://schemas.openxmlformats.org/drawingml/2006/main">
            <a:r>
              <a:t>https://www.cdc.gov/uti/hcp/clinical-guidance/index.html</a:t>
            </a:r>
          </a:p>
          <a:p xmlns:a="http://schemas.openxmlformats.org/drawingml/2006/main">
            <a:r>
              <a:t>https://www.uspreventiveservicestaskforce.org/uspstf/recommendation/asymptomatic-bacteriuria-in-adults-screening</a:t>
            </a:r>
          </a:p>
          <a:p xmlns:a="http://schemas.openxmlformats.org/drawingml/2006/main">
            <a:r>
              <a:t>https://www.cdc.gov/infection-control/hcp/cauti/summary-of-recommendations.html</a:t>
            </a:r>
          </a:p>
          <a:p xmlns:a="http://schemas.openxmlformats.org/drawingml/2006/main">
            <a:r>
              <a:t>https://doi.org/10.1001/jamainternmed.2019.2871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Decide whether urine testing can answer a clinical question A positive result is useful only in the clinical context. Clinical finding Approach New dysuria, frequency, urgency, or suprapubic pain Assess for symptomatic lower UTI and competing causes. Culture when it will guide management. Fever with flank pain, rigors, or otherwise unexplained systemic illness Evaluate for systemic UTI and alternative sources; obtain a culture when UTI is plausible. Delirium or a fall without urinary symptoms, fever, or instability Assess other causes and observe. Bacteriuria alone does not establish the cause. Cloudy urine, odor, or pyuria alone Do not use these findings alone to trigger treatment. Avoid collecting a culture solely to explain them. In a patient unable to report symptoms, obtain collateral history, examine for localizing findings, and reassess the trajectory. Inability to give a history is not proof that bacteriuria is symptomatic. [1] [2] [3]</a:t>
            </a:r>
          </a:p>
          <a:p xmlns:a="http://schemas.openxmlformats.org/drawingml/2006/main">
            <a:r>
              <a:t/>
            </a:r>
          </a:p>
          <a:p xmlns:a="http://schemas.openxmlformats.org/drawingml/2006/main">
            <a:r>
              <a:t>Module section: https://docarcshot.github.io/id-practice-update/lectures/Asymptomatic_Bacteriuria_Short_Module.html#core-2</a:t>
            </a:r>
          </a:p>
          <a:p xmlns:a="http://schemas.openxmlformats.org/drawingml/2006/main">
            <a:r>
              <a:t/>
            </a:r>
          </a:p>
          <a:p xmlns:a="http://schemas.openxmlformats.org/drawingml/2006/main">
            <a:r>
              <a:t>Public sources and related reading:</a:t>
            </a:r>
          </a:p>
          <a:p xmlns:a="http://schemas.openxmlformats.org/drawingml/2006/main">
            <a:r>
              <a:t>https://www.idsociety.org/practice-guideline/asymptomatic-bacteriuria/</a:t>
            </a:r>
          </a:p>
          <a:p xmlns:a="http://schemas.openxmlformats.org/drawingml/2006/main">
            <a:r>
              <a:t>https://uroweb.org/guidelines/urological-infections/chapter/the-guideline</a:t>
            </a:r>
          </a:p>
          <a:p xmlns:a="http://schemas.openxmlformats.org/drawingml/2006/main">
            <a:r>
              <a:t>https://www.cdc.gov/uti/hcp/clinical-guidance/index.html</a:t>
            </a:r>
          </a:p>
          <a:p xmlns:a="http://schemas.openxmlformats.org/drawingml/2006/main">
            <a:r>
              <a:t>https://www.uspreventiveservicestaskforce.org/uspstf/recommendation/asymptomatic-bacteriuria-in-adults-screening</a:t>
            </a:r>
          </a:p>
          <a:p xmlns:a="http://schemas.openxmlformats.org/drawingml/2006/main">
            <a:r>
              <a:t>https://www.cdc.gov/infection-control/hcp/cauti/summary-of-recommendations.html</a:t>
            </a:r>
          </a:p>
          <a:p xmlns:a="http://schemas.openxmlformats.org/drawingml/2006/main">
            <a:r>
              <a:t>https://doi.org/10.1001/jamainternmed.2019.2871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Treat established exceptions rather than every positive culture The type of procedure matters; not every urologic encounter breaches mucosa. Situation Management of bacteriuria without symptoms Pregnancy Screen with a urine culture and treat confirmed ASB using a pregnancy-appropriate, susceptibility-directed regimen. Endoscopic urologic procedure with expected mucosal trauma Culture beforehand and provide targeted peri-procedural therapy. IDSA suggests 1 or 2 doses beginning 30-60 minutes before the procedure. Older adults, diabetes, chronic catheters, or elective joint arthroplasty Do not routinely screen for or treat ASB. Standard surgical prophylaxis is a separate decision. Pregnancy treatment and follow-up should follow the obstetric pathway. Do not extrapolate the short peri-procedural regimen to pregnancy. [1] [2] [4]</a:t>
            </a:r>
          </a:p>
          <a:p xmlns:a="http://schemas.openxmlformats.org/drawingml/2006/main">
            <a:r>
              <a:t/>
            </a:r>
          </a:p>
          <a:p xmlns:a="http://schemas.openxmlformats.org/drawingml/2006/main">
            <a:r>
              <a:t>Module section: https://docarcshot.github.io/id-practice-update/lectures/Asymptomatic_Bacteriuria_Short_Module.html#core-3</a:t>
            </a:r>
          </a:p>
          <a:p xmlns:a="http://schemas.openxmlformats.org/drawingml/2006/main">
            <a:r>
              <a:t/>
            </a:r>
          </a:p>
          <a:p xmlns:a="http://schemas.openxmlformats.org/drawingml/2006/main">
            <a:r>
              <a:t>Public sources and related reading:</a:t>
            </a:r>
          </a:p>
          <a:p xmlns:a="http://schemas.openxmlformats.org/drawingml/2006/main">
            <a:r>
              <a:t>https://www.idsociety.org/practice-guideline/asymptomatic-bacteriuria/</a:t>
            </a:r>
          </a:p>
          <a:p xmlns:a="http://schemas.openxmlformats.org/drawingml/2006/main">
            <a:r>
              <a:t>https://uroweb.org/guidelines/urological-infections/chapter/the-guideline</a:t>
            </a:r>
          </a:p>
          <a:p xmlns:a="http://schemas.openxmlformats.org/drawingml/2006/main">
            <a:r>
              <a:t>https://www.cdc.gov/uti/hcp/clinical-guidance/index.html</a:t>
            </a:r>
          </a:p>
          <a:p xmlns:a="http://schemas.openxmlformats.org/drawingml/2006/main">
            <a:r>
              <a:t>https://www.uspreventiveservicestaskforce.org/uspstf/recommendation/asymptomatic-bacteriuria-in-adults-screening</a:t>
            </a:r>
          </a:p>
          <a:p xmlns:a="http://schemas.openxmlformats.org/drawingml/2006/main">
            <a:r>
              <a:t>https://www.cdc.gov/infection-control/hcp/cauti/summary-of-recommendations.html</a:t>
            </a:r>
          </a:p>
          <a:p xmlns:a="http://schemas.openxmlformats.org/drawingml/2006/main">
            <a:r>
              <a:t>https://doi.org/10.1001/jamainternmed.2019.2871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Treat established exceptions rather than every positive culture The type of procedure matters; not every urologic encounter breaches mucosa. Situation Management of bacteriuria without symptoms Pregnancy Screen with a urine culture and treat confirmed ASB using a pregnancy-appropriate, susceptibility-directed regimen. Endoscopic urologic procedure with expected mucosal trauma Culture beforehand and provide targeted peri-procedural therapy. IDSA suggests 1 or 2 doses beginning 30-60 minutes before the procedure. Older adults, diabetes, chronic catheters, or elective joint arthroplasty Do not routinely screen for or treat ASB. Standard surgical prophylaxis is a separate decision. Pregnancy treatment and follow-up should follow the obstetric pathway. Do not extrapolate the short peri-procedural regimen to pregnancy. [1] [2] [4]</a:t>
            </a:r>
          </a:p>
          <a:p xmlns:a="http://schemas.openxmlformats.org/drawingml/2006/main">
            <a:r>
              <a:t/>
            </a:r>
          </a:p>
          <a:p xmlns:a="http://schemas.openxmlformats.org/drawingml/2006/main">
            <a:r>
              <a:t>Module section: https://docarcshot.github.io/id-practice-update/lectures/Asymptomatic_Bacteriuria_Short_Module.html#core-3</a:t>
            </a:r>
          </a:p>
          <a:p xmlns:a="http://schemas.openxmlformats.org/drawingml/2006/main">
            <a:r>
              <a:t/>
            </a:r>
          </a:p>
          <a:p xmlns:a="http://schemas.openxmlformats.org/drawingml/2006/main">
            <a:r>
              <a:t>Public sources and related reading:</a:t>
            </a:r>
          </a:p>
          <a:p xmlns:a="http://schemas.openxmlformats.org/drawingml/2006/main">
            <a:r>
              <a:t>https://www.idsociety.org/practice-guideline/asymptomatic-bacteriuria/</a:t>
            </a:r>
          </a:p>
          <a:p xmlns:a="http://schemas.openxmlformats.org/drawingml/2006/main">
            <a:r>
              <a:t>https://uroweb.org/guidelines/urological-infections/chapter/the-guideline</a:t>
            </a:r>
          </a:p>
          <a:p xmlns:a="http://schemas.openxmlformats.org/drawingml/2006/main">
            <a:r>
              <a:t>https://www.cdc.gov/uti/hcp/clinical-guidance/index.html</a:t>
            </a:r>
          </a:p>
          <a:p xmlns:a="http://schemas.openxmlformats.org/drawingml/2006/main">
            <a:r>
              <a:t>https://www.uspreventiveservicestaskforce.org/uspstf/recommendation/asymptomatic-bacteriuria-in-adults-screening</a:t>
            </a:r>
          </a:p>
          <a:p xmlns:a="http://schemas.openxmlformats.org/drawingml/2006/main">
            <a:r>
              <a:t>https://www.cdc.gov/infection-control/hcp/cauti/summary-of-recommendations.html</a:t>
            </a:r>
          </a:p>
          <a:p xmlns:a="http://schemas.openxmlformats.org/drawingml/2006/main">
            <a:r>
              <a:t>https://doi.org/10.1001/jamainternmed.2019.2871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Treat established exceptions rather than every positive culture The type of procedure matters; not every urologic encounter breaches mucosa. Situation Management of bacteriuria without symptoms Pregnancy Screen with a urine culture and treat confirmed ASB using a pregnancy-appropriate, susceptibility-directed regimen. Endoscopic urologic procedure with expected mucosal trauma Culture beforehand and provide targeted peri-procedural therapy. IDSA suggests 1 or 2 doses beginning 30-60 minutes before the procedure. Older adults, diabetes, chronic catheters, or elective joint arthroplasty Do not routinely screen for or treat ASB. Standard surgical prophylaxis is a separate decision. Pregnancy treatment and follow-up should follow the obstetric pathway. Do not extrapolate the short peri-procedural regimen to pregnancy. [1] [2] [4]</a:t>
            </a:r>
          </a:p>
          <a:p xmlns:a="http://schemas.openxmlformats.org/drawingml/2006/main">
            <a:r>
              <a:t/>
            </a:r>
          </a:p>
          <a:p xmlns:a="http://schemas.openxmlformats.org/drawingml/2006/main">
            <a:r>
              <a:t>Module section: https://docarcshot.github.io/id-practice-update/lectures/Asymptomatic_Bacteriuria_Short_Module.html#core-3</a:t>
            </a:r>
          </a:p>
          <a:p xmlns:a="http://schemas.openxmlformats.org/drawingml/2006/main">
            <a:r>
              <a:t/>
            </a:r>
          </a:p>
          <a:p xmlns:a="http://schemas.openxmlformats.org/drawingml/2006/main">
            <a:r>
              <a:t>Public sources and related reading:</a:t>
            </a:r>
          </a:p>
          <a:p xmlns:a="http://schemas.openxmlformats.org/drawingml/2006/main">
            <a:r>
              <a:t>https://www.idsociety.org/practice-guideline/asymptomatic-bacteriuria/</a:t>
            </a:r>
          </a:p>
          <a:p xmlns:a="http://schemas.openxmlformats.org/drawingml/2006/main">
            <a:r>
              <a:t>https://uroweb.org/guidelines/urological-infections/chapter/the-guideline</a:t>
            </a:r>
          </a:p>
          <a:p xmlns:a="http://schemas.openxmlformats.org/drawingml/2006/main">
            <a:r>
              <a:t>https://www.cdc.gov/uti/hcp/clinical-guidance/index.html</a:t>
            </a:r>
          </a:p>
          <a:p xmlns:a="http://schemas.openxmlformats.org/drawingml/2006/main">
            <a:r>
              <a:t>https://www.uspreventiveservicestaskforce.org/uspstf/recommendation/asymptomatic-bacteriuria-in-adults-screening</a:t>
            </a:r>
          </a:p>
          <a:p xmlns:a="http://schemas.openxmlformats.org/drawingml/2006/main">
            <a:r>
              <a:t>https://www.cdc.gov/infection-control/hcp/cauti/summary-of-recommendations.html</a:t>
            </a:r>
          </a:p>
          <a:p xmlns:a="http://schemas.openxmlformats.org/drawingml/2006/main">
            <a:r>
              <a:t>https://doi.org/10.1001/jamainternmed.2019.2871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Treat established exceptions rather than every positive culture The type of procedure matters; not every urologic encounter breaches mucosa. Situation Management of bacteriuria without symptoms Pregnancy Screen with a urine culture and treat confirmed ASB using a pregnancy-appropriate, susceptibility-directed regimen. Endoscopic urologic procedure with expected mucosal trauma Culture beforehand and provide targeted peri-procedural therapy. IDSA suggests 1 or 2 doses beginning 30-60 minutes before the procedure. Older adults, diabetes, chronic catheters, or elective joint arthroplasty Do not routinely screen for or treat ASB. Standard surgical prophylaxis is a separate decision. Pregnancy treatment and follow-up should follow the obstetric pathway. Do not extrapolate the short peri-procedural regimen to pregnancy. [1] [2] [4]</a:t>
            </a:r>
          </a:p>
          <a:p xmlns:a="http://schemas.openxmlformats.org/drawingml/2006/main">
            <a:r>
              <a:t/>
            </a:r>
          </a:p>
          <a:p xmlns:a="http://schemas.openxmlformats.org/drawingml/2006/main">
            <a:r>
              <a:t>Module section: https://docarcshot.github.io/id-practice-update/lectures/Asymptomatic_Bacteriuria_Short_Module.html#core-3</a:t>
            </a:r>
          </a:p>
          <a:p xmlns:a="http://schemas.openxmlformats.org/drawingml/2006/main">
            <a:r>
              <a:t/>
            </a:r>
          </a:p>
          <a:p xmlns:a="http://schemas.openxmlformats.org/drawingml/2006/main">
            <a:r>
              <a:t>Public sources and related reading:</a:t>
            </a:r>
          </a:p>
          <a:p xmlns:a="http://schemas.openxmlformats.org/drawingml/2006/main">
            <a:r>
              <a:t>https://www.idsociety.org/practice-guideline/asymptomatic-bacteriuria/</a:t>
            </a:r>
          </a:p>
          <a:p xmlns:a="http://schemas.openxmlformats.org/drawingml/2006/main">
            <a:r>
              <a:t>https://uroweb.org/guidelines/urological-infections/chapter/the-guideline</a:t>
            </a:r>
          </a:p>
          <a:p xmlns:a="http://schemas.openxmlformats.org/drawingml/2006/main">
            <a:r>
              <a:t>https://www.cdc.gov/uti/hcp/clinical-guidance/index.html</a:t>
            </a:r>
          </a:p>
          <a:p xmlns:a="http://schemas.openxmlformats.org/drawingml/2006/main">
            <a:r>
              <a:t>https://www.uspreventiveservicestaskforce.org/uspstf/recommendation/asymptomatic-bacteriuria-in-adults-screening</a:t>
            </a:r>
          </a:p>
          <a:p xmlns:a="http://schemas.openxmlformats.org/drawingml/2006/main">
            <a:r>
              <a:t>https://www.cdc.gov/infection-control/hcp/cauti/summary-of-recommendations.html</a:t>
            </a:r>
          </a:p>
          <a:p xmlns:a="http://schemas.openxmlformats.org/drawingml/2006/main">
            <a:r>
              <a:t>https://doi.org/10.1001/jamainternmed.2019.2871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 urinary catheter makes colonization more likely Catheter biofilm makes persistent or recurrent bacteriuria common. Antibiotics given to sterilize asymptomatic urine expose patients to adverse effects, C. difficile, and resistance without treating a symptomatic infection. Review whether the catheter is still needed. [3] When symptomatic infection is suspected, obtain a properly collected sample. Use the sampling port with aseptic technique, not the drainage bag. Catheter removal or replacement is a separate source-control decision; follow the CAUTI pathway when infection is suspected. [5] A catheter plus a positive culture is not, by itself, a catheter-associated UTI. [3]</a:t>
            </a:r>
          </a:p>
          <a:p xmlns:a="http://schemas.openxmlformats.org/drawingml/2006/main">
            <a:r>
              <a:t/>
            </a:r>
          </a:p>
          <a:p xmlns:a="http://schemas.openxmlformats.org/drawingml/2006/main">
            <a:r>
              <a:t>Module section: https://docarcshot.github.io/id-practice-update/lectures/Asymptomatic_Bacteriuria_Short_Module.html#core-4</a:t>
            </a:r>
          </a:p>
          <a:p xmlns:a="http://schemas.openxmlformats.org/drawingml/2006/main">
            <a:r>
              <a:t/>
            </a:r>
          </a:p>
          <a:p xmlns:a="http://schemas.openxmlformats.org/drawingml/2006/main">
            <a:r>
              <a:t>Public sources and related reading:</a:t>
            </a:r>
          </a:p>
          <a:p xmlns:a="http://schemas.openxmlformats.org/drawingml/2006/main">
            <a:r>
              <a:t>https://www.idsociety.org/practice-guideline/asymptomatic-bacteriuria/</a:t>
            </a:r>
          </a:p>
          <a:p xmlns:a="http://schemas.openxmlformats.org/drawingml/2006/main">
            <a:r>
              <a:t>https://uroweb.org/guidelines/urological-infections/chapter/the-guideline</a:t>
            </a:r>
          </a:p>
          <a:p xmlns:a="http://schemas.openxmlformats.org/drawingml/2006/main">
            <a:r>
              <a:t>https://www.cdc.gov/uti/hcp/clinical-guidance/index.html</a:t>
            </a:r>
          </a:p>
          <a:p xmlns:a="http://schemas.openxmlformats.org/drawingml/2006/main">
            <a:r>
              <a:t>https://www.uspreventiveservicestaskforce.org/uspstf/recommendation/asymptomatic-bacteriuria-in-adults-screening</a:t>
            </a:r>
          </a:p>
          <a:p xmlns:a="http://schemas.openxmlformats.org/drawingml/2006/main">
            <a:r>
              <a:t>https://www.cdc.gov/infection-control/hcp/cauti/summary-of-recommendations.html</a:t>
            </a:r>
          </a:p>
          <a:p xmlns:a="http://schemas.openxmlformats.org/drawingml/2006/main">
            <a:r>
              <a:t>https://doi.org/10.1001/jamainternmed.2019.2871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 urinary catheter makes colonization more likely Catheter biofilm makes persistent or recurrent bacteriuria common. Antibiotics given to sterilize asymptomatic urine expose patients to adverse effects, C. difficile, and resistance without treating a symptomatic infection. Review whether the catheter is still needed. [3] When symptomatic infection is suspected, obtain a properly collected sample. Use the sampling port with aseptic technique, not the drainage bag. Catheter removal or replacement is a separate source-control decision; follow the CAUTI pathway when infection is suspected. [5] A catheter plus a positive culture is not, by itself, a catheter-associated UTI. [3]</a:t>
            </a:r>
          </a:p>
          <a:p xmlns:a="http://schemas.openxmlformats.org/drawingml/2006/main">
            <a:r>
              <a:t/>
            </a:r>
          </a:p>
          <a:p xmlns:a="http://schemas.openxmlformats.org/drawingml/2006/main">
            <a:r>
              <a:t>Module section: https://docarcshot.github.io/id-practice-update/lectures/Asymptomatic_Bacteriuria_Short_Module.html#core-4</a:t>
            </a:r>
          </a:p>
          <a:p xmlns:a="http://schemas.openxmlformats.org/drawingml/2006/main">
            <a:r>
              <a:t/>
            </a:r>
          </a:p>
          <a:p xmlns:a="http://schemas.openxmlformats.org/drawingml/2006/main">
            <a:r>
              <a:t>Public sources and related reading:</a:t>
            </a:r>
          </a:p>
          <a:p xmlns:a="http://schemas.openxmlformats.org/drawingml/2006/main">
            <a:r>
              <a:t>https://www.idsociety.org/practice-guideline/asymptomatic-bacteriuria/</a:t>
            </a:r>
          </a:p>
          <a:p xmlns:a="http://schemas.openxmlformats.org/drawingml/2006/main">
            <a:r>
              <a:t>https://uroweb.org/guidelines/urological-infections/chapter/the-guideline</a:t>
            </a:r>
          </a:p>
          <a:p xmlns:a="http://schemas.openxmlformats.org/drawingml/2006/main">
            <a:r>
              <a:t>https://www.cdc.gov/uti/hcp/clinical-guidance/index.html</a:t>
            </a:r>
          </a:p>
          <a:p xmlns:a="http://schemas.openxmlformats.org/drawingml/2006/main">
            <a:r>
              <a:t>https://www.uspreventiveservicestaskforce.org/uspstf/recommendation/asymptomatic-bacteriuria-in-adults-screening</a:t>
            </a:r>
          </a:p>
          <a:p xmlns:a="http://schemas.openxmlformats.org/drawingml/2006/main">
            <a:r>
              <a:t>https://www.cdc.gov/infection-control/hcp/cauti/summary-of-recommendations.html</a:t>
            </a:r>
          </a:p>
          <a:p xmlns:a="http://schemas.openxmlformats.org/drawingml/2006/main">
            <a:r>
              <a:t>https://doi.org/10.1001/jamainternmed.2019.2871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Return to the patient and write the clinical assessment For the opening case, the available findings support ASB. Do not start or continue antibiotics solely for the urine result. Evaluate the delirium, correct identified contributors, and follow the examination and vital signs. [1] If fever, hypotension, or another sign of serious infection develops, reassess promptly for urinary and nonurinary sources. The initial ASB assessment does not exclude a later infection. [1] Example documentation. "Bacteriuria without localizing urinary symptoms or systemic signs of infection. No antibiotic indication from the urine result. Evaluating other causes of delirium and monitoring for clinical change." In a 46-hospital observational cohort of 2,733 patients with ASB, treatment was not associated with better measured clinical outcomes and was associated with a longer stay after urine testing. This was an association, not proof that antibiotics caused the additional hospital days. [6]</a:t>
            </a:r>
          </a:p>
          <a:p xmlns:a="http://schemas.openxmlformats.org/drawingml/2006/main">
            <a:r>
              <a:t/>
            </a:r>
          </a:p>
          <a:p xmlns:a="http://schemas.openxmlformats.org/drawingml/2006/main">
            <a:r>
              <a:t>Module section: https://docarcshot.github.io/id-practice-update/lectures/Asymptomatic_Bacteriuria_Short_Module.html#core-5</a:t>
            </a:r>
          </a:p>
          <a:p xmlns:a="http://schemas.openxmlformats.org/drawingml/2006/main">
            <a:r>
              <a:t/>
            </a:r>
          </a:p>
          <a:p xmlns:a="http://schemas.openxmlformats.org/drawingml/2006/main">
            <a:r>
              <a:t>Public sources and related reading:</a:t>
            </a:r>
          </a:p>
          <a:p xmlns:a="http://schemas.openxmlformats.org/drawingml/2006/main">
            <a:r>
              <a:t>https://www.idsociety.org/practice-guideline/asymptomatic-bacteriuria/</a:t>
            </a:r>
          </a:p>
          <a:p xmlns:a="http://schemas.openxmlformats.org/drawingml/2006/main">
            <a:r>
              <a:t>https://uroweb.org/guidelines/urological-infections/chapter/the-guideline</a:t>
            </a:r>
          </a:p>
          <a:p xmlns:a="http://schemas.openxmlformats.org/drawingml/2006/main">
            <a:r>
              <a:t>https://www.cdc.gov/uti/hcp/clinical-guidance/index.html</a:t>
            </a:r>
          </a:p>
          <a:p xmlns:a="http://schemas.openxmlformats.org/drawingml/2006/main">
            <a:r>
              <a:t>https://www.uspreventiveservicestaskforce.org/uspstf/recommendation/asymptomatic-bacteriuria-in-adults-screening</a:t>
            </a:r>
          </a:p>
          <a:p xmlns:a="http://schemas.openxmlformats.org/drawingml/2006/main">
            <a:r>
              <a:t>https://www.cdc.gov/infection-control/hcp/cauti/summary-of-recommendations.html</a:t>
            </a:r>
          </a:p>
          <a:p xmlns:a="http://schemas.openxmlformats.org/drawingml/2006/main">
            <a:r>
              <a:t>https://doi.org/10.1001/jamainternmed.2019.2871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Return to the patient and write the clinical assessment For the opening case, the available findings support ASB. Do not start or continue antibiotics solely for the urine result. Evaluate the delirium, correct identified contributors, and follow the examination and vital signs. [1] If fever, hypotension, or another sign of serious infection develops, reassess promptly for urinary and nonurinary sources. The initial ASB assessment does not exclude a later infection. [1] Example documentation. "Bacteriuria without localizing urinary symptoms or systemic signs of infection. No antibiotic indication from the urine result. Evaluating other causes of delirium and monitoring for clinical change." In a 46-hospital observational cohort of 2,733 patients with ASB, treatment was not associated with better measured clinical outcomes and was associated with a longer stay after urine testing. This was an association, not proof that antibiotics caused the additional hospital days. [6]</a:t>
            </a:r>
          </a:p>
          <a:p xmlns:a="http://schemas.openxmlformats.org/drawingml/2006/main">
            <a:r>
              <a:t/>
            </a:r>
          </a:p>
          <a:p xmlns:a="http://schemas.openxmlformats.org/drawingml/2006/main">
            <a:r>
              <a:t>Module section: https://docarcshot.github.io/id-practice-update/lectures/Asymptomatic_Bacteriuria_Short_Module.html#core-5</a:t>
            </a:r>
          </a:p>
          <a:p xmlns:a="http://schemas.openxmlformats.org/drawingml/2006/main">
            <a:r>
              <a:t/>
            </a:r>
          </a:p>
          <a:p xmlns:a="http://schemas.openxmlformats.org/drawingml/2006/main">
            <a:r>
              <a:t>Public sources and related reading:</a:t>
            </a:r>
          </a:p>
          <a:p xmlns:a="http://schemas.openxmlformats.org/drawingml/2006/main">
            <a:r>
              <a:t>https://www.idsociety.org/practice-guideline/asymptomatic-bacteriuria/</a:t>
            </a:r>
          </a:p>
          <a:p xmlns:a="http://schemas.openxmlformats.org/drawingml/2006/main">
            <a:r>
              <a:t>https://uroweb.org/guidelines/urological-infections/chapter/the-guideline</a:t>
            </a:r>
          </a:p>
          <a:p xmlns:a="http://schemas.openxmlformats.org/drawingml/2006/main">
            <a:r>
              <a:t>https://www.cdc.gov/uti/hcp/clinical-guidance/index.html</a:t>
            </a:r>
          </a:p>
          <a:p xmlns:a="http://schemas.openxmlformats.org/drawingml/2006/main">
            <a:r>
              <a:t>https://www.uspreventiveservicestaskforce.org/uspstf/recommendation/asymptomatic-bacteriuria-in-adults-screening</a:t>
            </a:r>
          </a:p>
          <a:p xmlns:a="http://schemas.openxmlformats.org/drawingml/2006/main">
            <a:r>
              <a:t>https://www.cdc.gov/infection-control/hcp/cauti/summary-of-recommendations.html</a:t>
            </a:r>
          </a:p>
          <a:p xmlns:a="http://schemas.openxmlformats.org/drawingml/2006/main">
            <a:r>
              <a:t>https://doi.org/10.1001/jamainternmed.2019.2871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Apply this on the next consult State the urinary syndrome before interpreting the culture. If there is no syndrome, check for a treatment exception. Explain the decision and continue clinical observation.</a:t>
            </a:r>
          </a:p>
          <a:p xmlns:a="http://schemas.openxmlformats.org/drawingml/2006/main">
            <a:r>
              <a:t/>
            </a:r>
          </a:p>
          <a:p xmlns:a="http://schemas.openxmlformats.org/drawingml/2006/main">
            <a:r>
              <a:t>Module section: https://docarcshot.github.io/id-practice-update/lectures/Asymptomatic_Bacteriuria_Short_Module.html#take-home</a:t>
            </a:r>
          </a:p>
          <a:p xmlns:a="http://schemas.openxmlformats.org/drawingml/2006/main">
            <a:r>
              <a:t/>
            </a:r>
          </a:p>
          <a:p xmlns:a="http://schemas.openxmlformats.org/drawingml/2006/main">
            <a:r>
              <a:t>Public sources and related reading:</a:t>
            </a:r>
          </a:p>
          <a:p xmlns:a="http://schemas.openxmlformats.org/drawingml/2006/main">
            <a:r>
              <a:t>https://www.idsociety.org/practice-guideline/asymptomatic-bacteriuria/</a:t>
            </a:r>
          </a:p>
          <a:p xmlns:a="http://schemas.openxmlformats.org/drawingml/2006/main">
            <a:r>
              <a:t>https://uroweb.org/guidelines/urological-infections/chapter/the-guideline</a:t>
            </a:r>
          </a:p>
          <a:p xmlns:a="http://schemas.openxmlformats.org/drawingml/2006/main">
            <a:r>
              <a:t>https://www.cdc.gov/uti/hcp/clinical-guidance/index.html</a:t>
            </a:r>
          </a:p>
          <a:p xmlns:a="http://schemas.openxmlformats.org/drawingml/2006/main">
            <a:r>
              <a:t>https://www.uspreventiveservicestaskforce.org/uspstf/recommendation/asymptomatic-bacteriuria-in-adults-screening</a:t>
            </a:r>
          </a:p>
          <a:p xmlns:a="http://schemas.openxmlformats.org/drawingml/2006/main">
            <a:r>
              <a:t>https://www.cdc.gov/infection-control/hcp/cauti/summary-of-recommendations.html</a:t>
            </a:r>
          </a:p>
          <a:p xmlns:a="http://schemas.openxmlformats.org/drawingml/2006/main">
            <a:r>
              <a:t>https://doi.org/10.1001/jamainternmed.2019.2871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Recognize where the evidence is incomplete IDSA recommends against screening or treatment more than 1 month after kidney transplantation. The first month after kidney transplantation and high-risk neutropenia remain knowledge gaps in that guideline; involve the relevant specialty rather than extrapolating the routine ward rule. [1] In spinal cord injury, new spasticity, autonomic dysreflexia, or new incontinence may contribute to a UTI assessment. Establish a change from baseline and look for other causes. [2] The formal midstream definition uses at least 10 5 CFU/mL, with persistence confirmed in two specimens in women and one in men. That definition is not a reason to repeat an unnecessary culture. Symptomatic UTI can occur with lower counts. [2] Discussion variation. An asymptomatic patient is scheduled for ureteroscopy with lithotripsy. Explain why the procedural plan changes management while a planned knee replacement does not. [1] [2]</a:t>
            </a:r>
          </a:p>
          <a:p xmlns:a="http://schemas.openxmlformats.org/drawingml/2006/main">
            <a:r>
              <a:t/>
            </a:r>
          </a:p>
          <a:p xmlns:a="http://schemas.openxmlformats.org/drawingml/2006/main">
            <a:r>
              <a:t>Module section: https://docarcshot.github.io/id-practice-update/lectures/Asymptomatic_Bacteriuria_Short_Module.html#fellow</a:t>
            </a:r>
          </a:p>
          <a:p xmlns:a="http://schemas.openxmlformats.org/drawingml/2006/main">
            <a:r>
              <a:t/>
            </a:r>
          </a:p>
          <a:p xmlns:a="http://schemas.openxmlformats.org/drawingml/2006/main">
            <a:r>
              <a:t>Public sources and related reading:</a:t>
            </a:r>
          </a:p>
          <a:p xmlns:a="http://schemas.openxmlformats.org/drawingml/2006/main">
            <a:r>
              <a:t>https://www.idsociety.org/practice-guideline/asymptomatic-bacteriuria/</a:t>
            </a:r>
          </a:p>
          <a:p xmlns:a="http://schemas.openxmlformats.org/drawingml/2006/main">
            <a:r>
              <a:t>https://uroweb.org/guidelines/urological-infections/chapter/the-guideline</a:t>
            </a:r>
          </a:p>
          <a:p xmlns:a="http://schemas.openxmlformats.org/drawingml/2006/main">
            <a:r>
              <a:t>https://www.cdc.gov/uti/hcp/clinical-guidance/index.html</a:t>
            </a:r>
          </a:p>
          <a:p xmlns:a="http://schemas.openxmlformats.org/drawingml/2006/main">
            <a:r>
              <a:t>https://www.uspreventiveservicestaskforce.org/uspstf/recommendation/asymptomatic-bacteriuria-in-adults-screening</a:t>
            </a:r>
          </a:p>
          <a:p xmlns:a="http://schemas.openxmlformats.org/drawingml/2006/main">
            <a:r>
              <a:t>https://www.cdc.gov/infection-control/hcp/cauti/summary-of-recommendations.html</a:t>
            </a:r>
          </a:p>
          <a:p xmlns:a="http://schemas.openxmlformats.org/drawingml/2006/main">
            <a:r>
              <a:t>https://doi.org/10.1001/jamainternmed.2019.2871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Recognize where the evidence is incomplete IDSA recommends against screening or treatment more than 1 month after kidney transplantation. The first month after kidney transplantation and high-risk neutropenia remain knowledge gaps in that guideline; involve the relevant specialty rather than extrapolating the routine ward rule. [1] In spinal cord injury, new spasticity, autonomic dysreflexia, or new incontinence may contribute to a UTI assessment. Establish a change from baseline and look for other causes. [2] The formal midstream definition uses at least 10 5 CFU/mL, with persistence confirmed in two specimens in women and one in men. That definition is not a reason to repeat an unnecessary culture. Symptomatic UTI can occur with lower counts. [2] Discussion variation. An asymptomatic patient is scheduled for ureteroscopy with lithotripsy. Explain why the procedural plan changes management while a planned knee replacement does not. [1] [2]</a:t>
            </a:r>
          </a:p>
          <a:p xmlns:a="http://schemas.openxmlformats.org/drawingml/2006/main">
            <a:r>
              <a:t/>
            </a:r>
          </a:p>
          <a:p xmlns:a="http://schemas.openxmlformats.org/drawingml/2006/main">
            <a:r>
              <a:t>Module section: https://docarcshot.github.io/id-practice-update/lectures/Asymptomatic_Bacteriuria_Short_Module.html#fellow</a:t>
            </a:r>
          </a:p>
          <a:p xmlns:a="http://schemas.openxmlformats.org/drawingml/2006/main">
            <a:r>
              <a:t/>
            </a:r>
          </a:p>
          <a:p xmlns:a="http://schemas.openxmlformats.org/drawingml/2006/main">
            <a:r>
              <a:t>Public sources and related reading:</a:t>
            </a:r>
          </a:p>
          <a:p xmlns:a="http://schemas.openxmlformats.org/drawingml/2006/main">
            <a:r>
              <a:t>https://www.idsociety.org/practice-guideline/asymptomatic-bacteriuria/</a:t>
            </a:r>
          </a:p>
          <a:p xmlns:a="http://schemas.openxmlformats.org/drawingml/2006/main">
            <a:r>
              <a:t>https://uroweb.org/guidelines/urological-infections/chapter/the-guideline</a:t>
            </a:r>
          </a:p>
          <a:p xmlns:a="http://schemas.openxmlformats.org/drawingml/2006/main">
            <a:r>
              <a:t>https://www.cdc.gov/uti/hcp/clinical-guidance/index.html</a:t>
            </a:r>
          </a:p>
          <a:p xmlns:a="http://schemas.openxmlformats.org/drawingml/2006/main">
            <a:r>
              <a:t>https://www.uspreventiveservicestaskforce.org/uspstf/recommendation/asymptomatic-bacteriuria-in-adults-screening</a:t>
            </a:r>
          </a:p>
          <a:p xmlns:a="http://schemas.openxmlformats.org/drawingml/2006/main">
            <a:r>
              <a:t>https://www.cdc.gov/infection-control/hcp/cauti/summary-of-recommendations.html</a:t>
            </a:r>
          </a:p>
          <a:p xmlns:a="http://schemas.openxmlformats.org/drawingml/2006/main">
            <a:r>
              <a:t>https://doi.org/10.1001/jamainternmed.2019.2871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further reading 1. Nicolle LE, et al. IDSA guideline for asymptomatic bacteriuria. 2019. 2. European Association of Urology. Urological infections guideline, ASB and UTI sections. 3. CDC. Indwelling urinary catheter culture stewardship. Updated 2026. 4. USPSTF. Screening for asymptomatic bacteriuria. Pregnancy recommendation. 2019. 5. CDC. CAUTI prevention recommendations, catheter use and specimen collection. 6. Petty LA, et al. Treatment of ASB in hospitalized patients. JAMA Intern Med. 2019. Teaching cases are fictional. Recommendations are paraphrased from the linked sources. Use current patient-specific guidance and local protocols when prescribing.</a:t>
            </a:r>
          </a:p>
          <a:p xmlns:a="http://schemas.openxmlformats.org/drawingml/2006/main">
            <a:r>
              <a:t/>
            </a:r>
          </a:p>
          <a:p xmlns:a="http://schemas.openxmlformats.org/drawingml/2006/main">
            <a:r>
              <a:t>Module section: https://docarcshot.github.io/id-practice-update/lectures/Asymptomatic_Bacteriuria_Short_Module.html#source-1</a:t>
            </a:r>
          </a:p>
          <a:p xmlns:a="http://schemas.openxmlformats.org/drawingml/2006/main">
            <a:r>
              <a:t/>
            </a:r>
          </a:p>
          <a:p xmlns:a="http://schemas.openxmlformats.org/drawingml/2006/main">
            <a:r>
              <a:t>Public sources and related reading:</a:t>
            </a:r>
          </a:p>
          <a:p xmlns:a="http://schemas.openxmlformats.org/drawingml/2006/main">
            <a:r>
              <a:t>https://www.idsociety.org/practice-guideline/asymptomatic-bacteriuria/</a:t>
            </a:r>
          </a:p>
          <a:p xmlns:a="http://schemas.openxmlformats.org/drawingml/2006/main">
            <a:r>
              <a:t>https://uroweb.org/guidelines/urological-infections/chapter/the-guideline</a:t>
            </a:r>
          </a:p>
          <a:p xmlns:a="http://schemas.openxmlformats.org/drawingml/2006/main">
            <a:r>
              <a:t>https://www.cdc.gov/uti/hcp/clinical-guidance/index.html</a:t>
            </a:r>
          </a:p>
          <a:p xmlns:a="http://schemas.openxmlformats.org/drawingml/2006/main">
            <a:r>
              <a:t>https://www.uspreventiveservicestaskforce.org/uspstf/recommendation/asymptomatic-bacteriuria-in-adults-screening</a:t>
            </a:r>
          </a:p>
          <a:p xmlns:a="http://schemas.openxmlformats.org/drawingml/2006/main">
            <a:r>
              <a:t>https://www.cdc.gov/infection-control/hcp/cauti/summary-of-recommendations.html</a:t>
            </a:r>
          </a:p>
          <a:p xmlns:a="http://schemas.openxmlformats.org/drawingml/2006/main">
            <a:r>
              <a:t>https://doi.org/10.1001/jamainternmed.2019.2871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further reading 1. Nicolle LE, et al. IDSA guideline for asymptomatic bacteriuria. 2019. 2. European Association of Urology. Urological infections guideline, ASB and UTI sections. 3. CDC. Indwelling urinary catheter culture stewardship. Updated 2026. 4. USPSTF. Screening for asymptomatic bacteriuria. Pregnancy recommendation. 2019. 5. CDC. CAUTI prevention recommendations, catheter use and specimen collection. 6. Petty LA, et al. Treatment of ASB in hospitalized patients. JAMA Intern Med. 2019. Teaching cases are fictional. Recommendations are paraphrased from the linked sources. Use current patient-specific guidance and local protocols when prescribing.</a:t>
            </a:r>
          </a:p>
          <a:p xmlns:a="http://schemas.openxmlformats.org/drawingml/2006/main">
            <a:r>
              <a:t/>
            </a:r>
          </a:p>
          <a:p xmlns:a="http://schemas.openxmlformats.org/drawingml/2006/main">
            <a:r>
              <a:t>Module section: https://docarcshot.github.io/id-practice-update/lectures/Asymptomatic_Bacteriuria_Short_Module.html#source-2</a:t>
            </a:r>
          </a:p>
          <a:p xmlns:a="http://schemas.openxmlformats.org/drawingml/2006/main">
            <a:r>
              <a:t/>
            </a:r>
          </a:p>
          <a:p xmlns:a="http://schemas.openxmlformats.org/drawingml/2006/main">
            <a:r>
              <a:t>Public sources and related reading:</a:t>
            </a:r>
          </a:p>
          <a:p xmlns:a="http://schemas.openxmlformats.org/drawingml/2006/main">
            <a:r>
              <a:t>https://www.idsociety.org/practice-guideline/asymptomatic-bacteriuria/</a:t>
            </a:r>
          </a:p>
          <a:p xmlns:a="http://schemas.openxmlformats.org/drawingml/2006/main">
            <a:r>
              <a:t>https://uroweb.org/guidelines/urological-infections/chapter/the-guideline</a:t>
            </a:r>
          </a:p>
          <a:p xmlns:a="http://schemas.openxmlformats.org/drawingml/2006/main">
            <a:r>
              <a:t>https://www.cdc.gov/uti/hcp/clinical-guidance/index.html</a:t>
            </a:r>
          </a:p>
          <a:p xmlns:a="http://schemas.openxmlformats.org/drawingml/2006/main">
            <a:r>
              <a:t>https://www.uspreventiveservicestaskforce.org/uspstf/recommendation/asymptomatic-bacteriuria-in-adults-screening</a:t>
            </a:r>
          </a:p>
          <a:p xmlns:a="http://schemas.openxmlformats.org/drawingml/2006/main">
            <a:r>
              <a:t>https://www.cdc.gov/infection-control/hcp/cauti/summary-of-recommendations.html</a:t>
            </a:r>
          </a:p>
          <a:p xmlns:a="http://schemas.openxmlformats.org/drawingml/2006/main">
            <a:r>
              <a:t>https://doi.org/10.1001/jamainternmed.2019.2871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further reading 1. Nicolle LE, et al. IDSA guideline for asymptomatic bacteriuria. 2019. 2. European Association of Urology. Urological infections guideline, ASB and UTI sections. 3. CDC. Indwelling urinary catheter culture stewardship. Updated 2026. 4. USPSTF. Screening for asymptomatic bacteriuria. Pregnancy recommendation. 2019. 5. CDC. CAUTI prevention recommendations, catheter use and specimen collection. 6. Petty LA, et al. Treatment of ASB in hospitalized patients. JAMA Intern Med. 2019. Teaching cases are fictional. Recommendations are paraphrased from the linked sources. Use current patient-specific guidance and local protocols when prescribing.</a:t>
            </a:r>
          </a:p>
          <a:p xmlns:a="http://schemas.openxmlformats.org/drawingml/2006/main">
            <a:r>
              <a:t/>
            </a:r>
          </a:p>
          <a:p xmlns:a="http://schemas.openxmlformats.org/drawingml/2006/main">
            <a:r>
              <a:t>Module section: https://docarcshot.github.io/id-practice-update/lectures/Asymptomatic_Bacteriuria_Short_Module.html#source-3</a:t>
            </a:r>
          </a:p>
          <a:p xmlns:a="http://schemas.openxmlformats.org/drawingml/2006/main">
            <a:r>
              <a:t/>
            </a:r>
          </a:p>
          <a:p xmlns:a="http://schemas.openxmlformats.org/drawingml/2006/main">
            <a:r>
              <a:t>Public sources and related reading:</a:t>
            </a:r>
          </a:p>
          <a:p xmlns:a="http://schemas.openxmlformats.org/drawingml/2006/main">
            <a:r>
              <a:t>https://www.idsociety.org/practice-guideline/asymptomatic-bacteriuria/</a:t>
            </a:r>
          </a:p>
          <a:p xmlns:a="http://schemas.openxmlformats.org/drawingml/2006/main">
            <a:r>
              <a:t>https://uroweb.org/guidelines/urological-infections/chapter/the-guideline</a:t>
            </a:r>
          </a:p>
          <a:p xmlns:a="http://schemas.openxmlformats.org/drawingml/2006/main">
            <a:r>
              <a:t>https://www.cdc.gov/uti/hcp/clinical-guidance/index.html</a:t>
            </a:r>
          </a:p>
          <a:p xmlns:a="http://schemas.openxmlformats.org/drawingml/2006/main">
            <a:r>
              <a:t>https://www.uspreventiveservicestaskforce.org/uspstf/recommendation/asymptomatic-bacteriuria-in-adults-screening</a:t>
            </a:r>
          </a:p>
          <a:p xmlns:a="http://schemas.openxmlformats.org/drawingml/2006/main">
            <a:r>
              <a:t>https://www.cdc.gov/infection-control/hcp/cauti/summary-of-recommendations.html</a:t>
            </a:r>
          </a:p>
          <a:p xmlns:a="http://schemas.openxmlformats.org/drawingml/2006/main">
            <a:r>
              <a:t>https://doi.org/10.1001/jamainternmed.2019.2871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further reading 1. Nicolle LE, et al. IDSA guideline for asymptomatic bacteriuria. 2019. 2. European Association of Urology. Urological infections guideline, ASB and UTI sections. 3. CDC. Indwelling urinary catheter culture stewardship. Updated 2026. 4. USPSTF. Screening for asymptomatic bacteriuria. Pregnancy recommendation. 2019. 5. CDC. CAUTI prevention recommendations, catheter use and specimen collection. 6. Petty LA, et al. Treatment of ASB in hospitalized patients. JAMA Intern Med. 2019. Teaching cases are fictional. Recommendations are paraphrased from the linked sources. Use current patient-specific guidance and local protocols when prescribing.</a:t>
            </a:r>
          </a:p>
          <a:p xmlns:a="http://schemas.openxmlformats.org/drawingml/2006/main">
            <a:r>
              <a:t/>
            </a:r>
          </a:p>
          <a:p xmlns:a="http://schemas.openxmlformats.org/drawingml/2006/main">
            <a:r>
              <a:t>Module section: https://docarcshot.github.io/id-practice-update/lectures/Asymptomatic_Bacteriuria_Short_Module.html#source-4</a:t>
            </a:r>
          </a:p>
          <a:p xmlns:a="http://schemas.openxmlformats.org/drawingml/2006/main">
            <a:r>
              <a:t/>
            </a:r>
          </a:p>
          <a:p xmlns:a="http://schemas.openxmlformats.org/drawingml/2006/main">
            <a:r>
              <a:t>Public sources and related reading:</a:t>
            </a:r>
          </a:p>
          <a:p xmlns:a="http://schemas.openxmlformats.org/drawingml/2006/main">
            <a:r>
              <a:t>https://www.idsociety.org/practice-guideline/asymptomatic-bacteriuria/</a:t>
            </a:r>
          </a:p>
          <a:p xmlns:a="http://schemas.openxmlformats.org/drawingml/2006/main">
            <a:r>
              <a:t>https://uroweb.org/guidelines/urological-infections/chapter/the-guideline</a:t>
            </a:r>
          </a:p>
          <a:p xmlns:a="http://schemas.openxmlformats.org/drawingml/2006/main">
            <a:r>
              <a:t>https://www.cdc.gov/uti/hcp/clinical-guidance/index.html</a:t>
            </a:r>
          </a:p>
          <a:p xmlns:a="http://schemas.openxmlformats.org/drawingml/2006/main">
            <a:r>
              <a:t>https://www.uspreventiveservicestaskforce.org/uspstf/recommendation/asymptomatic-bacteriuria-in-adults-screening</a:t>
            </a:r>
          </a:p>
          <a:p xmlns:a="http://schemas.openxmlformats.org/drawingml/2006/main">
            <a:r>
              <a:t>https://www.cdc.gov/infection-control/hcp/cauti/summary-of-recommendations.html</a:t>
            </a:r>
          </a:p>
          <a:p xmlns:a="http://schemas.openxmlformats.org/drawingml/2006/main">
            <a:r>
              <a:t>https://doi.org/10.1001/jamainternmed.2019.2871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further reading 1. Nicolle LE, et al. IDSA guideline for asymptomatic bacteriuria. 2019. 2. European Association of Urology. Urological infections guideline, ASB and UTI sections. 3. CDC. Indwelling urinary catheter culture stewardship. Updated 2026. 4. USPSTF. Screening for asymptomatic bacteriuria. Pregnancy recommendation. 2019. 5. CDC. CAUTI prevention recommendations, catheter use and specimen collection. 6. Petty LA, et al. Treatment of ASB in hospitalized patients. JAMA Intern Med. 2019. Teaching cases are fictional. Recommendations are paraphrased from the linked sources. Use current patient-specific guidance and local protocols when prescribing.</a:t>
            </a:r>
          </a:p>
          <a:p xmlns:a="http://schemas.openxmlformats.org/drawingml/2006/main">
            <a:r>
              <a:t/>
            </a:r>
          </a:p>
          <a:p xmlns:a="http://schemas.openxmlformats.org/drawingml/2006/main">
            <a:r>
              <a:t>Module section: https://docarcshot.github.io/id-practice-update/lectures/Asymptomatic_Bacteriuria_Short_Module.html#source-5</a:t>
            </a:r>
          </a:p>
          <a:p xmlns:a="http://schemas.openxmlformats.org/drawingml/2006/main">
            <a:r>
              <a:t/>
            </a:r>
          </a:p>
          <a:p xmlns:a="http://schemas.openxmlformats.org/drawingml/2006/main">
            <a:r>
              <a:t>Public sources and related reading:</a:t>
            </a:r>
          </a:p>
          <a:p xmlns:a="http://schemas.openxmlformats.org/drawingml/2006/main">
            <a:r>
              <a:t>https://www.idsociety.org/practice-guideline/asymptomatic-bacteriuria/</a:t>
            </a:r>
          </a:p>
          <a:p xmlns:a="http://schemas.openxmlformats.org/drawingml/2006/main">
            <a:r>
              <a:t>https://uroweb.org/guidelines/urological-infections/chapter/the-guideline</a:t>
            </a:r>
          </a:p>
          <a:p xmlns:a="http://schemas.openxmlformats.org/drawingml/2006/main">
            <a:r>
              <a:t>https://www.cdc.gov/uti/hcp/clinical-guidance/index.html</a:t>
            </a:r>
          </a:p>
          <a:p xmlns:a="http://schemas.openxmlformats.org/drawingml/2006/main">
            <a:r>
              <a:t>https://www.uspreventiveservicestaskforce.org/uspstf/recommendation/asymptomatic-bacteriuria-in-adults-screening</a:t>
            </a:r>
          </a:p>
          <a:p xmlns:a="http://schemas.openxmlformats.org/drawingml/2006/main">
            <a:r>
              <a:t>https://www.cdc.gov/infection-control/hcp/cauti/summary-of-recommendations.html</a:t>
            </a:r>
          </a:p>
          <a:p xmlns:a="http://schemas.openxmlformats.org/drawingml/2006/main">
            <a:r>
              <a:t>https://doi.org/10.1001/jamainternmed.2019.2871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further reading 1. Nicolle LE, et al. IDSA guideline for asymptomatic bacteriuria. 2019. 2. European Association of Urology. Urological infections guideline, ASB and UTI sections. 3. CDC. Indwelling urinary catheter culture stewardship. Updated 2026. 4. USPSTF. Screening for asymptomatic bacteriuria. Pregnancy recommendation. 2019. 5. CDC. CAUTI prevention recommendations, catheter use and specimen collection. 6. Petty LA, et al. Treatment of ASB in hospitalized patients. JAMA Intern Med. 2019. Teaching cases are fictional. Recommendations are paraphrased from the linked sources. Use current patient-specific guidance and local protocols when prescribing.</a:t>
            </a:r>
          </a:p>
          <a:p xmlns:a="http://schemas.openxmlformats.org/drawingml/2006/main">
            <a:r>
              <a:t/>
            </a:r>
          </a:p>
          <a:p xmlns:a="http://schemas.openxmlformats.org/drawingml/2006/main">
            <a:r>
              <a:t>Module section: https://docarcshot.github.io/id-practice-update/lectures/Asymptomatic_Bacteriuria_Short_Module.html#source-6</a:t>
            </a:r>
          </a:p>
          <a:p xmlns:a="http://schemas.openxmlformats.org/drawingml/2006/main">
            <a:r>
              <a:t/>
            </a:r>
          </a:p>
          <a:p xmlns:a="http://schemas.openxmlformats.org/drawingml/2006/main">
            <a:r>
              <a:t>Public sources and related reading:</a:t>
            </a:r>
          </a:p>
          <a:p xmlns:a="http://schemas.openxmlformats.org/drawingml/2006/main">
            <a:r>
              <a:t>https://www.idsociety.org/practice-guideline/asymptomatic-bacteriuria/</a:t>
            </a:r>
          </a:p>
          <a:p xmlns:a="http://schemas.openxmlformats.org/drawingml/2006/main">
            <a:r>
              <a:t>https://uroweb.org/guidelines/urological-infections/chapter/the-guideline</a:t>
            </a:r>
          </a:p>
          <a:p xmlns:a="http://schemas.openxmlformats.org/drawingml/2006/main">
            <a:r>
              <a:t>https://www.cdc.gov/uti/hcp/clinical-guidance/index.html</a:t>
            </a:r>
          </a:p>
          <a:p xmlns:a="http://schemas.openxmlformats.org/drawingml/2006/main">
            <a:r>
              <a:t>https://www.uspreventiveservicestaskforce.org/uspstf/recommendation/asymptomatic-bacteriuria-in-adults-screening</a:t>
            </a:r>
          </a:p>
          <a:p xmlns:a="http://schemas.openxmlformats.org/drawingml/2006/main">
            <a:r>
              <a:t>https://www.cdc.gov/infection-control/hcp/cauti/summary-of-recommendations.html</a:t>
            </a:r>
          </a:p>
          <a:p xmlns:a="http://schemas.openxmlformats.org/drawingml/2006/main">
            <a:r>
              <a:t>https://doi.org/10.1001/jamainternmed.2019.2871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further reading 1. Nicolle LE, et al. IDSA guideline for asymptomatic bacteriuria. 2019. 2. European Association of Urology. Urological infections guideline, ASB and UTI sections. 3. CDC. Indwelling urinary catheter culture stewardship. Updated 2026. 4. USPSTF. Screening for asymptomatic bacteriuria. Pregnancy recommendation. 2019. 5. CDC. CAUTI prevention recommendations, catheter use and specimen collection. 6. Petty LA, et al. Treatment of ASB in hospitalized patients. JAMA Intern Med. 2019. Teaching cases are fictional. Recommendations are paraphrased from the linked sources. Use current patient-specific guidance and local protocols when prescribing.</a:t>
            </a:r>
          </a:p>
          <a:p xmlns:a="http://schemas.openxmlformats.org/drawingml/2006/main">
            <a:r>
              <a:t/>
            </a:r>
          </a:p>
          <a:p xmlns:a="http://schemas.openxmlformats.org/drawingml/2006/main">
            <a:r>
              <a:t>Module section: https://docarcshot.github.io/id-practice-update/lectures/Asymptomatic_Bacteriuria_Short_Module.html#sources</a:t>
            </a:r>
          </a:p>
          <a:p xmlns:a="http://schemas.openxmlformats.org/drawingml/2006/main">
            <a:r>
              <a:t/>
            </a:r>
          </a:p>
          <a:p xmlns:a="http://schemas.openxmlformats.org/drawingml/2006/main">
            <a:r>
              <a:t>Public sources and related reading:</a:t>
            </a:r>
          </a:p>
          <a:p xmlns:a="http://schemas.openxmlformats.org/drawingml/2006/main">
            <a:r>
              <a:t>https://www.idsociety.org/practice-guideline/asymptomatic-bacteriuria/</a:t>
            </a:r>
          </a:p>
          <a:p xmlns:a="http://schemas.openxmlformats.org/drawingml/2006/main">
            <a:r>
              <a:t>https://uroweb.org/guidelines/urological-infections/chapter/the-guideline</a:t>
            </a:r>
          </a:p>
          <a:p xmlns:a="http://schemas.openxmlformats.org/drawingml/2006/main">
            <a:r>
              <a:t>https://www.cdc.gov/uti/hcp/clinical-guidance/index.html</a:t>
            </a:r>
          </a:p>
          <a:p xmlns:a="http://schemas.openxmlformats.org/drawingml/2006/main">
            <a:r>
              <a:t>https://www.uspreventiveservicestaskforce.org/uspstf/recommendation/asymptomatic-bacteriuria-in-adults-screening</a:t>
            </a:r>
          </a:p>
          <a:p xmlns:a="http://schemas.openxmlformats.org/drawingml/2006/main">
            <a:r>
              <a:t>https://www.cdc.gov/infection-control/hcp/cauti/summary-of-recommendations.html</a:t>
            </a:r>
          </a:p>
          <a:p xmlns:a="http://schemas.openxmlformats.org/drawingml/2006/main">
            <a:r>
              <a:t>https://doi.org/10.1001/jamainternmed.2019.2871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ab41a29fd564fa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f0232a29c38475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73b22340f514d9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65a7a9c1c3a477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92aa5397c0744f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2bc80cdc97649b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37AF1EE-206A-4B9F-B83B-02183D9421D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C0E86F0-1287-4D9C-92A2-F672B20F3E7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9C89FB0-C89F-4011-ACFC-7E64D7D1DAA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156833A-9E57-4148-8C08-0724772CD97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1A21268-AED4-42A8-9ABC-B97D1683CB0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4DCCEAE-BB86-45A1-A609-89D8C8D45C6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A334153-DA93-4FCA-A863-900EEB34B0F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7FA49A6-DC4E-429F-A92C-B4441F06D56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E22BF0C-E4E4-4735-9912-8D5768F5854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60DDDFF-B2B8-4A95-8251-570ECA52FD7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fa4dec6f3da4bb2" /><Relationship Type="http://schemas.openxmlformats.org/officeDocument/2006/relationships/slideLayout" Target="/ppt/slideLayouts/slideLayout1.xml" Id="Rda80e901078d4bb3" /><Relationship Type="http://schemas.openxmlformats.org/officeDocument/2006/relationships/slideLayout" Target="/ppt/slideLayouts/slideLayout2.xml" Id="R736b6b4a27f44863" /><Relationship Type="http://schemas.openxmlformats.org/officeDocument/2006/relationships/slideLayout" Target="/ppt/slideLayouts/slideLayout3.xml" Id="Re61a172e289d41db" /><Relationship Type="http://schemas.openxmlformats.org/officeDocument/2006/relationships/slideLayout" Target="/ppt/slideLayouts/slideLayout4.xml" Id="R799e99e4f9d04590" /><Relationship Type="http://schemas.openxmlformats.org/officeDocument/2006/relationships/slideLayout" Target="/ppt/slideLayouts/slideLayout5.xml" Id="Rc49737dd60f14e1f" /><Relationship Type="http://schemas.openxmlformats.org/officeDocument/2006/relationships/slideLayout" Target="/ppt/slideLayouts/slideLayout6.xml" Id="Rd7c5904cfabe47f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a80e901078d4bb3"/>
    <p:sldLayoutId xmlns:r="http://schemas.openxmlformats.org/officeDocument/2006/relationships" id="2147483650" r:id="R736b6b4a27f44863"/>
    <p:sldLayoutId xmlns:r="http://schemas.openxmlformats.org/officeDocument/2006/relationships" id="2147483651" r:id="Re61a172e289d41db"/>
    <p:sldLayoutId xmlns:r="http://schemas.openxmlformats.org/officeDocument/2006/relationships" id="2147483652" r:id="R799e99e4f9d04590"/>
    <p:sldLayoutId xmlns:r="http://schemas.openxmlformats.org/officeDocument/2006/relationships" id="2147483653" r:id="Rc49737dd60f14e1f"/>
    <p:sldLayoutId xmlns:r="http://schemas.openxmlformats.org/officeDocument/2006/relationships" id="2147483654" r:id="Rd7c5904cfabe47f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bb1c2be7fc948b1" /><Relationship Type="http://schemas.openxmlformats.org/officeDocument/2006/relationships/notesSlide" Target="/ppt/notesSlides/notesSlide1.xml" Id="R2616cfd6cdd94d1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9b61433108c4153" /><Relationship Type="http://schemas.openxmlformats.org/officeDocument/2006/relationships/notesSlide" Target="/ppt/notesSlides/notesSlide2.xml" Id="R1e606af8fa454fd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3048a9982d54d04" /><Relationship Type="http://schemas.openxmlformats.org/officeDocument/2006/relationships/notesSlide" Target="/ppt/notesSlides/notesSlide3.xml" Id="R9e74df2c8920478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9646398218b4923" /><Relationship Type="http://schemas.openxmlformats.org/officeDocument/2006/relationships/notesSlide" Target="/ppt/notesSlides/notesSlide4.xml" Id="R230256932b8c441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4f23cc0b1df412b" /><Relationship Type="http://schemas.openxmlformats.org/officeDocument/2006/relationships/notesSlide" Target="/ppt/notesSlides/notesSlide5.xml" Id="R8620528c7295465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6b2d12cf8ee4f79" /><Relationship Type="http://schemas.openxmlformats.org/officeDocument/2006/relationships/notesSlide" Target="/ppt/notesSlides/notesSlide6.xml" Id="R9eb1b7a4628e41b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2601722d6f94ad0" /><Relationship Type="http://schemas.openxmlformats.org/officeDocument/2006/relationships/notesSlide" Target="/ppt/notesSlides/notesSlide7.xml" Id="R13d0ec8b9ba046b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a79959ad5e44348" /><Relationship Type="http://schemas.openxmlformats.org/officeDocument/2006/relationships/notesSlide" Target="/ppt/notesSlides/notesSlide8.xml" Id="Rf661a9d6e00f4bd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d8c54f35e0f4d34" /><Relationship Type="http://schemas.openxmlformats.org/officeDocument/2006/relationships/notesSlide" Target="/ppt/notesSlides/notesSlide9.xml" Id="Rc09120fff6cc450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8fcf4e7a6a3476c" /><Relationship Type="http://schemas.openxmlformats.org/officeDocument/2006/relationships/notesSlide" Target="/ppt/notesSlides/notesSlide10.xml" Id="R3154bc07257f4e6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9e8602c8c764cbe" /><Relationship Type="http://schemas.openxmlformats.org/officeDocument/2006/relationships/notesSlide" Target="/ppt/notesSlides/notesSlide11.xml" Id="Rfeab8963144b417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6ddbf82214b4405" /><Relationship Type="http://schemas.openxmlformats.org/officeDocument/2006/relationships/notesSlide" Target="/ppt/notesSlides/notesSlide12.xml" Id="Rf36b29f8abc641c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c187e80bdac4bbe" /><Relationship Type="http://schemas.openxmlformats.org/officeDocument/2006/relationships/notesSlide" Target="/ppt/notesSlides/notesSlide13.xml" Id="Rd069219e56ff4c3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a4f8b9c2227402f" /><Relationship Type="http://schemas.openxmlformats.org/officeDocument/2006/relationships/notesSlide" Target="/ppt/notesSlides/notesSlide14.xml" Id="R6162d4e4df924d3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e676104b1b04d84" /><Relationship Type="http://schemas.openxmlformats.org/officeDocument/2006/relationships/notesSlide" Target="/ppt/notesSlides/notesSlide15.xml" Id="Rd8f37480d027406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4d5569bb6a224f44" /><Relationship Type="http://schemas.openxmlformats.org/officeDocument/2006/relationships/notesSlide" Target="/ppt/notesSlides/notesSlide16.xml" Id="Rfea4b946bf6c472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a9f3f3d0ad84ec7" /><Relationship Type="http://schemas.openxmlformats.org/officeDocument/2006/relationships/notesSlide" Target="/ppt/notesSlides/notesSlide17.xml" Id="Rf5868f0946ac4a0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9d38423107c049f5" /><Relationship Type="http://schemas.openxmlformats.org/officeDocument/2006/relationships/notesSlide" Target="/ppt/notesSlides/notesSlide18.xml" Id="Re6e515ea8a71480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835a395e09bc4ab9" /><Relationship Type="http://schemas.openxmlformats.org/officeDocument/2006/relationships/notesSlide" Target="/ppt/notesSlides/notesSlide19.xml" Id="R8f4178aa92df4a6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dc57d0eb22c14798" /><Relationship Type="http://schemas.openxmlformats.org/officeDocument/2006/relationships/notesSlide" Target="/ppt/notesSlides/notesSlide20.xml" Id="R09433b7db08e49b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3ddb914e36b245bf" /><Relationship Type="http://schemas.openxmlformats.org/officeDocument/2006/relationships/notesSlide" Target="/ppt/notesSlides/notesSlide21.xml" Id="R4da4e1be2bf2471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5960fe3b43d643ca" /><Relationship Type="http://schemas.openxmlformats.org/officeDocument/2006/relationships/notesSlide" Target="/ppt/notesSlides/notesSlide22.xml" Id="Rd5429ea12ea14cf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6440905058f54935" /><Relationship Type="http://schemas.openxmlformats.org/officeDocument/2006/relationships/notesSlide" Target="/ppt/notesSlides/notesSlide23.xml" Id="R2bdb8bbcff0d40e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d4669bd8253f4789" /><Relationship Type="http://schemas.openxmlformats.org/officeDocument/2006/relationships/notesSlide" Target="/ppt/notesSlides/notesSlide24.xml" Id="R14fb47113db94c59" /></Relationships>
</file>

<file path=ppt/slides/slide1.xml><?xml version="1.0" encoding="utf-8"?>
<p:sld xmlns:p="http://schemas.openxmlformats.org/presentationml/2006/main">
  <p:cSld>
    <p:bg>
      <p:bgPr>
        <a:solidFill xmlns:a="http://schemas.openxmlformats.org/drawingml/2006/main">
          <a:srgbClr val="173E48"/>
        </a:solidFill>
      </p:bgPr>
    </p:bg>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259A437-4875-49B8-AC79-D4EB03B7A61A}"/>
              </a:ext>
            </a:extLst>
          </p:cNvPr>
          <p:cNvSpPr>
            <a:spLocks xmlns:a="http://schemas.openxmlformats.org/drawingml/2006/main" noGrp="1"/>
          </p:cNvSpPr>
          <p:nvPr/>
        </p:nvSpPr>
        <p:spPr>
          <a:xfrm xmlns:a="http://schemas.openxmlformats.org/drawingml/2006/main">
            <a:off x="685800" y="1714500"/>
            <a:ext cx="108204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4200" b="1">
                <a:solidFill>
                  <a:srgbClr val="FFFFFF"/>
                </a:solidFill>
                <a:latin typeface="DejaVu Sans"/>
                <a:ea typeface="DejaVu Sans"/>
                <a:cs typeface="DejaVu Sans"/>
              </a:defRPr>
            </a:defPPr>
            <a:lvl1pPr>
              <a:defRPr sz="4200" b="1">
                <a:solidFill>
                  <a:srgbClr val="FFFFFF"/>
                </a:solidFill>
                <a:latin typeface="DejaVu Sans"/>
                <a:ea typeface="DejaVu Sans"/>
                <a:cs typeface="DejaVu Sans"/>
              </a:defRPr>
            </a:lvl1pPr>
            <a:lvl2pPr>
              <a:defRPr sz="4200" b="1">
                <a:solidFill>
                  <a:srgbClr val="FFFFFF"/>
                </a:solidFill>
                <a:latin typeface="DejaVu Sans"/>
                <a:ea typeface="DejaVu Sans"/>
                <a:cs typeface="DejaVu Sans"/>
              </a:defRPr>
            </a:lvl2pPr>
            <a:lvl3pPr>
              <a:defRPr sz="4200" b="1">
                <a:solidFill>
                  <a:srgbClr val="FFFFFF"/>
                </a:solidFill>
                <a:latin typeface="DejaVu Sans"/>
                <a:ea typeface="DejaVu Sans"/>
                <a:cs typeface="DejaVu Sans"/>
              </a:defRPr>
            </a:lvl3pPr>
            <a:lvl4pPr>
              <a:defRPr sz="4200" b="1">
                <a:solidFill>
                  <a:srgbClr val="FFFFFF"/>
                </a:solidFill>
                <a:latin typeface="DejaVu Sans"/>
                <a:ea typeface="DejaVu Sans"/>
                <a:cs typeface="DejaVu Sans"/>
              </a:defRPr>
            </a:lvl4pPr>
            <a:lvl5pPr>
              <a:defRPr sz="4200" b="1">
                <a:solidFill>
                  <a:srgbClr val="FFFFFF"/>
                </a:solidFill>
                <a:latin typeface="DejaVu Sans"/>
                <a:ea typeface="DejaVu Sans"/>
                <a:cs typeface="DejaVu Sans"/>
              </a:defRPr>
            </a:lvl5pPr>
            <a:lvl6pPr>
              <a:defRPr sz="4200" b="1">
                <a:solidFill>
                  <a:srgbClr val="FFFFFF"/>
                </a:solidFill>
                <a:latin typeface="DejaVu Sans"/>
                <a:ea typeface="DejaVu Sans"/>
                <a:cs typeface="DejaVu Sans"/>
              </a:defRPr>
            </a:lvl6pPr>
            <a:lvl7pPr>
              <a:defRPr sz="4200" b="1">
                <a:solidFill>
                  <a:srgbClr val="FFFFFF"/>
                </a:solidFill>
                <a:latin typeface="DejaVu Sans"/>
                <a:ea typeface="DejaVu Sans"/>
                <a:cs typeface="DejaVu Sans"/>
              </a:defRPr>
            </a:lvl7pPr>
            <a:lvl8pPr>
              <a:defRPr sz="4200" b="1">
                <a:solidFill>
                  <a:srgbClr val="FFFFFF"/>
                </a:solidFill>
                <a:latin typeface="DejaVu Sans"/>
                <a:ea typeface="DejaVu Sans"/>
                <a:cs typeface="DejaVu Sans"/>
              </a:defRPr>
            </a:lvl8pPr>
            <a:lvl9pPr>
              <a:defRPr sz="4200" b="1">
                <a:solidFill>
                  <a:srgbClr val="FFFFFF"/>
                </a:solidFill>
                <a:latin typeface="DejaVu Sans"/>
                <a:ea typeface="DejaVu Sans"/>
                <a:cs typeface="DejaVu Sans"/>
              </a:defRPr>
            </a:lvl9pPr>
          </a:lstStyle>
          <a:p xmlns:a="http://schemas.openxmlformats.org/drawingml/2006/main">
            <a:pPr>
              <a:defRPr sz="4200" b="1">
                <a:solidFill>
                  <a:srgbClr val="FFFFFF"/>
                </a:solidFill>
                <a:latin typeface="DejaVu Sans"/>
                <a:ea typeface="DejaVu Sans"/>
                <a:cs typeface="DejaVu Sans"/>
              </a:defRPr>
            </a:pPr>
            <a:r>
              <a:rPr sz="4200" b="1">
                <a:solidFill>
                  <a:srgbClr val="FFFFFF"/>
                </a:solidFill>
                <a:latin typeface="DejaVu Sans"/>
                <a:ea typeface="DejaVu Sans"/>
                <a:cs typeface="DejaVu Sans"/>
              </a:rPr>
              <a:t>Asymptomatic bacteriuria</a:t>
            </a:r>
          </a:p>
        </p:txBody>
      </p:sp>
      <p:sp>
        <p:nvSpPr>
          <p:cNvPr id="2" name="subtitle">
            <a:extLst xmlns:a="http://schemas.openxmlformats.org/drawingml/2006/main">
              <a:ext uri="{FF2B5EF4-FFF2-40B4-BE49-F238E27FC236}">
                <a16:creationId xmlns:a16="http://schemas.microsoft.com/office/drawing/2014/main" id="{3833BB62-7133-4128-B343-7FC38DED13F0}"/>
              </a:ext>
            </a:extLst>
          </p:cNvPr>
          <p:cNvSpPr>
            <a:spLocks xmlns:a="http://schemas.openxmlformats.org/drawingml/2006/main" noGrp="1"/>
          </p:cNvSpPr>
          <p:nvPr/>
        </p:nvSpPr>
        <p:spPr>
          <a:xfrm xmlns:a="http://schemas.openxmlformats.org/drawingml/2006/main">
            <a:off x="723900" y="514350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950" b="0">
                <a:solidFill>
                  <a:srgbClr val="D7E8E8"/>
                </a:solidFill>
                <a:latin typeface="DejaVu Sans"/>
                <a:ea typeface="DejaVu Sans"/>
                <a:cs typeface="DejaVu Sans"/>
              </a:defRPr>
            </a:defPPr>
            <a:lvl1pPr>
              <a:defRPr sz="1950" b="0">
                <a:solidFill>
                  <a:srgbClr val="D7E8E8"/>
                </a:solidFill>
                <a:latin typeface="DejaVu Sans"/>
                <a:ea typeface="DejaVu Sans"/>
                <a:cs typeface="DejaVu Sans"/>
              </a:defRPr>
            </a:lvl1pPr>
            <a:lvl2pPr>
              <a:defRPr sz="1950" b="0">
                <a:solidFill>
                  <a:srgbClr val="D7E8E8"/>
                </a:solidFill>
                <a:latin typeface="DejaVu Sans"/>
                <a:ea typeface="DejaVu Sans"/>
                <a:cs typeface="DejaVu Sans"/>
              </a:defRPr>
            </a:lvl2pPr>
            <a:lvl3pPr>
              <a:defRPr sz="1950" b="0">
                <a:solidFill>
                  <a:srgbClr val="D7E8E8"/>
                </a:solidFill>
                <a:latin typeface="DejaVu Sans"/>
                <a:ea typeface="DejaVu Sans"/>
                <a:cs typeface="DejaVu Sans"/>
              </a:defRPr>
            </a:lvl3pPr>
            <a:lvl4pPr>
              <a:defRPr sz="1950" b="0">
                <a:solidFill>
                  <a:srgbClr val="D7E8E8"/>
                </a:solidFill>
                <a:latin typeface="DejaVu Sans"/>
                <a:ea typeface="DejaVu Sans"/>
                <a:cs typeface="DejaVu Sans"/>
              </a:defRPr>
            </a:lvl4pPr>
            <a:lvl5pPr>
              <a:defRPr sz="1950" b="0">
                <a:solidFill>
                  <a:srgbClr val="D7E8E8"/>
                </a:solidFill>
                <a:latin typeface="DejaVu Sans"/>
                <a:ea typeface="DejaVu Sans"/>
                <a:cs typeface="DejaVu Sans"/>
              </a:defRPr>
            </a:lvl5pPr>
            <a:lvl6pPr>
              <a:defRPr sz="1950" b="0">
                <a:solidFill>
                  <a:srgbClr val="D7E8E8"/>
                </a:solidFill>
                <a:latin typeface="DejaVu Sans"/>
                <a:ea typeface="DejaVu Sans"/>
                <a:cs typeface="DejaVu Sans"/>
              </a:defRPr>
            </a:lvl6pPr>
            <a:lvl7pPr>
              <a:defRPr sz="1950" b="0">
                <a:solidFill>
                  <a:srgbClr val="D7E8E8"/>
                </a:solidFill>
                <a:latin typeface="DejaVu Sans"/>
                <a:ea typeface="DejaVu Sans"/>
                <a:cs typeface="DejaVu Sans"/>
              </a:defRPr>
            </a:lvl7pPr>
            <a:lvl8pPr>
              <a:defRPr sz="1950" b="0">
                <a:solidFill>
                  <a:srgbClr val="D7E8E8"/>
                </a:solidFill>
                <a:latin typeface="DejaVu Sans"/>
                <a:ea typeface="DejaVu Sans"/>
                <a:cs typeface="DejaVu Sans"/>
              </a:defRPr>
            </a:lvl8pPr>
            <a:lvl9pPr>
              <a:defRPr sz="1950" b="0">
                <a:solidFill>
                  <a:srgbClr val="D7E8E8"/>
                </a:solidFill>
                <a:latin typeface="DejaVu Sans"/>
                <a:ea typeface="DejaVu Sans"/>
                <a:cs typeface="DejaVu Sans"/>
              </a:defRPr>
            </a:lvl9pPr>
          </a:lstStyle>
          <a:p xmlns:a="http://schemas.openxmlformats.org/drawingml/2006/main">
            <a:pPr>
              <a:defRPr sz="1950" b="0">
                <a:solidFill>
                  <a:srgbClr val="D7E8E8"/>
                </a:solidFill>
                <a:latin typeface="DejaVu Sans"/>
                <a:ea typeface="DejaVu Sans"/>
                <a:cs typeface="DejaVu Sans"/>
              </a:defRPr>
            </a:pPr>
            <a:r>
              <a:rPr sz="1950" b="0">
                <a:solidFill>
                  <a:srgbClr val="D7E8E8"/>
                </a:solidFill>
                <a:latin typeface="DejaVu Sans"/>
                <a:ea typeface="DejaVu Sans"/>
                <a:cs typeface="DejaVu Sans"/>
              </a:rPr>
              <a:t>ID Practice Update</a:t>
            </a:r>
          </a:p>
          <a:p xmlns:a="http://schemas.openxmlformats.org/drawingml/2006/main">
            <a:pPr>
              <a:defRPr sz="1950" b="0">
                <a:solidFill>
                  <a:srgbClr val="D7E8E8"/>
                </a:solidFill>
                <a:latin typeface="DejaVu Sans"/>
                <a:ea typeface="DejaVu Sans"/>
                <a:cs typeface="DejaVu Sans"/>
              </a:defRPr>
            </a:pPr>
            <a:r>
              <a:rPr sz="1950" b="0">
                <a:solidFill>
                  <a:srgbClr val="D7E8E8"/>
                </a:solidFill>
                <a:latin typeface="DejaVu Sans"/>
                <a:ea typeface="DejaVu Sans"/>
                <a:cs typeface="DejaVu Sans"/>
              </a:rPr>
              <a:t>Resident teaching and advanced reference</a:t>
            </a:r>
          </a:p>
        </p:txBody>
      </p:sp>
    </p:spTree>
    <p:extLst>
      <p:ext uri="{BB962C8B-B14F-4D97-AF65-F5344CB8AC3E}">
        <p14:creationId xmlns:p14="http://schemas.microsoft.com/office/powerpoint/2010/main" val="76727646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10E9E19C-07B8-4E6E-80FF-925D39367E3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Start with the symptoms that prompted the culture</a:t>
            </a:r>
          </a:p>
        </p:txBody>
      </p:sp>
      <p:sp>
        <p:nvSpPr>
          <p:cNvPr id="2" name="paragraph-0">
            <a:extLst xmlns:a="http://schemas.openxmlformats.org/drawingml/2006/main">
              <a:ext uri="{FF2B5EF4-FFF2-40B4-BE49-F238E27FC236}">
                <a16:creationId xmlns:a16="http://schemas.microsoft.com/office/drawing/2014/main" id="{CD5D6874-B430-4E89-A05C-CC043ADE9842}"/>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An 82-year-old is admitted with confusion after poor intake and a medication change. Temperature and blood pressure are normal. There is no dysuria, new urgency, suprapubic pain, or flank pain. Urine testing shows pyuria and more than 100,000 CFU/mL of E. coli.</a:t>
            </a:r>
          </a:p>
        </p:txBody>
      </p:sp>
      <p:sp>
        <p:nvSpPr>
          <p:cNvPr id="3" name="paragraph-1">
            <a:extLst xmlns:a="http://schemas.openxmlformats.org/drawingml/2006/main">
              <a:ext uri="{FF2B5EF4-FFF2-40B4-BE49-F238E27FC236}">
                <a16:creationId xmlns:a16="http://schemas.microsoft.com/office/drawing/2014/main" id="{504D41D9-136F-4C9A-A4E0-F6E2900ED29C}"/>
              </a:ext>
            </a:extLst>
          </p:cNvPr>
          <p:cNvSpPr>
            <a:spLocks xmlns:a="http://schemas.openxmlformats.org/drawingml/2006/main" noGrp="1"/>
          </p:cNvSpPr>
          <p:nvPr/>
        </p:nvSpPr>
        <p:spPr>
          <a:xfrm xmlns:a="http://schemas.openxmlformats.org/drawingml/2006/main">
            <a:off x="647700" y="3619500"/>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Discuss before reading on. What establishes a urinary infection here? What other explanations for delirium need evaluation?</a:t>
            </a:r>
          </a:p>
        </p:txBody>
      </p:sp>
      <p:sp>
        <p:nvSpPr>
          <p:cNvPr id="4" name="footer">
            <a:extLst xmlns:a="http://schemas.openxmlformats.org/drawingml/2006/main">
              <a:ext uri="{FF2B5EF4-FFF2-40B4-BE49-F238E27FC236}">
                <a16:creationId xmlns:a16="http://schemas.microsoft.com/office/drawing/2014/main" id="{B93E3AEC-6082-484F-959B-47B070BA06B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8239FD29-7513-49BE-AF89-C6B2C5F6195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a:t>
            </a:r>
          </a:p>
        </p:txBody>
      </p:sp>
    </p:spTree>
    <p:extLst>
      <p:ext uri="{BB962C8B-B14F-4D97-AF65-F5344CB8AC3E}">
        <p14:creationId xmlns:p14="http://schemas.microsoft.com/office/powerpoint/2010/main" val="175074985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031258F-91A6-45D5-9469-2EEFC74361E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Start with the symptoms that prompted the culture</a:t>
            </a:r>
          </a:p>
        </p:txBody>
      </p:sp>
      <p:sp>
        <p:nvSpPr>
          <p:cNvPr id="2" name="paragraph-0">
            <a:extLst xmlns:a="http://schemas.openxmlformats.org/drawingml/2006/main">
              <a:ext uri="{FF2B5EF4-FFF2-40B4-BE49-F238E27FC236}">
                <a16:creationId xmlns:a16="http://schemas.microsoft.com/office/drawing/2014/main" id="{DE26906A-EAF2-4BC4-A8EB-5CE28AF2046B}"/>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Asymptomatic bacteriuria means bacteria in urine without an attributable urinary infection syndrome. Pyuria can accompany colonization. Neither the organism name nor its resistance pattern establishes a need for antibiotics. [1] [2]</a:t>
            </a:r>
          </a:p>
        </p:txBody>
      </p:sp>
      <p:sp>
        <p:nvSpPr>
          <p:cNvPr id="3" name="footer">
            <a:extLst xmlns:a="http://schemas.openxmlformats.org/drawingml/2006/main">
              <a:ext uri="{FF2B5EF4-FFF2-40B4-BE49-F238E27FC236}">
                <a16:creationId xmlns:a16="http://schemas.microsoft.com/office/drawing/2014/main" id="{33802ED4-023F-4DD1-B3CA-5D48517ECFD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0644B13B-1A27-4F90-B26D-EF080426634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a:t>
            </a:r>
          </a:p>
        </p:txBody>
      </p:sp>
    </p:spTree>
    <p:extLst>
      <p:ext uri="{BB962C8B-B14F-4D97-AF65-F5344CB8AC3E}">
        <p14:creationId xmlns:p14="http://schemas.microsoft.com/office/powerpoint/2010/main" val="90326448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13892F7-F394-4FB3-8027-2120B9FF0F7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Decide whether urine testing can answer a clinical question</a:t>
            </a:r>
          </a:p>
        </p:txBody>
      </p:sp>
      <p:graphicFrame>
        <p:nvGraphicFramePr>
          <p:cNvPr id="2" name="">
            <a:extLst xmlns:a="http://schemas.openxmlformats.org/drawingml/2006/main">
              <a:ext uri="{FF2B5EF4-FFF2-40B4-BE49-F238E27FC236}">
                <a16:creationId xmlns:a16="http://schemas.microsoft.com/office/drawing/2014/main" id="{BCA282BC-46CB-48A5-B660-3D163C0C000E}"/>
              </a:ext>
            </a:extLst>
          </p:cNvPr>
          <p:cNvGraphicFramePr/>
          <p:nvPr/>
        </p:nvGraphicFramePr>
        <p:xfrm>
          <a:off xmlns:a="http://schemas.openxmlformats.org/drawingml/2006/main" x="647700" y="1866900"/>
          <a:ext xmlns:a="http://schemas.openxmlformats.org/drawingml/2006/main" cx="10896600" cy="4010025"/>
        </p:xfrm>
        <a:graphic xmlns:a="http://schemas.openxmlformats.org/drawingml/2006/main">
          <a:graphicData uri="http://schemas.openxmlformats.org/drawingml/2006/table">
            <a:tbl>
              <a:tblPr/>
              <a:tblGrid>
                <a:gridCol w="4362450"/>
                <a:gridCol w="6534150"/>
              </a:tblGrid>
              <a:tr h="538163">
                <a:tc>
                  <a:txBody>
                    <a:bodyPr lIns="114300" tIns="114300" rIns="114300" bIns="114300">
                      <a:noAutofit/>
                    </a:bodyPr>
                    <a:lstStyle/>
                    <a:p>
                      <a:r>
                        <a:rPr sz="1950" b="1">
                          <a:solidFill>
                            <a:srgbClr val="FFFFFF"/>
                          </a:solidFill>
                          <a:latin typeface="DejaVu Sans"/>
                          <a:ea typeface="DejaVu Sans"/>
                          <a:cs typeface="DejaVu Sans"/>
                        </a:rPr>
                        <a:t>Clinical finding</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Approach</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New dysuria, frequency, urgency, or suprapubic pain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Assess for symptomatic lower UTI and competing causes. Culture when it will guide management.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Fever with flank pain, rigors, or otherwise unexplained systemic illness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Evaluate for systemic UTI and alternative sources; obtain a culture when UTI is plausible.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1157288">
                <a:tc>
                  <a:txBody>
                    <a:bodyPr lIns="114300" tIns="114300" rIns="114300" bIns="114300">
                      <a:noAutofit/>
                    </a:bodyPr>
                    <a:lstStyle/>
                    <a:p>
                      <a:r>
                        <a:rPr sz="1950" b="0">
                          <a:solidFill>
                            <a:srgbClr val="16323B"/>
                          </a:solidFill>
                          <a:latin typeface="DejaVu Sans"/>
                          <a:ea typeface="DejaVu Sans"/>
                          <a:cs typeface="DejaVu Sans"/>
                        </a:rPr>
                        <a:t>Delirium or a fall without urinary symptoms, fever, or instability</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Assess other causes and observe. Bacteriuria alone does not establish the cause.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08B0CEF1-AFB7-497D-97C5-A456C345C13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7BC51630-F7C8-47BD-8396-76D7C5E4CBE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a:t>
            </a:r>
          </a:p>
        </p:txBody>
      </p:sp>
    </p:spTree>
    <p:extLst>
      <p:ext uri="{BB962C8B-B14F-4D97-AF65-F5344CB8AC3E}">
        <p14:creationId xmlns:p14="http://schemas.microsoft.com/office/powerpoint/2010/main" val="193367202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3114A6F-B2F6-4E25-959F-A90E8D82C32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Decide whether urine testing can answer a clinical question</a:t>
            </a:r>
          </a:p>
        </p:txBody>
      </p:sp>
      <p:graphicFrame>
        <p:nvGraphicFramePr>
          <p:cNvPr id="2" name="">
            <a:extLst xmlns:a="http://schemas.openxmlformats.org/drawingml/2006/main">
              <a:ext uri="{FF2B5EF4-FFF2-40B4-BE49-F238E27FC236}">
                <a16:creationId xmlns:a16="http://schemas.microsoft.com/office/drawing/2014/main" id="{8F3D9068-A526-45C6-9A08-427D30C8A46B}"/>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4362450"/>
                <a:gridCol w="6534150"/>
              </a:tblGrid>
              <a:tr h="538163">
                <a:tc>
                  <a:txBody>
                    <a:bodyPr lIns="114300" tIns="114300" rIns="114300" bIns="114300">
                      <a:noAutofit/>
                    </a:bodyPr>
                    <a:lstStyle/>
                    <a:p>
                      <a:r>
                        <a:rPr sz="1950" b="1">
                          <a:solidFill>
                            <a:srgbClr val="FFFFFF"/>
                          </a:solidFill>
                          <a:latin typeface="DejaVu Sans"/>
                          <a:ea typeface="DejaVu Sans"/>
                          <a:cs typeface="DejaVu Sans"/>
                        </a:rPr>
                        <a:t>Clinical finding</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Approach</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Cloudy urine, odor, or pyuria alone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Do not use these findings alone to trigger treatment. Avoid collecting a culture solely to explain them.</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60077F58-3CD3-461E-A671-9E4729899A1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289DF3A3-A64D-4740-9431-5CB71F5AE54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a:t>
            </a:r>
          </a:p>
        </p:txBody>
      </p:sp>
    </p:spTree>
    <p:extLst>
      <p:ext uri="{BB962C8B-B14F-4D97-AF65-F5344CB8AC3E}">
        <p14:creationId xmlns:p14="http://schemas.microsoft.com/office/powerpoint/2010/main" val="176147439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ECEB885-1E24-43F3-BB1E-21D99891B2F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Decide whether urine testing can answer a clinical question</a:t>
            </a:r>
          </a:p>
        </p:txBody>
      </p:sp>
      <p:sp>
        <p:nvSpPr>
          <p:cNvPr id="2" name="paragraph-0">
            <a:extLst xmlns:a="http://schemas.openxmlformats.org/drawingml/2006/main">
              <a:ext uri="{FF2B5EF4-FFF2-40B4-BE49-F238E27FC236}">
                <a16:creationId xmlns:a16="http://schemas.microsoft.com/office/drawing/2014/main" id="{E6D22CD2-549E-47C8-8E43-C3282ACEBD13}"/>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In a patient unable to report symptoms, obtain collateral history, examine for localizing findings, and reassess the trajectory. Inability to give a history is not proof that bacteriuria is symptomatic. [1] [2] [3]</a:t>
            </a:r>
          </a:p>
        </p:txBody>
      </p:sp>
      <p:sp>
        <p:nvSpPr>
          <p:cNvPr id="3" name="footer">
            <a:extLst xmlns:a="http://schemas.openxmlformats.org/drawingml/2006/main">
              <a:ext uri="{FF2B5EF4-FFF2-40B4-BE49-F238E27FC236}">
                <a16:creationId xmlns:a16="http://schemas.microsoft.com/office/drawing/2014/main" id="{E8416E54-9964-452F-B276-1AB6E24893C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332CD90A-117F-4F03-A579-DD958A89B74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a:t>
            </a:r>
          </a:p>
        </p:txBody>
      </p:sp>
    </p:spTree>
    <p:extLst>
      <p:ext uri="{BB962C8B-B14F-4D97-AF65-F5344CB8AC3E}">
        <p14:creationId xmlns:p14="http://schemas.microsoft.com/office/powerpoint/2010/main" val="11976786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20FDBCD-6E46-4BE8-AB67-A9B4307AD9B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Treat established exceptions rather than every positive culture</a:t>
            </a:r>
          </a:p>
        </p:txBody>
      </p:sp>
      <p:graphicFrame>
        <p:nvGraphicFramePr>
          <p:cNvPr id="2" name="">
            <a:extLst xmlns:a="http://schemas.openxmlformats.org/drawingml/2006/main">
              <a:ext uri="{FF2B5EF4-FFF2-40B4-BE49-F238E27FC236}">
                <a16:creationId xmlns:a16="http://schemas.microsoft.com/office/drawing/2014/main" id="{020916C9-F510-42F2-8604-3FE4F3D1BACE}"/>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Pregnancy</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Management of bacteriuria without symptoms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Screen with a urine culture and treat confirmed ASB using a pregnancy-appropriate, susceptibility-directed regimen.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6CA4224C-C4CA-4C43-8682-8FFA716165D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6C0F063B-3093-475C-97CF-F03B626A741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a:t>
            </a:r>
          </a:p>
        </p:txBody>
      </p:sp>
    </p:spTree>
    <p:extLst>
      <p:ext uri="{BB962C8B-B14F-4D97-AF65-F5344CB8AC3E}">
        <p14:creationId xmlns:p14="http://schemas.microsoft.com/office/powerpoint/2010/main" val="155467069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106E8DA-A7C1-4D1F-930A-388D564C4EB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Treat established exceptions rather than every positive culture</a:t>
            </a:r>
          </a:p>
        </p:txBody>
      </p:sp>
      <p:graphicFrame>
        <p:nvGraphicFramePr>
          <p:cNvPr id="2" name="">
            <a:extLst xmlns:a="http://schemas.openxmlformats.org/drawingml/2006/main">
              <a:ext uri="{FF2B5EF4-FFF2-40B4-BE49-F238E27FC236}">
                <a16:creationId xmlns:a16="http://schemas.microsoft.com/office/drawing/2014/main" id="{042BF870-3244-465B-8F99-572E82ABD554}"/>
              </a:ext>
            </a:extLst>
          </p:cNvPr>
          <p:cNvGraphicFramePr/>
          <p:nvPr/>
        </p:nvGraphicFramePr>
        <p:xfrm>
          <a:off xmlns:a="http://schemas.openxmlformats.org/drawingml/2006/main" x="647700" y="1866900"/>
          <a:ext xmlns:a="http://schemas.openxmlformats.org/drawingml/2006/main" cx="10896600" cy="2005013"/>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Endoscopic urologic procedure with expected mucosal trauma</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Management of bacteriuria without symptoms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Culture beforehand and provide targeted peri-procedural therapy. IDSA suggests 1 or 2 doses beginning 30-60 minutes before the procedure.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3F488286-DD1F-48CC-8BE1-481159F3142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48885A5D-A9DF-4DF2-AD41-972025AE038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a:t>
            </a:r>
          </a:p>
        </p:txBody>
      </p:sp>
    </p:spTree>
    <p:extLst>
      <p:ext uri="{BB962C8B-B14F-4D97-AF65-F5344CB8AC3E}">
        <p14:creationId xmlns:p14="http://schemas.microsoft.com/office/powerpoint/2010/main" val="134505397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2456A8F-6133-4B3D-9CA3-B6EFC166D6F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Treat established exceptions rather than every positive culture</a:t>
            </a:r>
          </a:p>
        </p:txBody>
      </p:sp>
      <p:graphicFrame>
        <p:nvGraphicFramePr>
          <p:cNvPr id="2" name="">
            <a:extLst xmlns:a="http://schemas.openxmlformats.org/drawingml/2006/main">
              <a:ext uri="{FF2B5EF4-FFF2-40B4-BE49-F238E27FC236}">
                <a16:creationId xmlns:a16="http://schemas.microsoft.com/office/drawing/2014/main" id="{097D81AB-E071-4687-B65E-A823E4AFFF54}"/>
              </a:ext>
            </a:extLst>
          </p:cNvPr>
          <p:cNvGraphicFramePr/>
          <p:nvPr/>
        </p:nvGraphicFramePr>
        <p:xfrm>
          <a:off xmlns:a="http://schemas.openxmlformats.org/drawingml/2006/main" x="647700" y="1866900"/>
          <a:ext xmlns:a="http://schemas.openxmlformats.org/drawingml/2006/main" cx="10896600" cy="2005013"/>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Older adults, diabetes, chronic catheters, or elective joint arthroplasty</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Management of bacteriuria without symptoms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Do not routinely screen for or treat ASB. Standard surgical prophylaxis is a separate decision.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A49B02E1-25B7-4EF9-8815-61061E23537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B3366C15-5A8B-4AD1-96DF-F4825FB2F3A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a:t>
            </a:r>
          </a:p>
        </p:txBody>
      </p:sp>
    </p:spTree>
    <p:extLst>
      <p:ext uri="{BB962C8B-B14F-4D97-AF65-F5344CB8AC3E}">
        <p14:creationId xmlns:p14="http://schemas.microsoft.com/office/powerpoint/2010/main" val="148814915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788E7DA-F8D3-44D9-8752-B7583D7CF0A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Treat established exceptions rather than every positive culture</a:t>
            </a:r>
          </a:p>
        </p:txBody>
      </p:sp>
      <p:sp>
        <p:nvSpPr>
          <p:cNvPr id="2" name="paragraph-0">
            <a:extLst xmlns:a="http://schemas.openxmlformats.org/drawingml/2006/main">
              <a:ext uri="{FF2B5EF4-FFF2-40B4-BE49-F238E27FC236}">
                <a16:creationId xmlns:a16="http://schemas.microsoft.com/office/drawing/2014/main" id="{F066C692-8CF4-4758-B18F-85EED5928FD7}"/>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Pregnancy treatment and follow-up should follow the obstetric pathway. Do not extrapolate the short peri-procedural regimen to pregnancy. [1] [2] [4]</a:t>
            </a:r>
          </a:p>
        </p:txBody>
      </p:sp>
      <p:sp>
        <p:nvSpPr>
          <p:cNvPr id="3" name="footer">
            <a:extLst xmlns:a="http://schemas.openxmlformats.org/drawingml/2006/main">
              <a:ext uri="{FF2B5EF4-FFF2-40B4-BE49-F238E27FC236}">
                <a16:creationId xmlns:a16="http://schemas.microsoft.com/office/drawing/2014/main" id="{B3E4AF66-739D-4244-B20A-33954C4860E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F6F8F4C2-8DAA-4C01-BAE1-23268E3FDC9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a:t>
            </a:r>
          </a:p>
        </p:txBody>
      </p:sp>
    </p:spTree>
    <p:extLst>
      <p:ext uri="{BB962C8B-B14F-4D97-AF65-F5344CB8AC3E}">
        <p14:creationId xmlns:p14="http://schemas.microsoft.com/office/powerpoint/2010/main" val="190422116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DCABFE09-4E8E-4BDB-AB20-F51EC4D368D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 urinary catheter makes colonization more likely</a:t>
            </a:r>
          </a:p>
        </p:txBody>
      </p:sp>
      <p:sp>
        <p:nvSpPr>
          <p:cNvPr id="2" name="paragraph-0">
            <a:extLst xmlns:a="http://schemas.openxmlformats.org/drawingml/2006/main">
              <a:ext uri="{FF2B5EF4-FFF2-40B4-BE49-F238E27FC236}">
                <a16:creationId xmlns:a16="http://schemas.microsoft.com/office/drawing/2014/main" id="{5F0C9155-DEF2-48FE-BDCD-FE7A72DB8DA5}"/>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Catheter biofilm makes persistent or recurrent bacteriuria common. Antibiotics given to sterilize asymptomatic urine expose patients to adverse effects, C. difficile, and resistance without treating a symptomatic infection. Review whether the catheter is still needed. [3]</a:t>
            </a:r>
          </a:p>
        </p:txBody>
      </p:sp>
      <p:sp>
        <p:nvSpPr>
          <p:cNvPr id="3" name="paragraph-1">
            <a:extLst xmlns:a="http://schemas.openxmlformats.org/drawingml/2006/main">
              <a:ext uri="{FF2B5EF4-FFF2-40B4-BE49-F238E27FC236}">
                <a16:creationId xmlns:a16="http://schemas.microsoft.com/office/drawing/2014/main" id="{BA53DEF5-7E13-41E3-96A5-39C47A724357}"/>
              </a:ext>
            </a:extLst>
          </p:cNvPr>
          <p:cNvSpPr>
            <a:spLocks xmlns:a="http://schemas.openxmlformats.org/drawingml/2006/main" noGrp="1"/>
          </p:cNvSpPr>
          <p:nvPr/>
        </p:nvSpPr>
        <p:spPr>
          <a:xfrm xmlns:a="http://schemas.openxmlformats.org/drawingml/2006/main">
            <a:off x="647700" y="3619500"/>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When symptomatic infection is suspected, obtain a properly collected sample. Use the sampling port with aseptic technique, not the drainage bag. Catheter removal or replacement is a separate source-control decision; follow the CAUTI pathway when infection is suspected. [5]</a:t>
            </a:r>
          </a:p>
        </p:txBody>
      </p:sp>
      <p:sp>
        <p:nvSpPr>
          <p:cNvPr id="4" name="footer">
            <a:extLst xmlns:a="http://schemas.openxmlformats.org/drawingml/2006/main">
              <a:ext uri="{FF2B5EF4-FFF2-40B4-BE49-F238E27FC236}">
                <a16:creationId xmlns:a16="http://schemas.microsoft.com/office/drawing/2014/main" id="{DF22A6B8-C3A5-4C21-BDDB-8BEC2DF3B3D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A08391A2-3225-46E1-A659-5CD882FF3E4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a:t>
            </a:r>
          </a:p>
        </p:txBody>
      </p:sp>
    </p:spTree>
    <p:extLst>
      <p:ext uri="{BB962C8B-B14F-4D97-AF65-F5344CB8AC3E}">
        <p14:creationId xmlns:p14="http://schemas.microsoft.com/office/powerpoint/2010/main" val="119417980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394CEF5-C6F3-4CBB-B4BD-A31BBA4B3D6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 urinary catheter makes colonization more likely</a:t>
            </a:r>
          </a:p>
        </p:txBody>
      </p:sp>
      <p:sp>
        <p:nvSpPr>
          <p:cNvPr id="2" name="paragraph-0">
            <a:extLst xmlns:a="http://schemas.openxmlformats.org/drawingml/2006/main">
              <a:ext uri="{FF2B5EF4-FFF2-40B4-BE49-F238E27FC236}">
                <a16:creationId xmlns:a16="http://schemas.microsoft.com/office/drawing/2014/main" id="{FD0B6B7B-5EED-42A0-A151-04EFA5938061}"/>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catheter plus a positive culture is not, by itself, a catheter-associated UTI. [3]</a:t>
            </a:r>
          </a:p>
        </p:txBody>
      </p:sp>
      <p:sp>
        <p:nvSpPr>
          <p:cNvPr id="3" name="footer">
            <a:extLst xmlns:a="http://schemas.openxmlformats.org/drawingml/2006/main">
              <a:ext uri="{FF2B5EF4-FFF2-40B4-BE49-F238E27FC236}">
                <a16:creationId xmlns:a16="http://schemas.microsoft.com/office/drawing/2014/main" id="{C50733CC-AC0A-4C0B-A5C5-3D6F2E77302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60ED704C-9E43-4926-8DCB-B9E2FD465B7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a:t>
            </a:r>
          </a:p>
        </p:txBody>
      </p:sp>
    </p:spTree>
    <p:extLst>
      <p:ext uri="{BB962C8B-B14F-4D97-AF65-F5344CB8AC3E}">
        <p14:creationId xmlns:p14="http://schemas.microsoft.com/office/powerpoint/2010/main" val="172350479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BF92F2E6-3375-4A9C-AAFD-4C651452485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Return to the patient and write the clinical assessment</a:t>
            </a:r>
          </a:p>
        </p:txBody>
      </p:sp>
      <p:sp>
        <p:nvSpPr>
          <p:cNvPr id="2" name="paragraph-0">
            <a:extLst xmlns:a="http://schemas.openxmlformats.org/drawingml/2006/main">
              <a:ext uri="{FF2B5EF4-FFF2-40B4-BE49-F238E27FC236}">
                <a16:creationId xmlns:a16="http://schemas.microsoft.com/office/drawing/2014/main" id="{F375E86D-F8E2-4620-9FC8-51E764CF078A}"/>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For the opening case, the available findings support ASB. Do not start or continue antibiotics solely for the urine result. Evaluate the delirium, correct identified contributors, and follow the examination and vital signs. [1]</a:t>
            </a:r>
          </a:p>
        </p:txBody>
      </p:sp>
      <p:sp>
        <p:nvSpPr>
          <p:cNvPr id="3" name="paragraph-1">
            <a:extLst xmlns:a="http://schemas.openxmlformats.org/drawingml/2006/main">
              <a:ext uri="{FF2B5EF4-FFF2-40B4-BE49-F238E27FC236}">
                <a16:creationId xmlns:a16="http://schemas.microsoft.com/office/drawing/2014/main" id="{2A062552-A0D1-4BDA-BDE6-7FE9C03DD8C5}"/>
              </a:ext>
            </a:extLst>
          </p:cNvPr>
          <p:cNvSpPr>
            <a:spLocks xmlns:a="http://schemas.openxmlformats.org/drawingml/2006/main" noGrp="1"/>
          </p:cNvSpPr>
          <p:nvPr/>
        </p:nvSpPr>
        <p:spPr>
          <a:xfrm xmlns:a="http://schemas.openxmlformats.org/drawingml/2006/main">
            <a:off x="647700" y="3619500"/>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If fever, hypotension, or another sign of serious infection develops, reassess promptly for urinary and nonurinary sources. The initial ASB assessment does not exclude a later infection. [1]</a:t>
            </a:r>
          </a:p>
        </p:txBody>
      </p:sp>
      <p:sp>
        <p:nvSpPr>
          <p:cNvPr id="4" name="footer">
            <a:extLst xmlns:a="http://schemas.openxmlformats.org/drawingml/2006/main">
              <a:ext uri="{FF2B5EF4-FFF2-40B4-BE49-F238E27FC236}">
                <a16:creationId xmlns:a16="http://schemas.microsoft.com/office/drawing/2014/main" id="{B2F7839C-9079-46C4-905A-7CB5E3C394D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DAF18F7F-E0F6-4231-B715-A393F2F3482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a:t>
            </a:r>
          </a:p>
        </p:txBody>
      </p:sp>
    </p:spTree>
    <p:extLst>
      <p:ext uri="{BB962C8B-B14F-4D97-AF65-F5344CB8AC3E}">
        <p14:creationId xmlns:p14="http://schemas.microsoft.com/office/powerpoint/2010/main" val="156244428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0FA27941-95D9-408C-803A-101EF7BE3DE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Return to the patient and write the clinical assessment</a:t>
            </a:r>
          </a:p>
        </p:txBody>
      </p:sp>
      <p:sp>
        <p:nvSpPr>
          <p:cNvPr id="2" name="paragraph-0">
            <a:extLst xmlns:a="http://schemas.openxmlformats.org/drawingml/2006/main">
              <a:ext uri="{FF2B5EF4-FFF2-40B4-BE49-F238E27FC236}">
                <a16:creationId xmlns:a16="http://schemas.microsoft.com/office/drawing/2014/main" id="{308B4DF4-36FA-423B-B314-DA561D4C3D86}"/>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Example documentation. "Bacteriuria without localizing urinary symptoms or systemic signs of infection. No antibiotic indication from the urine result. Evaluating other causes of delirium and monitoring for clinical change."</a:t>
            </a:r>
          </a:p>
        </p:txBody>
      </p:sp>
      <p:sp>
        <p:nvSpPr>
          <p:cNvPr id="3" name="paragraph-1">
            <a:extLst xmlns:a="http://schemas.openxmlformats.org/drawingml/2006/main">
              <a:ext uri="{FF2B5EF4-FFF2-40B4-BE49-F238E27FC236}">
                <a16:creationId xmlns:a16="http://schemas.microsoft.com/office/drawing/2014/main" id="{F56D97CA-7F55-4183-9548-D937EBD6EC17}"/>
              </a:ext>
            </a:extLst>
          </p:cNvPr>
          <p:cNvSpPr>
            <a:spLocks xmlns:a="http://schemas.openxmlformats.org/drawingml/2006/main" noGrp="1"/>
          </p:cNvSpPr>
          <p:nvPr/>
        </p:nvSpPr>
        <p:spPr>
          <a:xfrm xmlns:a="http://schemas.openxmlformats.org/drawingml/2006/main">
            <a:off x="647700" y="3619500"/>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In a 46-hospital observational cohort of 2,733 patients with ASB, treatment was not associated with better measured clinical outcomes and was associated with a longer stay after urine testing. This was an association, not proof that antibiotics caused the additional hospital days. [6]</a:t>
            </a:r>
          </a:p>
        </p:txBody>
      </p:sp>
      <p:sp>
        <p:nvSpPr>
          <p:cNvPr id="4" name="footer">
            <a:extLst xmlns:a="http://schemas.openxmlformats.org/drawingml/2006/main">
              <a:ext uri="{FF2B5EF4-FFF2-40B4-BE49-F238E27FC236}">
                <a16:creationId xmlns:a16="http://schemas.microsoft.com/office/drawing/2014/main" id="{EAD46E7F-23C0-4E64-A08F-3C94B8F13A9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31344906-68A4-4D55-AC43-F6D3D0A9ACF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a:t>
            </a:r>
          </a:p>
        </p:txBody>
      </p:sp>
    </p:spTree>
    <p:extLst>
      <p:ext uri="{BB962C8B-B14F-4D97-AF65-F5344CB8AC3E}">
        <p14:creationId xmlns:p14="http://schemas.microsoft.com/office/powerpoint/2010/main" val="140635899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217B2CE-1CB1-48C1-8B1D-83D1BA03258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Apply this on the next consult</a:t>
            </a:r>
          </a:p>
        </p:txBody>
      </p:sp>
      <p:sp>
        <p:nvSpPr>
          <p:cNvPr id="2" name="paragraph-0">
            <a:extLst xmlns:a="http://schemas.openxmlformats.org/drawingml/2006/main">
              <a:ext uri="{FF2B5EF4-FFF2-40B4-BE49-F238E27FC236}">
                <a16:creationId xmlns:a16="http://schemas.microsoft.com/office/drawing/2014/main" id="{089318F5-F32B-45A8-A44A-67301D271F1C}"/>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State the urinary syndrome before interpreting the culture. If there is no syndrome, check for a treatment exception. Explain the decision and continue clinical observation.</a:t>
            </a:r>
          </a:p>
        </p:txBody>
      </p:sp>
      <p:sp>
        <p:nvSpPr>
          <p:cNvPr id="3" name="footer">
            <a:extLst xmlns:a="http://schemas.openxmlformats.org/drawingml/2006/main">
              <a:ext uri="{FF2B5EF4-FFF2-40B4-BE49-F238E27FC236}">
                <a16:creationId xmlns:a16="http://schemas.microsoft.com/office/drawing/2014/main" id="{7F739092-2510-450E-AB58-7F877181ECA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68099ECD-7D69-4135-B9E3-0FFE8CAEA61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a:t>
            </a:r>
          </a:p>
        </p:txBody>
      </p:sp>
    </p:spTree>
    <p:extLst>
      <p:ext uri="{BB962C8B-B14F-4D97-AF65-F5344CB8AC3E}">
        <p14:creationId xmlns:p14="http://schemas.microsoft.com/office/powerpoint/2010/main" val="201258929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F00F35C6-48DB-4460-932C-7A156885BC6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Recognize where the evidence is incomplete</a:t>
            </a:r>
          </a:p>
        </p:txBody>
      </p:sp>
      <p:sp>
        <p:nvSpPr>
          <p:cNvPr id="2" name="paragraph-0">
            <a:extLst xmlns:a="http://schemas.openxmlformats.org/drawingml/2006/main">
              <a:ext uri="{FF2B5EF4-FFF2-40B4-BE49-F238E27FC236}">
                <a16:creationId xmlns:a16="http://schemas.microsoft.com/office/drawing/2014/main" id="{3C637AA9-0455-4D9F-919C-9B9676B59B01}"/>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IDSA recommends against screening or treatment more than 1 month after kidney transplantation. The first month after kidney transplantation and high-risk neutropenia remain knowledge gaps in that guideline; involve the relevant specialty rather than extrapolating the routine ward rule. [1]</a:t>
            </a:r>
          </a:p>
        </p:txBody>
      </p:sp>
      <p:sp>
        <p:nvSpPr>
          <p:cNvPr id="3" name="paragraph-1">
            <a:extLst xmlns:a="http://schemas.openxmlformats.org/drawingml/2006/main">
              <a:ext uri="{FF2B5EF4-FFF2-40B4-BE49-F238E27FC236}">
                <a16:creationId xmlns:a16="http://schemas.microsoft.com/office/drawing/2014/main" id="{FEF03470-C99D-484D-BDFC-DD864BEE635B}"/>
              </a:ext>
            </a:extLst>
          </p:cNvPr>
          <p:cNvSpPr>
            <a:spLocks xmlns:a="http://schemas.openxmlformats.org/drawingml/2006/main" noGrp="1"/>
          </p:cNvSpPr>
          <p:nvPr/>
        </p:nvSpPr>
        <p:spPr>
          <a:xfrm xmlns:a="http://schemas.openxmlformats.org/drawingml/2006/main">
            <a:off x="647700" y="39719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In spinal cord injury, new spasticity, autonomic dysreflexia, or new incontinence may contribute to a UTI assessment. Establish a change from baseline and look for other causes. [2]</a:t>
            </a:r>
          </a:p>
        </p:txBody>
      </p:sp>
      <p:sp>
        <p:nvSpPr>
          <p:cNvPr id="4" name="footer">
            <a:extLst xmlns:a="http://schemas.openxmlformats.org/drawingml/2006/main">
              <a:ext uri="{FF2B5EF4-FFF2-40B4-BE49-F238E27FC236}">
                <a16:creationId xmlns:a16="http://schemas.microsoft.com/office/drawing/2014/main" id="{EFFA8826-6E87-4C58-ABD4-4C1A2F6FDBA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56D8F82E-F1D4-4B9C-A8C5-9684ADB8940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a:t>
            </a:r>
          </a:p>
        </p:txBody>
      </p:sp>
    </p:spTree>
    <p:extLst>
      <p:ext uri="{BB962C8B-B14F-4D97-AF65-F5344CB8AC3E}">
        <p14:creationId xmlns:p14="http://schemas.microsoft.com/office/powerpoint/2010/main" val="22454152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B0BE5BC3-C9C3-4652-AAA2-4F564AC87E0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Recognize where the evidence is incomplete</a:t>
            </a:r>
          </a:p>
        </p:txBody>
      </p:sp>
      <p:sp>
        <p:nvSpPr>
          <p:cNvPr id="2" name="paragraph-0">
            <a:extLst xmlns:a="http://schemas.openxmlformats.org/drawingml/2006/main">
              <a:ext uri="{FF2B5EF4-FFF2-40B4-BE49-F238E27FC236}">
                <a16:creationId xmlns:a16="http://schemas.microsoft.com/office/drawing/2014/main" id="{F4967A14-BD72-4F51-9E1B-604AE81BC978}"/>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 formal midstream definition uses at least 10 5 CFU/mL, with persistence confirmed in two specimens in women and one in men. That definition is not a reason to repeat an unnecessary culture. Symptomatic UTI can occur with lower counts. [2]</a:t>
            </a:r>
          </a:p>
        </p:txBody>
      </p:sp>
      <p:sp>
        <p:nvSpPr>
          <p:cNvPr id="3" name="paragraph-1">
            <a:extLst xmlns:a="http://schemas.openxmlformats.org/drawingml/2006/main">
              <a:ext uri="{FF2B5EF4-FFF2-40B4-BE49-F238E27FC236}">
                <a16:creationId xmlns:a16="http://schemas.microsoft.com/office/drawing/2014/main" id="{247ADDD1-975A-4323-B6CE-5A441EA7E511}"/>
              </a:ext>
            </a:extLst>
          </p:cNvPr>
          <p:cNvSpPr>
            <a:spLocks xmlns:a="http://schemas.openxmlformats.org/drawingml/2006/main" noGrp="1"/>
          </p:cNvSpPr>
          <p:nvPr/>
        </p:nvSpPr>
        <p:spPr>
          <a:xfrm xmlns:a="http://schemas.openxmlformats.org/drawingml/2006/main">
            <a:off x="647700" y="3619500"/>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Discussion variation. An asymptomatic patient is scheduled for ureteroscopy with lithotripsy. Explain why the procedural plan changes management while a planned knee replacement does not. [1] [2]</a:t>
            </a:r>
          </a:p>
        </p:txBody>
      </p:sp>
      <p:sp>
        <p:nvSpPr>
          <p:cNvPr id="4" name="footer">
            <a:extLst xmlns:a="http://schemas.openxmlformats.org/drawingml/2006/main">
              <a:ext uri="{FF2B5EF4-FFF2-40B4-BE49-F238E27FC236}">
                <a16:creationId xmlns:a16="http://schemas.microsoft.com/office/drawing/2014/main" id="{9DF613CD-91C1-4CD4-8793-540F75744E0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4CE1C822-C8D3-42D5-AA33-EA56D79D63D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a:t>
            </a:r>
          </a:p>
        </p:txBody>
      </p:sp>
    </p:spTree>
    <p:extLst>
      <p:ext uri="{BB962C8B-B14F-4D97-AF65-F5344CB8AC3E}">
        <p14:creationId xmlns:p14="http://schemas.microsoft.com/office/powerpoint/2010/main" val="158691949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9951B11-4A87-4191-8397-DB75CDE469F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further reading</a:t>
            </a:r>
          </a:p>
        </p:txBody>
      </p:sp>
      <p:sp>
        <p:nvSpPr>
          <p:cNvPr id="2" name="paragraph-0">
            <a:extLst xmlns:a="http://schemas.openxmlformats.org/drawingml/2006/main">
              <a:ext uri="{FF2B5EF4-FFF2-40B4-BE49-F238E27FC236}">
                <a16:creationId xmlns:a16="http://schemas.microsoft.com/office/drawing/2014/main" id="{16E2C8F7-D43E-42D5-817C-C532F91C1939}"/>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1. Nicolle LE, et al. IDSA guideline for asymptomatic bacteriuria. 2019.</a:t>
            </a:r>
          </a:p>
        </p:txBody>
      </p:sp>
      <p:sp>
        <p:nvSpPr>
          <p:cNvPr id="3" name="footer">
            <a:extLst xmlns:a="http://schemas.openxmlformats.org/drawingml/2006/main">
              <a:ext uri="{FF2B5EF4-FFF2-40B4-BE49-F238E27FC236}">
                <a16:creationId xmlns:a16="http://schemas.microsoft.com/office/drawing/2014/main" id="{C94E58B5-28D3-42EA-B38D-59E1DD8D79C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2D808B39-500A-4DD6-86DA-ABD4F05E38B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a:t>
            </a:r>
          </a:p>
        </p:txBody>
      </p:sp>
    </p:spTree>
    <p:extLst>
      <p:ext uri="{BB962C8B-B14F-4D97-AF65-F5344CB8AC3E}">
        <p14:creationId xmlns:p14="http://schemas.microsoft.com/office/powerpoint/2010/main" val="55251632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CE28712-ADA3-452E-8910-C3C6EC08896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further reading</a:t>
            </a:r>
          </a:p>
        </p:txBody>
      </p:sp>
      <p:sp>
        <p:nvSpPr>
          <p:cNvPr id="2" name="paragraph-0">
            <a:extLst xmlns:a="http://schemas.openxmlformats.org/drawingml/2006/main">
              <a:ext uri="{FF2B5EF4-FFF2-40B4-BE49-F238E27FC236}">
                <a16:creationId xmlns:a16="http://schemas.microsoft.com/office/drawing/2014/main" id="{3B04B91E-9E0E-44E7-AB7C-5162FA341D04}"/>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2. European Association of Urology. Urological infections guideline, ASB and UTI sections.</a:t>
            </a:r>
          </a:p>
        </p:txBody>
      </p:sp>
      <p:sp>
        <p:nvSpPr>
          <p:cNvPr id="3" name="footer">
            <a:extLst xmlns:a="http://schemas.openxmlformats.org/drawingml/2006/main">
              <a:ext uri="{FF2B5EF4-FFF2-40B4-BE49-F238E27FC236}">
                <a16:creationId xmlns:a16="http://schemas.microsoft.com/office/drawing/2014/main" id="{5295866E-984E-4B73-AD5B-6D476C65745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E4DCF90E-66B4-441E-B880-699ABEF9BF2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a:t>
            </a:r>
          </a:p>
        </p:txBody>
      </p:sp>
    </p:spTree>
    <p:extLst>
      <p:ext uri="{BB962C8B-B14F-4D97-AF65-F5344CB8AC3E}">
        <p14:creationId xmlns:p14="http://schemas.microsoft.com/office/powerpoint/2010/main" val="19906122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6E659C4-DB5C-4FC5-926A-C5BB2361E53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further reading</a:t>
            </a:r>
          </a:p>
        </p:txBody>
      </p:sp>
      <p:sp>
        <p:nvSpPr>
          <p:cNvPr id="2" name="paragraph-0">
            <a:extLst xmlns:a="http://schemas.openxmlformats.org/drawingml/2006/main">
              <a:ext uri="{FF2B5EF4-FFF2-40B4-BE49-F238E27FC236}">
                <a16:creationId xmlns:a16="http://schemas.microsoft.com/office/drawing/2014/main" id="{153EA6B4-83AF-4B93-95E5-4B3C14553607}"/>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3. CDC. Indwelling urinary catheter culture stewardship. Updated 2026.</a:t>
            </a:r>
          </a:p>
        </p:txBody>
      </p:sp>
      <p:sp>
        <p:nvSpPr>
          <p:cNvPr id="3" name="footer">
            <a:extLst xmlns:a="http://schemas.openxmlformats.org/drawingml/2006/main">
              <a:ext uri="{FF2B5EF4-FFF2-40B4-BE49-F238E27FC236}">
                <a16:creationId xmlns:a16="http://schemas.microsoft.com/office/drawing/2014/main" id="{7A5B8ADD-33B3-4A53-BA58-0186F99C9E7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F0CCA860-EBB7-4D82-B479-9B85314874C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20</a:t>
            </a:r>
          </a:p>
        </p:txBody>
      </p:sp>
    </p:spTree>
    <p:extLst>
      <p:ext uri="{BB962C8B-B14F-4D97-AF65-F5344CB8AC3E}">
        <p14:creationId xmlns:p14="http://schemas.microsoft.com/office/powerpoint/2010/main" val="193951608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812EC47-E0B5-4B8C-A18A-85774B73FFB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further reading</a:t>
            </a:r>
          </a:p>
        </p:txBody>
      </p:sp>
      <p:sp>
        <p:nvSpPr>
          <p:cNvPr id="2" name="paragraph-0">
            <a:extLst xmlns:a="http://schemas.openxmlformats.org/drawingml/2006/main">
              <a:ext uri="{FF2B5EF4-FFF2-40B4-BE49-F238E27FC236}">
                <a16:creationId xmlns:a16="http://schemas.microsoft.com/office/drawing/2014/main" id="{9D6C6616-1867-4BC6-9EA7-A5E921C963D9}"/>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4. USPSTF. Screening for asymptomatic bacteriuria. Pregnancy recommendation. 2019.</a:t>
            </a:r>
          </a:p>
        </p:txBody>
      </p:sp>
      <p:sp>
        <p:nvSpPr>
          <p:cNvPr id="3" name="footer">
            <a:extLst xmlns:a="http://schemas.openxmlformats.org/drawingml/2006/main">
              <a:ext uri="{FF2B5EF4-FFF2-40B4-BE49-F238E27FC236}">
                <a16:creationId xmlns:a16="http://schemas.microsoft.com/office/drawing/2014/main" id="{A19C058C-DDA9-4635-BBFF-2E1D4E1E870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5BCB2A78-9A40-4BB7-8950-FD193136EDE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21</a:t>
            </a:r>
          </a:p>
        </p:txBody>
      </p:sp>
    </p:spTree>
    <p:extLst>
      <p:ext uri="{BB962C8B-B14F-4D97-AF65-F5344CB8AC3E}">
        <p14:creationId xmlns:p14="http://schemas.microsoft.com/office/powerpoint/2010/main" val="179094634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F358572-30F7-4324-B64D-26AE6647FAA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further reading</a:t>
            </a:r>
          </a:p>
        </p:txBody>
      </p:sp>
      <p:sp>
        <p:nvSpPr>
          <p:cNvPr id="2" name="paragraph-0">
            <a:extLst xmlns:a="http://schemas.openxmlformats.org/drawingml/2006/main">
              <a:ext uri="{FF2B5EF4-FFF2-40B4-BE49-F238E27FC236}">
                <a16:creationId xmlns:a16="http://schemas.microsoft.com/office/drawing/2014/main" id="{A8FC3DDC-4BAE-4121-9AAB-9F4245CF7FE6}"/>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5. CDC. CAUTI prevention recommendations, catheter use and specimen collection.</a:t>
            </a:r>
          </a:p>
        </p:txBody>
      </p:sp>
      <p:sp>
        <p:nvSpPr>
          <p:cNvPr id="3" name="footer">
            <a:extLst xmlns:a="http://schemas.openxmlformats.org/drawingml/2006/main">
              <a:ext uri="{FF2B5EF4-FFF2-40B4-BE49-F238E27FC236}">
                <a16:creationId xmlns:a16="http://schemas.microsoft.com/office/drawing/2014/main" id="{6E68CF4D-5DB3-4AE8-8E80-EA25CF6523E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A5DE6F16-002B-477D-A049-A5E0808421E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22</a:t>
            </a:r>
          </a:p>
        </p:txBody>
      </p:sp>
    </p:spTree>
    <p:extLst>
      <p:ext uri="{BB962C8B-B14F-4D97-AF65-F5344CB8AC3E}">
        <p14:creationId xmlns:p14="http://schemas.microsoft.com/office/powerpoint/2010/main" val="200967164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56C3598-3DD2-488E-93BF-2C79BF88EA3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further reading</a:t>
            </a:r>
          </a:p>
        </p:txBody>
      </p:sp>
      <p:sp>
        <p:nvSpPr>
          <p:cNvPr id="2" name="paragraph-0">
            <a:extLst xmlns:a="http://schemas.openxmlformats.org/drawingml/2006/main">
              <a:ext uri="{FF2B5EF4-FFF2-40B4-BE49-F238E27FC236}">
                <a16:creationId xmlns:a16="http://schemas.microsoft.com/office/drawing/2014/main" id="{6280939B-A112-44CA-9539-5BE45FB3B560}"/>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6. Petty LA, et al. Treatment of ASB in hospitalized patients. JAMA Intern Med. 2019.</a:t>
            </a:r>
          </a:p>
        </p:txBody>
      </p:sp>
      <p:sp>
        <p:nvSpPr>
          <p:cNvPr id="3" name="footer">
            <a:extLst xmlns:a="http://schemas.openxmlformats.org/drawingml/2006/main">
              <a:ext uri="{FF2B5EF4-FFF2-40B4-BE49-F238E27FC236}">
                <a16:creationId xmlns:a16="http://schemas.microsoft.com/office/drawing/2014/main" id="{FD81122E-8AFD-4497-A5BC-BB38C1CC6CF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0601DB11-C3A5-4B9F-96F9-1E159257DCF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23</a:t>
            </a:r>
          </a:p>
        </p:txBody>
      </p:sp>
    </p:spTree>
    <p:extLst>
      <p:ext uri="{BB962C8B-B14F-4D97-AF65-F5344CB8AC3E}">
        <p14:creationId xmlns:p14="http://schemas.microsoft.com/office/powerpoint/2010/main" val="1546923905"/>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70DB5ED-E9A0-4B1E-97FB-95F8396AFF4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further reading</a:t>
            </a:r>
          </a:p>
        </p:txBody>
      </p:sp>
      <p:sp>
        <p:nvSpPr>
          <p:cNvPr id="2" name="paragraph-0">
            <a:extLst xmlns:a="http://schemas.openxmlformats.org/drawingml/2006/main">
              <a:ext uri="{FF2B5EF4-FFF2-40B4-BE49-F238E27FC236}">
                <a16:creationId xmlns:a16="http://schemas.microsoft.com/office/drawing/2014/main" id="{0782CBF6-E062-4F96-9C47-D2BB1170BDC3}"/>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Teaching cases are fictional. Recommendations are paraphrased from the linked sources. Use current patient-specific guidance and local protocols when prescribing.</a:t>
            </a:r>
          </a:p>
        </p:txBody>
      </p:sp>
      <p:sp>
        <p:nvSpPr>
          <p:cNvPr id="3" name="footer">
            <a:extLst xmlns:a="http://schemas.openxmlformats.org/drawingml/2006/main">
              <a:ext uri="{FF2B5EF4-FFF2-40B4-BE49-F238E27FC236}">
                <a16:creationId xmlns:a16="http://schemas.microsoft.com/office/drawing/2014/main" id="{287518F9-F693-4EB4-8298-EE43CF0EDCA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15617E81-D2E8-4F90-82E4-BEF2F4715B8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24</a:t>
            </a:r>
          </a:p>
        </p:txBody>
      </p:sp>
    </p:spTree>
    <p:extLst>
      <p:ext uri="{BB962C8B-B14F-4D97-AF65-F5344CB8AC3E}">
        <p14:creationId xmlns:p14="http://schemas.microsoft.com/office/powerpoint/2010/main" val="157333578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2026-10-28T18:28:20.8880000Z</dcterms:created>
  <dcterms:modified xsi:type="dcterms:W3CDTF">2026-10-28T18:28:20.8880000Z</dcterms:modified>
</coreProperties>
</file>