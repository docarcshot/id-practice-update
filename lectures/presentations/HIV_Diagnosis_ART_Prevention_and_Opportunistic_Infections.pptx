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Override PartName="/ppt/slides/slide170.xml" ContentType="application/vnd.openxmlformats-officedocument.presentationml.slide+xml"/>
  <Override PartName="/ppt/notesSlides/notesSlide170.xml" ContentType="application/vnd.openxmlformats-officedocument.presentationml.notesSlide+xml"/>
  <Override PartName="/ppt/slides/slide171.xml" ContentType="application/vnd.openxmlformats-officedocument.presentationml.slide+xml"/>
  <Override PartName="/ppt/notesSlides/notesSlide171.xml" ContentType="application/vnd.openxmlformats-officedocument.presentationml.notesSlide+xml"/>
  <Override PartName="/ppt/slides/slide172.xml" ContentType="application/vnd.openxmlformats-officedocument.presentationml.slide+xml"/>
  <Override PartName="/ppt/notesSlides/notesSlide172.xml" ContentType="application/vnd.openxmlformats-officedocument.presentationml.notesSlide+xml"/>
  <Override PartName="/ppt/slides/slide173.xml" ContentType="application/vnd.openxmlformats-officedocument.presentationml.slide+xml"/>
  <Override PartName="/ppt/notesSlides/notesSlide173.xml" ContentType="application/vnd.openxmlformats-officedocument.presentationml.notesSlide+xml"/>
  <Override PartName="/ppt/slides/slide174.xml" ContentType="application/vnd.openxmlformats-officedocument.presentationml.slide+xml"/>
  <Override PartName="/ppt/notesSlides/notesSlide174.xml" ContentType="application/vnd.openxmlformats-officedocument.presentationml.notesSlide+xml"/>
  <Override PartName="/ppt/slides/slide175.xml" ContentType="application/vnd.openxmlformats-officedocument.presentationml.slide+xml"/>
  <Override PartName="/ppt/notesSlides/notesSlide175.xml" ContentType="application/vnd.openxmlformats-officedocument.presentationml.notesSlide+xml"/>
  <Override PartName="/ppt/slides/slide176.xml" ContentType="application/vnd.openxmlformats-officedocument.presentationml.slide+xml"/>
  <Override PartName="/ppt/notesSlides/notesSlide176.xml" ContentType="application/vnd.openxmlformats-officedocument.presentationml.notesSlide+xml"/>
  <Override PartName="/ppt/slides/slide177.xml" ContentType="application/vnd.openxmlformats-officedocument.presentationml.slide+xml"/>
  <Override PartName="/ppt/notesSlides/notesSlide177.xml" ContentType="application/vnd.openxmlformats-officedocument.presentationml.notesSlide+xml"/>
  <Override PartName="/ppt/slides/slide178.xml" ContentType="application/vnd.openxmlformats-officedocument.presentationml.slide+xml"/>
  <Override PartName="/ppt/notesSlides/notesSlide178.xml" ContentType="application/vnd.openxmlformats-officedocument.presentationml.notesSlide+xml"/>
  <Override PartName="/ppt/slides/slide179.xml" ContentType="application/vnd.openxmlformats-officedocument.presentationml.slide+xml"/>
  <Override PartName="/ppt/notesSlides/notesSlide179.xml" ContentType="application/vnd.openxmlformats-officedocument.presentationml.notesSlide+xml"/>
  <Override PartName="/ppt/slides/slide180.xml" ContentType="application/vnd.openxmlformats-officedocument.presentationml.slide+xml"/>
  <Override PartName="/ppt/notesSlides/notesSlide180.xml" ContentType="application/vnd.openxmlformats-officedocument.presentationml.notesSlide+xml"/>
  <Override PartName="/ppt/slides/slide181.xml" ContentType="application/vnd.openxmlformats-officedocument.presentationml.slide+xml"/>
  <Override PartName="/ppt/notesSlides/notesSlide181.xml" ContentType="application/vnd.openxmlformats-officedocument.presentationml.notesSlide+xml"/>
  <Override PartName="/ppt/slides/slide182.xml" ContentType="application/vnd.openxmlformats-officedocument.presentationml.slide+xml"/>
  <Override PartName="/ppt/notesSlides/notesSlide182.xml" ContentType="application/vnd.openxmlformats-officedocument.presentationml.notesSlide+xml"/>
  <Override PartName="/ppt/slides/slide183.xml" ContentType="application/vnd.openxmlformats-officedocument.presentationml.slide+xml"/>
  <Override PartName="/ppt/notesSlides/notesSlide183.xml" ContentType="application/vnd.openxmlformats-officedocument.presentationml.notesSlide+xml"/>
  <Override PartName="/ppt/slides/slide184.xml" ContentType="application/vnd.openxmlformats-officedocument.presentationml.slide+xml"/>
  <Override PartName="/ppt/notesSlides/notesSlide184.xml" ContentType="application/vnd.openxmlformats-officedocument.presentationml.notesSlide+xml"/>
  <Override PartName="/ppt/slides/slide185.xml" ContentType="application/vnd.openxmlformats-officedocument.presentationml.slide+xml"/>
  <Override PartName="/ppt/notesSlides/notesSlide185.xml" ContentType="application/vnd.openxmlformats-officedocument.presentationml.notesSlide+xml"/>
  <Override PartName="/ppt/slides/slide186.xml" ContentType="application/vnd.openxmlformats-officedocument.presentationml.slide+xml"/>
  <Override PartName="/ppt/notesSlides/notesSlide186.xml" ContentType="application/vnd.openxmlformats-officedocument.presentationml.notesSlide+xml"/>
  <Override PartName="/ppt/slides/slide187.xml" ContentType="application/vnd.openxmlformats-officedocument.presentationml.slide+xml"/>
  <Override PartName="/ppt/notesSlides/notesSlide187.xml" ContentType="application/vnd.openxmlformats-officedocument.presentationml.notesSlide+xml"/>
  <Override PartName="/ppt/slides/slide188.xml" ContentType="application/vnd.openxmlformats-officedocument.presentationml.slide+xml"/>
  <Override PartName="/ppt/notesSlides/notesSlide188.xml" ContentType="application/vnd.openxmlformats-officedocument.presentationml.notesSlide+xml"/>
  <Override PartName="/ppt/slides/slide189.xml" ContentType="application/vnd.openxmlformats-officedocument.presentationml.slide+xml"/>
  <Override PartName="/ppt/notesSlides/notesSlide189.xml" ContentType="application/vnd.openxmlformats-officedocument.presentationml.notesSlide+xml"/>
  <Override PartName="/ppt/slides/slide190.xml" ContentType="application/vnd.openxmlformats-officedocument.presentationml.slide+xml"/>
  <Override PartName="/ppt/notesSlides/notesSlide190.xml" ContentType="application/vnd.openxmlformats-officedocument.presentationml.notesSlide+xml"/>
  <Override PartName="/ppt/slides/slide191.xml" ContentType="application/vnd.openxmlformats-officedocument.presentationml.slide+xml"/>
  <Override PartName="/ppt/notesSlides/notesSlide191.xml" ContentType="application/vnd.openxmlformats-officedocument.presentationml.notesSlide+xml"/>
  <Override PartName="/ppt/slides/slide192.xml" ContentType="application/vnd.openxmlformats-officedocument.presentationml.slide+xml"/>
  <Override PartName="/ppt/notesSlides/notesSlide192.xml" ContentType="application/vnd.openxmlformats-officedocument.presentationml.notesSlide+xml"/>
  <Override PartName="/ppt/slides/slide193.xml" ContentType="application/vnd.openxmlformats-officedocument.presentationml.slide+xml"/>
  <Override PartName="/ppt/notesSlides/notesSlide193.xml" ContentType="application/vnd.openxmlformats-officedocument.presentationml.notesSlide+xml"/>
  <Override PartName="/ppt/slides/slide194.xml" ContentType="application/vnd.openxmlformats-officedocument.presentationml.slide+xml"/>
  <Override PartName="/ppt/notesSlides/notesSlide194.xml" ContentType="application/vnd.openxmlformats-officedocument.presentationml.notesSlide+xml"/>
  <Override PartName="/ppt/slides/slide195.xml" ContentType="application/vnd.openxmlformats-officedocument.presentationml.slide+xml"/>
  <Override PartName="/ppt/notesSlides/notesSlide195.xml" ContentType="application/vnd.openxmlformats-officedocument.presentationml.notesSlide+xml"/>
  <Override PartName="/ppt/slides/slide196.xml" ContentType="application/vnd.openxmlformats-officedocument.presentationml.slide+xml"/>
  <Override PartName="/ppt/notesSlides/notesSlide196.xml" ContentType="application/vnd.openxmlformats-officedocument.presentationml.notesSlide+xml"/>
  <Override PartName="/ppt/slides/slide197.xml" ContentType="application/vnd.openxmlformats-officedocument.presentationml.slide+xml"/>
  <Override PartName="/ppt/notesSlides/notesSlide197.xml" ContentType="application/vnd.openxmlformats-officedocument.presentationml.notesSlide+xml"/>
  <Override PartName="/ppt/slides/slide198.xml" ContentType="application/vnd.openxmlformats-officedocument.presentationml.slide+xml"/>
  <Override PartName="/ppt/notesSlides/notesSlide198.xml" ContentType="application/vnd.openxmlformats-officedocument.presentationml.notesSlide+xml"/>
  <Override PartName="/ppt/slides/slide199.xml" ContentType="application/vnd.openxmlformats-officedocument.presentationml.slide+xml"/>
  <Override PartName="/ppt/notesSlides/notesSlide199.xml" ContentType="application/vnd.openxmlformats-officedocument.presentationml.notesSlide+xml"/>
  <Override PartName="/ppt/slides/slide200.xml" ContentType="application/vnd.openxmlformats-officedocument.presentationml.slide+xml"/>
  <Override PartName="/ppt/notesSlides/notesSlide200.xml" ContentType="application/vnd.openxmlformats-officedocument.presentationml.notesSlide+xml"/>
  <Override PartName="/ppt/slides/slide201.xml" ContentType="application/vnd.openxmlformats-officedocument.presentationml.slide+xml"/>
  <Override PartName="/ppt/notesSlides/notesSlide201.xml" ContentType="application/vnd.openxmlformats-officedocument.presentationml.notesSlide+xml"/>
  <Override PartName="/ppt/slides/slide202.xml" ContentType="application/vnd.openxmlformats-officedocument.presentationml.slide+xml"/>
  <Override PartName="/ppt/notesSlides/notesSlide202.xml" ContentType="application/vnd.openxmlformats-officedocument.presentationml.notesSlide+xml"/>
  <Override PartName="/ppt/slides/slide203.xml" ContentType="application/vnd.openxmlformats-officedocument.presentationml.slide+xml"/>
  <Override PartName="/ppt/notesSlides/notesSlide203.xml" ContentType="application/vnd.openxmlformats-officedocument.presentationml.notesSlide+xml"/>
  <Override PartName="/ppt/slides/slide204.xml" ContentType="application/vnd.openxmlformats-officedocument.presentationml.slide+xml"/>
  <Override PartName="/ppt/notesSlides/notesSlide204.xml" ContentType="application/vnd.openxmlformats-officedocument.presentationml.notesSlide+xml"/>
  <Override PartName="/ppt/slides/slide205.xml" ContentType="application/vnd.openxmlformats-officedocument.presentationml.slide+xml"/>
  <Override PartName="/ppt/notesSlides/notesSlide205.xml" ContentType="application/vnd.openxmlformats-officedocument.presentationml.notesSlide+xml"/>
  <Override PartName="/ppt/slides/slide206.xml" ContentType="application/vnd.openxmlformats-officedocument.presentationml.slide+xml"/>
  <Override PartName="/ppt/notesSlides/notesSlide206.xml" ContentType="application/vnd.openxmlformats-officedocument.presentationml.notesSlide+xml"/>
  <Override PartName="/ppt/slides/slide207.xml" ContentType="application/vnd.openxmlformats-officedocument.presentationml.slide+xml"/>
  <Override PartName="/ppt/notesSlides/notesSlide207.xml" ContentType="application/vnd.openxmlformats-officedocument.presentationml.notesSlide+xml"/>
  <Override PartName="/ppt/slides/slide208.xml" ContentType="application/vnd.openxmlformats-officedocument.presentationml.slide+xml"/>
  <Override PartName="/ppt/notesSlides/notesSlide208.xml" ContentType="application/vnd.openxmlformats-officedocument.presentationml.notesSlide+xml"/>
  <Override PartName="/ppt/slides/slide209.xml" ContentType="application/vnd.openxmlformats-officedocument.presentationml.slide+xml"/>
  <Override PartName="/ppt/notesSlides/notesSlide209.xml" ContentType="application/vnd.openxmlformats-officedocument.presentationml.notesSlide+xml"/>
  <Override PartName="/ppt/slides/slide210.xml" ContentType="application/vnd.openxmlformats-officedocument.presentationml.slide+xml"/>
  <Override PartName="/ppt/notesSlides/notesSlide210.xml" ContentType="application/vnd.openxmlformats-officedocument.presentationml.notesSlide+xml"/>
  <Override PartName="/ppt/slides/slide211.xml" ContentType="application/vnd.openxmlformats-officedocument.presentationml.slide+xml"/>
  <Override PartName="/ppt/notesSlides/notesSlide211.xml" ContentType="application/vnd.openxmlformats-officedocument.presentationml.notesSlide+xml"/>
  <Override PartName="/ppt/slides/slide212.xml" ContentType="application/vnd.openxmlformats-officedocument.presentationml.slide+xml"/>
  <Override PartName="/ppt/notesSlides/notesSlide212.xml" ContentType="application/vnd.openxmlformats-officedocument.presentationml.notesSlide+xml"/>
  <Override PartName="/ppt/slides/slide213.xml" ContentType="application/vnd.openxmlformats-officedocument.presentationml.slide+xml"/>
  <Override PartName="/ppt/notesSlides/notesSlide213.xml" ContentType="application/vnd.openxmlformats-officedocument.presentationml.notesSlide+xml"/>
  <Override PartName="/ppt/slides/slide214.xml" ContentType="application/vnd.openxmlformats-officedocument.presentationml.slide+xml"/>
  <Override PartName="/ppt/notesSlides/notesSlide214.xml" ContentType="application/vnd.openxmlformats-officedocument.presentationml.notesSlide+xml"/>
  <Override PartName="/ppt/slides/slide215.xml" ContentType="application/vnd.openxmlformats-officedocument.presentationml.slide+xml"/>
  <Override PartName="/ppt/notesSlides/notesSlide215.xml" ContentType="application/vnd.openxmlformats-officedocument.presentationml.notesSlide+xml"/>
  <Override PartName="/ppt/slides/slide216.xml" ContentType="application/vnd.openxmlformats-officedocument.presentationml.slide+xml"/>
  <Override PartName="/ppt/notesSlides/notesSlide216.xml" ContentType="application/vnd.openxmlformats-officedocument.presentationml.notesSlide+xml"/>
  <Override PartName="/ppt/slides/slide217.xml" ContentType="application/vnd.openxmlformats-officedocument.presentationml.slide+xml"/>
  <Override PartName="/ppt/notesSlides/notesSlide217.xml" ContentType="application/vnd.openxmlformats-officedocument.presentationml.notesSlide+xml"/>
  <Override PartName="/ppt/slides/slide218.xml" ContentType="application/vnd.openxmlformats-officedocument.presentationml.slide+xml"/>
  <Override PartName="/ppt/notesSlides/notesSlide218.xml" ContentType="application/vnd.openxmlformats-officedocument.presentationml.notesSlide+xml"/>
  <Override PartName="/ppt/slides/slide219.xml" ContentType="application/vnd.openxmlformats-officedocument.presentationml.slide+xml"/>
  <Override PartName="/ppt/notesSlides/notesSlide219.xml" ContentType="application/vnd.openxmlformats-officedocument.presentationml.notesSlide+xml"/>
  <Override PartName="/ppt/slides/slide220.xml" ContentType="application/vnd.openxmlformats-officedocument.presentationml.slide+xml"/>
  <Override PartName="/ppt/notesSlides/notesSlide220.xml" ContentType="application/vnd.openxmlformats-officedocument.presentationml.notesSlide+xml"/>
  <Override PartName="/ppt/slides/slide221.xml" ContentType="application/vnd.openxmlformats-officedocument.presentationml.slide+xml"/>
  <Override PartName="/ppt/notesSlides/notesSlide221.xml" ContentType="application/vnd.openxmlformats-officedocument.presentationml.notesSlide+xml"/>
  <Override PartName="/ppt/slides/slide222.xml" ContentType="application/vnd.openxmlformats-officedocument.presentationml.slide+xml"/>
  <Override PartName="/ppt/notesSlides/notesSlide222.xml" ContentType="application/vnd.openxmlformats-officedocument.presentationml.notesSlide+xml"/>
  <Override PartName="/ppt/slides/slide223.xml" ContentType="application/vnd.openxmlformats-officedocument.presentationml.slide+xml"/>
  <Override PartName="/ppt/notesSlides/notesSlide223.xml" ContentType="application/vnd.openxmlformats-officedocument.presentationml.notesSlide+xml"/>
  <Override PartName="/ppt/slides/slide224.xml" ContentType="application/vnd.openxmlformats-officedocument.presentationml.slide+xml"/>
  <Override PartName="/ppt/notesSlides/notesSlide224.xml" ContentType="application/vnd.openxmlformats-officedocument.presentationml.notesSlide+xml"/>
  <Override PartName="/ppt/slides/slide225.xml" ContentType="application/vnd.openxmlformats-officedocument.presentationml.slide+xml"/>
  <Override PartName="/ppt/notesSlides/notesSlide225.xml" ContentType="application/vnd.openxmlformats-officedocument.presentationml.notesSlide+xml"/>
  <Override PartName="/ppt/slides/slide226.xml" ContentType="application/vnd.openxmlformats-officedocument.presentationml.slide+xml"/>
  <Override PartName="/ppt/notesSlides/notesSlide226.xml" ContentType="application/vnd.openxmlformats-officedocument.presentationml.notesSlide+xml"/>
  <Override PartName="/ppt/slides/slide227.xml" ContentType="application/vnd.openxmlformats-officedocument.presentationml.slide+xml"/>
  <Override PartName="/ppt/notesSlides/notesSlide227.xml" ContentType="application/vnd.openxmlformats-officedocument.presentationml.notesSlide+xml"/>
  <Override PartName="/ppt/slides/slide228.xml" ContentType="application/vnd.openxmlformats-officedocument.presentationml.slide+xml"/>
  <Override PartName="/ppt/notesSlides/notesSlide228.xml" ContentType="application/vnd.openxmlformats-officedocument.presentationml.notesSlide+xml"/>
  <Override PartName="/ppt/slides/slide229.xml" ContentType="application/vnd.openxmlformats-officedocument.presentationml.slide+xml"/>
  <Override PartName="/ppt/notesSlides/notesSlide229.xml" ContentType="application/vnd.openxmlformats-officedocument.presentationml.notesSlide+xml"/>
  <Override PartName="/ppt/slides/slide230.xml" ContentType="application/vnd.openxmlformats-officedocument.presentationml.slide+xml"/>
  <Override PartName="/ppt/notesSlides/notesSlide2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22c6d0388d4f1a" /><Relationship Type="http://schemas.openxmlformats.org/officeDocument/2006/relationships/extended-properties" Target="/docProps/app.xml" Id="R08abcb5c34864f96" /><Relationship Type="http://schemas.openxmlformats.org/officeDocument/2006/relationships/officeDocument" Target="/ppt/presentation.xml" Id="R676c96cb48254fe1" /></Relationships>
</file>

<file path=ppt/presentation.xml><?xml version="1.0" encoding="utf-8"?>
<p:presentation xmlns:p="http://schemas.openxmlformats.org/presentationml/2006/main">
  <p:sldMasterIdLst>
    <p:sldMasterId xmlns:r="http://schemas.openxmlformats.org/officeDocument/2006/relationships" id="2147483648" r:id="R51713b69ec144602"/>
  </p:sldMasterIdLst>
  <p:notesMasterIdLst>
    <p:notesMasterId xmlns:r="http://schemas.openxmlformats.org/officeDocument/2006/relationships" r:id="R36420201c8e5481d"/>
  </p:notesMasterIdLst>
  <p:sldIdLst>
    <p:sldId xmlns:r="http://schemas.openxmlformats.org/officeDocument/2006/relationships" id="256" r:id="Reeb3718fe4eb4031"/>
    <p:sldId xmlns:r="http://schemas.openxmlformats.org/officeDocument/2006/relationships" id="257" r:id="R545b03c790574aea"/>
    <p:sldId xmlns:r="http://schemas.openxmlformats.org/officeDocument/2006/relationships" id="258" r:id="Rdf6e8d1c6bf9496a"/>
    <p:sldId xmlns:r="http://schemas.openxmlformats.org/officeDocument/2006/relationships" id="259" r:id="Rbe0e5cdc24404be6"/>
    <p:sldId xmlns:r="http://schemas.openxmlformats.org/officeDocument/2006/relationships" id="260" r:id="R545a99fb127144c7"/>
    <p:sldId xmlns:r="http://schemas.openxmlformats.org/officeDocument/2006/relationships" id="261" r:id="R68c99a10c89d4df1"/>
    <p:sldId xmlns:r="http://schemas.openxmlformats.org/officeDocument/2006/relationships" id="262" r:id="Rd11e94975be84e38"/>
    <p:sldId xmlns:r="http://schemas.openxmlformats.org/officeDocument/2006/relationships" id="263" r:id="Reb72303ce49c4837"/>
    <p:sldId xmlns:r="http://schemas.openxmlformats.org/officeDocument/2006/relationships" id="264" r:id="R161128c5524e493e"/>
    <p:sldId xmlns:r="http://schemas.openxmlformats.org/officeDocument/2006/relationships" id="265" r:id="R2ee6867a5e994cdb"/>
    <p:sldId xmlns:r="http://schemas.openxmlformats.org/officeDocument/2006/relationships" id="266" r:id="Ra864cd40d9694304"/>
    <p:sldId xmlns:r="http://schemas.openxmlformats.org/officeDocument/2006/relationships" id="267" r:id="R4f47e783389a4d6b"/>
    <p:sldId xmlns:r="http://schemas.openxmlformats.org/officeDocument/2006/relationships" id="268" r:id="Rc91c1d9a54904ef0"/>
    <p:sldId xmlns:r="http://schemas.openxmlformats.org/officeDocument/2006/relationships" id="269" r:id="R25db9c7524284b18"/>
    <p:sldId xmlns:r="http://schemas.openxmlformats.org/officeDocument/2006/relationships" id="270" r:id="Rcd234c3c535046aa"/>
    <p:sldId xmlns:r="http://schemas.openxmlformats.org/officeDocument/2006/relationships" id="271" r:id="R9116e9b31c2148f5"/>
    <p:sldId xmlns:r="http://schemas.openxmlformats.org/officeDocument/2006/relationships" id="272" r:id="Ref9296c56c164e45"/>
    <p:sldId xmlns:r="http://schemas.openxmlformats.org/officeDocument/2006/relationships" id="273" r:id="Rfa6754f988b94473"/>
    <p:sldId xmlns:r="http://schemas.openxmlformats.org/officeDocument/2006/relationships" id="274" r:id="Redf178cc2c2947d3"/>
    <p:sldId xmlns:r="http://schemas.openxmlformats.org/officeDocument/2006/relationships" id="275" r:id="R0d45afc5e5d84c2f"/>
    <p:sldId xmlns:r="http://schemas.openxmlformats.org/officeDocument/2006/relationships" id="276" r:id="R51ea0d054b2a4b33"/>
    <p:sldId xmlns:r="http://schemas.openxmlformats.org/officeDocument/2006/relationships" id="277" r:id="Rf15abca13fb44341"/>
    <p:sldId xmlns:r="http://schemas.openxmlformats.org/officeDocument/2006/relationships" id="278" r:id="Rbdedc4ed44e548a7"/>
    <p:sldId xmlns:r="http://schemas.openxmlformats.org/officeDocument/2006/relationships" id="279" r:id="R34852942b5a94b32"/>
    <p:sldId xmlns:r="http://schemas.openxmlformats.org/officeDocument/2006/relationships" id="280" r:id="Rd1c2b3b2edf24144"/>
    <p:sldId xmlns:r="http://schemas.openxmlformats.org/officeDocument/2006/relationships" id="281" r:id="R0cde90ffd2df4d0e"/>
    <p:sldId xmlns:r="http://schemas.openxmlformats.org/officeDocument/2006/relationships" id="282" r:id="Rf981d5bb7faf40fd"/>
    <p:sldId xmlns:r="http://schemas.openxmlformats.org/officeDocument/2006/relationships" id="283" r:id="R836a934d15d64bef"/>
    <p:sldId xmlns:r="http://schemas.openxmlformats.org/officeDocument/2006/relationships" id="284" r:id="Rb0881970c57749b9"/>
    <p:sldId xmlns:r="http://schemas.openxmlformats.org/officeDocument/2006/relationships" id="285" r:id="R3aaa0778d9d7493d"/>
    <p:sldId xmlns:r="http://schemas.openxmlformats.org/officeDocument/2006/relationships" id="286" r:id="R6bbe001a52a74356"/>
    <p:sldId xmlns:r="http://schemas.openxmlformats.org/officeDocument/2006/relationships" id="287" r:id="R86574a9cb4bf4340"/>
    <p:sldId xmlns:r="http://schemas.openxmlformats.org/officeDocument/2006/relationships" id="288" r:id="R780d24273c624a5d"/>
    <p:sldId xmlns:r="http://schemas.openxmlformats.org/officeDocument/2006/relationships" id="289" r:id="R617a011eff804fc9"/>
    <p:sldId xmlns:r="http://schemas.openxmlformats.org/officeDocument/2006/relationships" id="290" r:id="R872cee96a44e4474"/>
    <p:sldId xmlns:r="http://schemas.openxmlformats.org/officeDocument/2006/relationships" id="291" r:id="R9183afec62834bd8"/>
    <p:sldId xmlns:r="http://schemas.openxmlformats.org/officeDocument/2006/relationships" id="292" r:id="Re9f414870ccc48c8"/>
    <p:sldId xmlns:r="http://schemas.openxmlformats.org/officeDocument/2006/relationships" id="293" r:id="Rf2b0a1f3d3744955"/>
    <p:sldId xmlns:r="http://schemas.openxmlformats.org/officeDocument/2006/relationships" id="294" r:id="R99b99733def147a5"/>
    <p:sldId xmlns:r="http://schemas.openxmlformats.org/officeDocument/2006/relationships" id="295" r:id="R5659be8322ea4c89"/>
    <p:sldId xmlns:r="http://schemas.openxmlformats.org/officeDocument/2006/relationships" id="296" r:id="R1580ad3cced94a60"/>
    <p:sldId xmlns:r="http://schemas.openxmlformats.org/officeDocument/2006/relationships" id="297" r:id="R0bf47080d09c48ca"/>
    <p:sldId xmlns:r="http://schemas.openxmlformats.org/officeDocument/2006/relationships" id="298" r:id="R54f58774b602434b"/>
    <p:sldId xmlns:r="http://schemas.openxmlformats.org/officeDocument/2006/relationships" id="299" r:id="R9ae30c1ec6974975"/>
    <p:sldId xmlns:r="http://schemas.openxmlformats.org/officeDocument/2006/relationships" id="300" r:id="Rdd5702f339614af0"/>
    <p:sldId xmlns:r="http://schemas.openxmlformats.org/officeDocument/2006/relationships" id="301" r:id="R2741650f6e214f57"/>
    <p:sldId xmlns:r="http://schemas.openxmlformats.org/officeDocument/2006/relationships" id="302" r:id="R80b0679614cf4b58"/>
    <p:sldId xmlns:r="http://schemas.openxmlformats.org/officeDocument/2006/relationships" id="303" r:id="Rdc27ae13d8fd4279"/>
    <p:sldId xmlns:r="http://schemas.openxmlformats.org/officeDocument/2006/relationships" id="304" r:id="Rdbfce51e7a16482f"/>
    <p:sldId xmlns:r="http://schemas.openxmlformats.org/officeDocument/2006/relationships" id="305" r:id="Rf5ecce22f9c1450a"/>
    <p:sldId xmlns:r="http://schemas.openxmlformats.org/officeDocument/2006/relationships" id="306" r:id="Rb33f3f0c3e9a49b5"/>
    <p:sldId xmlns:r="http://schemas.openxmlformats.org/officeDocument/2006/relationships" id="307" r:id="Ra82c39b868174ee3"/>
    <p:sldId xmlns:r="http://schemas.openxmlformats.org/officeDocument/2006/relationships" id="308" r:id="R73cfb91b4b0d4975"/>
    <p:sldId xmlns:r="http://schemas.openxmlformats.org/officeDocument/2006/relationships" id="309" r:id="Rc515f83e6ed54fb7"/>
    <p:sldId xmlns:r="http://schemas.openxmlformats.org/officeDocument/2006/relationships" id="310" r:id="Re0144fa6d0ed48ab"/>
    <p:sldId xmlns:r="http://schemas.openxmlformats.org/officeDocument/2006/relationships" id="311" r:id="R73e7d21bd0984341"/>
    <p:sldId xmlns:r="http://schemas.openxmlformats.org/officeDocument/2006/relationships" id="312" r:id="Rbef63ee64f9843b7"/>
    <p:sldId xmlns:r="http://schemas.openxmlformats.org/officeDocument/2006/relationships" id="313" r:id="R4616bc08782343b0"/>
    <p:sldId xmlns:r="http://schemas.openxmlformats.org/officeDocument/2006/relationships" id="314" r:id="Rfe1627718b89496b"/>
    <p:sldId xmlns:r="http://schemas.openxmlformats.org/officeDocument/2006/relationships" id="315" r:id="R319cb927d5b545a1"/>
    <p:sldId xmlns:r="http://schemas.openxmlformats.org/officeDocument/2006/relationships" id="316" r:id="Rf84060f798f8443e"/>
    <p:sldId xmlns:r="http://schemas.openxmlformats.org/officeDocument/2006/relationships" id="317" r:id="R880437d2d5d046e4"/>
    <p:sldId xmlns:r="http://schemas.openxmlformats.org/officeDocument/2006/relationships" id="318" r:id="R1f6ea46e9c094b48"/>
    <p:sldId xmlns:r="http://schemas.openxmlformats.org/officeDocument/2006/relationships" id="319" r:id="Rb0ee10ecbc59477c"/>
    <p:sldId xmlns:r="http://schemas.openxmlformats.org/officeDocument/2006/relationships" id="320" r:id="Racb61fb11dc64b1b"/>
    <p:sldId xmlns:r="http://schemas.openxmlformats.org/officeDocument/2006/relationships" id="321" r:id="R4670abb8eef342b8"/>
    <p:sldId xmlns:r="http://schemas.openxmlformats.org/officeDocument/2006/relationships" id="322" r:id="R97b956d05ca742b2"/>
    <p:sldId xmlns:r="http://schemas.openxmlformats.org/officeDocument/2006/relationships" id="323" r:id="Rd26b62ced1384a05"/>
    <p:sldId xmlns:r="http://schemas.openxmlformats.org/officeDocument/2006/relationships" id="324" r:id="R69f6b053dfca402c"/>
    <p:sldId xmlns:r="http://schemas.openxmlformats.org/officeDocument/2006/relationships" id="325" r:id="R9f1391c20d8b42c4"/>
    <p:sldId xmlns:r="http://schemas.openxmlformats.org/officeDocument/2006/relationships" id="326" r:id="Re2474f92b86a4687"/>
    <p:sldId xmlns:r="http://schemas.openxmlformats.org/officeDocument/2006/relationships" id="327" r:id="R85d3b53b20b94760"/>
    <p:sldId xmlns:r="http://schemas.openxmlformats.org/officeDocument/2006/relationships" id="328" r:id="R9a3848a90a7d4681"/>
    <p:sldId xmlns:r="http://schemas.openxmlformats.org/officeDocument/2006/relationships" id="329" r:id="Rd9bf2530d2dc44a8"/>
    <p:sldId xmlns:r="http://schemas.openxmlformats.org/officeDocument/2006/relationships" id="330" r:id="Re2abf659c1be470f"/>
    <p:sldId xmlns:r="http://schemas.openxmlformats.org/officeDocument/2006/relationships" id="331" r:id="R9890c804e36a4f39"/>
    <p:sldId xmlns:r="http://schemas.openxmlformats.org/officeDocument/2006/relationships" id="332" r:id="Raed2d5580e3d442e"/>
    <p:sldId xmlns:r="http://schemas.openxmlformats.org/officeDocument/2006/relationships" id="333" r:id="Rf7fa7c33f46542e5"/>
    <p:sldId xmlns:r="http://schemas.openxmlformats.org/officeDocument/2006/relationships" id="334" r:id="Rd6f68d9c7e1b4295"/>
    <p:sldId xmlns:r="http://schemas.openxmlformats.org/officeDocument/2006/relationships" id="335" r:id="R18014740f1bd407c"/>
    <p:sldId xmlns:r="http://schemas.openxmlformats.org/officeDocument/2006/relationships" id="336" r:id="Rf8ae05541220403e"/>
    <p:sldId xmlns:r="http://schemas.openxmlformats.org/officeDocument/2006/relationships" id="337" r:id="R4402b3388a074fef"/>
    <p:sldId xmlns:r="http://schemas.openxmlformats.org/officeDocument/2006/relationships" id="338" r:id="R81814986c2ef4f7b"/>
    <p:sldId xmlns:r="http://schemas.openxmlformats.org/officeDocument/2006/relationships" id="339" r:id="R9729b5c025374afa"/>
    <p:sldId xmlns:r="http://schemas.openxmlformats.org/officeDocument/2006/relationships" id="340" r:id="R439100d386984971"/>
    <p:sldId xmlns:r="http://schemas.openxmlformats.org/officeDocument/2006/relationships" id="341" r:id="Rce6c751f149f474e"/>
    <p:sldId xmlns:r="http://schemas.openxmlformats.org/officeDocument/2006/relationships" id="342" r:id="Rbfe34a37047a4cea"/>
    <p:sldId xmlns:r="http://schemas.openxmlformats.org/officeDocument/2006/relationships" id="343" r:id="Rc1bdd1d8f6af4190"/>
    <p:sldId xmlns:r="http://schemas.openxmlformats.org/officeDocument/2006/relationships" id="344" r:id="R04381ef272ff4103"/>
    <p:sldId xmlns:r="http://schemas.openxmlformats.org/officeDocument/2006/relationships" id="345" r:id="Rc41cd64a1ab8403d"/>
    <p:sldId xmlns:r="http://schemas.openxmlformats.org/officeDocument/2006/relationships" id="346" r:id="R7f84f8075cbb44d8"/>
    <p:sldId xmlns:r="http://schemas.openxmlformats.org/officeDocument/2006/relationships" id="347" r:id="Rcedb01f5e33c4587"/>
    <p:sldId xmlns:r="http://schemas.openxmlformats.org/officeDocument/2006/relationships" id="348" r:id="R5a85a652fe6f4b81"/>
    <p:sldId xmlns:r="http://schemas.openxmlformats.org/officeDocument/2006/relationships" id="349" r:id="R9475692bfddf4093"/>
    <p:sldId xmlns:r="http://schemas.openxmlformats.org/officeDocument/2006/relationships" id="350" r:id="R72794d1cc3d7463d"/>
    <p:sldId xmlns:r="http://schemas.openxmlformats.org/officeDocument/2006/relationships" id="351" r:id="R57029e01ae8a4204"/>
    <p:sldId xmlns:r="http://schemas.openxmlformats.org/officeDocument/2006/relationships" id="352" r:id="R67a768b7b1754b5a"/>
    <p:sldId xmlns:r="http://schemas.openxmlformats.org/officeDocument/2006/relationships" id="353" r:id="R3dd486c92fb04e87"/>
    <p:sldId xmlns:r="http://schemas.openxmlformats.org/officeDocument/2006/relationships" id="354" r:id="Ra286782a85ae4627"/>
    <p:sldId xmlns:r="http://schemas.openxmlformats.org/officeDocument/2006/relationships" id="355" r:id="Rf4183862dddd4c25"/>
    <p:sldId xmlns:r="http://schemas.openxmlformats.org/officeDocument/2006/relationships" id="356" r:id="Rc825868b3f1c40fc"/>
    <p:sldId xmlns:r="http://schemas.openxmlformats.org/officeDocument/2006/relationships" id="357" r:id="R424056c8f5b64115"/>
    <p:sldId xmlns:r="http://schemas.openxmlformats.org/officeDocument/2006/relationships" id="358" r:id="R1935ae114f92484a"/>
    <p:sldId xmlns:r="http://schemas.openxmlformats.org/officeDocument/2006/relationships" id="359" r:id="Rde0616bb6c5146b2"/>
    <p:sldId xmlns:r="http://schemas.openxmlformats.org/officeDocument/2006/relationships" id="360" r:id="R602a3c517b374444"/>
    <p:sldId xmlns:r="http://schemas.openxmlformats.org/officeDocument/2006/relationships" id="361" r:id="R7464df7211f94a1d"/>
    <p:sldId xmlns:r="http://schemas.openxmlformats.org/officeDocument/2006/relationships" id="362" r:id="Re8c93d6180c840fb"/>
    <p:sldId xmlns:r="http://schemas.openxmlformats.org/officeDocument/2006/relationships" id="363" r:id="R93d303c820e240ea"/>
    <p:sldId xmlns:r="http://schemas.openxmlformats.org/officeDocument/2006/relationships" id="364" r:id="Re8bc74387b874962"/>
    <p:sldId xmlns:r="http://schemas.openxmlformats.org/officeDocument/2006/relationships" id="365" r:id="R08787e6dc3154f57"/>
    <p:sldId xmlns:r="http://schemas.openxmlformats.org/officeDocument/2006/relationships" id="366" r:id="R71d3bc58a4aa4593"/>
    <p:sldId xmlns:r="http://schemas.openxmlformats.org/officeDocument/2006/relationships" id="367" r:id="R3c0356db3cfd4e14"/>
    <p:sldId xmlns:r="http://schemas.openxmlformats.org/officeDocument/2006/relationships" id="368" r:id="R208179f62c4a4857"/>
    <p:sldId xmlns:r="http://schemas.openxmlformats.org/officeDocument/2006/relationships" id="369" r:id="R73c2def73d9b4351"/>
    <p:sldId xmlns:r="http://schemas.openxmlformats.org/officeDocument/2006/relationships" id="370" r:id="R10796cff442242d0"/>
    <p:sldId xmlns:r="http://schemas.openxmlformats.org/officeDocument/2006/relationships" id="371" r:id="R6372654c157f42f9"/>
    <p:sldId xmlns:r="http://schemas.openxmlformats.org/officeDocument/2006/relationships" id="372" r:id="Rccbfc898928c4442"/>
    <p:sldId xmlns:r="http://schemas.openxmlformats.org/officeDocument/2006/relationships" id="373" r:id="R38298d6f282e481f"/>
    <p:sldId xmlns:r="http://schemas.openxmlformats.org/officeDocument/2006/relationships" id="374" r:id="R09831d9fd3164575"/>
    <p:sldId xmlns:r="http://schemas.openxmlformats.org/officeDocument/2006/relationships" id="375" r:id="R442e663ad2664535"/>
    <p:sldId xmlns:r="http://schemas.openxmlformats.org/officeDocument/2006/relationships" id="376" r:id="R3a5101e918d24f5b"/>
    <p:sldId xmlns:r="http://schemas.openxmlformats.org/officeDocument/2006/relationships" id="377" r:id="R644f821eac80467f"/>
    <p:sldId xmlns:r="http://schemas.openxmlformats.org/officeDocument/2006/relationships" id="378" r:id="R44e917c5cf5048b4"/>
    <p:sldId xmlns:r="http://schemas.openxmlformats.org/officeDocument/2006/relationships" id="379" r:id="R8ba59dccc7f54653"/>
    <p:sldId xmlns:r="http://schemas.openxmlformats.org/officeDocument/2006/relationships" id="380" r:id="R942a50f4c1d24b63"/>
    <p:sldId xmlns:r="http://schemas.openxmlformats.org/officeDocument/2006/relationships" id="381" r:id="R54cb2be94aee426f"/>
    <p:sldId xmlns:r="http://schemas.openxmlformats.org/officeDocument/2006/relationships" id="382" r:id="Rbcfb7e916544445d"/>
    <p:sldId xmlns:r="http://schemas.openxmlformats.org/officeDocument/2006/relationships" id="383" r:id="Rf1cb61eac935488b"/>
    <p:sldId xmlns:r="http://schemas.openxmlformats.org/officeDocument/2006/relationships" id="384" r:id="Rbb2e3bb699e44442"/>
    <p:sldId xmlns:r="http://schemas.openxmlformats.org/officeDocument/2006/relationships" id="385" r:id="R0ff8b0ebcb234d48"/>
    <p:sldId xmlns:r="http://schemas.openxmlformats.org/officeDocument/2006/relationships" id="386" r:id="Rd2bfe5b9c7324e27"/>
    <p:sldId xmlns:r="http://schemas.openxmlformats.org/officeDocument/2006/relationships" id="387" r:id="R8c5b13ed41ba47dd"/>
    <p:sldId xmlns:r="http://schemas.openxmlformats.org/officeDocument/2006/relationships" id="388" r:id="Rf48e6d35659e4dbe"/>
    <p:sldId xmlns:r="http://schemas.openxmlformats.org/officeDocument/2006/relationships" id="389" r:id="R59028f460f7d4cb1"/>
    <p:sldId xmlns:r="http://schemas.openxmlformats.org/officeDocument/2006/relationships" id="390" r:id="R908d0fbd7ee242cd"/>
    <p:sldId xmlns:r="http://schemas.openxmlformats.org/officeDocument/2006/relationships" id="391" r:id="Rc8608c2474ea4e20"/>
    <p:sldId xmlns:r="http://schemas.openxmlformats.org/officeDocument/2006/relationships" id="392" r:id="R97e1e8b770b24efc"/>
    <p:sldId xmlns:r="http://schemas.openxmlformats.org/officeDocument/2006/relationships" id="393" r:id="Rae87b6e0f6504073"/>
    <p:sldId xmlns:r="http://schemas.openxmlformats.org/officeDocument/2006/relationships" id="394" r:id="Rd4f24a3a5f08453f"/>
    <p:sldId xmlns:r="http://schemas.openxmlformats.org/officeDocument/2006/relationships" id="395" r:id="Reac8a36684854a1d"/>
    <p:sldId xmlns:r="http://schemas.openxmlformats.org/officeDocument/2006/relationships" id="396" r:id="Ra7a543b977a94971"/>
    <p:sldId xmlns:r="http://schemas.openxmlformats.org/officeDocument/2006/relationships" id="397" r:id="R842d5fc1dcb043e4"/>
    <p:sldId xmlns:r="http://schemas.openxmlformats.org/officeDocument/2006/relationships" id="398" r:id="R725c410e319a4f80"/>
    <p:sldId xmlns:r="http://schemas.openxmlformats.org/officeDocument/2006/relationships" id="399" r:id="R4c40e61d6c674df9"/>
    <p:sldId xmlns:r="http://schemas.openxmlformats.org/officeDocument/2006/relationships" id="400" r:id="R6395a1674fca4cf3"/>
    <p:sldId xmlns:r="http://schemas.openxmlformats.org/officeDocument/2006/relationships" id="401" r:id="R3658f8c70b5148f8"/>
    <p:sldId xmlns:r="http://schemas.openxmlformats.org/officeDocument/2006/relationships" id="402" r:id="R7ee23372fc4c4ae7"/>
    <p:sldId xmlns:r="http://schemas.openxmlformats.org/officeDocument/2006/relationships" id="403" r:id="Rc269c6daaa674f93"/>
    <p:sldId xmlns:r="http://schemas.openxmlformats.org/officeDocument/2006/relationships" id="404" r:id="R72319b64471b4276"/>
    <p:sldId xmlns:r="http://schemas.openxmlformats.org/officeDocument/2006/relationships" id="405" r:id="R7f2a47d0dce64e58"/>
    <p:sldId xmlns:r="http://schemas.openxmlformats.org/officeDocument/2006/relationships" id="406" r:id="R1b8e5d5443154234"/>
    <p:sldId xmlns:r="http://schemas.openxmlformats.org/officeDocument/2006/relationships" id="407" r:id="R1f3964fec0e94b4b"/>
    <p:sldId xmlns:r="http://schemas.openxmlformats.org/officeDocument/2006/relationships" id="408" r:id="Re2098d0aabc74114"/>
    <p:sldId xmlns:r="http://schemas.openxmlformats.org/officeDocument/2006/relationships" id="409" r:id="R5b6b4042e114491f"/>
    <p:sldId xmlns:r="http://schemas.openxmlformats.org/officeDocument/2006/relationships" id="410" r:id="R7fd33f83b0984a6d"/>
    <p:sldId xmlns:r="http://schemas.openxmlformats.org/officeDocument/2006/relationships" id="411" r:id="R0f4d89dcfbf74620"/>
    <p:sldId xmlns:r="http://schemas.openxmlformats.org/officeDocument/2006/relationships" id="412" r:id="Rc64fd3e65081497e"/>
    <p:sldId xmlns:r="http://schemas.openxmlformats.org/officeDocument/2006/relationships" id="413" r:id="Ra678f10ff82a4330"/>
    <p:sldId xmlns:r="http://schemas.openxmlformats.org/officeDocument/2006/relationships" id="414" r:id="R70185702eeda4346"/>
    <p:sldId xmlns:r="http://schemas.openxmlformats.org/officeDocument/2006/relationships" id="415" r:id="Rcb12d5632dba418e"/>
    <p:sldId xmlns:r="http://schemas.openxmlformats.org/officeDocument/2006/relationships" id="416" r:id="Rd40eee30203f460d"/>
    <p:sldId xmlns:r="http://schemas.openxmlformats.org/officeDocument/2006/relationships" id="417" r:id="R463435603fd249c4"/>
    <p:sldId xmlns:r="http://schemas.openxmlformats.org/officeDocument/2006/relationships" id="418" r:id="Rd6a4b3782bf3454f"/>
    <p:sldId xmlns:r="http://schemas.openxmlformats.org/officeDocument/2006/relationships" id="419" r:id="R735d6a87871345df"/>
    <p:sldId xmlns:r="http://schemas.openxmlformats.org/officeDocument/2006/relationships" id="420" r:id="Rae44e53346ac48d4"/>
    <p:sldId xmlns:r="http://schemas.openxmlformats.org/officeDocument/2006/relationships" id="421" r:id="Re66aec8f9f014b4c"/>
    <p:sldId xmlns:r="http://schemas.openxmlformats.org/officeDocument/2006/relationships" id="422" r:id="Rb1418653cdb2489d"/>
    <p:sldId xmlns:r="http://schemas.openxmlformats.org/officeDocument/2006/relationships" id="423" r:id="R162c172cfb454a68"/>
    <p:sldId xmlns:r="http://schemas.openxmlformats.org/officeDocument/2006/relationships" id="424" r:id="Radb41323184b438c"/>
    <p:sldId xmlns:r="http://schemas.openxmlformats.org/officeDocument/2006/relationships" id="425" r:id="Rc9d9265326ad4550"/>
    <p:sldId xmlns:r="http://schemas.openxmlformats.org/officeDocument/2006/relationships" id="426" r:id="R9ccd3dce0ce04465"/>
    <p:sldId xmlns:r="http://schemas.openxmlformats.org/officeDocument/2006/relationships" id="427" r:id="Rc083b6a10ef54ae7"/>
    <p:sldId xmlns:r="http://schemas.openxmlformats.org/officeDocument/2006/relationships" id="428" r:id="R57b232676d5c490b"/>
    <p:sldId xmlns:r="http://schemas.openxmlformats.org/officeDocument/2006/relationships" id="429" r:id="R185a0b3708fa4dcf"/>
    <p:sldId xmlns:r="http://schemas.openxmlformats.org/officeDocument/2006/relationships" id="430" r:id="R69412ced8f1b4e7f"/>
    <p:sldId xmlns:r="http://schemas.openxmlformats.org/officeDocument/2006/relationships" id="431" r:id="R2e5fb8a88b2949b4"/>
    <p:sldId xmlns:r="http://schemas.openxmlformats.org/officeDocument/2006/relationships" id="432" r:id="Rfd83a76229de426b"/>
    <p:sldId xmlns:r="http://schemas.openxmlformats.org/officeDocument/2006/relationships" id="433" r:id="R90b05cc4a5c64d76"/>
    <p:sldId xmlns:r="http://schemas.openxmlformats.org/officeDocument/2006/relationships" id="434" r:id="R45f7a8d9acc74426"/>
    <p:sldId xmlns:r="http://schemas.openxmlformats.org/officeDocument/2006/relationships" id="435" r:id="R7ac59be8cca646c4"/>
    <p:sldId xmlns:r="http://schemas.openxmlformats.org/officeDocument/2006/relationships" id="436" r:id="R6f48fb654c0e4f32"/>
    <p:sldId xmlns:r="http://schemas.openxmlformats.org/officeDocument/2006/relationships" id="437" r:id="Rcc65a86f05c14500"/>
    <p:sldId xmlns:r="http://schemas.openxmlformats.org/officeDocument/2006/relationships" id="438" r:id="R32d0f39ff7734a5e"/>
    <p:sldId xmlns:r="http://schemas.openxmlformats.org/officeDocument/2006/relationships" id="439" r:id="Re25f0daae36c4f02"/>
    <p:sldId xmlns:r="http://schemas.openxmlformats.org/officeDocument/2006/relationships" id="440" r:id="R2f5ca94615ed4e43"/>
    <p:sldId xmlns:r="http://schemas.openxmlformats.org/officeDocument/2006/relationships" id="441" r:id="R61f2520666be444f"/>
    <p:sldId xmlns:r="http://schemas.openxmlformats.org/officeDocument/2006/relationships" id="442" r:id="R36a23188efdf45e1"/>
    <p:sldId xmlns:r="http://schemas.openxmlformats.org/officeDocument/2006/relationships" id="443" r:id="Rcfbbc08b411a4f73"/>
    <p:sldId xmlns:r="http://schemas.openxmlformats.org/officeDocument/2006/relationships" id="444" r:id="R352ad51f7fa24d0f"/>
    <p:sldId xmlns:r="http://schemas.openxmlformats.org/officeDocument/2006/relationships" id="445" r:id="Re2f6f5f707e147d3"/>
    <p:sldId xmlns:r="http://schemas.openxmlformats.org/officeDocument/2006/relationships" id="446" r:id="R6e896c48aaca484a"/>
    <p:sldId xmlns:r="http://schemas.openxmlformats.org/officeDocument/2006/relationships" id="447" r:id="R5ab2fe1d8aee40e9"/>
    <p:sldId xmlns:r="http://schemas.openxmlformats.org/officeDocument/2006/relationships" id="448" r:id="Radfa1927d39245b6"/>
    <p:sldId xmlns:r="http://schemas.openxmlformats.org/officeDocument/2006/relationships" id="449" r:id="R426ac60ce5af4753"/>
    <p:sldId xmlns:r="http://schemas.openxmlformats.org/officeDocument/2006/relationships" id="450" r:id="R3602321df63743ae"/>
    <p:sldId xmlns:r="http://schemas.openxmlformats.org/officeDocument/2006/relationships" id="451" r:id="R60c8cc2e04a2470f"/>
    <p:sldId xmlns:r="http://schemas.openxmlformats.org/officeDocument/2006/relationships" id="452" r:id="Rdce1c88f120041d2"/>
    <p:sldId xmlns:r="http://schemas.openxmlformats.org/officeDocument/2006/relationships" id="453" r:id="R436ff8de78d34512"/>
    <p:sldId xmlns:r="http://schemas.openxmlformats.org/officeDocument/2006/relationships" id="454" r:id="R370cd066633e437a"/>
    <p:sldId xmlns:r="http://schemas.openxmlformats.org/officeDocument/2006/relationships" id="455" r:id="R4ab528bf3797406c"/>
    <p:sldId xmlns:r="http://schemas.openxmlformats.org/officeDocument/2006/relationships" id="456" r:id="R71a5e56f0b734def"/>
    <p:sldId xmlns:r="http://schemas.openxmlformats.org/officeDocument/2006/relationships" id="457" r:id="R72bdedad5dcc4209"/>
    <p:sldId xmlns:r="http://schemas.openxmlformats.org/officeDocument/2006/relationships" id="458" r:id="R7b3812d50d1f4c11"/>
    <p:sldId xmlns:r="http://schemas.openxmlformats.org/officeDocument/2006/relationships" id="459" r:id="R549acc264fc645d1"/>
    <p:sldId xmlns:r="http://schemas.openxmlformats.org/officeDocument/2006/relationships" id="460" r:id="R2f7d75450d864dda"/>
    <p:sldId xmlns:r="http://schemas.openxmlformats.org/officeDocument/2006/relationships" id="461" r:id="R687a88ed19ca40ae"/>
    <p:sldId xmlns:r="http://schemas.openxmlformats.org/officeDocument/2006/relationships" id="462" r:id="R8cf09e478b134543"/>
    <p:sldId xmlns:r="http://schemas.openxmlformats.org/officeDocument/2006/relationships" id="463" r:id="R17cbe496997b420b"/>
    <p:sldId xmlns:r="http://schemas.openxmlformats.org/officeDocument/2006/relationships" id="464" r:id="Rd26fd7083029465b"/>
    <p:sldId xmlns:r="http://schemas.openxmlformats.org/officeDocument/2006/relationships" id="465" r:id="R27afbd49335d48b2"/>
    <p:sldId xmlns:r="http://schemas.openxmlformats.org/officeDocument/2006/relationships" id="466" r:id="R8c0bb33c3ae340c7"/>
    <p:sldId xmlns:r="http://schemas.openxmlformats.org/officeDocument/2006/relationships" id="467" r:id="R452150f7b11a48b3"/>
    <p:sldId xmlns:r="http://schemas.openxmlformats.org/officeDocument/2006/relationships" id="468" r:id="R84ef82d387644651"/>
    <p:sldId xmlns:r="http://schemas.openxmlformats.org/officeDocument/2006/relationships" id="469" r:id="R1590396e64194116"/>
    <p:sldId xmlns:r="http://schemas.openxmlformats.org/officeDocument/2006/relationships" id="470" r:id="R22be060610e440ee"/>
    <p:sldId xmlns:r="http://schemas.openxmlformats.org/officeDocument/2006/relationships" id="471" r:id="R0680b187df694c39"/>
    <p:sldId xmlns:r="http://schemas.openxmlformats.org/officeDocument/2006/relationships" id="472" r:id="R350c47d311e742a5"/>
    <p:sldId xmlns:r="http://schemas.openxmlformats.org/officeDocument/2006/relationships" id="473" r:id="R81dd18d7ab1d418c"/>
    <p:sldId xmlns:r="http://schemas.openxmlformats.org/officeDocument/2006/relationships" id="474" r:id="R771199dbc3e04715"/>
    <p:sldId xmlns:r="http://schemas.openxmlformats.org/officeDocument/2006/relationships" id="475" r:id="R40201975cf2f4ae0"/>
    <p:sldId xmlns:r="http://schemas.openxmlformats.org/officeDocument/2006/relationships" id="476" r:id="R9f681959267b4eb2"/>
    <p:sldId xmlns:r="http://schemas.openxmlformats.org/officeDocument/2006/relationships" id="477" r:id="R2b416222df0042e3"/>
    <p:sldId xmlns:r="http://schemas.openxmlformats.org/officeDocument/2006/relationships" id="478" r:id="R891f928e594b4bab"/>
    <p:sldId xmlns:r="http://schemas.openxmlformats.org/officeDocument/2006/relationships" id="479" r:id="R224a35213ec54f7c"/>
    <p:sldId xmlns:r="http://schemas.openxmlformats.org/officeDocument/2006/relationships" id="480" r:id="R4e82a6061f5b4301"/>
    <p:sldId xmlns:r="http://schemas.openxmlformats.org/officeDocument/2006/relationships" id="481" r:id="R8eaa84e7af0d40d5"/>
    <p:sldId xmlns:r="http://schemas.openxmlformats.org/officeDocument/2006/relationships" id="482" r:id="Reb87eb3ea9024d79"/>
    <p:sldId xmlns:r="http://schemas.openxmlformats.org/officeDocument/2006/relationships" id="483" r:id="Rf30b6e5ca71c4bbb"/>
    <p:sldId xmlns:r="http://schemas.openxmlformats.org/officeDocument/2006/relationships" id="484" r:id="Ra067c6159d99445d"/>
    <p:sldId xmlns:r="http://schemas.openxmlformats.org/officeDocument/2006/relationships" id="485" r:id="R3cbe0ab8afd84a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d996f0db33446f" /><Relationship Type="http://schemas.openxmlformats.org/officeDocument/2006/relationships/slideMaster" Target="/ppt/slideMasters/slideMaster1.xml" Id="R51713b69ec144602" /><Relationship Type="http://schemas.openxmlformats.org/officeDocument/2006/relationships/notesMaster" Target="/ppt/notesMasters/notesMaster1.xml" Id="R36420201c8e5481d" /><Relationship Type="http://schemas.openxmlformats.org/officeDocument/2006/relationships/presProps" Target="/ppt/presProps.xml" Id="R9fd517a5340b45fb" /><Relationship Type="http://schemas.openxmlformats.org/officeDocument/2006/relationships/tableStyles" Target="/ppt/tableStyles.xml" Id="R3c2342d3ab0e496c" /><Relationship Type="http://schemas.openxmlformats.org/officeDocument/2006/relationships/slide" Target="/ppt/slides/slide1.xml" Id="Reeb3718fe4eb4031" /><Relationship Type="http://schemas.openxmlformats.org/officeDocument/2006/relationships/slide" Target="/ppt/slides/slide2.xml" Id="R545b03c790574aea" /><Relationship Type="http://schemas.openxmlformats.org/officeDocument/2006/relationships/slide" Target="/ppt/slides/slide3.xml" Id="Rdf6e8d1c6bf9496a" /><Relationship Type="http://schemas.openxmlformats.org/officeDocument/2006/relationships/slide" Target="/ppt/slides/slide4.xml" Id="Rbe0e5cdc24404be6" /><Relationship Type="http://schemas.openxmlformats.org/officeDocument/2006/relationships/slide" Target="/ppt/slides/slide5.xml" Id="R545a99fb127144c7" /><Relationship Type="http://schemas.openxmlformats.org/officeDocument/2006/relationships/slide" Target="/ppt/slides/slide6.xml" Id="R68c99a10c89d4df1" /><Relationship Type="http://schemas.openxmlformats.org/officeDocument/2006/relationships/slide" Target="/ppt/slides/slide7.xml" Id="Rd11e94975be84e38" /><Relationship Type="http://schemas.openxmlformats.org/officeDocument/2006/relationships/slide" Target="/ppt/slides/slide8.xml" Id="Reb72303ce49c4837" /><Relationship Type="http://schemas.openxmlformats.org/officeDocument/2006/relationships/slide" Target="/ppt/slides/slide9.xml" Id="R161128c5524e493e" /><Relationship Type="http://schemas.openxmlformats.org/officeDocument/2006/relationships/slide" Target="/ppt/slides/slide10.xml" Id="R2ee6867a5e994cdb" /><Relationship Type="http://schemas.openxmlformats.org/officeDocument/2006/relationships/slide" Target="/ppt/slides/slide11.xml" Id="Ra864cd40d9694304" /><Relationship Type="http://schemas.openxmlformats.org/officeDocument/2006/relationships/slide" Target="/ppt/slides/slide12.xml" Id="R4f47e783389a4d6b" /><Relationship Type="http://schemas.openxmlformats.org/officeDocument/2006/relationships/slide" Target="/ppt/slides/slide13.xml" Id="Rc91c1d9a54904ef0" /><Relationship Type="http://schemas.openxmlformats.org/officeDocument/2006/relationships/slide" Target="/ppt/slides/slide14.xml" Id="R25db9c7524284b18" /><Relationship Type="http://schemas.openxmlformats.org/officeDocument/2006/relationships/slide" Target="/ppt/slides/slide15.xml" Id="Rcd234c3c535046aa" /><Relationship Type="http://schemas.openxmlformats.org/officeDocument/2006/relationships/slide" Target="/ppt/slides/slide16.xml" Id="R9116e9b31c2148f5" /><Relationship Type="http://schemas.openxmlformats.org/officeDocument/2006/relationships/slide" Target="/ppt/slides/slide17.xml" Id="Ref9296c56c164e45" /><Relationship Type="http://schemas.openxmlformats.org/officeDocument/2006/relationships/slide" Target="/ppt/slides/slide18.xml" Id="Rfa6754f988b94473" /><Relationship Type="http://schemas.openxmlformats.org/officeDocument/2006/relationships/slide" Target="/ppt/slides/slide19.xml" Id="Redf178cc2c2947d3" /><Relationship Type="http://schemas.openxmlformats.org/officeDocument/2006/relationships/slide" Target="/ppt/slides/slide20.xml" Id="R0d45afc5e5d84c2f" /><Relationship Type="http://schemas.openxmlformats.org/officeDocument/2006/relationships/slide" Target="/ppt/slides/slide21.xml" Id="R51ea0d054b2a4b33" /><Relationship Type="http://schemas.openxmlformats.org/officeDocument/2006/relationships/slide" Target="/ppt/slides/slide22.xml" Id="Rf15abca13fb44341" /><Relationship Type="http://schemas.openxmlformats.org/officeDocument/2006/relationships/slide" Target="/ppt/slides/slide23.xml" Id="Rbdedc4ed44e548a7" /><Relationship Type="http://schemas.openxmlformats.org/officeDocument/2006/relationships/slide" Target="/ppt/slides/slide24.xml" Id="R34852942b5a94b32" /><Relationship Type="http://schemas.openxmlformats.org/officeDocument/2006/relationships/slide" Target="/ppt/slides/slide25.xml" Id="Rd1c2b3b2edf24144" /><Relationship Type="http://schemas.openxmlformats.org/officeDocument/2006/relationships/slide" Target="/ppt/slides/slide26.xml" Id="R0cde90ffd2df4d0e" /><Relationship Type="http://schemas.openxmlformats.org/officeDocument/2006/relationships/slide" Target="/ppt/slides/slide27.xml" Id="Rf981d5bb7faf40fd" /><Relationship Type="http://schemas.openxmlformats.org/officeDocument/2006/relationships/slide" Target="/ppt/slides/slide28.xml" Id="R836a934d15d64bef" /><Relationship Type="http://schemas.openxmlformats.org/officeDocument/2006/relationships/slide" Target="/ppt/slides/slide29.xml" Id="Rb0881970c57749b9" /><Relationship Type="http://schemas.openxmlformats.org/officeDocument/2006/relationships/slide" Target="/ppt/slides/slide30.xml" Id="R3aaa0778d9d7493d" /><Relationship Type="http://schemas.openxmlformats.org/officeDocument/2006/relationships/slide" Target="/ppt/slides/slide31.xml" Id="R6bbe001a52a74356" /><Relationship Type="http://schemas.openxmlformats.org/officeDocument/2006/relationships/slide" Target="/ppt/slides/slide32.xml" Id="R86574a9cb4bf4340" /><Relationship Type="http://schemas.openxmlformats.org/officeDocument/2006/relationships/slide" Target="/ppt/slides/slide33.xml" Id="R780d24273c624a5d" /><Relationship Type="http://schemas.openxmlformats.org/officeDocument/2006/relationships/slide" Target="/ppt/slides/slide34.xml" Id="R617a011eff804fc9" /><Relationship Type="http://schemas.openxmlformats.org/officeDocument/2006/relationships/slide" Target="/ppt/slides/slide35.xml" Id="R872cee96a44e4474" /><Relationship Type="http://schemas.openxmlformats.org/officeDocument/2006/relationships/slide" Target="/ppt/slides/slide36.xml" Id="R9183afec62834bd8" /><Relationship Type="http://schemas.openxmlformats.org/officeDocument/2006/relationships/slide" Target="/ppt/slides/slide37.xml" Id="Re9f414870ccc48c8" /><Relationship Type="http://schemas.openxmlformats.org/officeDocument/2006/relationships/slide" Target="/ppt/slides/slide38.xml" Id="Rf2b0a1f3d3744955" /><Relationship Type="http://schemas.openxmlformats.org/officeDocument/2006/relationships/slide" Target="/ppt/slides/slide39.xml" Id="R99b99733def147a5" /><Relationship Type="http://schemas.openxmlformats.org/officeDocument/2006/relationships/slide" Target="/ppt/slides/slide40.xml" Id="R5659be8322ea4c89" /><Relationship Type="http://schemas.openxmlformats.org/officeDocument/2006/relationships/slide" Target="/ppt/slides/slide41.xml" Id="R1580ad3cced94a60" /><Relationship Type="http://schemas.openxmlformats.org/officeDocument/2006/relationships/slide" Target="/ppt/slides/slide42.xml" Id="R0bf47080d09c48ca" /><Relationship Type="http://schemas.openxmlformats.org/officeDocument/2006/relationships/slide" Target="/ppt/slides/slide43.xml" Id="R54f58774b602434b" /><Relationship Type="http://schemas.openxmlformats.org/officeDocument/2006/relationships/slide" Target="/ppt/slides/slide44.xml" Id="R9ae30c1ec6974975" /><Relationship Type="http://schemas.openxmlformats.org/officeDocument/2006/relationships/slide" Target="/ppt/slides/slide45.xml" Id="Rdd5702f339614af0" /><Relationship Type="http://schemas.openxmlformats.org/officeDocument/2006/relationships/slide" Target="/ppt/slides/slide46.xml" Id="R2741650f6e214f57" /><Relationship Type="http://schemas.openxmlformats.org/officeDocument/2006/relationships/slide" Target="/ppt/slides/slide47.xml" Id="R80b0679614cf4b58" /><Relationship Type="http://schemas.openxmlformats.org/officeDocument/2006/relationships/slide" Target="/ppt/slides/slide48.xml" Id="Rdc27ae13d8fd4279" /><Relationship Type="http://schemas.openxmlformats.org/officeDocument/2006/relationships/slide" Target="/ppt/slides/slide49.xml" Id="Rdbfce51e7a16482f" /><Relationship Type="http://schemas.openxmlformats.org/officeDocument/2006/relationships/slide" Target="/ppt/slides/slide50.xml" Id="Rf5ecce22f9c1450a" /><Relationship Type="http://schemas.openxmlformats.org/officeDocument/2006/relationships/slide" Target="/ppt/slides/slide51.xml" Id="Rb33f3f0c3e9a49b5" /><Relationship Type="http://schemas.openxmlformats.org/officeDocument/2006/relationships/slide" Target="/ppt/slides/slide52.xml" Id="Ra82c39b868174ee3" /><Relationship Type="http://schemas.openxmlformats.org/officeDocument/2006/relationships/slide" Target="/ppt/slides/slide53.xml" Id="R73cfb91b4b0d4975" /><Relationship Type="http://schemas.openxmlformats.org/officeDocument/2006/relationships/slide" Target="/ppt/slides/slide54.xml" Id="Rc515f83e6ed54fb7" /><Relationship Type="http://schemas.openxmlformats.org/officeDocument/2006/relationships/slide" Target="/ppt/slides/slide55.xml" Id="Re0144fa6d0ed48ab" /><Relationship Type="http://schemas.openxmlformats.org/officeDocument/2006/relationships/slide" Target="/ppt/slides/slide56.xml" Id="R73e7d21bd0984341" /><Relationship Type="http://schemas.openxmlformats.org/officeDocument/2006/relationships/slide" Target="/ppt/slides/slide57.xml" Id="Rbef63ee64f9843b7" /><Relationship Type="http://schemas.openxmlformats.org/officeDocument/2006/relationships/slide" Target="/ppt/slides/slide58.xml" Id="R4616bc08782343b0" /><Relationship Type="http://schemas.openxmlformats.org/officeDocument/2006/relationships/slide" Target="/ppt/slides/slide59.xml" Id="Rfe1627718b89496b" /><Relationship Type="http://schemas.openxmlformats.org/officeDocument/2006/relationships/slide" Target="/ppt/slides/slide60.xml" Id="R319cb927d5b545a1" /><Relationship Type="http://schemas.openxmlformats.org/officeDocument/2006/relationships/slide" Target="/ppt/slides/slide61.xml" Id="Rf84060f798f8443e" /><Relationship Type="http://schemas.openxmlformats.org/officeDocument/2006/relationships/slide" Target="/ppt/slides/slide62.xml" Id="R880437d2d5d046e4" /><Relationship Type="http://schemas.openxmlformats.org/officeDocument/2006/relationships/slide" Target="/ppt/slides/slide63.xml" Id="R1f6ea46e9c094b48" /><Relationship Type="http://schemas.openxmlformats.org/officeDocument/2006/relationships/slide" Target="/ppt/slides/slide64.xml" Id="Rb0ee10ecbc59477c" /><Relationship Type="http://schemas.openxmlformats.org/officeDocument/2006/relationships/slide" Target="/ppt/slides/slide65.xml" Id="Racb61fb11dc64b1b" /><Relationship Type="http://schemas.openxmlformats.org/officeDocument/2006/relationships/slide" Target="/ppt/slides/slide66.xml" Id="R4670abb8eef342b8" /><Relationship Type="http://schemas.openxmlformats.org/officeDocument/2006/relationships/slide" Target="/ppt/slides/slide67.xml" Id="R97b956d05ca742b2" /><Relationship Type="http://schemas.openxmlformats.org/officeDocument/2006/relationships/slide" Target="/ppt/slides/slide68.xml" Id="Rd26b62ced1384a05" /><Relationship Type="http://schemas.openxmlformats.org/officeDocument/2006/relationships/slide" Target="/ppt/slides/slide69.xml" Id="R69f6b053dfca402c" /><Relationship Type="http://schemas.openxmlformats.org/officeDocument/2006/relationships/slide" Target="/ppt/slides/slide70.xml" Id="R9f1391c20d8b42c4" /><Relationship Type="http://schemas.openxmlformats.org/officeDocument/2006/relationships/slide" Target="/ppt/slides/slide71.xml" Id="Re2474f92b86a4687" /><Relationship Type="http://schemas.openxmlformats.org/officeDocument/2006/relationships/slide" Target="/ppt/slides/slide72.xml" Id="R85d3b53b20b94760" /><Relationship Type="http://schemas.openxmlformats.org/officeDocument/2006/relationships/slide" Target="/ppt/slides/slide73.xml" Id="R9a3848a90a7d4681" /><Relationship Type="http://schemas.openxmlformats.org/officeDocument/2006/relationships/slide" Target="/ppt/slides/slide74.xml" Id="Rd9bf2530d2dc44a8" /><Relationship Type="http://schemas.openxmlformats.org/officeDocument/2006/relationships/slide" Target="/ppt/slides/slide75.xml" Id="Re2abf659c1be470f" /><Relationship Type="http://schemas.openxmlformats.org/officeDocument/2006/relationships/slide" Target="/ppt/slides/slide76.xml" Id="R9890c804e36a4f39" /><Relationship Type="http://schemas.openxmlformats.org/officeDocument/2006/relationships/slide" Target="/ppt/slides/slide77.xml" Id="Raed2d5580e3d442e" /><Relationship Type="http://schemas.openxmlformats.org/officeDocument/2006/relationships/slide" Target="/ppt/slides/slide78.xml" Id="Rf7fa7c33f46542e5" /><Relationship Type="http://schemas.openxmlformats.org/officeDocument/2006/relationships/slide" Target="/ppt/slides/slide79.xml" Id="Rd6f68d9c7e1b4295" /><Relationship Type="http://schemas.openxmlformats.org/officeDocument/2006/relationships/slide" Target="/ppt/slides/slide80.xml" Id="R18014740f1bd407c" /><Relationship Type="http://schemas.openxmlformats.org/officeDocument/2006/relationships/slide" Target="/ppt/slides/slide81.xml" Id="Rf8ae05541220403e" /><Relationship Type="http://schemas.openxmlformats.org/officeDocument/2006/relationships/slide" Target="/ppt/slides/slide82.xml" Id="R4402b3388a074fef" /><Relationship Type="http://schemas.openxmlformats.org/officeDocument/2006/relationships/slide" Target="/ppt/slides/slide83.xml" Id="R81814986c2ef4f7b" /><Relationship Type="http://schemas.openxmlformats.org/officeDocument/2006/relationships/slide" Target="/ppt/slides/slide84.xml" Id="R9729b5c025374afa" /><Relationship Type="http://schemas.openxmlformats.org/officeDocument/2006/relationships/slide" Target="/ppt/slides/slide85.xml" Id="R439100d386984971" /><Relationship Type="http://schemas.openxmlformats.org/officeDocument/2006/relationships/slide" Target="/ppt/slides/slide86.xml" Id="Rce6c751f149f474e" /><Relationship Type="http://schemas.openxmlformats.org/officeDocument/2006/relationships/slide" Target="/ppt/slides/slide87.xml" Id="Rbfe34a37047a4cea" /><Relationship Type="http://schemas.openxmlformats.org/officeDocument/2006/relationships/slide" Target="/ppt/slides/slide88.xml" Id="Rc1bdd1d8f6af4190" /><Relationship Type="http://schemas.openxmlformats.org/officeDocument/2006/relationships/slide" Target="/ppt/slides/slide89.xml" Id="R04381ef272ff4103" /><Relationship Type="http://schemas.openxmlformats.org/officeDocument/2006/relationships/slide" Target="/ppt/slides/slide90.xml" Id="Rc41cd64a1ab8403d" /><Relationship Type="http://schemas.openxmlformats.org/officeDocument/2006/relationships/slide" Target="/ppt/slides/slide91.xml" Id="R7f84f8075cbb44d8" /><Relationship Type="http://schemas.openxmlformats.org/officeDocument/2006/relationships/slide" Target="/ppt/slides/slide92.xml" Id="Rcedb01f5e33c4587" /><Relationship Type="http://schemas.openxmlformats.org/officeDocument/2006/relationships/slide" Target="/ppt/slides/slide93.xml" Id="R5a85a652fe6f4b81" /><Relationship Type="http://schemas.openxmlformats.org/officeDocument/2006/relationships/slide" Target="/ppt/slides/slide94.xml" Id="R9475692bfddf4093" /><Relationship Type="http://schemas.openxmlformats.org/officeDocument/2006/relationships/slide" Target="/ppt/slides/slide95.xml" Id="R72794d1cc3d7463d" /><Relationship Type="http://schemas.openxmlformats.org/officeDocument/2006/relationships/slide" Target="/ppt/slides/slide96.xml" Id="R57029e01ae8a4204" /><Relationship Type="http://schemas.openxmlformats.org/officeDocument/2006/relationships/slide" Target="/ppt/slides/slide97.xml" Id="R67a768b7b1754b5a" /><Relationship Type="http://schemas.openxmlformats.org/officeDocument/2006/relationships/slide" Target="/ppt/slides/slide98.xml" Id="R3dd486c92fb04e87" /><Relationship Type="http://schemas.openxmlformats.org/officeDocument/2006/relationships/slide" Target="/ppt/slides/slide99.xml" Id="Ra286782a85ae4627" /><Relationship Type="http://schemas.openxmlformats.org/officeDocument/2006/relationships/slide" Target="/ppt/slides/slide100.xml" Id="Rf4183862dddd4c25" /><Relationship Type="http://schemas.openxmlformats.org/officeDocument/2006/relationships/slide" Target="/ppt/slides/slide101.xml" Id="Rc825868b3f1c40fc" /><Relationship Type="http://schemas.openxmlformats.org/officeDocument/2006/relationships/slide" Target="/ppt/slides/slide102.xml" Id="R424056c8f5b64115" /><Relationship Type="http://schemas.openxmlformats.org/officeDocument/2006/relationships/slide" Target="/ppt/slides/slide103.xml" Id="R1935ae114f92484a" /><Relationship Type="http://schemas.openxmlformats.org/officeDocument/2006/relationships/slide" Target="/ppt/slides/slide104.xml" Id="Rde0616bb6c5146b2" /><Relationship Type="http://schemas.openxmlformats.org/officeDocument/2006/relationships/slide" Target="/ppt/slides/slide105.xml" Id="R602a3c517b374444" /><Relationship Type="http://schemas.openxmlformats.org/officeDocument/2006/relationships/slide" Target="/ppt/slides/slide106.xml" Id="R7464df7211f94a1d" /><Relationship Type="http://schemas.openxmlformats.org/officeDocument/2006/relationships/slide" Target="/ppt/slides/slide107.xml" Id="Re8c93d6180c840fb" /><Relationship Type="http://schemas.openxmlformats.org/officeDocument/2006/relationships/slide" Target="/ppt/slides/slide108.xml" Id="R93d303c820e240ea" /><Relationship Type="http://schemas.openxmlformats.org/officeDocument/2006/relationships/slide" Target="/ppt/slides/slide109.xml" Id="Re8bc74387b874962" /><Relationship Type="http://schemas.openxmlformats.org/officeDocument/2006/relationships/slide" Target="/ppt/slides/slide110.xml" Id="R08787e6dc3154f57" /><Relationship Type="http://schemas.openxmlformats.org/officeDocument/2006/relationships/slide" Target="/ppt/slides/slide111.xml" Id="R71d3bc58a4aa4593" /><Relationship Type="http://schemas.openxmlformats.org/officeDocument/2006/relationships/slide" Target="/ppt/slides/slide112.xml" Id="R3c0356db3cfd4e14" /><Relationship Type="http://schemas.openxmlformats.org/officeDocument/2006/relationships/slide" Target="/ppt/slides/slide113.xml" Id="R208179f62c4a4857" /><Relationship Type="http://schemas.openxmlformats.org/officeDocument/2006/relationships/slide" Target="/ppt/slides/slide114.xml" Id="R73c2def73d9b4351" /><Relationship Type="http://schemas.openxmlformats.org/officeDocument/2006/relationships/slide" Target="/ppt/slides/slide115.xml" Id="R10796cff442242d0" /><Relationship Type="http://schemas.openxmlformats.org/officeDocument/2006/relationships/slide" Target="/ppt/slides/slide116.xml" Id="R6372654c157f42f9" /><Relationship Type="http://schemas.openxmlformats.org/officeDocument/2006/relationships/slide" Target="/ppt/slides/slide117.xml" Id="Rccbfc898928c4442" /><Relationship Type="http://schemas.openxmlformats.org/officeDocument/2006/relationships/slide" Target="/ppt/slides/slide118.xml" Id="R38298d6f282e481f" /><Relationship Type="http://schemas.openxmlformats.org/officeDocument/2006/relationships/slide" Target="/ppt/slides/slide119.xml" Id="R09831d9fd3164575" /><Relationship Type="http://schemas.openxmlformats.org/officeDocument/2006/relationships/slide" Target="/ppt/slides/slide120.xml" Id="R442e663ad2664535" /><Relationship Type="http://schemas.openxmlformats.org/officeDocument/2006/relationships/slide" Target="/ppt/slides/slide121.xml" Id="R3a5101e918d24f5b" /><Relationship Type="http://schemas.openxmlformats.org/officeDocument/2006/relationships/slide" Target="/ppt/slides/slide122.xml" Id="R644f821eac80467f" /><Relationship Type="http://schemas.openxmlformats.org/officeDocument/2006/relationships/slide" Target="/ppt/slides/slide123.xml" Id="R44e917c5cf5048b4" /><Relationship Type="http://schemas.openxmlformats.org/officeDocument/2006/relationships/slide" Target="/ppt/slides/slide124.xml" Id="R8ba59dccc7f54653" /><Relationship Type="http://schemas.openxmlformats.org/officeDocument/2006/relationships/slide" Target="/ppt/slides/slide125.xml" Id="R942a50f4c1d24b63" /><Relationship Type="http://schemas.openxmlformats.org/officeDocument/2006/relationships/slide" Target="/ppt/slides/slide126.xml" Id="R54cb2be94aee426f" /><Relationship Type="http://schemas.openxmlformats.org/officeDocument/2006/relationships/slide" Target="/ppt/slides/slide127.xml" Id="Rbcfb7e916544445d" /><Relationship Type="http://schemas.openxmlformats.org/officeDocument/2006/relationships/slide" Target="/ppt/slides/slide128.xml" Id="Rf1cb61eac935488b" /><Relationship Type="http://schemas.openxmlformats.org/officeDocument/2006/relationships/slide" Target="/ppt/slides/slide129.xml" Id="Rbb2e3bb699e44442" /><Relationship Type="http://schemas.openxmlformats.org/officeDocument/2006/relationships/slide" Target="/ppt/slides/slide130.xml" Id="R0ff8b0ebcb234d48" /><Relationship Type="http://schemas.openxmlformats.org/officeDocument/2006/relationships/slide" Target="/ppt/slides/slide131.xml" Id="Rd2bfe5b9c7324e27" /><Relationship Type="http://schemas.openxmlformats.org/officeDocument/2006/relationships/slide" Target="/ppt/slides/slide132.xml" Id="R8c5b13ed41ba47dd" /><Relationship Type="http://schemas.openxmlformats.org/officeDocument/2006/relationships/slide" Target="/ppt/slides/slide133.xml" Id="Rf48e6d35659e4dbe" /><Relationship Type="http://schemas.openxmlformats.org/officeDocument/2006/relationships/slide" Target="/ppt/slides/slide134.xml" Id="R59028f460f7d4cb1" /><Relationship Type="http://schemas.openxmlformats.org/officeDocument/2006/relationships/slide" Target="/ppt/slides/slide135.xml" Id="R908d0fbd7ee242cd" /><Relationship Type="http://schemas.openxmlformats.org/officeDocument/2006/relationships/slide" Target="/ppt/slides/slide136.xml" Id="Rc8608c2474ea4e20" /><Relationship Type="http://schemas.openxmlformats.org/officeDocument/2006/relationships/slide" Target="/ppt/slides/slide137.xml" Id="R97e1e8b770b24efc" /><Relationship Type="http://schemas.openxmlformats.org/officeDocument/2006/relationships/slide" Target="/ppt/slides/slide138.xml" Id="Rae87b6e0f6504073" /><Relationship Type="http://schemas.openxmlformats.org/officeDocument/2006/relationships/slide" Target="/ppt/slides/slide139.xml" Id="Rd4f24a3a5f08453f" /><Relationship Type="http://schemas.openxmlformats.org/officeDocument/2006/relationships/slide" Target="/ppt/slides/slide140.xml" Id="Reac8a36684854a1d" /><Relationship Type="http://schemas.openxmlformats.org/officeDocument/2006/relationships/slide" Target="/ppt/slides/slide141.xml" Id="Ra7a543b977a94971" /><Relationship Type="http://schemas.openxmlformats.org/officeDocument/2006/relationships/slide" Target="/ppt/slides/slide142.xml" Id="R842d5fc1dcb043e4" /><Relationship Type="http://schemas.openxmlformats.org/officeDocument/2006/relationships/slide" Target="/ppt/slides/slide143.xml" Id="R725c410e319a4f80" /><Relationship Type="http://schemas.openxmlformats.org/officeDocument/2006/relationships/slide" Target="/ppt/slides/slide144.xml" Id="R4c40e61d6c674df9" /><Relationship Type="http://schemas.openxmlformats.org/officeDocument/2006/relationships/slide" Target="/ppt/slides/slide145.xml" Id="R6395a1674fca4cf3" /><Relationship Type="http://schemas.openxmlformats.org/officeDocument/2006/relationships/slide" Target="/ppt/slides/slide146.xml" Id="R3658f8c70b5148f8" /><Relationship Type="http://schemas.openxmlformats.org/officeDocument/2006/relationships/slide" Target="/ppt/slides/slide147.xml" Id="R7ee23372fc4c4ae7" /><Relationship Type="http://schemas.openxmlformats.org/officeDocument/2006/relationships/slide" Target="/ppt/slides/slide148.xml" Id="Rc269c6daaa674f93" /><Relationship Type="http://schemas.openxmlformats.org/officeDocument/2006/relationships/slide" Target="/ppt/slides/slide149.xml" Id="R72319b64471b4276" /><Relationship Type="http://schemas.openxmlformats.org/officeDocument/2006/relationships/slide" Target="/ppt/slides/slide150.xml" Id="R7f2a47d0dce64e58" /><Relationship Type="http://schemas.openxmlformats.org/officeDocument/2006/relationships/slide" Target="/ppt/slides/slide151.xml" Id="R1b8e5d5443154234" /><Relationship Type="http://schemas.openxmlformats.org/officeDocument/2006/relationships/slide" Target="/ppt/slides/slide152.xml" Id="R1f3964fec0e94b4b" /><Relationship Type="http://schemas.openxmlformats.org/officeDocument/2006/relationships/slide" Target="/ppt/slides/slide153.xml" Id="Re2098d0aabc74114" /><Relationship Type="http://schemas.openxmlformats.org/officeDocument/2006/relationships/slide" Target="/ppt/slides/slide154.xml" Id="R5b6b4042e114491f" /><Relationship Type="http://schemas.openxmlformats.org/officeDocument/2006/relationships/slide" Target="/ppt/slides/slide155.xml" Id="R7fd33f83b0984a6d" /><Relationship Type="http://schemas.openxmlformats.org/officeDocument/2006/relationships/slide" Target="/ppt/slides/slide156.xml" Id="R0f4d89dcfbf74620" /><Relationship Type="http://schemas.openxmlformats.org/officeDocument/2006/relationships/slide" Target="/ppt/slides/slide157.xml" Id="Rc64fd3e65081497e" /><Relationship Type="http://schemas.openxmlformats.org/officeDocument/2006/relationships/slide" Target="/ppt/slides/slide158.xml" Id="Ra678f10ff82a4330" /><Relationship Type="http://schemas.openxmlformats.org/officeDocument/2006/relationships/slide" Target="/ppt/slides/slide159.xml" Id="R70185702eeda4346" /><Relationship Type="http://schemas.openxmlformats.org/officeDocument/2006/relationships/slide" Target="/ppt/slides/slide160.xml" Id="Rcb12d5632dba418e" /><Relationship Type="http://schemas.openxmlformats.org/officeDocument/2006/relationships/slide" Target="/ppt/slides/slide161.xml" Id="Rd40eee30203f460d" /><Relationship Type="http://schemas.openxmlformats.org/officeDocument/2006/relationships/slide" Target="/ppt/slides/slide162.xml" Id="R463435603fd249c4" /><Relationship Type="http://schemas.openxmlformats.org/officeDocument/2006/relationships/slide" Target="/ppt/slides/slide163.xml" Id="Rd6a4b3782bf3454f" /><Relationship Type="http://schemas.openxmlformats.org/officeDocument/2006/relationships/slide" Target="/ppt/slides/slide164.xml" Id="R735d6a87871345df" /><Relationship Type="http://schemas.openxmlformats.org/officeDocument/2006/relationships/slide" Target="/ppt/slides/slide165.xml" Id="Rae44e53346ac48d4" /><Relationship Type="http://schemas.openxmlformats.org/officeDocument/2006/relationships/slide" Target="/ppt/slides/slide166.xml" Id="Re66aec8f9f014b4c" /><Relationship Type="http://schemas.openxmlformats.org/officeDocument/2006/relationships/slide" Target="/ppt/slides/slide167.xml" Id="Rb1418653cdb2489d" /><Relationship Type="http://schemas.openxmlformats.org/officeDocument/2006/relationships/slide" Target="/ppt/slides/slide168.xml" Id="R162c172cfb454a68" /><Relationship Type="http://schemas.openxmlformats.org/officeDocument/2006/relationships/slide" Target="/ppt/slides/slide169.xml" Id="Radb41323184b438c" /><Relationship Type="http://schemas.openxmlformats.org/officeDocument/2006/relationships/slide" Target="/ppt/slides/slide170.xml" Id="Rc9d9265326ad4550" /><Relationship Type="http://schemas.openxmlformats.org/officeDocument/2006/relationships/slide" Target="/ppt/slides/slide171.xml" Id="R9ccd3dce0ce04465" /><Relationship Type="http://schemas.openxmlformats.org/officeDocument/2006/relationships/slide" Target="/ppt/slides/slide172.xml" Id="Rc083b6a10ef54ae7" /><Relationship Type="http://schemas.openxmlformats.org/officeDocument/2006/relationships/slide" Target="/ppt/slides/slide173.xml" Id="R57b232676d5c490b" /><Relationship Type="http://schemas.openxmlformats.org/officeDocument/2006/relationships/slide" Target="/ppt/slides/slide174.xml" Id="R185a0b3708fa4dcf" /><Relationship Type="http://schemas.openxmlformats.org/officeDocument/2006/relationships/slide" Target="/ppt/slides/slide175.xml" Id="R69412ced8f1b4e7f" /><Relationship Type="http://schemas.openxmlformats.org/officeDocument/2006/relationships/slide" Target="/ppt/slides/slide176.xml" Id="R2e5fb8a88b2949b4" /><Relationship Type="http://schemas.openxmlformats.org/officeDocument/2006/relationships/slide" Target="/ppt/slides/slide177.xml" Id="Rfd83a76229de426b" /><Relationship Type="http://schemas.openxmlformats.org/officeDocument/2006/relationships/slide" Target="/ppt/slides/slide178.xml" Id="R90b05cc4a5c64d76" /><Relationship Type="http://schemas.openxmlformats.org/officeDocument/2006/relationships/slide" Target="/ppt/slides/slide179.xml" Id="R45f7a8d9acc74426" /><Relationship Type="http://schemas.openxmlformats.org/officeDocument/2006/relationships/slide" Target="/ppt/slides/slide180.xml" Id="R7ac59be8cca646c4" /><Relationship Type="http://schemas.openxmlformats.org/officeDocument/2006/relationships/slide" Target="/ppt/slides/slide181.xml" Id="R6f48fb654c0e4f32" /><Relationship Type="http://schemas.openxmlformats.org/officeDocument/2006/relationships/slide" Target="/ppt/slides/slide182.xml" Id="Rcc65a86f05c14500" /><Relationship Type="http://schemas.openxmlformats.org/officeDocument/2006/relationships/slide" Target="/ppt/slides/slide183.xml" Id="R32d0f39ff7734a5e" /><Relationship Type="http://schemas.openxmlformats.org/officeDocument/2006/relationships/slide" Target="/ppt/slides/slide184.xml" Id="Re25f0daae36c4f02" /><Relationship Type="http://schemas.openxmlformats.org/officeDocument/2006/relationships/slide" Target="/ppt/slides/slide185.xml" Id="R2f5ca94615ed4e43" /><Relationship Type="http://schemas.openxmlformats.org/officeDocument/2006/relationships/slide" Target="/ppt/slides/slide186.xml" Id="R61f2520666be444f" /><Relationship Type="http://schemas.openxmlformats.org/officeDocument/2006/relationships/slide" Target="/ppt/slides/slide187.xml" Id="R36a23188efdf45e1" /><Relationship Type="http://schemas.openxmlformats.org/officeDocument/2006/relationships/slide" Target="/ppt/slides/slide188.xml" Id="Rcfbbc08b411a4f73" /><Relationship Type="http://schemas.openxmlformats.org/officeDocument/2006/relationships/slide" Target="/ppt/slides/slide189.xml" Id="R352ad51f7fa24d0f" /><Relationship Type="http://schemas.openxmlformats.org/officeDocument/2006/relationships/slide" Target="/ppt/slides/slide190.xml" Id="Re2f6f5f707e147d3" /><Relationship Type="http://schemas.openxmlformats.org/officeDocument/2006/relationships/slide" Target="/ppt/slides/slide191.xml" Id="R6e896c48aaca484a" /><Relationship Type="http://schemas.openxmlformats.org/officeDocument/2006/relationships/slide" Target="/ppt/slides/slide192.xml" Id="R5ab2fe1d8aee40e9" /><Relationship Type="http://schemas.openxmlformats.org/officeDocument/2006/relationships/slide" Target="/ppt/slides/slide193.xml" Id="Radfa1927d39245b6" /><Relationship Type="http://schemas.openxmlformats.org/officeDocument/2006/relationships/slide" Target="/ppt/slides/slide194.xml" Id="R426ac60ce5af4753" /><Relationship Type="http://schemas.openxmlformats.org/officeDocument/2006/relationships/slide" Target="/ppt/slides/slide195.xml" Id="R3602321df63743ae" /><Relationship Type="http://schemas.openxmlformats.org/officeDocument/2006/relationships/slide" Target="/ppt/slides/slide196.xml" Id="R60c8cc2e04a2470f" /><Relationship Type="http://schemas.openxmlformats.org/officeDocument/2006/relationships/slide" Target="/ppt/slides/slide197.xml" Id="Rdce1c88f120041d2" /><Relationship Type="http://schemas.openxmlformats.org/officeDocument/2006/relationships/slide" Target="/ppt/slides/slide198.xml" Id="R436ff8de78d34512" /><Relationship Type="http://schemas.openxmlformats.org/officeDocument/2006/relationships/slide" Target="/ppt/slides/slide199.xml" Id="R370cd066633e437a" /><Relationship Type="http://schemas.openxmlformats.org/officeDocument/2006/relationships/slide" Target="/ppt/slides/slide200.xml" Id="R4ab528bf3797406c" /><Relationship Type="http://schemas.openxmlformats.org/officeDocument/2006/relationships/slide" Target="/ppt/slides/slide201.xml" Id="R71a5e56f0b734def" /><Relationship Type="http://schemas.openxmlformats.org/officeDocument/2006/relationships/slide" Target="/ppt/slides/slide202.xml" Id="R72bdedad5dcc4209" /><Relationship Type="http://schemas.openxmlformats.org/officeDocument/2006/relationships/slide" Target="/ppt/slides/slide203.xml" Id="R7b3812d50d1f4c11" /><Relationship Type="http://schemas.openxmlformats.org/officeDocument/2006/relationships/slide" Target="/ppt/slides/slide204.xml" Id="R549acc264fc645d1" /><Relationship Type="http://schemas.openxmlformats.org/officeDocument/2006/relationships/slide" Target="/ppt/slides/slide205.xml" Id="R2f7d75450d864dda" /><Relationship Type="http://schemas.openxmlformats.org/officeDocument/2006/relationships/slide" Target="/ppt/slides/slide206.xml" Id="R687a88ed19ca40ae" /><Relationship Type="http://schemas.openxmlformats.org/officeDocument/2006/relationships/slide" Target="/ppt/slides/slide207.xml" Id="R8cf09e478b134543" /><Relationship Type="http://schemas.openxmlformats.org/officeDocument/2006/relationships/slide" Target="/ppt/slides/slide208.xml" Id="R17cbe496997b420b" /><Relationship Type="http://schemas.openxmlformats.org/officeDocument/2006/relationships/slide" Target="/ppt/slides/slide209.xml" Id="Rd26fd7083029465b" /><Relationship Type="http://schemas.openxmlformats.org/officeDocument/2006/relationships/slide" Target="/ppt/slides/slide210.xml" Id="R27afbd49335d48b2" /><Relationship Type="http://schemas.openxmlformats.org/officeDocument/2006/relationships/slide" Target="/ppt/slides/slide211.xml" Id="R8c0bb33c3ae340c7" /><Relationship Type="http://schemas.openxmlformats.org/officeDocument/2006/relationships/slide" Target="/ppt/slides/slide212.xml" Id="R452150f7b11a48b3" /><Relationship Type="http://schemas.openxmlformats.org/officeDocument/2006/relationships/slide" Target="/ppt/slides/slide213.xml" Id="R84ef82d387644651" /><Relationship Type="http://schemas.openxmlformats.org/officeDocument/2006/relationships/slide" Target="/ppt/slides/slide214.xml" Id="R1590396e64194116" /><Relationship Type="http://schemas.openxmlformats.org/officeDocument/2006/relationships/slide" Target="/ppt/slides/slide215.xml" Id="R22be060610e440ee" /><Relationship Type="http://schemas.openxmlformats.org/officeDocument/2006/relationships/slide" Target="/ppt/slides/slide216.xml" Id="R0680b187df694c39" /><Relationship Type="http://schemas.openxmlformats.org/officeDocument/2006/relationships/slide" Target="/ppt/slides/slide217.xml" Id="R350c47d311e742a5" /><Relationship Type="http://schemas.openxmlformats.org/officeDocument/2006/relationships/slide" Target="/ppt/slides/slide218.xml" Id="R81dd18d7ab1d418c" /><Relationship Type="http://schemas.openxmlformats.org/officeDocument/2006/relationships/slide" Target="/ppt/slides/slide219.xml" Id="R771199dbc3e04715" /><Relationship Type="http://schemas.openxmlformats.org/officeDocument/2006/relationships/slide" Target="/ppt/slides/slide220.xml" Id="R40201975cf2f4ae0" /><Relationship Type="http://schemas.openxmlformats.org/officeDocument/2006/relationships/slide" Target="/ppt/slides/slide221.xml" Id="R9f681959267b4eb2" /><Relationship Type="http://schemas.openxmlformats.org/officeDocument/2006/relationships/slide" Target="/ppt/slides/slide222.xml" Id="R2b416222df0042e3" /><Relationship Type="http://schemas.openxmlformats.org/officeDocument/2006/relationships/slide" Target="/ppt/slides/slide223.xml" Id="R891f928e594b4bab" /><Relationship Type="http://schemas.openxmlformats.org/officeDocument/2006/relationships/slide" Target="/ppt/slides/slide224.xml" Id="R224a35213ec54f7c" /><Relationship Type="http://schemas.openxmlformats.org/officeDocument/2006/relationships/slide" Target="/ppt/slides/slide225.xml" Id="R4e82a6061f5b4301" /><Relationship Type="http://schemas.openxmlformats.org/officeDocument/2006/relationships/slide" Target="/ppt/slides/slide226.xml" Id="R8eaa84e7af0d40d5" /><Relationship Type="http://schemas.openxmlformats.org/officeDocument/2006/relationships/slide" Target="/ppt/slides/slide227.xml" Id="Reb87eb3ea9024d79" /><Relationship Type="http://schemas.openxmlformats.org/officeDocument/2006/relationships/slide" Target="/ppt/slides/slide228.xml" Id="Rf30b6e5ca71c4bbb" /><Relationship Type="http://schemas.openxmlformats.org/officeDocument/2006/relationships/slide" Target="/ppt/slides/slide229.xml" Id="Ra067c6159d99445d" /><Relationship Type="http://schemas.openxmlformats.org/officeDocument/2006/relationships/slide" Target="/ppt/slides/slide230.xml" Id="R3cbe0ab8afd84a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20db34b7a440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fb722ca6a94bf8" /><Relationship Type="http://schemas.openxmlformats.org/officeDocument/2006/relationships/notesMaster" Target="/ppt/notesMasters/notesMaster1.xml" Id="R365567ee9c8f4e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b40a28daa34d47" /><Relationship Type="http://schemas.openxmlformats.org/officeDocument/2006/relationships/notesMaster" Target="/ppt/notesMasters/notesMaster1.xml" Id="R81d61ace0a4c42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efc8ca83244c74" /><Relationship Type="http://schemas.openxmlformats.org/officeDocument/2006/relationships/notesMaster" Target="/ppt/notesMasters/notesMaster1.xml" Id="R93b57988daa548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8e1cd7d15c431f" /><Relationship Type="http://schemas.openxmlformats.org/officeDocument/2006/relationships/notesMaster" Target="/ppt/notesMasters/notesMaster1.xml" Id="R28185e11ad8f4e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48c1cbe8cd42a8" /><Relationship Type="http://schemas.openxmlformats.org/officeDocument/2006/relationships/notesMaster" Target="/ppt/notesMasters/notesMaster1.xml" Id="R4b05d4e0c65940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f84c53adac4c71" /><Relationship Type="http://schemas.openxmlformats.org/officeDocument/2006/relationships/notesMaster" Target="/ppt/notesMasters/notesMaster1.xml" Id="R287633b1b12943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fd2d3d6d8e4b82" /><Relationship Type="http://schemas.openxmlformats.org/officeDocument/2006/relationships/notesMaster" Target="/ppt/notesMasters/notesMaster1.xml" Id="Re5b8b1c5d1974e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bd35867f5e4873" /><Relationship Type="http://schemas.openxmlformats.org/officeDocument/2006/relationships/notesMaster" Target="/ppt/notesMasters/notesMaster1.xml" Id="R895d051d2b8b49e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abc430ec4b44bc" /><Relationship Type="http://schemas.openxmlformats.org/officeDocument/2006/relationships/notesMaster" Target="/ppt/notesMasters/notesMaster1.xml" Id="R5ecc948f607e46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1b6029971345e3" /><Relationship Type="http://schemas.openxmlformats.org/officeDocument/2006/relationships/notesMaster" Target="/ppt/notesMasters/notesMaster1.xml" Id="R8dc0dfc3763e4c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8c1f10afef47e7" /><Relationship Type="http://schemas.openxmlformats.org/officeDocument/2006/relationships/notesMaster" Target="/ppt/notesMasters/notesMaster1.xml" Id="R2b5119dad7254e9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99efe3b161544a8" /><Relationship Type="http://schemas.openxmlformats.org/officeDocument/2006/relationships/notesMaster" Target="/ppt/notesMasters/notesMaster1.xml" Id="R3d606a12823f4f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385bc0ff90b4d4f" /><Relationship Type="http://schemas.openxmlformats.org/officeDocument/2006/relationships/notesMaster" Target="/ppt/notesMasters/notesMaster1.xml" Id="R29da21e5028747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d764ddbc6742f3" /><Relationship Type="http://schemas.openxmlformats.org/officeDocument/2006/relationships/notesMaster" Target="/ppt/notesMasters/notesMaster1.xml" Id="R9a2e8563a49b425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dbf1e780c9140ff" /><Relationship Type="http://schemas.openxmlformats.org/officeDocument/2006/relationships/notesMaster" Target="/ppt/notesMasters/notesMaster1.xml" Id="Rf55f322032fc43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5daf01dc15544f5" /><Relationship Type="http://schemas.openxmlformats.org/officeDocument/2006/relationships/notesMaster" Target="/ppt/notesMasters/notesMaster1.xml" Id="R29affa03252140d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4d0e33e24f34b6f" /><Relationship Type="http://schemas.openxmlformats.org/officeDocument/2006/relationships/notesMaster" Target="/ppt/notesMasters/notesMaster1.xml" Id="Rb742ccef3b8d443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fe8fd7ccd774228" /><Relationship Type="http://schemas.openxmlformats.org/officeDocument/2006/relationships/notesMaster" Target="/ppt/notesMasters/notesMaster1.xml" Id="R62140d13bd974e5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4caa069d7864e63" /><Relationship Type="http://schemas.openxmlformats.org/officeDocument/2006/relationships/notesMaster" Target="/ppt/notesMasters/notesMaster1.xml" Id="R4cea968031af45b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abecb4d69894c00" /><Relationship Type="http://schemas.openxmlformats.org/officeDocument/2006/relationships/notesMaster" Target="/ppt/notesMasters/notesMaster1.xml" Id="Rb1825b4f4d8d4c7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dcab8f74a6b4512" /><Relationship Type="http://schemas.openxmlformats.org/officeDocument/2006/relationships/notesMaster" Target="/ppt/notesMasters/notesMaster1.xml" Id="R7e22b91e46cd4b0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69b1e68502e4ab3" /><Relationship Type="http://schemas.openxmlformats.org/officeDocument/2006/relationships/notesMaster" Target="/ppt/notesMasters/notesMaster1.xml" Id="R697637022419439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dbf64a1ee074f42" /><Relationship Type="http://schemas.openxmlformats.org/officeDocument/2006/relationships/notesMaster" Target="/ppt/notesMasters/notesMaster1.xml" Id="R16e148d4c6164a4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4386baa234c4739" /><Relationship Type="http://schemas.openxmlformats.org/officeDocument/2006/relationships/notesMaster" Target="/ppt/notesMasters/notesMaster1.xml" Id="R8a2a257bab52443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888d33eb57d4cd4" /><Relationship Type="http://schemas.openxmlformats.org/officeDocument/2006/relationships/notesMaster" Target="/ppt/notesMasters/notesMaster1.xml" Id="Rf8f00d1e091d4bf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5c204f5d66e462a" /><Relationship Type="http://schemas.openxmlformats.org/officeDocument/2006/relationships/notesMaster" Target="/ppt/notesMasters/notesMaster1.xml" Id="Rc5393318f12b4a4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67b2b99f5d340ed" /><Relationship Type="http://schemas.openxmlformats.org/officeDocument/2006/relationships/notesMaster" Target="/ppt/notesMasters/notesMaster1.xml" Id="Rce31a6c7e39f499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6b8fd32eb4c4b71" /><Relationship Type="http://schemas.openxmlformats.org/officeDocument/2006/relationships/notesMaster" Target="/ppt/notesMasters/notesMaster1.xml" Id="Rd6409284dfe2494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1055b6b34054d1b" /><Relationship Type="http://schemas.openxmlformats.org/officeDocument/2006/relationships/notesMaster" Target="/ppt/notesMasters/notesMaster1.xml" Id="R3c9728cb82d4485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2c1f46b0f1d4a51" /><Relationship Type="http://schemas.openxmlformats.org/officeDocument/2006/relationships/notesMaster" Target="/ppt/notesMasters/notesMaster1.xml" Id="R5aac9e1bd13d4dc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0e1a34d948f4c0c" /><Relationship Type="http://schemas.openxmlformats.org/officeDocument/2006/relationships/notesMaster" Target="/ppt/notesMasters/notesMaster1.xml" Id="Rd8f43c1c60624da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ab3073469d642a4" /><Relationship Type="http://schemas.openxmlformats.org/officeDocument/2006/relationships/notesMaster" Target="/ppt/notesMasters/notesMaster1.xml" Id="Rf3434a6c1f574db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59f6a6f83224054" /><Relationship Type="http://schemas.openxmlformats.org/officeDocument/2006/relationships/notesMaster" Target="/ppt/notesMasters/notesMaster1.xml" Id="R1f0b327d3ac1421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188aa3f698146ec" /><Relationship Type="http://schemas.openxmlformats.org/officeDocument/2006/relationships/notesMaster" Target="/ppt/notesMasters/notesMaster1.xml" Id="Rfeeec1bbffc84e6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4c23b104a00419a" /><Relationship Type="http://schemas.openxmlformats.org/officeDocument/2006/relationships/notesMaster" Target="/ppt/notesMasters/notesMaster1.xml" Id="R93ab4d887a8044f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d8985e829d04b98" /><Relationship Type="http://schemas.openxmlformats.org/officeDocument/2006/relationships/notesMaster" Target="/ppt/notesMasters/notesMaster1.xml" Id="Rb20f2bc56b944ed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9c1af3d0df24e16" /><Relationship Type="http://schemas.openxmlformats.org/officeDocument/2006/relationships/notesMaster" Target="/ppt/notesMasters/notesMaster1.xml" Id="R7b0fe25d6970440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4b1523f2ac742c1" /><Relationship Type="http://schemas.openxmlformats.org/officeDocument/2006/relationships/notesMaster" Target="/ppt/notesMasters/notesMaster1.xml" Id="R11f3aef0d1444e2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694d7ef0c1849ad" /><Relationship Type="http://schemas.openxmlformats.org/officeDocument/2006/relationships/notesMaster" Target="/ppt/notesMasters/notesMaster1.xml" Id="R838324cf8445482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01cbd0b99e84af2" /><Relationship Type="http://schemas.openxmlformats.org/officeDocument/2006/relationships/notesMaster" Target="/ppt/notesMasters/notesMaster1.xml" Id="Re7a7ef1717d24dc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56d790492744e7c" /><Relationship Type="http://schemas.openxmlformats.org/officeDocument/2006/relationships/notesMaster" Target="/ppt/notesMasters/notesMaster1.xml" Id="R9d014a906bc149e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b545c460cda4c65" /><Relationship Type="http://schemas.openxmlformats.org/officeDocument/2006/relationships/notesMaster" Target="/ppt/notesMasters/notesMaster1.xml" Id="Rd4ff6682b95a4b6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a8a263acd01465c" /><Relationship Type="http://schemas.openxmlformats.org/officeDocument/2006/relationships/notesMaster" Target="/ppt/notesMasters/notesMaster1.xml" Id="Rc958e838414b4e4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9470d1fc4044b47" /><Relationship Type="http://schemas.openxmlformats.org/officeDocument/2006/relationships/notesMaster" Target="/ppt/notesMasters/notesMaster1.xml" Id="Reb0274ef9ec2471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c4f36cba1a24c95" /><Relationship Type="http://schemas.openxmlformats.org/officeDocument/2006/relationships/notesMaster" Target="/ppt/notesMasters/notesMaster1.xml" Id="R927a6cad9e22495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4634e24e856424c" /><Relationship Type="http://schemas.openxmlformats.org/officeDocument/2006/relationships/notesMaster" Target="/ppt/notesMasters/notesMaster1.xml" Id="R6e97ed2453ca4a8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3d44aef94354ff5" /><Relationship Type="http://schemas.openxmlformats.org/officeDocument/2006/relationships/notesMaster" Target="/ppt/notesMasters/notesMaster1.xml" Id="Rf1a577a08165459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847a96521074841" /><Relationship Type="http://schemas.openxmlformats.org/officeDocument/2006/relationships/notesMaster" Target="/ppt/notesMasters/notesMaster1.xml" Id="R0547e1836b1f484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f124c847c2d49c7" /><Relationship Type="http://schemas.openxmlformats.org/officeDocument/2006/relationships/notesMaster" Target="/ppt/notesMasters/notesMaster1.xml" Id="R704c27956c7142b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314b41c4851458f" /><Relationship Type="http://schemas.openxmlformats.org/officeDocument/2006/relationships/notesMaster" Target="/ppt/notesMasters/notesMaster1.xml" Id="R5aaba87ebf24413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fbd0704d1bf42be" /><Relationship Type="http://schemas.openxmlformats.org/officeDocument/2006/relationships/notesMaster" Target="/ppt/notesMasters/notesMaster1.xml" Id="R007c3842383f41b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95bfa68de794618" /><Relationship Type="http://schemas.openxmlformats.org/officeDocument/2006/relationships/notesMaster" Target="/ppt/notesMasters/notesMaster1.xml" Id="Rb817c4aab244422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2ef58638a564d3d" /><Relationship Type="http://schemas.openxmlformats.org/officeDocument/2006/relationships/notesMaster" Target="/ppt/notesMasters/notesMaster1.xml" Id="R439f8643ff1943c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d8757249f9ce4425" /><Relationship Type="http://schemas.openxmlformats.org/officeDocument/2006/relationships/notesMaster" Target="/ppt/notesMasters/notesMaster1.xml" Id="Re863fcafb6d34cb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f23f7e328bcd4c5e" /><Relationship Type="http://schemas.openxmlformats.org/officeDocument/2006/relationships/notesMaster" Target="/ppt/notesMasters/notesMaster1.xml" Id="Rc341e34046f44d28"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280f0537b1344fd6" /><Relationship Type="http://schemas.openxmlformats.org/officeDocument/2006/relationships/notesMaster" Target="/ppt/notesMasters/notesMaster1.xml" Id="R6cd7439e213248f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48038485d45b4dd7" /><Relationship Type="http://schemas.openxmlformats.org/officeDocument/2006/relationships/notesMaster" Target="/ppt/notesMasters/notesMaster1.xml" Id="Rff5c94a5aa2d4fd3"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c85c8dd2fff4b2c" /><Relationship Type="http://schemas.openxmlformats.org/officeDocument/2006/relationships/notesMaster" Target="/ppt/notesMasters/notesMaster1.xml" Id="R37e421ad4f0a4c18"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e35765bda64045d9" /><Relationship Type="http://schemas.openxmlformats.org/officeDocument/2006/relationships/notesMaster" Target="/ppt/notesMasters/notesMaster1.xml" Id="Ra9735b3236ab4fe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49c87d8b1b064054" /><Relationship Type="http://schemas.openxmlformats.org/officeDocument/2006/relationships/notesMaster" Target="/ppt/notesMasters/notesMaster1.xml" Id="R8a74767306df4af8"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a1a9e9cd02e94a80" /><Relationship Type="http://schemas.openxmlformats.org/officeDocument/2006/relationships/notesMaster" Target="/ppt/notesMasters/notesMaster1.xml" Id="R1d26f4ac93024cb0"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8b9c6faa56764bcc" /><Relationship Type="http://schemas.openxmlformats.org/officeDocument/2006/relationships/notesMaster" Target="/ppt/notesMasters/notesMaster1.xml" Id="Rc2c0ff8d77c04ed1"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02857ae906cb444e" /><Relationship Type="http://schemas.openxmlformats.org/officeDocument/2006/relationships/notesMaster" Target="/ppt/notesMasters/notesMaster1.xml" Id="R077b5b059fdf457a"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27ca7b446c2b4077" /><Relationship Type="http://schemas.openxmlformats.org/officeDocument/2006/relationships/notesMaster" Target="/ppt/notesMasters/notesMaster1.xml" Id="Rd27db686f5804408"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9d73d5a3144e4d98" /><Relationship Type="http://schemas.openxmlformats.org/officeDocument/2006/relationships/notesMaster" Target="/ppt/notesMasters/notesMaster1.xml" Id="R60840519fa834c9a"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6b4271aae2e6403d" /><Relationship Type="http://schemas.openxmlformats.org/officeDocument/2006/relationships/notesMaster" Target="/ppt/notesMasters/notesMaster1.xml" Id="R4ac9603c4acd4720"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eb4ecc75528a4b02" /><Relationship Type="http://schemas.openxmlformats.org/officeDocument/2006/relationships/notesMaster" Target="/ppt/notesMasters/notesMaster1.xml" Id="R588bebbf0cd147a2"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20cb0e9c36fc4e71" /><Relationship Type="http://schemas.openxmlformats.org/officeDocument/2006/relationships/notesMaster" Target="/ppt/notesMasters/notesMaster1.xml" Id="R6806352037e54c7d"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f28046170dbc4d19" /><Relationship Type="http://schemas.openxmlformats.org/officeDocument/2006/relationships/notesMaster" Target="/ppt/notesMasters/notesMaster1.xml" Id="R4ed02a8f55b64f5e"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dea270b39af4431c" /><Relationship Type="http://schemas.openxmlformats.org/officeDocument/2006/relationships/notesMaster" Target="/ppt/notesMasters/notesMaster1.xml" Id="R82e7414523844669"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ab9a7dccb0c34bef" /><Relationship Type="http://schemas.openxmlformats.org/officeDocument/2006/relationships/notesMaster" Target="/ppt/notesMasters/notesMaster1.xml" Id="Rbae856943f294531"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d8c714e602f54bc3" /><Relationship Type="http://schemas.openxmlformats.org/officeDocument/2006/relationships/notesMaster" Target="/ppt/notesMasters/notesMaster1.xml" Id="Rda8b1ffaf59a4bad"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62e368b3f0ec47a6" /><Relationship Type="http://schemas.openxmlformats.org/officeDocument/2006/relationships/notesMaster" Target="/ppt/notesMasters/notesMaster1.xml" Id="R56fabb155cb94fe3"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9fc4a518fd054dc9" /><Relationship Type="http://schemas.openxmlformats.org/officeDocument/2006/relationships/notesMaster" Target="/ppt/notesMasters/notesMaster1.xml" Id="Rc0086f1a21294bd2"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faeff31f7eb64903" /><Relationship Type="http://schemas.openxmlformats.org/officeDocument/2006/relationships/notesMaster" Target="/ppt/notesMasters/notesMaster1.xml" Id="R4f489e4aad12468b"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ac8a7a131f8c46e6" /><Relationship Type="http://schemas.openxmlformats.org/officeDocument/2006/relationships/notesMaster" Target="/ppt/notesMasters/notesMaster1.xml" Id="R18512e26ad3c46de"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8eb657fb3b374a8a" /><Relationship Type="http://schemas.openxmlformats.org/officeDocument/2006/relationships/notesMaster" Target="/ppt/notesMasters/notesMaster1.xml" Id="R046a945ea8c74e97"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51836ce3f07a4c72" /><Relationship Type="http://schemas.openxmlformats.org/officeDocument/2006/relationships/notesMaster" Target="/ppt/notesMasters/notesMaster1.xml" Id="Rae1d28e379e7427f"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b3d4c0633a7f4ba7" /><Relationship Type="http://schemas.openxmlformats.org/officeDocument/2006/relationships/notesMaster" Target="/ppt/notesMasters/notesMaster1.xml" Id="Rfb88e437798e4b82"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db17d6a39c2b43c4" /><Relationship Type="http://schemas.openxmlformats.org/officeDocument/2006/relationships/notesMaster" Target="/ppt/notesMasters/notesMaster1.xml" Id="R1599b552bf4b492c"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2757bbdbe5404fab" /><Relationship Type="http://schemas.openxmlformats.org/officeDocument/2006/relationships/notesMaster" Target="/ppt/notesMasters/notesMaster1.xml" Id="R3f6905c29ed94938"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f7b04c0f4d684ba5" /><Relationship Type="http://schemas.openxmlformats.org/officeDocument/2006/relationships/notesMaster" Target="/ppt/notesMasters/notesMaster1.xml" Id="Ra871aba807d5443a"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b883d94d3e9f4c15" /><Relationship Type="http://schemas.openxmlformats.org/officeDocument/2006/relationships/notesMaster" Target="/ppt/notesMasters/notesMaster1.xml" Id="Rd3baf6f3b9e848d4"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be816dd40bf04687" /><Relationship Type="http://schemas.openxmlformats.org/officeDocument/2006/relationships/notesMaster" Target="/ppt/notesMasters/notesMaster1.xml" Id="R9233b3df9425464c"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22db1949077a47ed" /><Relationship Type="http://schemas.openxmlformats.org/officeDocument/2006/relationships/notesMaster" Target="/ppt/notesMasters/notesMaster1.xml" Id="Rede00ab5b7a446f5"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048d650bfa60442e" /><Relationship Type="http://schemas.openxmlformats.org/officeDocument/2006/relationships/notesMaster" Target="/ppt/notesMasters/notesMaster1.xml" Id="R7f7a709aa2d74d01"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eb3da833d7ac49db" /><Relationship Type="http://schemas.openxmlformats.org/officeDocument/2006/relationships/notesMaster" Target="/ppt/notesMasters/notesMaster1.xml" Id="R01b336641668466f"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e5e9eecd3c4f4266" /><Relationship Type="http://schemas.openxmlformats.org/officeDocument/2006/relationships/notesMaster" Target="/ppt/notesMasters/notesMaster1.xml" Id="R1f2c4455bc244c70"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d7da592e583f4530" /><Relationship Type="http://schemas.openxmlformats.org/officeDocument/2006/relationships/notesMaster" Target="/ppt/notesMasters/notesMaster1.xml" Id="Rb81f7477172b469c"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67dbfb30acb2465f" /><Relationship Type="http://schemas.openxmlformats.org/officeDocument/2006/relationships/notesMaster" Target="/ppt/notesMasters/notesMaster1.xml" Id="Rfcba7f36c04d47c1"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6d02d5bc54d6460e" /><Relationship Type="http://schemas.openxmlformats.org/officeDocument/2006/relationships/notesMaster" Target="/ppt/notesMasters/notesMaster1.xml" Id="Rb7c4349697f84db3"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bd8c5f25fc8c4994" /><Relationship Type="http://schemas.openxmlformats.org/officeDocument/2006/relationships/notesMaster" Target="/ppt/notesMasters/notesMaster1.xml" Id="Rb0b7f9ae2aef4dff"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0dc6727de7964610" /><Relationship Type="http://schemas.openxmlformats.org/officeDocument/2006/relationships/notesMaster" Target="/ppt/notesMasters/notesMaster1.xml" Id="Ra5720da8de27428f"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77dcdb02a458433c" /><Relationship Type="http://schemas.openxmlformats.org/officeDocument/2006/relationships/notesMaster" Target="/ppt/notesMasters/notesMaster1.xml" Id="R01facc3e90a345a5"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c5ed1d15a0774d79" /><Relationship Type="http://schemas.openxmlformats.org/officeDocument/2006/relationships/notesMaster" Target="/ppt/notesMasters/notesMaster1.xml" Id="R9adad17091084803"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c94a530da06046fd" /><Relationship Type="http://schemas.openxmlformats.org/officeDocument/2006/relationships/notesMaster" Target="/ppt/notesMasters/notesMaster1.xml" Id="R4b7fa52604f443cb"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7b79bef14e2242b6" /><Relationship Type="http://schemas.openxmlformats.org/officeDocument/2006/relationships/notesMaster" Target="/ppt/notesMasters/notesMaster1.xml" Id="R47eb9f4b9e8247e7"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31a699fb97ab4648" /><Relationship Type="http://schemas.openxmlformats.org/officeDocument/2006/relationships/notesMaster" Target="/ppt/notesMasters/notesMaster1.xml" Id="Rb7d808d19c884b85"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9e9d0afba3fb45a4" /><Relationship Type="http://schemas.openxmlformats.org/officeDocument/2006/relationships/notesMaster" Target="/ppt/notesMasters/notesMaster1.xml" Id="Rc8700ec1fb5a4284"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b1f4358dbf474614" /><Relationship Type="http://schemas.openxmlformats.org/officeDocument/2006/relationships/notesMaster" Target="/ppt/notesMasters/notesMaster1.xml" Id="R11b092f5d8e74bb5"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e4d29cddc69147be" /><Relationship Type="http://schemas.openxmlformats.org/officeDocument/2006/relationships/notesMaster" Target="/ppt/notesMasters/notesMaster1.xml" Id="Rbc52d96688cc4ade"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8b282c08b2e540bf" /><Relationship Type="http://schemas.openxmlformats.org/officeDocument/2006/relationships/notesMaster" Target="/ppt/notesMasters/notesMaster1.xml" Id="R481b3af337024a37"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5d0c22971c464b17" /><Relationship Type="http://schemas.openxmlformats.org/officeDocument/2006/relationships/notesMaster" Target="/ppt/notesMasters/notesMaster1.xml" Id="R35283f02628c47b1"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3d975b0cb5da4127" /><Relationship Type="http://schemas.openxmlformats.org/officeDocument/2006/relationships/notesMaster" Target="/ppt/notesMasters/notesMaster1.xml" Id="R754846d86cbd449a"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f9898acb3caf4d99" /><Relationship Type="http://schemas.openxmlformats.org/officeDocument/2006/relationships/notesMaster" Target="/ppt/notesMasters/notesMaster1.xml" Id="R1d6694e3d842419f"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2b22b4fb68df4d46" /><Relationship Type="http://schemas.openxmlformats.org/officeDocument/2006/relationships/notesMaster" Target="/ppt/notesMasters/notesMaster1.xml" Id="R362152804103438b"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3f9848b54f9d4ad7" /><Relationship Type="http://schemas.openxmlformats.org/officeDocument/2006/relationships/notesMaster" Target="/ppt/notesMasters/notesMaster1.xml" Id="R824f2b0615d3418f"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0386ca1b3daf466c" /><Relationship Type="http://schemas.openxmlformats.org/officeDocument/2006/relationships/notesMaster" Target="/ppt/notesMasters/notesMaster1.xml" Id="R0a4c0400fb404fe4"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bb18a7edbd99485f" /><Relationship Type="http://schemas.openxmlformats.org/officeDocument/2006/relationships/notesMaster" Target="/ppt/notesMasters/notesMaster1.xml" Id="Rcfa15ee4ef674a88"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5ade26f717024135" /><Relationship Type="http://schemas.openxmlformats.org/officeDocument/2006/relationships/notesMaster" Target="/ppt/notesMasters/notesMaster1.xml" Id="R2542fa1ddae64bb4"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fdcbdd7f5a394b92" /><Relationship Type="http://schemas.openxmlformats.org/officeDocument/2006/relationships/notesMaster" Target="/ppt/notesMasters/notesMaster1.xml" Id="R23ae5c0bb81d4a8c"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1fe96a8b7f534921" /><Relationship Type="http://schemas.openxmlformats.org/officeDocument/2006/relationships/notesMaster" Target="/ppt/notesMasters/notesMaster1.xml" Id="R18030f524a02435a"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b33d3fc348f0498c" /><Relationship Type="http://schemas.openxmlformats.org/officeDocument/2006/relationships/notesMaster" Target="/ppt/notesMasters/notesMaster1.xml" Id="Rbeae6eb79b354550"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064d6e13f14d499c" /><Relationship Type="http://schemas.openxmlformats.org/officeDocument/2006/relationships/notesMaster" Target="/ppt/notesMasters/notesMaster1.xml" Id="R72a4bd54890f4eb9"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1f631083481c4953" /><Relationship Type="http://schemas.openxmlformats.org/officeDocument/2006/relationships/notesMaster" Target="/ppt/notesMasters/notesMaster1.xml" Id="R99478e109ab04949"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ab66a0594ed2464c" /><Relationship Type="http://schemas.openxmlformats.org/officeDocument/2006/relationships/notesMaster" Target="/ppt/notesMasters/notesMaster1.xml" Id="R480d7bd214294295"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613a83e421014572" /><Relationship Type="http://schemas.openxmlformats.org/officeDocument/2006/relationships/notesMaster" Target="/ppt/notesMasters/notesMaster1.xml" Id="Rb4e52914558a4d04"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a2f3a53826dc4ff5" /><Relationship Type="http://schemas.openxmlformats.org/officeDocument/2006/relationships/notesMaster" Target="/ppt/notesMasters/notesMaster1.xml" Id="R0939e0d054b54c96"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d2b5d2be3924433a" /><Relationship Type="http://schemas.openxmlformats.org/officeDocument/2006/relationships/notesMaster" Target="/ppt/notesMasters/notesMaster1.xml" Id="R608b9b6f5c3943a9"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5719cb347dd343a5" /><Relationship Type="http://schemas.openxmlformats.org/officeDocument/2006/relationships/notesMaster" Target="/ppt/notesMasters/notesMaster1.xml" Id="Rbf6461ed492e49d3"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ca8db0947e4640f7" /><Relationship Type="http://schemas.openxmlformats.org/officeDocument/2006/relationships/notesMaster" Target="/ppt/notesMasters/notesMaster1.xml" Id="R172ce3e3fd1b41df"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7cedfffff5964a72" /><Relationship Type="http://schemas.openxmlformats.org/officeDocument/2006/relationships/notesMaster" Target="/ppt/notesMasters/notesMaster1.xml" Id="R1d707b2c5b144961"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9efa9fa986da4668" /><Relationship Type="http://schemas.openxmlformats.org/officeDocument/2006/relationships/notesMaster" Target="/ppt/notesMasters/notesMaster1.xml" Id="R67126fe7f8434825"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e061d0ad270d4628" /><Relationship Type="http://schemas.openxmlformats.org/officeDocument/2006/relationships/notesMaster" Target="/ppt/notesMasters/notesMaster1.xml" Id="Rb733457ae8924250"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14911699f5c14643" /><Relationship Type="http://schemas.openxmlformats.org/officeDocument/2006/relationships/notesMaster" Target="/ppt/notesMasters/notesMaster1.xml" Id="Ra5ba8d424a7e453d"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0e8bd8d90e494175" /><Relationship Type="http://schemas.openxmlformats.org/officeDocument/2006/relationships/notesMaster" Target="/ppt/notesMasters/notesMaster1.xml" Id="R0c4aa7288a7d4734"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1822068891df4c41" /><Relationship Type="http://schemas.openxmlformats.org/officeDocument/2006/relationships/notesMaster" Target="/ppt/notesMasters/notesMaster1.xml" Id="R180bb7500cab464a"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ff9209918ba248c5" /><Relationship Type="http://schemas.openxmlformats.org/officeDocument/2006/relationships/notesMaster" Target="/ppt/notesMasters/notesMaster1.xml" Id="R8878c30f16f4406c"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61ba83d9bef94e81" /><Relationship Type="http://schemas.openxmlformats.org/officeDocument/2006/relationships/notesMaster" Target="/ppt/notesMasters/notesMaster1.xml" Id="R3c81aa9b85364c97"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bcede53fc0014589" /><Relationship Type="http://schemas.openxmlformats.org/officeDocument/2006/relationships/notesMaster" Target="/ppt/notesMasters/notesMaster1.xml" Id="R1bab5a6c95504396"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395f7bfbd2f64252" /><Relationship Type="http://schemas.openxmlformats.org/officeDocument/2006/relationships/notesMaster" Target="/ppt/notesMasters/notesMaster1.xml" Id="R0035eeac26ab43fb"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f038a0d1c9e84040" /><Relationship Type="http://schemas.openxmlformats.org/officeDocument/2006/relationships/notesMaster" Target="/ppt/notesMasters/notesMaster1.xml" Id="R4e56c924a57a4cd1"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1b60638e82814e1c" /><Relationship Type="http://schemas.openxmlformats.org/officeDocument/2006/relationships/notesMaster" Target="/ppt/notesMasters/notesMaster1.xml" Id="R5cf3149cfffb4a6c"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2d417616ee2d4c6e" /><Relationship Type="http://schemas.openxmlformats.org/officeDocument/2006/relationships/notesMaster" Target="/ppt/notesMasters/notesMaster1.xml" Id="R0b806308a7f94b1d"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5fe95c0a83c141cf" /><Relationship Type="http://schemas.openxmlformats.org/officeDocument/2006/relationships/notesMaster" Target="/ppt/notesMasters/notesMaster1.xml" Id="Ree02af4d76764755"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de743373510f4b5c" /><Relationship Type="http://schemas.openxmlformats.org/officeDocument/2006/relationships/notesMaster" Target="/ppt/notesMasters/notesMaster1.xml" Id="R1f652d96e02f43c1"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1b4bb591d2f44795" /><Relationship Type="http://schemas.openxmlformats.org/officeDocument/2006/relationships/notesMaster" Target="/ppt/notesMasters/notesMaster1.xml" Id="R94d62870943742d3"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63a66cd6de9d4008" /><Relationship Type="http://schemas.openxmlformats.org/officeDocument/2006/relationships/notesMaster" Target="/ppt/notesMasters/notesMaster1.xml" Id="R88a2627004964ca2"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bbfc5d21f88e4432" /><Relationship Type="http://schemas.openxmlformats.org/officeDocument/2006/relationships/notesMaster" Target="/ppt/notesMasters/notesMaster1.xml" Id="Re2059f323f83455b"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092d138eab904c4f" /><Relationship Type="http://schemas.openxmlformats.org/officeDocument/2006/relationships/notesMaster" Target="/ppt/notesMasters/notesMaster1.xml" Id="Rb88d6703895c4bfc"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792dd01d85834361" /><Relationship Type="http://schemas.openxmlformats.org/officeDocument/2006/relationships/notesMaster" Target="/ppt/notesMasters/notesMaster1.xml" Id="R4e6b08ba5e304402"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346eb4aacb5c4d1e" /><Relationship Type="http://schemas.openxmlformats.org/officeDocument/2006/relationships/notesMaster" Target="/ppt/notesMasters/notesMaster1.xml" Id="R9d38710e93ab41d8"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730bda37e1fa4395" /><Relationship Type="http://schemas.openxmlformats.org/officeDocument/2006/relationships/notesMaster" Target="/ppt/notesMasters/notesMaster1.xml" Id="Rf8899d8e4c724d1d"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5d5748fad8ad4aa7" /><Relationship Type="http://schemas.openxmlformats.org/officeDocument/2006/relationships/notesMaster" Target="/ppt/notesMasters/notesMaster1.xml" Id="Rf68939ce3e234d49"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5a3e34dc40124a4e" /><Relationship Type="http://schemas.openxmlformats.org/officeDocument/2006/relationships/notesMaster" Target="/ppt/notesMasters/notesMaster1.xml" Id="Rff5a68b081894989"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cfb1b7eadb80440b" /><Relationship Type="http://schemas.openxmlformats.org/officeDocument/2006/relationships/notesMaster" Target="/ppt/notesMasters/notesMaster1.xml" Id="Rdaaa7ab218554123"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a2cf07f337c845f2" /><Relationship Type="http://schemas.openxmlformats.org/officeDocument/2006/relationships/notesMaster" Target="/ppt/notesMasters/notesMaster1.xml" Id="R1d049b06446f4266"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6adfd1cfac5f427a" /><Relationship Type="http://schemas.openxmlformats.org/officeDocument/2006/relationships/notesMaster" Target="/ppt/notesMasters/notesMaster1.xml" Id="R129c2f20ca764382"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bda3067d04d84897" /><Relationship Type="http://schemas.openxmlformats.org/officeDocument/2006/relationships/notesMaster" Target="/ppt/notesMasters/notesMaster1.xml" Id="Rf55890a93ef540ff"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2f850ccf69414f0b" /><Relationship Type="http://schemas.openxmlformats.org/officeDocument/2006/relationships/notesMaster" Target="/ppt/notesMasters/notesMaster1.xml" Id="R2ba95acd6202426e"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2bdee07449064c66" /><Relationship Type="http://schemas.openxmlformats.org/officeDocument/2006/relationships/notesMaster" Target="/ppt/notesMasters/notesMaster1.xml" Id="Rd7100f094fb244ed"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107dafc8083649e0" /><Relationship Type="http://schemas.openxmlformats.org/officeDocument/2006/relationships/notesMaster" Target="/ppt/notesMasters/notesMaster1.xml" Id="R73d1b32aae724a0d"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322c0c252b214b95" /><Relationship Type="http://schemas.openxmlformats.org/officeDocument/2006/relationships/notesMaster" Target="/ppt/notesMasters/notesMaster1.xml" Id="R630134425a7e43e6"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429ee036ba8a400b" /><Relationship Type="http://schemas.openxmlformats.org/officeDocument/2006/relationships/notesMaster" Target="/ppt/notesMasters/notesMaster1.xml" Id="R48168cdbc26941eb"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3cb2294ca5c24774" /><Relationship Type="http://schemas.openxmlformats.org/officeDocument/2006/relationships/notesMaster" Target="/ppt/notesMasters/notesMaster1.xml" Id="Rdd5b702a2d664d26"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ac699047460d482f" /><Relationship Type="http://schemas.openxmlformats.org/officeDocument/2006/relationships/notesMaster" Target="/ppt/notesMasters/notesMaster1.xml" Id="R8ea898353c454f90"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80087114c3a04f38" /><Relationship Type="http://schemas.openxmlformats.org/officeDocument/2006/relationships/notesMaster" Target="/ppt/notesMasters/notesMaster1.xml" Id="R2f4ef263c0aa4eed"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2efb23924dd942df" /><Relationship Type="http://schemas.openxmlformats.org/officeDocument/2006/relationships/notesMaster" Target="/ppt/notesMasters/notesMaster1.xml" Id="R555fac6e8e6248cf"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aa437c4bb32e469e" /><Relationship Type="http://schemas.openxmlformats.org/officeDocument/2006/relationships/notesMaster" Target="/ppt/notesMasters/notesMaster1.xml" Id="R32d1ea3367304d33"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772df758834d4ece" /><Relationship Type="http://schemas.openxmlformats.org/officeDocument/2006/relationships/notesMaster" Target="/ppt/notesMasters/notesMaster1.xml" Id="R65e02dcd16f04932"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b6414b79dfee47ed" /><Relationship Type="http://schemas.openxmlformats.org/officeDocument/2006/relationships/notesMaster" Target="/ppt/notesMasters/notesMaster1.xml" Id="R9b01941d83b246c4"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bb737f7ee0374d44" /><Relationship Type="http://schemas.openxmlformats.org/officeDocument/2006/relationships/notesMaster" Target="/ppt/notesMasters/notesMaster1.xml" Id="R36751a250b544ef4"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d203d5761bc6405b" /><Relationship Type="http://schemas.openxmlformats.org/officeDocument/2006/relationships/notesMaster" Target="/ppt/notesMasters/notesMaster1.xml" Id="R5bf83d12fa0449a1"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d54284c4cbc1448f" /><Relationship Type="http://schemas.openxmlformats.org/officeDocument/2006/relationships/notesMaster" Target="/ppt/notesMasters/notesMaster1.xml" Id="R2c79da970f7a4377"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0b8813e2b3814062" /><Relationship Type="http://schemas.openxmlformats.org/officeDocument/2006/relationships/notesMaster" Target="/ppt/notesMasters/notesMaster1.xml" Id="Rb918cd2e316d4c03"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02144419aafb477b" /><Relationship Type="http://schemas.openxmlformats.org/officeDocument/2006/relationships/notesMaster" Target="/ppt/notesMasters/notesMaster1.xml" Id="R60dc847c72ad427d" /></Relationships>
</file>

<file path=ppt/notesSlides/_rels/notesSlide167.xml.rels>&#65279;<?xml version="1.0" encoding="utf-8"?><Relationships xmlns="http://schemas.openxmlformats.org/package/2006/relationships"><Relationship Type="http://schemas.openxmlformats.org/officeDocument/2006/relationships/slide" Target="/ppt/slides/slide167.xml" Id="R8d6e325f7f6a40c4" /><Relationship Type="http://schemas.openxmlformats.org/officeDocument/2006/relationships/notesMaster" Target="/ppt/notesMasters/notesMaster1.xml" Id="R04dc0eb49e064c6d" /></Relationships>
</file>

<file path=ppt/notesSlides/_rels/notesSlide168.xml.rels>&#65279;<?xml version="1.0" encoding="utf-8"?><Relationships xmlns="http://schemas.openxmlformats.org/package/2006/relationships"><Relationship Type="http://schemas.openxmlformats.org/officeDocument/2006/relationships/slide" Target="/ppt/slides/slide168.xml" Id="R55868a1e42584c08" /><Relationship Type="http://schemas.openxmlformats.org/officeDocument/2006/relationships/notesMaster" Target="/ppt/notesMasters/notesMaster1.xml" Id="Rdc27d2c9b6444898" /></Relationships>
</file>

<file path=ppt/notesSlides/_rels/notesSlide169.xml.rels>&#65279;<?xml version="1.0" encoding="utf-8"?><Relationships xmlns="http://schemas.openxmlformats.org/package/2006/relationships"><Relationship Type="http://schemas.openxmlformats.org/officeDocument/2006/relationships/slide" Target="/ppt/slides/slide169.xml" Id="Rfc7d9e2ca3734e7c" /><Relationship Type="http://schemas.openxmlformats.org/officeDocument/2006/relationships/notesMaster" Target="/ppt/notesMasters/notesMaster1.xml" Id="R36cb7999465547a0" /></Relationships>
</file>

<file path=ppt/notesSlides/_rels/notesSlide170.xml.rels>&#65279;<?xml version="1.0" encoding="utf-8"?><Relationships xmlns="http://schemas.openxmlformats.org/package/2006/relationships"><Relationship Type="http://schemas.openxmlformats.org/officeDocument/2006/relationships/slide" Target="/ppt/slides/slide170.xml" Id="Rba0408c1e4454cba" /><Relationship Type="http://schemas.openxmlformats.org/officeDocument/2006/relationships/notesMaster" Target="/ppt/notesMasters/notesMaster1.xml" Id="R8a513f71dfc94e7e" /></Relationships>
</file>

<file path=ppt/notesSlides/_rels/notesSlide171.xml.rels>&#65279;<?xml version="1.0" encoding="utf-8"?><Relationships xmlns="http://schemas.openxmlformats.org/package/2006/relationships"><Relationship Type="http://schemas.openxmlformats.org/officeDocument/2006/relationships/slide" Target="/ppt/slides/slide171.xml" Id="R492e2efbce7c4c0d" /><Relationship Type="http://schemas.openxmlformats.org/officeDocument/2006/relationships/notesMaster" Target="/ppt/notesMasters/notesMaster1.xml" Id="R61351fd1d0144a05" /></Relationships>
</file>

<file path=ppt/notesSlides/_rels/notesSlide172.xml.rels>&#65279;<?xml version="1.0" encoding="utf-8"?><Relationships xmlns="http://schemas.openxmlformats.org/package/2006/relationships"><Relationship Type="http://schemas.openxmlformats.org/officeDocument/2006/relationships/slide" Target="/ppt/slides/slide172.xml" Id="Rb7e4add22c2f42ce" /><Relationship Type="http://schemas.openxmlformats.org/officeDocument/2006/relationships/notesMaster" Target="/ppt/notesMasters/notesMaster1.xml" Id="R20956539039d4222" /></Relationships>
</file>

<file path=ppt/notesSlides/_rels/notesSlide173.xml.rels>&#65279;<?xml version="1.0" encoding="utf-8"?><Relationships xmlns="http://schemas.openxmlformats.org/package/2006/relationships"><Relationship Type="http://schemas.openxmlformats.org/officeDocument/2006/relationships/slide" Target="/ppt/slides/slide173.xml" Id="R0a2c2374e581457a" /><Relationship Type="http://schemas.openxmlformats.org/officeDocument/2006/relationships/notesMaster" Target="/ppt/notesMasters/notesMaster1.xml" Id="R565a65ca473c4b4b" /></Relationships>
</file>

<file path=ppt/notesSlides/_rels/notesSlide174.xml.rels>&#65279;<?xml version="1.0" encoding="utf-8"?><Relationships xmlns="http://schemas.openxmlformats.org/package/2006/relationships"><Relationship Type="http://schemas.openxmlformats.org/officeDocument/2006/relationships/slide" Target="/ppt/slides/slide174.xml" Id="R9f4e8342458746e8" /><Relationship Type="http://schemas.openxmlformats.org/officeDocument/2006/relationships/notesMaster" Target="/ppt/notesMasters/notesMaster1.xml" Id="Rdca283a714ef40f3" /></Relationships>
</file>

<file path=ppt/notesSlides/_rels/notesSlide175.xml.rels>&#65279;<?xml version="1.0" encoding="utf-8"?><Relationships xmlns="http://schemas.openxmlformats.org/package/2006/relationships"><Relationship Type="http://schemas.openxmlformats.org/officeDocument/2006/relationships/slide" Target="/ppt/slides/slide175.xml" Id="R1bd9d897fd4c4c00" /><Relationship Type="http://schemas.openxmlformats.org/officeDocument/2006/relationships/notesMaster" Target="/ppt/notesMasters/notesMaster1.xml" Id="Rdb5f5a5f651f446e" /></Relationships>
</file>

<file path=ppt/notesSlides/_rels/notesSlide176.xml.rels>&#65279;<?xml version="1.0" encoding="utf-8"?><Relationships xmlns="http://schemas.openxmlformats.org/package/2006/relationships"><Relationship Type="http://schemas.openxmlformats.org/officeDocument/2006/relationships/slide" Target="/ppt/slides/slide176.xml" Id="R7b89e1c6f0a94ad3" /><Relationship Type="http://schemas.openxmlformats.org/officeDocument/2006/relationships/notesMaster" Target="/ppt/notesMasters/notesMaster1.xml" Id="R7b90d9690d3d43f6" /></Relationships>
</file>

<file path=ppt/notesSlides/_rels/notesSlide177.xml.rels>&#65279;<?xml version="1.0" encoding="utf-8"?><Relationships xmlns="http://schemas.openxmlformats.org/package/2006/relationships"><Relationship Type="http://schemas.openxmlformats.org/officeDocument/2006/relationships/slide" Target="/ppt/slides/slide177.xml" Id="Rba84a888e3a64cf0" /><Relationship Type="http://schemas.openxmlformats.org/officeDocument/2006/relationships/notesMaster" Target="/ppt/notesMasters/notesMaster1.xml" Id="Ra610a62473c64bdb" /></Relationships>
</file>

<file path=ppt/notesSlides/_rels/notesSlide178.xml.rels>&#65279;<?xml version="1.0" encoding="utf-8"?><Relationships xmlns="http://schemas.openxmlformats.org/package/2006/relationships"><Relationship Type="http://schemas.openxmlformats.org/officeDocument/2006/relationships/slide" Target="/ppt/slides/slide178.xml" Id="R075421769a174e60" /><Relationship Type="http://schemas.openxmlformats.org/officeDocument/2006/relationships/notesMaster" Target="/ppt/notesMasters/notesMaster1.xml" Id="R16be5f6d06894f10" /></Relationships>
</file>

<file path=ppt/notesSlides/_rels/notesSlide179.xml.rels>&#65279;<?xml version="1.0" encoding="utf-8"?><Relationships xmlns="http://schemas.openxmlformats.org/package/2006/relationships"><Relationship Type="http://schemas.openxmlformats.org/officeDocument/2006/relationships/slide" Target="/ppt/slides/slide179.xml" Id="R8eb2a0b7ff6f48c1" /><Relationship Type="http://schemas.openxmlformats.org/officeDocument/2006/relationships/notesMaster" Target="/ppt/notesMasters/notesMaster1.xml" Id="R6b22a679eb714ff2" /></Relationships>
</file>

<file path=ppt/notesSlides/_rels/notesSlide180.xml.rels>&#65279;<?xml version="1.0" encoding="utf-8"?><Relationships xmlns="http://schemas.openxmlformats.org/package/2006/relationships"><Relationship Type="http://schemas.openxmlformats.org/officeDocument/2006/relationships/slide" Target="/ppt/slides/slide180.xml" Id="Rc22a7f9aaac34c1f" /><Relationship Type="http://schemas.openxmlformats.org/officeDocument/2006/relationships/notesMaster" Target="/ppt/notesMasters/notesMaster1.xml" Id="R769664581d754907" /></Relationships>
</file>

<file path=ppt/notesSlides/_rels/notesSlide181.xml.rels>&#65279;<?xml version="1.0" encoding="utf-8"?><Relationships xmlns="http://schemas.openxmlformats.org/package/2006/relationships"><Relationship Type="http://schemas.openxmlformats.org/officeDocument/2006/relationships/slide" Target="/ppt/slides/slide181.xml" Id="R1340dc94560a4408" /><Relationship Type="http://schemas.openxmlformats.org/officeDocument/2006/relationships/notesMaster" Target="/ppt/notesMasters/notesMaster1.xml" Id="Rc165913f54de427d" /></Relationships>
</file>

<file path=ppt/notesSlides/_rels/notesSlide182.xml.rels>&#65279;<?xml version="1.0" encoding="utf-8"?><Relationships xmlns="http://schemas.openxmlformats.org/package/2006/relationships"><Relationship Type="http://schemas.openxmlformats.org/officeDocument/2006/relationships/slide" Target="/ppt/slides/slide182.xml" Id="Rb9b33689d79d4e95" /><Relationship Type="http://schemas.openxmlformats.org/officeDocument/2006/relationships/notesMaster" Target="/ppt/notesMasters/notesMaster1.xml" Id="R7637cc6b92424a1b" /></Relationships>
</file>

<file path=ppt/notesSlides/_rels/notesSlide183.xml.rels>&#65279;<?xml version="1.0" encoding="utf-8"?><Relationships xmlns="http://schemas.openxmlformats.org/package/2006/relationships"><Relationship Type="http://schemas.openxmlformats.org/officeDocument/2006/relationships/slide" Target="/ppt/slides/slide183.xml" Id="Ra7ccdb3e8e21493a" /><Relationship Type="http://schemas.openxmlformats.org/officeDocument/2006/relationships/notesMaster" Target="/ppt/notesMasters/notesMaster1.xml" Id="R581dd76d931e46a5" /></Relationships>
</file>

<file path=ppt/notesSlides/_rels/notesSlide184.xml.rels>&#65279;<?xml version="1.0" encoding="utf-8"?><Relationships xmlns="http://schemas.openxmlformats.org/package/2006/relationships"><Relationship Type="http://schemas.openxmlformats.org/officeDocument/2006/relationships/slide" Target="/ppt/slides/slide184.xml" Id="R21360c6b05d54c59" /><Relationship Type="http://schemas.openxmlformats.org/officeDocument/2006/relationships/notesMaster" Target="/ppt/notesMasters/notesMaster1.xml" Id="R34eab72ef1b242df" /></Relationships>
</file>

<file path=ppt/notesSlides/_rels/notesSlide185.xml.rels>&#65279;<?xml version="1.0" encoding="utf-8"?><Relationships xmlns="http://schemas.openxmlformats.org/package/2006/relationships"><Relationship Type="http://schemas.openxmlformats.org/officeDocument/2006/relationships/slide" Target="/ppt/slides/slide185.xml" Id="R853d5a42abd44cb4" /><Relationship Type="http://schemas.openxmlformats.org/officeDocument/2006/relationships/notesMaster" Target="/ppt/notesMasters/notesMaster1.xml" Id="Rdd52b353ed334f0a" /></Relationships>
</file>

<file path=ppt/notesSlides/_rels/notesSlide186.xml.rels>&#65279;<?xml version="1.0" encoding="utf-8"?><Relationships xmlns="http://schemas.openxmlformats.org/package/2006/relationships"><Relationship Type="http://schemas.openxmlformats.org/officeDocument/2006/relationships/slide" Target="/ppt/slides/slide186.xml" Id="R45464bf67f824ad0" /><Relationship Type="http://schemas.openxmlformats.org/officeDocument/2006/relationships/notesMaster" Target="/ppt/notesMasters/notesMaster1.xml" Id="Ra795561d86714b3f" /></Relationships>
</file>

<file path=ppt/notesSlides/_rels/notesSlide187.xml.rels>&#65279;<?xml version="1.0" encoding="utf-8"?><Relationships xmlns="http://schemas.openxmlformats.org/package/2006/relationships"><Relationship Type="http://schemas.openxmlformats.org/officeDocument/2006/relationships/slide" Target="/ppt/slides/slide187.xml" Id="R71b32470c0504017" /><Relationship Type="http://schemas.openxmlformats.org/officeDocument/2006/relationships/notesMaster" Target="/ppt/notesMasters/notesMaster1.xml" Id="Rebc375cf63704a5e" /></Relationships>
</file>

<file path=ppt/notesSlides/_rels/notesSlide188.xml.rels>&#65279;<?xml version="1.0" encoding="utf-8"?><Relationships xmlns="http://schemas.openxmlformats.org/package/2006/relationships"><Relationship Type="http://schemas.openxmlformats.org/officeDocument/2006/relationships/slide" Target="/ppt/slides/slide188.xml" Id="R0efd46a3556f47c1" /><Relationship Type="http://schemas.openxmlformats.org/officeDocument/2006/relationships/notesMaster" Target="/ppt/notesMasters/notesMaster1.xml" Id="R8c4d72604749455e" /></Relationships>
</file>

<file path=ppt/notesSlides/_rels/notesSlide189.xml.rels>&#65279;<?xml version="1.0" encoding="utf-8"?><Relationships xmlns="http://schemas.openxmlformats.org/package/2006/relationships"><Relationship Type="http://schemas.openxmlformats.org/officeDocument/2006/relationships/slide" Target="/ppt/slides/slide189.xml" Id="R3d1537e57eaf4725" /><Relationship Type="http://schemas.openxmlformats.org/officeDocument/2006/relationships/notesMaster" Target="/ppt/notesMasters/notesMaster1.xml" Id="R40537482244c4ff6" /></Relationships>
</file>

<file path=ppt/notesSlides/_rels/notesSlide190.xml.rels>&#65279;<?xml version="1.0" encoding="utf-8"?><Relationships xmlns="http://schemas.openxmlformats.org/package/2006/relationships"><Relationship Type="http://schemas.openxmlformats.org/officeDocument/2006/relationships/slide" Target="/ppt/slides/slide190.xml" Id="R65cff3dc15f94c74" /><Relationship Type="http://schemas.openxmlformats.org/officeDocument/2006/relationships/notesMaster" Target="/ppt/notesMasters/notesMaster1.xml" Id="R0349b5737e774934" /></Relationships>
</file>

<file path=ppt/notesSlides/_rels/notesSlide191.xml.rels>&#65279;<?xml version="1.0" encoding="utf-8"?><Relationships xmlns="http://schemas.openxmlformats.org/package/2006/relationships"><Relationship Type="http://schemas.openxmlformats.org/officeDocument/2006/relationships/slide" Target="/ppt/slides/slide191.xml" Id="Rc9b5be24ee5d48e1" /><Relationship Type="http://schemas.openxmlformats.org/officeDocument/2006/relationships/notesMaster" Target="/ppt/notesMasters/notesMaster1.xml" Id="R89fe1bf6a42f46b0" /></Relationships>
</file>

<file path=ppt/notesSlides/_rels/notesSlide192.xml.rels>&#65279;<?xml version="1.0" encoding="utf-8"?><Relationships xmlns="http://schemas.openxmlformats.org/package/2006/relationships"><Relationship Type="http://schemas.openxmlformats.org/officeDocument/2006/relationships/slide" Target="/ppt/slides/slide192.xml" Id="R61ce0af20be4455f" /><Relationship Type="http://schemas.openxmlformats.org/officeDocument/2006/relationships/notesMaster" Target="/ppt/notesMasters/notesMaster1.xml" Id="Rb43bb375e8134b7c" /></Relationships>
</file>

<file path=ppt/notesSlides/_rels/notesSlide193.xml.rels>&#65279;<?xml version="1.0" encoding="utf-8"?><Relationships xmlns="http://schemas.openxmlformats.org/package/2006/relationships"><Relationship Type="http://schemas.openxmlformats.org/officeDocument/2006/relationships/slide" Target="/ppt/slides/slide193.xml" Id="R854dcc4c96a94d9c" /><Relationship Type="http://schemas.openxmlformats.org/officeDocument/2006/relationships/notesMaster" Target="/ppt/notesMasters/notesMaster1.xml" Id="R9eee5c49e7de4ff9" /></Relationships>
</file>

<file path=ppt/notesSlides/_rels/notesSlide194.xml.rels>&#65279;<?xml version="1.0" encoding="utf-8"?><Relationships xmlns="http://schemas.openxmlformats.org/package/2006/relationships"><Relationship Type="http://schemas.openxmlformats.org/officeDocument/2006/relationships/slide" Target="/ppt/slides/slide194.xml" Id="R7d80a574d2cb4d67" /><Relationship Type="http://schemas.openxmlformats.org/officeDocument/2006/relationships/notesMaster" Target="/ppt/notesMasters/notesMaster1.xml" Id="R30f983c49de140ae" /></Relationships>
</file>

<file path=ppt/notesSlides/_rels/notesSlide195.xml.rels>&#65279;<?xml version="1.0" encoding="utf-8"?><Relationships xmlns="http://schemas.openxmlformats.org/package/2006/relationships"><Relationship Type="http://schemas.openxmlformats.org/officeDocument/2006/relationships/slide" Target="/ppt/slides/slide195.xml" Id="R819da382ad2c410b" /><Relationship Type="http://schemas.openxmlformats.org/officeDocument/2006/relationships/notesMaster" Target="/ppt/notesMasters/notesMaster1.xml" Id="R70cf3d5884134e7a" /></Relationships>
</file>

<file path=ppt/notesSlides/_rels/notesSlide196.xml.rels>&#65279;<?xml version="1.0" encoding="utf-8"?><Relationships xmlns="http://schemas.openxmlformats.org/package/2006/relationships"><Relationship Type="http://schemas.openxmlformats.org/officeDocument/2006/relationships/slide" Target="/ppt/slides/slide196.xml" Id="R1f26930a7ef14ac3" /><Relationship Type="http://schemas.openxmlformats.org/officeDocument/2006/relationships/notesMaster" Target="/ppt/notesMasters/notesMaster1.xml" Id="R6cce4a77ec59488e" /></Relationships>
</file>

<file path=ppt/notesSlides/_rels/notesSlide197.xml.rels>&#65279;<?xml version="1.0" encoding="utf-8"?><Relationships xmlns="http://schemas.openxmlformats.org/package/2006/relationships"><Relationship Type="http://schemas.openxmlformats.org/officeDocument/2006/relationships/slide" Target="/ppt/slides/slide197.xml" Id="R465827473c7843ad" /><Relationship Type="http://schemas.openxmlformats.org/officeDocument/2006/relationships/notesMaster" Target="/ppt/notesMasters/notesMaster1.xml" Id="Rbf1e0926b53c49c3" /></Relationships>
</file>

<file path=ppt/notesSlides/_rels/notesSlide198.xml.rels>&#65279;<?xml version="1.0" encoding="utf-8"?><Relationships xmlns="http://schemas.openxmlformats.org/package/2006/relationships"><Relationship Type="http://schemas.openxmlformats.org/officeDocument/2006/relationships/slide" Target="/ppt/slides/slide198.xml" Id="Ra3fba857f0314e1c" /><Relationship Type="http://schemas.openxmlformats.org/officeDocument/2006/relationships/notesMaster" Target="/ppt/notesMasters/notesMaster1.xml" Id="R5e5adc67c1184b26" /></Relationships>
</file>

<file path=ppt/notesSlides/_rels/notesSlide199.xml.rels>&#65279;<?xml version="1.0" encoding="utf-8"?><Relationships xmlns="http://schemas.openxmlformats.org/package/2006/relationships"><Relationship Type="http://schemas.openxmlformats.org/officeDocument/2006/relationships/slide" Target="/ppt/slides/slide199.xml" Id="R65c3a84294704791" /><Relationship Type="http://schemas.openxmlformats.org/officeDocument/2006/relationships/notesMaster" Target="/ppt/notesMasters/notesMaster1.xml" Id="R2c3801d7cd9645c1" /></Relationships>
</file>

<file path=ppt/notesSlides/_rels/notesSlide200.xml.rels>&#65279;<?xml version="1.0" encoding="utf-8"?><Relationships xmlns="http://schemas.openxmlformats.org/package/2006/relationships"><Relationship Type="http://schemas.openxmlformats.org/officeDocument/2006/relationships/slide" Target="/ppt/slides/slide200.xml" Id="Rce91838e03e544e6" /><Relationship Type="http://schemas.openxmlformats.org/officeDocument/2006/relationships/notesMaster" Target="/ppt/notesMasters/notesMaster1.xml" Id="R16570fbe8a514a70" /></Relationships>
</file>

<file path=ppt/notesSlides/_rels/notesSlide201.xml.rels>&#65279;<?xml version="1.0" encoding="utf-8"?><Relationships xmlns="http://schemas.openxmlformats.org/package/2006/relationships"><Relationship Type="http://schemas.openxmlformats.org/officeDocument/2006/relationships/slide" Target="/ppt/slides/slide201.xml" Id="R7303959fec7042f5" /><Relationship Type="http://schemas.openxmlformats.org/officeDocument/2006/relationships/notesMaster" Target="/ppt/notesMasters/notesMaster1.xml" Id="R452836f47a08444c" /></Relationships>
</file>

<file path=ppt/notesSlides/_rels/notesSlide202.xml.rels>&#65279;<?xml version="1.0" encoding="utf-8"?><Relationships xmlns="http://schemas.openxmlformats.org/package/2006/relationships"><Relationship Type="http://schemas.openxmlformats.org/officeDocument/2006/relationships/slide" Target="/ppt/slides/slide202.xml" Id="R70c1694b79c24d77" /><Relationship Type="http://schemas.openxmlformats.org/officeDocument/2006/relationships/notesMaster" Target="/ppt/notesMasters/notesMaster1.xml" Id="R91d41e19e55045c4" /></Relationships>
</file>

<file path=ppt/notesSlides/_rels/notesSlide203.xml.rels>&#65279;<?xml version="1.0" encoding="utf-8"?><Relationships xmlns="http://schemas.openxmlformats.org/package/2006/relationships"><Relationship Type="http://schemas.openxmlformats.org/officeDocument/2006/relationships/slide" Target="/ppt/slides/slide203.xml" Id="Rce61e69b6c7d4961" /><Relationship Type="http://schemas.openxmlformats.org/officeDocument/2006/relationships/notesMaster" Target="/ppt/notesMasters/notesMaster1.xml" Id="R89c7ebfdddfe4c2a" /></Relationships>
</file>

<file path=ppt/notesSlides/_rels/notesSlide204.xml.rels>&#65279;<?xml version="1.0" encoding="utf-8"?><Relationships xmlns="http://schemas.openxmlformats.org/package/2006/relationships"><Relationship Type="http://schemas.openxmlformats.org/officeDocument/2006/relationships/slide" Target="/ppt/slides/slide204.xml" Id="Rc390d3bcaa914587" /><Relationship Type="http://schemas.openxmlformats.org/officeDocument/2006/relationships/notesMaster" Target="/ppt/notesMasters/notesMaster1.xml" Id="Rac393b3994e144b3" /></Relationships>
</file>

<file path=ppt/notesSlides/_rels/notesSlide205.xml.rels>&#65279;<?xml version="1.0" encoding="utf-8"?><Relationships xmlns="http://schemas.openxmlformats.org/package/2006/relationships"><Relationship Type="http://schemas.openxmlformats.org/officeDocument/2006/relationships/slide" Target="/ppt/slides/slide205.xml" Id="R40148f938b9440d9" /><Relationship Type="http://schemas.openxmlformats.org/officeDocument/2006/relationships/notesMaster" Target="/ppt/notesMasters/notesMaster1.xml" Id="R097d70ac5fac4bb5" /></Relationships>
</file>

<file path=ppt/notesSlides/_rels/notesSlide206.xml.rels>&#65279;<?xml version="1.0" encoding="utf-8"?><Relationships xmlns="http://schemas.openxmlformats.org/package/2006/relationships"><Relationship Type="http://schemas.openxmlformats.org/officeDocument/2006/relationships/slide" Target="/ppt/slides/slide206.xml" Id="R2a51a760848e416f" /><Relationship Type="http://schemas.openxmlformats.org/officeDocument/2006/relationships/notesMaster" Target="/ppt/notesMasters/notesMaster1.xml" Id="Ree8dfb424c10480c" /></Relationships>
</file>

<file path=ppt/notesSlides/_rels/notesSlide207.xml.rels>&#65279;<?xml version="1.0" encoding="utf-8"?><Relationships xmlns="http://schemas.openxmlformats.org/package/2006/relationships"><Relationship Type="http://schemas.openxmlformats.org/officeDocument/2006/relationships/slide" Target="/ppt/slides/slide207.xml" Id="R6fcb1b7a65154dff" /><Relationship Type="http://schemas.openxmlformats.org/officeDocument/2006/relationships/notesMaster" Target="/ppt/notesMasters/notesMaster1.xml" Id="Rc3d9a802a8264492" /></Relationships>
</file>

<file path=ppt/notesSlides/_rels/notesSlide208.xml.rels>&#65279;<?xml version="1.0" encoding="utf-8"?><Relationships xmlns="http://schemas.openxmlformats.org/package/2006/relationships"><Relationship Type="http://schemas.openxmlformats.org/officeDocument/2006/relationships/slide" Target="/ppt/slides/slide208.xml" Id="R314004f4dc9541b0" /><Relationship Type="http://schemas.openxmlformats.org/officeDocument/2006/relationships/notesMaster" Target="/ppt/notesMasters/notesMaster1.xml" Id="R21ccd23fa538421e" /></Relationships>
</file>

<file path=ppt/notesSlides/_rels/notesSlide209.xml.rels>&#65279;<?xml version="1.0" encoding="utf-8"?><Relationships xmlns="http://schemas.openxmlformats.org/package/2006/relationships"><Relationship Type="http://schemas.openxmlformats.org/officeDocument/2006/relationships/slide" Target="/ppt/slides/slide209.xml" Id="R142a0d331c874f04" /><Relationship Type="http://schemas.openxmlformats.org/officeDocument/2006/relationships/notesMaster" Target="/ppt/notesMasters/notesMaster1.xml" Id="Rf12ff5bd987c4e9f" /></Relationships>
</file>

<file path=ppt/notesSlides/_rels/notesSlide210.xml.rels>&#65279;<?xml version="1.0" encoding="utf-8"?><Relationships xmlns="http://schemas.openxmlformats.org/package/2006/relationships"><Relationship Type="http://schemas.openxmlformats.org/officeDocument/2006/relationships/slide" Target="/ppt/slides/slide210.xml" Id="Rdba88e1e75294ca9" /><Relationship Type="http://schemas.openxmlformats.org/officeDocument/2006/relationships/notesMaster" Target="/ppt/notesMasters/notesMaster1.xml" Id="Rd1ff39e369124f65" /></Relationships>
</file>

<file path=ppt/notesSlides/_rels/notesSlide211.xml.rels>&#65279;<?xml version="1.0" encoding="utf-8"?><Relationships xmlns="http://schemas.openxmlformats.org/package/2006/relationships"><Relationship Type="http://schemas.openxmlformats.org/officeDocument/2006/relationships/slide" Target="/ppt/slides/slide211.xml" Id="R8a412834bdad4f86" /><Relationship Type="http://schemas.openxmlformats.org/officeDocument/2006/relationships/notesMaster" Target="/ppt/notesMasters/notesMaster1.xml" Id="R675ef4a5a3084512" /></Relationships>
</file>

<file path=ppt/notesSlides/_rels/notesSlide212.xml.rels>&#65279;<?xml version="1.0" encoding="utf-8"?><Relationships xmlns="http://schemas.openxmlformats.org/package/2006/relationships"><Relationship Type="http://schemas.openxmlformats.org/officeDocument/2006/relationships/slide" Target="/ppt/slides/slide212.xml" Id="R37b3bc81a3c2482d" /><Relationship Type="http://schemas.openxmlformats.org/officeDocument/2006/relationships/notesMaster" Target="/ppt/notesMasters/notesMaster1.xml" Id="Rb06af54a0b124f76" /></Relationships>
</file>

<file path=ppt/notesSlides/_rels/notesSlide213.xml.rels>&#65279;<?xml version="1.0" encoding="utf-8"?><Relationships xmlns="http://schemas.openxmlformats.org/package/2006/relationships"><Relationship Type="http://schemas.openxmlformats.org/officeDocument/2006/relationships/slide" Target="/ppt/slides/slide213.xml" Id="R8e7bc37311a24fc2" /><Relationship Type="http://schemas.openxmlformats.org/officeDocument/2006/relationships/notesMaster" Target="/ppt/notesMasters/notesMaster1.xml" Id="R6ac03321d440493d" /></Relationships>
</file>

<file path=ppt/notesSlides/_rels/notesSlide214.xml.rels>&#65279;<?xml version="1.0" encoding="utf-8"?><Relationships xmlns="http://schemas.openxmlformats.org/package/2006/relationships"><Relationship Type="http://schemas.openxmlformats.org/officeDocument/2006/relationships/slide" Target="/ppt/slides/slide214.xml" Id="Raadb1157556c4570" /><Relationship Type="http://schemas.openxmlformats.org/officeDocument/2006/relationships/notesMaster" Target="/ppt/notesMasters/notesMaster1.xml" Id="R25a4a7722f6d47d5" /></Relationships>
</file>

<file path=ppt/notesSlides/_rels/notesSlide215.xml.rels>&#65279;<?xml version="1.0" encoding="utf-8"?><Relationships xmlns="http://schemas.openxmlformats.org/package/2006/relationships"><Relationship Type="http://schemas.openxmlformats.org/officeDocument/2006/relationships/slide" Target="/ppt/slides/slide215.xml" Id="Ra06fed3857894b20" /><Relationship Type="http://schemas.openxmlformats.org/officeDocument/2006/relationships/notesMaster" Target="/ppt/notesMasters/notesMaster1.xml" Id="Rceebfbb3670847c0" /></Relationships>
</file>

<file path=ppt/notesSlides/_rels/notesSlide216.xml.rels>&#65279;<?xml version="1.0" encoding="utf-8"?><Relationships xmlns="http://schemas.openxmlformats.org/package/2006/relationships"><Relationship Type="http://schemas.openxmlformats.org/officeDocument/2006/relationships/slide" Target="/ppt/slides/slide216.xml" Id="R6e1a6ee18a4b422f" /><Relationship Type="http://schemas.openxmlformats.org/officeDocument/2006/relationships/notesMaster" Target="/ppt/notesMasters/notesMaster1.xml" Id="R0defc32a510f4b87" /></Relationships>
</file>

<file path=ppt/notesSlides/_rels/notesSlide217.xml.rels>&#65279;<?xml version="1.0" encoding="utf-8"?><Relationships xmlns="http://schemas.openxmlformats.org/package/2006/relationships"><Relationship Type="http://schemas.openxmlformats.org/officeDocument/2006/relationships/slide" Target="/ppt/slides/slide217.xml" Id="R6b8194362f8f4308" /><Relationship Type="http://schemas.openxmlformats.org/officeDocument/2006/relationships/notesMaster" Target="/ppt/notesMasters/notesMaster1.xml" Id="R61729d06e24347e5" /></Relationships>
</file>

<file path=ppt/notesSlides/_rels/notesSlide218.xml.rels>&#65279;<?xml version="1.0" encoding="utf-8"?><Relationships xmlns="http://schemas.openxmlformats.org/package/2006/relationships"><Relationship Type="http://schemas.openxmlformats.org/officeDocument/2006/relationships/slide" Target="/ppt/slides/slide218.xml" Id="Rd3033a3f83a54736" /><Relationship Type="http://schemas.openxmlformats.org/officeDocument/2006/relationships/notesMaster" Target="/ppt/notesMasters/notesMaster1.xml" Id="R16bafcd98d344b67" /></Relationships>
</file>

<file path=ppt/notesSlides/_rels/notesSlide219.xml.rels>&#65279;<?xml version="1.0" encoding="utf-8"?><Relationships xmlns="http://schemas.openxmlformats.org/package/2006/relationships"><Relationship Type="http://schemas.openxmlformats.org/officeDocument/2006/relationships/slide" Target="/ppt/slides/slide219.xml" Id="R3577a6ddcfc447f6" /><Relationship Type="http://schemas.openxmlformats.org/officeDocument/2006/relationships/notesMaster" Target="/ppt/notesMasters/notesMaster1.xml" Id="Rad60188b5da44064" /></Relationships>
</file>

<file path=ppt/notesSlides/_rels/notesSlide220.xml.rels>&#65279;<?xml version="1.0" encoding="utf-8"?><Relationships xmlns="http://schemas.openxmlformats.org/package/2006/relationships"><Relationship Type="http://schemas.openxmlformats.org/officeDocument/2006/relationships/slide" Target="/ppt/slides/slide220.xml" Id="Reee150ad593c4d6e" /><Relationship Type="http://schemas.openxmlformats.org/officeDocument/2006/relationships/notesMaster" Target="/ppt/notesMasters/notesMaster1.xml" Id="R6edac2c1a15a4560" /></Relationships>
</file>

<file path=ppt/notesSlides/_rels/notesSlide221.xml.rels>&#65279;<?xml version="1.0" encoding="utf-8"?><Relationships xmlns="http://schemas.openxmlformats.org/package/2006/relationships"><Relationship Type="http://schemas.openxmlformats.org/officeDocument/2006/relationships/slide" Target="/ppt/slides/slide221.xml" Id="R425e11d32b4548ce" /><Relationship Type="http://schemas.openxmlformats.org/officeDocument/2006/relationships/notesMaster" Target="/ppt/notesMasters/notesMaster1.xml" Id="R7d7876a6425044e4" /></Relationships>
</file>

<file path=ppt/notesSlides/_rels/notesSlide222.xml.rels>&#65279;<?xml version="1.0" encoding="utf-8"?><Relationships xmlns="http://schemas.openxmlformats.org/package/2006/relationships"><Relationship Type="http://schemas.openxmlformats.org/officeDocument/2006/relationships/slide" Target="/ppt/slides/slide222.xml" Id="Raa6fa3766b924ff5" /><Relationship Type="http://schemas.openxmlformats.org/officeDocument/2006/relationships/notesMaster" Target="/ppt/notesMasters/notesMaster1.xml" Id="Rf585563881304b62" /></Relationships>
</file>

<file path=ppt/notesSlides/_rels/notesSlide223.xml.rels>&#65279;<?xml version="1.0" encoding="utf-8"?><Relationships xmlns="http://schemas.openxmlformats.org/package/2006/relationships"><Relationship Type="http://schemas.openxmlformats.org/officeDocument/2006/relationships/slide" Target="/ppt/slides/slide223.xml" Id="Rf3d3e905d39444a6" /><Relationship Type="http://schemas.openxmlformats.org/officeDocument/2006/relationships/notesMaster" Target="/ppt/notesMasters/notesMaster1.xml" Id="Ra62dca5905d6472e" /></Relationships>
</file>

<file path=ppt/notesSlides/_rels/notesSlide224.xml.rels>&#65279;<?xml version="1.0" encoding="utf-8"?><Relationships xmlns="http://schemas.openxmlformats.org/package/2006/relationships"><Relationship Type="http://schemas.openxmlformats.org/officeDocument/2006/relationships/slide" Target="/ppt/slides/slide224.xml" Id="R73431081985e4b52" /><Relationship Type="http://schemas.openxmlformats.org/officeDocument/2006/relationships/notesMaster" Target="/ppt/notesMasters/notesMaster1.xml" Id="R6445568db0ec4546" /></Relationships>
</file>

<file path=ppt/notesSlides/_rels/notesSlide225.xml.rels>&#65279;<?xml version="1.0" encoding="utf-8"?><Relationships xmlns="http://schemas.openxmlformats.org/package/2006/relationships"><Relationship Type="http://schemas.openxmlformats.org/officeDocument/2006/relationships/slide" Target="/ppt/slides/slide225.xml" Id="R95acc3fff1e34084" /><Relationship Type="http://schemas.openxmlformats.org/officeDocument/2006/relationships/notesMaster" Target="/ppt/notesMasters/notesMaster1.xml" Id="R702e7b808f5544f2" /></Relationships>
</file>

<file path=ppt/notesSlides/_rels/notesSlide226.xml.rels>&#65279;<?xml version="1.0" encoding="utf-8"?><Relationships xmlns="http://schemas.openxmlformats.org/package/2006/relationships"><Relationship Type="http://schemas.openxmlformats.org/officeDocument/2006/relationships/slide" Target="/ppt/slides/slide226.xml" Id="R417c9af7ed664a47" /><Relationship Type="http://schemas.openxmlformats.org/officeDocument/2006/relationships/notesMaster" Target="/ppt/notesMasters/notesMaster1.xml" Id="R0b84a7e362ea4f02" /></Relationships>
</file>

<file path=ppt/notesSlides/_rels/notesSlide227.xml.rels>&#65279;<?xml version="1.0" encoding="utf-8"?><Relationships xmlns="http://schemas.openxmlformats.org/package/2006/relationships"><Relationship Type="http://schemas.openxmlformats.org/officeDocument/2006/relationships/slide" Target="/ppt/slides/slide227.xml" Id="R52d93f0ed2704820" /><Relationship Type="http://schemas.openxmlformats.org/officeDocument/2006/relationships/notesMaster" Target="/ppt/notesMasters/notesMaster1.xml" Id="R59852f495f6d474b" /></Relationships>
</file>

<file path=ppt/notesSlides/_rels/notesSlide228.xml.rels>&#65279;<?xml version="1.0" encoding="utf-8"?><Relationships xmlns="http://schemas.openxmlformats.org/package/2006/relationships"><Relationship Type="http://schemas.openxmlformats.org/officeDocument/2006/relationships/slide" Target="/ppt/slides/slide228.xml" Id="Rc09a806b8f76437a" /><Relationship Type="http://schemas.openxmlformats.org/officeDocument/2006/relationships/notesMaster" Target="/ppt/notesMasters/notesMaster1.xml" Id="Rb536f6df4de64989" /></Relationships>
</file>

<file path=ppt/notesSlides/_rels/notesSlide229.xml.rels>&#65279;<?xml version="1.0" encoding="utf-8"?><Relationships xmlns="http://schemas.openxmlformats.org/package/2006/relationships"><Relationship Type="http://schemas.openxmlformats.org/officeDocument/2006/relationships/slide" Target="/ppt/slides/slide229.xml" Id="R1da6eafb9c694599" /><Relationship Type="http://schemas.openxmlformats.org/officeDocument/2006/relationships/notesMaster" Target="/ppt/notesMasters/notesMaster1.xml" Id="Rf079069a6418484a" /></Relationships>
</file>

<file path=ppt/notesSlides/_rels/notesSlide230.xml.rels>&#65279;<?xml version="1.0" encoding="utf-8"?><Relationships xmlns="http://schemas.openxmlformats.org/package/2006/relationships"><Relationship Type="http://schemas.openxmlformats.org/officeDocument/2006/relationships/slide" Target="/ppt/slides/slide230.xml" Id="Rdb5e82c804484442" /><Relationship Type="http://schemas.openxmlformats.org/officeDocument/2006/relationships/notesMaster" Target="/ppt/notesMasters/notesMaster1.xml" Id="R874de20979ed42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https://docarcshot.github.io/id-practice-update/lectures/HIV_Diagnosis_ART_Prevention_and_Opportunistic_Infections.html</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Link the HIV diagnosis, immune assessment, and immediate clinical problem Resident core · 30–45 minutes with discussion By the end, use the diagnostic sequence, recognize when ART can start promptly, identify an OI that changes immediate treatment or ART timing, and arrange prevention and follow-up. Three cases anchor the discussion. Detailed OI doses, maintenance criteria, newer therapies, and trial appraisals are in the advanced reference below. A positive HIV test is the beginning of the assessment. HIV RNA, CD4 count, symptoms, medication history, and access to continuing treatment determine what needs to happen next.</a:t>
            </a:r>
          </a:p>
          <a:p xmlns:a="http://schemas.openxmlformats.org/drawingml/2006/main">
            <a:r>
              <a:t/>
            </a:r>
          </a:p>
          <a:p xmlns:a="http://schemas.openxmlformats.org/drawingml/2006/main">
            <a:r>
              <a:t>Module section: https://docarcshot.github.io/id-practice-update/lectures/HIV_Diagnosis_ART_Prevention_and_Opportunistic_Infections.html#core-start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Confirm the diagnosis without missing acute infection Begin with a laboratory HIV-1/2 antigen-antibody test, followed by an HIV-1/HIV-2 differentiation assay when reactive. If the differentiation assay is negative or indeterminate, obtain HIV RNA to resolve possible acute infection. With a compatible recent exposure or acute retroviral syndrome, order RNA even when the screening test is negative. Ask about recent PrEP or PEP, including long-acting agents, because antiretroviral exposure can alter testing patterns and resistance considerations. An isolated discordant result requires a deliberate repeat-testing plan, not reassurance or an unsupported permanent diagnosis. Collect HIV RNA, CD4, genotype, hepatitis serologies, renal/hepatic assessment, and other indicated baseline studies. Screen for symptoms suggesting an OI. These studies usually can be collected while arranging rapid ART; do not create an avoidable delay in an otherwise appropriate patient. Sources: early , baseline , initiation .</a:t>
            </a:r>
          </a:p>
          <a:p xmlns:a="http://schemas.openxmlformats.org/drawingml/2006/main">
            <a:r>
              <a:t/>
            </a:r>
          </a:p>
          <a:p xmlns:a="http://schemas.openxmlformats.org/drawingml/2006/main">
            <a:r>
              <a:t>Module section: https://docarcshot.github.io/id-practice-update/lectures/HIV_Diagnosis_ART_Prevention_and_Opportunistic_Infections.html#core-diagnosis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Confirm the diagnosis without missing acute infection Begin with a laboratory HIV-1/2 antigen-antibody test, followed by an HIV-1/HIV-2 differentiation assay when reactive. If the differentiation assay is negative or indeterminate, obtain HIV RNA to resolve possible acute infection. With a compatible recent exposure or acute retroviral syndrome, order RNA even when the screening test is negative. Ask about recent PrEP or PEP, including long-acting agents, because antiretroviral exposure can alter testing patterns and resistance considerations. An isolated discordant result requires a deliberate repeat-testing plan, not reassurance or an unsupported permanent diagnosis. Collect HIV RNA, CD4, genotype, hepatitis serologies, renal/hepatic assessment, and other indicated baseline studies. Screen for symptoms suggesting an OI. These studies usually can be collected while arranging rapid ART; do not create an avoidable delay in an otherwise appropriate patient. Sources: early , baseline , initiation .</a:t>
            </a:r>
          </a:p>
          <a:p xmlns:a="http://schemas.openxmlformats.org/drawingml/2006/main">
            <a:r>
              <a:t/>
            </a:r>
          </a:p>
          <a:p xmlns:a="http://schemas.openxmlformats.org/drawingml/2006/main">
            <a:r>
              <a:t>Module section: https://docarcshot.github.io/id-practice-update/lectures/HIV_Diagnosis_ART_Prevention_and_Opportunistic_Infections.html#core-diagnosis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Start a complete ART regimen and identify the exceptions For most people starting ART, an integrase inhibitor with two appropriate NRTIs is a standard approach. Common examples are bictegravir/TAF/FTC or dolutegravir with TAF/FTC or TDF/FTC when suitable. Selection depends on organ function, pregnancy, resistance risk, hepatitis B, interactions, and access. Dolutegravir/lamivudine has specific exclusions and is not an interchangeable rapid-start shortcut while hepatitis B and resistance results are unknown. HIV/HBV coinfection generally requires two HBV-active components, usually tenofovir plus FTC or 3TC, in a fully suppressive HIV regimen. Stopping HBV-active drugs can precipitate hepatitis. Prior long-acting cabotegravir PrEP, suspected resistance, or a complex treatment history changes the initial-regimen discussion. Review the guideline and obtain specialist input rather than assuming all treatment-naive patients have the same resistance risk. Timing matters: prompt ART is the usual approach, including during treatment of many OIs. Cryptococcal meningitis and TB meningitis require a separate timing plan because early immune recovery in the CNS can be harmful. Sources: arv , hbv , initiation .</a:t>
            </a:r>
          </a:p>
          <a:p xmlns:a="http://schemas.openxmlformats.org/drawingml/2006/main">
            <a:r>
              <a:t/>
            </a:r>
          </a:p>
          <a:p xmlns:a="http://schemas.openxmlformats.org/drawingml/2006/main">
            <a:r>
              <a:t>Module section: https://docarcshot.github.io/id-practice-update/lectures/HIV_Diagnosis_ART_Prevention_and_Opportunistic_Infections.html#core-art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Start a complete ART regimen and identify the exceptions For most people starting ART, an integrase inhibitor with two appropriate NRTIs is a standard approach. Common examples are bictegravir/TAF/FTC or dolutegravir with TAF/FTC or TDF/FTC when suitable. Selection depends on organ function, pregnancy, resistance risk, hepatitis B, interactions, and access. Dolutegravir/lamivudine has specific exclusions and is not an interchangeable rapid-start shortcut while hepatitis B and resistance results are unknown. HIV/HBV coinfection generally requires two HBV-active components, usually tenofovir plus FTC or 3TC, in a fully suppressive HIV regimen. Stopping HBV-active drugs can precipitate hepatitis. Prior long-acting cabotegravir PrEP, suspected resistance, or a complex treatment history changes the initial-regimen discussion. Review the guideline and obtain specialist input rather than assuming all treatment-naive patients have the same resistance risk. Timing matters: prompt ART is the usual approach, including during treatment of many OIs. Cryptococcal meningitis and TB meningitis require a separate timing plan because early immune recovery in the CNS can be harmful. Sources: arv , hbv , initiation .</a:t>
            </a:r>
          </a:p>
          <a:p xmlns:a="http://schemas.openxmlformats.org/drawingml/2006/main">
            <a:r>
              <a:t/>
            </a:r>
          </a:p>
          <a:p xmlns:a="http://schemas.openxmlformats.org/drawingml/2006/main">
            <a:r>
              <a:t>Module section: https://docarcshot.github.io/id-practice-update/lectures/HIV_Diagnosis_ART_Prevention_and_Opportunistic_Infections.html#core-art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syndrome to choose the first OI tests and treatment Initial OI decisions in advanced HIV Syndrome Initial evaluation Management anchor Subacute dyspnea and diffuse pulmonary opacities Assess oxygenation; obtain an appropriate respiratory specimen for Pneumocystis testing and evaluate other pulmonary causes. Start PCP treatment when suspicion is high. Steroids depend on hypoxemia, not the CD4 count alone. Headache or meningitic symptoms Consider cryptococcus and TB; obtain serum/CSF studies and measure opening pressure when LP is safe. Cryptococcal meningitis needs combination induction therapy and active pressure management. ART is usually deferred about 4–6 weeks after antifungals start. Focal neurologic signs or brain lesions Obtain brain imaging and consider toxoplasma, lymphoma, PML, TB, and other causes. Treat a likely toxoplasma presentation while setting a response checkpoint and an alternative-diagnosis plan. Visual symptoms Arrange urgent dilated ophthalmologic examination. CMV retinitis is an organ diagnosis. Plasma CMV PCR alone neither establishes nor excludes retinitis. Fever, cytopenias, weight loss, or systemic illness Use exposure and organ findings to evaluate histoplasmosis, MAC, TB, bacterial infection, and malignancy. Get syndrome-directed cultures and antigen/tissue tests. A prophylaxis dose is not adequate treatment of disseminated disease. CD4 thresholds help prioritize possibilities but do not prove the diagnosis. Multiple infections can coexist. A worsening patient needs reassessment for treatment failure, another infection, toxicity, and IRIS. Sources: pcp , crypto , toxo , cmv , histo , mac .</a:t>
            </a:r>
          </a:p>
          <a:p xmlns:a="http://schemas.openxmlformats.org/drawingml/2006/main">
            <a:r>
              <a:t/>
            </a:r>
          </a:p>
          <a:p xmlns:a="http://schemas.openxmlformats.org/drawingml/2006/main">
            <a:r>
              <a:t>Module section: https://docarcshot.github.io/id-practice-update/lectures/HIV_Diagnosis_ART_Prevention_and_Opportunistic_Infections.html#core-oi</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syndrome to choose the first OI tests and treatment Initial OI decisions in advanced HIV Syndrome Initial evaluation Management anchor Subacute dyspnea and diffuse pulmonary opacities Assess oxygenation; obtain an appropriate respiratory specimen for Pneumocystis testing and evaluate other pulmonary causes. Start PCP treatment when suspicion is high. Steroids depend on hypoxemia, not the CD4 count alone. Headache or meningitic symptoms Consider cryptococcus and TB; obtain serum/CSF studies and measure opening pressure when LP is safe. Cryptococcal meningitis needs combination induction therapy and active pressure management. ART is usually deferred about 4–6 weeks after antifungals start. Focal neurologic signs or brain lesions Obtain brain imaging and consider toxoplasma, lymphoma, PML, TB, and other causes. Treat a likely toxoplasma presentation while setting a response checkpoint and an alternative-diagnosis plan. Visual symptoms Arrange urgent dilated ophthalmologic examination. CMV retinitis is an organ diagnosis. Plasma CMV PCR alone neither establishes nor excludes retinitis. Fever, cytopenias, weight loss, or systemic illness Use exposure and organ findings to evaluate histoplasmosis, MAC, TB, bacterial infection, and malignancy. Get syndrome-directed cultures and antigen/tissue tests. A prophylaxis dose is not adequate treatment of disseminated disease. CD4 thresholds help prioritize possibilities but do not prove the diagnosis. Multiple infections can coexist. A worsening patient needs reassessment for treatment failure, another infection, toxicity, and IRIS. Sources: pcp , crypto , toxo , cmv , histo , mac .</a:t>
            </a:r>
          </a:p>
          <a:p xmlns:a="http://schemas.openxmlformats.org/drawingml/2006/main">
            <a:r>
              <a:t/>
            </a:r>
          </a:p>
          <a:p xmlns:a="http://schemas.openxmlformats.org/drawingml/2006/main">
            <a:r>
              <a:t>Module section: https://docarcshot.github.io/id-practice-update/lectures/HIV_Diagnosis_ART_Prevention_and_Opportunistic_Infections.html#core-oi</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syndrome to choose the first OI tests and treatment Initial OI decisions in advanced HIV Syndrome Initial evaluation Management anchor Subacute dyspnea and diffuse pulmonary opacities Assess oxygenation; obtain an appropriate respiratory specimen for Pneumocystis testing and evaluate other pulmonary causes. Start PCP treatment when suspicion is high. Steroids depend on hypoxemia, not the CD4 count alone. Headache or meningitic symptoms Consider cryptococcus and TB; obtain serum/CSF studies and measure opening pressure when LP is safe. Cryptococcal meningitis needs combination induction therapy and active pressure management. ART is usually deferred about 4–6 weeks after antifungals start. Focal neurologic signs or brain lesions Obtain brain imaging and consider toxoplasma, lymphoma, PML, TB, and other causes. Treat a likely toxoplasma presentation while setting a response checkpoint and an alternative-diagnosis plan. Visual symptoms Arrange urgent dilated ophthalmologic examination. CMV retinitis is an organ diagnosis. Plasma CMV PCR alone neither establishes nor excludes retinitis. Fever, cytopenias, weight loss, or systemic illness Use exposure and organ findings to evaluate histoplasmosis, MAC, TB, bacterial infection, and malignancy. Get syndrome-directed cultures and antigen/tissue tests. A prophylaxis dose is not adequate treatment of disseminated disease. CD4 thresholds help prioritize possibilities but do not prove the diagnosis. Multiple infections can coexist. A worsening patient needs reassessment for treatment failure, another infection, toxicity, and IRIS. Sources: pcp , crypto , toxo , cmv , histo , mac .</a:t>
            </a:r>
          </a:p>
          <a:p xmlns:a="http://schemas.openxmlformats.org/drawingml/2006/main">
            <a:r>
              <a:t/>
            </a:r>
          </a:p>
          <a:p xmlns:a="http://schemas.openxmlformats.org/drawingml/2006/main">
            <a:r>
              <a:t>Module section: https://docarcshot.github.io/id-practice-update/lectures/HIV_Diagnosis_ART_Prevention_and_Opportunistic_Infections.html#core-oi</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syndrome to choose the first OI tests and treatment Initial OI decisions in advanced HIV Syndrome Initial evaluation Management anchor Subacute dyspnea and diffuse pulmonary opacities Assess oxygenation; obtain an appropriate respiratory specimen for Pneumocystis testing and evaluate other pulmonary causes. Start PCP treatment when suspicion is high. Steroids depend on hypoxemia, not the CD4 count alone. Headache or meningitic symptoms Consider cryptococcus and TB; obtain serum/CSF studies and measure opening pressure when LP is safe. Cryptococcal meningitis needs combination induction therapy and active pressure management. ART is usually deferred about 4–6 weeks after antifungals start. Focal neurologic signs or brain lesions Obtain brain imaging and consider toxoplasma, lymphoma, PML, TB, and other causes. Treat a likely toxoplasma presentation while setting a response checkpoint and an alternative-diagnosis plan. Visual symptoms Arrange urgent dilated ophthalmologic examination. CMV retinitis is an organ diagnosis. Plasma CMV PCR alone neither establishes nor excludes retinitis. Fever, cytopenias, weight loss, or systemic illness Use exposure and organ findings to evaluate histoplasmosis, MAC, TB, bacterial infection, and malignancy. Get syndrome-directed cultures and antigen/tissue tests. A prophylaxis dose is not adequate treatment of disseminated disease. CD4 thresholds help prioritize possibilities but do not prove the diagnosis. Multiple infections can coexist. A worsening patient needs reassessment for treatment failure, another infection, toxicity, and IRIS. Sources: pcp , crypto , toxo , cmv , histo , mac .</a:t>
            </a:r>
          </a:p>
          <a:p xmlns:a="http://schemas.openxmlformats.org/drawingml/2006/main">
            <a:r>
              <a:t/>
            </a:r>
          </a:p>
          <a:p xmlns:a="http://schemas.openxmlformats.org/drawingml/2006/main">
            <a:r>
              <a:t>Module section: https://docarcshot.github.io/id-practice-update/lectures/HIV_Diagnosis_ART_Prevention_and_Opportunistic_Infections.html#core-oi</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syndrome to choose the first OI tests and treatment Initial OI decisions in advanced HIV Syndrome Initial evaluation Management anchor Subacute dyspnea and diffuse pulmonary opacities Assess oxygenation; obtain an appropriate respiratory specimen for Pneumocystis testing and evaluate other pulmonary causes. Start PCP treatment when suspicion is high. Steroids depend on hypoxemia, not the CD4 count alone. Headache or meningitic symptoms Consider cryptococcus and TB; obtain serum/CSF studies and measure opening pressure when LP is safe. Cryptococcal meningitis needs combination induction therapy and active pressure management. ART is usually deferred about 4–6 weeks after antifungals start. Focal neurologic signs or brain lesions Obtain brain imaging and consider toxoplasma, lymphoma, PML, TB, and other causes. Treat a likely toxoplasma presentation while setting a response checkpoint and an alternative-diagnosis plan. Visual symptoms Arrange urgent dilated ophthalmologic examination. CMV retinitis is an organ diagnosis. Plasma CMV PCR alone neither establishes nor excludes retinitis. Fever, cytopenias, weight loss, or systemic illness Use exposure and organ findings to evaluate histoplasmosis, MAC, TB, bacterial infection, and malignancy. Get syndrome-directed cultures and antigen/tissue tests. A prophylaxis dose is not adequate treatment of disseminated disease. CD4 thresholds help prioritize possibilities but do not prove the diagnosis. Multiple infections can coexist. A worsening patient needs reassessment for treatment failure, another infection, toxicity, and IRIS. Sources: pcp , crypto , toxo , cmv , histo , mac .</a:t>
            </a:r>
          </a:p>
          <a:p xmlns:a="http://schemas.openxmlformats.org/drawingml/2006/main">
            <a:r>
              <a:t/>
            </a:r>
          </a:p>
          <a:p xmlns:a="http://schemas.openxmlformats.org/drawingml/2006/main">
            <a:r>
              <a:t>Module section: https://docarcshot.github.io/id-practice-update/lectures/HIV_Diagnosis_ART_Prevention_and_Opportunistic_Infections.html#core-oi</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syndrome to choose the first OI tests and treatment Initial OI decisions in advanced HIV Syndrome Initial evaluation Management anchor Subacute dyspnea and diffuse pulmonary opacities Assess oxygenation; obtain an appropriate respiratory specimen for Pneumocystis testing and evaluate other pulmonary causes. Start PCP treatment when suspicion is high. Steroids depend on hypoxemia, not the CD4 count alone. Headache or meningitic symptoms Consider cryptococcus and TB; obtain serum/CSF studies and measure opening pressure when LP is safe. Cryptococcal meningitis needs combination induction therapy and active pressure management. ART is usually deferred about 4–6 weeks after antifungals start. Focal neurologic signs or brain lesions Obtain brain imaging and consider toxoplasma, lymphoma, PML, TB, and other causes. Treat a likely toxoplasma presentation while setting a response checkpoint and an alternative-diagnosis plan. Visual symptoms Arrange urgent dilated ophthalmologic examination. CMV retinitis is an organ diagnosis. Plasma CMV PCR alone neither establishes nor excludes retinitis. Fever, cytopenias, weight loss, or systemic illness Use exposure and organ findings to evaluate histoplasmosis, MAC, TB, bacterial infection, and malignancy. Get syndrome-directed cultures and antigen/tissue tests. A prophylaxis dose is not adequate treatment of disseminated disease. CD4 thresholds help prioritize possibilities but do not prove the diagnosis. Multiple infections can coexist. A worsening patient needs reassessment for treatment failure, another infection, toxicity, and IRIS. Sources: pcp , crypto , toxo , cmv , histo , mac .</a:t>
            </a:r>
          </a:p>
          <a:p xmlns:a="http://schemas.openxmlformats.org/drawingml/2006/main">
            <a:r>
              <a:t/>
            </a:r>
          </a:p>
          <a:p xmlns:a="http://schemas.openxmlformats.org/drawingml/2006/main">
            <a:r>
              <a:t>Module section: https://docarcshot.github.io/id-practice-update/lectures/HIV_Diagnosis_ART_Prevention_and_Opportunistic_Infections.html#core-oi</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Treat PCP according to respiratory severity and plan what follows TMP-SMX is preferred therapy for most patients. Dose treatment by the trimethoprim component, usually 15–20 mg/kg/day in divided doses with renal adjustment; moderate or severe disease generally begins with IV treatment. The treatment course is 21 days. Add adjunctive corticosteroids when room-air PaO2 is below 70 mm Hg or the A–a gradient is at least 35 mm Hg, ideally within 72 hours of starting PCP treatment. Plan ART within two weeks when feasible and arrange secondary prophylaxis after the treatment course. Follow oxygenation, potassium, creatinine, CBC, tolerance, and the trajectory. Before labeling a patient a treatment failure, reconsider competing diagnoses and the expected early course. Alternative regimens and steroid doses are in the reference section. Sources: pcp .</a:t>
            </a:r>
          </a:p>
          <a:p xmlns:a="http://schemas.openxmlformats.org/drawingml/2006/main">
            <a:r>
              <a:t/>
            </a:r>
          </a:p>
          <a:p xmlns:a="http://schemas.openxmlformats.org/drawingml/2006/main">
            <a:r>
              <a:t>Module section: https://docarcshot.github.io/id-practice-update/lectures/HIV_Diagnosis_ART_Prevention_and_Opportunistic_Infections.html#core-pcp</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Treat PCP according to respiratory severity and plan what follows TMP-SMX is preferred therapy for most patients. Dose treatment by the trimethoprim component, usually 15–20 mg/kg/day in divided doses with renal adjustment; moderate or severe disease generally begins with IV treatment. The treatment course is 21 days. Add adjunctive corticosteroids when room-air PaO2 is below 70 mm Hg or the A–a gradient is at least 35 mm Hg, ideally within 72 hours of starting PCP treatment. Plan ART within two weeks when feasible and arrange secondary prophylaxis after the treatment course. Follow oxygenation, potassium, creatinine, CBC, tolerance, and the trajectory. Before labeling a patient a treatment failure, reconsider competing diagnoses and the expected early course. Alternative regimens and steroid doses are in the reference section. Sources: pcp .</a:t>
            </a:r>
          </a:p>
          <a:p xmlns:a="http://schemas.openxmlformats.org/drawingml/2006/main">
            <a:r>
              <a:t/>
            </a:r>
          </a:p>
          <a:p xmlns:a="http://schemas.openxmlformats.org/drawingml/2006/main">
            <a:r>
              <a:t>Module section: https://docarcshot.github.io/id-practice-update/lectures/HIV_Diagnosis_ART_Prevention_and_Opportunistic_Infections.html#core-pcp</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primary prophylaxis, secondary maintenance, PrEP, and PEP Four different prevention decisions Purpose Decision anchor Primary PCP prophylaxis For a person not taking ART or starting ART, CD4 below 200 is an indication under the current NIH guidance. For someone already on ART, use the CD4 and viral-load criteria in the detailed table. Primary toxoplasma prophylaxis Toxoplasma IgG positivity plus CD4 below 100 is the usual indication. TMP-SMX can cover both toxoplasma and PCP prophylaxis. Primary MAC prophylaxis Consider at CD4 below 50 when effective ART will not start promptly or suppression is not achievable; exclude disseminated MAC first. It is not routinely needed with immediate effective ART. Secondary maintenance After an OI, use that disease’s own treatment-completion and immune-recovery criteria. Do not apply a primary-prophylaxis stopping rule automatically. PrEP Confirm HIV-negative status, match the regimen to the exposure population, and arrange the required testing and follow-up. Oral and long-acting options have different eligibility and dosing schedules. PEP After a qualifying exposure, start as soon as possible and no later than 72 hours; use a 28-day course and arrange follow-up testing. Do not wait for every baseline result before the first dose. Sustained viral suppression prevents sexual HIV transmission. Discuss this clearly while still addressing other STI prevention, immunizations, reproductive goals, and access to treatment. Sources: pcp , toxo , mac , prep , pep , uu .</a:t>
            </a:r>
          </a:p>
          <a:p xmlns:a="http://schemas.openxmlformats.org/drawingml/2006/main">
            <a:r>
              <a:t/>
            </a:r>
          </a:p>
          <a:p xmlns:a="http://schemas.openxmlformats.org/drawingml/2006/main">
            <a:r>
              <a:t>Module section: https://docarcshot.github.io/id-practice-update/lectures/HIV_Diagnosis_ART_Prevention_and_Opportunistic_Infections.html#core-prevention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primary prophylaxis, secondary maintenance, PrEP, and PEP Four different prevention decisions Purpose Decision anchor Primary PCP prophylaxis For a person not taking ART or starting ART, CD4 below 200 is an indication under the current NIH guidance. For someone already on ART, use the CD4 and viral-load criteria in the detailed table. Primary toxoplasma prophylaxis Toxoplasma IgG positivity plus CD4 below 100 is the usual indication. TMP-SMX can cover both toxoplasma and PCP prophylaxis. Primary MAC prophylaxis Consider at CD4 below 50 when effective ART will not start promptly or suppression is not achievable; exclude disseminated MAC first. It is not routinely needed with immediate effective ART. Secondary maintenance After an OI, use that disease’s own treatment-completion and immune-recovery criteria. Do not apply a primary-prophylaxis stopping rule automatically. PrEP Confirm HIV-negative status, match the regimen to the exposure population, and arrange the required testing and follow-up. Oral and long-acting options have different eligibility and dosing schedules. PEP After a qualifying exposure, start as soon as possible and no later than 72 hours; use a 28-day course and arrange follow-up testing. Do not wait for every baseline result before the first dose. Sustained viral suppression prevents sexual HIV transmission. Discuss this clearly while still addressing other STI prevention, immunizations, reproductive goals, and access to treatment. Sources: pcp , toxo , mac , prep , pep , uu .</a:t>
            </a:r>
          </a:p>
          <a:p xmlns:a="http://schemas.openxmlformats.org/drawingml/2006/main">
            <a:r>
              <a:t/>
            </a:r>
          </a:p>
          <a:p xmlns:a="http://schemas.openxmlformats.org/drawingml/2006/main">
            <a:r>
              <a:t>Module section: https://docarcshot.github.io/id-practice-update/lectures/HIV_Diagnosis_ART_Prevention_and_Opportunistic_Infections.html#core-prevention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primary prophylaxis, secondary maintenance, PrEP, and PEP Four different prevention decisions Purpose Decision anchor Primary PCP prophylaxis For a person not taking ART or starting ART, CD4 below 200 is an indication under the current NIH guidance. For someone already on ART, use the CD4 and viral-load criteria in the detailed table. Primary toxoplasma prophylaxis Toxoplasma IgG positivity plus CD4 below 100 is the usual indication. TMP-SMX can cover both toxoplasma and PCP prophylaxis. Primary MAC prophylaxis Consider at CD4 below 50 when effective ART will not start promptly or suppression is not achievable; exclude disseminated MAC first. It is not routinely needed with immediate effective ART. Secondary maintenance After an OI, use that disease’s own treatment-completion and immune-recovery criteria. Do not apply a primary-prophylaxis stopping rule automatically. PrEP Confirm HIV-negative status, match the regimen to the exposure population, and arrange the required testing and follow-up. Oral and long-acting options have different eligibility and dosing schedules. PEP After a qualifying exposure, start as soon as possible and no later than 72 hours; use a 28-day course and arrange follow-up testing. Do not wait for every baseline result before the first dose. Sustained viral suppression prevents sexual HIV transmission. Discuss this clearly while still addressing other STI prevention, immunizations, reproductive goals, and access to treatment. Sources: pcp , toxo , mac , prep , pep , uu .</a:t>
            </a:r>
          </a:p>
          <a:p xmlns:a="http://schemas.openxmlformats.org/drawingml/2006/main">
            <a:r>
              <a:t/>
            </a:r>
          </a:p>
          <a:p xmlns:a="http://schemas.openxmlformats.org/drawingml/2006/main">
            <a:r>
              <a:t>Module section: https://docarcshot.github.io/id-practice-update/lectures/HIV_Diagnosis_ART_Prevention_and_Opportunistic_Infections.html#core-prevention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primary prophylaxis, secondary maintenance, PrEP, and PEP Four different prevention decisions Purpose Decision anchor Primary PCP prophylaxis For a person not taking ART or starting ART, CD4 below 200 is an indication under the current NIH guidance. For someone already on ART, use the CD4 and viral-load criteria in the detailed table. Primary toxoplasma prophylaxis Toxoplasma IgG positivity plus CD4 below 100 is the usual indication. TMP-SMX can cover both toxoplasma and PCP prophylaxis. Primary MAC prophylaxis Consider at CD4 below 50 when effective ART will not start promptly or suppression is not achievable; exclude disseminated MAC first. It is not routinely needed with immediate effective ART. Secondary maintenance After an OI, use that disease’s own treatment-completion and immune-recovery criteria. Do not apply a primary-prophylaxis stopping rule automatically. PrEP Confirm HIV-negative status, match the regimen to the exposure population, and arrange the required testing and follow-up. Oral and long-acting options have different eligibility and dosing schedules. PEP After a qualifying exposure, start as soon as possible and no later than 72 hours; use a 28-day course and arrange follow-up testing. Do not wait for every baseline result before the first dose. Sustained viral suppression prevents sexual HIV transmission. Discuss this clearly while still addressing other STI prevention, immunizations, reproductive goals, and access to treatment. Sources: pcp , toxo , mac , prep , pep , uu .</a:t>
            </a:r>
          </a:p>
          <a:p xmlns:a="http://schemas.openxmlformats.org/drawingml/2006/main">
            <a:r>
              <a:t/>
            </a:r>
          </a:p>
          <a:p xmlns:a="http://schemas.openxmlformats.org/drawingml/2006/main">
            <a:r>
              <a:t>Module section: https://docarcshot.github.io/id-practice-update/lectures/HIV_Diagnosis_ART_Prevention_and_Opportunistic_Infections.html#core-prevention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primary prophylaxis, secondary maintenance, PrEP, and PEP Four different prevention decisions Purpose Decision anchor Primary PCP prophylaxis For a person not taking ART or starting ART, CD4 below 200 is an indication under the current NIH guidance. For someone already on ART, use the CD4 and viral-load criteria in the detailed table. Primary toxoplasma prophylaxis Toxoplasma IgG positivity plus CD4 below 100 is the usual indication. TMP-SMX can cover both toxoplasma and PCP prophylaxis. Primary MAC prophylaxis Consider at CD4 below 50 when effective ART will not start promptly or suppression is not achievable; exclude disseminated MAC first. It is not routinely needed with immediate effective ART. Secondary maintenance After an OI, use that disease’s own treatment-completion and immune-recovery criteria. Do not apply a primary-prophylaxis stopping rule automatically. PrEP Confirm HIV-negative status, match the regimen to the exposure population, and arrange the required testing and follow-up. Oral and long-acting options have different eligibility and dosing schedules. PEP After a qualifying exposure, start as soon as possible and no later than 72 hours; use a 28-day course and arrange follow-up testing. Do not wait for every baseline result before the first dose. Sustained viral suppression prevents sexual HIV transmission. Discuss this clearly while still addressing other STI prevention, immunizations, reproductive goals, and access to treatment. Sources: pcp , toxo , mac , prep , pep , uu .</a:t>
            </a:r>
          </a:p>
          <a:p xmlns:a="http://schemas.openxmlformats.org/drawingml/2006/main">
            <a:r>
              <a:t/>
            </a:r>
          </a:p>
          <a:p xmlns:a="http://schemas.openxmlformats.org/drawingml/2006/main">
            <a:r>
              <a:t>Module section: https://docarcshot.github.io/id-practice-update/lectures/HIV_Diagnosis_ART_Prevention_and_Opportunistic_Infections.html#core-prevention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primary prophylaxis, secondary maintenance, PrEP, and PEP Four different prevention decisions Purpose Decision anchor Primary PCP prophylaxis For a person not taking ART or starting ART, CD4 below 200 is an indication under the current NIH guidance. For someone already on ART, use the CD4 and viral-load criteria in the detailed table. Primary toxoplasma prophylaxis Toxoplasma IgG positivity plus CD4 below 100 is the usual indication. TMP-SMX can cover both toxoplasma and PCP prophylaxis. Primary MAC prophylaxis Consider at CD4 below 50 when effective ART will not start promptly or suppression is not achievable; exclude disseminated MAC first. It is not routinely needed with immediate effective ART. Secondary maintenance After an OI, use that disease’s own treatment-completion and immune-recovery criteria. Do not apply a primary-prophylaxis stopping rule automatically. PrEP Confirm HIV-negative status, match the regimen to the exposure population, and arrange the required testing and follow-up. Oral and long-acting options have different eligibility and dosing schedules. PEP After a qualifying exposure, start as soon as possible and no later than 72 hours; use a 28-day course and arrange follow-up testing. Do not wait for every baseline result before the first dose. Sustained viral suppression prevents sexual HIV transmission. Discuss this clearly while still addressing other STI prevention, immunizations, reproductive goals, and access to treatment. Sources: pcp , toxo , mac , prep , pep , uu .</a:t>
            </a:r>
          </a:p>
          <a:p xmlns:a="http://schemas.openxmlformats.org/drawingml/2006/main">
            <a:r>
              <a:t/>
            </a:r>
          </a:p>
          <a:p xmlns:a="http://schemas.openxmlformats.org/drawingml/2006/main">
            <a:r>
              <a:t>Module section: https://docarcshot.github.io/id-practice-update/lectures/HIV_Diagnosis_ART_Prevention_and_Opportunistic_Infections.html#core-prevention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primary prophylaxis, secondary maintenance, PrEP, and PEP Four different prevention decisions Purpose Decision anchor Primary PCP prophylaxis For a person not taking ART or starting ART, CD4 below 200 is an indication under the current NIH guidance. For someone already on ART, use the CD4 and viral-load criteria in the detailed table. Primary toxoplasma prophylaxis Toxoplasma IgG positivity plus CD4 below 100 is the usual indication. TMP-SMX can cover both toxoplasma and PCP prophylaxis. Primary MAC prophylaxis Consider at CD4 below 50 when effective ART will not start promptly or suppression is not achievable; exclude disseminated MAC first. It is not routinely needed with immediate effective ART. Secondary maintenance After an OI, use that disease’s own treatment-completion and immune-recovery criteria. Do not apply a primary-prophylaxis stopping rule automatically. PrEP Confirm HIV-negative status, match the regimen to the exposure population, and arrange the required testing and follow-up. Oral and long-acting options have different eligibility and dosing schedules. PEP After a qualifying exposure, start as soon as possible and no later than 72 hours; use a 28-day course and arrange follow-up testing. Do not wait for every baseline result before the first dose. Sustained viral suppression prevents sexual HIV transmission. Discuss this clearly while still addressing other STI prevention, immunizations, reproductive goals, and access to treatment. Sources: pcp , toxo , mac , prep , pep , uu .</a:t>
            </a:r>
          </a:p>
          <a:p xmlns:a="http://schemas.openxmlformats.org/drawingml/2006/main">
            <a:r>
              <a:t/>
            </a:r>
          </a:p>
          <a:p xmlns:a="http://schemas.openxmlformats.org/drawingml/2006/main">
            <a:r>
              <a:t>Module section: https://docarcshot.github.io/id-practice-update/lectures/HIV_Diagnosis_ART_Prevention_and_Opportunistic_Infections.html#core-prevention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delivery and interactions before declaring the regimen ineffective Ask whether the person has the medicines and can take them consistently. Review antacids and mineral supplements with integrase inhibitors, acid suppressants with rilpivirine, rifamycins, anticonvulsants, and all nonprescription products. Food requirements and absorption matter. Recheck HIV RNA after treatment starts or changes according to the monitoring guideline, commonly within 4–8 weeks, and follow until suppressed. With persistent viremia, assess adherence, interactions, absorption, and resistance before changing therapy. Do not add a single active drug to a failing regimen. Discharge planning should name the HIV clinician, provide uninterrupted medication access, specify pending-result ownership, and distinguish the ART, OI treatment, and prophylaxis stop or reassessment dates. Suppression is the start of ongoing preventive care. Sources: monitor , failure , interactions .</a:t>
            </a:r>
          </a:p>
          <a:p xmlns:a="http://schemas.openxmlformats.org/drawingml/2006/main">
            <a:r>
              <a:t/>
            </a:r>
          </a:p>
          <a:p xmlns:a="http://schemas.openxmlformats.org/drawingml/2006/main">
            <a:r>
              <a:t>Module section: https://docarcshot.github.io/id-practice-update/lectures/HIV_Diagnosis_ART_Prevention_and_Opportunistic_Infections.html#core-followup</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delivery and interactions before declaring the regimen ineffective Ask whether the person has the medicines and can take them consistently. Review antacids and mineral supplements with integrase inhibitors, acid suppressants with rilpivirine, rifamycins, anticonvulsants, and all nonprescription products. Food requirements and absorption matter. Recheck HIV RNA after treatment starts or changes according to the monitoring guideline, commonly within 4–8 weeks, and follow until suppressed. With persistent viremia, assess adherence, interactions, absorption, and resistance before changing therapy. Do not add a single active drug to a failing regimen. Discharge planning should name the HIV clinician, provide uninterrupted medication access, specify pending-result ownership, and distinguish the ART, OI treatment, and prophylaxis stop or reassessment dates. Suppression is the start of ongoing preventive care. Sources: monitor , failure , interactions .</a:t>
            </a:r>
          </a:p>
          <a:p xmlns:a="http://schemas.openxmlformats.org/drawingml/2006/main">
            <a:r>
              <a:t/>
            </a:r>
          </a:p>
          <a:p xmlns:a="http://schemas.openxmlformats.org/drawingml/2006/main">
            <a:r>
              <a:t>Module section: https://docarcshot.github.io/id-practice-update/lectures/HIV_Diagnosis_ART_Prevention_and_Opportunistic_Infections.html#core-followup</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three cases to identify the immediate decision Case 1 · A discordant diagnostic sequence A symptomatic patient with a recent exposure has a reactive antigen-antibody test and a negative differentiation assay. Discuss the next action and the finding that would change it. Discussion Obtain HIV RNA promptly to evaluate acute infection. Review PrEP or PEP exposure and arrange confirmation and linkage. Do not call this a negative HIV evaluation because the antibody differentiation test is negative. Case 2 · Low CD4 with hypoxemic pneumonia A patient with newly diagnosed HIV has CD4 42, diffuse opacities, and room-air PaO2 64 mm Hg. Discuss the next action and the finding that would change it. Discussion Evaluate for PCP and other pulmonary disease while starting appropriate therapy when suspicion is high. The oxygenation meets the steroid threshold for PCP. Plan ART within two weeks when feasible, toxicity monitoring, and secondary prophylaxis. Case 3 · Meningitis changes the ART clock A patient with advanced HIV has a positive CSF cryptococcal antigen and a high opening pressure. Discuss the next action and the finding that would change it. Discussion Start guideline-concordant antifungal induction and manage intracranial pressure with therapeutic LPs. Follow CSF cultures and drug toxicity. Defer ART approximately 4–6 weeks after antifungal initiation rather than applying the usual rapid-start rule.</a:t>
            </a:r>
          </a:p>
          <a:p xmlns:a="http://schemas.openxmlformats.org/drawingml/2006/main">
            <a:r>
              <a:t/>
            </a:r>
          </a:p>
          <a:p xmlns:a="http://schemas.openxmlformats.org/drawingml/2006/main">
            <a:r>
              <a:t>Module section: https://docarcshot.github.io/id-practice-update/lectures/HIV_Diagnosis_ART_Prevention_and_Opportunistic_Infections.html#core-cases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three cases to identify the immediate decision Case 1 · A discordant diagnostic sequence A symptomatic patient with a recent exposure has a reactive antigen-antibody test and a negative differentiation assay. Discuss the next action and the finding that would change it. Discussion Obtain HIV RNA promptly to evaluate acute infection. Review PrEP or PEP exposure and arrange confirmation and linkage. Do not call this a negative HIV evaluation because the antibody differentiation test is negative. Case 2 · Low CD4 with hypoxemic pneumonia A patient with newly diagnosed HIV has CD4 42, diffuse opacities, and room-air PaO2 64 mm Hg. Discuss the next action and the finding that would change it. Discussion Evaluate for PCP and other pulmonary disease while starting appropriate therapy when suspicion is high. The oxygenation meets the steroid threshold for PCP. Plan ART within two weeks when feasible, toxicity monitoring, and secondary prophylaxis. Case 3 · Meningitis changes the ART clock A patient with advanced HIV has a positive CSF cryptococcal antigen and a high opening pressure. Discuss the next action and the finding that would change it. Discussion Start guideline-concordant antifungal induction and manage intracranial pressure with therapeutic LPs. Follow CSF cultures and drug toxicity. Defer ART approximately 4–6 weeks after antifungal initiation rather than applying the usual rapid-start rule.</a:t>
            </a:r>
          </a:p>
          <a:p xmlns:a="http://schemas.openxmlformats.org/drawingml/2006/main">
            <a:r>
              <a:t/>
            </a:r>
          </a:p>
          <a:p xmlns:a="http://schemas.openxmlformats.org/drawingml/2006/main">
            <a:r>
              <a:t>Module section: https://docarcshot.github.io/id-practice-update/lectures/HIV_Diagnosis_ART_Prevention_and_Opportunistic_Infections.html#core-cases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three cases to identify the immediate decision Case 1 · A discordant diagnostic sequence A symptomatic patient with a recent exposure has a reactive antigen-antibody test and a negative differentiation assay. Discuss the next action and the finding that would change it. Discussion Obtain HIV RNA promptly to evaluate acute infection. Review PrEP or PEP exposure and arrange confirmation and linkage. Do not call this a negative HIV evaluation because the antibody differentiation test is negative. Case 2 · Low CD4 with hypoxemic pneumonia A patient with newly diagnosed HIV has CD4 42, diffuse opacities, and room-air PaO2 64 mm Hg. Discuss the next action and the finding that would change it. Discussion Evaluate for PCP and other pulmonary disease while starting appropriate therapy when suspicion is high. The oxygenation meets the steroid threshold for PCP. Plan ART within two weeks when feasible, toxicity monitoring, and secondary prophylaxis. Case 3 · Meningitis changes the ART clock A patient with advanced HIV has a positive CSF cryptococcal antigen and a high opening pressure. Discuss the next action and the finding that would change it. Discussion Start guideline-concordant antifungal induction and manage intracranial pressure with therapeutic LPs. Follow CSF cultures and drug toxicity. Defer ART approximately 4–6 weeks after antifungal initiation rather than applying the usual rapid-start rule.</a:t>
            </a:r>
          </a:p>
          <a:p xmlns:a="http://schemas.openxmlformats.org/drawingml/2006/main">
            <a:r>
              <a:t/>
            </a:r>
          </a:p>
          <a:p xmlns:a="http://schemas.openxmlformats.org/drawingml/2006/main">
            <a:r>
              <a:t>Module section: https://docarcshot.github.io/id-practice-update/lectures/HIV_Diagnosis_ART_Prevention_and_Opportunistic_Infections.html#core-cases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three cases to identify the immediate decision Case 1 · A discordant diagnostic sequence A symptomatic patient with a recent exposure has a reactive antigen-antibody test and a negative differentiation assay. Discuss the next action and the finding that would change it. Discussion Obtain HIV RNA promptly to evaluate acute infection. Review PrEP or PEP exposure and arrange confirmation and linkage. Do not call this a negative HIV evaluation because the antibody differentiation test is negative. Case 2 · Low CD4 with hypoxemic pneumonia A patient with newly diagnosed HIV has CD4 42, diffuse opacities, and room-air PaO2 64 mm Hg. Discuss the next action and the finding that would change it. Discussion Evaluate for PCP and other pulmonary disease while starting appropriate therapy when suspicion is high. The oxygenation meets the steroid threshold for PCP. Plan ART within two weeks when feasible, toxicity monitoring, and secondary prophylaxis. Case 3 · Meningitis changes the ART clock A patient with advanced HIV has a positive CSF cryptococcal antigen and a high opening pressure. Discuss the next action and the finding that would change it. Discussion Start guideline-concordant antifungal induction and manage intracranial pressure with therapeutic LPs. Follow CSF cultures and drug toxicity. Defer ART approximately 4–6 weeks after antifungal initiation rather than applying the usual rapid-start rule.</a:t>
            </a:r>
          </a:p>
          <a:p xmlns:a="http://schemas.openxmlformats.org/drawingml/2006/main">
            <a:r>
              <a:t/>
            </a:r>
          </a:p>
          <a:p xmlns:a="http://schemas.openxmlformats.org/drawingml/2006/main">
            <a:r>
              <a:t>Module section: https://docarcshot.github.io/id-practice-update/lectures/HIV_Diagnosis_ART_Prevention_and_Opportunistic_Infections.html#core-cases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three cases to identify the immediate decision Case 1 · A discordant diagnostic sequence A symptomatic patient with a recent exposure has a reactive antigen-antibody test and a negative differentiation assay. Discuss the next action and the finding that would change it. Discussion Obtain HIV RNA promptly to evaluate acute infection. Review PrEP or PEP exposure and arrange confirmation and linkage. Do not call this a negative HIV evaluation because the antibody differentiation test is negative. Case 2 · Low CD4 with hypoxemic pneumonia A patient with newly diagnosed HIV has CD4 42, diffuse opacities, and room-air PaO2 64 mm Hg. Discuss the next action and the finding that would change it. Discussion Evaluate for PCP and other pulmonary disease while starting appropriate therapy when suspicion is high. The oxygenation meets the steroid threshold for PCP. Plan ART within two weeks when feasible, toxicity monitoring, and secondary prophylaxis. Case 3 · Meningitis changes the ART clock A patient with advanced HIV has a positive CSF cryptococcal antigen and a high opening pressure. Discuss the next action and the finding that would change it. Discussion Start guideline-concordant antifungal induction and manage intracranial pressure with therapeutic LPs. Follow CSF cultures and drug toxicity. Defer ART approximately 4–6 weeks after antifungal initiation rather than applying the usual rapid-start rule.</a:t>
            </a:r>
          </a:p>
          <a:p xmlns:a="http://schemas.openxmlformats.org/drawingml/2006/main">
            <a:r>
              <a:t/>
            </a:r>
          </a:p>
          <a:p xmlns:a="http://schemas.openxmlformats.org/drawingml/2006/main">
            <a:r>
              <a:t>Module section: https://docarcshot.github.io/id-practice-update/lectures/HIV_Diagnosis_ART_Prevention_and_Opportunistic_Infections.html#core-cases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three cases to identify the immediate decision Case 1 · A discordant diagnostic sequence A symptomatic patient with a recent exposure has a reactive antigen-antibody test and a negative differentiation assay. Discuss the next action and the finding that would change it. Discussion Obtain HIV RNA promptly to evaluate acute infection. Review PrEP or PEP exposure and arrange confirmation and linkage. Do not call this a negative HIV evaluation because the antibody differentiation test is negative. Case 2 · Low CD4 with hypoxemic pneumonia A patient with newly diagnosed HIV has CD4 42, diffuse opacities, and room-air PaO2 64 mm Hg. Discuss the next action and the finding that would change it. Discussion Evaluate for PCP and other pulmonary disease while starting appropriate therapy when suspicion is high. The oxygenation meets the steroid threshold for PCP. Plan ART within two weeks when feasible, toxicity monitoring, and secondary prophylaxis. Case 3 · Meningitis changes the ART clock A patient with advanced HIV has a positive CSF cryptococcal antigen and a high opening pressure. Discuss the next action and the finding that would change it. Discussion Start guideline-concordant antifungal induction and manage intracranial pressure with therapeutic LPs. Follow CSF cultures and drug toxicity. Defer ART approximately 4–6 weeks after antifungal initiation rather than applying the usual rapid-start rule.</a:t>
            </a:r>
          </a:p>
          <a:p xmlns:a="http://schemas.openxmlformats.org/drawingml/2006/main">
            <a:r>
              <a:t/>
            </a:r>
          </a:p>
          <a:p xmlns:a="http://schemas.openxmlformats.org/drawingml/2006/main">
            <a:r>
              <a:t>Module section: https://docarcshot.github.io/id-practice-update/lectures/HIV_Diagnosis_ART_Prevention_and_Opportunistic_Infections.html#core-cases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State the HIV and OI plans as linked but separate decisions Document the diagnostic status, HIV RNA/CD4, complete ART regimen and start date, OI diagnosis and treatment, ART-timing rationale, prophylaxis, monitoring, and follow-up access. End of the resident core. Detailed OI regimens, stopping criteria, and fellow discussions follow.</a:t>
            </a:r>
          </a:p>
          <a:p xmlns:a="http://schemas.openxmlformats.org/drawingml/2006/main">
            <a:r>
              <a:t/>
            </a:r>
          </a:p>
          <a:p xmlns:a="http://schemas.openxmlformats.org/drawingml/2006/main">
            <a:r>
              <a:t>Module section: https://docarcshot.github.io/id-practice-update/lectures/HIV_Diagnosis_ART_Prevention_and_Opportunistic_Infections.html#core-wrap</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teaching and detailed reference begin here Use these sections for fellow discussion, additional cases, and prescribing or evidence questions. They are outside the resident core. ART detail OI pathways Prophylaxis PrEP and PEP Trials Extra questions</a:t>
            </a:r>
          </a:p>
          <a:p xmlns:a="http://schemas.openxmlformats.org/drawingml/2006/main">
            <a:r>
              <a:t/>
            </a:r>
          </a:p>
          <a:p xmlns:a="http://schemas.openxmlformats.org/drawingml/2006/main">
            <a:r>
              <a:t>Module section: https://docarcshot.github.io/id-practice-update/lectures/HIV_Diagnosis_ART_Prevention_and_Opportunistic_Infections.html#advanced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HIV care begins with a diagnosis, an immune assessment, and a durable treatment plan This case-based primer is for residents and ID fellows, with an attending update pathway. The first block covers HIV diagnosis, ART, prevention, and longitudinal care. The second is a practical guide to opportunistic infections (OIs) and related infections. All cases are fictional teaching examples. Resident essentials Work through diagnosis, initial ART, OI recognition, and discharge planning. Allow 60-75 minutes for the core and 30-45 minutes for the OI workshop. Advanced pathway Add resistance, injectable treatment, ART timing controversies, and the original-trial discussion. Allow another 20-30 minutes. After completing this module, you should be able to Interpret discordant HIV tests and select the next diagnostic test. Select an initial ART strategy using resistance history, HBV status, organ function, and interactions. Build a syndrome-directed OI evaluation and specify treatment, ART timing, and prophylaxis. Distinguish virologic failure, treatment toxicity, another diagnosis, and IRIS. Deliver a discharge and prevention plan that preserves medication access and follow-up. Version 1.1. Clinical sources checked September 15, 2026. AI-assisted educational synthesis; faculty and pharmacy review pending. This is educational material, not an institutional protocol. Local laboratory order names, drug access, reporting, and referral pathways require confirmation.</a:t>
            </a:r>
          </a:p>
          <a:p xmlns:a="http://schemas.openxmlformats.org/drawingml/2006/main">
            <a:r>
              <a:t/>
            </a:r>
          </a:p>
          <a:p xmlns:a="http://schemas.openxmlformats.org/drawingml/2006/main">
            <a:r>
              <a:t>Module section: https://docarcshot.github.io/id-practice-update/lectures/HIV_Diagnosis_ART_Prevention_and_Opportunistic_Infections.html#start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HIV care begins with a diagnosis, an immune assessment, and a durable treatment plan This case-based primer is for residents and ID fellows, with an attending update pathway. The first block covers HIV diagnosis, ART, prevention, and longitudinal care. The second is a practical guide to opportunistic infections (OIs) and related infections. All cases are fictional teaching examples. Resident essentials Work through diagnosis, initial ART, OI recognition, and discharge planning. Allow 60-75 minutes for the core and 30-45 minutes for the OI workshop. Advanced pathway Add resistance, injectable treatment, ART timing controversies, and the original-trial discussion. Allow another 20-30 minutes. After completing this module, you should be able to Interpret discordant HIV tests and select the next diagnostic test. Select an initial ART strategy using resistance history, HBV status, organ function, and interactions. Build a syndrome-directed OI evaluation and specify treatment, ART timing, and prophylaxis. Distinguish virologic failure, treatment toxicity, another diagnosis, and IRIS. Deliver a discharge and prevention plan that preserves medication access and follow-up. Version 1.1. Clinical sources checked September 15, 2026. AI-assisted educational synthesis; faculty and pharmacy review pending. This is educational material, not an institutional protocol. Local laboratory order names, drug access, reporting, and referral pathways require confirmation.</a:t>
            </a:r>
          </a:p>
          <a:p xmlns:a="http://schemas.openxmlformats.org/drawingml/2006/main">
            <a:r>
              <a:t/>
            </a:r>
          </a:p>
          <a:p xmlns:a="http://schemas.openxmlformats.org/drawingml/2006/main">
            <a:r>
              <a:t>Module section: https://docarcshot.github.io/id-practice-update/lectures/HIV_Diagnosis_ART_Prevention_and_Opportunistic_Infections.html#start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HIV care begins with a diagnosis, an immune assessment, and a durable treatment plan This case-based primer is for residents and ID fellows, with an attending update pathway. The first block covers HIV diagnosis, ART, prevention, and longitudinal care. The second is a practical guide to opportunistic infections (OIs) and related infections. All cases are fictional teaching examples. Resident essentials Work through diagnosis, initial ART, OI recognition, and discharge planning. Allow 60-75 minutes for the core and 30-45 minutes for the OI workshop. Advanced pathway Add resistance, injectable treatment, ART timing controversies, and the original-trial discussion. Allow another 20-30 minutes. After completing this module, you should be able to Interpret discordant HIV tests and select the next diagnostic test. Select an initial ART strategy using resistance history, HBV status, organ function, and interactions. Build a syndrome-directed OI evaluation and specify treatment, ART timing, and prophylaxis. Distinguish virologic failure, treatment toxicity, another diagnosis, and IRIS. Deliver a discharge and prevention plan that preserves medication access and follow-up. Version 1.1. Clinical sources checked September 15, 2026. AI-assisted educational synthesis; faculty and pharmacy review pending. This is educational material, not an institutional protocol. Local laboratory order names, drug access, reporting, and referral pathways require confirmation.</a:t>
            </a:r>
          </a:p>
          <a:p xmlns:a="http://schemas.openxmlformats.org/drawingml/2006/main">
            <a:r>
              <a:t/>
            </a:r>
          </a:p>
          <a:p xmlns:a="http://schemas.openxmlformats.org/drawingml/2006/main">
            <a:r>
              <a:t>Module section: https://docarcshot.github.io/id-practice-update/lectures/HIV_Diagnosis_ART_Prevention_and_Opportunistic_Infections.html#start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HIV care begins with a diagnosis, an immune assessment, and a durable treatment plan This case-based primer is for residents and ID fellows, with an attending update pathway. The first block covers HIV diagnosis, ART, prevention, and longitudinal care. The second is a practical guide to opportunistic infections (OIs) and related infections. All cases are fictional teaching examples. Resident essentials Work through diagnosis, initial ART, OI recognition, and discharge planning. Allow 60-75 minutes for the core and 30-45 minutes for the OI workshop. Advanced pathway Add resistance, injectable treatment, ART timing controversies, and the original-trial discussion. Allow another 20-30 minutes. After completing this module, you should be able to Interpret discordant HIV tests and select the next diagnostic test. Select an initial ART strategy using resistance history, HBV status, organ function, and interactions. Build a syndrome-directed OI evaluation and specify treatment, ART timing, and prophylaxis. Distinguish virologic failure, treatment toxicity, another diagnosis, and IRIS. Deliver a discharge and prevention plan that preserves medication access and follow-up. Version 1.1. Clinical sources checked September 15, 2026. AI-assisted educational synthesis; faculty and pharmacy review pending. This is educational material, not an institutional protocol. Local laboratory order names, drug access, reporting, and referral pathways require confirmation.</a:t>
            </a:r>
          </a:p>
          <a:p xmlns:a="http://schemas.openxmlformats.org/drawingml/2006/main">
            <a:r>
              <a:t/>
            </a:r>
          </a:p>
          <a:p xmlns:a="http://schemas.openxmlformats.org/drawingml/2006/main">
            <a:r>
              <a:t>Module section: https://docarcshot.github.io/id-practice-update/lectures/HIV_Diagnosis_ART_Prevention_and_Opportunistic_Infections.html#start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HIV care begins with a diagnosis, an immune assessment, and a durable treatment plan This case-based primer is for residents and ID fellows, with an attending update pathway. The first block covers HIV diagnosis, ART, prevention, and longitudinal care. The second is a practical guide to opportunistic infections (OIs) and related infections. All cases are fictional teaching examples. Resident essentials Work through diagnosis, initial ART, OI recognition, and discharge planning. Allow 60-75 minutes for the core and 30-45 minutes for the OI workshop. Advanced pathway Add resistance, injectable treatment, ART timing controversies, and the original-trial discussion. Allow another 20-30 minutes. After completing this module, you should be able to Interpret discordant HIV tests and select the next diagnostic test. Select an initial ART strategy using resistance history, HBV status, organ function, and interactions. Build a syndrome-directed OI evaluation and specify treatment, ART timing, and prophylaxis. Distinguish virologic failure, treatment toxicity, another diagnosis, and IRIS. Deliver a discharge and prevention plan that preserves medication access and follow-up. Version 1.1. Clinical sources checked September 15, 2026. AI-assisted educational synthesis; faculty and pharmacy review pending. This is educational material, not an institutional protocol. Local laboratory order names, drug access, reporting, and referral pathways require confirmation.</a:t>
            </a:r>
          </a:p>
          <a:p xmlns:a="http://schemas.openxmlformats.org/drawingml/2006/main">
            <a:r>
              <a:t/>
            </a:r>
          </a:p>
          <a:p xmlns:a="http://schemas.openxmlformats.org/drawingml/2006/main">
            <a:r>
              <a:t>Module section: https://docarcshot.github.io/id-practice-update/lectures/HIV_Diagnosis_ART_Prevention_and_Opportunistic_Infections.html#start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testing sequence and recognize acute HIV before antibodies are fully detectable HIV RNA reflects viral replication; CD4 count helps estimate immune vulnerability. A high CD4 count does not remove the indication for treatment, and a low CD4 count does not establish the cause of an acute illness. Acute HIV may resemble influenza, COVID-19, EBV/CMV mononucleosis, or secondary syphilis, with fever, rash, pharyngitis, lymphadenopathy, diarrhea, or aseptic meningitis. [1] [2] Laboratory diagnosis and the next step Finding Interpretation Next step Reactive laboratory HIV-1/2 antigen-antibody assay A screening result, not the complete diagnosis Perform HIV-1/HIV-2 antibody differentiation. Reactive screen and positive differentiation HIV established by the diagnostic algorithm Obtain HIV RNA, CD4, and baseline evaluation; arrange ART. Reactive screen and negative or indeterminate differentiation Acute HIV versus false-positive screening Obtain HIV-1 RNA. Detectable RNA supports acute HIV; repeat a new specimen when needed. If HIV-2 remains a concern, arrange HIV-2-specific evaluation. Negative screen with recent exposure and compatible illness Window-period infection remains possible Order HIV RNA and arrange repeat testing. Low-positive RNA, especially during PrEP or PEP Early infection, drug-modified infection, or false positivity Repeat antigen-antibody and RNA on a new specimen; obtain expert input. Do not dismiss the result or simply continue an inadequate treatment regimen. [1] Ask specifically about prior oral and injectable PrEP, PEP, and the last injection date. Recent antiretroviral exposure can alter both the testing pattern and the resistance risk. Use nonjudgmental language and confirm how the patient wants results communicated. HIV itself requires Standard Precautions. Add transmission-based precautions for the suspected accompanying pathogen, such as airborne precautions for pulmonary TB. [3]</a:t>
            </a:r>
          </a:p>
          <a:p xmlns:a="http://schemas.openxmlformats.org/drawingml/2006/main">
            <a:r>
              <a:t/>
            </a:r>
          </a:p>
          <a:p xmlns:a="http://schemas.openxmlformats.org/drawingml/2006/main">
            <a:r>
              <a:t>Module section: https://docarcshot.github.io/id-practice-update/lectures/HIV_Diagnosis_ART_Prevention_and_Opportunistic_Infections.html#diagnosis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testing sequence and recognize acute HIV before antibodies are fully detectable HIV RNA reflects viral replication; CD4 count helps estimate immune vulnerability. A high CD4 count does not remove the indication for treatment, and a low CD4 count does not establish the cause of an acute illness. Acute HIV may resemble influenza, COVID-19, EBV/CMV mononucleosis, or secondary syphilis, with fever, rash, pharyngitis, lymphadenopathy, diarrhea, or aseptic meningitis. [1] [2] Laboratory diagnosis and the next step Finding Interpretation Next step Reactive laboratory HIV-1/2 antigen-antibody assay A screening result, not the complete diagnosis Perform HIV-1/HIV-2 antibody differentiation. Reactive screen and positive differentiation HIV established by the diagnostic algorithm Obtain HIV RNA, CD4, and baseline evaluation; arrange ART. Reactive screen and negative or indeterminate differentiation Acute HIV versus false-positive screening Obtain HIV-1 RNA. Detectable RNA supports acute HIV; repeat a new specimen when needed. If HIV-2 remains a concern, arrange HIV-2-specific evaluation. Negative screen with recent exposure and compatible illness Window-period infection remains possible Order HIV RNA and arrange repeat testing. Low-positive RNA, especially during PrEP or PEP Early infection, drug-modified infection, or false positivity Repeat antigen-antibody and RNA on a new specimen; obtain expert input. Do not dismiss the result or simply continue an inadequate treatment regimen. [1] Ask specifically about prior oral and injectable PrEP, PEP, and the last injection date. Recent antiretroviral exposure can alter both the testing pattern and the resistance risk. Use nonjudgmental language and confirm how the patient wants results communicated. HIV itself requires Standard Precautions. Add transmission-based precautions for the suspected accompanying pathogen, such as airborne precautions for pulmonary TB. [3]</a:t>
            </a:r>
          </a:p>
          <a:p xmlns:a="http://schemas.openxmlformats.org/drawingml/2006/main">
            <a:r>
              <a:t/>
            </a:r>
          </a:p>
          <a:p xmlns:a="http://schemas.openxmlformats.org/drawingml/2006/main">
            <a:r>
              <a:t>Module section: https://docarcshot.github.io/id-practice-update/lectures/HIV_Diagnosis_ART_Prevention_and_Opportunistic_Infections.html#diagnosis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testing sequence and recognize acute HIV before antibodies are fully detectable HIV RNA reflects viral replication; CD4 count helps estimate immune vulnerability. A high CD4 count does not remove the indication for treatment, and a low CD4 count does not establish the cause of an acute illness. Acute HIV may resemble influenza, COVID-19, EBV/CMV mononucleosis, or secondary syphilis, with fever, rash, pharyngitis, lymphadenopathy, diarrhea, or aseptic meningitis. [1] [2] Laboratory diagnosis and the next step Finding Interpretation Next step Reactive laboratory HIV-1/2 antigen-antibody assay A screening result, not the complete diagnosis Perform HIV-1/HIV-2 antibody differentiation. Reactive screen and positive differentiation HIV established by the diagnostic algorithm Obtain HIV RNA, CD4, and baseline evaluation; arrange ART. Reactive screen and negative or indeterminate differentiation Acute HIV versus false-positive screening Obtain HIV-1 RNA. Detectable RNA supports acute HIV; repeat a new specimen when needed. If HIV-2 remains a concern, arrange HIV-2-specific evaluation. Negative screen with recent exposure and compatible illness Window-period infection remains possible Order HIV RNA and arrange repeat testing. Low-positive RNA, especially during PrEP or PEP Early infection, drug-modified infection, or false positivity Repeat antigen-antibody and RNA on a new specimen; obtain expert input. Do not dismiss the result or simply continue an inadequate treatment regimen. [1] Ask specifically about prior oral and injectable PrEP, PEP, and the last injection date. Recent antiretroviral exposure can alter both the testing pattern and the resistance risk. Use nonjudgmental language and confirm how the patient wants results communicated. HIV itself requires Standard Precautions. Add transmission-based precautions for the suspected accompanying pathogen, such as airborne precautions for pulmonary TB. [3]</a:t>
            </a:r>
          </a:p>
          <a:p xmlns:a="http://schemas.openxmlformats.org/drawingml/2006/main">
            <a:r>
              <a:t/>
            </a:r>
          </a:p>
          <a:p xmlns:a="http://schemas.openxmlformats.org/drawingml/2006/main">
            <a:r>
              <a:t>Module section: https://docarcshot.github.io/id-practice-update/lectures/HIV_Diagnosis_ART_Prevention_and_Opportunistic_Infections.html#diagnosis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testing sequence and recognize acute HIV before antibodies are fully detectable HIV RNA reflects viral replication; CD4 count helps estimate immune vulnerability. A high CD4 count does not remove the indication for treatment, and a low CD4 count does not establish the cause of an acute illness. Acute HIV may resemble influenza, COVID-19, EBV/CMV mononucleosis, or secondary syphilis, with fever, rash, pharyngitis, lymphadenopathy, diarrhea, or aseptic meningitis. [1] [2] Laboratory diagnosis and the next step Finding Interpretation Next step Reactive laboratory HIV-1/2 antigen-antibody assay A screening result, not the complete diagnosis Perform HIV-1/HIV-2 antibody differentiation. Reactive screen and positive differentiation HIV established by the diagnostic algorithm Obtain HIV RNA, CD4, and baseline evaluation; arrange ART. Reactive screen and negative or indeterminate differentiation Acute HIV versus false-positive screening Obtain HIV-1 RNA. Detectable RNA supports acute HIV; repeat a new specimen when needed. If HIV-2 remains a concern, arrange HIV-2-specific evaluation. Negative screen with recent exposure and compatible illness Window-period infection remains possible Order HIV RNA and arrange repeat testing. Low-positive RNA, especially during PrEP or PEP Early infection, drug-modified infection, or false positivity Repeat antigen-antibody and RNA on a new specimen; obtain expert input. Do not dismiss the result or simply continue an inadequate treatment regimen. [1] Ask specifically about prior oral and injectable PrEP, PEP, and the last injection date. Recent antiretroviral exposure can alter both the testing pattern and the resistance risk. Use nonjudgmental language and confirm how the patient wants results communicated. HIV itself requires Standard Precautions. Add transmission-based precautions for the suspected accompanying pathogen, such as airborne precautions for pulmonary TB. [3]</a:t>
            </a:r>
          </a:p>
          <a:p xmlns:a="http://schemas.openxmlformats.org/drawingml/2006/main">
            <a:r>
              <a:t/>
            </a:r>
          </a:p>
          <a:p xmlns:a="http://schemas.openxmlformats.org/drawingml/2006/main">
            <a:r>
              <a:t>Module section: https://docarcshot.github.io/id-practice-update/lectures/HIV_Diagnosis_ART_Prevention_and_Opportunistic_Infections.html#diagnosis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testing sequence and recognize acute HIV before antibodies are fully detectable HIV RNA reflects viral replication; CD4 count helps estimate immune vulnerability. A high CD4 count does not remove the indication for treatment, and a low CD4 count does not establish the cause of an acute illness. Acute HIV may resemble influenza, COVID-19, EBV/CMV mononucleosis, or secondary syphilis, with fever, rash, pharyngitis, lymphadenopathy, diarrhea, or aseptic meningitis. [1] [2] Laboratory diagnosis and the next step Finding Interpretation Next step Reactive laboratory HIV-1/2 antigen-antibody assay A screening result, not the complete diagnosis Perform HIV-1/HIV-2 antibody differentiation. Reactive screen and positive differentiation HIV established by the diagnostic algorithm Obtain HIV RNA, CD4, and baseline evaluation; arrange ART. Reactive screen and negative or indeterminate differentiation Acute HIV versus false-positive screening Obtain HIV-1 RNA. Detectable RNA supports acute HIV; repeat a new specimen when needed. If HIV-2 remains a concern, arrange HIV-2-specific evaluation. Negative screen with recent exposure and compatible illness Window-period infection remains possible Order HIV RNA and arrange repeat testing. Low-positive RNA, especially during PrEP or PEP Early infection, drug-modified infection, or false positivity Repeat antigen-antibody and RNA on a new specimen; obtain expert input. Do not dismiss the result or simply continue an inadequate treatment regimen. [1] Ask specifically about prior oral and injectable PrEP, PEP, and the last injection date. Recent antiretroviral exposure can alter both the testing pattern and the resistance risk. Use nonjudgmental language and confirm how the patient wants results communicated. HIV itself requires Standard Precautions. Add transmission-based precautions for the suspected accompanying pathogen, such as airborne precautions for pulmonary TB. [3]</a:t>
            </a:r>
          </a:p>
          <a:p xmlns:a="http://schemas.openxmlformats.org/drawingml/2006/main">
            <a:r>
              <a:t/>
            </a:r>
          </a:p>
          <a:p xmlns:a="http://schemas.openxmlformats.org/drawingml/2006/main">
            <a:r>
              <a:t>Module section: https://docarcshot.github.io/id-practice-update/lectures/HIV_Diagnosis_ART_Prevention_and_Opportunistic_Infections.html#diagnosis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testing sequence and recognize acute HIV before antibodies are fully detectable HIV RNA reflects viral replication; CD4 count helps estimate immune vulnerability. A high CD4 count does not remove the indication for treatment, and a low CD4 count does not establish the cause of an acute illness. Acute HIV may resemble influenza, COVID-19, EBV/CMV mononucleosis, or secondary syphilis, with fever, rash, pharyngitis, lymphadenopathy, diarrhea, or aseptic meningitis. [1] [2] Laboratory diagnosis and the next step Finding Interpretation Next step Reactive laboratory HIV-1/2 antigen-antibody assay A screening result, not the complete diagnosis Perform HIV-1/HIV-2 antibody differentiation. Reactive screen and positive differentiation HIV established by the diagnostic algorithm Obtain HIV RNA, CD4, and baseline evaluation; arrange ART. Reactive screen and negative or indeterminate differentiation Acute HIV versus false-positive screening Obtain HIV-1 RNA. Detectable RNA supports acute HIV; repeat a new specimen when needed. If HIV-2 remains a concern, arrange HIV-2-specific evaluation. Negative screen with recent exposure and compatible illness Window-period infection remains possible Order HIV RNA and arrange repeat testing. Low-positive RNA, especially during PrEP or PEP Early infection, drug-modified infection, or false positivity Repeat antigen-antibody and RNA on a new specimen; obtain expert input. Do not dismiss the result or simply continue an inadequate treatment regimen. [1] Ask specifically about prior oral and injectable PrEP, PEP, and the last injection date. Recent antiretroviral exposure can alter both the testing pattern and the resistance risk. Use nonjudgmental language and confirm how the patient wants results communicated. HIV itself requires Standard Precautions. Add transmission-based precautions for the suspected accompanying pathogen, such as airborne precautions for pulmonary TB. [3]</a:t>
            </a:r>
          </a:p>
          <a:p xmlns:a="http://schemas.openxmlformats.org/drawingml/2006/main">
            <a:r>
              <a:t/>
            </a:r>
          </a:p>
          <a:p xmlns:a="http://schemas.openxmlformats.org/drawingml/2006/main">
            <a:r>
              <a:t>Module section: https://docarcshot.github.io/id-practice-update/lectures/HIV_Diagnosis_ART_Prevention_and_Opportunistic_Infections.html#diagnosis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testing sequence and recognize acute HIV before antibodies are fully detectable HIV RNA reflects viral replication; CD4 count helps estimate immune vulnerability. A high CD4 count does not remove the indication for treatment, and a low CD4 count does not establish the cause of an acute illness. Acute HIV may resemble influenza, COVID-19, EBV/CMV mononucleosis, or secondary syphilis, with fever, rash, pharyngitis, lymphadenopathy, diarrhea, or aseptic meningitis. [1] [2] Laboratory diagnosis and the next step Finding Interpretation Next step Reactive laboratory HIV-1/2 antigen-antibody assay A screening result, not the complete diagnosis Perform HIV-1/HIV-2 antibody differentiation. Reactive screen and positive differentiation HIV established by the diagnostic algorithm Obtain HIV RNA, CD4, and baseline evaluation; arrange ART. Reactive screen and negative or indeterminate differentiation Acute HIV versus false-positive screening Obtain HIV-1 RNA. Detectable RNA supports acute HIV; repeat a new specimen when needed. If HIV-2 remains a concern, arrange HIV-2-specific evaluation. Negative screen with recent exposure and compatible illness Window-period infection remains possible Order HIV RNA and arrange repeat testing. Low-positive RNA, especially during PrEP or PEP Early infection, drug-modified infection, or false positivity Repeat antigen-antibody and RNA on a new specimen; obtain expert input. Do not dismiss the result or simply continue an inadequate treatment regimen. [1] Ask specifically about prior oral and injectable PrEP, PEP, and the last injection date. Recent antiretroviral exposure can alter both the testing pattern and the resistance risk. Use nonjudgmental language and confirm how the patient wants results communicated. HIV itself requires Standard Precautions. Add transmission-based precautions for the suspected accompanying pathogen, such as airborne precautions for pulmonary TB. [3]</a:t>
            </a:r>
          </a:p>
          <a:p xmlns:a="http://schemas.openxmlformats.org/drawingml/2006/main">
            <a:r>
              <a:t/>
            </a:r>
          </a:p>
          <a:p xmlns:a="http://schemas.openxmlformats.org/drawingml/2006/main">
            <a:r>
              <a:t>Module section: https://docarcshot.github.io/id-practice-update/lectures/HIV_Diagnosis_ART_Prevention_and_Opportunistic_Infections.html#diagnosis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Collect baseline studies without creating an unnecessary delay in ART The first visit or inpatient consultation Task What to establish HIV status and prior treatment Diagnostic documentation; prior ART, PrEP/PEP, genotypes, interruptions, and current medication supply. Virology and immunity HIV RNA and CD4. Genotype for reverse transcriptase and protease; add integrase testing for prior CAB PrEP, INSTI treatment failure, or suspected INSTI resistance. Organ function and coinfection CBC, renal and liver testing, urinalysis, lipids; hepatitis A immunity; HBV surface antigen, surface antibody, core antibody; HCV testing with RNA when indicated. Prevention and special situations Pregnancy testing when relevant; site-specific STI testing and syphilis serology; TB screening after assessing for disease; Toxoplasma IgG and G6PD when relevant to OI prevention. HLA-B*5701 only if considering abacavir. Clinical feasibility Symptoms of CNS, pulmonary, ocular, or disseminated OI; drug interactions, swallowing and absorption, insurance/ADAP, transport, housing, mental health, substance use, and a confirmed follow-up clinician. [4] [1] [5] [6] Send specimens before ART when feasible. In a clinically suitable patient, do not wait for CD4 or genotype results to start an appropriate rapid-start regimen. If HBV results are pending, use a regimen with HBV activity. CNS cryptococcosis and TB meningitis are important exceptions to reflex immediate ART. [4] [7] [3] Advanced HIV is a prompt to look for an OI, not an instruction to send every available PCR. Choose specimens from the involved organ and identify which result would change treatment.</a:t>
            </a:r>
          </a:p>
          <a:p xmlns:a="http://schemas.openxmlformats.org/drawingml/2006/main">
            <a:r>
              <a:t/>
            </a:r>
          </a:p>
          <a:p xmlns:a="http://schemas.openxmlformats.org/drawingml/2006/main">
            <a:r>
              <a:t>Module section: https://docarcshot.github.io/id-practice-update/lectures/HIV_Diagnosis_ART_Prevention_and_Opportunistic_Infections.html#baseline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Collect baseline studies without creating an unnecessary delay in ART The first visit or inpatient consultation Task What to establish HIV status and prior treatment Diagnostic documentation; prior ART, PrEP/PEP, genotypes, interruptions, and current medication supply. Virology and immunity HIV RNA and CD4. Genotype for reverse transcriptase and protease; add integrase testing for prior CAB PrEP, INSTI treatment failure, or suspected INSTI resistance. Organ function and coinfection CBC, renal and liver testing, urinalysis, lipids; hepatitis A immunity; HBV surface antigen, surface antibody, core antibody; HCV testing with RNA when indicated. Prevention and special situations Pregnancy testing when relevant; site-specific STI testing and syphilis serology; TB screening after assessing for disease; Toxoplasma IgG and G6PD when relevant to OI prevention. HLA-B*5701 only if considering abacavir. Clinical feasibility Symptoms of CNS, pulmonary, ocular, or disseminated OI; drug interactions, swallowing and absorption, insurance/ADAP, transport, housing, mental health, substance use, and a confirmed follow-up clinician. [4] [1] [5] [6] Send specimens before ART when feasible. In a clinically suitable patient, do not wait for CD4 or genotype results to start an appropriate rapid-start regimen. If HBV results are pending, use a regimen with HBV activity. CNS cryptococcosis and TB meningitis are important exceptions to reflex immediate ART. [4] [7] [3] Advanced HIV is a prompt to look for an OI, not an instruction to send every available PCR. Choose specimens from the involved organ and identify which result would change treatment.</a:t>
            </a:r>
          </a:p>
          <a:p xmlns:a="http://schemas.openxmlformats.org/drawingml/2006/main">
            <a:r>
              <a:t/>
            </a:r>
          </a:p>
          <a:p xmlns:a="http://schemas.openxmlformats.org/drawingml/2006/main">
            <a:r>
              <a:t>Module section: https://docarcshot.github.io/id-practice-update/lectures/HIV_Diagnosis_ART_Prevention_and_Opportunistic_Infections.html#baseline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Collect baseline studies without creating an unnecessary delay in ART The first visit or inpatient consultation Task What to establish HIV status and prior treatment Diagnostic documentation; prior ART, PrEP/PEP, genotypes, interruptions, and current medication supply. Virology and immunity HIV RNA and CD4. Genotype for reverse transcriptase and protease; add integrase testing for prior CAB PrEP, INSTI treatment failure, or suspected INSTI resistance. Organ function and coinfection CBC, renal and liver testing, urinalysis, lipids; hepatitis A immunity; HBV surface antigen, surface antibody, core antibody; HCV testing with RNA when indicated. Prevention and special situations Pregnancy testing when relevant; site-specific STI testing and syphilis serology; TB screening after assessing for disease; Toxoplasma IgG and G6PD when relevant to OI prevention. HLA-B*5701 only if considering abacavir. Clinical feasibility Symptoms of CNS, pulmonary, ocular, or disseminated OI; drug interactions, swallowing and absorption, insurance/ADAP, transport, housing, mental health, substance use, and a confirmed follow-up clinician. [4] [1] [5] [6] Send specimens before ART when feasible. In a clinically suitable patient, do not wait for CD4 or genotype results to start an appropriate rapid-start regimen. If HBV results are pending, use a regimen with HBV activity. CNS cryptococcosis and TB meningitis are important exceptions to reflex immediate ART. [4] [7] [3] Advanced HIV is a prompt to look for an OI, not an instruction to send every available PCR. Choose specimens from the involved organ and identify which result would change treatment.</a:t>
            </a:r>
          </a:p>
          <a:p xmlns:a="http://schemas.openxmlformats.org/drawingml/2006/main">
            <a:r>
              <a:t/>
            </a:r>
          </a:p>
          <a:p xmlns:a="http://schemas.openxmlformats.org/drawingml/2006/main">
            <a:r>
              <a:t>Module section: https://docarcshot.github.io/id-practice-update/lectures/HIV_Diagnosis_ART_Prevention_and_Opportunistic_Infections.html#baseline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Collect baseline studies without creating an unnecessary delay in ART The first visit or inpatient consultation Task What to establish HIV status and prior treatment Diagnostic documentation; prior ART, PrEP/PEP, genotypes, interruptions, and current medication supply. Virology and immunity HIV RNA and CD4. Genotype for reverse transcriptase and protease; add integrase testing for prior CAB PrEP, INSTI treatment failure, or suspected INSTI resistance. Organ function and coinfection CBC, renal and liver testing, urinalysis, lipids; hepatitis A immunity; HBV surface antigen, surface antibody, core antibody; HCV testing with RNA when indicated. Prevention and special situations Pregnancy testing when relevant; site-specific STI testing and syphilis serology; TB screening after assessing for disease; Toxoplasma IgG and G6PD when relevant to OI prevention. HLA-B*5701 only if considering abacavir. Clinical feasibility Symptoms of CNS, pulmonary, ocular, or disseminated OI; drug interactions, swallowing and absorption, insurance/ADAP, transport, housing, mental health, substance use, and a confirmed follow-up clinician. [4] [1] [5] [6] Send specimens before ART when feasible. In a clinically suitable patient, do not wait for CD4 or genotype results to start an appropriate rapid-start regimen. If HBV results are pending, use a regimen with HBV activity. CNS cryptococcosis and TB meningitis are important exceptions to reflex immediate ART. [4] [7] [3] Advanced HIV is a prompt to look for an OI, not an instruction to send every available PCR. Choose specimens from the involved organ and identify which result would change treatment.</a:t>
            </a:r>
          </a:p>
          <a:p xmlns:a="http://schemas.openxmlformats.org/drawingml/2006/main">
            <a:r>
              <a:t/>
            </a:r>
          </a:p>
          <a:p xmlns:a="http://schemas.openxmlformats.org/drawingml/2006/main">
            <a:r>
              <a:t>Module section: https://docarcshot.github.io/id-practice-update/lectures/HIV_Diagnosis_ART_Prevention_and_Opportunistic_Infections.html#baseline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Collect baseline studies without creating an unnecessary delay in ART The first visit or inpatient consultation Task What to establish HIV status and prior treatment Diagnostic documentation; prior ART, PrEP/PEP, genotypes, interruptions, and current medication supply. Virology and immunity HIV RNA and CD4. Genotype for reverse transcriptase and protease; add integrase testing for prior CAB PrEP, INSTI treatment failure, or suspected INSTI resistance. Organ function and coinfection CBC, renal and liver testing, urinalysis, lipids; hepatitis A immunity; HBV surface antigen, surface antibody, core antibody; HCV testing with RNA when indicated. Prevention and special situations Pregnancy testing when relevant; site-specific STI testing and syphilis serology; TB screening after assessing for disease; Toxoplasma IgG and G6PD when relevant to OI prevention. HLA-B*5701 only if considering abacavir. Clinical feasibility Symptoms of CNS, pulmonary, ocular, or disseminated OI; drug interactions, swallowing and absorption, insurance/ADAP, transport, housing, mental health, substance use, and a confirmed follow-up clinician. [4] [1] [5] [6] Send specimens before ART when feasible. In a clinically suitable patient, do not wait for CD4 or genotype results to start an appropriate rapid-start regimen. If HBV results are pending, use a regimen with HBV activity. CNS cryptococcosis and TB meningitis are important exceptions to reflex immediate ART. [4] [7] [3] Advanced HIV is a prompt to look for an OI, not an instruction to send every available PCR. Choose specimens from the involved organ and identify which result would change treatment.</a:t>
            </a:r>
          </a:p>
          <a:p xmlns:a="http://schemas.openxmlformats.org/drawingml/2006/main">
            <a:r>
              <a:t/>
            </a:r>
          </a:p>
          <a:p xmlns:a="http://schemas.openxmlformats.org/drawingml/2006/main">
            <a:r>
              <a:t>Module section: https://docarcshot.github.io/id-practice-update/lectures/HIV_Diagnosis_ART_Prevention_and_Opportunistic_Infections.html#baseline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Collect baseline studies without creating an unnecessary delay in ART The first visit or inpatient consultation Task What to establish HIV status and prior treatment Diagnostic documentation; prior ART, PrEP/PEP, genotypes, interruptions, and current medication supply. Virology and immunity HIV RNA and CD4. Genotype for reverse transcriptase and protease; add integrase testing for prior CAB PrEP, INSTI treatment failure, or suspected INSTI resistance. Organ function and coinfection CBC, renal and liver testing, urinalysis, lipids; hepatitis A immunity; HBV surface antigen, surface antibody, core antibody; HCV testing with RNA when indicated. Prevention and special situations Pregnancy testing when relevant; site-specific STI testing and syphilis serology; TB screening after assessing for disease; Toxoplasma IgG and G6PD when relevant to OI prevention. HLA-B*5701 only if considering abacavir. Clinical feasibility Symptoms of CNS, pulmonary, ocular, or disseminated OI; drug interactions, swallowing and absorption, insurance/ADAP, transport, housing, mental health, substance use, and a confirmed follow-up clinician. [4] [1] [5] [6] Send specimens before ART when feasible. In a clinically suitable patient, do not wait for CD4 or genotype results to start an appropriate rapid-start regimen. If HBV results are pending, use a regimen with HBV activity. CNS cryptococcosis and TB meningitis are important exceptions to reflex immediate ART. [4] [7] [3] Advanced HIV is a prompt to look for an OI, not an instruction to send every available PCR. Choose specimens from the involved organ and identify which result would change treatment.</a:t>
            </a:r>
          </a:p>
          <a:p xmlns:a="http://schemas.openxmlformats.org/drawingml/2006/main">
            <a:r>
              <a:t/>
            </a:r>
          </a:p>
          <a:p xmlns:a="http://schemas.openxmlformats.org/drawingml/2006/main">
            <a:r>
              <a:t>Module section: https://docarcshot.github.io/id-practice-update/lectures/HIV_Diagnosis_ART_Prevention_and_Opportunistic_Infections.html#baseline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an effective complete regimen and account for the exceptions HIV integrates into host DNA and persists in a reservoir that current ART does not eradicate. NRTIs and NNRTIs inhibit reverse transcription, INSTIs inhibit integration, and protease inhibitors prevent viral maturation. Ritonavir and cobicistat commonly serve as pharmacokinetic boosters; they are not interchangeable with an active drug in the regimen. Capsid and entry-directed agents have specialized roles. [8] For most treatment-naive adults without prior long-acting cabotegravir exposure, initial treatment uses bictegravir/TAF/FTC or dolutegravir plus two nucleos(t)ide agents. Here, TAF/TDF are tenofovir formulations, FTC is emtricitabine, and 3TC is lamivudine. Renal dysfunction, pregnancy, resistance, and interacting drugs can change the choice. [8] Common adult ART strategies Regimen or setting Practical use Reason to choose differently Bictegravir/FTC/TAF 50/200/25 mg PO daily One tablet daily; common rapid-start option Review kidney function and cations. Rifampin is contraindicated. Prior CAB PrEP requires a resistance-informed approach. [9] Dolutegravir 50 mg PO daily plus TAF/FTC or TDF/FTC Common initial alternative; select and dose the backbone for kidney function DTG dosing changes with some inducers or resistance. Fixed-dose combinations are not interchangeable across renal categories. [8] [10] Dolutegravir/3TC 50/300 mg PO daily Two-drug option for selected patients Do not use for rapid start before HBV/genotype results, with HBV coinfection, or HIV RNA &gt;500,000 copies/mL. [8] [11] HIV after CAB PrEP Obtain integrase genotype; start boosted darunavir plus two appropriate NRTIs while results are pending Do not assume bictegravir or dolutegravir remains active. Pregnancy changes booster selection. [1] HIV/HBV coinfection Use TAF or TDF plus FTC or 3TC within suppressive ART FTC or 3TC alone is inadequate HBV treatment. If tenofovir cannot be used, add entecavir to fully suppressive HIV therapy. Avoid unplanned withdrawal of HBV-active drugs. [12] Pregnancy or pregnancy planning Start promptly and consult the current perinatal recommendations Do not withhold ART. Review pregnancy-specific pharmacokinetics and the complete regimen. [13] Fellow and attending discussion ART trial endpoints usually measure virologic suppression, not superiority in mortality. A switch study in already suppressed patients does not establish a rapid-start regimen. Distinguish the genetic barrier of a drug from the actual activity of the complete regimen against a patient’s archived virus. [8] [14]</a:t>
            </a:r>
          </a:p>
          <a:p xmlns:a="http://schemas.openxmlformats.org/drawingml/2006/main">
            <a:r>
              <a:t/>
            </a:r>
          </a:p>
          <a:p xmlns:a="http://schemas.openxmlformats.org/drawingml/2006/main">
            <a:r>
              <a:t>Module section: https://docarcshot.github.io/id-practice-update/lectures/HIV_Diagnosis_ART_Prevention_and_Opportunistic_Infections.html#art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an effective complete regimen and account for the exceptions HIV integrates into host DNA and persists in a reservoir that current ART does not eradicate. NRTIs and NNRTIs inhibit reverse transcription, INSTIs inhibit integration, and protease inhibitors prevent viral maturation. Ritonavir and cobicistat commonly serve as pharmacokinetic boosters; they are not interchangeable with an active drug in the regimen. Capsid and entry-directed agents have specialized roles. [8] For most treatment-naive adults without prior long-acting cabotegravir exposure, initial treatment uses bictegravir/TAF/FTC or dolutegravir plus two nucleos(t)ide agents. Here, TAF/TDF are tenofovir formulations, FTC is emtricitabine, and 3TC is lamivudine. Renal dysfunction, pregnancy, resistance, and interacting drugs can change the choice. [8] Common adult ART strategies Regimen or setting Practical use Reason to choose differently Bictegravir/FTC/TAF 50/200/25 mg PO daily One tablet daily; common rapid-start option Review kidney function and cations. Rifampin is contraindicated. Prior CAB PrEP requires a resistance-informed approach. [9] Dolutegravir 50 mg PO daily plus TAF/FTC or TDF/FTC Common initial alternative; select and dose the backbone for kidney function DTG dosing changes with some inducers or resistance. Fixed-dose combinations are not interchangeable across renal categories. [8] [10] Dolutegravir/3TC 50/300 mg PO daily Two-drug option for selected patients Do not use for rapid start before HBV/genotype results, with HBV coinfection, or HIV RNA &gt;500,000 copies/mL. [8] [11] HIV after CAB PrEP Obtain integrase genotype; start boosted darunavir plus two appropriate NRTIs while results are pending Do not assume bictegravir or dolutegravir remains active. Pregnancy changes booster selection. [1] HIV/HBV coinfection Use TAF or TDF plus FTC or 3TC within suppressive ART FTC or 3TC alone is inadequate HBV treatment. If tenofovir cannot be used, add entecavir to fully suppressive HIV therapy. Avoid unplanned withdrawal of HBV-active drugs. [12] Pregnancy or pregnancy planning Start promptly and consult the current perinatal recommendations Do not withhold ART. Review pregnancy-specific pharmacokinetics and the complete regimen. [13] Fellow and attending discussion ART trial endpoints usually measure virologic suppression, not superiority in mortality. A switch study in already suppressed patients does not establish a rapid-start regimen. Distinguish the genetic barrier of a drug from the actual activity of the complete regimen against a patient’s archived virus. [8] [14]</a:t>
            </a:r>
          </a:p>
          <a:p xmlns:a="http://schemas.openxmlformats.org/drawingml/2006/main">
            <a:r>
              <a:t/>
            </a:r>
          </a:p>
          <a:p xmlns:a="http://schemas.openxmlformats.org/drawingml/2006/main">
            <a:r>
              <a:t>Module section: https://docarcshot.github.io/id-practice-update/lectures/HIV_Diagnosis_ART_Prevention_and_Opportunistic_Infections.html#art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an effective complete regimen and account for the exceptions HIV integrates into host DNA and persists in a reservoir that current ART does not eradicate. NRTIs and NNRTIs inhibit reverse transcription, INSTIs inhibit integration, and protease inhibitors prevent viral maturation. Ritonavir and cobicistat commonly serve as pharmacokinetic boosters; they are not interchangeable with an active drug in the regimen. Capsid and entry-directed agents have specialized roles. [8] For most treatment-naive adults without prior long-acting cabotegravir exposure, initial treatment uses bictegravir/TAF/FTC or dolutegravir plus two nucleos(t)ide agents. Here, TAF/TDF are tenofovir formulations, FTC is emtricitabine, and 3TC is lamivudine. Renal dysfunction, pregnancy, resistance, and interacting drugs can change the choice. [8] Common adult ART strategies Regimen or setting Practical use Reason to choose differently Bictegravir/FTC/TAF 50/200/25 mg PO daily One tablet daily; common rapid-start option Review kidney function and cations. Rifampin is contraindicated. Prior CAB PrEP requires a resistance-informed approach. [9] Dolutegravir 50 mg PO daily plus TAF/FTC or TDF/FTC Common initial alternative; select and dose the backbone for kidney function DTG dosing changes with some inducers or resistance. Fixed-dose combinations are not interchangeable across renal categories. [8] [10] Dolutegravir/3TC 50/300 mg PO daily Two-drug option for selected patients Do not use for rapid start before HBV/genotype results, with HBV coinfection, or HIV RNA &gt;500,000 copies/mL. [8] [11] HIV after CAB PrEP Obtain integrase genotype; start boosted darunavir plus two appropriate NRTIs while results are pending Do not assume bictegravir or dolutegravir remains active. Pregnancy changes booster selection. [1] HIV/HBV coinfection Use TAF or TDF plus FTC or 3TC within suppressive ART FTC or 3TC alone is inadequate HBV treatment. If tenofovir cannot be used, add entecavir to fully suppressive HIV therapy. Avoid unplanned withdrawal of HBV-active drugs. [12] Pregnancy or pregnancy planning Start promptly and consult the current perinatal recommendations Do not withhold ART. Review pregnancy-specific pharmacokinetics and the complete regimen. [13] Fellow and attending discussion ART trial endpoints usually measure virologic suppression, not superiority in mortality. A switch study in already suppressed patients does not establish a rapid-start regimen. Distinguish the genetic barrier of a drug from the actual activity of the complete regimen against a patient’s archived virus. [8] [14]</a:t>
            </a:r>
          </a:p>
          <a:p xmlns:a="http://schemas.openxmlformats.org/drawingml/2006/main">
            <a:r>
              <a:t/>
            </a:r>
          </a:p>
          <a:p xmlns:a="http://schemas.openxmlformats.org/drawingml/2006/main">
            <a:r>
              <a:t>Module section: https://docarcshot.github.io/id-practice-update/lectures/HIV_Diagnosis_ART_Prevention_and_Opportunistic_Infections.html#art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an effective complete regimen and account for the exceptions HIV integrates into host DNA and persists in a reservoir that current ART does not eradicate. NRTIs and NNRTIs inhibit reverse transcription, INSTIs inhibit integration, and protease inhibitors prevent viral maturation. Ritonavir and cobicistat commonly serve as pharmacokinetic boosters; they are not interchangeable with an active drug in the regimen. Capsid and entry-directed agents have specialized roles. [8] For most treatment-naive adults without prior long-acting cabotegravir exposure, initial treatment uses bictegravir/TAF/FTC or dolutegravir plus two nucleos(t)ide agents. Here, TAF/TDF are tenofovir formulations, FTC is emtricitabine, and 3TC is lamivudine. Renal dysfunction, pregnancy, resistance, and interacting drugs can change the choice. [8] Common adult ART strategies Regimen or setting Practical use Reason to choose differently Bictegravir/FTC/TAF 50/200/25 mg PO daily One tablet daily; common rapid-start option Review kidney function and cations. Rifampin is contraindicated. Prior CAB PrEP requires a resistance-informed approach. [9] Dolutegravir 50 mg PO daily plus TAF/FTC or TDF/FTC Common initial alternative; select and dose the backbone for kidney function DTG dosing changes with some inducers or resistance. Fixed-dose combinations are not interchangeable across renal categories. [8] [10] Dolutegravir/3TC 50/300 mg PO daily Two-drug option for selected patients Do not use for rapid start before HBV/genotype results, with HBV coinfection, or HIV RNA &gt;500,000 copies/mL. [8] [11] HIV after CAB PrEP Obtain integrase genotype; start boosted darunavir plus two appropriate NRTIs while results are pending Do not assume bictegravir or dolutegravir remains active. Pregnancy changes booster selection. [1] HIV/HBV coinfection Use TAF or TDF plus FTC or 3TC within suppressive ART FTC or 3TC alone is inadequate HBV treatment. If tenofovir cannot be used, add entecavir to fully suppressive HIV therapy. Avoid unplanned withdrawal of HBV-active drugs. [12] Pregnancy or pregnancy planning Start promptly and consult the current perinatal recommendations Do not withhold ART. Review pregnancy-specific pharmacokinetics and the complete regimen. [13] Fellow and attending discussion ART trial endpoints usually measure virologic suppression, not superiority in mortality. A switch study in already suppressed patients does not establish a rapid-start regimen. Distinguish the genetic barrier of a drug from the actual activity of the complete regimen against a patient’s archived virus. [8] [14]</a:t>
            </a:r>
          </a:p>
          <a:p xmlns:a="http://schemas.openxmlformats.org/drawingml/2006/main">
            <a:r>
              <a:t/>
            </a:r>
          </a:p>
          <a:p xmlns:a="http://schemas.openxmlformats.org/drawingml/2006/main">
            <a:r>
              <a:t>Module section: https://docarcshot.github.io/id-practice-update/lectures/HIV_Diagnosis_ART_Prevention_and_Opportunistic_Infections.html#art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an effective complete regimen and account for the exceptions HIV integrates into host DNA and persists in a reservoir that current ART does not eradicate. NRTIs and NNRTIs inhibit reverse transcription, INSTIs inhibit integration, and protease inhibitors prevent viral maturation. Ritonavir and cobicistat commonly serve as pharmacokinetic boosters; they are not interchangeable with an active drug in the regimen. Capsid and entry-directed agents have specialized roles. [8] For most treatment-naive adults without prior long-acting cabotegravir exposure, initial treatment uses bictegravir/TAF/FTC or dolutegravir plus two nucleos(t)ide agents. Here, TAF/TDF are tenofovir formulations, FTC is emtricitabine, and 3TC is lamivudine. Renal dysfunction, pregnancy, resistance, and interacting drugs can change the choice. [8] Common adult ART strategies Regimen or setting Practical use Reason to choose differently Bictegravir/FTC/TAF 50/200/25 mg PO daily One tablet daily; common rapid-start option Review kidney function and cations. Rifampin is contraindicated. Prior CAB PrEP requires a resistance-informed approach. [9] Dolutegravir 50 mg PO daily plus TAF/FTC or TDF/FTC Common initial alternative; select and dose the backbone for kidney function DTG dosing changes with some inducers or resistance. Fixed-dose combinations are not interchangeable across renal categories. [8] [10] Dolutegravir/3TC 50/300 mg PO daily Two-drug option for selected patients Do not use for rapid start before HBV/genotype results, with HBV coinfection, or HIV RNA &gt;500,000 copies/mL. [8] [11] HIV after CAB PrEP Obtain integrase genotype; start boosted darunavir plus two appropriate NRTIs while results are pending Do not assume bictegravir or dolutegravir remains active. Pregnancy changes booster selection. [1] HIV/HBV coinfection Use TAF or TDF plus FTC or 3TC within suppressive ART FTC or 3TC alone is inadequate HBV treatment. If tenofovir cannot be used, add entecavir to fully suppressive HIV therapy. Avoid unplanned withdrawal of HBV-active drugs. [12] Pregnancy or pregnancy planning Start promptly and consult the current perinatal recommendations Do not withhold ART. Review pregnancy-specific pharmacokinetics and the complete regimen. [13] Fellow and attending discussion ART trial endpoints usually measure virologic suppression, not superiority in mortality. A switch study in already suppressed patients does not establish a rapid-start regimen. Distinguish the genetic barrier of a drug from the actual activity of the complete regimen against a patient’s archived virus. [8] [14]</a:t>
            </a:r>
          </a:p>
          <a:p xmlns:a="http://schemas.openxmlformats.org/drawingml/2006/main">
            <a:r>
              <a:t/>
            </a:r>
          </a:p>
          <a:p xmlns:a="http://schemas.openxmlformats.org/drawingml/2006/main">
            <a:r>
              <a:t>Module section: https://docarcshot.github.io/id-practice-update/lectures/HIV_Diagnosis_ART_Prevention_and_Opportunistic_Infections.html#art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an effective complete regimen and account for the exceptions HIV integrates into host DNA and persists in a reservoir that current ART does not eradicate. NRTIs and NNRTIs inhibit reverse transcription, INSTIs inhibit integration, and protease inhibitors prevent viral maturation. Ritonavir and cobicistat commonly serve as pharmacokinetic boosters; they are not interchangeable with an active drug in the regimen. Capsid and entry-directed agents have specialized roles. [8] For most treatment-naive adults without prior long-acting cabotegravir exposure, initial treatment uses bictegravir/TAF/FTC or dolutegravir plus two nucleos(t)ide agents. Here, TAF/TDF are tenofovir formulations, FTC is emtricitabine, and 3TC is lamivudine. Renal dysfunction, pregnancy, resistance, and interacting drugs can change the choice. [8] Common adult ART strategies Regimen or setting Practical use Reason to choose differently Bictegravir/FTC/TAF 50/200/25 mg PO daily One tablet daily; common rapid-start option Review kidney function and cations. Rifampin is contraindicated. Prior CAB PrEP requires a resistance-informed approach. [9] Dolutegravir 50 mg PO daily plus TAF/FTC or TDF/FTC Common initial alternative; select and dose the backbone for kidney function DTG dosing changes with some inducers or resistance. Fixed-dose combinations are not interchangeable across renal categories. [8] [10] Dolutegravir/3TC 50/300 mg PO daily Two-drug option for selected patients Do not use for rapid start before HBV/genotype results, with HBV coinfection, or HIV RNA &gt;500,000 copies/mL. [8] [11] HIV after CAB PrEP Obtain integrase genotype; start boosted darunavir plus two appropriate NRTIs while results are pending Do not assume bictegravir or dolutegravir remains active. Pregnancy changes booster selection. [1] HIV/HBV coinfection Use TAF or TDF plus FTC or 3TC within suppressive ART FTC or 3TC alone is inadequate HBV treatment. If tenofovir cannot be used, add entecavir to fully suppressive HIV therapy. Avoid unplanned withdrawal of HBV-active drugs. [12] Pregnancy or pregnancy planning Start promptly and consult the current perinatal recommendations Do not withhold ART. Review pregnancy-specific pharmacokinetics and the complete regimen. [13] Fellow and attending discussion ART trial endpoints usually measure virologic suppression, not superiority in mortality. A switch study in already suppressed patients does not establish a rapid-start regimen. Distinguish the genetic barrier of a drug from the actual activity of the complete regimen against a patient’s archived virus. [8] [14]</a:t>
            </a:r>
          </a:p>
          <a:p xmlns:a="http://schemas.openxmlformats.org/drawingml/2006/main">
            <a:r>
              <a:t/>
            </a:r>
          </a:p>
          <a:p xmlns:a="http://schemas.openxmlformats.org/drawingml/2006/main">
            <a:r>
              <a:t>Module section: https://docarcshot.github.io/id-practice-update/lectures/HIV_Diagnosis_ART_Prevention_and_Opportunistic_Infections.html#art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an effective complete regimen and account for the exceptions HIV integrates into host DNA and persists in a reservoir that current ART does not eradicate. NRTIs and NNRTIs inhibit reverse transcription, INSTIs inhibit integration, and protease inhibitors prevent viral maturation. Ritonavir and cobicistat commonly serve as pharmacokinetic boosters; they are not interchangeable with an active drug in the regimen. Capsid and entry-directed agents have specialized roles. [8] For most treatment-naive adults without prior long-acting cabotegravir exposure, initial treatment uses bictegravir/TAF/FTC or dolutegravir plus two nucleos(t)ide agents. Here, TAF/TDF are tenofovir formulations, FTC is emtricitabine, and 3TC is lamivudine. Renal dysfunction, pregnancy, resistance, and interacting drugs can change the choice. [8] Common adult ART strategies Regimen or setting Practical use Reason to choose differently Bictegravir/FTC/TAF 50/200/25 mg PO daily One tablet daily; common rapid-start option Review kidney function and cations. Rifampin is contraindicated. Prior CAB PrEP requires a resistance-informed approach. [9] Dolutegravir 50 mg PO daily plus TAF/FTC or TDF/FTC Common initial alternative; select and dose the backbone for kidney function DTG dosing changes with some inducers or resistance. Fixed-dose combinations are not interchangeable across renal categories. [8] [10] Dolutegravir/3TC 50/300 mg PO daily Two-drug option for selected patients Do not use for rapid start before HBV/genotype results, with HBV coinfection, or HIV RNA &gt;500,000 copies/mL. [8] [11] HIV after CAB PrEP Obtain integrase genotype; start boosted darunavir plus two appropriate NRTIs while results are pending Do not assume bictegravir or dolutegravir remains active. Pregnancy changes booster selection. [1] HIV/HBV coinfection Use TAF or TDF plus FTC or 3TC within suppressive ART FTC or 3TC alone is inadequate HBV treatment. If tenofovir cannot be used, add entecavir to fully suppressive HIV therapy. Avoid unplanned withdrawal of HBV-active drugs. [12] Pregnancy or pregnancy planning Start promptly and consult the current perinatal recommendations Do not withhold ART. Review pregnancy-specific pharmacokinetics and the complete regimen. [13] Fellow and attending discussion ART trial endpoints usually measure virologic suppression, not superiority in mortality. A switch study in already suppressed patients does not establish a rapid-start regimen. Distinguish the genetic barrier of a drug from the actual activity of the complete regimen against a patient’s archived virus. [8] [14]</a:t>
            </a:r>
          </a:p>
          <a:p xmlns:a="http://schemas.openxmlformats.org/drawingml/2006/main">
            <a:r>
              <a:t/>
            </a:r>
          </a:p>
          <a:p xmlns:a="http://schemas.openxmlformats.org/drawingml/2006/main">
            <a:r>
              <a:t>Module section: https://docarcshot.github.io/id-practice-update/lectures/HIV_Diagnosis_ART_Prevention_and_Opportunistic_Infections.html#art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an effective complete regimen and account for the exceptions HIV integrates into host DNA and persists in a reservoir that current ART does not eradicate. NRTIs and NNRTIs inhibit reverse transcription, INSTIs inhibit integration, and protease inhibitors prevent viral maturation. Ritonavir and cobicistat commonly serve as pharmacokinetic boosters; they are not interchangeable with an active drug in the regimen. Capsid and entry-directed agents have specialized roles. [8] For most treatment-naive adults without prior long-acting cabotegravir exposure, initial treatment uses bictegravir/TAF/FTC or dolutegravir plus two nucleos(t)ide agents. Here, TAF/TDF are tenofovir formulations, FTC is emtricitabine, and 3TC is lamivudine. Renal dysfunction, pregnancy, resistance, and interacting drugs can change the choice. [8] Common adult ART strategies Regimen or setting Practical use Reason to choose differently Bictegravir/FTC/TAF 50/200/25 mg PO daily One tablet daily; common rapid-start option Review kidney function and cations. Rifampin is contraindicated. Prior CAB PrEP requires a resistance-informed approach. [9] Dolutegravir 50 mg PO daily plus TAF/FTC or TDF/FTC Common initial alternative; select and dose the backbone for kidney function DTG dosing changes with some inducers or resistance. Fixed-dose combinations are not interchangeable across renal categories. [8] [10] Dolutegravir/3TC 50/300 mg PO daily Two-drug option for selected patients Do not use for rapid start before HBV/genotype results, with HBV coinfection, or HIV RNA &gt;500,000 copies/mL. [8] [11] HIV after CAB PrEP Obtain integrase genotype; start boosted darunavir plus two appropriate NRTIs while results are pending Do not assume bictegravir or dolutegravir remains active. Pregnancy changes booster selection. [1] HIV/HBV coinfection Use TAF or TDF plus FTC or 3TC within suppressive ART FTC or 3TC alone is inadequate HBV treatment. If tenofovir cannot be used, add entecavir to fully suppressive HIV therapy. Avoid unplanned withdrawal of HBV-active drugs. [12] Pregnancy or pregnancy planning Start promptly and consult the current perinatal recommendations Do not withhold ART. Review pregnancy-specific pharmacokinetics and the complete regimen. [13] Fellow and attending discussion ART trial endpoints usually measure virologic suppression, not superiority in mortality. A switch study in already suppressed patients does not establish a rapid-start regimen. Distinguish the genetic barrier of a drug from the actual activity of the complete regimen against a patient’s archived virus. [8] [14]</a:t>
            </a:r>
          </a:p>
          <a:p xmlns:a="http://schemas.openxmlformats.org/drawingml/2006/main">
            <a:r>
              <a:t/>
            </a:r>
          </a:p>
          <a:p xmlns:a="http://schemas.openxmlformats.org/drawingml/2006/main">
            <a:r>
              <a:t>Module section: https://docarcshot.github.io/id-practice-update/lectures/HIV_Diagnosis_ART_Prevention_and_Opportunistic_Infections.html#art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an effective complete regimen and account for the exceptions HIV integrates into host DNA and persists in a reservoir that current ART does not eradicate. NRTIs and NNRTIs inhibit reverse transcription, INSTIs inhibit integration, and protease inhibitors prevent viral maturation. Ritonavir and cobicistat commonly serve as pharmacokinetic boosters; they are not interchangeable with an active drug in the regimen. Capsid and entry-directed agents have specialized roles. [8] For most treatment-naive adults without prior long-acting cabotegravir exposure, initial treatment uses bictegravir/TAF/FTC or dolutegravir plus two nucleos(t)ide agents. Here, TAF/TDF are tenofovir formulations, FTC is emtricitabine, and 3TC is lamivudine. Renal dysfunction, pregnancy, resistance, and interacting drugs can change the choice. [8] Common adult ART strategies Regimen or setting Practical use Reason to choose differently Bictegravir/FTC/TAF 50/200/25 mg PO daily One tablet daily; common rapid-start option Review kidney function and cations. Rifampin is contraindicated. Prior CAB PrEP requires a resistance-informed approach. [9] Dolutegravir 50 mg PO daily plus TAF/FTC or TDF/FTC Common initial alternative; select and dose the backbone for kidney function DTG dosing changes with some inducers or resistance. Fixed-dose combinations are not interchangeable across renal categories. [8] [10] Dolutegravir/3TC 50/300 mg PO daily Two-drug option for selected patients Do not use for rapid start before HBV/genotype results, with HBV coinfection, or HIV RNA &gt;500,000 copies/mL. [8] [11] HIV after CAB PrEP Obtain integrase genotype; start boosted darunavir plus two appropriate NRTIs while results are pending Do not assume bictegravir or dolutegravir remains active. Pregnancy changes booster selection. [1] HIV/HBV coinfection Use TAF or TDF plus FTC or 3TC within suppressive ART FTC or 3TC alone is inadequate HBV treatment. If tenofovir cannot be used, add entecavir to fully suppressive HIV therapy. Avoid unplanned withdrawal of HBV-active drugs. [12] Pregnancy or pregnancy planning Start promptly and consult the current perinatal recommendations Do not withhold ART. Review pregnancy-specific pharmacokinetics and the complete regimen. [13] Fellow and attending discussion ART trial endpoints usually measure virologic suppression, not superiority in mortality. A switch study in already suppressed patients does not establish a rapid-start regimen. Distinguish the genetic barrier of a drug from the actual activity of the complete regimen against a patient’s archived virus. [8] [14]</a:t>
            </a:r>
          </a:p>
          <a:p xmlns:a="http://schemas.openxmlformats.org/drawingml/2006/main">
            <a:r>
              <a:t/>
            </a:r>
          </a:p>
          <a:p xmlns:a="http://schemas.openxmlformats.org/drawingml/2006/main">
            <a:r>
              <a:t>Module section: https://docarcshot.github.io/id-practice-update/lectures/HIV_Diagnosis_ART_Prevention_and_Opportunistic_Infections.html#art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Reconcile interactions and absorption before calling a regimen ineffective High-yield medication problems Problem Practical response Integrase inhibitors with magnesium/aluminum antacids, iron, calcium, or enteral feeds Check the exact drug and administration schedule. Cation separation and food rules differ by product; ask pharmacy to document a feasible schedule. Rifamycins with ART Use the TB/ART interaction tables. Do not add rifampin to bictegravir, CAB/RPV, or a boosted PI regimen without redesigning treatment. Ritonavir/cobicistat with corticosteroids, anticoagulants, statins, antiarrhythmics, or azoles A medication-level interaction check is mandatory. Inhaled or injected steroids also count. Oral rilpivirine with acid suppression or insufficient food PPIs are contraindicated with oral RPV; check food and H2-blocker timing. This absorption issue does not apply to injected RPV. Rising creatinine after DTG/BIC or cobicistat A small early change may reflect inhibited creatinine secretion, but assess true AKI, urine findings, nephrotoxins, and the trend. NPO, dysphagia, feeding tube, or ICU admission Verify formulations and product-specific crushing/dissolving data. Avoid accidental partial ART or an unplanned long-acting treatment gap. [15] [9] [8] [3] Repeat HIV RNA about 4-8 weeks after initiation or a regimen change, then every 4-8 weeks until suppressed. Stable suppression generally permits monitoring every 3-4 months, sometimes every 6 months after sustained stability. Follow CD4 more closely when it determines OI prevention. [16] For confirmed rebound at or above 200 copies/mL, assess access, adherence, interactions, and resistance. Obtain genotype while the failing regimen is still being taken, or preferably within 4 weeks of stopping oral ART. Review all historical resistance. A single low detectable result is not automatically failure. Do not add one active drug to a failing regimen. [14]</a:t>
            </a:r>
          </a:p>
          <a:p xmlns:a="http://schemas.openxmlformats.org/drawingml/2006/main">
            <a:r>
              <a:t/>
            </a:r>
          </a:p>
          <a:p xmlns:a="http://schemas.openxmlformats.org/drawingml/2006/main">
            <a:r>
              <a:t>Module section: https://docarcshot.github.io/id-practice-update/lectures/HIV_Diagnosis_ART_Prevention_and_Opportunistic_Infections.html#interactions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Reconcile interactions and absorption before calling a regimen ineffective High-yield medication problems Problem Practical response Integrase inhibitors with magnesium/aluminum antacids, iron, calcium, or enteral feeds Check the exact drug and administration schedule. Cation separation and food rules differ by product; ask pharmacy to document a feasible schedule. Rifamycins with ART Use the TB/ART interaction tables. Do not add rifampin to bictegravir, CAB/RPV, or a boosted PI regimen without redesigning treatment. Ritonavir/cobicistat with corticosteroids, anticoagulants, statins, antiarrhythmics, or azoles A medication-level interaction check is mandatory. Inhaled or injected steroids also count. Oral rilpivirine with acid suppression or insufficient food PPIs are contraindicated with oral RPV; check food and H2-blocker timing. This absorption issue does not apply to injected RPV. Rising creatinine after DTG/BIC or cobicistat A small early change may reflect inhibited creatinine secretion, but assess true AKI, urine findings, nephrotoxins, and the trend. NPO, dysphagia, feeding tube, or ICU admission Verify formulations and product-specific crushing/dissolving data. Avoid accidental partial ART or an unplanned long-acting treatment gap. [15] [9] [8] [3] Repeat HIV RNA about 4-8 weeks after initiation or a regimen change, then every 4-8 weeks until suppressed. Stable suppression generally permits monitoring every 3-4 months, sometimes every 6 months after sustained stability. Follow CD4 more closely when it determines OI prevention. [16] For confirmed rebound at or above 200 copies/mL, assess access, adherence, interactions, and resistance. Obtain genotype while the failing regimen is still being taken, or preferably within 4 weeks of stopping oral ART. Review all historical resistance. A single low detectable result is not automatically failure. Do not add one active drug to a failing regimen. [14]</a:t>
            </a:r>
          </a:p>
          <a:p xmlns:a="http://schemas.openxmlformats.org/drawingml/2006/main">
            <a:r>
              <a:t/>
            </a:r>
          </a:p>
          <a:p xmlns:a="http://schemas.openxmlformats.org/drawingml/2006/main">
            <a:r>
              <a:t>Module section: https://docarcshot.github.io/id-practice-update/lectures/HIV_Diagnosis_ART_Prevention_and_Opportunistic_Infections.html#interactions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Reconcile interactions and absorption before calling a regimen ineffective High-yield medication problems Problem Practical response Integrase inhibitors with magnesium/aluminum antacids, iron, calcium, or enteral feeds Check the exact drug and administration schedule. Cation separation and food rules differ by product; ask pharmacy to document a feasible schedule. Rifamycins with ART Use the TB/ART interaction tables. Do not add rifampin to bictegravir, CAB/RPV, or a boosted PI regimen without redesigning treatment. Ritonavir/cobicistat with corticosteroids, anticoagulants, statins, antiarrhythmics, or azoles A medication-level interaction check is mandatory. Inhaled or injected steroids also count. Oral rilpivirine with acid suppression or insufficient food PPIs are contraindicated with oral RPV; check food and H2-blocker timing. This absorption issue does not apply to injected RPV. Rising creatinine after DTG/BIC or cobicistat A small early change may reflect inhibited creatinine secretion, but assess true AKI, urine findings, nephrotoxins, and the trend. NPO, dysphagia, feeding tube, or ICU admission Verify formulations and product-specific crushing/dissolving data. Avoid accidental partial ART or an unplanned long-acting treatment gap. [15] [9] [8] [3] Repeat HIV RNA about 4-8 weeks after initiation or a regimen change, then every 4-8 weeks until suppressed. Stable suppression generally permits monitoring every 3-4 months, sometimes every 6 months after sustained stability. Follow CD4 more closely when it determines OI prevention. [16] For confirmed rebound at or above 200 copies/mL, assess access, adherence, interactions, and resistance. Obtain genotype while the failing regimen is still being taken, or preferably within 4 weeks of stopping oral ART. Review all historical resistance. A single low detectable result is not automatically failure. Do not add one active drug to a failing regimen. [14]</a:t>
            </a:r>
          </a:p>
          <a:p xmlns:a="http://schemas.openxmlformats.org/drawingml/2006/main">
            <a:r>
              <a:t/>
            </a:r>
          </a:p>
          <a:p xmlns:a="http://schemas.openxmlformats.org/drawingml/2006/main">
            <a:r>
              <a:t>Module section: https://docarcshot.github.io/id-practice-update/lectures/HIV_Diagnosis_ART_Prevention_and_Opportunistic_Infections.html#interactions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Reconcile interactions and absorption before calling a regimen ineffective High-yield medication problems Problem Practical response Integrase inhibitors with magnesium/aluminum antacids, iron, calcium, or enteral feeds Check the exact drug and administration schedule. Cation separation and food rules differ by product; ask pharmacy to document a feasible schedule. Rifamycins with ART Use the TB/ART interaction tables. Do not add rifampin to bictegravir, CAB/RPV, or a boosted PI regimen without redesigning treatment. Ritonavir/cobicistat with corticosteroids, anticoagulants, statins, antiarrhythmics, or azoles A medication-level interaction check is mandatory. Inhaled or injected steroids also count. Oral rilpivirine with acid suppression or insufficient food PPIs are contraindicated with oral RPV; check food and H2-blocker timing. This absorption issue does not apply to injected RPV. Rising creatinine after DTG/BIC or cobicistat A small early change may reflect inhibited creatinine secretion, but assess true AKI, urine findings, nephrotoxins, and the trend. NPO, dysphagia, feeding tube, or ICU admission Verify formulations and product-specific crushing/dissolving data. Avoid accidental partial ART or an unplanned long-acting treatment gap. [15] [9] [8] [3] Repeat HIV RNA about 4-8 weeks after initiation or a regimen change, then every 4-8 weeks until suppressed. Stable suppression generally permits monitoring every 3-4 months, sometimes every 6 months after sustained stability. Follow CD4 more closely when it determines OI prevention. [16] For confirmed rebound at or above 200 copies/mL, assess access, adherence, interactions, and resistance. Obtain genotype while the failing regimen is still being taken, or preferably within 4 weeks of stopping oral ART. Review all historical resistance. A single low detectable result is not automatically failure. Do not add one active drug to a failing regimen. [14]</a:t>
            </a:r>
          </a:p>
          <a:p xmlns:a="http://schemas.openxmlformats.org/drawingml/2006/main">
            <a:r>
              <a:t/>
            </a:r>
          </a:p>
          <a:p xmlns:a="http://schemas.openxmlformats.org/drawingml/2006/main">
            <a:r>
              <a:t>Module section: https://docarcshot.github.io/id-practice-update/lectures/HIV_Diagnosis_ART_Prevention_and_Opportunistic_Infections.html#interactions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Reconcile interactions and absorption before calling a regimen ineffective High-yield medication problems Problem Practical response Integrase inhibitors with magnesium/aluminum antacids, iron, calcium, or enteral feeds Check the exact drug and administration schedule. Cation separation and food rules differ by product; ask pharmacy to document a feasible schedule. Rifamycins with ART Use the TB/ART interaction tables. Do not add rifampin to bictegravir, CAB/RPV, or a boosted PI regimen without redesigning treatment. Ritonavir/cobicistat with corticosteroids, anticoagulants, statins, antiarrhythmics, or azoles A medication-level interaction check is mandatory. Inhaled or injected steroids also count. Oral rilpivirine with acid suppression or insufficient food PPIs are contraindicated with oral RPV; check food and H2-blocker timing. This absorption issue does not apply to injected RPV. Rising creatinine after DTG/BIC or cobicistat A small early change may reflect inhibited creatinine secretion, but assess true AKI, urine findings, nephrotoxins, and the trend. NPO, dysphagia, feeding tube, or ICU admission Verify formulations and product-specific crushing/dissolving data. Avoid accidental partial ART or an unplanned long-acting treatment gap. [15] [9] [8] [3] Repeat HIV RNA about 4-8 weeks after initiation or a regimen change, then every 4-8 weeks until suppressed. Stable suppression generally permits monitoring every 3-4 months, sometimes every 6 months after sustained stability. Follow CD4 more closely when it determines OI prevention. [16] For confirmed rebound at or above 200 copies/mL, assess access, adherence, interactions, and resistance. Obtain genotype while the failing regimen is still being taken, or preferably within 4 weeks of stopping oral ART. Review all historical resistance. A single low detectable result is not automatically failure. Do not add one active drug to a failing regimen. [14]</a:t>
            </a:r>
          </a:p>
          <a:p xmlns:a="http://schemas.openxmlformats.org/drawingml/2006/main">
            <a:r>
              <a:t/>
            </a:r>
          </a:p>
          <a:p xmlns:a="http://schemas.openxmlformats.org/drawingml/2006/main">
            <a:r>
              <a:t>Module section: https://docarcshot.github.io/id-practice-update/lectures/HIV_Diagnosis_ART_Prevention_and_Opportunistic_Infections.html#interactions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Reconcile interactions and absorption before calling a regimen ineffective High-yield medication problems Problem Practical response Integrase inhibitors with magnesium/aluminum antacids, iron, calcium, or enteral feeds Check the exact drug and administration schedule. Cation separation and food rules differ by product; ask pharmacy to document a feasible schedule. Rifamycins with ART Use the TB/ART interaction tables. Do not add rifampin to bictegravir, CAB/RPV, or a boosted PI regimen without redesigning treatment. Ritonavir/cobicistat with corticosteroids, anticoagulants, statins, antiarrhythmics, or azoles A medication-level interaction check is mandatory. Inhaled or injected steroids also count. Oral rilpivirine with acid suppression or insufficient food PPIs are contraindicated with oral RPV; check food and H2-blocker timing. This absorption issue does not apply to injected RPV. Rising creatinine after DTG/BIC or cobicistat A small early change may reflect inhibited creatinine secretion, but assess true AKI, urine findings, nephrotoxins, and the trend. NPO, dysphagia, feeding tube, or ICU admission Verify formulations and product-specific crushing/dissolving data. Avoid accidental partial ART or an unplanned long-acting treatment gap. [15] [9] [8] [3] Repeat HIV RNA about 4-8 weeks after initiation or a regimen change, then every 4-8 weeks until suppressed. Stable suppression generally permits monitoring every 3-4 months, sometimes every 6 months after sustained stability. Follow CD4 more closely when it determines OI prevention. [16] For confirmed rebound at or above 200 copies/mL, assess access, adherence, interactions, and resistance. Obtain genotype while the failing regimen is still being taken, or preferably within 4 weeks of stopping oral ART. Review all historical resistance. A single low detectable result is not automatically failure. Do not add one active drug to a failing regimen. [14]</a:t>
            </a:r>
          </a:p>
          <a:p xmlns:a="http://schemas.openxmlformats.org/drawingml/2006/main">
            <a:r>
              <a:t/>
            </a:r>
          </a:p>
          <a:p xmlns:a="http://schemas.openxmlformats.org/drawingml/2006/main">
            <a:r>
              <a:t>Module section: https://docarcshot.github.io/id-practice-update/lectures/HIV_Diagnosis_ART_Prevention_and_Opportunistic_Infections.html#interactions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Reconcile interactions and absorption before calling a regimen ineffective High-yield medication problems Problem Practical response Integrase inhibitors with magnesium/aluminum antacids, iron, calcium, or enteral feeds Check the exact drug and administration schedule. Cation separation and food rules differ by product; ask pharmacy to document a feasible schedule. Rifamycins with ART Use the TB/ART interaction tables. Do not add rifampin to bictegravir, CAB/RPV, or a boosted PI regimen without redesigning treatment. Ritonavir/cobicistat with corticosteroids, anticoagulants, statins, antiarrhythmics, or azoles A medication-level interaction check is mandatory. Inhaled or injected steroids also count. Oral rilpivirine with acid suppression or insufficient food PPIs are contraindicated with oral RPV; check food and H2-blocker timing. This absorption issue does not apply to injected RPV. Rising creatinine after DTG/BIC or cobicistat A small early change may reflect inhibited creatinine secretion, but assess true AKI, urine findings, nephrotoxins, and the trend. NPO, dysphagia, feeding tube, or ICU admission Verify formulations and product-specific crushing/dissolving data. Avoid accidental partial ART or an unplanned long-acting treatment gap. [15] [9] [8] [3] Repeat HIV RNA about 4-8 weeks after initiation or a regimen change, then every 4-8 weeks until suppressed. Stable suppression generally permits monitoring every 3-4 months, sometimes every 6 months after sustained stability. Follow CD4 more closely when it determines OI prevention. [16] For confirmed rebound at or above 200 copies/mL, assess access, adherence, interactions, and resistance. Obtain genotype while the failing regimen is still being taken, or preferably within 4 weeks of stopping oral ART. Review all historical resistance. A single low detectable result is not automatically failure. Do not add one active drug to a failing regimen. [14]</a:t>
            </a:r>
          </a:p>
          <a:p xmlns:a="http://schemas.openxmlformats.org/drawingml/2006/main">
            <a:r>
              <a:t/>
            </a:r>
          </a:p>
          <a:p xmlns:a="http://schemas.openxmlformats.org/drawingml/2006/main">
            <a:r>
              <a:t>Module section: https://docarcshot.github.io/id-practice-update/lectures/HIV_Diagnosis_ART_Prevention_and_Opportunistic_Infections.html#interactions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Reconcile interactions and absorption before calling a regimen ineffective High-yield medication problems Problem Practical response Integrase inhibitors with magnesium/aluminum antacids, iron, calcium, or enteral feeds Check the exact drug and administration schedule. Cation separation and food rules differ by product; ask pharmacy to document a feasible schedule. Rifamycins with ART Use the TB/ART interaction tables. Do not add rifampin to bictegravir, CAB/RPV, or a boosted PI regimen without redesigning treatment. Ritonavir/cobicistat with corticosteroids, anticoagulants, statins, antiarrhythmics, or azoles A medication-level interaction check is mandatory. Inhaled or injected steroids also count. Oral rilpivirine with acid suppression or insufficient food PPIs are contraindicated with oral RPV; check food and H2-blocker timing. This absorption issue does not apply to injected RPV. Rising creatinine after DTG/BIC or cobicistat A small early change may reflect inhibited creatinine secretion, but assess true AKI, urine findings, nephrotoxins, and the trend. NPO, dysphagia, feeding tube, or ICU admission Verify formulations and product-specific crushing/dissolving data. Avoid accidental partial ART or an unplanned long-acting treatment gap. [15] [9] [8] [3] Repeat HIV RNA about 4-8 weeks after initiation or a regimen change, then every 4-8 weeks until suppressed. Stable suppression generally permits monitoring every 3-4 months, sometimes every 6 months after sustained stability. Follow CD4 more closely when it determines OI prevention. [16] For confirmed rebound at or above 200 copies/mL, assess access, adherence, interactions, and resistance. Obtain genotype while the failing regimen is still being taken, or preferably within 4 weeks of stopping oral ART. Review all historical resistance. A single low detectable result is not automatically failure. Do not add one active drug to a failing regimen. [14]</a:t>
            </a:r>
          </a:p>
          <a:p xmlns:a="http://schemas.openxmlformats.org/drawingml/2006/main">
            <a:r>
              <a:t/>
            </a:r>
          </a:p>
          <a:p xmlns:a="http://schemas.openxmlformats.org/drawingml/2006/main">
            <a:r>
              <a:t>Module section: https://docarcshot.github.io/id-practice-update/lectures/HIV_Diagnosis_ART_Prevention_and_Opportunistic_Infections.html#interactions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OI next steps start with the syndrome and severity Second teaching block · OI diagnosis and treatment Doses below are adult starting examples, not individualized orders. Adjust for renal/hepatic function, weight, pregnancy, formulation, and drug interactions; confirm with pharmacy. CD4 thresholds change probability; they are not exclusion rules. Bacterial infections and TB can occur at any CD4 count. Below 200, PCP becomes prominent; below 100, consider toxoplasmosis and cryptococcosis; below 50, disseminated MAC and CMV end-organ disease become more likely. Histoplasmosis is particularly important with advanced HIV and relevant geography. [6] [5] [7] [17] [18] [19] [3] Syndrome-directed OI assessment Presentation Diagnostic next steps Immediate treatment or action Subacute dyspnea, dry cough, hypoxemia Pulse oximetry, imaging; arterial blood gas when steroid threshold is uncertain. Induced sputum or BAL for PCP testing; assess bacterial pneumonia and TB concurrently. Treat suspected severe PCP promptly while obtaining confirmation. Add oxygen and indicated corticosteroids; isolate for TB if suspected. Headache, meningitis, altered mentation Neurologic exam; imaging before LP when indicated. LP with opening pressure, cell count, glucose/protein, CrAg, and fungal culture; other tests guided by presentation. Treat the likely syndrome urgently; do not start ART reflexively before assessing cryptococcal/TB meningitis. Focal deficit or seizure Contrast MRI; Toxoplasma IgG; consider lymphoma, PML, TB, abscess, stroke. CSF only if safe. Treat presumed toxoplasmosis when supported; arrange early biopsy for atypical features or lack of response. Floaters, scotoma, blurred vision Urgent dilated retinal examination; do not use plasma CMV PCR to rule out retinitis. Same-day ophthalmology; sight-threatening disease may need local plus systemic therapy. Fever, wasting, cytopenias, high alkaline phosphatase Blood cultures; mycobacterial blood cultures, urine/serum Histoplasma antigen, imaging and tissue sampling as indicated. Consider lymphoma. In severe disseminated histoplasmosis, begin liposomal amphotericin B. Avoid macrolide prophylaxis while evaluating possible active MAC. Odynophagia or persistent diarrhea Assess thrush, stool tests and exact panel coverage, medications, hydration. Endoscopy with biopsy when esophageal disease fails empiric treatment or CMV colitis is suspected. Systemic antifungal for esophageal candidiasis; rehydration and organism-directed enteric therapy. CMV DNAemia alone does not establish colitis. [6] [7] [5] [20] [18] [19] [17] [21] [22] Source control still matters. Drain an ordinary bacterial abscess, remove infected hardware when indicated, and obtain tissue when it will distinguish infection from malignancy. In cryptococcal meningitis, pressure management with therapeutic LP is essential alongside antifungal therapy.</a:t>
            </a:r>
          </a:p>
          <a:p xmlns:a="http://schemas.openxmlformats.org/drawingml/2006/main">
            <a:r>
              <a:t/>
            </a:r>
          </a:p>
          <a:p xmlns:a="http://schemas.openxmlformats.org/drawingml/2006/main">
            <a:r>
              <a:t>Module section: https://docarcshot.github.io/id-practice-update/lectures/HIV_Diagnosis_ART_Prevention_and_Opportunistic_Infections.html#oi-next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OI next steps start with the syndrome and severity Second teaching block · OI diagnosis and treatment Doses below are adult starting examples, not individualized orders. Adjust for renal/hepatic function, weight, pregnancy, formulation, and drug interactions; confirm with pharmacy. CD4 thresholds change probability; they are not exclusion rules. Bacterial infections and TB can occur at any CD4 count. Below 200, PCP becomes prominent; below 100, consider toxoplasmosis and cryptococcosis; below 50, disseminated MAC and CMV end-organ disease become more likely. Histoplasmosis is particularly important with advanced HIV and relevant geography. [6] [5] [7] [17] [18] [19] [3] Syndrome-directed OI assessment Presentation Diagnostic next steps Immediate treatment or action Subacute dyspnea, dry cough, hypoxemia Pulse oximetry, imaging; arterial blood gas when steroid threshold is uncertain. Induced sputum or BAL for PCP testing; assess bacterial pneumonia and TB concurrently. Treat suspected severe PCP promptly while obtaining confirmation. Add oxygen and indicated corticosteroids; isolate for TB if suspected. Headache, meningitis, altered mentation Neurologic exam; imaging before LP when indicated. LP with opening pressure, cell count, glucose/protein, CrAg, and fungal culture; other tests guided by presentation. Treat the likely syndrome urgently; do not start ART reflexively before assessing cryptococcal/TB meningitis. Focal deficit or seizure Contrast MRI; Toxoplasma IgG; consider lymphoma, PML, TB, abscess, stroke. CSF only if safe. Treat presumed toxoplasmosis when supported; arrange early biopsy for atypical features or lack of response. Floaters, scotoma, blurred vision Urgent dilated retinal examination; do not use plasma CMV PCR to rule out retinitis. Same-day ophthalmology; sight-threatening disease may need local plus systemic therapy. Fever, wasting, cytopenias, high alkaline phosphatase Blood cultures; mycobacterial blood cultures, urine/serum Histoplasma antigen, imaging and tissue sampling as indicated. Consider lymphoma. In severe disseminated histoplasmosis, begin liposomal amphotericin B. Avoid macrolide prophylaxis while evaluating possible active MAC. Odynophagia or persistent diarrhea Assess thrush, stool tests and exact panel coverage, medications, hydration. Endoscopy with biopsy when esophageal disease fails empiric treatment or CMV colitis is suspected. Systemic antifungal for esophageal candidiasis; rehydration and organism-directed enteric therapy. CMV DNAemia alone does not establish colitis. [6] [7] [5] [20] [18] [19] [17] [21] [22] Source control still matters. Drain an ordinary bacterial abscess, remove infected hardware when indicated, and obtain tissue when it will distinguish infection from malignancy. In cryptococcal meningitis, pressure management with therapeutic LP is essential alongside antifungal therapy.</a:t>
            </a:r>
          </a:p>
          <a:p xmlns:a="http://schemas.openxmlformats.org/drawingml/2006/main">
            <a:r>
              <a:t/>
            </a:r>
          </a:p>
          <a:p xmlns:a="http://schemas.openxmlformats.org/drawingml/2006/main">
            <a:r>
              <a:t>Module section: https://docarcshot.github.io/id-practice-update/lectures/HIV_Diagnosis_ART_Prevention_and_Opportunistic_Infections.html#oi-next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OI next steps start with the syndrome and severity Second teaching block · OI diagnosis and treatment Doses below are adult starting examples, not individualized orders. Adjust for renal/hepatic function, weight, pregnancy, formulation, and drug interactions; confirm with pharmacy. CD4 thresholds change probability; they are not exclusion rules. Bacterial infections and TB can occur at any CD4 count. Below 200, PCP becomes prominent; below 100, consider toxoplasmosis and cryptococcosis; below 50, disseminated MAC and CMV end-organ disease become more likely. Histoplasmosis is particularly important with advanced HIV and relevant geography. [6] [5] [7] [17] [18] [19] [3] Syndrome-directed OI assessment Presentation Diagnostic next steps Immediate treatment or action Subacute dyspnea, dry cough, hypoxemia Pulse oximetry, imaging; arterial blood gas when steroid threshold is uncertain. Induced sputum or BAL for PCP testing; assess bacterial pneumonia and TB concurrently. Treat suspected severe PCP promptly while obtaining confirmation. Add oxygen and indicated corticosteroids; isolate for TB if suspected. Headache, meningitis, altered mentation Neurologic exam; imaging before LP when indicated. LP with opening pressure, cell count, glucose/protein, CrAg, and fungal culture; other tests guided by presentation. Treat the likely syndrome urgently; do not start ART reflexively before assessing cryptococcal/TB meningitis. Focal deficit or seizure Contrast MRI; Toxoplasma IgG; consider lymphoma, PML, TB, abscess, stroke. CSF only if safe. Treat presumed toxoplasmosis when supported; arrange early biopsy for atypical features or lack of response. Floaters, scotoma, blurred vision Urgent dilated retinal examination; do not use plasma CMV PCR to rule out retinitis. Same-day ophthalmology; sight-threatening disease may need local plus systemic therapy. Fever, wasting, cytopenias, high alkaline phosphatase Blood cultures; mycobacterial blood cultures, urine/serum Histoplasma antigen, imaging and tissue sampling as indicated. Consider lymphoma. In severe disseminated histoplasmosis, begin liposomal amphotericin B. Avoid macrolide prophylaxis while evaluating possible active MAC. Odynophagia or persistent diarrhea Assess thrush, stool tests and exact panel coverage, medications, hydration. Endoscopy with biopsy when esophageal disease fails empiric treatment or CMV colitis is suspected. Systemic antifungal for esophageal candidiasis; rehydration and organism-directed enteric therapy. CMV DNAemia alone does not establish colitis. [6] [7] [5] [20] [18] [19] [17] [21] [22] Source control still matters. Drain an ordinary bacterial abscess, remove infected hardware when indicated, and obtain tissue when it will distinguish infection from malignancy. In cryptococcal meningitis, pressure management with therapeutic LP is essential alongside antifungal therapy.</a:t>
            </a:r>
          </a:p>
          <a:p xmlns:a="http://schemas.openxmlformats.org/drawingml/2006/main">
            <a:r>
              <a:t/>
            </a:r>
          </a:p>
          <a:p xmlns:a="http://schemas.openxmlformats.org/drawingml/2006/main">
            <a:r>
              <a:t>Module section: https://docarcshot.github.io/id-practice-update/lectures/HIV_Diagnosis_ART_Prevention_and_Opportunistic_Infections.html#oi-next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OI next steps start with the syndrome and severity Second teaching block · OI diagnosis and treatment Doses below are adult starting examples, not individualized orders. Adjust for renal/hepatic function, weight, pregnancy, formulation, and drug interactions; confirm with pharmacy. CD4 thresholds change probability; they are not exclusion rules. Bacterial infections and TB can occur at any CD4 count. Below 200, PCP becomes prominent; below 100, consider toxoplasmosis and cryptococcosis; below 50, disseminated MAC and CMV end-organ disease become more likely. Histoplasmosis is particularly important with advanced HIV and relevant geography. [6] [5] [7] [17] [18] [19] [3] Syndrome-directed OI assessment Presentation Diagnostic next steps Immediate treatment or action Subacute dyspnea, dry cough, hypoxemia Pulse oximetry, imaging; arterial blood gas when steroid threshold is uncertain. Induced sputum or BAL for PCP testing; assess bacterial pneumonia and TB concurrently. Treat suspected severe PCP promptly while obtaining confirmation. Add oxygen and indicated corticosteroids; isolate for TB if suspected. Headache, meningitis, altered mentation Neurologic exam; imaging before LP when indicated. LP with opening pressure, cell count, glucose/protein, CrAg, and fungal culture; other tests guided by presentation. Treat the likely syndrome urgently; do not start ART reflexively before assessing cryptococcal/TB meningitis. Focal deficit or seizure Contrast MRI; Toxoplasma IgG; consider lymphoma, PML, TB, abscess, stroke. CSF only if safe. Treat presumed toxoplasmosis when supported; arrange early biopsy for atypical features or lack of response. Floaters, scotoma, blurred vision Urgent dilated retinal examination; do not use plasma CMV PCR to rule out retinitis. Same-day ophthalmology; sight-threatening disease may need local plus systemic therapy. Fever, wasting, cytopenias, high alkaline phosphatase Blood cultures; mycobacterial blood cultures, urine/serum Histoplasma antigen, imaging and tissue sampling as indicated. Consider lymphoma. In severe disseminated histoplasmosis, begin liposomal amphotericin B. Avoid macrolide prophylaxis while evaluating possible active MAC. Odynophagia or persistent diarrhea Assess thrush, stool tests and exact panel coverage, medications, hydration. Endoscopy with biopsy when esophageal disease fails empiric treatment or CMV colitis is suspected. Systemic antifungal for esophageal candidiasis; rehydration and organism-directed enteric therapy. CMV DNAemia alone does not establish colitis. [6] [7] [5] [20] [18] [19] [17] [21] [22] Source control still matters. Drain an ordinary bacterial abscess, remove infected hardware when indicated, and obtain tissue when it will distinguish infection from malignancy. In cryptococcal meningitis, pressure management with therapeutic LP is essential alongside antifungal therapy.</a:t>
            </a:r>
          </a:p>
          <a:p xmlns:a="http://schemas.openxmlformats.org/drawingml/2006/main">
            <a:r>
              <a:t/>
            </a:r>
          </a:p>
          <a:p xmlns:a="http://schemas.openxmlformats.org/drawingml/2006/main">
            <a:r>
              <a:t>Module section: https://docarcshot.github.io/id-practice-update/lectures/HIV_Diagnosis_ART_Prevention_and_Opportunistic_Infections.html#oi-next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OI next steps start with the syndrome and severity Second teaching block · OI diagnosis and treatment Doses below are adult starting examples, not individualized orders. Adjust for renal/hepatic function, weight, pregnancy, formulation, and drug interactions; confirm with pharmacy. CD4 thresholds change probability; they are not exclusion rules. Bacterial infections and TB can occur at any CD4 count. Below 200, PCP becomes prominent; below 100, consider toxoplasmosis and cryptococcosis; below 50, disseminated MAC and CMV end-organ disease become more likely. Histoplasmosis is particularly important with advanced HIV and relevant geography. [6] [5] [7] [17] [18] [19] [3] Syndrome-directed OI assessment Presentation Diagnostic next steps Immediate treatment or action Subacute dyspnea, dry cough, hypoxemia Pulse oximetry, imaging; arterial blood gas when steroid threshold is uncertain. Induced sputum or BAL for PCP testing; assess bacterial pneumonia and TB concurrently. Treat suspected severe PCP promptly while obtaining confirmation. Add oxygen and indicated corticosteroids; isolate for TB if suspected. Headache, meningitis, altered mentation Neurologic exam; imaging before LP when indicated. LP with opening pressure, cell count, glucose/protein, CrAg, and fungal culture; other tests guided by presentation. Treat the likely syndrome urgently; do not start ART reflexively before assessing cryptococcal/TB meningitis. Focal deficit or seizure Contrast MRI; Toxoplasma IgG; consider lymphoma, PML, TB, abscess, stroke. CSF only if safe. Treat presumed toxoplasmosis when supported; arrange early biopsy for atypical features or lack of response. Floaters, scotoma, blurred vision Urgent dilated retinal examination; do not use plasma CMV PCR to rule out retinitis. Same-day ophthalmology; sight-threatening disease may need local plus systemic therapy. Fever, wasting, cytopenias, high alkaline phosphatase Blood cultures; mycobacterial blood cultures, urine/serum Histoplasma antigen, imaging and tissue sampling as indicated. Consider lymphoma. In severe disseminated histoplasmosis, begin liposomal amphotericin B. Avoid macrolide prophylaxis while evaluating possible active MAC. Odynophagia or persistent diarrhea Assess thrush, stool tests and exact panel coverage, medications, hydration. Endoscopy with biopsy when esophageal disease fails empiric treatment or CMV colitis is suspected. Systemic antifungal for esophageal candidiasis; rehydration and organism-directed enteric therapy. CMV DNAemia alone does not establish colitis. [6] [7] [5] [20] [18] [19] [17] [21] [22] Source control still matters. Drain an ordinary bacterial abscess, remove infected hardware when indicated, and obtain tissue when it will distinguish infection from malignancy. In cryptococcal meningitis, pressure management with therapeutic LP is essential alongside antifungal therapy.</a:t>
            </a:r>
          </a:p>
          <a:p xmlns:a="http://schemas.openxmlformats.org/drawingml/2006/main">
            <a:r>
              <a:t/>
            </a:r>
          </a:p>
          <a:p xmlns:a="http://schemas.openxmlformats.org/drawingml/2006/main">
            <a:r>
              <a:t>Module section: https://docarcshot.github.io/id-practice-update/lectures/HIV_Diagnosis_ART_Prevention_and_Opportunistic_Infections.html#oi-next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OI next steps start with the syndrome and severity Second teaching block · OI diagnosis and treatment Doses below are adult starting examples, not individualized orders. Adjust for renal/hepatic function, weight, pregnancy, formulation, and drug interactions; confirm with pharmacy. CD4 thresholds change probability; they are not exclusion rules. Bacterial infections and TB can occur at any CD4 count. Below 200, PCP becomes prominent; below 100, consider toxoplasmosis and cryptococcosis; below 50, disseminated MAC and CMV end-organ disease become more likely. Histoplasmosis is particularly important with advanced HIV and relevant geography. [6] [5] [7] [17] [18] [19] [3] Syndrome-directed OI assessment Presentation Diagnostic next steps Immediate treatment or action Subacute dyspnea, dry cough, hypoxemia Pulse oximetry, imaging; arterial blood gas when steroid threshold is uncertain. Induced sputum or BAL for PCP testing; assess bacterial pneumonia and TB concurrently. Treat suspected severe PCP promptly while obtaining confirmation. Add oxygen and indicated corticosteroids; isolate for TB if suspected. Headache, meningitis, altered mentation Neurologic exam; imaging before LP when indicated. LP with opening pressure, cell count, glucose/protein, CrAg, and fungal culture; other tests guided by presentation. Treat the likely syndrome urgently; do not start ART reflexively before assessing cryptococcal/TB meningitis. Focal deficit or seizure Contrast MRI; Toxoplasma IgG; consider lymphoma, PML, TB, abscess, stroke. CSF only if safe. Treat presumed toxoplasmosis when supported; arrange early biopsy for atypical features or lack of response. Floaters, scotoma, blurred vision Urgent dilated retinal examination; do not use plasma CMV PCR to rule out retinitis. Same-day ophthalmology; sight-threatening disease may need local plus systemic therapy. Fever, wasting, cytopenias, high alkaline phosphatase Blood cultures; mycobacterial blood cultures, urine/serum Histoplasma antigen, imaging and tissue sampling as indicated. Consider lymphoma. In severe disseminated histoplasmosis, begin liposomal amphotericin B. Avoid macrolide prophylaxis while evaluating possible active MAC. Odynophagia or persistent diarrhea Assess thrush, stool tests and exact panel coverage, medications, hydration. Endoscopy with biopsy when esophageal disease fails empiric treatment or CMV colitis is suspected. Systemic antifungal for esophageal candidiasis; rehydration and organism-directed enteric therapy. CMV DNAemia alone does not establish colitis. [6] [7] [5] [20] [18] [19] [17] [21] [22] Source control still matters. Drain an ordinary bacterial abscess, remove infected hardware when indicated, and obtain tissue when it will distinguish infection from malignancy. In cryptococcal meningitis, pressure management with therapeutic LP is essential alongside antifungal therapy.</a:t>
            </a:r>
          </a:p>
          <a:p xmlns:a="http://schemas.openxmlformats.org/drawingml/2006/main">
            <a:r>
              <a:t/>
            </a:r>
          </a:p>
          <a:p xmlns:a="http://schemas.openxmlformats.org/drawingml/2006/main">
            <a:r>
              <a:t>Module section: https://docarcshot.github.io/id-practice-update/lectures/HIV_Diagnosis_ART_Prevention_and_Opportunistic_Infections.html#oi-next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OI next steps start with the syndrome and severity Second teaching block · OI diagnosis and treatment Doses below are adult starting examples, not individualized orders. Adjust for renal/hepatic function, weight, pregnancy, formulation, and drug interactions; confirm with pharmacy. CD4 thresholds change probability; they are not exclusion rules. Bacterial infections and TB can occur at any CD4 count. Below 200, PCP becomes prominent; below 100, consider toxoplasmosis and cryptococcosis; below 50, disseminated MAC and CMV end-organ disease become more likely. Histoplasmosis is particularly important with advanced HIV and relevant geography. [6] [5] [7] [17] [18] [19] [3] Syndrome-directed OI assessment Presentation Diagnostic next steps Immediate treatment or action Subacute dyspnea, dry cough, hypoxemia Pulse oximetry, imaging; arterial blood gas when steroid threshold is uncertain. Induced sputum or BAL for PCP testing; assess bacterial pneumonia and TB concurrently. Treat suspected severe PCP promptly while obtaining confirmation. Add oxygen and indicated corticosteroids; isolate for TB if suspected. Headache, meningitis, altered mentation Neurologic exam; imaging before LP when indicated. LP with opening pressure, cell count, glucose/protein, CrAg, and fungal culture; other tests guided by presentation. Treat the likely syndrome urgently; do not start ART reflexively before assessing cryptococcal/TB meningitis. Focal deficit or seizure Contrast MRI; Toxoplasma IgG; consider lymphoma, PML, TB, abscess, stroke. CSF only if safe. Treat presumed toxoplasmosis when supported; arrange early biopsy for atypical features or lack of response. Floaters, scotoma, blurred vision Urgent dilated retinal examination; do not use plasma CMV PCR to rule out retinitis. Same-day ophthalmology; sight-threatening disease may need local plus systemic therapy. Fever, wasting, cytopenias, high alkaline phosphatase Blood cultures; mycobacterial blood cultures, urine/serum Histoplasma antigen, imaging and tissue sampling as indicated. Consider lymphoma. In severe disseminated histoplasmosis, begin liposomal amphotericin B. Avoid macrolide prophylaxis while evaluating possible active MAC. Odynophagia or persistent diarrhea Assess thrush, stool tests and exact panel coverage, medications, hydration. Endoscopy with biopsy when esophageal disease fails empiric treatment or CMV colitis is suspected. Systemic antifungal for esophageal candidiasis; rehydration and organism-directed enteric therapy. CMV DNAemia alone does not establish colitis. [6] [7] [5] [20] [18] [19] [17] [21] [22] Source control still matters. Drain an ordinary bacterial abscess, remove infected hardware when indicated, and obtain tissue when it will distinguish infection from malignancy. In cryptococcal meningitis, pressure management with therapeutic LP is essential alongside antifungal therapy.</a:t>
            </a:r>
          </a:p>
          <a:p xmlns:a="http://schemas.openxmlformats.org/drawingml/2006/main">
            <a:r>
              <a:t/>
            </a:r>
          </a:p>
          <a:p xmlns:a="http://schemas.openxmlformats.org/drawingml/2006/main">
            <a:r>
              <a:t>Module section: https://docarcshot.github.io/id-practice-update/lectures/HIV_Diagnosis_ART_Prevention_and_Opportunistic_Infections.html#oi-next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OI next steps start with the syndrome and severity Second teaching block · OI diagnosis and treatment Doses below are adult starting examples, not individualized orders. Adjust for renal/hepatic function, weight, pregnancy, formulation, and drug interactions; confirm with pharmacy. CD4 thresholds change probability; they are not exclusion rules. Bacterial infections and TB can occur at any CD4 count. Below 200, PCP becomes prominent; below 100, consider toxoplasmosis and cryptococcosis; below 50, disseminated MAC and CMV end-organ disease become more likely. Histoplasmosis is particularly important with advanced HIV and relevant geography. [6] [5] [7] [17] [18] [19] [3] Syndrome-directed OI assessment Presentation Diagnostic next steps Immediate treatment or action Subacute dyspnea, dry cough, hypoxemia Pulse oximetry, imaging; arterial blood gas when steroid threshold is uncertain. Induced sputum or BAL for PCP testing; assess bacterial pneumonia and TB concurrently. Treat suspected severe PCP promptly while obtaining confirmation. Add oxygen and indicated corticosteroids; isolate for TB if suspected. Headache, meningitis, altered mentation Neurologic exam; imaging before LP when indicated. LP with opening pressure, cell count, glucose/protein, CrAg, and fungal culture; other tests guided by presentation. Treat the likely syndrome urgently; do not start ART reflexively before assessing cryptococcal/TB meningitis. Focal deficit or seizure Contrast MRI; Toxoplasma IgG; consider lymphoma, PML, TB, abscess, stroke. CSF only if safe. Treat presumed toxoplasmosis when supported; arrange early biopsy for atypical features or lack of response. Floaters, scotoma, blurred vision Urgent dilated retinal examination; do not use plasma CMV PCR to rule out retinitis. Same-day ophthalmology; sight-threatening disease may need local plus systemic therapy. Fever, wasting, cytopenias, high alkaline phosphatase Blood cultures; mycobacterial blood cultures, urine/serum Histoplasma antigen, imaging and tissue sampling as indicated. Consider lymphoma. In severe disseminated histoplasmosis, begin liposomal amphotericin B. Avoid macrolide prophylaxis while evaluating possible active MAC. Odynophagia or persistent diarrhea Assess thrush, stool tests and exact panel coverage, medications, hydration. Endoscopy with biopsy when esophageal disease fails empiric treatment or CMV colitis is suspected. Systemic antifungal for esophageal candidiasis; rehydration and organism-directed enteric therapy. CMV DNAemia alone does not establish colitis. [6] [7] [5] [20] [18] [19] [17] [21] [22] Source control still matters. Drain an ordinary bacterial abscess, remove infected hardware when indicated, and obtain tissue when it will distinguish infection from malignancy. In cryptococcal meningitis, pressure management with therapeutic LP is essential alongside antifungal therapy.</a:t>
            </a:r>
          </a:p>
          <a:p xmlns:a="http://schemas.openxmlformats.org/drawingml/2006/main">
            <a:r>
              <a:t/>
            </a:r>
          </a:p>
          <a:p xmlns:a="http://schemas.openxmlformats.org/drawingml/2006/main">
            <a:r>
              <a:t>Module section: https://docarcshot.github.io/id-practice-update/lectures/HIV_Diagnosis_ART_Prevention_and_Opportunistic_Infections.html#oi-next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OI next steps start with the syndrome and severity Second teaching block · OI diagnosis and treatment Doses below are adult starting examples, not individualized orders. Adjust for renal/hepatic function, weight, pregnancy, formulation, and drug interactions; confirm with pharmacy. CD4 thresholds change probability; they are not exclusion rules. Bacterial infections and TB can occur at any CD4 count. Below 200, PCP becomes prominent; below 100, consider toxoplasmosis and cryptococcosis; below 50, disseminated MAC and CMV end-organ disease become more likely. Histoplasmosis is particularly important with advanced HIV and relevant geography. [6] [5] [7] [17] [18] [19] [3] Syndrome-directed OI assessment Presentation Diagnostic next steps Immediate treatment or action Subacute dyspnea, dry cough, hypoxemia Pulse oximetry, imaging; arterial blood gas when steroid threshold is uncertain. Induced sputum or BAL for PCP testing; assess bacterial pneumonia and TB concurrently. Treat suspected severe PCP promptly while obtaining confirmation. Add oxygen and indicated corticosteroids; isolate for TB if suspected. Headache, meningitis, altered mentation Neurologic exam; imaging before LP when indicated. LP with opening pressure, cell count, glucose/protein, CrAg, and fungal culture; other tests guided by presentation. Treat the likely syndrome urgently; do not start ART reflexively before assessing cryptococcal/TB meningitis. Focal deficit or seizure Contrast MRI; Toxoplasma IgG; consider lymphoma, PML, TB, abscess, stroke. CSF only if safe. Treat presumed toxoplasmosis when supported; arrange early biopsy for atypical features or lack of response. Floaters, scotoma, blurred vision Urgent dilated retinal examination; do not use plasma CMV PCR to rule out retinitis. Same-day ophthalmology; sight-threatening disease may need local plus systemic therapy. Fever, wasting, cytopenias, high alkaline phosphatase Blood cultures; mycobacterial blood cultures, urine/serum Histoplasma antigen, imaging and tissue sampling as indicated. Consider lymphoma. In severe disseminated histoplasmosis, begin liposomal amphotericin B. Avoid macrolide prophylaxis while evaluating possible active MAC. Odynophagia or persistent diarrhea Assess thrush, stool tests and exact panel coverage, medications, hydration. Endoscopy with biopsy when esophageal disease fails empiric treatment or CMV colitis is suspected. Systemic antifungal for esophageal candidiasis; rehydration and organism-directed enteric therapy. CMV DNAemia alone does not establish colitis. [6] [7] [5] [20] [18] [19] [17] [21] [22] Source control still matters. Drain an ordinary bacterial abscess, remove infected hardware when indicated, and obtain tissue when it will distinguish infection from malignancy. In cryptococcal meningitis, pressure management with therapeutic LP is essential alongside antifungal therapy.</a:t>
            </a:r>
          </a:p>
          <a:p xmlns:a="http://schemas.openxmlformats.org/drawingml/2006/main">
            <a:r>
              <a:t/>
            </a:r>
          </a:p>
          <a:p xmlns:a="http://schemas.openxmlformats.org/drawingml/2006/main">
            <a:r>
              <a:t>Module section: https://docarcshot.github.io/id-practice-update/lectures/HIV_Diagnosis_ART_Prevention_and_Opportunistic_Infections.html#oi-next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PCP treatment depends on respiratory severity and is followed by secondary prophylaxis Confirm with respiratory staining or PCR on an appropriate specimen. PCR may detect colonization; beta-D-glucan supports but does not establish the diagnosis. A normal chest radiograph does not exclude PCP. Consider coinfection. [6] Treat for 21 days with TMP-SMX, dosed by TMP at 15-20 mg/kg/day, divided every 6-8 hours IV for moderate/severe disease; oral therapy is appropriate for mild disease or after improvement. Adjust for renal function. Monitor potassium, creatinine, CBC, liver tests, and rash. [6] Add prednisone if room-air PaO₂ is &lt;70 mmHg or the A-a gradient is ≥35 mmHg. Start ideally within 72 hours: 40 mg twice daily on days 1-5, 40 mg daily on days 6-10, then 20 mg daily on days 11-21. [6] Alternatives include clindamycin-primaquine or IV pentamidine for moderate/severe disease, and atovaquone for mild disease. Check G6PD before primaquine or dapsone. Start ART within 2 weeks when feasible; begin secondary prophylaxis immediately after treatment. [6] Before escalating for apparent failure, reassess oxygenation, absorption, toxicity, fluid status, pneumothorax, and another infection. Clinical worsening is not itself proof of resistance.</a:t>
            </a:r>
          </a:p>
          <a:p xmlns:a="http://schemas.openxmlformats.org/drawingml/2006/main">
            <a:r>
              <a:t/>
            </a:r>
          </a:p>
          <a:p xmlns:a="http://schemas.openxmlformats.org/drawingml/2006/main">
            <a:r>
              <a:t>Module section: https://docarcshot.github.io/id-practice-update/lectures/HIV_Diagnosis_ART_Prevention_and_Opportunistic_Infections.html#pcp</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PCP treatment depends on respiratory severity and is followed by secondary prophylaxis Confirm with respiratory staining or PCR on an appropriate specimen. PCR may detect colonization; beta-D-glucan supports but does not establish the diagnosis. A normal chest radiograph does not exclude PCP. Consider coinfection. [6] Treat for 21 days with TMP-SMX, dosed by TMP at 15-20 mg/kg/day, divided every 6-8 hours IV for moderate/severe disease; oral therapy is appropriate for mild disease or after improvement. Adjust for renal function. Monitor potassium, creatinine, CBC, liver tests, and rash. [6] Add prednisone if room-air PaO₂ is &lt;70 mmHg or the A-a gradient is ≥35 mmHg. Start ideally within 72 hours: 40 mg twice daily on days 1-5, 40 mg daily on days 6-10, then 20 mg daily on days 11-21. [6] Alternatives include clindamycin-primaquine or IV pentamidine for moderate/severe disease, and atovaquone for mild disease. Check G6PD before primaquine or dapsone. Start ART within 2 weeks when feasible; begin secondary prophylaxis immediately after treatment. [6] Before escalating for apparent failure, reassess oxygenation, absorption, toxicity, fluid status, pneumothorax, and another infection. Clinical worsening is not itself proof of resistance.</a:t>
            </a:r>
          </a:p>
          <a:p xmlns:a="http://schemas.openxmlformats.org/drawingml/2006/main">
            <a:r>
              <a:t/>
            </a:r>
          </a:p>
          <a:p xmlns:a="http://schemas.openxmlformats.org/drawingml/2006/main">
            <a:r>
              <a:t>Module section: https://docarcshot.github.io/id-practice-update/lectures/HIV_Diagnosis_ART_Prevention_and_Opportunistic_Infections.html#pcp</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PCP treatment depends on respiratory severity and is followed by secondary prophylaxis Confirm with respiratory staining or PCR on an appropriate specimen. PCR may detect colonization; beta-D-glucan supports but does not establish the diagnosis. A normal chest radiograph does not exclude PCP. Consider coinfection. [6] Treat for 21 days with TMP-SMX, dosed by TMP at 15-20 mg/kg/day, divided every 6-8 hours IV for moderate/severe disease; oral therapy is appropriate for mild disease or after improvement. Adjust for renal function. Monitor potassium, creatinine, CBC, liver tests, and rash. [6] Add prednisone if room-air PaO₂ is &lt;70 mmHg or the A-a gradient is ≥35 mmHg. Start ideally within 72 hours: 40 mg twice daily on days 1-5, 40 mg daily on days 6-10, then 20 mg daily on days 11-21. [6] Alternatives include clindamycin-primaquine or IV pentamidine for moderate/severe disease, and atovaquone for mild disease. Check G6PD before primaquine or dapsone. Start ART within 2 weeks when feasible; begin secondary prophylaxis immediately after treatment. [6] Before escalating for apparent failure, reassess oxygenation, absorption, toxicity, fluid status, pneumothorax, and another infection. Clinical worsening is not itself proof of resistance.</a:t>
            </a:r>
          </a:p>
          <a:p xmlns:a="http://schemas.openxmlformats.org/drawingml/2006/main">
            <a:r>
              <a:t/>
            </a:r>
          </a:p>
          <a:p xmlns:a="http://schemas.openxmlformats.org/drawingml/2006/main">
            <a:r>
              <a:t>Module section: https://docarcshot.github.io/id-practice-update/lectures/HIV_Diagnosis_ART_Prevention_and_Opportunistic_Infections.html#pcp</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Cryptococcal meningitis requires antifungal treatment and active pressure management Send serum and CSF CrAg and CSF fungal culture; measure opening pressure. A negative meningitis-panel PCR does not exclude cryptococcosis. Symptomatic elevated pressure requires therapeutic LPs, often repeated daily. Do not use serial CrAg titers to document clearance. [7] U.S. preferred induction is liposomal amphotericin B 3-4 mg/kg IV daily plus flucytosine 25 mg/kg PO every 6 hours for 2 weeks, with renal adjustment and drug-level monitoring for flucytosine. Follow CBC, renal function, potassium, and magnesium. Reassess CSF culture at about days 7 and 14. [7] Consolidate with fluconazole 800 mg daily for at least 8 weeks; once stable with sterile CSF and ART initiated, 400 mg daily may be used. Then fluconazole 200 mg daily for maintenance. If CSF remains culture-positive after induction, adjust the induction/consolidation plan and continue consolidation for at least 8 weeks from documented CSF culture clearance. Instability also requires reassessment. [7] Defer ART approximately 4-6 weeks after antifungal initiation. Stop maintenance only after ≥1 year of antifungals, absent symptoms, CD4 ≥100, and suppressed HIV RNA. Avoid routine steroids, acetazolamide, or mannitol for cryptococcal pressure management. [7] Fellow and attending discussion The single-dose liposomal amphotericin strategy studied in African settings includes 14 days of flucytosine and high-dose fluconazole. It is not one-dose monotherapy. The care setting and monitoring requirements matter. [7]</a:t>
            </a:r>
          </a:p>
          <a:p xmlns:a="http://schemas.openxmlformats.org/drawingml/2006/main">
            <a:r>
              <a:t/>
            </a:r>
          </a:p>
          <a:p xmlns:a="http://schemas.openxmlformats.org/drawingml/2006/main">
            <a:r>
              <a:t>Module section: https://docarcshot.github.io/id-practice-update/lectures/HIV_Diagnosis_ART_Prevention_and_Opportunistic_Infections.html#crypto</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Cryptococcal meningitis requires antifungal treatment and active pressure management Send serum and CSF CrAg and CSF fungal culture; measure opening pressure. A negative meningitis-panel PCR does not exclude cryptococcosis. Symptomatic elevated pressure requires therapeutic LPs, often repeated daily. Do not use serial CrAg titers to document clearance. [7] U.S. preferred induction is liposomal amphotericin B 3-4 mg/kg IV daily plus flucytosine 25 mg/kg PO every 6 hours for 2 weeks, with renal adjustment and drug-level monitoring for flucytosine. Follow CBC, renal function, potassium, and magnesium. Reassess CSF culture at about days 7 and 14. [7] Consolidate with fluconazole 800 mg daily for at least 8 weeks; once stable with sterile CSF and ART initiated, 400 mg daily may be used. Then fluconazole 200 mg daily for maintenance. If CSF remains culture-positive after induction, adjust the induction/consolidation plan and continue consolidation for at least 8 weeks from documented CSF culture clearance. Instability also requires reassessment. [7] Defer ART approximately 4-6 weeks after antifungal initiation. Stop maintenance only after ≥1 year of antifungals, absent symptoms, CD4 ≥100, and suppressed HIV RNA. Avoid routine steroids, acetazolamide, or mannitol for cryptococcal pressure management. [7] Fellow and attending discussion The single-dose liposomal amphotericin strategy studied in African settings includes 14 days of flucytosine and high-dose fluconazole. It is not one-dose monotherapy. The care setting and monitoring requirements matter. [7]</a:t>
            </a:r>
          </a:p>
          <a:p xmlns:a="http://schemas.openxmlformats.org/drawingml/2006/main">
            <a:r>
              <a:t/>
            </a:r>
          </a:p>
          <a:p xmlns:a="http://schemas.openxmlformats.org/drawingml/2006/main">
            <a:r>
              <a:t>Module section: https://docarcshot.github.io/id-practice-update/lectures/HIV_Diagnosis_ART_Prevention_and_Opportunistic_Infections.html#crypto</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Cryptococcal meningitis requires antifungal treatment and active pressure management Send serum and CSF CrAg and CSF fungal culture; measure opening pressure. A negative meningitis-panel PCR does not exclude cryptococcosis. Symptomatic elevated pressure requires therapeutic LPs, often repeated daily. Do not use serial CrAg titers to document clearance. [7] U.S. preferred induction is liposomal amphotericin B 3-4 mg/kg IV daily plus flucytosine 25 mg/kg PO every 6 hours for 2 weeks, with renal adjustment and drug-level monitoring for flucytosine. Follow CBC, renal function, potassium, and magnesium. Reassess CSF culture at about days 7 and 14. [7] Consolidate with fluconazole 800 mg daily for at least 8 weeks; once stable with sterile CSF and ART initiated, 400 mg daily may be used. Then fluconazole 200 mg daily for maintenance. If CSF remains culture-positive after induction, adjust the induction/consolidation plan and continue consolidation for at least 8 weeks from documented CSF culture clearance. Instability also requires reassessment. [7] Defer ART approximately 4-6 weeks after antifungal initiation. Stop maintenance only after ≥1 year of antifungals, absent symptoms, CD4 ≥100, and suppressed HIV RNA. Avoid routine steroids, acetazolamide, or mannitol for cryptococcal pressure management. [7] Fellow and attending discussion The single-dose liposomal amphotericin strategy studied in African settings includes 14 days of flucytosine and high-dose fluconazole. It is not one-dose monotherapy. The care setting and monitoring requirements matter. [7]</a:t>
            </a:r>
          </a:p>
          <a:p xmlns:a="http://schemas.openxmlformats.org/drawingml/2006/main">
            <a:r>
              <a:t/>
            </a:r>
          </a:p>
          <a:p xmlns:a="http://schemas.openxmlformats.org/drawingml/2006/main">
            <a:r>
              <a:t>Module section: https://docarcshot.github.io/id-practice-update/lectures/HIV_Diagnosis_ART_Prevention_and_Opportunistic_Infections.html#crypto</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Treat likely toxoplasma encephalitis while preserving a path to another diagnosis In advanced HIV, multiple enhancing lesions plus positive Toxoplasma IgG support a presumptive diagnosis. MRI is more sensitive than CT. Negative IgG or CSF PCR does not absolutely exclude disease. Consider lymphoma, TB, bacterial abscess, and fungal infection. [5] Preferred acute therapy is TMP-SMX at TMP 5 mg/kg plus SMX 25 mg/kg IV or PO twice daily, or pyrimethamine-sulfadiazine-leucovorin. For the latter, give pyrimethamine 200 mg once, then 50 mg daily if ≤60 kg or 75 mg daily if &gt;60 kg; sulfadiazine 1 g or 1.5 g every 6 hours respectively; leucovorin 10-25 mg daily. Treat ≥6 weeks, longer for extensive or incompletely resolved disease. [5] Reconsider the diagnosis and biopsy if deteriorating early or not improving by 10-14 days. Use steroids only for clinically important edema/mass effect; lymphoma can also improve with steroids. Treat seizures if present. [5] ART often begins around 2-3 weeks; evidence for an exact interval is limited. Maintenance options include TMP-SMX DS twice daily. Stop after completed acute therapy, no symptoms, and CD4 &gt;200 for &gt;6 months on ART. [5]</a:t>
            </a:r>
          </a:p>
          <a:p xmlns:a="http://schemas.openxmlformats.org/drawingml/2006/main">
            <a:r>
              <a:t/>
            </a:r>
          </a:p>
          <a:p xmlns:a="http://schemas.openxmlformats.org/drawingml/2006/main">
            <a:r>
              <a:t>Module section: https://docarcshot.github.io/id-practice-update/lectures/HIV_Diagnosis_ART_Prevention_and_Opportunistic_Infections.html#toxo</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Treat likely toxoplasma encephalitis while preserving a path to another diagnosis In advanced HIV, multiple enhancing lesions plus positive Toxoplasma IgG support a presumptive diagnosis. MRI is more sensitive than CT. Negative IgG or CSF PCR does not absolutely exclude disease. Consider lymphoma, TB, bacterial abscess, and fungal infection. [5] Preferred acute therapy is TMP-SMX at TMP 5 mg/kg plus SMX 25 mg/kg IV or PO twice daily, or pyrimethamine-sulfadiazine-leucovorin. For the latter, give pyrimethamine 200 mg once, then 50 mg daily if ≤60 kg or 75 mg daily if &gt;60 kg; sulfadiazine 1 g or 1.5 g every 6 hours respectively; leucovorin 10-25 mg daily. Treat ≥6 weeks, longer for extensive or incompletely resolved disease. [5] Reconsider the diagnosis and biopsy if deteriorating early or not improving by 10-14 days. Use steroids only for clinically important edema/mass effect; lymphoma can also improve with steroids. Treat seizures if present. [5] ART often begins around 2-3 weeks; evidence for an exact interval is limited. Maintenance options include TMP-SMX DS twice daily. Stop after completed acute therapy, no symptoms, and CD4 &gt;200 for &gt;6 months on ART. [5]</a:t>
            </a:r>
          </a:p>
          <a:p xmlns:a="http://schemas.openxmlformats.org/drawingml/2006/main">
            <a:r>
              <a:t/>
            </a:r>
          </a:p>
          <a:p xmlns:a="http://schemas.openxmlformats.org/drawingml/2006/main">
            <a:r>
              <a:t>Module section: https://docarcshot.github.io/id-practice-update/lectures/HIV_Diagnosis_ART_Prevention_and_Opportunistic_Infections.html#toxo</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Diagnose CMV end-organ disease in the organ involved Retinitis requires expert retinal examination. Plasma CMV PCR neither confirms nor excludes it. GI disease generally requires compatible endoscopy and tissue evidence; shedding or DNAemia alone is insufficient. Arrange baseline ophthalmology when CD4 &lt;100 and urgent assessment for new visual symptoms. [18] Retinitis induction uses valganciclovir 900 mg PO twice daily or ganciclovir 5 mg/kg IV every 12 hours for 14-21 days, guided by retinal response. Sight-threatening lesions may also require intravitreal therapy. Maintenance is usually valganciclovir 900 mg daily. Adjust for renal function and monitor CBC and creatinine. [18] For colitis/esophagitis, IV ganciclovir may transition to oral valganciclovir when absorption is adequate; treat 21-42 days until clinical resolution. Maintenance is usually unnecessary after resolved GI disease unless concurrent retinitis, recurrence, or severe initial disease. Start ART within 1-2 weeks for most CMV end-organ disease. [18] Retinitis maintenance can stop with ophthalmology after ≥3 months of therapy, inactive lesions, and CD4 ≥100 for ≥3 months on ART. Do not prescribe valganciclovir primary prophylaxis solely for low CD4 or positive blood PCR. [18]</a:t>
            </a:r>
          </a:p>
          <a:p xmlns:a="http://schemas.openxmlformats.org/drawingml/2006/main">
            <a:r>
              <a:t/>
            </a:r>
          </a:p>
          <a:p xmlns:a="http://schemas.openxmlformats.org/drawingml/2006/main">
            <a:r>
              <a:t>Module section: https://docarcshot.github.io/id-practice-update/lectures/HIV_Diagnosis_ART_Prevention_and_Opportunistic_Infections.html#cmv</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Diagnose CMV end-organ disease in the organ involved Retinitis requires expert retinal examination. Plasma CMV PCR neither confirms nor excludes it. GI disease generally requires compatible endoscopy and tissue evidence; shedding or DNAemia alone is insufficient. Arrange baseline ophthalmology when CD4 &lt;100 and urgent assessment for new visual symptoms. [18] Retinitis induction uses valganciclovir 900 mg PO twice daily or ganciclovir 5 mg/kg IV every 12 hours for 14-21 days, guided by retinal response. Sight-threatening lesions may also require intravitreal therapy. Maintenance is usually valganciclovir 900 mg daily. Adjust for renal function and monitor CBC and creatinine. [18] For colitis/esophagitis, IV ganciclovir may transition to oral valganciclovir when absorption is adequate; treat 21-42 days until clinical resolution. Maintenance is usually unnecessary after resolved GI disease unless concurrent retinitis, recurrence, or severe initial disease. Start ART within 1-2 weeks for most CMV end-organ disease. [18] Retinitis maintenance can stop with ophthalmology after ≥3 months of therapy, inactive lesions, and CD4 ≥100 for ≥3 months on ART. Do not prescribe valganciclovir primary prophylaxis solely for low CD4 or positive blood PCR. [18]</a:t>
            </a:r>
          </a:p>
          <a:p xmlns:a="http://schemas.openxmlformats.org/drawingml/2006/main">
            <a:r>
              <a:t/>
            </a:r>
          </a:p>
          <a:p xmlns:a="http://schemas.openxmlformats.org/drawingml/2006/main">
            <a:r>
              <a:t>Module section: https://docarcshot.github.io/id-practice-update/lectures/HIV_Diagnosis_ART_Prevention_and_Opportunistic_Infections.html#cmv</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Distinguish disseminated MAC, histoplasmosis, and TB before choosing long treatment Disseminated MAC Obtain mycobacterial blood culture or involved-tissue culture and macrolide susceptibility. A respiratory isolate alone does not establish disseminated disease. Use clarithromycin 500 mg PO twice daily plus ethambutol 15 mg/kg daily; azithromycin 500-600 mg daily is an alternative when interactions, intolerance, or adherence preclude clarithromycin. Consider rifabutin as a third agent in severe/high-burden disease or without viral suppression, adjusting for ART interactions. Start ART promptly, preferably with MAC treatment. [17] Treat ≥12 months and until asymptomatic with CD4 &gt;100 for ≥6 months on ART. Follow vision/color discrimination with ethambutol, liver tests, QT/interactions, and clinical response. Persistent symptoms require reassessment of cultures, resistance, another infection, lymphoma, or IRIS. [17] Disseminated histoplasmosis Consider with fever, weight loss, cytopenias, hepatosplenomegaly, or elevated alkaline phosphatase, especially in the Mississippi/Ohio River valleys. Send urine/serum antigen and obtain fungal cultures or tissue when indicated; antigen cross-reactivity can limit specificity. [19] Severe disease: liposomal amphotericin B 3 mg/kg IV daily for ≥2 weeks or until improved, then itraconazole 200 mg PO three times daily for 3 days followed by twice daily for ≥12 months. Mild/moderate disease can start itraconazole. Check formulation, interactions, levels after about 2 weeks, liver tests, and serial antigen. CNS disease requires a different, longer amphotericin induction. Start ART promptly after antifungals. [19] Tuberculosis Use airborne precautions for suspected pulmonary/laryngeal TB; obtain respiratory AFB smear, culture, NAAT and resistance testing. A negative IGRA does not exclude disease. Standard susceptible-TB therapy uses isoniazid, rifampin, pyrazinamide, and ethambutol initially, then isoniazid/rifampin when eligibility is established. Rifamycin-ART interactions must be resolved before prescribing. [3] Without meningitis, start ART within 2 weeks if CD4 &lt;50 and within 2-8 weeks if ≥50. TB meningitis needs a separate decision: NIH permits ART after ≥2 weeks once controlled, while ATS/CDC/IDSA guidance has favored waiting 8 weeks. Document the rationale with the TB team. [3] Open the TB module for doses, duration exceptions, latent infection, resistant TB, and newer regimens.</a:t>
            </a:r>
          </a:p>
          <a:p xmlns:a="http://schemas.openxmlformats.org/drawingml/2006/main">
            <a:r>
              <a:t/>
            </a:r>
          </a:p>
          <a:p xmlns:a="http://schemas.openxmlformats.org/drawingml/2006/main">
            <a:r>
              <a:t>Module section: https://docarcshot.github.io/id-practice-update/lectures/HIV_Diagnosis_ART_Prevention_and_Opportunistic_Infections.html#disseminated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Distinguish disseminated MAC, histoplasmosis, and TB before choosing long treatment Disseminated MAC Obtain mycobacterial blood culture or involved-tissue culture and macrolide susceptibility. A respiratory isolate alone does not establish disseminated disease. Use clarithromycin 500 mg PO twice daily plus ethambutol 15 mg/kg daily; azithromycin 500-600 mg daily is an alternative when interactions, intolerance, or adherence preclude clarithromycin. Consider rifabutin as a third agent in severe/high-burden disease or without viral suppression, adjusting for ART interactions. Start ART promptly, preferably with MAC treatment. [17] Treat ≥12 months and until asymptomatic with CD4 &gt;100 for ≥6 months on ART. Follow vision/color discrimination with ethambutol, liver tests, QT/interactions, and clinical response. Persistent symptoms require reassessment of cultures, resistance, another infection, lymphoma, or IRIS. [17] Disseminated histoplasmosis Consider with fever, weight loss, cytopenias, hepatosplenomegaly, or elevated alkaline phosphatase, especially in the Mississippi/Ohio River valleys. Send urine/serum antigen and obtain fungal cultures or tissue when indicated; antigen cross-reactivity can limit specificity. [19] Severe disease: liposomal amphotericin B 3 mg/kg IV daily for ≥2 weeks or until improved, then itraconazole 200 mg PO three times daily for 3 days followed by twice daily for ≥12 months. Mild/moderate disease can start itraconazole. Check formulation, interactions, levels after about 2 weeks, liver tests, and serial antigen. CNS disease requires a different, longer amphotericin induction. Start ART promptly after antifungals. [19] Tuberculosis Use airborne precautions for suspected pulmonary/laryngeal TB; obtain respiratory AFB smear, culture, NAAT and resistance testing. A negative IGRA does not exclude disease. Standard susceptible-TB therapy uses isoniazid, rifampin, pyrazinamide, and ethambutol initially, then isoniazid/rifampin when eligibility is established. Rifamycin-ART interactions must be resolved before prescribing. [3] Without meningitis, start ART within 2 weeks if CD4 &lt;50 and within 2-8 weeks if ≥50. TB meningitis needs a separate decision: NIH permits ART after ≥2 weeks once controlled, while ATS/CDC/IDSA guidance has favored waiting 8 weeks. Document the rationale with the TB team. [3] Open the TB module for doses, duration exceptions, latent infection, resistant TB, and newer regimens.</a:t>
            </a:r>
          </a:p>
          <a:p xmlns:a="http://schemas.openxmlformats.org/drawingml/2006/main">
            <a:r>
              <a:t/>
            </a:r>
          </a:p>
          <a:p xmlns:a="http://schemas.openxmlformats.org/drawingml/2006/main">
            <a:r>
              <a:t>Module section: https://docarcshot.github.io/id-practice-update/lectures/HIV_Diagnosis_ART_Prevention_and_Opportunistic_Infections.html#disseminated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Distinguish disseminated MAC, histoplasmosis, and TB before choosing long treatment Disseminated MAC Obtain mycobacterial blood culture or involved-tissue culture and macrolide susceptibility. A respiratory isolate alone does not establish disseminated disease. Use clarithromycin 500 mg PO twice daily plus ethambutol 15 mg/kg daily; azithromycin 500-600 mg daily is an alternative when interactions, intolerance, or adherence preclude clarithromycin. Consider rifabutin as a third agent in severe/high-burden disease or without viral suppression, adjusting for ART interactions. Start ART promptly, preferably with MAC treatment. [17] Treat ≥12 months and until asymptomatic with CD4 &gt;100 for ≥6 months on ART. Follow vision/color discrimination with ethambutol, liver tests, QT/interactions, and clinical response. Persistent symptoms require reassessment of cultures, resistance, another infection, lymphoma, or IRIS. [17] Disseminated histoplasmosis Consider with fever, weight loss, cytopenias, hepatosplenomegaly, or elevated alkaline phosphatase, especially in the Mississippi/Ohio River valleys. Send urine/serum antigen and obtain fungal cultures or tissue when indicated; antigen cross-reactivity can limit specificity. [19] Severe disease: liposomal amphotericin B 3 mg/kg IV daily for ≥2 weeks or until improved, then itraconazole 200 mg PO three times daily for 3 days followed by twice daily for ≥12 months. Mild/moderate disease can start itraconazole. Check formulation, interactions, levels after about 2 weeks, liver tests, and serial antigen. CNS disease requires a different, longer amphotericin induction. Start ART promptly after antifungals. [19] Tuberculosis Use airborne precautions for suspected pulmonary/laryngeal TB; obtain respiratory AFB smear, culture, NAAT and resistance testing. A negative IGRA does not exclude disease. Standard susceptible-TB therapy uses isoniazid, rifampin, pyrazinamide, and ethambutol initially, then isoniazid/rifampin when eligibility is established. Rifamycin-ART interactions must be resolved before prescribing. [3] Without meningitis, start ART within 2 weeks if CD4 &lt;50 and within 2-8 weeks if ≥50. TB meningitis needs a separate decision: NIH permits ART after ≥2 weeks once controlled, while ATS/CDC/IDSA guidance has favored waiting 8 weeks. Document the rationale with the TB team. [3] Open the TB module for doses, duration exceptions, latent infection, resistant TB, and newer regimens.</a:t>
            </a:r>
          </a:p>
          <a:p xmlns:a="http://schemas.openxmlformats.org/drawingml/2006/main">
            <a:r>
              <a:t/>
            </a:r>
          </a:p>
          <a:p xmlns:a="http://schemas.openxmlformats.org/drawingml/2006/main">
            <a:r>
              <a:t>Module section: https://docarcshot.github.io/id-practice-update/lectures/HIV_Diagnosis_ART_Prevention_and_Opportunistic_Infections.html#disseminated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Distinguish disseminated MAC, histoplasmosis, and TB before choosing long treatment Disseminated MAC Obtain mycobacterial blood culture or involved-tissue culture and macrolide susceptibility. A respiratory isolate alone does not establish disseminated disease. Use clarithromycin 500 mg PO twice daily plus ethambutol 15 mg/kg daily; azithromycin 500-600 mg daily is an alternative when interactions, intolerance, or adherence preclude clarithromycin. Consider rifabutin as a third agent in severe/high-burden disease or without viral suppression, adjusting for ART interactions. Start ART promptly, preferably with MAC treatment. [17] Treat ≥12 months and until asymptomatic with CD4 &gt;100 for ≥6 months on ART. Follow vision/color discrimination with ethambutol, liver tests, QT/interactions, and clinical response. Persistent symptoms require reassessment of cultures, resistance, another infection, lymphoma, or IRIS. [17] Disseminated histoplasmosis Consider with fever, weight loss, cytopenias, hepatosplenomegaly, or elevated alkaline phosphatase, especially in the Mississippi/Ohio River valleys. Send urine/serum antigen and obtain fungal cultures or tissue when indicated; antigen cross-reactivity can limit specificity. [19] Severe disease: liposomal amphotericin B 3 mg/kg IV daily for ≥2 weeks or until improved, then itraconazole 200 mg PO three times daily for 3 days followed by twice daily for ≥12 months. Mild/moderate disease can start itraconazole. Check formulation, interactions, levels after about 2 weeks, liver tests, and serial antigen. CNS disease requires a different, longer amphotericin induction. Start ART promptly after antifungals. [19] Tuberculosis Use airborne precautions for suspected pulmonary/laryngeal TB; obtain respiratory AFB smear, culture, NAAT and resistance testing. A negative IGRA does not exclude disease. Standard susceptible-TB therapy uses isoniazid, rifampin, pyrazinamide, and ethambutol initially, then isoniazid/rifampin when eligibility is established. Rifamycin-ART interactions must be resolved before prescribing. [3] Without meningitis, start ART within 2 weeks if CD4 &lt;50 and within 2-8 weeks if ≥50. TB meningitis needs a separate decision: NIH permits ART after ≥2 weeks once controlled, while ATS/CDC/IDSA guidance has favored waiting 8 weeks. Document the rationale with the TB team. [3] Open the TB module for doses, duration exceptions, latent infection, resistant TB, and newer regimens.</a:t>
            </a:r>
          </a:p>
          <a:p xmlns:a="http://schemas.openxmlformats.org/drawingml/2006/main">
            <a:r>
              <a:t/>
            </a:r>
          </a:p>
          <a:p xmlns:a="http://schemas.openxmlformats.org/drawingml/2006/main">
            <a:r>
              <a:t>Module section: https://docarcshot.github.io/id-practice-update/lectures/HIV_Diagnosis_ART_Prevention_and_Opportunistic_Infections.html#disseminated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Distinguish disseminated MAC, histoplasmosis, and TB before choosing long treatment Disseminated MAC Obtain mycobacterial blood culture or involved-tissue culture and macrolide susceptibility. A respiratory isolate alone does not establish disseminated disease. Use clarithromycin 500 mg PO twice daily plus ethambutol 15 mg/kg daily; azithromycin 500-600 mg daily is an alternative when interactions, intolerance, or adherence preclude clarithromycin. Consider rifabutin as a third agent in severe/high-burden disease or without viral suppression, adjusting for ART interactions. Start ART promptly, preferably with MAC treatment. [17] Treat ≥12 months and until asymptomatic with CD4 &gt;100 for ≥6 months on ART. Follow vision/color discrimination with ethambutol, liver tests, QT/interactions, and clinical response. Persistent symptoms require reassessment of cultures, resistance, another infection, lymphoma, or IRIS. [17] Disseminated histoplasmosis Consider with fever, weight loss, cytopenias, hepatosplenomegaly, or elevated alkaline phosphatase, especially in the Mississippi/Ohio River valleys. Send urine/serum antigen and obtain fungal cultures or tissue when indicated; antigen cross-reactivity can limit specificity. [19] Severe disease: liposomal amphotericin B 3 mg/kg IV daily for ≥2 weeks or until improved, then itraconazole 200 mg PO three times daily for 3 days followed by twice daily for ≥12 months. Mild/moderate disease can start itraconazole. Check formulation, interactions, levels after about 2 weeks, liver tests, and serial antigen. CNS disease requires a different, longer amphotericin induction. Start ART promptly after antifungals. [19] Tuberculosis Use airborne precautions for suspected pulmonary/laryngeal TB; obtain respiratory AFB smear, culture, NAAT and resistance testing. A negative IGRA does not exclude disease. Standard susceptible-TB therapy uses isoniazid, rifampin, pyrazinamide, and ethambutol initially, then isoniazid/rifampin when eligibility is established. Rifamycin-ART interactions must be resolved before prescribing. [3] Without meningitis, start ART within 2 weeks if CD4 &lt;50 and within 2-8 weeks if ≥50. TB meningitis needs a separate decision: NIH permits ART after ≥2 weeks once controlled, while ATS/CDC/IDSA guidance has favored waiting 8 weeks. Document the rationale with the TB team. [3] Open the TB module for doses, duration exceptions, latent infection, resistant TB, and newer regimens.</a:t>
            </a:r>
          </a:p>
          <a:p xmlns:a="http://schemas.openxmlformats.org/drawingml/2006/main">
            <a:r>
              <a:t/>
            </a:r>
          </a:p>
          <a:p xmlns:a="http://schemas.openxmlformats.org/drawingml/2006/main">
            <a:r>
              <a:t>Module section: https://docarcshot.github.io/id-practice-update/lectures/HIV_Diagnosis_ART_Prevention_and_Opportunistic_Infections.html#disseminated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Distinguish disseminated MAC, histoplasmosis, and TB before choosing long treatment Disseminated MAC Obtain mycobacterial blood culture or involved-tissue culture and macrolide susceptibility. A respiratory isolate alone does not establish disseminated disease. Use clarithromycin 500 mg PO twice daily plus ethambutol 15 mg/kg daily; azithromycin 500-600 mg daily is an alternative when interactions, intolerance, or adherence preclude clarithromycin. Consider rifabutin as a third agent in severe/high-burden disease or without viral suppression, adjusting for ART interactions. Start ART promptly, preferably with MAC treatment. [17] Treat ≥12 months and until asymptomatic with CD4 &gt;100 for ≥6 months on ART. Follow vision/color discrimination with ethambutol, liver tests, QT/interactions, and clinical response. Persistent symptoms require reassessment of cultures, resistance, another infection, lymphoma, or IRIS. [17] Disseminated histoplasmosis Consider with fever, weight loss, cytopenias, hepatosplenomegaly, or elevated alkaline phosphatase, especially in the Mississippi/Ohio River valleys. Send urine/serum antigen and obtain fungal cultures or tissue when indicated; antigen cross-reactivity can limit specificity. [19] Severe disease: liposomal amphotericin B 3 mg/kg IV daily for ≥2 weeks or until improved, then itraconazole 200 mg PO three times daily for 3 days followed by twice daily for ≥12 months. Mild/moderate disease can start itraconazole. Check formulation, interactions, levels after about 2 weeks, liver tests, and serial antigen. CNS disease requires a different, longer amphotericin induction. Start ART promptly after antifungals. [19] Tuberculosis Use airborne precautions for suspected pulmonary/laryngeal TB; obtain respiratory AFB smear, culture, NAAT and resistance testing. A negative IGRA does not exclude disease. Standard susceptible-TB therapy uses isoniazid, rifampin, pyrazinamide, and ethambutol initially, then isoniazid/rifampin when eligibility is established. Rifamycin-ART interactions must be resolved before prescribing. [3] Without meningitis, start ART within 2 weeks if CD4 &lt;50 and within 2-8 weeks if ≥50. TB meningitis needs a separate decision: NIH permits ART after ≥2 weeks once controlled, while ATS/CDC/IDSA guidance has favored waiting 8 weeks. Document the rationale with the TB team. [3] Open the TB module for doses, duration exceptions, latent infection, resistant TB, and newer regimens.</a:t>
            </a:r>
          </a:p>
          <a:p xmlns:a="http://schemas.openxmlformats.org/drawingml/2006/main">
            <a:r>
              <a:t/>
            </a:r>
          </a:p>
          <a:p xmlns:a="http://schemas.openxmlformats.org/drawingml/2006/main">
            <a:r>
              <a:t>Module section: https://docarcshot.github.io/id-practice-update/lectures/HIV_Diagnosis_ART_Prevention_and_Opportunistic_Infections.html#disseminated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Mucosal, enteric, neurologic, and related infections need distinct diagnostic pathways Additional OIs and related infections Syndrome Diagnosis and treatment Decision that changes management Esophageal candidiasis Systemic fluconazole, 200 mg loading then 100-200 mg daily (up to 400 mg), for 14-21 days. Oral suspension can help swallowing. No improvement within about 7 days warrants endoscopy, culture/speciation, and biopsy for CMV/HSV or another cause. Topical therapy is inadequate. [21] Cryptosporidiosis Stool antigen, PCR, or appropriate stain; rehydration, electrolyte replacement, and effective ART are central. Nitazoxanide 500-1,000 mg twice daily with food for ≥14 days may be considered. Drug evidence in advanced HIV is limited. Do not substitute antiparasitic therapy for immune restoration. [22] Cystoisosporiasis Request appropriate stool testing; routine multiplex panels may omit it. TMP-SMX DS twice daily for 7 days or four times daily for 10 days. Persistent disease may need longer/higher-dose treatment; maintenance TMP-SMX is used with CD4 &lt;200. [23] Microsporidiosis Special stool studies or tissue testing; ART and supportive care. Treatment depends on species. Albendazole is active for several species but is unreliable for Enterocytozoon bieneusi; confirm species and specialist access options. [24] PML Progressive focal deficits, characteristic white-matter MRI lesions, and CSF JCV PCR. Repeat testing or biopsy if suspicion remains despite negative PCR. Initiate effective ART immediately. No established JCV-directed antiviral treatment; edema-producing PML-IRIS may require steroids. [20] Severe HSV or disseminated VZV Lesion PCR and organ-directed testing. Severe HSV often requires IV acyclovir 10 mg/kg every 8 hours; extensive/disseminated VZV also requires IV therapy. Adjust for renal function, hydrate, assess CNS/ocular involvement. Nonhealing HSV despite therapy raises resistance; obtain culture/susceptibility and expert treatment. [25] [26] Bacterial pneumonia or sepsis Standard syndrome-based cultures, imaging, resuscitation, and antibiotics. Broaden for documented resistant-organism risk or severe disease. HIV alone does not justify indefinite MRSA or antipseudomonal therapy. Consider simultaneous PCP/TB and obtain source control when needed. [27] Syphilis, including ocular or neurologic disease Interpret treponemal/nontreponemal tests with prior treatment and symptoms. Stage-appropriate therapy generally matches treatment without HIV. Ocular, otic, or neurologic disease changes evaluation and treatment. Neurosyphilis uses aqueous penicillin G 18-24 million units/day IV for 10-14 days; benzathine penicillin alone is inadequate. [28] Kaposi sarcoma, lymphoma, medication toxicity, inflammatory disease, and ordinary community infections belong in the differential. A positive low-specificity test should not prevent tissue diagnosis when the clinical picture is inconsistent.</a:t>
            </a:r>
          </a:p>
          <a:p xmlns:a="http://schemas.openxmlformats.org/drawingml/2006/main">
            <a:r>
              <a:t/>
            </a:r>
          </a:p>
          <a:p xmlns:a="http://schemas.openxmlformats.org/drawingml/2006/main">
            <a:r>
              <a:t>Module section: https://docarcshot.github.io/id-practice-update/lectures/HIV_Diagnosis_ART_Prevention_and_Opportunistic_Infections.html#other-oi</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Mucosal, enteric, neurologic, and related infections need distinct diagnostic pathways Additional OIs and related infections Syndrome Diagnosis and treatment Decision that changes management Esophageal candidiasis Systemic fluconazole, 200 mg loading then 100-200 mg daily (up to 400 mg), for 14-21 days. Oral suspension can help swallowing. No improvement within about 7 days warrants endoscopy, culture/speciation, and biopsy for CMV/HSV or another cause. Topical therapy is inadequate. [21] Cryptosporidiosis Stool antigen, PCR, or appropriate stain; rehydration, electrolyte replacement, and effective ART are central. Nitazoxanide 500-1,000 mg twice daily with food for ≥14 days may be considered. Drug evidence in advanced HIV is limited. Do not substitute antiparasitic therapy for immune restoration. [22] Cystoisosporiasis Request appropriate stool testing; routine multiplex panels may omit it. TMP-SMX DS twice daily for 7 days or four times daily for 10 days. Persistent disease may need longer/higher-dose treatment; maintenance TMP-SMX is used with CD4 &lt;200. [23] Microsporidiosis Special stool studies or tissue testing; ART and supportive care. Treatment depends on species. Albendazole is active for several species but is unreliable for Enterocytozoon bieneusi; confirm species and specialist access options. [24] PML Progressive focal deficits, characteristic white-matter MRI lesions, and CSF JCV PCR. Repeat testing or biopsy if suspicion remains despite negative PCR. Initiate effective ART immediately. No established JCV-directed antiviral treatment; edema-producing PML-IRIS may require steroids. [20] Severe HSV or disseminated VZV Lesion PCR and organ-directed testing. Severe HSV often requires IV acyclovir 10 mg/kg every 8 hours; extensive/disseminated VZV also requires IV therapy. Adjust for renal function, hydrate, assess CNS/ocular involvement. Nonhealing HSV despite therapy raises resistance; obtain culture/susceptibility and expert treatment. [25] [26] Bacterial pneumonia or sepsis Standard syndrome-based cultures, imaging, resuscitation, and antibiotics. Broaden for documented resistant-organism risk or severe disease. HIV alone does not justify indefinite MRSA or antipseudomonal therapy. Consider simultaneous PCP/TB and obtain source control when needed. [27] Syphilis, including ocular or neurologic disease Interpret treponemal/nontreponemal tests with prior treatment and symptoms. Stage-appropriate therapy generally matches treatment without HIV. Ocular, otic, or neurologic disease changes evaluation and treatment. Neurosyphilis uses aqueous penicillin G 18-24 million units/day IV for 10-14 days; benzathine penicillin alone is inadequate. [28] Kaposi sarcoma, lymphoma, medication toxicity, inflammatory disease, and ordinary community infections belong in the differential. A positive low-specificity test should not prevent tissue diagnosis when the clinical picture is inconsistent.</a:t>
            </a:r>
          </a:p>
          <a:p xmlns:a="http://schemas.openxmlformats.org/drawingml/2006/main">
            <a:r>
              <a:t/>
            </a:r>
          </a:p>
          <a:p xmlns:a="http://schemas.openxmlformats.org/drawingml/2006/main">
            <a:r>
              <a:t>Module section: https://docarcshot.github.io/id-practice-update/lectures/HIV_Diagnosis_ART_Prevention_and_Opportunistic_Infections.html#other-oi</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Mucosal, enteric, neurologic, and related infections need distinct diagnostic pathways Additional OIs and related infections Syndrome Diagnosis and treatment Decision that changes management Esophageal candidiasis Systemic fluconazole, 200 mg loading then 100-200 mg daily (up to 400 mg), for 14-21 days. Oral suspension can help swallowing. No improvement within about 7 days warrants endoscopy, culture/speciation, and biopsy for CMV/HSV or another cause. Topical therapy is inadequate. [21] Cryptosporidiosis Stool antigen, PCR, or appropriate stain; rehydration, electrolyte replacement, and effective ART are central. Nitazoxanide 500-1,000 mg twice daily with food for ≥14 days may be considered. Drug evidence in advanced HIV is limited. Do not substitute antiparasitic therapy for immune restoration. [22] Cystoisosporiasis Request appropriate stool testing; routine multiplex panels may omit it. TMP-SMX DS twice daily for 7 days or four times daily for 10 days. Persistent disease may need longer/higher-dose treatment; maintenance TMP-SMX is used with CD4 &lt;200. [23] Microsporidiosis Special stool studies or tissue testing; ART and supportive care. Treatment depends on species. Albendazole is active for several species but is unreliable for Enterocytozoon bieneusi; confirm species and specialist access options. [24] PML Progressive focal deficits, characteristic white-matter MRI lesions, and CSF JCV PCR. Repeat testing or biopsy if suspicion remains despite negative PCR. Initiate effective ART immediately. No established JCV-directed antiviral treatment; edema-producing PML-IRIS may require steroids. [20] Severe HSV or disseminated VZV Lesion PCR and organ-directed testing. Severe HSV often requires IV acyclovir 10 mg/kg every 8 hours; extensive/disseminated VZV also requires IV therapy. Adjust for renal function, hydrate, assess CNS/ocular involvement. Nonhealing HSV despite therapy raises resistance; obtain culture/susceptibility and expert treatment. [25] [26] Bacterial pneumonia or sepsis Standard syndrome-based cultures, imaging, resuscitation, and antibiotics. Broaden for documented resistant-organism risk or severe disease. HIV alone does not justify indefinite MRSA or antipseudomonal therapy. Consider simultaneous PCP/TB and obtain source control when needed. [27] Syphilis, including ocular or neurologic disease Interpret treponemal/nontreponemal tests with prior treatment and symptoms. Stage-appropriate therapy generally matches treatment without HIV. Ocular, otic, or neurologic disease changes evaluation and treatment. Neurosyphilis uses aqueous penicillin G 18-24 million units/day IV for 10-14 days; benzathine penicillin alone is inadequate. [28] Kaposi sarcoma, lymphoma, medication toxicity, inflammatory disease, and ordinary community infections belong in the differential. A positive low-specificity test should not prevent tissue diagnosis when the clinical picture is inconsistent.</a:t>
            </a:r>
          </a:p>
          <a:p xmlns:a="http://schemas.openxmlformats.org/drawingml/2006/main">
            <a:r>
              <a:t/>
            </a:r>
          </a:p>
          <a:p xmlns:a="http://schemas.openxmlformats.org/drawingml/2006/main">
            <a:r>
              <a:t>Module section: https://docarcshot.github.io/id-practice-update/lectures/HIV_Diagnosis_ART_Prevention_and_Opportunistic_Infections.html#other-oi</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Mucosal, enteric, neurologic, and related infections need distinct diagnostic pathways Additional OIs and related infections Syndrome Diagnosis and treatment Decision that changes management Esophageal candidiasis Systemic fluconazole, 200 mg loading then 100-200 mg daily (up to 400 mg), for 14-21 days. Oral suspension can help swallowing. No improvement within about 7 days warrants endoscopy, culture/speciation, and biopsy for CMV/HSV or another cause. Topical therapy is inadequate. [21] Cryptosporidiosis Stool antigen, PCR, or appropriate stain; rehydration, electrolyte replacement, and effective ART are central. Nitazoxanide 500-1,000 mg twice daily with food for ≥14 days may be considered. Drug evidence in advanced HIV is limited. Do not substitute antiparasitic therapy for immune restoration. [22] Cystoisosporiasis Request appropriate stool testing; routine multiplex panels may omit it. TMP-SMX DS twice daily for 7 days or four times daily for 10 days. Persistent disease may need longer/higher-dose treatment; maintenance TMP-SMX is used with CD4 &lt;200. [23] Microsporidiosis Special stool studies or tissue testing; ART and supportive care. Treatment depends on species. Albendazole is active for several species but is unreliable for Enterocytozoon bieneusi; confirm species and specialist access options. [24] PML Progressive focal deficits, characteristic white-matter MRI lesions, and CSF JCV PCR. Repeat testing or biopsy if suspicion remains despite negative PCR. Initiate effective ART immediately. No established JCV-directed antiviral treatment; edema-producing PML-IRIS may require steroids. [20] Severe HSV or disseminated VZV Lesion PCR and organ-directed testing. Severe HSV often requires IV acyclovir 10 mg/kg every 8 hours; extensive/disseminated VZV also requires IV therapy. Adjust for renal function, hydrate, assess CNS/ocular involvement. Nonhealing HSV despite therapy raises resistance; obtain culture/susceptibility and expert treatment. [25] [26] Bacterial pneumonia or sepsis Standard syndrome-based cultures, imaging, resuscitation, and antibiotics. Broaden for documented resistant-organism risk or severe disease. HIV alone does not justify indefinite MRSA or antipseudomonal therapy. Consider simultaneous PCP/TB and obtain source control when needed. [27] Syphilis, including ocular or neurologic disease Interpret treponemal/nontreponemal tests with prior treatment and symptoms. Stage-appropriate therapy generally matches treatment without HIV. Ocular, otic, or neurologic disease changes evaluation and treatment. Neurosyphilis uses aqueous penicillin G 18-24 million units/day IV for 10-14 days; benzathine penicillin alone is inadequate. [28] Kaposi sarcoma, lymphoma, medication toxicity, inflammatory disease, and ordinary community infections belong in the differential. A positive low-specificity test should not prevent tissue diagnosis when the clinical picture is inconsistent.</a:t>
            </a:r>
          </a:p>
          <a:p xmlns:a="http://schemas.openxmlformats.org/drawingml/2006/main">
            <a:r>
              <a:t/>
            </a:r>
          </a:p>
          <a:p xmlns:a="http://schemas.openxmlformats.org/drawingml/2006/main">
            <a:r>
              <a:t>Module section: https://docarcshot.github.io/id-practice-update/lectures/HIV_Diagnosis_ART_Prevention_and_Opportunistic_Infections.html#other-oi</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Mucosal, enteric, neurologic, and related infections need distinct diagnostic pathways Additional OIs and related infections Syndrome Diagnosis and treatment Decision that changes management Esophageal candidiasis Systemic fluconazole, 200 mg loading then 100-200 mg daily (up to 400 mg), for 14-21 days. Oral suspension can help swallowing. No improvement within about 7 days warrants endoscopy, culture/speciation, and biopsy for CMV/HSV or another cause. Topical therapy is inadequate. [21] Cryptosporidiosis Stool antigen, PCR, or appropriate stain; rehydration, electrolyte replacement, and effective ART are central. Nitazoxanide 500-1,000 mg twice daily with food for ≥14 days may be considered. Drug evidence in advanced HIV is limited. Do not substitute antiparasitic therapy for immune restoration. [22] Cystoisosporiasis Request appropriate stool testing; routine multiplex panels may omit it. TMP-SMX DS twice daily for 7 days or four times daily for 10 days. Persistent disease may need longer/higher-dose treatment; maintenance TMP-SMX is used with CD4 &lt;200. [23] Microsporidiosis Special stool studies or tissue testing; ART and supportive care. Treatment depends on species. Albendazole is active for several species but is unreliable for Enterocytozoon bieneusi; confirm species and specialist access options. [24] PML Progressive focal deficits, characteristic white-matter MRI lesions, and CSF JCV PCR. Repeat testing or biopsy if suspicion remains despite negative PCR. Initiate effective ART immediately. No established JCV-directed antiviral treatment; edema-producing PML-IRIS may require steroids. [20] Severe HSV or disseminated VZV Lesion PCR and organ-directed testing. Severe HSV often requires IV acyclovir 10 mg/kg every 8 hours; extensive/disseminated VZV also requires IV therapy. Adjust for renal function, hydrate, assess CNS/ocular involvement. Nonhealing HSV despite therapy raises resistance; obtain culture/susceptibility and expert treatment. [25] [26] Bacterial pneumonia or sepsis Standard syndrome-based cultures, imaging, resuscitation, and antibiotics. Broaden for documented resistant-organism risk or severe disease. HIV alone does not justify indefinite MRSA or antipseudomonal therapy. Consider simultaneous PCP/TB and obtain source control when needed. [27] Syphilis, including ocular or neurologic disease Interpret treponemal/nontreponemal tests with prior treatment and symptoms. Stage-appropriate therapy generally matches treatment without HIV. Ocular, otic, or neurologic disease changes evaluation and treatment. Neurosyphilis uses aqueous penicillin G 18-24 million units/day IV for 10-14 days; benzathine penicillin alone is inadequate. [28] Kaposi sarcoma, lymphoma, medication toxicity, inflammatory disease, and ordinary community infections belong in the differential. A positive low-specificity test should not prevent tissue diagnosis when the clinical picture is inconsistent.</a:t>
            </a:r>
          </a:p>
          <a:p xmlns:a="http://schemas.openxmlformats.org/drawingml/2006/main">
            <a:r>
              <a:t/>
            </a:r>
          </a:p>
          <a:p xmlns:a="http://schemas.openxmlformats.org/drawingml/2006/main">
            <a:r>
              <a:t>Module section: https://docarcshot.github.io/id-practice-update/lectures/HIV_Diagnosis_ART_Prevention_and_Opportunistic_Infections.html#other-oi</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Mucosal, enteric, neurologic, and related infections need distinct diagnostic pathways Additional OIs and related infections Syndrome Diagnosis and treatment Decision that changes management Esophageal candidiasis Systemic fluconazole, 200 mg loading then 100-200 mg daily (up to 400 mg), for 14-21 days. Oral suspension can help swallowing. No improvement within about 7 days warrants endoscopy, culture/speciation, and biopsy for CMV/HSV or another cause. Topical therapy is inadequate. [21] Cryptosporidiosis Stool antigen, PCR, or appropriate stain; rehydration, electrolyte replacement, and effective ART are central. Nitazoxanide 500-1,000 mg twice daily with food for ≥14 days may be considered. Drug evidence in advanced HIV is limited. Do not substitute antiparasitic therapy for immune restoration. [22] Cystoisosporiasis Request appropriate stool testing; routine multiplex panels may omit it. TMP-SMX DS twice daily for 7 days or four times daily for 10 days. Persistent disease may need longer/higher-dose treatment; maintenance TMP-SMX is used with CD4 &lt;200. [23] Microsporidiosis Special stool studies or tissue testing; ART and supportive care. Treatment depends on species. Albendazole is active for several species but is unreliable for Enterocytozoon bieneusi; confirm species and specialist access options. [24] PML Progressive focal deficits, characteristic white-matter MRI lesions, and CSF JCV PCR. Repeat testing or biopsy if suspicion remains despite negative PCR. Initiate effective ART immediately. No established JCV-directed antiviral treatment; edema-producing PML-IRIS may require steroids. [20] Severe HSV or disseminated VZV Lesion PCR and organ-directed testing. Severe HSV often requires IV acyclovir 10 mg/kg every 8 hours; extensive/disseminated VZV also requires IV therapy. Adjust for renal function, hydrate, assess CNS/ocular involvement. Nonhealing HSV despite therapy raises resistance; obtain culture/susceptibility and expert treatment. [25] [26] Bacterial pneumonia or sepsis Standard syndrome-based cultures, imaging, resuscitation, and antibiotics. Broaden for documented resistant-organism risk or severe disease. HIV alone does not justify indefinite MRSA or antipseudomonal therapy. Consider simultaneous PCP/TB and obtain source control when needed. [27] Syphilis, including ocular or neurologic disease Interpret treponemal/nontreponemal tests with prior treatment and symptoms. Stage-appropriate therapy generally matches treatment without HIV. Ocular, otic, or neurologic disease changes evaluation and treatment. Neurosyphilis uses aqueous penicillin G 18-24 million units/day IV for 10-14 days; benzathine penicillin alone is inadequate. [28] Kaposi sarcoma, lymphoma, medication toxicity, inflammatory disease, and ordinary community infections belong in the differential. A positive low-specificity test should not prevent tissue diagnosis when the clinical picture is inconsistent.</a:t>
            </a:r>
          </a:p>
          <a:p xmlns:a="http://schemas.openxmlformats.org/drawingml/2006/main">
            <a:r>
              <a:t/>
            </a:r>
          </a:p>
          <a:p xmlns:a="http://schemas.openxmlformats.org/drawingml/2006/main">
            <a:r>
              <a:t>Module section: https://docarcshot.github.io/id-practice-update/lectures/HIV_Diagnosis_ART_Prevention_and_Opportunistic_Infections.html#other-oi</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Mucosal, enteric, neurologic, and related infections need distinct diagnostic pathways Additional OIs and related infections Syndrome Diagnosis and treatment Decision that changes management Esophageal candidiasis Systemic fluconazole, 200 mg loading then 100-200 mg daily (up to 400 mg), for 14-21 days. Oral suspension can help swallowing. No improvement within about 7 days warrants endoscopy, culture/speciation, and biopsy for CMV/HSV or another cause. Topical therapy is inadequate. [21] Cryptosporidiosis Stool antigen, PCR, or appropriate stain; rehydration, electrolyte replacement, and effective ART are central. Nitazoxanide 500-1,000 mg twice daily with food for ≥14 days may be considered. Drug evidence in advanced HIV is limited. Do not substitute antiparasitic therapy for immune restoration. [22] Cystoisosporiasis Request appropriate stool testing; routine multiplex panels may omit it. TMP-SMX DS twice daily for 7 days or four times daily for 10 days. Persistent disease may need longer/higher-dose treatment; maintenance TMP-SMX is used with CD4 &lt;200. [23] Microsporidiosis Special stool studies or tissue testing; ART and supportive care. Treatment depends on species. Albendazole is active for several species but is unreliable for Enterocytozoon bieneusi; confirm species and specialist access options. [24] PML Progressive focal deficits, characteristic white-matter MRI lesions, and CSF JCV PCR. Repeat testing or biopsy if suspicion remains despite negative PCR. Initiate effective ART immediately. No established JCV-directed antiviral treatment; edema-producing PML-IRIS may require steroids. [20] Severe HSV or disseminated VZV Lesion PCR and organ-directed testing. Severe HSV often requires IV acyclovir 10 mg/kg every 8 hours; extensive/disseminated VZV also requires IV therapy. Adjust for renal function, hydrate, assess CNS/ocular involvement. Nonhealing HSV despite therapy raises resistance; obtain culture/susceptibility and expert treatment. [25] [26] Bacterial pneumonia or sepsis Standard syndrome-based cultures, imaging, resuscitation, and antibiotics. Broaden for documented resistant-organism risk or severe disease. HIV alone does not justify indefinite MRSA or antipseudomonal therapy. Consider simultaneous PCP/TB and obtain source control when needed. [27] Syphilis, including ocular or neurologic disease Interpret treponemal/nontreponemal tests with prior treatment and symptoms. Stage-appropriate therapy generally matches treatment without HIV. Ocular, otic, or neurologic disease changes evaluation and treatment. Neurosyphilis uses aqueous penicillin G 18-24 million units/day IV for 10-14 days; benzathine penicillin alone is inadequate. [28] Kaposi sarcoma, lymphoma, medication toxicity, inflammatory disease, and ordinary community infections belong in the differential. A positive low-specificity test should not prevent tissue diagnosis when the clinical picture is inconsistent.</a:t>
            </a:r>
          </a:p>
          <a:p xmlns:a="http://schemas.openxmlformats.org/drawingml/2006/main">
            <a:r>
              <a:t/>
            </a:r>
          </a:p>
          <a:p xmlns:a="http://schemas.openxmlformats.org/drawingml/2006/main">
            <a:r>
              <a:t>Module section: https://docarcshot.github.io/id-practice-update/lectures/HIV_Diagnosis_ART_Prevention_and_Opportunistic_Infections.html#other-oi</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Mucosal, enteric, neurologic, and related infections need distinct diagnostic pathways Additional OIs and related infections Syndrome Diagnosis and treatment Decision that changes management Esophageal candidiasis Systemic fluconazole, 200 mg loading then 100-200 mg daily (up to 400 mg), for 14-21 days. Oral suspension can help swallowing. No improvement within about 7 days warrants endoscopy, culture/speciation, and biopsy for CMV/HSV or another cause. Topical therapy is inadequate. [21] Cryptosporidiosis Stool antigen, PCR, or appropriate stain; rehydration, electrolyte replacement, and effective ART are central. Nitazoxanide 500-1,000 mg twice daily with food for ≥14 days may be considered. Drug evidence in advanced HIV is limited. Do not substitute antiparasitic therapy for immune restoration. [22] Cystoisosporiasis Request appropriate stool testing; routine multiplex panels may omit it. TMP-SMX DS twice daily for 7 days or four times daily for 10 days. Persistent disease may need longer/higher-dose treatment; maintenance TMP-SMX is used with CD4 &lt;200. [23] Microsporidiosis Special stool studies or tissue testing; ART and supportive care. Treatment depends on species. Albendazole is active for several species but is unreliable for Enterocytozoon bieneusi; confirm species and specialist access options. [24] PML Progressive focal deficits, characteristic white-matter MRI lesions, and CSF JCV PCR. Repeat testing or biopsy if suspicion remains despite negative PCR. Initiate effective ART immediately. No established JCV-directed antiviral treatment; edema-producing PML-IRIS may require steroids. [20] Severe HSV or disseminated VZV Lesion PCR and organ-directed testing. Severe HSV often requires IV acyclovir 10 mg/kg every 8 hours; extensive/disseminated VZV also requires IV therapy. Adjust for renal function, hydrate, assess CNS/ocular involvement. Nonhealing HSV despite therapy raises resistance; obtain culture/susceptibility and expert treatment. [25] [26] Bacterial pneumonia or sepsis Standard syndrome-based cultures, imaging, resuscitation, and antibiotics. Broaden for documented resistant-organism risk or severe disease. HIV alone does not justify indefinite MRSA or antipseudomonal therapy. Consider simultaneous PCP/TB and obtain source control when needed. [27] Syphilis, including ocular or neurologic disease Interpret treponemal/nontreponemal tests with prior treatment and symptoms. Stage-appropriate therapy generally matches treatment without HIV. Ocular, otic, or neurologic disease changes evaluation and treatment. Neurosyphilis uses aqueous penicillin G 18-24 million units/day IV for 10-14 days; benzathine penicillin alone is inadequate. [28] Kaposi sarcoma, lymphoma, medication toxicity, inflammatory disease, and ordinary community infections belong in the differential. A positive low-specificity test should not prevent tissue diagnosis when the clinical picture is inconsistent.</a:t>
            </a:r>
          </a:p>
          <a:p xmlns:a="http://schemas.openxmlformats.org/drawingml/2006/main">
            <a:r>
              <a:t/>
            </a:r>
          </a:p>
          <a:p xmlns:a="http://schemas.openxmlformats.org/drawingml/2006/main">
            <a:r>
              <a:t>Module section: https://docarcshot.github.io/id-practice-update/lectures/HIV_Diagnosis_ART_Prevention_and_Opportunistic_Infections.html#other-oi</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Mucosal, enteric, neurologic, and related infections need distinct diagnostic pathways Additional OIs and related infections Syndrome Diagnosis and treatment Decision that changes management Esophageal candidiasis Systemic fluconazole, 200 mg loading then 100-200 mg daily (up to 400 mg), for 14-21 days. Oral suspension can help swallowing. No improvement within about 7 days warrants endoscopy, culture/speciation, and biopsy for CMV/HSV or another cause. Topical therapy is inadequate. [21] Cryptosporidiosis Stool antigen, PCR, or appropriate stain; rehydration, electrolyte replacement, and effective ART are central. Nitazoxanide 500-1,000 mg twice daily with food for ≥14 days may be considered. Drug evidence in advanced HIV is limited. Do not substitute antiparasitic therapy for immune restoration. [22] Cystoisosporiasis Request appropriate stool testing; routine multiplex panels may omit it. TMP-SMX DS twice daily for 7 days or four times daily for 10 days. Persistent disease may need longer/higher-dose treatment; maintenance TMP-SMX is used with CD4 &lt;200. [23] Microsporidiosis Special stool studies or tissue testing; ART and supportive care. Treatment depends on species. Albendazole is active for several species but is unreliable for Enterocytozoon bieneusi; confirm species and specialist access options. [24] PML Progressive focal deficits, characteristic white-matter MRI lesions, and CSF JCV PCR. Repeat testing or biopsy if suspicion remains despite negative PCR. Initiate effective ART immediately. No established JCV-directed antiviral treatment; edema-producing PML-IRIS may require steroids. [20] Severe HSV or disseminated VZV Lesion PCR and organ-directed testing. Severe HSV often requires IV acyclovir 10 mg/kg every 8 hours; extensive/disseminated VZV also requires IV therapy. Adjust for renal function, hydrate, assess CNS/ocular involvement. Nonhealing HSV despite therapy raises resistance; obtain culture/susceptibility and expert treatment. [25] [26] Bacterial pneumonia or sepsis Standard syndrome-based cultures, imaging, resuscitation, and antibiotics. Broaden for documented resistant-organism risk or severe disease. HIV alone does not justify indefinite MRSA or antipseudomonal therapy. Consider simultaneous PCP/TB and obtain source control when needed. [27] Syphilis, including ocular or neurologic disease Interpret treponemal/nontreponemal tests with prior treatment and symptoms. Stage-appropriate therapy generally matches treatment without HIV. Ocular, otic, or neurologic disease changes evaluation and treatment. Neurosyphilis uses aqueous penicillin G 18-24 million units/day IV for 10-14 days; benzathine penicillin alone is inadequate. [28] Kaposi sarcoma, lymphoma, medication toxicity, inflammatory disease, and ordinary community infections belong in the differential. A positive low-specificity test should not prevent tissue diagnosis when the clinical picture is inconsistent.</a:t>
            </a:r>
          </a:p>
          <a:p xmlns:a="http://schemas.openxmlformats.org/drawingml/2006/main">
            <a:r>
              <a:t/>
            </a:r>
          </a:p>
          <a:p xmlns:a="http://schemas.openxmlformats.org/drawingml/2006/main">
            <a:r>
              <a:t>Module section: https://docarcshot.github.io/id-practice-update/lectures/HIV_Diagnosis_ART_Prevention_and_Opportunistic_Infections.html#other-oi</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prevention of a first OI from suppression after treatment Primary prophylaxis and screening Situation Action Stopping or reassessing PCP: not on ART or starting ART with CD4 &lt;200 TMP-SMX DS or SS daily; DS daily also preferred if Toxoplasma prophylaxis is needed. Usually stop when CD4 ≥200 for ≥3 months on ART. Consider stopping at 100-200 only with sustained undetectable RNA for 3-6 months. For patients on ART, restart if CD4 &lt;100 regardless of RNA, or 100-200 with consistently detectable RNA. [6] Toxoplasma IgG positive and CD4 &lt;100 TMP-SMX DS daily. Dapsone alone and aerosolized pentamidine do not provide Toxoplasma protection. Primary prophylaxis can stop after CD4 &gt;200 for &gt;3 months with sustained suppression. At CD4 100-200, stopping can be considered after HIV RNA remains undetectable for 3-6 months. These criteria do not apply to secondary prophylaxis. [5] CD4 &lt;50 and no effective ART or persistent viremia Give MAC prophylaxis, commonly azithromycin 1,200 mg weekly, when these criteria are met and active MAC has been excluded. Not recommended when immediately starting effective ART. If mycobacterial blood culture is obtained to exclude disease, wait for the result before prophylaxis. [17] New HIV diagnosis and CD4 ≤200 Screen serum CrAg, particularly if CD4 ≤50. Positive antigen requires assessment for CNS disease and treatment. No routine fluconazole primary prophylaxis in U.S. patients with negative CrAg. [7] Low CD4 in a Histoplasma-endemic region Exposure reduction and rapid ART. Itraconazole primary prophylaxis is reserved for CD4 &lt;150 plus high-risk occupational exposure or a community incidence &gt;10 cases per 100 person-years. Residence in Missouri alone is not a blanket indication for itraconazole. [19] CD4 &lt;100 or visual symptoms Baseline retinal examination at &lt;100; urgent ophthalmology for visual change. Do not use routine CMV blood PCR surveillance or valganciclovir prophylaxis. [18] Secondary suppression stopping criteria Prior disease When stopping may be appropriate PCP Usually CD4 ≥200 for ≥3 months on ART; selected patients with CD4 100-200 and sustained viral suppression may qualify. If PCP developed at CD4 &gt;200 while on ART, prophylaxis is generally lifelong. [6] Toxoplasma encephalitis Completed acute therapy, asymptomatic, CD4 &gt;200 for &gt;6 months on ART. [5] Cryptococcosis At least 1 year of antifungals, asymptomatic, CD4 ≥100 and suppressed HIV RNA. [7] Disseminated MAC At least 12 months of treatment, no symptoms, CD4 &gt;100 for ≥6 months on ART. [17] CMV retinitis At least 3 months of treatment, inactive retinal lesions, CD4 ≥100 for ≥3 months; ophthalmology-directed decision and surveillance. [18] Histoplasmosis Azole treatment &gt;1 year, negative fungal blood cultures, antigen below quantification, undetectable HIV RNA, CD4 ≥150, and ART for ≥6 months. [19] After an OI, write the maintenance drug, dose, minimum treatment duration, immune-recovery criteria, and who may stop it. PCP, toxoplasmosis, cryptococcosis, MAC, CMV retinitis, and histoplasmosis do not share one stopping rule. [6] [5] [7] [17] [18] [19]</a:t>
            </a:r>
          </a:p>
          <a:p xmlns:a="http://schemas.openxmlformats.org/drawingml/2006/main">
            <a:r>
              <a:t/>
            </a:r>
          </a:p>
          <a:p xmlns:a="http://schemas.openxmlformats.org/drawingml/2006/main">
            <a:r>
              <a:t>Module section: https://docarcshot.github.io/id-practice-update/lectures/HIV_Diagnosis_ART_Prevention_and_Opportunistic_Infections.html#prophylaxis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prevention of a first OI from suppression after treatment Primary prophylaxis and screening Situation Action Stopping or reassessing PCP: not on ART or starting ART with CD4 &lt;200 TMP-SMX DS or SS daily; DS daily also preferred if Toxoplasma prophylaxis is needed. Usually stop when CD4 ≥200 for ≥3 months on ART. Consider stopping at 100-200 only with sustained undetectable RNA for 3-6 months. For patients on ART, restart if CD4 &lt;100 regardless of RNA, or 100-200 with consistently detectable RNA. [6] Toxoplasma IgG positive and CD4 &lt;100 TMP-SMX DS daily. Dapsone alone and aerosolized pentamidine do not provide Toxoplasma protection. Primary prophylaxis can stop after CD4 &gt;200 for &gt;3 months with sustained suppression. At CD4 100-200, stopping can be considered after HIV RNA remains undetectable for 3-6 months. These criteria do not apply to secondary prophylaxis. [5] CD4 &lt;50 and no effective ART or persistent viremia Give MAC prophylaxis, commonly azithromycin 1,200 mg weekly, when these criteria are met and active MAC has been excluded. Not recommended when immediately starting effective ART. If mycobacterial blood culture is obtained to exclude disease, wait for the result before prophylaxis. [17] New HIV diagnosis and CD4 ≤200 Screen serum CrAg, particularly if CD4 ≤50. Positive antigen requires assessment for CNS disease and treatment. No routine fluconazole primary prophylaxis in U.S. patients with negative CrAg. [7] Low CD4 in a Histoplasma-endemic region Exposure reduction and rapid ART. Itraconazole primary prophylaxis is reserved for CD4 &lt;150 plus high-risk occupational exposure or a community incidence &gt;10 cases per 100 person-years. Residence in Missouri alone is not a blanket indication for itraconazole. [19] CD4 &lt;100 or visual symptoms Baseline retinal examination at &lt;100; urgent ophthalmology for visual change. Do not use routine CMV blood PCR surveillance or valganciclovir prophylaxis. [18] Secondary suppression stopping criteria Prior disease When stopping may be appropriate PCP Usually CD4 ≥200 for ≥3 months on ART; selected patients with CD4 100-200 and sustained viral suppression may qualify. If PCP developed at CD4 &gt;200 while on ART, prophylaxis is generally lifelong. [6] Toxoplasma encephalitis Completed acute therapy, asymptomatic, CD4 &gt;200 for &gt;6 months on ART. [5] Cryptococcosis At least 1 year of antifungals, asymptomatic, CD4 ≥100 and suppressed HIV RNA. [7] Disseminated MAC At least 12 months of treatment, no symptoms, CD4 &gt;100 for ≥6 months on ART. [17] CMV retinitis At least 3 months of treatment, inactive retinal lesions, CD4 ≥100 for ≥3 months; ophthalmology-directed decision and surveillance. [18] Histoplasmosis Azole treatment &gt;1 year, negative fungal blood cultures, antigen below quantification, undetectable HIV RNA, CD4 ≥150, and ART for ≥6 months. [19] After an OI, write the maintenance drug, dose, minimum treatment duration, immune-recovery criteria, and who may stop it. PCP, toxoplasmosis, cryptococcosis, MAC, CMV retinitis, and histoplasmosis do not share one stopping rule. [6] [5] [7] [17] [18] [19]</a:t>
            </a:r>
          </a:p>
          <a:p xmlns:a="http://schemas.openxmlformats.org/drawingml/2006/main">
            <a:r>
              <a:t/>
            </a:r>
          </a:p>
          <a:p xmlns:a="http://schemas.openxmlformats.org/drawingml/2006/main">
            <a:r>
              <a:t>Module section: https://docarcshot.github.io/id-practice-update/lectures/HIV_Diagnosis_ART_Prevention_and_Opportunistic_Infections.html#prophylaxis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prevention of a first OI from suppression after treatment Primary prophylaxis and screening Situation Action Stopping or reassessing PCP: not on ART or starting ART with CD4 &lt;200 TMP-SMX DS or SS daily; DS daily also preferred if Toxoplasma prophylaxis is needed. Usually stop when CD4 ≥200 for ≥3 months on ART. Consider stopping at 100-200 only with sustained undetectable RNA for 3-6 months. For patients on ART, restart if CD4 &lt;100 regardless of RNA, or 100-200 with consistently detectable RNA. [6] Toxoplasma IgG positive and CD4 &lt;100 TMP-SMX DS daily. Dapsone alone and aerosolized pentamidine do not provide Toxoplasma protection. Primary prophylaxis can stop after CD4 &gt;200 for &gt;3 months with sustained suppression. At CD4 100-200, stopping can be considered after HIV RNA remains undetectable for 3-6 months. These criteria do not apply to secondary prophylaxis. [5] CD4 &lt;50 and no effective ART or persistent viremia Give MAC prophylaxis, commonly azithromycin 1,200 mg weekly, when these criteria are met and active MAC has been excluded. Not recommended when immediately starting effective ART. If mycobacterial blood culture is obtained to exclude disease, wait for the result before prophylaxis. [17] New HIV diagnosis and CD4 ≤200 Screen serum CrAg, particularly if CD4 ≤50. Positive antigen requires assessment for CNS disease and treatment. No routine fluconazole primary prophylaxis in U.S. patients with negative CrAg. [7] Low CD4 in a Histoplasma-endemic region Exposure reduction and rapid ART. Itraconazole primary prophylaxis is reserved for CD4 &lt;150 plus high-risk occupational exposure or a community incidence &gt;10 cases per 100 person-years. Residence in Missouri alone is not a blanket indication for itraconazole. [19] CD4 &lt;100 or visual symptoms Baseline retinal examination at &lt;100; urgent ophthalmology for visual change. Do not use routine CMV blood PCR surveillance or valganciclovir prophylaxis. [18] Secondary suppression stopping criteria Prior disease When stopping may be appropriate PCP Usually CD4 ≥200 for ≥3 months on ART; selected patients with CD4 100-200 and sustained viral suppression may qualify. If PCP developed at CD4 &gt;200 while on ART, prophylaxis is generally lifelong. [6] Toxoplasma encephalitis Completed acute therapy, asymptomatic, CD4 &gt;200 for &gt;6 months on ART. [5] Cryptococcosis At least 1 year of antifungals, asymptomatic, CD4 ≥100 and suppressed HIV RNA. [7] Disseminated MAC At least 12 months of treatment, no symptoms, CD4 &gt;100 for ≥6 months on ART. [17] CMV retinitis At least 3 months of treatment, inactive retinal lesions, CD4 ≥100 for ≥3 months; ophthalmology-directed decision and surveillance. [18] Histoplasmosis Azole treatment &gt;1 year, negative fungal blood cultures, antigen below quantification, undetectable HIV RNA, CD4 ≥150, and ART for ≥6 months. [19] After an OI, write the maintenance drug, dose, minimum treatment duration, immune-recovery criteria, and who may stop it. PCP, toxoplasmosis, cryptococcosis, MAC, CMV retinitis, and histoplasmosis do not share one stopping rule. [6] [5] [7] [17] [18] [19]</a:t>
            </a:r>
          </a:p>
          <a:p xmlns:a="http://schemas.openxmlformats.org/drawingml/2006/main">
            <a:r>
              <a:t/>
            </a:r>
          </a:p>
          <a:p xmlns:a="http://schemas.openxmlformats.org/drawingml/2006/main">
            <a:r>
              <a:t>Module section: https://docarcshot.github.io/id-practice-update/lectures/HIV_Diagnosis_ART_Prevention_and_Opportunistic_Infections.html#prophylaxis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prevention of a first OI from suppression after treatment Primary prophylaxis and screening Situation Action Stopping or reassessing PCP: not on ART or starting ART with CD4 &lt;200 TMP-SMX DS or SS daily; DS daily also preferred if Toxoplasma prophylaxis is needed. Usually stop when CD4 ≥200 for ≥3 months on ART. Consider stopping at 100-200 only with sustained undetectable RNA for 3-6 months. For patients on ART, restart if CD4 &lt;100 regardless of RNA, or 100-200 with consistently detectable RNA. [6] Toxoplasma IgG positive and CD4 &lt;100 TMP-SMX DS daily. Dapsone alone and aerosolized pentamidine do not provide Toxoplasma protection. Primary prophylaxis can stop after CD4 &gt;200 for &gt;3 months with sustained suppression. At CD4 100-200, stopping can be considered after HIV RNA remains undetectable for 3-6 months. These criteria do not apply to secondary prophylaxis. [5] CD4 &lt;50 and no effective ART or persistent viremia Give MAC prophylaxis, commonly azithromycin 1,200 mg weekly, when these criteria are met and active MAC has been excluded. Not recommended when immediately starting effective ART. If mycobacterial blood culture is obtained to exclude disease, wait for the result before prophylaxis. [17] New HIV diagnosis and CD4 ≤200 Screen serum CrAg, particularly if CD4 ≤50. Positive antigen requires assessment for CNS disease and treatment. No routine fluconazole primary prophylaxis in U.S. patients with negative CrAg. [7] Low CD4 in a Histoplasma-endemic region Exposure reduction and rapid ART. Itraconazole primary prophylaxis is reserved for CD4 &lt;150 plus high-risk occupational exposure or a community incidence &gt;10 cases per 100 person-years. Residence in Missouri alone is not a blanket indication for itraconazole. [19] CD4 &lt;100 or visual symptoms Baseline retinal examination at &lt;100; urgent ophthalmology for visual change. Do not use routine CMV blood PCR surveillance or valganciclovir prophylaxis. [18] Secondary suppression stopping criteria Prior disease When stopping may be appropriate PCP Usually CD4 ≥200 for ≥3 months on ART; selected patients with CD4 100-200 and sustained viral suppression may qualify. If PCP developed at CD4 &gt;200 while on ART, prophylaxis is generally lifelong. [6] Toxoplasma encephalitis Completed acute therapy, asymptomatic, CD4 &gt;200 for &gt;6 months on ART. [5] Cryptococcosis At least 1 year of antifungals, asymptomatic, CD4 ≥100 and suppressed HIV RNA. [7] Disseminated MAC At least 12 months of treatment, no symptoms, CD4 &gt;100 for ≥6 months on ART. [17] CMV retinitis At least 3 months of treatment, inactive retinal lesions, CD4 ≥100 for ≥3 months; ophthalmology-directed decision and surveillance. [18] Histoplasmosis Azole treatment &gt;1 year, negative fungal blood cultures, antigen below quantification, undetectable HIV RNA, CD4 ≥150, and ART for ≥6 months. [19] After an OI, write the maintenance drug, dose, minimum treatment duration, immune-recovery criteria, and who may stop it. PCP, toxoplasmosis, cryptococcosis, MAC, CMV retinitis, and histoplasmosis do not share one stopping rule. [6] [5] [7] [17] [18] [19]</a:t>
            </a:r>
          </a:p>
          <a:p xmlns:a="http://schemas.openxmlformats.org/drawingml/2006/main">
            <a:r>
              <a:t/>
            </a:r>
          </a:p>
          <a:p xmlns:a="http://schemas.openxmlformats.org/drawingml/2006/main">
            <a:r>
              <a:t>Module section: https://docarcshot.github.io/id-practice-update/lectures/HIV_Diagnosis_ART_Prevention_and_Opportunistic_Infections.html#prophylaxis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prevention of a first OI from suppression after treatment Primary prophylaxis and screening Situation Action Stopping or reassessing PCP: not on ART or starting ART with CD4 &lt;200 TMP-SMX DS or SS daily; DS daily also preferred if Toxoplasma prophylaxis is needed. Usually stop when CD4 ≥200 for ≥3 months on ART. Consider stopping at 100-200 only with sustained undetectable RNA for 3-6 months. For patients on ART, restart if CD4 &lt;100 regardless of RNA, or 100-200 with consistently detectable RNA. [6] Toxoplasma IgG positive and CD4 &lt;100 TMP-SMX DS daily. Dapsone alone and aerosolized pentamidine do not provide Toxoplasma protection. Primary prophylaxis can stop after CD4 &gt;200 for &gt;3 months with sustained suppression. At CD4 100-200, stopping can be considered after HIV RNA remains undetectable for 3-6 months. These criteria do not apply to secondary prophylaxis. [5] CD4 &lt;50 and no effective ART or persistent viremia Give MAC prophylaxis, commonly azithromycin 1,200 mg weekly, when these criteria are met and active MAC has been excluded. Not recommended when immediately starting effective ART. If mycobacterial blood culture is obtained to exclude disease, wait for the result before prophylaxis. [17] New HIV diagnosis and CD4 ≤200 Screen serum CrAg, particularly if CD4 ≤50. Positive antigen requires assessment for CNS disease and treatment. No routine fluconazole primary prophylaxis in U.S. patients with negative CrAg. [7] Low CD4 in a Histoplasma-endemic region Exposure reduction and rapid ART. Itraconazole primary prophylaxis is reserved for CD4 &lt;150 plus high-risk occupational exposure or a community incidence &gt;10 cases per 100 person-years. Residence in Missouri alone is not a blanket indication for itraconazole. [19] CD4 &lt;100 or visual symptoms Baseline retinal examination at &lt;100; urgent ophthalmology for visual change. Do not use routine CMV blood PCR surveillance or valganciclovir prophylaxis. [18] Secondary suppression stopping criteria Prior disease When stopping may be appropriate PCP Usually CD4 ≥200 for ≥3 months on ART; selected patients with CD4 100-200 and sustained viral suppression may qualify. If PCP developed at CD4 &gt;200 while on ART, prophylaxis is generally lifelong. [6] Toxoplasma encephalitis Completed acute therapy, asymptomatic, CD4 &gt;200 for &gt;6 months on ART. [5] Cryptococcosis At least 1 year of antifungals, asymptomatic, CD4 ≥100 and suppressed HIV RNA. [7] Disseminated MAC At least 12 months of treatment, no symptoms, CD4 &gt;100 for ≥6 months on ART. [17] CMV retinitis At least 3 months of treatment, inactive retinal lesions, CD4 ≥100 for ≥3 months; ophthalmology-directed decision and surveillance. [18] Histoplasmosis Azole treatment &gt;1 year, negative fungal blood cultures, antigen below quantification, undetectable HIV RNA, CD4 ≥150, and ART for ≥6 months. [19] After an OI, write the maintenance drug, dose, minimum treatment duration, immune-recovery criteria, and who may stop it. PCP, toxoplasmosis, cryptococcosis, MAC, CMV retinitis, and histoplasmosis do not share one stopping rule. [6] [5] [7] [17] [18] [19]</a:t>
            </a:r>
          </a:p>
          <a:p xmlns:a="http://schemas.openxmlformats.org/drawingml/2006/main">
            <a:r>
              <a:t/>
            </a:r>
          </a:p>
          <a:p xmlns:a="http://schemas.openxmlformats.org/drawingml/2006/main">
            <a:r>
              <a:t>Module section: https://docarcshot.github.io/id-practice-update/lectures/HIV_Diagnosis_ART_Prevention_and_Opportunistic_Infections.html#prophylaxis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prevention of a first OI from suppression after treatment Primary prophylaxis and screening Situation Action Stopping or reassessing PCP: not on ART or starting ART with CD4 &lt;200 TMP-SMX DS or SS daily; DS daily also preferred if Toxoplasma prophylaxis is needed. Usually stop when CD4 ≥200 for ≥3 months on ART. Consider stopping at 100-200 only with sustained undetectable RNA for 3-6 months. For patients on ART, restart if CD4 &lt;100 regardless of RNA, or 100-200 with consistently detectable RNA. [6] Toxoplasma IgG positive and CD4 &lt;100 TMP-SMX DS daily. Dapsone alone and aerosolized pentamidine do not provide Toxoplasma protection. Primary prophylaxis can stop after CD4 &gt;200 for &gt;3 months with sustained suppression. At CD4 100-200, stopping can be considered after HIV RNA remains undetectable for 3-6 months. These criteria do not apply to secondary prophylaxis. [5] CD4 &lt;50 and no effective ART or persistent viremia Give MAC prophylaxis, commonly azithromycin 1,200 mg weekly, when these criteria are met and active MAC has been excluded. Not recommended when immediately starting effective ART. If mycobacterial blood culture is obtained to exclude disease, wait for the result before prophylaxis. [17] New HIV diagnosis and CD4 ≤200 Screen serum CrAg, particularly if CD4 ≤50. Positive antigen requires assessment for CNS disease and treatment. No routine fluconazole primary prophylaxis in U.S. patients with negative CrAg. [7] Low CD4 in a Histoplasma-endemic region Exposure reduction and rapid ART. Itraconazole primary prophylaxis is reserved for CD4 &lt;150 plus high-risk occupational exposure or a community incidence &gt;10 cases per 100 person-years. Residence in Missouri alone is not a blanket indication for itraconazole. [19] CD4 &lt;100 or visual symptoms Baseline retinal examination at &lt;100; urgent ophthalmology for visual change. Do not use routine CMV blood PCR surveillance or valganciclovir prophylaxis. [18] Secondary suppression stopping criteria Prior disease When stopping may be appropriate PCP Usually CD4 ≥200 for ≥3 months on ART; selected patients with CD4 100-200 and sustained viral suppression may qualify. If PCP developed at CD4 &gt;200 while on ART, prophylaxis is generally lifelong. [6] Toxoplasma encephalitis Completed acute therapy, asymptomatic, CD4 &gt;200 for &gt;6 months on ART. [5] Cryptococcosis At least 1 year of antifungals, asymptomatic, CD4 ≥100 and suppressed HIV RNA. [7] Disseminated MAC At least 12 months of treatment, no symptoms, CD4 &gt;100 for ≥6 months on ART. [17] CMV retinitis At least 3 months of treatment, inactive retinal lesions, CD4 ≥100 for ≥3 months; ophthalmology-directed decision and surveillance. [18] Histoplasmosis Azole treatment &gt;1 year, negative fungal blood cultures, antigen below quantification, undetectable HIV RNA, CD4 ≥150, and ART for ≥6 months. [19] After an OI, write the maintenance drug, dose, minimum treatment duration, immune-recovery criteria, and who may stop it. PCP, toxoplasmosis, cryptococcosis, MAC, CMV retinitis, and histoplasmosis do not share one stopping rule. [6] [5] [7] [17] [18] [19]</a:t>
            </a:r>
          </a:p>
          <a:p xmlns:a="http://schemas.openxmlformats.org/drawingml/2006/main">
            <a:r>
              <a:t/>
            </a:r>
          </a:p>
          <a:p xmlns:a="http://schemas.openxmlformats.org/drawingml/2006/main">
            <a:r>
              <a:t>Module section: https://docarcshot.github.io/id-practice-update/lectures/HIV_Diagnosis_ART_Prevention_and_Opportunistic_Infections.html#prophylaxis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prevention of a first OI from suppression after treatment Primary prophylaxis and screening Situation Action Stopping or reassessing PCP: not on ART or starting ART with CD4 &lt;200 TMP-SMX DS or SS daily; DS daily also preferred if Toxoplasma prophylaxis is needed. Usually stop when CD4 ≥200 for ≥3 months on ART. Consider stopping at 100-200 only with sustained undetectable RNA for 3-6 months. For patients on ART, restart if CD4 &lt;100 regardless of RNA, or 100-200 with consistently detectable RNA. [6] Toxoplasma IgG positive and CD4 &lt;100 TMP-SMX DS daily. Dapsone alone and aerosolized pentamidine do not provide Toxoplasma protection. Primary prophylaxis can stop after CD4 &gt;200 for &gt;3 months with sustained suppression. At CD4 100-200, stopping can be considered after HIV RNA remains undetectable for 3-6 months. These criteria do not apply to secondary prophylaxis. [5] CD4 &lt;50 and no effective ART or persistent viremia Give MAC prophylaxis, commonly azithromycin 1,200 mg weekly, when these criteria are met and active MAC has been excluded. Not recommended when immediately starting effective ART. If mycobacterial blood culture is obtained to exclude disease, wait for the result before prophylaxis. [17] New HIV diagnosis and CD4 ≤200 Screen serum CrAg, particularly if CD4 ≤50. Positive antigen requires assessment for CNS disease and treatment. No routine fluconazole primary prophylaxis in U.S. patients with negative CrAg. [7] Low CD4 in a Histoplasma-endemic region Exposure reduction and rapid ART. Itraconazole primary prophylaxis is reserved for CD4 &lt;150 plus high-risk occupational exposure or a community incidence &gt;10 cases per 100 person-years. Residence in Missouri alone is not a blanket indication for itraconazole. [19] CD4 &lt;100 or visual symptoms Baseline retinal examination at &lt;100; urgent ophthalmology for visual change. Do not use routine CMV blood PCR surveillance or valganciclovir prophylaxis. [18] Secondary suppression stopping criteria Prior disease When stopping may be appropriate PCP Usually CD4 ≥200 for ≥3 months on ART; selected patients with CD4 100-200 and sustained viral suppression may qualify. If PCP developed at CD4 &gt;200 while on ART, prophylaxis is generally lifelong. [6] Toxoplasma encephalitis Completed acute therapy, asymptomatic, CD4 &gt;200 for &gt;6 months on ART. [5] Cryptococcosis At least 1 year of antifungals, asymptomatic, CD4 ≥100 and suppressed HIV RNA. [7] Disseminated MAC At least 12 months of treatment, no symptoms, CD4 &gt;100 for ≥6 months on ART. [17] CMV retinitis At least 3 months of treatment, inactive retinal lesions, CD4 ≥100 for ≥3 months; ophthalmology-directed decision and surveillance. [18] Histoplasmosis Azole treatment &gt;1 year, negative fungal blood cultures, antigen below quantification, undetectable HIV RNA, CD4 ≥150, and ART for ≥6 months. [19] After an OI, write the maintenance drug, dose, minimum treatment duration, immune-recovery criteria, and who may stop it. PCP, toxoplasmosis, cryptococcosis, MAC, CMV retinitis, and histoplasmosis do not share one stopping rule. [6] [5] [7] [17] [18] [19]</a:t>
            </a:r>
          </a:p>
          <a:p xmlns:a="http://schemas.openxmlformats.org/drawingml/2006/main">
            <a:r>
              <a:t/>
            </a:r>
          </a:p>
          <a:p xmlns:a="http://schemas.openxmlformats.org/drawingml/2006/main">
            <a:r>
              <a:t>Module section: https://docarcshot.github.io/id-practice-update/lectures/HIV_Diagnosis_ART_Prevention_and_Opportunistic_Infections.html#prophylaxis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prevention of a first OI from suppression after treatment Primary prophylaxis and screening Situation Action Stopping or reassessing PCP: not on ART or starting ART with CD4 &lt;200 TMP-SMX DS or SS daily; DS daily also preferred if Toxoplasma prophylaxis is needed. Usually stop when CD4 ≥200 for ≥3 months on ART. Consider stopping at 100-200 only with sustained undetectable RNA for 3-6 months. For patients on ART, restart if CD4 &lt;100 regardless of RNA, or 100-200 with consistently detectable RNA. [6] Toxoplasma IgG positive and CD4 &lt;100 TMP-SMX DS daily. Dapsone alone and aerosolized pentamidine do not provide Toxoplasma protection. Primary prophylaxis can stop after CD4 &gt;200 for &gt;3 months with sustained suppression. At CD4 100-200, stopping can be considered after HIV RNA remains undetectable for 3-6 months. These criteria do not apply to secondary prophylaxis. [5] CD4 &lt;50 and no effective ART or persistent viremia Give MAC prophylaxis, commonly azithromycin 1,200 mg weekly, when these criteria are met and active MAC has been excluded. Not recommended when immediately starting effective ART. If mycobacterial blood culture is obtained to exclude disease, wait for the result before prophylaxis. [17] New HIV diagnosis and CD4 ≤200 Screen serum CrAg, particularly if CD4 ≤50. Positive antigen requires assessment for CNS disease and treatment. No routine fluconazole primary prophylaxis in U.S. patients with negative CrAg. [7] Low CD4 in a Histoplasma-endemic region Exposure reduction and rapid ART. Itraconazole primary prophylaxis is reserved for CD4 &lt;150 plus high-risk occupational exposure or a community incidence &gt;10 cases per 100 person-years. Residence in Missouri alone is not a blanket indication for itraconazole. [19] CD4 &lt;100 or visual symptoms Baseline retinal examination at &lt;100; urgent ophthalmology for visual change. Do not use routine CMV blood PCR surveillance or valganciclovir prophylaxis. [18] Secondary suppression stopping criteria Prior disease When stopping may be appropriate PCP Usually CD4 ≥200 for ≥3 months on ART; selected patients with CD4 100-200 and sustained viral suppression may qualify. If PCP developed at CD4 &gt;200 while on ART, prophylaxis is generally lifelong. [6] Toxoplasma encephalitis Completed acute therapy, asymptomatic, CD4 &gt;200 for &gt;6 months on ART. [5] Cryptococcosis At least 1 year of antifungals, asymptomatic, CD4 ≥100 and suppressed HIV RNA. [7] Disseminated MAC At least 12 months of treatment, no symptoms, CD4 &gt;100 for ≥6 months on ART. [17] CMV retinitis At least 3 months of treatment, inactive retinal lesions, CD4 ≥100 for ≥3 months; ophthalmology-directed decision and surveillance. [18] Histoplasmosis Azole treatment &gt;1 year, negative fungal blood cultures, antigen below quantification, undetectable HIV RNA, CD4 ≥150, and ART for ≥6 months. [19] After an OI, write the maintenance drug, dose, minimum treatment duration, immune-recovery criteria, and who may stop it. PCP, toxoplasmosis, cryptococcosis, MAC, CMV retinitis, and histoplasmosis do not share one stopping rule. [6] [5] [7] [17] [18] [19]</a:t>
            </a:r>
          </a:p>
          <a:p xmlns:a="http://schemas.openxmlformats.org/drawingml/2006/main">
            <a:r>
              <a:t/>
            </a:r>
          </a:p>
          <a:p xmlns:a="http://schemas.openxmlformats.org/drawingml/2006/main">
            <a:r>
              <a:t>Module section: https://docarcshot.github.io/id-practice-update/lectures/HIV_Diagnosis_ART_Prevention_and_Opportunistic_Infections.html#prophylaxis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prevention of a first OI from suppression after treatment Primary prophylaxis and screening Situation Action Stopping or reassessing PCP: not on ART or starting ART with CD4 &lt;200 TMP-SMX DS or SS daily; DS daily also preferred if Toxoplasma prophylaxis is needed. Usually stop when CD4 ≥200 for ≥3 months on ART. Consider stopping at 100-200 only with sustained undetectable RNA for 3-6 months. For patients on ART, restart if CD4 &lt;100 regardless of RNA, or 100-200 with consistently detectable RNA. [6] Toxoplasma IgG positive and CD4 &lt;100 TMP-SMX DS daily. Dapsone alone and aerosolized pentamidine do not provide Toxoplasma protection. Primary prophylaxis can stop after CD4 &gt;200 for &gt;3 months with sustained suppression. At CD4 100-200, stopping can be considered after HIV RNA remains undetectable for 3-6 months. These criteria do not apply to secondary prophylaxis. [5] CD4 &lt;50 and no effective ART or persistent viremia Give MAC prophylaxis, commonly azithromycin 1,200 mg weekly, when these criteria are met and active MAC has been excluded. Not recommended when immediately starting effective ART. If mycobacterial blood culture is obtained to exclude disease, wait for the result before prophylaxis. [17] New HIV diagnosis and CD4 ≤200 Screen serum CrAg, particularly if CD4 ≤50. Positive antigen requires assessment for CNS disease and treatment. No routine fluconazole primary prophylaxis in U.S. patients with negative CrAg. [7] Low CD4 in a Histoplasma-endemic region Exposure reduction and rapid ART. Itraconazole primary prophylaxis is reserved for CD4 &lt;150 plus high-risk occupational exposure or a community incidence &gt;10 cases per 100 person-years. Residence in Missouri alone is not a blanket indication for itraconazole. [19] CD4 &lt;100 or visual symptoms Baseline retinal examination at &lt;100; urgent ophthalmology for visual change. Do not use routine CMV blood PCR surveillance or valganciclovir prophylaxis. [18] Secondary suppression stopping criteria Prior disease When stopping may be appropriate PCP Usually CD4 ≥200 for ≥3 months on ART; selected patients with CD4 100-200 and sustained viral suppression may qualify. If PCP developed at CD4 &gt;200 while on ART, prophylaxis is generally lifelong. [6] Toxoplasma encephalitis Completed acute therapy, asymptomatic, CD4 &gt;200 for &gt;6 months on ART. [5] Cryptococcosis At least 1 year of antifungals, asymptomatic, CD4 ≥100 and suppressed HIV RNA. [7] Disseminated MAC At least 12 months of treatment, no symptoms, CD4 &gt;100 for ≥6 months on ART. [17] CMV retinitis At least 3 months of treatment, inactive retinal lesions, CD4 ≥100 for ≥3 months; ophthalmology-directed decision and surveillance. [18] Histoplasmosis Azole treatment &gt;1 year, negative fungal blood cultures, antigen below quantification, undetectable HIV RNA, CD4 ≥150, and ART for ≥6 months. [19] After an OI, write the maintenance drug, dose, minimum treatment duration, immune-recovery criteria, and who may stop it. PCP, toxoplasmosis, cryptococcosis, MAC, CMV retinitis, and histoplasmosis do not share one stopping rule. [6] [5] [7] [17] [18] [19]</a:t>
            </a:r>
          </a:p>
          <a:p xmlns:a="http://schemas.openxmlformats.org/drawingml/2006/main">
            <a:r>
              <a:t/>
            </a:r>
          </a:p>
          <a:p xmlns:a="http://schemas.openxmlformats.org/drawingml/2006/main">
            <a:r>
              <a:t>Module section: https://docarcshot.github.io/id-practice-update/lectures/HIV_Diagnosis_ART_Prevention_and_Opportunistic_Infections.html#prophylaxis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prevention of a first OI from suppression after treatment Primary prophylaxis and screening Situation Action Stopping or reassessing PCP: not on ART or starting ART with CD4 &lt;200 TMP-SMX DS or SS daily; DS daily also preferred if Toxoplasma prophylaxis is needed. Usually stop when CD4 ≥200 for ≥3 months on ART. Consider stopping at 100-200 only with sustained undetectable RNA for 3-6 months. For patients on ART, restart if CD4 &lt;100 regardless of RNA, or 100-200 with consistently detectable RNA. [6] Toxoplasma IgG positive and CD4 &lt;100 TMP-SMX DS daily. Dapsone alone and aerosolized pentamidine do not provide Toxoplasma protection. Primary prophylaxis can stop after CD4 &gt;200 for &gt;3 months with sustained suppression. At CD4 100-200, stopping can be considered after HIV RNA remains undetectable for 3-6 months. These criteria do not apply to secondary prophylaxis. [5] CD4 &lt;50 and no effective ART or persistent viremia Give MAC prophylaxis, commonly azithromycin 1,200 mg weekly, when these criteria are met and active MAC has been excluded. Not recommended when immediately starting effective ART. If mycobacterial blood culture is obtained to exclude disease, wait for the result before prophylaxis. [17] New HIV diagnosis and CD4 ≤200 Screen serum CrAg, particularly if CD4 ≤50. Positive antigen requires assessment for CNS disease and treatment. No routine fluconazole primary prophylaxis in U.S. patients with negative CrAg. [7] Low CD4 in a Histoplasma-endemic region Exposure reduction and rapid ART. Itraconazole primary prophylaxis is reserved for CD4 &lt;150 plus high-risk occupational exposure or a community incidence &gt;10 cases per 100 person-years. Residence in Missouri alone is not a blanket indication for itraconazole. [19] CD4 &lt;100 or visual symptoms Baseline retinal examination at &lt;100; urgent ophthalmology for visual change. Do not use routine CMV blood PCR surveillance or valganciclovir prophylaxis. [18] Secondary suppression stopping criteria Prior disease When stopping may be appropriate PCP Usually CD4 ≥200 for ≥3 months on ART; selected patients with CD4 100-200 and sustained viral suppression may qualify. If PCP developed at CD4 &gt;200 while on ART, prophylaxis is generally lifelong. [6] Toxoplasma encephalitis Completed acute therapy, asymptomatic, CD4 &gt;200 for &gt;6 months on ART. [5] Cryptococcosis At least 1 year of antifungals, asymptomatic, CD4 ≥100 and suppressed HIV RNA. [7] Disseminated MAC At least 12 months of treatment, no symptoms, CD4 &gt;100 for ≥6 months on ART. [17] CMV retinitis At least 3 months of treatment, inactive retinal lesions, CD4 ≥100 for ≥3 months; ophthalmology-directed decision and surveillance. [18] Histoplasmosis Azole treatment &gt;1 year, negative fungal blood cultures, antigen below quantification, undetectable HIV RNA, CD4 ≥150, and ART for ≥6 months. [19] After an OI, write the maintenance drug, dose, minimum treatment duration, immune-recovery criteria, and who may stop it. PCP, toxoplasmosis, cryptococcosis, MAC, CMV retinitis, and histoplasmosis do not share one stopping rule. [6] [5] [7] [17] [18] [19]</a:t>
            </a:r>
          </a:p>
          <a:p xmlns:a="http://schemas.openxmlformats.org/drawingml/2006/main">
            <a:r>
              <a:t/>
            </a:r>
          </a:p>
          <a:p xmlns:a="http://schemas.openxmlformats.org/drawingml/2006/main">
            <a:r>
              <a:t>Module section: https://docarcshot.github.io/id-practice-update/lectures/HIV_Diagnosis_ART_Prevention_and_Opportunistic_Infections.html#prophylaxis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prevention of a first OI from suppression after treatment Primary prophylaxis and screening Situation Action Stopping or reassessing PCP: not on ART or starting ART with CD4 &lt;200 TMP-SMX DS or SS daily; DS daily also preferred if Toxoplasma prophylaxis is needed. Usually stop when CD4 ≥200 for ≥3 months on ART. Consider stopping at 100-200 only with sustained undetectable RNA for 3-6 months. For patients on ART, restart if CD4 &lt;100 regardless of RNA, or 100-200 with consistently detectable RNA. [6] Toxoplasma IgG positive and CD4 &lt;100 TMP-SMX DS daily. Dapsone alone and aerosolized pentamidine do not provide Toxoplasma protection. Primary prophylaxis can stop after CD4 &gt;200 for &gt;3 months with sustained suppression. At CD4 100-200, stopping can be considered after HIV RNA remains undetectable for 3-6 months. These criteria do not apply to secondary prophylaxis. [5] CD4 &lt;50 and no effective ART or persistent viremia Give MAC prophylaxis, commonly azithromycin 1,200 mg weekly, when these criteria are met and active MAC has been excluded. Not recommended when immediately starting effective ART. If mycobacterial blood culture is obtained to exclude disease, wait for the result before prophylaxis. [17] New HIV diagnosis and CD4 ≤200 Screen serum CrAg, particularly if CD4 ≤50. Positive antigen requires assessment for CNS disease and treatment. No routine fluconazole primary prophylaxis in U.S. patients with negative CrAg. [7] Low CD4 in a Histoplasma-endemic region Exposure reduction and rapid ART. Itraconazole primary prophylaxis is reserved for CD4 &lt;150 plus high-risk occupational exposure or a community incidence &gt;10 cases per 100 person-years. Residence in Missouri alone is not a blanket indication for itraconazole. [19] CD4 &lt;100 or visual symptoms Baseline retinal examination at &lt;100; urgent ophthalmology for visual change. Do not use routine CMV blood PCR surveillance or valganciclovir prophylaxis. [18] Secondary suppression stopping criteria Prior disease When stopping may be appropriate PCP Usually CD4 ≥200 for ≥3 months on ART; selected patients with CD4 100-200 and sustained viral suppression may qualify. If PCP developed at CD4 &gt;200 while on ART, prophylaxis is generally lifelong. [6] Toxoplasma encephalitis Completed acute therapy, asymptomatic, CD4 &gt;200 for &gt;6 months on ART. [5] Cryptococcosis At least 1 year of antifungals, asymptomatic, CD4 ≥100 and suppressed HIV RNA. [7] Disseminated MAC At least 12 months of treatment, no symptoms, CD4 &gt;100 for ≥6 months on ART. [17] CMV retinitis At least 3 months of treatment, inactive retinal lesions, CD4 ≥100 for ≥3 months; ophthalmology-directed decision and surveillance. [18] Histoplasmosis Azole treatment &gt;1 year, negative fungal blood cultures, antigen below quantification, undetectable HIV RNA, CD4 ≥150, and ART for ≥6 months. [19] After an OI, write the maintenance drug, dose, minimum treatment duration, immune-recovery criteria, and who may stop it. PCP, toxoplasmosis, cryptococcosis, MAC, CMV retinitis, and histoplasmosis do not share one stopping rule. [6] [5] [7] [17] [18] [19]</a:t>
            </a:r>
          </a:p>
          <a:p xmlns:a="http://schemas.openxmlformats.org/drawingml/2006/main">
            <a:r>
              <a:t/>
            </a:r>
          </a:p>
          <a:p xmlns:a="http://schemas.openxmlformats.org/drawingml/2006/main">
            <a:r>
              <a:t>Module section: https://docarcshot.github.io/id-practice-update/lectures/HIV_Diagnosis_ART_Prevention_and_Opportunistic_Infections.html#prophylaxis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prevention of a first OI from suppression after treatment Primary prophylaxis and screening Situation Action Stopping or reassessing PCP: not on ART or starting ART with CD4 &lt;200 TMP-SMX DS or SS daily; DS daily also preferred if Toxoplasma prophylaxis is needed. Usually stop when CD4 ≥200 for ≥3 months on ART. Consider stopping at 100-200 only with sustained undetectable RNA for 3-6 months. For patients on ART, restart if CD4 &lt;100 regardless of RNA, or 100-200 with consistently detectable RNA. [6] Toxoplasma IgG positive and CD4 &lt;100 TMP-SMX DS daily. Dapsone alone and aerosolized pentamidine do not provide Toxoplasma protection. Primary prophylaxis can stop after CD4 &gt;200 for &gt;3 months with sustained suppression. At CD4 100-200, stopping can be considered after HIV RNA remains undetectable for 3-6 months. These criteria do not apply to secondary prophylaxis. [5] CD4 &lt;50 and no effective ART or persistent viremia Give MAC prophylaxis, commonly azithromycin 1,200 mg weekly, when these criteria are met and active MAC has been excluded. Not recommended when immediately starting effective ART. If mycobacterial blood culture is obtained to exclude disease, wait for the result before prophylaxis. [17] New HIV diagnosis and CD4 ≤200 Screen serum CrAg, particularly if CD4 ≤50. Positive antigen requires assessment for CNS disease and treatment. No routine fluconazole primary prophylaxis in U.S. patients with negative CrAg. [7] Low CD4 in a Histoplasma-endemic region Exposure reduction and rapid ART. Itraconazole primary prophylaxis is reserved for CD4 &lt;150 plus high-risk occupational exposure or a community incidence &gt;10 cases per 100 person-years. Residence in Missouri alone is not a blanket indication for itraconazole. [19] CD4 &lt;100 or visual symptoms Baseline retinal examination at &lt;100; urgent ophthalmology for visual change. Do not use routine CMV blood PCR surveillance or valganciclovir prophylaxis. [18] Secondary suppression stopping criteria Prior disease When stopping may be appropriate PCP Usually CD4 ≥200 for ≥3 months on ART; selected patients with CD4 100-200 and sustained viral suppression may qualify. If PCP developed at CD4 &gt;200 while on ART, prophylaxis is generally lifelong. [6] Toxoplasma encephalitis Completed acute therapy, asymptomatic, CD4 &gt;200 for &gt;6 months on ART. [5] Cryptococcosis At least 1 year of antifungals, asymptomatic, CD4 ≥100 and suppressed HIV RNA. [7] Disseminated MAC At least 12 months of treatment, no symptoms, CD4 &gt;100 for ≥6 months on ART. [17] CMV retinitis At least 3 months of treatment, inactive retinal lesions, CD4 ≥100 for ≥3 months; ophthalmology-directed decision and surveillance. [18] Histoplasmosis Azole treatment &gt;1 year, negative fungal blood cultures, antigen below quantification, undetectable HIV RNA, CD4 ≥150, and ART for ≥6 months. [19] After an OI, write the maintenance drug, dose, minimum treatment duration, immune-recovery criteria, and who may stop it. PCP, toxoplasmosis, cryptococcosis, MAC, CMV retinitis, and histoplasmosis do not share one stopping rule. [6] [5] [7] [17] [18] [19]</a:t>
            </a:r>
          </a:p>
          <a:p xmlns:a="http://schemas.openxmlformats.org/drawingml/2006/main">
            <a:r>
              <a:t/>
            </a:r>
          </a:p>
          <a:p xmlns:a="http://schemas.openxmlformats.org/drawingml/2006/main">
            <a:r>
              <a:t>Module section: https://docarcshot.github.io/id-practice-update/lectures/HIV_Diagnosis_ART_Prevention_and_Opportunistic_Infections.html#prophylaxis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Separate prevention of a first OI from suppression after treatment Primary prophylaxis and screening Situation Action Stopping or reassessing PCP: not on ART or starting ART with CD4 &lt;200 TMP-SMX DS or SS daily; DS daily also preferred if Toxoplasma prophylaxis is needed. Usually stop when CD4 ≥200 for ≥3 months on ART. Consider stopping at 100-200 only with sustained undetectable RNA for 3-6 months. For patients on ART, restart if CD4 &lt;100 regardless of RNA, or 100-200 with consistently detectable RNA. [6] Toxoplasma IgG positive and CD4 &lt;100 TMP-SMX DS daily. Dapsone alone and aerosolized pentamidine do not provide Toxoplasma protection. Primary prophylaxis can stop after CD4 &gt;200 for &gt;3 months with sustained suppression. At CD4 100-200, stopping can be considered after HIV RNA remains undetectable for 3-6 months. These criteria do not apply to secondary prophylaxis. [5] CD4 &lt;50 and no effective ART or persistent viremia Give MAC prophylaxis, commonly azithromycin 1,200 mg weekly, when these criteria are met and active MAC has been excluded. Not recommended when immediately starting effective ART. If mycobacterial blood culture is obtained to exclude disease, wait for the result before prophylaxis. [17] New HIV diagnosis and CD4 ≤200 Screen serum CrAg, particularly if CD4 ≤50. Positive antigen requires assessment for CNS disease and treatment. No routine fluconazole primary prophylaxis in U.S. patients with negative CrAg. [7] Low CD4 in a Histoplasma-endemic region Exposure reduction and rapid ART. Itraconazole primary prophylaxis is reserved for CD4 &lt;150 plus high-risk occupational exposure or a community incidence &gt;10 cases per 100 person-years. Residence in Missouri alone is not a blanket indication for itraconazole. [19] CD4 &lt;100 or visual symptoms Baseline retinal examination at &lt;100; urgent ophthalmology for visual change. Do not use routine CMV blood PCR surveillance or valganciclovir prophylaxis. [18] Secondary suppression stopping criteria Prior disease When stopping may be appropriate PCP Usually CD4 ≥200 for ≥3 months on ART; selected patients with CD4 100-200 and sustained viral suppression may qualify. If PCP developed at CD4 &gt;200 while on ART, prophylaxis is generally lifelong. [6] Toxoplasma encephalitis Completed acute therapy, asymptomatic, CD4 &gt;200 for &gt;6 months on ART. [5] Cryptococcosis At least 1 year of antifungals, asymptomatic, CD4 ≥100 and suppressed HIV RNA. [7] Disseminated MAC At least 12 months of treatment, no symptoms, CD4 &gt;100 for ≥6 months on ART. [17] CMV retinitis At least 3 months of treatment, inactive retinal lesions, CD4 ≥100 for ≥3 months; ophthalmology-directed decision and surveillance. [18] Histoplasmosis Azole treatment &gt;1 year, negative fungal blood cultures, antigen below quantification, undetectable HIV RNA, CD4 ≥150, and ART for ≥6 months. [19] After an OI, write the maintenance drug, dose, minimum treatment duration, immune-recovery criteria, and who may stop it. PCP, toxoplasmosis, cryptococcosis, MAC, CMV retinitis, and histoplasmosis do not share one stopping rule. [6] [5] [7] [17] [18] [19]</a:t>
            </a:r>
          </a:p>
          <a:p xmlns:a="http://schemas.openxmlformats.org/drawingml/2006/main">
            <a:r>
              <a:t/>
            </a:r>
          </a:p>
          <a:p xmlns:a="http://schemas.openxmlformats.org/drawingml/2006/main">
            <a:r>
              <a:t>Module section: https://docarcshot.github.io/id-practice-update/lectures/HIV_Diagnosis_ART_Prevention_and_Opportunistic_Infections.html#prophylaxis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worsening after ART is a diagnostic problem before it is an IRIS diagnosis Unmasking IRIS reveals previously unrecognized infection; paradoxical IRIS worsens a treated infection after immune recovery begins. Reassess adherence, drug exposure, resistance, source control, toxicity, and a second process. The timing and a falling HIV RNA support the context but do not prove IRIS. [3] [7] [17] [5] Usually continue ART and active antimicrobial treatment while investigating. Mild disease may need symptomatic treatment; severe, organ-threatening inflammation may need corticosteroids and expert management. CNS disease requires particular care. Do not use steroids before considering uncontrolled infection or malignancy. [3] [7] [20] Fellow and attending discussion In cryptococcal deterioration, repeat LP with opening pressure and fungal culture. Persistent antigen does not establish microbiologic failure. In apparent toxoplasmosis, steroid-responsive lymphoma can mislead. In MAC, lymphadenitis after ART may reflect IRIS but still requires the clinical and microbiologic context. [7] [5] [17]</a:t>
            </a:r>
          </a:p>
          <a:p xmlns:a="http://schemas.openxmlformats.org/drawingml/2006/main">
            <a:r>
              <a:t/>
            </a:r>
          </a:p>
          <a:p xmlns:a="http://schemas.openxmlformats.org/drawingml/2006/main">
            <a:r>
              <a:t>Module section: https://docarcshot.github.io/id-practice-update/lectures/HIV_Diagnosis_ART_Prevention_and_Opportunistic_Infections.html#iris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worsening after ART is a diagnostic problem before it is an IRIS diagnosis Unmasking IRIS reveals previously unrecognized infection; paradoxical IRIS worsens a treated infection after immune recovery begins. Reassess adherence, drug exposure, resistance, source control, toxicity, and a second process. The timing and a falling HIV RNA support the context but do not prove IRIS. [3] [7] [17] [5] Usually continue ART and active antimicrobial treatment while investigating. Mild disease may need symptomatic treatment; severe, organ-threatening inflammation may need corticosteroids and expert management. CNS disease requires particular care. Do not use steroids before considering uncontrolled infection or malignancy. [3] [7] [20] Fellow and attending discussion In cryptococcal deterioration, repeat LP with opening pressure and fungal culture. Persistent antigen does not establish microbiologic failure. In apparent toxoplasmosis, steroid-responsive lymphoma can mislead. In MAC, lymphadenitis after ART may reflect IRIS but still requires the clinical and microbiologic context. [7] [5] [17]</a:t>
            </a:r>
          </a:p>
          <a:p xmlns:a="http://schemas.openxmlformats.org/drawingml/2006/main">
            <a:r>
              <a:t/>
            </a:r>
          </a:p>
          <a:p xmlns:a="http://schemas.openxmlformats.org/drawingml/2006/main">
            <a:r>
              <a:t>Module section: https://docarcshot.github.io/id-practice-update/lectures/HIV_Diagnosis_ART_Prevention_and_Opportunistic_Infections.html#iris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Prevention includes PrEP, time-sensitive PEP, and sustained viral suppression PrEP choices Option Schedule and use Required safeguards FTC/TDF Daily oral PrEP for sexual and injection-related risk Assess renal function, HBV status, HIV testing, and adherence. FTC/TAF Daily oral PrEP for sexual risk excluding receptive vaginal exposure Review renal function, weight/lipids, HBV, and the population studied. Cabotegravir IM initiation, second dose at 1 month, then every 2 months Antigen-antibody plus HIV RNA testing; plan for missed injections and the long drug tail. Lenacapavir Every 6 months SC after oral loading; approved for eligible adults/adolescents ≥35 kg Use the current PrEP label and CDC testing schedule. Exclude acute HIV; review interactions and a missed-dose/tail plan. [29] [30] [31] Oral PrEP requires renal eligibility and serial HIV testing; FTC/TDF generally needs eCrCl ≥60 mL/min and FTC/TAF ≥30. Injectable PrEP avoids tenofovir renal exposure but still requires reliable testing and return visits. Never use a prevention-only regimen as HIV treatment. [29] [30] For a substantial nonoccupational exposure, start PEP as soon as possible, ideally within 24 hours and no later than 72 hours, for 28 days. Do not wait for pending source testing. Preferred adult options include BIC/FTC/TAF or DTG plus an appropriate tenofovir/FTC or 3TC backbone. Obtain baseline testing, contact at about 24 hours, and antigen-antibody plus NAT follow-up at 4-6 and 12 weeks after exposure under the CDC algorithm. Plan direct PEP-to-PrEP transition if risk continues. Occupational exposures follow the employee-health pathway. [32] Sustained HIV RNA &lt;200 copies/mL on ART prevents sexual HIV transmission (U=U). It does not prevent other STIs and should not be extrapolated to zero risk for breastfeeding or shared injection equipment. For patients starting ART, use another prevention method for at least 6 months and until HIV RNA &lt;200 is documented; confirm sustained suppression. Support ongoing ART access. [33]</a:t>
            </a:r>
          </a:p>
          <a:p xmlns:a="http://schemas.openxmlformats.org/drawingml/2006/main">
            <a:r>
              <a:t/>
            </a:r>
          </a:p>
          <a:p xmlns:a="http://schemas.openxmlformats.org/drawingml/2006/main">
            <a:r>
              <a:t>Module section: https://docarcshot.github.io/id-practice-update/lectures/HIV_Diagnosis_ART_Prevention_and_Opportunistic_Infections.html#prevention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Prevention includes PrEP, time-sensitive PEP, and sustained viral suppression PrEP choices Option Schedule and use Required safeguards FTC/TDF Daily oral PrEP for sexual and injection-related risk Assess renal function, HBV status, HIV testing, and adherence. FTC/TAF Daily oral PrEP for sexual risk excluding receptive vaginal exposure Review renal function, weight/lipids, HBV, and the population studied. Cabotegravir IM initiation, second dose at 1 month, then every 2 months Antigen-antibody plus HIV RNA testing; plan for missed injections and the long drug tail. Lenacapavir Every 6 months SC after oral loading; approved for eligible adults/adolescents ≥35 kg Use the current PrEP label and CDC testing schedule. Exclude acute HIV; review interactions and a missed-dose/tail plan. [29] [30] [31] Oral PrEP requires renal eligibility and serial HIV testing; FTC/TDF generally needs eCrCl ≥60 mL/min and FTC/TAF ≥30. Injectable PrEP avoids tenofovir renal exposure but still requires reliable testing and return visits. Never use a prevention-only regimen as HIV treatment. [29] [30] For a substantial nonoccupational exposure, start PEP as soon as possible, ideally within 24 hours and no later than 72 hours, for 28 days. Do not wait for pending source testing. Preferred adult options include BIC/FTC/TAF or DTG plus an appropriate tenofovir/FTC or 3TC backbone. Obtain baseline testing, contact at about 24 hours, and antigen-antibody plus NAT follow-up at 4-6 and 12 weeks after exposure under the CDC algorithm. Plan direct PEP-to-PrEP transition if risk continues. Occupational exposures follow the employee-health pathway. [32] Sustained HIV RNA &lt;200 copies/mL on ART prevents sexual HIV transmission (U=U). It does not prevent other STIs and should not be extrapolated to zero risk for breastfeeding or shared injection equipment. For patients starting ART, use another prevention method for at least 6 months and until HIV RNA &lt;200 is documented; confirm sustained suppression. Support ongoing ART access. [33]</a:t>
            </a:r>
          </a:p>
          <a:p xmlns:a="http://schemas.openxmlformats.org/drawingml/2006/main">
            <a:r>
              <a:t/>
            </a:r>
          </a:p>
          <a:p xmlns:a="http://schemas.openxmlformats.org/drawingml/2006/main">
            <a:r>
              <a:t>Module section: https://docarcshot.github.io/id-practice-update/lectures/HIV_Diagnosis_ART_Prevention_and_Opportunistic_Infections.html#prevention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Prevention includes PrEP, time-sensitive PEP, and sustained viral suppression PrEP choices Option Schedule and use Required safeguards FTC/TDF Daily oral PrEP for sexual and injection-related risk Assess renal function, HBV status, HIV testing, and adherence. FTC/TAF Daily oral PrEP for sexual risk excluding receptive vaginal exposure Review renal function, weight/lipids, HBV, and the population studied. Cabotegravir IM initiation, second dose at 1 month, then every 2 months Antigen-antibody plus HIV RNA testing; plan for missed injections and the long drug tail. Lenacapavir Every 6 months SC after oral loading; approved for eligible adults/adolescents ≥35 kg Use the current PrEP label and CDC testing schedule. Exclude acute HIV; review interactions and a missed-dose/tail plan. [29] [30] [31] Oral PrEP requires renal eligibility and serial HIV testing; FTC/TDF generally needs eCrCl ≥60 mL/min and FTC/TAF ≥30. Injectable PrEP avoids tenofovir renal exposure but still requires reliable testing and return visits. Never use a prevention-only regimen as HIV treatment. [29] [30] For a substantial nonoccupational exposure, start PEP as soon as possible, ideally within 24 hours and no later than 72 hours, for 28 days. Do not wait for pending source testing. Preferred adult options include BIC/FTC/TAF or DTG plus an appropriate tenofovir/FTC or 3TC backbone. Obtain baseline testing, contact at about 24 hours, and antigen-antibody plus NAT follow-up at 4-6 and 12 weeks after exposure under the CDC algorithm. Plan direct PEP-to-PrEP transition if risk continues. Occupational exposures follow the employee-health pathway. [32] Sustained HIV RNA &lt;200 copies/mL on ART prevents sexual HIV transmission (U=U). It does not prevent other STIs and should not be extrapolated to zero risk for breastfeeding or shared injection equipment. For patients starting ART, use another prevention method for at least 6 months and until HIV RNA &lt;200 is documented; confirm sustained suppression. Support ongoing ART access. [33]</a:t>
            </a:r>
          </a:p>
          <a:p xmlns:a="http://schemas.openxmlformats.org/drawingml/2006/main">
            <a:r>
              <a:t/>
            </a:r>
          </a:p>
          <a:p xmlns:a="http://schemas.openxmlformats.org/drawingml/2006/main">
            <a:r>
              <a:t>Module section: https://docarcshot.github.io/id-practice-update/lectures/HIV_Diagnosis_ART_Prevention_and_Opportunistic_Infections.html#prevention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Prevention includes PrEP, time-sensitive PEP, and sustained viral suppression PrEP choices Option Schedule and use Required safeguards FTC/TDF Daily oral PrEP for sexual and injection-related risk Assess renal function, HBV status, HIV testing, and adherence. FTC/TAF Daily oral PrEP for sexual risk excluding receptive vaginal exposure Review renal function, weight/lipids, HBV, and the population studied. Cabotegravir IM initiation, second dose at 1 month, then every 2 months Antigen-antibody plus HIV RNA testing; plan for missed injections and the long drug tail. Lenacapavir Every 6 months SC after oral loading; approved for eligible adults/adolescents ≥35 kg Use the current PrEP label and CDC testing schedule. Exclude acute HIV; review interactions and a missed-dose/tail plan. [29] [30] [31] Oral PrEP requires renal eligibility and serial HIV testing; FTC/TDF generally needs eCrCl ≥60 mL/min and FTC/TAF ≥30. Injectable PrEP avoids tenofovir renal exposure but still requires reliable testing and return visits. Never use a prevention-only regimen as HIV treatment. [29] [30] For a substantial nonoccupational exposure, start PEP as soon as possible, ideally within 24 hours and no later than 72 hours, for 28 days. Do not wait for pending source testing. Preferred adult options include BIC/FTC/TAF or DTG plus an appropriate tenofovir/FTC or 3TC backbone. Obtain baseline testing, contact at about 24 hours, and antigen-antibody plus NAT follow-up at 4-6 and 12 weeks after exposure under the CDC algorithm. Plan direct PEP-to-PrEP transition if risk continues. Occupational exposures follow the employee-health pathway. [32] Sustained HIV RNA &lt;200 copies/mL on ART prevents sexual HIV transmission (U=U). It does not prevent other STIs and should not be extrapolated to zero risk for breastfeeding or shared injection equipment. For patients starting ART, use another prevention method for at least 6 months and until HIV RNA &lt;200 is documented; confirm sustained suppression. Support ongoing ART access. [33]</a:t>
            </a:r>
          </a:p>
          <a:p xmlns:a="http://schemas.openxmlformats.org/drawingml/2006/main">
            <a:r>
              <a:t/>
            </a:r>
          </a:p>
          <a:p xmlns:a="http://schemas.openxmlformats.org/drawingml/2006/main">
            <a:r>
              <a:t>Module section: https://docarcshot.github.io/id-practice-update/lectures/HIV_Diagnosis_ART_Prevention_and_Opportunistic_Infections.html#prevention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Prevention includes PrEP, time-sensitive PEP, and sustained viral suppression PrEP choices Option Schedule and use Required safeguards FTC/TDF Daily oral PrEP for sexual and injection-related risk Assess renal function, HBV status, HIV testing, and adherence. FTC/TAF Daily oral PrEP for sexual risk excluding receptive vaginal exposure Review renal function, weight/lipids, HBV, and the population studied. Cabotegravir IM initiation, second dose at 1 month, then every 2 months Antigen-antibody plus HIV RNA testing; plan for missed injections and the long drug tail. Lenacapavir Every 6 months SC after oral loading; approved for eligible adults/adolescents ≥35 kg Use the current PrEP label and CDC testing schedule. Exclude acute HIV; review interactions and a missed-dose/tail plan. [29] [30] [31] Oral PrEP requires renal eligibility and serial HIV testing; FTC/TDF generally needs eCrCl ≥60 mL/min and FTC/TAF ≥30. Injectable PrEP avoids tenofovir renal exposure but still requires reliable testing and return visits. Never use a prevention-only regimen as HIV treatment. [29] [30] For a substantial nonoccupational exposure, start PEP as soon as possible, ideally within 24 hours and no later than 72 hours, for 28 days. Do not wait for pending source testing. Preferred adult options include BIC/FTC/TAF or DTG plus an appropriate tenofovir/FTC or 3TC backbone. Obtain baseline testing, contact at about 24 hours, and antigen-antibody plus NAT follow-up at 4-6 and 12 weeks after exposure under the CDC algorithm. Plan direct PEP-to-PrEP transition if risk continues. Occupational exposures follow the employee-health pathway. [32] Sustained HIV RNA &lt;200 copies/mL on ART prevents sexual HIV transmission (U=U). It does not prevent other STIs and should not be extrapolated to zero risk for breastfeeding or shared injection equipment. For patients starting ART, use another prevention method for at least 6 months and until HIV RNA &lt;200 is documented; confirm sustained suppression. Support ongoing ART access. [33]</a:t>
            </a:r>
          </a:p>
          <a:p xmlns:a="http://schemas.openxmlformats.org/drawingml/2006/main">
            <a:r>
              <a:t/>
            </a:r>
          </a:p>
          <a:p xmlns:a="http://schemas.openxmlformats.org/drawingml/2006/main">
            <a:r>
              <a:t>Module section: https://docarcshot.github.io/id-practice-update/lectures/HIV_Diagnosis_ART_Prevention_and_Opportunistic_Infections.html#prevention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Prevention includes PrEP, time-sensitive PEP, and sustained viral suppression PrEP choices Option Schedule and use Required safeguards FTC/TDF Daily oral PrEP for sexual and injection-related risk Assess renal function, HBV status, HIV testing, and adherence. FTC/TAF Daily oral PrEP for sexual risk excluding receptive vaginal exposure Review renal function, weight/lipids, HBV, and the population studied. Cabotegravir IM initiation, second dose at 1 month, then every 2 months Antigen-antibody plus HIV RNA testing; plan for missed injections and the long drug tail. Lenacapavir Every 6 months SC after oral loading; approved for eligible adults/adolescents ≥35 kg Use the current PrEP label and CDC testing schedule. Exclude acute HIV; review interactions and a missed-dose/tail plan. [29] [30] [31] Oral PrEP requires renal eligibility and serial HIV testing; FTC/TDF generally needs eCrCl ≥60 mL/min and FTC/TAF ≥30. Injectable PrEP avoids tenofovir renal exposure but still requires reliable testing and return visits. Never use a prevention-only regimen as HIV treatment. [29] [30] For a substantial nonoccupational exposure, start PEP as soon as possible, ideally within 24 hours and no later than 72 hours, for 28 days. Do not wait for pending source testing. Preferred adult options include BIC/FTC/TAF or DTG plus an appropriate tenofovir/FTC or 3TC backbone. Obtain baseline testing, contact at about 24 hours, and antigen-antibody plus NAT follow-up at 4-6 and 12 weeks after exposure under the CDC algorithm. Plan direct PEP-to-PrEP transition if risk continues. Occupational exposures follow the employee-health pathway. [32] Sustained HIV RNA &lt;200 copies/mL on ART prevents sexual HIV transmission (U=U). It does not prevent other STIs and should not be extrapolated to zero risk for breastfeeding or shared injection equipment. For patients starting ART, use another prevention method for at least 6 months and until HIV RNA &lt;200 is documented; confirm sustained suppression. Support ongoing ART access. [33]</a:t>
            </a:r>
          </a:p>
          <a:p xmlns:a="http://schemas.openxmlformats.org/drawingml/2006/main">
            <a:r>
              <a:t/>
            </a:r>
          </a:p>
          <a:p xmlns:a="http://schemas.openxmlformats.org/drawingml/2006/main">
            <a:r>
              <a:t>Module section: https://docarcshot.github.io/id-practice-update/lectures/HIV_Diagnosis_ART_Prevention_and_Opportunistic_Infections.html#prevention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Prevention includes PrEP, time-sensitive PEP, and sustained viral suppression PrEP choices Option Schedule and use Required safeguards FTC/TDF Daily oral PrEP for sexual and injection-related risk Assess renal function, HBV status, HIV testing, and adherence. FTC/TAF Daily oral PrEP for sexual risk excluding receptive vaginal exposure Review renal function, weight/lipids, HBV, and the population studied. Cabotegravir IM initiation, second dose at 1 month, then every 2 months Antigen-antibody plus HIV RNA testing; plan for missed injections and the long drug tail. Lenacapavir Every 6 months SC after oral loading; approved for eligible adults/adolescents ≥35 kg Use the current PrEP label and CDC testing schedule. Exclude acute HIV; review interactions and a missed-dose/tail plan. [29] [30] [31] Oral PrEP requires renal eligibility and serial HIV testing; FTC/TDF generally needs eCrCl ≥60 mL/min and FTC/TAF ≥30. Injectable PrEP avoids tenofovir renal exposure but still requires reliable testing and return visits. Never use a prevention-only regimen as HIV treatment. [29] [30] For a substantial nonoccupational exposure, start PEP as soon as possible, ideally within 24 hours and no later than 72 hours, for 28 days. Do not wait for pending source testing. Preferred adult options include BIC/FTC/TAF or DTG plus an appropriate tenofovir/FTC or 3TC backbone. Obtain baseline testing, contact at about 24 hours, and antigen-antibody plus NAT follow-up at 4-6 and 12 weeks after exposure under the CDC algorithm. Plan direct PEP-to-PrEP transition if risk continues. Occupational exposures follow the employee-health pathway. [32] Sustained HIV RNA &lt;200 copies/mL on ART prevents sexual HIV transmission (U=U). It does not prevent other STIs and should not be extrapolated to zero risk for breastfeeding or shared injection equipment. For patients starting ART, use another prevention method for at least 6 months and until HIV RNA &lt;200 is documented; confirm sustained suppression. Support ongoing ART access. [33]</a:t>
            </a:r>
          </a:p>
          <a:p xmlns:a="http://schemas.openxmlformats.org/drawingml/2006/main">
            <a:r>
              <a:t/>
            </a:r>
          </a:p>
          <a:p xmlns:a="http://schemas.openxmlformats.org/drawingml/2006/main">
            <a:r>
              <a:t>Module section: https://docarcshot.github.io/id-practice-update/lectures/HIV_Diagnosis_ART_Prevention_and_Opportunistic_Infections.html#prevention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Suppression is the beginning of durable HIV care Review vaccination history, hepatitis prevention/treatment, STI screening, cancer screening, smoking, blood pressure, metabolic health, bone health, mental health, and substance use. Coordinate HIV-specific cervical and anal screening pathways with available follow-up services. [4] [34] Use current HIV immunization guidance for influenza, COVID-19, pneumococcal, hepatitis A/B, meningococcal, HPV, recombinant zoster, and exposure-based mpox vaccination. Live MMR and varicella vaccines require adequate immune status; avoid at CD4 &lt;200 and assess pregnancy. Check HBV vaccine response when indicated. [34] Current ACC/AHA multisociety guidance, endorsed by the May 2026 NIH statement, recommends statin primary prevention for people with HIV aged 40-75. Choose the statin and intensity using cardiovascular risk and ART interactions. [35] A patient leaving with an ART prescription but no way to obtain it does not have a completed discharge plan. Confirm supply through the first outpatient visit, an actual appointment, pending-result ownership, and a contingency if a dose or visit is missed.</a:t>
            </a:r>
          </a:p>
          <a:p xmlns:a="http://schemas.openxmlformats.org/drawingml/2006/main">
            <a:r>
              <a:t/>
            </a:r>
          </a:p>
          <a:p xmlns:a="http://schemas.openxmlformats.org/drawingml/2006/main">
            <a:r>
              <a:t>Module section: https://docarcshot.github.io/id-practice-update/lectures/HIV_Diagnosis_ART_Prevention_and_Opportunistic_Infections.html#longitudinal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Suppression is the beginning of durable HIV care Review vaccination history, hepatitis prevention/treatment, STI screening, cancer screening, smoking, blood pressure, metabolic health, bone health, mental health, and substance use. Coordinate HIV-specific cervical and anal screening pathways with available follow-up services. [4] [34] Use current HIV immunization guidance for influenza, COVID-19, pneumococcal, hepatitis A/B, meningococcal, HPV, recombinant zoster, and exposure-based mpox vaccination. Live MMR and varicella vaccines require adequate immune status; avoid at CD4 &lt;200 and assess pregnancy. Check HBV vaccine response when indicated. [34] Current ACC/AHA multisociety guidance, endorsed by the May 2026 NIH statement, recommends statin primary prevention for people with HIV aged 40-75. Choose the statin and intensity using cardiovascular risk and ART interactions. [35] A patient leaving with an ART prescription but no way to obtain it does not have a completed discharge plan. Confirm supply through the first outpatient visit, an actual appointment, pending-result ownership, and a contingency if a dose or visit is missed.</a:t>
            </a:r>
          </a:p>
          <a:p xmlns:a="http://schemas.openxmlformats.org/drawingml/2006/main">
            <a:r>
              <a:t/>
            </a:r>
          </a:p>
          <a:p xmlns:a="http://schemas.openxmlformats.org/drawingml/2006/main">
            <a:r>
              <a:t>Module section: https://docarcshot.github.io/id-practice-update/lectures/HIV_Diagnosis_ART_Prevention_and_Opportunistic_Infections.html#longitudinal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 options expand delivery choices but do not remove eligibility requirements Long-acting CAB/RPV is a complete injectable maintenance regimen given monthly or every 2 months for appropriately selected patients, generally with HIV RNA &lt;50 for at least 3 months. Review suppression, all resistance and failure history, HBV treatment, pregnancy, interactions, and ability to attend injections. A written bridging and missed-dose plan is part of prescribing. LATITUDE adds evidence for patients with prior adherence challenges after an initial supported oral-treatment phase. [36] [37] [38] Lenacapavir has separate prevention and treatment roles. Yeztugo is the prevention product. Sunlenca is used with other active antiretrovirals in heavily treatment-experienced adults with multidrug-resistant HIV; it is not stand-alone treatment or routine initial ART. A long pharmacologic tail can expose virus to functional monotherapy when companion drugs or visits are missed. [31] [39] Doravirine/islatravir (Idvynso), approved in April 2026, is a once-daily 100/0.25 mg two-drug switch regimen for suppressed adults on stable ART without prior virologic treatment failure or known doravirine resistance substitutions. It is not a rapid-start regimen. Strong CYP3A inducers and concomitant 3TC/FTC are contraindicated; it does not provide an HBV treatment backbone. [40] Fellow and attending discussion When discussing an investigational strategy, specify the population, stage of development, comparator, and outcome. Longer dosing intervals are not themselves evidence of better clinical outcomes, a cure, or an adequate resistance barrier. The selected updates here are not an exhaustive pipeline review.</a:t>
            </a:r>
          </a:p>
          <a:p xmlns:a="http://schemas.openxmlformats.org/drawingml/2006/main">
            <a:r>
              <a:t/>
            </a:r>
          </a:p>
          <a:p xmlns:a="http://schemas.openxmlformats.org/drawingml/2006/main">
            <a:r>
              <a:t>Module section: https://docarcshot.github.io/id-practice-update/lectures/HIV_Diagnosis_ART_Prevention_and_Opportunistic_Infections.html#new</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 options expand delivery choices but do not remove eligibility requirements Long-acting CAB/RPV is a complete injectable maintenance regimen given monthly or every 2 months for appropriately selected patients, generally with HIV RNA &lt;50 for at least 3 months. Review suppression, all resistance and failure history, HBV treatment, pregnancy, interactions, and ability to attend injections. A written bridging and missed-dose plan is part of prescribing. LATITUDE adds evidence for patients with prior adherence challenges after an initial supported oral-treatment phase. [36] [37] [38] Lenacapavir has separate prevention and treatment roles. Yeztugo is the prevention product. Sunlenca is used with other active antiretrovirals in heavily treatment-experienced adults with multidrug-resistant HIV; it is not stand-alone treatment or routine initial ART. A long pharmacologic tail can expose virus to functional monotherapy when companion drugs or visits are missed. [31] [39] Doravirine/islatravir (Idvynso), approved in April 2026, is a once-daily 100/0.25 mg two-drug switch regimen for suppressed adults on stable ART without prior virologic treatment failure or known doravirine resistance substitutions. It is not a rapid-start regimen. Strong CYP3A inducers and concomitant 3TC/FTC are contraindicated; it does not provide an HBV treatment backbone. [40] Fellow and attending discussion When discussing an investigational strategy, specify the population, stage of development, comparator, and outcome. Longer dosing intervals are not themselves evidence of better clinical outcomes, a cure, or an adequate resistance barrier. The selected updates here are not an exhaustive pipeline review.</a:t>
            </a:r>
          </a:p>
          <a:p xmlns:a="http://schemas.openxmlformats.org/drawingml/2006/main">
            <a:r>
              <a:t/>
            </a:r>
          </a:p>
          <a:p xmlns:a="http://schemas.openxmlformats.org/drawingml/2006/main">
            <a:r>
              <a:t>Module section: https://docarcshot.github.io/id-practice-update/lectures/HIV_Diagnosis_ART_Prevention_and_Opportunistic_Infections.html#new</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 options expand delivery choices but do not remove eligibility requirements Long-acting CAB/RPV is a complete injectable maintenance regimen given monthly or every 2 months for appropriately selected patients, generally with HIV RNA &lt;50 for at least 3 months. Review suppression, all resistance and failure history, HBV treatment, pregnancy, interactions, and ability to attend injections. A written bridging and missed-dose plan is part of prescribing. LATITUDE adds evidence for patients with prior adherence challenges after an initial supported oral-treatment phase. [36] [37] [38] Lenacapavir has separate prevention and treatment roles. Yeztugo is the prevention product. Sunlenca is used with other active antiretrovirals in heavily treatment-experienced adults with multidrug-resistant HIV; it is not stand-alone treatment or routine initial ART. A long pharmacologic tail can expose virus to functional monotherapy when companion drugs or visits are missed. [31] [39] Doravirine/islatravir (Idvynso), approved in April 2026, is a once-daily 100/0.25 mg two-drug switch regimen for suppressed adults on stable ART without prior virologic treatment failure or known doravirine resistance substitutions. It is not a rapid-start regimen. Strong CYP3A inducers and concomitant 3TC/FTC are contraindicated; it does not provide an HBV treatment backbone. [40] Fellow and attending discussion When discussing an investigational strategy, specify the population, stage of development, comparator, and outcome. Longer dosing intervals are not themselves evidence of better clinical outcomes, a cure, or an adequate resistance barrier. The selected updates here are not an exhaustive pipeline review.</a:t>
            </a:r>
          </a:p>
          <a:p xmlns:a="http://schemas.openxmlformats.org/drawingml/2006/main">
            <a:r>
              <a:t/>
            </a:r>
          </a:p>
          <a:p xmlns:a="http://schemas.openxmlformats.org/drawingml/2006/main">
            <a:r>
              <a:t>Module section: https://docarcshot.github.io/id-practice-update/lectures/HIV_Diagnosis_ART_Prevention_and_Opportunistic_Infections.html#new</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 options expand delivery choices but do not remove eligibility requirements Long-acting CAB/RPV is a complete injectable maintenance regimen given monthly or every 2 months for appropriately selected patients, generally with HIV RNA &lt;50 for at least 3 months. Review suppression, all resistance and failure history, HBV treatment, pregnancy, interactions, and ability to attend injections. A written bridging and missed-dose plan is part of prescribing. LATITUDE adds evidence for patients with prior adherence challenges after an initial supported oral-treatment phase. [36] [37] [38] Lenacapavir has separate prevention and treatment roles. Yeztugo is the prevention product. Sunlenca is used with other active antiretrovirals in heavily treatment-experienced adults with multidrug-resistant HIV; it is not stand-alone treatment or routine initial ART. A long pharmacologic tail can expose virus to functional monotherapy when companion drugs or visits are missed. [31] [39] Doravirine/islatravir (Idvynso), approved in April 2026, is a once-daily 100/0.25 mg two-drug switch regimen for suppressed adults on stable ART without prior virologic treatment failure or known doravirine resistance substitutions. It is not a rapid-start regimen. Strong CYP3A inducers and concomitant 3TC/FTC are contraindicated; it does not provide an HBV treatment backbone. [40] Fellow and attending discussion When discussing an investigational strategy, specify the population, stage of development, comparator, and outcome. Longer dosing intervals are not themselves evidence of better clinical outcomes, a cure, or an adequate resistance barrier. The selected updates here are not an exhaustive pipeline review.</a:t>
            </a:r>
          </a:p>
          <a:p xmlns:a="http://schemas.openxmlformats.org/drawingml/2006/main">
            <a:r>
              <a:t/>
            </a:r>
          </a:p>
          <a:p xmlns:a="http://schemas.openxmlformats.org/drawingml/2006/main">
            <a:r>
              <a:t>Module section: https://docarcshot.github.io/id-practice-update/lectures/HIV_Diagnosis_ART_Prevention_and_Opportunistic_Infections.html#new</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and population before applying a trial START established the benefit of treatment at high CD4 counts 2015 · Randomized trial · 4,685 adults Immediate ART versus deferral in asymptomatic adults with CD4 &gt;500. Serious AIDS/non-AIDS events or death occurred in 1.8% versus 4.1%; HR 0.43, 95% CI 0.30-0.62. [41] Supports treating all people with HIV. It does not answer ART timing during cryptococcal meningitis. A5164 supports early ART in many acute OIs 2009 · Randomized strategy trial · 282 participants Early ART at median 12 days versus deferred ART at median 45 days. AIDS progression/death occurred in 14% versus 24%; this was a secondary outcome, and the primary ordered endpoint was not significantly different. [42] Most participants had PCP; TB was excluded. Do not generalize the average result to every CNS infection. COAT demonstrates why cryptococcal meningitis is an exception 2014 · Randomized trial · 177 adults ART at 1-2 weeks versus approximately 5 weeks after diagnosis. Mortality at 26 weeks was 45% versus 30%; HR 1.73, 95% CI 1.06-2.82. [43] Early immune restoration can harm in this setting. Antifungal regimens and care setting affect applicability, but the trial supports delayed ART. REPRIEVE supports cardiovascular prevention during treated HIV 2023 · Randomized trial · 7,769 participants Pitavastatin 4 mg daily versus placebo in treated HIV with low-to-moderate cardiovascular risk. MACE rates were 4.81 versus 7.32 per 1,000 person-years; HR 0.65, 95% CI 0.48-0.90. [44] Muscle symptoms and diabetes were more frequent with pitavastatin. Use current prevention guidance and interaction checks rather than extrapolating one dose to every statin. PURPOSE 1 established strong preventive efficacy in young women 2024 · Randomized phase 3 trial No incident HIV infections among 2,134 receiving lenacapavir in the primary analysis; incidence 0 per 100 person-years, 95% CI 0-0.19. Oral FTC/TAF and FTC/TDF groups had infections. [45] The zero-event finding is an observed trial result, not a guarantee of lifelong or perfect protection. Oral adherence and modeled background incidence matter to interpretation. PURPOSE 2 extends preventive evidence to men and gender-diverse people 2024 online publication · Randomized phase 3 trial Two infections in the lenacapavir arm and nine with FTC/TDF in the primary report. The incidence ratio versus estimated background incidence was 0.04 (95% CI 0.01-0.18); versus FTC/TDF, 0.11 (0.02-0.51). [46] Background incidence is not a randomized untreated control. Breakthrough infection and capsid resistance remain possible. LATITUDE supports monthly injections after a supported oral phase 2026 · Randomized open-label trial · 453 enrolled in step 1; 306 randomized in step 2 Participants who achieved HIV RNA ≤200 during supported oral treatment could be randomized. Week-48 regimen failure was 22.8% with CAB/RPV versus 41.2% with oral standard care; difference -18.4 percentage points, 98.4% CI -32.4 to -4.3. [38] The endpoint includes virologic failure or permanent discontinuation. This was not immediate injectable treatment of all unsuppressed patients, and the care support is part of applicability. Trial summaries use the linked original publications or indexed abstracts. Full-text access was not available for every trial; no unreviewed subgroup analysis is asserted.</a:t>
            </a:r>
          </a:p>
          <a:p xmlns:a="http://schemas.openxmlformats.org/drawingml/2006/main">
            <a:r>
              <a:t/>
            </a:r>
          </a:p>
          <a:p xmlns:a="http://schemas.openxmlformats.org/drawingml/2006/main">
            <a:r>
              <a:t>Module section: https://docarcshot.github.io/id-practice-update/lectures/HIV_Diagnosis_ART_Prevention_and_Opportunistic_Infections.html#evidence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and population before applying a trial START established the benefit of treatment at high CD4 counts 2015 · Randomized trial · 4,685 adults Immediate ART versus deferral in asymptomatic adults with CD4 &gt;500. Serious AIDS/non-AIDS events or death occurred in 1.8% versus 4.1%; HR 0.43, 95% CI 0.30-0.62. [41] Supports treating all people with HIV. It does not answer ART timing during cryptococcal meningitis. A5164 supports early ART in many acute OIs 2009 · Randomized strategy trial · 282 participants Early ART at median 12 days versus deferred ART at median 45 days. AIDS progression/death occurred in 14% versus 24%; this was a secondary outcome, and the primary ordered endpoint was not significantly different. [42] Most participants had PCP; TB was excluded. Do not generalize the average result to every CNS infection. COAT demonstrates why cryptococcal meningitis is an exception 2014 · Randomized trial · 177 adults ART at 1-2 weeks versus approximately 5 weeks after diagnosis. Mortality at 26 weeks was 45% versus 30%; HR 1.73, 95% CI 1.06-2.82. [43] Early immune restoration can harm in this setting. Antifungal regimens and care setting affect applicability, but the trial supports delayed ART. REPRIEVE supports cardiovascular prevention during treated HIV 2023 · Randomized trial · 7,769 participants Pitavastatin 4 mg daily versus placebo in treated HIV with low-to-moderate cardiovascular risk. MACE rates were 4.81 versus 7.32 per 1,000 person-years; HR 0.65, 95% CI 0.48-0.90. [44] Muscle symptoms and diabetes were more frequent with pitavastatin. Use current prevention guidance and interaction checks rather than extrapolating one dose to every statin. PURPOSE 1 established strong preventive efficacy in young women 2024 · Randomized phase 3 trial No incident HIV infections among 2,134 receiving lenacapavir in the primary analysis; incidence 0 per 100 person-years, 95% CI 0-0.19. Oral FTC/TAF and FTC/TDF groups had infections. [45] The zero-event finding is an observed trial result, not a guarantee of lifelong or perfect protection. Oral adherence and modeled background incidence matter to interpretation. PURPOSE 2 extends preventive evidence to men and gender-diverse people 2024 online publication · Randomized phase 3 trial Two infections in the lenacapavir arm and nine with FTC/TDF in the primary report. The incidence ratio versus estimated background incidence was 0.04 (95% CI 0.01-0.18); versus FTC/TDF, 0.11 (0.02-0.51). [46] Background incidence is not a randomized untreated control. Breakthrough infection and capsid resistance remain possible. LATITUDE supports monthly injections after a supported oral phase 2026 · Randomized open-label trial · 453 enrolled in step 1; 306 randomized in step 2 Participants who achieved HIV RNA ≤200 during supported oral treatment could be randomized. Week-48 regimen failure was 22.8% with CAB/RPV versus 41.2% with oral standard care; difference -18.4 percentage points, 98.4% CI -32.4 to -4.3. [38] The endpoint includes virologic failure or permanent discontinuation. This was not immediate injectable treatment of all unsuppressed patients, and the care support is part of applicability. Trial summaries use the linked original publications or indexed abstracts. Full-text access was not available for every trial; no unreviewed subgroup analysis is asserted.</a:t>
            </a:r>
          </a:p>
          <a:p xmlns:a="http://schemas.openxmlformats.org/drawingml/2006/main">
            <a:r>
              <a:t/>
            </a:r>
          </a:p>
          <a:p xmlns:a="http://schemas.openxmlformats.org/drawingml/2006/main">
            <a:r>
              <a:t>Module section: https://docarcshot.github.io/id-practice-update/lectures/HIV_Diagnosis_ART_Prevention_and_Opportunistic_Infections.html#evidence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and population before applying a trial START established the benefit of treatment at high CD4 counts 2015 · Randomized trial · 4,685 adults Immediate ART versus deferral in asymptomatic adults with CD4 &gt;500. Serious AIDS/non-AIDS events or death occurred in 1.8% versus 4.1%; HR 0.43, 95% CI 0.30-0.62. [41] Supports treating all people with HIV. It does not answer ART timing during cryptococcal meningitis. A5164 supports early ART in many acute OIs 2009 · Randomized strategy trial · 282 participants Early ART at median 12 days versus deferred ART at median 45 days. AIDS progression/death occurred in 14% versus 24%; this was a secondary outcome, and the primary ordered endpoint was not significantly different. [42] Most participants had PCP; TB was excluded. Do not generalize the average result to every CNS infection. COAT demonstrates why cryptococcal meningitis is an exception 2014 · Randomized trial · 177 adults ART at 1-2 weeks versus approximately 5 weeks after diagnosis. Mortality at 26 weeks was 45% versus 30%; HR 1.73, 95% CI 1.06-2.82. [43] Early immune restoration can harm in this setting. Antifungal regimens and care setting affect applicability, but the trial supports delayed ART. REPRIEVE supports cardiovascular prevention during treated HIV 2023 · Randomized trial · 7,769 participants Pitavastatin 4 mg daily versus placebo in treated HIV with low-to-moderate cardiovascular risk. MACE rates were 4.81 versus 7.32 per 1,000 person-years; HR 0.65, 95% CI 0.48-0.90. [44] Muscle symptoms and diabetes were more frequent with pitavastatin. Use current prevention guidance and interaction checks rather than extrapolating one dose to every statin. PURPOSE 1 established strong preventive efficacy in young women 2024 · Randomized phase 3 trial No incident HIV infections among 2,134 receiving lenacapavir in the primary analysis; incidence 0 per 100 person-years, 95% CI 0-0.19. Oral FTC/TAF and FTC/TDF groups had infections. [45] The zero-event finding is an observed trial result, not a guarantee of lifelong or perfect protection. Oral adherence and modeled background incidence matter to interpretation. PURPOSE 2 extends preventive evidence to men and gender-diverse people 2024 online publication · Randomized phase 3 trial Two infections in the lenacapavir arm and nine with FTC/TDF in the primary report. The incidence ratio versus estimated background incidence was 0.04 (95% CI 0.01-0.18); versus FTC/TDF, 0.11 (0.02-0.51). [46] Background incidence is not a randomized untreated control. Breakthrough infection and capsid resistance remain possible. LATITUDE supports monthly injections after a supported oral phase 2026 · Randomized open-label trial · 453 enrolled in step 1; 306 randomized in step 2 Participants who achieved HIV RNA ≤200 during supported oral treatment could be randomized. Week-48 regimen failure was 22.8% with CAB/RPV versus 41.2% with oral standard care; difference -18.4 percentage points, 98.4% CI -32.4 to -4.3. [38] The endpoint includes virologic failure or permanent discontinuation. This was not immediate injectable treatment of all unsuppressed patients, and the care support is part of applicability. Trial summaries use the linked original publications or indexed abstracts. Full-text access was not available for every trial; no unreviewed subgroup analysis is asserted.</a:t>
            </a:r>
          </a:p>
          <a:p xmlns:a="http://schemas.openxmlformats.org/drawingml/2006/main">
            <a:r>
              <a:t/>
            </a:r>
          </a:p>
          <a:p xmlns:a="http://schemas.openxmlformats.org/drawingml/2006/main">
            <a:r>
              <a:t>Module section: https://docarcshot.github.io/id-practice-update/lectures/HIV_Diagnosis_ART_Prevention_and_Opportunistic_Infections.html#evidence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and population before applying a trial START established the benefit of treatment at high CD4 counts 2015 · Randomized trial · 4,685 adults Immediate ART versus deferral in asymptomatic adults with CD4 &gt;500. Serious AIDS/non-AIDS events or death occurred in 1.8% versus 4.1%; HR 0.43, 95% CI 0.30-0.62. [41] Supports treating all people with HIV. It does not answer ART timing during cryptococcal meningitis. A5164 supports early ART in many acute OIs 2009 · Randomized strategy trial · 282 participants Early ART at median 12 days versus deferred ART at median 45 days. AIDS progression/death occurred in 14% versus 24%; this was a secondary outcome, and the primary ordered endpoint was not significantly different. [42] Most participants had PCP; TB was excluded. Do not generalize the average result to every CNS infection. COAT demonstrates why cryptococcal meningitis is an exception 2014 · Randomized trial · 177 adults ART at 1-2 weeks versus approximately 5 weeks after diagnosis. Mortality at 26 weeks was 45% versus 30%; HR 1.73, 95% CI 1.06-2.82. [43] Early immune restoration can harm in this setting. Antifungal regimens and care setting affect applicability, but the trial supports delayed ART. REPRIEVE supports cardiovascular prevention during treated HIV 2023 · Randomized trial · 7,769 participants Pitavastatin 4 mg daily versus placebo in treated HIV with low-to-moderate cardiovascular risk. MACE rates were 4.81 versus 7.32 per 1,000 person-years; HR 0.65, 95% CI 0.48-0.90. [44] Muscle symptoms and diabetes were more frequent with pitavastatin. Use current prevention guidance and interaction checks rather than extrapolating one dose to every statin. PURPOSE 1 established strong preventive efficacy in young women 2024 · Randomized phase 3 trial No incident HIV infections among 2,134 receiving lenacapavir in the primary analysis; incidence 0 per 100 person-years, 95% CI 0-0.19. Oral FTC/TAF and FTC/TDF groups had infections. [45] The zero-event finding is an observed trial result, not a guarantee of lifelong or perfect protection. Oral adherence and modeled background incidence matter to interpretation. PURPOSE 2 extends preventive evidence to men and gender-diverse people 2024 online publication · Randomized phase 3 trial Two infections in the lenacapavir arm and nine with FTC/TDF in the primary report. The incidence ratio versus estimated background incidence was 0.04 (95% CI 0.01-0.18); versus FTC/TDF, 0.11 (0.02-0.51). [46] Background incidence is not a randomized untreated control. Breakthrough infection and capsid resistance remain possible. LATITUDE supports monthly injections after a supported oral phase 2026 · Randomized open-label trial · 453 enrolled in step 1; 306 randomized in step 2 Participants who achieved HIV RNA ≤200 during supported oral treatment could be randomized. Week-48 regimen failure was 22.8% with CAB/RPV versus 41.2% with oral standard care; difference -18.4 percentage points, 98.4% CI -32.4 to -4.3. [38] The endpoint includes virologic failure or permanent discontinuation. This was not immediate injectable treatment of all unsuppressed patients, and the care support is part of applicability. Trial summaries use the linked original publications or indexed abstracts. Full-text access was not available for every trial; no unreviewed subgroup analysis is asserted.</a:t>
            </a:r>
          </a:p>
          <a:p xmlns:a="http://schemas.openxmlformats.org/drawingml/2006/main">
            <a:r>
              <a:t/>
            </a:r>
          </a:p>
          <a:p xmlns:a="http://schemas.openxmlformats.org/drawingml/2006/main">
            <a:r>
              <a:t>Module section: https://docarcshot.github.io/id-practice-update/lectures/HIV_Diagnosis_ART_Prevention_and_Opportunistic_Infections.html#evidence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and population before applying a trial START established the benefit of treatment at high CD4 counts 2015 · Randomized trial · 4,685 adults Immediate ART versus deferral in asymptomatic adults with CD4 &gt;500. Serious AIDS/non-AIDS events or death occurred in 1.8% versus 4.1%; HR 0.43, 95% CI 0.30-0.62. [41] Supports treating all people with HIV. It does not answer ART timing during cryptococcal meningitis. A5164 supports early ART in many acute OIs 2009 · Randomized strategy trial · 282 participants Early ART at median 12 days versus deferred ART at median 45 days. AIDS progression/death occurred in 14% versus 24%; this was a secondary outcome, and the primary ordered endpoint was not significantly different. [42] Most participants had PCP; TB was excluded. Do not generalize the average result to every CNS infection. COAT demonstrates why cryptococcal meningitis is an exception 2014 · Randomized trial · 177 adults ART at 1-2 weeks versus approximately 5 weeks after diagnosis. Mortality at 26 weeks was 45% versus 30%; HR 1.73, 95% CI 1.06-2.82. [43] Early immune restoration can harm in this setting. Antifungal regimens and care setting affect applicability, but the trial supports delayed ART. REPRIEVE supports cardiovascular prevention during treated HIV 2023 · Randomized trial · 7,769 participants Pitavastatin 4 mg daily versus placebo in treated HIV with low-to-moderate cardiovascular risk. MACE rates were 4.81 versus 7.32 per 1,000 person-years; HR 0.65, 95% CI 0.48-0.90. [44] Muscle symptoms and diabetes were more frequent with pitavastatin. Use current prevention guidance and interaction checks rather than extrapolating one dose to every statin. PURPOSE 1 established strong preventive efficacy in young women 2024 · Randomized phase 3 trial No incident HIV infections among 2,134 receiving lenacapavir in the primary analysis; incidence 0 per 100 person-years, 95% CI 0-0.19. Oral FTC/TAF and FTC/TDF groups had infections. [45] The zero-event finding is an observed trial result, not a guarantee of lifelong or perfect protection. Oral adherence and modeled background incidence matter to interpretation. PURPOSE 2 extends preventive evidence to men and gender-diverse people 2024 online publication · Randomized phase 3 trial Two infections in the lenacapavir arm and nine with FTC/TDF in the primary report. The incidence ratio versus estimated background incidence was 0.04 (95% CI 0.01-0.18); versus FTC/TDF, 0.11 (0.02-0.51). [46] Background incidence is not a randomized untreated control. Breakthrough infection and capsid resistance remain possible. LATITUDE supports monthly injections after a supported oral phase 2026 · Randomized open-label trial · 453 enrolled in step 1; 306 randomized in step 2 Participants who achieved HIV RNA ≤200 during supported oral treatment could be randomized. Week-48 regimen failure was 22.8% with CAB/RPV versus 41.2% with oral standard care; difference -18.4 percentage points, 98.4% CI -32.4 to -4.3. [38] The endpoint includes virologic failure or permanent discontinuation. This was not immediate injectable treatment of all unsuppressed patients, and the care support is part of applicability. Trial summaries use the linked original publications or indexed abstracts. Full-text access was not available for every trial; no unreviewed subgroup analysis is asserted.</a:t>
            </a:r>
          </a:p>
          <a:p xmlns:a="http://schemas.openxmlformats.org/drawingml/2006/main">
            <a:r>
              <a:t/>
            </a:r>
          </a:p>
          <a:p xmlns:a="http://schemas.openxmlformats.org/drawingml/2006/main">
            <a:r>
              <a:t>Module section: https://docarcshot.github.io/id-practice-update/lectures/HIV_Diagnosis_ART_Prevention_and_Opportunistic_Infections.html#evidence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and population before applying a trial START established the benefit of treatment at high CD4 counts 2015 · Randomized trial · 4,685 adults Immediate ART versus deferral in asymptomatic adults with CD4 &gt;500. Serious AIDS/non-AIDS events or death occurred in 1.8% versus 4.1%; HR 0.43, 95% CI 0.30-0.62. [41] Supports treating all people with HIV. It does not answer ART timing during cryptococcal meningitis. A5164 supports early ART in many acute OIs 2009 · Randomized strategy trial · 282 participants Early ART at median 12 days versus deferred ART at median 45 days. AIDS progression/death occurred in 14% versus 24%; this was a secondary outcome, and the primary ordered endpoint was not significantly different. [42] Most participants had PCP; TB was excluded. Do not generalize the average result to every CNS infection. COAT demonstrates why cryptococcal meningitis is an exception 2014 · Randomized trial · 177 adults ART at 1-2 weeks versus approximately 5 weeks after diagnosis. Mortality at 26 weeks was 45% versus 30%; HR 1.73, 95% CI 1.06-2.82. [43] Early immune restoration can harm in this setting. Antifungal regimens and care setting affect applicability, but the trial supports delayed ART. REPRIEVE supports cardiovascular prevention during treated HIV 2023 · Randomized trial · 7,769 participants Pitavastatin 4 mg daily versus placebo in treated HIV with low-to-moderate cardiovascular risk. MACE rates were 4.81 versus 7.32 per 1,000 person-years; HR 0.65, 95% CI 0.48-0.90. [44] Muscle symptoms and diabetes were more frequent with pitavastatin. Use current prevention guidance and interaction checks rather than extrapolating one dose to every statin. PURPOSE 1 established strong preventive efficacy in young women 2024 · Randomized phase 3 trial No incident HIV infections among 2,134 receiving lenacapavir in the primary analysis; incidence 0 per 100 person-years, 95% CI 0-0.19. Oral FTC/TAF and FTC/TDF groups had infections. [45] The zero-event finding is an observed trial result, not a guarantee of lifelong or perfect protection. Oral adherence and modeled background incidence matter to interpretation. PURPOSE 2 extends preventive evidence to men and gender-diverse people 2024 online publication · Randomized phase 3 trial Two infections in the lenacapavir arm and nine with FTC/TDF in the primary report. The incidence ratio versus estimated background incidence was 0.04 (95% CI 0.01-0.18); versus FTC/TDF, 0.11 (0.02-0.51). [46] Background incidence is not a randomized untreated control. Breakthrough infection and capsid resistance remain possible. LATITUDE supports monthly injections after a supported oral phase 2026 · Randomized open-label trial · 453 enrolled in step 1; 306 randomized in step 2 Participants who achieved HIV RNA ≤200 during supported oral treatment could be randomized. Week-48 regimen failure was 22.8% with CAB/RPV versus 41.2% with oral standard care; difference -18.4 percentage points, 98.4% CI -32.4 to -4.3. [38] The endpoint includes virologic failure or permanent discontinuation. This was not immediate injectable treatment of all unsuppressed patients, and the care support is part of applicability. Trial summaries use the linked original publications or indexed abstracts. Full-text access was not available for every trial; no unreviewed subgroup analysis is asserted.</a:t>
            </a:r>
          </a:p>
          <a:p xmlns:a="http://schemas.openxmlformats.org/drawingml/2006/main">
            <a:r>
              <a:t/>
            </a:r>
          </a:p>
          <a:p xmlns:a="http://schemas.openxmlformats.org/drawingml/2006/main">
            <a:r>
              <a:t>Module section: https://docarcshot.github.io/id-practice-update/lectures/HIV_Diagnosis_ART_Prevention_and_Opportunistic_Infections.html#evidence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and population before applying a trial START established the benefit of treatment at high CD4 counts 2015 · Randomized trial · 4,685 adults Immediate ART versus deferral in asymptomatic adults with CD4 &gt;500. Serious AIDS/non-AIDS events or death occurred in 1.8% versus 4.1%; HR 0.43, 95% CI 0.30-0.62. [41] Supports treating all people with HIV. It does not answer ART timing during cryptococcal meningitis. A5164 supports early ART in many acute OIs 2009 · Randomized strategy trial · 282 participants Early ART at median 12 days versus deferred ART at median 45 days. AIDS progression/death occurred in 14% versus 24%; this was a secondary outcome, and the primary ordered endpoint was not significantly different. [42] Most participants had PCP; TB was excluded. Do not generalize the average result to every CNS infection. COAT demonstrates why cryptococcal meningitis is an exception 2014 · Randomized trial · 177 adults ART at 1-2 weeks versus approximately 5 weeks after diagnosis. Mortality at 26 weeks was 45% versus 30%; HR 1.73, 95% CI 1.06-2.82. [43] Early immune restoration can harm in this setting. Antifungal regimens and care setting affect applicability, but the trial supports delayed ART. REPRIEVE supports cardiovascular prevention during treated HIV 2023 · Randomized trial · 7,769 participants Pitavastatin 4 mg daily versus placebo in treated HIV with low-to-moderate cardiovascular risk. MACE rates were 4.81 versus 7.32 per 1,000 person-years; HR 0.65, 95% CI 0.48-0.90. [44] Muscle symptoms and diabetes were more frequent with pitavastatin. Use current prevention guidance and interaction checks rather than extrapolating one dose to every statin. PURPOSE 1 established strong preventive efficacy in young women 2024 · Randomized phase 3 trial No incident HIV infections among 2,134 receiving lenacapavir in the primary analysis; incidence 0 per 100 person-years, 95% CI 0-0.19. Oral FTC/TAF and FTC/TDF groups had infections. [45] The zero-event finding is an observed trial result, not a guarantee of lifelong or perfect protection. Oral adherence and modeled background incidence matter to interpretation. PURPOSE 2 extends preventive evidence to men and gender-diverse people 2024 online publication · Randomized phase 3 trial Two infections in the lenacapavir arm and nine with FTC/TDF in the primary report. The incidence ratio versus estimated background incidence was 0.04 (95% CI 0.01-0.18); versus FTC/TDF, 0.11 (0.02-0.51). [46] Background incidence is not a randomized untreated control. Breakthrough infection and capsid resistance remain possible. LATITUDE supports monthly injections after a supported oral phase 2026 · Randomized open-label trial · 453 enrolled in step 1; 306 randomized in step 2 Participants who achieved HIV RNA ≤200 during supported oral treatment could be randomized. Week-48 regimen failure was 22.8% with CAB/RPV versus 41.2% with oral standard care; difference -18.4 percentage points, 98.4% CI -32.4 to -4.3. [38] The endpoint includes virologic failure or permanent discontinuation. This was not immediate injectable treatment of all unsuppressed patients, and the care support is part of applicability. Trial summaries use the linked original publications or indexed abstracts. Full-text access was not available for every trial; no unreviewed subgroup analysis is asserted.</a:t>
            </a:r>
          </a:p>
          <a:p xmlns:a="http://schemas.openxmlformats.org/drawingml/2006/main">
            <a:r>
              <a:t/>
            </a:r>
          </a:p>
          <a:p xmlns:a="http://schemas.openxmlformats.org/drawingml/2006/main">
            <a:r>
              <a:t>Module section: https://docarcshot.github.io/id-practice-update/lectures/HIV_Diagnosis_ART_Prevention_and_Opportunistic_Infections.html#evidence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Read the endpoint and population before applying a trial START established the benefit of treatment at high CD4 counts 2015 · Randomized trial · 4,685 adults Immediate ART versus deferral in asymptomatic adults with CD4 &gt;500. Serious AIDS/non-AIDS events or death occurred in 1.8% versus 4.1%; HR 0.43, 95% CI 0.30-0.62. [41] Supports treating all people with HIV. It does not answer ART timing during cryptococcal meningitis. A5164 supports early ART in many acute OIs 2009 · Randomized strategy trial · 282 participants Early ART at median 12 days versus deferred ART at median 45 days. AIDS progression/death occurred in 14% versus 24%; this was a secondary outcome, and the primary ordered endpoint was not significantly different. [42] Most participants had PCP; TB was excluded. Do not generalize the average result to every CNS infection. COAT demonstrates why cryptococcal meningitis is an exception 2014 · Randomized trial · 177 adults ART at 1-2 weeks versus approximately 5 weeks after diagnosis. Mortality at 26 weeks was 45% versus 30%; HR 1.73, 95% CI 1.06-2.82. [43] Early immune restoration can harm in this setting. Antifungal regimens and care setting affect applicability, but the trial supports delayed ART. REPRIEVE supports cardiovascular prevention during treated HIV 2023 · Randomized trial · 7,769 participants Pitavastatin 4 mg daily versus placebo in treated HIV with low-to-moderate cardiovascular risk. MACE rates were 4.81 versus 7.32 per 1,000 person-years; HR 0.65, 95% CI 0.48-0.90. [44] Muscle symptoms and diabetes were more frequent with pitavastatin. Use current prevention guidance and interaction checks rather than extrapolating one dose to every statin. PURPOSE 1 established strong preventive efficacy in young women 2024 · Randomized phase 3 trial No incident HIV infections among 2,134 receiving lenacapavir in the primary analysis; incidence 0 per 100 person-years, 95% CI 0-0.19. Oral FTC/TAF and FTC/TDF groups had infections. [45] The zero-event finding is an observed trial result, not a guarantee of lifelong or perfect protection. Oral adherence and modeled background incidence matter to interpretation. PURPOSE 2 extends preventive evidence to men and gender-diverse people 2024 online publication · Randomized phase 3 trial Two infections in the lenacapavir arm and nine with FTC/TDF in the primary report. The incidence ratio versus estimated background incidence was 0.04 (95% CI 0.01-0.18); versus FTC/TDF, 0.11 (0.02-0.51). [46] Background incidence is not a randomized untreated control. Breakthrough infection and capsid resistance remain possible. LATITUDE supports monthly injections after a supported oral phase 2026 · Randomized open-label trial · 453 enrolled in step 1; 306 randomized in step 2 Participants who achieved HIV RNA ≤200 during supported oral treatment could be randomized. Week-48 regimen failure was 22.8% with CAB/RPV versus 41.2% with oral standard care; difference -18.4 percentage points, 98.4% CI -32.4 to -4.3. [38] The endpoint includes virologic failure or permanent discontinuation. This was not immediate injectable treatment of all unsuppressed patients, and the care support is part of applicability. Trial summaries use the linked original publications or indexed abstracts. Full-text access was not available for every trial; no unreviewed subgroup analysis is asserted.</a:t>
            </a:r>
          </a:p>
          <a:p xmlns:a="http://schemas.openxmlformats.org/drawingml/2006/main">
            <a:r>
              <a:t/>
            </a:r>
          </a:p>
          <a:p xmlns:a="http://schemas.openxmlformats.org/drawingml/2006/main">
            <a:r>
              <a:t>Module section: https://docarcshot.github.io/id-practice-update/lectures/HIV_Diagnosis_ART_Prevention_and_Opportunistic_Infections.html#evidence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cases to practice a defensible next step Case 1 · An acute viral syndrome with discordant testing A 26-year-old has fever, rash, pharyngitis, a reactive antigen-antibody screen, and negative antibody differentiation. What is the next test, and what history changes empiric ART? Discuss the next step Obtain HIV RNA and ask about oral/injectable PrEP and PEP. Repeat an ambiguous result on a new specimen. If HIV followed CAB PrEP, request integrase genotype and use the recommended boosted-darunavir strategy while awaiting results. [1] Case 2 · New HIV with hypoxemic pneumonia A 42-year-old has CD4 38, diffuse ground-glass opacity, and room-air PaO₂ 62 mmHg. What should happen today, and when should ART begin? Discuss the next step Obtain respiratory PCP testing while starting treatment-dose TMP-SMX and adjunctive prednisone. Assess bacterial/TB coinfection and oxygen needs. Plan ART within 2 weeks and subsequent PCP prophylaxis. [6] Case 3 · Headache before rapid ART A 35-year-old with CD4 24 has 2 weeks of headache and a positive serum CrAg. Is same-day ART the next step? Discuss the next step First evaluate CNS disease with LP, including opening pressure and fungal culture, after imaging if indicated. Begin appropriate antifungals and manage pressure. CNS cryptococcosis usually calls for ART deferral around 4-6 weeks. [7] Case 4 · Ring-enhancing lesions that do not improve A patient with CD4 48, positive Toxoplasma IgG, and multiple lesions receives appropriate therapy but is unchanged at day 14. What should prevent automatic extension of empiric therapy? Discuss the next step Reassess exposure and adherence and pursue alternative diagnoses, particularly CNS lymphoma. Discuss biopsy. A presumptive toxoplasma diagnosis should have a defined reassessment point. [5] Case 5 · CMV PCR distracts from the involved organ A patient with CD4 19 has diarrhea and a positive plasma CMV PCR. Does this establish CMV colitis? Discuss the next step No. Obtain a syndrome-directed stool evaluation and consider endoscopy with biopsy. Ask about vision and arrange ophthalmology as indicated. Positive blood PCR does not by itself justify treatment for tissue disease. [18] Case 6 · Fever and cytopenias before MAC prophylaxis A patient newly diagnosed with HIV has CD4 12, fever, weight loss, cytopenias, and elevated alkaline phosphatase. Should weekly azithromycin be started immediately? Discuss the next step Evaluate active MAC and disseminated histoplasmosis, with appropriate cultures, antigen testing, and tissue when needed. MAC prophylaxis can expose active disease to monotherapy. Severe histoplasmosis warrants prompt amphotericin-based treatment. [17] [19] Case 7 · A suppressed patient wants fewer pills A patient with HIV/HBV is suppressed on tenofovir-containing ART and requests CAB/RPV. What cannot be lost in the switch? Discuss the next step HBV treatment. Review resistance and the rest of injectable eligibility, then preserve or separately provide appropriate HBV therapy. CAB/RPV itself does not treat HBV. [12] [36] Case 8 · A new exposure presents overnight An HIV-negative patient presents 18 hours after a substantial sexual exposure; the source result is pending. What action is time sensitive? Discuss the next step Start indicated PEP without waiting, obtain baseline testing, provide the full 28-day plan, and arrange follow-up and a PrEP transition discussion. [32]</a:t>
            </a:r>
          </a:p>
          <a:p xmlns:a="http://schemas.openxmlformats.org/drawingml/2006/main">
            <a:r>
              <a:t/>
            </a:r>
          </a:p>
          <a:p xmlns:a="http://schemas.openxmlformats.org/drawingml/2006/main">
            <a:r>
              <a:t>Module section: https://docarcshot.github.io/id-practice-update/lectures/HIV_Diagnosis_ART_Prevention_and_Opportunistic_Infections.html#cases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cases to practice a defensible next step Case 1 · An acute viral syndrome with discordant testing A 26-year-old has fever, rash, pharyngitis, a reactive antigen-antibody screen, and negative antibody differentiation. What is the next test, and what history changes empiric ART? Discuss the next step Obtain HIV RNA and ask about oral/injectable PrEP and PEP. Repeat an ambiguous result on a new specimen. If HIV followed CAB PrEP, request integrase genotype and use the recommended boosted-darunavir strategy while awaiting results. [1] Case 2 · New HIV with hypoxemic pneumonia A 42-year-old has CD4 38, diffuse ground-glass opacity, and room-air PaO₂ 62 mmHg. What should happen today, and when should ART begin? Discuss the next step Obtain respiratory PCP testing while starting treatment-dose TMP-SMX and adjunctive prednisone. Assess bacterial/TB coinfection and oxygen needs. Plan ART within 2 weeks and subsequent PCP prophylaxis. [6] Case 3 · Headache before rapid ART A 35-year-old with CD4 24 has 2 weeks of headache and a positive serum CrAg. Is same-day ART the next step? Discuss the next step First evaluate CNS disease with LP, including opening pressure and fungal culture, after imaging if indicated. Begin appropriate antifungals and manage pressure. CNS cryptococcosis usually calls for ART deferral around 4-6 weeks. [7] Case 4 · Ring-enhancing lesions that do not improve A patient with CD4 48, positive Toxoplasma IgG, and multiple lesions receives appropriate therapy but is unchanged at day 14. What should prevent automatic extension of empiric therapy? Discuss the next step Reassess exposure and adherence and pursue alternative diagnoses, particularly CNS lymphoma. Discuss biopsy. A presumptive toxoplasma diagnosis should have a defined reassessment point. [5] Case 5 · CMV PCR distracts from the involved organ A patient with CD4 19 has diarrhea and a positive plasma CMV PCR. Does this establish CMV colitis? Discuss the next step No. Obtain a syndrome-directed stool evaluation and consider endoscopy with biopsy. Ask about vision and arrange ophthalmology as indicated. Positive blood PCR does not by itself justify treatment for tissue disease. [18] Case 6 · Fever and cytopenias before MAC prophylaxis A patient newly diagnosed with HIV has CD4 12, fever, weight loss, cytopenias, and elevated alkaline phosphatase. Should weekly azithromycin be started immediately? Discuss the next step Evaluate active MAC and disseminated histoplasmosis, with appropriate cultures, antigen testing, and tissue when needed. MAC prophylaxis can expose active disease to monotherapy. Severe histoplasmosis warrants prompt amphotericin-based treatment. [17] [19] Case 7 · A suppressed patient wants fewer pills A patient with HIV/HBV is suppressed on tenofovir-containing ART and requests CAB/RPV. What cannot be lost in the switch? Discuss the next step HBV treatment. Review resistance and the rest of injectable eligibility, then preserve or separately provide appropriate HBV therapy. CAB/RPV itself does not treat HBV. [12] [36] Case 8 · A new exposure presents overnight An HIV-negative patient presents 18 hours after a substantial sexual exposure; the source result is pending. What action is time sensitive? Discuss the next step Start indicated PEP without waiting, obtain baseline testing, provide the full 28-day plan, and arrange follow-up and a PrEP transition discussion. [32]</a:t>
            </a:r>
          </a:p>
          <a:p xmlns:a="http://schemas.openxmlformats.org/drawingml/2006/main">
            <a:r>
              <a:t/>
            </a:r>
          </a:p>
          <a:p xmlns:a="http://schemas.openxmlformats.org/drawingml/2006/main">
            <a:r>
              <a:t>Module section: https://docarcshot.github.io/id-practice-update/lectures/HIV_Diagnosis_ART_Prevention_and_Opportunistic_Infections.html#cases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cases to practice a defensible next step Case 1 · An acute viral syndrome with discordant testing A 26-year-old has fever, rash, pharyngitis, a reactive antigen-antibody screen, and negative antibody differentiation. What is the next test, and what history changes empiric ART? Discuss the next step Obtain HIV RNA and ask about oral/injectable PrEP and PEP. Repeat an ambiguous result on a new specimen. If HIV followed CAB PrEP, request integrase genotype and use the recommended boosted-darunavir strategy while awaiting results. [1] Case 2 · New HIV with hypoxemic pneumonia A 42-year-old has CD4 38, diffuse ground-glass opacity, and room-air PaO₂ 62 mmHg. What should happen today, and when should ART begin? Discuss the next step Obtain respiratory PCP testing while starting treatment-dose TMP-SMX and adjunctive prednisone. Assess bacterial/TB coinfection and oxygen needs. Plan ART within 2 weeks and subsequent PCP prophylaxis. [6] Case 3 · Headache before rapid ART A 35-year-old with CD4 24 has 2 weeks of headache and a positive serum CrAg. Is same-day ART the next step? Discuss the next step First evaluate CNS disease with LP, including opening pressure and fungal culture, after imaging if indicated. Begin appropriate antifungals and manage pressure. CNS cryptococcosis usually calls for ART deferral around 4-6 weeks. [7] Case 4 · Ring-enhancing lesions that do not improve A patient with CD4 48, positive Toxoplasma IgG, and multiple lesions receives appropriate therapy but is unchanged at day 14. What should prevent automatic extension of empiric therapy? Discuss the next step Reassess exposure and adherence and pursue alternative diagnoses, particularly CNS lymphoma. Discuss biopsy. A presumptive toxoplasma diagnosis should have a defined reassessment point. [5] Case 5 · CMV PCR distracts from the involved organ A patient with CD4 19 has diarrhea and a positive plasma CMV PCR. Does this establish CMV colitis? Discuss the next step No. Obtain a syndrome-directed stool evaluation and consider endoscopy with biopsy. Ask about vision and arrange ophthalmology as indicated. Positive blood PCR does not by itself justify treatment for tissue disease. [18] Case 6 · Fever and cytopenias before MAC prophylaxis A patient newly diagnosed with HIV has CD4 12, fever, weight loss, cytopenias, and elevated alkaline phosphatase. Should weekly azithromycin be started immediately? Discuss the next step Evaluate active MAC and disseminated histoplasmosis, with appropriate cultures, antigen testing, and tissue when needed. MAC prophylaxis can expose active disease to monotherapy. Severe histoplasmosis warrants prompt amphotericin-based treatment. [17] [19] Case 7 · A suppressed patient wants fewer pills A patient with HIV/HBV is suppressed on tenofovir-containing ART and requests CAB/RPV. What cannot be lost in the switch? Discuss the next step HBV treatment. Review resistance and the rest of injectable eligibility, then preserve or separately provide appropriate HBV therapy. CAB/RPV itself does not treat HBV. [12] [36] Case 8 · A new exposure presents overnight An HIV-negative patient presents 18 hours after a substantial sexual exposure; the source result is pending. What action is time sensitive? Discuss the next step Start indicated PEP without waiting, obtain baseline testing, provide the full 28-day plan, and arrange follow-up and a PrEP transition discussion. [32]</a:t>
            </a:r>
          </a:p>
          <a:p xmlns:a="http://schemas.openxmlformats.org/drawingml/2006/main">
            <a:r>
              <a:t/>
            </a:r>
          </a:p>
          <a:p xmlns:a="http://schemas.openxmlformats.org/drawingml/2006/main">
            <a:r>
              <a:t>Module section: https://docarcshot.github.io/id-practice-update/lectures/HIV_Diagnosis_ART_Prevention_and_Opportunistic_Infections.html#cases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cases to practice a defensible next step Case 1 · An acute viral syndrome with discordant testing A 26-year-old has fever, rash, pharyngitis, a reactive antigen-antibody screen, and negative antibody differentiation. What is the next test, and what history changes empiric ART? Discuss the next step Obtain HIV RNA and ask about oral/injectable PrEP and PEP. Repeat an ambiguous result on a new specimen. If HIV followed CAB PrEP, request integrase genotype and use the recommended boosted-darunavir strategy while awaiting results. [1] Case 2 · New HIV with hypoxemic pneumonia A 42-year-old has CD4 38, diffuse ground-glass opacity, and room-air PaO₂ 62 mmHg. What should happen today, and when should ART begin? Discuss the next step Obtain respiratory PCP testing while starting treatment-dose TMP-SMX and adjunctive prednisone. Assess bacterial/TB coinfection and oxygen needs. Plan ART within 2 weeks and subsequent PCP prophylaxis. [6] Case 3 · Headache before rapid ART A 35-year-old with CD4 24 has 2 weeks of headache and a positive serum CrAg. Is same-day ART the next step? Discuss the next step First evaluate CNS disease with LP, including opening pressure and fungal culture, after imaging if indicated. Begin appropriate antifungals and manage pressure. CNS cryptococcosis usually calls for ART deferral around 4-6 weeks. [7] Case 4 · Ring-enhancing lesions that do not improve A patient with CD4 48, positive Toxoplasma IgG, and multiple lesions receives appropriate therapy but is unchanged at day 14. What should prevent automatic extension of empiric therapy? Discuss the next step Reassess exposure and adherence and pursue alternative diagnoses, particularly CNS lymphoma. Discuss biopsy. A presumptive toxoplasma diagnosis should have a defined reassessment point. [5] Case 5 · CMV PCR distracts from the involved organ A patient with CD4 19 has diarrhea and a positive plasma CMV PCR. Does this establish CMV colitis? Discuss the next step No. Obtain a syndrome-directed stool evaluation and consider endoscopy with biopsy. Ask about vision and arrange ophthalmology as indicated. Positive blood PCR does not by itself justify treatment for tissue disease. [18] Case 6 · Fever and cytopenias before MAC prophylaxis A patient newly diagnosed with HIV has CD4 12, fever, weight loss, cytopenias, and elevated alkaline phosphatase. Should weekly azithromycin be started immediately? Discuss the next step Evaluate active MAC and disseminated histoplasmosis, with appropriate cultures, antigen testing, and tissue when needed. MAC prophylaxis can expose active disease to monotherapy. Severe histoplasmosis warrants prompt amphotericin-based treatment. [17] [19] Case 7 · A suppressed patient wants fewer pills A patient with HIV/HBV is suppressed on tenofovir-containing ART and requests CAB/RPV. What cannot be lost in the switch? Discuss the next step HBV treatment. Review resistance and the rest of injectable eligibility, then preserve or separately provide appropriate HBV therapy. CAB/RPV itself does not treat HBV. [12] [36] Case 8 · A new exposure presents overnight An HIV-negative patient presents 18 hours after a substantial sexual exposure; the source result is pending. What action is time sensitive? Discuss the next step Start indicated PEP without waiting, obtain baseline testing, provide the full 28-day plan, and arrange follow-up and a PrEP transition discussion. [32]</a:t>
            </a:r>
          </a:p>
          <a:p xmlns:a="http://schemas.openxmlformats.org/drawingml/2006/main">
            <a:r>
              <a:t/>
            </a:r>
          </a:p>
          <a:p xmlns:a="http://schemas.openxmlformats.org/drawingml/2006/main">
            <a:r>
              <a:t>Module section: https://docarcshot.github.io/id-practice-update/lectures/HIV_Diagnosis_ART_Prevention_and_Opportunistic_Infections.html#cases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cases to practice a defensible next step Case 1 · An acute viral syndrome with discordant testing A 26-year-old has fever, rash, pharyngitis, a reactive antigen-antibody screen, and negative antibody differentiation. What is the next test, and what history changes empiric ART? Discuss the next step Obtain HIV RNA and ask about oral/injectable PrEP and PEP. Repeat an ambiguous result on a new specimen. If HIV followed CAB PrEP, request integrase genotype and use the recommended boosted-darunavir strategy while awaiting results. [1] Case 2 · New HIV with hypoxemic pneumonia A 42-year-old has CD4 38, diffuse ground-glass opacity, and room-air PaO₂ 62 mmHg. What should happen today, and when should ART begin? Discuss the next step Obtain respiratory PCP testing while starting treatment-dose TMP-SMX and adjunctive prednisone. Assess bacterial/TB coinfection and oxygen needs. Plan ART within 2 weeks and subsequent PCP prophylaxis. [6] Case 3 · Headache before rapid ART A 35-year-old with CD4 24 has 2 weeks of headache and a positive serum CrAg. Is same-day ART the next step? Discuss the next step First evaluate CNS disease with LP, including opening pressure and fungal culture, after imaging if indicated. Begin appropriate antifungals and manage pressure. CNS cryptococcosis usually calls for ART deferral around 4-6 weeks. [7] Case 4 · Ring-enhancing lesions that do not improve A patient with CD4 48, positive Toxoplasma IgG, and multiple lesions receives appropriate therapy but is unchanged at day 14. What should prevent automatic extension of empiric therapy? Discuss the next step Reassess exposure and adherence and pursue alternative diagnoses, particularly CNS lymphoma. Discuss biopsy. A presumptive toxoplasma diagnosis should have a defined reassessment point. [5] Case 5 · CMV PCR distracts from the involved organ A patient with CD4 19 has diarrhea and a positive plasma CMV PCR. Does this establish CMV colitis? Discuss the next step No. Obtain a syndrome-directed stool evaluation and consider endoscopy with biopsy. Ask about vision and arrange ophthalmology as indicated. Positive blood PCR does not by itself justify treatment for tissue disease. [18] Case 6 · Fever and cytopenias before MAC prophylaxis A patient newly diagnosed with HIV has CD4 12, fever, weight loss, cytopenias, and elevated alkaline phosphatase. Should weekly azithromycin be started immediately? Discuss the next step Evaluate active MAC and disseminated histoplasmosis, with appropriate cultures, antigen testing, and tissue when needed. MAC prophylaxis can expose active disease to monotherapy. Severe histoplasmosis warrants prompt amphotericin-based treatment. [17] [19] Case 7 · A suppressed patient wants fewer pills A patient with HIV/HBV is suppressed on tenofovir-containing ART and requests CAB/RPV. What cannot be lost in the switch? Discuss the next step HBV treatment. Review resistance and the rest of injectable eligibility, then preserve or separately provide appropriate HBV therapy. CAB/RPV itself does not treat HBV. [12] [36] Case 8 · A new exposure presents overnight An HIV-negative patient presents 18 hours after a substantial sexual exposure; the source result is pending. What action is time sensitive? Discuss the next step Start indicated PEP without waiting, obtain baseline testing, provide the full 28-day plan, and arrange follow-up and a PrEP transition discussion. [32]</a:t>
            </a:r>
          </a:p>
          <a:p xmlns:a="http://schemas.openxmlformats.org/drawingml/2006/main">
            <a:r>
              <a:t/>
            </a:r>
          </a:p>
          <a:p xmlns:a="http://schemas.openxmlformats.org/drawingml/2006/main">
            <a:r>
              <a:t>Module section: https://docarcshot.github.io/id-practice-update/lectures/HIV_Diagnosis_ART_Prevention_and_Opportunistic_Infections.html#cases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cases to practice a defensible next step Case 1 · An acute viral syndrome with discordant testing A 26-year-old has fever, rash, pharyngitis, a reactive antigen-antibody screen, and negative antibody differentiation. What is the next test, and what history changes empiric ART? Discuss the next step Obtain HIV RNA and ask about oral/injectable PrEP and PEP. Repeat an ambiguous result on a new specimen. If HIV followed CAB PrEP, request integrase genotype and use the recommended boosted-darunavir strategy while awaiting results. [1] Case 2 · New HIV with hypoxemic pneumonia A 42-year-old has CD4 38, diffuse ground-glass opacity, and room-air PaO₂ 62 mmHg. What should happen today, and when should ART begin? Discuss the next step Obtain respiratory PCP testing while starting treatment-dose TMP-SMX and adjunctive prednisone. Assess bacterial/TB coinfection and oxygen needs. Plan ART within 2 weeks and subsequent PCP prophylaxis. [6] Case 3 · Headache before rapid ART A 35-year-old with CD4 24 has 2 weeks of headache and a positive serum CrAg. Is same-day ART the next step? Discuss the next step First evaluate CNS disease with LP, including opening pressure and fungal culture, after imaging if indicated. Begin appropriate antifungals and manage pressure. CNS cryptococcosis usually calls for ART deferral around 4-6 weeks. [7] Case 4 · Ring-enhancing lesions that do not improve A patient with CD4 48, positive Toxoplasma IgG, and multiple lesions receives appropriate therapy but is unchanged at day 14. What should prevent automatic extension of empiric therapy? Discuss the next step Reassess exposure and adherence and pursue alternative diagnoses, particularly CNS lymphoma. Discuss biopsy. A presumptive toxoplasma diagnosis should have a defined reassessment point. [5] Case 5 · CMV PCR distracts from the involved organ A patient with CD4 19 has diarrhea and a positive plasma CMV PCR. Does this establish CMV colitis? Discuss the next step No. Obtain a syndrome-directed stool evaluation and consider endoscopy with biopsy. Ask about vision and arrange ophthalmology as indicated. Positive blood PCR does not by itself justify treatment for tissue disease. [18] Case 6 · Fever and cytopenias before MAC prophylaxis A patient newly diagnosed with HIV has CD4 12, fever, weight loss, cytopenias, and elevated alkaline phosphatase. Should weekly azithromycin be started immediately? Discuss the next step Evaluate active MAC and disseminated histoplasmosis, with appropriate cultures, antigen testing, and tissue when needed. MAC prophylaxis can expose active disease to monotherapy. Severe histoplasmosis warrants prompt amphotericin-based treatment. [17] [19] Case 7 · A suppressed patient wants fewer pills A patient with HIV/HBV is suppressed on tenofovir-containing ART and requests CAB/RPV. What cannot be lost in the switch? Discuss the next step HBV treatment. Review resistance and the rest of injectable eligibility, then preserve or separately provide appropriate HBV therapy. CAB/RPV itself does not treat HBV. [12] [36] Case 8 · A new exposure presents overnight An HIV-negative patient presents 18 hours after a substantial sexual exposure; the source result is pending. What action is time sensitive? Discuss the next step Start indicated PEP without waiting, obtain baseline testing, provide the full 28-day plan, and arrange follow-up and a PrEP transition discussion. [32]</a:t>
            </a:r>
          </a:p>
          <a:p xmlns:a="http://schemas.openxmlformats.org/drawingml/2006/main">
            <a:r>
              <a:t/>
            </a:r>
          </a:p>
          <a:p xmlns:a="http://schemas.openxmlformats.org/drawingml/2006/main">
            <a:r>
              <a:t>Module section: https://docarcshot.github.io/id-practice-update/lectures/HIV_Diagnosis_ART_Prevention_and_Opportunistic_Infections.html#cases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cases to practice a defensible next step Case 1 · An acute viral syndrome with discordant testing A 26-year-old has fever, rash, pharyngitis, a reactive antigen-antibody screen, and negative antibody differentiation. What is the next test, and what history changes empiric ART? Discuss the next step Obtain HIV RNA and ask about oral/injectable PrEP and PEP. Repeat an ambiguous result on a new specimen. If HIV followed CAB PrEP, request integrase genotype and use the recommended boosted-darunavir strategy while awaiting results. [1] Case 2 · New HIV with hypoxemic pneumonia A 42-year-old has CD4 38, diffuse ground-glass opacity, and room-air PaO₂ 62 mmHg. What should happen today, and when should ART begin? Discuss the next step Obtain respiratory PCP testing while starting treatment-dose TMP-SMX and adjunctive prednisone. Assess bacterial/TB coinfection and oxygen needs. Plan ART within 2 weeks and subsequent PCP prophylaxis. [6] Case 3 · Headache before rapid ART A 35-year-old with CD4 24 has 2 weeks of headache and a positive serum CrAg. Is same-day ART the next step? Discuss the next step First evaluate CNS disease with LP, including opening pressure and fungal culture, after imaging if indicated. Begin appropriate antifungals and manage pressure. CNS cryptococcosis usually calls for ART deferral around 4-6 weeks. [7] Case 4 · Ring-enhancing lesions that do not improve A patient with CD4 48, positive Toxoplasma IgG, and multiple lesions receives appropriate therapy but is unchanged at day 14. What should prevent automatic extension of empiric therapy? Discuss the next step Reassess exposure and adherence and pursue alternative diagnoses, particularly CNS lymphoma. Discuss biopsy. A presumptive toxoplasma diagnosis should have a defined reassessment point. [5] Case 5 · CMV PCR distracts from the involved organ A patient with CD4 19 has diarrhea and a positive plasma CMV PCR. Does this establish CMV colitis? Discuss the next step No. Obtain a syndrome-directed stool evaluation and consider endoscopy with biopsy. Ask about vision and arrange ophthalmology as indicated. Positive blood PCR does not by itself justify treatment for tissue disease. [18] Case 6 · Fever and cytopenias before MAC prophylaxis A patient newly diagnosed with HIV has CD4 12, fever, weight loss, cytopenias, and elevated alkaline phosphatase. Should weekly azithromycin be started immediately? Discuss the next step Evaluate active MAC and disseminated histoplasmosis, with appropriate cultures, antigen testing, and tissue when needed. MAC prophylaxis can expose active disease to monotherapy. Severe histoplasmosis warrants prompt amphotericin-based treatment. [17] [19] Case 7 · A suppressed patient wants fewer pills A patient with HIV/HBV is suppressed on tenofovir-containing ART and requests CAB/RPV. What cannot be lost in the switch? Discuss the next step HBV treatment. Review resistance and the rest of injectable eligibility, then preserve or separately provide appropriate HBV therapy. CAB/RPV itself does not treat HBV. [12] [36] Case 8 · A new exposure presents overnight An HIV-negative patient presents 18 hours after a substantial sexual exposure; the source result is pending. What action is time sensitive? Discuss the next step Start indicated PEP without waiting, obtain baseline testing, provide the full 28-day plan, and arrange follow-up and a PrEP transition discussion. [32]</a:t>
            </a:r>
          </a:p>
          <a:p xmlns:a="http://schemas.openxmlformats.org/drawingml/2006/main">
            <a:r>
              <a:t/>
            </a:r>
          </a:p>
          <a:p xmlns:a="http://schemas.openxmlformats.org/drawingml/2006/main">
            <a:r>
              <a:t>Module section: https://docarcshot.github.io/id-practice-update/lectures/HIV_Diagnosis_ART_Prevention_and_Opportunistic_Infections.html#cases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cases to practice a defensible next step Case 1 · An acute viral syndrome with discordant testing A 26-year-old has fever, rash, pharyngitis, a reactive antigen-antibody screen, and negative antibody differentiation. What is the next test, and what history changes empiric ART? Discuss the next step Obtain HIV RNA and ask about oral/injectable PrEP and PEP. Repeat an ambiguous result on a new specimen. If HIV followed CAB PrEP, request integrase genotype and use the recommended boosted-darunavir strategy while awaiting results. [1] Case 2 · New HIV with hypoxemic pneumonia A 42-year-old has CD4 38, diffuse ground-glass opacity, and room-air PaO₂ 62 mmHg. What should happen today, and when should ART begin? Discuss the next step Obtain respiratory PCP testing while starting treatment-dose TMP-SMX and adjunctive prednisone. Assess bacterial/TB coinfection and oxygen needs. Plan ART within 2 weeks and subsequent PCP prophylaxis. [6] Case 3 · Headache before rapid ART A 35-year-old with CD4 24 has 2 weeks of headache and a positive serum CrAg. Is same-day ART the next step? Discuss the next step First evaluate CNS disease with LP, including opening pressure and fungal culture, after imaging if indicated. Begin appropriate antifungals and manage pressure. CNS cryptococcosis usually calls for ART deferral around 4-6 weeks. [7] Case 4 · Ring-enhancing lesions that do not improve A patient with CD4 48, positive Toxoplasma IgG, and multiple lesions receives appropriate therapy but is unchanged at day 14. What should prevent automatic extension of empiric therapy? Discuss the next step Reassess exposure and adherence and pursue alternative diagnoses, particularly CNS lymphoma. Discuss biopsy. A presumptive toxoplasma diagnosis should have a defined reassessment point. [5] Case 5 · CMV PCR distracts from the involved organ A patient with CD4 19 has diarrhea and a positive plasma CMV PCR. Does this establish CMV colitis? Discuss the next step No. Obtain a syndrome-directed stool evaluation and consider endoscopy with biopsy. Ask about vision and arrange ophthalmology as indicated. Positive blood PCR does not by itself justify treatment for tissue disease. [18] Case 6 · Fever and cytopenias before MAC prophylaxis A patient newly diagnosed with HIV has CD4 12, fever, weight loss, cytopenias, and elevated alkaline phosphatase. Should weekly azithromycin be started immediately? Discuss the next step Evaluate active MAC and disseminated histoplasmosis, with appropriate cultures, antigen testing, and tissue when needed. MAC prophylaxis can expose active disease to monotherapy. Severe histoplasmosis warrants prompt amphotericin-based treatment. [17] [19] Case 7 · A suppressed patient wants fewer pills A patient with HIV/HBV is suppressed on tenofovir-containing ART and requests CAB/RPV. What cannot be lost in the switch? Discuss the next step HBV treatment. Review resistance and the rest of injectable eligibility, then preserve or separately provide appropriate HBV therapy. CAB/RPV itself does not treat HBV. [12] [36] Case 8 · A new exposure presents overnight An HIV-negative patient presents 18 hours after a substantial sexual exposure; the source result is pending. What action is time sensitive? Discuss the next step Start indicated PEP without waiting, obtain baseline testing, provide the full 28-day plan, and arrange follow-up and a PrEP transition discussion. [32]</a:t>
            </a:r>
          </a:p>
          <a:p xmlns:a="http://schemas.openxmlformats.org/drawingml/2006/main">
            <a:r>
              <a:t/>
            </a:r>
          </a:p>
          <a:p xmlns:a="http://schemas.openxmlformats.org/drawingml/2006/main">
            <a:r>
              <a:t>Module section: https://docarcshot.github.io/id-practice-update/lectures/HIV_Diagnosis_ART_Prevention_and_Opportunistic_Infections.html#cases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cases to practice a defensible next step Case 1 · An acute viral syndrome with discordant testing A 26-year-old has fever, rash, pharyngitis, a reactive antigen-antibody screen, and negative antibody differentiation. What is the next test, and what history changes empiric ART? Discuss the next step Obtain HIV RNA and ask about oral/injectable PrEP and PEP. Repeat an ambiguous result on a new specimen. If HIV followed CAB PrEP, request integrase genotype and use the recommended boosted-darunavir strategy while awaiting results. [1] Case 2 · New HIV with hypoxemic pneumonia A 42-year-old has CD4 38, diffuse ground-glass opacity, and room-air PaO₂ 62 mmHg. What should happen today, and when should ART begin? Discuss the next step Obtain respiratory PCP testing while starting treatment-dose TMP-SMX and adjunctive prednisone. Assess bacterial/TB coinfection and oxygen needs. Plan ART within 2 weeks and subsequent PCP prophylaxis. [6] Case 3 · Headache before rapid ART A 35-year-old with CD4 24 has 2 weeks of headache and a positive serum CrAg. Is same-day ART the next step? Discuss the next step First evaluate CNS disease with LP, including opening pressure and fungal culture, after imaging if indicated. Begin appropriate antifungals and manage pressure. CNS cryptococcosis usually calls for ART deferral around 4-6 weeks. [7] Case 4 · Ring-enhancing lesions that do not improve A patient with CD4 48, positive Toxoplasma IgG, and multiple lesions receives appropriate therapy but is unchanged at day 14. What should prevent automatic extension of empiric therapy? Discuss the next step Reassess exposure and adherence and pursue alternative diagnoses, particularly CNS lymphoma. Discuss biopsy. A presumptive toxoplasma diagnosis should have a defined reassessment point. [5] Case 5 · CMV PCR distracts from the involved organ A patient with CD4 19 has diarrhea and a positive plasma CMV PCR. Does this establish CMV colitis? Discuss the next step No. Obtain a syndrome-directed stool evaluation and consider endoscopy with biopsy. Ask about vision and arrange ophthalmology as indicated. Positive blood PCR does not by itself justify treatment for tissue disease. [18] Case 6 · Fever and cytopenias before MAC prophylaxis A patient newly diagnosed with HIV has CD4 12, fever, weight loss, cytopenias, and elevated alkaline phosphatase. Should weekly azithromycin be started immediately? Discuss the next step Evaluate active MAC and disseminated histoplasmosis, with appropriate cultures, antigen testing, and tissue when needed. MAC prophylaxis can expose active disease to monotherapy. Severe histoplasmosis warrants prompt amphotericin-based treatment. [17] [19] Case 7 · A suppressed patient wants fewer pills A patient with HIV/HBV is suppressed on tenofovir-containing ART and requests CAB/RPV. What cannot be lost in the switch? Discuss the next step HBV treatment. Review resistance and the rest of injectable eligibility, then preserve or separately provide appropriate HBV therapy. CAB/RPV itself does not treat HBV. [12] [36] Case 8 · A new exposure presents overnight An HIV-negative patient presents 18 hours after a substantial sexual exposure; the source result is pending. What action is time sensitive? Discuss the next step Start indicated PEP without waiting, obtain baseline testing, provide the full 28-day plan, and arrange follow-up and a PrEP transition discussion. [32]</a:t>
            </a:r>
          </a:p>
          <a:p xmlns:a="http://schemas.openxmlformats.org/drawingml/2006/main">
            <a:r>
              <a:t/>
            </a:r>
          </a:p>
          <a:p xmlns:a="http://schemas.openxmlformats.org/drawingml/2006/main">
            <a:r>
              <a:t>Module section: https://docarcshot.github.io/id-practice-update/lectures/HIV_Diagnosis_ART_Prevention_and_Opportunistic_Infections.html#cases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cases to practice a defensible next step Case 1 · An acute viral syndrome with discordant testing A 26-year-old has fever, rash, pharyngitis, a reactive antigen-antibody screen, and negative antibody differentiation. What is the next test, and what history changes empiric ART? Discuss the next step Obtain HIV RNA and ask about oral/injectable PrEP and PEP. Repeat an ambiguous result on a new specimen. If HIV followed CAB PrEP, request integrase genotype and use the recommended boosted-darunavir strategy while awaiting results. [1] Case 2 · New HIV with hypoxemic pneumonia A 42-year-old has CD4 38, diffuse ground-glass opacity, and room-air PaO₂ 62 mmHg. What should happen today, and when should ART begin? Discuss the next step Obtain respiratory PCP testing while starting treatment-dose TMP-SMX and adjunctive prednisone. Assess bacterial/TB coinfection and oxygen needs. Plan ART within 2 weeks and subsequent PCP prophylaxis. [6] Case 3 · Headache before rapid ART A 35-year-old with CD4 24 has 2 weeks of headache and a positive serum CrAg. Is same-day ART the next step? Discuss the next step First evaluate CNS disease with LP, including opening pressure and fungal culture, after imaging if indicated. Begin appropriate antifungals and manage pressure. CNS cryptococcosis usually calls for ART deferral around 4-6 weeks. [7] Case 4 · Ring-enhancing lesions that do not improve A patient with CD4 48, positive Toxoplasma IgG, and multiple lesions receives appropriate therapy but is unchanged at day 14. What should prevent automatic extension of empiric therapy? Discuss the next step Reassess exposure and adherence and pursue alternative diagnoses, particularly CNS lymphoma. Discuss biopsy. A presumptive toxoplasma diagnosis should have a defined reassessment point. [5] Case 5 · CMV PCR distracts from the involved organ A patient with CD4 19 has diarrhea and a positive plasma CMV PCR. Does this establish CMV colitis? Discuss the next step No. Obtain a syndrome-directed stool evaluation and consider endoscopy with biopsy. Ask about vision and arrange ophthalmology as indicated. Positive blood PCR does not by itself justify treatment for tissue disease. [18] Case 6 · Fever and cytopenias before MAC prophylaxis A patient newly diagnosed with HIV has CD4 12, fever, weight loss, cytopenias, and elevated alkaline phosphatase. Should weekly azithromycin be started immediately? Discuss the next step Evaluate active MAC and disseminated histoplasmosis, with appropriate cultures, antigen testing, and tissue when needed. MAC prophylaxis can expose active disease to monotherapy. Severe histoplasmosis warrants prompt amphotericin-based treatment. [17] [19] Case 7 · A suppressed patient wants fewer pills A patient with HIV/HBV is suppressed on tenofovir-containing ART and requests CAB/RPV. What cannot be lost in the switch? Discuss the next step HBV treatment. Review resistance and the rest of injectable eligibility, then preserve or separately provide appropriate HBV therapy. CAB/RPV itself does not treat HBV. [12] [36] Case 8 · A new exposure presents overnight An HIV-negative patient presents 18 hours after a substantial sexual exposure; the source result is pending. What action is time sensitive? Discuss the next step Start indicated PEP without waiting, obtain baseline testing, provide the full 28-day plan, and arrange follow-up and a PrEP transition discussion. [32]</a:t>
            </a:r>
          </a:p>
          <a:p xmlns:a="http://schemas.openxmlformats.org/drawingml/2006/main">
            <a:r>
              <a:t/>
            </a:r>
          </a:p>
          <a:p xmlns:a="http://schemas.openxmlformats.org/drawingml/2006/main">
            <a:r>
              <a:t>Module section: https://docarcshot.github.io/id-practice-update/lectures/HIV_Diagnosis_ART_Prevention_and_Opportunistic_Infections.html#cases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cases to practice a defensible next step Case 1 · An acute viral syndrome with discordant testing A 26-year-old has fever, rash, pharyngitis, a reactive antigen-antibody screen, and negative antibody differentiation. What is the next test, and what history changes empiric ART? Discuss the next step Obtain HIV RNA and ask about oral/injectable PrEP and PEP. Repeat an ambiguous result on a new specimen. If HIV followed CAB PrEP, request integrase genotype and use the recommended boosted-darunavir strategy while awaiting results. [1] Case 2 · New HIV with hypoxemic pneumonia A 42-year-old has CD4 38, diffuse ground-glass opacity, and room-air PaO₂ 62 mmHg. What should happen today, and when should ART begin? Discuss the next step Obtain respiratory PCP testing while starting treatment-dose TMP-SMX and adjunctive prednisone. Assess bacterial/TB coinfection and oxygen needs. Plan ART within 2 weeks and subsequent PCP prophylaxis. [6] Case 3 · Headache before rapid ART A 35-year-old with CD4 24 has 2 weeks of headache and a positive serum CrAg. Is same-day ART the next step? Discuss the next step First evaluate CNS disease with LP, including opening pressure and fungal culture, after imaging if indicated. Begin appropriate antifungals and manage pressure. CNS cryptococcosis usually calls for ART deferral around 4-6 weeks. [7] Case 4 · Ring-enhancing lesions that do not improve A patient with CD4 48, positive Toxoplasma IgG, and multiple lesions receives appropriate therapy but is unchanged at day 14. What should prevent automatic extension of empiric therapy? Discuss the next step Reassess exposure and adherence and pursue alternative diagnoses, particularly CNS lymphoma. Discuss biopsy. A presumptive toxoplasma diagnosis should have a defined reassessment point. [5] Case 5 · CMV PCR distracts from the involved organ A patient with CD4 19 has diarrhea and a positive plasma CMV PCR. Does this establish CMV colitis? Discuss the next step No. Obtain a syndrome-directed stool evaluation and consider endoscopy with biopsy. Ask about vision and arrange ophthalmology as indicated. Positive blood PCR does not by itself justify treatment for tissue disease. [18] Case 6 · Fever and cytopenias before MAC prophylaxis A patient newly diagnosed with HIV has CD4 12, fever, weight loss, cytopenias, and elevated alkaline phosphatase. Should weekly azithromycin be started immediately? Discuss the next step Evaluate active MAC and disseminated histoplasmosis, with appropriate cultures, antigen testing, and tissue when needed. MAC prophylaxis can expose active disease to monotherapy. Severe histoplasmosis warrants prompt amphotericin-based treatment. [17] [19] Case 7 · A suppressed patient wants fewer pills A patient with HIV/HBV is suppressed on tenofovir-containing ART and requests CAB/RPV. What cannot be lost in the switch? Discuss the next step HBV treatment. Review resistance and the rest of injectable eligibility, then preserve or separately provide appropriate HBV therapy. CAB/RPV itself does not treat HBV. [12] [36] Case 8 · A new exposure presents overnight An HIV-negative patient presents 18 hours after a substantial sexual exposure; the source result is pending. What action is time sensitive? Discuss the next step Start indicated PEP without waiting, obtain baseline testing, provide the full 28-day plan, and arrange follow-up and a PrEP transition discussion. [32]</a:t>
            </a:r>
          </a:p>
          <a:p xmlns:a="http://schemas.openxmlformats.org/drawingml/2006/main">
            <a:r>
              <a:t/>
            </a:r>
          </a:p>
          <a:p xmlns:a="http://schemas.openxmlformats.org/drawingml/2006/main">
            <a:r>
              <a:t>Module section: https://docarcshot.github.io/id-practice-update/lectures/HIV_Diagnosis_ART_Prevention_and_Opportunistic_Infections.html#cases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cases to practice a defensible next step Case 1 · An acute viral syndrome with discordant testing A 26-year-old has fever, rash, pharyngitis, a reactive antigen-antibody screen, and negative antibody differentiation. What is the next test, and what history changes empiric ART? Discuss the next step Obtain HIV RNA and ask about oral/injectable PrEP and PEP. Repeat an ambiguous result on a new specimen. If HIV followed CAB PrEP, request integrase genotype and use the recommended boosted-darunavir strategy while awaiting results. [1] Case 2 · New HIV with hypoxemic pneumonia A 42-year-old has CD4 38, diffuse ground-glass opacity, and room-air PaO₂ 62 mmHg. What should happen today, and when should ART begin? Discuss the next step Obtain respiratory PCP testing while starting treatment-dose TMP-SMX and adjunctive prednisone. Assess bacterial/TB coinfection and oxygen needs. Plan ART within 2 weeks and subsequent PCP prophylaxis. [6] Case 3 · Headache before rapid ART A 35-year-old with CD4 24 has 2 weeks of headache and a positive serum CrAg. Is same-day ART the next step? Discuss the next step First evaluate CNS disease with LP, including opening pressure and fungal culture, after imaging if indicated. Begin appropriate antifungals and manage pressure. CNS cryptococcosis usually calls for ART deferral around 4-6 weeks. [7] Case 4 · Ring-enhancing lesions that do not improve A patient with CD4 48, positive Toxoplasma IgG, and multiple lesions receives appropriate therapy but is unchanged at day 14. What should prevent automatic extension of empiric therapy? Discuss the next step Reassess exposure and adherence and pursue alternative diagnoses, particularly CNS lymphoma. Discuss biopsy. A presumptive toxoplasma diagnosis should have a defined reassessment point. [5] Case 5 · CMV PCR distracts from the involved organ A patient with CD4 19 has diarrhea and a positive plasma CMV PCR. Does this establish CMV colitis? Discuss the next step No. Obtain a syndrome-directed stool evaluation and consider endoscopy with biopsy. Ask about vision and arrange ophthalmology as indicated. Positive blood PCR does not by itself justify treatment for tissue disease. [18] Case 6 · Fever and cytopenias before MAC prophylaxis A patient newly diagnosed with HIV has CD4 12, fever, weight loss, cytopenias, and elevated alkaline phosphatase. Should weekly azithromycin be started immediately? Discuss the next step Evaluate active MAC and disseminated histoplasmosis, with appropriate cultures, antigen testing, and tissue when needed. MAC prophylaxis can expose active disease to monotherapy. Severe histoplasmosis warrants prompt amphotericin-based treatment. [17] [19] Case 7 · A suppressed patient wants fewer pills A patient with HIV/HBV is suppressed on tenofovir-containing ART and requests CAB/RPV. What cannot be lost in the switch? Discuss the next step HBV treatment. Review resistance and the rest of injectable eligibility, then preserve or separately provide appropriate HBV therapy. CAB/RPV itself does not treat HBV. [12] [36] Case 8 · A new exposure presents overnight An HIV-negative patient presents 18 hours after a substantial sexual exposure; the source result is pending. What action is time sensitive? Discuss the next step Start indicated PEP without waiting, obtain baseline testing, provide the full 28-day plan, and arrange follow-up and a PrEP transition discussion. [32]</a:t>
            </a:r>
          </a:p>
          <a:p xmlns:a="http://schemas.openxmlformats.org/drawingml/2006/main">
            <a:r>
              <a:t/>
            </a:r>
          </a:p>
          <a:p xmlns:a="http://schemas.openxmlformats.org/drawingml/2006/main">
            <a:r>
              <a:t>Module section: https://docarcshot.github.io/id-practice-update/lectures/HIV_Diagnosis_ART_Prevention_and_Opportunistic_Infections.html#cases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cases to practice a defensible next step Case 1 · An acute viral syndrome with discordant testing A 26-year-old has fever, rash, pharyngitis, a reactive antigen-antibody screen, and negative antibody differentiation. What is the next test, and what history changes empiric ART? Discuss the next step Obtain HIV RNA and ask about oral/injectable PrEP and PEP. Repeat an ambiguous result on a new specimen. If HIV followed CAB PrEP, request integrase genotype and use the recommended boosted-darunavir strategy while awaiting results. [1] Case 2 · New HIV with hypoxemic pneumonia A 42-year-old has CD4 38, diffuse ground-glass opacity, and room-air PaO₂ 62 mmHg. What should happen today, and when should ART begin? Discuss the next step Obtain respiratory PCP testing while starting treatment-dose TMP-SMX and adjunctive prednisone. Assess bacterial/TB coinfection and oxygen needs. Plan ART within 2 weeks and subsequent PCP prophylaxis. [6] Case 3 · Headache before rapid ART A 35-year-old with CD4 24 has 2 weeks of headache and a positive serum CrAg. Is same-day ART the next step? Discuss the next step First evaluate CNS disease with LP, including opening pressure and fungal culture, after imaging if indicated. Begin appropriate antifungals and manage pressure. CNS cryptococcosis usually calls for ART deferral around 4-6 weeks. [7] Case 4 · Ring-enhancing lesions that do not improve A patient with CD4 48, positive Toxoplasma IgG, and multiple lesions receives appropriate therapy but is unchanged at day 14. What should prevent automatic extension of empiric therapy? Discuss the next step Reassess exposure and adherence and pursue alternative diagnoses, particularly CNS lymphoma. Discuss biopsy. A presumptive toxoplasma diagnosis should have a defined reassessment point. [5] Case 5 · CMV PCR distracts from the involved organ A patient with CD4 19 has diarrhea and a positive plasma CMV PCR. Does this establish CMV colitis? Discuss the next step No. Obtain a syndrome-directed stool evaluation and consider endoscopy with biopsy. Ask about vision and arrange ophthalmology as indicated. Positive blood PCR does not by itself justify treatment for tissue disease. [18] Case 6 · Fever and cytopenias before MAC prophylaxis A patient newly diagnosed with HIV has CD4 12, fever, weight loss, cytopenias, and elevated alkaline phosphatase. Should weekly azithromycin be started immediately? Discuss the next step Evaluate active MAC and disseminated histoplasmosis, with appropriate cultures, antigen testing, and tissue when needed. MAC prophylaxis can expose active disease to monotherapy. Severe histoplasmosis warrants prompt amphotericin-based treatment. [17] [19] Case 7 · A suppressed patient wants fewer pills A patient with HIV/HBV is suppressed on tenofovir-containing ART and requests CAB/RPV. What cannot be lost in the switch? Discuss the next step HBV treatment. Review resistance and the rest of injectable eligibility, then preserve or separately provide appropriate HBV therapy. CAB/RPV itself does not treat HBV. [12] [36] Case 8 · A new exposure presents overnight An HIV-negative patient presents 18 hours after a substantial sexual exposure; the source result is pending. What action is time sensitive? Discuss the next step Start indicated PEP without waiting, obtain baseline testing, provide the full 28-day plan, and arrange follow-up and a PrEP transition discussion. [32]</a:t>
            </a:r>
          </a:p>
          <a:p xmlns:a="http://schemas.openxmlformats.org/drawingml/2006/main">
            <a:r>
              <a:t/>
            </a:r>
          </a:p>
          <a:p xmlns:a="http://schemas.openxmlformats.org/drawingml/2006/main">
            <a:r>
              <a:t>Module section: https://docarcshot.github.io/id-practice-update/lectures/HIV_Diagnosis_ART_Prevention_and_Opportunistic_Infections.html#cases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cases to practice a defensible next step Case 1 · An acute viral syndrome with discordant testing A 26-year-old has fever, rash, pharyngitis, a reactive antigen-antibody screen, and negative antibody differentiation. What is the next test, and what history changes empiric ART? Discuss the next step Obtain HIV RNA and ask about oral/injectable PrEP and PEP. Repeat an ambiguous result on a new specimen. If HIV followed CAB PrEP, request integrase genotype and use the recommended boosted-darunavir strategy while awaiting results. [1] Case 2 · New HIV with hypoxemic pneumonia A 42-year-old has CD4 38, diffuse ground-glass opacity, and room-air PaO₂ 62 mmHg. What should happen today, and when should ART begin? Discuss the next step Obtain respiratory PCP testing while starting treatment-dose TMP-SMX and adjunctive prednisone. Assess bacterial/TB coinfection and oxygen needs. Plan ART within 2 weeks and subsequent PCP prophylaxis. [6] Case 3 · Headache before rapid ART A 35-year-old with CD4 24 has 2 weeks of headache and a positive serum CrAg. Is same-day ART the next step? Discuss the next step First evaluate CNS disease with LP, including opening pressure and fungal culture, after imaging if indicated. Begin appropriate antifungals and manage pressure. CNS cryptococcosis usually calls for ART deferral around 4-6 weeks. [7] Case 4 · Ring-enhancing lesions that do not improve A patient with CD4 48, positive Toxoplasma IgG, and multiple lesions receives appropriate therapy but is unchanged at day 14. What should prevent automatic extension of empiric therapy? Discuss the next step Reassess exposure and adherence and pursue alternative diagnoses, particularly CNS lymphoma. Discuss biopsy. A presumptive toxoplasma diagnosis should have a defined reassessment point. [5] Case 5 · CMV PCR distracts from the involved organ A patient with CD4 19 has diarrhea and a positive plasma CMV PCR. Does this establish CMV colitis? Discuss the next step No. Obtain a syndrome-directed stool evaluation and consider endoscopy with biopsy. Ask about vision and arrange ophthalmology as indicated. Positive blood PCR does not by itself justify treatment for tissue disease. [18] Case 6 · Fever and cytopenias before MAC prophylaxis A patient newly diagnosed with HIV has CD4 12, fever, weight loss, cytopenias, and elevated alkaline phosphatase. Should weekly azithromycin be started immediately? Discuss the next step Evaluate active MAC and disseminated histoplasmosis, with appropriate cultures, antigen testing, and tissue when needed. MAC prophylaxis can expose active disease to monotherapy. Severe histoplasmosis warrants prompt amphotericin-based treatment. [17] [19] Case 7 · A suppressed patient wants fewer pills A patient with HIV/HBV is suppressed on tenofovir-containing ART and requests CAB/RPV. What cannot be lost in the switch? Discuss the next step HBV treatment. Review resistance and the rest of injectable eligibility, then preserve or separately provide appropriate HBV therapy. CAB/RPV itself does not treat HBV. [12] [36] Case 8 · A new exposure presents overnight An HIV-negative patient presents 18 hours after a substantial sexual exposure; the source result is pending. What action is time sensitive? Discuss the next step Start indicated PEP without waiting, obtain baseline testing, provide the full 28-day plan, and arrange follow-up and a PrEP transition discussion. [32]</a:t>
            </a:r>
          </a:p>
          <a:p xmlns:a="http://schemas.openxmlformats.org/drawingml/2006/main">
            <a:r>
              <a:t/>
            </a:r>
          </a:p>
          <a:p xmlns:a="http://schemas.openxmlformats.org/drawingml/2006/main">
            <a:r>
              <a:t>Module section: https://docarcshot.github.io/id-practice-update/lectures/HIV_Diagnosis_ART_Prevention_and_Opportunistic_Infections.html#cases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cases to practice a defensible next step Case 1 · An acute viral syndrome with discordant testing A 26-year-old has fever, rash, pharyngitis, a reactive antigen-antibody screen, and negative antibody differentiation. What is the next test, and what history changes empiric ART? Discuss the next step Obtain HIV RNA and ask about oral/injectable PrEP and PEP. Repeat an ambiguous result on a new specimen. If HIV followed CAB PrEP, request integrase genotype and use the recommended boosted-darunavir strategy while awaiting results. [1] Case 2 · New HIV with hypoxemic pneumonia A 42-year-old has CD4 38, diffuse ground-glass opacity, and room-air PaO₂ 62 mmHg. What should happen today, and when should ART begin? Discuss the next step Obtain respiratory PCP testing while starting treatment-dose TMP-SMX and adjunctive prednisone. Assess bacterial/TB coinfection and oxygen needs. Plan ART within 2 weeks and subsequent PCP prophylaxis. [6] Case 3 · Headache before rapid ART A 35-year-old with CD4 24 has 2 weeks of headache and a positive serum CrAg. Is same-day ART the next step? Discuss the next step First evaluate CNS disease with LP, including opening pressure and fungal culture, after imaging if indicated. Begin appropriate antifungals and manage pressure. CNS cryptococcosis usually calls for ART deferral around 4-6 weeks. [7] Case 4 · Ring-enhancing lesions that do not improve A patient with CD4 48, positive Toxoplasma IgG, and multiple lesions receives appropriate therapy but is unchanged at day 14. What should prevent automatic extension of empiric therapy? Discuss the next step Reassess exposure and adherence and pursue alternative diagnoses, particularly CNS lymphoma. Discuss biopsy. A presumptive toxoplasma diagnosis should have a defined reassessment point. [5] Case 5 · CMV PCR distracts from the involved organ A patient with CD4 19 has diarrhea and a positive plasma CMV PCR. Does this establish CMV colitis? Discuss the next step No. Obtain a syndrome-directed stool evaluation and consider endoscopy with biopsy. Ask about vision and arrange ophthalmology as indicated. Positive blood PCR does not by itself justify treatment for tissue disease. [18] Case 6 · Fever and cytopenias before MAC prophylaxis A patient newly diagnosed with HIV has CD4 12, fever, weight loss, cytopenias, and elevated alkaline phosphatase. Should weekly azithromycin be started immediately? Discuss the next step Evaluate active MAC and disseminated histoplasmosis, with appropriate cultures, antigen testing, and tissue when needed. MAC prophylaxis can expose active disease to monotherapy. Severe histoplasmosis warrants prompt amphotericin-based treatment. [17] [19] Case 7 · A suppressed patient wants fewer pills A patient with HIV/HBV is suppressed on tenofovir-containing ART and requests CAB/RPV. What cannot be lost in the switch? Discuss the next step HBV treatment. Review resistance and the rest of injectable eligibility, then preserve or separately provide appropriate HBV therapy. CAB/RPV itself does not treat HBV. [12] [36] Case 8 · A new exposure presents overnight An HIV-negative patient presents 18 hours after a substantial sexual exposure; the source result is pending. What action is time sensitive? Discuss the next step Start indicated PEP without waiting, obtain baseline testing, provide the full 28-day plan, and arrange follow-up and a PrEP transition discussion. [32]</a:t>
            </a:r>
          </a:p>
          <a:p xmlns:a="http://schemas.openxmlformats.org/drawingml/2006/main">
            <a:r>
              <a:t/>
            </a:r>
          </a:p>
          <a:p xmlns:a="http://schemas.openxmlformats.org/drawingml/2006/main">
            <a:r>
              <a:t>Module section: https://docarcshot.github.io/id-practice-update/lectures/HIV_Diagnosis_ART_Prevention_and_Opportunistic_Infections.html#cases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these cases to practice a defensible next step Case 1 · An acute viral syndrome with discordant testing A 26-year-old has fever, rash, pharyngitis, a reactive antigen-antibody screen, and negative antibody differentiation. What is the next test, and what history changes empiric ART? Discuss the next step Obtain HIV RNA and ask about oral/injectable PrEP and PEP. Repeat an ambiguous result on a new specimen. If HIV followed CAB PrEP, request integrase genotype and use the recommended boosted-darunavir strategy while awaiting results. [1] Case 2 · New HIV with hypoxemic pneumonia A 42-year-old has CD4 38, diffuse ground-glass opacity, and room-air PaO₂ 62 mmHg. What should happen today, and when should ART begin? Discuss the next step Obtain respiratory PCP testing while starting treatment-dose TMP-SMX and adjunctive prednisone. Assess bacterial/TB coinfection and oxygen needs. Plan ART within 2 weeks and subsequent PCP prophylaxis. [6] Case 3 · Headache before rapid ART A 35-year-old with CD4 24 has 2 weeks of headache and a positive serum CrAg. Is same-day ART the next step? Discuss the next step First evaluate CNS disease with LP, including opening pressure and fungal culture, after imaging if indicated. Begin appropriate antifungals and manage pressure. CNS cryptococcosis usually calls for ART deferral around 4-6 weeks. [7] Case 4 · Ring-enhancing lesions that do not improve A patient with CD4 48, positive Toxoplasma IgG, and multiple lesions receives appropriate therapy but is unchanged at day 14. What should prevent automatic extension of empiric therapy? Discuss the next step Reassess exposure and adherence and pursue alternative diagnoses, particularly CNS lymphoma. Discuss biopsy. A presumptive toxoplasma diagnosis should have a defined reassessment point. [5] Case 5 · CMV PCR distracts from the involved organ A patient with CD4 19 has diarrhea and a positive plasma CMV PCR. Does this establish CMV colitis? Discuss the next step No. Obtain a syndrome-directed stool evaluation and consider endoscopy with biopsy. Ask about vision and arrange ophthalmology as indicated. Positive blood PCR does not by itself justify treatment for tissue disease. [18] Case 6 · Fever and cytopenias before MAC prophylaxis A patient newly diagnosed with HIV has CD4 12, fever, weight loss, cytopenias, and elevated alkaline phosphatase. Should weekly azithromycin be started immediately? Discuss the next step Evaluate active MAC and disseminated histoplasmosis, with appropriate cultures, antigen testing, and tissue when needed. MAC prophylaxis can expose active disease to monotherapy. Severe histoplasmosis warrants prompt amphotericin-based treatment. [17] [19] Case 7 · A suppressed patient wants fewer pills A patient with HIV/HBV is suppressed on tenofovir-containing ART and requests CAB/RPV. What cannot be lost in the switch? Discuss the next step HBV treatment. Review resistance and the rest of injectable eligibility, then preserve or separately provide appropriate HBV therapy. CAB/RPV itself does not treat HBV. [12] [36] Case 8 · A new exposure presents overnight An HIV-negative patient presents 18 hours after a substantial sexual exposure; the source result is pending. What action is time sensitive? Discuss the next step Start indicated PEP without waiting, obtain baseline testing, provide the full 28-day plan, and arrange follow-up and a PrEP transition discussion. [32]</a:t>
            </a:r>
          </a:p>
          <a:p xmlns:a="http://schemas.openxmlformats.org/drawingml/2006/main">
            <a:r>
              <a:t/>
            </a:r>
          </a:p>
          <a:p xmlns:a="http://schemas.openxmlformats.org/drawingml/2006/main">
            <a:r>
              <a:t>Module section: https://docarcshot.github.io/id-practice-update/lectures/HIV_Diagnosis_ART_Prevention_and_Opportunistic_Infections.html#cases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Check the decision and explain why it is justified 1. Can a negative antigen-antibody test exclude acute HIV after a recent exposure? Show explanation No. Obtain HIV RNA when the exposure and clinical syndrome justify concern; repeat testing as indicated. [1] 2. Can DTG/3TC be the default before HBV and genotype results? Show explanation No. Select a suitable rapid-start regimen with HBV activity while those results are pending. [8] 3. Does every patient with CD4 &lt;50 need azithromycin prophylaxis? Show explanation No. Effective ART started immediately removes the routine indication; evaluate symptoms for active MAC before prophylaxis. [17] 4. What monitoring item is easy to miss with TMP-SMX? Show explanation Potassium, in addition to renal function, blood counts, rash, and other toxicity assessment. [6] 5. Does PCP prophylaxis have the same threshold in untreated and stably treated HIV? Show explanation No. For patients not on ART or starting ART, use CD4 &lt;200. Restart decisions on ART incorporate CD4 and the viral-load pattern. [6] 6. Should ART start immediately for cryptococcal meningitis? Show explanation Usually no. Treat cryptococcosis and elevated intracranial pressure first; ART generally starts around 4-6 weeks. [7] 7. Does persistent CrAg mean induction has failed? Show explanation No. Follow clinical response, opening pressure, and CSF fungal cultures; antigen can persist. [7] 8. Can a negative plasma CMV PCR exclude CMV retinitis? Show explanation No. Retinal examination establishes the diagnosis in the appropriate clinical setting. [18] 9. Can a prevention lenacapavir injection treat established HIV by itself? Show explanation No. Treatment requires a fully active combination selected for treatment history and resistance. [39] 10. Does LATITUDE prove that all viremic patients should immediately receive CAB/RPV? Show explanation No. Randomization followed an initial supported oral phase and achievement of the trial viral-load threshold. Eligibility and implementation support matter. [38] 11. What is the definitive treatment principle for HIV-associated PML? Show explanation Rapid effective ART and immune restoration. There is no established JCV-specific antiviral regimen. [20] 12. What makes the discharge plan complete? Show explanation Medication supply through follow-up, a confirmed appointment, named ownership of pending results and toxicity monitoring, and clear return precautions. [2]</a:t>
            </a:r>
          </a:p>
          <a:p xmlns:a="http://schemas.openxmlformats.org/drawingml/2006/main">
            <a:r>
              <a:t/>
            </a:r>
          </a:p>
          <a:p xmlns:a="http://schemas.openxmlformats.org/drawingml/2006/main">
            <a:r>
              <a:t>Module section: https://docarcshot.github.io/id-practice-update/lectures/HIV_Diagnosis_ART_Prevention_and_Opportunistic_Infections.html#questions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Communicate the HIV and OI plans as linked but separate decisions Consult-note framework HIV diagnosis and treatment history: [confirmed tests; prior ART/PrEP; prior resistance]. Current HIV RNA [ ] and CD4 [ ]. Current syndrome: [site and severity], with [leading diagnosis] and [alternatives]. Diagnostic plan: [specimens], with [result or reassessment date] that would change treatment. OI treatment: [drug, dose, route, renal adjustment, start date, duration, and maintenance plan]. ART: [complete regimen] starting [date], or deferred because [specific reason and reassessment date]. Monitoring: [toxicity tests and timing], interactions reviewed with [ ]. Prevention: [PCP/toxoplasma/MAC decision], vaccinations and partner prevention as appropriate. Transition: [medication supply], [HIV appointment], [pending-result owner], and [return precautions]. Primary-team communication example “The pulmonary presentation is concerning for PCP. We are treating while respiratory testing is pending and have assessed the steroid threshold. Please keep the ART plan and start date visible in the discharge summary. Before discharge, we need both the treatment supply and the subsequent prophylaxis prescription, with HIV follow-up confirmed.” Local confirmation needed: laboratory reflex HIV algorithm and resistance-panel components; access to flucytosine/pyrimethamine and antifungal drug levels; ART formulary and emergency supply; HIV clinic/ADAP access; ophthalmology, endoscopy, TB and public-health contacts.</a:t>
            </a:r>
          </a:p>
          <a:p xmlns:a="http://schemas.openxmlformats.org/drawingml/2006/main">
            <a:r>
              <a:t/>
            </a:r>
          </a:p>
          <a:p xmlns:a="http://schemas.openxmlformats.org/drawingml/2006/main">
            <a:r>
              <a:t>Module section: https://docarcshot.github.io/id-practice-update/lectures/HIV_Diagnosis_ART_Prevention_and_Opportunistic_Infections.html#handoff</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Communicate the HIV and OI plans as linked but separate decisions Consult-note framework HIV diagnosis and treatment history: [confirmed tests; prior ART/PrEP; prior resistance]. Current HIV RNA [ ] and CD4 [ ]. Current syndrome: [site and severity], with [leading diagnosis] and [alternatives]. Diagnostic plan: [specimens], with [result or reassessment date] that would change treatment. OI treatment: [drug, dose, route, renal adjustment, start date, duration, and maintenance plan]. ART: [complete regimen] starting [date], or deferred because [specific reason and reassessment date]. Monitoring: [toxicity tests and timing], interactions reviewed with [ ]. Prevention: [PCP/toxoplasma/MAC decision], vaccinations and partner prevention as appropriate. Transition: [medication supply], [HIV appointment], [pending-result owner], and [return precautions]. Primary-team communication example “The pulmonary presentation is concerning for PCP. We are treating while respiratory testing is pending and have assessed the steroid threshold. Please keep the ART plan and start date visible in the discharge summary. Before discharge, we need both the treatment supply and the subsequent prophylaxis prescription, with HIV follow-up confirmed.” Local confirmation needed: laboratory reflex HIV algorithm and resistance-panel components; access to flucytosine/pyrimethamine and antifungal drug levels; ART formulary and emergency supply; HIV clinic/ADAP access; ophthalmology, endoscopy, TB and public-health contacts.</a:t>
            </a:r>
          </a:p>
          <a:p xmlns:a="http://schemas.openxmlformats.org/drawingml/2006/main">
            <a:r>
              <a:t/>
            </a:r>
          </a:p>
          <a:p xmlns:a="http://schemas.openxmlformats.org/drawingml/2006/main">
            <a:r>
              <a:t>Module section: https://docarcshot.github.io/id-practice-update/lectures/HIV_Diagnosis_ART_Prevention_and_Opportunistic_Infections.html#handoff</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Communicate the HIV and OI plans as linked but separate decisions Consult-note framework HIV diagnosis and treatment history: [confirmed tests; prior ART/PrEP; prior resistance]. Current HIV RNA [ ] and CD4 [ ]. Current syndrome: [site and severity], with [leading diagnosis] and [alternatives]. Diagnostic plan: [specimens], with [result or reassessment date] that would change treatment. OI treatment: [drug, dose, route, renal adjustment, start date, duration, and maintenance plan]. ART: [complete regimen] starting [date], or deferred because [specific reason and reassessment date]. Monitoring: [toxicity tests and timing], interactions reviewed with [ ]. Prevention: [PCP/toxoplasma/MAC decision], vaccinations and partner prevention as appropriate. Transition: [medication supply], [HIV appointment], [pending-result owner], and [return precautions]. Primary-team communication example “The pulmonary presentation is concerning for PCP. We are treating while respiratory testing is pending and have assessed the steroid threshold. Please keep the ART plan and start date visible in the discharge summary. Before discharge, we need both the treatment supply and the subsequent prophylaxis prescription, with HIV follow-up confirmed.” Local confirmation needed: laboratory reflex HIV algorithm and resistance-panel components; access to flucytosine/pyrimethamine and antifungal drug levels; ART formulary and emergency supply; HIV clinic/ADAP access; ophthalmology, endoscopy, TB and public-health contacts.</a:t>
            </a:r>
          </a:p>
          <a:p xmlns:a="http://schemas.openxmlformats.org/drawingml/2006/main">
            <a:r>
              <a:t/>
            </a:r>
          </a:p>
          <a:p xmlns:a="http://schemas.openxmlformats.org/drawingml/2006/main">
            <a:r>
              <a:t>Module section: https://docarcshot.github.io/id-practice-update/lectures/HIV_Diagnosis_ART_Prevention_and_Opportunistic_Infections.html#handoff</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https://docarcshot.github.io/id-practice-update/lectures/HIV_Diagnosis_ART_Prevention_and_Opportunistic_Infections.html#references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https://docarcshot.github.io/id-practice-update/lectures/HIV_Diagnosis_ART_Prevention_and_Opportunistic_Infections.html#ref-early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https://docarcshot.github.io/id-practice-update/lectures/HIV_Diagnosis_ART_Prevention_and_Opportunistic_Infections.html#ref-initiation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https://docarcshot.github.io/id-practice-update/lectures/HIV_Diagnosis_ART_Prevention_and_Opportunistic_Infections.html#ref-tb</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https://docarcshot.github.io/id-practice-update/lectures/HIV_Diagnosis_ART_Prevention_and_Opportunistic_Infections.html#ref-baseline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https://docarcshot.github.io/id-practice-update/lectures/HIV_Diagnosis_ART_Prevention_and_Opportunistic_Infections.html#ref-toxo</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https://docarcshot.github.io/id-practice-update/lectures/HIV_Diagnosis_ART_Prevention_and_Opportunistic_Infections.html#ref-pcp</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https://docarcshot.github.io/id-practice-update/lectures/HIV_Diagnosis_ART_Prevention_and_Opportunistic_Infections.html#ref-crypto</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https://docarcshot.github.io/id-practice-update/lectures/HIV_Diagnosis_ART_Prevention_and_Opportunistic_Infections.html#ref-arv</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https://docarcshot.github.io/id-practice-update/lectures/HIV_Diagnosis_ART_Prevention_and_Opportunistic_Infections.html#ref-biktarvy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https://docarcshot.github.io/id-practice-update/lectures/HIV_Diagnosis_ART_Prevention_and_Opportunistic_Infections.html#ref-renal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https://docarcshot.github.io/id-practice-update/lectures/HIV_Diagnosis_ART_Prevention_and_Opportunistic_Infections.html#ref-dovato</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https://docarcshot.github.io/id-practice-update/lectures/HIV_Diagnosis_ART_Prevention_and_Opportunistic_Infections.html#ref-hbv</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https://docarcshot.github.io/id-practice-update/lectures/HIV_Diagnosis_ART_Prevention_and_Opportunistic_Infections.html#ref-perinatal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https://docarcshot.github.io/id-practice-update/lectures/HIV_Diagnosis_ART_Prevention_and_Opportunistic_Infections.html#ref-failure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https://docarcshot.github.io/id-practice-update/lectures/HIV_Diagnosis_ART_Prevention_and_Opportunistic_Infections.html#ref-interactions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https://docarcshot.github.io/id-practice-update/lectures/HIV_Diagnosis_ART_Prevention_and_Opportunistic_Infections.html#ref-monitor</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https://docarcshot.github.io/id-practice-update/lectures/HIV_Diagnosis_ART_Prevention_and_Opportunistic_Infections.html#ref-mac</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https://docarcshot.github.io/id-practice-update/lectures/HIV_Diagnosis_ART_Prevention_and_Opportunistic_Infections.html#ref-cmv</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https://docarcshot.github.io/id-practice-update/lectures/HIV_Diagnosis_ART_Prevention_and_Opportunistic_Infections.html#ref-histo</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https://docarcshot.github.io/id-practice-update/lectures/HIV_Diagnosis_ART_Prevention_and_Opportunistic_Infections.html#ref-pml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https://docarcshot.github.io/id-practice-update/lectures/HIV_Diagnosis_ART_Prevention_and_Opportunistic_Infections.html#ref-candida</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https://docarcshot.github.io/id-practice-update/lectures/HIV_Diagnosis_ART_Prevention_and_Opportunistic_Infections.html#ref-cryptosporidium</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https://docarcshot.github.io/id-practice-update/lectures/HIV_Diagnosis_ART_Prevention_and_Opportunistic_Infections.html#ref-cystoisospora</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https://docarcshot.github.io/id-practice-update/lectures/HIV_Diagnosis_ART_Prevention_and_Opportunistic_Infections.html#ref-microsporidia</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https://docarcshot.github.io/id-practice-update/lectures/HIV_Diagnosis_ART_Prevention_and_Opportunistic_Infections.html#ref-hsv</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https://docarcshot.github.io/id-practice-update/lectures/HIV_Diagnosis_ART_Prevention_and_Opportunistic_Infections.html#ref-vzv</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https://docarcshot.github.io/id-practice-update/lectures/HIV_Diagnosis_ART_Prevention_and_Opportunistic_Infections.html#ref-bacterial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https://docarcshot.github.io/id-practice-update/lectures/HIV_Diagnosis_ART_Prevention_and_Opportunistic_Infections.html#ref-syphilis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https://docarcshot.github.io/id-practice-update/lectures/HIV_Diagnosis_ART_Prevention_and_Opportunistic_Infections.html#ref-prep</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https://docarcshot.github.io/id-practice-update/lectures/HIV_Diagnosis_ART_Prevention_and_Opportunistic_Infections.html#ref-len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https://docarcshot.github.io/id-practice-update/lectures/HIV_Diagnosis_ART_Prevention_and_Opportunistic_Infections.html#ref-yeztugo</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https://docarcshot.github.io/id-practice-update/lectures/HIV_Diagnosis_ART_Prevention_and_Opportunistic_Infections.html#ref-pep</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https://docarcshot.github.io/id-practice-update/lectures/HIV_Diagnosis_ART_Prevention_and_Opportunistic_Infections.html#ref-uu</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https://docarcshot.github.io/id-practice-update/lectures/HIV_Diagnosis_ART_Prevention_and_Opportunistic_Infections.html#ref-immunizations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https://docarcshot.github.io/id-practice-update/lectures/HIV_Diagnosis_ART_Prevention_and_Opportunistic_Infections.html#ref-statin</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https://docarcshot.github.io/id-practice-update/lectures/HIV_Diagnosis_ART_Prevention_and_Opportunistic_Infections.html#ref-switch</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https://docarcshot.github.io/id-practice-update/lectures/HIV_Diagnosis_ART_Prevention_and_Opportunistic_Infections.html#ref-cabenuva</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https://docarcshot.github.io/id-practice-update/lectures/HIV_Diagnosis_ART_Prevention_and_Opportunistic_Infections.html#ref-latitude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https://docarcshot.github.io/id-practice-update/lectures/HIV_Diagnosis_ART_Prevention_and_Opportunistic_Infections.html#ref-sunlenca</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https://docarcshot.github.io/id-practice-update/lectures/HIV_Diagnosis_ART_Prevention_and_Opportunistic_Infections.html#ref-idvynso</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https://docarcshot.github.io/id-practice-update/lectures/HIV_Diagnosis_ART_Prevention_and_Opportunistic_Infections.html#ref-starttrial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https://docarcshot.github.io/id-practice-update/lectures/HIV_Diagnosis_ART_Prevention_and_Opportunistic_Infections.html#ref-a5164</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https://docarcshot.github.io/id-practice-update/lectures/HIV_Diagnosis_ART_Prevention_and_Opportunistic_Infections.html#ref-coat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https://docarcshot.github.io/id-practice-update/lectures/HIV_Diagnosis_ART_Prevention_and_Opportunistic_Infections.html#ref-reprieve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https://docarcshot.github.io/id-practice-update/lectures/HIV_Diagnosis_ART_Prevention_and_Opportunistic_Infections.html#ref-purpose1</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evidence review 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 Clinical guidance NIH · Early (Acute and Recent) HIV Infection . September 12, 2024. Accessed September 15, 2026. Clinical guidance NIH · Initiation of Antiretroviral Therapy . September 25, 2025. Accessed September 15, 2026. Clinical guidance NIH · Mycobacterium tuberculosis . May 02, 2024. Accessed September 15, 2026. Clinical guidance NIH · Baseline Evaluation . September 21, 2022. Accessed September 15, 2026. Clinical guidance NIH · Toxoplasma gondii Encephalitis . September 09, 2025. Accessed September 15, 2026. Clinical guidance NIH · Pneumocystis Pneumonia . May 27, 2026. Accessed September 15, 2026. Clinical guidance NIH · Cryptococcosis . October 29, 2024. Accessed September 15, 2026. Clinical guidance NIH · What to Start: Initial Combination Antiretroviral Regimens . September 12, 2024. Accessed September 15, 2026. Prescribing information Gilead · Biktarvy prescribing information . July 2025. Accessed September 15, 2026. Clinical guidance NIH · ART Dosing in Renal or Hepatic Insufficiency . September 25, 2025. Accessed September 15, 2026. Prescribing information ViiV · Dovato prescribing information . October 2025. Accessed September 15, 2026. Clinical guidance NIH · HBV/HIV Coinfection . September 12, 2024. Accessed September 15, 2026. Clinical guidance NIH · Initial ART During Pregnancy . March 31, 2026. Accessed September 15, 2026. Clinical guidance NIH · Virologic Failure . September 12, 2024. Accessed September 15, 2026. Interaction database University of Liverpool · HIV Drug Interaction Checker . Living source; use revision date displayed in linked document. Accessed September 15, 2026. Clinical guidance NIH · Plasma HIV-1 RNA and CD4 Monitoring . September 25, 2025. Accessed September 15, 2026. Clinical guidance NIH · Disseminated Mycobacterium avium Complex . May 27, 2026. Accessed September 15, 2026. Clinical guidance NIH · Cytomegalovirus Disease . July 14, 2025. Accessed September 15, 2026. Clinical guidance NIH · Histoplasmosis . October 29, 2024. Accessed September 15, 2026. Clinical guidance NIH · PML/JC Virus . October 19, 2022; NIH reviewed March 16, 2026. Accessed September 15, 2026. Clinical guidance NIH · Candidiasis . September 16, 2024. Accessed September 15, 2026. Clinical guidance NIH · Cryptosporidiosis . January 18, 2023. Accessed September 15, 2026. Clinical guidance NIH · Cystoisosporiasis . April 23, 2025. Accessed September 15, 2026. Clinical guidance NIH · Microsporidiosis . November 14, 2023. Accessed September 15, 2026. Clinical guidance NIH · Herpes Simplex Virus . July 14, 2025. Accessed September 15, 2026. Clinical guidance NIH · Varicella-Zoster Virus . February 25, 2026. Accessed September 15, 2026. Clinical guidance NIH · Community-Acquired Bacterial Pneumonia . May 27, 2026. Accessed September 15, 2026. Clinical guidance NIH · Syphilis . May 27, 2026. Accessed September 15, 2026. Clinical guidance CDC · Clinical Guidance for PrEP . April 30, 2026. Accessed September 15, 2026. Clinical guidance CDC · Lenacapavir PrEP Recommendation, 2025 . September 18, 2025. Accessed September 15, 2026. Prescribing information Gilead · Yeztugo prescribing information . August 2026. Accessed September 15, 2026. Clinical guidance CDC · Nonoccupational PEP Recommendations, 2025 . May 8, 2025. Accessed September 15, 2026. Clinical guidance NIH · ART to Prevent Sexual Transmission . September 25, 2025. Accessed September 15, 2026. Clinical guidance NIH · Immunizations for Adults and Adolescents With HIV . May 27, 2026. Accessed September 15, 2026. Clinical guidance NIH · Update on Statin Therapy in People With HIV . May 27, 2026. Accessed September 15, 2026. Clinical guidance NIH · Optimizing ART in Virologic Suppression . September 12, 2024. Accessed September 15, 2026. Prescribing information ViiV · Cabenuva prescribing information . November 2025. Accessed September 15, 2026. Original randomized trial Rana et al. · Cabotegravir plus Rilpivirine for Persons with HIV and Adherence Challenges . February 18, 2026. Accessed September 15, 2026. Prescribing information Gilead · Sunlenca prescribing information . August 2026. Accessed September 15, 2026. Prescribing information Merck · Idvynso prescribing information . April 2026. Accessed September 15, 2026. Original randomized trial INSIGHT START Study Group · Initiation of ART in Early Asymptomatic HIV Infection . July 20, 2015. Accessed September 15, 2026. Original randomized trial Zolopa et al. · Early ART Reduces AIDS Progression/Death in Acute OIs . May 18, 2009. Accessed September 15, 2026. Original randomized trial Boulware et al. · Timing of ART after Cryptococcal Meningitis . June 26, 2014. Accessed September 15, 2026. Original randomized trial Grinspoon et al. · Pitavastatin to Prevent Cardiovascular Disease in HIV . July 23, 2023. Accessed September 15, 2026. Original randomized trial Bekker et al. · Twice-Yearly Lenacapavir or Daily F/TAF for HIV Prevention . July 24, 2024. Accessed September 15, 2026. Original randomized trial Kelley et al. · Twice-Yearly Lenacapavir for HIV Prevention in Men and Gender-Diverse Persons . November 13, 2024. Accessed September 15, 2026.</a:t>
            </a:r>
          </a:p>
          <a:p xmlns:a="http://schemas.openxmlformats.org/drawingml/2006/main">
            <a:r>
              <a:t/>
            </a:r>
          </a:p>
          <a:p xmlns:a="http://schemas.openxmlformats.org/drawingml/2006/main">
            <a:r>
              <a:t>Module section: https://docarcshot.github.io/id-practice-update/lectures/HIV_Diagnosis_ART_Prevention_and_Opportunistic_Infections.html#ref-purpose2</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HIV and OIs · One-page rounds summary Teaching companion · September 21, 2026 · Faculty/local review pending. Use the full module for dosing, eligibility, evidence, and exceptions. Confirm and stage Ag/Ab → differentiation → RNA for discordance. Suspected acute HIV can need RNA despite a negative screen. Obtain CD4, RNA, genotype, organ function, HBV/HCV, and prior ART/PrEP history. Start appropriate ART Most: BIC/FTC/TAF or DTG + two NRTIs. Do not rapid-start DTG/3TC before HBV/genotype results. Prior CAB PrEP needs integrase genotype and an appropriate interim regimen. Preserve HBV treatment. Recognize the OI Pneumonia: PCP, bacteria, TB. Headache: CrAg/CSF with opening pressure. Focal deficit: MRI, toxoplasma/lymphoma/PML differential. Visual symptoms: urgent ophthalmology. Fever/cytopenias: MAC, histoplasmosis, TB, malignancy. Match ART timing to disease PCP: within 2 weeks. Cryptococcal meningitis: generally 4-6 weeks. TB without meningitis: within 2 weeks if CD4 &lt;50; 2-8 weeks otherwise. TB meningitis: individualized guideline-informed plan. PML: immediate effective ART. Prescribe prevention correctly PCP: CD4 &lt;200 if not on or starting ART. Toxoplasma: IgG+ and CD4 &lt;100. MAC prophylaxis usually unnecessary with immediate effective ART; exclude active disease first. Secondary suppression has organism-specific stopping criteria. Monitor and hand off TMP-SMX: K+, creatinine, CBC. Amphotericin: renal function, K+/Mg. Flucytosine: CBC, renal adjustment/levels. Check interactions and absorption. Repeat HIV RNA at 4-8 weeks. Confirm medication supply, appointment, and result ownership. Use prevention opportunities Substantial exposure: indicated PEP immediately, no later than 72 hours, for 28 days. Arrange follow-up and PrEP transition. PrEP options include oral agents, CAB, and six-monthly LEN. Sustained suppression prevents sexual HIV transmission. Know when to reconsider No toxoplasma improvement by 10-14 days, new visual loss, rising oxygen need, persistent cultures, or new CNS symptoms require reassessment. Positive CMV blood PCR is not tissue disease; persistent CrAg is not proof of failure.</a:t>
            </a:r>
          </a:p>
          <a:p xmlns:a="http://schemas.openxmlformats.org/drawingml/2006/main">
            <a:r>
              <a:t/>
            </a:r>
          </a:p>
          <a:p xmlns:a="http://schemas.openxmlformats.org/drawingml/2006/main">
            <a:r>
              <a:t>Module section: https://docarcshot.github.io/id-practice-update/lectures/HIV_Diagnosis_ART_Prevention_and_Opportunistic_Infections.html#cheat-sheet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HIV and OIs · One-page rounds summary Teaching companion · September 21, 2026 · Faculty/local review pending. Use the full module for dosing, eligibility, evidence, and exceptions. Confirm and stage Ag/Ab → differentiation → RNA for discordance. Suspected acute HIV can need RNA despite a negative screen. Obtain CD4, RNA, genotype, organ function, HBV/HCV, and prior ART/PrEP history. Start appropriate ART Most: BIC/FTC/TAF or DTG + two NRTIs. Do not rapid-start DTG/3TC before HBV/genotype results. Prior CAB PrEP needs integrase genotype and an appropriate interim regimen. Preserve HBV treatment. Recognize the OI Pneumonia: PCP, bacteria, TB. Headache: CrAg/CSF with opening pressure. Focal deficit: MRI, toxoplasma/lymphoma/PML differential. Visual symptoms: urgent ophthalmology. Fever/cytopenias: MAC, histoplasmosis, TB, malignancy. Match ART timing to disease PCP: within 2 weeks. Cryptococcal meningitis: generally 4-6 weeks. TB without meningitis: within 2 weeks if CD4 &lt;50; 2-8 weeks otherwise. TB meningitis: individualized guideline-informed plan. PML: immediate effective ART. Prescribe prevention correctly PCP: CD4 &lt;200 if not on or starting ART. Toxoplasma: IgG+ and CD4 &lt;100. MAC prophylaxis usually unnecessary with immediate effective ART; exclude active disease first. Secondary suppression has organism-specific stopping criteria. Monitor and hand off TMP-SMX: K+, creatinine, CBC. Amphotericin: renal function, K+/Mg. Flucytosine: CBC, renal adjustment/levels. Check interactions and absorption. Repeat HIV RNA at 4-8 weeks. Confirm medication supply, appointment, and result ownership. Use prevention opportunities Substantial exposure: indicated PEP immediately, no later than 72 hours, for 28 days. Arrange follow-up and PrEP transition. PrEP options include oral agents, CAB, and six-monthly LEN. Sustained suppression prevents sexual HIV transmission. Know when to reconsider No toxoplasma improvement by 10-14 days, new visual loss, rising oxygen need, persistent cultures, or new CNS symptoms require reassessment. Positive CMV blood PCR is not tissue disease; persistent CrAg is not proof of failure.</a:t>
            </a:r>
          </a:p>
          <a:p xmlns:a="http://schemas.openxmlformats.org/drawingml/2006/main">
            <a:r>
              <a:t/>
            </a:r>
          </a:p>
          <a:p xmlns:a="http://schemas.openxmlformats.org/drawingml/2006/main">
            <a:r>
              <a:t>Module section: https://docarcshot.github.io/id-practice-update/lectures/HIV_Diagnosis_ART_Prevention_and_Opportunistic_Infections.html#cheat-sheet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HIV and OIs · One-page rounds summary Teaching companion · September 21, 2026 · Faculty/local review pending. Use the full module for dosing, eligibility, evidence, and exceptions. Confirm and stage Ag/Ab → differentiation → RNA for discordance. Suspected acute HIV can need RNA despite a negative screen. Obtain CD4, RNA, genotype, organ function, HBV/HCV, and prior ART/PrEP history. Start appropriate ART Most: BIC/FTC/TAF or DTG + two NRTIs. Do not rapid-start DTG/3TC before HBV/genotype results. Prior CAB PrEP needs integrase genotype and an appropriate interim regimen. Preserve HBV treatment. Recognize the OI Pneumonia: PCP, bacteria, TB. Headache: CrAg/CSF with opening pressure. Focal deficit: MRI, toxoplasma/lymphoma/PML differential. Visual symptoms: urgent ophthalmology. Fever/cytopenias: MAC, histoplasmosis, TB, malignancy. Match ART timing to disease PCP: within 2 weeks. Cryptococcal meningitis: generally 4-6 weeks. TB without meningitis: within 2 weeks if CD4 &lt;50; 2-8 weeks otherwise. TB meningitis: individualized guideline-informed plan. PML: immediate effective ART. Prescribe prevention correctly PCP: CD4 &lt;200 if not on or starting ART. Toxoplasma: IgG+ and CD4 &lt;100. MAC prophylaxis usually unnecessary with immediate effective ART; exclude active disease first. Secondary suppression has organism-specific stopping criteria. Monitor and hand off TMP-SMX: K+, creatinine, CBC. Amphotericin: renal function, K+/Mg. Flucytosine: CBC, renal adjustment/levels. Check interactions and absorption. Repeat HIV RNA at 4-8 weeks. Confirm medication supply, appointment, and result ownership. Use prevention opportunities Substantial exposure: indicated PEP immediately, no later than 72 hours, for 28 days. Arrange follow-up and PrEP transition. PrEP options include oral agents, CAB, and six-monthly LEN. Sustained suppression prevents sexual HIV transmission. Know when to reconsider No toxoplasma improvement by 10-14 days, new visual loss, rising oxygen need, persistent cultures, or new CNS symptoms require reassessment. Positive CMV blood PCR is not tissue disease; persistent CrAg is not proof of failure.</a:t>
            </a:r>
          </a:p>
          <a:p xmlns:a="http://schemas.openxmlformats.org/drawingml/2006/main">
            <a:r>
              <a:t/>
            </a:r>
          </a:p>
          <a:p xmlns:a="http://schemas.openxmlformats.org/drawingml/2006/main">
            <a:r>
              <a:t>Module section: https://docarcshot.github.io/id-practice-update/lectures/HIV_Diagnosis_ART_Prevention_and_Opportunistic_Infections.html#cheat-sheet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HIV and OIs · One-page rounds summary Teaching companion · September 21, 2026 · Faculty/local review pending. Use the full module for dosing, eligibility, evidence, and exceptions. Confirm and stage Ag/Ab → differentiation → RNA for discordance. Suspected acute HIV can need RNA despite a negative screen. Obtain CD4, RNA, genotype, organ function, HBV/HCV, and prior ART/PrEP history. Start appropriate ART Most: BIC/FTC/TAF or DTG + two NRTIs. Do not rapid-start DTG/3TC before HBV/genotype results. Prior CAB PrEP needs integrase genotype and an appropriate interim regimen. Preserve HBV treatment. Recognize the OI Pneumonia: PCP, bacteria, TB. Headache: CrAg/CSF with opening pressure. Focal deficit: MRI, toxoplasma/lymphoma/PML differential. Visual symptoms: urgent ophthalmology. Fever/cytopenias: MAC, histoplasmosis, TB, malignancy. Match ART timing to disease PCP: within 2 weeks. Cryptococcal meningitis: generally 4-6 weeks. TB without meningitis: within 2 weeks if CD4 &lt;50; 2-8 weeks otherwise. TB meningitis: individualized guideline-informed plan. PML: immediate effective ART. Prescribe prevention correctly PCP: CD4 &lt;200 if not on or starting ART. Toxoplasma: IgG+ and CD4 &lt;100. MAC prophylaxis usually unnecessary with immediate effective ART; exclude active disease first. Secondary suppression has organism-specific stopping criteria. Monitor and hand off TMP-SMX: K+, creatinine, CBC. Amphotericin: renal function, K+/Mg. Flucytosine: CBC, renal adjustment/levels. Check interactions and absorption. Repeat HIV RNA at 4-8 weeks. Confirm medication supply, appointment, and result ownership. Use prevention opportunities Substantial exposure: indicated PEP immediately, no later than 72 hours, for 28 days. Arrange follow-up and PrEP transition. PrEP options include oral agents, CAB, and six-monthly LEN. Sustained suppression prevents sexual HIV transmission. Know when to reconsider No toxoplasma improvement by 10-14 days, new visual loss, rising oxygen need, persistent cultures, or new CNS symptoms require reassessment. Positive CMV blood PCR is not tissue disease; persistent CrAg is not proof of failure.</a:t>
            </a:r>
          </a:p>
          <a:p xmlns:a="http://schemas.openxmlformats.org/drawingml/2006/main">
            <a:r>
              <a:t/>
            </a:r>
          </a:p>
          <a:p xmlns:a="http://schemas.openxmlformats.org/drawingml/2006/main">
            <a:r>
              <a:t>Module section: https://docarcshot.github.io/id-practice-update/lectures/HIV_Diagnosis_ART_Prevention_and_Opportunistic_Infections.html#cheat-sheet</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https://docarcshot.github.io/id-practice-update/lectures/Tuberculosis_Standard_Treatment_and_Newer_Avenues.html</a:t>
            </a:r>
          </a:p>
          <a:p xmlns:a="http://schemas.openxmlformats.org/drawingml/2006/main">
            <a:r>
              <a:t>https://clinicalinfo.hiv.gov/en/guidelines/hiv-clinical-guidelines-adult-and-adolescent-arv/early-acute-and-recent-hiv-infection</a:t>
            </a:r>
          </a:p>
          <a:p xmlns:a="http://schemas.openxmlformats.org/drawingml/2006/main">
            <a:r>
              <a:t>https://clinicalinfo.hiv.gov/en/guidelines/hiv-clinical-guidelines-adult-and-adolescent-arv/initiation-antiretroviral-therapy</a:t>
            </a:r>
          </a:p>
          <a:p xmlns:a="http://schemas.openxmlformats.org/drawingml/2006/main">
            <a:r>
              <a:t>https://clinicalinfo.hiv.gov/en/guidelines/hiv-clinical-guidelines-adult-and-adolescent-opportunistic-infections/mycobacterium</a:t>
            </a:r>
          </a:p>
          <a:p xmlns:a="http://schemas.openxmlformats.org/drawingml/2006/main">
            <a:r>
              <a:t>https://clinicalinfo.hiv.gov/en/guidelines/hiv-clinical-guidelines-adult-and-adolescent-arv/baseline-evaluation</a:t>
            </a:r>
          </a:p>
          <a:p xmlns:a="http://schemas.openxmlformats.org/drawingml/2006/main">
            <a:r>
              <a:t>https://clinicalinfo.hiv.gov/en/guidelines/hiv-clinical-guidelines-adult-and-adolescent-opportunistic-infections/toxoplasmosis</a:t>
            </a:r>
          </a:p>
          <a:p xmlns:a="http://schemas.openxmlformats.org/drawingml/2006/main">
            <a:r>
              <a:t>https://clinicalinfo.hiv.gov/en/guidelines/hiv-clinical-guidelines-adult-and-adolescent-opportunistic-infections/pneumocystis</a:t>
            </a:r>
          </a:p>
          <a:p xmlns:a="http://schemas.openxmlformats.org/drawingml/2006/main">
            <a:r>
              <a:t>https://clinicalinfo.hiv.gov/en/guidelines/hiv-clinical-guidelines-adult-and-adolescent-opportunistic-infections/cryptococcosis</a:t>
            </a:r>
          </a:p>
          <a:p xmlns:a="http://schemas.openxmlformats.org/drawingml/2006/main">
            <a:r>
              <a:t>https://clinicalinfo.hiv.gov/en/guidelines/hiv-clinical-guidelines-adult-and-adolescent-arv/what-start-initial-combination-regimens</a:t>
            </a:r>
          </a:p>
          <a:p xmlns:a="http://schemas.openxmlformats.org/drawingml/2006/main">
            <a:r>
              <a:t>https://www.gilead.com/-/media/files/pdfs/medicines/hiv/biktarvy/biktarvy_pi.pdf</a:t>
            </a:r>
          </a:p>
          <a:p xmlns:a="http://schemas.openxmlformats.org/drawingml/2006/main">
            <a:r>
              <a:t>https://clinicalinfo.hiv.gov/en/guidelines/hiv-clinical-guidelines-adult-and-adolescent-arv/arv-dosing-renal-hepatic-insufficiency</a:t>
            </a:r>
          </a:p>
          <a:p xmlns:a="http://schemas.openxmlformats.org/drawingml/2006/main">
            <a:r>
              <a:t>https://gskpro.com/content/dam/global/hcpportal/en_US/Prescribing_Information/Dovato/pdf/DOVATO-PI-PIL.PDF</a:t>
            </a:r>
          </a:p>
          <a:p xmlns:a="http://schemas.openxmlformats.org/drawingml/2006/main">
            <a:r>
              <a:t>https://clinicalinfo.hiv.gov/en/guidelines/hiv-clinical-guidelines-adult-and-adolescent-arv/hepatitis-b-virus-hiv-coinfection</a:t>
            </a:r>
          </a:p>
          <a:p xmlns:a="http://schemas.openxmlformats.org/drawingml/2006/main">
            <a:r>
              <a:t>https://clinicalinfo.hiv.gov/en/guidelines/perinatal/recommendations-arv-drugs-pregnancy-what-start-art-never-received</a:t>
            </a:r>
          </a:p>
          <a:p xmlns:a="http://schemas.openxmlformats.org/drawingml/2006/main">
            <a:r>
              <a:t>https://clinicalinfo.hiv.gov/en/guidelines/hiv-clinical-guidelines-adult-and-adolescent-arv/virologic-failure</a:t>
            </a:r>
          </a:p>
          <a:p xmlns:a="http://schemas.openxmlformats.org/drawingml/2006/main">
            <a:r>
              <a:t>https://www.hiv-druginteractions.org/checker</a:t>
            </a:r>
          </a:p>
          <a:p xmlns:a="http://schemas.openxmlformats.org/drawingml/2006/main">
            <a:r>
              <a:t>https://clinicalinfo.hiv.gov/en/guidelines/hiv-clinical-guidelines-adult-and-adolescent-arv/plasma-hiv-1-rna-cd4-monitoring</a:t>
            </a:r>
          </a:p>
          <a:p xmlns:a="http://schemas.openxmlformats.org/drawingml/2006/main">
            <a:r>
              <a:t>https://clinicalinfo.hiv.gov/en/guidelines/hiv-clinical-guidelines-adult-and-adolescent-opportunistic-infections/disseminated</a:t>
            </a:r>
          </a:p>
          <a:p xmlns:a="http://schemas.openxmlformats.org/drawingml/2006/main">
            <a:r>
              <a:t>https://clinicalinfo.hiv.gov/en/guidelines/hiv-clinical-guidelines-adult-and-adolescent-opportunistic-infections/cytomegalovirus</a:t>
            </a:r>
          </a:p>
          <a:p xmlns:a="http://schemas.openxmlformats.org/drawingml/2006/main">
            <a:r>
              <a:t>https://clinicalinfo.hiv.gov/en/guidelines/hiv-clinical-guidelines-adult-and-adolescent-opportunistic-infections/histoplasmosis</a:t>
            </a:r>
          </a:p>
          <a:p xmlns:a="http://schemas.openxmlformats.org/drawingml/2006/main">
            <a:r>
              <a:t>https://clinicalinfo.hiv.gov/en/guidelines/hiv-clinical-guidelines-adult-and-adolescent-opportunistic-infections/progressive</a:t>
            </a:r>
          </a:p>
          <a:p xmlns:a="http://schemas.openxmlformats.org/drawingml/2006/main">
            <a:r>
              <a:t>https://clinicalinfo.hiv.gov/en/guidelines/hiv-clinical-guidelines-adult-and-adolescent-opportunistic-infections/candidiasis</a:t>
            </a:r>
          </a:p>
          <a:p xmlns:a="http://schemas.openxmlformats.org/drawingml/2006/main">
            <a:r>
              <a:t>https://clinicalinfo.hiv.gov/en/guidelines/hiv-clinical-guidelines-adult-and-adolescent-opportunistic-infections/cryptosporidiosis</a:t>
            </a:r>
          </a:p>
          <a:p xmlns:a="http://schemas.openxmlformats.org/drawingml/2006/main">
            <a:r>
              <a:t>https://clinicalinfo.hiv.gov/en/guidelines/hiv-clinical-guidelines-adult-and-adolescent-opportunistic-infections/cystoisosporiasis</a:t>
            </a:r>
          </a:p>
          <a:p xmlns:a="http://schemas.openxmlformats.org/drawingml/2006/main">
            <a:r>
              <a:t>https://clinicalinfo.hiv.gov/en/guidelines/hiv-clinical-guidelines-adult-and-adolescent-opportunistic-infections/microsporidiosis</a:t>
            </a:r>
          </a:p>
          <a:p xmlns:a="http://schemas.openxmlformats.org/drawingml/2006/main">
            <a:r>
              <a:t>https://clinicalinfo.hiv.gov/en/guidelines/hiv-clinical-guidelines-adult-and-adolescent-opportunistic-infections/herpes-simplex</a:t>
            </a:r>
          </a:p>
          <a:p xmlns:a="http://schemas.openxmlformats.org/drawingml/2006/main">
            <a:r>
              <a:t>https://clinicalinfo.hiv.gov/en/guidelines/hiv-clinical-guidelines-adult-and-adolescent-opportunistic-infections/varicella-zoster</a:t>
            </a:r>
          </a:p>
          <a:p xmlns:a="http://schemas.openxmlformats.org/drawingml/2006/main">
            <a:r>
              <a:t>https://clinicalinfo.hiv.gov/en/guidelines/hiv-clinical-guidelines-adult-and-adolescent-opportunistic-infections/community-acquired</a:t>
            </a:r>
          </a:p>
          <a:p xmlns:a="http://schemas.openxmlformats.org/drawingml/2006/main">
            <a:r>
              <a:t>https://clinicalinfo.hiv.gov/en/guidelines/hiv-clinical-guidelines-adult-and-adolescent-opportunistic-infections/syphilis</a:t>
            </a:r>
          </a:p>
          <a:p xmlns:a="http://schemas.openxmlformats.org/drawingml/2006/main">
            <a:r>
              <a:t>https://www.cdc.gov/hivnexus/hcp/prep/index.html</a:t>
            </a:r>
          </a:p>
          <a:p xmlns:a="http://schemas.openxmlformats.org/drawingml/2006/main">
            <a:r>
              <a:t>https://www.cdc.gov/mmwr/volumes/74/wr/mm7435a1.htm</a:t>
            </a:r>
          </a:p>
          <a:p xmlns:a="http://schemas.openxmlformats.org/drawingml/2006/main">
            <a:r>
              <a:t>https://www.gilead.com/-/media/files/pdfs/medicines/hiv/yeztugo/yeztugo_pi.pdf</a:t>
            </a:r>
          </a:p>
          <a:p xmlns:a="http://schemas.openxmlformats.org/drawingml/2006/main">
            <a:r>
              <a:t>https://www.cdc.gov/mmwr/volumes/74/rr/rr7401a1.htm</a:t>
            </a:r>
          </a:p>
          <a:p xmlns:a="http://schemas.openxmlformats.org/drawingml/2006/main">
            <a:r>
              <a:t>https://clinicalinfo.hiv.gov/en/guidelines/hiv-clinical-guidelines-adult-and-adolescent-arv/arv-therapy-as-prevention</a:t>
            </a:r>
          </a:p>
          <a:p xmlns:a="http://schemas.openxmlformats.org/drawingml/2006/main">
            <a:r>
              <a:t>https://clinicalinfo.hiv.gov/en/guidelines/hiv-clinical-guidelines-adult-and-adolescent-opportunistic-infections/immunizations</a:t>
            </a:r>
          </a:p>
          <a:p xmlns:a="http://schemas.openxmlformats.org/drawingml/2006/main">
            <a:r>
              <a:t>https://clinicalinfo.hiv.gov/en/guidelines/hiv-clinical-guidelines-adult-and-adolescent-arv/statin-therapy-people-hiv</a:t>
            </a:r>
          </a:p>
          <a:p xmlns:a="http://schemas.openxmlformats.org/drawingml/2006/main">
            <a:r>
              <a:t>https://clinicalinfo.hiv.gov/en/guidelines/hiv-clinical-guidelines-adult-and-adolescent-arv/optimizing-antiretroviral-therapy</a:t>
            </a:r>
          </a:p>
          <a:p xmlns:a="http://schemas.openxmlformats.org/drawingml/2006/main">
            <a:r>
              <a:t>https://gskpro.com/content/dam/global/hcpportal/en_US/Prescribing_Information/Cabenuva/pdf/CABENUVA-PI-PIL-IFU2-IFU3.PDF</a:t>
            </a:r>
          </a:p>
          <a:p xmlns:a="http://schemas.openxmlformats.org/drawingml/2006/main">
            <a:r>
              <a:t>https://pubmed.ncbi.nlm.nih.gov/41707171/</a:t>
            </a:r>
          </a:p>
          <a:p xmlns:a="http://schemas.openxmlformats.org/drawingml/2006/main">
            <a:r>
              <a:t>https://www.gilead.com/-/media/files/pdfs/medicines/hiv/sunlenca/sunlenca_pi.pdf</a:t>
            </a:r>
          </a:p>
          <a:p xmlns:a="http://schemas.openxmlformats.org/drawingml/2006/main">
            <a:r>
              <a:t>https://www.merck.com/product/usa/pi_circulars/i/idvynso/idvynso_pi.pdf</a:t>
            </a:r>
          </a:p>
          <a:p xmlns:a="http://schemas.openxmlformats.org/drawingml/2006/main">
            <a:r>
              <a:t>https://pubmed.ncbi.nlm.nih.gov/26192873/</a:t>
            </a:r>
          </a:p>
          <a:p xmlns:a="http://schemas.openxmlformats.org/drawingml/2006/main">
            <a:r>
              <a:t>https://pubmed.ncbi.nlm.nih.gov/19440326/</a:t>
            </a:r>
          </a:p>
          <a:p xmlns:a="http://schemas.openxmlformats.org/drawingml/2006/main">
            <a:r>
              <a:t>https://pubmed.ncbi.nlm.nih.gov/24963568/</a:t>
            </a:r>
          </a:p>
          <a:p xmlns:a="http://schemas.openxmlformats.org/drawingml/2006/main">
            <a:r>
              <a:t>https://pubmed.ncbi.nlm.nih.gov/37486775/</a:t>
            </a:r>
          </a:p>
          <a:p xmlns:a="http://schemas.openxmlformats.org/drawingml/2006/main">
            <a:r>
              <a:t>https://pubmed.ncbi.nlm.nih.gov/39046157/</a:t>
            </a:r>
          </a:p>
          <a:p xmlns:a="http://schemas.openxmlformats.org/drawingml/2006/main">
            <a:r>
              <a:t>https://doi.org/10.1056/NEJMoa2411858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4e7d523ca149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6e85365191c4c2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54d7b0ac36041d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aa007a5876448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7681ae761b47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fae216d04f42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67BD6B-F1D8-41A4-9BAF-9578692D640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66B55F4-08AA-4DE8-9EC7-2637B517BF8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1534167-D305-4DC2-A2A5-5C2C9EC2CED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C6E6AA-5960-493D-97D9-1E8E65DD29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D7DDBBF-3E65-461A-A639-CC0258A84E1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A72E40-FAD7-4939-A2EA-AFECE26E0B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E484C0-674F-498A-A971-D4A1B1C28A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9B2B93-EB08-4450-857B-33F178A0000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7C71E4-C0F3-4FA5-BADC-8282CC694D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CBA8EE-3282-4382-AAA0-E48754B74B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e4d0654f024724" /><Relationship Type="http://schemas.openxmlformats.org/officeDocument/2006/relationships/slideLayout" Target="/ppt/slideLayouts/slideLayout1.xml" Id="R92219108e1944794" /><Relationship Type="http://schemas.openxmlformats.org/officeDocument/2006/relationships/slideLayout" Target="/ppt/slideLayouts/slideLayout2.xml" Id="Ra79c403b5ba44078" /><Relationship Type="http://schemas.openxmlformats.org/officeDocument/2006/relationships/slideLayout" Target="/ppt/slideLayouts/slideLayout3.xml" Id="R551a6cbefde440ec" /><Relationship Type="http://schemas.openxmlformats.org/officeDocument/2006/relationships/slideLayout" Target="/ppt/slideLayouts/slideLayout4.xml" Id="Rcb63836b1fa54995" /><Relationship Type="http://schemas.openxmlformats.org/officeDocument/2006/relationships/slideLayout" Target="/ppt/slideLayouts/slideLayout5.xml" Id="R07019c832bb74c9f" /><Relationship Type="http://schemas.openxmlformats.org/officeDocument/2006/relationships/slideLayout" Target="/ppt/slideLayouts/slideLayout6.xml" Id="R8aaad47ca38d41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219108e1944794"/>
    <p:sldLayoutId xmlns:r="http://schemas.openxmlformats.org/officeDocument/2006/relationships" id="2147483650" r:id="Ra79c403b5ba44078"/>
    <p:sldLayoutId xmlns:r="http://schemas.openxmlformats.org/officeDocument/2006/relationships" id="2147483651" r:id="R551a6cbefde440ec"/>
    <p:sldLayoutId xmlns:r="http://schemas.openxmlformats.org/officeDocument/2006/relationships" id="2147483652" r:id="Rcb63836b1fa54995"/>
    <p:sldLayoutId xmlns:r="http://schemas.openxmlformats.org/officeDocument/2006/relationships" id="2147483653" r:id="R07019c832bb74c9f"/>
    <p:sldLayoutId xmlns:r="http://schemas.openxmlformats.org/officeDocument/2006/relationships" id="2147483654" r:id="R8aaad47ca38d41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4c0e8368ff14463" /><Relationship Type="http://schemas.openxmlformats.org/officeDocument/2006/relationships/notesSlide" Target="/ppt/notesSlides/notesSlide1.xml" Id="R58cb57ae16564c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77ca91379604d13" /><Relationship Type="http://schemas.openxmlformats.org/officeDocument/2006/relationships/notesSlide" Target="/ppt/notesSlides/notesSlide2.xml" Id="Rcab1676850da4b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40db707424844ec" /><Relationship Type="http://schemas.openxmlformats.org/officeDocument/2006/relationships/notesSlide" Target="/ppt/notesSlides/notesSlide3.xml" Id="Re4d4c7b7849647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73fc79353924c45" /><Relationship Type="http://schemas.openxmlformats.org/officeDocument/2006/relationships/notesSlide" Target="/ppt/notesSlides/notesSlide4.xml" Id="R9fad1148e69147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963f4ded4f7431f" /><Relationship Type="http://schemas.openxmlformats.org/officeDocument/2006/relationships/notesSlide" Target="/ppt/notesSlides/notesSlide5.xml" Id="Rc50b1bcc7b9a43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3203f717b944f80" /><Relationship Type="http://schemas.openxmlformats.org/officeDocument/2006/relationships/notesSlide" Target="/ppt/notesSlides/notesSlide6.xml" Id="R6f01dd186e2e4e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d821cceb53341de" /><Relationship Type="http://schemas.openxmlformats.org/officeDocument/2006/relationships/notesSlide" Target="/ppt/notesSlides/notesSlide7.xml" Id="Rae6b4f9566c244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2099f4033fc49f8" /><Relationship Type="http://schemas.openxmlformats.org/officeDocument/2006/relationships/notesSlide" Target="/ppt/notesSlides/notesSlide8.xml" Id="Re630658a115c45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0f524b189dd4780" /><Relationship Type="http://schemas.openxmlformats.org/officeDocument/2006/relationships/notesSlide" Target="/ppt/notesSlides/notesSlide9.xml" Id="Rf4c6a17495fa420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70a553d66a1434e" /><Relationship Type="http://schemas.openxmlformats.org/officeDocument/2006/relationships/notesSlide" Target="/ppt/notesSlides/notesSlide10.xml" Id="R69c6ac462c094e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06284c6ced94926" /><Relationship Type="http://schemas.openxmlformats.org/officeDocument/2006/relationships/notesSlide" Target="/ppt/notesSlides/notesSlide11.xml" Id="R63496d0e536542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a48d8c7dc0d4304" /><Relationship Type="http://schemas.openxmlformats.org/officeDocument/2006/relationships/notesSlide" Target="/ppt/notesSlides/notesSlide12.xml" Id="R115e8254f792478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4ac2c7c499a4972" /><Relationship Type="http://schemas.openxmlformats.org/officeDocument/2006/relationships/notesSlide" Target="/ppt/notesSlides/notesSlide13.xml" Id="R4fbc2aa38c834c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515015d50ce4599" /><Relationship Type="http://schemas.openxmlformats.org/officeDocument/2006/relationships/notesSlide" Target="/ppt/notesSlides/notesSlide14.xml" Id="R3da3608fbb9745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feda2803ba64deb" /><Relationship Type="http://schemas.openxmlformats.org/officeDocument/2006/relationships/notesSlide" Target="/ppt/notesSlides/notesSlide15.xml" Id="R642d1a28c12444b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79234f33e2048ea" /><Relationship Type="http://schemas.openxmlformats.org/officeDocument/2006/relationships/notesSlide" Target="/ppt/notesSlides/notesSlide16.xml" Id="R9fb67a890a244a7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fc2551f549b421d" /><Relationship Type="http://schemas.openxmlformats.org/officeDocument/2006/relationships/notesSlide" Target="/ppt/notesSlides/notesSlide17.xml" Id="Re36e44a03a474c9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1ee1dce76e349e6" /><Relationship Type="http://schemas.openxmlformats.org/officeDocument/2006/relationships/notesSlide" Target="/ppt/notesSlides/notesSlide18.xml" Id="Ra5a951b132c54a5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46159f40cbc4962" /><Relationship Type="http://schemas.openxmlformats.org/officeDocument/2006/relationships/notesSlide" Target="/ppt/notesSlides/notesSlide19.xml" Id="R3392266db6ca47e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6d12cfe04404769" /><Relationship Type="http://schemas.openxmlformats.org/officeDocument/2006/relationships/notesSlide" Target="/ppt/notesSlides/notesSlide20.xml" Id="R4f2e8171acbe406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977ca11c9ba4fa4" /><Relationship Type="http://schemas.openxmlformats.org/officeDocument/2006/relationships/notesSlide" Target="/ppt/notesSlides/notesSlide21.xml" Id="Rc01e26b6c6fe4fe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ecac17c81194023" /><Relationship Type="http://schemas.openxmlformats.org/officeDocument/2006/relationships/notesSlide" Target="/ppt/notesSlides/notesSlide22.xml" Id="Rfebdce5d97d14d8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fa5c57d604846af" /><Relationship Type="http://schemas.openxmlformats.org/officeDocument/2006/relationships/notesSlide" Target="/ppt/notesSlides/notesSlide23.xml" Id="R5f58887933c24f6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aa049cbde78458a" /><Relationship Type="http://schemas.openxmlformats.org/officeDocument/2006/relationships/notesSlide" Target="/ppt/notesSlides/notesSlide24.xml" Id="R75b0c945948343f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2ce669499b14871" /><Relationship Type="http://schemas.openxmlformats.org/officeDocument/2006/relationships/notesSlide" Target="/ppt/notesSlides/notesSlide25.xml" Id="R5936fbfe108f482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3e3224799264431" /><Relationship Type="http://schemas.openxmlformats.org/officeDocument/2006/relationships/notesSlide" Target="/ppt/notesSlides/notesSlide26.xml" Id="R0b12c686ab72439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d04a057bde24b5b" /><Relationship Type="http://schemas.openxmlformats.org/officeDocument/2006/relationships/notesSlide" Target="/ppt/notesSlides/notesSlide27.xml" Id="Rd6c906e1da794d4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391bf32bd8e4c3f" /><Relationship Type="http://schemas.openxmlformats.org/officeDocument/2006/relationships/notesSlide" Target="/ppt/notesSlides/notesSlide28.xml" Id="R40fe95486499427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1eee2de684c4a16" /><Relationship Type="http://schemas.openxmlformats.org/officeDocument/2006/relationships/notesSlide" Target="/ppt/notesSlides/notesSlide29.xml" Id="R9fe7c0b12e7a411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23f119c2839417a" /><Relationship Type="http://schemas.openxmlformats.org/officeDocument/2006/relationships/notesSlide" Target="/ppt/notesSlides/notesSlide30.xml" Id="Red34769fef684cb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9a12dd7570f4dd0" /><Relationship Type="http://schemas.openxmlformats.org/officeDocument/2006/relationships/notesSlide" Target="/ppt/notesSlides/notesSlide31.xml" Id="Rcb9b9a72af96470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df3813f44444d13" /><Relationship Type="http://schemas.openxmlformats.org/officeDocument/2006/relationships/notesSlide" Target="/ppt/notesSlides/notesSlide32.xml" Id="R961b9e04635b44f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c71d8ca1f4ca47f1" /><Relationship Type="http://schemas.openxmlformats.org/officeDocument/2006/relationships/notesSlide" Target="/ppt/notesSlides/notesSlide33.xml" Id="R57cd262399a7429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4854615161e4655" /><Relationship Type="http://schemas.openxmlformats.org/officeDocument/2006/relationships/notesSlide" Target="/ppt/notesSlides/notesSlide34.xml" Id="R75aa2fbf9de74de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332e1e0b92c4571" /><Relationship Type="http://schemas.openxmlformats.org/officeDocument/2006/relationships/notesSlide" Target="/ppt/notesSlides/notesSlide35.xml" Id="R1e0e84a1c0ae439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dfc102debeb4cf4" /><Relationship Type="http://schemas.openxmlformats.org/officeDocument/2006/relationships/notesSlide" Target="/ppt/notesSlides/notesSlide36.xml" Id="R01267685ab7943a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55c5b4879f14c3e" /><Relationship Type="http://schemas.openxmlformats.org/officeDocument/2006/relationships/notesSlide" Target="/ppt/notesSlides/notesSlide37.xml" Id="R5fd9bf11a27d43b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74c1954fc72b4d91" /><Relationship Type="http://schemas.openxmlformats.org/officeDocument/2006/relationships/notesSlide" Target="/ppt/notesSlides/notesSlide38.xml" Id="Rcde47630fd3149c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2e51f0d0026849ed" /><Relationship Type="http://schemas.openxmlformats.org/officeDocument/2006/relationships/notesSlide" Target="/ppt/notesSlides/notesSlide39.xml" Id="R093eaa87d94c4b4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edabd41c9b454de5" /><Relationship Type="http://schemas.openxmlformats.org/officeDocument/2006/relationships/notesSlide" Target="/ppt/notesSlides/notesSlide40.xml" Id="Ra0fa92c96792447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15330d8c1d564512" /><Relationship Type="http://schemas.openxmlformats.org/officeDocument/2006/relationships/notesSlide" Target="/ppt/notesSlides/notesSlide41.xml" Id="R47a1a5c701654cf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6f89dcbac1254939" /><Relationship Type="http://schemas.openxmlformats.org/officeDocument/2006/relationships/notesSlide" Target="/ppt/notesSlides/notesSlide42.xml" Id="Rf1082c9cffe148a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a5505b821794408c" /><Relationship Type="http://schemas.openxmlformats.org/officeDocument/2006/relationships/notesSlide" Target="/ppt/notesSlides/notesSlide43.xml" Id="R58ebbc340140480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cc93ece84e924d52" /><Relationship Type="http://schemas.openxmlformats.org/officeDocument/2006/relationships/notesSlide" Target="/ppt/notesSlides/notesSlide44.xml" Id="R1ac2c09a09134b0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2091041d8ee6404c" /><Relationship Type="http://schemas.openxmlformats.org/officeDocument/2006/relationships/notesSlide" Target="/ppt/notesSlides/notesSlide45.xml" Id="R4195d5dbf51044c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e6abde4174da4c95" /><Relationship Type="http://schemas.openxmlformats.org/officeDocument/2006/relationships/notesSlide" Target="/ppt/notesSlides/notesSlide46.xml" Id="R94173053be2c466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45c365f27c44411d" /><Relationship Type="http://schemas.openxmlformats.org/officeDocument/2006/relationships/notesSlide" Target="/ppt/notesSlides/notesSlide47.xml" Id="R54756a43178d449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ca26b1571de741c1" /><Relationship Type="http://schemas.openxmlformats.org/officeDocument/2006/relationships/notesSlide" Target="/ppt/notesSlides/notesSlide48.xml" Id="Rf62a0742f135423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94caa3d946034571" /><Relationship Type="http://schemas.openxmlformats.org/officeDocument/2006/relationships/notesSlide" Target="/ppt/notesSlides/notesSlide49.xml" Id="Rfcf9efbff0234bd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afcdd22aa8ca4db3" /><Relationship Type="http://schemas.openxmlformats.org/officeDocument/2006/relationships/notesSlide" Target="/ppt/notesSlides/notesSlide50.xml" Id="R9bbbec2abfab41a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ce2e5f99dffc41a1" /><Relationship Type="http://schemas.openxmlformats.org/officeDocument/2006/relationships/notesSlide" Target="/ppt/notesSlides/notesSlide51.xml" Id="Rdde5e96faee2434e"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09ec0cac1b944555" /><Relationship Type="http://schemas.openxmlformats.org/officeDocument/2006/relationships/notesSlide" Target="/ppt/notesSlides/notesSlide52.xml" Id="R3699fd088d6b4ebb"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62aa066941a748d9" /><Relationship Type="http://schemas.openxmlformats.org/officeDocument/2006/relationships/notesSlide" Target="/ppt/notesSlides/notesSlide53.xml" Id="Rc1a9dcf1b9af491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6c6c90a9010d4477" /><Relationship Type="http://schemas.openxmlformats.org/officeDocument/2006/relationships/notesSlide" Target="/ppt/notesSlides/notesSlide54.xml" Id="R7022da13c94d47c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3c6a541306fc4783" /><Relationship Type="http://schemas.openxmlformats.org/officeDocument/2006/relationships/notesSlide" Target="/ppt/notesSlides/notesSlide55.xml" Id="R832ba23b50e94eb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5a67043c44b34d52" /><Relationship Type="http://schemas.openxmlformats.org/officeDocument/2006/relationships/notesSlide" Target="/ppt/notesSlides/notesSlide56.xml" Id="R79e18a76087a4b52"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b225d669d38b48fa" /><Relationship Type="http://schemas.openxmlformats.org/officeDocument/2006/relationships/notesSlide" Target="/ppt/notesSlides/notesSlide57.xml" Id="Rce630d526e08490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c54c287ab6a64199" /><Relationship Type="http://schemas.openxmlformats.org/officeDocument/2006/relationships/notesSlide" Target="/ppt/notesSlides/notesSlide58.xml" Id="R4c540a2792984756"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c72f12669f5544ea" /><Relationship Type="http://schemas.openxmlformats.org/officeDocument/2006/relationships/notesSlide" Target="/ppt/notesSlides/notesSlide59.xml" Id="R9de8580bb7954493"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bd7ba92192c246c2" /><Relationship Type="http://schemas.openxmlformats.org/officeDocument/2006/relationships/notesSlide" Target="/ppt/notesSlides/notesSlide60.xml" Id="R670a07d9c70b4100"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4a6a4cbf842b4fa7" /><Relationship Type="http://schemas.openxmlformats.org/officeDocument/2006/relationships/notesSlide" Target="/ppt/notesSlides/notesSlide61.xml" Id="Rf8d125df2247475e"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ac31fbf74f504a30" /><Relationship Type="http://schemas.openxmlformats.org/officeDocument/2006/relationships/notesSlide" Target="/ppt/notesSlides/notesSlide62.xml" Id="R9676d614ccd84421"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b621e5d1924643ee" /><Relationship Type="http://schemas.openxmlformats.org/officeDocument/2006/relationships/notesSlide" Target="/ppt/notesSlides/notesSlide63.xml" Id="Rbc62da1ee24a4841"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7e4294e867434a7d" /><Relationship Type="http://schemas.openxmlformats.org/officeDocument/2006/relationships/notesSlide" Target="/ppt/notesSlides/notesSlide64.xml" Id="Rcded152cfd144164"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d4f67a7012f2421d" /><Relationship Type="http://schemas.openxmlformats.org/officeDocument/2006/relationships/notesSlide" Target="/ppt/notesSlides/notesSlide65.xml" Id="R4d177b1235ec417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7060547fdbbc4e53" /><Relationship Type="http://schemas.openxmlformats.org/officeDocument/2006/relationships/notesSlide" Target="/ppt/notesSlides/notesSlide66.xml" Id="Ra56b5f7259cf48c3"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4cca9991fc8e4c2e" /><Relationship Type="http://schemas.openxmlformats.org/officeDocument/2006/relationships/notesSlide" Target="/ppt/notesSlides/notesSlide67.xml" Id="R6396c0d12dd24f27"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1e2d88a5a9d44ac8" /><Relationship Type="http://schemas.openxmlformats.org/officeDocument/2006/relationships/notesSlide" Target="/ppt/notesSlides/notesSlide68.xml" Id="R373c1c390ea146e8"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b4411ebe53ab4846" /><Relationship Type="http://schemas.openxmlformats.org/officeDocument/2006/relationships/notesSlide" Target="/ppt/notesSlides/notesSlide69.xml" Id="Rd49f7c52d88747cd"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45f13f4437ea4f14" /><Relationship Type="http://schemas.openxmlformats.org/officeDocument/2006/relationships/notesSlide" Target="/ppt/notesSlides/notesSlide70.xml" Id="R5d58514b741a41a8"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2f475e8864924293" /><Relationship Type="http://schemas.openxmlformats.org/officeDocument/2006/relationships/notesSlide" Target="/ppt/notesSlides/notesSlide71.xml" Id="R33d866a37a0942c7"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fe2222949f0342bf" /><Relationship Type="http://schemas.openxmlformats.org/officeDocument/2006/relationships/notesSlide" Target="/ppt/notesSlides/notesSlide72.xml" Id="R50fbaf677a0a450f"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8793732fe53c4c44" /><Relationship Type="http://schemas.openxmlformats.org/officeDocument/2006/relationships/notesSlide" Target="/ppt/notesSlides/notesSlide73.xml" Id="R45f0799039654c51"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fa2764a92d204732" /><Relationship Type="http://schemas.openxmlformats.org/officeDocument/2006/relationships/notesSlide" Target="/ppt/notesSlides/notesSlide74.xml" Id="Rade15c2f39e0441b"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2279c3e9d40b413b" /><Relationship Type="http://schemas.openxmlformats.org/officeDocument/2006/relationships/notesSlide" Target="/ppt/notesSlides/notesSlide75.xml" Id="R1353fc7b0e5743c3"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ca46334e9be84f0a" /><Relationship Type="http://schemas.openxmlformats.org/officeDocument/2006/relationships/notesSlide" Target="/ppt/notesSlides/notesSlide76.xml" Id="R35a4cff9e5f3421d"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97ffee56c54548ec" /><Relationship Type="http://schemas.openxmlformats.org/officeDocument/2006/relationships/notesSlide" Target="/ppt/notesSlides/notesSlide77.xml" Id="R32708241bbce403e"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8914257bc35a497b" /><Relationship Type="http://schemas.openxmlformats.org/officeDocument/2006/relationships/notesSlide" Target="/ppt/notesSlides/notesSlide78.xml" Id="Reeefec6323094345"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bc52b4cf131c4145" /><Relationship Type="http://schemas.openxmlformats.org/officeDocument/2006/relationships/notesSlide" Target="/ppt/notesSlides/notesSlide79.xml" Id="Rc1da22e15af44690"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0a50704cf0d94ad4" /><Relationship Type="http://schemas.openxmlformats.org/officeDocument/2006/relationships/notesSlide" Target="/ppt/notesSlides/notesSlide80.xml" Id="R27d9ae1b0ca24b9a"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b98989826e9f4c9f" /><Relationship Type="http://schemas.openxmlformats.org/officeDocument/2006/relationships/notesSlide" Target="/ppt/notesSlides/notesSlide81.xml" Id="R07cd6151b1814bd7"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ba851232f1764224" /><Relationship Type="http://schemas.openxmlformats.org/officeDocument/2006/relationships/notesSlide" Target="/ppt/notesSlides/notesSlide82.xml" Id="Rcf998117647843f6"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95d5c7c9016e49ea" /><Relationship Type="http://schemas.openxmlformats.org/officeDocument/2006/relationships/notesSlide" Target="/ppt/notesSlides/notesSlide83.xml" Id="R55f80d116bb64400"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8424f096531e4fa5" /><Relationship Type="http://schemas.openxmlformats.org/officeDocument/2006/relationships/notesSlide" Target="/ppt/notesSlides/notesSlide84.xml" Id="R51b135baf12f49bc"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fbd0bed443604d6d" /><Relationship Type="http://schemas.openxmlformats.org/officeDocument/2006/relationships/notesSlide" Target="/ppt/notesSlides/notesSlide85.xml" Id="R66aaad50b7394f0a"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8cb79f0cd0694dc9" /><Relationship Type="http://schemas.openxmlformats.org/officeDocument/2006/relationships/notesSlide" Target="/ppt/notesSlides/notesSlide86.xml" Id="R253b89be631f4504"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ff748156666d4c72" /><Relationship Type="http://schemas.openxmlformats.org/officeDocument/2006/relationships/notesSlide" Target="/ppt/notesSlides/notesSlide87.xml" Id="Rc4a64cf2b2dc4a56"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9f503821e96341ec" /><Relationship Type="http://schemas.openxmlformats.org/officeDocument/2006/relationships/notesSlide" Target="/ppt/notesSlides/notesSlide88.xml" Id="R5a2f58cf387249da"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d64416384caa4d3d" /><Relationship Type="http://schemas.openxmlformats.org/officeDocument/2006/relationships/notesSlide" Target="/ppt/notesSlides/notesSlide89.xml" Id="R37939d51cd08461b"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239cac99636443c5" /><Relationship Type="http://schemas.openxmlformats.org/officeDocument/2006/relationships/notesSlide" Target="/ppt/notesSlides/notesSlide90.xml" Id="Rdc01c0a7b63e4384"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4ac7a55108bc469d" /><Relationship Type="http://schemas.openxmlformats.org/officeDocument/2006/relationships/notesSlide" Target="/ppt/notesSlides/notesSlide91.xml" Id="R5856dfba557049f8"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a143635afd234e78" /><Relationship Type="http://schemas.openxmlformats.org/officeDocument/2006/relationships/notesSlide" Target="/ppt/notesSlides/notesSlide92.xml" Id="Rb4e1f19c8ac042da"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39c7c92725034a86" /><Relationship Type="http://schemas.openxmlformats.org/officeDocument/2006/relationships/notesSlide" Target="/ppt/notesSlides/notesSlide93.xml" Id="Rc2e4f0ea6d6b4f6b"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1f2d16fcc850468c" /><Relationship Type="http://schemas.openxmlformats.org/officeDocument/2006/relationships/notesSlide" Target="/ppt/notesSlides/notesSlide94.xml" Id="R102c121aad4f451f"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949419d7f3d34075" /><Relationship Type="http://schemas.openxmlformats.org/officeDocument/2006/relationships/notesSlide" Target="/ppt/notesSlides/notesSlide95.xml" Id="R4c013eeadbe34046"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f29183a1f2214ce6" /><Relationship Type="http://schemas.openxmlformats.org/officeDocument/2006/relationships/notesSlide" Target="/ppt/notesSlides/notesSlide96.xml" Id="Rd0b4c6410fb94c2e"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140947f38a3a4471" /><Relationship Type="http://schemas.openxmlformats.org/officeDocument/2006/relationships/notesSlide" Target="/ppt/notesSlides/notesSlide97.xml" Id="Rb9bca481f11543a7"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17ec22c45d90433c" /><Relationship Type="http://schemas.openxmlformats.org/officeDocument/2006/relationships/notesSlide" Target="/ppt/notesSlides/notesSlide98.xml" Id="R4cf8a493efab4ffd"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83b0ad758a4a4744" /><Relationship Type="http://schemas.openxmlformats.org/officeDocument/2006/relationships/notesSlide" Target="/ppt/notesSlides/notesSlide99.xml" Id="R42c5534d29ac468a"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75af929ea4084272" /><Relationship Type="http://schemas.openxmlformats.org/officeDocument/2006/relationships/notesSlide" Target="/ppt/notesSlides/notesSlide100.xml" Id="R78d8e783fe07444c"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4c61c9f8cbdd4f5c" /><Relationship Type="http://schemas.openxmlformats.org/officeDocument/2006/relationships/notesSlide" Target="/ppt/notesSlides/notesSlide101.xml" Id="Rf84d6effd6ea40c1"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1942c79295ec40d9" /><Relationship Type="http://schemas.openxmlformats.org/officeDocument/2006/relationships/notesSlide" Target="/ppt/notesSlides/notesSlide102.xml" Id="R129af752563648f7"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177d26e498284359" /><Relationship Type="http://schemas.openxmlformats.org/officeDocument/2006/relationships/notesSlide" Target="/ppt/notesSlides/notesSlide103.xml" Id="Re8145f7ff9954401"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edd4cb6c987e471f" /><Relationship Type="http://schemas.openxmlformats.org/officeDocument/2006/relationships/notesSlide" Target="/ppt/notesSlides/notesSlide104.xml" Id="Rb6f622bb446a4338"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9f79c74cbfd34898" /><Relationship Type="http://schemas.openxmlformats.org/officeDocument/2006/relationships/notesSlide" Target="/ppt/notesSlides/notesSlide105.xml" Id="R82c1c95c8cb94e6d"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6.xml" Id="R873dea2de143490e" /><Relationship Type="http://schemas.openxmlformats.org/officeDocument/2006/relationships/notesSlide" Target="/ppt/notesSlides/notesSlide106.xml" Id="R0b97a637f834401d"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6.xml" Id="R231c1cd4bd444b5c" /><Relationship Type="http://schemas.openxmlformats.org/officeDocument/2006/relationships/notesSlide" Target="/ppt/notesSlides/notesSlide107.xml" Id="Rf7115d05e0e641f6"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6.xml" Id="Reba3117ec0aa4acd" /><Relationship Type="http://schemas.openxmlformats.org/officeDocument/2006/relationships/notesSlide" Target="/ppt/notesSlides/notesSlide108.xml" Id="Rb6157a6397124d47"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6.xml" Id="R1edf7d701b604d95" /><Relationship Type="http://schemas.openxmlformats.org/officeDocument/2006/relationships/notesSlide" Target="/ppt/notesSlides/notesSlide109.xml" Id="Rd94dada7bc7c45ba"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6.xml" Id="R0c0ffd0129344157" /><Relationship Type="http://schemas.openxmlformats.org/officeDocument/2006/relationships/notesSlide" Target="/ppt/notesSlides/notesSlide110.xml" Id="R7f66b9f7d976445c"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6.xml" Id="Rdc893f852c144c4f" /><Relationship Type="http://schemas.openxmlformats.org/officeDocument/2006/relationships/notesSlide" Target="/ppt/notesSlides/notesSlide111.xml" Id="R3bb0804bf40f40d8"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6.xml" Id="Rbeec4ea7af1c4794" /><Relationship Type="http://schemas.openxmlformats.org/officeDocument/2006/relationships/notesSlide" Target="/ppt/notesSlides/notesSlide112.xml" Id="R212bc45beb784656"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6.xml" Id="R4249b824f0c34c37" /><Relationship Type="http://schemas.openxmlformats.org/officeDocument/2006/relationships/notesSlide" Target="/ppt/notesSlides/notesSlide113.xml" Id="R150d8c2ed7eb4dd5"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6.xml" Id="Rca8cb8f38bb64a74" /><Relationship Type="http://schemas.openxmlformats.org/officeDocument/2006/relationships/notesSlide" Target="/ppt/notesSlides/notesSlide114.xml" Id="R8efa667e0df0496e"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6.xml" Id="Rb2a921bf924243d9" /><Relationship Type="http://schemas.openxmlformats.org/officeDocument/2006/relationships/notesSlide" Target="/ppt/notesSlides/notesSlide115.xml" Id="Rd77f6c83957b4e11"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6.xml" Id="R639e48c8b27f412b" /><Relationship Type="http://schemas.openxmlformats.org/officeDocument/2006/relationships/notesSlide" Target="/ppt/notesSlides/notesSlide116.xml" Id="Rad03357571a54cd9"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6.xml" Id="R7cd9e6c7b0594987" /><Relationship Type="http://schemas.openxmlformats.org/officeDocument/2006/relationships/notesSlide" Target="/ppt/notesSlides/notesSlide117.xml" Id="R15481cfa4a5c44d0"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6.xml" Id="Red9b904b8a144db6" /><Relationship Type="http://schemas.openxmlformats.org/officeDocument/2006/relationships/notesSlide" Target="/ppt/notesSlides/notesSlide118.xml" Id="R98d56240123249e8"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6.xml" Id="Rf0f0a5802562420f" /><Relationship Type="http://schemas.openxmlformats.org/officeDocument/2006/relationships/notesSlide" Target="/ppt/notesSlides/notesSlide119.xml" Id="R4cfafa27ba9040e7"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6.xml" Id="Rcd6d4af96f0d446f" /><Relationship Type="http://schemas.openxmlformats.org/officeDocument/2006/relationships/notesSlide" Target="/ppt/notesSlides/notesSlide120.xml" Id="R31ffc5e4fa69468b"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6.xml" Id="R8cc3365944234631" /><Relationship Type="http://schemas.openxmlformats.org/officeDocument/2006/relationships/notesSlide" Target="/ppt/notesSlides/notesSlide121.xml" Id="R697860bed8f14fa7"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6.xml" Id="R5b3e05741bee40c4" /><Relationship Type="http://schemas.openxmlformats.org/officeDocument/2006/relationships/notesSlide" Target="/ppt/notesSlides/notesSlide122.xml" Id="Rd3a4c2cb123f4e67"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6.xml" Id="Rc7459e3f59024663" /><Relationship Type="http://schemas.openxmlformats.org/officeDocument/2006/relationships/notesSlide" Target="/ppt/notesSlides/notesSlide123.xml" Id="R4e42226cf1db4208"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6.xml" Id="Rf7b7909737c544b5" /><Relationship Type="http://schemas.openxmlformats.org/officeDocument/2006/relationships/notesSlide" Target="/ppt/notesSlides/notesSlide124.xml" Id="Rd137c68f5df04828"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6.xml" Id="R8bffd652bdd64dc7" /><Relationship Type="http://schemas.openxmlformats.org/officeDocument/2006/relationships/notesSlide" Target="/ppt/notesSlides/notesSlide125.xml" Id="R4ac86faa7c254d81"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6.xml" Id="R52f561048e3142a9" /><Relationship Type="http://schemas.openxmlformats.org/officeDocument/2006/relationships/notesSlide" Target="/ppt/notesSlides/notesSlide126.xml" Id="R38d027103b374d3f"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6.xml" Id="R9f2d766291ac449d" /><Relationship Type="http://schemas.openxmlformats.org/officeDocument/2006/relationships/notesSlide" Target="/ppt/notesSlides/notesSlide127.xml" Id="Rb0db1842934e4dff"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6.xml" Id="R0b90e244c37b448a" /><Relationship Type="http://schemas.openxmlformats.org/officeDocument/2006/relationships/notesSlide" Target="/ppt/notesSlides/notesSlide128.xml" Id="R542a13e3ee0a4ef1"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6.xml" Id="R24d2882e5fb14ea4" /><Relationship Type="http://schemas.openxmlformats.org/officeDocument/2006/relationships/notesSlide" Target="/ppt/notesSlides/notesSlide129.xml" Id="Raad2110665454e7f"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6.xml" Id="Rd7ee3ba49ff64283" /><Relationship Type="http://schemas.openxmlformats.org/officeDocument/2006/relationships/notesSlide" Target="/ppt/notesSlides/notesSlide130.xml" Id="Rce31cc886f444693"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6.xml" Id="Rd802c125e18a4df7" /><Relationship Type="http://schemas.openxmlformats.org/officeDocument/2006/relationships/notesSlide" Target="/ppt/notesSlides/notesSlide131.xml" Id="R7ac2d220e0ec41a7"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6.xml" Id="R66cf947bfb384d45" /><Relationship Type="http://schemas.openxmlformats.org/officeDocument/2006/relationships/notesSlide" Target="/ppt/notesSlides/notesSlide132.xml" Id="Rfd22fdc12cf746c2"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6.xml" Id="Re1897101f2fe4f8d" /><Relationship Type="http://schemas.openxmlformats.org/officeDocument/2006/relationships/notesSlide" Target="/ppt/notesSlides/notesSlide133.xml" Id="R4e8bab56e36240f3"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6.xml" Id="Rf2b23c5057184103" /><Relationship Type="http://schemas.openxmlformats.org/officeDocument/2006/relationships/notesSlide" Target="/ppt/notesSlides/notesSlide134.xml" Id="R6ea2727454bc4caf"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6.xml" Id="Rb90580186d124c86" /><Relationship Type="http://schemas.openxmlformats.org/officeDocument/2006/relationships/notesSlide" Target="/ppt/notesSlides/notesSlide135.xml" Id="Rd28f703e70144758"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6.xml" Id="R9ad971ca32534457" /><Relationship Type="http://schemas.openxmlformats.org/officeDocument/2006/relationships/notesSlide" Target="/ppt/notesSlides/notesSlide136.xml" Id="R7ada10190d6f4fdb"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6.xml" Id="Re8a4e9b4a4244779" /><Relationship Type="http://schemas.openxmlformats.org/officeDocument/2006/relationships/notesSlide" Target="/ppt/notesSlides/notesSlide137.xml" Id="R9ed034a209c84a8d"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6.xml" Id="Rd8c62740e2d642b9" /><Relationship Type="http://schemas.openxmlformats.org/officeDocument/2006/relationships/notesSlide" Target="/ppt/notesSlides/notesSlide138.xml" Id="Raadd71d9bb1547c8"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6.xml" Id="Red7c53b6fe5e4f09" /><Relationship Type="http://schemas.openxmlformats.org/officeDocument/2006/relationships/notesSlide" Target="/ppt/notesSlides/notesSlide139.xml" Id="Rb1e27488515b403a"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6.xml" Id="R9ef4f8bfa1b347c9" /><Relationship Type="http://schemas.openxmlformats.org/officeDocument/2006/relationships/notesSlide" Target="/ppt/notesSlides/notesSlide140.xml" Id="R92d6a6a95723451e"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6.xml" Id="R60229b5def96433e" /><Relationship Type="http://schemas.openxmlformats.org/officeDocument/2006/relationships/notesSlide" Target="/ppt/notesSlides/notesSlide141.xml" Id="Rc0c7b7072fb4424d"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6.xml" Id="Rcafd5054e1a448bc" /><Relationship Type="http://schemas.openxmlformats.org/officeDocument/2006/relationships/notesSlide" Target="/ppt/notesSlides/notesSlide142.xml" Id="R853e33bb7c124a06"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6.xml" Id="Ree3d6b1e46ae481b" /><Relationship Type="http://schemas.openxmlformats.org/officeDocument/2006/relationships/notesSlide" Target="/ppt/notesSlides/notesSlide143.xml" Id="R4f1bcc1e4db24e8b"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6.xml" Id="R5fb192c0dcd945f5" /><Relationship Type="http://schemas.openxmlformats.org/officeDocument/2006/relationships/notesSlide" Target="/ppt/notesSlides/notesSlide144.xml" Id="Ra4d00a33e20f42eb"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6.xml" Id="R62527e26d0e04c4c" /><Relationship Type="http://schemas.openxmlformats.org/officeDocument/2006/relationships/notesSlide" Target="/ppt/notesSlides/notesSlide145.xml" Id="R94bcb213a45949e6"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6.xml" Id="Ra543a9bc3e7b4db8" /><Relationship Type="http://schemas.openxmlformats.org/officeDocument/2006/relationships/notesSlide" Target="/ppt/notesSlides/notesSlide146.xml" Id="Ra3b1618f01cb461c"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6.xml" Id="Rc1b60ee81f5847af" /><Relationship Type="http://schemas.openxmlformats.org/officeDocument/2006/relationships/notesSlide" Target="/ppt/notesSlides/notesSlide147.xml" Id="R9ec9ce96664d4828"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6.xml" Id="Rf9e9ab113e78474f" /><Relationship Type="http://schemas.openxmlformats.org/officeDocument/2006/relationships/notesSlide" Target="/ppt/notesSlides/notesSlide148.xml" Id="Rab6f8f8c017d429b"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6.xml" Id="R51d348a4647d4267" /><Relationship Type="http://schemas.openxmlformats.org/officeDocument/2006/relationships/notesSlide" Target="/ppt/notesSlides/notesSlide149.xml" Id="R883238f53d314546"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6.xml" Id="R930c6bbf479945b3" /><Relationship Type="http://schemas.openxmlformats.org/officeDocument/2006/relationships/notesSlide" Target="/ppt/notesSlides/notesSlide150.xml" Id="R5eec728a18c7420c"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6.xml" Id="R7adccb3a9ba64e6f" /><Relationship Type="http://schemas.openxmlformats.org/officeDocument/2006/relationships/notesSlide" Target="/ppt/notesSlides/notesSlide151.xml" Id="R2e68624c4b1f405e"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6.xml" Id="R8a7e2c0eb0754fce" /><Relationship Type="http://schemas.openxmlformats.org/officeDocument/2006/relationships/notesSlide" Target="/ppt/notesSlides/notesSlide152.xml" Id="R8c4d670b8e864574"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6.xml" Id="Rd2a14c3c1d064aea" /><Relationship Type="http://schemas.openxmlformats.org/officeDocument/2006/relationships/notesSlide" Target="/ppt/notesSlides/notesSlide153.xml" Id="R16c4347493e14077"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6.xml" Id="R150cb040e8e5440e" /><Relationship Type="http://schemas.openxmlformats.org/officeDocument/2006/relationships/notesSlide" Target="/ppt/notesSlides/notesSlide154.xml" Id="R48f57f066bb34926"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6.xml" Id="Rb0fdeb6bf4044b7b" /><Relationship Type="http://schemas.openxmlformats.org/officeDocument/2006/relationships/notesSlide" Target="/ppt/notesSlides/notesSlide155.xml" Id="R9881d9b19687493f"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6.xml" Id="Rc54dc6dd63064cd4" /><Relationship Type="http://schemas.openxmlformats.org/officeDocument/2006/relationships/notesSlide" Target="/ppt/notesSlides/notesSlide156.xml" Id="R5a97a6e880084d8c"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6.xml" Id="Ra22b0d8b28fd4bce" /><Relationship Type="http://schemas.openxmlformats.org/officeDocument/2006/relationships/notesSlide" Target="/ppt/notesSlides/notesSlide157.xml" Id="R25fba34815a84d17"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6.xml" Id="Re37b0dfe7cd84e71" /><Relationship Type="http://schemas.openxmlformats.org/officeDocument/2006/relationships/notesSlide" Target="/ppt/notesSlides/notesSlide158.xml" Id="R8672374ad55d4e98"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6.xml" Id="R23ee0c81f3894362" /><Relationship Type="http://schemas.openxmlformats.org/officeDocument/2006/relationships/notesSlide" Target="/ppt/notesSlides/notesSlide159.xml" Id="Rdaebae93079c44ef"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6.xml" Id="Rea2b9229d4f84025" /><Relationship Type="http://schemas.openxmlformats.org/officeDocument/2006/relationships/notesSlide" Target="/ppt/notesSlides/notesSlide160.xml" Id="R52070c7e949d415d"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6.xml" Id="R5f47b649d4ad40ae" /><Relationship Type="http://schemas.openxmlformats.org/officeDocument/2006/relationships/notesSlide" Target="/ppt/notesSlides/notesSlide161.xml" Id="R1c75f9da5dd74788"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6.xml" Id="R44f44b0ef01e49bf" /><Relationship Type="http://schemas.openxmlformats.org/officeDocument/2006/relationships/notesSlide" Target="/ppt/notesSlides/notesSlide162.xml" Id="R57606783df514b66"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6.xml" Id="R2fb8fc8251134d1c" /><Relationship Type="http://schemas.openxmlformats.org/officeDocument/2006/relationships/notesSlide" Target="/ppt/notesSlides/notesSlide163.xml" Id="Ra64ef4abc7b34ee9"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6.xml" Id="R03614189ec4442db" /><Relationship Type="http://schemas.openxmlformats.org/officeDocument/2006/relationships/notesSlide" Target="/ppt/notesSlides/notesSlide164.xml" Id="Ra3e13b9bcbba4123"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6.xml" Id="R999d115765d84b3e" /><Relationship Type="http://schemas.openxmlformats.org/officeDocument/2006/relationships/notesSlide" Target="/ppt/notesSlides/notesSlide165.xml" Id="Ra7966302863a4eae"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6.xml" Id="R12d6991b307a4e60" /><Relationship Type="http://schemas.openxmlformats.org/officeDocument/2006/relationships/notesSlide" Target="/ppt/notesSlides/notesSlide166.xml" Id="R6b07852001474ac1"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6.xml" Id="R5a13d7758c5d4af2" /><Relationship Type="http://schemas.openxmlformats.org/officeDocument/2006/relationships/notesSlide" Target="/ppt/notesSlides/notesSlide167.xml" Id="R208f59cb7a0f4f04"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6.xml" Id="R06e86482b9334a55" /><Relationship Type="http://schemas.openxmlformats.org/officeDocument/2006/relationships/notesSlide" Target="/ppt/notesSlides/notesSlide168.xml" Id="Rd77c879bc1494b47"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6.xml" Id="R2e8a4678bcac45bd" /><Relationship Type="http://schemas.openxmlformats.org/officeDocument/2006/relationships/notesSlide" Target="/ppt/notesSlides/notesSlide169.xml" Id="R83a022e2a1e04af1" /></Relationships>
</file>

<file path=ppt/slides/_rels/slide170.xml.rels>&#65279;<?xml version="1.0" encoding="utf-8"?><Relationships xmlns="http://schemas.openxmlformats.org/package/2006/relationships"><Relationship Type="http://schemas.openxmlformats.org/officeDocument/2006/relationships/slideLayout" Target="/ppt/slideLayouts/slideLayout6.xml" Id="Rf0a84d1f14764005" /><Relationship Type="http://schemas.openxmlformats.org/officeDocument/2006/relationships/notesSlide" Target="/ppt/notesSlides/notesSlide170.xml" Id="Rfadb82d39f444172" /></Relationships>
</file>

<file path=ppt/slides/_rels/slide171.xml.rels>&#65279;<?xml version="1.0" encoding="utf-8"?><Relationships xmlns="http://schemas.openxmlformats.org/package/2006/relationships"><Relationship Type="http://schemas.openxmlformats.org/officeDocument/2006/relationships/slideLayout" Target="/ppt/slideLayouts/slideLayout6.xml" Id="R6ea6fa92a2b24b79" /><Relationship Type="http://schemas.openxmlformats.org/officeDocument/2006/relationships/notesSlide" Target="/ppt/notesSlides/notesSlide171.xml" Id="R1af455f6285e4da1" /></Relationships>
</file>

<file path=ppt/slides/_rels/slide172.xml.rels>&#65279;<?xml version="1.0" encoding="utf-8"?><Relationships xmlns="http://schemas.openxmlformats.org/package/2006/relationships"><Relationship Type="http://schemas.openxmlformats.org/officeDocument/2006/relationships/slideLayout" Target="/ppt/slideLayouts/slideLayout6.xml" Id="Raee5daa56aab4c30" /><Relationship Type="http://schemas.openxmlformats.org/officeDocument/2006/relationships/notesSlide" Target="/ppt/notesSlides/notesSlide172.xml" Id="R898877e6221945ab" /></Relationships>
</file>

<file path=ppt/slides/_rels/slide173.xml.rels>&#65279;<?xml version="1.0" encoding="utf-8"?><Relationships xmlns="http://schemas.openxmlformats.org/package/2006/relationships"><Relationship Type="http://schemas.openxmlformats.org/officeDocument/2006/relationships/slideLayout" Target="/ppt/slideLayouts/slideLayout6.xml" Id="R67b2ad627122475a" /><Relationship Type="http://schemas.openxmlformats.org/officeDocument/2006/relationships/notesSlide" Target="/ppt/notesSlides/notesSlide173.xml" Id="R43c0fd3e768e4f54" /></Relationships>
</file>

<file path=ppt/slides/_rels/slide174.xml.rels>&#65279;<?xml version="1.0" encoding="utf-8"?><Relationships xmlns="http://schemas.openxmlformats.org/package/2006/relationships"><Relationship Type="http://schemas.openxmlformats.org/officeDocument/2006/relationships/slideLayout" Target="/ppt/slideLayouts/slideLayout6.xml" Id="R7b649db25d804cea" /><Relationship Type="http://schemas.openxmlformats.org/officeDocument/2006/relationships/notesSlide" Target="/ppt/notesSlides/notesSlide174.xml" Id="R3881bdb313774eb3" /></Relationships>
</file>

<file path=ppt/slides/_rels/slide175.xml.rels>&#65279;<?xml version="1.0" encoding="utf-8"?><Relationships xmlns="http://schemas.openxmlformats.org/package/2006/relationships"><Relationship Type="http://schemas.openxmlformats.org/officeDocument/2006/relationships/slideLayout" Target="/ppt/slideLayouts/slideLayout6.xml" Id="Ra92eb2e05906446f" /><Relationship Type="http://schemas.openxmlformats.org/officeDocument/2006/relationships/notesSlide" Target="/ppt/notesSlides/notesSlide175.xml" Id="R04da89c567734026" /></Relationships>
</file>

<file path=ppt/slides/_rels/slide176.xml.rels>&#65279;<?xml version="1.0" encoding="utf-8"?><Relationships xmlns="http://schemas.openxmlformats.org/package/2006/relationships"><Relationship Type="http://schemas.openxmlformats.org/officeDocument/2006/relationships/slideLayout" Target="/ppt/slideLayouts/slideLayout6.xml" Id="R028d1a989a2f4d7a" /><Relationship Type="http://schemas.openxmlformats.org/officeDocument/2006/relationships/notesSlide" Target="/ppt/notesSlides/notesSlide176.xml" Id="R283389ce7d834b79" /></Relationships>
</file>

<file path=ppt/slides/_rels/slide177.xml.rels>&#65279;<?xml version="1.0" encoding="utf-8"?><Relationships xmlns="http://schemas.openxmlformats.org/package/2006/relationships"><Relationship Type="http://schemas.openxmlformats.org/officeDocument/2006/relationships/slideLayout" Target="/ppt/slideLayouts/slideLayout6.xml" Id="R48e814b91c794330" /><Relationship Type="http://schemas.openxmlformats.org/officeDocument/2006/relationships/notesSlide" Target="/ppt/notesSlides/notesSlide177.xml" Id="Rcc6a69ec12a0467e" /></Relationships>
</file>

<file path=ppt/slides/_rels/slide178.xml.rels>&#65279;<?xml version="1.0" encoding="utf-8"?><Relationships xmlns="http://schemas.openxmlformats.org/package/2006/relationships"><Relationship Type="http://schemas.openxmlformats.org/officeDocument/2006/relationships/slideLayout" Target="/ppt/slideLayouts/slideLayout6.xml" Id="R3ce8c0a225dd4057" /><Relationship Type="http://schemas.openxmlformats.org/officeDocument/2006/relationships/notesSlide" Target="/ppt/notesSlides/notesSlide178.xml" Id="Rbfbf9df74af040c5" /></Relationships>
</file>

<file path=ppt/slides/_rels/slide179.xml.rels>&#65279;<?xml version="1.0" encoding="utf-8"?><Relationships xmlns="http://schemas.openxmlformats.org/package/2006/relationships"><Relationship Type="http://schemas.openxmlformats.org/officeDocument/2006/relationships/slideLayout" Target="/ppt/slideLayouts/slideLayout6.xml" Id="Re3f609494d2a486c" /><Relationship Type="http://schemas.openxmlformats.org/officeDocument/2006/relationships/notesSlide" Target="/ppt/notesSlides/notesSlide179.xml" Id="R5ce1ac5a87824763" /></Relationships>
</file>

<file path=ppt/slides/_rels/slide180.xml.rels>&#65279;<?xml version="1.0" encoding="utf-8"?><Relationships xmlns="http://schemas.openxmlformats.org/package/2006/relationships"><Relationship Type="http://schemas.openxmlformats.org/officeDocument/2006/relationships/slideLayout" Target="/ppt/slideLayouts/slideLayout6.xml" Id="R9738e32190fc423c" /><Relationship Type="http://schemas.openxmlformats.org/officeDocument/2006/relationships/notesSlide" Target="/ppt/notesSlides/notesSlide180.xml" Id="Rdbfa4f3b65144c61" /></Relationships>
</file>

<file path=ppt/slides/_rels/slide181.xml.rels>&#65279;<?xml version="1.0" encoding="utf-8"?><Relationships xmlns="http://schemas.openxmlformats.org/package/2006/relationships"><Relationship Type="http://schemas.openxmlformats.org/officeDocument/2006/relationships/slideLayout" Target="/ppt/slideLayouts/slideLayout6.xml" Id="R0404674d22954cc3" /><Relationship Type="http://schemas.openxmlformats.org/officeDocument/2006/relationships/notesSlide" Target="/ppt/notesSlides/notesSlide181.xml" Id="Rd6eaefba7ac8424f" /></Relationships>
</file>

<file path=ppt/slides/_rels/slide182.xml.rels>&#65279;<?xml version="1.0" encoding="utf-8"?><Relationships xmlns="http://schemas.openxmlformats.org/package/2006/relationships"><Relationship Type="http://schemas.openxmlformats.org/officeDocument/2006/relationships/slideLayout" Target="/ppt/slideLayouts/slideLayout6.xml" Id="R32f651930f4e4743" /><Relationship Type="http://schemas.openxmlformats.org/officeDocument/2006/relationships/notesSlide" Target="/ppt/notesSlides/notesSlide182.xml" Id="Ra553de4ccf30467b" /></Relationships>
</file>

<file path=ppt/slides/_rels/slide183.xml.rels>&#65279;<?xml version="1.0" encoding="utf-8"?><Relationships xmlns="http://schemas.openxmlformats.org/package/2006/relationships"><Relationship Type="http://schemas.openxmlformats.org/officeDocument/2006/relationships/slideLayout" Target="/ppt/slideLayouts/slideLayout6.xml" Id="Rf7a78e7828654a3f" /><Relationship Type="http://schemas.openxmlformats.org/officeDocument/2006/relationships/notesSlide" Target="/ppt/notesSlides/notesSlide183.xml" Id="R89a831115503407a" /></Relationships>
</file>

<file path=ppt/slides/_rels/slide184.xml.rels>&#65279;<?xml version="1.0" encoding="utf-8"?><Relationships xmlns="http://schemas.openxmlformats.org/package/2006/relationships"><Relationship Type="http://schemas.openxmlformats.org/officeDocument/2006/relationships/slideLayout" Target="/ppt/slideLayouts/slideLayout6.xml" Id="R501a5a48772e4961" /><Relationship Type="http://schemas.openxmlformats.org/officeDocument/2006/relationships/notesSlide" Target="/ppt/notesSlides/notesSlide184.xml" Id="Rb45fc8fd283543db" /></Relationships>
</file>

<file path=ppt/slides/_rels/slide185.xml.rels>&#65279;<?xml version="1.0" encoding="utf-8"?><Relationships xmlns="http://schemas.openxmlformats.org/package/2006/relationships"><Relationship Type="http://schemas.openxmlformats.org/officeDocument/2006/relationships/slideLayout" Target="/ppt/slideLayouts/slideLayout6.xml" Id="Rd15f651eb9874aba" /><Relationship Type="http://schemas.openxmlformats.org/officeDocument/2006/relationships/notesSlide" Target="/ppt/notesSlides/notesSlide185.xml" Id="R949c1775ed9d4305" /></Relationships>
</file>

<file path=ppt/slides/_rels/slide186.xml.rels>&#65279;<?xml version="1.0" encoding="utf-8"?><Relationships xmlns="http://schemas.openxmlformats.org/package/2006/relationships"><Relationship Type="http://schemas.openxmlformats.org/officeDocument/2006/relationships/slideLayout" Target="/ppt/slideLayouts/slideLayout6.xml" Id="R8feacf6558124c75" /><Relationship Type="http://schemas.openxmlformats.org/officeDocument/2006/relationships/notesSlide" Target="/ppt/notesSlides/notesSlide186.xml" Id="R381cb3c1edb4402a" /></Relationships>
</file>

<file path=ppt/slides/_rels/slide187.xml.rels>&#65279;<?xml version="1.0" encoding="utf-8"?><Relationships xmlns="http://schemas.openxmlformats.org/package/2006/relationships"><Relationship Type="http://schemas.openxmlformats.org/officeDocument/2006/relationships/slideLayout" Target="/ppt/slideLayouts/slideLayout6.xml" Id="R472a596f3828416e" /><Relationship Type="http://schemas.openxmlformats.org/officeDocument/2006/relationships/notesSlide" Target="/ppt/notesSlides/notesSlide187.xml" Id="R4a8b66d0d18d449e" /></Relationships>
</file>

<file path=ppt/slides/_rels/slide188.xml.rels>&#65279;<?xml version="1.0" encoding="utf-8"?><Relationships xmlns="http://schemas.openxmlformats.org/package/2006/relationships"><Relationship Type="http://schemas.openxmlformats.org/officeDocument/2006/relationships/slideLayout" Target="/ppt/slideLayouts/slideLayout6.xml" Id="Rd71fec9065c04ff0" /><Relationship Type="http://schemas.openxmlformats.org/officeDocument/2006/relationships/notesSlide" Target="/ppt/notesSlides/notesSlide188.xml" Id="R3f0c8f5ed30c4020" /></Relationships>
</file>

<file path=ppt/slides/_rels/slide189.xml.rels>&#65279;<?xml version="1.0" encoding="utf-8"?><Relationships xmlns="http://schemas.openxmlformats.org/package/2006/relationships"><Relationship Type="http://schemas.openxmlformats.org/officeDocument/2006/relationships/slideLayout" Target="/ppt/slideLayouts/slideLayout6.xml" Id="R3c771d0c7da34d16" /><Relationship Type="http://schemas.openxmlformats.org/officeDocument/2006/relationships/notesSlide" Target="/ppt/notesSlides/notesSlide189.xml" Id="R1fb0d0339ac542d6" /></Relationships>
</file>

<file path=ppt/slides/_rels/slide190.xml.rels>&#65279;<?xml version="1.0" encoding="utf-8"?><Relationships xmlns="http://schemas.openxmlformats.org/package/2006/relationships"><Relationship Type="http://schemas.openxmlformats.org/officeDocument/2006/relationships/slideLayout" Target="/ppt/slideLayouts/slideLayout6.xml" Id="R70952475aee84984" /><Relationship Type="http://schemas.openxmlformats.org/officeDocument/2006/relationships/notesSlide" Target="/ppt/notesSlides/notesSlide190.xml" Id="R0a7146ab058e4374" /></Relationships>
</file>

<file path=ppt/slides/_rels/slide191.xml.rels>&#65279;<?xml version="1.0" encoding="utf-8"?><Relationships xmlns="http://schemas.openxmlformats.org/package/2006/relationships"><Relationship Type="http://schemas.openxmlformats.org/officeDocument/2006/relationships/slideLayout" Target="/ppt/slideLayouts/slideLayout6.xml" Id="R93901e6f02a14411" /><Relationship Type="http://schemas.openxmlformats.org/officeDocument/2006/relationships/notesSlide" Target="/ppt/notesSlides/notesSlide191.xml" Id="R2ab47bae80504966" /></Relationships>
</file>

<file path=ppt/slides/_rels/slide192.xml.rels>&#65279;<?xml version="1.0" encoding="utf-8"?><Relationships xmlns="http://schemas.openxmlformats.org/package/2006/relationships"><Relationship Type="http://schemas.openxmlformats.org/officeDocument/2006/relationships/slideLayout" Target="/ppt/slideLayouts/slideLayout6.xml" Id="R03f7e7243ce6486e" /><Relationship Type="http://schemas.openxmlformats.org/officeDocument/2006/relationships/notesSlide" Target="/ppt/notesSlides/notesSlide192.xml" Id="Rb43711145b4646a1" /></Relationships>
</file>

<file path=ppt/slides/_rels/slide193.xml.rels>&#65279;<?xml version="1.0" encoding="utf-8"?><Relationships xmlns="http://schemas.openxmlformats.org/package/2006/relationships"><Relationship Type="http://schemas.openxmlformats.org/officeDocument/2006/relationships/slideLayout" Target="/ppt/slideLayouts/slideLayout6.xml" Id="R81ca992f6f394a2e" /><Relationship Type="http://schemas.openxmlformats.org/officeDocument/2006/relationships/notesSlide" Target="/ppt/notesSlides/notesSlide193.xml" Id="Rec86df5f637b4a83" /></Relationships>
</file>

<file path=ppt/slides/_rels/slide194.xml.rels>&#65279;<?xml version="1.0" encoding="utf-8"?><Relationships xmlns="http://schemas.openxmlformats.org/package/2006/relationships"><Relationship Type="http://schemas.openxmlformats.org/officeDocument/2006/relationships/slideLayout" Target="/ppt/slideLayouts/slideLayout6.xml" Id="R058989445e00442c" /><Relationship Type="http://schemas.openxmlformats.org/officeDocument/2006/relationships/notesSlide" Target="/ppt/notesSlides/notesSlide194.xml" Id="Ref07790331c04565" /></Relationships>
</file>

<file path=ppt/slides/_rels/slide195.xml.rels>&#65279;<?xml version="1.0" encoding="utf-8"?><Relationships xmlns="http://schemas.openxmlformats.org/package/2006/relationships"><Relationship Type="http://schemas.openxmlformats.org/officeDocument/2006/relationships/slideLayout" Target="/ppt/slideLayouts/slideLayout6.xml" Id="Rea5e602c4b0a47d1" /><Relationship Type="http://schemas.openxmlformats.org/officeDocument/2006/relationships/notesSlide" Target="/ppt/notesSlides/notesSlide195.xml" Id="Rc795bf8b3d6e45f6" /></Relationships>
</file>

<file path=ppt/slides/_rels/slide196.xml.rels>&#65279;<?xml version="1.0" encoding="utf-8"?><Relationships xmlns="http://schemas.openxmlformats.org/package/2006/relationships"><Relationship Type="http://schemas.openxmlformats.org/officeDocument/2006/relationships/slideLayout" Target="/ppt/slideLayouts/slideLayout6.xml" Id="Rfab5cfa1939146f3" /><Relationship Type="http://schemas.openxmlformats.org/officeDocument/2006/relationships/notesSlide" Target="/ppt/notesSlides/notesSlide196.xml" Id="Rddd47fa879c54633" /></Relationships>
</file>

<file path=ppt/slides/_rels/slide197.xml.rels>&#65279;<?xml version="1.0" encoding="utf-8"?><Relationships xmlns="http://schemas.openxmlformats.org/package/2006/relationships"><Relationship Type="http://schemas.openxmlformats.org/officeDocument/2006/relationships/slideLayout" Target="/ppt/slideLayouts/slideLayout6.xml" Id="Rf250d8dc73e24d7f" /><Relationship Type="http://schemas.openxmlformats.org/officeDocument/2006/relationships/notesSlide" Target="/ppt/notesSlides/notesSlide197.xml" Id="Re1944c510b6a4678" /></Relationships>
</file>

<file path=ppt/slides/_rels/slide198.xml.rels>&#65279;<?xml version="1.0" encoding="utf-8"?><Relationships xmlns="http://schemas.openxmlformats.org/package/2006/relationships"><Relationship Type="http://schemas.openxmlformats.org/officeDocument/2006/relationships/slideLayout" Target="/ppt/slideLayouts/slideLayout6.xml" Id="R8d0677f93bcb4dff" /><Relationship Type="http://schemas.openxmlformats.org/officeDocument/2006/relationships/notesSlide" Target="/ppt/notesSlides/notesSlide198.xml" Id="Rcb1f6444a84e4088" /></Relationships>
</file>

<file path=ppt/slides/_rels/slide199.xml.rels>&#65279;<?xml version="1.0" encoding="utf-8"?><Relationships xmlns="http://schemas.openxmlformats.org/package/2006/relationships"><Relationship Type="http://schemas.openxmlformats.org/officeDocument/2006/relationships/slideLayout" Target="/ppt/slideLayouts/slideLayout6.xml" Id="R6c6a5c041b234fc0" /><Relationship Type="http://schemas.openxmlformats.org/officeDocument/2006/relationships/notesSlide" Target="/ppt/notesSlides/notesSlide199.xml" Id="Rb4b2b779676d42cd" /></Relationships>
</file>

<file path=ppt/slides/_rels/slide200.xml.rels>&#65279;<?xml version="1.0" encoding="utf-8"?><Relationships xmlns="http://schemas.openxmlformats.org/package/2006/relationships"><Relationship Type="http://schemas.openxmlformats.org/officeDocument/2006/relationships/slideLayout" Target="/ppt/slideLayouts/slideLayout6.xml" Id="R7c2397d2f5364717" /><Relationship Type="http://schemas.openxmlformats.org/officeDocument/2006/relationships/notesSlide" Target="/ppt/notesSlides/notesSlide200.xml" Id="R68509e7a8f73487a" /></Relationships>
</file>

<file path=ppt/slides/_rels/slide201.xml.rels>&#65279;<?xml version="1.0" encoding="utf-8"?><Relationships xmlns="http://schemas.openxmlformats.org/package/2006/relationships"><Relationship Type="http://schemas.openxmlformats.org/officeDocument/2006/relationships/slideLayout" Target="/ppt/slideLayouts/slideLayout6.xml" Id="R4797442ff6064192" /><Relationship Type="http://schemas.openxmlformats.org/officeDocument/2006/relationships/notesSlide" Target="/ppt/notesSlides/notesSlide201.xml" Id="R9743ce78b7f742bb" /></Relationships>
</file>

<file path=ppt/slides/_rels/slide202.xml.rels>&#65279;<?xml version="1.0" encoding="utf-8"?><Relationships xmlns="http://schemas.openxmlformats.org/package/2006/relationships"><Relationship Type="http://schemas.openxmlformats.org/officeDocument/2006/relationships/slideLayout" Target="/ppt/slideLayouts/slideLayout6.xml" Id="R4bbaaec8ddbb4489" /><Relationship Type="http://schemas.openxmlformats.org/officeDocument/2006/relationships/notesSlide" Target="/ppt/notesSlides/notesSlide202.xml" Id="R034806b0bbfc4426" /></Relationships>
</file>

<file path=ppt/slides/_rels/slide203.xml.rels>&#65279;<?xml version="1.0" encoding="utf-8"?><Relationships xmlns="http://schemas.openxmlformats.org/package/2006/relationships"><Relationship Type="http://schemas.openxmlformats.org/officeDocument/2006/relationships/slideLayout" Target="/ppt/slideLayouts/slideLayout6.xml" Id="R4454665597624b35" /><Relationship Type="http://schemas.openxmlformats.org/officeDocument/2006/relationships/notesSlide" Target="/ppt/notesSlides/notesSlide203.xml" Id="R20989a61ebd3426d" /></Relationships>
</file>

<file path=ppt/slides/_rels/slide204.xml.rels>&#65279;<?xml version="1.0" encoding="utf-8"?><Relationships xmlns="http://schemas.openxmlformats.org/package/2006/relationships"><Relationship Type="http://schemas.openxmlformats.org/officeDocument/2006/relationships/slideLayout" Target="/ppt/slideLayouts/slideLayout6.xml" Id="Rbda5414e4f224d5a" /><Relationship Type="http://schemas.openxmlformats.org/officeDocument/2006/relationships/notesSlide" Target="/ppt/notesSlides/notesSlide204.xml" Id="Rcf9e615bf7474137" /></Relationships>
</file>

<file path=ppt/slides/_rels/slide205.xml.rels>&#65279;<?xml version="1.0" encoding="utf-8"?><Relationships xmlns="http://schemas.openxmlformats.org/package/2006/relationships"><Relationship Type="http://schemas.openxmlformats.org/officeDocument/2006/relationships/slideLayout" Target="/ppt/slideLayouts/slideLayout6.xml" Id="R1f8c5c7ea1ee4921" /><Relationship Type="http://schemas.openxmlformats.org/officeDocument/2006/relationships/notesSlide" Target="/ppt/notesSlides/notesSlide205.xml" Id="R0f5f6cfb15374693" /></Relationships>
</file>

<file path=ppt/slides/_rels/slide206.xml.rels>&#65279;<?xml version="1.0" encoding="utf-8"?><Relationships xmlns="http://schemas.openxmlformats.org/package/2006/relationships"><Relationship Type="http://schemas.openxmlformats.org/officeDocument/2006/relationships/slideLayout" Target="/ppt/slideLayouts/slideLayout6.xml" Id="R3a664858dff441e6" /><Relationship Type="http://schemas.openxmlformats.org/officeDocument/2006/relationships/notesSlide" Target="/ppt/notesSlides/notesSlide206.xml" Id="Ref116ebcabb04f55" /></Relationships>
</file>

<file path=ppt/slides/_rels/slide207.xml.rels>&#65279;<?xml version="1.0" encoding="utf-8"?><Relationships xmlns="http://schemas.openxmlformats.org/package/2006/relationships"><Relationship Type="http://schemas.openxmlformats.org/officeDocument/2006/relationships/slideLayout" Target="/ppt/slideLayouts/slideLayout6.xml" Id="R7f0d0184be53444f" /><Relationship Type="http://schemas.openxmlformats.org/officeDocument/2006/relationships/notesSlide" Target="/ppt/notesSlides/notesSlide207.xml" Id="R9bcc4ef4eed64036" /></Relationships>
</file>

<file path=ppt/slides/_rels/slide208.xml.rels>&#65279;<?xml version="1.0" encoding="utf-8"?><Relationships xmlns="http://schemas.openxmlformats.org/package/2006/relationships"><Relationship Type="http://schemas.openxmlformats.org/officeDocument/2006/relationships/slideLayout" Target="/ppt/slideLayouts/slideLayout6.xml" Id="Rde07d37ae7b2481d" /><Relationship Type="http://schemas.openxmlformats.org/officeDocument/2006/relationships/notesSlide" Target="/ppt/notesSlides/notesSlide208.xml" Id="R863cd4ce60354933" /></Relationships>
</file>

<file path=ppt/slides/_rels/slide209.xml.rels>&#65279;<?xml version="1.0" encoding="utf-8"?><Relationships xmlns="http://schemas.openxmlformats.org/package/2006/relationships"><Relationship Type="http://schemas.openxmlformats.org/officeDocument/2006/relationships/slideLayout" Target="/ppt/slideLayouts/slideLayout6.xml" Id="Rf0a99cb30bde47f8" /><Relationship Type="http://schemas.openxmlformats.org/officeDocument/2006/relationships/notesSlide" Target="/ppt/notesSlides/notesSlide209.xml" Id="R1a5376cb04f54543" /></Relationships>
</file>

<file path=ppt/slides/_rels/slide210.xml.rels>&#65279;<?xml version="1.0" encoding="utf-8"?><Relationships xmlns="http://schemas.openxmlformats.org/package/2006/relationships"><Relationship Type="http://schemas.openxmlformats.org/officeDocument/2006/relationships/slideLayout" Target="/ppt/slideLayouts/slideLayout6.xml" Id="Rab3bb10bfe0043b5" /><Relationship Type="http://schemas.openxmlformats.org/officeDocument/2006/relationships/notesSlide" Target="/ppt/notesSlides/notesSlide210.xml" Id="R94d09a6874e94d14" /></Relationships>
</file>

<file path=ppt/slides/_rels/slide211.xml.rels>&#65279;<?xml version="1.0" encoding="utf-8"?><Relationships xmlns="http://schemas.openxmlformats.org/package/2006/relationships"><Relationship Type="http://schemas.openxmlformats.org/officeDocument/2006/relationships/slideLayout" Target="/ppt/slideLayouts/slideLayout6.xml" Id="R19040da036c14ade" /><Relationship Type="http://schemas.openxmlformats.org/officeDocument/2006/relationships/notesSlide" Target="/ppt/notesSlides/notesSlide211.xml" Id="R9acac21ad4b5454a" /></Relationships>
</file>

<file path=ppt/slides/_rels/slide212.xml.rels>&#65279;<?xml version="1.0" encoding="utf-8"?><Relationships xmlns="http://schemas.openxmlformats.org/package/2006/relationships"><Relationship Type="http://schemas.openxmlformats.org/officeDocument/2006/relationships/slideLayout" Target="/ppt/slideLayouts/slideLayout6.xml" Id="R09c1347b76554f45" /><Relationship Type="http://schemas.openxmlformats.org/officeDocument/2006/relationships/notesSlide" Target="/ppt/notesSlides/notesSlide212.xml" Id="Ree7d1107eda8451f" /></Relationships>
</file>

<file path=ppt/slides/_rels/slide213.xml.rels>&#65279;<?xml version="1.0" encoding="utf-8"?><Relationships xmlns="http://schemas.openxmlformats.org/package/2006/relationships"><Relationship Type="http://schemas.openxmlformats.org/officeDocument/2006/relationships/slideLayout" Target="/ppt/slideLayouts/slideLayout6.xml" Id="Rbdc2956128cb417b" /><Relationship Type="http://schemas.openxmlformats.org/officeDocument/2006/relationships/notesSlide" Target="/ppt/notesSlides/notesSlide213.xml" Id="Rc111ca671d374b72" /></Relationships>
</file>

<file path=ppt/slides/_rels/slide214.xml.rels>&#65279;<?xml version="1.0" encoding="utf-8"?><Relationships xmlns="http://schemas.openxmlformats.org/package/2006/relationships"><Relationship Type="http://schemas.openxmlformats.org/officeDocument/2006/relationships/slideLayout" Target="/ppt/slideLayouts/slideLayout6.xml" Id="R09ea7ec538f74ab6" /><Relationship Type="http://schemas.openxmlformats.org/officeDocument/2006/relationships/notesSlide" Target="/ppt/notesSlides/notesSlide214.xml" Id="R68b1cda48a814732" /></Relationships>
</file>

<file path=ppt/slides/_rels/slide215.xml.rels>&#65279;<?xml version="1.0" encoding="utf-8"?><Relationships xmlns="http://schemas.openxmlformats.org/package/2006/relationships"><Relationship Type="http://schemas.openxmlformats.org/officeDocument/2006/relationships/slideLayout" Target="/ppt/slideLayouts/slideLayout6.xml" Id="Rd5735cb89bc040d8" /><Relationship Type="http://schemas.openxmlformats.org/officeDocument/2006/relationships/notesSlide" Target="/ppt/notesSlides/notesSlide215.xml" Id="R2d5fe25428ad4f0a" /></Relationships>
</file>

<file path=ppt/slides/_rels/slide216.xml.rels>&#65279;<?xml version="1.0" encoding="utf-8"?><Relationships xmlns="http://schemas.openxmlformats.org/package/2006/relationships"><Relationship Type="http://schemas.openxmlformats.org/officeDocument/2006/relationships/slideLayout" Target="/ppt/slideLayouts/slideLayout6.xml" Id="Rfc16deb0ad86465b" /><Relationship Type="http://schemas.openxmlformats.org/officeDocument/2006/relationships/notesSlide" Target="/ppt/notesSlides/notesSlide216.xml" Id="Rad6bb2f2276b4a35" /></Relationships>
</file>

<file path=ppt/slides/_rels/slide217.xml.rels>&#65279;<?xml version="1.0" encoding="utf-8"?><Relationships xmlns="http://schemas.openxmlformats.org/package/2006/relationships"><Relationship Type="http://schemas.openxmlformats.org/officeDocument/2006/relationships/slideLayout" Target="/ppt/slideLayouts/slideLayout6.xml" Id="Rc4b90f58eae4424c" /><Relationship Type="http://schemas.openxmlformats.org/officeDocument/2006/relationships/notesSlide" Target="/ppt/notesSlides/notesSlide217.xml" Id="R754025dce4bb4cdb" /></Relationships>
</file>

<file path=ppt/slides/_rels/slide218.xml.rels>&#65279;<?xml version="1.0" encoding="utf-8"?><Relationships xmlns="http://schemas.openxmlformats.org/package/2006/relationships"><Relationship Type="http://schemas.openxmlformats.org/officeDocument/2006/relationships/slideLayout" Target="/ppt/slideLayouts/slideLayout6.xml" Id="R7ceb8ea08ba94661" /><Relationship Type="http://schemas.openxmlformats.org/officeDocument/2006/relationships/notesSlide" Target="/ppt/notesSlides/notesSlide218.xml" Id="Rd6ef28e675524b2e" /></Relationships>
</file>

<file path=ppt/slides/_rels/slide219.xml.rels>&#65279;<?xml version="1.0" encoding="utf-8"?><Relationships xmlns="http://schemas.openxmlformats.org/package/2006/relationships"><Relationship Type="http://schemas.openxmlformats.org/officeDocument/2006/relationships/slideLayout" Target="/ppt/slideLayouts/slideLayout6.xml" Id="Rf041a1e06b4f4bfa" /><Relationship Type="http://schemas.openxmlformats.org/officeDocument/2006/relationships/notesSlide" Target="/ppt/notesSlides/notesSlide219.xml" Id="R45947166326d481c" /></Relationships>
</file>

<file path=ppt/slides/_rels/slide220.xml.rels>&#65279;<?xml version="1.0" encoding="utf-8"?><Relationships xmlns="http://schemas.openxmlformats.org/package/2006/relationships"><Relationship Type="http://schemas.openxmlformats.org/officeDocument/2006/relationships/slideLayout" Target="/ppt/slideLayouts/slideLayout6.xml" Id="R100f3287128c4e97" /><Relationship Type="http://schemas.openxmlformats.org/officeDocument/2006/relationships/notesSlide" Target="/ppt/notesSlides/notesSlide220.xml" Id="R87f189c557bc4c66" /></Relationships>
</file>

<file path=ppt/slides/_rels/slide221.xml.rels>&#65279;<?xml version="1.0" encoding="utf-8"?><Relationships xmlns="http://schemas.openxmlformats.org/package/2006/relationships"><Relationship Type="http://schemas.openxmlformats.org/officeDocument/2006/relationships/slideLayout" Target="/ppt/slideLayouts/slideLayout6.xml" Id="R3f8c349d57f340ad" /><Relationship Type="http://schemas.openxmlformats.org/officeDocument/2006/relationships/notesSlide" Target="/ppt/notesSlides/notesSlide221.xml" Id="R5a8b74c8eef046ae" /></Relationships>
</file>

<file path=ppt/slides/_rels/slide222.xml.rels>&#65279;<?xml version="1.0" encoding="utf-8"?><Relationships xmlns="http://schemas.openxmlformats.org/package/2006/relationships"><Relationship Type="http://schemas.openxmlformats.org/officeDocument/2006/relationships/slideLayout" Target="/ppt/slideLayouts/slideLayout6.xml" Id="Rec585b06886d412f" /><Relationship Type="http://schemas.openxmlformats.org/officeDocument/2006/relationships/notesSlide" Target="/ppt/notesSlides/notesSlide222.xml" Id="R0cda37f07fb24a12" /></Relationships>
</file>

<file path=ppt/slides/_rels/slide223.xml.rels>&#65279;<?xml version="1.0" encoding="utf-8"?><Relationships xmlns="http://schemas.openxmlformats.org/package/2006/relationships"><Relationship Type="http://schemas.openxmlformats.org/officeDocument/2006/relationships/slideLayout" Target="/ppt/slideLayouts/slideLayout6.xml" Id="Re79d7045da8d4b33" /><Relationship Type="http://schemas.openxmlformats.org/officeDocument/2006/relationships/notesSlide" Target="/ppt/notesSlides/notesSlide223.xml" Id="R05f2d3c8d1ad4ab0" /></Relationships>
</file>

<file path=ppt/slides/_rels/slide224.xml.rels>&#65279;<?xml version="1.0" encoding="utf-8"?><Relationships xmlns="http://schemas.openxmlformats.org/package/2006/relationships"><Relationship Type="http://schemas.openxmlformats.org/officeDocument/2006/relationships/slideLayout" Target="/ppt/slideLayouts/slideLayout6.xml" Id="R72a125c70e3b4cb4" /><Relationship Type="http://schemas.openxmlformats.org/officeDocument/2006/relationships/notesSlide" Target="/ppt/notesSlides/notesSlide224.xml" Id="Rfbafe101666d4b80" /></Relationships>
</file>

<file path=ppt/slides/_rels/slide225.xml.rels>&#65279;<?xml version="1.0" encoding="utf-8"?><Relationships xmlns="http://schemas.openxmlformats.org/package/2006/relationships"><Relationship Type="http://schemas.openxmlformats.org/officeDocument/2006/relationships/slideLayout" Target="/ppt/slideLayouts/slideLayout6.xml" Id="Ra30d2f7752814b81" /><Relationship Type="http://schemas.openxmlformats.org/officeDocument/2006/relationships/notesSlide" Target="/ppt/notesSlides/notesSlide225.xml" Id="Ra222867c6c094b05" /></Relationships>
</file>

<file path=ppt/slides/_rels/slide226.xml.rels>&#65279;<?xml version="1.0" encoding="utf-8"?><Relationships xmlns="http://schemas.openxmlformats.org/package/2006/relationships"><Relationship Type="http://schemas.openxmlformats.org/officeDocument/2006/relationships/slideLayout" Target="/ppt/slideLayouts/slideLayout6.xml" Id="R6b817e66788d4ef1" /><Relationship Type="http://schemas.openxmlformats.org/officeDocument/2006/relationships/notesSlide" Target="/ppt/notesSlides/notesSlide226.xml" Id="R1055affa641a497e" /></Relationships>
</file>

<file path=ppt/slides/_rels/slide227.xml.rels>&#65279;<?xml version="1.0" encoding="utf-8"?><Relationships xmlns="http://schemas.openxmlformats.org/package/2006/relationships"><Relationship Type="http://schemas.openxmlformats.org/officeDocument/2006/relationships/slideLayout" Target="/ppt/slideLayouts/slideLayout6.xml" Id="R22378e14fd894578" /><Relationship Type="http://schemas.openxmlformats.org/officeDocument/2006/relationships/notesSlide" Target="/ppt/notesSlides/notesSlide227.xml" Id="R49788adb59894942" /></Relationships>
</file>

<file path=ppt/slides/_rels/slide228.xml.rels>&#65279;<?xml version="1.0" encoding="utf-8"?><Relationships xmlns="http://schemas.openxmlformats.org/package/2006/relationships"><Relationship Type="http://schemas.openxmlformats.org/officeDocument/2006/relationships/slideLayout" Target="/ppt/slideLayouts/slideLayout6.xml" Id="Rc40cf701d8404ab8" /><Relationship Type="http://schemas.openxmlformats.org/officeDocument/2006/relationships/notesSlide" Target="/ppt/notesSlides/notesSlide228.xml" Id="Rba05303a9bce4c9e" /></Relationships>
</file>

<file path=ppt/slides/_rels/slide229.xml.rels>&#65279;<?xml version="1.0" encoding="utf-8"?><Relationships xmlns="http://schemas.openxmlformats.org/package/2006/relationships"><Relationship Type="http://schemas.openxmlformats.org/officeDocument/2006/relationships/slideLayout" Target="/ppt/slideLayouts/slideLayout6.xml" Id="R30964b1efb4842cb" /><Relationship Type="http://schemas.openxmlformats.org/officeDocument/2006/relationships/notesSlide" Target="/ppt/notesSlides/notesSlide229.xml" Id="R3dc5a30cb5de4477" /></Relationships>
</file>

<file path=ppt/slides/_rels/slide230.xml.rels>&#65279;<?xml version="1.0" encoding="utf-8"?><Relationships xmlns="http://schemas.openxmlformats.org/package/2006/relationships"><Relationship Type="http://schemas.openxmlformats.org/officeDocument/2006/relationships/slideLayout" Target="/ppt/slideLayouts/slideLayout6.xml" Id="R85784125a58d45f8" /><Relationship Type="http://schemas.openxmlformats.org/officeDocument/2006/relationships/notesSlide" Target="/ppt/notesSlides/notesSlide230.xml" Id="Rf81790ebee774dbd"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E6508C-E20D-435F-BD95-4D1BC9B2343F}"/>
              </a:ext>
            </a:extLst>
          </p:cNvPr>
          <p:cNvSpPr>
            <a:spLocks xmlns:a="http://schemas.openxmlformats.org/drawingml/2006/main" noGrp="1"/>
          </p:cNvSpPr>
          <p:nvPr/>
        </p:nvSpPr>
        <p:spPr>
          <a:xfrm xmlns:a="http://schemas.openxmlformats.org/drawingml/2006/main">
            <a:off x="685800" y="1714500"/>
            <a:ext cx="10820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200" b="1">
                <a:solidFill>
                  <a:srgbClr val="FFFFFF"/>
                </a:solidFill>
                <a:latin typeface="DejaVu Sans"/>
                <a:ea typeface="DejaVu Sans"/>
                <a:cs typeface="DejaVu Sans"/>
              </a:defRPr>
            </a:defPPr>
            <a:lvl1pPr>
              <a:defRPr sz="4200" b="1">
                <a:solidFill>
                  <a:srgbClr val="FFFFFF"/>
                </a:solidFill>
                <a:latin typeface="DejaVu Sans"/>
                <a:ea typeface="DejaVu Sans"/>
                <a:cs typeface="DejaVu Sans"/>
              </a:defRPr>
            </a:lvl1pPr>
            <a:lvl2pPr>
              <a:defRPr sz="4200" b="1">
                <a:solidFill>
                  <a:srgbClr val="FFFFFF"/>
                </a:solidFill>
                <a:latin typeface="DejaVu Sans"/>
                <a:ea typeface="DejaVu Sans"/>
                <a:cs typeface="DejaVu Sans"/>
              </a:defRPr>
            </a:lvl2pPr>
            <a:lvl3pPr>
              <a:defRPr sz="4200" b="1">
                <a:solidFill>
                  <a:srgbClr val="FFFFFF"/>
                </a:solidFill>
                <a:latin typeface="DejaVu Sans"/>
                <a:ea typeface="DejaVu Sans"/>
                <a:cs typeface="DejaVu Sans"/>
              </a:defRPr>
            </a:lvl3pPr>
            <a:lvl4pPr>
              <a:defRPr sz="4200" b="1">
                <a:solidFill>
                  <a:srgbClr val="FFFFFF"/>
                </a:solidFill>
                <a:latin typeface="DejaVu Sans"/>
                <a:ea typeface="DejaVu Sans"/>
                <a:cs typeface="DejaVu Sans"/>
              </a:defRPr>
            </a:lvl4pPr>
            <a:lvl5pPr>
              <a:defRPr sz="4200" b="1">
                <a:solidFill>
                  <a:srgbClr val="FFFFFF"/>
                </a:solidFill>
                <a:latin typeface="DejaVu Sans"/>
                <a:ea typeface="DejaVu Sans"/>
                <a:cs typeface="DejaVu Sans"/>
              </a:defRPr>
            </a:lvl5pPr>
            <a:lvl6pPr>
              <a:defRPr sz="4200" b="1">
                <a:solidFill>
                  <a:srgbClr val="FFFFFF"/>
                </a:solidFill>
                <a:latin typeface="DejaVu Sans"/>
                <a:ea typeface="DejaVu Sans"/>
                <a:cs typeface="DejaVu Sans"/>
              </a:defRPr>
            </a:lvl6pPr>
            <a:lvl7pPr>
              <a:defRPr sz="4200" b="1">
                <a:solidFill>
                  <a:srgbClr val="FFFFFF"/>
                </a:solidFill>
                <a:latin typeface="DejaVu Sans"/>
                <a:ea typeface="DejaVu Sans"/>
                <a:cs typeface="DejaVu Sans"/>
              </a:defRPr>
            </a:lvl7pPr>
            <a:lvl8pPr>
              <a:defRPr sz="4200" b="1">
                <a:solidFill>
                  <a:srgbClr val="FFFFFF"/>
                </a:solidFill>
                <a:latin typeface="DejaVu Sans"/>
                <a:ea typeface="DejaVu Sans"/>
                <a:cs typeface="DejaVu Sans"/>
              </a:defRPr>
            </a:lvl8pPr>
            <a:lvl9pPr>
              <a:defRPr sz="4200" b="1">
                <a:solidFill>
                  <a:srgbClr val="FFFFFF"/>
                </a:solidFill>
                <a:latin typeface="DejaVu Sans"/>
                <a:ea typeface="DejaVu Sans"/>
                <a:cs typeface="DejaVu Sans"/>
              </a:defRPr>
            </a:lvl9pPr>
          </a:lstStyle>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HIV and opportunistic infections</a:t>
            </a:r>
          </a:p>
        </p:txBody>
      </p:sp>
      <p:sp>
        <p:nvSpPr>
          <p:cNvPr id="2" name="subtitle">
            <a:extLst xmlns:a="http://schemas.openxmlformats.org/drawingml/2006/main">
              <a:ext uri="{FF2B5EF4-FFF2-40B4-BE49-F238E27FC236}">
                <a16:creationId xmlns:a16="http://schemas.microsoft.com/office/drawing/2014/main" id="{722E661D-0F42-46FA-8DB2-70EC2489BA4F}"/>
              </a:ext>
            </a:extLst>
          </p:cNvPr>
          <p:cNvSpPr>
            <a:spLocks xmlns:a="http://schemas.openxmlformats.org/drawingml/2006/main" noGrp="1"/>
          </p:cNvSpPr>
          <p:nvPr/>
        </p:nvSpPr>
        <p:spPr>
          <a:xfrm xmlns:a="http://schemas.openxmlformats.org/drawingml/2006/main">
            <a:off x="723900" y="514350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D7E8E8"/>
                </a:solidFill>
                <a:latin typeface="DejaVu Sans"/>
                <a:ea typeface="DejaVu Sans"/>
                <a:cs typeface="DejaVu Sans"/>
              </a:defRPr>
            </a:defPPr>
            <a:lvl1pPr>
              <a:defRPr sz="1950" b="0">
                <a:solidFill>
                  <a:srgbClr val="D7E8E8"/>
                </a:solidFill>
                <a:latin typeface="DejaVu Sans"/>
                <a:ea typeface="DejaVu Sans"/>
                <a:cs typeface="DejaVu Sans"/>
              </a:defRPr>
            </a:lvl1pPr>
            <a:lvl2pPr>
              <a:defRPr sz="1950" b="0">
                <a:solidFill>
                  <a:srgbClr val="D7E8E8"/>
                </a:solidFill>
                <a:latin typeface="DejaVu Sans"/>
                <a:ea typeface="DejaVu Sans"/>
                <a:cs typeface="DejaVu Sans"/>
              </a:defRPr>
            </a:lvl2pPr>
            <a:lvl3pPr>
              <a:defRPr sz="1950" b="0">
                <a:solidFill>
                  <a:srgbClr val="D7E8E8"/>
                </a:solidFill>
                <a:latin typeface="DejaVu Sans"/>
                <a:ea typeface="DejaVu Sans"/>
                <a:cs typeface="DejaVu Sans"/>
              </a:defRPr>
            </a:lvl3pPr>
            <a:lvl4pPr>
              <a:defRPr sz="1950" b="0">
                <a:solidFill>
                  <a:srgbClr val="D7E8E8"/>
                </a:solidFill>
                <a:latin typeface="DejaVu Sans"/>
                <a:ea typeface="DejaVu Sans"/>
                <a:cs typeface="DejaVu Sans"/>
              </a:defRPr>
            </a:lvl4pPr>
            <a:lvl5pPr>
              <a:defRPr sz="1950" b="0">
                <a:solidFill>
                  <a:srgbClr val="D7E8E8"/>
                </a:solidFill>
                <a:latin typeface="DejaVu Sans"/>
                <a:ea typeface="DejaVu Sans"/>
                <a:cs typeface="DejaVu Sans"/>
              </a:defRPr>
            </a:lvl5pPr>
            <a:lvl6pPr>
              <a:defRPr sz="1950" b="0">
                <a:solidFill>
                  <a:srgbClr val="D7E8E8"/>
                </a:solidFill>
                <a:latin typeface="DejaVu Sans"/>
                <a:ea typeface="DejaVu Sans"/>
                <a:cs typeface="DejaVu Sans"/>
              </a:defRPr>
            </a:lvl6pPr>
            <a:lvl7pPr>
              <a:defRPr sz="1950" b="0">
                <a:solidFill>
                  <a:srgbClr val="D7E8E8"/>
                </a:solidFill>
                <a:latin typeface="DejaVu Sans"/>
                <a:ea typeface="DejaVu Sans"/>
                <a:cs typeface="DejaVu Sans"/>
              </a:defRPr>
            </a:lvl7pPr>
            <a:lvl8pPr>
              <a:defRPr sz="1950" b="0">
                <a:solidFill>
                  <a:srgbClr val="D7E8E8"/>
                </a:solidFill>
                <a:latin typeface="DejaVu Sans"/>
                <a:ea typeface="DejaVu Sans"/>
                <a:cs typeface="DejaVu Sans"/>
              </a:defRPr>
            </a:lvl8pPr>
            <a:lvl9pPr>
              <a:defRPr sz="1950" b="0">
                <a:solidFill>
                  <a:srgbClr val="D7E8E8"/>
                </a:solidFill>
                <a:latin typeface="DejaVu Sans"/>
                <a:ea typeface="DejaVu Sans"/>
                <a:cs typeface="DejaVu Sans"/>
              </a:defRPr>
            </a:lvl9pPr>
          </a:lstStyle>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ID Practice Update</a:t>
            </a:r>
          </a:p>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Resident teaching and advanced reference</a:t>
            </a:r>
          </a:p>
        </p:txBody>
      </p:sp>
    </p:spTree>
    <p:extLst>
      <p:ext uri="{BB962C8B-B14F-4D97-AF65-F5344CB8AC3E}">
        <p14:creationId xmlns:p14="http://schemas.microsoft.com/office/powerpoint/2010/main" val="15085793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F014270-1275-4EFF-9415-A82BB36B243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Link the HIV diagnosis, immune assessment, and immediate clinical problem</a:t>
            </a:r>
          </a:p>
        </p:txBody>
      </p:sp>
      <p:sp>
        <p:nvSpPr>
          <p:cNvPr id="2" name="paragraph-0">
            <a:extLst xmlns:a="http://schemas.openxmlformats.org/drawingml/2006/main">
              <a:ext uri="{FF2B5EF4-FFF2-40B4-BE49-F238E27FC236}">
                <a16:creationId xmlns:a16="http://schemas.microsoft.com/office/drawing/2014/main" id="{6BD1AC37-6A93-48B7-BF2D-18CBFAA45B8F}"/>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 core · 30–45 minutes with discussion</a:t>
            </a:r>
          </a:p>
        </p:txBody>
      </p:sp>
      <p:sp>
        <p:nvSpPr>
          <p:cNvPr id="3" name="paragraph-1">
            <a:extLst xmlns:a="http://schemas.openxmlformats.org/drawingml/2006/main">
              <a:ext uri="{FF2B5EF4-FFF2-40B4-BE49-F238E27FC236}">
                <a16:creationId xmlns:a16="http://schemas.microsoft.com/office/drawing/2014/main" id="{0044288B-E6EB-4405-AEF6-908489749872}"/>
              </a:ext>
            </a:extLst>
          </p:cNvPr>
          <p:cNvSpPr>
            <a:spLocks xmlns:a="http://schemas.openxmlformats.org/drawingml/2006/main" noGrp="1"/>
          </p:cNvSpPr>
          <p:nvPr/>
        </p:nvSpPr>
        <p:spPr>
          <a:xfrm xmlns:a="http://schemas.openxmlformats.org/drawingml/2006/main">
            <a:off x="647700" y="25622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By the end, use the diagnostic sequence, recognize when ART can start promptly, identify an OI that changes immediate treatment or ART timing, and arrange prevention and follow-up. Three cases anchor the discussion. Detailed OI doses, maintenance criteria, newer therapies, and trial appraisals are in the advanced reference below.</a:t>
            </a:r>
          </a:p>
        </p:txBody>
      </p:sp>
      <p:sp>
        <p:nvSpPr>
          <p:cNvPr id="4" name="paragraph-2">
            <a:extLst xmlns:a="http://schemas.openxmlformats.org/drawingml/2006/main">
              <a:ext uri="{FF2B5EF4-FFF2-40B4-BE49-F238E27FC236}">
                <a16:creationId xmlns:a16="http://schemas.microsoft.com/office/drawing/2014/main" id="{88EF2E9D-D7E1-4477-AEC8-38E3292EA4B9}"/>
              </a:ext>
            </a:extLst>
          </p:cNvPr>
          <p:cNvSpPr>
            <a:spLocks xmlns:a="http://schemas.openxmlformats.org/drawingml/2006/main" noGrp="1"/>
          </p:cNvSpPr>
          <p:nvPr/>
        </p:nvSpPr>
        <p:spPr>
          <a:xfrm xmlns:a="http://schemas.openxmlformats.org/drawingml/2006/main">
            <a:off x="647700" y="45815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positive HIV test is the beginning of the assessment. HIV RNA, CD4 count, symptoms, medication history, and access to continuing treatment determine what needs to happen next.</a:t>
            </a:r>
          </a:p>
        </p:txBody>
      </p:sp>
      <p:sp>
        <p:nvSpPr>
          <p:cNvPr id="5" name="footer">
            <a:extLst xmlns:a="http://schemas.openxmlformats.org/drawingml/2006/main">
              <a:ext uri="{FF2B5EF4-FFF2-40B4-BE49-F238E27FC236}">
                <a16:creationId xmlns:a16="http://schemas.microsoft.com/office/drawing/2014/main" id="{BCBEB36F-3AB6-4E8C-B202-D498148786C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7A8DD605-C620-4D78-967B-7ABA76E5D63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a:t>
            </a:r>
          </a:p>
        </p:txBody>
      </p:sp>
    </p:spTree>
    <p:extLst>
      <p:ext uri="{BB962C8B-B14F-4D97-AF65-F5344CB8AC3E}">
        <p14:creationId xmlns:p14="http://schemas.microsoft.com/office/powerpoint/2010/main" val="15555066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5BC6C9A-3D06-42A4-9FA5-279FD27D39E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Confirm the diagnosis without missing acute infection</a:t>
            </a:r>
          </a:p>
        </p:txBody>
      </p:sp>
      <p:sp>
        <p:nvSpPr>
          <p:cNvPr id="2" name="paragraph-0">
            <a:extLst xmlns:a="http://schemas.openxmlformats.org/drawingml/2006/main">
              <a:ext uri="{FF2B5EF4-FFF2-40B4-BE49-F238E27FC236}">
                <a16:creationId xmlns:a16="http://schemas.microsoft.com/office/drawing/2014/main" id="{636CAE06-06B3-451A-B5CC-ADAABDF07B1A}"/>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Begin with a laboratory HIV-1/2 antigen-antibody test, followed by an HIV-1/HIV-2 differentiation assay when reactive. If the differentiation assay is negative or indeterminate, obtain HIV RNA to resolve possible acute infection. With a compatible recent exposure or acute retroviral syndrome, order RNA even when the screening test is negative.</a:t>
            </a:r>
          </a:p>
        </p:txBody>
      </p:sp>
      <p:sp>
        <p:nvSpPr>
          <p:cNvPr id="3" name="paragraph-1">
            <a:extLst xmlns:a="http://schemas.openxmlformats.org/drawingml/2006/main">
              <a:ext uri="{FF2B5EF4-FFF2-40B4-BE49-F238E27FC236}">
                <a16:creationId xmlns:a16="http://schemas.microsoft.com/office/drawing/2014/main" id="{7FE4A753-8689-4261-82CB-7549155554DF}"/>
              </a:ext>
            </a:extLst>
          </p:cNvPr>
          <p:cNvSpPr>
            <a:spLocks xmlns:a="http://schemas.openxmlformats.org/drawingml/2006/main" noGrp="1"/>
          </p:cNvSpPr>
          <p:nvPr/>
        </p:nvSpPr>
        <p:spPr>
          <a:xfrm xmlns:a="http://schemas.openxmlformats.org/drawingml/2006/main">
            <a:off x="647700" y="39719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Ask about recent PrEP or PEP, including long-acting agents, because antiretroviral exposure can alter testing patterns and resistance considerations. An isolated discordant result requires a deliberate repeat-testing plan, not reassurance or an unsupported permanent diagnosis.</a:t>
            </a:r>
          </a:p>
        </p:txBody>
      </p:sp>
      <p:sp>
        <p:nvSpPr>
          <p:cNvPr id="4" name="footer">
            <a:extLst xmlns:a="http://schemas.openxmlformats.org/drawingml/2006/main">
              <a:ext uri="{FF2B5EF4-FFF2-40B4-BE49-F238E27FC236}">
                <a16:creationId xmlns:a16="http://schemas.microsoft.com/office/drawing/2014/main" id="{7C158A8B-3448-4255-996D-1EF3F73F396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06B9B738-67DB-41C1-B2CC-87E079A0457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a:t>
            </a:r>
          </a:p>
        </p:txBody>
      </p:sp>
    </p:spTree>
    <p:extLst>
      <p:ext uri="{BB962C8B-B14F-4D97-AF65-F5344CB8AC3E}">
        <p14:creationId xmlns:p14="http://schemas.microsoft.com/office/powerpoint/2010/main" val="17097658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06886F1-4CA4-4B88-8193-672FFDAA7D5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Confirm the diagnosis without missing acute infection</a:t>
            </a:r>
          </a:p>
        </p:txBody>
      </p:sp>
      <p:sp>
        <p:nvSpPr>
          <p:cNvPr id="2" name="paragraph-0">
            <a:extLst xmlns:a="http://schemas.openxmlformats.org/drawingml/2006/main">
              <a:ext uri="{FF2B5EF4-FFF2-40B4-BE49-F238E27FC236}">
                <a16:creationId xmlns:a16="http://schemas.microsoft.com/office/drawing/2014/main" id="{AA2F35B6-5224-402A-BB2C-2FB744BA5A2D}"/>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Collect HIV RNA, CD4, genotype, hepatitis serologies, renal/hepatic assessment, and other indicated baseline studies. Screen for symptoms suggesting an OI. These studies usually can be collected while arranging rapid ART; do not create an avoidable delay in an otherwise appropriate patient.</a:t>
            </a:r>
          </a:p>
        </p:txBody>
      </p:sp>
      <p:sp>
        <p:nvSpPr>
          <p:cNvPr id="3" name="paragraph-1">
            <a:extLst xmlns:a="http://schemas.openxmlformats.org/drawingml/2006/main">
              <a:ext uri="{FF2B5EF4-FFF2-40B4-BE49-F238E27FC236}">
                <a16:creationId xmlns:a16="http://schemas.microsoft.com/office/drawing/2014/main" id="{69DD1F18-0ED0-4EFF-987C-53507F130DBD}"/>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early , baseline , initiation .</a:t>
            </a:r>
          </a:p>
        </p:txBody>
      </p:sp>
      <p:sp>
        <p:nvSpPr>
          <p:cNvPr id="4" name="footer">
            <a:extLst xmlns:a="http://schemas.openxmlformats.org/drawingml/2006/main">
              <a:ext uri="{FF2B5EF4-FFF2-40B4-BE49-F238E27FC236}">
                <a16:creationId xmlns:a16="http://schemas.microsoft.com/office/drawing/2014/main" id="{CD867A0C-F9DC-486C-82BE-A23A22929BB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A2C7D8A1-54F6-4385-B686-A2034FBC5C5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a:t>
            </a:r>
          </a:p>
        </p:txBody>
      </p:sp>
    </p:spTree>
    <p:extLst>
      <p:ext uri="{BB962C8B-B14F-4D97-AF65-F5344CB8AC3E}">
        <p14:creationId xmlns:p14="http://schemas.microsoft.com/office/powerpoint/2010/main" val="11493411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449AD07-B42F-4434-9A95-FF0A3AFD3F3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a complete ART regimen and identify the exceptions</a:t>
            </a:r>
          </a:p>
        </p:txBody>
      </p:sp>
      <p:sp>
        <p:nvSpPr>
          <p:cNvPr id="2" name="paragraph-0">
            <a:extLst xmlns:a="http://schemas.openxmlformats.org/drawingml/2006/main">
              <a:ext uri="{FF2B5EF4-FFF2-40B4-BE49-F238E27FC236}">
                <a16:creationId xmlns:a16="http://schemas.microsoft.com/office/drawing/2014/main" id="{981252F4-9CC7-4A3D-9B0E-D9BE8C36F9F4}"/>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most people starting ART, an integrase inhibitor with two appropriate NRTIs is a standard approach. Common examples are bictegravir/TAF/FTC or dolutegravir with TAF/FTC or TDF/FTC when suitable. Selection depends on organ function, pregnancy, resistance risk, hepatitis B, interactions, and access.</a:t>
            </a:r>
          </a:p>
        </p:txBody>
      </p:sp>
      <p:sp>
        <p:nvSpPr>
          <p:cNvPr id="3" name="paragraph-1">
            <a:extLst xmlns:a="http://schemas.openxmlformats.org/drawingml/2006/main">
              <a:ext uri="{FF2B5EF4-FFF2-40B4-BE49-F238E27FC236}">
                <a16:creationId xmlns:a16="http://schemas.microsoft.com/office/drawing/2014/main" id="{637BFEC6-CF37-4B2D-B169-75EF3C5AFC2D}"/>
              </a:ext>
            </a:extLst>
          </p:cNvPr>
          <p:cNvSpPr>
            <a:spLocks xmlns:a="http://schemas.openxmlformats.org/drawingml/2006/main" noGrp="1"/>
          </p:cNvSpPr>
          <p:nvPr/>
        </p:nvSpPr>
        <p:spPr>
          <a:xfrm xmlns:a="http://schemas.openxmlformats.org/drawingml/2006/main">
            <a:off x="647700" y="39719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Dolutegravir/lamivudine has specific exclusions and is not an interchangeable rapid-start shortcut while hepatitis B and resistance results are unknown. HIV/HBV coinfection generally requires two HBV-active components, usually tenofovir plus FTC or 3TC, in a fully suppressive HIV regimen. Stopping HBV-active drugs can precipitate hepatitis.</a:t>
            </a:r>
          </a:p>
        </p:txBody>
      </p:sp>
      <p:sp>
        <p:nvSpPr>
          <p:cNvPr id="4" name="footer">
            <a:extLst xmlns:a="http://schemas.openxmlformats.org/drawingml/2006/main">
              <a:ext uri="{FF2B5EF4-FFF2-40B4-BE49-F238E27FC236}">
                <a16:creationId xmlns:a16="http://schemas.microsoft.com/office/drawing/2014/main" id="{CE5B19C0-FAA9-4D49-A3CB-70FA654AEED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9D34A36A-7A94-4758-90A1-05674030338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a:t>
            </a:r>
          </a:p>
        </p:txBody>
      </p:sp>
    </p:spTree>
    <p:extLst>
      <p:ext uri="{BB962C8B-B14F-4D97-AF65-F5344CB8AC3E}">
        <p14:creationId xmlns:p14="http://schemas.microsoft.com/office/powerpoint/2010/main" val="6964725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B17D86F-ED10-4FF2-8AF7-4C47D4DAC05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a complete ART regimen and identify the exceptions</a:t>
            </a:r>
          </a:p>
        </p:txBody>
      </p:sp>
      <p:sp>
        <p:nvSpPr>
          <p:cNvPr id="2" name="paragraph-0">
            <a:extLst xmlns:a="http://schemas.openxmlformats.org/drawingml/2006/main">
              <a:ext uri="{FF2B5EF4-FFF2-40B4-BE49-F238E27FC236}">
                <a16:creationId xmlns:a16="http://schemas.microsoft.com/office/drawing/2014/main" id="{A52FE45F-5674-47BF-87B4-285A730AB36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Prior long-acting cabotegravir PrEP, suspected resistance, or a complex treatment history changes the initial-regimen discussion. Review the guideline and obtain specialist input rather than assuming all treatment-naive patients have the same resistance risk.</a:t>
            </a:r>
          </a:p>
        </p:txBody>
      </p:sp>
      <p:sp>
        <p:nvSpPr>
          <p:cNvPr id="3" name="paragraph-1">
            <a:extLst xmlns:a="http://schemas.openxmlformats.org/drawingml/2006/main">
              <a:ext uri="{FF2B5EF4-FFF2-40B4-BE49-F238E27FC236}">
                <a16:creationId xmlns:a16="http://schemas.microsoft.com/office/drawing/2014/main" id="{22CC01BF-1E71-48F2-A98E-6F38D06B0D8C}"/>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Timing matters: prompt ART is the usual approach, including during treatment of many OIs. Cryptococcal meningitis and TB meningitis require a separate timing plan because early immune recovery in the CNS can be harmful.</a:t>
            </a:r>
          </a:p>
        </p:txBody>
      </p:sp>
      <p:sp>
        <p:nvSpPr>
          <p:cNvPr id="4" name="paragraph-2">
            <a:extLst xmlns:a="http://schemas.openxmlformats.org/drawingml/2006/main">
              <a:ext uri="{FF2B5EF4-FFF2-40B4-BE49-F238E27FC236}">
                <a16:creationId xmlns:a16="http://schemas.microsoft.com/office/drawing/2014/main" id="{1FB21F6A-779E-4E65-9594-9A9A9C29E2A6}"/>
              </a:ext>
            </a:extLst>
          </p:cNvPr>
          <p:cNvSpPr>
            <a:spLocks xmlns:a="http://schemas.openxmlformats.org/drawingml/2006/main" noGrp="1"/>
          </p:cNvSpPr>
          <p:nvPr/>
        </p:nvSpPr>
        <p:spPr>
          <a:xfrm xmlns:a="http://schemas.openxmlformats.org/drawingml/2006/main">
            <a:off x="647700" y="52863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arv , hbv , initiation .</a:t>
            </a:r>
          </a:p>
        </p:txBody>
      </p:sp>
      <p:sp>
        <p:nvSpPr>
          <p:cNvPr id="5" name="footer">
            <a:extLst xmlns:a="http://schemas.openxmlformats.org/drawingml/2006/main">
              <a:ext uri="{FF2B5EF4-FFF2-40B4-BE49-F238E27FC236}">
                <a16:creationId xmlns:a16="http://schemas.microsoft.com/office/drawing/2014/main" id="{6A97B9CB-BDBB-4738-8810-5EA4A57ECB6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D0F1E306-E133-4784-8429-D0BC40C3721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a:t>
            </a:r>
          </a:p>
        </p:txBody>
      </p:sp>
    </p:spTree>
    <p:extLst>
      <p:ext uri="{BB962C8B-B14F-4D97-AF65-F5344CB8AC3E}">
        <p14:creationId xmlns:p14="http://schemas.microsoft.com/office/powerpoint/2010/main" val="171728898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961BC66-3D14-48C5-8FB1-C0448CE76A5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syndrome to choose the first OI tests and treatment</a:t>
            </a:r>
          </a:p>
        </p:txBody>
      </p:sp>
      <p:graphicFrame>
        <p:nvGraphicFramePr>
          <p:cNvPr id="2" name="">
            <a:extLst xmlns:a="http://schemas.openxmlformats.org/drawingml/2006/main">
              <a:ext uri="{FF2B5EF4-FFF2-40B4-BE49-F238E27FC236}">
                <a16:creationId xmlns:a16="http://schemas.microsoft.com/office/drawing/2014/main" id="{032CD979-2960-490A-8C25-70DBFEB61FF8}"/>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Subacute dyspnea and diffuse pulmonary opacities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Initial 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Assess oxygenation; obtain an appropriate respiratory specimen for Pneumocystis testing and evaluate other pulmonary causes.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Management anchor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Start PCP treatment when suspicion is high. Steroids depend on hypoxemia, not the CD4 count alone.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815B072-BF18-40B3-99AF-0BAE007CFDE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52B0E71-074C-4A9E-A5A0-F07DA51ABDC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a:t>
            </a:r>
          </a:p>
        </p:txBody>
      </p:sp>
    </p:spTree>
    <p:extLst>
      <p:ext uri="{BB962C8B-B14F-4D97-AF65-F5344CB8AC3E}">
        <p14:creationId xmlns:p14="http://schemas.microsoft.com/office/powerpoint/2010/main" val="5105596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536F2F6-EF5E-483A-821C-183DAC5F150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syndrome to choose the first OI tests and treatment</a:t>
            </a:r>
          </a:p>
        </p:txBody>
      </p:sp>
      <p:graphicFrame>
        <p:nvGraphicFramePr>
          <p:cNvPr id="2" name="">
            <a:extLst xmlns:a="http://schemas.openxmlformats.org/drawingml/2006/main">
              <a:ext uri="{FF2B5EF4-FFF2-40B4-BE49-F238E27FC236}">
                <a16:creationId xmlns:a16="http://schemas.microsoft.com/office/drawing/2014/main" id="{C8B058BD-04D9-44C6-9E1D-4B2DE1ACB7A6}"/>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Headache or meningitic symptoms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Initial 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Consider cryptococcus and TB; obtain serum/CSF studies and measure opening pressure when LP is safe.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Management anchor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Cryptococcal meningitis needs combination induction therapy and active pressure management. ART is usually deferred about 4–6 weeks after antifungals start.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422D31F8-B599-40B7-B6BD-471C6AB035B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55B16DC-A785-402C-85F1-7368173EC7F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a:t>
            </a:r>
          </a:p>
        </p:txBody>
      </p:sp>
    </p:spTree>
    <p:extLst>
      <p:ext uri="{BB962C8B-B14F-4D97-AF65-F5344CB8AC3E}">
        <p14:creationId xmlns:p14="http://schemas.microsoft.com/office/powerpoint/2010/main" val="20523074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94E2AC5-CF1A-472F-A593-B4AB574BCCF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syndrome to choose the first OI tests and treatment</a:t>
            </a:r>
          </a:p>
        </p:txBody>
      </p:sp>
      <p:graphicFrame>
        <p:nvGraphicFramePr>
          <p:cNvPr id="2" name="">
            <a:extLst xmlns:a="http://schemas.openxmlformats.org/drawingml/2006/main">
              <a:ext uri="{FF2B5EF4-FFF2-40B4-BE49-F238E27FC236}">
                <a16:creationId xmlns:a16="http://schemas.microsoft.com/office/drawing/2014/main" id="{01BEF6E7-891C-417F-B139-6ECB6D88E47C}"/>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Focal neurologic signs or brain lesions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Initial 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Obtain brain imaging and consider toxoplasma, lymphoma, PML, TB, and other causes.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Management anchor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Treat a likely toxoplasma presentation while setting a response checkpoint and an alternative-diagnosis plan.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042C26E-4D3C-464E-ABD0-86C6E81A88A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302685D-88DF-4432-8075-78CCCDBAD2C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a:t>
            </a:r>
          </a:p>
        </p:txBody>
      </p:sp>
    </p:spTree>
    <p:extLst>
      <p:ext uri="{BB962C8B-B14F-4D97-AF65-F5344CB8AC3E}">
        <p14:creationId xmlns:p14="http://schemas.microsoft.com/office/powerpoint/2010/main" val="5228561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C0EF575-F540-4D4F-BFB0-3C8F0D3EE49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syndrome to choose the first OI tests and treatment</a:t>
            </a:r>
          </a:p>
        </p:txBody>
      </p:sp>
      <p:graphicFrame>
        <p:nvGraphicFramePr>
          <p:cNvPr id="2" name="">
            <a:extLst xmlns:a="http://schemas.openxmlformats.org/drawingml/2006/main">
              <a:ext uri="{FF2B5EF4-FFF2-40B4-BE49-F238E27FC236}">
                <a16:creationId xmlns:a16="http://schemas.microsoft.com/office/drawing/2014/main" id="{ECB00FEC-8D42-4EC0-A771-517DFB96045B}"/>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Visual symptoms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Initial 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Arrange urgent dilated ophthalmologic examination.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Management anchor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CMV retinitis is an organ diagnosis. Plasma CMV PCR alone neither establishes nor excludes retinitis.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D44944E-15B0-4FFD-BCC0-B9B7433B29F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684D0E1-2EE7-4503-A9CB-DD75D02C59B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a:t>
            </a:r>
          </a:p>
        </p:txBody>
      </p:sp>
    </p:spTree>
    <p:extLst>
      <p:ext uri="{BB962C8B-B14F-4D97-AF65-F5344CB8AC3E}">
        <p14:creationId xmlns:p14="http://schemas.microsoft.com/office/powerpoint/2010/main" val="18790031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B7D44B3-E927-4802-95D8-1C63F1D5E0C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syndrome to choose the first OI tests and treatment</a:t>
            </a:r>
          </a:p>
        </p:txBody>
      </p:sp>
      <p:graphicFrame>
        <p:nvGraphicFramePr>
          <p:cNvPr id="2" name="">
            <a:extLst xmlns:a="http://schemas.openxmlformats.org/drawingml/2006/main">
              <a:ext uri="{FF2B5EF4-FFF2-40B4-BE49-F238E27FC236}">
                <a16:creationId xmlns:a16="http://schemas.microsoft.com/office/drawing/2014/main" id="{CFCF64E4-94E8-47C8-ADF6-4E64D3FBD833}"/>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Fever, cytopenias, weight loss, or systemic illness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Initial 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Use exposure and organ findings to evaluate histoplasmosis, MAC, TB, bacterial infection, and malignancy.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Management anchor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Get syndrome-directed cultures and antigen/tissue tests. A prophylaxis dose is not adequate treatment of disseminated disease.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6B18B7F-AB9F-49E0-A751-8AC54004C0E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87F89FD-01BE-4B12-BE3E-C070380B160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a:t>
            </a:r>
          </a:p>
        </p:txBody>
      </p:sp>
    </p:spTree>
    <p:extLst>
      <p:ext uri="{BB962C8B-B14F-4D97-AF65-F5344CB8AC3E}">
        <p14:creationId xmlns:p14="http://schemas.microsoft.com/office/powerpoint/2010/main" val="190276941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0329862-B99A-4B92-9462-0BFC84B25A3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syndrome to choose the first OI tests and treatment</a:t>
            </a:r>
          </a:p>
        </p:txBody>
      </p:sp>
      <p:sp>
        <p:nvSpPr>
          <p:cNvPr id="2" name="paragraph-0">
            <a:extLst xmlns:a="http://schemas.openxmlformats.org/drawingml/2006/main">
              <a:ext uri="{FF2B5EF4-FFF2-40B4-BE49-F238E27FC236}">
                <a16:creationId xmlns:a16="http://schemas.microsoft.com/office/drawing/2014/main" id="{59677192-CD7D-4826-9A9C-69A21F29F310}"/>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CD4 thresholds help prioritize possibilities but do not prove the diagnosis. Multiple infections can coexist. A worsening patient needs reassessment for treatment failure, another infection, toxicity, and IRIS.</a:t>
            </a:r>
          </a:p>
        </p:txBody>
      </p:sp>
      <p:sp>
        <p:nvSpPr>
          <p:cNvPr id="3" name="paragraph-1">
            <a:extLst xmlns:a="http://schemas.openxmlformats.org/drawingml/2006/main">
              <a:ext uri="{FF2B5EF4-FFF2-40B4-BE49-F238E27FC236}">
                <a16:creationId xmlns:a16="http://schemas.microsoft.com/office/drawing/2014/main" id="{097F64F4-6A6E-4514-8BB4-78E0961B75B9}"/>
              </a:ext>
            </a:extLst>
          </p:cNvPr>
          <p:cNvSpPr>
            <a:spLocks xmlns:a="http://schemas.openxmlformats.org/drawingml/2006/main" noGrp="1"/>
          </p:cNvSpPr>
          <p:nvPr/>
        </p:nvSpPr>
        <p:spPr>
          <a:xfrm xmlns:a="http://schemas.openxmlformats.org/drawingml/2006/main">
            <a:off x="647700" y="32670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pcp , crypto , toxo , cmv , histo , mac .</a:t>
            </a:r>
          </a:p>
        </p:txBody>
      </p:sp>
      <p:sp>
        <p:nvSpPr>
          <p:cNvPr id="4" name="footer">
            <a:extLst xmlns:a="http://schemas.openxmlformats.org/drawingml/2006/main">
              <a:ext uri="{FF2B5EF4-FFF2-40B4-BE49-F238E27FC236}">
                <a16:creationId xmlns:a16="http://schemas.microsoft.com/office/drawing/2014/main" id="{A178DCCC-A75A-44D8-9B04-6465F39D1A2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71F00AF2-E15F-4B28-B70C-F8C8F512126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a:t>
            </a:r>
          </a:p>
        </p:txBody>
      </p:sp>
    </p:spTree>
    <p:extLst>
      <p:ext uri="{BB962C8B-B14F-4D97-AF65-F5344CB8AC3E}">
        <p14:creationId xmlns:p14="http://schemas.microsoft.com/office/powerpoint/2010/main" val="66472382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FF09E73-A7FB-4DA9-B82F-EBCC6BD7792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 PCP according to respiratory severity and plan what follows</a:t>
            </a:r>
          </a:p>
        </p:txBody>
      </p:sp>
      <p:sp>
        <p:nvSpPr>
          <p:cNvPr id="2" name="paragraph-0">
            <a:extLst xmlns:a="http://schemas.openxmlformats.org/drawingml/2006/main">
              <a:ext uri="{FF2B5EF4-FFF2-40B4-BE49-F238E27FC236}">
                <a16:creationId xmlns:a16="http://schemas.microsoft.com/office/drawing/2014/main" id="{1DAE8E39-221F-4CDE-B865-446892F2C943}"/>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TMP-SMX is preferred therapy for most patients. Dose treatment by the trimethoprim component, usually 15–20 mg/kg/day in divided doses with renal adjustment; moderate or severe disease generally begins with IV treatment. The treatment course is 21 days.</a:t>
            </a:r>
          </a:p>
        </p:txBody>
      </p:sp>
      <p:sp>
        <p:nvSpPr>
          <p:cNvPr id="3" name="paragraph-1">
            <a:extLst xmlns:a="http://schemas.openxmlformats.org/drawingml/2006/main">
              <a:ext uri="{FF2B5EF4-FFF2-40B4-BE49-F238E27FC236}">
                <a16:creationId xmlns:a16="http://schemas.microsoft.com/office/drawing/2014/main" id="{7179D887-F64C-4944-9B48-E933B8C8F734}"/>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Add adjunctive corticosteroids when room-air PaO2 is below 70 mm Hg or the A–a gradient is at least 35 mm Hg, ideally within 72 hours of starting PCP treatment. Plan ART within two weeks when feasible and arrange secondary prophylaxis after the treatment course.</a:t>
            </a:r>
          </a:p>
        </p:txBody>
      </p:sp>
      <p:sp>
        <p:nvSpPr>
          <p:cNvPr id="4" name="footer">
            <a:extLst xmlns:a="http://schemas.openxmlformats.org/drawingml/2006/main">
              <a:ext uri="{FF2B5EF4-FFF2-40B4-BE49-F238E27FC236}">
                <a16:creationId xmlns:a16="http://schemas.microsoft.com/office/drawing/2014/main" id="{1BFB29BE-2BD8-4EFA-9C4E-BD5CEB0A579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7CF7C664-6145-419E-9FAA-D9DDDEDE98A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a:t>
            </a:r>
          </a:p>
        </p:txBody>
      </p:sp>
    </p:spTree>
    <p:extLst>
      <p:ext uri="{BB962C8B-B14F-4D97-AF65-F5344CB8AC3E}">
        <p14:creationId xmlns:p14="http://schemas.microsoft.com/office/powerpoint/2010/main" val="193470957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52E7743-39AD-4968-89C7-65B4CC1D83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 PCP according to respiratory severity and plan what follows</a:t>
            </a:r>
          </a:p>
        </p:txBody>
      </p:sp>
      <p:sp>
        <p:nvSpPr>
          <p:cNvPr id="2" name="paragraph-0">
            <a:extLst xmlns:a="http://schemas.openxmlformats.org/drawingml/2006/main">
              <a:ext uri="{FF2B5EF4-FFF2-40B4-BE49-F238E27FC236}">
                <a16:creationId xmlns:a16="http://schemas.microsoft.com/office/drawing/2014/main" id="{D66ECF00-4421-4FAD-B22B-06EF15486F3B}"/>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Follow oxygenation, potassium, creatinine, CBC, tolerance, and the trajectory. Before labeling a patient a treatment failure, reconsider competing diagnoses and the expected early course. Alternative regimens and steroid doses are in the reference section.</a:t>
            </a:r>
          </a:p>
        </p:txBody>
      </p:sp>
      <p:sp>
        <p:nvSpPr>
          <p:cNvPr id="3" name="paragraph-1">
            <a:extLst xmlns:a="http://schemas.openxmlformats.org/drawingml/2006/main">
              <a:ext uri="{FF2B5EF4-FFF2-40B4-BE49-F238E27FC236}">
                <a16:creationId xmlns:a16="http://schemas.microsoft.com/office/drawing/2014/main" id="{36C40DE9-F179-4CF7-815B-1B23C55DFC0F}"/>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pcp .</a:t>
            </a:r>
          </a:p>
        </p:txBody>
      </p:sp>
      <p:sp>
        <p:nvSpPr>
          <p:cNvPr id="4" name="footer">
            <a:extLst xmlns:a="http://schemas.openxmlformats.org/drawingml/2006/main">
              <a:ext uri="{FF2B5EF4-FFF2-40B4-BE49-F238E27FC236}">
                <a16:creationId xmlns:a16="http://schemas.microsoft.com/office/drawing/2014/main" id="{5034BEB1-0C8C-471C-9733-4F841C5A425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DEE212B5-2FDF-4447-AEF5-1B492B2CC06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a:t>
            </a:r>
          </a:p>
        </p:txBody>
      </p:sp>
    </p:spTree>
    <p:extLst>
      <p:ext uri="{BB962C8B-B14F-4D97-AF65-F5344CB8AC3E}">
        <p14:creationId xmlns:p14="http://schemas.microsoft.com/office/powerpoint/2010/main" val="87693868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54EF30C-4F70-456B-A9B8-8521543619E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primary prophylaxis, secondary maintenance, PrEP, and PEP</a:t>
            </a:r>
          </a:p>
        </p:txBody>
      </p:sp>
      <p:graphicFrame>
        <p:nvGraphicFramePr>
          <p:cNvPr id="2" name="">
            <a:extLst xmlns:a="http://schemas.openxmlformats.org/drawingml/2006/main">
              <a:ext uri="{FF2B5EF4-FFF2-40B4-BE49-F238E27FC236}">
                <a16:creationId xmlns:a16="http://schemas.microsoft.com/office/drawing/2014/main" id="{62896E2E-A279-4CA5-9494-A74FD4652299}"/>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Primary PCP prophylaxis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Decision anchor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For a person not taking ART or starting ART, CD4 below 200 is an indication under the current NIH guidance. For someone already on ART, use the CD4 and viral-load criteria in the detailed table.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B59A89C-6772-4822-BA3A-CBE3F19BAAC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89D1EE1-DE48-4A98-853C-DE6C79D95ED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a:t>
            </a:r>
          </a:p>
        </p:txBody>
      </p:sp>
    </p:spTree>
    <p:extLst>
      <p:ext uri="{BB962C8B-B14F-4D97-AF65-F5344CB8AC3E}">
        <p14:creationId xmlns:p14="http://schemas.microsoft.com/office/powerpoint/2010/main" val="145114089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972DEC6-E1DA-4A20-BF73-8DB00F1CA5E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primary prophylaxis, secondary maintenance, PrEP, and PEP</a:t>
            </a:r>
          </a:p>
        </p:txBody>
      </p:sp>
      <p:graphicFrame>
        <p:nvGraphicFramePr>
          <p:cNvPr id="2" name="">
            <a:extLst xmlns:a="http://schemas.openxmlformats.org/drawingml/2006/main">
              <a:ext uri="{FF2B5EF4-FFF2-40B4-BE49-F238E27FC236}">
                <a16:creationId xmlns:a16="http://schemas.microsoft.com/office/drawing/2014/main" id="{A0D56EC6-0BC7-4C11-98D0-0A6AFC3CA5E7}"/>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Primary toxoplasma prophylaxis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Decision anchor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Toxoplasma IgG positivity plus CD4 below 100 is the usual indication. TMP-SMX can cover both toxoplasma and PCP prophylaxis.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BBACAF5-DFF7-4598-9EEF-0F0ADC4F7EC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664A0CF-E622-4F9A-9A89-0DB1D045D9C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a:t>
            </a:r>
          </a:p>
        </p:txBody>
      </p:sp>
    </p:spTree>
    <p:extLst>
      <p:ext uri="{BB962C8B-B14F-4D97-AF65-F5344CB8AC3E}">
        <p14:creationId xmlns:p14="http://schemas.microsoft.com/office/powerpoint/2010/main" val="109881402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78B5308-122F-4D36-890F-FCE157464B1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primary prophylaxis, secondary maintenance, PrEP, and PEP</a:t>
            </a:r>
          </a:p>
        </p:txBody>
      </p:sp>
      <p:graphicFrame>
        <p:nvGraphicFramePr>
          <p:cNvPr id="2" name="">
            <a:extLst xmlns:a="http://schemas.openxmlformats.org/drawingml/2006/main">
              <a:ext uri="{FF2B5EF4-FFF2-40B4-BE49-F238E27FC236}">
                <a16:creationId xmlns:a16="http://schemas.microsoft.com/office/drawing/2014/main" id="{14CCFFCC-7922-4A23-92FB-AB67BFE6819E}"/>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Primary MAC prophylaxis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Decision anchor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Consider at CD4 below 50 when effective ART will not start promptly or suppression is not achievable; exclude disseminated MAC first. It is not routinely needed with immediate effective ART.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50FCA5C-0964-4FAD-B8F3-E5F9C87F191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C88C8CF-CD3F-4B86-8E5F-7096823C644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a:t>
            </a:r>
          </a:p>
        </p:txBody>
      </p:sp>
    </p:spTree>
    <p:extLst>
      <p:ext uri="{BB962C8B-B14F-4D97-AF65-F5344CB8AC3E}">
        <p14:creationId xmlns:p14="http://schemas.microsoft.com/office/powerpoint/2010/main" val="19855007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E415654-7F06-45A7-B7F6-8E54DD83D30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primary prophylaxis, secondary maintenance, PrEP, and PEP</a:t>
            </a:r>
          </a:p>
        </p:txBody>
      </p:sp>
      <p:graphicFrame>
        <p:nvGraphicFramePr>
          <p:cNvPr id="2" name="">
            <a:extLst xmlns:a="http://schemas.openxmlformats.org/drawingml/2006/main">
              <a:ext uri="{FF2B5EF4-FFF2-40B4-BE49-F238E27FC236}">
                <a16:creationId xmlns:a16="http://schemas.microsoft.com/office/drawing/2014/main" id="{68DF86BB-7A82-454E-975A-482E70253707}"/>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Secondary maintenance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Decision anchor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After an OI, use that disease’s own treatment-completion and immune-recovery criteria. Do not apply a primary-prophylaxis stopping rule automatically.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C3D292F-8B5D-480A-8239-3E6F7021440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9C8F2B8-1D2E-4C90-9084-15F4AC65401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a:t>
            </a:r>
          </a:p>
        </p:txBody>
      </p:sp>
    </p:spTree>
    <p:extLst>
      <p:ext uri="{BB962C8B-B14F-4D97-AF65-F5344CB8AC3E}">
        <p14:creationId xmlns:p14="http://schemas.microsoft.com/office/powerpoint/2010/main" val="118399541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FE00DB7-8D08-4016-87A7-1DAF243344C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primary prophylaxis, secondary maintenance, PrEP, and PEP</a:t>
            </a:r>
          </a:p>
        </p:txBody>
      </p:sp>
      <p:graphicFrame>
        <p:nvGraphicFramePr>
          <p:cNvPr id="2" name="">
            <a:extLst xmlns:a="http://schemas.openxmlformats.org/drawingml/2006/main">
              <a:ext uri="{FF2B5EF4-FFF2-40B4-BE49-F238E27FC236}">
                <a16:creationId xmlns:a16="http://schemas.microsoft.com/office/drawing/2014/main" id="{8FFF08CC-1F55-41C3-B5C8-BDBC6F6C7CCB}"/>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PrEP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Decision anchor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Confirm HIV-negative status, match the regimen to the exposure population, and arrange the required testing and follow-up. Oral and long-acting options have different eligibility and dosing schedules.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CF5348D-AEC8-4732-B43D-12D78209962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E17F215-C529-438D-A46D-ED0A8952F6E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a:t>
            </a:r>
          </a:p>
        </p:txBody>
      </p:sp>
    </p:spTree>
    <p:extLst>
      <p:ext uri="{BB962C8B-B14F-4D97-AF65-F5344CB8AC3E}">
        <p14:creationId xmlns:p14="http://schemas.microsoft.com/office/powerpoint/2010/main" val="176649914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EE20C18-3EDC-45F6-B491-AC4838134F2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primary prophylaxis, secondary maintenance, PrEP, and PEP</a:t>
            </a:r>
          </a:p>
        </p:txBody>
      </p:sp>
      <p:graphicFrame>
        <p:nvGraphicFramePr>
          <p:cNvPr id="2" name="">
            <a:extLst xmlns:a="http://schemas.openxmlformats.org/drawingml/2006/main">
              <a:ext uri="{FF2B5EF4-FFF2-40B4-BE49-F238E27FC236}">
                <a16:creationId xmlns:a16="http://schemas.microsoft.com/office/drawing/2014/main" id="{392C4F73-81D6-44A4-A690-904591240E58}"/>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PEP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Decision anchor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After a qualifying exposure, start as soon as possible and no later than 72 hours; use a 28-day course and arrange follow-up testing. Do not wait for every baseline result before the first dose.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941647F-BF4E-4DD9-97A5-2FC5143A47B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AB03609-B8E0-44A1-A39E-42863CDBB30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a:t>
            </a:r>
          </a:p>
        </p:txBody>
      </p:sp>
    </p:spTree>
    <p:extLst>
      <p:ext uri="{BB962C8B-B14F-4D97-AF65-F5344CB8AC3E}">
        <p14:creationId xmlns:p14="http://schemas.microsoft.com/office/powerpoint/2010/main" val="196071774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548D56E-AF7C-4083-9D17-F33818950F5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primary prophylaxis, secondary maintenance, PrEP, and PEP</a:t>
            </a:r>
          </a:p>
        </p:txBody>
      </p:sp>
      <p:sp>
        <p:nvSpPr>
          <p:cNvPr id="2" name="paragraph-0">
            <a:extLst xmlns:a="http://schemas.openxmlformats.org/drawingml/2006/main">
              <a:ext uri="{FF2B5EF4-FFF2-40B4-BE49-F238E27FC236}">
                <a16:creationId xmlns:a16="http://schemas.microsoft.com/office/drawing/2014/main" id="{6D02A3D9-9A7E-49D6-A056-C947CE684D69}"/>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Sustained viral suppression prevents sexual HIV transmission. Discuss this clearly while still addressing other STI prevention, immunizations, reproductive goals, and access to treatment.</a:t>
            </a:r>
          </a:p>
        </p:txBody>
      </p:sp>
      <p:sp>
        <p:nvSpPr>
          <p:cNvPr id="3" name="paragraph-1">
            <a:extLst xmlns:a="http://schemas.openxmlformats.org/drawingml/2006/main">
              <a:ext uri="{FF2B5EF4-FFF2-40B4-BE49-F238E27FC236}">
                <a16:creationId xmlns:a16="http://schemas.microsoft.com/office/drawing/2014/main" id="{D9922997-CAA3-4EB6-B7E3-149350414009}"/>
              </a:ext>
            </a:extLst>
          </p:cNvPr>
          <p:cNvSpPr>
            <a:spLocks xmlns:a="http://schemas.openxmlformats.org/drawingml/2006/main" noGrp="1"/>
          </p:cNvSpPr>
          <p:nvPr/>
        </p:nvSpPr>
        <p:spPr>
          <a:xfrm xmlns:a="http://schemas.openxmlformats.org/drawingml/2006/main">
            <a:off x="647700" y="32670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pcp , toxo , mac , prep , pep , uu .</a:t>
            </a:r>
          </a:p>
        </p:txBody>
      </p:sp>
      <p:sp>
        <p:nvSpPr>
          <p:cNvPr id="4" name="footer">
            <a:extLst xmlns:a="http://schemas.openxmlformats.org/drawingml/2006/main">
              <a:ext uri="{FF2B5EF4-FFF2-40B4-BE49-F238E27FC236}">
                <a16:creationId xmlns:a16="http://schemas.microsoft.com/office/drawing/2014/main" id="{5F7A1D2C-7E85-469A-9E9D-9E78B874DB8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53E16FCC-2789-482D-8264-F65324D57B5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a:t>
            </a:r>
          </a:p>
        </p:txBody>
      </p:sp>
    </p:spTree>
    <p:extLst>
      <p:ext uri="{BB962C8B-B14F-4D97-AF65-F5344CB8AC3E}">
        <p14:creationId xmlns:p14="http://schemas.microsoft.com/office/powerpoint/2010/main" val="46531815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CC5D19C-789E-4398-85A8-492229B80F7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delivery and interactions before declaring the regimen ineffective</a:t>
            </a:r>
          </a:p>
        </p:txBody>
      </p:sp>
      <p:sp>
        <p:nvSpPr>
          <p:cNvPr id="2" name="paragraph-0">
            <a:extLst xmlns:a="http://schemas.openxmlformats.org/drawingml/2006/main">
              <a:ext uri="{FF2B5EF4-FFF2-40B4-BE49-F238E27FC236}">
                <a16:creationId xmlns:a16="http://schemas.microsoft.com/office/drawing/2014/main" id="{E1783A72-2F67-421D-9BFB-290E64BBB972}"/>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Ask whether the person has the medicines and can take them consistently. Review antacids and mineral supplements with integrase inhibitors, acid suppressants with rilpivirine, rifamycins, anticonvulsants, and all nonprescription products. Food requirements and absorption matter.</a:t>
            </a:r>
          </a:p>
        </p:txBody>
      </p:sp>
      <p:sp>
        <p:nvSpPr>
          <p:cNvPr id="3" name="paragraph-1">
            <a:extLst xmlns:a="http://schemas.openxmlformats.org/drawingml/2006/main">
              <a:ext uri="{FF2B5EF4-FFF2-40B4-BE49-F238E27FC236}">
                <a16:creationId xmlns:a16="http://schemas.microsoft.com/office/drawing/2014/main" id="{0B5746D5-58BF-4FD0-96B0-0014FBDA38FD}"/>
              </a:ext>
            </a:extLst>
          </p:cNvPr>
          <p:cNvSpPr>
            <a:spLocks xmlns:a="http://schemas.openxmlformats.org/drawingml/2006/main" noGrp="1"/>
          </p:cNvSpPr>
          <p:nvPr/>
        </p:nvSpPr>
        <p:spPr>
          <a:xfrm xmlns:a="http://schemas.openxmlformats.org/drawingml/2006/main">
            <a:off x="647700" y="361950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Recheck HIV RNA after treatment starts or changes according to the monitoring guideline, commonly within 4–8 weeks, and follow until suppressed. With persistent viremia, assess adherence, interactions, absorption, and resistance before changing therapy. Do not add a single active drug to a failing regimen.</a:t>
            </a:r>
          </a:p>
        </p:txBody>
      </p:sp>
      <p:sp>
        <p:nvSpPr>
          <p:cNvPr id="4" name="footer">
            <a:extLst xmlns:a="http://schemas.openxmlformats.org/drawingml/2006/main">
              <a:ext uri="{FF2B5EF4-FFF2-40B4-BE49-F238E27FC236}">
                <a16:creationId xmlns:a16="http://schemas.microsoft.com/office/drawing/2014/main" id="{35707C0E-6F28-4FF3-B9A1-84FDFA9D0DD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5E9175D9-DC62-4D7F-9D5F-C5A4452CF81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a:t>
            </a:r>
          </a:p>
        </p:txBody>
      </p:sp>
    </p:spTree>
    <p:extLst>
      <p:ext uri="{BB962C8B-B14F-4D97-AF65-F5344CB8AC3E}">
        <p14:creationId xmlns:p14="http://schemas.microsoft.com/office/powerpoint/2010/main" val="145968753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8B0B49F-E8C3-44D6-8C82-5E646B83CA6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delivery and interactions before declaring the regimen ineffective</a:t>
            </a:r>
          </a:p>
        </p:txBody>
      </p:sp>
      <p:sp>
        <p:nvSpPr>
          <p:cNvPr id="2" name="paragraph-0">
            <a:extLst xmlns:a="http://schemas.openxmlformats.org/drawingml/2006/main">
              <a:ext uri="{FF2B5EF4-FFF2-40B4-BE49-F238E27FC236}">
                <a16:creationId xmlns:a16="http://schemas.microsoft.com/office/drawing/2014/main" id="{2EBB7446-844E-4837-9869-573DA79276C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Discharge planning should name the HIV clinician, provide uninterrupted medication access, specify pending-result ownership, and distinguish the ART, OI treatment, and prophylaxis stop or reassessment dates. Suppression is the start of ongoing preventive care.</a:t>
            </a:r>
          </a:p>
        </p:txBody>
      </p:sp>
      <p:sp>
        <p:nvSpPr>
          <p:cNvPr id="3" name="paragraph-1">
            <a:extLst xmlns:a="http://schemas.openxmlformats.org/drawingml/2006/main">
              <a:ext uri="{FF2B5EF4-FFF2-40B4-BE49-F238E27FC236}">
                <a16:creationId xmlns:a16="http://schemas.microsoft.com/office/drawing/2014/main" id="{CA42BED3-5873-4DF6-8BC2-517D2E271FE3}"/>
              </a:ext>
            </a:extLst>
          </p:cNvPr>
          <p:cNvSpPr>
            <a:spLocks xmlns:a="http://schemas.openxmlformats.org/drawingml/2006/main" noGrp="1"/>
          </p:cNvSpPr>
          <p:nvPr/>
        </p:nvSpPr>
        <p:spPr>
          <a:xfrm xmlns:a="http://schemas.openxmlformats.org/drawingml/2006/main">
            <a:off x="647700" y="36195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monitor , failure , interactions .</a:t>
            </a:r>
          </a:p>
        </p:txBody>
      </p:sp>
      <p:sp>
        <p:nvSpPr>
          <p:cNvPr id="4" name="footer">
            <a:extLst xmlns:a="http://schemas.openxmlformats.org/drawingml/2006/main">
              <a:ext uri="{FF2B5EF4-FFF2-40B4-BE49-F238E27FC236}">
                <a16:creationId xmlns:a16="http://schemas.microsoft.com/office/drawing/2014/main" id="{791180DD-7918-4C70-8AF6-A00FD3E16AB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18DB9FC1-C20B-423B-B242-7C48B3CABA6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a:t>
            </a:r>
          </a:p>
        </p:txBody>
      </p:sp>
    </p:spTree>
    <p:extLst>
      <p:ext uri="{BB962C8B-B14F-4D97-AF65-F5344CB8AC3E}">
        <p14:creationId xmlns:p14="http://schemas.microsoft.com/office/powerpoint/2010/main" val="11604034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06F8A4E-712F-48D4-8654-7CC2F3BD65E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1 · A discordant diagnostic sequence</a:t>
            </a:r>
          </a:p>
        </p:txBody>
      </p:sp>
      <p:sp>
        <p:nvSpPr>
          <p:cNvPr id="2" name="paragraph-0">
            <a:extLst xmlns:a="http://schemas.openxmlformats.org/drawingml/2006/main">
              <a:ext uri="{FF2B5EF4-FFF2-40B4-BE49-F238E27FC236}">
                <a16:creationId xmlns:a16="http://schemas.microsoft.com/office/drawing/2014/main" id="{C53D1B02-EDA1-47EA-AA1D-7DAA79C43CD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symptomatic patient with a recent exposure has a reactive antigen-antibody test and a negative differentiation assay.</a:t>
            </a:r>
          </a:p>
        </p:txBody>
      </p:sp>
      <p:sp>
        <p:nvSpPr>
          <p:cNvPr id="3" name="paragraph-1">
            <a:extLst xmlns:a="http://schemas.openxmlformats.org/drawingml/2006/main">
              <a:ext uri="{FF2B5EF4-FFF2-40B4-BE49-F238E27FC236}">
                <a16:creationId xmlns:a16="http://schemas.microsoft.com/office/drawing/2014/main" id="{DAED2822-76C8-45AB-9A26-9110F7FC50E0}"/>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Discuss the next action and the finding that would change it.</a:t>
            </a:r>
          </a:p>
        </p:txBody>
      </p:sp>
      <p:sp>
        <p:nvSpPr>
          <p:cNvPr id="4" name="footer">
            <a:extLst xmlns:a="http://schemas.openxmlformats.org/drawingml/2006/main">
              <a:ext uri="{FF2B5EF4-FFF2-40B4-BE49-F238E27FC236}">
                <a16:creationId xmlns:a16="http://schemas.microsoft.com/office/drawing/2014/main" id="{3EDE6DA3-2E5A-4FDD-911B-122DC15733F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D1B66BF2-1748-4D56-A614-FF639A47684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24</a:t>
            </a:r>
          </a:p>
        </p:txBody>
      </p:sp>
    </p:spTree>
    <p:extLst>
      <p:ext uri="{BB962C8B-B14F-4D97-AF65-F5344CB8AC3E}">
        <p14:creationId xmlns:p14="http://schemas.microsoft.com/office/powerpoint/2010/main" val="47712373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A0E4F2C-1CBF-4DED-8089-119E1E52ABB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Discussion</a:t>
            </a:r>
          </a:p>
        </p:txBody>
      </p:sp>
      <p:sp>
        <p:nvSpPr>
          <p:cNvPr id="2" name="paragraph-0">
            <a:extLst xmlns:a="http://schemas.openxmlformats.org/drawingml/2006/main">
              <a:ext uri="{FF2B5EF4-FFF2-40B4-BE49-F238E27FC236}">
                <a16:creationId xmlns:a16="http://schemas.microsoft.com/office/drawing/2014/main" id="{6FDCD0C6-01EC-46E4-B8DB-E98E5EBEF0D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Obtain HIV RNA promptly to evaluate acute infection. Review PrEP or PEP exposure and arrange confirmation and linkage. Do not call this a negative HIV evaluation because the antibody differentiation test is negative.</a:t>
            </a:r>
          </a:p>
        </p:txBody>
      </p:sp>
      <p:sp>
        <p:nvSpPr>
          <p:cNvPr id="3" name="footer">
            <a:extLst xmlns:a="http://schemas.openxmlformats.org/drawingml/2006/main">
              <a:ext uri="{FF2B5EF4-FFF2-40B4-BE49-F238E27FC236}">
                <a16:creationId xmlns:a16="http://schemas.microsoft.com/office/drawing/2014/main" id="{73C46BE2-38ED-4E93-8FE1-68756A6EEC9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951E8AD-4B38-4656-87BB-33CD407FD60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25</a:t>
            </a:r>
          </a:p>
        </p:txBody>
      </p:sp>
    </p:spTree>
    <p:extLst>
      <p:ext uri="{BB962C8B-B14F-4D97-AF65-F5344CB8AC3E}">
        <p14:creationId xmlns:p14="http://schemas.microsoft.com/office/powerpoint/2010/main" val="152360025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5848495-3CA5-4959-9EC9-33C5C7AE13D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2 · Low CD4 with hypoxemic pneumonia</a:t>
            </a:r>
          </a:p>
        </p:txBody>
      </p:sp>
      <p:sp>
        <p:nvSpPr>
          <p:cNvPr id="2" name="paragraph-0">
            <a:extLst xmlns:a="http://schemas.openxmlformats.org/drawingml/2006/main">
              <a:ext uri="{FF2B5EF4-FFF2-40B4-BE49-F238E27FC236}">
                <a16:creationId xmlns:a16="http://schemas.microsoft.com/office/drawing/2014/main" id="{0990262A-725F-42B6-B64B-ED07130461B8}"/>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with newly diagnosed HIV has CD4 42, diffuse opacities, and room-air PaO2 64 mm Hg.</a:t>
            </a:r>
          </a:p>
        </p:txBody>
      </p:sp>
      <p:sp>
        <p:nvSpPr>
          <p:cNvPr id="3" name="paragraph-1">
            <a:extLst xmlns:a="http://schemas.openxmlformats.org/drawingml/2006/main">
              <a:ext uri="{FF2B5EF4-FFF2-40B4-BE49-F238E27FC236}">
                <a16:creationId xmlns:a16="http://schemas.microsoft.com/office/drawing/2014/main" id="{134A1715-72FD-4C1E-910C-E072ECD91B94}"/>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Discuss the next action and the finding that would change it.</a:t>
            </a:r>
          </a:p>
        </p:txBody>
      </p:sp>
      <p:sp>
        <p:nvSpPr>
          <p:cNvPr id="4" name="footer">
            <a:extLst xmlns:a="http://schemas.openxmlformats.org/drawingml/2006/main">
              <a:ext uri="{FF2B5EF4-FFF2-40B4-BE49-F238E27FC236}">
                <a16:creationId xmlns:a16="http://schemas.microsoft.com/office/drawing/2014/main" id="{29CB0D46-76CE-4030-9F79-402EABDD3A4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683868D5-BE13-4EE9-85B2-B5FBDC32C06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26</a:t>
            </a:r>
          </a:p>
        </p:txBody>
      </p:sp>
    </p:spTree>
    <p:extLst>
      <p:ext uri="{BB962C8B-B14F-4D97-AF65-F5344CB8AC3E}">
        <p14:creationId xmlns:p14="http://schemas.microsoft.com/office/powerpoint/2010/main" val="144438787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11CCF6D-33C3-483C-A2EE-93208EA8956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Discussion</a:t>
            </a:r>
          </a:p>
        </p:txBody>
      </p:sp>
      <p:sp>
        <p:nvSpPr>
          <p:cNvPr id="2" name="paragraph-0">
            <a:extLst xmlns:a="http://schemas.openxmlformats.org/drawingml/2006/main">
              <a:ext uri="{FF2B5EF4-FFF2-40B4-BE49-F238E27FC236}">
                <a16:creationId xmlns:a16="http://schemas.microsoft.com/office/drawing/2014/main" id="{320F4761-93C7-47A6-BB18-EA72C8DB213D}"/>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Evaluate for PCP and other pulmonary disease while starting appropriate therapy when suspicion is high. The oxygenation meets the steroid threshold for PCP. Plan ART within two weeks when feasible, toxicity monitoring, and secondary prophylaxis.</a:t>
            </a:r>
          </a:p>
        </p:txBody>
      </p:sp>
      <p:sp>
        <p:nvSpPr>
          <p:cNvPr id="3" name="footer">
            <a:extLst xmlns:a="http://schemas.openxmlformats.org/drawingml/2006/main">
              <a:ext uri="{FF2B5EF4-FFF2-40B4-BE49-F238E27FC236}">
                <a16:creationId xmlns:a16="http://schemas.microsoft.com/office/drawing/2014/main" id="{D05CB7A5-1AA3-4B71-85D9-0CB14ACA8B7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522028C-21FF-461A-B0BE-AC9C46B8D3E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27</a:t>
            </a:r>
          </a:p>
        </p:txBody>
      </p:sp>
    </p:spTree>
    <p:extLst>
      <p:ext uri="{BB962C8B-B14F-4D97-AF65-F5344CB8AC3E}">
        <p14:creationId xmlns:p14="http://schemas.microsoft.com/office/powerpoint/2010/main" val="19259572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74BADF9-6069-4AFB-A7E6-F2A42DEC931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3 · Meningitis changes the ART clock</a:t>
            </a:r>
          </a:p>
        </p:txBody>
      </p:sp>
      <p:sp>
        <p:nvSpPr>
          <p:cNvPr id="2" name="paragraph-0">
            <a:extLst xmlns:a="http://schemas.openxmlformats.org/drawingml/2006/main">
              <a:ext uri="{FF2B5EF4-FFF2-40B4-BE49-F238E27FC236}">
                <a16:creationId xmlns:a16="http://schemas.microsoft.com/office/drawing/2014/main" id="{72789B19-8F66-4E48-A679-AD5BD18030B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with advanced HIV has a positive CSF cryptococcal antigen and a high opening pressure.</a:t>
            </a:r>
          </a:p>
        </p:txBody>
      </p:sp>
      <p:sp>
        <p:nvSpPr>
          <p:cNvPr id="3" name="paragraph-1">
            <a:extLst xmlns:a="http://schemas.openxmlformats.org/drawingml/2006/main">
              <a:ext uri="{FF2B5EF4-FFF2-40B4-BE49-F238E27FC236}">
                <a16:creationId xmlns:a16="http://schemas.microsoft.com/office/drawing/2014/main" id="{4AD76880-B7EF-47E9-8A29-2CA0AFAEC17E}"/>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Discuss the next action and the finding that would change it.</a:t>
            </a:r>
          </a:p>
        </p:txBody>
      </p:sp>
      <p:sp>
        <p:nvSpPr>
          <p:cNvPr id="4" name="footer">
            <a:extLst xmlns:a="http://schemas.openxmlformats.org/drawingml/2006/main">
              <a:ext uri="{FF2B5EF4-FFF2-40B4-BE49-F238E27FC236}">
                <a16:creationId xmlns:a16="http://schemas.microsoft.com/office/drawing/2014/main" id="{A1159858-F0DE-4537-BB9B-27837333F85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EB37DAF4-D37D-47B7-B54B-9F86C07307F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28</a:t>
            </a:r>
          </a:p>
        </p:txBody>
      </p:sp>
    </p:spTree>
    <p:extLst>
      <p:ext uri="{BB962C8B-B14F-4D97-AF65-F5344CB8AC3E}">
        <p14:creationId xmlns:p14="http://schemas.microsoft.com/office/powerpoint/2010/main" val="209330105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146BCFB-BB21-480C-9BE1-B0C597A99A2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Discussion</a:t>
            </a:r>
          </a:p>
        </p:txBody>
      </p:sp>
      <p:sp>
        <p:nvSpPr>
          <p:cNvPr id="2" name="paragraph-0">
            <a:extLst xmlns:a="http://schemas.openxmlformats.org/drawingml/2006/main">
              <a:ext uri="{FF2B5EF4-FFF2-40B4-BE49-F238E27FC236}">
                <a16:creationId xmlns:a16="http://schemas.microsoft.com/office/drawing/2014/main" id="{20360B11-AACF-4F92-9BF9-C83494AEFC1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Start guideline-concordant antifungal induction and manage intracranial pressure with therapeutic LPs. Follow CSF cultures and drug toxicity. Defer ART approximately 4–6 weeks after antifungal initiation rather than applying the usual rapid-start rule.</a:t>
            </a:r>
          </a:p>
        </p:txBody>
      </p:sp>
      <p:sp>
        <p:nvSpPr>
          <p:cNvPr id="3" name="footer">
            <a:extLst xmlns:a="http://schemas.openxmlformats.org/drawingml/2006/main">
              <a:ext uri="{FF2B5EF4-FFF2-40B4-BE49-F238E27FC236}">
                <a16:creationId xmlns:a16="http://schemas.microsoft.com/office/drawing/2014/main" id="{3FFBF914-DADA-47C5-89D2-E7420EA544B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2F29A96-9AC9-4E2D-8B6F-7636A5DAE77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29</a:t>
            </a:r>
          </a:p>
        </p:txBody>
      </p:sp>
    </p:spTree>
    <p:extLst>
      <p:ext uri="{BB962C8B-B14F-4D97-AF65-F5344CB8AC3E}">
        <p14:creationId xmlns:p14="http://schemas.microsoft.com/office/powerpoint/2010/main" val="205466703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8D4DBE5-0562-4B05-89C2-C229BDE5D4D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State the HIV and OI plans as linked but separate decisions</a:t>
            </a:r>
          </a:p>
        </p:txBody>
      </p:sp>
      <p:sp>
        <p:nvSpPr>
          <p:cNvPr id="2" name="paragraph-0">
            <a:extLst xmlns:a="http://schemas.openxmlformats.org/drawingml/2006/main">
              <a:ext uri="{FF2B5EF4-FFF2-40B4-BE49-F238E27FC236}">
                <a16:creationId xmlns:a16="http://schemas.microsoft.com/office/drawing/2014/main" id="{E60A315B-FC0B-407E-ADCE-0E3EE5A3DFE0}"/>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Document the diagnostic status, HIV RNA/CD4, complete ART regimen and start date, OI diagnosis and treatment, ART-timing rationale, prophylaxis, monitoring, and follow-up access.</a:t>
            </a:r>
          </a:p>
        </p:txBody>
      </p:sp>
      <p:sp>
        <p:nvSpPr>
          <p:cNvPr id="3" name="paragraph-1">
            <a:extLst xmlns:a="http://schemas.openxmlformats.org/drawingml/2006/main">
              <a:ext uri="{FF2B5EF4-FFF2-40B4-BE49-F238E27FC236}">
                <a16:creationId xmlns:a16="http://schemas.microsoft.com/office/drawing/2014/main" id="{3D8E7135-E119-48D8-B197-E63A5534C588}"/>
              </a:ext>
            </a:extLst>
          </p:cNvPr>
          <p:cNvSpPr>
            <a:spLocks xmlns:a="http://schemas.openxmlformats.org/drawingml/2006/main" noGrp="1"/>
          </p:cNvSpPr>
          <p:nvPr/>
        </p:nvSpPr>
        <p:spPr>
          <a:xfrm xmlns:a="http://schemas.openxmlformats.org/drawingml/2006/main">
            <a:off x="647700" y="32670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End of the resident core. Detailed OI regimens, stopping criteria, and fellow discussions follow.</a:t>
            </a:r>
          </a:p>
        </p:txBody>
      </p:sp>
      <p:sp>
        <p:nvSpPr>
          <p:cNvPr id="4" name="footer">
            <a:extLst xmlns:a="http://schemas.openxmlformats.org/drawingml/2006/main">
              <a:ext uri="{FF2B5EF4-FFF2-40B4-BE49-F238E27FC236}">
                <a16:creationId xmlns:a16="http://schemas.microsoft.com/office/drawing/2014/main" id="{E161D56C-AB77-4C76-A406-1CBE26FEC4D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F4BB43EA-BF90-4486-8E2C-9585CED994F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30</a:t>
            </a:r>
          </a:p>
        </p:txBody>
      </p:sp>
    </p:spTree>
    <p:extLst>
      <p:ext uri="{BB962C8B-B14F-4D97-AF65-F5344CB8AC3E}">
        <p14:creationId xmlns:p14="http://schemas.microsoft.com/office/powerpoint/2010/main" val="208466942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21D1F57-57D4-44FE-B27F-F5168FD19EB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Advanced teaching and detailed reference begin here</a:t>
            </a:r>
          </a:p>
        </p:txBody>
      </p:sp>
      <p:sp>
        <p:nvSpPr>
          <p:cNvPr id="2" name="paragraph-0">
            <a:extLst xmlns:a="http://schemas.openxmlformats.org/drawingml/2006/main">
              <a:ext uri="{FF2B5EF4-FFF2-40B4-BE49-F238E27FC236}">
                <a16:creationId xmlns:a16="http://schemas.microsoft.com/office/drawing/2014/main" id="{C60DC9EC-9310-4DE9-9A58-A3EDEBEEF4C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these sections for fellow discussion, additional cases, and prescribing or evidence questions. They are outside the resident core.</a:t>
            </a:r>
          </a:p>
        </p:txBody>
      </p:sp>
      <p:sp>
        <p:nvSpPr>
          <p:cNvPr id="3" name="paragraph-1">
            <a:extLst xmlns:a="http://schemas.openxmlformats.org/drawingml/2006/main">
              <a:ext uri="{FF2B5EF4-FFF2-40B4-BE49-F238E27FC236}">
                <a16:creationId xmlns:a16="http://schemas.microsoft.com/office/drawing/2014/main" id="{95B29C23-081C-443C-A274-BA218999F235}"/>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ART detail OI pathways Prophylaxis PrEP and PEP Trials Extra questions</a:t>
            </a:r>
          </a:p>
        </p:txBody>
      </p:sp>
      <p:sp>
        <p:nvSpPr>
          <p:cNvPr id="4" name="footer">
            <a:extLst xmlns:a="http://schemas.openxmlformats.org/drawingml/2006/main">
              <a:ext uri="{FF2B5EF4-FFF2-40B4-BE49-F238E27FC236}">
                <a16:creationId xmlns:a16="http://schemas.microsoft.com/office/drawing/2014/main" id="{046A8799-B679-4BB5-9934-C608459FE03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6BCD5C0B-E1A8-4B51-8122-CEF813FDF3A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31</a:t>
            </a:r>
          </a:p>
        </p:txBody>
      </p:sp>
    </p:spTree>
    <p:extLst>
      <p:ext uri="{BB962C8B-B14F-4D97-AF65-F5344CB8AC3E}">
        <p14:creationId xmlns:p14="http://schemas.microsoft.com/office/powerpoint/2010/main" val="210875544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54C02BD-14CD-4C1D-8F22-158D075EC4B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HIV care begins with a diagnosis, an immune assessment, and a durable treatment plan</a:t>
            </a:r>
          </a:p>
        </p:txBody>
      </p:sp>
      <p:sp>
        <p:nvSpPr>
          <p:cNvPr id="2" name="paragraph-0">
            <a:extLst xmlns:a="http://schemas.openxmlformats.org/drawingml/2006/main">
              <a:ext uri="{FF2B5EF4-FFF2-40B4-BE49-F238E27FC236}">
                <a16:creationId xmlns:a16="http://schemas.microsoft.com/office/drawing/2014/main" id="{24B1A5E0-E350-42A7-826B-2BBD42175EC0}"/>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case-based primer is for residents and ID fellows, with an attending update pathway. The first block covers HIV diagnosis, ART, prevention, and longitudinal care. The second is a practical guide to opportunistic infections (OIs) and related infections. All cases are fictional teaching examples.</a:t>
            </a:r>
          </a:p>
        </p:txBody>
      </p:sp>
      <p:sp>
        <p:nvSpPr>
          <p:cNvPr id="3" name="footer">
            <a:extLst xmlns:a="http://schemas.openxmlformats.org/drawingml/2006/main">
              <a:ext uri="{FF2B5EF4-FFF2-40B4-BE49-F238E27FC236}">
                <a16:creationId xmlns:a16="http://schemas.microsoft.com/office/drawing/2014/main" id="{4865B8BC-1807-42CA-9A82-000FE07C5A9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AD9DA53-0763-48D1-8210-82AC0F4C440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32</a:t>
            </a:r>
          </a:p>
        </p:txBody>
      </p:sp>
    </p:spTree>
    <p:extLst>
      <p:ext uri="{BB962C8B-B14F-4D97-AF65-F5344CB8AC3E}">
        <p14:creationId xmlns:p14="http://schemas.microsoft.com/office/powerpoint/2010/main" val="187156143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2B69202-F14E-408C-8010-170FD43272C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Resident essentials</a:t>
            </a:r>
          </a:p>
        </p:txBody>
      </p:sp>
      <p:sp>
        <p:nvSpPr>
          <p:cNvPr id="2" name="paragraph-0">
            <a:extLst xmlns:a="http://schemas.openxmlformats.org/drawingml/2006/main">
              <a:ext uri="{FF2B5EF4-FFF2-40B4-BE49-F238E27FC236}">
                <a16:creationId xmlns:a16="http://schemas.microsoft.com/office/drawing/2014/main" id="{9589F0F5-E2E5-40C8-A8B6-AB020AA1953D}"/>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Work through diagnosis, initial ART, OI recognition, and discharge planning. Allow 60-75 minutes for the core and 30-45 minutes for the OI workshop.</a:t>
            </a:r>
          </a:p>
        </p:txBody>
      </p:sp>
      <p:sp>
        <p:nvSpPr>
          <p:cNvPr id="3" name="footer">
            <a:extLst xmlns:a="http://schemas.openxmlformats.org/drawingml/2006/main">
              <a:ext uri="{FF2B5EF4-FFF2-40B4-BE49-F238E27FC236}">
                <a16:creationId xmlns:a16="http://schemas.microsoft.com/office/drawing/2014/main" id="{5501459E-3D72-4D0C-9CFE-14145F2AE34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74E1F55-5BD4-4E98-9DE6-6E92E275A5C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33</a:t>
            </a:r>
          </a:p>
        </p:txBody>
      </p:sp>
    </p:spTree>
    <p:extLst>
      <p:ext uri="{BB962C8B-B14F-4D97-AF65-F5344CB8AC3E}">
        <p14:creationId xmlns:p14="http://schemas.microsoft.com/office/powerpoint/2010/main" val="195436129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2321211-80F5-4489-9E0B-C87FF19E99C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Advanced pathway</a:t>
            </a:r>
          </a:p>
        </p:txBody>
      </p:sp>
      <p:sp>
        <p:nvSpPr>
          <p:cNvPr id="2" name="paragraph-0">
            <a:extLst xmlns:a="http://schemas.openxmlformats.org/drawingml/2006/main">
              <a:ext uri="{FF2B5EF4-FFF2-40B4-BE49-F238E27FC236}">
                <a16:creationId xmlns:a16="http://schemas.microsoft.com/office/drawing/2014/main" id="{CA8C69E9-26D0-49EF-9E41-6DC5D39AB13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Add resistance, injectable treatment, ART timing controversies, and the original-trial discussion. Allow another 20-30 minutes.</a:t>
            </a:r>
          </a:p>
        </p:txBody>
      </p:sp>
      <p:sp>
        <p:nvSpPr>
          <p:cNvPr id="3" name="footer">
            <a:extLst xmlns:a="http://schemas.openxmlformats.org/drawingml/2006/main">
              <a:ext uri="{FF2B5EF4-FFF2-40B4-BE49-F238E27FC236}">
                <a16:creationId xmlns:a16="http://schemas.microsoft.com/office/drawing/2014/main" id="{C18F734E-F1D7-4508-B856-686C822D7F2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DDF0858-68C6-4EEA-B762-5904DBE4E9D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34</a:t>
            </a:r>
          </a:p>
        </p:txBody>
      </p:sp>
    </p:spTree>
    <p:extLst>
      <p:ext uri="{BB962C8B-B14F-4D97-AF65-F5344CB8AC3E}">
        <p14:creationId xmlns:p14="http://schemas.microsoft.com/office/powerpoint/2010/main" val="138595368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1FD31212-44E6-444E-BCD9-C9FA2B001A0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After completing this module, you should be able to</a:t>
            </a:r>
          </a:p>
        </p:txBody>
      </p:sp>
      <p:sp>
        <p:nvSpPr>
          <p:cNvPr id="2" name="paragraph-0">
            <a:extLst xmlns:a="http://schemas.openxmlformats.org/drawingml/2006/main">
              <a:ext uri="{FF2B5EF4-FFF2-40B4-BE49-F238E27FC236}">
                <a16:creationId xmlns:a16="http://schemas.microsoft.com/office/drawing/2014/main" id="{C6F589AA-7DCA-42DF-8582-3C252023D61F}"/>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Interpret discordant HIV tests and select the next diagnostic test.</a:t>
            </a:r>
          </a:p>
        </p:txBody>
      </p:sp>
      <p:sp>
        <p:nvSpPr>
          <p:cNvPr id="3" name="paragraph-1">
            <a:extLst xmlns:a="http://schemas.openxmlformats.org/drawingml/2006/main">
              <a:ext uri="{FF2B5EF4-FFF2-40B4-BE49-F238E27FC236}">
                <a16:creationId xmlns:a16="http://schemas.microsoft.com/office/drawing/2014/main" id="{E748E7C2-3DD2-45A9-A36D-C6DF37153A20}"/>
              </a:ext>
            </a:extLst>
          </p:cNvPr>
          <p:cNvSpPr>
            <a:spLocks xmlns:a="http://schemas.openxmlformats.org/drawingml/2006/main" noGrp="1"/>
          </p:cNvSpPr>
          <p:nvPr/>
        </p:nvSpPr>
        <p:spPr>
          <a:xfrm xmlns:a="http://schemas.openxmlformats.org/drawingml/2006/main">
            <a:off x="647700" y="25622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Select an initial ART strategy using resistance history, HBV status, organ function, and interactions.</a:t>
            </a:r>
          </a:p>
        </p:txBody>
      </p:sp>
      <p:sp>
        <p:nvSpPr>
          <p:cNvPr id="4" name="paragraph-2">
            <a:extLst xmlns:a="http://schemas.openxmlformats.org/drawingml/2006/main">
              <a:ext uri="{FF2B5EF4-FFF2-40B4-BE49-F238E27FC236}">
                <a16:creationId xmlns:a16="http://schemas.microsoft.com/office/drawing/2014/main" id="{F132618F-A36A-4CCF-B078-B2AB59A64680}"/>
              </a:ext>
            </a:extLst>
          </p:cNvPr>
          <p:cNvSpPr>
            <a:spLocks xmlns:a="http://schemas.openxmlformats.org/drawingml/2006/main" noGrp="1"/>
          </p:cNvSpPr>
          <p:nvPr/>
        </p:nvSpPr>
        <p:spPr>
          <a:xfrm xmlns:a="http://schemas.openxmlformats.org/drawingml/2006/main">
            <a:off x="647700" y="35242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Build a syndrome-directed OI evaluation and specify treatment, ART timing, and prophylaxis.</a:t>
            </a:r>
          </a:p>
        </p:txBody>
      </p:sp>
      <p:sp>
        <p:nvSpPr>
          <p:cNvPr id="5" name="paragraph-3">
            <a:extLst xmlns:a="http://schemas.openxmlformats.org/drawingml/2006/main">
              <a:ext uri="{FF2B5EF4-FFF2-40B4-BE49-F238E27FC236}">
                <a16:creationId xmlns:a16="http://schemas.microsoft.com/office/drawing/2014/main" id="{8E645F7C-5001-4817-85BE-B6D204AB9557}"/>
              </a:ext>
            </a:extLst>
          </p:cNvPr>
          <p:cNvSpPr>
            <a:spLocks xmlns:a="http://schemas.openxmlformats.org/drawingml/2006/main" noGrp="1"/>
          </p:cNvSpPr>
          <p:nvPr/>
        </p:nvSpPr>
        <p:spPr>
          <a:xfrm xmlns:a="http://schemas.openxmlformats.org/drawingml/2006/main">
            <a:off x="647700" y="44862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Distinguish virologic failure, treatment toxicity, another diagnosis, and IRIS.</a:t>
            </a:r>
          </a:p>
        </p:txBody>
      </p:sp>
      <p:sp>
        <p:nvSpPr>
          <p:cNvPr id="6" name="footer">
            <a:extLst xmlns:a="http://schemas.openxmlformats.org/drawingml/2006/main">
              <a:ext uri="{FF2B5EF4-FFF2-40B4-BE49-F238E27FC236}">
                <a16:creationId xmlns:a16="http://schemas.microsoft.com/office/drawing/2014/main" id="{80BB2182-D359-464D-AD79-9F00D13722C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7" name="number">
            <a:extLst xmlns:a="http://schemas.openxmlformats.org/drawingml/2006/main">
              <a:ext uri="{FF2B5EF4-FFF2-40B4-BE49-F238E27FC236}">
                <a16:creationId xmlns:a16="http://schemas.microsoft.com/office/drawing/2014/main" id="{83B0181C-F5B4-4F07-BD97-A82777F373C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35</a:t>
            </a:r>
          </a:p>
        </p:txBody>
      </p:sp>
    </p:spTree>
    <p:extLst>
      <p:ext uri="{BB962C8B-B14F-4D97-AF65-F5344CB8AC3E}">
        <p14:creationId xmlns:p14="http://schemas.microsoft.com/office/powerpoint/2010/main" val="140355300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1D5A0B2-5192-4025-8749-997BFE67668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After completing this module, you should be able to</a:t>
            </a:r>
          </a:p>
        </p:txBody>
      </p:sp>
      <p:sp>
        <p:nvSpPr>
          <p:cNvPr id="2" name="paragraph-0">
            <a:extLst xmlns:a="http://schemas.openxmlformats.org/drawingml/2006/main">
              <a:ext uri="{FF2B5EF4-FFF2-40B4-BE49-F238E27FC236}">
                <a16:creationId xmlns:a16="http://schemas.microsoft.com/office/drawing/2014/main" id="{263B81CB-342B-4ABA-991C-5DF46403E00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Deliver a discharge and prevention plan that preserves medication access and follow-up.</a:t>
            </a:r>
          </a:p>
        </p:txBody>
      </p:sp>
      <p:sp>
        <p:nvSpPr>
          <p:cNvPr id="3" name="paragraph-1">
            <a:extLst xmlns:a="http://schemas.openxmlformats.org/drawingml/2006/main">
              <a:ext uri="{FF2B5EF4-FFF2-40B4-BE49-F238E27FC236}">
                <a16:creationId xmlns:a16="http://schemas.microsoft.com/office/drawing/2014/main" id="{5B737BAE-E9D4-430C-8A07-48405EEBC6D2}"/>
              </a:ext>
            </a:extLst>
          </p:cNvPr>
          <p:cNvSpPr>
            <a:spLocks xmlns:a="http://schemas.openxmlformats.org/drawingml/2006/main" noGrp="1"/>
          </p:cNvSpPr>
          <p:nvPr/>
        </p:nvSpPr>
        <p:spPr>
          <a:xfrm xmlns:a="http://schemas.openxmlformats.org/drawingml/2006/main">
            <a:off x="647700" y="291465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Version 1.1. Clinical sources checked September 15, 2026. AI-assisted educational synthesis; faculty and pharmacy review pending. This is educational material, not an institutional protocol. Local laboratory order names, drug access, reporting, and referral pathways require confirmation.</a:t>
            </a:r>
          </a:p>
        </p:txBody>
      </p:sp>
      <p:sp>
        <p:nvSpPr>
          <p:cNvPr id="4" name="footer">
            <a:extLst xmlns:a="http://schemas.openxmlformats.org/drawingml/2006/main">
              <a:ext uri="{FF2B5EF4-FFF2-40B4-BE49-F238E27FC236}">
                <a16:creationId xmlns:a16="http://schemas.microsoft.com/office/drawing/2014/main" id="{AB335828-486F-4590-A560-97391DB89FA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FE02CA39-5F05-4F7A-9FC0-D0B43757454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36</a:t>
            </a:r>
          </a:p>
        </p:txBody>
      </p:sp>
    </p:spTree>
    <p:extLst>
      <p:ext uri="{BB962C8B-B14F-4D97-AF65-F5344CB8AC3E}">
        <p14:creationId xmlns:p14="http://schemas.microsoft.com/office/powerpoint/2010/main" val="128754703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FA53162-E62B-4CA6-BB43-204CDAECA8A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testing sequence and recognize acute HIV before antibodies are fully detectable</a:t>
            </a:r>
          </a:p>
        </p:txBody>
      </p:sp>
      <p:sp>
        <p:nvSpPr>
          <p:cNvPr id="2" name="paragraph-0">
            <a:extLst xmlns:a="http://schemas.openxmlformats.org/drawingml/2006/main">
              <a:ext uri="{FF2B5EF4-FFF2-40B4-BE49-F238E27FC236}">
                <a16:creationId xmlns:a16="http://schemas.microsoft.com/office/drawing/2014/main" id="{5317BBC6-611A-4E85-ADF5-856B025562D3}"/>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HIV RNA reflects viral replication; CD4 count helps estimate immune vulnerability. A high CD4 count does not remove the indication for treatment, and a low CD4 count does not establish the cause of an acute illness. Acute HIV may resemble influenza, COVID-19, EBV/CMV mononucleosis, or secondary syphilis, with fever, rash, pharyngitis, lymphadenopathy, diarrhea, or aseptic meningitis. [1] [2]</a:t>
            </a:r>
          </a:p>
        </p:txBody>
      </p:sp>
      <p:sp>
        <p:nvSpPr>
          <p:cNvPr id="3" name="footer">
            <a:extLst xmlns:a="http://schemas.openxmlformats.org/drawingml/2006/main">
              <a:ext uri="{FF2B5EF4-FFF2-40B4-BE49-F238E27FC236}">
                <a16:creationId xmlns:a16="http://schemas.microsoft.com/office/drawing/2014/main" id="{4EB18331-CABE-46A1-806C-7E954D61E19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188437F-1E01-4D5A-9099-991477BEE3E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37</a:t>
            </a:r>
          </a:p>
        </p:txBody>
      </p:sp>
    </p:spTree>
    <p:extLst>
      <p:ext uri="{BB962C8B-B14F-4D97-AF65-F5344CB8AC3E}">
        <p14:creationId xmlns:p14="http://schemas.microsoft.com/office/powerpoint/2010/main" val="131555377"/>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964EF18-3B3F-4192-BDF2-FE35D9155D6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testing sequence and recognize acute HIV before antibodies are fully detectable</a:t>
            </a:r>
          </a:p>
        </p:txBody>
      </p:sp>
      <p:graphicFrame>
        <p:nvGraphicFramePr>
          <p:cNvPr id="2" name="">
            <a:extLst xmlns:a="http://schemas.openxmlformats.org/drawingml/2006/main">
              <a:ext uri="{FF2B5EF4-FFF2-40B4-BE49-F238E27FC236}">
                <a16:creationId xmlns:a16="http://schemas.microsoft.com/office/drawing/2014/main" id="{A3F15984-CA51-4B18-B630-C1AF27429DDB}"/>
              </a:ext>
            </a:extLst>
          </p:cNvPr>
          <p:cNvGraphicFramePr/>
          <p:nvPr/>
        </p:nvGraphicFramePr>
        <p:xfrm>
          <a:off xmlns:a="http://schemas.openxmlformats.org/drawingml/2006/main" x="647700" y="1866900"/>
          <a:ext xmlns:a="http://schemas.openxmlformats.org/drawingml/2006/main" cx="10896600" cy="16144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Reactive laboratory HIV-1/2 antigen-antibody assay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screening result, not the complete diagnosis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Perform HIV-1/HIV-2 antibody differentiation.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D813737-CB47-4171-94D5-CD05F158029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F84212B-7E25-4AC5-B285-0B0D5FD059A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38</a:t>
            </a:r>
          </a:p>
        </p:txBody>
      </p:sp>
    </p:spTree>
    <p:extLst>
      <p:ext uri="{BB962C8B-B14F-4D97-AF65-F5344CB8AC3E}">
        <p14:creationId xmlns:p14="http://schemas.microsoft.com/office/powerpoint/2010/main" val="167645601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EA6572B-BCAD-4C5A-A181-5242FF413DD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testing sequence and recognize acute HIV before antibodies are fully detectable</a:t>
            </a:r>
          </a:p>
        </p:txBody>
      </p:sp>
      <p:graphicFrame>
        <p:nvGraphicFramePr>
          <p:cNvPr id="2" name="">
            <a:extLst xmlns:a="http://schemas.openxmlformats.org/drawingml/2006/main">
              <a:ext uri="{FF2B5EF4-FFF2-40B4-BE49-F238E27FC236}">
                <a16:creationId xmlns:a16="http://schemas.microsoft.com/office/drawing/2014/main" id="{FEB69B51-FA9A-44AF-A10E-CEEBD579BA32}"/>
              </a:ext>
            </a:extLst>
          </p:cNvPr>
          <p:cNvGraphicFramePr/>
          <p:nvPr/>
        </p:nvGraphicFramePr>
        <p:xfrm>
          <a:off xmlns:a="http://schemas.openxmlformats.org/drawingml/2006/main" x="647700" y="1866900"/>
          <a:ext xmlns:a="http://schemas.openxmlformats.org/drawingml/2006/main" cx="10896600" cy="19240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Reactive screen and positive differentiation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HIV established by the diagnostic algorithm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Obtain HIV RNA, CD4, and baseline evaluation; arrange ART.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E5CD248-9D34-42F9-B907-262C00FBAED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1498D70-B644-4485-BED5-BADD972F254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39</a:t>
            </a:r>
          </a:p>
        </p:txBody>
      </p:sp>
    </p:spTree>
    <p:extLst>
      <p:ext uri="{BB962C8B-B14F-4D97-AF65-F5344CB8AC3E}">
        <p14:creationId xmlns:p14="http://schemas.microsoft.com/office/powerpoint/2010/main" val="68756776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42F2FFA-0C1C-4B9E-AB4B-160C05E79B2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testing sequence and recognize acute HIV before antibodies are fully detectable</a:t>
            </a:r>
          </a:p>
        </p:txBody>
      </p:sp>
      <p:graphicFrame>
        <p:nvGraphicFramePr>
          <p:cNvPr id="2" name="">
            <a:extLst xmlns:a="http://schemas.openxmlformats.org/drawingml/2006/main">
              <a:ext uri="{FF2B5EF4-FFF2-40B4-BE49-F238E27FC236}">
                <a16:creationId xmlns:a16="http://schemas.microsoft.com/office/drawing/2014/main" id="{DA5C0DFE-C7A9-476B-BD88-C4F94948223F}"/>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Reactive screen and negative or indeterminate differentiation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Acute HIV versus false-positive screening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Obtain HIV-1 RNA. Detectable RNA supports acute HIV; repeat a new specimen when needed. If HIV-2 remains a concern, arrange HIV-2-specific evaluation.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FCC4307-AF12-4722-B331-BF029B75ACD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FDA095F-AE46-4EB4-AB5E-B7A56F23826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40</a:t>
            </a:r>
          </a:p>
        </p:txBody>
      </p:sp>
    </p:spTree>
    <p:extLst>
      <p:ext uri="{BB962C8B-B14F-4D97-AF65-F5344CB8AC3E}">
        <p14:creationId xmlns:p14="http://schemas.microsoft.com/office/powerpoint/2010/main" val="665392857"/>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2983C31-ACF1-4392-B7E3-84B89B1E626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testing sequence and recognize acute HIV before antibodies are fully detectable</a:t>
            </a:r>
          </a:p>
        </p:txBody>
      </p:sp>
      <p:graphicFrame>
        <p:nvGraphicFramePr>
          <p:cNvPr id="2" name="">
            <a:extLst xmlns:a="http://schemas.openxmlformats.org/drawingml/2006/main">
              <a:ext uri="{FF2B5EF4-FFF2-40B4-BE49-F238E27FC236}">
                <a16:creationId xmlns:a16="http://schemas.microsoft.com/office/drawing/2014/main" id="{EB14C88A-4981-47E0-8506-6A56518B336D}"/>
              </a:ext>
            </a:extLst>
          </p:cNvPr>
          <p:cNvGraphicFramePr/>
          <p:nvPr/>
        </p:nvGraphicFramePr>
        <p:xfrm>
          <a:off xmlns:a="http://schemas.openxmlformats.org/drawingml/2006/main" x="647700" y="1866900"/>
          <a:ext xmlns:a="http://schemas.openxmlformats.org/drawingml/2006/main" cx="10896600" cy="192405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Negative screen with recent exposure and compatible illness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Window-period infection remains possible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Order HIV RNA and arrange repeat testing.</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157752D-9786-4E8B-B911-1C987948627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7A9EE69-991C-4E7D-9C34-E34009EDF6A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41</a:t>
            </a:r>
          </a:p>
        </p:txBody>
      </p:sp>
    </p:spTree>
    <p:extLst>
      <p:ext uri="{BB962C8B-B14F-4D97-AF65-F5344CB8AC3E}">
        <p14:creationId xmlns:p14="http://schemas.microsoft.com/office/powerpoint/2010/main" val="54029347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A8F2694-04CE-4583-87BD-65494D99240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testing sequence and recognize acute HIV before antibodies are fully detectable</a:t>
            </a:r>
          </a:p>
        </p:txBody>
      </p:sp>
      <p:graphicFrame>
        <p:nvGraphicFramePr>
          <p:cNvPr id="2" name="">
            <a:extLst xmlns:a="http://schemas.openxmlformats.org/drawingml/2006/main">
              <a:ext uri="{FF2B5EF4-FFF2-40B4-BE49-F238E27FC236}">
                <a16:creationId xmlns:a16="http://schemas.microsoft.com/office/drawing/2014/main" id="{EE09A08A-97F1-4741-BF05-F6208BA10995}"/>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Low-positive RNA, especially during PrEP or PEP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Early infection, drug-modified infection, or false positivity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Next step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Repeat antigen-antibody and RNA on a new specimen; obtain expert input. Do not dismiss the result or simply continue an inadequate treatment regimen.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E78A0EF-2806-40CA-95B8-D9F88F95757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E52ED68-24FD-4CB7-967B-9EA5F0552CA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42</a:t>
            </a:r>
          </a:p>
        </p:txBody>
      </p:sp>
    </p:spTree>
    <p:extLst>
      <p:ext uri="{BB962C8B-B14F-4D97-AF65-F5344CB8AC3E}">
        <p14:creationId xmlns:p14="http://schemas.microsoft.com/office/powerpoint/2010/main" val="1280820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254AF65-C874-4BEF-B1C4-CEA4530CFB2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testing sequence and recognize acute HIV before antibodies are fully detectable</a:t>
            </a:r>
          </a:p>
        </p:txBody>
      </p:sp>
      <p:sp>
        <p:nvSpPr>
          <p:cNvPr id="2" name="paragraph-0">
            <a:extLst xmlns:a="http://schemas.openxmlformats.org/drawingml/2006/main">
              <a:ext uri="{FF2B5EF4-FFF2-40B4-BE49-F238E27FC236}">
                <a16:creationId xmlns:a16="http://schemas.microsoft.com/office/drawing/2014/main" id="{4812915D-B755-48CB-9C80-CA13E4E3A2B9}"/>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a:t>
            </a:r>
          </a:p>
        </p:txBody>
      </p:sp>
      <p:sp>
        <p:nvSpPr>
          <p:cNvPr id="3" name="paragraph-1">
            <a:extLst xmlns:a="http://schemas.openxmlformats.org/drawingml/2006/main">
              <a:ext uri="{FF2B5EF4-FFF2-40B4-BE49-F238E27FC236}">
                <a16:creationId xmlns:a16="http://schemas.microsoft.com/office/drawing/2014/main" id="{09E4BEFE-FF8E-4D71-86F0-9982F2F0F041}"/>
              </a:ext>
            </a:extLst>
          </p:cNvPr>
          <p:cNvSpPr>
            <a:spLocks xmlns:a="http://schemas.openxmlformats.org/drawingml/2006/main" noGrp="1"/>
          </p:cNvSpPr>
          <p:nvPr/>
        </p:nvSpPr>
        <p:spPr>
          <a:xfrm xmlns:a="http://schemas.openxmlformats.org/drawingml/2006/main">
            <a:off x="647700" y="25622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Ask specifically about prior oral and injectable PrEP, PEP, and the last injection date. Recent antiretroviral exposure can alter both the testing pattern and the resistance risk.</a:t>
            </a:r>
          </a:p>
        </p:txBody>
      </p:sp>
      <p:sp>
        <p:nvSpPr>
          <p:cNvPr id="4" name="paragraph-2">
            <a:extLst xmlns:a="http://schemas.openxmlformats.org/drawingml/2006/main">
              <a:ext uri="{FF2B5EF4-FFF2-40B4-BE49-F238E27FC236}">
                <a16:creationId xmlns:a16="http://schemas.microsoft.com/office/drawing/2014/main" id="{8AED7B79-13B6-47D2-AD8F-94E80030ABD6}"/>
              </a:ext>
            </a:extLst>
          </p:cNvPr>
          <p:cNvSpPr>
            <a:spLocks xmlns:a="http://schemas.openxmlformats.org/drawingml/2006/main" noGrp="1"/>
          </p:cNvSpPr>
          <p:nvPr/>
        </p:nvSpPr>
        <p:spPr>
          <a:xfrm xmlns:a="http://schemas.openxmlformats.org/drawingml/2006/main">
            <a:off x="647700" y="387667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nonjudgmental language and confirm how the patient wants results communicated. HIV itself requires Standard Precautions. Add transmission-based precautions for the suspected accompanying pathogen, such as airborne precautions for pulmonary TB. [3]</a:t>
            </a:r>
          </a:p>
        </p:txBody>
      </p:sp>
      <p:sp>
        <p:nvSpPr>
          <p:cNvPr id="5" name="footer">
            <a:extLst xmlns:a="http://schemas.openxmlformats.org/drawingml/2006/main">
              <a:ext uri="{FF2B5EF4-FFF2-40B4-BE49-F238E27FC236}">
                <a16:creationId xmlns:a16="http://schemas.microsoft.com/office/drawing/2014/main" id="{5F6A497A-E23B-44A6-A1ED-94F4F9015E1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6" name="number">
            <a:extLst xmlns:a="http://schemas.openxmlformats.org/drawingml/2006/main">
              <a:ext uri="{FF2B5EF4-FFF2-40B4-BE49-F238E27FC236}">
                <a16:creationId xmlns:a16="http://schemas.microsoft.com/office/drawing/2014/main" id="{EA53A31C-D16E-471A-B484-8FFADFF04CE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43</a:t>
            </a:r>
          </a:p>
        </p:txBody>
      </p:sp>
    </p:spTree>
    <p:extLst>
      <p:ext uri="{BB962C8B-B14F-4D97-AF65-F5344CB8AC3E}">
        <p14:creationId xmlns:p14="http://schemas.microsoft.com/office/powerpoint/2010/main" val="81977193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ADC571C-5534-4385-98D0-5468CF141E3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Collect baseline studies without creating an unnecessary delay in ART</a:t>
            </a:r>
          </a:p>
        </p:txBody>
      </p:sp>
      <p:graphicFrame>
        <p:nvGraphicFramePr>
          <p:cNvPr id="2" name="">
            <a:extLst xmlns:a="http://schemas.openxmlformats.org/drawingml/2006/main">
              <a:ext uri="{FF2B5EF4-FFF2-40B4-BE49-F238E27FC236}">
                <a16:creationId xmlns:a16="http://schemas.microsoft.com/office/drawing/2014/main" id="{10209DFB-9681-44D8-B0F2-A91DB08E12F7}"/>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HIV status and prior treatment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to establish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Diagnostic documentation; prior ART, PrEP/PEP, genotypes, interruptions, and current medication supply.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A9E5453-B8D0-4ED2-A382-F6F6975CED9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9BB9ECC-BC7A-43AD-8726-3975A209919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44</a:t>
            </a:r>
          </a:p>
        </p:txBody>
      </p:sp>
    </p:spTree>
    <p:extLst>
      <p:ext uri="{BB962C8B-B14F-4D97-AF65-F5344CB8AC3E}">
        <p14:creationId xmlns:p14="http://schemas.microsoft.com/office/powerpoint/2010/main" val="409225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3D3A6B0-81D5-425B-8CFE-0497538EDAC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Collect baseline studies without creating an unnecessary delay in ART</a:t>
            </a:r>
          </a:p>
        </p:txBody>
      </p:sp>
      <p:graphicFrame>
        <p:nvGraphicFramePr>
          <p:cNvPr id="2" name="">
            <a:extLst xmlns:a="http://schemas.openxmlformats.org/drawingml/2006/main">
              <a:ext uri="{FF2B5EF4-FFF2-40B4-BE49-F238E27FC236}">
                <a16:creationId xmlns:a16="http://schemas.microsoft.com/office/drawing/2014/main" id="{C898CBD2-01ED-4A95-ADBD-C46B5C6285ED}"/>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Virology and immunity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to establish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HIV RNA and CD4. Genotype for reverse transcriptase and protease; add integrase testing for prior CAB PrEP, INSTI treatment failure, or suspected INSTI resistance.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19CA0B7-7D52-4739-9F9E-CAAA8FB561A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782BDA2-FC3C-496B-9A47-C9C97429770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45</a:t>
            </a:r>
          </a:p>
        </p:txBody>
      </p:sp>
    </p:spTree>
    <p:extLst>
      <p:ext uri="{BB962C8B-B14F-4D97-AF65-F5344CB8AC3E}">
        <p14:creationId xmlns:p14="http://schemas.microsoft.com/office/powerpoint/2010/main" val="86258099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5A16B68-42E1-40E0-813E-98BF23FAB5C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Collect baseline studies without creating an unnecessary delay in ART</a:t>
            </a:r>
          </a:p>
        </p:txBody>
      </p:sp>
      <p:graphicFrame>
        <p:nvGraphicFramePr>
          <p:cNvPr id="2" name="">
            <a:extLst xmlns:a="http://schemas.openxmlformats.org/drawingml/2006/main">
              <a:ext uri="{FF2B5EF4-FFF2-40B4-BE49-F238E27FC236}">
                <a16:creationId xmlns:a16="http://schemas.microsoft.com/office/drawing/2014/main" id="{8EB29C92-E624-4C46-B06F-0A745C411114}"/>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Organ function and coinfection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to establish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CBC, renal and liver testing, urinalysis, lipids; hepatitis A immunity; HBV surface antigen, surface antibody, core antibody; HCV testing with RNA when indicated.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B7884F4-2D0D-48ED-80EE-3ED1C730F9A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9705B8A-C6DE-4534-A07F-B405BF8FCF2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46</a:t>
            </a:r>
          </a:p>
        </p:txBody>
      </p:sp>
    </p:spTree>
    <p:extLst>
      <p:ext uri="{BB962C8B-B14F-4D97-AF65-F5344CB8AC3E}">
        <p14:creationId xmlns:p14="http://schemas.microsoft.com/office/powerpoint/2010/main" val="1996330634"/>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B4AE795-D265-4285-965B-49221782695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Collect baseline studies without creating an unnecessary delay in ART</a:t>
            </a:r>
          </a:p>
        </p:txBody>
      </p:sp>
      <p:graphicFrame>
        <p:nvGraphicFramePr>
          <p:cNvPr id="2" name="">
            <a:extLst xmlns:a="http://schemas.openxmlformats.org/drawingml/2006/main">
              <a:ext uri="{FF2B5EF4-FFF2-40B4-BE49-F238E27FC236}">
                <a16:creationId xmlns:a16="http://schemas.microsoft.com/office/drawing/2014/main" id="{1357904D-6C2A-4E12-ABCB-E07E4E947284}"/>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Prevention and special situations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What to establish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Pregnancy testing when relevant; site-specific STI testing and syphilis serology; TB screening after assessing for disease; Toxoplasma IgG and G6PD when relevant to OI prevention. HLA-B*5701 only if considering abacavir.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26A084BB-35A7-43A4-A0C4-F14622F8315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39A1686-9A16-4B2D-8778-EB93DFFB5EE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47</a:t>
            </a:r>
          </a:p>
        </p:txBody>
      </p:sp>
    </p:spTree>
    <p:extLst>
      <p:ext uri="{BB962C8B-B14F-4D97-AF65-F5344CB8AC3E}">
        <p14:creationId xmlns:p14="http://schemas.microsoft.com/office/powerpoint/2010/main" val="1166355455"/>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F87A8AA-94BE-4173-9F26-99B4503C336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Collect baseline studies without creating an unnecessary delay in ART</a:t>
            </a:r>
          </a:p>
        </p:txBody>
      </p:sp>
      <p:graphicFrame>
        <p:nvGraphicFramePr>
          <p:cNvPr id="2" name="">
            <a:extLst xmlns:a="http://schemas.openxmlformats.org/drawingml/2006/main">
              <a:ext uri="{FF2B5EF4-FFF2-40B4-BE49-F238E27FC236}">
                <a16:creationId xmlns:a16="http://schemas.microsoft.com/office/drawing/2014/main" id="{D5EAEF05-40A5-46B5-A24F-8C69C0395D65}"/>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Clinical feasibility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What to establish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Symptoms of CNS, pulmonary, ocular, or disseminated OI; drug interactions, swallowing and absorption, insurance/ADAP, transport, housing, mental health, substance use, and a confirmed follow-up clinician.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CF4512D-57BE-4322-91D1-7D89221EE55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A6106C7-1939-4D31-9B20-56DB96A5694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48</a:t>
            </a:r>
          </a:p>
        </p:txBody>
      </p:sp>
    </p:spTree>
    <p:extLst>
      <p:ext uri="{BB962C8B-B14F-4D97-AF65-F5344CB8AC3E}">
        <p14:creationId xmlns:p14="http://schemas.microsoft.com/office/powerpoint/2010/main" val="552495398"/>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D23130A-1F5C-4979-A153-765C2D73497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Collect baseline studies without creating an unnecessary delay in ART</a:t>
            </a:r>
          </a:p>
        </p:txBody>
      </p:sp>
      <p:sp>
        <p:nvSpPr>
          <p:cNvPr id="2" name="paragraph-0">
            <a:extLst xmlns:a="http://schemas.openxmlformats.org/drawingml/2006/main">
              <a:ext uri="{FF2B5EF4-FFF2-40B4-BE49-F238E27FC236}">
                <a16:creationId xmlns:a16="http://schemas.microsoft.com/office/drawing/2014/main" id="{2AC5C7E5-6A2F-47BE-9E06-B2FAB0115352}"/>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[4] [1] [5] [6]</a:t>
            </a:r>
          </a:p>
        </p:txBody>
      </p:sp>
      <p:sp>
        <p:nvSpPr>
          <p:cNvPr id="3" name="paragraph-1">
            <a:extLst xmlns:a="http://schemas.openxmlformats.org/drawingml/2006/main">
              <a:ext uri="{FF2B5EF4-FFF2-40B4-BE49-F238E27FC236}">
                <a16:creationId xmlns:a16="http://schemas.microsoft.com/office/drawing/2014/main" id="{4A259763-0FE6-4EEA-8E0B-0DFE5F71B710}"/>
              </a:ext>
            </a:extLst>
          </p:cNvPr>
          <p:cNvSpPr>
            <a:spLocks xmlns:a="http://schemas.openxmlformats.org/drawingml/2006/main" noGrp="1"/>
          </p:cNvSpPr>
          <p:nvPr/>
        </p:nvSpPr>
        <p:spPr>
          <a:xfrm xmlns:a="http://schemas.openxmlformats.org/drawingml/2006/main">
            <a:off x="647700" y="25622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Send specimens before ART when feasible. In a clinically suitable patient, do not wait for CD4 or genotype results to start an appropriate rapid-start regimen. If HBV results are pending, use a regimen with HBV activity. CNS cryptococcosis and TB meningitis are important exceptions to reflex immediate ART. [4] [7] [3]</a:t>
            </a:r>
          </a:p>
        </p:txBody>
      </p:sp>
      <p:sp>
        <p:nvSpPr>
          <p:cNvPr id="4" name="paragraph-2">
            <a:extLst xmlns:a="http://schemas.openxmlformats.org/drawingml/2006/main">
              <a:ext uri="{FF2B5EF4-FFF2-40B4-BE49-F238E27FC236}">
                <a16:creationId xmlns:a16="http://schemas.microsoft.com/office/drawing/2014/main" id="{40B221D1-A033-4834-A09B-B74FCA8D24DE}"/>
              </a:ext>
            </a:extLst>
          </p:cNvPr>
          <p:cNvSpPr>
            <a:spLocks xmlns:a="http://schemas.openxmlformats.org/drawingml/2006/main" noGrp="1"/>
          </p:cNvSpPr>
          <p:nvPr/>
        </p:nvSpPr>
        <p:spPr>
          <a:xfrm xmlns:a="http://schemas.openxmlformats.org/drawingml/2006/main">
            <a:off x="647700" y="45815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Advanced HIV is a prompt to look for an OI, not an instruction to send every available PCR. Choose specimens from the involved organ and identify which result would change treatment.</a:t>
            </a:r>
          </a:p>
        </p:txBody>
      </p:sp>
      <p:sp>
        <p:nvSpPr>
          <p:cNvPr id="5" name="footer">
            <a:extLst xmlns:a="http://schemas.openxmlformats.org/drawingml/2006/main">
              <a:ext uri="{FF2B5EF4-FFF2-40B4-BE49-F238E27FC236}">
                <a16:creationId xmlns:a16="http://schemas.microsoft.com/office/drawing/2014/main" id="{F4911F9A-CA18-4BBD-B112-EFA392AA44A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6" name="number">
            <a:extLst xmlns:a="http://schemas.openxmlformats.org/drawingml/2006/main">
              <a:ext uri="{FF2B5EF4-FFF2-40B4-BE49-F238E27FC236}">
                <a16:creationId xmlns:a16="http://schemas.microsoft.com/office/drawing/2014/main" id="{DFED04C3-B808-4A7F-8CBA-B6E6EC173AB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49</a:t>
            </a:r>
          </a:p>
        </p:txBody>
      </p:sp>
    </p:spTree>
    <p:extLst>
      <p:ext uri="{BB962C8B-B14F-4D97-AF65-F5344CB8AC3E}">
        <p14:creationId xmlns:p14="http://schemas.microsoft.com/office/powerpoint/2010/main" val="1190625094"/>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C6CBB45-57B2-4796-92F2-4276C56F9D5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an effective complete regimen and account for the exceptions</a:t>
            </a:r>
          </a:p>
        </p:txBody>
      </p:sp>
      <p:sp>
        <p:nvSpPr>
          <p:cNvPr id="2" name="paragraph-0">
            <a:extLst xmlns:a="http://schemas.openxmlformats.org/drawingml/2006/main">
              <a:ext uri="{FF2B5EF4-FFF2-40B4-BE49-F238E27FC236}">
                <a16:creationId xmlns:a16="http://schemas.microsoft.com/office/drawing/2014/main" id="{4F31C5DF-5BDA-4051-9579-FDFDC680E08A}"/>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HIV integrates into host DNA and persists in a reservoir that current ART does not eradicate. NRTIs and NNRTIs inhibit reverse transcription, INSTIs inhibit integration, and protease inhibitors prevent viral maturation. Ritonavir and cobicistat commonly serve as pharmacokinetic boosters; they are not interchangeable with an active drug in the regimen. Capsid and entry-directed agents have specialized roles. [8]</a:t>
            </a:r>
          </a:p>
        </p:txBody>
      </p:sp>
      <p:sp>
        <p:nvSpPr>
          <p:cNvPr id="3" name="footer">
            <a:extLst xmlns:a="http://schemas.openxmlformats.org/drawingml/2006/main">
              <a:ext uri="{FF2B5EF4-FFF2-40B4-BE49-F238E27FC236}">
                <a16:creationId xmlns:a16="http://schemas.microsoft.com/office/drawing/2014/main" id="{A37C8D9B-58B4-43AB-A664-4C1F56F43AA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957082B-98A0-4F7F-ADDC-E8C4F93C6F0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50</a:t>
            </a:r>
          </a:p>
        </p:txBody>
      </p:sp>
    </p:spTree>
    <p:extLst>
      <p:ext uri="{BB962C8B-B14F-4D97-AF65-F5344CB8AC3E}">
        <p14:creationId xmlns:p14="http://schemas.microsoft.com/office/powerpoint/2010/main" val="1707415302"/>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98A8E95-7C16-4B67-B3CC-9E89A55B066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an effective complete regimen and account for the exceptions</a:t>
            </a:r>
          </a:p>
        </p:txBody>
      </p:sp>
      <p:sp>
        <p:nvSpPr>
          <p:cNvPr id="2" name="paragraph-0">
            <a:extLst xmlns:a="http://schemas.openxmlformats.org/drawingml/2006/main">
              <a:ext uri="{FF2B5EF4-FFF2-40B4-BE49-F238E27FC236}">
                <a16:creationId xmlns:a16="http://schemas.microsoft.com/office/drawing/2014/main" id="{7A4C1106-132D-47B7-9C72-26824FE9045C}"/>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most treatment-naive adults without prior long-acting cabotegravir exposure, initial treatment uses bictegravir/TAF/FTC or dolutegravir plus two nucleos(t)ide agents. Here, TAF/TDF are tenofovir formulations, FTC is emtricitabine, and 3TC is lamivudine. Renal dysfunction, pregnancy, resistance, and interacting drugs can change the choice. [8]</a:t>
            </a:r>
          </a:p>
        </p:txBody>
      </p:sp>
      <p:sp>
        <p:nvSpPr>
          <p:cNvPr id="3" name="footer">
            <a:extLst xmlns:a="http://schemas.openxmlformats.org/drawingml/2006/main">
              <a:ext uri="{FF2B5EF4-FFF2-40B4-BE49-F238E27FC236}">
                <a16:creationId xmlns:a16="http://schemas.microsoft.com/office/drawing/2014/main" id="{96FE01DB-371B-4296-BCAF-02840CD7CEE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6C215E2-2DC7-4C31-9D79-185DE66711A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51</a:t>
            </a:r>
          </a:p>
        </p:txBody>
      </p:sp>
    </p:spTree>
    <p:extLst>
      <p:ext uri="{BB962C8B-B14F-4D97-AF65-F5344CB8AC3E}">
        <p14:creationId xmlns:p14="http://schemas.microsoft.com/office/powerpoint/2010/main" val="2031079859"/>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7D864B9-D099-4BA9-876B-B3D49CA5012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an effective complete regimen and account for the exceptions</a:t>
            </a:r>
          </a:p>
        </p:txBody>
      </p:sp>
      <p:graphicFrame>
        <p:nvGraphicFramePr>
          <p:cNvPr id="2" name="">
            <a:extLst xmlns:a="http://schemas.openxmlformats.org/drawingml/2006/main">
              <a:ext uri="{FF2B5EF4-FFF2-40B4-BE49-F238E27FC236}">
                <a16:creationId xmlns:a16="http://schemas.microsoft.com/office/drawing/2014/main" id="{93D663CA-FB28-4CCB-9999-5819A59FC822}"/>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Bictegravir/FTC/TAF 50/200/25 mg PO daily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Practical 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One tablet daily; common rapid-start option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Reason to choose differently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Review kidney function and cations. Rifampin is contraindicated. Prior CAB PrEP requires a resistance-informed approach. [9]</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1786F3D-9E5E-4968-B86B-286E0DE1AAF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CB8050C-E494-4B62-BABE-39806D9EEB9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52</a:t>
            </a:r>
          </a:p>
        </p:txBody>
      </p:sp>
    </p:spTree>
    <p:extLst>
      <p:ext uri="{BB962C8B-B14F-4D97-AF65-F5344CB8AC3E}">
        <p14:creationId xmlns:p14="http://schemas.microsoft.com/office/powerpoint/2010/main" val="2020719304"/>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A0BAF5F-2EA6-4B00-ADED-9C6DD02F75D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an effective complete regimen and account for the exceptions</a:t>
            </a:r>
          </a:p>
        </p:txBody>
      </p:sp>
      <p:graphicFrame>
        <p:nvGraphicFramePr>
          <p:cNvPr id="2" name="">
            <a:extLst xmlns:a="http://schemas.openxmlformats.org/drawingml/2006/main">
              <a:ext uri="{FF2B5EF4-FFF2-40B4-BE49-F238E27FC236}">
                <a16:creationId xmlns:a16="http://schemas.microsoft.com/office/drawing/2014/main" id="{75125966-C650-459F-A68D-74E7EB6FE74F}"/>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Dolutegravir 50 mg PO daily plus TAF/FTC or TDF/FTC</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Practical 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Common initial alternative; select and dose the backbone for kidney function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Reason to choose differently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DTG dosing changes with some inducers or resistance. Fixed-dose combinations are not interchangeable across renal categories. [8] [10]</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5DE5125-0D48-4977-BECB-C51E0D29A07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13732DC-6F39-4B61-A9D5-D264E428D95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53</a:t>
            </a:r>
          </a:p>
        </p:txBody>
      </p:sp>
    </p:spTree>
    <p:extLst>
      <p:ext uri="{BB962C8B-B14F-4D97-AF65-F5344CB8AC3E}">
        <p14:creationId xmlns:p14="http://schemas.microsoft.com/office/powerpoint/2010/main" val="2112877048"/>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6CA4A22-07EC-4BAB-AE08-F241D8F6F64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an effective complete regimen and account for the exceptions</a:t>
            </a:r>
          </a:p>
        </p:txBody>
      </p:sp>
      <p:graphicFrame>
        <p:nvGraphicFramePr>
          <p:cNvPr id="2" name="">
            <a:extLst xmlns:a="http://schemas.openxmlformats.org/drawingml/2006/main">
              <a:ext uri="{FF2B5EF4-FFF2-40B4-BE49-F238E27FC236}">
                <a16:creationId xmlns:a16="http://schemas.microsoft.com/office/drawing/2014/main" id="{A6F59136-C555-4564-B1DE-39E8B4940F02}"/>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Dolutegravir/3TC 50/300 mg PO daily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Practical 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Two-drug option for selected patients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Reason to choose differently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 not use for rapid start before HBV/genotype results, with HBV coinfection, or HIV RNA &gt;500,000 copies/mL. [8] [11]</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A91656D-E6BA-4303-A6D5-8F7ED9DA381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AAE56B3-AE14-4657-8E5C-ABC3CE50377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54</a:t>
            </a:r>
          </a:p>
        </p:txBody>
      </p:sp>
    </p:spTree>
    <p:extLst>
      <p:ext uri="{BB962C8B-B14F-4D97-AF65-F5344CB8AC3E}">
        <p14:creationId xmlns:p14="http://schemas.microsoft.com/office/powerpoint/2010/main" val="2031626232"/>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964C894-051E-4A07-9F30-510FCB63BE7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an effective complete regimen and account for the exceptions</a:t>
            </a:r>
          </a:p>
        </p:txBody>
      </p:sp>
      <p:graphicFrame>
        <p:nvGraphicFramePr>
          <p:cNvPr id="2" name="">
            <a:extLst xmlns:a="http://schemas.openxmlformats.org/drawingml/2006/main">
              <a:ext uri="{FF2B5EF4-FFF2-40B4-BE49-F238E27FC236}">
                <a16:creationId xmlns:a16="http://schemas.microsoft.com/office/drawing/2014/main" id="{69054A40-F981-4069-BE07-44E6DE9C442B}"/>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HIV after CAB PrEP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Practical 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Obtain integrase genotype; start boosted darunavir plus two appropriate NRTIs while results are pending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Reason to choose differently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 not assume bictegravir or dolutegravir remains active. Pregnancy changes booster selection. [1]</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4C13D6B4-98C3-42A4-8A5B-875A18CBAC0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6B1BCF2-B508-442A-8561-3F81BC1B8DA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55</a:t>
            </a:r>
          </a:p>
        </p:txBody>
      </p:sp>
    </p:spTree>
    <p:extLst>
      <p:ext uri="{BB962C8B-B14F-4D97-AF65-F5344CB8AC3E}">
        <p14:creationId xmlns:p14="http://schemas.microsoft.com/office/powerpoint/2010/main" val="1742478789"/>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09E9098-A9C6-47A2-8E3C-ED2CE7343B9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an effective complete regimen and account for the exceptions</a:t>
            </a:r>
          </a:p>
        </p:txBody>
      </p:sp>
      <p:graphicFrame>
        <p:nvGraphicFramePr>
          <p:cNvPr id="2" name="">
            <a:extLst xmlns:a="http://schemas.openxmlformats.org/drawingml/2006/main">
              <a:ext uri="{FF2B5EF4-FFF2-40B4-BE49-F238E27FC236}">
                <a16:creationId xmlns:a16="http://schemas.microsoft.com/office/drawing/2014/main" id="{B338F713-F9C5-4B19-AE34-0ADD03EF7416}"/>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HIV/HBV coinfection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Practical 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Use TAF or TDF plus FTC or 3TC within suppressive ART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Reason to choose differently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FTC or 3TC alone is inadequate HBV treatment. If tenofovir cannot be used, add entecavir to fully suppressive HIV therapy. Avoid unplanned withdrawal of HBV-active drugs. [12]</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3561A81-F656-4D55-A914-659878D6F0D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7F3C858-FF91-4A40-B81E-3EA3012AC14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56</a:t>
            </a:r>
          </a:p>
        </p:txBody>
      </p:sp>
    </p:spTree>
    <p:extLst>
      <p:ext uri="{BB962C8B-B14F-4D97-AF65-F5344CB8AC3E}">
        <p14:creationId xmlns:p14="http://schemas.microsoft.com/office/powerpoint/2010/main" val="726548586"/>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9C1B763-0029-4903-9F87-3B26C99C6A9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an effective complete regimen and account for the exceptions</a:t>
            </a:r>
          </a:p>
        </p:txBody>
      </p:sp>
      <p:graphicFrame>
        <p:nvGraphicFramePr>
          <p:cNvPr id="2" name="">
            <a:extLst xmlns:a="http://schemas.openxmlformats.org/drawingml/2006/main">
              <a:ext uri="{FF2B5EF4-FFF2-40B4-BE49-F238E27FC236}">
                <a16:creationId xmlns:a16="http://schemas.microsoft.com/office/drawing/2014/main" id="{DB8CFC10-2CB0-4423-AE2D-8E68807155CF}"/>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Pregnancy or pregnancy planning</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Practical 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Start promptly and consult the current perinatal recommendations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Reason to choose differently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 not withhold ART. Review pregnancy-specific pharmacokinetics and the complete regimen. [13]</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3C738FD-1849-427B-BEB0-44E10D85230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1BF8C35-C60E-4A0B-A500-3A7909FAB8C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57</a:t>
            </a:r>
          </a:p>
        </p:txBody>
      </p:sp>
    </p:spTree>
    <p:extLst>
      <p:ext uri="{BB962C8B-B14F-4D97-AF65-F5344CB8AC3E}">
        <p14:creationId xmlns:p14="http://schemas.microsoft.com/office/powerpoint/2010/main" val="787305668"/>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75D8473-0B8E-4798-B1B6-1DB79105549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Fellow and attending discussion</a:t>
            </a:r>
          </a:p>
        </p:txBody>
      </p:sp>
      <p:sp>
        <p:nvSpPr>
          <p:cNvPr id="2" name="paragraph-0">
            <a:extLst xmlns:a="http://schemas.openxmlformats.org/drawingml/2006/main">
              <a:ext uri="{FF2B5EF4-FFF2-40B4-BE49-F238E27FC236}">
                <a16:creationId xmlns:a16="http://schemas.microsoft.com/office/drawing/2014/main" id="{0EFD5392-1EDC-4D08-945E-F2B68BCA0C2C}"/>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ART trial endpoints usually measure virologic suppression, not superiority in mortality. A switch study in already suppressed patients does not establish a rapid-start regimen. Distinguish the genetic barrier of a drug from the actual activity of the complete regimen against a patient’s archived virus. [8] [14]</a:t>
            </a:r>
          </a:p>
        </p:txBody>
      </p:sp>
      <p:sp>
        <p:nvSpPr>
          <p:cNvPr id="3" name="footer">
            <a:extLst xmlns:a="http://schemas.openxmlformats.org/drawingml/2006/main">
              <a:ext uri="{FF2B5EF4-FFF2-40B4-BE49-F238E27FC236}">
                <a16:creationId xmlns:a16="http://schemas.microsoft.com/office/drawing/2014/main" id="{4E71CB44-B956-47B4-96CC-2B71011DFC6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9861BBB-15CB-466B-A86F-F867F589A20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58</a:t>
            </a:r>
          </a:p>
        </p:txBody>
      </p:sp>
    </p:spTree>
    <p:extLst>
      <p:ext uri="{BB962C8B-B14F-4D97-AF65-F5344CB8AC3E}">
        <p14:creationId xmlns:p14="http://schemas.microsoft.com/office/powerpoint/2010/main" val="1252154269"/>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1D9767F-EEF2-4FA6-8C31-4BBE545B2BB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Reconcile interactions and absorption before calling a regimen ineffective</a:t>
            </a:r>
          </a:p>
        </p:txBody>
      </p:sp>
      <p:graphicFrame>
        <p:nvGraphicFramePr>
          <p:cNvPr id="2" name="">
            <a:extLst xmlns:a="http://schemas.openxmlformats.org/drawingml/2006/main">
              <a:ext uri="{FF2B5EF4-FFF2-40B4-BE49-F238E27FC236}">
                <a16:creationId xmlns:a16="http://schemas.microsoft.com/office/drawing/2014/main" id="{A65792EA-13C5-4C4D-9135-A29D596BF2E8}"/>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Integrase inhibitors with magnesium/aluminum antacids, iron, calcium, or enteral feeds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response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Check the exact drug and administration schedule. Cation separation and food rules differ by product; ask pharmacy to document a feasible schedule.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2847B779-B0C5-4CC5-95EB-3A92E3404B8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9A6925F-5CBE-4C49-8F5E-6FA8B39E7EC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59</a:t>
            </a:r>
          </a:p>
        </p:txBody>
      </p:sp>
    </p:spTree>
    <p:extLst>
      <p:ext uri="{BB962C8B-B14F-4D97-AF65-F5344CB8AC3E}">
        <p14:creationId xmlns:p14="http://schemas.microsoft.com/office/powerpoint/2010/main" val="1943236398"/>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9B32843-154E-4118-BBF7-309761F1946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Reconcile interactions and absorption before calling a regimen ineffective</a:t>
            </a:r>
          </a:p>
        </p:txBody>
      </p:sp>
      <p:graphicFrame>
        <p:nvGraphicFramePr>
          <p:cNvPr id="2" name="">
            <a:extLst xmlns:a="http://schemas.openxmlformats.org/drawingml/2006/main">
              <a:ext uri="{FF2B5EF4-FFF2-40B4-BE49-F238E27FC236}">
                <a16:creationId xmlns:a16="http://schemas.microsoft.com/office/drawing/2014/main" id="{13C0530C-EE0C-4DD2-A005-0307EDAA72A1}"/>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Rifamycins with ART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response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Use the TB/ART interaction tables. Do not add rifampin to bictegravir, CAB/RPV, or a boosted PI regimen without redesigning treatment.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25F3508-029A-4069-AD23-3D871FE6A7F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B0D85C0-1C95-4569-8091-FBD1C332824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60</a:t>
            </a:r>
          </a:p>
        </p:txBody>
      </p:sp>
    </p:spTree>
    <p:extLst>
      <p:ext uri="{BB962C8B-B14F-4D97-AF65-F5344CB8AC3E}">
        <p14:creationId xmlns:p14="http://schemas.microsoft.com/office/powerpoint/2010/main" val="1072111372"/>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2546C60-A5E0-4F71-BEDE-7D413447CF2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Reconcile interactions and absorption before calling a regimen ineffective</a:t>
            </a:r>
          </a:p>
        </p:txBody>
      </p:sp>
      <p:graphicFrame>
        <p:nvGraphicFramePr>
          <p:cNvPr id="2" name="">
            <a:extLst xmlns:a="http://schemas.openxmlformats.org/drawingml/2006/main">
              <a:ext uri="{FF2B5EF4-FFF2-40B4-BE49-F238E27FC236}">
                <a16:creationId xmlns:a16="http://schemas.microsoft.com/office/drawing/2014/main" id="{0B0143CB-8848-4698-A769-9FF1367DBFB0}"/>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Ritonavir/cobicistat with corticosteroids, anticoagulants, statins, antiarrhythmics, or azoles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Practical response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medication-level interaction check is mandatory. Inhaled or injected steroids also count.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71F43A4-E1FE-48DD-B78C-2A7DF2C894F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8F4079E-1DDE-405A-95E4-15D951DD204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61</a:t>
            </a:r>
          </a:p>
        </p:txBody>
      </p:sp>
    </p:spTree>
    <p:extLst>
      <p:ext uri="{BB962C8B-B14F-4D97-AF65-F5344CB8AC3E}">
        <p14:creationId xmlns:p14="http://schemas.microsoft.com/office/powerpoint/2010/main" val="193811187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32B166A-F440-4096-A0E2-576B7CEFF54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Reconcile interactions and absorption before calling a regimen ineffective</a:t>
            </a:r>
          </a:p>
        </p:txBody>
      </p:sp>
      <p:graphicFrame>
        <p:nvGraphicFramePr>
          <p:cNvPr id="2" name="">
            <a:extLst xmlns:a="http://schemas.openxmlformats.org/drawingml/2006/main">
              <a:ext uri="{FF2B5EF4-FFF2-40B4-BE49-F238E27FC236}">
                <a16:creationId xmlns:a16="http://schemas.microsoft.com/office/drawing/2014/main" id="{E715A5B6-3551-4CBB-A8F1-D93E93444249}"/>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Oral rilpivirine with acid suppression or insufficient food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response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PPIs are contraindicated with oral RPV; check food and H2-blocker timing. This absorption issue does not apply to injected RPV.</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84C92DA-62DF-41EE-AA34-E2AFDAC7062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B4CAF00-3E39-4627-AC01-947A799E53F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62</a:t>
            </a:r>
          </a:p>
        </p:txBody>
      </p:sp>
    </p:spTree>
    <p:extLst>
      <p:ext uri="{BB962C8B-B14F-4D97-AF65-F5344CB8AC3E}">
        <p14:creationId xmlns:p14="http://schemas.microsoft.com/office/powerpoint/2010/main" val="1771104331"/>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55D6D83-B6A2-4B2F-9D21-DA208E8B9C8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Reconcile interactions and absorption before calling a regimen ineffective</a:t>
            </a:r>
          </a:p>
        </p:txBody>
      </p:sp>
      <p:graphicFrame>
        <p:nvGraphicFramePr>
          <p:cNvPr id="2" name="">
            <a:extLst xmlns:a="http://schemas.openxmlformats.org/drawingml/2006/main">
              <a:ext uri="{FF2B5EF4-FFF2-40B4-BE49-F238E27FC236}">
                <a16:creationId xmlns:a16="http://schemas.microsoft.com/office/drawing/2014/main" id="{535147F3-9B3D-47D2-A351-40935946C9D0}"/>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Rising creatinine after DTG/BIC or cobicistat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response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small early change may reflect inhibited creatinine secretion, but assess true AKI, urine findings, nephrotoxins, and the trend.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83AFBE6-FD35-4655-903D-2C2ECC3E0FA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D9896A9-11B8-4FB8-98B4-85CED8E19AD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63</a:t>
            </a:r>
          </a:p>
        </p:txBody>
      </p:sp>
    </p:spTree>
    <p:extLst>
      <p:ext uri="{BB962C8B-B14F-4D97-AF65-F5344CB8AC3E}">
        <p14:creationId xmlns:p14="http://schemas.microsoft.com/office/powerpoint/2010/main" val="591309682"/>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D460FE1-391E-433F-924A-4EEDDE4C0F5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Reconcile interactions and absorption before calling a regimen ineffective</a:t>
            </a:r>
          </a:p>
        </p:txBody>
      </p:sp>
      <p:graphicFrame>
        <p:nvGraphicFramePr>
          <p:cNvPr id="2" name="">
            <a:extLst xmlns:a="http://schemas.openxmlformats.org/drawingml/2006/main">
              <a:ext uri="{FF2B5EF4-FFF2-40B4-BE49-F238E27FC236}">
                <a16:creationId xmlns:a16="http://schemas.microsoft.com/office/drawing/2014/main" id="{8A78DE6D-1655-49D6-93A1-845396D1D719}"/>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NPO, dysphagia, feeding tube, or ICU admission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response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Verify formulations and product-specific crushing/dissolving data. Avoid accidental partial ART or an unplanned long-acting treatment gap.</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9877119-2E98-4BF5-AF56-840178EEAF0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304EAC6-ED0C-4910-AF0D-6161FB6C478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64</a:t>
            </a:r>
          </a:p>
        </p:txBody>
      </p:sp>
    </p:spTree>
    <p:extLst>
      <p:ext uri="{BB962C8B-B14F-4D97-AF65-F5344CB8AC3E}">
        <p14:creationId xmlns:p14="http://schemas.microsoft.com/office/powerpoint/2010/main" val="1694662713"/>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F377855-E1F6-4B90-93ED-506EB5DF739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Reconcile interactions and absorption before calling a regimen ineffective</a:t>
            </a:r>
          </a:p>
        </p:txBody>
      </p:sp>
      <p:sp>
        <p:nvSpPr>
          <p:cNvPr id="2" name="paragraph-0">
            <a:extLst xmlns:a="http://schemas.openxmlformats.org/drawingml/2006/main">
              <a:ext uri="{FF2B5EF4-FFF2-40B4-BE49-F238E27FC236}">
                <a16:creationId xmlns:a16="http://schemas.microsoft.com/office/drawing/2014/main" id="{C73D2E32-2246-41B7-8EE8-7064A539F47C}"/>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[15] [9] [8] [3]</a:t>
            </a:r>
          </a:p>
        </p:txBody>
      </p:sp>
      <p:sp>
        <p:nvSpPr>
          <p:cNvPr id="3" name="paragraph-1">
            <a:extLst xmlns:a="http://schemas.openxmlformats.org/drawingml/2006/main">
              <a:ext uri="{FF2B5EF4-FFF2-40B4-BE49-F238E27FC236}">
                <a16:creationId xmlns:a16="http://schemas.microsoft.com/office/drawing/2014/main" id="{BD00CEC2-AE17-4E99-AEB2-DFDEBA7A9D18}"/>
              </a:ext>
            </a:extLst>
          </p:cNvPr>
          <p:cNvSpPr>
            <a:spLocks xmlns:a="http://schemas.openxmlformats.org/drawingml/2006/main" noGrp="1"/>
          </p:cNvSpPr>
          <p:nvPr/>
        </p:nvSpPr>
        <p:spPr>
          <a:xfrm xmlns:a="http://schemas.openxmlformats.org/drawingml/2006/main">
            <a:off x="647700" y="25622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Repeat HIV RNA about 4-8 weeks after initiation or a regimen change, then every 4-8 weeks until suppressed. Stable suppression generally permits monitoring every 3-4 months, sometimes every 6 months after sustained stability. Follow CD4 more closely when it determines OI prevention. [16]</a:t>
            </a:r>
          </a:p>
        </p:txBody>
      </p:sp>
      <p:sp>
        <p:nvSpPr>
          <p:cNvPr id="4" name="footer">
            <a:extLst xmlns:a="http://schemas.openxmlformats.org/drawingml/2006/main">
              <a:ext uri="{FF2B5EF4-FFF2-40B4-BE49-F238E27FC236}">
                <a16:creationId xmlns:a16="http://schemas.microsoft.com/office/drawing/2014/main" id="{1C027A61-FBF6-4107-9DBF-90C71DA7D19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C6C6F9A6-3573-4EAA-A6D7-24808306B0D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65</a:t>
            </a:r>
          </a:p>
        </p:txBody>
      </p:sp>
    </p:spTree>
    <p:extLst>
      <p:ext uri="{BB962C8B-B14F-4D97-AF65-F5344CB8AC3E}">
        <p14:creationId xmlns:p14="http://schemas.microsoft.com/office/powerpoint/2010/main" val="436412155"/>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4711CC4-D25B-431F-B228-706065F2A8A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Reconcile interactions and absorption before calling a regimen ineffective</a:t>
            </a:r>
          </a:p>
        </p:txBody>
      </p:sp>
      <p:sp>
        <p:nvSpPr>
          <p:cNvPr id="2" name="paragraph-0">
            <a:extLst xmlns:a="http://schemas.openxmlformats.org/drawingml/2006/main">
              <a:ext uri="{FF2B5EF4-FFF2-40B4-BE49-F238E27FC236}">
                <a16:creationId xmlns:a16="http://schemas.microsoft.com/office/drawing/2014/main" id="{8BEC6672-0C1A-4119-95E3-C6C6BDB4281C}"/>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confirmed rebound at or above 200 copies/mL, assess access, adherence, interactions, and resistance. Obtain genotype while the failing regimen is still being taken, or preferably within 4 weeks of stopping oral ART. Review all historical resistance. A single low detectable result is not automatically failure. Do not add one active drug to a failing regimen. [14]</a:t>
            </a:r>
          </a:p>
        </p:txBody>
      </p:sp>
      <p:sp>
        <p:nvSpPr>
          <p:cNvPr id="3" name="footer">
            <a:extLst xmlns:a="http://schemas.openxmlformats.org/drawingml/2006/main">
              <a:ext uri="{FF2B5EF4-FFF2-40B4-BE49-F238E27FC236}">
                <a16:creationId xmlns:a16="http://schemas.microsoft.com/office/drawing/2014/main" id="{A0EBB846-F5F7-43AB-BBDA-143700A844E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027CDAF-C3C8-4C89-8157-1F92D5E672A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66</a:t>
            </a:r>
          </a:p>
        </p:txBody>
      </p:sp>
    </p:spTree>
    <p:extLst>
      <p:ext uri="{BB962C8B-B14F-4D97-AF65-F5344CB8AC3E}">
        <p14:creationId xmlns:p14="http://schemas.microsoft.com/office/powerpoint/2010/main" val="1460437583"/>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637E084-4EA6-4ECE-9441-2FC2282C854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OI next steps start with the syndrome and severity</a:t>
            </a:r>
          </a:p>
        </p:txBody>
      </p:sp>
      <p:sp>
        <p:nvSpPr>
          <p:cNvPr id="2" name="paragraph-0">
            <a:extLst xmlns:a="http://schemas.openxmlformats.org/drawingml/2006/main">
              <a:ext uri="{FF2B5EF4-FFF2-40B4-BE49-F238E27FC236}">
                <a16:creationId xmlns:a16="http://schemas.microsoft.com/office/drawing/2014/main" id="{EAC6676E-9EDE-4838-AAF1-DF7A248D0882}"/>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Second teaching block · OI diagnosis and treatment</a:t>
            </a:r>
          </a:p>
        </p:txBody>
      </p:sp>
      <p:sp>
        <p:nvSpPr>
          <p:cNvPr id="3" name="paragraph-1">
            <a:extLst xmlns:a="http://schemas.openxmlformats.org/drawingml/2006/main">
              <a:ext uri="{FF2B5EF4-FFF2-40B4-BE49-F238E27FC236}">
                <a16:creationId xmlns:a16="http://schemas.microsoft.com/office/drawing/2014/main" id="{088F8FED-7257-4E9B-AFD6-E16D80342E65}"/>
              </a:ext>
            </a:extLst>
          </p:cNvPr>
          <p:cNvSpPr>
            <a:spLocks xmlns:a="http://schemas.openxmlformats.org/drawingml/2006/main" noGrp="1"/>
          </p:cNvSpPr>
          <p:nvPr/>
        </p:nvSpPr>
        <p:spPr>
          <a:xfrm xmlns:a="http://schemas.openxmlformats.org/drawingml/2006/main">
            <a:off x="647700" y="25622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Doses below are adult starting examples, not individualized orders. Adjust for renal/hepatic function, weight, pregnancy, formulation, and drug interactions; confirm with pharmacy.</a:t>
            </a:r>
          </a:p>
        </p:txBody>
      </p:sp>
      <p:sp>
        <p:nvSpPr>
          <p:cNvPr id="4" name="footer">
            <a:extLst xmlns:a="http://schemas.openxmlformats.org/drawingml/2006/main">
              <a:ext uri="{FF2B5EF4-FFF2-40B4-BE49-F238E27FC236}">
                <a16:creationId xmlns:a16="http://schemas.microsoft.com/office/drawing/2014/main" id="{4CBD5DB4-F60C-4044-85CD-A7332E74ADF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F9E320AC-0739-4850-BC26-B69D146842F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67</a:t>
            </a:r>
          </a:p>
        </p:txBody>
      </p:sp>
    </p:spTree>
    <p:extLst>
      <p:ext uri="{BB962C8B-B14F-4D97-AF65-F5344CB8AC3E}">
        <p14:creationId xmlns:p14="http://schemas.microsoft.com/office/powerpoint/2010/main" val="1301805056"/>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4723BF1-81E5-4A23-8DDE-7A60AE15D14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OI next steps start with the syndrome and severity</a:t>
            </a:r>
          </a:p>
        </p:txBody>
      </p:sp>
      <p:sp>
        <p:nvSpPr>
          <p:cNvPr id="2" name="paragraph-0">
            <a:extLst xmlns:a="http://schemas.openxmlformats.org/drawingml/2006/main">
              <a:ext uri="{FF2B5EF4-FFF2-40B4-BE49-F238E27FC236}">
                <a16:creationId xmlns:a16="http://schemas.microsoft.com/office/drawing/2014/main" id="{E921CB05-9D21-436B-AEA0-465696C82A55}"/>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CD4 thresholds change probability; they are not exclusion rules. Bacterial infections and TB can occur at any CD4 count. Below 200, PCP becomes prominent; below 100, consider toxoplasmosis and cryptococcosis; below 50, disseminated MAC and CMV end-organ disease become more likely. Histoplasmosis is particularly important with advanced HIV and relevant geography. [6] [5] [7] [17] [18] [19] [3]</a:t>
            </a:r>
          </a:p>
        </p:txBody>
      </p:sp>
      <p:sp>
        <p:nvSpPr>
          <p:cNvPr id="3" name="footer">
            <a:extLst xmlns:a="http://schemas.openxmlformats.org/drawingml/2006/main">
              <a:ext uri="{FF2B5EF4-FFF2-40B4-BE49-F238E27FC236}">
                <a16:creationId xmlns:a16="http://schemas.microsoft.com/office/drawing/2014/main" id="{FC20828B-4739-4933-B883-A549C06B1D6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E651FF1-B6A9-401D-9BFF-A4FAA683095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68</a:t>
            </a:r>
          </a:p>
        </p:txBody>
      </p:sp>
    </p:spTree>
    <p:extLst>
      <p:ext uri="{BB962C8B-B14F-4D97-AF65-F5344CB8AC3E}">
        <p14:creationId xmlns:p14="http://schemas.microsoft.com/office/powerpoint/2010/main" val="1947364060"/>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BAA3A2C-3394-4470-A134-B5E8983650B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OI next steps start with the syndrome and severity</a:t>
            </a:r>
          </a:p>
        </p:txBody>
      </p:sp>
      <p:graphicFrame>
        <p:nvGraphicFramePr>
          <p:cNvPr id="2" name="">
            <a:extLst xmlns:a="http://schemas.openxmlformats.org/drawingml/2006/main">
              <a:ext uri="{FF2B5EF4-FFF2-40B4-BE49-F238E27FC236}">
                <a16:creationId xmlns:a16="http://schemas.microsoft.com/office/drawing/2014/main" id="{74AB0E95-80C4-4361-A86E-69B788B0CF0B}"/>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Subacute dyspnea, dry cough, hypoxemia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Diagnostic next steps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Pulse oximetry, imaging; arterial blood gas when steroid threshold is uncertain. Induced sputum or BAL for PCP testing; assess bacterial pneumonia and TB concurrently.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Immediate treatment or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Treat suspected severe PCP promptly while obtaining confirmation. Add oxygen and indicated corticosteroids; isolate for TB if suspected.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D18C187-A1FF-4E93-8672-3D5C7E385CD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55AEFF9-FBC5-4EF7-9216-7AFB67F9EE7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69</a:t>
            </a:r>
          </a:p>
        </p:txBody>
      </p:sp>
    </p:spTree>
    <p:extLst>
      <p:ext uri="{BB962C8B-B14F-4D97-AF65-F5344CB8AC3E}">
        <p14:creationId xmlns:p14="http://schemas.microsoft.com/office/powerpoint/2010/main" val="479386697"/>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9FFBE13-EE95-4F26-8011-97E36562186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OI next steps start with the syndrome and severity</a:t>
            </a:r>
          </a:p>
        </p:txBody>
      </p:sp>
      <p:graphicFrame>
        <p:nvGraphicFramePr>
          <p:cNvPr id="2" name="">
            <a:extLst xmlns:a="http://schemas.openxmlformats.org/drawingml/2006/main">
              <a:ext uri="{FF2B5EF4-FFF2-40B4-BE49-F238E27FC236}">
                <a16:creationId xmlns:a16="http://schemas.microsoft.com/office/drawing/2014/main" id="{70B462A5-7C68-4FA6-9768-38BB05ABA782}"/>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Headache, meningitis, altered mentation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Diagnostic next steps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Neurologic exam; imaging before LP when indicated. LP with opening pressure, cell count, glucose/protein, CrAg, and fungal culture; other tests guided by presentation.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Immediate treatment or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Treat the likely syndrome urgently; do not start ART reflexively before assessing cryptococcal/TB meningitis.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F86BD77-E04E-4D67-ADA6-F187A7D2A09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E342450-66A5-42B2-AF0A-65DB9A56BFE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70</a:t>
            </a:r>
          </a:p>
        </p:txBody>
      </p:sp>
    </p:spTree>
    <p:extLst>
      <p:ext uri="{BB962C8B-B14F-4D97-AF65-F5344CB8AC3E}">
        <p14:creationId xmlns:p14="http://schemas.microsoft.com/office/powerpoint/2010/main" val="45236948"/>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1B5EF12-FBDB-41F3-9095-813C74BAC9E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OI next steps start with the syndrome and severity</a:t>
            </a:r>
          </a:p>
        </p:txBody>
      </p:sp>
      <p:graphicFrame>
        <p:nvGraphicFramePr>
          <p:cNvPr id="2" name="">
            <a:extLst xmlns:a="http://schemas.openxmlformats.org/drawingml/2006/main">
              <a:ext uri="{FF2B5EF4-FFF2-40B4-BE49-F238E27FC236}">
                <a16:creationId xmlns:a16="http://schemas.microsoft.com/office/drawing/2014/main" id="{0620A2DA-8AAB-498F-AA3D-86012F052CAE}"/>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Focal deficit or seizure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Diagnostic next steps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Contrast MRI; Toxoplasma IgG; consider lymphoma, PML, TB, abscess, stroke. CSF only if safe.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Immediate treatment or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Treat presumed toxoplasmosis when supported; arrange early biopsy for atypical features or lack of response.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2AF8C06-0BF1-44AB-86D8-2672C102160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6419E36-1700-4D4B-8882-54FF0D55ADE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71</a:t>
            </a:r>
          </a:p>
        </p:txBody>
      </p:sp>
    </p:spTree>
    <p:extLst>
      <p:ext uri="{BB962C8B-B14F-4D97-AF65-F5344CB8AC3E}">
        <p14:creationId xmlns:p14="http://schemas.microsoft.com/office/powerpoint/2010/main" val="119973937"/>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3E6A380-F210-4FD5-9ADC-96FB1266BFA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OI next steps start with the syndrome and severity</a:t>
            </a:r>
          </a:p>
        </p:txBody>
      </p:sp>
      <p:graphicFrame>
        <p:nvGraphicFramePr>
          <p:cNvPr id="2" name="">
            <a:extLst xmlns:a="http://schemas.openxmlformats.org/drawingml/2006/main">
              <a:ext uri="{FF2B5EF4-FFF2-40B4-BE49-F238E27FC236}">
                <a16:creationId xmlns:a16="http://schemas.microsoft.com/office/drawing/2014/main" id="{6807C989-9CAD-432E-ACFE-CCB486392CA5}"/>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Floaters, scotoma, blurred vision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Diagnostic next steps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Urgent dilated retinal examination; do not use plasma CMV PCR to rule out retinitis.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Immediate treatment or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Same-day ophthalmology; sight-threatening disease may need local plus systemic therapy.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85D3EBF-43F6-4189-9D63-7AB85C87C6A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85920E6-7597-426F-8BCD-D1243BBB12B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72</a:t>
            </a:r>
          </a:p>
        </p:txBody>
      </p:sp>
    </p:spTree>
    <p:extLst>
      <p:ext uri="{BB962C8B-B14F-4D97-AF65-F5344CB8AC3E}">
        <p14:creationId xmlns:p14="http://schemas.microsoft.com/office/powerpoint/2010/main" val="1989677029"/>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B7894A9-F443-4247-A959-78B567B5F70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OI next steps start with the syndrome and severity</a:t>
            </a:r>
          </a:p>
        </p:txBody>
      </p:sp>
      <p:graphicFrame>
        <p:nvGraphicFramePr>
          <p:cNvPr id="2" name="">
            <a:extLst xmlns:a="http://schemas.openxmlformats.org/drawingml/2006/main">
              <a:ext uri="{FF2B5EF4-FFF2-40B4-BE49-F238E27FC236}">
                <a16:creationId xmlns:a16="http://schemas.microsoft.com/office/drawing/2014/main" id="{77ADDA61-4158-4FE9-92B1-839F75EB69D8}"/>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Fever, wasting, cytopenias, high alkaline phosphatase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Diagnostic next steps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Blood cultures; mycobacterial blood cultures, urine/serum Histoplasma antigen, imaging and tissue sampling as indicated. Consider lymphoma.</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Immediate treatment or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In severe disseminated histoplasmosis, begin liposomal amphotericin B. Avoid macrolide prophylaxis while evaluating possible active MAC.</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950CECD-637C-424D-9F95-69B69FEC5F3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50E5540-5F67-4696-9710-192B12C4945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73</a:t>
            </a:r>
          </a:p>
        </p:txBody>
      </p:sp>
    </p:spTree>
    <p:extLst>
      <p:ext uri="{BB962C8B-B14F-4D97-AF65-F5344CB8AC3E}">
        <p14:creationId xmlns:p14="http://schemas.microsoft.com/office/powerpoint/2010/main" val="1620100385"/>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5E446D0-ADFE-4DF7-AEDB-76E520A86F2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OI next steps start with the syndrome and severity</a:t>
            </a:r>
          </a:p>
        </p:txBody>
      </p:sp>
      <p:graphicFrame>
        <p:nvGraphicFramePr>
          <p:cNvPr id="2" name="">
            <a:extLst xmlns:a="http://schemas.openxmlformats.org/drawingml/2006/main">
              <a:ext uri="{FF2B5EF4-FFF2-40B4-BE49-F238E27FC236}">
                <a16:creationId xmlns:a16="http://schemas.microsoft.com/office/drawing/2014/main" id="{0118B2E0-F3C9-476C-AEE5-951FDC3A097C}"/>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Odynophagia or persistent diarrhea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Diagnostic next steps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Assess thrush, stool tests and exact panel coverage, medications, hydration. Endoscopy with biopsy when esophageal disease fails empiric treatment or CMV colitis is suspected.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Immediate treatment or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Systemic antifungal for esophageal candidiasis; rehydration and organism-directed enteric therapy. CMV DNAemia alone does not establish colitis.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E9E91CD-5582-49B2-9B39-B18DC29B320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F08B225-81E0-4EA4-A80B-4E1C3181F6C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74</a:t>
            </a:r>
          </a:p>
        </p:txBody>
      </p:sp>
    </p:spTree>
    <p:extLst>
      <p:ext uri="{BB962C8B-B14F-4D97-AF65-F5344CB8AC3E}">
        <p14:creationId xmlns:p14="http://schemas.microsoft.com/office/powerpoint/2010/main" val="1471124098"/>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D8CA3B7-9CA8-421E-8261-848DB5D6164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OI next steps start with the syndrome and severity</a:t>
            </a:r>
          </a:p>
        </p:txBody>
      </p:sp>
      <p:sp>
        <p:nvSpPr>
          <p:cNvPr id="2" name="paragraph-0">
            <a:extLst xmlns:a="http://schemas.openxmlformats.org/drawingml/2006/main">
              <a:ext uri="{FF2B5EF4-FFF2-40B4-BE49-F238E27FC236}">
                <a16:creationId xmlns:a16="http://schemas.microsoft.com/office/drawing/2014/main" id="{650A15AF-9BD0-44C1-BFFD-C455C74D35A5}"/>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[6] [7] [5] [20] [18] [19] [17] [21] [22]</a:t>
            </a:r>
          </a:p>
        </p:txBody>
      </p:sp>
      <p:sp>
        <p:nvSpPr>
          <p:cNvPr id="3" name="paragraph-1">
            <a:extLst xmlns:a="http://schemas.openxmlformats.org/drawingml/2006/main">
              <a:ext uri="{FF2B5EF4-FFF2-40B4-BE49-F238E27FC236}">
                <a16:creationId xmlns:a16="http://schemas.microsoft.com/office/drawing/2014/main" id="{722D15E8-DBED-4034-9837-2412D76B1AEB}"/>
              </a:ext>
            </a:extLst>
          </p:cNvPr>
          <p:cNvSpPr>
            <a:spLocks xmlns:a="http://schemas.openxmlformats.org/drawingml/2006/main" noGrp="1"/>
          </p:cNvSpPr>
          <p:nvPr/>
        </p:nvSpPr>
        <p:spPr>
          <a:xfrm xmlns:a="http://schemas.openxmlformats.org/drawingml/2006/main">
            <a:off x="647700" y="25622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 control still matters. Drain an ordinary bacterial abscess, remove infected hardware when indicated, and obtain tissue when it will distinguish infection from malignancy. In cryptococcal meningitis, pressure management with therapeutic LP is essential alongside antifungal therapy.</a:t>
            </a:r>
          </a:p>
        </p:txBody>
      </p:sp>
      <p:sp>
        <p:nvSpPr>
          <p:cNvPr id="4" name="footer">
            <a:extLst xmlns:a="http://schemas.openxmlformats.org/drawingml/2006/main">
              <a:ext uri="{FF2B5EF4-FFF2-40B4-BE49-F238E27FC236}">
                <a16:creationId xmlns:a16="http://schemas.microsoft.com/office/drawing/2014/main" id="{C98CD03E-52E3-4884-8CEA-A67B5398D87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A4D6D27A-FAAE-4C20-A615-D823E52418D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75</a:t>
            </a:r>
          </a:p>
        </p:txBody>
      </p:sp>
    </p:spTree>
    <p:extLst>
      <p:ext uri="{BB962C8B-B14F-4D97-AF65-F5344CB8AC3E}">
        <p14:creationId xmlns:p14="http://schemas.microsoft.com/office/powerpoint/2010/main" val="1454374338"/>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BFAF23A-C980-4A62-AB61-F4A9C3969F4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PCP treatment depends on respiratory severity and is followed by secondary prophylaxis</a:t>
            </a:r>
          </a:p>
        </p:txBody>
      </p:sp>
      <p:sp>
        <p:nvSpPr>
          <p:cNvPr id="2" name="paragraph-0">
            <a:extLst xmlns:a="http://schemas.openxmlformats.org/drawingml/2006/main">
              <a:ext uri="{FF2B5EF4-FFF2-40B4-BE49-F238E27FC236}">
                <a16:creationId xmlns:a16="http://schemas.microsoft.com/office/drawing/2014/main" id="{03F9934A-C923-4A90-9F94-E249F4564D9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Confirm with respiratory staining or PCR on an appropriate specimen. PCR may detect colonization; beta-D-glucan supports but does not establish the diagnosis. A normal chest radiograph does not exclude PCP. Consider coinfection. [6]</a:t>
            </a:r>
          </a:p>
        </p:txBody>
      </p:sp>
      <p:sp>
        <p:nvSpPr>
          <p:cNvPr id="3" name="paragraph-1">
            <a:extLst xmlns:a="http://schemas.openxmlformats.org/drawingml/2006/main">
              <a:ext uri="{FF2B5EF4-FFF2-40B4-BE49-F238E27FC236}">
                <a16:creationId xmlns:a16="http://schemas.microsoft.com/office/drawing/2014/main" id="{3CCD71AD-A17C-42EF-931B-617E33D3D2CD}"/>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Treat for 21 days with TMP-SMX, dosed by TMP at 15-20 mg/kg/day, divided every 6-8 hours IV for moderate/severe disease; oral therapy is appropriate for mild disease or after improvement. Adjust for renal function. Monitor potassium, creatinine, CBC, liver tests, and rash. [6]</a:t>
            </a:r>
          </a:p>
        </p:txBody>
      </p:sp>
      <p:sp>
        <p:nvSpPr>
          <p:cNvPr id="4" name="footer">
            <a:extLst xmlns:a="http://schemas.openxmlformats.org/drawingml/2006/main">
              <a:ext uri="{FF2B5EF4-FFF2-40B4-BE49-F238E27FC236}">
                <a16:creationId xmlns:a16="http://schemas.microsoft.com/office/drawing/2014/main" id="{9942C025-E95D-4677-954F-F1879468D57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865C0845-3A11-4BA5-A4A2-36A3047E6C8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76</a:t>
            </a:r>
          </a:p>
        </p:txBody>
      </p:sp>
    </p:spTree>
    <p:extLst>
      <p:ext uri="{BB962C8B-B14F-4D97-AF65-F5344CB8AC3E}">
        <p14:creationId xmlns:p14="http://schemas.microsoft.com/office/powerpoint/2010/main" val="1344882593"/>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5C826A8-72F2-46B9-8192-C15DE4FC166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PCP treatment depends on respiratory severity and is followed by secondary prophylaxis</a:t>
            </a:r>
          </a:p>
        </p:txBody>
      </p:sp>
      <p:sp>
        <p:nvSpPr>
          <p:cNvPr id="2" name="paragraph-0">
            <a:extLst xmlns:a="http://schemas.openxmlformats.org/drawingml/2006/main">
              <a:ext uri="{FF2B5EF4-FFF2-40B4-BE49-F238E27FC236}">
                <a16:creationId xmlns:a16="http://schemas.microsoft.com/office/drawing/2014/main" id="{E84D6C59-413F-4A88-8EC2-8F6AE82FD746}"/>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Add prednisone if room-air PaO₂ is &lt;70 mmHg or the A-a gradient is ≥35 mmHg. Start ideally within 72 hours: 40 mg twice daily on days 1-5, 40 mg daily on days 6-10, then 20 mg daily on days 11-21. [6]</a:t>
            </a:r>
          </a:p>
        </p:txBody>
      </p:sp>
      <p:sp>
        <p:nvSpPr>
          <p:cNvPr id="3" name="paragraph-1">
            <a:extLst xmlns:a="http://schemas.openxmlformats.org/drawingml/2006/main">
              <a:ext uri="{FF2B5EF4-FFF2-40B4-BE49-F238E27FC236}">
                <a16:creationId xmlns:a16="http://schemas.microsoft.com/office/drawing/2014/main" id="{0F877587-7C25-4666-ADC1-86E3DA4A48B3}"/>
              </a:ext>
            </a:extLst>
          </p:cNvPr>
          <p:cNvSpPr>
            <a:spLocks xmlns:a="http://schemas.openxmlformats.org/drawingml/2006/main" noGrp="1"/>
          </p:cNvSpPr>
          <p:nvPr/>
        </p:nvSpPr>
        <p:spPr>
          <a:xfrm xmlns:a="http://schemas.openxmlformats.org/drawingml/2006/main">
            <a:off x="647700" y="326707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Alternatives include clindamycin-primaquine or IV pentamidine for moderate/severe disease, and atovaquone for mild disease. Check G6PD before primaquine or dapsone. Start ART within 2 weeks when feasible; begin secondary prophylaxis immediately after treatment. [6]</a:t>
            </a:r>
          </a:p>
        </p:txBody>
      </p:sp>
      <p:sp>
        <p:nvSpPr>
          <p:cNvPr id="4" name="footer">
            <a:extLst xmlns:a="http://schemas.openxmlformats.org/drawingml/2006/main">
              <a:ext uri="{FF2B5EF4-FFF2-40B4-BE49-F238E27FC236}">
                <a16:creationId xmlns:a16="http://schemas.microsoft.com/office/drawing/2014/main" id="{9599CB35-6CAC-4613-BF9A-97616A50B57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45736B0D-0B85-4EA5-AD27-2BA6AD75978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77</a:t>
            </a:r>
          </a:p>
        </p:txBody>
      </p:sp>
    </p:spTree>
    <p:extLst>
      <p:ext uri="{BB962C8B-B14F-4D97-AF65-F5344CB8AC3E}">
        <p14:creationId xmlns:p14="http://schemas.microsoft.com/office/powerpoint/2010/main" val="1826735571"/>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39904A4-06A6-4719-8CB7-FEB64C1C541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PCP treatment depends on respiratory severity and is followed by secondary prophylaxis</a:t>
            </a:r>
          </a:p>
        </p:txBody>
      </p:sp>
      <p:sp>
        <p:nvSpPr>
          <p:cNvPr id="2" name="paragraph-0">
            <a:extLst xmlns:a="http://schemas.openxmlformats.org/drawingml/2006/main">
              <a:ext uri="{FF2B5EF4-FFF2-40B4-BE49-F238E27FC236}">
                <a16:creationId xmlns:a16="http://schemas.microsoft.com/office/drawing/2014/main" id="{A6CA5C7F-E00E-4D11-8B84-80C006CB9C0F}"/>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Before escalating for apparent failure, reassess oxygenation, absorption, toxicity, fluid status, pneumothorax, and another infection. Clinical worsening is not itself proof of resistance.</a:t>
            </a:r>
          </a:p>
        </p:txBody>
      </p:sp>
      <p:sp>
        <p:nvSpPr>
          <p:cNvPr id="3" name="footer">
            <a:extLst xmlns:a="http://schemas.openxmlformats.org/drawingml/2006/main">
              <a:ext uri="{FF2B5EF4-FFF2-40B4-BE49-F238E27FC236}">
                <a16:creationId xmlns:a16="http://schemas.microsoft.com/office/drawing/2014/main" id="{73FCC933-D75D-4916-A6F1-E720794772F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5E31530-0384-4CF6-89D1-2FE5607E1F5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78</a:t>
            </a:r>
          </a:p>
        </p:txBody>
      </p:sp>
    </p:spTree>
    <p:extLst>
      <p:ext uri="{BB962C8B-B14F-4D97-AF65-F5344CB8AC3E}">
        <p14:creationId xmlns:p14="http://schemas.microsoft.com/office/powerpoint/2010/main" val="311415388"/>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E9362A4-E7D8-479D-8AE3-FE7A33157C9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Cryptococcal meningitis requires antifungal treatment and active pressure management</a:t>
            </a:r>
          </a:p>
        </p:txBody>
      </p:sp>
      <p:sp>
        <p:nvSpPr>
          <p:cNvPr id="2" name="paragraph-0">
            <a:extLst xmlns:a="http://schemas.openxmlformats.org/drawingml/2006/main">
              <a:ext uri="{FF2B5EF4-FFF2-40B4-BE49-F238E27FC236}">
                <a16:creationId xmlns:a16="http://schemas.microsoft.com/office/drawing/2014/main" id="{2AB4DD7C-2F4D-4250-9DE2-9DB1792D381D}"/>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Send serum and CSF CrAg and CSF fungal culture; measure opening pressure. A negative meningitis-panel PCR does not exclude cryptococcosis. Symptomatic elevated pressure requires therapeutic LPs, often repeated daily. Do not use serial CrAg titers to document clearance. [7]</a:t>
            </a:r>
          </a:p>
        </p:txBody>
      </p:sp>
      <p:sp>
        <p:nvSpPr>
          <p:cNvPr id="3" name="paragraph-1">
            <a:extLst xmlns:a="http://schemas.openxmlformats.org/drawingml/2006/main">
              <a:ext uri="{FF2B5EF4-FFF2-40B4-BE49-F238E27FC236}">
                <a16:creationId xmlns:a16="http://schemas.microsoft.com/office/drawing/2014/main" id="{C5F99DAC-A8EA-4DD1-B2EA-F4948843893C}"/>
              </a:ext>
            </a:extLst>
          </p:cNvPr>
          <p:cNvSpPr>
            <a:spLocks xmlns:a="http://schemas.openxmlformats.org/drawingml/2006/main" noGrp="1"/>
          </p:cNvSpPr>
          <p:nvPr/>
        </p:nvSpPr>
        <p:spPr>
          <a:xfrm xmlns:a="http://schemas.openxmlformats.org/drawingml/2006/main">
            <a:off x="647700" y="361950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 preferred induction is liposomal amphotericin B 3-4 mg/kg IV daily plus flucytosine 25 mg/kg PO every 6 hours for 2 weeks, with renal adjustment and drug-level monitoring for flucytosine. Follow CBC, renal function, potassium, and magnesium. Reassess CSF culture at about days 7 and 14. [7]</a:t>
            </a:r>
          </a:p>
        </p:txBody>
      </p:sp>
      <p:sp>
        <p:nvSpPr>
          <p:cNvPr id="4" name="footer">
            <a:extLst xmlns:a="http://schemas.openxmlformats.org/drawingml/2006/main">
              <a:ext uri="{FF2B5EF4-FFF2-40B4-BE49-F238E27FC236}">
                <a16:creationId xmlns:a16="http://schemas.microsoft.com/office/drawing/2014/main" id="{CDC8875C-7421-4F19-B797-BC819AC5DB4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4C9DB329-6FB5-4F65-A0B5-034843F42B7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79</a:t>
            </a:r>
          </a:p>
        </p:txBody>
      </p:sp>
    </p:spTree>
    <p:extLst>
      <p:ext uri="{BB962C8B-B14F-4D97-AF65-F5344CB8AC3E}">
        <p14:creationId xmlns:p14="http://schemas.microsoft.com/office/powerpoint/2010/main" val="593694393"/>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ACB9E83-7053-4630-B1BB-F2F0C98B22D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Cryptococcal meningitis requires antifungal treatment and active pressure management</a:t>
            </a:r>
          </a:p>
        </p:txBody>
      </p:sp>
      <p:sp>
        <p:nvSpPr>
          <p:cNvPr id="2" name="paragraph-0">
            <a:extLst xmlns:a="http://schemas.openxmlformats.org/drawingml/2006/main">
              <a:ext uri="{FF2B5EF4-FFF2-40B4-BE49-F238E27FC236}">
                <a16:creationId xmlns:a16="http://schemas.microsoft.com/office/drawing/2014/main" id="{FE772195-4E2C-4A95-AFC2-F6C1E57519DD}"/>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Consolidate with fluconazole 800 mg daily for at least 8 weeks; once stable with sterile CSF and ART initiated, 400 mg daily may be used. Then fluconazole 200 mg daily for maintenance. If CSF remains culture-positive after induction, adjust the induction/consolidation plan and continue consolidation for at least 8 weeks from documented CSF culture clearance. Instability also requires reassessment. [7]</a:t>
            </a:r>
          </a:p>
        </p:txBody>
      </p:sp>
      <p:sp>
        <p:nvSpPr>
          <p:cNvPr id="3" name="paragraph-1">
            <a:extLst xmlns:a="http://schemas.openxmlformats.org/drawingml/2006/main">
              <a:ext uri="{FF2B5EF4-FFF2-40B4-BE49-F238E27FC236}">
                <a16:creationId xmlns:a16="http://schemas.microsoft.com/office/drawing/2014/main" id="{F4930787-09A7-4CBF-8347-3CFE594A30D0}"/>
              </a:ext>
            </a:extLst>
          </p:cNvPr>
          <p:cNvSpPr>
            <a:spLocks xmlns:a="http://schemas.openxmlformats.org/drawingml/2006/main" noGrp="1"/>
          </p:cNvSpPr>
          <p:nvPr/>
        </p:nvSpPr>
        <p:spPr>
          <a:xfrm xmlns:a="http://schemas.openxmlformats.org/drawingml/2006/main">
            <a:off x="647700" y="432435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Defer ART approximately 4-6 weeks after antifungal initiation. Stop maintenance only after ≥1 year of antifungals, absent symptoms, CD4 ≥100, and suppressed HIV RNA. Avoid routine steroids, acetazolamide, or mannitol for cryptococcal pressure management. [7]</a:t>
            </a:r>
          </a:p>
        </p:txBody>
      </p:sp>
      <p:sp>
        <p:nvSpPr>
          <p:cNvPr id="4" name="footer">
            <a:extLst xmlns:a="http://schemas.openxmlformats.org/drawingml/2006/main">
              <a:ext uri="{FF2B5EF4-FFF2-40B4-BE49-F238E27FC236}">
                <a16:creationId xmlns:a16="http://schemas.microsoft.com/office/drawing/2014/main" id="{47A92B44-80DE-48EA-B428-969506D6B50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976A2C83-1DBD-4C89-99D2-19E65EF102A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80</a:t>
            </a:r>
          </a:p>
        </p:txBody>
      </p:sp>
    </p:spTree>
    <p:extLst>
      <p:ext uri="{BB962C8B-B14F-4D97-AF65-F5344CB8AC3E}">
        <p14:creationId xmlns:p14="http://schemas.microsoft.com/office/powerpoint/2010/main" val="2044554127"/>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071221F-BE33-4437-8595-02B188173BB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Fellow and attending discussion</a:t>
            </a:r>
          </a:p>
        </p:txBody>
      </p:sp>
      <p:sp>
        <p:nvSpPr>
          <p:cNvPr id="2" name="paragraph-0">
            <a:extLst xmlns:a="http://schemas.openxmlformats.org/drawingml/2006/main">
              <a:ext uri="{FF2B5EF4-FFF2-40B4-BE49-F238E27FC236}">
                <a16:creationId xmlns:a16="http://schemas.microsoft.com/office/drawing/2014/main" id="{4017D267-E02B-4102-98C4-1AB112BF97AF}"/>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single-dose liposomal amphotericin strategy studied in African settings includes 14 days of flucytosine and high-dose fluconazole. It is not one-dose monotherapy. The care setting and monitoring requirements matter. [7]</a:t>
            </a:r>
          </a:p>
        </p:txBody>
      </p:sp>
      <p:sp>
        <p:nvSpPr>
          <p:cNvPr id="3" name="footer">
            <a:extLst xmlns:a="http://schemas.openxmlformats.org/drawingml/2006/main">
              <a:ext uri="{FF2B5EF4-FFF2-40B4-BE49-F238E27FC236}">
                <a16:creationId xmlns:a16="http://schemas.microsoft.com/office/drawing/2014/main" id="{96710EF8-CDDC-4F9A-B6F6-CC892D70716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159EADF-574E-4182-92AC-3FA1CB35F7B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81</a:t>
            </a:r>
          </a:p>
        </p:txBody>
      </p:sp>
    </p:spTree>
    <p:extLst>
      <p:ext uri="{BB962C8B-B14F-4D97-AF65-F5344CB8AC3E}">
        <p14:creationId xmlns:p14="http://schemas.microsoft.com/office/powerpoint/2010/main" val="2008200793"/>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3489663-20F1-4D84-B651-FA594F3769E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 likely toxoplasma encephalitis while preserving a path to another diagnosis</a:t>
            </a:r>
          </a:p>
        </p:txBody>
      </p:sp>
      <p:sp>
        <p:nvSpPr>
          <p:cNvPr id="2" name="paragraph-0">
            <a:extLst xmlns:a="http://schemas.openxmlformats.org/drawingml/2006/main">
              <a:ext uri="{FF2B5EF4-FFF2-40B4-BE49-F238E27FC236}">
                <a16:creationId xmlns:a16="http://schemas.microsoft.com/office/drawing/2014/main" id="{6BC22B84-6C6F-4298-B6E9-F94B7462E200}"/>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 advanced HIV, multiple enhancing lesions plus positive Toxoplasma IgG support a presumptive diagnosis. MRI is more sensitive than CT. Negative IgG or CSF PCR does not absolutely exclude disease. Consider lymphoma, TB, bacterial abscess, and fungal infection. [5]</a:t>
            </a:r>
          </a:p>
        </p:txBody>
      </p:sp>
      <p:sp>
        <p:nvSpPr>
          <p:cNvPr id="3" name="paragraph-1">
            <a:extLst xmlns:a="http://schemas.openxmlformats.org/drawingml/2006/main">
              <a:ext uri="{FF2B5EF4-FFF2-40B4-BE49-F238E27FC236}">
                <a16:creationId xmlns:a16="http://schemas.microsoft.com/office/drawing/2014/main" id="{0F474F77-BFD0-431D-ADE4-97BC6A1E6677}"/>
              </a:ext>
            </a:extLst>
          </p:cNvPr>
          <p:cNvSpPr>
            <a:spLocks xmlns:a="http://schemas.openxmlformats.org/drawingml/2006/main" noGrp="1"/>
          </p:cNvSpPr>
          <p:nvPr/>
        </p:nvSpPr>
        <p:spPr>
          <a:xfrm xmlns:a="http://schemas.openxmlformats.org/drawingml/2006/main">
            <a:off x="647700" y="3619500"/>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Preferred acute therapy is TMP-SMX at TMP 5 mg/kg plus SMX 25 mg/kg IV or PO twice daily, or pyrimethamine-sulfadiazine-leucovorin. For the latter, give pyrimethamine 200 mg once, then 50 mg daily if ≤60 kg or 75 mg daily if &gt;60 kg; sulfadiazine 1 g or 1.5 g every 6 hours respectively; leucovorin 10-25 mg daily. Treat ≥6 weeks, longer for extensive or incompletely resolved disease. [5]</a:t>
            </a:r>
          </a:p>
        </p:txBody>
      </p:sp>
      <p:sp>
        <p:nvSpPr>
          <p:cNvPr id="4" name="footer">
            <a:extLst xmlns:a="http://schemas.openxmlformats.org/drawingml/2006/main">
              <a:ext uri="{FF2B5EF4-FFF2-40B4-BE49-F238E27FC236}">
                <a16:creationId xmlns:a16="http://schemas.microsoft.com/office/drawing/2014/main" id="{404E0798-B1D9-43B3-A6A2-CE3AD99596F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225C0280-9B52-4EE7-AF4F-6775734459D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82</a:t>
            </a:r>
          </a:p>
        </p:txBody>
      </p:sp>
    </p:spTree>
    <p:extLst>
      <p:ext uri="{BB962C8B-B14F-4D97-AF65-F5344CB8AC3E}">
        <p14:creationId xmlns:p14="http://schemas.microsoft.com/office/powerpoint/2010/main" val="1210271116"/>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6B0F0D6-0438-406C-BD5C-7ADC95C545A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 likely toxoplasma encephalitis while preserving a path to another diagnosis</a:t>
            </a:r>
          </a:p>
        </p:txBody>
      </p:sp>
      <p:sp>
        <p:nvSpPr>
          <p:cNvPr id="2" name="paragraph-0">
            <a:extLst xmlns:a="http://schemas.openxmlformats.org/drawingml/2006/main">
              <a:ext uri="{FF2B5EF4-FFF2-40B4-BE49-F238E27FC236}">
                <a16:creationId xmlns:a16="http://schemas.microsoft.com/office/drawing/2014/main" id="{81051DEF-3BC3-4FC0-8227-BABCDD9959D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Reconsider the diagnosis and biopsy if deteriorating early or not improving by 10-14 days. Use steroids only for clinically important edema/mass effect; lymphoma can also improve with steroids. Treat seizures if present. [5]</a:t>
            </a:r>
          </a:p>
        </p:txBody>
      </p:sp>
      <p:sp>
        <p:nvSpPr>
          <p:cNvPr id="3" name="paragraph-1">
            <a:extLst xmlns:a="http://schemas.openxmlformats.org/drawingml/2006/main">
              <a:ext uri="{FF2B5EF4-FFF2-40B4-BE49-F238E27FC236}">
                <a16:creationId xmlns:a16="http://schemas.microsoft.com/office/drawing/2014/main" id="{08D03E19-D3DB-4F53-8A29-388D43A82979}"/>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ART often begins around 2-3 weeks; evidence for an exact interval is limited. Maintenance options include TMP-SMX DS twice daily. Stop after completed acute therapy, no symptoms, and CD4 &gt;200 for &gt;6 months on ART. [5]</a:t>
            </a:r>
          </a:p>
        </p:txBody>
      </p:sp>
      <p:sp>
        <p:nvSpPr>
          <p:cNvPr id="4" name="footer">
            <a:extLst xmlns:a="http://schemas.openxmlformats.org/drawingml/2006/main">
              <a:ext uri="{FF2B5EF4-FFF2-40B4-BE49-F238E27FC236}">
                <a16:creationId xmlns:a16="http://schemas.microsoft.com/office/drawing/2014/main" id="{3960DE7C-002C-47E7-B4A7-8E23C153A4C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6F595276-072E-4065-9D49-F5098F522BC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83</a:t>
            </a:r>
          </a:p>
        </p:txBody>
      </p:sp>
    </p:spTree>
    <p:extLst>
      <p:ext uri="{BB962C8B-B14F-4D97-AF65-F5344CB8AC3E}">
        <p14:creationId xmlns:p14="http://schemas.microsoft.com/office/powerpoint/2010/main" val="1078798079"/>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F469D2B-8A2B-4B38-B483-28D9183370D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Diagnose CMV end-organ disease in the organ involved</a:t>
            </a:r>
          </a:p>
        </p:txBody>
      </p:sp>
      <p:sp>
        <p:nvSpPr>
          <p:cNvPr id="2" name="paragraph-0">
            <a:extLst xmlns:a="http://schemas.openxmlformats.org/drawingml/2006/main">
              <a:ext uri="{FF2B5EF4-FFF2-40B4-BE49-F238E27FC236}">
                <a16:creationId xmlns:a16="http://schemas.microsoft.com/office/drawing/2014/main" id="{CA1B2303-656B-4818-8A69-7FE4F2BCD379}"/>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Retinitis requires expert retinal examination. Plasma CMV PCR neither confirms nor excludes it. GI disease generally requires compatible endoscopy and tissue evidence; shedding or DNAemia alone is insufficient. Arrange baseline ophthalmology when CD4 &lt;100 and urgent assessment for new visual symptoms. [18]</a:t>
            </a:r>
          </a:p>
        </p:txBody>
      </p:sp>
      <p:sp>
        <p:nvSpPr>
          <p:cNvPr id="3" name="paragraph-1">
            <a:extLst xmlns:a="http://schemas.openxmlformats.org/drawingml/2006/main">
              <a:ext uri="{FF2B5EF4-FFF2-40B4-BE49-F238E27FC236}">
                <a16:creationId xmlns:a16="http://schemas.microsoft.com/office/drawing/2014/main" id="{E31D6A37-7D0C-46F4-908A-27CAC8692E6B}"/>
              </a:ext>
            </a:extLst>
          </p:cNvPr>
          <p:cNvSpPr>
            <a:spLocks xmlns:a="http://schemas.openxmlformats.org/drawingml/2006/main" noGrp="1"/>
          </p:cNvSpPr>
          <p:nvPr/>
        </p:nvSpPr>
        <p:spPr>
          <a:xfrm xmlns:a="http://schemas.openxmlformats.org/drawingml/2006/main">
            <a:off x="647700" y="39719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Retinitis induction uses valganciclovir 900 mg PO twice daily or ganciclovir 5 mg/kg IV every 12 hours for 14-21 days, guided by retinal response. Sight-threatening lesions may also require intravitreal therapy. Maintenance is usually valganciclovir 900 mg daily. Adjust for renal function and monitor CBC and creatinine. [18]</a:t>
            </a:r>
          </a:p>
        </p:txBody>
      </p:sp>
      <p:sp>
        <p:nvSpPr>
          <p:cNvPr id="4" name="footer">
            <a:extLst xmlns:a="http://schemas.openxmlformats.org/drawingml/2006/main">
              <a:ext uri="{FF2B5EF4-FFF2-40B4-BE49-F238E27FC236}">
                <a16:creationId xmlns:a16="http://schemas.microsoft.com/office/drawing/2014/main" id="{B8DC1D60-22EC-4B86-895B-294F729C2B4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21BEA90B-D480-42EC-BEE1-3046CAC09DD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84</a:t>
            </a:r>
          </a:p>
        </p:txBody>
      </p:sp>
    </p:spTree>
    <p:extLst>
      <p:ext uri="{BB962C8B-B14F-4D97-AF65-F5344CB8AC3E}">
        <p14:creationId xmlns:p14="http://schemas.microsoft.com/office/powerpoint/2010/main" val="34480916"/>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F321B11-78EE-40E6-B797-BC3430A1D06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Diagnose CMV end-organ disease in the organ involved</a:t>
            </a:r>
          </a:p>
        </p:txBody>
      </p:sp>
      <p:sp>
        <p:nvSpPr>
          <p:cNvPr id="2" name="paragraph-0">
            <a:extLst xmlns:a="http://schemas.openxmlformats.org/drawingml/2006/main">
              <a:ext uri="{FF2B5EF4-FFF2-40B4-BE49-F238E27FC236}">
                <a16:creationId xmlns:a16="http://schemas.microsoft.com/office/drawing/2014/main" id="{E76FAA84-C04E-4A99-83E3-52761514AE30}"/>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colitis/esophagitis, IV ganciclovir may transition to oral valganciclovir when absorption is adequate; treat 21-42 days until clinical resolution. Maintenance is usually unnecessary after resolved GI disease unless concurrent retinitis, recurrence, or severe initial disease. Start ART within 1-2 weeks for most CMV end-organ disease. [18]</a:t>
            </a:r>
          </a:p>
        </p:txBody>
      </p:sp>
      <p:sp>
        <p:nvSpPr>
          <p:cNvPr id="3" name="paragraph-1">
            <a:extLst xmlns:a="http://schemas.openxmlformats.org/drawingml/2006/main">
              <a:ext uri="{FF2B5EF4-FFF2-40B4-BE49-F238E27FC236}">
                <a16:creationId xmlns:a16="http://schemas.microsoft.com/office/drawing/2014/main" id="{6B8B4E0F-0546-4F5A-ABE2-3D5049AED474}"/>
              </a:ext>
            </a:extLst>
          </p:cNvPr>
          <p:cNvSpPr>
            <a:spLocks xmlns:a="http://schemas.openxmlformats.org/drawingml/2006/main" noGrp="1"/>
          </p:cNvSpPr>
          <p:nvPr/>
        </p:nvSpPr>
        <p:spPr>
          <a:xfrm xmlns:a="http://schemas.openxmlformats.org/drawingml/2006/main">
            <a:off x="647700" y="39719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Retinitis maintenance can stop with ophthalmology after ≥3 months of therapy, inactive lesions, and CD4 ≥100 for ≥3 months on ART. Do not prescribe valganciclovir primary prophylaxis solely for low CD4 or positive blood PCR. [18]</a:t>
            </a:r>
          </a:p>
        </p:txBody>
      </p:sp>
      <p:sp>
        <p:nvSpPr>
          <p:cNvPr id="4" name="footer">
            <a:extLst xmlns:a="http://schemas.openxmlformats.org/drawingml/2006/main">
              <a:ext uri="{FF2B5EF4-FFF2-40B4-BE49-F238E27FC236}">
                <a16:creationId xmlns:a16="http://schemas.microsoft.com/office/drawing/2014/main" id="{83284F33-13AE-4EAE-97A5-B0C78B745FA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A513E108-6947-4BC0-8D6E-FDE664001F1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85</a:t>
            </a:r>
          </a:p>
        </p:txBody>
      </p:sp>
    </p:spTree>
    <p:extLst>
      <p:ext uri="{BB962C8B-B14F-4D97-AF65-F5344CB8AC3E}">
        <p14:creationId xmlns:p14="http://schemas.microsoft.com/office/powerpoint/2010/main" val="44498049"/>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E097CCB-E96F-4EF4-8C8D-78ED3381E43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Disseminated MAC</a:t>
            </a:r>
          </a:p>
        </p:txBody>
      </p:sp>
      <p:sp>
        <p:nvSpPr>
          <p:cNvPr id="2" name="paragraph-0">
            <a:extLst xmlns:a="http://schemas.openxmlformats.org/drawingml/2006/main">
              <a:ext uri="{FF2B5EF4-FFF2-40B4-BE49-F238E27FC236}">
                <a16:creationId xmlns:a16="http://schemas.microsoft.com/office/drawing/2014/main" id="{1A1A2990-AEBF-46E9-B700-E03161136BF6}"/>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Obtain mycobacterial blood culture or involved-tissue culture and macrolide susceptibility. A respiratory isolate alone does not establish disseminated disease. Use clarithromycin 500 mg PO twice daily plus ethambutol 15 mg/kg daily; azithromycin 500-600 mg daily is an alternative when interactions, intolerance, or adherence preclude clarithromycin. Consider rifabutin as a third agent in severe/high-burden disease or without viral suppression, adjusting for ART interactions. Start ART promptly, preferably with MAC treatment. [17]</a:t>
            </a:r>
          </a:p>
        </p:txBody>
      </p:sp>
      <p:sp>
        <p:nvSpPr>
          <p:cNvPr id="3" name="footer">
            <a:extLst xmlns:a="http://schemas.openxmlformats.org/drawingml/2006/main">
              <a:ext uri="{FF2B5EF4-FFF2-40B4-BE49-F238E27FC236}">
                <a16:creationId xmlns:a16="http://schemas.microsoft.com/office/drawing/2014/main" id="{9F11E90C-9455-44CF-A6BC-DBF88935752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C59B320-8D3E-45E6-BD92-FE8F6765689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86</a:t>
            </a:r>
          </a:p>
        </p:txBody>
      </p:sp>
    </p:spTree>
    <p:extLst>
      <p:ext uri="{BB962C8B-B14F-4D97-AF65-F5344CB8AC3E}">
        <p14:creationId xmlns:p14="http://schemas.microsoft.com/office/powerpoint/2010/main" val="340782121"/>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8663189-ED92-4C96-B2DB-DF72973C123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Disseminated MAC</a:t>
            </a:r>
          </a:p>
        </p:txBody>
      </p:sp>
      <p:sp>
        <p:nvSpPr>
          <p:cNvPr id="2" name="paragraph-0">
            <a:extLst xmlns:a="http://schemas.openxmlformats.org/drawingml/2006/main">
              <a:ext uri="{FF2B5EF4-FFF2-40B4-BE49-F238E27FC236}">
                <a16:creationId xmlns:a16="http://schemas.microsoft.com/office/drawing/2014/main" id="{3410BAAE-3891-44C4-AA00-1D4889FA7343}"/>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Treat ≥12 months and until asymptomatic with CD4 &gt;100 for ≥6 months on ART. Follow vision/color discrimination with ethambutol, liver tests, QT/interactions, and clinical response. Persistent symptoms require reassessment of cultures, resistance, another infection, lymphoma, or IRIS. [17]</a:t>
            </a:r>
          </a:p>
        </p:txBody>
      </p:sp>
      <p:sp>
        <p:nvSpPr>
          <p:cNvPr id="3" name="footer">
            <a:extLst xmlns:a="http://schemas.openxmlformats.org/drawingml/2006/main">
              <a:ext uri="{FF2B5EF4-FFF2-40B4-BE49-F238E27FC236}">
                <a16:creationId xmlns:a16="http://schemas.microsoft.com/office/drawing/2014/main" id="{C8ACE0CC-43B3-4635-AAE2-79BE7A42E96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E51A343-768B-4ECA-9013-D78E9A957A0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87</a:t>
            </a:r>
          </a:p>
        </p:txBody>
      </p:sp>
    </p:spTree>
    <p:extLst>
      <p:ext uri="{BB962C8B-B14F-4D97-AF65-F5344CB8AC3E}">
        <p14:creationId xmlns:p14="http://schemas.microsoft.com/office/powerpoint/2010/main" val="1511013273"/>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1354897-310D-4C28-AADE-981A705846C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Disseminated histoplasmosis</a:t>
            </a:r>
          </a:p>
        </p:txBody>
      </p:sp>
      <p:sp>
        <p:nvSpPr>
          <p:cNvPr id="2" name="paragraph-0">
            <a:extLst xmlns:a="http://schemas.openxmlformats.org/drawingml/2006/main">
              <a:ext uri="{FF2B5EF4-FFF2-40B4-BE49-F238E27FC236}">
                <a16:creationId xmlns:a16="http://schemas.microsoft.com/office/drawing/2014/main" id="{090D13F9-C035-4CC2-ADFC-5A961AFA59E4}"/>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Consider with fever, weight loss, cytopenias, hepatosplenomegaly, or elevated alkaline phosphatase, especially in the Mississippi/Ohio River valleys. Send urine/serum antigen and obtain fungal cultures or tissue when indicated; antigen cross-reactivity can limit specificity. [19]</a:t>
            </a:r>
          </a:p>
        </p:txBody>
      </p:sp>
      <p:sp>
        <p:nvSpPr>
          <p:cNvPr id="3" name="footer">
            <a:extLst xmlns:a="http://schemas.openxmlformats.org/drawingml/2006/main">
              <a:ext uri="{FF2B5EF4-FFF2-40B4-BE49-F238E27FC236}">
                <a16:creationId xmlns:a16="http://schemas.microsoft.com/office/drawing/2014/main" id="{7642FA73-C2AA-4E1A-A4A8-3B6EDFECA40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ECC0D09-B429-46E6-8928-7BF2A11AAFC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88</a:t>
            </a:r>
          </a:p>
        </p:txBody>
      </p:sp>
    </p:spTree>
    <p:extLst>
      <p:ext uri="{BB962C8B-B14F-4D97-AF65-F5344CB8AC3E}">
        <p14:creationId xmlns:p14="http://schemas.microsoft.com/office/powerpoint/2010/main" val="1331168769"/>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8F70731-B6EE-48E9-84C8-965936FC0A8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Disseminated histoplasmosis</a:t>
            </a:r>
          </a:p>
        </p:txBody>
      </p:sp>
      <p:sp>
        <p:nvSpPr>
          <p:cNvPr id="2" name="paragraph-0">
            <a:extLst xmlns:a="http://schemas.openxmlformats.org/drawingml/2006/main">
              <a:ext uri="{FF2B5EF4-FFF2-40B4-BE49-F238E27FC236}">
                <a16:creationId xmlns:a16="http://schemas.microsoft.com/office/drawing/2014/main" id="{35B2D96A-6083-469A-9561-EBF264490BEA}"/>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Severe disease: liposomal amphotericin B 3 mg/kg IV daily for ≥2 weeks or until improved, then itraconazole 200 mg PO three times daily for 3 days followed by twice daily for ≥12 months. Mild/moderate disease can start itraconazole. Check formulation, interactions, levels after about 2 weeks, liver tests, and serial antigen. CNS disease requires a different, longer amphotericin induction. Start ART promptly after antifungals. [19]</a:t>
            </a:r>
          </a:p>
        </p:txBody>
      </p:sp>
      <p:sp>
        <p:nvSpPr>
          <p:cNvPr id="3" name="footer">
            <a:extLst xmlns:a="http://schemas.openxmlformats.org/drawingml/2006/main">
              <a:ext uri="{FF2B5EF4-FFF2-40B4-BE49-F238E27FC236}">
                <a16:creationId xmlns:a16="http://schemas.microsoft.com/office/drawing/2014/main" id="{251F03E6-64B2-40E7-9C48-A2601E9D8B2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052C1C3-5649-4546-BEAE-FD33B86E61E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89</a:t>
            </a:r>
          </a:p>
        </p:txBody>
      </p:sp>
    </p:spTree>
    <p:extLst>
      <p:ext uri="{BB962C8B-B14F-4D97-AF65-F5344CB8AC3E}">
        <p14:creationId xmlns:p14="http://schemas.microsoft.com/office/powerpoint/2010/main" val="14977579"/>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DA43041-CE52-4269-9254-946C654252D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Tuberculosis</a:t>
            </a:r>
          </a:p>
        </p:txBody>
      </p:sp>
      <p:sp>
        <p:nvSpPr>
          <p:cNvPr id="2" name="paragraph-0">
            <a:extLst xmlns:a="http://schemas.openxmlformats.org/drawingml/2006/main">
              <a:ext uri="{FF2B5EF4-FFF2-40B4-BE49-F238E27FC236}">
                <a16:creationId xmlns:a16="http://schemas.microsoft.com/office/drawing/2014/main" id="{C9527549-9689-45F1-AEB3-0627B92FFFF3}"/>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airborne precautions for suspected pulmonary/laryngeal TB; obtain respiratory AFB smear, culture, NAAT and resistance testing. A negative IGRA does not exclude disease. Standard susceptible-TB therapy uses isoniazid, rifampin, pyrazinamide, and ethambutol initially, then isoniazid/rifampin when eligibility is established. Rifamycin-ART interactions must be resolved before prescribing. [3]</a:t>
            </a:r>
          </a:p>
        </p:txBody>
      </p:sp>
      <p:sp>
        <p:nvSpPr>
          <p:cNvPr id="3" name="paragraph-1">
            <a:extLst xmlns:a="http://schemas.openxmlformats.org/drawingml/2006/main">
              <a:ext uri="{FF2B5EF4-FFF2-40B4-BE49-F238E27FC236}">
                <a16:creationId xmlns:a16="http://schemas.microsoft.com/office/drawing/2014/main" id="{9F8AECF0-673D-4D40-BB46-5814A4950549}"/>
              </a:ext>
            </a:extLst>
          </p:cNvPr>
          <p:cNvSpPr>
            <a:spLocks xmlns:a="http://schemas.openxmlformats.org/drawingml/2006/main" noGrp="1"/>
          </p:cNvSpPr>
          <p:nvPr/>
        </p:nvSpPr>
        <p:spPr>
          <a:xfrm xmlns:a="http://schemas.openxmlformats.org/drawingml/2006/main">
            <a:off x="647700" y="432435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Without meningitis, start ART within 2 weeks if CD4 &lt;50 and within 2-8 weeks if ≥50. TB meningitis needs a separate decision: NIH permits ART after ≥2 weeks once controlled, while ATS/CDC/IDSA guidance has favored waiting 8 weeks. Document the rationale with the TB team. [3]</a:t>
            </a:r>
          </a:p>
        </p:txBody>
      </p:sp>
      <p:sp>
        <p:nvSpPr>
          <p:cNvPr id="4" name="footer">
            <a:extLst xmlns:a="http://schemas.openxmlformats.org/drawingml/2006/main">
              <a:ext uri="{FF2B5EF4-FFF2-40B4-BE49-F238E27FC236}">
                <a16:creationId xmlns:a16="http://schemas.microsoft.com/office/drawing/2014/main" id="{BACF8747-474E-4D76-845C-81189DA81B4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BCBBD3CA-46F3-475A-A5E6-1739455127C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90</a:t>
            </a:r>
          </a:p>
        </p:txBody>
      </p:sp>
    </p:spTree>
    <p:extLst>
      <p:ext uri="{BB962C8B-B14F-4D97-AF65-F5344CB8AC3E}">
        <p14:creationId xmlns:p14="http://schemas.microsoft.com/office/powerpoint/2010/main" val="936291568"/>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98589B0-C485-459B-9D8F-34AC488FC99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Tuberculosis</a:t>
            </a:r>
          </a:p>
        </p:txBody>
      </p:sp>
      <p:sp>
        <p:nvSpPr>
          <p:cNvPr id="2" name="paragraph-0">
            <a:extLst xmlns:a="http://schemas.openxmlformats.org/drawingml/2006/main">
              <a:ext uri="{FF2B5EF4-FFF2-40B4-BE49-F238E27FC236}">
                <a16:creationId xmlns:a16="http://schemas.microsoft.com/office/drawing/2014/main" id="{DA9A2815-1970-4EAF-9947-026A20E8EAF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Open the TB module for doses, duration exceptions, latent infection, resistant TB, and newer regimens.</a:t>
            </a:r>
          </a:p>
        </p:txBody>
      </p:sp>
      <p:sp>
        <p:nvSpPr>
          <p:cNvPr id="3" name="footer">
            <a:extLst xmlns:a="http://schemas.openxmlformats.org/drawingml/2006/main">
              <a:ext uri="{FF2B5EF4-FFF2-40B4-BE49-F238E27FC236}">
                <a16:creationId xmlns:a16="http://schemas.microsoft.com/office/drawing/2014/main" id="{D792E6DE-5952-4A45-816C-BE5B2BA6B79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D1B9A0C-A11E-4C44-8DD7-2CED84F3F53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91</a:t>
            </a:r>
          </a:p>
        </p:txBody>
      </p:sp>
    </p:spTree>
    <p:extLst>
      <p:ext uri="{BB962C8B-B14F-4D97-AF65-F5344CB8AC3E}">
        <p14:creationId xmlns:p14="http://schemas.microsoft.com/office/powerpoint/2010/main" val="869794313"/>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B1BDD3B-319A-4EC9-B9D0-AA612943EB1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Mucosal, enteric, neurologic, and related infections need distinct diagnostic pathways</a:t>
            </a:r>
          </a:p>
        </p:txBody>
      </p:sp>
      <p:graphicFrame>
        <p:nvGraphicFramePr>
          <p:cNvPr id="2" name="">
            <a:extLst xmlns:a="http://schemas.openxmlformats.org/drawingml/2006/main">
              <a:ext uri="{FF2B5EF4-FFF2-40B4-BE49-F238E27FC236}">
                <a16:creationId xmlns:a16="http://schemas.microsoft.com/office/drawing/2014/main" id="{1D24CE0C-A1BD-487F-99A9-D07F50C7EFEB}"/>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Esophageal candidiasis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Diagnosis and treatment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Systemic fluconazole, 200 mg loading then 100-200 mg daily (up to 400 mg), for 14-21 days. Oral suspension can help swallowing.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Decision that changes 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 improvement within about 7 days warrants endoscopy, culture/speciation, and biopsy for CMV/HSV or another cause. Topical therapy is inadequate. [21]</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44E0B1D-486C-4A93-8EED-FB5B9853C95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1DF47EE-5C35-4E7A-949F-C6F8E40F6BC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92</a:t>
            </a:r>
          </a:p>
        </p:txBody>
      </p:sp>
    </p:spTree>
    <p:extLst>
      <p:ext uri="{BB962C8B-B14F-4D97-AF65-F5344CB8AC3E}">
        <p14:creationId xmlns:p14="http://schemas.microsoft.com/office/powerpoint/2010/main" val="694954842"/>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AEA2AB2-5048-4857-99E9-9B94C24C541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Mucosal, enteric, neurologic, and related infections need distinct diagnostic pathways</a:t>
            </a:r>
          </a:p>
        </p:txBody>
      </p:sp>
      <p:graphicFrame>
        <p:nvGraphicFramePr>
          <p:cNvPr id="2" name="">
            <a:extLst xmlns:a="http://schemas.openxmlformats.org/drawingml/2006/main">
              <a:ext uri="{FF2B5EF4-FFF2-40B4-BE49-F238E27FC236}">
                <a16:creationId xmlns:a16="http://schemas.microsoft.com/office/drawing/2014/main" id="{F6A39DB9-F447-4A22-8F37-DB08CAAA0615}"/>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Cryptosporidiosis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Diagnosis and treatment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Stool antigen, PCR, or appropriate stain; rehydration, electrolyte replacement, and effective ART are central. Nitazoxanide 500-1,000 mg twice daily with food for ≥14 days may be considered.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Decision that changes 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Drug evidence in advanced HIV is limited. Do not substitute antiparasitic therapy for immune restoration. [22]</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4055845-30E1-44B9-8372-E6F8F85414C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82938E3-8198-45B7-BA16-8EF2BB363D8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93</a:t>
            </a:r>
          </a:p>
        </p:txBody>
      </p:sp>
    </p:spTree>
    <p:extLst>
      <p:ext uri="{BB962C8B-B14F-4D97-AF65-F5344CB8AC3E}">
        <p14:creationId xmlns:p14="http://schemas.microsoft.com/office/powerpoint/2010/main" val="852007248"/>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FAF5A99-B53D-46FA-B127-9CA970D2B1A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Mucosal, enteric, neurologic, and related infections need distinct diagnostic pathways</a:t>
            </a:r>
          </a:p>
        </p:txBody>
      </p:sp>
      <p:graphicFrame>
        <p:nvGraphicFramePr>
          <p:cNvPr id="2" name="">
            <a:extLst xmlns:a="http://schemas.openxmlformats.org/drawingml/2006/main">
              <a:ext uri="{FF2B5EF4-FFF2-40B4-BE49-F238E27FC236}">
                <a16:creationId xmlns:a16="http://schemas.microsoft.com/office/drawing/2014/main" id="{7D8A3BAD-8CDD-4864-8FA3-96CACEA04966}"/>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Cystoisosporiasis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Diagnosis and treatment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Request appropriate stool testing; routine multiplex panels may omit it. TMP-SMX DS twice daily for 7 days or four times daily for 10 days.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Decision that changes 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Persistent disease may need longer/higher-dose treatment; maintenance TMP-SMX is used with CD4 &lt;200. [23]</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E280E82-2524-4EEF-8397-74D95AE2CC0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227B610-1116-47DA-AFC7-E4E92E1510D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94</a:t>
            </a:r>
          </a:p>
        </p:txBody>
      </p:sp>
    </p:spTree>
    <p:extLst>
      <p:ext uri="{BB962C8B-B14F-4D97-AF65-F5344CB8AC3E}">
        <p14:creationId xmlns:p14="http://schemas.microsoft.com/office/powerpoint/2010/main" val="51823409"/>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6B58955-8875-4A75-9275-0153FD78930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Mucosal, enteric, neurologic, and related infections need distinct diagnostic pathways</a:t>
            </a:r>
          </a:p>
        </p:txBody>
      </p:sp>
      <p:graphicFrame>
        <p:nvGraphicFramePr>
          <p:cNvPr id="2" name="">
            <a:extLst xmlns:a="http://schemas.openxmlformats.org/drawingml/2006/main">
              <a:ext uri="{FF2B5EF4-FFF2-40B4-BE49-F238E27FC236}">
                <a16:creationId xmlns:a16="http://schemas.microsoft.com/office/drawing/2014/main" id="{114A1C05-5CDE-4FC2-AE8D-478A6DBA896A}"/>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Microsporidiosis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Diagnosis and treatment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Special stool studies or tissue testing; ART and supportive care. Treatment depends on species.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Decision that changes 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Albendazole is active for several species but is unreliable for Enterocytozoon bieneusi; confirm species and specialist access options. [24]</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9A5EDAA-66F2-45C5-9188-38E4987075B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3C9C273-1B22-4BD9-AC77-C87509F00EC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95</a:t>
            </a:r>
          </a:p>
        </p:txBody>
      </p:sp>
    </p:spTree>
    <p:extLst>
      <p:ext uri="{BB962C8B-B14F-4D97-AF65-F5344CB8AC3E}">
        <p14:creationId xmlns:p14="http://schemas.microsoft.com/office/powerpoint/2010/main" val="1372068031"/>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4A8F616-5003-404A-B7ED-A0900DD6BAC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Mucosal, enteric, neurologic, and related infections need distinct diagnostic pathways</a:t>
            </a:r>
          </a:p>
        </p:txBody>
      </p:sp>
      <p:graphicFrame>
        <p:nvGraphicFramePr>
          <p:cNvPr id="2" name="">
            <a:extLst xmlns:a="http://schemas.openxmlformats.org/drawingml/2006/main">
              <a:ext uri="{FF2B5EF4-FFF2-40B4-BE49-F238E27FC236}">
                <a16:creationId xmlns:a16="http://schemas.microsoft.com/office/drawing/2014/main" id="{F2E31B5B-E48E-4515-8BA2-7C862A6DE618}"/>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PML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Diagnosis and treatment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Progressive focal deficits, characteristic white-matter MRI lesions, and CSF JCV PCR. Repeat testing or biopsy if suspicion remains despite negative PCR.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Decision that changes 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Initiate effective ART immediately. No established JCV-directed antiviral treatment; edema-producing PML-IRIS may require steroids. [20]</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AE60C9F-A85E-4CD5-AC8B-E2F378635B9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548985D-2742-4125-90F0-D511391AF5F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96</a:t>
            </a:r>
          </a:p>
        </p:txBody>
      </p:sp>
    </p:spTree>
    <p:extLst>
      <p:ext uri="{BB962C8B-B14F-4D97-AF65-F5344CB8AC3E}">
        <p14:creationId xmlns:p14="http://schemas.microsoft.com/office/powerpoint/2010/main" val="108279209"/>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C711673-9728-4DCE-B6BF-300759C7470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Mucosal, enteric, neurologic, and related infections need distinct diagnostic pathways</a:t>
            </a:r>
          </a:p>
        </p:txBody>
      </p:sp>
      <p:graphicFrame>
        <p:nvGraphicFramePr>
          <p:cNvPr id="2" name="">
            <a:extLst xmlns:a="http://schemas.openxmlformats.org/drawingml/2006/main">
              <a:ext uri="{FF2B5EF4-FFF2-40B4-BE49-F238E27FC236}">
                <a16:creationId xmlns:a16="http://schemas.microsoft.com/office/drawing/2014/main" id="{BF24B79B-625B-47FB-B3DE-5C49921DDDC6}"/>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Severe HSV or disseminated VZV</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Diagnosis and treatment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Lesion PCR and organ-directed testing. Severe HSV often requires IV acyclovir 10 mg/kg every 8 hours; extensive/disseminated VZV also requires IV therapy.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Decision that changes 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Adjust for renal function, hydrate, assess CNS/ocular involvement. Nonhealing HSV despite therapy raises resistance; obtain culture/susceptibility and expert treatment. [25] [26]</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ECDB084-483B-4A60-9920-6F2679C5CAC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7AFB4B3-25A3-4651-B768-EAC1934B454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97</a:t>
            </a:r>
          </a:p>
        </p:txBody>
      </p:sp>
    </p:spTree>
    <p:extLst>
      <p:ext uri="{BB962C8B-B14F-4D97-AF65-F5344CB8AC3E}">
        <p14:creationId xmlns:p14="http://schemas.microsoft.com/office/powerpoint/2010/main" val="1008128214"/>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2BF9F87-17F6-4C3E-B35C-E7DB76CC978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Mucosal, enteric, neurologic, and related infections need distinct diagnostic pathways</a:t>
            </a:r>
          </a:p>
        </p:txBody>
      </p:sp>
      <p:graphicFrame>
        <p:nvGraphicFramePr>
          <p:cNvPr id="2" name="">
            <a:extLst xmlns:a="http://schemas.openxmlformats.org/drawingml/2006/main">
              <a:ext uri="{FF2B5EF4-FFF2-40B4-BE49-F238E27FC236}">
                <a16:creationId xmlns:a16="http://schemas.microsoft.com/office/drawing/2014/main" id="{332BFAF2-AC08-4026-B929-FE73F66F30C2}"/>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Bacterial pneumonia or sepsis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Diagnosis and treatment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Standard syndrome-based cultures, imaging, resuscitation, and antibiotics. Broaden for documented resistant-organism risk or severe disease.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Decision that changes 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HIV alone does not justify indefinite MRSA or antipseudomonal therapy. Consider simultaneous PCP/TB and obtain source control when needed. [27]</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7A5AB50-20E2-4342-B64C-6A782CD164D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F25441D-09A3-47AF-9362-1322473D6AF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98</a:t>
            </a:r>
          </a:p>
        </p:txBody>
      </p:sp>
    </p:spTree>
    <p:extLst>
      <p:ext uri="{BB962C8B-B14F-4D97-AF65-F5344CB8AC3E}">
        <p14:creationId xmlns:p14="http://schemas.microsoft.com/office/powerpoint/2010/main" val="961512197"/>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D630808-C369-429B-962D-10157A50456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Mucosal, enteric, neurologic, and related infections need distinct diagnostic pathways</a:t>
            </a:r>
          </a:p>
        </p:txBody>
      </p:sp>
      <p:graphicFrame>
        <p:nvGraphicFramePr>
          <p:cNvPr id="2" name="">
            <a:extLst xmlns:a="http://schemas.openxmlformats.org/drawingml/2006/main">
              <a:ext uri="{FF2B5EF4-FFF2-40B4-BE49-F238E27FC236}">
                <a16:creationId xmlns:a16="http://schemas.microsoft.com/office/drawing/2014/main" id="{D8A19885-95CC-456A-A7AC-B46B97CB50DC}"/>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Syphilis, including ocular or neurologic disease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Diagnosis and treatment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Interpret treponemal/nontreponemal tests with prior treatment and symptoms. Stage-appropriate therapy generally matches treatment without HIV.</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Decision that changes management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Ocular, otic, or neurologic disease changes evaluation and treatment. Neurosyphilis uses aqueous penicillin G 18-24 million units/day IV for 10-14 days; benzathine penicillin alone is inadequate. [28]</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FD100E8-3ED5-404F-A7E9-0BBEB0EA1DD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CC81A38-F87E-49A9-B49A-65B0C3550F0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99</a:t>
            </a:r>
          </a:p>
        </p:txBody>
      </p:sp>
    </p:spTree>
    <p:extLst>
      <p:ext uri="{BB962C8B-B14F-4D97-AF65-F5344CB8AC3E}">
        <p14:creationId xmlns:p14="http://schemas.microsoft.com/office/powerpoint/2010/main" val="1636716744"/>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C91A45F-C4C1-4F75-9989-2D40C0FA133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Mucosal, enteric, neurologic, and related infections need distinct diagnostic pathways</a:t>
            </a:r>
          </a:p>
        </p:txBody>
      </p:sp>
      <p:sp>
        <p:nvSpPr>
          <p:cNvPr id="2" name="paragraph-0">
            <a:extLst xmlns:a="http://schemas.openxmlformats.org/drawingml/2006/main">
              <a:ext uri="{FF2B5EF4-FFF2-40B4-BE49-F238E27FC236}">
                <a16:creationId xmlns:a16="http://schemas.microsoft.com/office/drawing/2014/main" id="{9BCE8081-B5CA-4923-84DE-C1C036F572B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Kaposi sarcoma, lymphoma, medication toxicity, inflammatory disease, and ordinary community infections belong in the differential. A positive low-specificity test should not prevent tissue diagnosis when the clinical picture is inconsistent.</a:t>
            </a:r>
          </a:p>
        </p:txBody>
      </p:sp>
      <p:sp>
        <p:nvSpPr>
          <p:cNvPr id="3" name="footer">
            <a:extLst xmlns:a="http://schemas.openxmlformats.org/drawingml/2006/main">
              <a:ext uri="{FF2B5EF4-FFF2-40B4-BE49-F238E27FC236}">
                <a16:creationId xmlns:a16="http://schemas.microsoft.com/office/drawing/2014/main" id="{06F4E6A0-92CF-471F-A0DE-89ABEBF6819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FD707B6-F6AC-4DEC-AD7F-6FF97AD722F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100</a:t>
            </a:r>
          </a:p>
        </p:txBody>
      </p:sp>
    </p:spTree>
    <p:extLst>
      <p:ext uri="{BB962C8B-B14F-4D97-AF65-F5344CB8AC3E}">
        <p14:creationId xmlns:p14="http://schemas.microsoft.com/office/powerpoint/2010/main" val="482648711"/>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C9663EB-FA0E-4E3F-9CCE-57FFB557865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prevention of a first OI from suppression after treatment</a:t>
            </a:r>
          </a:p>
        </p:txBody>
      </p:sp>
      <p:graphicFrame>
        <p:nvGraphicFramePr>
          <p:cNvPr id="2" name="">
            <a:extLst xmlns:a="http://schemas.openxmlformats.org/drawingml/2006/main">
              <a:ext uri="{FF2B5EF4-FFF2-40B4-BE49-F238E27FC236}">
                <a16:creationId xmlns:a16="http://schemas.microsoft.com/office/drawing/2014/main" id="{C0E09D5A-687A-41D8-8841-59D47D3B40BA}"/>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PCP: not on ART or starting ART with CD4 &lt;200</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TMP-SMX DS or SS daily; DS daily also preferred if Toxoplasma prophylaxis is needed.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Stopping or reassessing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Usually stop when CD4 ≥200 for ≥3 months on ART. Consider stopping at 100-200 only with sustained undetectable RNA for 3-6 months. For patients on ART, restart if CD4 &lt;100 regardless of RNA, or 100-200 with consistently detectable RNA. [6]</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48CB8CE-A1BA-426C-8B9B-547C72233F8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FC25D86-A689-4815-BC41-6327E42DA7A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101</a:t>
            </a:r>
          </a:p>
        </p:txBody>
      </p:sp>
    </p:spTree>
    <p:extLst>
      <p:ext uri="{BB962C8B-B14F-4D97-AF65-F5344CB8AC3E}">
        <p14:creationId xmlns:p14="http://schemas.microsoft.com/office/powerpoint/2010/main" val="416521419"/>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37FC1A4-3540-45A3-8EA5-CBD77EFFC66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prevention of a first OI from suppression after treatment</a:t>
            </a:r>
          </a:p>
        </p:txBody>
      </p:sp>
      <p:graphicFrame>
        <p:nvGraphicFramePr>
          <p:cNvPr id="2" name="">
            <a:extLst xmlns:a="http://schemas.openxmlformats.org/drawingml/2006/main">
              <a:ext uri="{FF2B5EF4-FFF2-40B4-BE49-F238E27FC236}">
                <a16:creationId xmlns:a16="http://schemas.microsoft.com/office/drawing/2014/main" id="{4A4489D1-4176-485B-89DE-9EB9416DF48A}"/>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Toxoplasma IgG positive and CD4 &lt;100</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TMP-SMX DS daily. Dapsone alone and aerosolized pentamidine do not provide Toxoplasma protection.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Stopping or reassessing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Primary prophylaxis can stop after CD4 &gt;200 for &gt;3 months with sustained suppression. At CD4 100-200, stopping can be considered after HIV RNA remains undetectable for 3-6 months. These criteria do not apply to secondary prophylaxis. [5]</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12EFCB6-6509-4366-9484-4874CB64A64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408E39E-E79B-4192-83AE-060021ADB43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102</a:t>
            </a:r>
          </a:p>
        </p:txBody>
      </p:sp>
    </p:spTree>
    <p:extLst>
      <p:ext uri="{BB962C8B-B14F-4D97-AF65-F5344CB8AC3E}">
        <p14:creationId xmlns:p14="http://schemas.microsoft.com/office/powerpoint/2010/main" val="912757092"/>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E25D7C8-1BEC-422B-B84A-FC98EBB98B9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prevention of a first OI from suppression after treatment</a:t>
            </a:r>
          </a:p>
        </p:txBody>
      </p:sp>
      <p:graphicFrame>
        <p:nvGraphicFramePr>
          <p:cNvPr id="2" name="">
            <a:extLst xmlns:a="http://schemas.openxmlformats.org/drawingml/2006/main">
              <a:ext uri="{FF2B5EF4-FFF2-40B4-BE49-F238E27FC236}">
                <a16:creationId xmlns:a16="http://schemas.microsoft.com/office/drawing/2014/main" id="{6C97B10F-B0F3-4576-89D8-CA01FE5B581E}"/>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CD4 &lt;50 and no effective ART or persistent viremia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Give MAC prophylaxis, commonly azithromycin 1,200 mg weekly, when these criteria are met and active MAC has been excluded.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Stopping or reassessing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Not recommended when immediately starting effective ART. If mycobacterial blood culture is obtained to exclude disease, wait for the result before prophylaxis. [17]</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ABCFF53-05A7-4557-94BF-4E3B290D9C6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6FC0945-121E-4176-A5A2-578566A8E1E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103</a:t>
            </a:r>
          </a:p>
        </p:txBody>
      </p:sp>
    </p:spTree>
    <p:extLst>
      <p:ext uri="{BB962C8B-B14F-4D97-AF65-F5344CB8AC3E}">
        <p14:creationId xmlns:p14="http://schemas.microsoft.com/office/powerpoint/2010/main" val="1298959303"/>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8F9E664-3E11-4979-B213-5BC1A7104F9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prevention of a first OI from suppression after treatment</a:t>
            </a:r>
          </a:p>
        </p:txBody>
      </p:sp>
      <p:graphicFrame>
        <p:nvGraphicFramePr>
          <p:cNvPr id="2" name="">
            <a:extLst xmlns:a="http://schemas.openxmlformats.org/drawingml/2006/main">
              <a:ext uri="{FF2B5EF4-FFF2-40B4-BE49-F238E27FC236}">
                <a16:creationId xmlns:a16="http://schemas.microsoft.com/office/drawing/2014/main" id="{4C01E246-F7FF-4896-B458-A8DA062126E3}"/>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New HIV diagnosis and CD4 ≤200</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Screen serum CrAg, particularly if CD4 ≤50. Positive antigen requires assessment for CNS disease and treatment.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Stopping or reassessing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 routine fluconazole primary prophylaxis in U.S. patients with negative CrAg. [7]</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FB6DF6D-DC16-45DD-8F3A-3ABCD53863B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54AC912-2732-40A7-A0B5-F057B443FDA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104</a:t>
            </a:r>
          </a:p>
        </p:txBody>
      </p:sp>
    </p:spTree>
    <p:extLst>
      <p:ext uri="{BB962C8B-B14F-4D97-AF65-F5344CB8AC3E}">
        <p14:creationId xmlns:p14="http://schemas.microsoft.com/office/powerpoint/2010/main" val="1684449086"/>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5FDD9B2-E2EA-4845-82FC-5F3B2D506FF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prevention of a first OI from suppression after treatment</a:t>
            </a:r>
          </a:p>
        </p:txBody>
      </p:sp>
      <p:graphicFrame>
        <p:nvGraphicFramePr>
          <p:cNvPr id="2" name="">
            <a:extLst xmlns:a="http://schemas.openxmlformats.org/drawingml/2006/main">
              <a:ext uri="{FF2B5EF4-FFF2-40B4-BE49-F238E27FC236}">
                <a16:creationId xmlns:a16="http://schemas.microsoft.com/office/drawing/2014/main" id="{9493DE5F-C1E4-4767-8CEC-520AA70A105C}"/>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Low CD4 in a Histoplasma-endemic region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Exposure reduction and rapid ART. Itraconazole primary prophylaxis is reserved for CD4 &lt;150 plus high-risk occupational exposure or a community incidence &gt;10 cases per 100 person-years.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Stopping or reassessing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Residence in Missouri alone is not a blanket indication for itraconazole. [19]</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0029400-5F1C-4488-9FEA-79767ABCC05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F0A37F9-5D70-480D-B3DC-8482944A2BB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105</a:t>
            </a:r>
          </a:p>
        </p:txBody>
      </p:sp>
    </p:spTree>
    <p:extLst>
      <p:ext uri="{BB962C8B-B14F-4D97-AF65-F5344CB8AC3E}">
        <p14:creationId xmlns:p14="http://schemas.microsoft.com/office/powerpoint/2010/main" val="1610458349"/>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6BF1834-30F7-4EFA-A140-4ED56D252F4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prevention of a first OI from suppression after treatment</a:t>
            </a:r>
          </a:p>
        </p:txBody>
      </p:sp>
      <p:graphicFrame>
        <p:nvGraphicFramePr>
          <p:cNvPr id="2" name="">
            <a:extLst xmlns:a="http://schemas.openxmlformats.org/drawingml/2006/main">
              <a:ext uri="{FF2B5EF4-FFF2-40B4-BE49-F238E27FC236}">
                <a16:creationId xmlns:a16="http://schemas.microsoft.com/office/drawing/2014/main" id="{729B7F7B-109E-4F32-8916-DA0CC1CBEE7B}"/>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CD4 &lt;100 or visual symptoms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Baseline retinal examination at &lt;100; urgent ophthalmology for visual change.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Stopping or reassessing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 not use routine CMV blood PCR surveillance or valganciclovir prophylaxis. [18]</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BA8D681-C98A-41CD-9BB9-9EB9E14C97A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5A53F63-FB59-410B-8012-79EA0611B0D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106</a:t>
            </a:r>
          </a:p>
        </p:txBody>
      </p:sp>
    </p:spTree>
    <p:extLst>
      <p:ext uri="{BB962C8B-B14F-4D97-AF65-F5344CB8AC3E}">
        <p14:creationId xmlns:p14="http://schemas.microsoft.com/office/powerpoint/2010/main" val="411890757"/>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B638DD1-D1D0-46CB-AA24-6F77A8CF960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prevention of a first OI from suppression after treatment</a:t>
            </a:r>
          </a:p>
        </p:txBody>
      </p:sp>
      <p:graphicFrame>
        <p:nvGraphicFramePr>
          <p:cNvPr id="2" name="">
            <a:extLst xmlns:a="http://schemas.openxmlformats.org/drawingml/2006/main">
              <a:ext uri="{FF2B5EF4-FFF2-40B4-BE49-F238E27FC236}">
                <a16:creationId xmlns:a16="http://schemas.microsoft.com/office/drawing/2014/main" id="{1952DC65-0AB9-43AE-B55E-E84283922D6D}"/>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PCP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When stopping may be appropriate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Usually CD4 ≥200 for ≥3 months on ART; selected patients with CD4 100-200 and sustained viral suppression may qualify. If PCP developed at CD4 &gt;200 while on ART, prophylaxis is generally lifelong. [6]</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2F85C62-39B6-4E4D-8F84-39346F34658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10B7961-9FEF-490B-924F-B7D47E6B0DB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107</a:t>
            </a:r>
          </a:p>
        </p:txBody>
      </p:sp>
    </p:spTree>
    <p:extLst>
      <p:ext uri="{BB962C8B-B14F-4D97-AF65-F5344CB8AC3E}">
        <p14:creationId xmlns:p14="http://schemas.microsoft.com/office/powerpoint/2010/main" val="1090551308"/>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346FD98-6C37-4CDE-AE00-22A21018266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prevention of a first OI from suppression after treatment</a:t>
            </a:r>
          </a:p>
        </p:txBody>
      </p:sp>
      <p:graphicFrame>
        <p:nvGraphicFramePr>
          <p:cNvPr id="2" name="">
            <a:extLst xmlns:a="http://schemas.openxmlformats.org/drawingml/2006/main">
              <a:ext uri="{FF2B5EF4-FFF2-40B4-BE49-F238E27FC236}">
                <a16:creationId xmlns:a16="http://schemas.microsoft.com/office/drawing/2014/main" id="{BC3FEC8A-BD3A-4B5D-B1F7-61D5538DA078}"/>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Toxoplasma encephalitis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When stopping may be appropriate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Completed acute therapy, asymptomatic, CD4 &gt;200 for &gt;6 months on ART. [5]</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0805CCF-D14E-4D6C-9966-1948F46245F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9C0CD46-B1E3-43B3-9550-A2A958F949B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108</a:t>
            </a:r>
          </a:p>
        </p:txBody>
      </p:sp>
    </p:spTree>
    <p:extLst>
      <p:ext uri="{BB962C8B-B14F-4D97-AF65-F5344CB8AC3E}">
        <p14:creationId xmlns:p14="http://schemas.microsoft.com/office/powerpoint/2010/main" val="1201129787"/>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71D96D4-A7C4-411B-A6C5-E060721BF67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prevention of a first OI from suppression after treatment</a:t>
            </a:r>
          </a:p>
        </p:txBody>
      </p:sp>
      <p:graphicFrame>
        <p:nvGraphicFramePr>
          <p:cNvPr id="2" name="">
            <a:extLst xmlns:a="http://schemas.openxmlformats.org/drawingml/2006/main">
              <a:ext uri="{FF2B5EF4-FFF2-40B4-BE49-F238E27FC236}">
                <a16:creationId xmlns:a16="http://schemas.microsoft.com/office/drawing/2014/main" id="{848538BF-F608-4C66-9681-9A53123521BA}"/>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Cryptococcosis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When stopping may be appropriate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At least 1 year of antifungals, asymptomatic, CD4 ≥100 and suppressed HIV RNA. [7]</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E62E8B3-9551-4EEF-B02A-2FF6F8F8F80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ACC6BFA-9664-4B47-90A5-AD942A9049B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109</a:t>
            </a:r>
          </a:p>
        </p:txBody>
      </p:sp>
    </p:spTree>
    <p:extLst>
      <p:ext uri="{BB962C8B-B14F-4D97-AF65-F5344CB8AC3E}">
        <p14:creationId xmlns:p14="http://schemas.microsoft.com/office/powerpoint/2010/main" val="568923470"/>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F9DF683-6260-4F12-9BFC-48E6198D661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prevention of a first OI from suppression after treatment</a:t>
            </a:r>
          </a:p>
        </p:txBody>
      </p:sp>
      <p:graphicFrame>
        <p:nvGraphicFramePr>
          <p:cNvPr id="2" name="">
            <a:extLst xmlns:a="http://schemas.openxmlformats.org/drawingml/2006/main">
              <a:ext uri="{FF2B5EF4-FFF2-40B4-BE49-F238E27FC236}">
                <a16:creationId xmlns:a16="http://schemas.microsoft.com/office/drawing/2014/main" id="{B74F24A4-9E9B-44A5-969D-5BC6A559B01E}"/>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Disseminated MAC</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When stopping may be appropriate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At least 12 months of treatment, no symptoms, CD4 &gt;100 for ≥6 months on ART. [17]</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C397FB3-8B7F-497C-9C47-0C141839A35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3A423DF-8A4E-4843-AB46-9C3A198C740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110</a:t>
            </a:r>
          </a:p>
        </p:txBody>
      </p:sp>
    </p:spTree>
    <p:extLst>
      <p:ext uri="{BB962C8B-B14F-4D97-AF65-F5344CB8AC3E}">
        <p14:creationId xmlns:p14="http://schemas.microsoft.com/office/powerpoint/2010/main" val="1791119896"/>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224A89E-4EB2-48D6-A719-5DF025A5814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prevention of a first OI from suppression after treatment</a:t>
            </a:r>
          </a:p>
        </p:txBody>
      </p:sp>
      <p:graphicFrame>
        <p:nvGraphicFramePr>
          <p:cNvPr id="2" name="">
            <a:extLst xmlns:a="http://schemas.openxmlformats.org/drawingml/2006/main">
              <a:ext uri="{FF2B5EF4-FFF2-40B4-BE49-F238E27FC236}">
                <a16:creationId xmlns:a16="http://schemas.microsoft.com/office/drawing/2014/main" id="{1813076B-CD1B-40F0-A417-F7672D1B3C50}"/>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CMV retinitis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When stopping may be appropriate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At least 3 months of treatment, inactive retinal lesions, CD4 ≥100 for ≥3 months; ophthalmology-directed decision and surveillance. [18]</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9975A5C-5832-4499-903E-7A3C8CE6004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A293237-1B76-4572-8A2B-5CB49CECC1E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111</a:t>
            </a:r>
          </a:p>
        </p:txBody>
      </p:sp>
    </p:spTree>
    <p:extLst>
      <p:ext uri="{BB962C8B-B14F-4D97-AF65-F5344CB8AC3E}">
        <p14:creationId xmlns:p14="http://schemas.microsoft.com/office/powerpoint/2010/main" val="705864386"/>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22902C6-F4D0-4644-B367-C71BCFC8AED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prevention of a first OI from suppression after treatment</a:t>
            </a:r>
          </a:p>
        </p:txBody>
      </p:sp>
      <p:graphicFrame>
        <p:nvGraphicFramePr>
          <p:cNvPr id="2" name="">
            <a:extLst xmlns:a="http://schemas.openxmlformats.org/drawingml/2006/main">
              <a:ext uri="{FF2B5EF4-FFF2-40B4-BE49-F238E27FC236}">
                <a16:creationId xmlns:a16="http://schemas.microsoft.com/office/drawing/2014/main" id="{306C716F-9B5B-4A97-9E32-60B7B28C0885}"/>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Histoplasmosis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When stopping may be appropriate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Azole treatment &gt;1 year, negative fungal blood cultures, antigen below quantification, undetectable HIV RNA, CD4 ≥150, and ART for ≥6 months. [19]</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FA245DE-BD60-4420-A980-D5CF30C4C75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946A245-852F-4AF7-A761-5CC901C0A2F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112</a:t>
            </a:r>
          </a:p>
        </p:txBody>
      </p:sp>
    </p:spTree>
    <p:extLst>
      <p:ext uri="{BB962C8B-B14F-4D97-AF65-F5344CB8AC3E}">
        <p14:creationId xmlns:p14="http://schemas.microsoft.com/office/powerpoint/2010/main" val="803313630"/>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9C253EB-88C7-4B3B-9032-86F6A38D54E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Separate prevention of a first OI from suppression after treatment</a:t>
            </a:r>
          </a:p>
        </p:txBody>
      </p:sp>
      <p:sp>
        <p:nvSpPr>
          <p:cNvPr id="2" name="paragraph-0">
            <a:extLst xmlns:a="http://schemas.openxmlformats.org/drawingml/2006/main">
              <a:ext uri="{FF2B5EF4-FFF2-40B4-BE49-F238E27FC236}">
                <a16:creationId xmlns:a16="http://schemas.microsoft.com/office/drawing/2014/main" id="{6E60C4A5-4B67-4E12-824A-232F80E2024F}"/>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After an OI, write the maintenance drug, dose, minimum treatment duration, immune-recovery criteria, and who may stop it. PCP, toxoplasmosis, cryptococcosis, MAC, CMV retinitis, and histoplasmosis do not share one stopping rule. [6] [5] [7] [17] [18] [19]</a:t>
            </a:r>
          </a:p>
        </p:txBody>
      </p:sp>
      <p:sp>
        <p:nvSpPr>
          <p:cNvPr id="3" name="footer">
            <a:extLst xmlns:a="http://schemas.openxmlformats.org/drawingml/2006/main">
              <a:ext uri="{FF2B5EF4-FFF2-40B4-BE49-F238E27FC236}">
                <a16:creationId xmlns:a16="http://schemas.microsoft.com/office/drawing/2014/main" id="{F6CAB194-7F5A-4362-9D50-C061850491B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3B2AC9C-1027-4614-AE96-CEDE3446EF8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113</a:t>
            </a:r>
          </a:p>
        </p:txBody>
      </p:sp>
    </p:spTree>
    <p:extLst>
      <p:ext uri="{BB962C8B-B14F-4D97-AF65-F5344CB8AC3E}">
        <p14:creationId xmlns:p14="http://schemas.microsoft.com/office/powerpoint/2010/main" val="2143730163"/>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5C0142B-EEAB-480E-98B5-133C8909CC1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Clinical worsening after ART is a diagnostic problem before it is an IRIS diagnosis</a:t>
            </a:r>
          </a:p>
        </p:txBody>
      </p:sp>
      <p:sp>
        <p:nvSpPr>
          <p:cNvPr id="2" name="paragraph-0">
            <a:extLst xmlns:a="http://schemas.openxmlformats.org/drawingml/2006/main">
              <a:ext uri="{FF2B5EF4-FFF2-40B4-BE49-F238E27FC236}">
                <a16:creationId xmlns:a16="http://schemas.microsoft.com/office/drawing/2014/main" id="{48BEE3B3-5633-4715-B23B-170157D5ABA2}"/>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Unmasking IRIS reveals previously unrecognized infection; paradoxical IRIS worsens a treated infection after immune recovery begins. Reassess adherence, drug exposure, resistance, source control, toxicity, and a second process. The timing and a falling HIV RNA support the context but do not prove IRIS. [3] [7] [17] [5]</a:t>
            </a:r>
          </a:p>
        </p:txBody>
      </p:sp>
      <p:sp>
        <p:nvSpPr>
          <p:cNvPr id="3" name="paragraph-1">
            <a:extLst xmlns:a="http://schemas.openxmlformats.org/drawingml/2006/main">
              <a:ext uri="{FF2B5EF4-FFF2-40B4-BE49-F238E27FC236}">
                <a16:creationId xmlns:a16="http://schemas.microsoft.com/office/drawing/2014/main" id="{8B2CB96A-0143-4831-8556-08585B8DB10B}"/>
              </a:ext>
            </a:extLst>
          </p:cNvPr>
          <p:cNvSpPr>
            <a:spLocks xmlns:a="http://schemas.openxmlformats.org/drawingml/2006/main" noGrp="1"/>
          </p:cNvSpPr>
          <p:nvPr/>
        </p:nvSpPr>
        <p:spPr>
          <a:xfrm xmlns:a="http://schemas.openxmlformats.org/drawingml/2006/main">
            <a:off x="647700" y="39719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Usually continue ART and active antimicrobial treatment while investigating. Mild disease may need symptomatic treatment; severe, organ-threatening inflammation may need corticosteroids and expert management. CNS disease requires particular care. Do not use steroids before considering uncontrolled infection or malignancy. [3] [7] [20]</a:t>
            </a:r>
          </a:p>
        </p:txBody>
      </p:sp>
      <p:sp>
        <p:nvSpPr>
          <p:cNvPr id="4" name="footer">
            <a:extLst xmlns:a="http://schemas.openxmlformats.org/drawingml/2006/main">
              <a:ext uri="{FF2B5EF4-FFF2-40B4-BE49-F238E27FC236}">
                <a16:creationId xmlns:a16="http://schemas.microsoft.com/office/drawing/2014/main" id="{85864AAF-1462-45F2-AEEF-6EA427C86A7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7A382B1F-F74E-499D-AE3E-F6996D70890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114</a:t>
            </a:r>
          </a:p>
        </p:txBody>
      </p:sp>
    </p:spTree>
    <p:extLst>
      <p:ext uri="{BB962C8B-B14F-4D97-AF65-F5344CB8AC3E}">
        <p14:creationId xmlns:p14="http://schemas.microsoft.com/office/powerpoint/2010/main" val="771183099"/>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43DC3D4-B927-4DD0-9EC6-BFC53B82E18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Fellow and attending discussion</a:t>
            </a:r>
          </a:p>
        </p:txBody>
      </p:sp>
      <p:sp>
        <p:nvSpPr>
          <p:cNvPr id="2" name="paragraph-0">
            <a:extLst xmlns:a="http://schemas.openxmlformats.org/drawingml/2006/main">
              <a:ext uri="{FF2B5EF4-FFF2-40B4-BE49-F238E27FC236}">
                <a16:creationId xmlns:a16="http://schemas.microsoft.com/office/drawing/2014/main" id="{6A8B4064-815B-4997-A223-75324A5E5881}"/>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 cryptococcal deterioration, repeat LP with opening pressure and fungal culture. Persistent antigen does not establish microbiologic failure. In apparent toxoplasmosis, steroid-responsive lymphoma can mislead. In MAC, lymphadenitis after ART may reflect IRIS but still requires the clinical and microbiologic context. [7] [5] [17]</a:t>
            </a:r>
          </a:p>
        </p:txBody>
      </p:sp>
      <p:sp>
        <p:nvSpPr>
          <p:cNvPr id="3" name="footer">
            <a:extLst xmlns:a="http://schemas.openxmlformats.org/drawingml/2006/main">
              <a:ext uri="{FF2B5EF4-FFF2-40B4-BE49-F238E27FC236}">
                <a16:creationId xmlns:a16="http://schemas.microsoft.com/office/drawing/2014/main" id="{239FD31A-5094-48E0-9DBE-D604DA70C67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AA66216-38EE-4B87-A206-BD6E6B65A39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115</a:t>
            </a:r>
          </a:p>
        </p:txBody>
      </p:sp>
    </p:spTree>
    <p:extLst>
      <p:ext uri="{BB962C8B-B14F-4D97-AF65-F5344CB8AC3E}">
        <p14:creationId xmlns:p14="http://schemas.microsoft.com/office/powerpoint/2010/main" val="714905073"/>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B6EC058-7C97-46F7-A224-1D20FEF46AA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includes PrEP, time-sensitive PEP, and sustained viral suppression</a:t>
            </a:r>
          </a:p>
        </p:txBody>
      </p:sp>
      <p:graphicFrame>
        <p:nvGraphicFramePr>
          <p:cNvPr id="2" name="">
            <a:extLst xmlns:a="http://schemas.openxmlformats.org/drawingml/2006/main">
              <a:ext uri="{FF2B5EF4-FFF2-40B4-BE49-F238E27FC236}">
                <a16:creationId xmlns:a16="http://schemas.microsoft.com/office/drawing/2014/main" id="{CDD62C1F-FC66-4892-93FC-829F59A30BA9}"/>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FTC/TDF</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Schedule and 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Daily oral PrEP for sexual and injection-related risk</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Required safeguards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Assess renal function, HBV status, HIV testing, and adherence.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5B7549D-1CD8-4ECA-9FB4-AC2375D97AB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6976F8D-87D0-4C12-AC7A-C1FD535ABCB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116</a:t>
            </a:r>
          </a:p>
        </p:txBody>
      </p:sp>
    </p:spTree>
    <p:extLst>
      <p:ext uri="{BB962C8B-B14F-4D97-AF65-F5344CB8AC3E}">
        <p14:creationId xmlns:p14="http://schemas.microsoft.com/office/powerpoint/2010/main" val="756407124"/>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A60691C-5B1A-471D-A81C-0E913B00F9F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includes PrEP, time-sensitive PEP, and sustained viral suppression</a:t>
            </a:r>
          </a:p>
        </p:txBody>
      </p:sp>
      <p:graphicFrame>
        <p:nvGraphicFramePr>
          <p:cNvPr id="2" name="">
            <a:extLst xmlns:a="http://schemas.openxmlformats.org/drawingml/2006/main">
              <a:ext uri="{FF2B5EF4-FFF2-40B4-BE49-F238E27FC236}">
                <a16:creationId xmlns:a16="http://schemas.microsoft.com/office/drawing/2014/main" id="{0B18A645-70B6-4870-A5FD-D563B74C8492}"/>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FTC/TAF</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Schedule and 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Daily oral PrEP for sexual risk excluding receptive vaginal exposure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Required safeguards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Review renal function, weight/lipids, HBV, and the population studied.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6C50CD5-E7C2-4CFE-9877-992A85CA72E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63A8DCE-F492-437B-BCF7-7A5C751FDCF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117</a:t>
            </a:r>
          </a:p>
        </p:txBody>
      </p:sp>
    </p:spTree>
    <p:extLst>
      <p:ext uri="{BB962C8B-B14F-4D97-AF65-F5344CB8AC3E}">
        <p14:creationId xmlns:p14="http://schemas.microsoft.com/office/powerpoint/2010/main" val="1231619229"/>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FFFCE41-B2AE-4303-BEFC-6F2D835502B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includes PrEP, time-sensitive PEP, and sustained viral suppression</a:t>
            </a:r>
          </a:p>
        </p:txBody>
      </p:sp>
      <p:graphicFrame>
        <p:nvGraphicFramePr>
          <p:cNvPr id="2" name="">
            <a:extLst xmlns:a="http://schemas.openxmlformats.org/drawingml/2006/main">
              <a:ext uri="{FF2B5EF4-FFF2-40B4-BE49-F238E27FC236}">
                <a16:creationId xmlns:a16="http://schemas.microsoft.com/office/drawing/2014/main" id="{817B08E4-98B8-42ED-BEA5-AAE8A72CBC87}"/>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Cabotegravir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Schedule and 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IM initiation, second dose at 1 month, then every 2 months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Required safeguards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Antigen-antibody plus HIV RNA testing; plan for missed injections and the long drug tail.</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BB0F37D-F6B8-4187-AA0E-EE2AED01755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7FD145A-0D9A-4BC4-9FAB-D94B8851095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118</a:t>
            </a:r>
          </a:p>
        </p:txBody>
      </p:sp>
    </p:spTree>
    <p:extLst>
      <p:ext uri="{BB962C8B-B14F-4D97-AF65-F5344CB8AC3E}">
        <p14:creationId xmlns:p14="http://schemas.microsoft.com/office/powerpoint/2010/main" val="1984446755"/>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26FA774-EB48-45BF-A754-DB4D9145F0D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includes PrEP, time-sensitive PEP, and sustained viral suppression</a:t>
            </a:r>
          </a:p>
        </p:txBody>
      </p:sp>
      <p:graphicFrame>
        <p:nvGraphicFramePr>
          <p:cNvPr id="2" name="">
            <a:extLst xmlns:a="http://schemas.openxmlformats.org/drawingml/2006/main">
              <a:ext uri="{FF2B5EF4-FFF2-40B4-BE49-F238E27FC236}">
                <a16:creationId xmlns:a16="http://schemas.microsoft.com/office/drawing/2014/main" id="{EAF6C243-7BC5-477D-8A33-86B83F7C2452}"/>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Lenacapavir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Schedule and 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Every 6 months SC after oral loading; approved for eligible adults/adolescents ≥35 kg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Required safeguards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Use the current PrEP label and CDC testing schedule. Exclude acute HIV; review interactions and a missed-dose/tail plan.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B8B5812-C737-4BE6-AF8B-C127F89FEF2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539CDDD-8C11-4941-8F8E-6DAE5846E5D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119</a:t>
            </a:r>
          </a:p>
        </p:txBody>
      </p:sp>
    </p:spTree>
    <p:extLst>
      <p:ext uri="{BB962C8B-B14F-4D97-AF65-F5344CB8AC3E}">
        <p14:creationId xmlns:p14="http://schemas.microsoft.com/office/powerpoint/2010/main" val="1049295362"/>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7AFB993-6730-4731-92FE-02A16B1E93C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includes PrEP, time-sensitive PEP, and sustained viral suppression</a:t>
            </a:r>
          </a:p>
        </p:txBody>
      </p:sp>
      <p:sp>
        <p:nvSpPr>
          <p:cNvPr id="2" name="paragraph-0">
            <a:extLst xmlns:a="http://schemas.openxmlformats.org/drawingml/2006/main">
              <a:ext uri="{FF2B5EF4-FFF2-40B4-BE49-F238E27FC236}">
                <a16:creationId xmlns:a16="http://schemas.microsoft.com/office/drawing/2014/main" id="{E79D4BC5-1450-4680-9160-2615041F07E8}"/>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[29] [30] [31]</a:t>
            </a:r>
          </a:p>
        </p:txBody>
      </p:sp>
      <p:sp>
        <p:nvSpPr>
          <p:cNvPr id="3" name="paragraph-1">
            <a:extLst xmlns:a="http://schemas.openxmlformats.org/drawingml/2006/main">
              <a:ext uri="{FF2B5EF4-FFF2-40B4-BE49-F238E27FC236}">
                <a16:creationId xmlns:a16="http://schemas.microsoft.com/office/drawing/2014/main" id="{4D887F0F-7531-406D-9552-E88B0FFA2B9D}"/>
              </a:ext>
            </a:extLst>
          </p:cNvPr>
          <p:cNvSpPr>
            <a:spLocks xmlns:a="http://schemas.openxmlformats.org/drawingml/2006/main" noGrp="1"/>
          </p:cNvSpPr>
          <p:nvPr/>
        </p:nvSpPr>
        <p:spPr>
          <a:xfrm xmlns:a="http://schemas.openxmlformats.org/drawingml/2006/main">
            <a:off x="647700" y="25622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Oral PrEP requires renal eligibility and serial HIV testing; FTC/TDF generally needs eCrCl ≥60 mL/min and FTC/TAF ≥30. Injectable PrEP avoids tenofovir renal exposure but still requires reliable testing and return visits. Never use a prevention-only regimen as HIV treatment. [29] [30]</a:t>
            </a:r>
          </a:p>
        </p:txBody>
      </p:sp>
      <p:sp>
        <p:nvSpPr>
          <p:cNvPr id="4" name="footer">
            <a:extLst xmlns:a="http://schemas.openxmlformats.org/drawingml/2006/main">
              <a:ext uri="{FF2B5EF4-FFF2-40B4-BE49-F238E27FC236}">
                <a16:creationId xmlns:a16="http://schemas.microsoft.com/office/drawing/2014/main" id="{759FC1EF-6EC3-4C38-A5A4-7D7511A87BA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265B282-3963-4683-87AD-5BA26608F34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120</a:t>
            </a:r>
          </a:p>
        </p:txBody>
      </p:sp>
    </p:spTree>
    <p:extLst>
      <p:ext uri="{BB962C8B-B14F-4D97-AF65-F5344CB8AC3E}">
        <p14:creationId xmlns:p14="http://schemas.microsoft.com/office/powerpoint/2010/main" val="220364427"/>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48951C5-08D3-4981-8B9E-ECD5A6C0DF0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includes PrEP, time-sensitive PEP, and sustained viral suppression</a:t>
            </a:r>
          </a:p>
        </p:txBody>
      </p:sp>
      <p:sp>
        <p:nvSpPr>
          <p:cNvPr id="2" name="paragraph-0">
            <a:extLst xmlns:a="http://schemas.openxmlformats.org/drawingml/2006/main">
              <a:ext uri="{FF2B5EF4-FFF2-40B4-BE49-F238E27FC236}">
                <a16:creationId xmlns:a16="http://schemas.microsoft.com/office/drawing/2014/main" id="{7B30C320-2DD4-4ED0-B92E-1044806A509C}"/>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a substantial nonoccupational exposure, start PEP as soon as possible, ideally within 24 hours and no later than 72 hours, for 28 days. Do not wait for pending source testing. Preferred adult options include BIC/FTC/TAF or DTG plus an appropriate tenofovir/FTC or 3TC backbone. Obtain baseline testing, contact at about 24 hours, and antigen-antibody plus NAT follow-up at 4-6 and 12 weeks after exposure under the CDC algorithm. Plan direct PEP-to-PrEP transition if risk continues. Occupational exposures follow the employee-health pathway. [32]</a:t>
            </a:r>
          </a:p>
        </p:txBody>
      </p:sp>
      <p:sp>
        <p:nvSpPr>
          <p:cNvPr id="3" name="footer">
            <a:extLst xmlns:a="http://schemas.openxmlformats.org/drawingml/2006/main">
              <a:ext uri="{FF2B5EF4-FFF2-40B4-BE49-F238E27FC236}">
                <a16:creationId xmlns:a16="http://schemas.microsoft.com/office/drawing/2014/main" id="{A76AE463-BED6-4BE7-93AF-E18B9F1892D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1867AA9-045E-4382-889D-097CE5A1002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121</a:t>
            </a:r>
          </a:p>
        </p:txBody>
      </p:sp>
    </p:spTree>
    <p:extLst>
      <p:ext uri="{BB962C8B-B14F-4D97-AF65-F5344CB8AC3E}">
        <p14:creationId xmlns:p14="http://schemas.microsoft.com/office/powerpoint/2010/main" val="2082669726"/>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62E72F0-067C-4796-B73A-772C2517F7D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includes PrEP, time-sensitive PEP, and sustained viral suppression</a:t>
            </a:r>
          </a:p>
        </p:txBody>
      </p:sp>
      <p:sp>
        <p:nvSpPr>
          <p:cNvPr id="2" name="paragraph-0">
            <a:extLst xmlns:a="http://schemas.openxmlformats.org/drawingml/2006/main">
              <a:ext uri="{FF2B5EF4-FFF2-40B4-BE49-F238E27FC236}">
                <a16:creationId xmlns:a16="http://schemas.microsoft.com/office/drawing/2014/main" id="{F8CDCFF0-456F-4295-8E5B-EBB89CBBDD5F}"/>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Sustained HIV RNA &lt;200 copies/mL on ART prevents sexual HIV transmission (U=U). It does not prevent other STIs and should not be extrapolated to zero risk for breastfeeding or shared injection equipment. For patients starting ART, use another prevention method for at least 6 months and until HIV RNA &lt;200 is documented; confirm sustained suppression. Support ongoing ART access. [33]</a:t>
            </a:r>
          </a:p>
        </p:txBody>
      </p:sp>
      <p:sp>
        <p:nvSpPr>
          <p:cNvPr id="3" name="footer">
            <a:extLst xmlns:a="http://schemas.openxmlformats.org/drawingml/2006/main">
              <a:ext uri="{FF2B5EF4-FFF2-40B4-BE49-F238E27FC236}">
                <a16:creationId xmlns:a16="http://schemas.microsoft.com/office/drawing/2014/main" id="{885225A5-1AB2-41A0-B14A-47C0E596D75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DE2C841-03AB-474B-8A56-6F944AC1722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122</a:t>
            </a:r>
          </a:p>
        </p:txBody>
      </p:sp>
    </p:spTree>
    <p:extLst>
      <p:ext uri="{BB962C8B-B14F-4D97-AF65-F5344CB8AC3E}">
        <p14:creationId xmlns:p14="http://schemas.microsoft.com/office/powerpoint/2010/main" val="334215365"/>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B9F4C39-9B03-4E4C-9257-DA9A34DC74D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Suppression is the beginning of durable HIV care</a:t>
            </a:r>
          </a:p>
        </p:txBody>
      </p:sp>
      <p:sp>
        <p:nvSpPr>
          <p:cNvPr id="2" name="paragraph-0">
            <a:extLst xmlns:a="http://schemas.openxmlformats.org/drawingml/2006/main">
              <a:ext uri="{FF2B5EF4-FFF2-40B4-BE49-F238E27FC236}">
                <a16:creationId xmlns:a16="http://schemas.microsoft.com/office/drawing/2014/main" id="{FCFCC4F2-B63A-4DB5-985E-2484DC3F0DE5}"/>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Review vaccination history, hepatitis prevention/treatment, STI screening, cancer screening, smoking, blood pressure, metabolic health, bone health, mental health, and substance use. Coordinate HIV-specific cervical and anal screening pathways with available follow-up services. [4] [34]</a:t>
            </a:r>
          </a:p>
        </p:txBody>
      </p:sp>
      <p:sp>
        <p:nvSpPr>
          <p:cNvPr id="3" name="paragraph-1">
            <a:extLst xmlns:a="http://schemas.openxmlformats.org/drawingml/2006/main">
              <a:ext uri="{FF2B5EF4-FFF2-40B4-BE49-F238E27FC236}">
                <a16:creationId xmlns:a16="http://schemas.microsoft.com/office/drawing/2014/main" id="{F711CF0F-9082-4876-A542-90246062608D}"/>
              </a:ext>
            </a:extLst>
          </p:cNvPr>
          <p:cNvSpPr>
            <a:spLocks xmlns:a="http://schemas.openxmlformats.org/drawingml/2006/main" noGrp="1"/>
          </p:cNvSpPr>
          <p:nvPr/>
        </p:nvSpPr>
        <p:spPr>
          <a:xfrm xmlns:a="http://schemas.openxmlformats.org/drawingml/2006/main">
            <a:off x="647700" y="39719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current HIV immunization guidance for influenza, COVID-19, pneumococcal, hepatitis A/B, meningococcal, HPV, recombinant zoster, and exposure-based mpox vaccination. Live MMR and varicella vaccines require adequate immune status; avoid at CD4 &lt;200 and assess pregnancy. Check HBV vaccine response when indicated. [34]</a:t>
            </a:r>
          </a:p>
        </p:txBody>
      </p:sp>
      <p:sp>
        <p:nvSpPr>
          <p:cNvPr id="4" name="footer">
            <a:extLst xmlns:a="http://schemas.openxmlformats.org/drawingml/2006/main">
              <a:ext uri="{FF2B5EF4-FFF2-40B4-BE49-F238E27FC236}">
                <a16:creationId xmlns:a16="http://schemas.microsoft.com/office/drawing/2014/main" id="{2235DC8A-96F1-43E0-98DA-7DCADB87799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DD484904-6812-47C5-B855-D62F9AD3BC1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123</a:t>
            </a:r>
          </a:p>
        </p:txBody>
      </p:sp>
    </p:spTree>
    <p:extLst>
      <p:ext uri="{BB962C8B-B14F-4D97-AF65-F5344CB8AC3E}">
        <p14:creationId xmlns:p14="http://schemas.microsoft.com/office/powerpoint/2010/main" val="906178995"/>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A879979-3B62-401D-A76E-7CAD80071E4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Suppression is the beginning of durable HIV care</a:t>
            </a:r>
          </a:p>
        </p:txBody>
      </p:sp>
      <p:sp>
        <p:nvSpPr>
          <p:cNvPr id="2" name="paragraph-0">
            <a:extLst xmlns:a="http://schemas.openxmlformats.org/drawingml/2006/main">
              <a:ext uri="{FF2B5EF4-FFF2-40B4-BE49-F238E27FC236}">
                <a16:creationId xmlns:a16="http://schemas.microsoft.com/office/drawing/2014/main" id="{962E2419-40C9-457C-A87C-4C73118D242F}"/>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Current ACC/AHA multisociety guidance, endorsed by the May 2026 NIH statement, recommends statin primary prevention for people with HIV aged 40-75. Choose the statin and intensity using cardiovascular risk and ART interactions. [35]</a:t>
            </a:r>
          </a:p>
        </p:txBody>
      </p:sp>
      <p:sp>
        <p:nvSpPr>
          <p:cNvPr id="3" name="paragraph-1">
            <a:extLst xmlns:a="http://schemas.openxmlformats.org/drawingml/2006/main">
              <a:ext uri="{FF2B5EF4-FFF2-40B4-BE49-F238E27FC236}">
                <a16:creationId xmlns:a16="http://schemas.microsoft.com/office/drawing/2014/main" id="{6B158D41-CB26-49D0-A95F-0A2FC7D12EDE}"/>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leaving with an ART prescription but no way to obtain it does not have a completed discharge plan. Confirm supply through the first outpatient visit, an actual appointment, pending-result ownership, and a contingency if a dose or visit is missed.</a:t>
            </a:r>
          </a:p>
        </p:txBody>
      </p:sp>
      <p:sp>
        <p:nvSpPr>
          <p:cNvPr id="4" name="footer">
            <a:extLst xmlns:a="http://schemas.openxmlformats.org/drawingml/2006/main">
              <a:ext uri="{FF2B5EF4-FFF2-40B4-BE49-F238E27FC236}">
                <a16:creationId xmlns:a16="http://schemas.microsoft.com/office/drawing/2014/main" id="{613DECB6-3DBB-438C-BFCE-E1B53EEB6A3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E9B2517D-FD65-4326-9A10-3C175F260BD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124</a:t>
            </a:r>
          </a:p>
        </p:txBody>
      </p:sp>
    </p:spTree>
    <p:extLst>
      <p:ext uri="{BB962C8B-B14F-4D97-AF65-F5344CB8AC3E}">
        <p14:creationId xmlns:p14="http://schemas.microsoft.com/office/powerpoint/2010/main" val="726097437"/>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3AE2DC4-9665-4E9B-85C3-39A6250BD6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 options expand delivery choices but do not remove eligibility requirements</a:t>
            </a:r>
          </a:p>
        </p:txBody>
      </p:sp>
      <p:sp>
        <p:nvSpPr>
          <p:cNvPr id="2" name="paragraph-0">
            <a:extLst xmlns:a="http://schemas.openxmlformats.org/drawingml/2006/main">
              <a:ext uri="{FF2B5EF4-FFF2-40B4-BE49-F238E27FC236}">
                <a16:creationId xmlns:a16="http://schemas.microsoft.com/office/drawing/2014/main" id="{29BAD0E1-AEDC-41A4-AE8D-748DD306B9DA}"/>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Long-acting CAB/RPV is a complete injectable maintenance regimen given monthly or every 2 months for appropriately selected patients, generally with HIV RNA &lt;50 for at least 3 months. Review suppression, all resistance and failure history, HBV treatment, pregnancy, interactions, and ability to attend injections. A written bridging and missed-dose plan is part of prescribing. LATITUDE adds evidence for patients with prior adherence challenges after an initial supported oral-treatment phase. [36] [37] [38]</a:t>
            </a:r>
          </a:p>
        </p:txBody>
      </p:sp>
      <p:sp>
        <p:nvSpPr>
          <p:cNvPr id="3" name="footer">
            <a:extLst xmlns:a="http://schemas.openxmlformats.org/drawingml/2006/main">
              <a:ext uri="{FF2B5EF4-FFF2-40B4-BE49-F238E27FC236}">
                <a16:creationId xmlns:a16="http://schemas.microsoft.com/office/drawing/2014/main" id="{A581845F-E05A-42B1-9AED-68D23FA6BF6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FE8DF58-BA08-47D1-85F8-76192A10304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125</a:t>
            </a:r>
          </a:p>
        </p:txBody>
      </p:sp>
    </p:spTree>
    <p:extLst>
      <p:ext uri="{BB962C8B-B14F-4D97-AF65-F5344CB8AC3E}">
        <p14:creationId xmlns:p14="http://schemas.microsoft.com/office/powerpoint/2010/main" val="1999467731"/>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5E71735-B571-4B5B-BAD6-FB7B1D262EE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 options expand delivery choices but do not remove eligibility requirements</a:t>
            </a:r>
          </a:p>
        </p:txBody>
      </p:sp>
      <p:sp>
        <p:nvSpPr>
          <p:cNvPr id="2" name="paragraph-0">
            <a:extLst xmlns:a="http://schemas.openxmlformats.org/drawingml/2006/main">
              <a:ext uri="{FF2B5EF4-FFF2-40B4-BE49-F238E27FC236}">
                <a16:creationId xmlns:a16="http://schemas.microsoft.com/office/drawing/2014/main" id="{47BCCFA8-B9A7-49E6-8B67-B1DF5142A83F}"/>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Lenacapavir has separate prevention and treatment roles. Yeztugo is the prevention product. Sunlenca is used with other active antiretrovirals in heavily treatment-experienced adults with multidrug-resistant HIV; it is not stand-alone treatment or routine initial ART. A long pharmacologic tail can expose virus to functional monotherapy when companion drugs or visits are missed. [31] [39]</a:t>
            </a:r>
          </a:p>
        </p:txBody>
      </p:sp>
      <p:sp>
        <p:nvSpPr>
          <p:cNvPr id="3" name="footer">
            <a:extLst xmlns:a="http://schemas.openxmlformats.org/drawingml/2006/main">
              <a:ext uri="{FF2B5EF4-FFF2-40B4-BE49-F238E27FC236}">
                <a16:creationId xmlns:a16="http://schemas.microsoft.com/office/drawing/2014/main" id="{80CC4126-F66D-4B34-A586-1B54336F2EF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7B258E4-B03F-46D6-BD3C-A50031285FF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126</a:t>
            </a:r>
          </a:p>
        </p:txBody>
      </p:sp>
    </p:spTree>
    <p:extLst>
      <p:ext uri="{BB962C8B-B14F-4D97-AF65-F5344CB8AC3E}">
        <p14:creationId xmlns:p14="http://schemas.microsoft.com/office/powerpoint/2010/main" val="1761673834"/>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0311E6C-32F3-4ED5-8943-664BDB98F8D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 options expand delivery choices but do not remove eligibility requirements</a:t>
            </a:r>
          </a:p>
        </p:txBody>
      </p:sp>
      <p:sp>
        <p:nvSpPr>
          <p:cNvPr id="2" name="paragraph-0">
            <a:extLst xmlns:a="http://schemas.openxmlformats.org/drawingml/2006/main">
              <a:ext uri="{FF2B5EF4-FFF2-40B4-BE49-F238E27FC236}">
                <a16:creationId xmlns:a16="http://schemas.microsoft.com/office/drawing/2014/main" id="{A5C9C1E5-6925-4DBE-9D0D-E887966B9397}"/>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Doravirine/islatravir (Idvynso), approved in April 2026, is a once-daily 100/0.25 mg two-drug switch regimen for suppressed adults on stable ART without prior virologic treatment failure or known doravirine resistance substitutions. It is not a rapid-start regimen. Strong CYP3A inducers and concomitant 3TC/FTC are contraindicated; it does not provide an HBV treatment backbone. [40]</a:t>
            </a:r>
          </a:p>
        </p:txBody>
      </p:sp>
      <p:sp>
        <p:nvSpPr>
          <p:cNvPr id="3" name="footer">
            <a:extLst xmlns:a="http://schemas.openxmlformats.org/drawingml/2006/main">
              <a:ext uri="{FF2B5EF4-FFF2-40B4-BE49-F238E27FC236}">
                <a16:creationId xmlns:a16="http://schemas.microsoft.com/office/drawing/2014/main" id="{41B451E0-2578-4530-9282-292FA4A398D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39F5352-CD40-42E3-8C85-09D59C2B7E1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127</a:t>
            </a:r>
          </a:p>
        </p:txBody>
      </p:sp>
    </p:spTree>
    <p:extLst>
      <p:ext uri="{BB962C8B-B14F-4D97-AF65-F5344CB8AC3E}">
        <p14:creationId xmlns:p14="http://schemas.microsoft.com/office/powerpoint/2010/main" val="35530296"/>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FE485B9-9D65-43C6-8F3E-89C15630062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Fellow and attending discussion</a:t>
            </a:r>
          </a:p>
        </p:txBody>
      </p:sp>
      <p:sp>
        <p:nvSpPr>
          <p:cNvPr id="2" name="paragraph-0">
            <a:extLst xmlns:a="http://schemas.openxmlformats.org/drawingml/2006/main">
              <a:ext uri="{FF2B5EF4-FFF2-40B4-BE49-F238E27FC236}">
                <a16:creationId xmlns:a16="http://schemas.microsoft.com/office/drawing/2014/main" id="{FCE146D9-0FEC-4756-B29F-E3D04CD4BB3A}"/>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When discussing an investigational strategy, specify the population, stage of development, comparator, and outcome. Longer dosing intervals are not themselves evidence of better clinical outcomes, a cure, or an adequate resistance barrier. The selected updates here are not an exhaustive pipeline review.</a:t>
            </a:r>
          </a:p>
        </p:txBody>
      </p:sp>
      <p:sp>
        <p:nvSpPr>
          <p:cNvPr id="3" name="footer">
            <a:extLst xmlns:a="http://schemas.openxmlformats.org/drawingml/2006/main">
              <a:ext uri="{FF2B5EF4-FFF2-40B4-BE49-F238E27FC236}">
                <a16:creationId xmlns:a16="http://schemas.microsoft.com/office/drawing/2014/main" id="{6CDCF3D4-164F-4633-B747-50A0E8A2DA5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376C51D-8AC2-4157-B262-156544D2803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128</a:t>
            </a:r>
          </a:p>
        </p:txBody>
      </p:sp>
    </p:spTree>
    <p:extLst>
      <p:ext uri="{BB962C8B-B14F-4D97-AF65-F5344CB8AC3E}">
        <p14:creationId xmlns:p14="http://schemas.microsoft.com/office/powerpoint/2010/main" val="316013163"/>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1E8D918-ACFA-466A-A13B-F1D8AD788FB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START established the benefit of treatment at high CD4 counts</a:t>
            </a:r>
          </a:p>
        </p:txBody>
      </p:sp>
      <p:sp>
        <p:nvSpPr>
          <p:cNvPr id="2" name="paragraph-0">
            <a:extLst xmlns:a="http://schemas.openxmlformats.org/drawingml/2006/main">
              <a:ext uri="{FF2B5EF4-FFF2-40B4-BE49-F238E27FC236}">
                <a16:creationId xmlns:a16="http://schemas.microsoft.com/office/drawing/2014/main" id="{30DC0368-E9E5-4B99-80DB-C28433932BF1}"/>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2015 · Randomized trial · 4,685 adults</a:t>
            </a:r>
          </a:p>
        </p:txBody>
      </p:sp>
      <p:sp>
        <p:nvSpPr>
          <p:cNvPr id="3" name="paragraph-1">
            <a:extLst xmlns:a="http://schemas.openxmlformats.org/drawingml/2006/main">
              <a:ext uri="{FF2B5EF4-FFF2-40B4-BE49-F238E27FC236}">
                <a16:creationId xmlns:a16="http://schemas.microsoft.com/office/drawing/2014/main" id="{CA6AE19B-77A3-421F-8AB4-F253309DC002}"/>
              </a:ext>
            </a:extLst>
          </p:cNvPr>
          <p:cNvSpPr>
            <a:spLocks xmlns:a="http://schemas.openxmlformats.org/drawingml/2006/main" noGrp="1"/>
          </p:cNvSpPr>
          <p:nvPr/>
        </p:nvSpPr>
        <p:spPr>
          <a:xfrm xmlns:a="http://schemas.openxmlformats.org/drawingml/2006/main">
            <a:off x="647700" y="25622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Immediate ART versus deferral in asymptomatic adults with CD4 &gt;500. Serious AIDS/non-AIDS events or death occurred in 1.8% versus 4.1%; HR 0.43, 95% CI 0.30-0.62. [41]</a:t>
            </a:r>
          </a:p>
        </p:txBody>
      </p:sp>
      <p:sp>
        <p:nvSpPr>
          <p:cNvPr id="4" name="paragraph-2">
            <a:extLst xmlns:a="http://schemas.openxmlformats.org/drawingml/2006/main">
              <a:ext uri="{FF2B5EF4-FFF2-40B4-BE49-F238E27FC236}">
                <a16:creationId xmlns:a16="http://schemas.microsoft.com/office/drawing/2014/main" id="{36B384FE-A8B6-4F40-BD71-8F1701090DD4}"/>
              </a:ext>
            </a:extLst>
          </p:cNvPr>
          <p:cNvSpPr>
            <a:spLocks xmlns:a="http://schemas.openxmlformats.org/drawingml/2006/main" noGrp="1"/>
          </p:cNvSpPr>
          <p:nvPr/>
        </p:nvSpPr>
        <p:spPr>
          <a:xfrm xmlns:a="http://schemas.openxmlformats.org/drawingml/2006/main">
            <a:off x="647700" y="38766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Supports treating all people with HIV. It does not answer ART timing during cryptococcal meningitis.</a:t>
            </a:r>
          </a:p>
        </p:txBody>
      </p:sp>
      <p:sp>
        <p:nvSpPr>
          <p:cNvPr id="5" name="footer">
            <a:extLst xmlns:a="http://schemas.openxmlformats.org/drawingml/2006/main">
              <a:ext uri="{FF2B5EF4-FFF2-40B4-BE49-F238E27FC236}">
                <a16:creationId xmlns:a16="http://schemas.microsoft.com/office/drawing/2014/main" id="{06B58C09-E614-4251-9AAE-2ECCC83B330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6" name="number">
            <a:extLst xmlns:a="http://schemas.openxmlformats.org/drawingml/2006/main">
              <a:ext uri="{FF2B5EF4-FFF2-40B4-BE49-F238E27FC236}">
                <a16:creationId xmlns:a16="http://schemas.microsoft.com/office/drawing/2014/main" id="{DAC0D583-6A7F-453F-A213-CA7A9E0C1C0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129</a:t>
            </a:r>
          </a:p>
        </p:txBody>
      </p:sp>
    </p:spTree>
    <p:extLst>
      <p:ext uri="{BB962C8B-B14F-4D97-AF65-F5344CB8AC3E}">
        <p14:creationId xmlns:p14="http://schemas.microsoft.com/office/powerpoint/2010/main" val="212095753"/>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16DCC49-2BC4-4728-B02D-85D2BB01837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A5164 supports early ART in many acute OIs</a:t>
            </a:r>
          </a:p>
        </p:txBody>
      </p:sp>
      <p:sp>
        <p:nvSpPr>
          <p:cNvPr id="2" name="paragraph-0">
            <a:extLst xmlns:a="http://schemas.openxmlformats.org/drawingml/2006/main">
              <a:ext uri="{FF2B5EF4-FFF2-40B4-BE49-F238E27FC236}">
                <a16:creationId xmlns:a16="http://schemas.microsoft.com/office/drawing/2014/main" id="{55F55A07-6176-45CB-81DE-5F120A5EEC39}"/>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2009 · Randomized strategy trial · 282 participants</a:t>
            </a:r>
          </a:p>
        </p:txBody>
      </p:sp>
      <p:sp>
        <p:nvSpPr>
          <p:cNvPr id="3" name="paragraph-1">
            <a:extLst xmlns:a="http://schemas.openxmlformats.org/drawingml/2006/main">
              <a:ext uri="{FF2B5EF4-FFF2-40B4-BE49-F238E27FC236}">
                <a16:creationId xmlns:a16="http://schemas.microsoft.com/office/drawing/2014/main" id="{564490B2-54EC-443B-8E0D-25945C8967D2}"/>
              </a:ext>
            </a:extLst>
          </p:cNvPr>
          <p:cNvSpPr>
            <a:spLocks xmlns:a="http://schemas.openxmlformats.org/drawingml/2006/main" noGrp="1"/>
          </p:cNvSpPr>
          <p:nvPr/>
        </p:nvSpPr>
        <p:spPr>
          <a:xfrm xmlns:a="http://schemas.openxmlformats.org/drawingml/2006/main">
            <a:off x="647700" y="25622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Early ART at median 12 days versus deferred ART at median 45 days. AIDS progression/death occurred in 14% versus 24%; this was a secondary outcome, and the primary ordered endpoint was not significantly different. [42]</a:t>
            </a:r>
          </a:p>
        </p:txBody>
      </p:sp>
      <p:sp>
        <p:nvSpPr>
          <p:cNvPr id="4" name="paragraph-2">
            <a:extLst xmlns:a="http://schemas.openxmlformats.org/drawingml/2006/main">
              <a:ext uri="{FF2B5EF4-FFF2-40B4-BE49-F238E27FC236}">
                <a16:creationId xmlns:a16="http://schemas.microsoft.com/office/drawing/2014/main" id="{445CB09D-A6BF-4352-9D38-83AAEBC83595}"/>
              </a:ext>
            </a:extLst>
          </p:cNvPr>
          <p:cNvSpPr>
            <a:spLocks xmlns:a="http://schemas.openxmlformats.org/drawingml/2006/main" noGrp="1"/>
          </p:cNvSpPr>
          <p:nvPr/>
        </p:nvSpPr>
        <p:spPr>
          <a:xfrm xmlns:a="http://schemas.openxmlformats.org/drawingml/2006/main">
            <a:off x="647700" y="42291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Most participants had PCP; TB was excluded. Do not generalize the average result to every CNS infection.</a:t>
            </a:r>
          </a:p>
        </p:txBody>
      </p:sp>
      <p:sp>
        <p:nvSpPr>
          <p:cNvPr id="5" name="footer">
            <a:extLst xmlns:a="http://schemas.openxmlformats.org/drawingml/2006/main">
              <a:ext uri="{FF2B5EF4-FFF2-40B4-BE49-F238E27FC236}">
                <a16:creationId xmlns:a16="http://schemas.microsoft.com/office/drawing/2014/main" id="{14B2E430-9839-4FA2-9BE2-A96A42BFB0A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6" name="number">
            <a:extLst xmlns:a="http://schemas.openxmlformats.org/drawingml/2006/main">
              <a:ext uri="{FF2B5EF4-FFF2-40B4-BE49-F238E27FC236}">
                <a16:creationId xmlns:a16="http://schemas.microsoft.com/office/drawing/2014/main" id="{148A0A33-840C-424D-9D36-1DAF07C284C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130</a:t>
            </a:r>
          </a:p>
        </p:txBody>
      </p:sp>
    </p:spTree>
    <p:extLst>
      <p:ext uri="{BB962C8B-B14F-4D97-AF65-F5344CB8AC3E}">
        <p14:creationId xmlns:p14="http://schemas.microsoft.com/office/powerpoint/2010/main" val="1645378296"/>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73F4937-9F36-4621-8BC5-93BC4E1E86F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COAT demonstrates why cryptococcal meningitis is an exception</a:t>
            </a:r>
          </a:p>
        </p:txBody>
      </p:sp>
      <p:sp>
        <p:nvSpPr>
          <p:cNvPr id="2" name="paragraph-0">
            <a:extLst xmlns:a="http://schemas.openxmlformats.org/drawingml/2006/main">
              <a:ext uri="{FF2B5EF4-FFF2-40B4-BE49-F238E27FC236}">
                <a16:creationId xmlns:a16="http://schemas.microsoft.com/office/drawing/2014/main" id="{8DAC7C75-057D-4DD6-8765-FA13D2E95355}"/>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2014 · Randomized trial · 177 adults</a:t>
            </a:r>
          </a:p>
        </p:txBody>
      </p:sp>
      <p:sp>
        <p:nvSpPr>
          <p:cNvPr id="3" name="paragraph-1">
            <a:extLst xmlns:a="http://schemas.openxmlformats.org/drawingml/2006/main">
              <a:ext uri="{FF2B5EF4-FFF2-40B4-BE49-F238E27FC236}">
                <a16:creationId xmlns:a16="http://schemas.microsoft.com/office/drawing/2014/main" id="{FD7C1138-1F43-4A1A-BA49-70DF2474AD1A}"/>
              </a:ext>
            </a:extLst>
          </p:cNvPr>
          <p:cNvSpPr>
            <a:spLocks xmlns:a="http://schemas.openxmlformats.org/drawingml/2006/main" noGrp="1"/>
          </p:cNvSpPr>
          <p:nvPr/>
        </p:nvSpPr>
        <p:spPr>
          <a:xfrm xmlns:a="http://schemas.openxmlformats.org/drawingml/2006/main">
            <a:off x="647700" y="25622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ART at 1-2 weeks versus approximately 5 weeks after diagnosis. Mortality at 26 weeks was 45% versus 30%; HR 1.73, 95% CI 1.06-2.82. [43]</a:t>
            </a:r>
          </a:p>
        </p:txBody>
      </p:sp>
      <p:sp>
        <p:nvSpPr>
          <p:cNvPr id="4" name="paragraph-2">
            <a:extLst xmlns:a="http://schemas.openxmlformats.org/drawingml/2006/main">
              <a:ext uri="{FF2B5EF4-FFF2-40B4-BE49-F238E27FC236}">
                <a16:creationId xmlns:a16="http://schemas.microsoft.com/office/drawing/2014/main" id="{B1955622-94A0-4D9C-B169-7F02A11F79EE}"/>
              </a:ext>
            </a:extLst>
          </p:cNvPr>
          <p:cNvSpPr>
            <a:spLocks xmlns:a="http://schemas.openxmlformats.org/drawingml/2006/main" noGrp="1"/>
          </p:cNvSpPr>
          <p:nvPr/>
        </p:nvSpPr>
        <p:spPr>
          <a:xfrm xmlns:a="http://schemas.openxmlformats.org/drawingml/2006/main">
            <a:off x="647700" y="35242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Early immune restoration can harm in this setting. Antifungal regimens and care setting affect applicability, but the trial supports delayed ART.</a:t>
            </a:r>
          </a:p>
        </p:txBody>
      </p:sp>
      <p:sp>
        <p:nvSpPr>
          <p:cNvPr id="5" name="footer">
            <a:extLst xmlns:a="http://schemas.openxmlformats.org/drawingml/2006/main">
              <a:ext uri="{FF2B5EF4-FFF2-40B4-BE49-F238E27FC236}">
                <a16:creationId xmlns:a16="http://schemas.microsoft.com/office/drawing/2014/main" id="{B9370E04-6BDB-40DF-BA00-9CB6061D75E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6" name="number">
            <a:extLst xmlns:a="http://schemas.openxmlformats.org/drawingml/2006/main">
              <a:ext uri="{FF2B5EF4-FFF2-40B4-BE49-F238E27FC236}">
                <a16:creationId xmlns:a16="http://schemas.microsoft.com/office/drawing/2014/main" id="{4295C702-B4EB-4C66-A99C-E42322656A9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131</a:t>
            </a:r>
          </a:p>
        </p:txBody>
      </p:sp>
    </p:spTree>
    <p:extLst>
      <p:ext uri="{BB962C8B-B14F-4D97-AF65-F5344CB8AC3E}">
        <p14:creationId xmlns:p14="http://schemas.microsoft.com/office/powerpoint/2010/main" val="399458290"/>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7014653-88C0-44AF-AC30-7C2844F88F7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REPRIEVE supports cardiovascular prevention during treated HIV</a:t>
            </a:r>
          </a:p>
        </p:txBody>
      </p:sp>
      <p:sp>
        <p:nvSpPr>
          <p:cNvPr id="2" name="paragraph-0">
            <a:extLst xmlns:a="http://schemas.openxmlformats.org/drawingml/2006/main">
              <a:ext uri="{FF2B5EF4-FFF2-40B4-BE49-F238E27FC236}">
                <a16:creationId xmlns:a16="http://schemas.microsoft.com/office/drawing/2014/main" id="{101B07DA-4A8A-45F9-BAEA-20BFEB81A67C}"/>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2023 · Randomized trial · 7,769 participants</a:t>
            </a:r>
          </a:p>
        </p:txBody>
      </p:sp>
      <p:sp>
        <p:nvSpPr>
          <p:cNvPr id="3" name="paragraph-1">
            <a:extLst xmlns:a="http://schemas.openxmlformats.org/drawingml/2006/main">
              <a:ext uri="{FF2B5EF4-FFF2-40B4-BE49-F238E27FC236}">
                <a16:creationId xmlns:a16="http://schemas.microsoft.com/office/drawing/2014/main" id="{5DA989F8-9B39-41F2-B3BF-B99B38AFD73B}"/>
              </a:ext>
            </a:extLst>
          </p:cNvPr>
          <p:cNvSpPr>
            <a:spLocks xmlns:a="http://schemas.openxmlformats.org/drawingml/2006/main" noGrp="1"/>
          </p:cNvSpPr>
          <p:nvPr/>
        </p:nvSpPr>
        <p:spPr>
          <a:xfrm xmlns:a="http://schemas.openxmlformats.org/drawingml/2006/main">
            <a:off x="647700" y="25622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Pitavastatin 4 mg daily versus placebo in treated HIV with low-to-moderate cardiovascular risk. MACE rates were 4.81 versus 7.32 per 1,000 person-years; HR 0.65, 95% CI 0.48-0.90. [44]</a:t>
            </a:r>
          </a:p>
        </p:txBody>
      </p:sp>
      <p:sp>
        <p:nvSpPr>
          <p:cNvPr id="4" name="paragraph-2">
            <a:extLst xmlns:a="http://schemas.openxmlformats.org/drawingml/2006/main">
              <a:ext uri="{FF2B5EF4-FFF2-40B4-BE49-F238E27FC236}">
                <a16:creationId xmlns:a16="http://schemas.microsoft.com/office/drawing/2014/main" id="{37BC34BA-9043-4D4A-AAE0-49F80F1BAD2A}"/>
              </a:ext>
            </a:extLst>
          </p:cNvPr>
          <p:cNvSpPr>
            <a:spLocks xmlns:a="http://schemas.openxmlformats.org/drawingml/2006/main" noGrp="1"/>
          </p:cNvSpPr>
          <p:nvPr/>
        </p:nvSpPr>
        <p:spPr>
          <a:xfrm xmlns:a="http://schemas.openxmlformats.org/drawingml/2006/main">
            <a:off x="647700" y="38766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Muscle symptoms and diabetes were more frequent with pitavastatin. Use current prevention guidance and interaction checks rather than extrapolating one dose to every statin.</a:t>
            </a:r>
          </a:p>
        </p:txBody>
      </p:sp>
      <p:sp>
        <p:nvSpPr>
          <p:cNvPr id="5" name="footer">
            <a:extLst xmlns:a="http://schemas.openxmlformats.org/drawingml/2006/main">
              <a:ext uri="{FF2B5EF4-FFF2-40B4-BE49-F238E27FC236}">
                <a16:creationId xmlns:a16="http://schemas.microsoft.com/office/drawing/2014/main" id="{430B024F-1074-4E0D-8A26-C4711E320EA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6" name="number">
            <a:extLst xmlns:a="http://schemas.openxmlformats.org/drawingml/2006/main">
              <a:ext uri="{FF2B5EF4-FFF2-40B4-BE49-F238E27FC236}">
                <a16:creationId xmlns:a16="http://schemas.microsoft.com/office/drawing/2014/main" id="{681F452C-08FE-4BA9-ABED-AF6D532576D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132</a:t>
            </a:r>
          </a:p>
        </p:txBody>
      </p:sp>
    </p:spTree>
    <p:extLst>
      <p:ext uri="{BB962C8B-B14F-4D97-AF65-F5344CB8AC3E}">
        <p14:creationId xmlns:p14="http://schemas.microsoft.com/office/powerpoint/2010/main" val="635960736"/>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FE08152-539E-4357-9443-18FAAA0A1B8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PURPOSE 1 established strong preventive efficacy in young women</a:t>
            </a:r>
          </a:p>
        </p:txBody>
      </p:sp>
      <p:sp>
        <p:nvSpPr>
          <p:cNvPr id="2" name="paragraph-0">
            <a:extLst xmlns:a="http://schemas.openxmlformats.org/drawingml/2006/main">
              <a:ext uri="{FF2B5EF4-FFF2-40B4-BE49-F238E27FC236}">
                <a16:creationId xmlns:a16="http://schemas.microsoft.com/office/drawing/2014/main" id="{A16D7F12-5CA4-4E42-9D7F-0D2E07EA493A}"/>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2024 · Randomized phase 3 trial</a:t>
            </a:r>
          </a:p>
        </p:txBody>
      </p:sp>
      <p:sp>
        <p:nvSpPr>
          <p:cNvPr id="3" name="paragraph-1">
            <a:extLst xmlns:a="http://schemas.openxmlformats.org/drawingml/2006/main">
              <a:ext uri="{FF2B5EF4-FFF2-40B4-BE49-F238E27FC236}">
                <a16:creationId xmlns:a16="http://schemas.microsoft.com/office/drawing/2014/main" id="{8B82FC6F-A9E2-4584-87E0-5EE648136983}"/>
              </a:ext>
            </a:extLst>
          </p:cNvPr>
          <p:cNvSpPr>
            <a:spLocks xmlns:a="http://schemas.openxmlformats.org/drawingml/2006/main" noGrp="1"/>
          </p:cNvSpPr>
          <p:nvPr/>
        </p:nvSpPr>
        <p:spPr>
          <a:xfrm xmlns:a="http://schemas.openxmlformats.org/drawingml/2006/main">
            <a:off x="647700" y="25622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incident HIV infections among 2,134 receiving lenacapavir in the primary analysis; incidence 0 per 100 person-years, 95% CI 0-0.19. Oral FTC/TAF and FTC/TDF groups had infections. [45]</a:t>
            </a:r>
          </a:p>
        </p:txBody>
      </p:sp>
      <p:sp>
        <p:nvSpPr>
          <p:cNvPr id="4" name="paragraph-2">
            <a:extLst xmlns:a="http://schemas.openxmlformats.org/drawingml/2006/main">
              <a:ext uri="{FF2B5EF4-FFF2-40B4-BE49-F238E27FC236}">
                <a16:creationId xmlns:a16="http://schemas.microsoft.com/office/drawing/2014/main" id="{339BC83E-C06F-4C8B-B7D9-06C2505E5212}"/>
              </a:ext>
            </a:extLst>
          </p:cNvPr>
          <p:cNvSpPr>
            <a:spLocks xmlns:a="http://schemas.openxmlformats.org/drawingml/2006/main" noGrp="1"/>
          </p:cNvSpPr>
          <p:nvPr/>
        </p:nvSpPr>
        <p:spPr>
          <a:xfrm xmlns:a="http://schemas.openxmlformats.org/drawingml/2006/main">
            <a:off x="647700" y="38766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zero-event finding is an observed trial result, not a guarantee of lifelong or perfect protection. Oral adherence and modeled background incidence matter to interpretation.</a:t>
            </a:r>
          </a:p>
        </p:txBody>
      </p:sp>
      <p:sp>
        <p:nvSpPr>
          <p:cNvPr id="5" name="footer">
            <a:extLst xmlns:a="http://schemas.openxmlformats.org/drawingml/2006/main">
              <a:ext uri="{FF2B5EF4-FFF2-40B4-BE49-F238E27FC236}">
                <a16:creationId xmlns:a16="http://schemas.microsoft.com/office/drawing/2014/main" id="{1C4FF019-4860-4348-B8E9-9B00DEFD8A0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6" name="number">
            <a:extLst xmlns:a="http://schemas.openxmlformats.org/drawingml/2006/main">
              <a:ext uri="{FF2B5EF4-FFF2-40B4-BE49-F238E27FC236}">
                <a16:creationId xmlns:a16="http://schemas.microsoft.com/office/drawing/2014/main" id="{96217104-1753-4E56-8E38-56C6E298C77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133</a:t>
            </a:r>
          </a:p>
        </p:txBody>
      </p:sp>
    </p:spTree>
    <p:extLst>
      <p:ext uri="{BB962C8B-B14F-4D97-AF65-F5344CB8AC3E}">
        <p14:creationId xmlns:p14="http://schemas.microsoft.com/office/powerpoint/2010/main" val="1025971229"/>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35AC5E2-B493-46DA-9CE9-FCA2DA18DAA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PURPOSE 2 extends preventive evidence to men and gender-diverse people</a:t>
            </a:r>
          </a:p>
        </p:txBody>
      </p:sp>
      <p:sp>
        <p:nvSpPr>
          <p:cNvPr id="2" name="paragraph-0">
            <a:extLst xmlns:a="http://schemas.openxmlformats.org/drawingml/2006/main">
              <a:ext uri="{FF2B5EF4-FFF2-40B4-BE49-F238E27FC236}">
                <a16:creationId xmlns:a16="http://schemas.microsoft.com/office/drawing/2014/main" id="{421A1440-6595-4B80-A319-B6086B562509}"/>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2024 online publication · Randomized phase 3 trial</a:t>
            </a:r>
          </a:p>
        </p:txBody>
      </p:sp>
      <p:sp>
        <p:nvSpPr>
          <p:cNvPr id="3" name="paragraph-1">
            <a:extLst xmlns:a="http://schemas.openxmlformats.org/drawingml/2006/main">
              <a:ext uri="{FF2B5EF4-FFF2-40B4-BE49-F238E27FC236}">
                <a16:creationId xmlns:a16="http://schemas.microsoft.com/office/drawing/2014/main" id="{12415C65-2C39-437E-830D-07D079FA2D42}"/>
              </a:ext>
            </a:extLst>
          </p:cNvPr>
          <p:cNvSpPr>
            <a:spLocks xmlns:a="http://schemas.openxmlformats.org/drawingml/2006/main" noGrp="1"/>
          </p:cNvSpPr>
          <p:nvPr/>
        </p:nvSpPr>
        <p:spPr>
          <a:xfrm xmlns:a="http://schemas.openxmlformats.org/drawingml/2006/main">
            <a:off x="647700" y="25622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Two infections in the lenacapavir arm and nine with FTC/TDF in the primary report. The incidence ratio versus estimated background incidence was 0.04 (95% CI 0.01-0.18); versus FTC/TDF, 0.11 (0.02-0.51). [46]</a:t>
            </a:r>
          </a:p>
        </p:txBody>
      </p:sp>
      <p:sp>
        <p:nvSpPr>
          <p:cNvPr id="4" name="paragraph-2">
            <a:extLst xmlns:a="http://schemas.openxmlformats.org/drawingml/2006/main">
              <a:ext uri="{FF2B5EF4-FFF2-40B4-BE49-F238E27FC236}">
                <a16:creationId xmlns:a16="http://schemas.microsoft.com/office/drawing/2014/main" id="{0F8D73AC-37C0-401A-804B-619F860A721B}"/>
              </a:ext>
            </a:extLst>
          </p:cNvPr>
          <p:cNvSpPr>
            <a:spLocks xmlns:a="http://schemas.openxmlformats.org/drawingml/2006/main" noGrp="1"/>
          </p:cNvSpPr>
          <p:nvPr/>
        </p:nvSpPr>
        <p:spPr>
          <a:xfrm xmlns:a="http://schemas.openxmlformats.org/drawingml/2006/main">
            <a:off x="647700" y="38766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Background incidence is not a randomized untreated control. Breakthrough infection and capsid resistance remain possible.</a:t>
            </a:r>
          </a:p>
        </p:txBody>
      </p:sp>
      <p:sp>
        <p:nvSpPr>
          <p:cNvPr id="5" name="footer">
            <a:extLst xmlns:a="http://schemas.openxmlformats.org/drawingml/2006/main">
              <a:ext uri="{FF2B5EF4-FFF2-40B4-BE49-F238E27FC236}">
                <a16:creationId xmlns:a16="http://schemas.microsoft.com/office/drawing/2014/main" id="{5C0F2102-5681-4C1B-BF46-5139296E912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6" name="number">
            <a:extLst xmlns:a="http://schemas.openxmlformats.org/drawingml/2006/main">
              <a:ext uri="{FF2B5EF4-FFF2-40B4-BE49-F238E27FC236}">
                <a16:creationId xmlns:a16="http://schemas.microsoft.com/office/drawing/2014/main" id="{9D33A751-B6CF-4C87-8503-1BB01C50FE1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134</a:t>
            </a:r>
          </a:p>
        </p:txBody>
      </p:sp>
    </p:spTree>
    <p:extLst>
      <p:ext uri="{BB962C8B-B14F-4D97-AF65-F5344CB8AC3E}">
        <p14:creationId xmlns:p14="http://schemas.microsoft.com/office/powerpoint/2010/main" val="335486486"/>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AAF4485-D14B-43B1-A558-F358593C50D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LATITUDE supports monthly injections after a supported oral phase</a:t>
            </a:r>
          </a:p>
        </p:txBody>
      </p:sp>
      <p:sp>
        <p:nvSpPr>
          <p:cNvPr id="2" name="paragraph-0">
            <a:extLst xmlns:a="http://schemas.openxmlformats.org/drawingml/2006/main">
              <a:ext uri="{FF2B5EF4-FFF2-40B4-BE49-F238E27FC236}">
                <a16:creationId xmlns:a16="http://schemas.microsoft.com/office/drawing/2014/main" id="{BAD2C729-2A7A-4D42-AB6D-1A82C661F7D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2026 · Randomized open-label trial · 453 enrolled in step 1; 306 randomized in step 2</a:t>
            </a:r>
          </a:p>
        </p:txBody>
      </p:sp>
      <p:sp>
        <p:nvSpPr>
          <p:cNvPr id="3" name="paragraph-1">
            <a:extLst xmlns:a="http://schemas.openxmlformats.org/drawingml/2006/main">
              <a:ext uri="{FF2B5EF4-FFF2-40B4-BE49-F238E27FC236}">
                <a16:creationId xmlns:a16="http://schemas.microsoft.com/office/drawing/2014/main" id="{EB7F160C-5F5D-4F33-BB92-B4E18AB7D884}"/>
              </a:ext>
            </a:extLst>
          </p:cNvPr>
          <p:cNvSpPr>
            <a:spLocks xmlns:a="http://schemas.openxmlformats.org/drawingml/2006/main" noGrp="1"/>
          </p:cNvSpPr>
          <p:nvPr/>
        </p:nvSpPr>
        <p:spPr>
          <a:xfrm xmlns:a="http://schemas.openxmlformats.org/drawingml/2006/main">
            <a:off x="647700" y="291465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Participants who achieved HIV RNA ≤200 during supported oral treatment could be randomized. Week-48 regimen failure was 22.8% with CAB/RPV versus 41.2% with oral standard care; difference -18.4 percentage points, 98.4% CI -32.4 to -4.3. [38]</a:t>
            </a:r>
          </a:p>
        </p:txBody>
      </p:sp>
      <p:sp>
        <p:nvSpPr>
          <p:cNvPr id="4" name="paragraph-2">
            <a:extLst xmlns:a="http://schemas.openxmlformats.org/drawingml/2006/main">
              <a:ext uri="{FF2B5EF4-FFF2-40B4-BE49-F238E27FC236}">
                <a16:creationId xmlns:a16="http://schemas.microsoft.com/office/drawing/2014/main" id="{5177F1CE-7DC4-42A0-9E01-E58F22248EBA}"/>
              </a:ext>
            </a:extLst>
          </p:cNvPr>
          <p:cNvSpPr>
            <a:spLocks xmlns:a="http://schemas.openxmlformats.org/drawingml/2006/main" noGrp="1"/>
          </p:cNvSpPr>
          <p:nvPr/>
        </p:nvSpPr>
        <p:spPr>
          <a:xfrm xmlns:a="http://schemas.openxmlformats.org/drawingml/2006/main">
            <a:off x="647700" y="45815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endpoint includes virologic failure or permanent discontinuation. This was not immediate injectable treatment of all unsuppressed patients, and the care support is part of applicability.</a:t>
            </a:r>
          </a:p>
        </p:txBody>
      </p:sp>
      <p:sp>
        <p:nvSpPr>
          <p:cNvPr id="5" name="footer">
            <a:extLst xmlns:a="http://schemas.openxmlformats.org/drawingml/2006/main">
              <a:ext uri="{FF2B5EF4-FFF2-40B4-BE49-F238E27FC236}">
                <a16:creationId xmlns:a16="http://schemas.microsoft.com/office/drawing/2014/main" id="{CA6BDD91-C8C4-45C8-B8A0-6B7426E313A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6" name="number">
            <a:extLst xmlns:a="http://schemas.openxmlformats.org/drawingml/2006/main">
              <a:ext uri="{FF2B5EF4-FFF2-40B4-BE49-F238E27FC236}">
                <a16:creationId xmlns:a16="http://schemas.microsoft.com/office/drawing/2014/main" id="{0C8A916B-118C-4852-8D03-C67D1E921FC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135</a:t>
            </a:r>
          </a:p>
        </p:txBody>
      </p:sp>
    </p:spTree>
    <p:extLst>
      <p:ext uri="{BB962C8B-B14F-4D97-AF65-F5344CB8AC3E}">
        <p14:creationId xmlns:p14="http://schemas.microsoft.com/office/powerpoint/2010/main" val="646304272"/>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17BD723-D095-4D79-B5B7-F1416BB74FB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LATITUDE supports monthly injections after a supported oral phase</a:t>
            </a:r>
          </a:p>
        </p:txBody>
      </p:sp>
      <p:sp>
        <p:nvSpPr>
          <p:cNvPr id="2" name="paragraph-0">
            <a:extLst xmlns:a="http://schemas.openxmlformats.org/drawingml/2006/main">
              <a:ext uri="{FF2B5EF4-FFF2-40B4-BE49-F238E27FC236}">
                <a16:creationId xmlns:a16="http://schemas.microsoft.com/office/drawing/2014/main" id="{0C257E45-E28B-4953-9841-B2C298096EF4}"/>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Trial summaries use the linked original publications or indexed abstracts. Full-text access was not available for every trial; no unreviewed subgroup analysis is asserted.</a:t>
            </a:r>
          </a:p>
        </p:txBody>
      </p:sp>
      <p:sp>
        <p:nvSpPr>
          <p:cNvPr id="3" name="footer">
            <a:extLst xmlns:a="http://schemas.openxmlformats.org/drawingml/2006/main">
              <a:ext uri="{FF2B5EF4-FFF2-40B4-BE49-F238E27FC236}">
                <a16:creationId xmlns:a16="http://schemas.microsoft.com/office/drawing/2014/main" id="{63DBEC28-E9B5-4D02-9754-20F11A38106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8BF057A-282F-4175-941F-F79613D611C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136</a:t>
            </a:r>
          </a:p>
        </p:txBody>
      </p:sp>
    </p:spTree>
    <p:extLst>
      <p:ext uri="{BB962C8B-B14F-4D97-AF65-F5344CB8AC3E}">
        <p14:creationId xmlns:p14="http://schemas.microsoft.com/office/powerpoint/2010/main" val="1463596227"/>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DFBFCF2-35B2-4F2A-AE44-E7BDFA43B73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1 · An acute viral syndrome with discordant testing</a:t>
            </a:r>
          </a:p>
        </p:txBody>
      </p:sp>
      <p:sp>
        <p:nvSpPr>
          <p:cNvPr id="2" name="paragraph-0">
            <a:extLst xmlns:a="http://schemas.openxmlformats.org/drawingml/2006/main">
              <a:ext uri="{FF2B5EF4-FFF2-40B4-BE49-F238E27FC236}">
                <a16:creationId xmlns:a16="http://schemas.microsoft.com/office/drawing/2014/main" id="{DF374691-DF3A-4963-B695-3283D06F535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26-year-old has fever, rash, pharyngitis, a reactive antigen-antibody screen, and negative antibody differentiation.</a:t>
            </a:r>
          </a:p>
        </p:txBody>
      </p:sp>
      <p:sp>
        <p:nvSpPr>
          <p:cNvPr id="3" name="paragraph-1">
            <a:extLst xmlns:a="http://schemas.openxmlformats.org/drawingml/2006/main">
              <a:ext uri="{FF2B5EF4-FFF2-40B4-BE49-F238E27FC236}">
                <a16:creationId xmlns:a16="http://schemas.microsoft.com/office/drawing/2014/main" id="{627262D6-780C-42AF-BE51-7F56945BAC1C}"/>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is the next test, and what history changes empiric ART?</a:t>
            </a:r>
          </a:p>
        </p:txBody>
      </p:sp>
      <p:sp>
        <p:nvSpPr>
          <p:cNvPr id="4" name="footer">
            <a:extLst xmlns:a="http://schemas.openxmlformats.org/drawingml/2006/main">
              <a:ext uri="{FF2B5EF4-FFF2-40B4-BE49-F238E27FC236}">
                <a16:creationId xmlns:a16="http://schemas.microsoft.com/office/drawing/2014/main" id="{CEB72DF0-241F-40D2-B36D-920244773BF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71C7B1CF-AE63-470B-AEE3-12966053FB5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137</a:t>
            </a:r>
          </a:p>
        </p:txBody>
      </p:sp>
    </p:spTree>
    <p:extLst>
      <p:ext uri="{BB962C8B-B14F-4D97-AF65-F5344CB8AC3E}">
        <p14:creationId xmlns:p14="http://schemas.microsoft.com/office/powerpoint/2010/main" val="450953942"/>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A65BE7D-2EA5-490D-B658-16CEEED931D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next step</a:t>
            </a:r>
          </a:p>
        </p:txBody>
      </p:sp>
      <p:sp>
        <p:nvSpPr>
          <p:cNvPr id="2" name="paragraph-0">
            <a:extLst xmlns:a="http://schemas.openxmlformats.org/drawingml/2006/main">
              <a:ext uri="{FF2B5EF4-FFF2-40B4-BE49-F238E27FC236}">
                <a16:creationId xmlns:a16="http://schemas.microsoft.com/office/drawing/2014/main" id="{644E3700-FC5B-405A-B54D-D3429930D19F}"/>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Obtain HIV RNA and ask about oral/injectable PrEP and PEP. Repeat an ambiguous result on a new specimen. If HIV followed CAB PrEP, request integrase genotype and use the recommended boosted-darunavir strategy while awaiting results. [1]</a:t>
            </a:r>
          </a:p>
        </p:txBody>
      </p:sp>
      <p:sp>
        <p:nvSpPr>
          <p:cNvPr id="3" name="footer">
            <a:extLst xmlns:a="http://schemas.openxmlformats.org/drawingml/2006/main">
              <a:ext uri="{FF2B5EF4-FFF2-40B4-BE49-F238E27FC236}">
                <a16:creationId xmlns:a16="http://schemas.microsoft.com/office/drawing/2014/main" id="{888B28B3-5077-49C6-A49F-2791BF2189B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F97A501-6C82-45F4-A8F3-1AF4BC876CC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138</a:t>
            </a:r>
          </a:p>
        </p:txBody>
      </p:sp>
    </p:spTree>
    <p:extLst>
      <p:ext uri="{BB962C8B-B14F-4D97-AF65-F5344CB8AC3E}">
        <p14:creationId xmlns:p14="http://schemas.microsoft.com/office/powerpoint/2010/main" val="178917518"/>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5032790-3A23-4B8D-9E36-CFB0385DDF9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2 · New HIV with hypoxemic pneumonia</a:t>
            </a:r>
          </a:p>
        </p:txBody>
      </p:sp>
      <p:sp>
        <p:nvSpPr>
          <p:cNvPr id="2" name="paragraph-0">
            <a:extLst xmlns:a="http://schemas.openxmlformats.org/drawingml/2006/main">
              <a:ext uri="{FF2B5EF4-FFF2-40B4-BE49-F238E27FC236}">
                <a16:creationId xmlns:a16="http://schemas.microsoft.com/office/drawing/2014/main" id="{979CB4A5-B390-4BA2-87E5-9D07763F6C9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42-year-old has CD4 38, diffuse ground-glass opacity, and room-air PaO₂ 62 mmHg.</a:t>
            </a:r>
          </a:p>
        </p:txBody>
      </p:sp>
      <p:sp>
        <p:nvSpPr>
          <p:cNvPr id="3" name="paragraph-1">
            <a:extLst xmlns:a="http://schemas.openxmlformats.org/drawingml/2006/main">
              <a:ext uri="{FF2B5EF4-FFF2-40B4-BE49-F238E27FC236}">
                <a16:creationId xmlns:a16="http://schemas.microsoft.com/office/drawing/2014/main" id="{C7B23057-AAD3-4159-ABAF-10DA43948E1D}"/>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should happen today, and when should ART begin?</a:t>
            </a:r>
          </a:p>
        </p:txBody>
      </p:sp>
      <p:sp>
        <p:nvSpPr>
          <p:cNvPr id="4" name="footer">
            <a:extLst xmlns:a="http://schemas.openxmlformats.org/drawingml/2006/main">
              <a:ext uri="{FF2B5EF4-FFF2-40B4-BE49-F238E27FC236}">
                <a16:creationId xmlns:a16="http://schemas.microsoft.com/office/drawing/2014/main" id="{AD766CAF-33AE-4F68-BD8E-64FB9F0C458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EF9486DF-E709-45BE-A502-7D29DA4C5F7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139</a:t>
            </a:r>
          </a:p>
        </p:txBody>
      </p:sp>
    </p:spTree>
    <p:extLst>
      <p:ext uri="{BB962C8B-B14F-4D97-AF65-F5344CB8AC3E}">
        <p14:creationId xmlns:p14="http://schemas.microsoft.com/office/powerpoint/2010/main" val="398195471"/>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454818B-2FEA-4F09-8C46-E46F2D78509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next step</a:t>
            </a:r>
          </a:p>
        </p:txBody>
      </p:sp>
      <p:sp>
        <p:nvSpPr>
          <p:cNvPr id="2" name="paragraph-0">
            <a:extLst xmlns:a="http://schemas.openxmlformats.org/drawingml/2006/main">
              <a:ext uri="{FF2B5EF4-FFF2-40B4-BE49-F238E27FC236}">
                <a16:creationId xmlns:a16="http://schemas.microsoft.com/office/drawing/2014/main" id="{752BEA2F-8D39-4A7F-8692-D0B0098FD66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Obtain respiratory PCP testing while starting treatment-dose TMP-SMX and adjunctive prednisone. Assess bacterial/TB coinfection and oxygen needs. Plan ART within 2 weeks and subsequent PCP prophylaxis. [6]</a:t>
            </a:r>
          </a:p>
        </p:txBody>
      </p:sp>
      <p:sp>
        <p:nvSpPr>
          <p:cNvPr id="3" name="footer">
            <a:extLst xmlns:a="http://schemas.openxmlformats.org/drawingml/2006/main">
              <a:ext uri="{FF2B5EF4-FFF2-40B4-BE49-F238E27FC236}">
                <a16:creationId xmlns:a16="http://schemas.microsoft.com/office/drawing/2014/main" id="{36545875-AEAB-4A72-95A7-2C577C86058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7F2FBF0-4A5D-4B7F-AFD3-6A150FC0042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140</a:t>
            </a:r>
          </a:p>
        </p:txBody>
      </p:sp>
    </p:spTree>
    <p:extLst>
      <p:ext uri="{BB962C8B-B14F-4D97-AF65-F5344CB8AC3E}">
        <p14:creationId xmlns:p14="http://schemas.microsoft.com/office/powerpoint/2010/main" val="732739693"/>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07034C0-7279-48D3-AA8A-A7F897A6BA2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3 · Headache before rapid ART</a:t>
            </a:r>
          </a:p>
        </p:txBody>
      </p:sp>
      <p:sp>
        <p:nvSpPr>
          <p:cNvPr id="2" name="paragraph-0">
            <a:extLst xmlns:a="http://schemas.openxmlformats.org/drawingml/2006/main">
              <a:ext uri="{FF2B5EF4-FFF2-40B4-BE49-F238E27FC236}">
                <a16:creationId xmlns:a16="http://schemas.microsoft.com/office/drawing/2014/main" id="{A34B4F95-FCE3-4F62-934B-6CB05122124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35-year-old with CD4 24 has 2 weeks of headache and a positive serum CrAg.</a:t>
            </a:r>
          </a:p>
        </p:txBody>
      </p:sp>
      <p:sp>
        <p:nvSpPr>
          <p:cNvPr id="3" name="paragraph-1">
            <a:extLst xmlns:a="http://schemas.openxmlformats.org/drawingml/2006/main">
              <a:ext uri="{FF2B5EF4-FFF2-40B4-BE49-F238E27FC236}">
                <a16:creationId xmlns:a16="http://schemas.microsoft.com/office/drawing/2014/main" id="{F08347F0-BC3F-44B5-B142-9AB2189541BA}"/>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same-day ART the next step?</a:t>
            </a:r>
          </a:p>
        </p:txBody>
      </p:sp>
      <p:sp>
        <p:nvSpPr>
          <p:cNvPr id="4" name="footer">
            <a:extLst xmlns:a="http://schemas.openxmlformats.org/drawingml/2006/main">
              <a:ext uri="{FF2B5EF4-FFF2-40B4-BE49-F238E27FC236}">
                <a16:creationId xmlns:a16="http://schemas.microsoft.com/office/drawing/2014/main" id="{822F276B-9B7B-4294-9F46-01F9ABFBFB3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A646799B-3DCF-4520-8D62-DC397B71E3B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141</a:t>
            </a:r>
          </a:p>
        </p:txBody>
      </p:sp>
    </p:spTree>
    <p:extLst>
      <p:ext uri="{BB962C8B-B14F-4D97-AF65-F5344CB8AC3E}">
        <p14:creationId xmlns:p14="http://schemas.microsoft.com/office/powerpoint/2010/main" val="2014023303"/>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69F4207-F59E-47EF-A116-E60DB7AC844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next step</a:t>
            </a:r>
          </a:p>
        </p:txBody>
      </p:sp>
      <p:sp>
        <p:nvSpPr>
          <p:cNvPr id="2" name="paragraph-0">
            <a:extLst xmlns:a="http://schemas.openxmlformats.org/drawingml/2006/main">
              <a:ext uri="{FF2B5EF4-FFF2-40B4-BE49-F238E27FC236}">
                <a16:creationId xmlns:a16="http://schemas.microsoft.com/office/drawing/2014/main" id="{8B49ADB5-169D-40A2-BBF5-2C497C8E2F61}"/>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First evaluate CNS disease with LP, including opening pressure and fungal culture, after imaging if indicated. Begin appropriate antifungals and manage pressure. CNS cryptococcosis usually calls for ART deferral around 4-6 weeks. [7]</a:t>
            </a:r>
          </a:p>
        </p:txBody>
      </p:sp>
      <p:sp>
        <p:nvSpPr>
          <p:cNvPr id="3" name="footer">
            <a:extLst xmlns:a="http://schemas.openxmlformats.org/drawingml/2006/main">
              <a:ext uri="{FF2B5EF4-FFF2-40B4-BE49-F238E27FC236}">
                <a16:creationId xmlns:a16="http://schemas.microsoft.com/office/drawing/2014/main" id="{CA8ADDBD-4D7F-4500-BF8B-221621502EE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67EF3D4-18ED-49B6-8DFD-FCDBCF90263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142</a:t>
            </a:r>
          </a:p>
        </p:txBody>
      </p:sp>
    </p:spTree>
    <p:extLst>
      <p:ext uri="{BB962C8B-B14F-4D97-AF65-F5344CB8AC3E}">
        <p14:creationId xmlns:p14="http://schemas.microsoft.com/office/powerpoint/2010/main" val="1942571583"/>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A35E579-48BC-4A62-A03E-B731A497F9A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4 · Ring-enhancing lesions that do not improve</a:t>
            </a:r>
          </a:p>
        </p:txBody>
      </p:sp>
      <p:sp>
        <p:nvSpPr>
          <p:cNvPr id="2" name="paragraph-0">
            <a:extLst xmlns:a="http://schemas.openxmlformats.org/drawingml/2006/main">
              <a:ext uri="{FF2B5EF4-FFF2-40B4-BE49-F238E27FC236}">
                <a16:creationId xmlns:a16="http://schemas.microsoft.com/office/drawing/2014/main" id="{5AA622D0-6B6E-442E-8818-15E055C7240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with CD4 48, positive Toxoplasma IgG, and multiple lesions receives appropriate therapy but is unchanged at day 14.</a:t>
            </a:r>
          </a:p>
        </p:txBody>
      </p:sp>
      <p:sp>
        <p:nvSpPr>
          <p:cNvPr id="3" name="paragraph-1">
            <a:extLst xmlns:a="http://schemas.openxmlformats.org/drawingml/2006/main">
              <a:ext uri="{FF2B5EF4-FFF2-40B4-BE49-F238E27FC236}">
                <a16:creationId xmlns:a16="http://schemas.microsoft.com/office/drawing/2014/main" id="{48B73367-E6EE-41BD-89AB-274A2794437C}"/>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should prevent automatic extension of empiric therapy?</a:t>
            </a:r>
          </a:p>
        </p:txBody>
      </p:sp>
      <p:sp>
        <p:nvSpPr>
          <p:cNvPr id="4" name="footer">
            <a:extLst xmlns:a="http://schemas.openxmlformats.org/drawingml/2006/main">
              <a:ext uri="{FF2B5EF4-FFF2-40B4-BE49-F238E27FC236}">
                <a16:creationId xmlns:a16="http://schemas.microsoft.com/office/drawing/2014/main" id="{32A29CFC-01CA-4A32-AE81-43017A08BC2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D10C244-FCA9-44DB-95E5-743293B2003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143</a:t>
            </a:r>
          </a:p>
        </p:txBody>
      </p:sp>
    </p:spTree>
    <p:extLst>
      <p:ext uri="{BB962C8B-B14F-4D97-AF65-F5344CB8AC3E}">
        <p14:creationId xmlns:p14="http://schemas.microsoft.com/office/powerpoint/2010/main" val="1517716386"/>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2D53B64-3B36-49AF-9498-A3DE9833E68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next step</a:t>
            </a:r>
          </a:p>
        </p:txBody>
      </p:sp>
      <p:sp>
        <p:nvSpPr>
          <p:cNvPr id="2" name="paragraph-0">
            <a:extLst xmlns:a="http://schemas.openxmlformats.org/drawingml/2006/main">
              <a:ext uri="{FF2B5EF4-FFF2-40B4-BE49-F238E27FC236}">
                <a16:creationId xmlns:a16="http://schemas.microsoft.com/office/drawing/2014/main" id="{4626B7B2-E244-4430-BF92-E8F48462CAE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Reassess exposure and adherence and pursue alternative diagnoses, particularly CNS lymphoma. Discuss biopsy. A presumptive toxoplasma diagnosis should have a defined reassessment point. [5]</a:t>
            </a:r>
          </a:p>
        </p:txBody>
      </p:sp>
      <p:sp>
        <p:nvSpPr>
          <p:cNvPr id="3" name="footer">
            <a:extLst xmlns:a="http://schemas.openxmlformats.org/drawingml/2006/main">
              <a:ext uri="{FF2B5EF4-FFF2-40B4-BE49-F238E27FC236}">
                <a16:creationId xmlns:a16="http://schemas.microsoft.com/office/drawing/2014/main" id="{53A12D77-BA03-41A8-B7E5-3AEB9882222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DDB6BE6-A178-4149-A37D-5A04D4369D2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144</a:t>
            </a:r>
          </a:p>
        </p:txBody>
      </p:sp>
    </p:spTree>
    <p:extLst>
      <p:ext uri="{BB962C8B-B14F-4D97-AF65-F5344CB8AC3E}">
        <p14:creationId xmlns:p14="http://schemas.microsoft.com/office/powerpoint/2010/main" val="554651665"/>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83FD8EA-E8DD-4697-9E5D-90256B5CC7F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5 · CMV PCR distracts from the involved organ</a:t>
            </a:r>
          </a:p>
        </p:txBody>
      </p:sp>
      <p:sp>
        <p:nvSpPr>
          <p:cNvPr id="2" name="paragraph-0">
            <a:extLst xmlns:a="http://schemas.openxmlformats.org/drawingml/2006/main">
              <a:ext uri="{FF2B5EF4-FFF2-40B4-BE49-F238E27FC236}">
                <a16:creationId xmlns:a16="http://schemas.microsoft.com/office/drawing/2014/main" id="{706EC844-230C-40C2-ADD5-17216C3B7D80}"/>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with CD4 19 has diarrhea and a positive plasma CMV PCR.</a:t>
            </a:r>
          </a:p>
        </p:txBody>
      </p:sp>
      <p:sp>
        <p:nvSpPr>
          <p:cNvPr id="3" name="paragraph-1">
            <a:extLst xmlns:a="http://schemas.openxmlformats.org/drawingml/2006/main">
              <a:ext uri="{FF2B5EF4-FFF2-40B4-BE49-F238E27FC236}">
                <a16:creationId xmlns:a16="http://schemas.microsoft.com/office/drawing/2014/main" id="{91C74C1E-0DC8-4998-9A1C-E31DA4DC2344}"/>
              </a:ext>
            </a:extLst>
          </p:cNvPr>
          <p:cNvSpPr>
            <a:spLocks xmlns:a="http://schemas.openxmlformats.org/drawingml/2006/main" noGrp="1"/>
          </p:cNvSpPr>
          <p:nvPr/>
        </p:nvSpPr>
        <p:spPr>
          <a:xfrm xmlns:a="http://schemas.openxmlformats.org/drawingml/2006/main">
            <a:off x="647700" y="25622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Does this establish CMV colitis?</a:t>
            </a:r>
          </a:p>
        </p:txBody>
      </p:sp>
      <p:sp>
        <p:nvSpPr>
          <p:cNvPr id="4" name="footer">
            <a:extLst xmlns:a="http://schemas.openxmlformats.org/drawingml/2006/main">
              <a:ext uri="{FF2B5EF4-FFF2-40B4-BE49-F238E27FC236}">
                <a16:creationId xmlns:a16="http://schemas.microsoft.com/office/drawing/2014/main" id="{39960630-024E-4E28-8877-FCCE7106F0A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D83E85EB-2AF2-4B55-A828-B21E77C4F5E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145</a:t>
            </a:r>
          </a:p>
        </p:txBody>
      </p:sp>
    </p:spTree>
    <p:extLst>
      <p:ext uri="{BB962C8B-B14F-4D97-AF65-F5344CB8AC3E}">
        <p14:creationId xmlns:p14="http://schemas.microsoft.com/office/powerpoint/2010/main" val="2017782277"/>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6D1D1C2-26DE-4549-8100-A9DC6FD8F9A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next step</a:t>
            </a:r>
          </a:p>
        </p:txBody>
      </p:sp>
      <p:sp>
        <p:nvSpPr>
          <p:cNvPr id="2" name="paragraph-0">
            <a:extLst xmlns:a="http://schemas.openxmlformats.org/drawingml/2006/main">
              <a:ext uri="{FF2B5EF4-FFF2-40B4-BE49-F238E27FC236}">
                <a16:creationId xmlns:a16="http://schemas.microsoft.com/office/drawing/2014/main" id="{46CC1908-2904-4909-AA30-7C8149DDC730}"/>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Obtain a syndrome-directed stool evaluation and consider endoscopy with biopsy. Ask about vision and arrange ophthalmology as indicated. Positive blood PCR does not by itself justify treatment for tissue disease. [18]</a:t>
            </a:r>
          </a:p>
        </p:txBody>
      </p:sp>
      <p:sp>
        <p:nvSpPr>
          <p:cNvPr id="3" name="footer">
            <a:extLst xmlns:a="http://schemas.openxmlformats.org/drawingml/2006/main">
              <a:ext uri="{FF2B5EF4-FFF2-40B4-BE49-F238E27FC236}">
                <a16:creationId xmlns:a16="http://schemas.microsoft.com/office/drawing/2014/main" id="{339F980E-544A-4EAF-8B2C-2E5A7DFB1C5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80F6FDC-DDB5-4FA1-A31A-B0A73BB2ABC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146</a:t>
            </a:r>
          </a:p>
        </p:txBody>
      </p:sp>
    </p:spTree>
    <p:extLst>
      <p:ext uri="{BB962C8B-B14F-4D97-AF65-F5344CB8AC3E}">
        <p14:creationId xmlns:p14="http://schemas.microsoft.com/office/powerpoint/2010/main" val="718531046"/>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5E5E612-BD35-4DD5-8AE1-67F2CE90E04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6 · Fever and cytopenias before MAC prophylaxis</a:t>
            </a:r>
          </a:p>
        </p:txBody>
      </p:sp>
      <p:sp>
        <p:nvSpPr>
          <p:cNvPr id="2" name="paragraph-0">
            <a:extLst xmlns:a="http://schemas.openxmlformats.org/drawingml/2006/main">
              <a:ext uri="{FF2B5EF4-FFF2-40B4-BE49-F238E27FC236}">
                <a16:creationId xmlns:a16="http://schemas.microsoft.com/office/drawing/2014/main" id="{1CD1DABC-8A91-407D-A13C-9E6F83C487E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newly diagnosed with HIV has CD4 12, fever, weight loss, cytopenias, and elevated alkaline phosphatase.</a:t>
            </a:r>
          </a:p>
        </p:txBody>
      </p:sp>
      <p:sp>
        <p:nvSpPr>
          <p:cNvPr id="3" name="paragraph-1">
            <a:extLst xmlns:a="http://schemas.openxmlformats.org/drawingml/2006/main">
              <a:ext uri="{FF2B5EF4-FFF2-40B4-BE49-F238E27FC236}">
                <a16:creationId xmlns:a16="http://schemas.microsoft.com/office/drawing/2014/main" id="{E82FDC95-8A14-441F-B208-F22D4BE3560D}"/>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Should weekly azithromycin be started immediately?</a:t>
            </a:r>
          </a:p>
        </p:txBody>
      </p:sp>
      <p:sp>
        <p:nvSpPr>
          <p:cNvPr id="4" name="footer">
            <a:extLst xmlns:a="http://schemas.openxmlformats.org/drawingml/2006/main">
              <a:ext uri="{FF2B5EF4-FFF2-40B4-BE49-F238E27FC236}">
                <a16:creationId xmlns:a16="http://schemas.microsoft.com/office/drawing/2014/main" id="{F2071C4D-698B-46E9-9647-89646402B49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4938A051-9455-44A5-AD11-89DFDB0327E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147</a:t>
            </a:r>
          </a:p>
        </p:txBody>
      </p:sp>
    </p:spTree>
    <p:extLst>
      <p:ext uri="{BB962C8B-B14F-4D97-AF65-F5344CB8AC3E}">
        <p14:creationId xmlns:p14="http://schemas.microsoft.com/office/powerpoint/2010/main" val="874603725"/>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5F45FDA-7B28-46A3-AF8F-03FF2039A87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next step</a:t>
            </a:r>
          </a:p>
        </p:txBody>
      </p:sp>
      <p:sp>
        <p:nvSpPr>
          <p:cNvPr id="2" name="paragraph-0">
            <a:extLst xmlns:a="http://schemas.openxmlformats.org/drawingml/2006/main">
              <a:ext uri="{FF2B5EF4-FFF2-40B4-BE49-F238E27FC236}">
                <a16:creationId xmlns:a16="http://schemas.microsoft.com/office/drawing/2014/main" id="{B50C12DC-8BE2-46BB-B67B-B3ED0D68858E}"/>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Evaluate active MAC and disseminated histoplasmosis, with appropriate cultures, antigen testing, and tissue when needed. MAC prophylaxis can expose active disease to monotherapy. Severe histoplasmosis warrants prompt amphotericin-based treatment. [17] [19]</a:t>
            </a:r>
          </a:p>
        </p:txBody>
      </p:sp>
      <p:sp>
        <p:nvSpPr>
          <p:cNvPr id="3" name="footer">
            <a:extLst xmlns:a="http://schemas.openxmlformats.org/drawingml/2006/main">
              <a:ext uri="{FF2B5EF4-FFF2-40B4-BE49-F238E27FC236}">
                <a16:creationId xmlns:a16="http://schemas.microsoft.com/office/drawing/2014/main" id="{60ED3C40-22E5-4F4E-A15B-4C8DA11E15C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FB23B04-5384-4117-B86F-A86FB30F5CE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148</a:t>
            </a:r>
          </a:p>
        </p:txBody>
      </p:sp>
    </p:spTree>
    <p:extLst>
      <p:ext uri="{BB962C8B-B14F-4D97-AF65-F5344CB8AC3E}">
        <p14:creationId xmlns:p14="http://schemas.microsoft.com/office/powerpoint/2010/main" val="754411619"/>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24EF67D-38FB-4BDF-A2F9-CA7C1BF11BC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7 · A suppressed patient wants fewer pills</a:t>
            </a:r>
          </a:p>
        </p:txBody>
      </p:sp>
      <p:sp>
        <p:nvSpPr>
          <p:cNvPr id="2" name="paragraph-0">
            <a:extLst xmlns:a="http://schemas.openxmlformats.org/drawingml/2006/main">
              <a:ext uri="{FF2B5EF4-FFF2-40B4-BE49-F238E27FC236}">
                <a16:creationId xmlns:a16="http://schemas.microsoft.com/office/drawing/2014/main" id="{65A256CB-8F43-4A23-AA8F-DC377071F35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with HIV/HBV is suppressed on tenofovir-containing ART and requests CAB/RPV.</a:t>
            </a:r>
          </a:p>
        </p:txBody>
      </p:sp>
      <p:sp>
        <p:nvSpPr>
          <p:cNvPr id="3" name="paragraph-1">
            <a:extLst xmlns:a="http://schemas.openxmlformats.org/drawingml/2006/main">
              <a:ext uri="{FF2B5EF4-FFF2-40B4-BE49-F238E27FC236}">
                <a16:creationId xmlns:a16="http://schemas.microsoft.com/office/drawing/2014/main" id="{60E4B860-E311-4260-98DB-C490D140634D}"/>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cannot be lost in the switch?</a:t>
            </a:r>
          </a:p>
        </p:txBody>
      </p:sp>
      <p:sp>
        <p:nvSpPr>
          <p:cNvPr id="4" name="footer">
            <a:extLst xmlns:a="http://schemas.openxmlformats.org/drawingml/2006/main">
              <a:ext uri="{FF2B5EF4-FFF2-40B4-BE49-F238E27FC236}">
                <a16:creationId xmlns:a16="http://schemas.microsoft.com/office/drawing/2014/main" id="{47A6245D-572E-4F11-B639-E179E5600DE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7D977849-C81B-4FF7-A6B3-1B37B1D10CF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149</a:t>
            </a:r>
          </a:p>
        </p:txBody>
      </p:sp>
    </p:spTree>
    <p:extLst>
      <p:ext uri="{BB962C8B-B14F-4D97-AF65-F5344CB8AC3E}">
        <p14:creationId xmlns:p14="http://schemas.microsoft.com/office/powerpoint/2010/main" val="2062130115"/>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EE097C0-37B3-4074-9DB4-D7FFDD6BD9F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next step</a:t>
            </a:r>
          </a:p>
        </p:txBody>
      </p:sp>
      <p:sp>
        <p:nvSpPr>
          <p:cNvPr id="2" name="paragraph-0">
            <a:extLst xmlns:a="http://schemas.openxmlformats.org/drawingml/2006/main">
              <a:ext uri="{FF2B5EF4-FFF2-40B4-BE49-F238E27FC236}">
                <a16:creationId xmlns:a16="http://schemas.microsoft.com/office/drawing/2014/main" id="{739422F1-C181-4D0E-890D-AC9FCF516BF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HBV treatment. Review resistance and the rest of injectable eligibility, then preserve or separately provide appropriate HBV therapy. CAB/RPV itself does not treat HBV. [12] [36]</a:t>
            </a:r>
          </a:p>
        </p:txBody>
      </p:sp>
      <p:sp>
        <p:nvSpPr>
          <p:cNvPr id="3" name="footer">
            <a:extLst xmlns:a="http://schemas.openxmlformats.org/drawingml/2006/main">
              <a:ext uri="{FF2B5EF4-FFF2-40B4-BE49-F238E27FC236}">
                <a16:creationId xmlns:a16="http://schemas.microsoft.com/office/drawing/2014/main" id="{B654E266-FA61-4183-A2A0-A80480F1A3D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1EE897D-BDDF-4666-8D76-35602358373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150</a:t>
            </a:r>
          </a:p>
        </p:txBody>
      </p:sp>
    </p:spTree>
    <p:extLst>
      <p:ext uri="{BB962C8B-B14F-4D97-AF65-F5344CB8AC3E}">
        <p14:creationId xmlns:p14="http://schemas.microsoft.com/office/powerpoint/2010/main" val="491673238"/>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2639484-A33E-4A26-9957-BAFCE4DFB24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8 · A new exposure presents overnight</a:t>
            </a:r>
          </a:p>
        </p:txBody>
      </p:sp>
      <p:sp>
        <p:nvSpPr>
          <p:cNvPr id="2" name="paragraph-0">
            <a:extLst xmlns:a="http://schemas.openxmlformats.org/drawingml/2006/main">
              <a:ext uri="{FF2B5EF4-FFF2-40B4-BE49-F238E27FC236}">
                <a16:creationId xmlns:a16="http://schemas.microsoft.com/office/drawing/2014/main" id="{F78E3D8E-7F86-4831-A2F9-CDA78085299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An HIV-negative patient presents 18 hours after a substantial sexual exposure; the source result is pending.</a:t>
            </a:r>
          </a:p>
        </p:txBody>
      </p:sp>
      <p:sp>
        <p:nvSpPr>
          <p:cNvPr id="3" name="paragraph-1">
            <a:extLst xmlns:a="http://schemas.openxmlformats.org/drawingml/2006/main">
              <a:ext uri="{FF2B5EF4-FFF2-40B4-BE49-F238E27FC236}">
                <a16:creationId xmlns:a16="http://schemas.microsoft.com/office/drawing/2014/main" id="{C783DC15-6370-41BF-97B3-B9D638F249AE}"/>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action is time sensitive?</a:t>
            </a:r>
          </a:p>
        </p:txBody>
      </p:sp>
      <p:sp>
        <p:nvSpPr>
          <p:cNvPr id="4" name="footer">
            <a:extLst xmlns:a="http://schemas.openxmlformats.org/drawingml/2006/main">
              <a:ext uri="{FF2B5EF4-FFF2-40B4-BE49-F238E27FC236}">
                <a16:creationId xmlns:a16="http://schemas.microsoft.com/office/drawing/2014/main" id="{8D893199-066A-4C6D-9256-14792CB38F0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0D3FDFDC-617F-45E6-8DC1-5931D4CA466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151</a:t>
            </a:r>
          </a:p>
        </p:txBody>
      </p:sp>
    </p:spTree>
    <p:extLst>
      <p:ext uri="{BB962C8B-B14F-4D97-AF65-F5344CB8AC3E}">
        <p14:creationId xmlns:p14="http://schemas.microsoft.com/office/powerpoint/2010/main" val="381157602"/>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5507252-0183-4CCE-9174-34C66CAC699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 the next step</a:t>
            </a:r>
          </a:p>
        </p:txBody>
      </p:sp>
      <p:sp>
        <p:nvSpPr>
          <p:cNvPr id="2" name="paragraph-0">
            <a:extLst xmlns:a="http://schemas.openxmlformats.org/drawingml/2006/main">
              <a:ext uri="{FF2B5EF4-FFF2-40B4-BE49-F238E27FC236}">
                <a16:creationId xmlns:a16="http://schemas.microsoft.com/office/drawing/2014/main" id="{99F4D404-01EB-4866-BE7F-5B060931169D}"/>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Start indicated PEP without waiting, obtain baseline testing, provide the full 28-day plan, and arrange follow-up and a PrEP transition discussion. [32]</a:t>
            </a:r>
          </a:p>
        </p:txBody>
      </p:sp>
      <p:sp>
        <p:nvSpPr>
          <p:cNvPr id="3" name="footer">
            <a:extLst xmlns:a="http://schemas.openxmlformats.org/drawingml/2006/main">
              <a:ext uri="{FF2B5EF4-FFF2-40B4-BE49-F238E27FC236}">
                <a16:creationId xmlns:a16="http://schemas.microsoft.com/office/drawing/2014/main" id="{ED2513F6-EBD3-4B22-AB78-B15C046F600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9D565E8-F41E-495E-8E5B-94C97E30A32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152</a:t>
            </a:r>
          </a:p>
        </p:txBody>
      </p:sp>
    </p:spTree>
    <p:extLst>
      <p:ext uri="{BB962C8B-B14F-4D97-AF65-F5344CB8AC3E}">
        <p14:creationId xmlns:p14="http://schemas.microsoft.com/office/powerpoint/2010/main" val="576381267"/>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99DF0C2-89D2-4388-A05A-5FEFEB0E71A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decision and explain why it is justified</a:t>
            </a:r>
          </a:p>
        </p:txBody>
      </p:sp>
      <p:sp>
        <p:nvSpPr>
          <p:cNvPr id="2" name="paragraph-0">
            <a:extLst xmlns:a="http://schemas.openxmlformats.org/drawingml/2006/main">
              <a:ext uri="{FF2B5EF4-FFF2-40B4-BE49-F238E27FC236}">
                <a16:creationId xmlns:a16="http://schemas.microsoft.com/office/drawing/2014/main" id="{CD29FAA6-76CE-4519-A51C-98E0946A7E2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 Can a negative antigen-antibody test exclude acute HIV after a recent exposure?</a:t>
            </a:r>
          </a:p>
        </p:txBody>
      </p:sp>
      <p:sp>
        <p:nvSpPr>
          <p:cNvPr id="3" name="footer">
            <a:extLst xmlns:a="http://schemas.openxmlformats.org/drawingml/2006/main">
              <a:ext uri="{FF2B5EF4-FFF2-40B4-BE49-F238E27FC236}">
                <a16:creationId xmlns:a16="http://schemas.microsoft.com/office/drawing/2014/main" id="{567BB731-87AC-4363-A430-84B4AE9366A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DF036D7-9AF7-4FAB-9248-E47882531B5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153</a:t>
            </a:r>
          </a:p>
        </p:txBody>
      </p:sp>
    </p:spTree>
    <p:extLst>
      <p:ext uri="{BB962C8B-B14F-4D97-AF65-F5344CB8AC3E}">
        <p14:creationId xmlns:p14="http://schemas.microsoft.com/office/powerpoint/2010/main" val="179280252"/>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9A24739-E347-4247-99B6-854C8D7EE41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0F93A61E-B9A7-4926-9068-A4EE7D58DBC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Obtain HIV RNA when the exposure and clinical syndrome justify concern; repeat testing as indicated. [1]</a:t>
            </a:r>
          </a:p>
        </p:txBody>
      </p:sp>
      <p:sp>
        <p:nvSpPr>
          <p:cNvPr id="3" name="footer">
            <a:extLst xmlns:a="http://schemas.openxmlformats.org/drawingml/2006/main">
              <a:ext uri="{FF2B5EF4-FFF2-40B4-BE49-F238E27FC236}">
                <a16:creationId xmlns:a16="http://schemas.microsoft.com/office/drawing/2014/main" id="{ED7FEC6E-A48C-4B7E-8B28-ED6C0E1E25F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17635FF-BA47-4ECA-871C-EAA72B5FCF9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154</a:t>
            </a:r>
          </a:p>
        </p:txBody>
      </p:sp>
    </p:spTree>
    <p:extLst>
      <p:ext uri="{BB962C8B-B14F-4D97-AF65-F5344CB8AC3E}">
        <p14:creationId xmlns:p14="http://schemas.microsoft.com/office/powerpoint/2010/main" val="1505098465"/>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8642006-CD06-4976-A63C-CA61F036C11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decision and explain why it is justified</a:t>
            </a:r>
          </a:p>
        </p:txBody>
      </p:sp>
      <p:sp>
        <p:nvSpPr>
          <p:cNvPr id="2" name="paragraph-0">
            <a:extLst xmlns:a="http://schemas.openxmlformats.org/drawingml/2006/main">
              <a:ext uri="{FF2B5EF4-FFF2-40B4-BE49-F238E27FC236}">
                <a16:creationId xmlns:a16="http://schemas.microsoft.com/office/drawing/2014/main" id="{2B532658-46A9-40BE-9EC8-61EA4EDB31F1}"/>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 Can DTG/3TC be the default before HBV and genotype results?</a:t>
            </a:r>
          </a:p>
        </p:txBody>
      </p:sp>
      <p:sp>
        <p:nvSpPr>
          <p:cNvPr id="3" name="footer">
            <a:extLst xmlns:a="http://schemas.openxmlformats.org/drawingml/2006/main">
              <a:ext uri="{FF2B5EF4-FFF2-40B4-BE49-F238E27FC236}">
                <a16:creationId xmlns:a16="http://schemas.microsoft.com/office/drawing/2014/main" id="{FB9AE847-7C36-48F9-8CFD-84D0153CC2C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F8B070B-9A85-4BE7-B946-820A28C1863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155</a:t>
            </a:r>
          </a:p>
        </p:txBody>
      </p:sp>
    </p:spTree>
    <p:extLst>
      <p:ext uri="{BB962C8B-B14F-4D97-AF65-F5344CB8AC3E}">
        <p14:creationId xmlns:p14="http://schemas.microsoft.com/office/powerpoint/2010/main" val="1431117836"/>
      </p:ext>
    </p:extLst>
  </p:cSld>
</p:sld>
</file>

<file path=ppt/slides/slide1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4C28DE5-3796-44C9-8AB9-B36D0244D5B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384BEB57-9E89-4A71-ACB2-08159148112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Select a suitable rapid-start regimen with HBV activity while those results are pending. [8]</a:t>
            </a:r>
          </a:p>
        </p:txBody>
      </p:sp>
      <p:sp>
        <p:nvSpPr>
          <p:cNvPr id="3" name="footer">
            <a:extLst xmlns:a="http://schemas.openxmlformats.org/drawingml/2006/main">
              <a:ext uri="{FF2B5EF4-FFF2-40B4-BE49-F238E27FC236}">
                <a16:creationId xmlns:a16="http://schemas.microsoft.com/office/drawing/2014/main" id="{AAFAC279-5635-4CAB-B57D-4D4FDDA458F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C6005EC-AA80-43FE-A803-56CF164E43E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156</a:t>
            </a:r>
          </a:p>
        </p:txBody>
      </p:sp>
    </p:spTree>
    <p:extLst>
      <p:ext uri="{BB962C8B-B14F-4D97-AF65-F5344CB8AC3E}">
        <p14:creationId xmlns:p14="http://schemas.microsoft.com/office/powerpoint/2010/main" val="1941177853"/>
      </p:ext>
    </p:extLst>
  </p:cSld>
</p:sld>
</file>

<file path=ppt/slides/slide1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9F920FF-22AC-4776-88F4-09B2873FAF7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decision and explain why it is justified</a:t>
            </a:r>
          </a:p>
        </p:txBody>
      </p:sp>
      <p:sp>
        <p:nvSpPr>
          <p:cNvPr id="2" name="paragraph-0">
            <a:extLst xmlns:a="http://schemas.openxmlformats.org/drawingml/2006/main">
              <a:ext uri="{FF2B5EF4-FFF2-40B4-BE49-F238E27FC236}">
                <a16:creationId xmlns:a16="http://schemas.microsoft.com/office/drawing/2014/main" id="{43C91DF8-CC5A-494E-BFF4-57265A7B5259}"/>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3. Does every patient with CD4 &lt;50 need azithromycin prophylaxis?</a:t>
            </a:r>
          </a:p>
        </p:txBody>
      </p:sp>
      <p:sp>
        <p:nvSpPr>
          <p:cNvPr id="3" name="footer">
            <a:extLst xmlns:a="http://schemas.openxmlformats.org/drawingml/2006/main">
              <a:ext uri="{FF2B5EF4-FFF2-40B4-BE49-F238E27FC236}">
                <a16:creationId xmlns:a16="http://schemas.microsoft.com/office/drawing/2014/main" id="{F278ECAB-F4FD-4998-9B39-FE6D8B3A427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395C51E-C49B-42A4-8E39-C9A2EA0E28E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157</a:t>
            </a:r>
          </a:p>
        </p:txBody>
      </p:sp>
    </p:spTree>
    <p:extLst>
      <p:ext uri="{BB962C8B-B14F-4D97-AF65-F5344CB8AC3E}">
        <p14:creationId xmlns:p14="http://schemas.microsoft.com/office/powerpoint/2010/main" val="1076814285"/>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8877805-3562-4893-8538-2FDBCBE21CC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ACD1C6CF-2B4C-4C52-895D-AB4FDFF3D526}"/>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Effective ART started immediately removes the routine indication; evaluate symptoms for active MAC before prophylaxis. [17]</a:t>
            </a:r>
          </a:p>
        </p:txBody>
      </p:sp>
      <p:sp>
        <p:nvSpPr>
          <p:cNvPr id="3" name="footer">
            <a:extLst xmlns:a="http://schemas.openxmlformats.org/drawingml/2006/main">
              <a:ext uri="{FF2B5EF4-FFF2-40B4-BE49-F238E27FC236}">
                <a16:creationId xmlns:a16="http://schemas.microsoft.com/office/drawing/2014/main" id="{D685594F-606C-4D64-98BC-F526FCBB5DF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A53224F-670D-4D54-B545-0EA2AEBC660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158</a:t>
            </a:r>
          </a:p>
        </p:txBody>
      </p:sp>
    </p:spTree>
    <p:extLst>
      <p:ext uri="{BB962C8B-B14F-4D97-AF65-F5344CB8AC3E}">
        <p14:creationId xmlns:p14="http://schemas.microsoft.com/office/powerpoint/2010/main" val="54080609"/>
      </p:ext>
    </p:extLst>
  </p:cSld>
</p:sld>
</file>

<file path=ppt/slides/slide1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815EACA-1C0B-45C8-8CFF-942E00D3AE0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decision and explain why it is justified</a:t>
            </a:r>
          </a:p>
        </p:txBody>
      </p:sp>
      <p:sp>
        <p:nvSpPr>
          <p:cNvPr id="2" name="paragraph-0">
            <a:extLst xmlns:a="http://schemas.openxmlformats.org/drawingml/2006/main">
              <a:ext uri="{FF2B5EF4-FFF2-40B4-BE49-F238E27FC236}">
                <a16:creationId xmlns:a16="http://schemas.microsoft.com/office/drawing/2014/main" id="{8B844ABB-C967-4F10-958B-051989A17B51}"/>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4. What monitoring item is easy to miss with TMP-SMX?</a:t>
            </a:r>
          </a:p>
        </p:txBody>
      </p:sp>
      <p:sp>
        <p:nvSpPr>
          <p:cNvPr id="3" name="footer">
            <a:extLst xmlns:a="http://schemas.openxmlformats.org/drawingml/2006/main">
              <a:ext uri="{FF2B5EF4-FFF2-40B4-BE49-F238E27FC236}">
                <a16:creationId xmlns:a16="http://schemas.microsoft.com/office/drawing/2014/main" id="{8342B1F9-55AB-48DC-8A69-63B82462DE4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A4C6A3C-121E-4B6C-8244-4251E730429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159</a:t>
            </a:r>
          </a:p>
        </p:txBody>
      </p:sp>
    </p:spTree>
    <p:extLst>
      <p:ext uri="{BB962C8B-B14F-4D97-AF65-F5344CB8AC3E}">
        <p14:creationId xmlns:p14="http://schemas.microsoft.com/office/powerpoint/2010/main" val="85255563"/>
      </p:ext>
    </p:extLst>
  </p:cSld>
</p:sld>
</file>

<file path=ppt/slides/slide1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0EEAC6C-CDCC-4801-A2CD-2E2685F13C1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B04047F8-072E-4F41-915E-6EDA7FF97BC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Potassium, in addition to renal function, blood counts, rash, and other toxicity assessment. [6]</a:t>
            </a:r>
          </a:p>
        </p:txBody>
      </p:sp>
      <p:sp>
        <p:nvSpPr>
          <p:cNvPr id="3" name="footer">
            <a:extLst xmlns:a="http://schemas.openxmlformats.org/drawingml/2006/main">
              <a:ext uri="{FF2B5EF4-FFF2-40B4-BE49-F238E27FC236}">
                <a16:creationId xmlns:a16="http://schemas.microsoft.com/office/drawing/2014/main" id="{E358AA3B-64AD-47F4-9C4D-7950BA45A55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8634EE1-4C02-407B-A7ED-006A7E259F3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160</a:t>
            </a:r>
          </a:p>
        </p:txBody>
      </p:sp>
    </p:spTree>
    <p:extLst>
      <p:ext uri="{BB962C8B-B14F-4D97-AF65-F5344CB8AC3E}">
        <p14:creationId xmlns:p14="http://schemas.microsoft.com/office/powerpoint/2010/main" val="1816824019"/>
      </p:ext>
    </p:extLst>
  </p:cSld>
</p:sld>
</file>

<file path=ppt/slides/slide1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B43FC9C-1CA0-4EE8-A396-0C2D784E3CC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decision and explain why it is justified</a:t>
            </a:r>
          </a:p>
        </p:txBody>
      </p:sp>
      <p:sp>
        <p:nvSpPr>
          <p:cNvPr id="2" name="paragraph-0">
            <a:extLst xmlns:a="http://schemas.openxmlformats.org/drawingml/2006/main">
              <a:ext uri="{FF2B5EF4-FFF2-40B4-BE49-F238E27FC236}">
                <a16:creationId xmlns:a16="http://schemas.microsoft.com/office/drawing/2014/main" id="{5D918915-9C14-4731-86E9-920B7513092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5. Does PCP prophylaxis have the same threshold in untreated and stably treated HIV?</a:t>
            </a:r>
          </a:p>
        </p:txBody>
      </p:sp>
      <p:sp>
        <p:nvSpPr>
          <p:cNvPr id="3" name="footer">
            <a:extLst xmlns:a="http://schemas.openxmlformats.org/drawingml/2006/main">
              <a:ext uri="{FF2B5EF4-FFF2-40B4-BE49-F238E27FC236}">
                <a16:creationId xmlns:a16="http://schemas.microsoft.com/office/drawing/2014/main" id="{17983CEA-6B2C-4C05-BD42-E73D95FCC70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E2BC62F-3130-4CB0-8927-8F735758B70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161</a:t>
            </a:r>
          </a:p>
        </p:txBody>
      </p:sp>
    </p:spTree>
    <p:extLst>
      <p:ext uri="{BB962C8B-B14F-4D97-AF65-F5344CB8AC3E}">
        <p14:creationId xmlns:p14="http://schemas.microsoft.com/office/powerpoint/2010/main" val="1313683533"/>
      </p:ext>
    </p:extLst>
  </p:cSld>
</p:sld>
</file>

<file path=ppt/slides/slide1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BD38773-E64E-4542-8477-16DF0B29EF9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A2D455AF-AC56-40BB-AADB-7F3268431BF6}"/>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For patients not on ART or starting ART, use CD4 &lt;200. Restart decisions on ART incorporate CD4 and the viral-load pattern. [6]</a:t>
            </a:r>
          </a:p>
        </p:txBody>
      </p:sp>
      <p:sp>
        <p:nvSpPr>
          <p:cNvPr id="3" name="footer">
            <a:extLst xmlns:a="http://schemas.openxmlformats.org/drawingml/2006/main">
              <a:ext uri="{FF2B5EF4-FFF2-40B4-BE49-F238E27FC236}">
                <a16:creationId xmlns:a16="http://schemas.microsoft.com/office/drawing/2014/main" id="{A9F243CB-7826-44FB-ACF0-1C0FB73878B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57BEC41-C1C1-4DA3-AF81-60D348057C3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162</a:t>
            </a:r>
          </a:p>
        </p:txBody>
      </p:sp>
    </p:spTree>
    <p:extLst>
      <p:ext uri="{BB962C8B-B14F-4D97-AF65-F5344CB8AC3E}">
        <p14:creationId xmlns:p14="http://schemas.microsoft.com/office/powerpoint/2010/main" val="1890983844"/>
      </p:ext>
    </p:extLst>
  </p:cSld>
</p:sld>
</file>

<file path=ppt/slides/slide1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8E9D2D1-60AA-42A0-91BC-AC1B0563FC0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decision and explain why it is justified</a:t>
            </a:r>
          </a:p>
        </p:txBody>
      </p:sp>
      <p:sp>
        <p:nvSpPr>
          <p:cNvPr id="2" name="paragraph-0">
            <a:extLst xmlns:a="http://schemas.openxmlformats.org/drawingml/2006/main">
              <a:ext uri="{FF2B5EF4-FFF2-40B4-BE49-F238E27FC236}">
                <a16:creationId xmlns:a16="http://schemas.microsoft.com/office/drawing/2014/main" id="{12B70F1E-2EDA-4E14-897E-6768C5E1D6A4}"/>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6. Should ART start immediately for cryptococcal meningitis?</a:t>
            </a:r>
          </a:p>
        </p:txBody>
      </p:sp>
      <p:sp>
        <p:nvSpPr>
          <p:cNvPr id="3" name="footer">
            <a:extLst xmlns:a="http://schemas.openxmlformats.org/drawingml/2006/main">
              <a:ext uri="{FF2B5EF4-FFF2-40B4-BE49-F238E27FC236}">
                <a16:creationId xmlns:a16="http://schemas.microsoft.com/office/drawing/2014/main" id="{AC5DD284-4806-44CA-AB8F-39AD93FA974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C0FFFD0-7997-4B90-B19B-8CF82F18C19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163</a:t>
            </a:r>
          </a:p>
        </p:txBody>
      </p:sp>
    </p:spTree>
    <p:extLst>
      <p:ext uri="{BB962C8B-B14F-4D97-AF65-F5344CB8AC3E}">
        <p14:creationId xmlns:p14="http://schemas.microsoft.com/office/powerpoint/2010/main" val="433374798"/>
      </p:ext>
    </p:extLst>
  </p:cSld>
</p:sld>
</file>

<file path=ppt/slides/slide1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B6B2CA5-C88B-461A-B1FA-FA061107FA4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BB0061C0-1646-4F67-893A-499BB3D949C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Usually no. Treat cryptococcosis and elevated intracranial pressure first; ART generally starts around 4-6 weeks. [7]</a:t>
            </a:r>
          </a:p>
        </p:txBody>
      </p:sp>
      <p:sp>
        <p:nvSpPr>
          <p:cNvPr id="3" name="footer">
            <a:extLst xmlns:a="http://schemas.openxmlformats.org/drawingml/2006/main">
              <a:ext uri="{FF2B5EF4-FFF2-40B4-BE49-F238E27FC236}">
                <a16:creationId xmlns:a16="http://schemas.microsoft.com/office/drawing/2014/main" id="{0CF01A85-5D2C-4BDE-9031-E1666A65BB9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B0EE39B-E91D-4D8B-AFD2-2AC5B62BE67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164</a:t>
            </a:r>
          </a:p>
        </p:txBody>
      </p:sp>
    </p:spTree>
    <p:extLst>
      <p:ext uri="{BB962C8B-B14F-4D97-AF65-F5344CB8AC3E}">
        <p14:creationId xmlns:p14="http://schemas.microsoft.com/office/powerpoint/2010/main" val="1372242544"/>
      </p:ext>
    </p:extLst>
  </p:cSld>
</p:sld>
</file>

<file path=ppt/slides/slide1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17ED6F5-CE48-4D06-A618-1C3BDCE193D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decision and explain why it is justified</a:t>
            </a:r>
          </a:p>
        </p:txBody>
      </p:sp>
      <p:sp>
        <p:nvSpPr>
          <p:cNvPr id="2" name="paragraph-0">
            <a:extLst xmlns:a="http://schemas.openxmlformats.org/drawingml/2006/main">
              <a:ext uri="{FF2B5EF4-FFF2-40B4-BE49-F238E27FC236}">
                <a16:creationId xmlns:a16="http://schemas.microsoft.com/office/drawing/2014/main" id="{CEC2EED3-1883-4E9F-B4C7-60256F9FBBAC}"/>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7. Does persistent CrAg mean induction has failed?</a:t>
            </a:r>
          </a:p>
        </p:txBody>
      </p:sp>
      <p:sp>
        <p:nvSpPr>
          <p:cNvPr id="3" name="footer">
            <a:extLst xmlns:a="http://schemas.openxmlformats.org/drawingml/2006/main">
              <a:ext uri="{FF2B5EF4-FFF2-40B4-BE49-F238E27FC236}">
                <a16:creationId xmlns:a16="http://schemas.microsoft.com/office/drawing/2014/main" id="{AC15D576-052F-4897-AA89-DF1450EB381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50267B3-1F90-4CC6-9494-70CF4EE2971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165</a:t>
            </a:r>
          </a:p>
        </p:txBody>
      </p:sp>
    </p:spTree>
    <p:extLst>
      <p:ext uri="{BB962C8B-B14F-4D97-AF65-F5344CB8AC3E}">
        <p14:creationId xmlns:p14="http://schemas.microsoft.com/office/powerpoint/2010/main" val="75489432"/>
      </p:ext>
    </p:extLst>
  </p:cSld>
</p:sld>
</file>

<file path=ppt/slides/slide1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4D745C0-6060-467B-83F5-874AC5C7A32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98FF009F-C46F-449B-AA0A-A7B43887879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Follow clinical response, opening pressure, and CSF fungal cultures; antigen can persist. [7]</a:t>
            </a:r>
          </a:p>
        </p:txBody>
      </p:sp>
      <p:sp>
        <p:nvSpPr>
          <p:cNvPr id="3" name="footer">
            <a:extLst xmlns:a="http://schemas.openxmlformats.org/drawingml/2006/main">
              <a:ext uri="{FF2B5EF4-FFF2-40B4-BE49-F238E27FC236}">
                <a16:creationId xmlns:a16="http://schemas.microsoft.com/office/drawing/2014/main" id="{19429B50-8535-4257-9EF6-9A893784737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2A48327-5C48-452E-87B3-B863C35B46A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166</a:t>
            </a:r>
          </a:p>
        </p:txBody>
      </p:sp>
    </p:spTree>
    <p:extLst>
      <p:ext uri="{BB962C8B-B14F-4D97-AF65-F5344CB8AC3E}">
        <p14:creationId xmlns:p14="http://schemas.microsoft.com/office/powerpoint/2010/main" val="1289361202"/>
      </p:ext>
    </p:extLst>
  </p:cSld>
</p:sld>
</file>

<file path=ppt/slides/slide1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B8F9E7D-2866-4FED-8BEC-C791011E87B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decision and explain why it is justified</a:t>
            </a:r>
          </a:p>
        </p:txBody>
      </p:sp>
      <p:sp>
        <p:nvSpPr>
          <p:cNvPr id="2" name="paragraph-0">
            <a:extLst xmlns:a="http://schemas.openxmlformats.org/drawingml/2006/main">
              <a:ext uri="{FF2B5EF4-FFF2-40B4-BE49-F238E27FC236}">
                <a16:creationId xmlns:a16="http://schemas.microsoft.com/office/drawing/2014/main" id="{C8707672-1BA7-4024-B4A0-834024F8B7E1}"/>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8. Can a negative plasma CMV PCR exclude CMV retinitis?</a:t>
            </a:r>
          </a:p>
        </p:txBody>
      </p:sp>
      <p:sp>
        <p:nvSpPr>
          <p:cNvPr id="3" name="footer">
            <a:extLst xmlns:a="http://schemas.openxmlformats.org/drawingml/2006/main">
              <a:ext uri="{FF2B5EF4-FFF2-40B4-BE49-F238E27FC236}">
                <a16:creationId xmlns:a16="http://schemas.microsoft.com/office/drawing/2014/main" id="{74AF45EF-C3F3-43AA-B0F8-F815E6B52A6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C669023-B555-4E93-8FA8-5C44BC086AB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167</a:t>
            </a:r>
          </a:p>
        </p:txBody>
      </p:sp>
    </p:spTree>
    <p:extLst>
      <p:ext uri="{BB962C8B-B14F-4D97-AF65-F5344CB8AC3E}">
        <p14:creationId xmlns:p14="http://schemas.microsoft.com/office/powerpoint/2010/main" val="1745679424"/>
      </p:ext>
    </p:extLst>
  </p:cSld>
</p:sld>
</file>

<file path=ppt/slides/slide1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73553CD-CDFD-4FC5-9E13-789EED57A16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65B243C1-51A0-461E-AD04-56F669FA6E8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Retinal examination establishes the diagnosis in the appropriate clinical setting. [18]</a:t>
            </a:r>
          </a:p>
        </p:txBody>
      </p:sp>
      <p:sp>
        <p:nvSpPr>
          <p:cNvPr id="3" name="footer">
            <a:extLst xmlns:a="http://schemas.openxmlformats.org/drawingml/2006/main">
              <a:ext uri="{FF2B5EF4-FFF2-40B4-BE49-F238E27FC236}">
                <a16:creationId xmlns:a16="http://schemas.microsoft.com/office/drawing/2014/main" id="{14B6E19F-765A-4CED-B5EB-85C177611EC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DBEE3F3-3740-4DB9-AAC8-5CB42F6741D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168</a:t>
            </a:r>
          </a:p>
        </p:txBody>
      </p:sp>
    </p:spTree>
    <p:extLst>
      <p:ext uri="{BB962C8B-B14F-4D97-AF65-F5344CB8AC3E}">
        <p14:creationId xmlns:p14="http://schemas.microsoft.com/office/powerpoint/2010/main" val="1784862620"/>
      </p:ext>
    </p:extLst>
  </p:cSld>
</p:sld>
</file>

<file path=ppt/slides/slide1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41229B7-1F92-4E52-81AC-19F737B0247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decision and explain why it is justified</a:t>
            </a:r>
          </a:p>
        </p:txBody>
      </p:sp>
      <p:sp>
        <p:nvSpPr>
          <p:cNvPr id="2" name="paragraph-0">
            <a:extLst xmlns:a="http://schemas.openxmlformats.org/drawingml/2006/main">
              <a:ext uri="{FF2B5EF4-FFF2-40B4-BE49-F238E27FC236}">
                <a16:creationId xmlns:a16="http://schemas.microsoft.com/office/drawing/2014/main" id="{5213AE7E-FD08-410A-A356-D915B7290DD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9. Can a prevention lenacapavir injection treat established HIV by itself?</a:t>
            </a:r>
          </a:p>
        </p:txBody>
      </p:sp>
      <p:sp>
        <p:nvSpPr>
          <p:cNvPr id="3" name="footer">
            <a:extLst xmlns:a="http://schemas.openxmlformats.org/drawingml/2006/main">
              <a:ext uri="{FF2B5EF4-FFF2-40B4-BE49-F238E27FC236}">
                <a16:creationId xmlns:a16="http://schemas.microsoft.com/office/drawing/2014/main" id="{676E59DC-4D88-4E74-9440-133791E3914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3A5A16F-CC16-47E6-818A-900E090325F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169</a:t>
            </a:r>
          </a:p>
        </p:txBody>
      </p:sp>
    </p:spTree>
    <p:extLst>
      <p:ext uri="{BB962C8B-B14F-4D97-AF65-F5344CB8AC3E}">
        <p14:creationId xmlns:p14="http://schemas.microsoft.com/office/powerpoint/2010/main" val="798958939"/>
      </p:ext>
    </p:extLst>
  </p:cSld>
</p:sld>
</file>

<file path=ppt/slides/slide1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98F83FF-8E10-4B72-97B6-E61BF3E190F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AFC51A84-3455-4434-A164-5B1DE0303D9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Treatment requires a fully active combination selected for treatment history and resistance. [39]</a:t>
            </a:r>
          </a:p>
        </p:txBody>
      </p:sp>
      <p:sp>
        <p:nvSpPr>
          <p:cNvPr id="3" name="footer">
            <a:extLst xmlns:a="http://schemas.openxmlformats.org/drawingml/2006/main">
              <a:ext uri="{FF2B5EF4-FFF2-40B4-BE49-F238E27FC236}">
                <a16:creationId xmlns:a16="http://schemas.microsoft.com/office/drawing/2014/main" id="{E44FB6C2-D14F-4DE1-958E-508A53CF66F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249C15B-C178-4842-A1F1-86D9E7AFC73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170</a:t>
            </a:r>
          </a:p>
        </p:txBody>
      </p:sp>
    </p:spTree>
    <p:extLst>
      <p:ext uri="{BB962C8B-B14F-4D97-AF65-F5344CB8AC3E}">
        <p14:creationId xmlns:p14="http://schemas.microsoft.com/office/powerpoint/2010/main" val="1674860875"/>
      </p:ext>
    </p:extLst>
  </p:cSld>
</p:sld>
</file>

<file path=ppt/slides/slide1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99C7AE9-579C-41A4-B0E1-32FC902AF75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decision and explain why it is justified</a:t>
            </a:r>
          </a:p>
        </p:txBody>
      </p:sp>
      <p:sp>
        <p:nvSpPr>
          <p:cNvPr id="2" name="paragraph-0">
            <a:extLst xmlns:a="http://schemas.openxmlformats.org/drawingml/2006/main">
              <a:ext uri="{FF2B5EF4-FFF2-40B4-BE49-F238E27FC236}">
                <a16:creationId xmlns:a16="http://schemas.microsoft.com/office/drawing/2014/main" id="{9B02CAA8-35D4-46B0-93DC-2B39924EB566}"/>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10. Does LATITUDE prove that all viremic patients should immediately receive CAB/RPV?</a:t>
            </a:r>
          </a:p>
        </p:txBody>
      </p:sp>
      <p:sp>
        <p:nvSpPr>
          <p:cNvPr id="3" name="footer">
            <a:extLst xmlns:a="http://schemas.openxmlformats.org/drawingml/2006/main">
              <a:ext uri="{FF2B5EF4-FFF2-40B4-BE49-F238E27FC236}">
                <a16:creationId xmlns:a16="http://schemas.microsoft.com/office/drawing/2014/main" id="{5A1045E0-8A0F-42D0-8F35-9EAD4C91571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C1330B4-61F6-496B-9EFB-D1EC32BD32C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171</a:t>
            </a:r>
          </a:p>
        </p:txBody>
      </p:sp>
    </p:spTree>
    <p:extLst>
      <p:ext uri="{BB962C8B-B14F-4D97-AF65-F5344CB8AC3E}">
        <p14:creationId xmlns:p14="http://schemas.microsoft.com/office/powerpoint/2010/main" val="2048562539"/>
      </p:ext>
    </p:extLst>
  </p:cSld>
</p:sld>
</file>

<file path=ppt/slides/slide1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6FF5A67-81B0-4FA2-8808-9C351740511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B2F19154-18FB-43C8-B672-E03597BAB630}"/>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Randomization followed an initial supported oral phase and achievement of the trial viral-load threshold. Eligibility and implementation support matter. [38]</a:t>
            </a:r>
          </a:p>
        </p:txBody>
      </p:sp>
      <p:sp>
        <p:nvSpPr>
          <p:cNvPr id="3" name="footer">
            <a:extLst xmlns:a="http://schemas.openxmlformats.org/drawingml/2006/main">
              <a:ext uri="{FF2B5EF4-FFF2-40B4-BE49-F238E27FC236}">
                <a16:creationId xmlns:a16="http://schemas.microsoft.com/office/drawing/2014/main" id="{6EC8F150-DB7B-46E4-AE14-977534903F0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47E3EC8-403F-40B2-A8EB-D79E328F1F7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172</a:t>
            </a:r>
          </a:p>
        </p:txBody>
      </p:sp>
    </p:spTree>
    <p:extLst>
      <p:ext uri="{BB962C8B-B14F-4D97-AF65-F5344CB8AC3E}">
        <p14:creationId xmlns:p14="http://schemas.microsoft.com/office/powerpoint/2010/main" val="495542792"/>
      </p:ext>
    </p:extLst>
  </p:cSld>
</p:sld>
</file>

<file path=ppt/slides/slide1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BF6306F-9B5E-4268-A195-87C6105DAAE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decision and explain why it is justified</a:t>
            </a:r>
          </a:p>
        </p:txBody>
      </p:sp>
      <p:sp>
        <p:nvSpPr>
          <p:cNvPr id="2" name="paragraph-0">
            <a:extLst xmlns:a="http://schemas.openxmlformats.org/drawingml/2006/main">
              <a:ext uri="{FF2B5EF4-FFF2-40B4-BE49-F238E27FC236}">
                <a16:creationId xmlns:a16="http://schemas.microsoft.com/office/drawing/2014/main" id="{6F760866-112F-4335-977A-D13175B80DA2}"/>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11. What is the definitive treatment principle for HIV-associated PML?</a:t>
            </a:r>
          </a:p>
        </p:txBody>
      </p:sp>
      <p:sp>
        <p:nvSpPr>
          <p:cNvPr id="3" name="footer">
            <a:extLst xmlns:a="http://schemas.openxmlformats.org/drawingml/2006/main">
              <a:ext uri="{FF2B5EF4-FFF2-40B4-BE49-F238E27FC236}">
                <a16:creationId xmlns:a16="http://schemas.microsoft.com/office/drawing/2014/main" id="{D96A34A9-4146-4DF9-BD5D-AA2D23454C4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9C346B0-A786-4B59-BB6E-9F2ACE75486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173</a:t>
            </a:r>
          </a:p>
        </p:txBody>
      </p:sp>
    </p:spTree>
    <p:extLst>
      <p:ext uri="{BB962C8B-B14F-4D97-AF65-F5344CB8AC3E}">
        <p14:creationId xmlns:p14="http://schemas.microsoft.com/office/powerpoint/2010/main" val="205410263"/>
      </p:ext>
    </p:extLst>
  </p:cSld>
</p:sld>
</file>

<file path=ppt/slides/slide1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E2EECEF-7C1D-461B-B3AC-AEC06FD3587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39CAECCC-A2A0-412C-AA58-D89C9CDAF4F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Rapid effective ART and immune restoration. There is no established JCV-specific antiviral regimen. [20]</a:t>
            </a:r>
          </a:p>
        </p:txBody>
      </p:sp>
      <p:sp>
        <p:nvSpPr>
          <p:cNvPr id="3" name="footer">
            <a:extLst xmlns:a="http://schemas.openxmlformats.org/drawingml/2006/main">
              <a:ext uri="{FF2B5EF4-FFF2-40B4-BE49-F238E27FC236}">
                <a16:creationId xmlns:a16="http://schemas.microsoft.com/office/drawing/2014/main" id="{4D28350E-74F6-4283-A228-C9308BEA46B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CA86788-143D-4E23-9ACE-402E3AB6A21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174</a:t>
            </a:r>
          </a:p>
        </p:txBody>
      </p:sp>
    </p:spTree>
    <p:extLst>
      <p:ext uri="{BB962C8B-B14F-4D97-AF65-F5344CB8AC3E}">
        <p14:creationId xmlns:p14="http://schemas.microsoft.com/office/powerpoint/2010/main" val="1350116482"/>
      </p:ext>
    </p:extLst>
  </p:cSld>
</p:sld>
</file>

<file path=ppt/slides/slide1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8E2E94F-9CED-488A-9309-F6DCE9BB531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Check the decision and explain why it is justified</a:t>
            </a:r>
          </a:p>
        </p:txBody>
      </p:sp>
      <p:sp>
        <p:nvSpPr>
          <p:cNvPr id="2" name="paragraph-0">
            <a:extLst xmlns:a="http://schemas.openxmlformats.org/drawingml/2006/main">
              <a:ext uri="{FF2B5EF4-FFF2-40B4-BE49-F238E27FC236}">
                <a16:creationId xmlns:a16="http://schemas.microsoft.com/office/drawing/2014/main" id="{CE0F0011-0874-412F-B6BA-1C790F3624F1}"/>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12. What makes the discharge plan complete?</a:t>
            </a:r>
          </a:p>
        </p:txBody>
      </p:sp>
      <p:sp>
        <p:nvSpPr>
          <p:cNvPr id="3" name="footer">
            <a:extLst xmlns:a="http://schemas.openxmlformats.org/drawingml/2006/main">
              <a:ext uri="{FF2B5EF4-FFF2-40B4-BE49-F238E27FC236}">
                <a16:creationId xmlns:a16="http://schemas.microsoft.com/office/drawing/2014/main" id="{5B5151A2-4111-4B97-85A0-2AC29BB41A8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5FF2030-16DE-4E6D-AADC-98CD4DDB1C2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175</a:t>
            </a:r>
          </a:p>
        </p:txBody>
      </p:sp>
    </p:spTree>
    <p:extLst>
      <p:ext uri="{BB962C8B-B14F-4D97-AF65-F5344CB8AC3E}">
        <p14:creationId xmlns:p14="http://schemas.microsoft.com/office/powerpoint/2010/main" val="909087700"/>
      </p:ext>
    </p:extLst>
  </p:cSld>
</p:sld>
</file>

<file path=ppt/slides/slide1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7ECEC07-9CD5-4A4C-A0E5-2693425B738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Show explanation</a:t>
            </a:r>
          </a:p>
        </p:txBody>
      </p:sp>
      <p:sp>
        <p:nvSpPr>
          <p:cNvPr id="2" name="paragraph-0">
            <a:extLst xmlns:a="http://schemas.openxmlformats.org/drawingml/2006/main">
              <a:ext uri="{FF2B5EF4-FFF2-40B4-BE49-F238E27FC236}">
                <a16:creationId xmlns:a16="http://schemas.microsoft.com/office/drawing/2014/main" id="{B2F48551-988F-43FC-B520-AA2F1843019B}"/>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Medication supply through follow-up, a confirmed appointment, named ownership of pending results and toxicity monitoring, and clear return precautions. [2]</a:t>
            </a:r>
          </a:p>
        </p:txBody>
      </p:sp>
      <p:sp>
        <p:nvSpPr>
          <p:cNvPr id="3" name="footer">
            <a:extLst xmlns:a="http://schemas.openxmlformats.org/drawingml/2006/main">
              <a:ext uri="{FF2B5EF4-FFF2-40B4-BE49-F238E27FC236}">
                <a16:creationId xmlns:a16="http://schemas.microsoft.com/office/drawing/2014/main" id="{24D852C6-1781-470C-9011-EC460228C25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93C5EB3-E9E7-48ED-A894-540A7650F44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176</a:t>
            </a:r>
          </a:p>
        </p:txBody>
      </p:sp>
    </p:spTree>
    <p:extLst>
      <p:ext uri="{BB962C8B-B14F-4D97-AF65-F5344CB8AC3E}">
        <p14:creationId xmlns:p14="http://schemas.microsoft.com/office/powerpoint/2010/main" val="1256750424"/>
      </p:ext>
    </p:extLst>
  </p:cSld>
</p:sld>
</file>

<file path=ppt/slides/slide1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AD30761-F627-48E6-999B-CB963F2712F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Consult-note framework</a:t>
            </a:r>
          </a:p>
        </p:txBody>
      </p:sp>
      <p:sp>
        <p:nvSpPr>
          <p:cNvPr id="2" name="paragraph-0">
            <a:extLst xmlns:a="http://schemas.openxmlformats.org/drawingml/2006/main">
              <a:ext uri="{FF2B5EF4-FFF2-40B4-BE49-F238E27FC236}">
                <a16:creationId xmlns:a16="http://schemas.microsoft.com/office/drawing/2014/main" id="{4DE56C1B-8A3C-42B8-B189-4A757249E286}"/>
              </a:ext>
            </a:extLst>
          </p:cNvPr>
          <p:cNvSpPr>
            <a:spLocks xmlns:a="http://schemas.openxmlformats.org/drawingml/2006/main" noGrp="1"/>
          </p:cNvSpPr>
          <p:nvPr/>
        </p:nvSpPr>
        <p:spPr>
          <a:xfrm xmlns:a="http://schemas.openxmlformats.org/drawingml/2006/main">
            <a:off x="647700" y="1952625"/>
            <a:ext cx="108585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HIV diagnosis and treatment history: [confirmed tests; prior ART/PrEP; prior resistance]. Current HIV RNA [ ] and CD4 [ ]. Current syndrome: [site and severity], with [leading diagnosis] and [alternatives]. Diagnostic plan: [specimens], with [result or reassessment date] that would change treatment. OI treatment: [drug, dose, route, renal adjustment, start date, duration, and maintenance plan]. ART: [complete regimen] starting [date], or deferred because [specific reason and reassessment date]. Monitoring: [toxicity tests and timing], interactions reviewed with [ ].</a:t>
            </a:r>
          </a:p>
        </p:txBody>
      </p:sp>
      <p:sp>
        <p:nvSpPr>
          <p:cNvPr id="3" name="footer">
            <a:extLst xmlns:a="http://schemas.openxmlformats.org/drawingml/2006/main">
              <a:ext uri="{FF2B5EF4-FFF2-40B4-BE49-F238E27FC236}">
                <a16:creationId xmlns:a16="http://schemas.microsoft.com/office/drawing/2014/main" id="{862CB448-44A1-49CB-8182-EDB770DFF3E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D3A570E-456B-473B-BE4B-C27E29A99A7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177</a:t>
            </a:r>
          </a:p>
        </p:txBody>
      </p:sp>
    </p:spTree>
    <p:extLst>
      <p:ext uri="{BB962C8B-B14F-4D97-AF65-F5344CB8AC3E}">
        <p14:creationId xmlns:p14="http://schemas.microsoft.com/office/powerpoint/2010/main" val="121712630"/>
      </p:ext>
    </p:extLst>
  </p:cSld>
</p:sld>
</file>

<file path=ppt/slides/slide1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7B755EA-6E43-4BAB-876E-69C1B4FCD79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Consult-note framework</a:t>
            </a:r>
          </a:p>
        </p:txBody>
      </p:sp>
      <p:sp>
        <p:nvSpPr>
          <p:cNvPr id="2" name="paragraph-0">
            <a:extLst xmlns:a="http://schemas.openxmlformats.org/drawingml/2006/main">
              <a:ext uri="{FF2B5EF4-FFF2-40B4-BE49-F238E27FC236}">
                <a16:creationId xmlns:a16="http://schemas.microsoft.com/office/drawing/2014/main" id="{CC415782-F6C5-4FF5-84A1-9CDA014646EE}"/>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Prevention: [PCP/toxoplasma/MAC decision], vaccinations and partner prevention as appropriate. Transition: [medication supply], [HIV appointment], [pending-result owner], and [return precautions].</a:t>
            </a:r>
          </a:p>
        </p:txBody>
      </p:sp>
      <p:sp>
        <p:nvSpPr>
          <p:cNvPr id="3" name="footer">
            <a:extLst xmlns:a="http://schemas.openxmlformats.org/drawingml/2006/main">
              <a:ext uri="{FF2B5EF4-FFF2-40B4-BE49-F238E27FC236}">
                <a16:creationId xmlns:a16="http://schemas.microsoft.com/office/drawing/2014/main" id="{BC71E660-F2AF-43B9-9404-BE99F7EA619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BC6E329-C671-4559-936E-D55E6A6F5DB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178</a:t>
            </a:r>
          </a:p>
        </p:txBody>
      </p:sp>
    </p:spTree>
    <p:extLst>
      <p:ext uri="{BB962C8B-B14F-4D97-AF65-F5344CB8AC3E}">
        <p14:creationId xmlns:p14="http://schemas.microsoft.com/office/powerpoint/2010/main" val="2107566431"/>
      </p:ext>
    </p:extLst>
  </p:cSld>
</p:sld>
</file>

<file path=ppt/slides/slide1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43B15FC-B69A-444F-AB8A-F4923D14022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Primary-team communication example</a:t>
            </a:r>
          </a:p>
        </p:txBody>
      </p:sp>
      <p:sp>
        <p:nvSpPr>
          <p:cNvPr id="2" name="paragraph-0">
            <a:extLst xmlns:a="http://schemas.openxmlformats.org/drawingml/2006/main">
              <a:ext uri="{FF2B5EF4-FFF2-40B4-BE49-F238E27FC236}">
                <a16:creationId xmlns:a16="http://schemas.microsoft.com/office/drawing/2014/main" id="{9B142C97-2D69-4D2C-89F3-25FDEE8C42E9}"/>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pulmonary presentation is concerning for PCP. We are treating while respiratory testing is pending and have assessed the steroid threshold. Please keep the ART plan and start date visible in the discharge summary. Before discharge, we need both the treatment supply and the subsequent prophylaxis prescription, with HIV follow-up confirmed.”</a:t>
            </a:r>
          </a:p>
        </p:txBody>
      </p:sp>
      <p:sp>
        <p:nvSpPr>
          <p:cNvPr id="3" name="paragraph-1">
            <a:extLst xmlns:a="http://schemas.openxmlformats.org/drawingml/2006/main">
              <a:ext uri="{FF2B5EF4-FFF2-40B4-BE49-F238E27FC236}">
                <a16:creationId xmlns:a16="http://schemas.microsoft.com/office/drawing/2014/main" id="{2D9D2797-94DC-456F-BD24-F5944FEA190D}"/>
              </a:ext>
            </a:extLst>
          </p:cNvPr>
          <p:cNvSpPr>
            <a:spLocks xmlns:a="http://schemas.openxmlformats.org/drawingml/2006/main" noGrp="1"/>
          </p:cNvSpPr>
          <p:nvPr/>
        </p:nvSpPr>
        <p:spPr>
          <a:xfrm xmlns:a="http://schemas.openxmlformats.org/drawingml/2006/main">
            <a:off x="647700" y="39719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Local confirmation needed: laboratory reflex HIV algorithm and resistance-panel components; access to flucytosine/pyrimethamine and antifungal drug levels; ART formulary and emergency supply; HIV clinic/ADAP access; ophthalmology, endoscopy, TB and public-health contacts.</a:t>
            </a:r>
          </a:p>
        </p:txBody>
      </p:sp>
      <p:sp>
        <p:nvSpPr>
          <p:cNvPr id="4" name="footer">
            <a:extLst xmlns:a="http://schemas.openxmlformats.org/drawingml/2006/main">
              <a:ext uri="{FF2B5EF4-FFF2-40B4-BE49-F238E27FC236}">
                <a16:creationId xmlns:a16="http://schemas.microsoft.com/office/drawing/2014/main" id="{647AED06-05F1-4AD8-AE3F-0B41554CE6A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248E4A0F-5AE1-4E7D-8733-C23E775EC5B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179</a:t>
            </a:r>
          </a:p>
        </p:txBody>
      </p:sp>
    </p:spTree>
    <p:extLst>
      <p:ext uri="{BB962C8B-B14F-4D97-AF65-F5344CB8AC3E}">
        <p14:creationId xmlns:p14="http://schemas.microsoft.com/office/powerpoint/2010/main" val="1752677668"/>
      </p:ext>
    </p:extLst>
  </p:cSld>
</p:sld>
</file>

<file path=ppt/slides/slide1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D633C2C-A991-4BFE-AA43-0A2867516A4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0CCCDAF1-9CF4-4D79-BE0D-A4F7EE122BBE}"/>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recommendations follow U.S. NIH/CDC guidance unless specified. Individual chapters have different update dates. Labels establish approved uses; they do not by themselves establish preferred guideline status. Dose examples are for adults and need patient-specific renal, hepatic, pregnancy, and interaction review.</a:t>
            </a:r>
          </a:p>
        </p:txBody>
      </p:sp>
      <p:sp>
        <p:nvSpPr>
          <p:cNvPr id="3" name="footer">
            <a:extLst xmlns:a="http://schemas.openxmlformats.org/drawingml/2006/main">
              <a:ext uri="{FF2B5EF4-FFF2-40B4-BE49-F238E27FC236}">
                <a16:creationId xmlns:a16="http://schemas.microsoft.com/office/drawing/2014/main" id="{C49991E0-FB3A-464C-9627-9A416794BF7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F2F8B13-D77D-441F-B4EF-B52808ED1D4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180</a:t>
            </a:r>
          </a:p>
        </p:txBody>
      </p:sp>
    </p:spTree>
    <p:extLst>
      <p:ext uri="{BB962C8B-B14F-4D97-AF65-F5344CB8AC3E}">
        <p14:creationId xmlns:p14="http://schemas.microsoft.com/office/powerpoint/2010/main" val="255186997"/>
      </p:ext>
    </p:extLst>
  </p:cSld>
</p:sld>
</file>

<file path=ppt/slides/slide1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71145A1-CFB2-4860-961E-8338BAD06CB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D6CC594D-6441-4B86-B4A2-54C906C28DA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Early (Acute and Recent) HIV Infection . September 12, 2024. Accessed September 15, 2026.</a:t>
            </a:r>
          </a:p>
        </p:txBody>
      </p:sp>
      <p:sp>
        <p:nvSpPr>
          <p:cNvPr id="3" name="footer">
            <a:extLst xmlns:a="http://schemas.openxmlformats.org/drawingml/2006/main">
              <a:ext uri="{FF2B5EF4-FFF2-40B4-BE49-F238E27FC236}">
                <a16:creationId xmlns:a16="http://schemas.microsoft.com/office/drawing/2014/main" id="{FF5E1E17-A6DA-4EB7-8649-70CA09BB518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D6766F9-AA6A-41B5-89D2-A73B3332528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181</a:t>
            </a:r>
          </a:p>
        </p:txBody>
      </p:sp>
    </p:spTree>
    <p:extLst>
      <p:ext uri="{BB962C8B-B14F-4D97-AF65-F5344CB8AC3E}">
        <p14:creationId xmlns:p14="http://schemas.microsoft.com/office/powerpoint/2010/main" val="1386602859"/>
      </p:ext>
    </p:extLst>
  </p:cSld>
</p:sld>
</file>

<file path=ppt/slides/slide1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CF2F921-4CAB-4CE0-86EB-EF6F7647015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0ACA25C6-8061-4DA3-8001-27B6D3D8965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Initiation of Antiretroviral Therapy . September 25, 2025. Accessed September 15, 2026.</a:t>
            </a:r>
          </a:p>
        </p:txBody>
      </p:sp>
      <p:sp>
        <p:nvSpPr>
          <p:cNvPr id="3" name="footer">
            <a:extLst xmlns:a="http://schemas.openxmlformats.org/drawingml/2006/main">
              <a:ext uri="{FF2B5EF4-FFF2-40B4-BE49-F238E27FC236}">
                <a16:creationId xmlns:a16="http://schemas.microsoft.com/office/drawing/2014/main" id="{B27D2CE5-25D3-4C54-BFC0-8BE5E7DDD9D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EAD546C-38B9-41EF-95D7-4CA8C3F2AC4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182</a:t>
            </a:r>
          </a:p>
        </p:txBody>
      </p:sp>
    </p:spTree>
    <p:extLst>
      <p:ext uri="{BB962C8B-B14F-4D97-AF65-F5344CB8AC3E}">
        <p14:creationId xmlns:p14="http://schemas.microsoft.com/office/powerpoint/2010/main" val="1931975260"/>
      </p:ext>
    </p:extLst>
  </p:cSld>
</p:sld>
</file>

<file path=ppt/slides/slide1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7F7DF5D-CA10-4923-B39C-1FA3A91B532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B3C1CF5F-73E7-4DF7-BB35-0A5C8AE64B3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Mycobacterium tuberculosis . May 02, 2024. Accessed September 15, 2026.</a:t>
            </a:r>
          </a:p>
        </p:txBody>
      </p:sp>
      <p:sp>
        <p:nvSpPr>
          <p:cNvPr id="3" name="footer">
            <a:extLst xmlns:a="http://schemas.openxmlformats.org/drawingml/2006/main">
              <a:ext uri="{FF2B5EF4-FFF2-40B4-BE49-F238E27FC236}">
                <a16:creationId xmlns:a16="http://schemas.microsoft.com/office/drawing/2014/main" id="{C96C551B-9EB2-4D1A-9843-35BFF087AE6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EAFF660-8B0D-4376-AD7A-C7D008A1894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183</a:t>
            </a:r>
          </a:p>
        </p:txBody>
      </p:sp>
    </p:spTree>
    <p:extLst>
      <p:ext uri="{BB962C8B-B14F-4D97-AF65-F5344CB8AC3E}">
        <p14:creationId xmlns:p14="http://schemas.microsoft.com/office/powerpoint/2010/main" val="424401009"/>
      </p:ext>
    </p:extLst>
  </p:cSld>
</p:sld>
</file>

<file path=ppt/slides/slide1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E96D0DF-F613-42E9-9E10-C12B1266512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55DA2B3F-06CA-42B6-9FB3-A072EB6357F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Baseline Evaluation . September 21, 2022. Accessed September 15, 2026.</a:t>
            </a:r>
          </a:p>
        </p:txBody>
      </p:sp>
      <p:sp>
        <p:nvSpPr>
          <p:cNvPr id="3" name="footer">
            <a:extLst xmlns:a="http://schemas.openxmlformats.org/drawingml/2006/main">
              <a:ext uri="{FF2B5EF4-FFF2-40B4-BE49-F238E27FC236}">
                <a16:creationId xmlns:a16="http://schemas.microsoft.com/office/drawing/2014/main" id="{0189F7A1-548A-4FBC-9385-78B0FCA2DCA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33F23980-AC04-48F1-9C67-7B9C6B3EB7B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184</a:t>
            </a:r>
          </a:p>
        </p:txBody>
      </p:sp>
    </p:spTree>
    <p:extLst>
      <p:ext uri="{BB962C8B-B14F-4D97-AF65-F5344CB8AC3E}">
        <p14:creationId xmlns:p14="http://schemas.microsoft.com/office/powerpoint/2010/main" val="1394947441"/>
      </p:ext>
    </p:extLst>
  </p:cSld>
</p:sld>
</file>

<file path=ppt/slides/slide1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DB02C6E-E31D-468F-B9FD-9D054DA7414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D2CE1184-B362-4364-8CEF-1FA5F64ED74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Toxoplasma gondii Encephalitis . September 09, 2025. Accessed September 15, 2026.</a:t>
            </a:r>
          </a:p>
        </p:txBody>
      </p:sp>
      <p:sp>
        <p:nvSpPr>
          <p:cNvPr id="3" name="footer">
            <a:extLst xmlns:a="http://schemas.openxmlformats.org/drawingml/2006/main">
              <a:ext uri="{FF2B5EF4-FFF2-40B4-BE49-F238E27FC236}">
                <a16:creationId xmlns:a16="http://schemas.microsoft.com/office/drawing/2014/main" id="{555A25D6-18E1-45B6-8FD3-D8790809944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3ADE9D2-1A7E-4C42-A549-42C83992D64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185</a:t>
            </a:r>
          </a:p>
        </p:txBody>
      </p:sp>
    </p:spTree>
    <p:extLst>
      <p:ext uri="{BB962C8B-B14F-4D97-AF65-F5344CB8AC3E}">
        <p14:creationId xmlns:p14="http://schemas.microsoft.com/office/powerpoint/2010/main" val="1658992464"/>
      </p:ext>
    </p:extLst>
  </p:cSld>
</p:sld>
</file>

<file path=ppt/slides/slide1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9BD3867-CF14-4CA6-A4A3-D3D8742F7DF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1373EDE9-31A1-48CA-A079-72F6F317D34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Pneumocystis Pneumonia . May 27, 2026. Accessed September 15, 2026.</a:t>
            </a:r>
          </a:p>
        </p:txBody>
      </p:sp>
      <p:sp>
        <p:nvSpPr>
          <p:cNvPr id="3" name="footer">
            <a:extLst xmlns:a="http://schemas.openxmlformats.org/drawingml/2006/main">
              <a:ext uri="{FF2B5EF4-FFF2-40B4-BE49-F238E27FC236}">
                <a16:creationId xmlns:a16="http://schemas.microsoft.com/office/drawing/2014/main" id="{6FC5AEBB-A3F8-4F5E-B7B2-68E1EA3AA09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28D12E4-0936-491D-85A4-4C96DF92E84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186</a:t>
            </a:r>
          </a:p>
        </p:txBody>
      </p:sp>
    </p:spTree>
    <p:extLst>
      <p:ext uri="{BB962C8B-B14F-4D97-AF65-F5344CB8AC3E}">
        <p14:creationId xmlns:p14="http://schemas.microsoft.com/office/powerpoint/2010/main" val="813946626"/>
      </p:ext>
    </p:extLst>
  </p:cSld>
</p:sld>
</file>

<file path=ppt/slides/slide1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A4061C3-E8F9-4E0C-A6C6-B9A200EF504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E95EFD9A-C798-4109-B24F-E10D69E305D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Cryptococcosis . October 29, 2024. Accessed September 15, 2026.</a:t>
            </a:r>
          </a:p>
        </p:txBody>
      </p:sp>
      <p:sp>
        <p:nvSpPr>
          <p:cNvPr id="3" name="footer">
            <a:extLst xmlns:a="http://schemas.openxmlformats.org/drawingml/2006/main">
              <a:ext uri="{FF2B5EF4-FFF2-40B4-BE49-F238E27FC236}">
                <a16:creationId xmlns:a16="http://schemas.microsoft.com/office/drawing/2014/main" id="{B63EEBB8-68E4-4D91-A722-13BA6DAF1CA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66936EB-CE03-4381-A7C5-94F07FE1FB7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187</a:t>
            </a:r>
          </a:p>
        </p:txBody>
      </p:sp>
    </p:spTree>
    <p:extLst>
      <p:ext uri="{BB962C8B-B14F-4D97-AF65-F5344CB8AC3E}">
        <p14:creationId xmlns:p14="http://schemas.microsoft.com/office/powerpoint/2010/main" val="715561713"/>
      </p:ext>
    </p:extLst>
  </p:cSld>
</p:sld>
</file>

<file path=ppt/slides/slide1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1E2A531-2994-4B52-A886-7F8ACFB0F6D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0D91763C-7DBA-46C9-B9B8-D667EA13031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What to Start: Initial Combination Antiretroviral Regimens . September 12, 2024. Accessed September 15, 2026.</a:t>
            </a:r>
          </a:p>
        </p:txBody>
      </p:sp>
      <p:sp>
        <p:nvSpPr>
          <p:cNvPr id="3" name="footer">
            <a:extLst xmlns:a="http://schemas.openxmlformats.org/drawingml/2006/main">
              <a:ext uri="{FF2B5EF4-FFF2-40B4-BE49-F238E27FC236}">
                <a16:creationId xmlns:a16="http://schemas.microsoft.com/office/drawing/2014/main" id="{8C1718AD-5968-4BCE-B9D8-D2680B09B40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D6530B5-72FF-472C-AAF5-DAB7712A167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188</a:t>
            </a:r>
          </a:p>
        </p:txBody>
      </p:sp>
    </p:spTree>
    <p:extLst>
      <p:ext uri="{BB962C8B-B14F-4D97-AF65-F5344CB8AC3E}">
        <p14:creationId xmlns:p14="http://schemas.microsoft.com/office/powerpoint/2010/main" val="51509042"/>
      </p:ext>
    </p:extLst>
  </p:cSld>
</p:sld>
</file>

<file path=ppt/slides/slide1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7B77DCF-7E8A-4464-9A59-0F0C842703A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7A20FB70-A23E-4FBE-9063-340EEDC0DA0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Prescribing information Gilead · Biktarvy prescribing information . July 2025. Accessed September 15, 2026.</a:t>
            </a:r>
          </a:p>
        </p:txBody>
      </p:sp>
      <p:sp>
        <p:nvSpPr>
          <p:cNvPr id="3" name="footer">
            <a:extLst xmlns:a="http://schemas.openxmlformats.org/drawingml/2006/main">
              <a:ext uri="{FF2B5EF4-FFF2-40B4-BE49-F238E27FC236}">
                <a16:creationId xmlns:a16="http://schemas.microsoft.com/office/drawing/2014/main" id="{AFD75956-9E98-47AC-A5E8-D35E62523B2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9CFF96C-6502-4A1D-92B1-AB7475A4184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189</a:t>
            </a:r>
          </a:p>
        </p:txBody>
      </p:sp>
    </p:spTree>
    <p:extLst>
      <p:ext uri="{BB962C8B-B14F-4D97-AF65-F5344CB8AC3E}">
        <p14:creationId xmlns:p14="http://schemas.microsoft.com/office/powerpoint/2010/main" val="1726465437"/>
      </p:ext>
    </p:extLst>
  </p:cSld>
</p:sld>
</file>

<file path=ppt/slides/slide1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47EA75D-20D6-43EF-A2A4-7CC202982B3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C0A8B1C9-E74B-4167-AB35-A4EB2135D01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ART Dosing in Renal or Hepatic Insufficiency . September 25, 2025. Accessed September 15, 2026.</a:t>
            </a:r>
          </a:p>
        </p:txBody>
      </p:sp>
      <p:sp>
        <p:nvSpPr>
          <p:cNvPr id="3" name="footer">
            <a:extLst xmlns:a="http://schemas.openxmlformats.org/drawingml/2006/main">
              <a:ext uri="{FF2B5EF4-FFF2-40B4-BE49-F238E27FC236}">
                <a16:creationId xmlns:a16="http://schemas.microsoft.com/office/drawing/2014/main" id="{8C9349F9-1781-4C5F-8DCE-A28B7D53648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7BC0911-AB13-494D-B8A9-0AA890AF804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190</a:t>
            </a:r>
          </a:p>
        </p:txBody>
      </p:sp>
    </p:spTree>
    <p:extLst>
      <p:ext uri="{BB962C8B-B14F-4D97-AF65-F5344CB8AC3E}">
        <p14:creationId xmlns:p14="http://schemas.microsoft.com/office/powerpoint/2010/main" val="2058354749"/>
      </p:ext>
    </p:extLst>
  </p:cSld>
</p:sld>
</file>

<file path=ppt/slides/slide1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6675191-7F61-42B8-8F18-30487568506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3FA9424D-FCD7-4B00-9FDB-C1A8282AE27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Prescribing information ViiV · Dovato prescribing information . October 2025. Accessed September 15, 2026.</a:t>
            </a:r>
          </a:p>
        </p:txBody>
      </p:sp>
      <p:sp>
        <p:nvSpPr>
          <p:cNvPr id="3" name="footer">
            <a:extLst xmlns:a="http://schemas.openxmlformats.org/drawingml/2006/main">
              <a:ext uri="{FF2B5EF4-FFF2-40B4-BE49-F238E27FC236}">
                <a16:creationId xmlns:a16="http://schemas.microsoft.com/office/drawing/2014/main" id="{EFFC56C8-0DA6-47B0-8854-6FDFA1A925E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E7D7F8D-D7BB-40F5-A7AA-9605C43E115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191</a:t>
            </a:r>
          </a:p>
        </p:txBody>
      </p:sp>
    </p:spTree>
    <p:extLst>
      <p:ext uri="{BB962C8B-B14F-4D97-AF65-F5344CB8AC3E}">
        <p14:creationId xmlns:p14="http://schemas.microsoft.com/office/powerpoint/2010/main" val="50000445"/>
      </p:ext>
    </p:extLst>
  </p:cSld>
</p:sld>
</file>

<file path=ppt/slides/slide1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0293F50-E718-47CE-84D1-B9142A38316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350E11CF-FA80-4B4C-AAC8-EB3B3E1D3F1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HBV/HIV Coinfection . September 12, 2024. Accessed September 15, 2026.</a:t>
            </a:r>
          </a:p>
        </p:txBody>
      </p:sp>
      <p:sp>
        <p:nvSpPr>
          <p:cNvPr id="3" name="footer">
            <a:extLst xmlns:a="http://schemas.openxmlformats.org/drawingml/2006/main">
              <a:ext uri="{FF2B5EF4-FFF2-40B4-BE49-F238E27FC236}">
                <a16:creationId xmlns:a16="http://schemas.microsoft.com/office/drawing/2014/main" id="{82A1B6A4-8A0A-4039-9CAC-8A46EDC6EDE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A346248-48BA-4519-AED6-7A3454D7864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192</a:t>
            </a:r>
          </a:p>
        </p:txBody>
      </p:sp>
    </p:spTree>
    <p:extLst>
      <p:ext uri="{BB962C8B-B14F-4D97-AF65-F5344CB8AC3E}">
        <p14:creationId xmlns:p14="http://schemas.microsoft.com/office/powerpoint/2010/main" val="195091662"/>
      </p:ext>
    </p:extLst>
  </p:cSld>
</p:sld>
</file>

<file path=ppt/slides/slide1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D5DD43A-F30F-4592-994A-BB28C039012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11F1E839-60DE-42A4-8A10-838153A643D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Initial ART During Pregnancy . March 31, 2026. Accessed September 15, 2026.</a:t>
            </a:r>
          </a:p>
        </p:txBody>
      </p:sp>
      <p:sp>
        <p:nvSpPr>
          <p:cNvPr id="3" name="footer">
            <a:extLst xmlns:a="http://schemas.openxmlformats.org/drawingml/2006/main">
              <a:ext uri="{FF2B5EF4-FFF2-40B4-BE49-F238E27FC236}">
                <a16:creationId xmlns:a16="http://schemas.microsoft.com/office/drawing/2014/main" id="{3E9241D0-C859-4470-AAE0-7F6A02DF3EE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3B46710-14D6-4A23-B01C-6E635E618BA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193</a:t>
            </a:r>
          </a:p>
        </p:txBody>
      </p:sp>
    </p:spTree>
    <p:extLst>
      <p:ext uri="{BB962C8B-B14F-4D97-AF65-F5344CB8AC3E}">
        <p14:creationId xmlns:p14="http://schemas.microsoft.com/office/powerpoint/2010/main" val="2036532091"/>
      </p:ext>
    </p:extLst>
  </p:cSld>
</p:sld>
</file>

<file path=ppt/slides/slide1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85E9D84-6357-48CF-AADE-94A816E6B27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9BE68D05-4ACE-4DC7-851E-2EDC6E6AF78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Virologic Failure . September 12, 2024. Accessed September 15, 2026.</a:t>
            </a:r>
          </a:p>
        </p:txBody>
      </p:sp>
      <p:sp>
        <p:nvSpPr>
          <p:cNvPr id="3" name="footer">
            <a:extLst xmlns:a="http://schemas.openxmlformats.org/drawingml/2006/main">
              <a:ext uri="{FF2B5EF4-FFF2-40B4-BE49-F238E27FC236}">
                <a16:creationId xmlns:a16="http://schemas.microsoft.com/office/drawing/2014/main" id="{711BB27A-2E5D-4C2C-9542-7E8D5B7974A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4976D96-F108-4E90-98BA-B12E2B423A4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194</a:t>
            </a:r>
          </a:p>
        </p:txBody>
      </p:sp>
    </p:spTree>
    <p:extLst>
      <p:ext uri="{BB962C8B-B14F-4D97-AF65-F5344CB8AC3E}">
        <p14:creationId xmlns:p14="http://schemas.microsoft.com/office/powerpoint/2010/main" val="1447876680"/>
      </p:ext>
    </p:extLst>
  </p:cSld>
</p:sld>
</file>

<file path=ppt/slides/slide1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4B307C0-CC2B-4F5D-B0E6-2F6AA44B774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51EFE5CB-4277-4764-95F3-717D3F5A3378}"/>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Interaction database University of Liverpool · HIV Drug Interaction Checker . Living source; use revision date displayed in linked document. Accessed September 15, 2026.</a:t>
            </a:r>
          </a:p>
        </p:txBody>
      </p:sp>
      <p:sp>
        <p:nvSpPr>
          <p:cNvPr id="3" name="footer">
            <a:extLst xmlns:a="http://schemas.openxmlformats.org/drawingml/2006/main">
              <a:ext uri="{FF2B5EF4-FFF2-40B4-BE49-F238E27FC236}">
                <a16:creationId xmlns:a16="http://schemas.microsoft.com/office/drawing/2014/main" id="{64B56363-3372-4E31-9242-A1661A4F737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F331AA3-104D-4C37-A4BE-774517D390F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195</a:t>
            </a:r>
          </a:p>
        </p:txBody>
      </p:sp>
    </p:spTree>
    <p:extLst>
      <p:ext uri="{BB962C8B-B14F-4D97-AF65-F5344CB8AC3E}">
        <p14:creationId xmlns:p14="http://schemas.microsoft.com/office/powerpoint/2010/main" val="1193577167"/>
      </p:ext>
    </p:extLst>
  </p:cSld>
</p:sld>
</file>

<file path=ppt/slides/slide1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F3D522B-B775-49F9-9B03-151A88C870D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D4F60513-56D7-49DE-8167-815C70EFD68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Plasma HIV-1 RNA and CD4 Monitoring . September 25, 2025. Accessed September 15, 2026.</a:t>
            </a:r>
          </a:p>
        </p:txBody>
      </p:sp>
      <p:sp>
        <p:nvSpPr>
          <p:cNvPr id="3" name="footer">
            <a:extLst xmlns:a="http://schemas.openxmlformats.org/drawingml/2006/main">
              <a:ext uri="{FF2B5EF4-FFF2-40B4-BE49-F238E27FC236}">
                <a16:creationId xmlns:a16="http://schemas.microsoft.com/office/drawing/2014/main" id="{28D0EF8E-77B7-4201-BBC6-A8DD67247FA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FCD695F-FB05-49F5-B542-5DA157795FE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196</a:t>
            </a:r>
          </a:p>
        </p:txBody>
      </p:sp>
    </p:spTree>
    <p:extLst>
      <p:ext uri="{BB962C8B-B14F-4D97-AF65-F5344CB8AC3E}">
        <p14:creationId xmlns:p14="http://schemas.microsoft.com/office/powerpoint/2010/main" val="1315896509"/>
      </p:ext>
    </p:extLst>
  </p:cSld>
</p:sld>
</file>

<file path=ppt/slides/slide1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2FC4092-18D6-4C48-84D5-2FBC906C0A1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AE4365DA-FEE2-4EF9-A2BA-8D14C95FEA4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Disseminated Mycobacterium avium Complex . May 27, 2026. Accessed September 15, 2026.</a:t>
            </a:r>
          </a:p>
        </p:txBody>
      </p:sp>
      <p:sp>
        <p:nvSpPr>
          <p:cNvPr id="3" name="footer">
            <a:extLst xmlns:a="http://schemas.openxmlformats.org/drawingml/2006/main">
              <a:ext uri="{FF2B5EF4-FFF2-40B4-BE49-F238E27FC236}">
                <a16:creationId xmlns:a16="http://schemas.microsoft.com/office/drawing/2014/main" id="{6FEA7782-F478-4765-B4DD-4839A6D6118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9ED661E-8345-4C21-AC2F-73C5ACC1439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197</a:t>
            </a:r>
          </a:p>
        </p:txBody>
      </p:sp>
    </p:spTree>
    <p:extLst>
      <p:ext uri="{BB962C8B-B14F-4D97-AF65-F5344CB8AC3E}">
        <p14:creationId xmlns:p14="http://schemas.microsoft.com/office/powerpoint/2010/main" val="1265539971"/>
      </p:ext>
    </p:extLst>
  </p:cSld>
</p:sld>
</file>

<file path=ppt/slides/slide1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92D3A84-0BD8-40DE-B8B7-B0920BE4D53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102A9795-04C3-406C-9B73-1D149198C91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Cytomegalovirus Disease . July 14, 2025. Accessed September 15, 2026.</a:t>
            </a:r>
          </a:p>
        </p:txBody>
      </p:sp>
      <p:sp>
        <p:nvSpPr>
          <p:cNvPr id="3" name="footer">
            <a:extLst xmlns:a="http://schemas.openxmlformats.org/drawingml/2006/main">
              <a:ext uri="{FF2B5EF4-FFF2-40B4-BE49-F238E27FC236}">
                <a16:creationId xmlns:a16="http://schemas.microsoft.com/office/drawing/2014/main" id="{E1BA9E49-7A1C-4225-94F6-5B20D87CB50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B49C9B00-8CA3-40F5-9D8D-6185D6B3F08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198</a:t>
            </a:r>
          </a:p>
        </p:txBody>
      </p:sp>
    </p:spTree>
    <p:extLst>
      <p:ext uri="{BB962C8B-B14F-4D97-AF65-F5344CB8AC3E}">
        <p14:creationId xmlns:p14="http://schemas.microsoft.com/office/powerpoint/2010/main" val="329716525"/>
      </p:ext>
    </p:extLst>
  </p:cSld>
</p:sld>
</file>

<file path=ppt/slides/slide1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5C50E65-6F66-4B13-A454-A30B5409707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5500D8E6-087D-4A05-8346-8C55F609C50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Histoplasmosis . October 29, 2024. Accessed September 15, 2026.</a:t>
            </a:r>
          </a:p>
        </p:txBody>
      </p:sp>
      <p:sp>
        <p:nvSpPr>
          <p:cNvPr id="3" name="footer">
            <a:extLst xmlns:a="http://schemas.openxmlformats.org/drawingml/2006/main">
              <a:ext uri="{FF2B5EF4-FFF2-40B4-BE49-F238E27FC236}">
                <a16:creationId xmlns:a16="http://schemas.microsoft.com/office/drawing/2014/main" id="{27BA0703-66A7-4B69-9B28-1C7FB2562A1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7662EFD-0D9B-4014-8864-946D4F7BD8A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199</a:t>
            </a:r>
          </a:p>
        </p:txBody>
      </p:sp>
    </p:spTree>
    <p:extLst>
      <p:ext uri="{BB962C8B-B14F-4D97-AF65-F5344CB8AC3E}">
        <p14:creationId xmlns:p14="http://schemas.microsoft.com/office/powerpoint/2010/main" val="1167657786"/>
      </p:ext>
    </p:extLst>
  </p:cSld>
</p:sld>
</file>

<file path=ppt/slides/slide2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E34A9C5-B4A2-457E-9F45-8336FDE1D20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692869C5-03CD-487C-8A88-0E530E66C5C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PML/JC Virus . October 19, 2022; NIH reviewed March 16, 2026. Accessed September 15, 2026.</a:t>
            </a:r>
          </a:p>
        </p:txBody>
      </p:sp>
      <p:sp>
        <p:nvSpPr>
          <p:cNvPr id="3" name="footer">
            <a:extLst xmlns:a="http://schemas.openxmlformats.org/drawingml/2006/main">
              <a:ext uri="{FF2B5EF4-FFF2-40B4-BE49-F238E27FC236}">
                <a16:creationId xmlns:a16="http://schemas.microsoft.com/office/drawing/2014/main" id="{8805C478-713A-4664-B47B-4A8E659BF11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4F44152-CFC4-4781-9369-5323DF7B7DA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200</a:t>
            </a:r>
          </a:p>
        </p:txBody>
      </p:sp>
    </p:spTree>
    <p:extLst>
      <p:ext uri="{BB962C8B-B14F-4D97-AF65-F5344CB8AC3E}">
        <p14:creationId xmlns:p14="http://schemas.microsoft.com/office/powerpoint/2010/main" val="1617751403"/>
      </p:ext>
    </p:extLst>
  </p:cSld>
</p:sld>
</file>

<file path=ppt/slides/slide2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1A4B932-3870-497F-97E5-26029E5DA28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D2E558DE-1DEF-4491-B651-4B7E7BA02C4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Candidiasis . September 16, 2024. Accessed September 15, 2026.</a:t>
            </a:r>
          </a:p>
        </p:txBody>
      </p:sp>
      <p:sp>
        <p:nvSpPr>
          <p:cNvPr id="3" name="footer">
            <a:extLst xmlns:a="http://schemas.openxmlformats.org/drawingml/2006/main">
              <a:ext uri="{FF2B5EF4-FFF2-40B4-BE49-F238E27FC236}">
                <a16:creationId xmlns:a16="http://schemas.microsoft.com/office/drawing/2014/main" id="{982F6319-849C-48A5-88EE-888B562DF4C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EE51286-0545-4302-BD44-2D435EA2BC4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201</a:t>
            </a:r>
          </a:p>
        </p:txBody>
      </p:sp>
    </p:spTree>
    <p:extLst>
      <p:ext uri="{BB962C8B-B14F-4D97-AF65-F5344CB8AC3E}">
        <p14:creationId xmlns:p14="http://schemas.microsoft.com/office/powerpoint/2010/main" val="1990800805"/>
      </p:ext>
    </p:extLst>
  </p:cSld>
</p:sld>
</file>

<file path=ppt/slides/slide2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A06F10A-AE72-4B6E-BEC5-CFA46F969BF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8D8C3278-28CB-4CF4-9EEA-FA648F553DB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Cryptosporidiosis . January 18, 2023. Accessed September 15, 2026.</a:t>
            </a:r>
          </a:p>
        </p:txBody>
      </p:sp>
      <p:sp>
        <p:nvSpPr>
          <p:cNvPr id="3" name="footer">
            <a:extLst xmlns:a="http://schemas.openxmlformats.org/drawingml/2006/main">
              <a:ext uri="{FF2B5EF4-FFF2-40B4-BE49-F238E27FC236}">
                <a16:creationId xmlns:a16="http://schemas.microsoft.com/office/drawing/2014/main" id="{439502DC-D87F-462C-B6C6-D1037008016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444170C5-3EF2-446B-BD01-DCB47737FA0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202</a:t>
            </a:r>
          </a:p>
        </p:txBody>
      </p:sp>
    </p:spTree>
    <p:extLst>
      <p:ext uri="{BB962C8B-B14F-4D97-AF65-F5344CB8AC3E}">
        <p14:creationId xmlns:p14="http://schemas.microsoft.com/office/powerpoint/2010/main" val="239093552"/>
      </p:ext>
    </p:extLst>
  </p:cSld>
</p:sld>
</file>

<file path=ppt/slides/slide2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CAC40B1-29A3-4125-93E6-253029D8C02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1314D1F0-19BC-41D2-9790-B73BC32C37D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Cystoisosporiasis . April 23, 2025. Accessed September 15, 2026.</a:t>
            </a:r>
          </a:p>
        </p:txBody>
      </p:sp>
      <p:sp>
        <p:nvSpPr>
          <p:cNvPr id="3" name="footer">
            <a:extLst xmlns:a="http://schemas.openxmlformats.org/drawingml/2006/main">
              <a:ext uri="{FF2B5EF4-FFF2-40B4-BE49-F238E27FC236}">
                <a16:creationId xmlns:a16="http://schemas.microsoft.com/office/drawing/2014/main" id="{7EE43E21-43F8-4AC2-BDD9-311B0B549BF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49BF7D75-5964-448D-9AB1-C4730BF4829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203</a:t>
            </a:r>
          </a:p>
        </p:txBody>
      </p:sp>
    </p:spTree>
    <p:extLst>
      <p:ext uri="{BB962C8B-B14F-4D97-AF65-F5344CB8AC3E}">
        <p14:creationId xmlns:p14="http://schemas.microsoft.com/office/powerpoint/2010/main" val="537267121"/>
      </p:ext>
    </p:extLst>
  </p:cSld>
</p:sld>
</file>

<file path=ppt/slides/slide2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633B5A6-E103-4659-99CB-05A0E6801DB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89FF6804-1CA0-4B92-AFEE-B8990628812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Microsporidiosis . November 14, 2023. Accessed September 15, 2026.</a:t>
            </a:r>
          </a:p>
        </p:txBody>
      </p:sp>
      <p:sp>
        <p:nvSpPr>
          <p:cNvPr id="3" name="footer">
            <a:extLst xmlns:a="http://schemas.openxmlformats.org/drawingml/2006/main">
              <a:ext uri="{FF2B5EF4-FFF2-40B4-BE49-F238E27FC236}">
                <a16:creationId xmlns:a16="http://schemas.microsoft.com/office/drawing/2014/main" id="{17F9638B-1F18-418F-B0BA-46738A9F116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EA11A28C-2E5A-435E-B00C-E1EC96EA6AD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204</a:t>
            </a:r>
          </a:p>
        </p:txBody>
      </p:sp>
    </p:spTree>
    <p:extLst>
      <p:ext uri="{BB962C8B-B14F-4D97-AF65-F5344CB8AC3E}">
        <p14:creationId xmlns:p14="http://schemas.microsoft.com/office/powerpoint/2010/main" val="1428038134"/>
      </p:ext>
    </p:extLst>
  </p:cSld>
</p:sld>
</file>

<file path=ppt/slides/slide2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B67A0ED-FE44-496A-93F5-67B7DA16A59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D7E6C4D8-3477-43B3-AC20-ED74E3FDE73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Herpes Simplex Virus . July 14, 2025. Accessed September 15, 2026.</a:t>
            </a:r>
          </a:p>
        </p:txBody>
      </p:sp>
      <p:sp>
        <p:nvSpPr>
          <p:cNvPr id="3" name="footer">
            <a:extLst xmlns:a="http://schemas.openxmlformats.org/drawingml/2006/main">
              <a:ext uri="{FF2B5EF4-FFF2-40B4-BE49-F238E27FC236}">
                <a16:creationId xmlns:a16="http://schemas.microsoft.com/office/drawing/2014/main" id="{18C1B4C9-CDB1-4A8E-90C6-4853EE8B808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05E5D045-18BA-4D4D-9BD5-2DC85661E7B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205</a:t>
            </a:r>
          </a:p>
        </p:txBody>
      </p:sp>
    </p:spTree>
    <p:extLst>
      <p:ext uri="{BB962C8B-B14F-4D97-AF65-F5344CB8AC3E}">
        <p14:creationId xmlns:p14="http://schemas.microsoft.com/office/powerpoint/2010/main" val="1197071459"/>
      </p:ext>
    </p:extLst>
  </p:cSld>
</p:sld>
</file>

<file path=ppt/slides/slide2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CFE6688-71F4-461C-A479-62806609DB1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498F4FBB-8CCD-48E4-973A-27D1C9FB344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Varicella-Zoster Virus . February 25, 2026. Accessed September 15, 2026.</a:t>
            </a:r>
          </a:p>
        </p:txBody>
      </p:sp>
      <p:sp>
        <p:nvSpPr>
          <p:cNvPr id="3" name="footer">
            <a:extLst xmlns:a="http://schemas.openxmlformats.org/drawingml/2006/main">
              <a:ext uri="{FF2B5EF4-FFF2-40B4-BE49-F238E27FC236}">
                <a16:creationId xmlns:a16="http://schemas.microsoft.com/office/drawing/2014/main" id="{0C5C985C-91F5-4F6A-ABA0-7328A8E3EC2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8A823E3-8969-4FAB-AA8F-86D2AE92033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206</a:t>
            </a:r>
          </a:p>
        </p:txBody>
      </p:sp>
    </p:spTree>
    <p:extLst>
      <p:ext uri="{BB962C8B-B14F-4D97-AF65-F5344CB8AC3E}">
        <p14:creationId xmlns:p14="http://schemas.microsoft.com/office/powerpoint/2010/main" val="1948037579"/>
      </p:ext>
    </p:extLst>
  </p:cSld>
</p:sld>
</file>

<file path=ppt/slides/slide2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148E419-04D8-4136-8CC2-09A36CFB8B4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788D6674-A83C-4591-A602-76FE0CD14BB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Community-Acquired Bacterial Pneumonia . May 27, 2026. Accessed September 15, 2026.</a:t>
            </a:r>
          </a:p>
        </p:txBody>
      </p:sp>
      <p:sp>
        <p:nvSpPr>
          <p:cNvPr id="3" name="footer">
            <a:extLst xmlns:a="http://schemas.openxmlformats.org/drawingml/2006/main">
              <a:ext uri="{FF2B5EF4-FFF2-40B4-BE49-F238E27FC236}">
                <a16:creationId xmlns:a16="http://schemas.microsoft.com/office/drawing/2014/main" id="{23E61FD9-ADC3-4685-82A5-AF7CD9E010C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D7DC4C7-E7AF-4AE9-B989-0B9F8094654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207</a:t>
            </a:r>
          </a:p>
        </p:txBody>
      </p:sp>
    </p:spTree>
    <p:extLst>
      <p:ext uri="{BB962C8B-B14F-4D97-AF65-F5344CB8AC3E}">
        <p14:creationId xmlns:p14="http://schemas.microsoft.com/office/powerpoint/2010/main" val="1044999705"/>
      </p:ext>
    </p:extLst>
  </p:cSld>
</p:sld>
</file>

<file path=ppt/slides/slide2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F520EFA-AC38-437F-AD98-BF3A50FF904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4BBF2A12-4170-4AD8-95C4-F32F9A4D1946}"/>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Syphilis . May 27, 2026. Accessed September 15, 2026.</a:t>
            </a:r>
          </a:p>
        </p:txBody>
      </p:sp>
      <p:sp>
        <p:nvSpPr>
          <p:cNvPr id="3" name="footer">
            <a:extLst xmlns:a="http://schemas.openxmlformats.org/drawingml/2006/main">
              <a:ext uri="{FF2B5EF4-FFF2-40B4-BE49-F238E27FC236}">
                <a16:creationId xmlns:a16="http://schemas.microsoft.com/office/drawing/2014/main" id="{A778EAAB-8F3C-4D75-9814-3372456D5F1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DB899BF-C5D8-4C64-B938-BB60D65E3BE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208</a:t>
            </a:r>
          </a:p>
        </p:txBody>
      </p:sp>
    </p:spTree>
    <p:extLst>
      <p:ext uri="{BB962C8B-B14F-4D97-AF65-F5344CB8AC3E}">
        <p14:creationId xmlns:p14="http://schemas.microsoft.com/office/powerpoint/2010/main" val="448517281"/>
      </p:ext>
    </p:extLst>
  </p:cSld>
</p:sld>
</file>

<file path=ppt/slides/slide2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B2A4EF5-AE2C-48B3-874C-4CFAE69E9E5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1BFB2E21-0570-4EEA-8757-C652DB7C562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CDC · Clinical Guidance for PrEP . April 30, 2026. Accessed September 15, 2026.</a:t>
            </a:r>
          </a:p>
        </p:txBody>
      </p:sp>
      <p:sp>
        <p:nvSpPr>
          <p:cNvPr id="3" name="footer">
            <a:extLst xmlns:a="http://schemas.openxmlformats.org/drawingml/2006/main">
              <a:ext uri="{FF2B5EF4-FFF2-40B4-BE49-F238E27FC236}">
                <a16:creationId xmlns:a16="http://schemas.microsoft.com/office/drawing/2014/main" id="{886E9BDB-FACE-4A6D-BF64-CC1D00162A5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BD4D1458-3190-4CF0-B7C4-301C5738908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209</a:t>
            </a:r>
          </a:p>
        </p:txBody>
      </p:sp>
    </p:spTree>
    <p:extLst>
      <p:ext uri="{BB962C8B-B14F-4D97-AF65-F5344CB8AC3E}">
        <p14:creationId xmlns:p14="http://schemas.microsoft.com/office/powerpoint/2010/main" val="619255551"/>
      </p:ext>
    </p:extLst>
  </p:cSld>
</p:sld>
</file>

<file path=ppt/slides/slide2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4FF4946-FE00-4C83-AF0E-690210BB8F4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100FF419-7688-4851-8CE5-1216D3575B7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CDC · Lenacapavir PrEP Recommendation, 2025 . September 18, 2025. Accessed September 15, 2026.</a:t>
            </a:r>
          </a:p>
        </p:txBody>
      </p:sp>
      <p:sp>
        <p:nvSpPr>
          <p:cNvPr id="3" name="footer">
            <a:extLst xmlns:a="http://schemas.openxmlformats.org/drawingml/2006/main">
              <a:ext uri="{FF2B5EF4-FFF2-40B4-BE49-F238E27FC236}">
                <a16:creationId xmlns:a16="http://schemas.microsoft.com/office/drawing/2014/main" id="{44D079C7-72F6-4DD7-B1F1-3C85467ACAA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82B6ACE-4F22-48E8-AF2F-52D2D3FC3CA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210</a:t>
            </a:r>
          </a:p>
        </p:txBody>
      </p:sp>
    </p:spTree>
    <p:extLst>
      <p:ext uri="{BB962C8B-B14F-4D97-AF65-F5344CB8AC3E}">
        <p14:creationId xmlns:p14="http://schemas.microsoft.com/office/powerpoint/2010/main" val="1918947223"/>
      </p:ext>
    </p:extLst>
  </p:cSld>
</p:sld>
</file>

<file path=ppt/slides/slide2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8DC0B72-1BEC-41C9-8A83-AF50A0CBDB7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F35DAADA-7E86-4B46-835C-B4071C1A662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Prescribing information Gilead · Yeztugo prescribing information . August 2026. Accessed September 15, 2026.</a:t>
            </a:r>
          </a:p>
        </p:txBody>
      </p:sp>
      <p:sp>
        <p:nvSpPr>
          <p:cNvPr id="3" name="footer">
            <a:extLst xmlns:a="http://schemas.openxmlformats.org/drawingml/2006/main">
              <a:ext uri="{FF2B5EF4-FFF2-40B4-BE49-F238E27FC236}">
                <a16:creationId xmlns:a16="http://schemas.microsoft.com/office/drawing/2014/main" id="{07E6E165-9DD5-49F9-A8AD-DD158480904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E800FB62-9990-4A23-9E31-29C31417C26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211</a:t>
            </a:r>
          </a:p>
        </p:txBody>
      </p:sp>
    </p:spTree>
    <p:extLst>
      <p:ext uri="{BB962C8B-B14F-4D97-AF65-F5344CB8AC3E}">
        <p14:creationId xmlns:p14="http://schemas.microsoft.com/office/powerpoint/2010/main" val="665777889"/>
      </p:ext>
    </p:extLst>
  </p:cSld>
</p:sld>
</file>

<file path=ppt/slides/slide2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2156C23-E401-4572-BD6A-F6C8796893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886DD87A-641F-4B3F-B2CA-D4C4B976986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CDC · Nonoccupational PEP Recommendations, 2025 . May 8, 2025. Accessed September 15, 2026.</a:t>
            </a:r>
          </a:p>
        </p:txBody>
      </p:sp>
      <p:sp>
        <p:nvSpPr>
          <p:cNvPr id="3" name="footer">
            <a:extLst xmlns:a="http://schemas.openxmlformats.org/drawingml/2006/main">
              <a:ext uri="{FF2B5EF4-FFF2-40B4-BE49-F238E27FC236}">
                <a16:creationId xmlns:a16="http://schemas.microsoft.com/office/drawing/2014/main" id="{B5BFC1BD-9FF8-4443-9056-E5C2C64CD87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C1BB0D8-A5D2-4D80-9704-8CCD458EBEE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212</a:t>
            </a:r>
          </a:p>
        </p:txBody>
      </p:sp>
    </p:spTree>
    <p:extLst>
      <p:ext uri="{BB962C8B-B14F-4D97-AF65-F5344CB8AC3E}">
        <p14:creationId xmlns:p14="http://schemas.microsoft.com/office/powerpoint/2010/main" val="1968602688"/>
      </p:ext>
    </p:extLst>
  </p:cSld>
</p:sld>
</file>

<file path=ppt/slides/slide2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886013D-D467-4847-8C0C-070416C2135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D8712E9D-4D05-431F-8529-9B3A8FDEB10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ART to Prevent Sexual Transmission . September 25, 2025. Accessed September 15, 2026.</a:t>
            </a:r>
          </a:p>
        </p:txBody>
      </p:sp>
      <p:sp>
        <p:nvSpPr>
          <p:cNvPr id="3" name="footer">
            <a:extLst xmlns:a="http://schemas.openxmlformats.org/drawingml/2006/main">
              <a:ext uri="{FF2B5EF4-FFF2-40B4-BE49-F238E27FC236}">
                <a16:creationId xmlns:a16="http://schemas.microsoft.com/office/drawing/2014/main" id="{C4A1A2B6-0D64-4DB7-AA9C-E0912C3142D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BDBB9CD-131B-4AC2-9E5C-9EF5DBA34E3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213</a:t>
            </a:r>
          </a:p>
        </p:txBody>
      </p:sp>
    </p:spTree>
    <p:extLst>
      <p:ext uri="{BB962C8B-B14F-4D97-AF65-F5344CB8AC3E}">
        <p14:creationId xmlns:p14="http://schemas.microsoft.com/office/powerpoint/2010/main" val="1667339874"/>
      </p:ext>
    </p:extLst>
  </p:cSld>
</p:sld>
</file>

<file path=ppt/slides/slide2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8230F8C-0237-462B-8EEC-102FB24A89C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5F332F28-77A5-4A31-90B1-C42D458C1A8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Immunizations for Adults and Adolescents With HIV . May 27, 2026. Accessed September 15, 2026.</a:t>
            </a:r>
          </a:p>
        </p:txBody>
      </p:sp>
      <p:sp>
        <p:nvSpPr>
          <p:cNvPr id="3" name="footer">
            <a:extLst xmlns:a="http://schemas.openxmlformats.org/drawingml/2006/main">
              <a:ext uri="{FF2B5EF4-FFF2-40B4-BE49-F238E27FC236}">
                <a16:creationId xmlns:a16="http://schemas.microsoft.com/office/drawing/2014/main" id="{B5132EA6-F786-4CC2-BCB7-31952E9327A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84B54F8-5506-4407-A348-C8B922AD711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214</a:t>
            </a:r>
          </a:p>
        </p:txBody>
      </p:sp>
    </p:spTree>
    <p:extLst>
      <p:ext uri="{BB962C8B-B14F-4D97-AF65-F5344CB8AC3E}">
        <p14:creationId xmlns:p14="http://schemas.microsoft.com/office/powerpoint/2010/main" val="2141316050"/>
      </p:ext>
    </p:extLst>
  </p:cSld>
</p:sld>
</file>

<file path=ppt/slides/slide2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F75A1F6-FA29-48C3-B5CF-B826A48ED66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37460EAF-EA0F-4E1C-BE95-E0450FB3661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Update on Statin Therapy in People With HIV . May 27, 2026. Accessed September 15, 2026.</a:t>
            </a:r>
          </a:p>
        </p:txBody>
      </p:sp>
      <p:sp>
        <p:nvSpPr>
          <p:cNvPr id="3" name="footer">
            <a:extLst xmlns:a="http://schemas.openxmlformats.org/drawingml/2006/main">
              <a:ext uri="{FF2B5EF4-FFF2-40B4-BE49-F238E27FC236}">
                <a16:creationId xmlns:a16="http://schemas.microsoft.com/office/drawing/2014/main" id="{FACE24AF-C643-4A8B-9E54-FDC21D288EC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2F90144-D7B5-48E0-ADEA-C115330211A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215</a:t>
            </a:r>
          </a:p>
        </p:txBody>
      </p:sp>
    </p:spTree>
    <p:extLst>
      <p:ext uri="{BB962C8B-B14F-4D97-AF65-F5344CB8AC3E}">
        <p14:creationId xmlns:p14="http://schemas.microsoft.com/office/powerpoint/2010/main" val="382608147"/>
      </p:ext>
    </p:extLst>
  </p:cSld>
</p:sld>
</file>

<file path=ppt/slides/slide2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1FD7ABD-3D3A-4668-9534-D4FB55BA425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E4557EAA-C1CA-4F76-B988-B03F5D22216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guidance NIH · Optimizing ART in Virologic Suppression . September 12, 2024. Accessed September 15, 2026.</a:t>
            </a:r>
          </a:p>
        </p:txBody>
      </p:sp>
      <p:sp>
        <p:nvSpPr>
          <p:cNvPr id="3" name="footer">
            <a:extLst xmlns:a="http://schemas.openxmlformats.org/drawingml/2006/main">
              <a:ext uri="{FF2B5EF4-FFF2-40B4-BE49-F238E27FC236}">
                <a16:creationId xmlns:a16="http://schemas.microsoft.com/office/drawing/2014/main" id="{F0B7F1F2-B6A0-4348-8659-EAD24AF9A55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BF96B1FC-1ACE-433E-951B-DEF13AEF300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216</a:t>
            </a:r>
          </a:p>
        </p:txBody>
      </p:sp>
    </p:spTree>
    <p:extLst>
      <p:ext uri="{BB962C8B-B14F-4D97-AF65-F5344CB8AC3E}">
        <p14:creationId xmlns:p14="http://schemas.microsoft.com/office/powerpoint/2010/main" val="1499133279"/>
      </p:ext>
    </p:extLst>
  </p:cSld>
</p:sld>
</file>

<file path=ppt/slides/slide2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E274219-0E4D-4DF3-A9F1-4C244EAD53B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E6640138-C388-43FC-BEFB-E08E68995D9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Prescribing information ViiV · Cabenuva prescribing information . November 2025. Accessed September 15, 2026.</a:t>
            </a:r>
          </a:p>
        </p:txBody>
      </p:sp>
      <p:sp>
        <p:nvSpPr>
          <p:cNvPr id="3" name="footer">
            <a:extLst xmlns:a="http://schemas.openxmlformats.org/drawingml/2006/main">
              <a:ext uri="{FF2B5EF4-FFF2-40B4-BE49-F238E27FC236}">
                <a16:creationId xmlns:a16="http://schemas.microsoft.com/office/drawing/2014/main" id="{9E53D16D-1940-4CE6-9AA7-89EFE2B7699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0AA19BC6-C818-4007-BC21-64C585DCAD7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217</a:t>
            </a:r>
          </a:p>
        </p:txBody>
      </p:sp>
    </p:spTree>
    <p:extLst>
      <p:ext uri="{BB962C8B-B14F-4D97-AF65-F5344CB8AC3E}">
        <p14:creationId xmlns:p14="http://schemas.microsoft.com/office/powerpoint/2010/main" val="566713564"/>
      </p:ext>
    </p:extLst>
  </p:cSld>
</p:sld>
</file>

<file path=ppt/slides/slide2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1D51ACE-90D6-4E48-A20F-6E5F8388B64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4FBE300C-7D90-4957-AD56-FEE721FA1349}"/>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Original randomized trial Rana et al. · Cabotegravir plus Rilpivirine for Persons with HIV and Adherence Challenges . February 18, 2026. Accessed September 15, 2026.</a:t>
            </a:r>
          </a:p>
        </p:txBody>
      </p:sp>
      <p:sp>
        <p:nvSpPr>
          <p:cNvPr id="3" name="footer">
            <a:extLst xmlns:a="http://schemas.openxmlformats.org/drawingml/2006/main">
              <a:ext uri="{FF2B5EF4-FFF2-40B4-BE49-F238E27FC236}">
                <a16:creationId xmlns:a16="http://schemas.microsoft.com/office/drawing/2014/main" id="{62F09137-315E-4A8A-BD06-5D2245BC06C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B283715-3828-4F0C-9DED-659B51170CB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218</a:t>
            </a:r>
          </a:p>
        </p:txBody>
      </p:sp>
    </p:spTree>
    <p:extLst>
      <p:ext uri="{BB962C8B-B14F-4D97-AF65-F5344CB8AC3E}">
        <p14:creationId xmlns:p14="http://schemas.microsoft.com/office/powerpoint/2010/main" val="911527069"/>
      </p:ext>
    </p:extLst>
  </p:cSld>
</p:sld>
</file>

<file path=ppt/slides/slide2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36ACFB0-8188-42A6-A60E-39F9BAAA9E1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6DA749F8-728D-4A3F-AA8E-A5B5D245600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Prescribing information Gilead · Sunlenca prescribing information . August 2026. Accessed September 15, 2026.</a:t>
            </a:r>
          </a:p>
        </p:txBody>
      </p:sp>
      <p:sp>
        <p:nvSpPr>
          <p:cNvPr id="3" name="footer">
            <a:extLst xmlns:a="http://schemas.openxmlformats.org/drawingml/2006/main">
              <a:ext uri="{FF2B5EF4-FFF2-40B4-BE49-F238E27FC236}">
                <a16:creationId xmlns:a16="http://schemas.microsoft.com/office/drawing/2014/main" id="{D67B8001-3D57-4982-956F-A09F6EEE630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B6CF30DC-23BA-4A97-8D42-F0D742A5C45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219</a:t>
            </a:r>
          </a:p>
        </p:txBody>
      </p:sp>
    </p:spTree>
    <p:extLst>
      <p:ext uri="{BB962C8B-B14F-4D97-AF65-F5344CB8AC3E}">
        <p14:creationId xmlns:p14="http://schemas.microsoft.com/office/powerpoint/2010/main" val="953333598"/>
      </p:ext>
    </p:extLst>
  </p:cSld>
</p:sld>
</file>

<file path=ppt/slides/slide2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ED3B0AD-5676-42E9-ACD6-F385A4065F9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16D2EE4C-FD8C-423F-98F4-2EEF5E5FE23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Prescribing information Merck · Idvynso prescribing information . April 2026. Accessed September 15, 2026.</a:t>
            </a:r>
          </a:p>
        </p:txBody>
      </p:sp>
      <p:sp>
        <p:nvSpPr>
          <p:cNvPr id="3" name="footer">
            <a:extLst xmlns:a="http://schemas.openxmlformats.org/drawingml/2006/main">
              <a:ext uri="{FF2B5EF4-FFF2-40B4-BE49-F238E27FC236}">
                <a16:creationId xmlns:a16="http://schemas.microsoft.com/office/drawing/2014/main" id="{6DA1F156-0333-4293-8ED2-176065AB85F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9E387D3-51D7-4BF9-9421-3C6EF3FA857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220</a:t>
            </a:r>
          </a:p>
        </p:txBody>
      </p:sp>
    </p:spTree>
    <p:extLst>
      <p:ext uri="{BB962C8B-B14F-4D97-AF65-F5344CB8AC3E}">
        <p14:creationId xmlns:p14="http://schemas.microsoft.com/office/powerpoint/2010/main" val="556186718"/>
      </p:ext>
    </p:extLst>
  </p:cSld>
</p:sld>
</file>

<file path=ppt/slides/slide2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83A7DDE-91C3-4A43-A6C3-D2D4948FC4B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766A1A33-EA39-4DB5-ACF3-74A402A35C8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Original randomized trial INSIGHT START Study Group · Initiation of ART in Early Asymptomatic HIV Infection . July 20, 2015. Accessed September 15, 2026.</a:t>
            </a:r>
          </a:p>
        </p:txBody>
      </p:sp>
      <p:sp>
        <p:nvSpPr>
          <p:cNvPr id="3" name="footer">
            <a:extLst xmlns:a="http://schemas.openxmlformats.org/drawingml/2006/main">
              <a:ext uri="{FF2B5EF4-FFF2-40B4-BE49-F238E27FC236}">
                <a16:creationId xmlns:a16="http://schemas.microsoft.com/office/drawing/2014/main" id="{F99FDB09-A781-4B79-BC05-595AAA9DC54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0007EF9-1257-441A-AB35-59E2E634259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221</a:t>
            </a:r>
          </a:p>
        </p:txBody>
      </p:sp>
    </p:spTree>
    <p:extLst>
      <p:ext uri="{BB962C8B-B14F-4D97-AF65-F5344CB8AC3E}">
        <p14:creationId xmlns:p14="http://schemas.microsoft.com/office/powerpoint/2010/main" val="1370448016"/>
      </p:ext>
    </p:extLst>
  </p:cSld>
</p:sld>
</file>

<file path=ppt/slides/slide2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E401842-1D6F-44B4-93F6-FB9A2BA6FCE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C9218824-999C-4339-BC62-F20B5E271846}"/>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Original randomized trial Zolopa et al. · Early ART Reduces AIDS Progression/Death in Acute OIs . May 18, 2009. Accessed September 15, 2026.</a:t>
            </a:r>
          </a:p>
        </p:txBody>
      </p:sp>
      <p:sp>
        <p:nvSpPr>
          <p:cNvPr id="3" name="footer">
            <a:extLst xmlns:a="http://schemas.openxmlformats.org/drawingml/2006/main">
              <a:ext uri="{FF2B5EF4-FFF2-40B4-BE49-F238E27FC236}">
                <a16:creationId xmlns:a16="http://schemas.microsoft.com/office/drawing/2014/main" id="{AD998B4C-FC0B-44D2-9B1C-2ADA817BBDD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7B23DE2-D307-4744-B8A5-9C02558F741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222</a:t>
            </a:r>
          </a:p>
        </p:txBody>
      </p:sp>
    </p:spTree>
    <p:extLst>
      <p:ext uri="{BB962C8B-B14F-4D97-AF65-F5344CB8AC3E}">
        <p14:creationId xmlns:p14="http://schemas.microsoft.com/office/powerpoint/2010/main" val="48007396"/>
      </p:ext>
    </p:extLst>
  </p:cSld>
</p:sld>
</file>

<file path=ppt/slides/slide2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CEEC6B3-4445-4603-9116-7FC7E43AF6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0E1AC2F8-57D2-44AE-B225-8DD37C84B54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Original randomized trial Boulware et al. · Timing of ART after Cryptococcal Meningitis . June 26, 2014. Accessed September 15, 2026.</a:t>
            </a:r>
          </a:p>
        </p:txBody>
      </p:sp>
      <p:sp>
        <p:nvSpPr>
          <p:cNvPr id="3" name="footer">
            <a:extLst xmlns:a="http://schemas.openxmlformats.org/drawingml/2006/main">
              <a:ext uri="{FF2B5EF4-FFF2-40B4-BE49-F238E27FC236}">
                <a16:creationId xmlns:a16="http://schemas.microsoft.com/office/drawing/2014/main" id="{953E22E2-97EB-4CCC-9DC8-D45C5853E8F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1F5B7BD-CDF6-4D92-9321-B5175AB8D25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223</a:t>
            </a:r>
          </a:p>
        </p:txBody>
      </p:sp>
    </p:spTree>
    <p:extLst>
      <p:ext uri="{BB962C8B-B14F-4D97-AF65-F5344CB8AC3E}">
        <p14:creationId xmlns:p14="http://schemas.microsoft.com/office/powerpoint/2010/main" val="513501339"/>
      </p:ext>
    </p:extLst>
  </p:cSld>
</p:sld>
</file>

<file path=ppt/slides/slide2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074AEC8-D879-4541-9562-C4C0A70B6B9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DD1D0D43-A633-408C-BF7A-96A22B733D8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Original randomized trial Grinspoon et al. · Pitavastatin to Prevent Cardiovascular Disease in HIV . July 23, 2023. Accessed September 15, 2026.</a:t>
            </a:r>
          </a:p>
        </p:txBody>
      </p:sp>
      <p:sp>
        <p:nvSpPr>
          <p:cNvPr id="3" name="footer">
            <a:extLst xmlns:a="http://schemas.openxmlformats.org/drawingml/2006/main">
              <a:ext uri="{FF2B5EF4-FFF2-40B4-BE49-F238E27FC236}">
                <a16:creationId xmlns:a16="http://schemas.microsoft.com/office/drawing/2014/main" id="{28932339-95C0-4A11-B2C5-3C10F5BE55A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39AB264-CF75-4B1B-B091-5CFD863F992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224</a:t>
            </a:r>
          </a:p>
        </p:txBody>
      </p:sp>
    </p:spTree>
    <p:extLst>
      <p:ext uri="{BB962C8B-B14F-4D97-AF65-F5344CB8AC3E}">
        <p14:creationId xmlns:p14="http://schemas.microsoft.com/office/powerpoint/2010/main" val="1267675310"/>
      </p:ext>
    </p:extLst>
  </p:cSld>
</p:sld>
</file>

<file path=ppt/slides/slide2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8AC3927-0CE6-4153-AD28-65CD00227C1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04354119-7D8E-46BA-9ADA-17D72C4C3EC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Original randomized trial Bekker et al. · Twice-Yearly Lenacapavir or Daily F/TAF for HIV Prevention . July 24, 2024. Accessed September 15, 2026.</a:t>
            </a:r>
          </a:p>
        </p:txBody>
      </p:sp>
      <p:sp>
        <p:nvSpPr>
          <p:cNvPr id="3" name="footer">
            <a:extLst xmlns:a="http://schemas.openxmlformats.org/drawingml/2006/main">
              <a:ext uri="{FF2B5EF4-FFF2-40B4-BE49-F238E27FC236}">
                <a16:creationId xmlns:a16="http://schemas.microsoft.com/office/drawing/2014/main" id="{28EA80F4-429F-4333-9777-B6DA303A545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D88ADA8-D80C-4566-A713-403BB61CC31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225</a:t>
            </a:r>
          </a:p>
        </p:txBody>
      </p:sp>
    </p:spTree>
    <p:extLst>
      <p:ext uri="{BB962C8B-B14F-4D97-AF65-F5344CB8AC3E}">
        <p14:creationId xmlns:p14="http://schemas.microsoft.com/office/powerpoint/2010/main" val="1274955837"/>
      </p:ext>
    </p:extLst>
  </p:cSld>
</p:sld>
</file>

<file path=ppt/slides/slide2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44E8EA7-EDD1-47FF-A9A4-F1107AE64EF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evidence review</a:t>
            </a:r>
          </a:p>
        </p:txBody>
      </p:sp>
      <p:sp>
        <p:nvSpPr>
          <p:cNvPr id="2" name="paragraph-0">
            <a:extLst xmlns:a="http://schemas.openxmlformats.org/drawingml/2006/main">
              <a:ext uri="{FF2B5EF4-FFF2-40B4-BE49-F238E27FC236}">
                <a16:creationId xmlns:a16="http://schemas.microsoft.com/office/drawing/2014/main" id="{02D290BD-F3E2-486C-8ECA-2EA7C19D2DD0}"/>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Original randomized trial Kelley et al. · Twice-Yearly Lenacapavir for HIV Prevention in Men and Gender-Diverse Persons . November 13, 2024. Accessed September 15, 2026.</a:t>
            </a:r>
          </a:p>
        </p:txBody>
      </p:sp>
      <p:sp>
        <p:nvSpPr>
          <p:cNvPr id="3" name="footer">
            <a:extLst xmlns:a="http://schemas.openxmlformats.org/drawingml/2006/main">
              <a:ext uri="{FF2B5EF4-FFF2-40B4-BE49-F238E27FC236}">
                <a16:creationId xmlns:a16="http://schemas.microsoft.com/office/drawing/2014/main" id="{5CE3E3B2-F29B-407A-94D6-557154EB2CC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3CBD43F-F043-402D-A705-F6F1FF7C643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226</a:t>
            </a:r>
          </a:p>
        </p:txBody>
      </p:sp>
    </p:spTree>
    <p:extLst>
      <p:ext uri="{BB962C8B-B14F-4D97-AF65-F5344CB8AC3E}">
        <p14:creationId xmlns:p14="http://schemas.microsoft.com/office/powerpoint/2010/main" val="1838488538"/>
      </p:ext>
    </p:extLst>
  </p:cSld>
</p:sld>
</file>

<file path=ppt/slides/slide2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939F8A6-B87E-4447-987E-1E7BACBE91F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HIV and OIs · One-page rounds summary</a:t>
            </a:r>
          </a:p>
        </p:txBody>
      </p:sp>
      <p:sp>
        <p:nvSpPr>
          <p:cNvPr id="2" name="paragraph-0">
            <a:extLst xmlns:a="http://schemas.openxmlformats.org/drawingml/2006/main">
              <a:ext uri="{FF2B5EF4-FFF2-40B4-BE49-F238E27FC236}">
                <a16:creationId xmlns:a16="http://schemas.microsoft.com/office/drawing/2014/main" id="{46ACCB52-32B2-4509-B1A5-DBED73CC5E96}"/>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Teaching companion · September 21, 2026 · Faculty/local review pending. Use the full module for dosing, eligibility, evidence, and exceptions.</a:t>
            </a:r>
          </a:p>
        </p:txBody>
      </p:sp>
      <p:sp>
        <p:nvSpPr>
          <p:cNvPr id="3" name="paragraph-1">
            <a:extLst xmlns:a="http://schemas.openxmlformats.org/drawingml/2006/main">
              <a:ext uri="{FF2B5EF4-FFF2-40B4-BE49-F238E27FC236}">
                <a16:creationId xmlns:a16="http://schemas.microsoft.com/office/drawing/2014/main" id="{1FB43BA2-53F0-46A7-BCB7-36F1CA7DECCA}"/>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Ag/Ab → differentiation → RNA for discordance. Suspected acute HIV can need RNA despite a negative screen. Obtain CD4, RNA, genotype, organ function, HBV/HCV, and prior ART/PrEP history.</a:t>
            </a:r>
          </a:p>
        </p:txBody>
      </p:sp>
      <p:sp>
        <p:nvSpPr>
          <p:cNvPr id="4" name="paragraph-2">
            <a:extLst xmlns:a="http://schemas.openxmlformats.org/drawingml/2006/main">
              <a:ext uri="{FF2B5EF4-FFF2-40B4-BE49-F238E27FC236}">
                <a16:creationId xmlns:a16="http://schemas.microsoft.com/office/drawing/2014/main" id="{88243451-D298-42B9-9024-6B4DA9839F44}"/>
              </a:ext>
            </a:extLst>
          </p:cNvPr>
          <p:cNvSpPr>
            <a:spLocks xmlns:a="http://schemas.openxmlformats.org/drawingml/2006/main" noGrp="1"/>
          </p:cNvSpPr>
          <p:nvPr/>
        </p:nvSpPr>
        <p:spPr>
          <a:xfrm xmlns:a="http://schemas.openxmlformats.org/drawingml/2006/main">
            <a:off x="647700" y="45815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Most: BIC/FTC/TAF or DTG + two NRTIs. Do not rapid-start DTG/3TC before HBV/genotype results. Prior CAB PrEP needs integrase genotype and an appropriate interim regimen. Preserve HBV treatment.</a:t>
            </a:r>
          </a:p>
        </p:txBody>
      </p:sp>
      <p:sp>
        <p:nvSpPr>
          <p:cNvPr id="5" name="footer">
            <a:extLst xmlns:a="http://schemas.openxmlformats.org/drawingml/2006/main">
              <a:ext uri="{FF2B5EF4-FFF2-40B4-BE49-F238E27FC236}">
                <a16:creationId xmlns:a16="http://schemas.microsoft.com/office/drawing/2014/main" id="{28F1EC16-8098-430E-A5D1-383BCB09172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50B62891-F406-4A6B-A49A-898578BD5B3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227</a:t>
            </a:r>
          </a:p>
        </p:txBody>
      </p:sp>
    </p:spTree>
    <p:extLst>
      <p:ext uri="{BB962C8B-B14F-4D97-AF65-F5344CB8AC3E}">
        <p14:creationId xmlns:p14="http://schemas.microsoft.com/office/powerpoint/2010/main" val="499730551"/>
      </p:ext>
    </p:extLst>
  </p:cSld>
</p:sld>
</file>

<file path=ppt/slides/slide2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B19E96F-509A-4A78-99CF-5DC1E23A578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HIV and OIs · One-page rounds summary</a:t>
            </a:r>
          </a:p>
        </p:txBody>
      </p:sp>
      <p:sp>
        <p:nvSpPr>
          <p:cNvPr id="2" name="paragraph-0">
            <a:extLst xmlns:a="http://schemas.openxmlformats.org/drawingml/2006/main">
              <a:ext uri="{FF2B5EF4-FFF2-40B4-BE49-F238E27FC236}">
                <a16:creationId xmlns:a16="http://schemas.microsoft.com/office/drawing/2014/main" id="{13C9F097-54BF-415D-9F3E-9824B8BDD537}"/>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Pneumonia: PCP, bacteria, TB. Headache: CrAg/CSF with opening pressure. Focal deficit: MRI, toxoplasma/lymphoma/PML differential. Visual symptoms: urgent ophthalmology. Fever/cytopenias: MAC, histoplasmosis, TB, malignancy.</a:t>
            </a:r>
          </a:p>
        </p:txBody>
      </p:sp>
      <p:sp>
        <p:nvSpPr>
          <p:cNvPr id="3" name="paragraph-1">
            <a:extLst xmlns:a="http://schemas.openxmlformats.org/drawingml/2006/main">
              <a:ext uri="{FF2B5EF4-FFF2-40B4-BE49-F238E27FC236}">
                <a16:creationId xmlns:a16="http://schemas.microsoft.com/office/drawing/2014/main" id="{3D68D3C0-FD22-4165-B1AE-E22FC6A708A7}"/>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PCP: within 2 weeks. Cryptococcal meningitis: generally 4-6 weeks. TB without meningitis: within 2 weeks if CD4 &lt;50; 2-8 weeks otherwise. TB meningitis: individualized guideline-informed plan. PML: immediate effective ART.</a:t>
            </a:r>
          </a:p>
        </p:txBody>
      </p:sp>
      <p:sp>
        <p:nvSpPr>
          <p:cNvPr id="4" name="footer">
            <a:extLst xmlns:a="http://schemas.openxmlformats.org/drawingml/2006/main">
              <a:ext uri="{FF2B5EF4-FFF2-40B4-BE49-F238E27FC236}">
                <a16:creationId xmlns:a16="http://schemas.microsoft.com/office/drawing/2014/main" id="{20BA894F-C52E-42C0-B04B-86151041617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5" name="number">
            <a:extLst xmlns:a="http://schemas.openxmlformats.org/drawingml/2006/main">
              <a:ext uri="{FF2B5EF4-FFF2-40B4-BE49-F238E27FC236}">
                <a16:creationId xmlns:a16="http://schemas.microsoft.com/office/drawing/2014/main" id="{6B8A8E77-117B-4723-84BC-C0D140B09AD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228</a:t>
            </a:r>
          </a:p>
        </p:txBody>
      </p:sp>
    </p:spTree>
    <p:extLst>
      <p:ext uri="{BB962C8B-B14F-4D97-AF65-F5344CB8AC3E}">
        <p14:creationId xmlns:p14="http://schemas.microsoft.com/office/powerpoint/2010/main" val="1653393444"/>
      </p:ext>
    </p:extLst>
  </p:cSld>
</p:sld>
</file>

<file path=ppt/slides/slide2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EA04DAE-FAFD-40C2-BFFB-A429FA019A6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HIV and OIs · One-page rounds summary</a:t>
            </a:r>
          </a:p>
        </p:txBody>
      </p:sp>
      <p:sp>
        <p:nvSpPr>
          <p:cNvPr id="2" name="paragraph-0">
            <a:extLst xmlns:a="http://schemas.openxmlformats.org/drawingml/2006/main">
              <a:ext uri="{FF2B5EF4-FFF2-40B4-BE49-F238E27FC236}">
                <a16:creationId xmlns:a16="http://schemas.microsoft.com/office/drawing/2014/main" id="{1411260B-7332-451C-AFB4-AA8BEBD9F6B8}"/>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PCP: CD4 &lt;200 if not on or starting ART. Toxoplasma: IgG+ and CD4 &lt;100. MAC prophylaxis usually unnecessary with immediate effective ART; exclude active disease first. Secondary suppression has organism-specific stopping criteria.</a:t>
            </a:r>
          </a:p>
        </p:txBody>
      </p:sp>
      <p:sp>
        <p:nvSpPr>
          <p:cNvPr id="3" name="paragraph-1">
            <a:extLst xmlns:a="http://schemas.openxmlformats.org/drawingml/2006/main">
              <a:ext uri="{FF2B5EF4-FFF2-40B4-BE49-F238E27FC236}">
                <a16:creationId xmlns:a16="http://schemas.microsoft.com/office/drawing/2014/main" id="{D3452408-1CA4-4728-910A-4D63D6DBDD7D}"/>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TMP-SMX: K+, creatinine, CBC. Amphotericin: renal function, K+/Mg. Flucytosine: CBC, renal adjustment/levels. Check interactions and absorption. Repeat HIV RNA at 4-8 weeks. Confirm medication supply, appointment, and result ownership.</a:t>
            </a:r>
          </a:p>
        </p:txBody>
      </p:sp>
      <p:sp>
        <p:nvSpPr>
          <p:cNvPr id="4" name="footer">
            <a:extLst xmlns:a="http://schemas.openxmlformats.org/drawingml/2006/main">
              <a:ext uri="{FF2B5EF4-FFF2-40B4-BE49-F238E27FC236}">
                <a16:creationId xmlns:a16="http://schemas.microsoft.com/office/drawing/2014/main" id="{A863FA14-84E3-4232-BC13-8427C623CAD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5" name="number">
            <a:extLst xmlns:a="http://schemas.openxmlformats.org/drawingml/2006/main">
              <a:ext uri="{FF2B5EF4-FFF2-40B4-BE49-F238E27FC236}">
                <a16:creationId xmlns:a16="http://schemas.microsoft.com/office/drawing/2014/main" id="{0FC1068D-7FD1-4CE0-AF0E-2605D5B9CE2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229</a:t>
            </a:r>
          </a:p>
        </p:txBody>
      </p:sp>
    </p:spTree>
    <p:extLst>
      <p:ext uri="{BB962C8B-B14F-4D97-AF65-F5344CB8AC3E}">
        <p14:creationId xmlns:p14="http://schemas.microsoft.com/office/powerpoint/2010/main" val="362461141"/>
      </p:ext>
    </p:extLst>
  </p:cSld>
</p:sld>
</file>

<file path=ppt/slides/slide2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AA0D778-5D46-4180-9385-FE300CF7132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HIV and OIs · One-page rounds summary</a:t>
            </a:r>
          </a:p>
        </p:txBody>
      </p:sp>
      <p:sp>
        <p:nvSpPr>
          <p:cNvPr id="2" name="paragraph-0">
            <a:extLst xmlns:a="http://schemas.openxmlformats.org/drawingml/2006/main">
              <a:ext uri="{FF2B5EF4-FFF2-40B4-BE49-F238E27FC236}">
                <a16:creationId xmlns:a16="http://schemas.microsoft.com/office/drawing/2014/main" id="{02013A4A-F021-4D13-8811-D3AD9533D729}"/>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Substantial exposure: indicated PEP immediately, no later than 72 hours, for 28 days. Arrange follow-up and PrEP transition. PrEP options include oral agents, CAB, and six-monthly LEN. Sustained suppression prevents sexual HIV transmission.</a:t>
            </a:r>
          </a:p>
        </p:txBody>
      </p:sp>
      <p:sp>
        <p:nvSpPr>
          <p:cNvPr id="3" name="paragraph-1">
            <a:extLst xmlns:a="http://schemas.openxmlformats.org/drawingml/2006/main">
              <a:ext uri="{FF2B5EF4-FFF2-40B4-BE49-F238E27FC236}">
                <a16:creationId xmlns:a16="http://schemas.microsoft.com/office/drawing/2014/main" id="{FD155E69-4AD7-487B-A3CA-61474257E989}"/>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toxoplasma improvement by 10-14 days, new visual loss, rising oxygen need, persistent cultures, or new CNS symptoms require reassessment. Positive CMV blood PCR is not tissue disease; persistent CrAg is not proof of failure.</a:t>
            </a:r>
          </a:p>
        </p:txBody>
      </p:sp>
      <p:sp>
        <p:nvSpPr>
          <p:cNvPr id="4" name="footer">
            <a:extLst xmlns:a="http://schemas.openxmlformats.org/drawingml/2006/main">
              <a:ext uri="{FF2B5EF4-FFF2-40B4-BE49-F238E27FC236}">
                <a16:creationId xmlns:a16="http://schemas.microsoft.com/office/drawing/2014/main" id="{21F58D7A-65D8-4ACE-9586-FD5EE92989B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5" name="number">
            <a:extLst xmlns:a="http://schemas.openxmlformats.org/drawingml/2006/main">
              <a:ext uri="{FF2B5EF4-FFF2-40B4-BE49-F238E27FC236}">
                <a16:creationId xmlns:a16="http://schemas.microsoft.com/office/drawing/2014/main" id="{0D2D3FC1-B414-4965-8CE5-007F30245E8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230</a:t>
            </a:r>
          </a:p>
        </p:txBody>
      </p:sp>
    </p:spTree>
    <p:extLst>
      <p:ext uri="{BB962C8B-B14F-4D97-AF65-F5344CB8AC3E}">
        <p14:creationId xmlns:p14="http://schemas.microsoft.com/office/powerpoint/2010/main" val="8177680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2026-10-28T18:29:03.5110000Z</dcterms:created>
  <dcterms:modified xsi:type="dcterms:W3CDTF">2026-10-28T18:29:03.5110000Z</dcterms:modified>
</coreProperties>
</file>