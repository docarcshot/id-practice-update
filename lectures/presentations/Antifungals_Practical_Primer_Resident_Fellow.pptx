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Override PartName="/ppt/slides/slide173.xml" ContentType="application/vnd.openxmlformats-officedocument.presentationml.slide+xml"/>
  <Override PartName="/ppt/notesSlides/notesSlide173.xml" ContentType="application/vnd.openxmlformats-officedocument.presentationml.notesSlide+xml"/>
  <Override PartName="/ppt/slides/slide174.xml" ContentType="application/vnd.openxmlformats-officedocument.presentationml.slide+xml"/>
  <Override PartName="/ppt/notesSlides/notesSlide174.xml" ContentType="application/vnd.openxmlformats-officedocument.presentationml.notesSlide+xml"/>
  <Override PartName="/ppt/slides/slide175.xml" ContentType="application/vnd.openxmlformats-officedocument.presentationml.slide+xml"/>
  <Override PartName="/ppt/notesSlides/notesSlide175.xml" ContentType="application/vnd.openxmlformats-officedocument.presentationml.notesSlide+xml"/>
  <Override PartName="/ppt/slides/slide176.xml" ContentType="application/vnd.openxmlformats-officedocument.presentationml.slide+xml"/>
  <Override PartName="/ppt/notesSlides/notesSlide176.xml" ContentType="application/vnd.openxmlformats-officedocument.presentationml.notesSlide+xml"/>
  <Override PartName="/ppt/slides/slide177.xml" ContentType="application/vnd.openxmlformats-officedocument.presentationml.slide+xml"/>
  <Override PartName="/ppt/notesSlides/notesSlide177.xml" ContentType="application/vnd.openxmlformats-officedocument.presentationml.notesSlide+xml"/>
  <Override PartName="/ppt/slides/slide178.xml" ContentType="application/vnd.openxmlformats-officedocument.presentationml.slide+xml"/>
  <Override PartName="/ppt/notesSlides/notesSlide178.xml" ContentType="application/vnd.openxmlformats-officedocument.presentationml.notesSlide+xml"/>
  <Override PartName="/ppt/slides/slide179.xml" ContentType="application/vnd.openxmlformats-officedocument.presentationml.slide+xml"/>
  <Override PartName="/ppt/notesSlides/notesSlide179.xml" ContentType="application/vnd.openxmlformats-officedocument.presentationml.notesSlide+xml"/>
  <Override PartName="/ppt/slides/slide180.xml" ContentType="application/vnd.openxmlformats-officedocument.presentationml.slide+xml"/>
  <Override PartName="/ppt/notesSlides/notesSlide180.xml" ContentType="application/vnd.openxmlformats-officedocument.presentationml.notesSlide+xml"/>
  <Override PartName="/ppt/slides/slide181.xml" ContentType="application/vnd.openxmlformats-officedocument.presentationml.slide+xml"/>
  <Override PartName="/ppt/notesSlides/notesSlide181.xml" ContentType="application/vnd.openxmlformats-officedocument.presentationml.notesSlide+xml"/>
  <Override PartName="/ppt/slides/slide182.xml" ContentType="application/vnd.openxmlformats-officedocument.presentationml.slide+xml"/>
  <Override PartName="/ppt/notesSlides/notesSlide182.xml" ContentType="application/vnd.openxmlformats-officedocument.presentationml.notesSlide+xml"/>
  <Override PartName="/ppt/slides/slide183.xml" ContentType="application/vnd.openxmlformats-officedocument.presentationml.slide+xml"/>
  <Override PartName="/ppt/notesSlides/notesSlide183.xml" ContentType="application/vnd.openxmlformats-officedocument.presentationml.notesSlide+xml"/>
  <Override PartName="/ppt/slides/slide184.xml" ContentType="application/vnd.openxmlformats-officedocument.presentationml.slide+xml"/>
  <Override PartName="/ppt/notesSlides/notesSlide184.xml" ContentType="application/vnd.openxmlformats-officedocument.presentationml.notesSlide+xml"/>
  <Override PartName="/ppt/slides/slide185.xml" ContentType="application/vnd.openxmlformats-officedocument.presentationml.slide+xml"/>
  <Override PartName="/ppt/notesSlides/notesSlide185.xml" ContentType="application/vnd.openxmlformats-officedocument.presentationml.notesSlide+xml"/>
  <Override PartName="/ppt/slides/slide186.xml" ContentType="application/vnd.openxmlformats-officedocument.presentationml.slide+xml"/>
  <Override PartName="/ppt/notesSlides/notesSlide186.xml" ContentType="application/vnd.openxmlformats-officedocument.presentationml.notesSlide+xml"/>
  <Override PartName="/ppt/slides/slide187.xml" ContentType="application/vnd.openxmlformats-officedocument.presentationml.slide+xml"/>
  <Override PartName="/ppt/notesSlides/notesSlide187.xml" ContentType="application/vnd.openxmlformats-officedocument.presentationml.notesSlide+xml"/>
  <Override PartName="/ppt/slides/slide188.xml" ContentType="application/vnd.openxmlformats-officedocument.presentationml.slide+xml"/>
  <Override PartName="/ppt/notesSlides/notesSlide188.xml" ContentType="application/vnd.openxmlformats-officedocument.presentationml.notesSlide+xml"/>
  <Override PartName="/ppt/slides/slide189.xml" ContentType="application/vnd.openxmlformats-officedocument.presentationml.slide+xml"/>
  <Override PartName="/ppt/notesSlides/notesSlide189.xml" ContentType="application/vnd.openxmlformats-officedocument.presentationml.notesSlide+xml"/>
  <Override PartName="/ppt/slides/slide190.xml" ContentType="application/vnd.openxmlformats-officedocument.presentationml.slide+xml"/>
  <Override PartName="/ppt/notesSlides/notesSlide190.xml" ContentType="application/vnd.openxmlformats-officedocument.presentationml.notesSlide+xml"/>
  <Override PartName="/ppt/slides/slide191.xml" ContentType="application/vnd.openxmlformats-officedocument.presentationml.slide+xml"/>
  <Override PartName="/ppt/notesSlides/notesSlide191.xml" ContentType="application/vnd.openxmlformats-officedocument.presentationml.notesSlide+xml"/>
  <Override PartName="/ppt/slides/slide192.xml" ContentType="application/vnd.openxmlformats-officedocument.presentationml.slide+xml"/>
  <Override PartName="/ppt/notesSlides/notesSlide192.xml" ContentType="application/vnd.openxmlformats-officedocument.presentationml.notesSlide+xml"/>
  <Override PartName="/ppt/slides/slide193.xml" ContentType="application/vnd.openxmlformats-officedocument.presentationml.slide+xml"/>
  <Override PartName="/ppt/notesSlides/notesSlide193.xml" ContentType="application/vnd.openxmlformats-officedocument.presentationml.notesSlide+xml"/>
  <Override PartName="/ppt/slides/slide194.xml" ContentType="application/vnd.openxmlformats-officedocument.presentationml.slide+xml"/>
  <Override PartName="/ppt/notesSlides/notesSlide194.xml" ContentType="application/vnd.openxmlformats-officedocument.presentationml.notesSlide+xml"/>
  <Override PartName="/ppt/slides/slide195.xml" ContentType="application/vnd.openxmlformats-officedocument.presentationml.slide+xml"/>
  <Override PartName="/ppt/notesSlides/notesSlide195.xml" ContentType="application/vnd.openxmlformats-officedocument.presentationml.notesSlide+xml"/>
  <Override PartName="/ppt/slides/slide196.xml" ContentType="application/vnd.openxmlformats-officedocument.presentationml.slide+xml"/>
  <Override PartName="/ppt/notesSlides/notesSlide196.xml" ContentType="application/vnd.openxmlformats-officedocument.presentationml.notesSlide+xml"/>
  <Override PartName="/ppt/slides/slide197.xml" ContentType="application/vnd.openxmlformats-officedocument.presentationml.slide+xml"/>
  <Override PartName="/ppt/notesSlides/notesSlide197.xml" ContentType="application/vnd.openxmlformats-officedocument.presentationml.notesSlide+xml"/>
  <Override PartName="/ppt/slides/slide198.xml" ContentType="application/vnd.openxmlformats-officedocument.presentationml.slide+xml"/>
  <Override PartName="/ppt/notesSlides/notesSlide198.xml" ContentType="application/vnd.openxmlformats-officedocument.presentationml.notesSlide+xml"/>
  <Override PartName="/ppt/slides/slide199.xml" ContentType="application/vnd.openxmlformats-officedocument.presentationml.slide+xml"/>
  <Override PartName="/ppt/notesSlides/notesSlide199.xml" ContentType="application/vnd.openxmlformats-officedocument.presentationml.notesSlide+xml"/>
  <Override PartName="/ppt/slides/slide200.xml" ContentType="application/vnd.openxmlformats-officedocument.presentationml.slide+xml"/>
  <Override PartName="/ppt/notesSlides/notesSlide200.xml" ContentType="application/vnd.openxmlformats-officedocument.presentationml.notesSlide+xml"/>
  <Override PartName="/ppt/slides/slide201.xml" ContentType="application/vnd.openxmlformats-officedocument.presentationml.slide+xml"/>
  <Override PartName="/ppt/notesSlides/notesSlide201.xml" ContentType="application/vnd.openxmlformats-officedocument.presentationml.notesSlide+xml"/>
  <Override PartName="/ppt/slides/slide202.xml" ContentType="application/vnd.openxmlformats-officedocument.presentationml.slide+xml"/>
  <Override PartName="/ppt/notesSlides/notesSlide202.xml" ContentType="application/vnd.openxmlformats-officedocument.presentationml.notesSlide+xml"/>
  <Override PartName="/ppt/slides/slide203.xml" ContentType="application/vnd.openxmlformats-officedocument.presentationml.slide+xml"/>
  <Override PartName="/ppt/notesSlides/notesSlide203.xml" ContentType="application/vnd.openxmlformats-officedocument.presentationml.notesSlide+xml"/>
  <Override PartName="/ppt/slides/slide204.xml" ContentType="application/vnd.openxmlformats-officedocument.presentationml.slide+xml"/>
  <Override PartName="/ppt/notesSlides/notesSlide204.xml" ContentType="application/vnd.openxmlformats-officedocument.presentationml.notesSlide+xml"/>
  <Override PartName="/ppt/slides/slide205.xml" ContentType="application/vnd.openxmlformats-officedocument.presentationml.slide+xml"/>
  <Override PartName="/ppt/notesSlides/notesSlide20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bc745194d342a3" /><Relationship Type="http://schemas.openxmlformats.org/officeDocument/2006/relationships/extended-properties" Target="/docProps/app.xml" Id="R1e698a0c49cc4be4" /><Relationship Type="http://schemas.openxmlformats.org/officeDocument/2006/relationships/officeDocument" Target="/ppt/presentation.xml" Id="R764ac35998204a33" /></Relationships>
</file>

<file path=ppt/presentation.xml><?xml version="1.0" encoding="utf-8"?>
<p:presentation xmlns:p="http://schemas.openxmlformats.org/presentationml/2006/main">
  <p:sldMasterIdLst>
    <p:sldMasterId xmlns:r="http://schemas.openxmlformats.org/officeDocument/2006/relationships" id="2147483648" r:id="Rfe007d70539841bf"/>
  </p:sldMasterIdLst>
  <p:notesMasterIdLst>
    <p:notesMasterId xmlns:r="http://schemas.openxmlformats.org/officeDocument/2006/relationships" r:id="R9b95da33b5db4948"/>
  </p:notesMasterIdLst>
  <p:sldIdLst>
    <p:sldId xmlns:r="http://schemas.openxmlformats.org/officeDocument/2006/relationships" id="256" r:id="R7223c856c3b847ec"/>
    <p:sldId xmlns:r="http://schemas.openxmlformats.org/officeDocument/2006/relationships" id="257" r:id="R588f90f58300499d"/>
    <p:sldId xmlns:r="http://schemas.openxmlformats.org/officeDocument/2006/relationships" id="258" r:id="Re2368f91485d48c4"/>
    <p:sldId xmlns:r="http://schemas.openxmlformats.org/officeDocument/2006/relationships" id="259" r:id="R88f0cafcc77b41df"/>
    <p:sldId xmlns:r="http://schemas.openxmlformats.org/officeDocument/2006/relationships" id="260" r:id="Ra2e9492d249e45d8"/>
    <p:sldId xmlns:r="http://schemas.openxmlformats.org/officeDocument/2006/relationships" id="261" r:id="R6a2c0ad5c0584e9e"/>
    <p:sldId xmlns:r="http://schemas.openxmlformats.org/officeDocument/2006/relationships" id="262" r:id="R3ef6a67226b340e5"/>
    <p:sldId xmlns:r="http://schemas.openxmlformats.org/officeDocument/2006/relationships" id="263" r:id="Rcfb87180e64f420a"/>
    <p:sldId xmlns:r="http://schemas.openxmlformats.org/officeDocument/2006/relationships" id="264" r:id="Re4fbd135dcb540fd"/>
    <p:sldId xmlns:r="http://schemas.openxmlformats.org/officeDocument/2006/relationships" id="265" r:id="R64c0459ae8ed43ce"/>
    <p:sldId xmlns:r="http://schemas.openxmlformats.org/officeDocument/2006/relationships" id="266" r:id="R1ccbeb03bb824848"/>
    <p:sldId xmlns:r="http://schemas.openxmlformats.org/officeDocument/2006/relationships" id="267" r:id="R337f86c857854083"/>
    <p:sldId xmlns:r="http://schemas.openxmlformats.org/officeDocument/2006/relationships" id="268" r:id="R86c9986a08e34d4c"/>
    <p:sldId xmlns:r="http://schemas.openxmlformats.org/officeDocument/2006/relationships" id="269" r:id="Rae94513fb25a4a64"/>
    <p:sldId xmlns:r="http://schemas.openxmlformats.org/officeDocument/2006/relationships" id="270" r:id="R14a2250216e841b9"/>
    <p:sldId xmlns:r="http://schemas.openxmlformats.org/officeDocument/2006/relationships" id="271" r:id="R09a55fb7d15b41f8"/>
    <p:sldId xmlns:r="http://schemas.openxmlformats.org/officeDocument/2006/relationships" id="272" r:id="R0b92d18e17544269"/>
    <p:sldId xmlns:r="http://schemas.openxmlformats.org/officeDocument/2006/relationships" id="273" r:id="Rdf6b1509ffdf42df"/>
    <p:sldId xmlns:r="http://schemas.openxmlformats.org/officeDocument/2006/relationships" id="274" r:id="Ra1f4561db6bd4803"/>
    <p:sldId xmlns:r="http://schemas.openxmlformats.org/officeDocument/2006/relationships" id="275" r:id="Ra77fb5bd046d4976"/>
    <p:sldId xmlns:r="http://schemas.openxmlformats.org/officeDocument/2006/relationships" id="276" r:id="R477be76abb954e18"/>
    <p:sldId xmlns:r="http://schemas.openxmlformats.org/officeDocument/2006/relationships" id="277" r:id="Rc29e368fc2284358"/>
    <p:sldId xmlns:r="http://schemas.openxmlformats.org/officeDocument/2006/relationships" id="278" r:id="R78eaef57542740da"/>
    <p:sldId xmlns:r="http://schemas.openxmlformats.org/officeDocument/2006/relationships" id="279" r:id="R6112836340ec40b8"/>
    <p:sldId xmlns:r="http://schemas.openxmlformats.org/officeDocument/2006/relationships" id="280" r:id="R5e08d62a0cf44320"/>
    <p:sldId xmlns:r="http://schemas.openxmlformats.org/officeDocument/2006/relationships" id="281" r:id="R05fa19ad50f34d28"/>
    <p:sldId xmlns:r="http://schemas.openxmlformats.org/officeDocument/2006/relationships" id="282" r:id="R548a8d8ad97746f5"/>
    <p:sldId xmlns:r="http://schemas.openxmlformats.org/officeDocument/2006/relationships" id="283" r:id="R2770b66a23424ea9"/>
    <p:sldId xmlns:r="http://schemas.openxmlformats.org/officeDocument/2006/relationships" id="284" r:id="R77e9256d944044b5"/>
    <p:sldId xmlns:r="http://schemas.openxmlformats.org/officeDocument/2006/relationships" id="285" r:id="Rc825811e41234a0b"/>
    <p:sldId xmlns:r="http://schemas.openxmlformats.org/officeDocument/2006/relationships" id="286" r:id="R843971a7328d4e1f"/>
    <p:sldId xmlns:r="http://schemas.openxmlformats.org/officeDocument/2006/relationships" id="287" r:id="R95d2c2205b244354"/>
    <p:sldId xmlns:r="http://schemas.openxmlformats.org/officeDocument/2006/relationships" id="288" r:id="R6cffe174c4d946b5"/>
    <p:sldId xmlns:r="http://schemas.openxmlformats.org/officeDocument/2006/relationships" id="289" r:id="Rce9ec471caa74186"/>
    <p:sldId xmlns:r="http://schemas.openxmlformats.org/officeDocument/2006/relationships" id="290" r:id="R36dc1212f3554ce7"/>
    <p:sldId xmlns:r="http://schemas.openxmlformats.org/officeDocument/2006/relationships" id="291" r:id="R7803f52554cd483b"/>
    <p:sldId xmlns:r="http://schemas.openxmlformats.org/officeDocument/2006/relationships" id="292" r:id="R6829ad852d7f4571"/>
    <p:sldId xmlns:r="http://schemas.openxmlformats.org/officeDocument/2006/relationships" id="293" r:id="R5a1e87b9b02c47b9"/>
    <p:sldId xmlns:r="http://schemas.openxmlformats.org/officeDocument/2006/relationships" id="294" r:id="R420ab5edf7ae4635"/>
    <p:sldId xmlns:r="http://schemas.openxmlformats.org/officeDocument/2006/relationships" id="295" r:id="R88873db19ae6431d"/>
    <p:sldId xmlns:r="http://schemas.openxmlformats.org/officeDocument/2006/relationships" id="296" r:id="Re889989e5001484e"/>
    <p:sldId xmlns:r="http://schemas.openxmlformats.org/officeDocument/2006/relationships" id="297" r:id="R8db359f0bcf34cfb"/>
    <p:sldId xmlns:r="http://schemas.openxmlformats.org/officeDocument/2006/relationships" id="298" r:id="R8d25d26162b84874"/>
    <p:sldId xmlns:r="http://schemas.openxmlformats.org/officeDocument/2006/relationships" id="299" r:id="R41915a312c2a4e6a"/>
    <p:sldId xmlns:r="http://schemas.openxmlformats.org/officeDocument/2006/relationships" id="300" r:id="R89c2f1f0e0274778"/>
    <p:sldId xmlns:r="http://schemas.openxmlformats.org/officeDocument/2006/relationships" id="301" r:id="R74bf8ae6a16d4e1d"/>
    <p:sldId xmlns:r="http://schemas.openxmlformats.org/officeDocument/2006/relationships" id="302" r:id="Rb0f141f0b7f4450c"/>
    <p:sldId xmlns:r="http://schemas.openxmlformats.org/officeDocument/2006/relationships" id="303" r:id="R046da7788a10433e"/>
    <p:sldId xmlns:r="http://schemas.openxmlformats.org/officeDocument/2006/relationships" id="304" r:id="R8beab86951ea44da"/>
    <p:sldId xmlns:r="http://schemas.openxmlformats.org/officeDocument/2006/relationships" id="305" r:id="R62ae747a579c482d"/>
    <p:sldId xmlns:r="http://schemas.openxmlformats.org/officeDocument/2006/relationships" id="306" r:id="R090940b815814676"/>
    <p:sldId xmlns:r="http://schemas.openxmlformats.org/officeDocument/2006/relationships" id="307" r:id="R4a153a444437488e"/>
    <p:sldId xmlns:r="http://schemas.openxmlformats.org/officeDocument/2006/relationships" id="308" r:id="R8643d66152e3432e"/>
    <p:sldId xmlns:r="http://schemas.openxmlformats.org/officeDocument/2006/relationships" id="309" r:id="Rcbd17e673986482c"/>
    <p:sldId xmlns:r="http://schemas.openxmlformats.org/officeDocument/2006/relationships" id="310" r:id="Rdd32075141dd4be2"/>
    <p:sldId xmlns:r="http://schemas.openxmlformats.org/officeDocument/2006/relationships" id="311" r:id="Rc0b83c489fea416a"/>
    <p:sldId xmlns:r="http://schemas.openxmlformats.org/officeDocument/2006/relationships" id="312" r:id="Rca694c1ede5140d2"/>
    <p:sldId xmlns:r="http://schemas.openxmlformats.org/officeDocument/2006/relationships" id="313" r:id="R5f16c7cc793b4236"/>
    <p:sldId xmlns:r="http://schemas.openxmlformats.org/officeDocument/2006/relationships" id="314" r:id="Rf55fe4bcf21f40cc"/>
    <p:sldId xmlns:r="http://schemas.openxmlformats.org/officeDocument/2006/relationships" id="315" r:id="R908e907b9e3d4a7f"/>
    <p:sldId xmlns:r="http://schemas.openxmlformats.org/officeDocument/2006/relationships" id="316" r:id="R8408ce140cdc405b"/>
    <p:sldId xmlns:r="http://schemas.openxmlformats.org/officeDocument/2006/relationships" id="317" r:id="R55f7420154f94bdc"/>
    <p:sldId xmlns:r="http://schemas.openxmlformats.org/officeDocument/2006/relationships" id="318" r:id="R1335576a8d8b42b0"/>
    <p:sldId xmlns:r="http://schemas.openxmlformats.org/officeDocument/2006/relationships" id="319" r:id="Rd6d8f0a501ff41cf"/>
    <p:sldId xmlns:r="http://schemas.openxmlformats.org/officeDocument/2006/relationships" id="320" r:id="Rc541cae8930d40c1"/>
    <p:sldId xmlns:r="http://schemas.openxmlformats.org/officeDocument/2006/relationships" id="321" r:id="R69055fdc40ef4148"/>
    <p:sldId xmlns:r="http://schemas.openxmlformats.org/officeDocument/2006/relationships" id="322" r:id="R3da759b4d23b4a18"/>
    <p:sldId xmlns:r="http://schemas.openxmlformats.org/officeDocument/2006/relationships" id="323" r:id="R68b49edd29e544db"/>
    <p:sldId xmlns:r="http://schemas.openxmlformats.org/officeDocument/2006/relationships" id="324" r:id="Ra6d7fc27ef6149c2"/>
    <p:sldId xmlns:r="http://schemas.openxmlformats.org/officeDocument/2006/relationships" id="325" r:id="Rbca2d3096fa24b9f"/>
    <p:sldId xmlns:r="http://schemas.openxmlformats.org/officeDocument/2006/relationships" id="326" r:id="R6b954335a2bb496a"/>
    <p:sldId xmlns:r="http://schemas.openxmlformats.org/officeDocument/2006/relationships" id="327" r:id="R17a5aa1a77224af1"/>
    <p:sldId xmlns:r="http://schemas.openxmlformats.org/officeDocument/2006/relationships" id="328" r:id="R5d71a3c1d7af4d67"/>
    <p:sldId xmlns:r="http://schemas.openxmlformats.org/officeDocument/2006/relationships" id="329" r:id="R53caf075bb1e4eb8"/>
    <p:sldId xmlns:r="http://schemas.openxmlformats.org/officeDocument/2006/relationships" id="330" r:id="Rd3ba823b13694412"/>
    <p:sldId xmlns:r="http://schemas.openxmlformats.org/officeDocument/2006/relationships" id="331" r:id="R4d825bf5063e48bb"/>
    <p:sldId xmlns:r="http://schemas.openxmlformats.org/officeDocument/2006/relationships" id="332" r:id="Re6f9ba14fd1b4e78"/>
    <p:sldId xmlns:r="http://schemas.openxmlformats.org/officeDocument/2006/relationships" id="333" r:id="Rc7bff1b93bda4496"/>
    <p:sldId xmlns:r="http://schemas.openxmlformats.org/officeDocument/2006/relationships" id="334" r:id="Ree2f2097644740e2"/>
    <p:sldId xmlns:r="http://schemas.openxmlformats.org/officeDocument/2006/relationships" id="335" r:id="Rcb3de83fd28d47ea"/>
    <p:sldId xmlns:r="http://schemas.openxmlformats.org/officeDocument/2006/relationships" id="336" r:id="R2413f1187bf64521"/>
    <p:sldId xmlns:r="http://schemas.openxmlformats.org/officeDocument/2006/relationships" id="337" r:id="R937db15a358a45c6"/>
    <p:sldId xmlns:r="http://schemas.openxmlformats.org/officeDocument/2006/relationships" id="338" r:id="R82e4132227b745f4"/>
    <p:sldId xmlns:r="http://schemas.openxmlformats.org/officeDocument/2006/relationships" id="339" r:id="Rd1540a06d5be4fae"/>
    <p:sldId xmlns:r="http://schemas.openxmlformats.org/officeDocument/2006/relationships" id="340" r:id="Re0a17f735ab04aaa"/>
    <p:sldId xmlns:r="http://schemas.openxmlformats.org/officeDocument/2006/relationships" id="341" r:id="R19094ae8504141e5"/>
    <p:sldId xmlns:r="http://schemas.openxmlformats.org/officeDocument/2006/relationships" id="342" r:id="R4970cac3ab174962"/>
    <p:sldId xmlns:r="http://schemas.openxmlformats.org/officeDocument/2006/relationships" id="343" r:id="R2b66fefa718d4393"/>
    <p:sldId xmlns:r="http://schemas.openxmlformats.org/officeDocument/2006/relationships" id="344" r:id="R96f4e81d117c453f"/>
    <p:sldId xmlns:r="http://schemas.openxmlformats.org/officeDocument/2006/relationships" id="345" r:id="R0808ff024da84495"/>
    <p:sldId xmlns:r="http://schemas.openxmlformats.org/officeDocument/2006/relationships" id="346" r:id="R0724afc7519f431d"/>
    <p:sldId xmlns:r="http://schemas.openxmlformats.org/officeDocument/2006/relationships" id="347" r:id="R11d965078d3145f2"/>
    <p:sldId xmlns:r="http://schemas.openxmlformats.org/officeDocument/2006/relationships" id="348" r:id="R004f607435db4556"/>
    <p:sldId xmlns:r="http://schemas.openxmlformats.org/officeDocument/2006/relationships" id="349" r:id="R7ed4cb43a8624ea0"/>
    <p:sldId xmlns:r="http://schemas.openxmlformats.org/officeDocument/2006/relationships" id="350" r:id="Rd3039a05dafe4da4"/>
    <p:sldId xmlns:r="http://schemas.openxmlformats.org/officeDocument/2006/relationships" id="351" r:id="R00db13dd3f6946db"/>
    <p:sldId xmlns:r="http://schemas.openxmlformats.org/officeDocument/2006/relationships" id="352" r:id="R19caeb560ad540f8"/>
    <p:sldId xmlns:r="http://schemas.openxmlformats.org/officeDocument/2006/relationships" id="353" r:id="Rd2fc3d6e7a5b48c7"/>
    <p:sldId xmlns:r="http://schemas.openxmlformats.org/officeDocument/2006/relationships" id="354" r:id="Red7825e9bc784e3a"/>
    <p:sldId xmlns:r="http://schemas.openxmlformats.org/officeDocument/2006/relationships" id="355" r:id="Rd7f22297ff0840e3"/>
    <p:sldId xmlns:r="http://schemas.openxmlformats.org/officeDocument/2006/relationships" id="356" r:id="Rbfe149538a0142d7"/>
    <p:sldId xmlns:r="http://schemas.openxmlformats.org/officeDocument/2006/relationships" id="357" r:id="R30c7c75eeeff4aa2"/>
    <p:sldId xmlns:r="http://schemas.openxmlformats.org/officeDocument/2006/relationships" id="358" r:id="Rd3f3fc81a4624542"/>
    <p:sldId xmlns:r="http://schemas.openxmlformats.org/officeDocument/2006/relationships" id="359" r:id="R8950ed8fa62a4fbf"/>
    <p:sldId xmlns:r="http://schemas.openxmlformats.org/officeDocument/2006/relationships" id="360" r:id="R777a733042104865"/>
    <p:sldId xmlns:r="http://schemas.openxmlformats.org/officeDocument/2006/relationships" id="361" r:id="R5e509b2273cf4007"/>
    <p:sldId xmlns:r="http://schemas.openxmlformats.org/officeDocument/2006/relationships" id="362" r:id="R2510f3965f1a4964"/>
    <p:sldId xmlns:r="http://schemas.openxmlformats.org/officeDocument/2006/relationships" id="363" r:id="R4e120beeaa474e9d"/>
    <p:sldId xmlns:r="http://schemas.openxmlformats.org/officeDocument/2006/relationships" id="364" r:id="R4799fde3d8da4de4"/>
    <p:sldId xmlns:r="http://schemas.openxmlformats.org/officeDocument/2006/relationships" id="365" r:id="R272cfb7627fb4d07"/>
    <p:sldId xmlns:r="http://schemas.openxmlformats.org/officeDocument/2006/relationships" id="366" r:id="R7f4ebffa7e9a4c3f"/>
    <p:sldId xmlns:r="http://schemas.openxmlformats.org/officeDocument/2006/relationships" id="367" r:id="R9368bf3a23ed4c6c"/>
    <p:sldId xmlns:r="http://schemas.openxmlformats.org/officeDocument/2006/relationships" id="368" r:id="Ra8d462f6b521453c"/>
    <p:sldId xmlns:r="http://schemas.openxmlformats.org/officeDocument/2006/relationships" id="369" r:id="R604e726ceb5d4dc1"/>
    <p:sldId xmlns:r="http://schemas.openxmlformats.org/officeDocument/2006/relationships" id="370" r:id="Rc970190363e240af"/>
    <p:sldId xmlns:r="http://schemas.openxmlformats.org/officeDocument/2006/relationships" id="371" r:id="R6d846ab3de124bb7"/>
    <p:sldId xmlns:r="http://schemas.openxmlformats.org/officeDocument/2006/relationships" id="372" r:id="Rfed4b932a6da44a9"/>
    <p:sldId xmlns:r="http://schemas.openxmlformats.org/officeDocument/2006/relationships" id="373" r:id="R918e303ff86e4b56"/>
    <p:sldId xmlns:r="http://schemas.openxmlformats.org/officeDocument/2006/relationships" id="374" r:id="R184a1b3af4d247e4"/>
    <p:sldId xmlns:r="http://schemas.openxmlformats.org/officeDocument/2006/relationships" id="375" r:id="R1e281e80718e4686"/>
    <p:sldId xmlns:r="http://schemas.openxmlformats.org/officeDocument/2006/relationships" id="376" r:id="R101b90cdc5264fa6"/>
    <p:sldId xmlns:r="http://schemas.openxmlformats.org/officeDocument/2006/relationships" id="377" r:id="R0de275bd50494830"/>
    <p:sldId xmlns:r="http://schemas.openxmlformats.org/officeDocument/2006/relationships" id="378" r:id="R44d5fc2592e9404a"/>
    <p:sldId xmlns:r="http://schemas.openxmlformats.org/officeDocument/2006/relationships" id="379" r:id="R726e02d974c44190"/>
    <p:sldId xmlns:r="http://schemas.openxmlformats.org/officeDocument/2006/relationships" id="380" r:id="Raaae6d5ac63b4540"/>
    <p:sldId xmlns:r="http://schemas.openxmlformats.org/officeDocument/2006/relationships" id="381" r:id="Rfa1daf7d02cb4e3c"/>
    <p:sldId xmlns:r="http://schemas.openxmlformats.org/officeDocument/2006/relationships" id="382" r:id="Rf21250319a8c4b1d"/>
    <p:sldId xmlns:r="http://schemas.openxmlformats.org/officeDocument/2006/relationships" id="383" r:id="Reaac4e938f524429"/>
    <p:sldId xmlns:r="http://schemas.openxmlformats.org/officeDocument/2006/relationships" id="384" r:id="R4427ec6ddd47451b"/>
    <p:sldId xmlns:r="http://schemas.openxmlformats.org/officeDocument/2006/relationships" id="385" r:id="R544ea1c5cb874a26"/>
    <p:sldId xmlns:r="http://schemas.openxmlformats.org/officeDocument/2006/relationships" id="386" r:id="R6b1e0feb03314fb8"/>
    <p:sldId xmlns:r="http://schemas.openxmlformats.org/officeDocument/2006/relationships" id="387" r:id="Ra23e9fecd3c54f92"/>
    <p:sldId xmlns:r="http://schemas.openxmlformats.org/officeDocument/2006/relationships" id="388" r:id="R58b1c5ee57664315"/>
    <p:sldId xmlns:r="http://schemas.openxmlformats.org/officeDocument/2006/relationships" id="389" r:id="Ra5d28ae7a83d4936"/>
    <p:sldId xmlns:r="http://schemas.openxmlformats.org/officeDocument/2006/relationships" id="390" r:id="Rcb6a1a9c80bf4798"/>
    <p:sldId xmlns:r="http://schemas.openxmlformats.org/officeDocument/2006/relationships" id="391" r:id="Rc97d46698fa04414"/>
    <p:sldId xmlns:r="http://schemas.openxmlformats.org/officeDocument/2006/relationships" id="392" r:id="R8eb25eda21994a76"/>
    <p:sldId xmlns:r="http://schemas.openxmlformats.org/officeDocument/2006/relationships" id="393" r:id="R37239c9a581541e4"/>
    <p:sldId xmlns:r="http://schemas.openxmlformats.org/officeDocument/2006/relationships" id="394" r:id="R6cecf3e512d74850"/>
    <p:sldId xmlns:r="http://schemas.openxmlformats.org/officeDocument/2006/relationships" id="395" r:id="Rf70de336c1c5491e"/>
    <p:sldId xmlns:r="http://schemas.openxmlformats.org/officeDocument/2006/relationships" id="396" r:id="R8bda404e4ddd4f92"/>
    <p:sldId xmlns:r="http://schemas.openxmlformats.org/officeDocument/2006/relationships" id="397" r:id="R1ddd8adf5aad41e8"/>
    <p:sldId xmlns:r="http://schemas.openxmlformats.org/officeDocument/2006/relationships" id="398" r:id="Rfc91a9e3ab874557"/>
    <p:sldId xmlns:r="http://schemas.openxmlformats.org/officeDocument/2006/relationships" id="399" r:id="R4fc822d34c0e4308"/>
    <p:sldId xmlns:r="http://schemas.openxmlformats.org/officeDocument/2006/relationships" id="400" r:id="R047c380f935c46d9"/>
    <p:sldId xmlns:r="http://schemas.openxmlformats.org/officeDocument/2006/relationships" id="401" r:id="R14d0f312f0014a2d"/>
    <p:sldId xmlns:r="http://schemas.openxmlformats.org/officeDocument/2006/relationships" id="402" r:id="R219a86ac13da405c"/>
    <p:sldId xmlns:r="http://schemas.openxmlformats.org/officeDocument/2006/relationships" id="403" r:id="R6b16361e79064d45"/>
    <p:sldId xmlns:r="http://schemas.openxmlformats.org/officeDocument/2006/relationships" id="404" r:id="R623d92222a864d03"/>
    <p:sldId xmlns:r="http://schemas.openxmlformats.org/officeDocument/2006/relationships" id="405" r:id="R17978b32903f45f1"/>
    <p:sldId xmlns:r="http://schemas.openxmlformats.org/officeDocument/2006/relationships" id="406" r:id="R78a2d9833b664c27"/>
    <p:sldId xmlns:r="http://schemas.openxmlformats.org/officeDocument/2006/relationships" id="407" r:id="Radade710cefa47cc"/>
    <p:sldId xmlns:r="http://schemas.openxmlformats.org/officeDocument/2006/relationships" id="408" r:id="R5ffdfcb589c84851"/>
    <p:sldId xmlns:r="http://schemas.openxmlformats.org/officeDocument/2006/relationships" id="409" r:id="R7ccfe58af7c74173"/>
    <p:sldId xmlns:r="http://schemas.openxmlformats.org/officeDocument/2006/relationships" id="410" r:id="Rbbfcaa6639b940a4"/>
    <p:sldId xmlns:r="http://schemas.openxmlformats.org/officeDocument/2006/relationships" id="411" r:id="R366f0eb12d9a42f4"/>
    <p:sldId xmlns:r="http://schemas.openxmlformats.org/officeDocument/2006/relationships" id="412" r:id="Ra704ef8b77ec4102"/>
    <p:sldId xmlns:r="http://schemas.openxmlformats.org/officeDocument/2006/relationships" id="413" r:id="R95124be60cf549b0"/>
    <p:sldId xmlns:r="http://schemas.openxmlformats.org/officeDocument/2006/relationships" id="414" r:id="R45a22b62b94440f7"/>
    <p:sldId xmlns:r="http://schemas.openxmlformats.org/officeDocument/2006/relationships" id="415" r:id="R7765699d62ab4d00"/>
    <p:sldId xmlns:r="http://schemas.openxmlformats.org/officeDocument/2006/relationships" id="416" r:id="R22ca08f3b5c3451a"/>
    <p:sldId xmlns:r="http://schemas.openxmlformats.org/officeDocument/2006/relationships" id="417" r:id="R1e7ed1710bd04a63"/>
    <p:sldId xmlns:r="http://schemas.openxmlformats.org/officeDocument/2006/relationships" id="418" r:id="R5786b3e1903f4816"/>
    <p:sldId xmlns:r="http://schemas.openxmlformats.org/officeDocument/2006/relationships" id="419" r:id="R55daef3815834dac"/>
    <p:sldId xmlns:r="http://schemas.openxmlformats.org/officeDocument/2006/relationships" id="420" r:id="Ra56ebee85811488f"/>
    <p:sldId xmlns:r="http://schemas.openxmlformats.org/officeDocument/2006/relationships" id="421" r:id="R4bb2da4994514564"/>
    <p:sldId xmlns:r="http://schemas.openxmlformats.org/officeDocument/2006/relationships" id="422" r:id="R2ffa7f07eac14ea6"/>
    <p:sldId xmlns:r="http://schemas.openxmlformats.org/officeDocument/2006/relationships" id="423" r:id="R2600aa28be8d47bf"/>
    <p:sldId xmlns:r="http://schemas.openxmlformats.org/officeDocument/2006/relationships" id="424" r:id="R322c64b8bf4047d7"/>
    <p:sldId xmlns:r="http://schemas.openxmlformats.org/officeDocument/2006/relationships" id="425" r:id="Re9b851a0bf384aaa"/>
    <p:sldId xmlns:r="http://schemas.openxmlformats.org/officeDocument/2006/relationships" id="426" r:id="R9a11110af8ee4d49"/>
    <p:sldId xmlns:r="http://schemas.openxmlformats.org/officeDocument/2006/relationships" id="427" r:id="R69a3da1ead204448"/>
    <p:sldId xmlns:r="http://schemas.openxmlformats.org/officeDocument/2006/relationships" id="428" r:id="Re76e025ec29949a7"/>
    <p:sldId xmlns:r="http://schemas.openxmlformats.org/officeDocument/2006/relationships" id="429" r:id="R18afc07781a445a5"/>
    <p:sldId xmlns:r="http://schemas.openxmlformats.org/officeDocument/2006/relationships" id="430" r:id="R1a7bcc1d665f403f"/>
    <p:sldId xmlns:r="http://schemas.openxmlformats.org/officeDocument/2006/relationships" id="431" r:id="R5662d87d90094a1a"/>
    <p:sldId xmlns:r="http://schemas.openxmlformats.org/officeDocument/2006/relationships" id="432" r:id="Rba7b240712124f01"/>
    <p:sldId xmlns:r="http://schemas.openxmlformats.org/officeDocument/2006/relationships" id="433" r:id="R3f09cee2e35f47af"/>
    <p:sldId xmlns:r="http://schemas.openxmlformats.org/officeDocument/2006/relationships" id="434" r:id="R5fd06f3527a64af4"/>
    <p:sldId xmlns:r="http://schemas.openxmlformats.org/officeDocument/2006/relationships" id="435" r:id="R31aad11066374127"/>
    <p:sldId xmlns:r="http://schemas.openxmlformats.org/officeDocument/2006/relationships" id="436" r:id="R270ea1a29ee4444d"/>
    <p:sldId xmlns:r="http://schemas.openxmlformats.org/officeDocument/2006/relationships" id="437" r:id="R68846e997f3e4465"/>
    <p:sldId xmlns:r="http://schemas.openxmlformats.org/officeDocument/2006/relationships" id="438" r:id="R845666ba972c4310"/>
    <p:sldId xmlns:r="http://schemas.openxmlformats.org/officeDocument/2006/relationships" id="439" r:id="R361cd0419a0d4d0d"/>
    <p:sldId xmlns:r="http://schemas.openxmlformats.org/officeDocument/2006/relationships" id="440" r:id="R06c2c62fd7db47c8"/>
    <p:sldId xmlns:r="http://schemas.openxmlformats.org/officeDocument/2006/relationships" id="441" r:id="Rbbc9c189f5de44e6"/>
    <p:sldId xmlns:r="http://schemas.openxmlformats.org/officeDocument/2006/relationships" id="442" r:id="R5b8b8f4bf79743aa"/>
    <p:sldId xmlns:r="http://schemas.openxmlformats.org/officeDocument/2006/relationships" id="443" r:id="R0c4934bcd40748cd"/>
    <p:sldId xmlns:r="http://schemas.openxmlformats.org/officeDocument/2006/relationships" id="444" r:id="R0b2218e357a14f61"/>
    <p:sldId xmlns:r="http://schemas.openxmlformats.org/officeDocument/2006/relationships" id="445" r:id="Ra4e1496bc5ec4d75"/>
    <p:sldId xmlns:r="http://schemas.openxmlformats.org/officeDocument/2006/relationships" id="446" r:id="R0873a16ef04f4aae"/>
    <p:sldId xmlns:r="http://schemas.openxmlformats.org/officeDocument/2006/relationships" id="447" r:id="Rb03000d5176c4fe6"/>
    <p:sldId xmlns:r="http://schemas.openxmlformats.org/officeDocument/2006/relationships" id="448" r:id="R051318ec7e584343"/>
    <p:sldId xmlns:r="http://schemas.openxmlformats.org/officeDocument/2006/relationships" id="449" r:id="R64020399ec334b4b"/>
    <p:sldId xmlns:r="http://schemas.openxmlformats.org/officeDocument/2006/relationships" id="450" r:id="Rdc3b789f5e774906"/>
    <p:sldId xmlns:r="http://schemas.openxmlformats.org/officeDocument/2006/relationships" id="451" r:id="R2b244e1960694b71"/>
    <p:sldId xmlns:r="http://schemas.openxmlformats.org/officeDocument/2006/relationships" id="452" r:id="Rd7b2905d3bc6433d"/>
    <p:sldId xmlns:r="http://schemas.openxmlformats.org/officeDocument/2006/relationships" id="453" r:id="R3685174dd1714076"/>
    <p:sldId xmlns:r="http://schemas.openxmlformats.org/officeDocument/2006/relationships" id="454" r:id="Rfd57ce0e3d794b7c"/>
    <p:sldId xmlns:r="http://schemas.openxmlformats.org/officeDocument/2006/relationships" id="455" r:id="Rb9a12ed552c54cee"/>
    <p:sldId xmlns:r="http://schemas.openxmlformats.org/officeDocument/2006/relationships" id="456" r:id="R322bf4bdb8f349a4"/>
    <p:sldId xmlns:r="http://schemas.openxmlformats.org/officeDocument/2006/relationships" id="457" r:id="R09801ef0869041b9"/>
    <p:sldId xmlns:r="http://schemas.openxmlformats.org/officeDocument/2006/relationships" id="458" r:id="Raa8111fe0c3d4061"/>
    <p:sldId xmlns:r="http://schemas.openxmlformats.org/officeDocument/2006/relationships" id="459" r:id="Rd2cf1ca7046e47af"/>
    <p:sldId xmlns:r="http://schemas.openxmlformats.org/officeDocument/2006/relationships" id="460" r:id="R88b2faf8c64845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8ffb2b960e4e50" /><Relationship Type="http://schemas.openxmlformats.org/officeDocument/2006/relationships/slideMaster" Target="/ppt/slideMasters/slideMaster1.xml" Id="Rfe007d70539841bf" /><Relationship Type="http://schemas.openxmlformats.org/officeDocument/2006/relationships/notesMaster" Target="/ppt/notesMasters/notesMaster1.xml" Id="R9b95da33b5db4948" /><Relationship Type="http://schemas.openxmlformats.org/officeDocument/2006/relationships/presProps" Target="/ppt/presProps.xml" Id="R0d54c0ff0b514c74" /><Relationship Type="http://schemas.openxmlformats.org/officeDocument/2006/relationships/tableStyles" Target="/ppt/tableStyles.xml" Id="R5baf17413f824fd2" /><Relationship Type="http://schemas.openxmlformats.org/officeDocument/2006/relationships/slide" Target="/ppt/slides/slide1.xml" Id="R7223c856c3b847ec" /><Relationship Type="http://schemas.openxmlformats.org/officeDocument/2006/relationships/slide" Target="/ppt/slides/slide2.xml" Id="R588f90f58300499d" /><Relationship Type="http://schemas.openxmlformats.org/officeDocument/2006/relationships/slide" Target="/ppt/slides/slide3.xml" Id="Re2368f91485d48c4" /><Relationship Type="http://schemas.openxmlformats.org/officeDocument/2006/relationships/slide" Target="/ppt/slides/slide4.xml" Id="R88f0cafcc77b41df" /><Relationship Type="http://schemas.openxmlformats.org/officeDocument/2006/relationships/slide" Target="/ppt/slides/slide5.xml" Id="Ra2e9492d249e45d8" /><Relationship Type="http://schemas.openxmlformats.org/officeDocument/2006/relationships/slide" Target="/ppt/slides/slide6.xml" Id="R6a2c0ad5c0584e9e" /><Relationship Type="http://schemas.openxmlformats.org/officeDocument/2006/relationships/slide" Target="/ppt/slides/slide7.xml" Id="R3ef6a67226b340e5" /><Relationship Type="http://schemas.openxmlformats.org/officeDocument/2006/relationships/slide" Target="/ppt/slides/slide8.xml" Id="Rcfb87180e64f420a" /><Relationship Type="http://schemas.openxmlformats.org/officeDocument/2006/relationships/slide" Target="/ppt/slides/slide9.xml" Id="Re4fbd135dcb540fd" /><Relationship Type="http://schemas.openxmlformats.org/officeDocument/2006/relationships/slide" Target="/ppt/slides/slide10.xml" Id="R64c0459ae8ed43ce" /><Relationship Type="http://schemas.openxmlformats.org/officeDocument/2006/relationships/slide" Target="/ppt/slides/slide11.xml" Id="R1ccbeb03bb824848" /><Relationship Type="http://schemas.openxmlformats.org/officeDocument/2006/relationships/slide" Target="/ppt/slides/slide12.xml" Id="R337f86c857854083" /><Relationship Type="http://schemas.openxmlformats.org/officeDocument/2006/relationships/slide" Target="/ppt/slides/slide13.xml" Id="R86c9986a08e34d4c" /><Relationship Type="http://schemas.openxmlformats.org/officeDocument/2006/relationships/slide" Target="/ppt/slides/slide14.xml" Id="Rae94513fb25a4a64" /><Relationship Type="http://schemas.openxmlformats.org/officeDocument/2006/relationships/slide" Target="/ppt/slides/slide15.xml" Id="R14a2250216e841b9" /><Relationship Type="http://schemas.openxmlformats.org/officeDocument/2006/relationships/slide" Target="/ppt/slides/slide16.xml" Id="R09a55fb7d15b41f8" /><Relationship Type="http://schemas.openxmlformats.org/officeDocument/2006/relationships/slide" Target="/ppt/slides/slide17.xml" Id="R0b92d18e17544269" /><Relationship Type="http://schemas.openxmlformats.org/officeDocument/2006/relationships/slide" Target="/ppt/slides/slide18.xml" Id="Rdf6b1509ffdf42df" /><Relationship Type="http://schemas.openxmlformats.org/officeDocument/2006/relationships/slide" Target="/ppt/slides/slide19.xml" Id="Ra1f4561db6bd4803" /><Relationship Type="http://schemas.openxmlformats.org/officeDocument/2006/relationships/slide" Target="/ppt/slides/slide20.xml" Id="Ra77fb5bd046d4976" /><Relationship Type="http://schemas.openxmlformats.org/officeDocument/2006/relationships/slide" Target="/ppt/slides/slide21.xml" Id="R477be76abb954e18" /><Relationship Type="http://schemas.openxmlformats.org/officeDocument/2006/relationships/slide" Target="/ppt/slides/slide22.xml" Id="Rc29e368fc2284358" /><Relationship Type="http://schemas.openxmlformats.org/officeDocument/2006/relationships/slide" Target="/ppt/slides/slide23.xml" Id="R78eaef57542740da" /><Relationship Type="http://schemas.openxmlformats.org/officeDocument/2006/relationships/slide" Target="/ppt/slides/slide24.xml" Id="R6112836340ec40b8" /><Relationship Type="http://schemas.openxmlformats.org/officeDocument/2006/relationships/slide" Target="/ppt/slides/slide25.xml" Id="R5e08d62a0cf44320" /><Relationship Type="http://schemas.openxmlformats.org/officeDocument/2006/relationships/slide" Target="/ppt/slides/slide26.xml" Id="R05fa19ad50f34d28" /><Relationship Type="http://schemas.openxmlformats.org/officeDocument/2006/relationships/slide" Target="/ppt/slides/slide27.xml" Id="R548a8d8ad97746f5" /><Relationship Type="http://schemas.openxmlformats.org/officeDocument/2006/relationships/slide" Target="/ppt/slides/slide28.xml" Id="R2770b66a23424ea9" /><Relationship Type="http://schemas.openxmlformats.org/officeDocument/2006/relationships/slide" Target="/ppt/slides/slide29.xml" Id="R77e9256d944044b5" /><Relationship Type="http://schemas.openxmlformats.org/officeDocument/2006/relationships/slide" Target="/ppt/slides/slide30.xml" Id="Rc825811e41234a0b" /><Relationship Type="http://schemas.openxmlformats.org/officeDocument/2006/relationships/slide" Target="/ppt/slides/slide31.xml" Id="R843971a7328d4e1f" /><Relationship Type="http://schemas.openxmlformats.org/officeDocument/2006/relationships/slide" Target="/ppt/slides/slide32.xml" Id="R95d2c2205b244354" /><Relationship Type="http://schemas.openxmlformats.org/officeDocument/2006/relationships/slide" Target="/ppt/slides/slide33.xml" Id="R6cffe174c4d946b5" /><Relationship Type="http://schemas.openxmlformats.org/officeDocument/2006/relationships/slide" Target="/ppt/slides/slide34.xml" Id="Rce9ec471caa74186" /><Relationship Type="http://schemas.openxmlformats.org/officeDocument/2006/relationships/slide" Target="/ppt/slides/slide35.xml" Id="R36dc1212f3554ce7" /><Relationship Type="http://schemas.openxmlformats.org/officeDocument/2006/relationships/slide" Target="/ppt/slides/slide36.xml" Id="R7803f52554cd483b" /><Relationship Type="http://schemas.openxmlformats.org/officeDocument/2006/relationships/slide" Target="/ppt/slides/slide37.xml" Id="R6829ad852d7f4571" /><Relationship Type="http://schemas.openxmlformats.org/officeDocument/2006/relationships/slide" Target="/ppt/slides/slide38.xml" Id="R5a1e87b9b02c47b9" /><Relationship Type="http://schemas.openxmlformats.org/officeDocument/2006/relationships/slide" Target="/ppt/slides/slide39.xml" Id="R420ab5edf7ae4635" /><Relationship Type="http://schemas.openxmlformats.org/officeDocument/2006/relationships/slide" Target="/ppt/slides/slide40.xml" Id="R88873db19ae6431d" /><Relationship Type="http://schemas.openxmlformats.org/officeDocument/2006/relationships/slide" Target="/ppt/slides/slide41.xml" Id="Re889989e5001484e" /><Relationship Type="http://schemas.openxmlformats.org/officeDocument/2006/relationships/slide" Target="/ppt/slides/slide42.xml" Id="R8db359f0bcf34cfb" /><Relationship Type="http://schemas.openxmlformats.org/officeDocument/2006/relationships/slide" Target="/ppt/slides/slide43.xml" Id="R8d25d26162b84874" /><Relationship Type="http://schemas.openxmlformats.org/officeDocument/2006/relationships/slide" Target="/ppt/slides/slide44.xml" Id="R41915a312c2a4e6a" /><Relationship Type="http://schemas.openxmlformats.org/officeDocument/2006/relationships/slide" Target="/ppt/slides/slide45.xml" Id="R89c2f1f0e0274778" /><Relationship Type="http://schemas.openxmlformats.org/officeDocument/2006/relationships/slide" Target="/ppt/slides/slide46.xml" Id="R74bf8ae6a16d4e1d" /><Relationship Type="http://schemas.openxmlformats.org/officeDocument/2006/relationships/slide" Target="/ppt/slides/slide47.xml" Id="Rb0f141f0b7f4450c" /><Relationship Type="http://schemas.openxmlformats.org/officeDocument/2006/relationships/slide" Target="/ppt/slides/slide48.xml" Id="R046da7788a10433e" /><Relationship Type="http://schemas.openxmlformats.org/officeDocument/2006/relationships/slide" Target="/ppt/slides/slide49.xml" Id="R8beab86951ea44da" /><Relationship Type="http://schemas.openxmlformats.org/officeDocument/2006/relationships/slide" Target="/ppt/slides/slide50.xml" Id="R62ae747a579c482d" /><Relationship Type="http://schemas.openxmlformats.org/officeDocument/2006/relationships/slide" Target="/ppt/slides/slide51.xml" Id="R090940b815814676" /><Relationship Type="http://schemas.openxmlformats.org/officeDocument/2006/relationships/slide" Target="/ppt/slides/slide52.xml" Id="R4a153a444437488e" /><Relationship Type="http://schemas.openxmlformats.org/officeDocument/2006/relationships/slide" Target="/ppt/slides/slide53.xml" Id="R8643d66152e3432e" /><Relationship Type="http://schemas.openxmlformats.org/officeDocument/2006/relationships/slide" Target="/ppt/slides/slide54.xml" Id="Rcbd17e673986482c" /><Relationship Type="http://schemas.openxmlformats.org/officeDocument/2006/relationships/slide" Target="/ppt/slides/slide55.xml" Id="Rdd32075141dd4be2" /><Relationship Type="http://schemas.openxmlformats.org/officeDocument/2006/relationships/slide" Target="/ppt/slides/slide56.xml" Id="Rc0b83c489fea416a" /><Relationship Type="http://schemas.openxmlformats.org/officeDocument/2006/relationships/slide" Target="/ppt/slides/slide57.xml" Id="Rca694c1ede5140d2" /><Relationship Type="http://schemas.openxmlformats.org/officeDocument/2006/relationships/slide" Target="/ppt/slides/slide58.xml" Id="R5f16c7cc793b4236" /><Relationship Type="http://schemas.openxmlformats.org/officeDocument/2006/relationships/slide" Target="/ppt/slides/slide59.xml" Id="Rf55fe4bcf21f40cc" /><Relationship Type="http://schemas.openxmlformats.org/officeDocument/2006/relationships/slide" Target="/ppt/slides/slide60.xml" Id="R908e907b9e3d4a7f" /><Relationship Type="http://schemas.openxmlformats.org/officeDocument/2006/relationships/slide" Target="/ppt/slides/slide61.xml" Id="R8408ce140cdc405b" /><Relationship Type="http://schemas.openxmlformats.org/officeDocument/2006/relationships/slide" Target="/ppt/slides/slide62.xml" Id="R55f7420154f94bdc" /><Relationship Type="http://schemas.openxmlformats.org/officeDocument/2006/relationships/slide" Target="/ppt/slides/slide63.xml" Id="R1335576a8d8b42b0" /><Relationship Type="http://schemas.openxmlformats.org/officeDocument/2006/relationships/slide" Target="/ppt/slides/slide64.xml" Id="Rd6d8f0a501ff41cf" /><Relationship Type="http://schemas.openxmlformats.org/officeDocument/2006/relationships/slide" Target="/ppt/slides/slide65.xml" Id="Rc541cae8930d40c1" /><Relationship Type="http://schemas.openxmlformats.org/officeDocument/2006/relationships/slide" Target="/ppt/slides/slide66.xml" Id="R69055fdc40ef4148" /><Relationship Type="http://schemas.openxmlformats.org/officeDocument/2006/relationships/slide" Target="/ppt/slides/slide67.xml" Id="R3da759b4d23b4a18" /><Relationship Type="http://schemas.openxmlformats.org/officeDocument/2006/relationships/slide" Target="/ppt/slides/slide68.xml" Id="R68b49edd29e544db" /><Relationship Type="http://schemas.openxmlformats.org/officeDocument/2006/relationships/slide" Target="/ppt/slides/slide69.xml" Id="Ra6d7fc27ef6149c2" /><Relationship Type="http://schemas.openxmlformats.org/officeDocument/2006/relationships/slide" Target="/ppt/slides/slide70.xml" Id="Rbca2d3096fa24b9f" /><Relationship Type="http://schemas.openxmlformats.org/officeDocument/2006/relationships/slide" Target="/ppt/slides/slide71.xml" Id="R6b954335a2bb496a" /><Relationship Type="http://schemas.openxmlformats.org/officeDocument/2006/relationships/slide" Target="/ppt/slides/slide72.xml" Id="R17a5aa1a77224af1" /><Relationship Type="http://schemas.openxmlformats.org/officeDocument/2006/relationships/slide" Target="/ppt/slides/slide73.xml" Id="R5d71a3c1d7af4d67" /><Relationship Type="http://schemas.openxmlformats.org/officeDocument/2006/relationships/slide" Target="/ppt/slides/slide74.xml" Id="R53caf075bb1e4eb8" /><Relationship Type="http://schemas.openxmlformats.org/officeDocument/2006/relationships/slide" Target="/ppt/slides/slide75.xml" Id="Rd3ba823b13694412" /><Relationship Type="http://schemas.openxmlformats.org/officeDocument/2006/relationships/slide" Target="/ppt/slides/slide76.xml" Id="R4d825bf5063e48bb" /><Relationship Type="http://schemas.openxmlformats.org/officeDocument/2006/relationships/slide" Target="/ppt/slides/slide77.xml" Id="Re6f9ba14fd1b4e78" /><Relationship Type="http://schemas.openxmlformats.org/officeDocument/2006/relationships/slide" Target="/ppt/slides/slide78.xml" Id="Rc7bff1b93bda4496" /><Relationship Type="http://schemas.openxmlformats.org/officeDocument/2006/relationships/slide" Target="/ppt/slides/slide79.xml" Id="Ree2f2097644740e2" /><Relationship Type="http://schemas.openxmlformats.org/officeDocument/2006/relationships/slide" Target="/ppt/slides/slide80.xml" Id="Rcb3de83fd28d47ea" /><Relationship Type="http://schemas.openxmlformats.org/officeDocument/2006/relationships/slide" Target="/ppt/slides/slide81.xml" Id="R2413f1187bf64521" /><Relationship Type="http://schemas.openxmlformats.org/officeDocument/2006/relationships/slide" Target="/ppt/slides/slide82.xml" Id="R937db15a358a45c6" /><Relationship Type="http://schemas.openxmlformats.org/officeDocument/2006/relationships/slide" Target="/ppt/slides/slide83.xml" Id="R82e4132227b745f4" /><Relationship Type="http://schemas.openxmlformats.org/officeDocument/2006/relationships/slide" Target="/ppt/slides/slide84.xml" Id="Rd1540a06d5be4fae" /><Relationship Type="http://schemas.openxmlformats.org/officeDocument/2006/relationships/slide" Target="/ppt/slides/slide85.xml" Id="Re0a17f735ab04aaa" /><Relationship Type="http://schemas.openxmlformats.org/officeDocument/2006/relationships/slide" Target="/ppt/slides/slide86.xml" Id="R19094ae8504141e5" /><Relationship Type="http://schemas.openxmlformats.org/officeDocument/2006/relationships/slide" Target="/ppt/slides/slide87.xml" Id="R4970cac3ab174962" /><Relationship Type="http://schemas.openxmlformats.org/officeDocument/2006/relationships/slide" Target="/ppt/slides/slide88.xml" Id="R2b66fefa718d4393" /><Relationship Type="http://schemas.openxmlformats.org/officeDocument/2006/relationships/slide" Target="/ppt/slides/slide89.xml" Id="R96f4e81d117c453f" /><Relationship Type="http://schemas.openxmlformats.org/officeDocument/2006/relationships/slide" Target="/ppt/slides/slide90.xml" Id="R0808ff024da84495" /><Relationship Type="http://schemas.openxmlformats.org/officeDocument/2006/relationships/slide" Target="/ppt/slides/slide91.xml" Id="R0724afc7519f431d" /><Relationship Type="http://schemas.openxmlformats.org/officeDocument/2006/relationships/slide" Target="/ppt/slides/slide92.xml" Id="R11d965078d3145f2" /><Relationship Type="http://schemas.openxmlformats.org/officeDocument/2006/relationships/slide" Target="/ppt/slides/slide93.xml" Id="R004f607435db4556" /><Relationship Type="http://schemas.openxmlformats.org/officeDocument/2006/relationships/slide" Target="/ppt/slides/slide94.xml" Id="R7ed4cb43a8624ea0" /><Relationship Type="http://schemas.openxmlformats.org/officeDocument/2006/relationships/slide" Target="/ppt/slides/slide95.xml" Id="Rd3039a05dafe4da4" /><Relationship Type="http://schemas.openxmlformats.org/officeDocument/2006/relationships/slide" Target="/ppt/slides/slide96.xml" Id="R00db13dd3f6946db" /><Relationship Type="http://schemas.openxmlformats.org/officeDocument/2006/relationships/slide" Target="/ppt/slides/slide97.xml" Id="R19caeb560ad540f8" /><Relationship Type="http://schemas.openxmlformats.org/officeDocument/2006/relationships/slide" Target="/ppt/slides/slide98.xml" Id="Rd2fc3d6e7a5b48c7" /><Relationship Type="http://schemas.openxmlformats.org/officeDocument/2006/relationships/slide" Target="/ppt/slides/slide99.xml" Id="Red7825e9bc784e3a" /><Relationship Type="http://schemas.openxmlformats.org/officeDocument/2006/relationships/slide" Target="/ppt/slides/slide100.xml" Id="Rd7f22297ff0840e3" /><Relationship Type="http://schemas.openxmlformats.org/officeDocument/2006/relationships/slide" Target="/ppt/slides/slide101.xml" Id="Rbfe149538a0142d7" /><Relationship Type="http://schemas.openxmlformats.org/officeDocument/2006/relationships/slide" Target="/ppt/slides/slide102.xml" Id="R30c7c75eeeff4aa2" /><Relationship Type="http://schemas.openxmlformats.org/officeDocument/2006/relationships/slide" Target="/ppt/slides/slide103.xml" Id="Rd3f3fc81a4624542" /><Relationship Type="http://schemas.openxmlformats.org/officeDocument/2006/relationships/slide" Target="/ppt/slides/slide104.xml" Id="R8950ed8fa62a4fbf" /><Relationship Type="http://schemas.openxmlformats.org/officeDocument/2006/relationships/slide" Target="/ppt/slides/slide105.xml" Id="R777a733042104865" /><Relationship Type="http://schemas.openxmlformats.org/officeDocument/2006/relationships/slide" Target="/ppt/slides/slide106.xml" Id="R5e509b2273cf4007" /><Relationship Type="http://schemas.openxmlformats.org/officeDocument/2006/relationships/slide" Target="/ppt/slides/slide107.xml" Id="R2510f3965f1a4964" /><Relationship Type="http://schemas.openxmlformats.org/officeDocument/2006/relationships/slide" Target="/ppt/slides/slide108.xml" Id="R4e120beeaa474e9d" /><Relationship Type="http://schemas.openxmlformats.org/officeDocument/2006/relationships/slide" Target="/ppt/slides/slide109.xml" Id="R4799fde3d8da4de4" /><Relationship Type="http://schemas.openxmlformats.org/officeDocument/2006/relationships/slide" Target="/ppt/slides/slide110.xml" Id="R272cfb7627fb4d07" /><Relationship Type="http://schemas.openxmlformats.org/officeDocument/2006/relationships/slide" Target="/ppt/slides/slide111.xml" Id="R7f4ebffa7e9a4c3f" /><Relationship Type="http://schemas.openxmlformats.org/officeDocument/2006/relationships/slide" Target="/ppt/slides/slide112.xml" Id="R9368bf3a23ed4c6c" /><Relationship Type="http://schemas.openxmlformats.org/officeDocument/2006/relationships/slide" Target="/ppt/slides/slide113.xml" Id="Ra8d462f6b521453c" /><Relationship Type="http://schemas.openxmlformats.org/officeDocument/2006/relationships/slide" Target="/ppt/slides/slide114.xml" Id="R604e726ceb5d4dc1" /><Relationship Type="http://schemas.openxmlformats.org/officeDocument/2006/relationships/slide" Target="/ppt/slides/slide115.xml" Id="Rc970190363e240af" /><Relationship Type="http://schemas.openxmlformats.org/officeDocument/2006/relationships/slide" Target="/ppt/slides/slide116.xml" Id="R6d846ab3de124bb7" /><Relationship Type="http://schemas.openxmlformats.org/officeDocument/2006/relationships/slide" Target="/ppt/slides/slide117.xml" Id="Rfed4b932a6da44a9" /><Relationship Type="http://schemas.openxmlformats.org/officeDocument/2006/relationships/slide" Target="/ppt/slides/slide118.xml" Id="R918e303ff86e4b56" /><Relationship Type="http://schemas.openxmlformats.org/officeDocument/2006/relationships/slide" Target="/ppt/slides/slide119.xml" Id="R184a1b3af4d247e4" /><Relationship Type="http://schemas.openxmlformats.org/officeDocument/2006/relationships/slide" Target="/ppt/slides/slide120.xml" Id="R1e281e80718e4686" /><Relationship Type="http://schemas.openxmlformats.org/officeDocument/2006/relationships/slide" Target="/ppt/slides/slide121.xml" Id="R101b90cdc5264fa6" /><Relationship Type="http://schemas.openxmlformats.org/officeDocument/2006/relationships/slide" Target="/ppt/slides/slide122.xml" Id="R0de275bd50494830" /><Relationship Type="http://schemas.openxmlformats.org/officeDocument/2006/relationships/slide" Target="/ppt/slides/slide123.xml" Id="R44d5fc2592e9404a" /><Relationship Type="http://schemas.openxmlformats.org/officeDocument/2006/relationships/slide" Target="/ppt/slides/slide124.xml" Id="R726e02d974c44190" /><Relationship Type="http://schemas.openxmlformats.org/officeDocument/2006/relationships/slide" Target="/ppt/slides/slide125.xml" Id="Raaae6d5ac63b4540" /><Relationship Type="http://schemas.openxmlformats.org/officeDocument/2006/relationships/slide" Target="/ppt/slides/slide126.xml" Id="Rfa1daf7d02cb4e3c" /><Relationship Type="http://schemas.openxmlformats.org/officeDocument/2006/relationships/slide" Target="/ppt/slides/slide127.xml" Id="Rf21250319a8c4b1d" /><Relationship Type="http://schemas.openxmlformats.org/officeDocument/2006/relationships/slide" Target="/ppt/slides/slide128.xml" Id="Reaac4e938f524429" /><Relationship Type="http://schemas.openxmlformats.org/officeDocument/2006/relationships/slide" Target="/ppt/slides/slide129.xml" Id="R4427ec6ddd47451b" /><Relationship Type="http://schemas.openxmlformats.org/officeDocument/2006/relationships/slide" Target="/ppt/slides/slide130.xml" Id="R544ea1c5cb874a26" /><Relationship Type="http://schemas.openxmlformats.org/officeDocument/2006/relationships/slide" Target="/ppt/slides/slide131.xml" Id="R6b1e0feb03314fb8" /><Relationship Type="http://schemas.openxmlformats.org/officeDocument/2006/relationships/slide" Target="/ppt/slides/slide132.xml" Id="Ra23e9fecd3c54f92" /><Relationship Type="http://schemas.openxmlformats.org/officeDocument/2006/relationships/slide" Target="/ppt/slides/slide133.xml" Id="R58b1c5ee57664315" /><Relationship Type="http://schemas.openxmlformats.org/officeDocument/2006/relationships/slide" Target="/ppt/slides/slide134.xml" Id="Ra5d28ae7a83d4936" /><Relationship Type="http://schemas.openxmlformats.org/officeDocument/2006/relationships/slide" Target="/ppt/slides/slide135.xml" Id="Rcb6a1a9c80bf4798" /><Relationship Type="http://schemas.openxmlformats.org/officeDocument/2006/relationships/slide" Target="/ppt/slides/slide136.xml" Id="Rc97d46698fa04414" /><Relationship Type="http://schemas.openxmlformats.org/officeDocument/2006/relationships/slide" Target="/ppt/slides/slide137.xml" Id="R8eb25eda21994a76" /><Relationship Type="http://schemas.openxmlformats.org/officeDocument/2006/relationships/slide" Target="/ppt/slides/slide138.xml" Id="R37239c9a581541e4" /><Relationship Type="http://schemas.openxmlformats.org/officeDocument/2006/relationships/slide" Target="/ppt/slides/slide139.xml" Id="R6cecf3e512d74850" /><Relationship Type="http://schemas.openxmlformats.org/officeDocument/2006/relationships/slide" Target="/ppt/slides/slide140.xml" Id="Rf70de336c1c5491e" /><Relationship Type="http://schemas.openxmlformats.org/officeDocument/2006/relationships/slide" Target="/ppt/slides/slide141.xml" Id="R8bda404e4ddd4f92" /><Relationship Type="http://schemas.openxmlformats.org/officeDocument/2006/relationships/slide" Target="/ppt/slides/slide142.xml" Id="R1ddd8adf5aad41e8" /><Relationship Type="http://schemas.openxmlformats.org/officeDocument/2006/relationships/slide" Target="/ppt/slides/slide143.xml" Id="Rfc91a9e3ab874557" /><Relationship Type="http://schemas.openxmlformats.org/officeDocument/2006/relationships/slide" Target="/ppt/slides/slide144.xml" Id="R4fc822d34c0e4308" /><Relationship Type="http://schemas.openxmlformats.org/officeDocument/2006/relationships/slide" Target="/ppt/slides/slide145.xml" Id="R047c380f935c46d9" /><Relationship Type="http://schemas.openxmlformats.org/officeDocument/2006/relationships/slide" Target="/ppt/slides/slide146.xml" Id="R14d0f312f0014a2d" /><Relationship Type="http://schemas.openxmlformats.org/officeDocument/2006/relationships/slide" Target="/ppt/slides/slide147.xml" Id="R219a86ac13da405c" /><Relationship Type="http://schemas.openxmlformats.org/officeDocument/2006/relationships/slide" Target="/ppt/slides/slide148.xml" Id="R6b16361e79064d45" /><Relationship Type="http://schemas.openxmlformats.org/officeDocument/2006/relationships/slide" Target="/ppt/slides/slide149.xml" Id="R623d92222a864d03" /><Relationship Type="http://schemas.openxmlformats.org/officeDocument/2006/relationships/slide" Target="/ppt/slides/slide150.xml" Id="R17978b32903f45f1" /><Relationship Type="http://schemas.openxmlformats.org/officeDocument/2006/relationships/slide" Target="/ppt/slides/slide151.xml" Id="R78a2d9833b664c27" /><Relationship Type="http://schemas.openxmlformats.org/officeDocument/2006/relationships/slide" Target="/ppt/slides/slide152.xml" Id="Radade710cefa47cc" /><Relationship Type="http://schemas.openxmlformats.org/officeDocument/2006/relationships/slide" Target="/ppt/slides/slide153.xml" Id="R5ffdfcb589c84851" /><Relationship Type="http://schemas.openxmlformats.org/officeDocument/2006/relationships/slide" Target="/ppt/slides/slide154.xml" Id="R7ccfe58af7c74173" /><Relationship Type="http://schemas.openxmlformats.org/officeDocument/2006/relationships/slide" Target="/ppt/slides/slide155.xml" Id="Rbbfcaa6639b940a4" /><Relationship Type="http://schemas.openxmlformats.org/officeDocument/2006/relationships/slide" Target="/ppt/slides/slide156.xml" Id="R366f0eb12d9a42f4" /><Relationship Type="http://schemas.openxmlformats.org/officeDocument/2006/relationships/slide" Target="/ppt/slides/slide157.xml" Id="Ra704ef8b77ec4102" /><Relationship Type="http://schemas.openxmlformats.org/officeDocument/2006/relationships/slide" Target="/ppt/slides/slide158.xml" Id="R95124be60cf549b0" /><Relationship Type="http://schemas.openxmlformats.org/officeDocument/2006/relationships/slide" Target="/ppt/slides/slide159.xml" Id="R45a22b62b94440f7" /><Relationship Type="http://schemas.openxmlformats.org/officeDocument/2006/relationships/slide" Target="/ppt/slides/slide160.xml" Id="R7765699d62ab4d00" /><Relationship Type="http://schemas.openxmlformats.org/officeDocument/2006/relationships/slide" Target="/ppt/slides/slide161.xml" Id="R22ca08f3b5c3451a" /><Relationship Type="http://schemas.openxmlformats.org/officeDocument/2006/relationships/slide" Target="/ppt/slides/slide162.xml" Id="R1e7ed1710bd04a63" /><Relationship Type="http://schemas.openxmlformats.org/officeDocument/2006/relationships/slide" Target="/ppt/slides/slide163.xml" Id="R5786b3e1903f4816" /><Relationship Type="http://schemas.openxmlformats.org/officeDocument/2006/relationships/slide" Target="/ppt/slides/slide164.xml" Id="R55daef3815834dac" /><Relationship Type="http://schemas.openxmlformats.org/officeDocument/2006/relationships/slide" Target="/ppt/slides/slide165.xml" Id="Ra56ebee85811488f" /><Relationship Type="http://schemas.openxmlformats.org/officeDocument/2006/relationships/slide" Target="/ppt/slides/slide166.xml" Id="R4bb2da4994514564" /><Relationship Type="http://schemas.openxmlformats.org/officeDocument/2006/relationships/slide" Target="/ppt/slides/slide167.xml" Id="R2ffa7f07eac14ea6" /><Relationship Type="http://schemas.openxmlformats.org/officeDocument/2006/relationships/slide" Target="/ppt/slides/slide168.xml" Id="R2600aa28be8d47bf" /><Relationship Type="http://schemas.openxmlformats.org/officeDocument/2006/relationships/slide" Target="/ppt/slides/slide169.xml" Id="R322c64b8bf4047d7" /><Relationship Type="http://schemas.openxmlformats.org/officeDocument/2006/relationships/slide" Target="/ppt/slides/slide170.xml" Id="Re9b851a0bf384aaa" /><Relationship Type="http://schemas.openxmlformats.org/officeDocument/2006/relationships/slide" Target="/ppt/slides/slide171.xml" Id="R9a11110af8ee4d49" /><Relationship Type="http://schemas.openxmlformats.org/officeDocument/2006/relationships/slide" Target="/ppt/slides/slide172.xml" Id="R69a3da1ead204448" /><Relationship Type="http://schemas.openxmlformats.org/officeDocument/2006/relationships/slide" Target="/ppt/slides/slide173.xml" Id="Re76e025ec29949a7" /><Relationship Type="http://schemas.openxmlformats.org/officeDocument/2006/relationships/slide" Target="/ppt/slides/slide174.xml" Id="R18afc07781a445a5" /><Relationship Type="http://schemas.openxmlformats.org/officeDocument/2006/relationships/slide" Target="/ppt/slides/slide175.xml" Id="R1a7bcc1d665f403f" /><Relationship Type="http://schemas.openxmlformats.org/officeDocument/2006/relationships/slide" Target="/ppt/slides/slide176.xml" Id="R5662d87d90094a1a" /><Relationship Type="http://schemas.openxmlformats.org/officeDocument/2006/relationships/slide" Target="/ppt/slides/slide177.xml" Id="Rba7b240712124f01" /><Relationship Type="http://schemas.openxmlformats.org/officeDocument/2006/relationships/slide" Target="/ppt/slides/slide178.xml" Id="R3f09cee2e35f47af" /><Relationship Type="http://schemas.openxmlformats.org/officeDocument/2006/relationships/slide" Target="/ppt/slides/slide179.xml" Id="R5fd06f3527a64af4" /><Relationship Type="http://schemas.openxmlformats.org/officeDocument/2006/relationships/slide" Target="/ppt/slides/slide180.xml" Id="R31aad11066374127" /><Relationship Type="http://schemas.openxmlformats.org/officeDocument/2006/relationships/slide" Target="/ppt/slides/slide181.xml" Id="R270ea1a29ee4444d" /><Relationship Type="http://schemas.openxmlformats.org/officeDocument/2006/relationships/slide" Target="/ppt/slides/slide182.xml" Id="R68846e997f3e4465" /><Relationship Type="http://schemas.openxmlformats.org/officeDocument/2006/relationships/slide" Target="/ppt/slides/slide183.xml" Id="R845666ba972c4310" /><Relationship Type="http://schemas.openxmlformats.org/officeDocument/2006/relationships/slide" Target="/ppt/slides/slide184.xml" Id="R361cd0419a0d4d0d" /><Relationship Type="http://schemas.openxmlformats.org/officeDocument/2006/relationships/slide" Target="/ppt/slides/slide185.xml" Id="R06c2c62fd7db47c8" /><Relationship Type="http://schemas.openxmlformats.org/officeDocument/2006/relationships/slide" Target="/ppt/slides/slide186.xml" Id="Rbbc9c189f5de44e6" /><Relationship Type="http://schemas.openxmlformats.org/officeDocument/2006/relationships/slide" Target="/ppt/slides/slide187.xml" Id="R5b8b8f4bf79743aa" /><Relationship Type="http://schemas.openxmlformats.org/officeDocument/2006/relationships/slide" Target="/ppt/slides/slide188.xml" Id="R0c4934bcd40748cd" /><Relationship Type="http://schemas.openxmlformats.org/officeDocument/2006/relationships/slide" Target="/ppt/slides/slide189.xml" Id="R0b2218e357a14f61" /><Relationship Type="http://schemas.openxmlformats.org/officeDocument/2006/relationships/slide" Target="/ppt/slides/slide190.xml" Id="Ra4e1496bc5ec4d75" /><Relationship Type="http://schemas.openxmlformats.org/officeDocument/2006/relationships/slide" Target="/ppt/slides/slide191.xml" Id="R0873a16ef04f4aae" /><Relationship Type="http://schemas.openxmlformats.org/officeDocument/2006/relationships/slide" Target="/ppt/slides/slide192.xml" Id="Rb03000d5176c4fe6" /><Relationship Type="http://schemas.openxmlformats.org/officeDocument/2006/relationships/slide" Target="/ppt/slides/slide193.xml" Id="R051318ec7e584343" /><Relationship Type="http://schemas.openxmlformats.org/officeDocument/2006/relationships/slide" Target="/ppt/slides/slide194.xml" Id="R64020399ec334b4b" /><Relationship Type="http://schemas.openxmlformats.org/officeDocument/2006/relationships/slide" Target="/ppt/slides/slide195.xml" Id="Rdc3b789f5e774906" /><Relationship Type="http://schemas.openxmlformats.org/officeDocument/2006/relationships/slide" Target="/ppt/slides/slide196.xml" Id="R2b244e1960694b71" /><Relationship Type="http://schemas.openxmlformats.org/officeDocument/2006/relationships/slide" Target="/ppt/slides/slide197.xml" Id="Rd7b2905d3bc6433d" /><Relationship Type="http://schemas.openxmlformats.org/officeDocument/2006/relationships/slide" Target="/ppt/slides/slide198.xml" Id="R3685174dd1714076" /><Relationship Type="http://schemas.openxmlformats.org/officeDocument/2006/relationships/slide" Target="/ppt/slides/slide199.xml" Id="Rfd57ce0e3d794b7c" /><Relationship Type="http://schemas.openxmlformats.org/officeDocument/2006/relationships/slide" Target="/ppt/slides/slide200.xml" Id="Rb9a12ed552c54cee" /><Relationship Type="http://schemas.openxmlformats.org/officeDocument/2006/relationships/slide" Target="/ppt/slides/slide201.xml" Id="R322bf4bdb8f349a4" /><Relationship Type="http://schemas.openxmlformats.org/officeDocument/2006/relationships/slide" Target="/ppt/slides/slide202.xml" Id="R09801ef0869041b9" /><Relationship Type="http://schemas.openxmlformats.org/officeDocument/2006/relationships/slide" Target="/ppt/slides/slide203.xml" Id="Raa8111fe0c3d4061" /><Relationship Type="http://schemas.openxmlformats.org/officeDocument/2006/relationships/slide" Target="/ppt/slides/slide204.xml" Id="Rd2cf1ca7046e47af" /><Relationship Type="http://schemas.openxmlformats.org/officeDocument/2006/relationships/slide" Target="/ppt/slides/slide205.xml" Id="R88b2faf8c64845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80fada4c7f4f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df14937aa3436a" /><Relationship Type="http://schemas.openxmlformats.org/officeDocument/2006/relationships/notesMaster" Target="/ppt/notesMasters/notesMaster1.xml" Id="Rad55d32dd58346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d3fc2a600b4643" /><Relationship Type="http://schemas.openxmlformats.org/officeDocument/2006/relationships/notesMaster" Target="/ppt/notesMasters/notesMaster1.xml" Id="R925c873faa5b4f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9e75e2d61b45bf" /><Relationship Type="http://schemas.openxmlformats.org/officeDocument/2006/relationships/notesMaster" Target="/ppt/notesMasters/notesMaster1.xml" Id="R03e5566d49e441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deb18d10444c94" /><Relationship Type="http://schemas.openxmlformats.org/officeDocument/2006/relationships/notesMaster" Target="/ppt/notesMasters/notesMaster1.xml" Id="R22f01329a16e4f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29089e9bfd4dc2" /><Relationship Type="http://schemas.openxmlformats.org/officeDocument/2006/relationships/notesMaster" Target="/ppt/notesMasters/notesMaster1.xml" Id="Rf1815b4c859d40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70f6dc7f0a4bf5" /><Relationship Type="http://schemas.openxmlformats.org/officeDocument/2006/relationships/notesMaster" Target="/ppt/notesMasters/notesMaster1.xml" Id="R5b985d247b714e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fc41e1833648fd" /><Relationship Type="http://schemas.openxmlformats.org/officeDocument/2006/relationships/notesMaster" Target="/ppt/notesMasters/notesMaster1.xml" Id="R4a8fc8588a4747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7334ad700f46c5" /><Relationship Type="http://schemas.openxmlformats.org/officeDocument/2006/relationships/notesMaster" Target="/ppt/notesMasters/notesMaster1.xml" Id="R9432e25cfc4e4f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7128675b72406f" /><Relationship Type="http://schemas.openxmlformats.org/officeDocument/2006/relationships/notesMaster" Target="/ppt/notesMasters/notesMaster1.xml" Id="Rbc6911121ab149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92587b9f474e62" /><Relationship Type="http://schemas.openxmlformats.org/officeDocument/2006/relationships/notesMaster" Target="/ppt/notesMasters/notesMaster1.xml" Id="R10dbc04ba32f42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0ffc71d01dd4c76" /><Relationship Type="http://schemas.openxmlformats.org/officeDocument/2006/relationships/notesMaster" Target="/ppt/notesMasters/notesMaster1.xml" Id="R9999079300f649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b3e6b6d8a14cc2" /><Relationship Type="http://schemas.openxmlformats.org/officeDocument/2006/relationships/notesMaster" Target="/ppt/notesMasters/notesMaster1.xml" Id="R5bb84fb249cb431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31ac1c959284a9e" /><Relationship Type="http://schemas.openxmlformats.org/officeDocument/2006/relationships/notesMaster" Target="/ppt/notesMasters/notesMaster1.xml" Id="Ra150ae6bcd4c4dd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bda4062c184018" /><Relationship Type="http://schemas.openxmlformats.org/officeDocument/2006/relationships/notesMaster" Target="/ppt/notesMasters/notesMaster1.xml" Id="Ree0464a2ff30421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16d6966f694716" /><Relationship Type="http://schemas.openxmlformats.org/officeDocument/2006/relationships/notesMaster" Target="/ppt/notesMasters/notesMaster1.xml" Id="Rf100f6b193d04c0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fde712e84cd4374" /><Relationship Type="http://schemas.openxmlformats.org/officeDocument/2006/relationships/notesMaster" Target="/ppt/notesMasters/notesMaster1.xml" Id="R3759ed694458454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1fb4a78269e4201" /><Relationship Type="http://schemas.openxmlformats.org/officeDocument/2006/relationships/notesMaster" Target="/ppt/notesMasters/notesMaster1.xml" Id="R9a79c6ecf178471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d4273e8c8804944" /><Relationship Type="http://schemas.openxmlformats.org/officeDocument/2006/relationships/notesMaster" Target="/ppt/notesMasters/notesMaster1.xml" Id="Rb7aa66b5c94d4af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3c0a713cc274317" /><Relationship Type="http://schemas.openxmlformats.org/officeDocument/2006/relationships/notesMaster" Target="/ppt/notesMasters/notesMaster1.xml" Id="Rce5acce0e27849a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d1a386be88a4993" /><Relationship Type="http://schemas.openxmlformats.org/officeDocument/2006/relationships/notesMaster" Target="/ppt/notesMasters/notesMaster1.xml" Id="Rd0ecdfa3704d40b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1b76428f6d944cf" /><Relationship Type="http://schemas.openxmlformats.org/officeDocument/2006/relationships/notesMaster" Target="/ppt/notesMasters/notesMaster1.xml" Id="Ra055c2460e86428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04dd308a95641dd" /><Relationship Type="http://schemas.openxmlformats.org/officeDocument/2006/relationships/notesMaster" Target="/ppt/notesMasters/notesMaster1.xml" Id="Rc67f7df86482470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eee15ef96b64da4" /><Relationship Type="http://schemas.openxmlformats.org/officeDocument/2006/relationships/notesMaster" Target="/ppt/notesMasters/notesMaster1.xml" Id="R788ac5e2cd8548d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661fb51f3a94877" /><Relationship Type="http://schemas.openxmlformats.org/officeDocument/2006/relationships/notesMaster" Target="/ppt/notesMasters/notesMaster1.xml" Id="Re705733004374ea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83ad0f9a850433e" /><Relationship Type="http://schemas.openxmlformats.org/officeDocument/2006/relationships/notesMaster" Target="/ppt/notesMasters/notesMaster1.xml" Id="R897c62750394424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f7e2df3e26f4297" /><Relationship Type="http://schemas.openxmlformats.org/officeDocument/2006/relationships/notesMaster" Target="/ppt/notesMasters/notesMaster1.xml" Id="R8262e45d0d074bd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1259a2fa9f8474d" /><Relationship Type="http://schemas.openxmlformats.org/officeDocument/2006/relationships/notesMaster" Target="/ppt/notesMasters/notesMaster1.xml" Id="R1b0db92008554d1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1211f1010204c33" /><Relationship Type="http://schemas.openxmlformats.org/officeDocument/2006/relationships/notesMaster" Target="/ppt/notesMasters/notesMaster1.xml" Id="Rc94adf43bc60493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b9fd81728bd4d1b" /><Relationship Type="http://schemas.openxmlformats.org/officeDocument/2006/relationships/notesMaster" Target="/ppt/notesMasters/notesMaster1.xml" Id="Rd7073b563d4147b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fd0871282f8403b" /><Relationship Type="http://schemas.openxmlformats.org/officeDocument/2006/relationships/notesMaster" Target="/ppt/notesMasters/notesMaster1.xml" Id="R81efd58daefc413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67311e97a3345ae" /><Relationship Type="http://schemas.openxmlformats.org/officeDocument/2006/relationships/notesMaster" Target="/ppt/notesMasters/notesMaster1.xml" Id="R0607ca0744804cc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91c614fa9d84e91" /><Relationship Type="http://schemas.openxmlformats.org/officeDocument/2006/relationships/notesMaster" Target="/ppt/notesMasters/notesMaster1.xml" Id="R9ee5a1b964024aa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92bb76853a54cfd" /><Relationship Type="http://schemas.openxmlformats.org/officeDocument/2006/relationships/notesMaster" Target="/ppt/notesMasters/notesMaster1.xml" Id="R84ada2d05761492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5f9921f10f14227" /><Relationship Type="http://schemas.openxmlformats.org/officeDocument/2006/relationships/notesMaster" Target="/ppt/notesMasters/notesMaster1.xml" Id="Re117b3791c884da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3fe9dfbe971467c" /><Relationship Type="http://schemas.openxmlformats.org/officeDocument/2006/relationships/notesMaster" Target="/ppt/notesMasters/notesMaster1.xml" Id="R02a4da33efa64e8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b80a678690f452c" /><Relationship Type="http://schemas.openxmlformats.org/officeDocument/2006/relationships/notesMaster" Target="/ppt/notesMasters/notesMaster1.xml" Id="R28d30c3ac70a46c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36f624603a344ac" /><Relationship Type="http://schemas.openxmlformats.org/officeDocument/2006/relationships/notesMaster" Target="/ppt/notesMasters/notesMaster1.xml" Id="R2a7fe38bf8a0470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a902b7656114313" /><Relationship Type="http://schemas.openxmlformats.org/officeDocument/2006/relationships/notesMaster" Target="/ppt/notesMasters/notesMaster1.xml" Id="R4dbce8391c024b5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01852383f384d08" /><Relationship Type="http://schemas.openxmlformats.org/officeDocument/2006/relationships/notesMaster" Target="/ppt/notesMasters/notesMaster1.xml" Id="R2cedb7dfbc2b4cf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6539c1864764392" /><Relationship Type="http://schemas.openxmlformats.org/officeDocument/2006/relationships/notesMaster" Target="/ppt/notesMasters/notesMaster1.xml" Id="Re0a9f4e32c084b4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7f672303f724d3f" /><Relationship Type="http://schemas.openxmlformats.org/officeDocument/2006/relationships/notesMaster" Target="/ppt/notesMasters/notesMaster1.xml" Id="R7b9951d5ed8f4fe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562eb27bd6b4afe" /><Relationship Type="http://schemas.openxmlformats.org/officeDocument/2006/relationships/notesMaster" Target="/ppt/notesMasters/notesMaster1.xml" Id="Rd9badb24f18c410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dd92a445db84fe8" /><Relationship Type="http://schemas.openxmlformats.org/officeDocument/2006/relationships/notesMaster" Target="/ppt/notesMasters/notesMaster1.xml" Id="Rb25e84e515024c1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ec14a18e29741ce" /><Relationship Type="http://schemas.openxmlformats.org/officeDocument/2006/relationships/notesMaster" Target="/ppt/notesMasters/notesMaster1.xml" Id="R12c7c5ac83a04ac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5dc8efef0694cad" /><Relationship Type="http://schemas.openxmlformats.org/officeDocument/2006/relationships/notesMaster" Target="/ppt/notesMasters/notesMaster1.xml" Id="R90fe2e923e8a4bb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76b69896c224f16" /><Relationship Type="http://schemas.openxmlformats.org/officeDocument/2006/relationships/notesMaster" Target="/ppt/notesMasters/notesMaster1.xml" Id="Rc757760fc05a473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d215355405946ba" /><Relationship Type="http://schemas.openxmlformats.org/officeDocument/2006/relationships/notesMaster" Target="/ppt/notesMasters/notesMaster1.xml" Id="Rf4834ffa3902415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c0e051143ae4a8f" /><Relationship Type="http://schemas.openxmlformats.org/officeDocument/2006/relationships/notesMaster" Target="/ppt/notesMasters/notesMaster1.xml" Id="R65fe5629c00144f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7d5fb7017714316" /><Relationship Type="http://schemas.openxmlformats.org/officeDocument/2006/relationships/notesMaster" Target="/ppt/notesMasters/notesMaster1.xml" Id="Rc29fee3f7f1d4a7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bdf576242f64515" /><Relationship Type="http://schemas.openxmlformats.org/officeDocument/2006/relationships/notesMaster" Target="/ppt/notesMasters/notesMaster1.xml" Id="Re16ade1d764b41e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b650b44d7444ae3" /><Relationship Type="http://schemas.openxmlformats.org/officeDocument/2006/relationships/notesMaster" Target="/ppt/notesMasters/notesMaster1.xml" Id="R986e470b7e214cf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0f9b2254a264856" /><Relationship Type="http://schemas.openxmlformats.org/officeDocument/2006/relationships/notesMaster" Target="/ppt/notesMasters/notesMaster1.xml" Id="R45dbcadb30a8446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3bd3263ac7e462e" /><Relationship Type="http://schemas.openxmlformats.org/officeDocument/2006/relationships/notesMaster" Target="/ppt/notesMasters/notesMaster1.xml" Id="Rc3ea5ca9902f453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6cbeb0f2e04044bf" /><Relationship Type="http://schemas.openxmlformats.org/officeDocument/2006/relationships/notesMaster" Target="/ppt/notesMasters/notesMaster1.xml" Id="Re85856d7390a468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c3fb65617d04d6e" /><Relationship Type="http://schemas.openxmlformats.org/officeDocument/2006/relationships/notesMaster" Target="/ppt/notesMasters/notesMaster1.xml" Id="R5571f9128a40455d"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416ff109de64356" /><Relationship Type="http://schemas.openxmlformats.org/officeDocument/2006/relationships/notesMaster" Target="/ppt/notesMasters/notesMaster1.xml" Id="Rfc4870ddb7f5450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5c3d34c81e4e4baa" /><Relationship Type="http://schemas.openxmlformats.org/officeDocument/2006/relationships/notesMaster" Target="/ppt/notesMasters/notesMaster1.xml" Id="R92054736e53f4d1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bbafbdcaa094a7f" /><Relationship Type="http://schemas.openxmlformats.org/officeDocument/2006/relationships/notesMaster" Target="/ppt/notesMasters/notesMaster1.xml" Id="R2e2dbfc73dbd4f4f"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329c5b9b840543c2" /><Relationship Type="http://schemas.openxmlformats.org/officeDocument/2006/relationships/notesMaster" Target="/ppt/notesMasters/notesMaster1.xml" Id="R64677a5e1c3d4e0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f1e2572a01e9467e" /><Relationship Type="http://schemas.openxmlformats.org/officeDocument/2006/relationships/notesMaster" Target="/ppt/notesMasters/notesMaster1.xml" Id="R718517cf1f494d11"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25bc408326b9411a" /><Relationship Type="http://schemas.openxmlformats.org/officeDocument/2006/relationships/notesMaster" Target="/ppt/notesMasters/notesMaster1.xml" Id="R54167bc46b344125"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c04ee8f46dab4e26" /><Relationship Type="http://schemas.openxmlformats.org/officeDocument/2006/relationships/notesMaster" Target="/ppt/notesMasters/notesMaster1.xml" Id="Rfe4fda8d3fb0408f"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c0fed96d687b485d" /><Relationship Type="http://schemas.openxmlformats.org/officeDocument/2006/relationships/notesMaster" Target="/ppt/notesMasters/notesMaster1.xml" Id="Rc5dfb9eb3df74e1a"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c91eb60309e4488c" /><Relationship Type="http://schemas.openxmlformats.org/officeDocument/2006/relationships/notesMaster" Target="/ppt/notesMasters/notesMaster1.xml" Id="R77b886d53fb54fcf"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5738565b8c234f1d" /><Relationship Type="http://schemas.openxmlformats.org/officeDocument/2006/relationships/notesMaster" Target="/ppt/notesMasters/notesMaster1.xml" Id="R1d627236efc54369"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c47c14e84d4547d3" /><Relationship Type="http://schemas.openxmlformats.org/officeDocument/2006/relationships/notesMaster" Target="/ppt/notesMasters/notesMaster1.xml" Id="Rbf991bee7bcd4cec"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3d643c3f9b334d92" /><Relationship Type="http://schemas.openxmlformats.org/officeDocument/2006/relationships/notesMaster" Target="/ppt/notesMasters/notesMaster1.xml" Id="R5347e0814b994b73"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ac670b19b6b94e1e" /><Relationship Type="http://schemas.openxmlformats.org/officeDocument/2006/relationships/notesMaster" Target="/ppt/notesMasters/notesMaster1.xml" Id="R39b533a35ea24172"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94e8f0501a224c22" /><Relationship Type="http://schemas.openxmlformats.org/officeDocument/2006/relationships/notesMaster" Target="/ppt/notesMasters/notesMaster1.xml" Id="Rb6be25a5b53e4776"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d3738787864d49c1" /><Relationship Type="http://schemas.openxmlformats.org/officeDocument/2006/relationships/notesMaster" Target="/ppt/notesMasters/notesMaster1.xml" Id="R3af0584236774725"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01425ad0a7174665" /><Relationship Type="http://schemas.openxmlformats.org/officeDocument/2006/relationships/notesMaster" Target="/ppt/notesMasters/notesMaster1.xml" Id="Rc8d4d3cff25e484c"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704f611cbcd54319" /><Relationship Type="http://schemas.openxmlformats.org/officeDocument/2006/relationships/notesMaster" Target="/ppt/notesMasters/notesMaster1.xml" Id="Rf9ab7c19040647bd"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4f1a1eda0147403b" /><Relationship Type="http://schemas.openxmlformats.org/officeDocument/2006/relationships/notesMaster" Target="/ppt/notesMasters/notesMaster1.xml" Id="R9c8e732844e245b9"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8369645565ed4381" /><Relationship Type="http://schemas.openxmlformats.org/officeDocument/2006/relationships/notesMaster" Target="/ppt/notesMasters/notesMaster1.xml" Id="Rb5c827756b034c19"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1c55494ce6e942c4" /><Relationship Type="http://schemas.openxmlformats.org/officeDocument/2006/relationships/notesMaster" Target="/ppt/notesMasters/notesMaster1.xml" Id="R3e3e8d334ed54510"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3d581e3d9c7943df" /><Relationship Type="http://schemas.openxmlformats.org/officeDocument/2006/relationships/notesMaster" Target="/ppt/notesMasters/notesMaster1.xml" Id="R23ccb16d78454d44"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4ee593435f2f472c" /><Relationship Type="http://schemas.openxmlformats.org/officeDocument/2006/relationships/notesMaster" Target="/ppt/notesMasters/notesMaster1.xml" Id="R5412bac9af7d4c14"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aaf8872aa0684e39" /><Relationship Type="http://schemas.openxmlformats.org/officeDocument/2006/relationships/notesMaster" Target="/ppt/notesMasters/notesMaster1.xml" Id="R9645ab6849df4a54"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19121a94b7ef4da4" /><Relationship Type="http://schemas.openxmlformats.org/officeDocument/2006/relationships/notesMaster" Target="/ppt/notesMasters/notesMaster1.xml" Id="R719e7eb5f75a403b"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162dcf2bad61460d" /><Relationship Type="http://schemas.openxmlformats.org/officeDocument/2006/relationships/notesMaster" Target="/ppt/notesMasters/notesMaster1.xml" Id="Rcea85b56aa4d43c8"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65dcdd2fb2714fe1" /><Relationship Type="http://schemas.openxmlformats.org/officeDocument/2006/relationships/notesMaster" Target="/ppt/notesMasters/notesMaster1.xml" Id="Rde3a817bfd2b4350"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425b729f663d4e51" /><Relationship Type="http://schemas.openxmlformats.org/officeDocument/2006/relationships/notesMaster" Target="/ppt/notesMasters/notesMaster1.xml" Id="Rf13bc08e5a9944a8"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28452d8b7f334a86" /><Relationship Type="http://schemas.openxmlformats.org/officeDocument/2006/relationships/notesMaster" Target="/ppt/notesMasters/notesMaster1.xml" Id="Rc9e3aaec06b34074"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00074bbeebb74ea9" /><Relationship Type="http://schemas.openxmlformats.org/officeDocument/2006/relationships/notesMaster" Target="/ppt/notesMasters/notesMaster1.xml" Id="Rec340ba820724adb"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160ccfa27bed4e1d" /><Relationship Type="http://schemas.openxmlformats.org/officeDocument/2006/relationships/notesMaster" Target="/ppt/notesMasters/notesMaster1.xml" Id="R86ee2e50f7194d53"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ee75f870882a429e" /><Relationship Type="http://schemas.openxmlformats.org/officeDocument/2006/relationships/notesMaster" Target="/ppt/notesMasters/notesMaster1.xml" Id="Rb8f31ad0eeba4f09"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74fd577087c0457e" /><Relationship Type="http://schemas.openxmlformats.org/officeDocument/2006/relationships/notesMaster" Target="/ppt/notesMasters/notesMaster1.xml" Id="R3f5649541a61414a"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82c98db1500946b7" /><Relationship Type="http://schemas.openxmlformats.org/officeDocument/2006/relationships/notesMaster" Target="/ppt/notesMasters/notesMaster1.xml" Id="Rd3c9d6fb8b204a07"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8a2eef59665147d3" /><Relationship Type="http://schemas.openxmlformats.org/officeDocument/2006/relationships/notesMaster" Target="/ppt/notesMasters/notesMaster1.xml" Id="R6461286134984439"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bd188684ce93430e" /><Relationship Type="http://schemas.openxmlformats.org/officeDocument/2006/relationships/notesMaster" Target="/ppt/notesMasters/notesMaster1.xml" Id="Rfd37edaf10c446c6"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68c18700cb664e18" /><Relationship Type="http://schemas.openxmlformats.org/officeDocument/2006/relationships/notesMaster" Target="/ppt/notesMasters/notesMaster1.xml" Id="Refd621d7376747fb"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4fdc2a9dc6ad4bdc" /><Relationship Type="http://schemas.openxmlformats.org/officeDocument/2006/relationships/notesMaster" Target="/ppt/notesMasters/notesMaster1.xml" Id="R7f438a2cc2f74579"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9183b6137e77480a" /><Relationship Type="http://schemas.openxmlformats.org/officeDocument/2006/relationships/notesMaster" Target="/ppt/notesMasters/notesMaster1.xml" Id="Rd8e0501fca9443e4"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e3d9dfd9f30843d4" /><Relationship Type="http://schemas.openxmlformats.org/officeDocument/2006/relationships/notesMaster" Target="/ppt/notesMasters/notesMaster1.xml" Id="Ra2c7248705964a25"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06231ec4b4444bb3" /><Relationship Type="http://schemas.openxmlformats.org/officeDocument/2006/relationships/notesMaster" Target="/ppt/notesMasters/notesMaster1.xml" Id="Rf0f98e956b274c41"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338c4db3ef8e4420" /><Relationship Type="http://schemas.openxmlformats.org/officeDocument/2006/relationships/notesMaster" Target="/ppt/notesMasters/notesMaster1.xml" Id="R15daa0364bd0477b"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748e6b7f53c34f28" /><Relationship Type="http://schemas.openxmlformats.org/officeDocument/2006/relationships/notesMaster" Target="/ppt/notesMasters/notesMaster1.xml" Id="R90a0034c20674215"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158bd355ab764b8c" /><Relationship Type="http://schemas.openxmlformats.org/officeDocument/2006/relationships/notesMaster" Target="/ppt/notesMasters/notesMaster1.xml" Id="R874a6380ada54c91"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a5b804875b094114" /><Relationship Type="http://schemas.openxmlformats.org/officeDocument/2006/relationships/notesMaster" Target="/ppt/notesMasters/notesMaster1.xml" Id="R41a42c1d89c842ee"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370222ce5a524574" /><Relationship Type="http://schemas.openxmlformats.org/officeDocument/2006/relationships/notesMaster" Target="/ppt/notesMasters/notesMaster1.xml" Id="R7c9c54c315c545b7"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40b8c6209b1f4859" /><Relationship Type="http://schemas.openxmlformats.org/officeDocument/2006/relationships/notesMaster" Target="/ppt/notesMasters/notesMaster1.xml" Id="R174b0d353dd949e9"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c715643020294c8a" /><Relationship Type="http://schemas.openxmlformats.org/officeDocument/2006/relationships/notesMaster" Target="/ppt/notesMasters/notesMaster1.xml" Id="Rcb36455bf32f49e8"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66b8bd82cc644ac4" /><Relationship Type="http://schemas.openxmlformats.org/officeDocument/2006/relationships/notesMaster" Target="/ppt/notesMasters/notesMaster1.xml" Id="Rebefa167fe8f4efe"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3fcb834fc2324362" /><Relationship Type="http://schemas.openxmlformats.org/officeDocument/2006/relationships/notesMaster" Target="/ppt/notesMasters/notesMaster1.xml" Id="R520f36cbc22141e2"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be5d60b59c1c4ccd" /><Relationship Type="http://schemas.openxmlformats.org/officeDocument/2006/relationships/notesMaster" Target="/ppt/notesMasters/notesMaster1.xml" Id="Rae6045c2599248a1"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0f4974caaf174b0c" /><Relationship Type="http://schemas.openxmlformats.org/officeDocument/2006/relationships/notesMaster" Target="/ppt/notesMasters/notesMaster1.xml" Id="R57550b4928bc4ee1"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a1ab81b8e42e4104" /><Relationship Type="http://schemas.openxmlformats.org/officeDocument/2006/relationships/notesMaster" Target="/ppt/notesMasters/notesMaster1.xml" Id="R47c9678ec5fd4a4b"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90de4017c37b4f94" /><Relationship Type="http://schemas.openxmlformats.org/officeDocument/2006/relationships/notesMaster" Target="/ppt/notesMasters/notesMaster1.xml" Id="Radb62c076a0a4db3"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3208334d162542b9" /><Relationship Type="http://schemas.openxmlformats.org/officeDocument/2006/relationships/notesMaster" Target="/ppt/notesMasters/notesMaster1.xml" Id="Rfc66fb3a137a49c4"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89f43b47440a4fd9" /><Relationship Type="http://schemas.openxmlformats.org/officeDocument/2006/relationships/notesMaster" Target="/ppt/notesMasters/notesMaster1.xml" Id="R93b7f611ba004635"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a300d11ecc1a46ad" /><Relationship Type="http://schemas.openxmlformats.org/officeDocument/2006/relationships/notesMaster" Target="/ppt/notesMasters/notesMaster1.xml" Id="Rfdcdde303d9743db"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eff4419e702f411e" /><Relationship Type="http://schemas.openxmlformats.org/officeDocument/2006/relationships/notesMaster" Target="/ppt/notesMasters/notesMaster1.xml" Id="R195d8e115b224cce"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ff6caf87def749ca" /><Relationship Type="http://schemas.openxmlformats.org/officeDocument/2006/relationships/notesMaster" Target="/ppt/notesMasters/notesMaster1.xml" Id="Rca1d2fcf2ff8463d"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197ccbe92cb74980" /><Relationship Type="http://schemas.openxmlformats.org/officeDocument/2006/relationships/notesMaster" Target="/ppt/notesMasters/notesMaster1.xml" Id="Rb35de021102744d0"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b9a9eb9b52074458" /><Relationship Type="http://schemas.openxmlformats.org/officeDocument/2006/relationships/notesMaster" Target="/ppt/notesMasters/notesMaster1.xml" Id="R271a517577124bf2"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321a2dc24a46491a" /><Relationship Type="http://schemas.openxmlformats.org/officeDocument/2006/relationships/notesMaster" Target="/ppt/notesMasters/notesMaster1.xml" Id="Rdc83fb5478e54568"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9ab2f4d224624ab5" /><Relationship Type="http://schemas.openxmlformats.org/officeDocument/2006/relationships/notesMaster" Target="/ppt/notesMasters/notesMaster1.xml" Id="R931bea53a8f94c2d"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83a60d69267d405b" /><Relationship Type="http://schemas.openxmlformats.org/officeDocument/2006/relationships/notesMaster" Target="/ppt/notesMasters/notesMaster1.xml" Id="R70b2848231ae4b0c"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d181267b4be1492f" /><Relationship Type="http://schemas.openxmlformats.org/officeDocument/2006/relationships/notesMaster" Target="/ppt/notesMasters/notesMaster1.xml" Id="Rf36e1ab601a54096"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f6397b85ed084d28" /><Relationship Type="http://schemas.openxmlformats.org/officeDocument/2006/relationships/notesMaster" Target="/ppt/notesMasters/notesMaster1.xml" Id="Rdfea41e910434ead"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8e058e6184894392" /><Relationship Type="http://schemas.openxmlformats.org/officeDocument/2006/relationships/notesMaster" Target="/ppt/notesMasters/notesMaster1.xml" Id="Re7633e7c44b44c47"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e1a8d9d159094f62" /><Relationship Type="http://schemas.openxmlformats.org/officeDocument/2006/relationships/notesMaster" Target="/ppt/notesMasters/notesMaster1.xml" Id="Rc2c1fe16395b469a"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064638c610fd4570" /><Relationship Type="http://schemas.openxmlformats.org/officeDocument/2006/relationships/notesMaster" Target="/ppt/notesMasters/notesMaster1.xml" Id="R2cc0af800ff14e9e"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6e05aee287f94bfa" /><Relationship Type="http://schemas.openxmlformats.org/officeDocument/2006/relationships/notesMaster" Target="/ppt/notesMasters/notesMaster1.xml" Id="R4bc24f4ba2dc457d"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931939e28904461f" /><Relationship Type="http://schemas.openxmlformats.org/officeDocument/2006/relationships/notesMaster" Target="/ppt/notesMasters/notesMaster1.xml" Id="Rc766aada3a1b48bc"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021e176e8f994f1f" /><Relationship Type="http://schemas.openxmlformats.org/officeDocument/2006/relationships/notesMaster" Target="/ppt/notesMasters/notesMaster1.xml" Id="Rb143a5a080744866"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d1f2fb6430c34698" /><Relationship Type="http://schemas.openxmlformats.org/officeDocument/2006/relationships/notesMaster" Target="/ppt/notesMasters/notesMaster1.xml" Id="R20e289a28dbd4ec6"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b9636fdc67ef46d3" /><Relationship Type="http://schemas.openxmlformats.org/officeDocument/2006/relationships/notesMaster" Target="/ppt/notesMasters/notesMaster1.xml" Id="Rd365bf84b1914b31"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9c6306ef2bd34fa0" /><Relationship Type="http://schemas.openxmlformats.org/officeDocument/2006/relationships/notesMaster" Target="/ppt/notesMasters/notesMaster1.xml" Id="R5a994b499aaa49a3"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658eb98e4c974bd2" /><Relationship Type="http://schemas.openxmlformats.org/officeDocument/2006/relationships/notesMaster" Target="/ppt/notesMasters/notesMaster1.xml" Id="R7b853fa1e33c4af2"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8100ac0e5b374f45" /><Relationship Type="http://schemas.openxmlformats.org/officeDocument/2006/relationships/notesMaster" Target="/ppt/notesMasters/notesMaster1.xml" Id="R60ea0dbdcaaa4fc1"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600c510bb14d4259" /><Relationship Type="http://schemas.openxmlformats.org/officeDocument/2006/relationships/notesMaster" Target="/ppt/notesMasters/notesMaster1.xml" Id="R4be14d09ca184ce8"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84a297721d0b4693" /><Relationship Type="http://schemas.openxmlformats.org/officeDocument/2006/relationships/notesMaster" Target="/ppt/notesMasters/notesMaster1.xml" Id="R747b0eb5037d4893"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f74bc9b443ae469e" /><Relationship Type="http://schemas.openxmlformats.org/officeDocument/2006/relationships/notesMaster" Target="/ppt/notesMasters/notesMaster1.xml" Id="R53417b6077da4879"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ea0a375d364c4550" /><Relationship Type="http://schemas.openxmlformats.org/officeDocument/2006/relationships/notesMaster" Target="/ppt/notesMasters/notesMaster1.xml" Id="Rc071efac2d6a48b8"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e4cedfdaa3c64c24" /><Relationship Type="http://schemas.openxmlformats.org/officeDocument/2006/relationships/notesMaster" Target="/ppt/notesMasters/notesMaster1.xml" Id="Rfe6af90bb75842d6"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7c5226b7578746ae" /><Relationship Type="http://schemas.openxmlformats.org/officeDocument/2006/relationships/notesMaster" Target="/ppt/notesMasters/notesMaster1.xml" Id="R32406aa73a274810"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9c69db21c3d848d4" /><Relationship Type="http://schemas.openxmlformats.org/officeDocument/2006/relationships/notesMaster" Target="/ppt/notesMasters/notesMaster1.xml" Id="Rd0751afa672b4dd2"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09738c59de284ae1" /><Relationship Type="http://schemas.openxmlformats.org/officeDocument/2006/relationships/notesMaster" Target="/ppt/notesMasters/notesMaster1.xml" Id="R466962a235b34f71"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4e5e7d3ea85f431d" /><Relationship Type="http://schemas.openxmlformats.org/officeDocument/2006/relationships/notesMaster" Target="/ppt/notesMasters/notesMaster1.xml" Id="Rca77b1cc583d44af"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c51fb50010d5479e" /><Relationship Type="http://schemas.openxmlformats.org/officeDocument/2006/relationships/notesMaster" Target="/ppt/notesMasters/notesMaster1.xml" Id="R04d0cd48552b42ad"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784fdbc6d05e473b" /><Relationship Type="http://schemas.openxmlformats.org/officeDocument/2006/relationships/notesMaster" Target="/ppt/notesMasters/notesMaster1.xml" Id="R15621cb0414c4f52"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f33584ea81a344ab" /><Relationship Type="http://schemas.openxmlformats.org/officeDocument/2006/relationships/notesMaster" Target="/ppt/notesMasters/notesMaster1.xml" Id="R0d144691ba9b4afb"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5d624164b6be4bba" /><Relationship Type="http://schemas.openxmlformats.org/officeDocument/2006/relationships/notesMaster" Target="/ppt/notesMasters/notesMaster1.xml" Id="Radf51d13b9744438"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e95307ebd45941c2" /><Relationship Type="http://schemas.openxmlformats.org/officeDocument/2006/relationships/notesMaster" Target="/ppt/notesMasters/notesMaster1.xml" Id="Rb51311f49dba4493"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aea2c488e6f14133" /><Relationship Type="http://schemas.openxmlformats.org/officeDocument/2006/relationships/notesMaster" Target="/ppt/notesMasters/notesMaster1.xml" Id="R7b9331da34124c09"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2b3cdb0702fb4e54" /><Relationship Type="http://schemas.openxmlformats.org/officeDocument/2006/relationships/notesMaster" Target="/ppt/notesMasters/notesMaster1.xml" Id="Rf83626e5bcf2486d"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fb7f5ceef9fb43d9" /><Relationship Type="http://schemas.openxmlformats.org/officeDocument/2006/relationships/notesMaster" Target="/ppt/notesMasters/notesMaster1.xml" Id="R29cde431dc06481b"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58a4d45736f94d80" /><Relationship Type="http://schemas.openxmlformats.org/officeDocument/2006/relationships/notesMaster" Target="/ppt/notesMasters/notesMaster1.xml" Id="Rff6dca7dfa97497f"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06b28ae6fd3944a6" /><Relationship Type="http://schemas.openxmlformats.org/officeDocument/2006/relationships/notesMaster" Target="/ppt/notesMasters/notesMaster1.xml" Id="R89f9f350f4904c5a"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9af5a51f672d4cda" /><Relationship Type="http://schemas.openxmlformats.org/officeDocument/2006/relationships/notesMaster" Target="/ppt/notesMasters/notesMaster1.xml" Id="Re19d57a8b03c46bf"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a2990ed6aabe49bb" /><Relationship Type="http://schemas.openxmlformats.org/officeDocument/2006/relationships/notesMaster" Target="/ppt/notesMasters/notesMaster1.xml" Id="R84813187ba924870"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bb4531021e604a61" /><Relationship Type="http://schemas.openxmlformats.org/officeDocument/2006/relationships/notesMaster" Target="/ppt/notesMasters/notesMaster1.xml" Id="R7e21e731b0a64ffe"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4e9033ae97634d36" /><Relationship Type="http://schemas.openxmlformats.org/officeDocument/2006/relationships/notesMaster" Target="/ppt/notesMasters/notesMaster1.xml" Id="R62934e5d57af4bfb"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0ce1030dbb044996" /><Relationship Type="http://schemas.openxmlformats.org/officeDocument/2006/relationships/notesMaster" Target="/ppt/notesMasters/notesMaster1.xml" Id="Rb95895ac9cbf46a8"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d67ef839977b4137" /><Relationship Type="http://schemas.openxmlformats.org/officeDocument/2006/relationships/notesMaster" Target="/ppt/notesMasters/notesMaster1.xml" Id="R75b19ea628154ea8"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8c15603256b94d84" /><Relationship Type="http://schemas.openxmlformats.org/officeDocument/2006/relationships/notesMaster" Target="/ppt/notesMasters/notesMaster1.xml" Id="R10e964586cf0445d"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56872fd58e7f4583" /><Relationship Type="http://schemas.openxmlformats.org/officeDocument/2006/relationships/notesMaster" Target="/ppt/notesMasters/notesMaster1.xml" Id="R38a0823a70bf459b"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0eab535de88e4b59" /><Relationship Type="http://schemas.openxmlformats.org/officeDocument/2006/relationships/notesMaster" Target="/ppt/notesMasters/notesMaster1.xml" Id="R4c7446433f894900"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a994d3fcb4994d94" /><Relationship Type="http://schemas.openxmlformats.org/officeDocument/2006/relationships/notesMaster" Target="/ppt/notesMasters/notesMaster1.xml" Id="R869d6d4e41794caa"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4fe1a224d5644ebe" /><Relationship Type="http://schemas.openxmlformats.org/officeDocument/2006/relationships/notesMaster" Target="/ppt/notesMasters/notesMaster1.xml" Id="Rf0efb27afb664019"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39738e4ad5f24fbc" /><Relationship Type="http://schemas.openxmlformats.org/officeDocument/2006/relationships/notesMaster" Target="/ppt/notesMasters/notesMaster1.xml" Id="R5fa201c6aecd48f3"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cbad9c232c51446e" /><Relationship Type="http://schemas.openxmlformats.org/officeDocument/2006/relationships/notesMaster" Target="/ppt/notesMasters/notesMaster1.xml" Id="Rfd079965303d43a3"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6acc811efc184819" /><Relationship Type="http://schemas.openxmlformats.org/officeDocument/2006/relationships/notesMaster" Target="/ppt/notesMasters/notesMaster1.xml" Id="Rf77f0538fe9c4b92"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2f69af357df8404a" /><Relationship Type="http://schemas.openxmlformats.org/officeDocument/2006/relationships/notesMaster" Target="/ppt/notesMasters/notesMaster1.xml" Id="R304e43de59004855"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bdad54a64c6b4e04" /><Relationship Type="http://schemas.openxmlformats.org/officeDocument/2006/relationships/notesMaster" Target="/ppt/notesMasters/notesMaster1.xml" Id="Rd021ece521594674"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002e247f78ee4d24" /><Relationship Type="http://schemas.openxmlformats.org/officeDocument/2006/relationships/notesMaster" Target="/ppt/notesMasters/notesMaster1.xml" Id="R01028d0039ec48e6"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b81919e3f0944947" /><Relationship Type="http://schemas.openxmlformats.org/officeDocument/2006/relationships/notesMaster" Target="/ppt/notesMasters/notesMaster1.xml" Id="R81facf66be134e30"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c702336ff04f44fc" /><Relationship Type="http://schemas.openxmlformats.org/officeDocument/2006/relationships/notesMaster" Target="/ppt/notesMasters/notesMaster1.xml" Id="Ra3b26eb11fa54e70" /></Relationships>
</file>

<file path=ppt/notesSlides/_rels/notesSlide170.xml.rels>&#65279;<?xml version="1.0" encoding="utf-8"?><Relationships xmlns="http://schemas.openxmlformats.org/package/2006/relationships"><Relationship Type="http://schemas.openxmlformats.org/officeDocument/2006/relationships/slide" Target="/ppt/slides/slide170.xml" Id="R5b876e6dc48b43aa" /><Relationship Type="http://schemas.openxmlformats.org/officeDocument/2006/relationships/notesMaster" Target="/ppt/notesMasters/notesMaster1.xml" Id="R8f706589737847c3" /></Relationships>
</file>

<file path=ppt/notesSlides/_rels/notesSlide171.xml.rels>&#65279;<?xml version="1.0" encoding="utf-8"?><Relationships xmlns="http://schemas.openxmlformats.org/package/2006/relationships"><Relationship Type="http://schemas.openxmlformats.org/officeDocument/2006/relationships/slide" Target="/ppt/slides/slide171.xml" Id="R54fe65d1ac9c424e" /><Relationship Type="http://schemas.openxmlformats.org/officeDocument/2006/relationships/notesMaster" Target="/ppt/notesMasters/notesMaster1.xml" Id="R0b3ca46e8a284ad9" /></Relationships>
</file>

<file path=ppt/notesSlides/_rels/notesSlide172.xml.rels>&#65279;<?xml version="1.0" encoding="utf-8"?><Relationships xmlns="http://schemas.openxmlformats.org/package/2006/relationships"><Relationship Type="http://schemas.openxmlformats.org/officeDocument/2006/relationships/slide" Target="/ppt/slides/slide172.xml" Id="R34bc94ef80854527" /><Relationship Type="http://schemas.openxmlformats.org/officeDocument/2006/relationships/notesMaster" Target="/ppt/notesMasters/notesMaster1.xml" Id="Rbb0f77dc5d3249e5" /></Relationships>
</file>

<file path=ppt/notesSlides/_rels/notesSlide173.xml.rels>&#65279;<?xml version="1.0" encoding="utf-8"?><Relationships xmlns="http://schemas.openxmlformats.org/package/2006/relationships"><Relationship Type="http://schemas.openxmlformats.org/officeDocument/2006/relationships/slide" Target="/ppt/slides/slide173.xml" Id="R55c57f2b31864e7a" /><Relationship Type="http://schemas.openxmlformats.org/officeDocument/2006/relationships/notesMaster" Target="/ppt/notesMasters/notesMaster1.xml" Id="Ra9d490ba34c743fa" /></Relationships>
</file>

<file path=ppt/notesSlides/_rels/notesSlide174.xml.rels>&#65279;<?xml version="1.0" encoding="utf-8"?><Relationships xmlns="http://schemas.openxmlformats.org/package/2006/relationships"><Relationship Type="http://schemas.openxmlformats.org/officeDocument/2006/relationships/slide" Target="/ppt/slides/slide174.xml" Id="R833e87572a3e4a6b" /><Relationship Type="http://schemas.openxmlformats.org/officeDocument/2006/relationships/notesMaster" Target="/ppt/notesMasters/notesMaster1.xml" Id="R19451ec400ed41ed" /></Relationships>
</file>

<file path=ppt/notesSlides/_rels/notesSlide175.xml.rels>&#65279;<?xml version="1.0" encoding="utf-8"?><Relationships xmlns="http://schemas.openxmlformats.org/package/2006/relationships"><Relationship Type="http://schemas.openxmlformats.org/officeDocument/2006/relationships/slide" Target="/ppt/slides/slide175.xml" Id="R9e828d17a1b04dad" /><Relationship Type="http://schemas.openxmlformats.org/officeDocument/2006/relationships/notesMaster" Target="/ppt/notesMasters/notesMaster1.xml" Id="R7959e2dd625c49f9" /></Relationships>
</file>

<file path=ppt/notesSlides/_rels/notesSlide176.xml.rels>&#65279;<?xml version="1.0" encoding="utf-8"?><Relationships xmlns="http://schemas.openxmlformats.org/package/2006/relationships"><Relationship Type="http://schemas.openxmlformats.org/officeDocument/2006/relationships/slide" Target="/ppt/slides/slide176.xml" Id="R10ea17ca7d784364" /><Relationship Type="http://schemas.openxmlformats.org/officeDocument/2006/relationships/notesMaster" Target="/ppt/notesMasters/notesMaster1.xml" Id="Re21499658bc540c2" /></Relationships>
</file>

<file path=ppt/notesSlides/_rels/notesSlide177.xml.rels>&#65279;<?xml version="1.0" encoding="utf-8"?><Relationships xmlns="http://schemas.openxmlformats.org/package/2006/relationships"><Relationship Type="http://schemas.openxmlformats.org/officeDocument/2006/relationships/slide" Target="/ppt/slides/slide177.xml" Id="Rc83e4c2eeef24920" /><Relationship Type="http://schemas.openxmlformats.org/officeDocument/2006/relationships/notesMaster" Target="/ppt/notesMasters/notesMaster1.xml" Id="R5d513ce0844f4eb3" /></Relationships>
</file>

<file path=ppt/notesSlides/_rels/notesSlide178.xml.rels>&#65279;<?xml version="1.0" encoding="utf-8"?><Relationships xmlns="http://schemas.openxmlformats.org/package/2006/relationships"><Relationship Type="http://schemas.openxmlformats.org/officeDocument/2006/relationships/slide" Target="/ppt/slides/slide178.xml" Id="Rf0c595e8995a4989" /><Relationship Type="http://schemas.openxmlformats.org/officeDocument/2006/relationships/notesMaster" Target="/ppt/notesMasters/notesMaster1.xml" Id="Rcbb367b22ce242b8" /></Relationships>
</file>

<file path=ppt/notesSlides/_rels/notesSlide179.xml.rels>&#65279;<?xml version="1.0" encoding="utf-8"?><Relationships xmlns="http://schemas.openxmlformats.org/package/2006/relationships"><Relationship Type="http://schemas.openxmlformats.org/officeDocument/2006/relationships/slide" Target="/ppt/slides/slide179.xml" Id="R48d235db0460414e" /><Relationship Type="http://schemas.openxmlformats.org/officeDocument/2006/relationships/notesMaster" Target="/ppt/notesMasters/notesMaster1.xml" Id="R1138d93c77dd40b6" /></Relationships>
</file>

<file path=ppt/notesSlides/_rels/notesSlide180.xml.rels>&#65279;<?xml version="1.0" encoding="utf-8"?><Relationships xmlns="http://schemas.openxmlformats.org/package/2006/relationships"><Relationship Type="http://schemas.openxmlformats.org/officeDocument/2006/relationships/slide" Target="/ppt/slides/slide180.xml" Id="R24b092577efd4aa0" /><Relationship Type="http://schemas.openxmlformats.org/officeDocument/2006/relationships/notesMaster" Target="/ppt/notesMasters/notesMaster1.xml" Id="R2a734403e6524c06" /></Relationships>
</file>

<file path=ppt/notesSlides/_rels/notesSlide181.xml.rels>&#65279;<?xml version="1.0" encoding="utf-8"?><Relationships xmlns="http://schemas.openxmlformats.org/package/2006/relationships"><Relationship Type="http://schemas.openxmlformats.org/officeDocument/2006/relationships/slide" Target="/ppt/slides/slide181.xml" Id="Rd44a58149409476c" /><Relationship Type="http://schemas.openxmlformats.org/officeDocument/2006/relationships/notesMaster" Target="/ppt/notesMasters/notesMaster1.xml" Id="R0bda075752f1454c" /></Relationships>
</file>

<file path=ppt/notesSlides/_rels/notesSlide182.xml.rels>&#65279;<?xml version="1.0" encoding="utf-8"?><Relationships xmlns="http://schemas.openxmlformats.org/package/2006/relationships"><Relationship Type="http://schemas.openxmlformats.org/officeDocument/2006/relationships/slide" Target="/ppt/slides/slide182.xml" Id="Rcabe1914aebb4349" /><Relationship Type="http://schemas.openxmlformats.org/officeDocument/2006/relationships/notesMaster" Target="/ppt/notesMasters/notesMaster1.xml" Id="R36a5cd902bca48fa" /></Relationships>
</file>

<file path=ppt/notesSlides/_rels/notesSlide183.xml.rels>&#65279;<?xml version="1.0" encoding="utf-8"?><Relationships xmlns="http://schemas.openxmlformats.org/package/2006/relationships"><Relationship Type="http://schemas.openxmlformats.org/officeDocument/2006/relationships/slide" Target="/ppt/slides/slide183.xml" Id="R3f2b9ff04a614e40" /><Relationship Type="http://schemas.openxmlformats.org/officeDocument/2006/relationships/notesMaster" Target="/ppt/notesMasters/notesMaster1.xml" Id="R85e61cd08cf447e9" /></Relationships>
</file>

<file path=ppt/notesSlides/_rels/notesSlide184.xml.rels>&#65279;<?xml version="1.0" encoding="utf-8"?><Relationships xmlns="http://schemas.openxmlformats.org/package/2006/relationships"><Relationship Type="http://schemas.openxmlformats.org/officeDocument/2006/relationships/slide" Target="/ppt/slides/slide184.xml" Id="R75d9c97e6da64b6e" /><Relationship Type="http://schemas.openxmlformats.org/officeDocument/2006/relationships/notesMaster" Target="/ppt/notesMasters/notesMaster1.xml" Id="Rd94185e4704a4d85" /></Relationships>
</file>

<file path=ppt/notesSlides/_rels/notesSlide185.xml.rels>&#65279;<?xml version="1.0" encoding="utf-8"?><Relationships xmlns="http://schemas.openxmlformats.org/package/2006/relationships"><Relationship Type="http://schemas.openxmlformats.org/officeDocument/2006/relationships/slide" Target="/ppt/slides/slide185.xml" Id="R4145b8bdcb374ad9" /><Relationship Type="http://schemas.openxmlformats.org/officeDocument/2006/relationships/notesMaster" Target="/ppt/notesMasters/notesMaster1.xml" Id="R6ee5f92837fb4a18" /></Relationships>
</file>

<file path=ppt/notesSlides/_rels/notesSlide186.xml.rels>&#65279;<?xml version="1.0" encoding="utf-8"?><Relationships xmlns="http://schemas.openxmlformats.org/package/2006/relationships"><Relationship Type="http://schemas.openxmlformats.org/officeDocument/2006/relationships/slide" Target="/ppt/slides/slide186.xml" Id="Refb1ba18f905412d" /><Relationship Type="http://schemas.openxmlformats.org/officeDocument/2006/relationships/notesMaster" Target="/ppt/notesMasters/notesMaster1.xml" Id="Rc95bc6ff9d744d2e" /></Relationships>
</file>

<file path=ppt/notesSlides/_rels/notesSlide187.xml.rels>&#65279;<?xml version="1.0" encoding="utf-8"?><Relationships xmlns="http://schemas.openxmlformats.org/package/2006/relationships"><Relationship Type="http://schemas.openxmlformats.org/officeDocument/2006/relationships/slide" Target="/ppt/slides/slide187.xml" Id="R56b9caf760e84d35" /><Relationship Type="http://schemas.openxmlformats.org/officeDocument/2006/relationships/notesMaster" Target="/ppt/notesMasters/notesMaster1.xml" Id="R495dc6bf840a40d7" /></Relationships>
</file>

<file path=ppt/notesSlides/_rels/notesSlide188.xml.rels>&#65279;<?xml version="1.0" encoding="utf-8"?><Relationships xmlns="http://schemas.openxmlformats.org/package/2006/relationships"><Relationship Type="http://schemas.openxmlformats.org/officeDocument/2006/relationships/slide" Target="/ppt/slides/slide188.xml" Id="R9562f16a37a5498b" /><Relationship Type="http://schemas.openxmlformats.org/officeDocument/2006/relationships/notesMaster" Target="/ppt/notesMasters/notesMaster1.xml" Id="R2e6c2b732b99456c" /></Relationships>
</file>

<file path=ppt/notesSlides/_rels/notesSlide189.xml.rels>&#65279;<?xml version="1.0" encoding="utf-8"?><Relationships xmlns="http://schemas.openxmlformats.org/package/2006/relationships"><Relationship Type="http://schemas.openxmlformats.org/officeDocument/2006/relationships/slide" Target="/ppt/slides/slide189.xml" Id="R3fd216cbe9ac49d0" /><Relationship Type="http://schemas.openxmlformats.org/officeDocument/2006/relationships/notesMaster" Target="/ppt/notesMasters/notesMaster1.xml" Id="R24a9fefddcea4f8d" /></Relationships>
</file>

<file path=ppt/notesSlides/_rels/notesSlide190.xml.rels>&#65279;<?xml version="1.0" encoding="utf-8"?><Relationships xmlns="http://schemas.openxmlformats.org/package/2006/relationships"><Relationship Type="http://schemas.openxmlformats.org/officeDocument/2006/relationships/slide" Target="/ppt/slides/slide190.xml" Id="Rc8d1f07168354246" /><Relationship Type="http://schemas.openxmlformats.org/officeDocument/2006/relationships/notesMaster" Target="/ppt/notesMasters/notesMaster1.xml" Id="R34880f3811b048b4" /></Relationships>
</file>

<file path=ppt/notesSlides/_rels/notesSlide191.xml.rels>&#65279;<?xml version="1.0" encoding="utf-8"?><Relationships xmlns="http://schemas.openxmlformats.org/package/2006/relationships"><Relationship Type="http://schemas.openxmlformats.org/officeDocument/2006/relationships/slide" Target="/ppt/slides/slide191.xml" Id="R15598ab193d2459f" /><Relationship Type="http://schemas.openxmlformats.org/officeDocument/2006/relationships/notesMaster" Target="/ppt/notesMasters/notesMaster1.xml" Id="Ra9c41476c43a4b31" /></Relationships>
</file>

<file path=ppt/notesSlides/_rels/notesSlide192.xml.rels>&#65279;<?xml version="1.0" encoding="utf-8"?><Relationships xmlns="http://schemas.openxmlformats.org/package/2006/relationships"><Relationship Type="http://schemas.openxmlformats.org/officeDocument/2006/relationships/slide" Target="/ppt/slides/slide192.xml" Id="R0e061cd76b934a93" /><Relationship Type="http://schemas.openxmlformats.org/officeDocument/2006/relationships/notesMaster" Target="/ppt/notesMasters/notesMaster1.xml" Id="R7ce1cf415e4d4ac9" /></Relationships>
</file>

<file path=ppt/notesSlides/_rels/notesSlide193.xml.rels>&#65279;<?xml version="1.0" encoding="utf-8"?><Relationships xmlns="http://schemas.openxmlformats.org/package/2006/relationships"><Relationship Type="http://schemas.openxmlformats.org/officeDocument/2006/relationships/slide" Target="/ppt/slides/slide193.xml" Id="R7399ccc3694342d2" /><Relationship Type="http://schemas.openxmlformats.org/officeDocument/2006/relationships/notesMaster" Target="/ppt/notesMasters/notesMaster1.xml" Id="R259074aa37164700" /></Relationships>
</file>

<file path=ppt/notesSlides/_rels/notesSlide194.xml.rels>&#65279;<?xml version="1.0" encoding="utf-8"?><Relationships xmlns="http://schemas.openxmlformats.org/package/2006/relationships"><Relationship Type="http://schemas.openxmlformats.org/officeDocument/2006/relationships/slide" Target="/ppt/slides/slide194.xml" Id="R57d07b9852b64178" /><Relationship Type="http://schemas.openxmlformats.org/officeDocument/2006/relationships/notesMaster" Target="/ppt/notesMasters/notesMaster1.xml" Id="Rcd926b44bd654b7f" /></Relationships>
</file>

<file path=ppt/notesSlides/_rels/notesSlide195.xml.rels>&#65279;<?xml version="1.0" encoding="utf-8"?><Relationships xmlns="http://schemas.openxmlformats.org/package/2006/relationships"><Relationship Type="http://schemas.openxmlformats.org/officeDocument/2006/relationships/slide" Target="/ppt/slides/slide195.xml" Id="R4e1c4349e9224d7e" /><Relationship Type="http://schemas.openxmlformats.org/officeDocument/2006/relationships/notesMaster" Target="/ppt/notesMasters/notesMaster1.xml" Id="R749f6e388bc1418a" /></Relationships>
</file>

<file path=ppt/notesSlides/_rels/notesSlide196.xml.rels>&#65279;<?xml version="1.0" encoding="utf-8"?><Relationships xmlns="http://schemas.openxmlformats.org/package/2006/relationships"><Relationship Type="http://schemas.openxmlformats.org/officeDocument/2006/relationships/slide" Target="/ppt/slides/slide196.xml" Id="Rc3693f80ce4446e4" /><Relationship Type="http://schemas.openxmlformats.org/officeDocument/2006/relationships/notesMaster" Target="/ppt/notesMasters/notesMaster1.xml" Id="R03484042addc4185" /></Relationships>
</file>

<file path=ppt/notesSlides/_rels/notesSlide197.xml.rels>&#65279;<?xml version="1.0" encoding="utf-8"?><Relationships xmlns="http://schemas.openxmlformats.org/package/2006/relationships"><Relationship Type="http://schemas.openxmlformats.org/officeDocument/2006/relationships/slide" Target="/ppt/slides/slide197.xml" Id="R50a7161749234b9c" /><Relationship Type="http://schemas.openxmlformats.org/officeDocument/2006/relationships/notesMaster" Target="/ppt/notesMasters/notesMaster1.xml" Id="R58bea99b544943df" /></Relationships>
</file>

<file path=ppt/notesSlides/_rels/notesSlide198.xml.rels>&#65279;<?xml version="1.0" encoding="utf-8"?><Relationships xmlns="http://schemas.openxmlformats.org/package/2006/relationships"><Relationship Type="http://schemas.openxmlformats.org/officeDocument/2006/relationships/slide" Target="/ppt/slides/slide198.xml" Id="R5954c8dcc62b490c" /><Relationship Type="http://schemas.openxmlformats.org/officeDocument/2006/relationships/notesMaster" Target="/ppt/notesMasters/notesMaster1.xml" Id="Rcc10729c5d87438d" /></Relationships>
</file>

<file path=ppt/notesSlides/_rels/notesSlide199.xml.rels>&#65279;<?xml version="1.0" encoding="utf-8"?><Relationships xmlns="http://schemas.openxmlformats.org/package/2006/relationships"><Relationship Type="http://schemas.openxmlformats.org/officeDocument/2006/relationships/slide" Target="/ppt/slides/slide199.xml" Id="Rc7269a0b686e44ba" /><Relationship Type="http://schemas.openxmlformats.org/officeDocument/2006/relationships/notesMaster" Target="/ppt/notesMasters/notesMaster1.xml" Id="R33174bb6ae2646f7" /></Relationships>
</file>

<file path=ppt/notesSlides/_rels/notesSlide200.xml.rels>&#65279;<?xml version="1.0" encoding="utf-8"?><Relationships xmlns="http://schemas.openxmlformats.org/package/2006/relationships"><Relationship Type="http://schemas.openxmlformats.org/officeDocument/2006/relationships/slide" Target="/ppt/slides/slide200.xml" Id="R6566b3d633454967" /><Relationship Type="http://schemas.openxmlformats.org/officeDocument/2006/relationships/notesMaster" Target="/ppt/notesMasters/notesMaster1.xml" Id="R9c4bcbbdf9c944f7" /></Relationships>
</file>

<file path=ppt/notesSlides/_rels/notesSlide201.xml.rels>&#65279;<?xml version="1.0" encoding="utf-8"?><Relationships xmlns="http://schemas.openxmlformats.org/package/2006/relationships"><Relationship Type="http://schemas.openxmlformats.org/officeDocument/2006/relationships/slide" Target="/ppt/slides/slide201.xml" Id="Rcaf3e3a8a2dc4046" /><Relationship Type="http://schemas.openxmlformats.org/officeDocument/2006/relationships/notesMaster" Target="/ppt/notesMasters/notesMaster1.xml" Id="R3bfccc78311440e9" /></Relationships>
</file>

<file path=ppt/notesSlides/_rels/notesSlide202.xml.rels>&#65279;<?xml version="1.0" encoding="utf-8"?><Relationships xmlns="http://schemas.openxmlformats.org/package/2006/relationships"><Relationship Type="http://schemas.openxmlformats.org/officeDocument/2006/relationships/slide" Target="/ppt/slides/slide202.xml" Id="Rbd1b663ec20c4d7c" /><Relationship Type="http://schemas.openxmlformats.org/officeDocument/2006/relationships/notesMaster" Target="/ppt/notesMasters/notesMaster1.xml" Id="Rca10e51f41054930" /></Relationships>
</file>

<file path=ppt/notesSlides/_rels/notesSlide203.xml.rels>&#65279;<?xml version="1.0" encoding="utf-8"?><Relationships xmlns="http://schemas.openxmlformats.org/package/2006/relationships"><Relationship Type="http://schemas.openxmlformats.org/officeDocument/2006/relationships/slide" Target="/ppt/slides/slide203.xml" Id="R4498e33e308d4791" /><Relationship Type="http://schemas.openxmlformats.org/officeDocument/2006/relationships/notesMaster" Target="/ppt/notesMasters/notesMaster1.xml" Id="Ra14b662418d34b94" /></Relationships>
</file>

<file path=ppt/notesSlides/_rels/notesSlide204.xml.rels>&#65279;<?xml version="1.0" encoding="utf-8"?><Relationships xmlns="http://schemas.openxmlformats.org/package/2006/relationships"><Relationship Type="http://schemas.openxmlformats.org/officeDocument/2006/relationships/slide" Target="/ppt/slides/slide204.xml" Id="R320e5f39c6e643ad" /><Relationship Type="http://schemas.openxmlformats.org/officeDocument/2006/relationships/notesMaster" Target="/ppt/notesMasters/notesMaster1.xml" Id="Rfe57f4ea6f93402d" /></Relationships>
</file>

<file path=ppt/notesSlides/_rels/notesSlide205.xml.rels>&#65279;<?xml version="1.0" encoding="utf-8"?><Relationships xmlns="http://schemas.openxmlformats.org/package/2006/relationships"><Relationship Type="http://schemas.openxmlformats.org/officeDocument/2006/relationships/slide" Target="/ppt/slides/slide205.xml" Id="Rfc95446dd30345a2" /><Relationship Type="http://schemas.openxmlformats.org/officeDocument/2006/relationships/notesMaster" Target="/ppt/notesMasters/notesMaster1.xml" Id="Rac59c28516c146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https://docarcshot.github.io/id-practice-update/lectures/Antifungals_Practical_Primer_Resident_Fellow.html</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Before prescribing This primer covers antifungal selection, administration, adverse effects, and monitoring. The resident section is designed for a 30-45 minute discussion, followed by additional pharmacology and evidence for fellows. Resident core Recognize the major coverage gaps, choose a formulation and route, identify toxicities, and arrange monitoring. Fellow section Interpret exposure and susceptibility together, distinguish CSF from brain tissue concentrations, and evaluate the evidence for newer agents. Jump to fellow section Review the diagnosis, likely organism, severity, infection site, source control, prior antifungal exposure, and drug interactions. Candida from respiratory secretions usually represents colonization; a respiratory isolate alone does not establish invasive disease. [1] A susceptible isolate may still require a different drug because of poor urine, CSF, or vitreous exposure. Abscesses and infected devices also require source control. 1 Coverage and species 2 Drug selection and delivery 3 Toxicity and drug levels 4 Bedside decisions</a:t>
            </a:r>
          </a:p>
          <a:p xmlns:a="http://schemas.openxmlformats.org/drawingml/2006/main">
            <a:r>
              <a:t/>
            </a:r>
          </a:p>
          <a:p xmlns:a="http://schemas.openxmlformats.org/drawingml/2006/main">
            <a:r>
              <a:t>Module section: https://docarcshot.github.io/id-practice-update/lectures/Antifungals_Practical_Primer_Resident_Fellow.html#start</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Before prescribing This primer covers antifungal selection, administration, adverse effects, and monitoring. The resident section is designed for a 30-45 minute discussion, followed by additional pharmacology and evidence for fellows. Resident core Recognize the major coverage gaps, choose a formulation and route, identify toxicities, and arrange monitoring. Fellow section Interpret exposure and susceptibility together, distinguish CSF from brain tissue concentrations, and evaluate the evidence for newer agents. Jump to fellow section Review the diagnosis, likely organism, severity, infection site, source control, prior antifungal exposure, and drug interactions. Candida from respiratory secretions usually represents colonization; a respiratory isolate alone does not establish invasive disease. [1] A susceptible isolate may still require a different drug because of poor urine, CSF, or vitreous exposure. Abscesses and infected devices also require source control. 1 Coverage and species 2 Drug selection and delivery 3 Toxicity and drug levels 4 Bedside decisions</a:t>
            </a:r>
          </a:p>
          <a:p xmlns:a="http://schemas.openxmlformats.org/drawingml/2006/main">
            <a:r>
              <a:t/>
            </a:r>
          </a:p>
          <a:p xmlns:a="http://schemas.openxmlformats.org/drawingml/2006/main">
            <a:r>
              <a:t>Module section: https://docarcshot.github.io/id-practice-update/lectures/Antifungals_Practical_Primer_Resident_Fellow.html#start</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Before prescribing This primer covers antifungal selection, administration, adverse effects, and monitoring. The resident section is designed for a 30-45 minute discussion, followed by additional pharmacology and evidence for fellows. Resident core Recognize the major coverage gaps, choose a formulation and route, identify toxicities, and arrange monitoring. Fellow section Interpret exposure and susceptibility together, distinguish CSF from brain tissue concentrations, and evaluate the evidence for newer agents. Jump to fellow section Review the diagnosis, likely organism, severity, infection site, source control, prior antifungal exposure, and drug interactions. Candida from respiratory secretions usually represents colonization; a respiratory isolate alone does not establish invasive disease. [1] A susceptible isolate may still require a different drug because of poor urine, CSF, or vitreous exposure. Abscesses and infected devices also require source control. 1 Coverage and species 2 Drug selection and delivery 3 Toxicity and drug levels 4 Bedside decisions</a:t>
            </a:r>
          </a:p>
          <a:p xmlns:a="http://schemas.openxmlformats.org/drawingml/2006/main">
            <a:r>
              <a:t/>
            </a:r>
          </a:p>
          <a:p xmlns:a="http://schemas.openxmlformats.org/drawingml/2006/main">
            <a:r>
              <a:t>Module section: https://docarcshot.github.io/id-practice-update/lectures/Antifungals_Practical_Primer_Resident_Fellow.html#start</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Antifungal classes and mechanisms Mechanisms of action Class Target Bedside implication Triazoles Inhibit fungal lanosterol 14-alpha-demethylase (CYP51), reducing ergosterol synthesis. Spectrum and human CYP interactions differ substantially within the class. Fluconazole lacks Aspergillus and Mucorales activity. Echinocandins Inhibit beta-1,3-D-glucan synthase in the cell wall. Active against many Candida species. Aspergillus activity does not make micafungin standard primary monotherapy for invasive aspergillosis. No useful Cryptococcus or Mucorales coverage. Amphotericin B Binds ergosterol and disrupts fungal membranes. Broad yeast and mold activity, with clinically important resistant species. Formulation determines toxicity and distribution. Flucytosine Converted within fungal cells into metabolites that interfere with RNA and DNA synthesis. Good CNS entry; rapid resistance with monotherapy limits its role to selected combination regimens. [4] [2] [11] [19] Coverage of echinocandins, polyenes, and flucytosine Class and example drug Yeast role Mold role Coverage pitfall Echinocandin: micafungin (Mycamine) Initial Candida treatment, including many azole-resistant isolates. Aspergillus salvage or selected combination use. No useful Cryptococcus or Mucorales activity. Trichosporon is another important gap. Polyene: liposomal amphotericin B (AmBisome) Candida and Cryptococcus treatment roles. Aspergillus and Mucorales activity. A. terreus commonly has amphotericin resistance; rare molds need species-specific evaluation. Antimetabolite: flucytosine (Ancobon) Selected Candida and Cryptococcus combinations. Not a broad mold drug. Do not use as routine monotherapy. [1] [2] [19] [11]</a:t>
            </a:r>
          </a:p>
          <a:p xmlns:a="http://schemas.openxmlformats.org/drawingml/2006/main">
            <a:r>
              <a:t/>
            </a:r>
          </a:p>
          <a:p xmlns:a="http://schemas.openxmlformats.org/drawingml/2006/main">
            <a:r>
              <a:t>Module section: https://docarcshot.github.io/id-practice-update/lectures/Antifungals_Practical_Primer_Resident_Fellow.html#mechanisms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Antifungal classes and mechanisms Mechanisms of action Class Target Bedside implication Triazoles Inhibit fungal lanosterol 14-alpha-demethylase (CYP51), reducing ergosterol synthesis. Spectrum and human CYP interactions differ substantially within the class. Fluconazole lacks Aspergillus and Mucorales activity. Echinocandins Inhibit beta-1,3-D-glucan synthase in the cell wall. Active against many Candida species. Aspergillus activity does not make micafungin standard primary monotherapy for invasive aspergillosis. No useful Cryptococcus or Mucorales coverage. Amphotericin B Binds ergosterol and disrupts fungal membranes. Broad yeast and mold activity, with clinically important resistant species. Formulation determines toxicity and distribution. Flucytosine Converted within fungal cells into metabolites that interfere with RNA and DNA synthesis. Good CNS entry; rapid resistance with monotherapy limits its role to selected combination regimens. [4] [2] [11] [19] Coverage of echinocandins, polyenes, and flucytosine Class and example drug Yeast role Mold role Coverage pitfall Echinocandin: micafungin (Mycamine) Initial Candida treatment, including many azole-resistant isolates. Aspergillus salvage or selected combination use. No useful Cryptococcus or Mucorales activity. Trichosporon is another important gap. Polyene: liposomal amphotericin B (AmBisome) Candida and Cryptococcus treatment roles. Aspergillus and Mucorales activity. A. terreus commonly has amphotericin resistance; rare molds need species-specific evaluation. Antimetabolite: flucytosine (Ancobon) Selected Candida and Cryptococcus combinations. Not a broad mold drug. Do not use as routine monotherapy. [1] [2] [19] [11]</a:t>
            </a:r>
          </a:p>
          <a:p xmlns:a="http://schemas.openxmlformats.org/drawingml/2006/main">
            <a:r>
              <a:t/>
            </a:r>
          </a:p>
          <a:p xmlns:a="http://schemas.openxmlformats.org/drawingml/2006/main">
            <a:r>
              <a:t>Module section: https://docarcshot.github.io/id-practice-update/lectures/Antifungals_Practical_Primer_Resident_Fellow.html#mechanisms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Antifungal classes and mechanisms Mechanisms of action Class Target Bedside implication Triazoles Inhibit fungal lanosterol 14-alpha-demethylase (CYP51), reducing ergosterol synthesis. Spectrum and human CYP interactions differ substantially within the class. Fluconazole lacks Aspergillus and Mucorales activity. Echinocandins Inhibit beta-1,3-D-glucan synthase in the cell wall. Active against many Candida species. Aspergillus activity does not make micafungin standard primary monotherapy for invasive aspergillosis. No useful Cryptococcus or Mucorales coverage. Amphotericin B Binds ergosterol and disrupts fungal membranes. Broad yeast and mold activity, with clinically important resistant species. Formulation determines toxicity and distribution. Flucytosine Converted within fungal cells into metabolites that interfere with RNA and DNA synthesis. Good CNS entry; rapid resistance with monotherapy limits its role to selected combination regimens. [4] [2] [11] [19] Coverage of echinocandins, polyenes, and flucytosine Class and example drug Yeast role Mold role Coverage pitfall Echinocandin: micafungin (Mycamine) Initial Candida treatment, including many azole-resistant isolates. Aspergillus salvage or selected combination use. No useful Cryptococcus or Mucorales activity. Trichosporon is another important gap. Polyene: liposomal amphotericin B (AmBisome) Candida and Cryptococcus treatment roles. Aspergillus and Mucorales activity. A. terreus commonly has amphotericin resistance; rare molds need species-specific evaluation. Antimetabolite: flucytosine (Ancobon) Selected Candida and Cryptococcus combinations. Not a broad mold drug. Do not use as routine monotherapy. [1] [2] [19] [11]</a:t>
            </a:r>
          </a:p>
          <a:p xmlns:a="http://schemas.openxmlformats.org/drawingml/2006/main">
            <a:r>
              <a:t/>
            </a:r>
          </a:p>
          <a:p xmlns:a="http://schemas.openxmlformats.org/drawingml/2006/main">
            <a:r>
              <a:t>Module section: https://docarcshot.github.io/id-practice-update/lectures/Antifungals_Practical_Primer_Resident_Fellow.html#mechanisms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Antifungal classes and mechanisms Mechanisms of action Class Target Bedside implication Triazoles Inhibit fungal lanosterol 14-alpha-demethylase (CYP51), reducing ergosterol synthesis. Spectrum and human CYP interactions differ substantially within the class. Fluconazole lacks Aspergillus and Mucorales activity. Echinocandins Inhibit beta-1,3-D-glucan synthase in the cell wall. Active against many Candida species. Aspergillus activity does not make micafungin standard primary monotherapy for invasive aspergillosis. No useful Cryptococcus or Mucorales coverage. Amphotericin B Binds ergosterol and disrupts fungal membranes. Broad yeast and mold activity, with clinically important resistant species. Formulation determines toxicity and distribution. Flucytosine Converted within fungal cells into metabolites that interfere with RNA and DNA synthesis. Good CNS entry; rapid resistance with monotherapy limits its role to selected combination regimens. [4] [2] [11] [19] Coverage of echinocandins, polyenes, and flucytosine Class and example drug Yeast role Mold role Coverage pitfall Echinocandin: micafungin (Mycamine) Initial Candida treatment, including many azole-resistant isolates. Aspergillus salvage or selected combination use. No useful Cryptococcus or Mucorales activity. Trichosporon is another important gap. Polyene: liposomal amphotericin B (AmBisome) Candida and Cryptococcus treatment roles. Aspergillus and Mucorales activity. A. terreus commonly has amphotericin resistance; rare molds need species-specific evaluation. Antimetabolite: flucytosine (Ancobon) Selected Candida and Cryptococcus combinations. Not a broad mold drug. Do not use as routine monotherapy. [1] [2] [19] [11]</a:t>
            </a:r>
          </a:p>
          <a:p xmlns:a="http://schemas.openxmlformats.org/drawingml/2006/main">
            <a:r>
              <a:t/>
            </a:r>
          </a:p>
          <a:p xmlns:a="http://schemas.openxmlformats.org/drawingml/2006/main">
            <a:r>
              <a:t>Module section: https://docarcshot.github.io/id-practice-update/lectures/Antifungals_Practical_Primer_Resident_Fellow.html#mechanisms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Antifungal classes and mechanisms Mechanisms of action Class Target Bedside implication Triazoles Inhibit fungal lanosterol 14-alpha-demethylase (CYP51), reducing ergosterol synthesis. Spectrum and human CYP interactions differ substantially within the class. Fluconazole lacks Aspergillus and Mucorales activity. Echinocandins Inhibit beta-1,3-D-glucan synthase in the cell wall. Active against many Candida species. Aspergillus activity does not make micafungin standard primary monotherapy for invasive aspergillosis. No useful Cryptococcus or Mucorales coverage. Amphotericin B Binds ergosterol and disrupts fungal membranes. Broad yeast and mold activity, with clinically important resistant species. Formulation determines toxicity and distribution. Flucytosine Converted within fungal cells into metabolites that interfere with RNA and DNA synthesis. Good CNS entry; rapid resistance with monotherapy limits its role to selected combination regimens. [4] [2] [11] [19] Coverage of echinocandins, polyenes, and flucytosine Class and example drug Yeast role Mold role Coverage pitfall Echinocandin: micafungin (Mycamine) Initial Candida treatment, including many azole-resistant isolates. Aspergillus salvage or selected combination use. No useful Cryptococcus or Mucorales activity. Trichosporon is another important gap. Polyene: liposomal amphotericin B (AmBisome) Candida and Cryptococcus treatment roles. Aspergillus and Mucorales activity. A. terreus commonly has amphotericin resistance; rare molds need species-specific evaluation. Antimetabolite: flucytosine (Ancobon) Selected Candida and Cryptococcus combinations. Not a broad mold drug. Do not use as routine monotherapy. [1] [2] [19] [11]</a:t>
            </a:r>
          </a:p>
          <a:p xmlns:a="http://schemas.openxmlformats.org/drawingml/2006/main">
            <a:r>
              <a:t/>
            </a:r>
          </a:p>
          <a:p xmlns:a="http://schemas.openxmlformats.org/drawingml/2006/main">
            <a:r>
              <a:t>Module section: https://docarcshot.github.io/id-practice-update/lectures/Antifungals_Practical_Primer_Resident_Fellow.html#mechanisms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Antifungal classes and mechanisms Mechanisms of action Class Target Bedside implication Triazoles Inhibit fungal lanosterol 14-alpha-demethylase (CYP51), reducing ergosterol synthesis. Spectrum and human CYP interactions differ substantially within the class. Fluconazole lacks Aspergillus and Mucorales activity. Echinocandins Inhibit beta-1,3-D-glucan synthase in the cell wall. Active against many Candida species. Aspergillus activity does not make micafungin standard primary monotherapy for invasive aspergillosis. No useful Cryptococcus or Mucorales coverage. Amphotericin B Binds ergosterol and disrupts fungal membranes. Broad yeast and mold activity, with clinically important resistant species. Formulation determines toxicity and distribution. Flucytosine Converted within fungal cells into metabolites that interfere with RNA and DNA synthesis. Good CNS entry; rapid resistance with monotherapy limits its role to selected combination regimens. [4] [2] [11] [19] Coverage of echinocandins, polyenes, and flucytosine Class and example drug Yeast role Mold role Coverage pitfall Echinocandin: micafungin (Mycamine) Initial Candida treatment, including many azole-resistant isolates. Aspergillus salvage or selected combination use. No useful Cryptococcus or Mucorales activity. Trichosporon is another important gap. Polyene: liposomal amphotericin B (AmBisome) Candida and Cryptococcus treatment roles. Aspergillus and Mucorales activity. A. terreus commonly has amphotericin resistance; rare molds need species-specific evaluation. Antimetabolite: flucytosine (Ancobon) Selected Candida and Cryptococcus combinations. Not a broad mold drug. Do not use as routine monotherapy. [1] [2] [19] [11]</a:t>
            </a:r>
          </a:p>
          <a:p xmlns:a="http://schemas.openxmlformats.org/drawingml/2006/main">
            <a:r>
              <a:t/>
            </a:r>
          </a:p>
          <a:p xmlns:a="http://schemas.openxmlformats.org/drawingml/2006/main">
            <a:r>
              <a:t>Module section: https://docarcshot.github.io/id-practice-update/lectures/Antifungals_Practical_Primer_Resident_Fellow.html#mechanisms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Antifungal classes and mechanisms Mechanisms of action Class Target Bedside implication Triazoles Inhibit fungal lanosterol 14-alpha-demethylase (CYP51), reducing ergosterol synthesis. Spectrum and human CYP interactions differ substantially within the class. Fluconazole lacks Aspergillus and Mucorales activity. Echinocandins Inhibit beta-1,3-D-glucan synthase in the cell wall. Active against many Candida species. Aspergillus activity does not make micafungin standard primary monotherapy for invasive aspergillosis. No useful Cryptococcus or Mucorales coverage. Amphotericin B Binds ergosterol and disrupts fungal membranes. Broad yeast and mold activity, with clinically important resistant species. Formulation determines toxicity and distribution. Flucytosine Converted within fungal cells into metabolites that interfere with RNA and DNA synthesis. Good CNS entry; rapid resistance with monotherapy limits its role to selected combination regimens. [4] [2] [11] [19] Coverage of echinocandins, polyenes, and flucytosine Class and example drug Yeast role Mold role Coverage pitfall Echinocandin: micafungin (Mycamine) Initial Candida treatment, including many azole-resistant isolates. Aspergillus salvage or selected combination use. No useful Cryptococcus or Mucorales activity. Trichosporon is another important gap. Polyene: liposomal amphotericin B (AmBisome) Candida and Cryptococcus treatment roles. Aspergillus and Mucorales activity. A. terreus commonly has amphotericin resistance; rare molds need species-specific evaluation. Antimetabolite: flucytosine (Ancobon) Selected Candida and Cryptococcus combinations. Not a broad mold drug. Do not use as routine monotherapy. [1] [2] [19] [11]</a:t>
            </a:r>
          </a:p>
          <a:p xmlns:a="http://schemas.openxmlformats.org/drawingml/2006/main">
            <a:r>
              <a:t/>
            </a:r>
          </a:p>
          <a:p xmlns:a="http://schemas.openxmlformats.org/drawingml/2006/main">
            <a:r>
              <a:t>Module section: https://docarcshot.github.io/id-practice-update/lectures/Antifungals_Practical_Primer_Resident_Fellow.html#mechanisms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Antifungal classes and mechanisms Mechanisms of action Class Target Bedside implication Triazoles Inhibit fungal lanosterol 14-alpha-demethylase (CYP51), reducing ergosterol synthesis. Spectrum and human CYP interactions differ substantially within the class. Fluconazole lacks Aspergillus and Mucorales activity. Echinocandins Inhibit beta-1,3-D-glucan synthase in the cell wall. Active against many Candida species. Aspergillus activity does not make micafungin standard primary monotherapy for invasive aspergillosis. No useful Cryptococcus or Mucorales coverage. Amphotericin B Binds ergosterol and disrupts fungal membranes. Broad yeast and mold activity, with clinically important resistant species. Formulation determines toxicity and distribution. Flucytosine Converted within fungal cells into metabolites that interfere with RNA and DNA synthesis. Good CNS entry; rapid resistance with monotherapy limits its role to selected combination regimens. [4] [2] [11] [19] Coverage of echinocandins, polyenes, and flucytosine Class and example drug Yeast role Mold role Coverage pitfall Echinocandin: micafungin (Mycamine) Initial Candida treatment, including many azole-resistant isolates. Aspergillus salvage or selected combination use. No useful Cryptococcus or Mucorales activity. Trichosporon is another important gap. Polyene: liposomal amphotericin B (AmBisome) Candida and Cryptococcus treatment roles. Aspergillus and Mucorales activity. A. terreus commonly has amphotericin resistance; rare molds need species-specific evaluation. Antimetabolite: flucytosine (Ancobon) Selected Candida and Cryptococcus combinations. Not a broad mold drug. Do not use as routine monotherapy. [1] [2] [19] [11]</a:t>
            </a:r>
          </a:p>
          <a:p xmlns:a="http://schemas.openxmlformats.org/drawingml/2006/main">
            <a:r>
              <a:t/>
            </a:r>
          </a:p>
          <a:p xmlns:a="http://schemas.openxmlformats.org/drawingml/2006/main">
            <a:r>
              <a:t>Module section: https://docarcshot.github.io/id-practice-update/lectures/Antifungals_Practical_Primer_Resident_Fellow.html#mechanisms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Antifungal classes and mechanisms Mechanisms of action Class Target Bedside implication Triazoles Inhibit fungal lanosterol 14-alpha-demethylase (CYP51), reducing ergosterol synthesis. Spectrum and human CYP interactions differ substantially within the class. Fluconazole lacks Aspergillus and Mucorales activity. Echinocandins Inhibit beta-1,3-D-glucan synthase in the cell wall. Active against many Candida species. Aspergillus activity does not make micafungin standard primary monotherapy for invasive aspergillosis. No useful Cryptococcus or Mucorales coverage. Amphotericin B Binds ergosterol and disrupts fungal membranes. Broad yeast and mold activity, with clinically important resistant species. Formulation determines toxicity and distribution. Flucytosine Converted within fungal cells into metabolites that interfere with RNA and DNA synthesis. Good CNS entry; rapid resistance with monotherapy limits its role to selected combination regimens. [4] [2] [11] [19] Coverage of echinocandins, polyenes, and flucytosine Class and example drug Yeast role Mold role Coverage pitfall Echinocandin: micafungin (Mycamine) Initial Candida treatment, including many azole-resistant isolates. Aspergillus salvage or selected combination use. No useful Cryptococcus or Mucorales activity. Trichosporon is another important gap. Polyene: liposomal amphotericin B (AmBisome) Candida and Cryptococcus treatment roles. Aspergillus and Mucorales activity. A. terreus commonly has amphotericin resistance; rare molds need species-specific evaluation. Antimetabolite: flucytosine (Ancobon) Selected Candida and Cryptococcus combinations. Not a broad mold drug. Do not use as routine monotherapy. [1] [2] [19] [11]</a:t>
            </a:r>
          </a:p>
          <a:p xmlns:a="http://schemas.openxmlformats.org/drawingml/2006/main">
            <a:r>
              <a:t/>
            </a:r>
          </a:p>
          <a:p xmlns:a="http://schemas.openxmlformats.org/drawingml/2006/main">
            <a:r>
              <a:t>Module section: https://docarcshot.github.io/id-practice-update/lectures/Antifungals_Practical_Primer_Resident_Fellow.html#mechanisms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spectrum Azoles are listed by first U.S. approval year. Later agents retain yeast activity while adding coverage of some molds. Species, resistance, and the clinical indication determine which drug is appropriate. Azole coverage across yeasts and opportunistic molds Azole / approval Candida Cryptococcus Aspergillus Dematiaceous molds Mucorales Fluconazole 1990 Active* Standard* No Unreliable No Itraconazole 1992 Active* Alternative* Active* Many species* Unreliable Voriconazole 2002 Active* Salvage* Active* Many species* No Posaconazole 2006 Active* Salvage* Active* Many species* Active* Isavuconazole 2015 In vitro* Salvage* Active* Variable; limited data* Active* Green Established activity or a usual clinical role in the specified setting. Amber Alternative/salvage use, reduced effectiveness, or limited clinical evidence. Red Absent or unreliable coverage. *See the organism-specific notes and susceptibility table. Cryptococcus : fluconazole has established roles in selected pulmonary disease and in consolidation/maintenance after appropriate induction. CNS or disseminated disease usually requires an amphotericin-based induction regimen with flucytosine. Itraconazole is an inferior consolidation alternative; voriconazole, posaconazole, and isavuconazole are selected alternatives or salvage agents with much less evidence. [37] [38] Suspected invasive mold disease while receiving voriconazole prophylaxis requires consideration of Mucorales, resistant Aspergillus, inadequate exposure, and other molds. Increasing the voriconazole dose does not add Mucorales activity. Aspergillus azole resistance may affect several agents; susceptibility testing should guide a change within the class.</a:t>
            </a:r>
          </a:p>
          <a:p xmlns:a="http://schemas.openxmlformats.org/drawingml/2006/main">
            <a:r>
              <a:t/>
            </a:r>
          </a:p>
          <a:p xmlns:a="http://schemas.openxmlformats.org/drawingml/2006/main">
            <a:r>
              <a:t>Module section: https://docarcshot.github.io/id-practice-update/lectures/Antifungals_Practical_Primer_Resident_Fellow.html#coverage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spectrum Azoles are listed by first U.S. approval year. Later agents retain yeast activity while adding coverage of some molds. Species, resistance, and the clinical indication determine which drug is appropriate. Azole coverage across yeasts and opportunistic molds Azole / approval Candida Cryptococcus Aspergillus Dematiaceous molds Mucorales Fluconazole 1990 Active* Standard* No Unreliable No Itraconazole 1992 Active* Alternative* Active* Many species* Unreliable Voriconazole 2002 Active* Salvage* Active* Many species* No Posaconazole 2006 Active* Salvage* Active* Many species* Active* Isavuconazole 2015 In vitro* Salvage* Active* Variable; limited data* Active* Green Established activity or a usual clinical role in the specified setting. Amber Alternative/salvage use, reduced effectiveness, or limited clinical evidence. Red Absent or unreliable coverage. *See the organism-specific notes and susceptibility table. Cryptococcus : fluconazole has established roles in selected pulmonary disease and in consolidation/maintenance after appropriate induction. CNS or disseminated disease usually requires an amphotericin-based induction regimen with flucytosine. Itraconazole is an inferior consolidation alternative; voriconazole, posaconazole, and isavuconazole are selected alternatives or salvage agents with much less evidence. [37] [38] Suspected invasive mold disease while receiving voriconazole prophylaxis requires consideration of Mucorales, resistant Aspergillus, inadequate exposure, and other molds. Increasing the voriconazole dose does not add Mucorales activity. Aspergillus azole resistance may affect several agents; susceptibility testing should guide a change within the class.</a:t>
            </a:r>
          </a:p>
          <a:p xmlns:a="http://schemas.openxmlformats.org/drawingml/2006/main">
            <a:r>
              <a:t/>
            </a:r>
          </a:p>
          <a:p xmlns:a="http://schemas.openxmlformats.org/drawingml/2006/main">
            <a:r>
              <a:t>Module section: https://docarcshot.github.io/id-practice-update/lectures/Antifungals_Practical_Primer_Resident_Fellow.html#azole-spectrum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spectrum Azoles are listed by first U.S. approval year. Later agents retain yeast activity while adding coverage of some molds. Species, resistance, and the clinical indication determine which drug is appropriate. Azole coverage across yeasts and opportunistic molds Azole / approval Candida Cryptococcus Aspergillus Dematiaceous molds Mucorales Fluconazole 1990 Active* Standard* No Unreliable No Itraconazole 1992 Active* Alternative* Active* Many species* Unreliable Voriconazole 2002 Active* Salvage* Active* Many species* No Posaconazole 2006 Active* Salvage* Active* Many species* Active* Isavuconazole 2015 In vitro* Salvage* Active* Variable; limited data* Active* Green Established activity or a usual clinical role in the specified setting. Amber Alternative/salvage use, reduced effectiveness, or limited clinical evidence. Red Absent or unreliable coverage. *See the organism-specific notes and susceptibility table. Cryptococcus : fluconazole has established roles in selected pulmonary disease and in consolidation/maintenance after appropriate induction. CNS or disseminated disease usually requires an amphotericin-based induction regimen with flucytosine. Itraconazole is an inferior consolidation alternative; voriconazole, posaconazole, and isavuconazole are selected alternatives or salvage agents with much less evidence. [37] [38] Suspected invasive mold disease while receiving voriconazole prophylaxis requires consideration of Mucorales, resistant Aspergillus, inadequate exposure, and other molds. Increasing the voriconazole dose does not add Mucorales activity. Aspergillus azole resistance may affect several agents; susceptibility testing should guide a change within the class.</a:t>
            </a:r>
          </a:p>
          <a:p xmlns:a="http://schemas.openxmlformats.org/drawingml/2006/main">
            <a:r>
              <a:t/>
            </a:r>
          </a:p>
          <a:p xmlns:a="http://schemas.openxmlformats.org/drawingml/2006/main">
            <a:r>
              <a:t>Module section: https://docarcshot.github.io/id-practice-update/lectures/Antifungals_Practical_Primer_Resident_Fellow.html#azole-spectrum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spectrum Azoles are listed by first U.S. approval year. Later agents retain yeast activity while adding coverage of some molds. Species, resistance, and the clinical indication determine which drug is appropriate. Azole coverage across yeasts and opportunistic molds Azole / approval Candida Cryptococcus Aspergillus Dematiaceous molds Mucorales Fluconazole 1990 Active* Standard* No Unreliable No Itraconazole 1992 Active* Alternative* Active* Many species* Unreliable Voriconazole 2002 Active* Salvage* Active* Many species* No Posaconazole 2006 Active* Salvage* Active* Many species* Active* Isavuconazole 2015 In vitro* Salvage* Active* Variable; limited data* Active* Green Established activity or a usual clinical role in the specified setting. Amber Alternative/salvage use, reduced effectiveness, or limited clinical evidence. Red Absent or unreliable coverage. *See the organism-specific notes and susceptibility table. Cryptococcus : fluconazole has established roles in selected pulmonary disease and in consolidation/maintenance after appropriate induction. CNS or disseminated disease usually requires an amphotericin-based induction regimen with flucytosine. Itraconazole is an inferior consolidation alternative; voriconazole, posaconazole, and isavuconazole are selected alternatives or salvage agents with much less evidence. [37] [38] Suspected invasive mold disease while receiving voriconazole prophylaxis requires consideration of Mucorales, resistant Aspergillus, inadequate exposure, and other molds. Increasing the voriconazole dose does not add Mucorales activity. Aspergillus azole resistance may affect several agents; susceptibility testing should guide a change within the class.</a:t>
            </a:r>
          </a:p>
          <a:p xmlns:a="http://schemas.openxmlformats.org/drawingml/2006/main">
            <a:r>
              <a:t/>
            </a:r>
          </a:p>
          <a:p xmlns:a="http://schemas.openxmlformats.org/drawingml/2006/main">
            <a:r>
              <a:t>Module section: https://docarcshot.github.io/id-practice-update/lectures/Antifungals_Practical_Primer_Resident_Fellow.html#azole-spectrum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spectrum Azoles are listed by first U.S. approval year. Later agents retain yeast activity while adding coverage of some molds. Species, resistance, and the clinical indication determine which drug is appropriate. Azole coverage across yeasts and opportunistic molds Azole / approval Candida Cryptococcus Aspergillus Dematiaceous molds Mucorales Fluconazole 1990 Active* Standard* No Unreliable No Itraconazole 1992 Active* Alternative* Active* Many species* Unreliable Voriconazole 2002 Active* Salvage* Active* Many species* No Posaconazole 2006 Active* Salvage* Active* Many species* Active* Isavuconazole 2015 In vitro* Salvage* Active* Variable; limited data* Active* Green Established activity or a usual clinical role in the specified setting. Amber Alternative/salvage use, reduced effectiveness, or limited clinical evidence. Red Absent or unreliable coverage. *See the organism-specific notes and susceptibility table. Cryptococcus : fluconazole has established roles in selected pulmonary disease and in consolidation/maintenance after appropriate induction. CNS or disseminated disease usually requires an amphotericin-based induction regimen with flucytosine. Itraconazole is an inferior consolidation alternative; voriconazole, posaconazole, and isavuconazole are selected alternatives or salvage agents with much less evidence. [37] [38] Suspected invasive mold disease while receiving voriconazole prophylaxis requires consideration of Mucorales, resistant Aspergillus, inadequate exposure, and other molds. Increasing the voriconazole dose does not add Mucorales activity. Aspergillus azole resistance may affect several agents; susceptibility testing should guide a change within the class.</a:t>
            </a:r>
          </a:p>
          <a:p xmlns:a="http://schemas.openxmlformats.org/drawingml/2006/main">
            <a:r>
              <a:t/>
            </a:r>
          </a:p>
          <a:p xmlns:a="http://schemas.openxmlformats.org/drawingml/2006/main">
            <a:r>
              <a:t>Module section: https://docarcshot.github.io/id-practice-update/lectures/Antifungals_Practical_Primer_Resident_Fellow.html#azole-spectrum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spectrum Azoles are listed by first U.S. approval year. Later agents retain yeast activity while adding coverage of some molds. Species, resistance, and the clinical indication determine which drug is appropriate. Azole coverage across yeasts and opportunistic molds Azole / approval Candida Cryptococcus Aspergillus Dematiaceous molds Mucorales Fluconazole 1990 Active* Standard* No Unreliable No Itraconazole 1992 Active* Alternative* Active* Many species* Unreliable Voriconazole 2002 Active* Salvage* Active* Many species* No Posaconazole 2006 Active* Salvage* Active* Many species* Active* Isavuconazole 2015 In vitro* Salvage* Active* Variable; limited data* Active* Green Established activity or a usual clinical role in the specified setting. Amber Alternative/salvage use, reduced effectiveness, or limited clinical evidence. Red Absent or unreliable coverage. *See the organism-specific notes and susceptibility table. Cryptococcus : fluconazole has established roles in selected pulmonary disease and in consolidation/maintenance after appropriate induction. CNS or disseminated disease usually requires an amphotericin-based induction regimen with flucytosine. Itraconazole is an inferior consolidation alternative; voriconazole, posaconazole, and isavuconazole are selected alternatives or salvage agents with much less evidence. [37] [38] Suspected invasive mold disease while receiving voriconazole prophylaxis requires consideration of Mucorales, resistant Aspergillus, inadequate exposure, and other molds. Increasing the voriconazole dose does not add Mucorales activity. Aspergillus azole resistance may affect several agents; susceptibility testing should guide a change within the class.</a:t>
            </a:r>
          </a:p>
          <a:p xmlns:a="http://schemas.openxmlformats.org/drawingml/2006/main">
            <a:r>
              <a:t/>
            </a:r>
          </a:p>
          <a:p xmlns:a="http://schemas.openxmlformats.org/drawingml/2006/main">
            <a:r>
              <a:t>Module section: https://docarcshot.github.io/id-practice-update/lectures/Antifungals_Practical_Primer_Resident_Fellow.html#coverage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spectrum Azoles are listed by first U.S. approval year. Later agents retain yeast activity while adding coverage of some molds. Species, resistance, and the clinical indication determine which drug is appropriate. Azole coverage across yeasts and opportunistic molds Azole / approval Candida Cryptococcus Aspergillus Dematiaceous molds Mucorales Fluconazole 1990 Active* Standard* No Unreliable No Itraconazole 1992 Active* Alternative* Active* Many species* Unreliable Voriconazole 2002 Active* Salvage* Active* Many species* No Posaconazole 2006 Active* Salvage* Active* Many species* Active* Isavuconazole 2015 In vitro* Salvage* Active* Variable; limited data* Active* Green Established activity or a usual clinical role in the specified setting. Amber Alternative/salvage use, reduced effectiveness, or limited clinical evidence. Red Absent or unreliable coverage. *See the organism-specific notes and susceptibility table. Cryptococcus : fluconazole has established roles in selected pulmonary disease and in consolidation/maintenance after appropriate induction. CNS or disseminated disease usually requires an amphotericin-based induction regimen with flucytosine. Itraconazole is an inferior consolidation alternative; voriconazole, posaconazole, and isavuconazole are selected alternatives or salvage agents with much less evidence. [37] [38] Suspected invasive mold disease while receiving voriconazole prophylaxis requires consideration of Mucorales, resistant Aspergillus, inadequate exposure, and other molds. Increasing the voriconazole dose does not add Mucorales activity. Aspergillus azole resistance may affect several agents; susceptibility testing should guide a change within the class.</a:t>
            </a:r>
          </a:p>
          <a:p xmlns:a="http://schemas.openxmlformats.org/drawingml/2006/main">
            <a:r>
              <a:t/>
            </a:r>
          </a:p>
          <a:p xmlns:a="http://schemas.openxmlformats.org/drawingml/2006/main">
            <a:r>
              <a:t>Module section: https://docarcshot.github.io/id-practice-update/lectures/Antifungals_Practical_Primer_Resident_Fellow.html#coverage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spectrum Azoles are listed by first U.S. approval year. Later agents retain yeast activity while adding coverage of some molds. Species, resistance, and the clinical indication determine which drug is appropriate. Azole coverage across yeasts and opportunistic molds Azole / approval Candida Cryptococcus Aspergillus Dematiaceous molds Mucorales Fluconazole 1990 Active* Standard* No Unreliable No Itraconazole 1992 Active* Alternative* Active* Many species* Unreliable Voriconazole 2002 Active* Salvage* Active* Many species* No Posaconazole 2006 Active* Salvage* Active* Many species* Active* Isavuconazole 2015 In vitro* Salvage* Active* Variable; limited data* Active* Green Established activity or a usual clinical role in the specified setting. Amber Alternative/salvage use, reduced effectiveness, or limited clinical evidence. Red Absent or unreliable coverage. *See the organism-specific notes and susceptibility table. Cryptococcus : fluconazole has established roles in selected pulmonary disease and in consolidation/maintenance after appropriate induction. CNS or disseminated disease usually requires an amphotericin-based induction regimen with flucytosine. Itraconazole is an inferior consolidation alternative; voriconazole, posaconazole, and isavuconazole are selected alternatives or salvage agents with much less evidence. [37] [38] Suspected invasive mold disease while receiving voriconazole prophylaxis requires consideration of Mucorales, resistant Aspergillus, inadequate exposure, and other molds. Increasing the voriconazole dose does not add Mucorales activity. Aspergillus azole resistance may affect several agents; susceptibility testing should guide a change within the class.</a:t>
            </a:r>
          </a:p>
          <a:p xmlns:a="http://schemas.openxmlformats.org/drawingml/2006/main">
            <a:r>
              <a:t/>
            </a:r>
          </a:p>
          <a:p xmlns:a="http://schemas.openxmlformats.org/drawingml/2006/main">
            <a:r>
              <a:t>Module section: https://docarcshot.github.io/id-practice-update/lectures/Antifungals_Practical_Primer_Resident_Fellow.html#coverage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activity against endemic fungi Azole selection differs among Histoplasma, Blastomyces, and Coccidioides. The table applies when treatment is indicated. Severe disease may require amphotericin induction. Azole roles in selected endemic dimorphic infections Azole Histoplasma Blastomyces Coccidioides Fluconazole Less effective* Less effective* Standard* Itraconazole Preferred azole* Preferred azole* Standard* Voriconazole Not preferred; early mortality concern* [56] Alternative; CNS role* Salvage* Posaconazole Alternative* Limited/salvage* Salvage* Isavuconazole Limited data* Limited data* Alternative/salvage* Do not substitute voriconazole routinely for itraconazole in histoplasmosis Itraconazole remains the preferred azole. Voriconazole has antifungal activity against Histoplasma, but a retrospective comparison found higher early mortality with voriconazole. It should not be used as a routine substitute for itraconazole. [56] [12] [39] [40] [41] [42] Treatment considerations Coccidioides : fluconazole is a standard option, including for meningitis; itraconazole has established roles, particularly in selected nonmeningeal disease. Voriconazole, posaconazole, and isavuconazole have alternative/salvage experience. The fluconazole mold gap in the first table refers to molds such as Aspergillus and Mucorales, not to absence of activity against Coccidioides. [41] [42] Fellow teaching Dematiaceous molds</a:t>
            </a:r>
          </a:p>
          <a:p xmlns:a="http://schemas.openxmlformats.org/drawingml/2006/main">
            <a:r>
              <a:t/>
            </a:r>
          </a:p>
          <a:p xmlns:a="http://schemas.openxmlformats.org/drawingml/2006/main">
            <a:r>
              <a:t>Module section: https://docarcshot.github.io/id-practice-update/lectures/Antifungals_Practical_Primer_Resident_Fellow.html#endemic-coverage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activity against endemic fungi Azole selection differs among Histoplasma, Blastomyces, and Coccidioides. The table applies when treatment is indicated. Severe disease may require amphotericin induction. Azole roles in selected endemic dimorphic infections Azole Histoplasma Blastomyces Coccidioides Fluconazole Less effective* Less effective* Standard* Itraconazole Preferred azole* Preferred azole* Standard* Voriconazole Not preferred; early mortality concern* [56] Alternative; CNS role* Salvage* Posaconazole Alternative* Limited/salvage* Salvage* Isavuconazole Limited data* Limited data* Alternative/salvage* Do not substitute voriconazole routinely for itraconazole in histoplasmosis Itraconazole remains the preferred azole. Voriconazole has antifungal activity against Histoplasma, but a retrospective comparison found higher early mortality with voriconazole. It should not be used as a routine substitute for itraconazole. [56] [12] [39] [40] [41] [42] Treatment considerations Coccidioides : fluconazole is a standard option, including for meningitis; itraconazole has established roles, particularly in selected nonmeningeal disease. Voriconazole, posaconazole, and isavuconazole have alternative/salvage experience. The fluconazole mold gap in the first table refers to molds such as Aspergillus and Mucorales, not to absence of activity against Coccidioides. [41] [42] Fellow teaching Dematiaceous molds</a:t>
            </a:r>
          </a:p>
          <a:p xmlns:a="http://schemas.openxmlformats.org/drawingml/2006/main">
            <a:r>
              <a:t/>
            </a:r>
          </a:p>
          <a:p xmlns:a="http://schemas.openxmlformats.org/drawingml/2006/main">
            <a:r>
              <a:t>Module section: https://docarcshot.github.io/id-practice-update/lectures/Antifungals_Practical_Primer_Resident_Fellow.html#endemic-spectrum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activity against endemic fungi Azole selection differs among Histoplasma, Blastomyces, and Coccidioides. The table applies when treatment is indicated. Severe disease may require amphotericin induction. Azole roles in selected endemic dimorphic infections Azole Histoplasma Blastomyces Coccidioides Fluconazole Less effective* Less effective* Standard* Itraconazole Preferred azole* Preferred azole* Standard* Voriconazole Not preferred; early mortality concern* [56] Alternative; CNS role* Salvage* Posaconazole Alternative* Limited/salvage* Salvage* Isavuconazole Limited data* Limited data* Alternative/salvage* Do not substitute voriconazole routinely for itraconazole in histoplasmosis Itraconazole remains the preferred azole. Voriconazole has antifungal activity against Histoplasma, but a retrospective comparison found higher early mortality with voriconazole. It should not be used as a routine substitute for itraconazole. [56] [12] [39] [40] [41] [42] Treatment considerations Coccidioides : fluconazole is a standard option, including for meningitis; itraconazole has established roles, particularly in selected nonmeningeal disease. Voriconazole, posaconazole, and isavuconazole have alternative/salvage experience. The fluconazole mold gap in the first table refers to molds such as Aspergillus and Mucorales, not to absence of activity against Coccidioides. [41] [42] Fellow teaching Dematiaceous molds</a:t>
            </a:r>
          </a:p>
          <a:p xmlns:a="http://schemas.openxmlformats.org/drawingml/2006/main">
            <a:r>
              <a:t/>
            </a:r>
          </a:p>
          <a:p xmlns:a="http://schemas.openxmlformats.org/drawingml/2006/main">
            <a:r>
              <a:t>Module section: https://docarcshot.github.io/id-practice-update/lectures/Antifungals_Practical_Primer_Resident_Fellow.html#endemic-spectrum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activity against endemic fungi Azole selection differs among Histoplasma, Blastomyces, and Coccidioides. The table applies when treatment is indicated. Severe disease may require amphotericin induction. Azole roles in selected endemic dimorphic infections Azole Histoplasma Blastomyces Coccidioides Fluconazole Less effective* Less effective* Standard* Itraconazole Preferred azole* Preferred azole* Standard* Voriconazole Not preferred; early mortality concern* [56] Alternative; CNS role* Salvage* Posaconazole Alternative* Limited/salvage* Salvage* Isavuconazole Limited data* Limited data* Alternative/salvage* Do not substitute voriconazole routinely for itraconazole in histoplasmosis Itraconazole remains the preferred azole. Voriconazole has antifungal activity against Histoplasma, but a retrospective comparison found higher early mortality with voriconazole. It should not be used as a routine substitute for itraconazole. [56] [12] [39] [40] [41] [42] Treatment considerations Coccidioides : fluconazole is a standard option, including for meningitis; itraconazole has established roles, particularly in selected nonmeningeal disease. Voriconazole, posaconazole, and isavuconazole have alternative/salvage experience. The fluconazole mold gap in the first table refers to molds such as Aspergillus and Mucorales, not to absence of activity against Coccidioides. [41] [42] Fellow teaching Dematiaceous molds</a:t>
            </a:r>
          </a:p>
          <a:p xmlns:a="http://schemas.openxmlformats.org/drawingml/2006/main">
            <a:r>
              <a:t/>
            </a:r>
          </a:p>
          <a:p xmlns:a="http://schemas.openxmlformats.org/drawingml/2006/main">
            <a:r>
              <a:t>Module section: https://docarcshot.github.io/id-practice-update/lectures/Antifungals_Practical_Primer_Resident_Fellow.html#endemic-spectrum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activity against endemic fungi Azole selection differs among Histoplasma, Blastomyces, and Coccidioides. The table applies when treatment is indicated. Severe disease may require amphotericin induction. Azole roles in selected endemic dimorphic infections Azole Histoplasma Blastomyces Coccidioides Fluconazole Less effective* Less effective* Standard* Itraconazole Preferred azole* Preferred azole* Standard* Voriconazole Not preferred; early mortality concern* [56] Alternative; CNS role* Salvage* Posaconazole Alternative* Limited/salvage* Salvage* Isavuconazole Limited data* Limited data* Alternative/salvage* Do not substitute voriconazole routinely for itraconazole in histoplasmosis Itraconazole remains the preferred azole. Voriconazole has antifungal activity against Histoplasma, but a retrospective comparison found higher early mortality with voriconazole. It should not be used as a routine substitute for itraconazole. [56] [12] [39] [40] [41] [42] Treatment considerations Coccidioides : fluconazole is a standard option, including for meningitis; itraconazole has established roles, particularly in selected nonmeningeal disease. Voriconazole, posaconazole, and isavuconazole have alternative/salvage experience. The fluconazole mold gap in the first table refers to molds such as Aspergillus and Mucorales, not to absence of activity against Coccidioides. [41] [42] Fellow teaching Dematiaceous molds</a:t>
            </a:r>
          </a:p>
          <a:p xmlns:a="http://schemas.openxmlformats.org/drawingml/2006/main">
            <a:r>
              <a:t/>
            </a:r>
          </a:p>
          <a:p xmlns:a="http://schemas.openxmlformats.org/drawingml/2006/main">
            <a:r>
              <a:t>Module section: https://docarcshot.github.io/id-practice-update/lectures/Antifungals_Practical_Primer_Resident_Fellow.html#endemic-spectrum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activity against endemic fungi Azole selection differs among Histoplasma, Blastomyces, and Coccidioides. The table applies when treatment is indicated. Severe disease may require amphotericin induction. Azole roles in selected endemic dimorphic infections Azole Histoplasma Blastomyces Coccidioides Fluconazole Less effective* Less effective* Standard* Itraconazole Preferred azole* Preferred azole* Standard* Voriconazole Not preferred; early mortality concern* [56] Alternative; CNS role* Salvage* Posaconazole Alternative* Limited/salvage* Salvage* Isavuconazole Limited data* Limited data* Alternative/salvage* Do not substitute voriconazole routinely for itraconazole in histoplasmosis Itraconazole remains the preferred azole. Voriconazole has antifungal activity against Histoplasma, but a retrospective comparison found higher early mortality with voriconazole. It should not be used as a routine substitute for itraconazole. [56] [12] [39] [40] [41] [42] Treatment considerations Coccidioides : fluconazole is a standard option, including for meningitis; itraconazole has established roles, particularly in selected nonmeningeal disease. Voriconazole, posaconazole, and isavuconazole have alternative/salvage experience. The fluconazole mold gap in the first table refers to molds such as Aspergillus and Mucorales, not to absence of activity against Coccidioides. [41] [42] Fellow teaching Dematiaceous molds</a:t>
            </a:r>
          </a:p>
          <a:p xmlns:a="http://schemas.openxmlformats.org/drawingml/2006/main">
            <a:r>
              <a:t/>
            </a:r>
          </a:p>
          <a:p xmlns:a="http://schemas.openxmlformats.org/drawingml/2006/main">
            <a:r>
              <a:t>Module section: https://docarcshot.github.io/id-practice-update/lectures/Antifungals_Practical_Primer_Resident_Fellow.html#endemic-spectrum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activity against endemic fungi Azole selection differs among Histoplasma, Blastomyces, and Coccidioides. The table applies when treatment is indicated. Severe disease may require amphotericin induction. Azole roles in selected endemic dimorphic infections Azole Histoplasma Blastomyces Coccidioides Fluconazole Less effective* Less effective* Standard* Itraconazole Preferred azole* Preferred azole* Standard* Voriconazole Not preferred; early mortality concern* [56] Alternative; CNS role* Salvage* Posaconazole Alternative* Limited/salvage* Salvage* Isavuconazole Limited data* Limited data* Alternative/salvage* Do not substitute voriconazole routinely for itraconazole in histoplasmosis Itraconazole remains the preferred azole. Voriconazole has antifungal activity against Histoplasma, but a retrospective comparison found higher early mortality with voriconazole. It should not be used as a routine substitute for itraconazole. [56] [12] [39] [40] [41] [42] Treatment considerations Coccidioides : fluconazole is a standard option, including for meningitis; itraconazole has established roles, particularly in selected nonmeningeal disease. Voriconazole, posaconazole, and isavuconazole have alternative/salvage experience. The fluconazole mold gap in the first table refers to molds such as Aspergillus and Mucorales, not to absence of activity against Coccidioides. [41] [42] Fellow teaching Dematiaceous molds</a:t>
            </a:r>
          </a:p>
          <a:p xmlns:a="http://schemas.openxmlformats.org/drawingml/2006/main">
            <a:r>
              <a:t/>
            </a:r>
          </a:p>
          <a:p xmlns:a="http://schemas.openxmlformats.org/drawingml/2006/main">
            <a:r>
              <a:t>Module section: https://docarcshot.github.io/id-practice-update/lectures/Antifungals_Practical_Primer_Resident_Fellow.html#endemic-coverage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activity against endemic fungi Azole selection differs among Histoplasma, Blastomyces, and Coccidioides. The table applies when treatment is indicated. Severe disease may require amphotericin induction. Azole roles in selected endemic dimorphic infections Azole Histoplasma Blastomyces Coccidioides Fluconazole Less effective* Less effective* Standard* Itraconazole Preferred azole* Preferred azole* Standard* Voriconazole Not preferred; early mortality concern* [56] Alternative; CNS role* Salvage* Posaconazole Alternative* Limited/salvage* Salvage* Isavuconazole Limited data* Limited data* Alternative/salvage* Do not substitute voriconazole routinely for itraconazole in histoplasmosis Itraconazole remains the preferred azole. Voriconazole has antifungal activity against Histoplasma, but a retrospective comparison found higher early mortality with voriconazole. It should not be used as a routine substitute for itraconazole. [56] [12] [39] [40] [41] [42] Treatment considerations Coccidioides : fluconazole is a standard option, including for meningitis; itraconazole has established roles, particularly in selected nonmeningeal disease. Voriconazole, posaconazole, and isavuconazole have alternative/salvage experience. The fluconazole mold gap in the first table refers to molds such as Aspergillus and Mucorales, not to absence of activity against Coccidioides. [41] [42] Fellow teaching Dematiaceous molds</a:t>
            </a:r>
          </a:p>
          <a:p xmlns:a="http://schemas.openxmlformats.org/drawingml/2006/main">
            <a:r>
              <a:t/>
            </a:r>
          </a:p>
          <a:p xmlns:a="http://schemas.openxmlformats.org/drawingml/2006/main">
            <a:r>
              <a:t>Module section: https://docarcshot.github.io/id-practice-update/lectures/Antifungals_Practical_Primer_Resident_Fellow.html#endemic-coverage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Candida species and susceptibility Species are grouped by usual fluconazole susceptibility, followed by C. auris. Individual isolates may differ. Use the reported susceptibility category and infection site to guide treatment; SDD means susceptible-dose dependent. Species Azoles, especially fluconazole Echinocandins Amphotericin B Usually fluconazole susceptible; acquired resistance remains possible C. albicans Usually fluconazole susceptible; confirm the isolate. Usually active. Usually active; toxicity often favors other options. C. tropicalis Often susceptible, but azole resistance varies by region and exposure. Usually active; acquired resistance is possible. Usually active. C. parapsilosis Often susceptible historically, but resistant strains and outbreaks are increasingly reported. Higher baseline MICs than many Candida species; this is not automatic clinical resistance. Usually active. C. lusitaniae May be active; acquired resistance can occur. Often active; acquired resistance can occur. Can develop amphotericin resistance during therapy. Repeat susceptibility testing if infection persists. Reduced fluconazole susceptibility: SDD or resistant, depending on the isolate C. glabrata Nakaseomyces glabratus Reduced susceptibility/resistance is common. High-dose fluconazole step-down only when the MIC category supports it. Usual initial invasive-infection choice, but acquired FKS resistance can occur. Potential option for resistant isolates; confirm susceptibility. Intrinsic fluconazole resistance C. krusei Pichia kudriavzevii Intrinsic fluconazole resistance does not mean resistance to every azole. Voriconazole can be selected step-down therapy. Usually active. Clinical alternative; review susceptibility rather than assuming all isolates are susceptible. Frequent fluconazole resistance; possible resistance to multiple classes C. auris Candidozyma auris Fluconazole resistance is common. Resistance can involve multiple drug classes; resistance may extend to newer azoles. Usual initial adult therapy. Echinocandin resistance and pan-resistance occur. Variable susceptibility; selected alternative for echinocandin resistance or clinical nonresponse. [1] [49] [50] [45] [46] Fellow teaching Species and MIC interpretation</a:t>
            </a:r>
          </a:p>
          <a:p xmlns:a="http://schemas.openxmlformats.org/drawingml/2006/main">
            <a:r>
              <a:t/>
            </a:r>
          </a:p>
          <a:p xmlns:a="http://schemas.openxmlformats.org/drawingml/2006/main">
            <a:r>
              <a:t>Module section: https://docarcshot.github.io/id-practice-update/lectures/Antifungals_Practical_Primer_Resident_Fellow.html#candida-species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Candida species and susceptibility Species are grouped by usual fluconazole susceptibility, followed by C. auris. Individual isolates may differ. Use the reported susceptibility category and infection site to guide treatment; SDD means susceptible-dose dependent. Species Azoles, especially fluconazole Echinocandins Amphotericin B Usually fluconazole susceptible; acquired resistance remains possible C. albicans Usually fluconazole susceptible; confirm the isolate. Usually active. Usually active; toxicity often favors other options. C. tropicalis Often susceptible, but azole resistance varies by region and exposure. Usually active; acquired resistance is possible. Usually active. C. parapsilosis Often susceptible historically, but resistant strains and outbreaks are increasingly reported. Higher baseline MICs than many Candida species; this is not automatic clinical resistance. Usually active. C. lusitaniae May be active; acquired resistance can occur. Often active; acquired resistance can occur. Can develop amphotericin resistance during therapy. Repeat susceptibility testing if infection persists. Reduced fluconazole susceptibility: SDD or resistant, depending on the isolate C. glabrata Nakaseomyces glabratus Reduced susceptibility/resistance is common. High-dose fluconazole step-down only when the MIC category supports it. Usual initial invasive-infection choice, but acquired FKS resistance can occur. Potential option for resistant isolates; confirm susceptibility. Intrinsic fluconazole resistance C. krusei Pichia kudriavzevii Intrinsic fluconazole resistance does not mean resistance to every azole. Voriconazole can be selected step-down therapy. Usually active. Clinical alternative; review susceptibility rather than assuming all isolates are susceptible. Frequent fluconazole resistance; possible resistance to multiple classes C. auris Candidozyma auris Fluconazole resistance is common. Resistance can involve multiple drug classes; resistance may extend to newer azoles. Usual initial adult therapy. Echinocandin resistance and pan-resistance occur. Variable susceptibility; selected alternative for echinocandin resistance or clinical nonresponse. [1] [49] [50] [45] [46] Fellow teaching Species and MIC interpretation</a:t>
            </a:r>
          </a:p>
          <a:p xmlns:a="http://schemas.openxmlformats.org/drawingml/2006/main">
            <a:r>
              <a:t/>
            </a:r>
          </a:p>
          <a:p xmlns:a="http://schemas.openxmlformats.org/drawingml/2006/main">
            <a:r>
              <a:t>Module section: https://docarcshot.github.io/id-practice-update/lectures/Antifungals_Practical_Primer_Resident_Fellow.html#candida-species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Candida species and susceptibility Species are grouped by usual fluconazole susceptibility, followed by C. auris. Individual isolates may differ. Use the reported susceptibility category and infection site to guide treatment; SDD means susceptible-dose dependent. Species Azoles, especially fluconazole Echinocandins Amphotericin B Usually fluconazole susceptible; acquired resistance remains possible C. albicans Usually fluconazole susceptible; confirm the isolate. Usually active. Usually active; toxicity often favors other options. C. tropicalis Often susceptible, but azole resistance varies by region and exposure. Usually active; acquired resistance is possible. Usually active. C. parapsilosis Often susceptible historically, but resistant strains and outbreaks are increasingly reported. Higher baseline MICs than many Candida species; this is not automatic clinical resistance. Usually active. C. lusitaniae May be active; acquired resistance can occur. Often active; acquired resistance can occur. Can develop amphotericin resistance during therapy. Repeat susceptibility testing if infection persists. Reduced fluconazole susceptibility: SDD or resistant, depending on the isolate C. glabrata Nakaseomyces glabratus Reduced susceptibility/resistance is common. High-dose fluconazole step-down only when the MIC category supports it. Usual initial invasive-infection choice, but acquired FKS resistance can occur. Potential option for resistant isolates; confirm susceptibility. Intrinsic fluconazole resistance C. krusei Pichia kudriavzevii Intrinsic fluconazole resistance does not mean resistance to every azole. Voriconazole can be selected step-down therapy. Usually active. Clinical alternative; review susceptibility rather than assuming all isolates are susceptible. Frequent fluconazole resistance; possible resistance to multiple classes C. auris Candidozyma auris Fluconazole resistance is common. Resistance can involve multiple drug classes; resistance may extend to newer azoles. Usual initial adult therapy. Echinocandin resistance and pan-resistance occur. Variable susceptibility; selected alternative for echinocandin resistance or clinical nonresponse. [1] [49] [50] [45] [46] Fellow teaching Species and MIC interpretation</a:t>
            </a:r>
          </a:p>
          <a:p xmlns:a="http://schemas.openxmlformats.org/drawingml/2006/main">
            <a:r>
              <a:t/>
            </a:r>
          </a:p>
          <a:p xmlns:a="http://schemas.openxmlformats.org/drawingml/2006/main">
            <a:r>
              <a:t>Module section: https://docarcshot.github.io/id-practice-update/lectures/Antifungals_Practical_Primer_Resident_Fellow.html#candida-species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Candida species and susceptibility Species are grouped by usual fluconazole susceptibility, followed by C. auris. Individual isolates may differ. Use the reported susceptibility category and infection site to guide treatment; SDD means susceptible-dose dependent. Species Azoles, especially fluconazole Echinocandins Amphotericin B Usually fluconazole susceptible; acquired resistance remains possible C. albicans Usually fluconazole susceptible; confirm the isolate. Usually active. Usually active; toxicity often favors other options. C. tropicalis Often susceptible, but azole resistance varies by region and exposure. Usually active; acquired resistance is possible. Usually active. C. parapsilosis Often susceptible historically, but resistant strains and outbreaks are increasingly reported. Higher baseline MICs than many Candida species; this is not automatic clinical resistance. Usually active. C. lusitaniae May be active; acquired resistance can occur. Often active; acquired resistance can occur. Can develop amphotericin resistance during therapy. Repeat susceptibility testing if infection persists. Reduced fluconazole susceptibility: SDD or resistant, depending on the isolate C. glabrata Nakaseomyces glabratus Reduced susceptibility/resistance is common. High-dose fluconazole step-down only when the MIC category supports it. Usual initial invasive-infection choice, but acquired FKS resistance can occur. Potential option for resistant isolates; confirm susceptibility. Intrinsic fluconazole resistance C. krusei Pichia kudriavzevii Intrinsic fluconazole resistance does not mean resistance to every azole. Voriconazole can be selected step-down therapy. Usually active. Clinical alternative; review susceptibility rather than assuming all isolates are susceptible. Frequent fluconazole resistance; possible resistance to multiple classes C. auris Candidozyma auris Fluconazole resistance is common. Resistance can involve multiple drug classes; resistance may extend to newer azoles. Usual initial adult therapy. Echinocandin resistance and pan-resistance occur. Variable susceptibility; selected alternative for echinocandin resistance or clinical nonresponse. [1] [49] [50] [45] [46] Fellow teaching Species and MIC interpretation</a:t>
            </a:r>
          </a:p>
          <a:p xmlns:a="http://schemas.openxmlformats.org/drawingml/2006/main">
            <a:r>
              <a:t/>
            </a:r>
          </a:p>
          <a:p xmlns:a="http://schemas.openxmlformats.org/drawingml/2006/main">
            <a:r>
              <a:t>Module section: https://docarcshot.github.io/id-practice-update/lectures/Antifungals_Practical_Primer_Resident_Fellow.html#candida-species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Candida species and susceptibility Species are grouped by usual fluconazole susceptibility, followed by C. auris. Individual isolates may differ. Use the reported susceptibility category and infection site to guide treatment; SDD means susceptible-dose dependent. Species Azoles, especially fluconazole Echinocandins Amphotericin B Usually fluconazole susceptible; acquired resistance remains possible C. albicans Usually fluconazole susceptible; confirm the isolate. Usually active. Usually active; toxicity often favors other options. C. tropicalis Often susceptible, but azole resistance varies by region and exposure. Usually active; acquired resistance is possible. Usually active. C. parapsilosis Often susceptible historically, but resistant strains and outbreaks are increasingly reported. Higher baseline MICs than many Candida species; this is not automatic clinical resistance. Usually active. C. lusitaniae May be active; acquired resistance can occur. Often active; acquired resistance can occur. Can develop amphotericin resistance during therapy. Repeat susceptibility testing if infection persists. Reduced fluconazole susceptibility: SDD or resistant, depending on the isolate C. glabrata Nakaseomyces glabratus Reduced susceptibility/resistance is common. High-dose fluconazole step-down only when the MIC category supports it. Usual initial invasive-infection choice, but acquired FKS resistance can occur. Potential option for resistant isolates; confirm susceptibility. Intrinsic fluconazole resistance C. krusei Pichia kudriavzevii Intrinsic fluconazole resistance does not mean resistance to every azole. Voriconazole can be selected step-down therapy. Usually active. Clinical alternative; review susceptibility rather than assuming all isolates are susceptible. Frequent fluconazole resistance; possible resistance to multiple classes C. auris Candidozyma auris Fluconazole resistance is common. Resistance can involve multiple drug classes; resistance may extend to newer azoles. Usual initial adult therapy. Echinocandin resistance and pan-resistance occur. Variable susceptibility; selected alternative for echinocandin resistance or clinical nonresponse. [1] [49] [50] [45] [46] Fellow teaching Species and MIC interpretation</a:t>
            </a:r>
          </a:p>
          <a:p xmlns:a="http://schemas.openxmlformats.org/drawingml/2006/main">
            <a:r>
              <a:t/>
            </a:r>
          </a:p>
          <a:p xmlns:a="http://schemas.openxmlformats.org/drawingml/2006/main">
            <a:r>
              <a:t>Module section: https://docarcshot.github.io/id-practice-update/lectures/Antifungals_Practical_Primer_Resident_Fellow.html#candida-species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Candida species and susceptibility Species are grouped by usual fluconazole susceptibility, followed by C. auris. Individual isolates may differ. Use the reported susceptibility category and infection site to guide treatment; SDD means susceptible-dose dependent. Species Azoles, especially fluconazole Echinocandins Amphotericin B Usually fluconazole susceptible; acquired resistance remains possible C. albicans Usually fluconazole susceptible; confirm the isolate. Usually active. Usually active; toxicity often favors other options. C. tropicalis Often susceptible, but azole resistance varies by region and exposure. Usually active; acquired resistance is possible. Usually active. C. parapsilosis Often susceptible historically, but resistant strains and outbreaks are increasingly reported. Higher baseline MICs than many Candida species; this is not automatic clinical resistance. Usually active. C. lusitaniae May be active; acquired resistance can occur. Often active; acquired resistance can occur. Can develop amphotericin resistance during therapy. Repeat susceptibility testing if infection persists. Reduced fluconazole susceptibility: SDD or resistant, depending on the isolate C. glabrata Nakaseomyces glabratus Reduced susceptibility/resistance is common. High-dose fluconazole step-down only when the MIC category supports it. Usual initial invasive-infection choice, but acquired FKS resistance can occur. Potential option for resistant isolates; confirm susceptibility. Intrinsic fluconazole resistance C. krusei Pichia kudriavzevii Intrinsic fluconazole resistance does not mean resistance to every azole. Voriconazole can be selected step-down therapy. Usually active. Clinical alternative; review susceptibility rather than assuming all isolates are susceptible. Frequent fluconazole resistance; possible resistance to multiple classes C. auris Candidozyma auris Fluconazole resistance is common. Resistance can involve multiple drug classes; resistance may extend to newer azoles. Usual initial adult therapy. Echinocandin resistance and pan-resistance occur. Variable susceptibility; selected alternative for echinocandin resistance or clinical nonresponse. [1] [49] [50] [45] [46] Fellow teaching Species and MIC interpretation</a:t>
            </a:r>
          </a:p>
          <a:p xmlns:a="http://schemas.openxmlformats.org/drawingml/2006/main">
            <a:r>
              <a:t/>
            </a:r>
          </a:p>
          <a:p xmlns:a="http://schemas.openxmlformats.org/drawingml/2006/main">
            <a:r>
              <a:t>Module section: https://docarcshot.github.io/id-practice-update/lectures/Antifungals_Practical_Primer_Resident_Fellow.html#candida-species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Candida species and susceptibility Species are grouped by usual fluconazole susceptibility, followed by C. auris. Individual isolates may differ. Use the reported susceptibility category and infection site to guide treatment; SDD means susceptible-dose dependent. Species Azoles, especially fluconazole Echinocandins Amphotericin B Usually fluconazole susceptible; acquired resistance remains possible C. albicans Usually fluconazole susceptible; confirm the isolate. Usually active. Usually active; toxicity often favors other options. C. tropicalis Often susceptible, but azole resistance varies by region and exposure. Usually active; acquired resistance is possible. Usually active. C. parapsilosis Often susceptible historically, but resistant strains and outbreaks are increasingly reported. Higher baseline MICs than many Candida species; this is not automatic clinical resistance. Usually active. C. lusitaniae May be active; acquired resistance can occur. Often active; acquired resistance can occur. Can develop amphotericin resistance during therapy. Repeat susceptibility testing if infection persists. Reduced fluconazole susceptibility: SDD or resistant, depending on the isolate C. glabrata Nakaseomyces glabratus Reduced susceptibility/resistance is common. High-dose fluconazole step-down only when the MIC category supports it. Usual initial invasive-infection choice, but acquired FKS resistance can occur. Potential option for resistant isolates; confirm susceptibility. Intrinsic fluconazole resistance C. krusei Pichia kudriavzevii Intrinsic fluconazole resistance does not mean resistance to every azole. Voriconazole can be selected step-down therapy. Usually active. Clinical alternative; review susceptibility rather than assuming all isolates are susceptible. Frequent fluconazole resistance; possible resistance to multiple classes C. auris Candidozyma auris Fluconazole resistance is common. Resistance can involve multiple drug classes; resistance may extend to newer azoles. Usual initial adult therapy. Echinocandin resistance and pan-resistance occur. Variable susceptibility; selected alternative for echinocandin resistance or clinical nonresponse. [1] [49] [50] [45] [46] Fellow teaching Species and MIC interpretation</a:t>
            </a:r>
          </a:p>
          <a:p xmlns:a="http://schemas.openxmlformats.org/drawingml/2006/main">
            <a:r>
              <a:t/>
            </a:r>
          </a:p>
          <a:p xmlns:a="http://schemas.openxmlformats.org/drawingml/2006/main">
            <a:r>
              <a:t>Module section: https://docarcshot.github.io/id-practice-update/lectures/Antifungals_Practical_Primer_Resident_Fellow.html#candida-species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Candida species and susceptibility Species are grouped by usual fluconazole susceptibility, followed by C. auris. Individual isolates may differ. Use the reported susceptibility category and infection site to guide treatment; SDD means susceptible-dose dependent. Species Azoles, especially fluconazole Echinocandins Amphotericin B Usually fluconazole susceptible; acquired resistance remains possible C. albicans Usually fluconazole susceptible; confirm the isolate. Usually active. Usually active; toxicity often favors other options. C. tropicalis Often susceptible, but azole resistance varies by region and exposure. Usually active; acquired resistance is possible. Usually active. C. parapsilosis Often susceptible historically, but resistant strains and outbreaks are increasingly reported. Higher baseline MICs than many Candida species; this is not automatic clinical resistance. Usually active. C. lusitaniae May be active; acquired resistance can occur. Often active; acquired resistance can occur. Can develop amphotericin resistance during therapy. Repeat susceptibility testing if infection persists. Reduced fluconazole susceptibility: SDD or resistant, depending on the isolate C. glabrata Nakaseomyces glabratus Reduced susceptibility/resistance is common. High-dose fluconazole step-down only when the MIC category supports it. Usual initial invasive-infection choice, but acquired FKS resistance can occur. Potential option for resistant isolates; confirm susceptibility. Intrinsic fluconazole resistance C. krusei Pichia kudriavzevii Intrinsic fluconazole resistance does not mean resistance to every azole. Voriconazole can be selected step-down therapy. Usually active. Clinical alternative; review susceptibility rather than assuming all isolates are susceptible. Frequent fluconazole resistance; possible resistance to multiple classes C. auris Candidozyma auris Fluconazole resistance is common. Resistance can involve multiple drug classes; resistance may extend to newer azoles. Usual initial adult therapy. Echinocandin resistance and pan-resistance occur. Variable susceptibility; selected alternative for echinocandin resistance or clinical nonresponse. [1] [49] [50] [45] [46] Fellow teaching Species and MIC interpretation</a:t>
            </a:r>
          </a:p>
          <a:p xmlns:a="http://schemas.openxmlformats.org/drawingml/2006/main">
            <a:r>
              <a:t/>
            </a:r>
          </a:p>
          <a:p xmlns:a="http://schemas.openxmlformats.org/drawingml/2006/main">
            <a:r>
              <a:t>Module section: https://docarcshot.github.io/id-practice-update/lectures/Antifungals_Practical_Primer_Resident_Fellow.html#candida-species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Candida species and susceptibility Species are grouped by usual fluconazole susceptibility, followed by C. auris. Individual isolates may differ. Use the reported susceptibility category and infection site to guide treatment; SDD means susceptible-dose dependent. Species Azoles, especially fluconazole Echinocandins Amphotericin B Usually fluconazole susceptible; acquired resistance remains possible C. albicans Usually fluconazole susceptible; confirm the isolate. Usually active. Usually active; toxicity often favors other options. C. tropicalis Often susceptible, but azole resistance varies by region and exposure. Usually active; acquired resistance is possible. Usually active. C. parapsilosis Often susceptible historically, but resistant strains and outbreaks are increasingly reported. Higher baseline MICs than many Candida species; this is not automatic clinical resistance. Usually active. C. lusitaniae May be active; acquired resistance can occur. Often active; acquired resistance can occur. Can develop amphotericin resistance during therapy. Repeat susceptibility testing if infection persists. Reduced fluconazole susceptibility: SDD or resistant, depending on the isolate C. glabrata Nakaseomyces glabratus Reduced susceptibility/resistance is common. High-dose fluconazole step-down only when the MIC category supports it. Usual initial invasive-infection choice, but acquired FKS resistance can occur. Potential option for resistant isolates; confirm susceptibility. Intrinsic fluconazole resistance C. krusei Pichia kudriavzevii Intrinsic fluconazole resistance does not mean resistance to every azole. Voriconazole can be selected step-down therapy. Usually active. Clinical alternative; review susceptibility rather than assuming all isolates are susceptible. Frequent fluconazole resistance; possible resistance to multiple classes C. auris Candidozyma auris Fluconazole resistance is common. Resistance can involve multiple drug classes; resistance may extend to newer azoles. Usual initial adult therapy. Echinocandin resistance and pan-resistance occur. Variable susceptibility; selected alternative for echinocandin resistance or clinical nonresponse. [1] [49] [50] [45] [46] Fellow teaching Species and MIC interpretation</a:t>
            </a:r>
          </a:p>
          <a:p xmlns:a="http://schemas.openxmlformats.org/drawingml/2006/main">
            <a:r>
              <a:t/>
            </a:r>
          </a:p>
          <a:p xmlns:a="http://schemas.openxmlformats.org/drawingml/2006/main">
            <a:r>
              <a:t>Module section: https://docarcshot.github.io/id-practice-update/lectures/Antifungals_Practical_Primer_Resident_Fellow.html#candida-species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Candida species and susceptibility Species are grouped by usual fluconazole susceptibility, followed by C. auris. Individual isolates may differ. Use the reported susceptibility category and infection site to guide treatment; SDD means susceptible-dose dependent. Species Azoles, especially fluconazole Echinocandins Amphotericin B Usually fluconazole susceptible; acquired resistance remains possible C. albicans Usually fluconazole susceptible; confirm the isolate. Usually active. Usually active; toxicity often favors other options. C. tropicalis Often susceptible, but azole resistance varies by region and exposure. Usually active; acquired resistance is possible. Usually active. C. parapsilosis Often susceptible historically, but resistant strains and outbreaks are increasingly reported. Higher baseline MICs than many Candida species; this is not automatic clinical resistance. Usually active. C. lusitaniae May be active; acquired resistance can occur. Often active; acquired resistance can occur. Can develop amphotericin resistance during therapy. Repeat susceptibility testing if infection persists. Reduced fluconazole susceptibility: SDD or resistant, depending on the isolate C. glabrata Nakaseomyces glabratus Reduced susceptibility/resistance is common. High-dose fluconazole step-down only when the MIC category supports it. Usual initial invasive-infection choice, but acquired FKS resistance can occur. Potential option for resistant isolates; confirm susceptibility. Intrinsic fluconazole resistance C. krusei Pichia kudriavzevii Intrinsic fluconazole resistance does not mean resistance to every azole. Voriconazole can be selected step-down therapy. Usually active. Clinical alternative; review susceptibility rather than assuming all isolates are susceptible. Frequent fluconazole resistance; possible resistance to multiple classes C. auris Candidozyma auris Fluconazole resistance is common. Resistance can involve multiple drug classes; resistance may extend to newer azoles. Usual initial adult therapy. Echinocandin resistance and pan-resistance occur. Variable susceptibility; selected alternative for echinocandin resistance or clinical nonresponse. [1] [49] [50] [45] [46] Fellow teaching Species and MIC interpretation</a:t>
            </a:r>
          </a:p>
          <a:p xmlns:a="http://schemas.openxmlformats.org/drawingml/2006/main">
            <a:r>
              <a:t/>
            </a:r>
          </a:p>
          <a:p xmlns:a="http://schemas.openxmlformats.org/drawingml/2006/main">
            <a:r>
              <a:t>Module section: https://docarcshot.github.io/id-practice-update/lectures/Antifungals_Practical_Primer_Resident_Fellow.html#candida-species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Candida species and susceptibility Species are grouped by usual fluconazole susceptibility, followed by C. auris. Individual isolates may differ. Use the reported susceptibility category and infection site to guide treatment; SDD means susceptible-dose dependent. Species Azoles, especially fluconazole Echinocandins Amphotericin B Usually fluconazole susceptible; acquired resistance remains possible C. albicans Usually fluconazole susceptible; confirm the isolate. Usually active. Usually active; toxicity often favors other options. C. tropicalis Often susceptible, but azole resistance varies by region and exposure. Usually active; acquired resistance is possible. Usually active. C. parapsilosis Often susceptible historically, but resistant strains and outbreaks are increasingly reported. Higher baseline MICs than many Candida species; this is not automatic clinical resistance. Usually active. C. lusitaniae May be active; acquired resistance can occur. Often active; acquired resistance can occur. Can develop amphotericin resistance during therapy. Repeat susceptibility testing if infection persists. Reduced fluconazole susceptibility: SDD or resistant, depending on the isolate C. glabrata Nakaseomyces glabratus Reduced susceptibility/resistance is common. High-dose fluconazole step-down only when the MIC category supports it. Usual initial invasive-infection choice, but acquired FKS resistance can occur. Potential option for resistant isolates; confirm susceptibility. Intrinsic fluconazole resistance C. krusei Pichia kudriavzevii Intrinsic fluconazole resistance does not mean resistance to every azole. Voriconazole can be selected step-down therapy. Usually active. Clinical alternative; review susceptibility rather than assuming all isolates are susceptible. Frequent fluconazole resistance; possible resistance to multiple classes C. auris Candidozyma auris Fluconazole resistance is common. Resistance can involve multiple drug classes; resistance may extend to newer azoles. Usual initial adult therapy. Echinocandin resistance and pan-resistance occur. Variable susceptibility; selected alternative for echinocandin resistance or clinical nonresponse. [1] [49] [50] [45] [46] Fellow teaching Species and MIC interpretation</a:t>
            </a:r>
          </a:p>
          <a:p xmlns:a="http://schemas.openxmlformats.org/drawingml/2006/main">
            <a:r>
              <a:t/>
            </a:r>
          </a:p>
          <a:p xmlns:a="http://schemas.openxmlformats.org/drawingml/2006/main">
            <a:r>
              <a:t>Module section: https://docarcshot.github.io/id-practice-update/lectures/Antifungals_Practical_Primer_Resident_Fellow.html#candida-species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Candida species and susceptibility Species are grouped by usual fluconazole susceptibility, followed by C. auris. Individual isolates may differ. Use the reported susceptibility category and infection site to guide treatment; SDD means susceptible-dose dependent. Species Azoles, especially fluconazole Echinocandins Amphotericin B Usually fluconazole susceptible; acquired resistance remains possible C. albicans Usually fluconazole susceptible; confirm the isolate. Usually active. Usually active; toxicity often favors other options. C. tropicalis Often susceptible, but azole resistance varies by region and exposure. Usually active; acquired resistance is possible. Usually active. C. parapsilosis Often susceptible historically, but resistant strains and outbreaks are increasingly reported. Higher baseline MICs than many Candida species; this is not automatic clinical resistance. Usually active. C. lusitaniae May be active; acquired resistance can occur. Often active; acquired resistance can occur. Can develop amphotericin resistance during therapy. Repeat susceptibility testing if infection persists. Reduced fluconazole susceptibility: SDD or resistant, depending on the isolate C. glabrata Nakaseomyces glabratus Reduced susceptibility/resistance is common. High-dose fluconazole step-down only when the MIC category supports it. Usual initial invasive-infection choice, but acquired FKS resistance can occur. Potential option for resistant isolates; confirm susceptibility. Intrinsic fluconazole resistance C. krusei Pichia kudriavzevii Intrinsic fluconazole resistance does not mean resistance to every azole. Voriconazole can be selected step-down therapy. Usually active. Clinical alternative; review susceptibility rather than assuming all isolates are susceptible. Frequent fluconazole resistance; possible resistance to multiple classes C. auris Candidozyma auris Fluconazole resistance is common. Resistance can involve multiple drug classes; resistance may extend to newer azoles. Usual initial adult therapy. Echinocandin resistance and pan-resistance occur. Variable susceptibility; selected alternative for echinocandin resistance or clinical nonresponse. [1] [49] [50] [45] [46] Fellow teaching Species and MIC interpretation</a:t>
            </a:r>
          </a:p>
          <a:p xmlns:a="http://schemas.openxmlformats.org/drawingml/2006/main">
            <a:r>
              <a:t/>
            </a:r>
          </a:p>
          <a:p xmlns:a="http://schemas.openxmlformats.org/drawingml/2006/main">
            <a:r>
              <a:t>Module section: https://docarcshot.github.io/id-practice-update/lectures/Antifungals_Practical_Primer_Resident_Fellow.html#candida-species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Candida species and susceptibility Species are grouped by usual fluconazole susceptibility, followed by C. auris. Individual isolates may differ. Use the reported susceptibility category and infection site to guide treatment; SDD means susceptible-dose dependent. Species Azoles, especially fluconazole Echinocandins Amphotericin B Usually fluconazole susceptible; acquired resistance remains possible C. albicans Usually fluconazole susceptible; confirm the isolate. Usually active. Usually active; toxicity often favors other options. C. tropicalis Often susceptible, but azole resistance varies by region and exposure. Usually active; acquired resistance is possible. Usually active. C. parapsilosis Often susceptible historically, but resistant strains and outbreaks are increasingly reported. Higher baseline MICs than many Candida species; this is not automatic clinical resistance. Usually active. C. lusitaniae May be active; acquired resistance can occur. Often active; acquired resistance can occur. Can develop amphotericin resistance during therapy. Repeat susceptibility testing if infection persists. Reduced fluconazole susceptibility: SDD or resistant, depending on the isolate C. glabrata Nakaseomyces glabratus Reduced susceptibility/resistance is common. High-dose fluconazole step-down only when the MIC category supports it. Usual initial invasive-infection choice, but acquired FKS resistance can occur. Potential option for resistant isolates; confirm susceptibility. Intrinsic fluconazole resistance C. krusei Pichia kudriavzevii Intrinsic fluconazole resistance does not mean resistance to every azole. Voriconazole can be selected step-down therapy. Usually active. Clinical alternative; review susceptibility rather than assuming all isolates are susceptible. Frequent fluconazole resistance; possible resistance to multiple classes C. auris Candidozyma auris Fluconazole resistance is common. Resistance can involve multiple drug classes; resistance may extend to newer azoles. Usual initial adult therapy. Echinocandin resistance and pan-resistance occur. Variable susceptibility; selected alternative for echinocandin resistance or clinical nonresponse. [1] [49] [50] [45] [46] Fellow teaching Species and MIC interpretation</a:t>
            </a:r>
          </a:p>
          <a:p xmlns:a="http://schemas.openxmlformats.org/drawingml/2006/main">
            <a:r>
              <a:t/>
            </a:r>
          </a:p>
          <a:p xmlns:a="http://schemas.openxmlformats.org/drawingml/2006/main">
            <a:r>
              <a:t>Module section: https://docarcshot.github.io/id-practice-update/lectures/Antifungals_Practical_Primer_Resident_Fellow.html#candida-species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Candida auris For adult clinical infection, CDC recommends an echinocandin initially, for example micafungin 100 mg IV daily. Send susceptibility testing and reassess the clinical response. Consider liposomal amphotericin B 5 mg/kg/day for echinocandin resistance or lack of improvement after 5 days, while reassessing source control and the diagnosis. Pan-resistant infection warrants expert/reference-laboratory input and consideration of investigational access. [45] Do not treat asymptomatic colonization or attempt antifungal decolonization. Notify infection prevention and public health promptly. In acute care use Contact Precautions, clean shared equipment, and use an EPA List P disinfectant. Communicate status on transfer. Clearing an infection does not mean colonization has cleared. [48] [47] Fellow teaching C. auris susceptibility thresholds</a:t>
            </a:r>
          </a:p>
          <a:p xmlns:a="http://schemas.openxmlformats.org/drawingml/2006/main">
            <a:r>
              <a:t/>
            </a:r>
          </a:p>
          <a:p xmlns:a="http://schemas.openxmlformats.org/drawingml/2006/main">
            <a:r>
              <a:t>Module section: https://docarcshot.github.io/id-practice-update/lectures/Antifungals_Practical_Primer_Resident_Fellow.html#candida-auris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Candida auris For adult clinical infection, CDC recommends an echinocandin initially, for example micafungin 100 mg IV daily. Send susceptibility testing and reassess the clinical response. Consider liposomal amphotericin B 5 mg/kg/day for echinocandin resistance or lack of improvement after 5 days, while reassessing source control and the diagnosis. Pan-resistant infection warrants expert/reference-laboratory input and consideration of investigational access. [45] Do not treat asymptomatic colonization or attempt antifungal decolonization. Notify infection prevention and public health promptly. In acute care use Contact Precautions, clean shared equipment, and use an EPA List P disinfectant. Communicate status on transfer. Clearing an infection does not mean colonization has cleared. [48] [47] Fellow teaching C. auris susceptibility thresholds</a:t>
            </a:r>
          </a:p>
          <a:p xmlns:a="http://schemas.openxmlformats.org/drawingml/2006/main">
            <a:r>
              <a:t/>
            </a:r>
          </a:p>
          <a:p xmlns:a="http://schemas.openxmlformats.org/drawingml/2006/main">
            <a:r>
              <a:t>Module section: https://docarcshot.github.io/id-practice-update/lectures/Antifungals_Practical_Primer_Resident_Fellow.html#candida-auris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administration and adverse effects Fluconazole / Diflucan Oral absorption is reliable; use oral therapy when the patient can absorb it. Renal clearance makes maintenance dose adjustment important. It reaches urine and CSF well. Nausea and headache are common. Watch liver injury and QT prolongation. Less common effects include severe skin reactions, reversible alopecia with prolonged treatment, and reported adrenal insufficiency. Warfarin and other CYP substrates still require review. [4] Itraconazole / Sporanox; SUBA formulation / Tolsura Conventional capsules depend on food and gastric acidity. Solution is better absorbed fasting. SUBA formulations have different dosing and administration instructions. They are not interchangeable milligram for milligram. GI intolerance and liver injury can occur. Negative inotropic effects can cause edema or heart failure. Peripheral neuropathy, hearing loss, and pseudohyperaldosteronism are additional reported toxicities. New dyspnea or edema warrants evaluation for heart failure. [5] [3] Voriconazole / Vfend Take oral doses at least an hour before or after food. Variable CYP2C19 metabolism and nonlinear kinetics make TDM central to treatment. Transient visual changes are common. Hallucinations or encephalopathy may reflect excessive exposure. Also watch liver injury and QT prolongation. Prolonged treatment is associated with photosensitivity, cutaneous malignancy, and fluoride-associated periostitis. Bone pain with elevated alkaline phosphatase should prompt consideration of periostitis. Recommend sun protection and skin surveillance during prolonged treatment. [6] Posaconazole / Noxafil Delayed-release tablets or IV generally give more dependable exposure than conventional suspension. Suspension absorption depends on food and gastric conditions; do not substitute the formulations using the same dose. GI effects, liver injury, and QT prolongation occur. Hypertension plus hypokalemia can represent pseudohyperaldosteronism, often with low renin and aldosterone. Check BP, potassium, and posaconazole levels; reassess the antifungal if pseudohyperaldosteronism is suspected. [7] [35] Isavuconazonium / Cresemba Isavuconazonium is converted to active isavuconazole. 372 mg isavuconazonium sulfate equals 200 mg isavuconazole. Oral absorption is reliable and not materially food dependent; IV does not require cyclodextrin. It shortens QT and is contraindicated in familial short-QT syndrome. GI symptoms and liver abnormalities occur; serious hypersensitivity is possible. It often has fewer visual/skin effects than voriconazole, but retains clinically important CYP3A interactions. [8] [20] Oral voriconazole does not require renal dose reduction. IV voriconazole and IV posaconazole contain SBECD, which can accumulate in renal impairment. Product labels favor avoiding these IV formulations below the specified renal threshold unless benefit outweighs risk. Consider oral therapy and monitor renal function. [6] [7]</a:t>
            </a:r>
          </a:p>
          <a:p xmlns:a="http://schemas.openxmlformats.org/drawingml/2006/main">
            <a:r>
              <a:t/>
            </a:r>
          </a:p>
          <a:p xmlns:a="http://schemas.openxmlformats.org/drawingml/2006/main">
            <a:r>
              <a:t>Module section: https://docarcshot.github.io/id-practice-update/lectures/Antifungals_Practical_Primer_Resident_Fellow.html#azoles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administration and adverse effects Fluconazole / Diflucan Oral absorption is reliable; use oral therapy when the patient can absorb it. Renal clearance makes maintenance dose adjustment important. It reaches urine and CSF well. Nausea and headache are common. Watch liver injury and QT prolongation. Less common effects include severe skin reactions, reversible alopecia with prolonged treatment, and reported adrenal insufficiency. Warfarin and other CYP substrates still require review. [4] Itraconazole / Sporanox; SUBA formulation / Tolsura Conventional capsules depend on food and gastric acidity. Solution is better absorbed fasting. SUBA formulations have different dosing and administration instructions. They are not interchangeable milligram for milligram. GI intolerance and liver injury can occur. Negative inotropic effects can cause edema or heart failure. Peripheral neuropathy, hearing loss, and pseudohyperaldosteronism are additional reported toxicities. New dyspnea or edema warrants evaluation for heart failure. [5] [3] Voriconazole / Vfend Take oral doses at least an hour before or after food. Variable CYP2C19 metabolism and nonlinear kinetics make TDM central to treatment. Transient visual changes are common. Hallucinations or encephalopathy may reflect excessive exposure. Also watch liver injury and QT prolongation. Prolonged treatment is associated with photosensitivity, cutaneous malignancy, and fluoride-associated periostitis. Bone pain with elevated alkaline phosphatase should prompt consideration of periostitis. Recommend sun protection and skin surveillance during prolonged treatment. [6] Posaconazole / Noxafil Delayed-release tablets or IV generally give more dependable exposure than conventional suspension. Suspension absorption depends on food and gastric conditions; do not substitute the formulations using the same dose. GI effects, liver injury, and QT prolongation occur. Hypertension plus hypokalemia can represent pseudohyperaldosteronism, often with low renin and aldosterone. Check BP, potassium, and posaconazole levels; reassess the antifungal if pseudohyperaldosteronism is suspected. [7] [35] Isavuconazonium / Cresemba Isavuconazonium is converted to active isavuconazole. 372 mg isavuconazonium sulfate equals 200 mg isavuconazole. Oral absorption is reliable and not materially food dependent; IV does not require cyclodextrin. It shortens QT and is contraindicated in familial short-QT syndrome. GI symptoms and liver abnormalities occur; serious hypersensitivity is possible. It often has fewer visual/skin effects than voriconazole, but retains clinically important CYP3A interactions. [8] [20] Oral voriconazole does not require renal dose reduction. IV voriconazole and IV posaconazole contain SBECD, which can accumulate in renal impairment. Product labels favor avoiding these IV formulations below the specified renal threshold unless benefit outweighs risk. Consider oral therapy and monitor renal function. [6] [7]</a:t>
            </a:r>
          </a:p>
          <a:p xmlns:a="http://schemas.openxmlformats.org/drawingml/2006/main">
            <a:r>
              <a:t/>
            </a:r>
          </a:p>
          <a:p xmlns:a="http://schemas.openxmlformats.org/drawingml/2006/main">
            <a:r>
              <a:t>Module section: https://docarcshot.github.io/id-practice-update/lectures/Antifungals_Practical_Primer_Resident_Fellow.html#azoles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administration and adverse effects Fluconazole / Diflucan Oral absorption is reliable; use oral therapy when the patient can absorb it. Renal clearance makes maintenance dose adjustment important. It reaches urine and CSF well. Nausea and headache are common. Watch liver injury and QT prolongation. Less common effects include severe skin reactions, reversible alopecia with prolonged treatment, and reported adrenal insufficiency. Warfarin and other CYP substrates still require review. [4] Itraconazole / Sporanox; SUBA formulation / Tolsura Conventional capsules depend on food and gastric acidity. Solution is better absorbed fasting. SUBA formulations have different dosing and administration instructions. They are not interchangeable milligram for milligram. GI intolerance and liver injury can occur. Negative inotropic effects can cause edema or heart failure. Peripheral neuropathy, hearing loss, and pseudohyperaldosteronism are additional reported toxicities. New dyspnea or edema warrants evaluation for heart failure. [5] [3] Voriconazole / Vfend Take oral doses at least an hour before or after food. Variable CYP2C19 metabolism and nonlinear kinetics make TDM central to treatment. Transient visual changes are common. Hallucinations or encephalopathy may reflect excessive exposure. Also watch liver injury and QT prolongation. Prolonged treatment is associated with photosensitivity, cutaneous malignancy, and fluoride-associated periostitis. Bone pain with elevated alkaline phosphatase should prompt consideration of periostitis. Recommend sun protection and skin surveillance during prolonged treatment. [6] Posaconazole / Noxafil Delayed-release tablets or IV generally give more dependable exposure than conventional suspension. Suspension absorption depends on food and gastric conditions; do not substitute the formulations using the same dose. GI effects, liver injury, and QT prolongation occur. Hypertension plus hypokalemia can represent pseudohyperaldosteronism, often with low renin and aldosterone. Check BP, potassium, and posaconazole levels; reassess the antifungal if pseudohyperaldosteronism is suspected. [7] [35] Isavuconazonium / Cresemba Isavuconazonium is converted to active isavuconazole. 372 mg isavuconazonium sulfate equals 200 mg isavuconazole. Oral absorption is reliable and not materially food dependent; IV does not require cyclodextrin. It shortens QT and is contraindicated in familial short-QT syndrome. GI symptoms and liver abnormalities occur; serious hypersensitivity is possible. It often has fewer visual/skin effects than voriconazole, but retains clinically important CYP3A interactions. [8] [20] Oral voriconazole does not require renal dose reduction. IV voriconazole and IV posaconazole contain SBECD, which can accumulate in renal impairment. Product labels favor avoiding these IV formulations below the specified renal threshold unless benefit outweighs risk. Consider oral therapy and monitor renal function. [6] [7]</a:t>
            </a:r>
          </a:p>
          <a:p xmlns:a="http://schemas.openxmlformats.org/drawingml/2006/main">
            <a:r>
              <a:t/>
            </a:r>
          </a:p>
          <a:p xmlns:a="http://schemas.openxmlformats.org/drawingml/2006/main">
            <a:r>
              <a:t>Module section: https://docarcshot.github.io/id-practice-update/lectures/Antifungals_Practical_Primer_Resident_Fellow.html#azoles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administration and adverse effects Fluconazole / Diflucan Oral absorption is reliable; use oral therapy when the patient can absorb it. Renal clearance makes maintenance dose adjustment important. It reaches urine and CSF well. Nausea and headache are common. Watch liver injury and QT prolongation. Less common effects include severe skin reactions, reversible alopecia with prolonged treatment, and reported adrenal insufficiency. Warfarin and other CYP substrates still require review. [4] Itraconazole / Sporanox; SUBA formulation / Tolsura Conventional capsules depend on food and gastric acidity. Solution is better absorbed fasting. SUBA formulations have different dosing and administration instructions. They are not interchangeable milligram for milligram. GI intolerance and liver injury can occur. Negative inotropic effects can cause edema or heart failure. Peripheral neuropathy, hearing loss, and pseudohyperaldosteronism are additional reported toxicities. New dyspnea or edema warrants evaluation for heart failure. [5] [3] Voriconazole / Vfend Take oral doses at least an hour before or after food. Variable CYP2C19 metabolism and nonlinear kinetics make TDM central to treatment. Transient visual changes are common. Hallucinations or encephalopathy may reflect excessive exposure. Also watch liver injury and QT prolongation. Prolonged treatment is associated with photosensitivity, cutaneous malignancy, and fluoride-associated periostitis. Bone pain with elevated alkaline phosphatase should prompt consideration of periostitis. Recommend sun protection and skin surveillance during prolonged treatment. [6] Posaconazole / Noxafil Delayed-release tablets or IV generally give more dependable exposure than conventional suspension. Suspension absorption depends on food and gastric conditions; do not substitute the formulations using the same dose. GI effects, liver injury, and QT prolongation occur. Hypertension plus hypokalemia can represent pseudohyperaldosteronism, often with low renin and aldosterone. Check BP, potassium, and posaconazole levels; reassess the antifungal if pseudohyperaldosteronism is suspected. [7] [35] Isavuconazonium / Cresemba Isavuconazonium is converted to active isavuconazole. 372 mg isavuconazonium sulfate equals 200 mg isavuconazole. Oral absorption is reliable and not materially food dependent; IV does not require cyclodextrin. It shortens QT and is contraindicated in familial short-QT syndrome. GI symptoms and liver abnormalities occur; serious hypersensitivity is possible. It often has fewer visual/skin effects than voriconazole, but retains clinically important CYP3A interactions. [8] [20] Oral voriconazole does not require renal dose reduction. IV voriconazole and IV posaconazole contain SBECD, which can accumulate in renal impairment. Product labels favor avoiding these IV formulations below the specified renal threshold unless benefit outweighs risk. Consider oral therapy and monitor renal function. [6] [7]</a:t>
            </a:r>
          </a:p>
          <a:p xmlns:a="http://schemas.openxmlformats.org/drawingml/2006/main">
            <a:r>
              <a:t/>
            </a:r>
          </a:p>
          <a:p xmlns:a="http://schemas.openxmlformats.org/drawingml/2006/main">
            <a:r>
              <a:t>Module section: https://docarcshot.github.io/id-practice-update/lectures/Antifungals_Practical_Primer_Resident_Fellow.html#azoles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administration and adverse effects Fluconazole / Diflucan Oral absorption is reliable; use oral therapy when the patient can absorb it. Renal clearance makes maintenance dose adjustment important. It reaches urine and CSF well. Nausea and headache are common. Watch liver injury and QT prolongation. Less common effects include severe skin reactions, reversible alopecia with prolonged treatment, and reported adrenal insufficiency. Warfarin and other CYP substrates still require review. [4] Itraconazole / Sporanox; SUBA formulation / Tolsura Conventional capsules depend on food and gastric acidity. Solution is better absorbed fasting. SUBA formulations have different dosing and administration instructions. They are not interchangeable milligram for milligram. GI intolerance and liver injury can occur. Negative inotropic effects can cause edema or heart failure. Peripheral neuropathy, hearing loss, and pseudohyperaldosteronism are additional reported toxicities. New dyspnea or edema warrants evaluation for heart failure. [5] [3] Voriconazole / Vfend Take oral doses at least an hour before or after food. Variable CYP2C19 metabolism and nonlinear kinetics make TDM central to treatment. Transient visual changes are common. Hallucinations or encephalopathy may reflect excessive exposure. Also watch liver injury and QT prolongation. Prolonged treatment is associated with photosensitivity, cutaneous malignancy, and fluoride-associated periostitis. Bone pain with elevated alkaline phosphatase should prompt consideration of periostitis. Recommend sun protection and skin surveillance during prolonged treatment. [6] Posaconazole / Noxafil Delayed-release tablets or IV generally give more dependable exposure than conventional suspension. Suspension absorption depends on food and gastric conditions; do not substitute the formulations using the same dose. GI effects, liver injury, and QT prolongation occur. Hypertension plus hypokalemia can represent pseudohyperaldosteronism, often with low renin and aldosterone. Check BP, potassium, and posaconazole levels; reassess the antifungal if pseudohyperaldosteronism is suspected. [7] [35] Isavuconazonium / Cresemba Isavuconazonium is converted to active isavuconazole. 372 mg isavuconazonium sulfate equals 200 mg isavuconazole. Oral absorption is reliable and not materially food dependent; IV does not require cyclodextrin. It shortens QT and is contraindicated in familial short-QT syndrome. GI symptoms and liver abnormalities occur; serious hypersensitivity is possible. It often has fewer visual/skin effects than voriconazole, but retains clinically important CYP3A interactions. [8] [20] Oral voriconazole does not require renal dose reduction. IV voriconazole and IV posaconazole contain SBECD, which can accumulate in renal impairment. Product labels favor avoiding these IV formulations below the specified renal threshold unless benefit outweighs risk. Consider oral therapy and monitor renal function. [6] [7]</a:t>
            </a:r>
          </a:p>
          <a:p xmlns:a="http://schemas.openxmlformats.org/drawingml/2006/main">
            <a:r>
              <a:t/>
            </a:r>
          </a:p>
          <a:p xmlns:a="http://schemas.openxmlformats.org/drawingml/2006/main">
            <a:r>
              <a:t>Module section: https://docarcshot.github.io/id-practice-update/lectures/Antifungals_Practical_Primer_Resident_Fellow.html#azoles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administration and adverse effects Fluconazole / Diflucan Oral absorption is reliable; use oral therapy when the patient can absorb it. Renal clearance makes maintenance dose adjustment important. It reaches urine and CSF well. Nausea and headache are common. Watch liver injury and QT prolongation. Less common effects include severe skin reactions, reversible alopecia with prolonged treatment, and reported adrenal insufficiency. Warfarin and other CYP substrates still require review. [4] Itraconazole / Sporanox; SUBA formulation / Tolsura Conventional capsules depend on food and gastric acidity. Solution is better absorbed fasting. SUBA formulations have different dosing and administration instructions. They are not interchangeable milligram for milligram. GI intolerance and liver injury can occur. Negative inotropic effects can cause edema or heart failure. Peripheral neuropathy, hearing loss, and pseudohyperaldosteronism are additional reported toxicities. New dyspnea or edema warrants evaluation for heart failure. [5] [3] Voriconazole / Vfend Take oral doses at least an hour before or after food. Variable CYP2C19 metabolism and nonlinear kinetics make TDM central to treatment. Transient visual changes are common. Hallucinations or encephalopathy may reflect excessive exposure. Also watch liver injury and QT prolongation. Prolonged treatment is associated with photosensitivity, cutaneous malignancy, and fluoride-associated periostitis. Bone pain with elevated alkaline phosphatase should prompt consideration of periostitis. Recommend sun protection and skin surveillance during prolonged treatment. [6] Posaconazole / Noxafil Delayed-release tablets or IV generally give more dependable exposure than conventional suspension. Suspension absorption depends on food and gastric conditions; do not substitute the formulations using the same dose. GI effects, liver injury, and QT prolongation occur. Hypertension plus hypokalemia can represent pseudohyperaldosteronism, often with low renin and aldosterone. Check BP, potassium, and posaconazole levels; reassess the antifungal if pseudohyperaldosteronism is suspected. [7] [35] Isavuconazonium / Cresemba Isavuconazonium is converted to active isavuconazole. 372 mg isavuconazonium sulfate equals 200 mg isavuconazole. Oral absorption is reliable and not materially food dependent; IV does not require cyclodextrin. It shortens QT and is contraindicated in familial short-QT syndrome. GI symptoms and liver abnormalities occur; serious hypersensitivity is possible. It often has fewer visual/skin effects than voriconazole, but retains clinically important CYP3A interactions. [8] [20] Oral voriconazole does not require renal dose reduction. IV voriconazole and IV posaconazole contain SBECD, which can accumulate in renal impairment. Product labels favor avoiding these IV formulations below the specified renal threshold unless benefit outweighs risk. Consider oral therapy and monitor renal function. [6] [7]</a:t>
            </a:r>
          </a:p>
          <a:p xmlns:a="http://schemas.openxmlformats.org/drawingml/2006/main">
            <a:r>
              <a:t/>
            </a:r>
          </a:p>
          <a:p xmlns:a="http://schemas.openxmlformats.org/drawingml/2006/main">
            <a:r>
              <a:t>Module section: https://docarcshot.github.io/id-practice-update/lectures/Antifungals_Practical_Primer_Resident_Fellow.html#azoles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Echinocandins, including micafungin Micafungin is IV only. It usually needs neither renal nor hepatic dose adjustment under U.S. labeling, and no dialysis replacement dose. It has fewer CYP interactions than azoles; review concomitant medications. Routine drug levels are not standard. [9] For candidemia, an echinocandin is a usual initial choice. Fluconazole step-down requires a clinically stable patient, susceptible isolate, and cleared blood cultures. Infected devices and undrained foci still need source control. [1] Micafungin has poor urinary, CSF, and vitreous exposure. See the urinary decision table for the distinction between collecting-system infection and hematogenous renal infection. Adverse effects include GI symptoms and liver test abnormalities. Infusion reactions can cause rash, flushing, or hypotension. Rare serious effects include hemolysis, hepatic failure, renal injury, and anaphylaxis. Monitor liver and renal function during treatment. [9] Fellow teaching Echinocandin resistance</a:t>
            </a:r>
          </a:p>
          <a:p xmlns:a="http://schemas.openxmlformats.org/drawingml/2006/main">
            <a:r>
              <a:t/>
            </a:r>
          </a:p>
          <a:p xmlns:a="http://schemas.openxmlformats.org/drawingml/2006/main">
            <a:r>
              <a:t>Module section: https://docarcshot.github.io/id-practice-update/lectures/Antifungals_Practical_Primer_Resident_Fellow.html#echino</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Echinocandins, including micafungin Micafungin is IV only. It usually needs neither renal nor hepatic dose adjustment under U.S. labeling, and no dialysis replacement dose. It has fewer CYP interactions than azoles; review concomitant medications. Routine drug levels are not standard. [9] For candidemia, an echinocandin is a usual initial choice. Fluconazole step-down requires a clinically stable patient, susceptible isolate, and cleared blood cultures. Infected devices and undrained foci still need source control. [1] Micafungin has poor urinary, CSF, and vitreous exposure. See the urinary decision table for the distinction between collecting-system infection and hematogenous renal infection. Adverse effects include GI symptoms and liver test abnormalities. Infusion reactions can cause rash, flushing, or hypotension. Rare serious effects include hemolysis, hepatic failure, renal injury, and anaphylaxis. Monitor liver and renal function during treatment. [9] Fellow teaching Echinocandin resistance</a:t>
            </a:r>
          </a:p>
          <a:p xmlns:a="http://schemas.openxmlformats.org/drawingml/2006/main">
            <a:r>
              <a:t/>
            </a:r>
          </a:p>
          <a:p xmlns:a="http://schemas.openxmlformats.org/drawingml/2006/main">
            <a:r>
              <a:t>Module section: https://docarcshot.github.io/id-practice-update/lectures/Antifungals_Practical_Primer_Resident_Fellow.html#echino</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Amphotericin B formulations and adverse effects Write the full formulation in the order. Liposomal amphotericin B, amphotericin B lipid complex, and deoxycholate differ in dose and toxicity. They are not interchangeable. Liposomal amphotericin reduces, but does not remove, nephrotoxicity and infusion reactions. [10] Follow creatinine, potassium, magnesium, CBC, and liver tests. Check renal function and electrolytes daily initially, replace potassium and magnesium as needed, and review other nephrotoxic drugs. Consider saline hydration if volume status allows. Prepare and dilute the drug according to the formulation's label; saline hydration and the drug infusion are separate orders. Common problems include AKI, potassium/magnesium wasting, infusion fever or rigors, and anemia. Less common serious events include hypersensitivity, chest/back pain during infusion, and arrhythmias, including those promoted by electrolyte disturbances. Unexpected phosphate elevation with AmBisome may be assay interference. [10] Amphotericin formulation matters for urinary infection. See the urinary exposure table ; liposomal amphotericin is not a substitute for deoxycholate in this setting. Flucytosine / Ancobon Flucytosine reaches the CNS and is used in selected combination induction regimens. Renal accumulation can cause marrow suppression and hepatotoxicity; GI intolerance is also common. Adjust for renal function and dialysis. Follow CBC, renal function, and liver tests closely, especially when amphotericin worsens renal clearance. [11]</a:t>
            </a:r>
          </a:p>
          <a:p xmlns:a="http://schemas.openxmlformats.org/drawingml/2006/main">
            <a:r>
              <a:t/>
            </a:r>
          </a:p>
          <a:p xmlns:a="http://schemas.openxmlformats.org/drawingml/2006/main">
            <a:r>
              <a:t>Module section: https://docarcshot.github.io/id-practice-update/lectures/Antifungals_Practical_Primer_Resident_Fellow.html#ampho</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Amphotericin B formulations and adverse effects Write the full formulation in the order. Liposomal amphotericin B, amphotericin B lipid complex, and deoxycholate differ in dose and toxicity. They are not interchangeable. Liposomal amphotericin reduces, but does not remove, nephrotoxicity and infusion reactions. [10] Follow creatinine, potassium, magnesium, CBC, and liver tests. Check renal function and electrolytes daily initially, replace potassium and magnesium as needed, and review other nephrotoxic drugs. Consider saline hydration if volume status allows. Prepare and dilute the drug according to the formulation's label; saline hydration and the drug infusion are separate orders. Common problems include AKI, potassium/magnesium wasting, infusion fever or rigors, and anemia. Less common serious events include hypersensitivity, chest/back pain during infusion, and arrhythmias, including those promoted by electrolyte disturbances. Unexpected phosphate elevation with AmBisome may be assay interference. [10] Amphotericin formulation matters for urinary infection. See the urinary exposure table ; liposomal amphotericin is not a substitute for deoxycholate in this setting. Flucytosine / Ancobon Flucytosine reaches the CNS and is used in selected combination induction regimens. Renal accumulation can cause marrow suppression and hepatotoxicity; GI intolerance is also common. Adjust for renal function and dialysis. Follow CBC, renal function, and liver tests closely, especially when amphotericin worsens renal clearance. [11]</a:t>
            </a:r>
          </a:p>
          <a:p xmlns:a="http://schemas.openxmlformats.org/drawingml/2006/main">
            <a:r>
              <a:t/>
            </a:r>
          </a:p>
          <a:p xmlns:a="http://schemas.openxmlformats.org/drawingml/2006/main">
            <a:r>
              <a:t>Module section: https://docarcshot.github.io/id-practice-update/lectures/Antifungals_Practical_Primer_Resident_Fellow.html#ampho</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Amphotericin B formulations and adverse effects Write the full formulation in the order. Liposomal amphotericin B, amphotericin B lipid complex, and deoxycholate differ in dose and toxicity. They are not interchangeable. Liposomal amphotericin reduces, but does not remove, nephrotoxicity and infusion reactions. [10] Follow creatinine, potassium, magnesium, CBC, and liver tests. Check renal function and electrolytes daily initially, replace potassium and magnesium as needed, and review other nephrotoxic drugs. Consider saline hydration if volume status allows. Prepare and dilute the drug according to the formulation's label; saline hydration and the drug infusion are separate orders. Common problems include AKI, potassium/magnesium wasting, infusion fever or rigors, and anemia. Less common serious events include hypersensitivity, chest/back pain during infusion, and arrhythmias, including those promoted by electrolyte disturbances. Unexpected phosphate elevation with AmBisome may be assay interference. [10] Amphotericin formulation matters for urinary infection. See the urinary exposure table ; liposomal amphotericin is not a substitute for deoxycholate in this setting. Flucytosine / Ancobon Flucytosine reaches the CNS and is used in selected combination induction regimens. Renal accumulation can cause marrow suppression and hepatotoxicity; GI intolerance is also common. Adjust for renal function and dialysis. Follow CBC, renal function, and liver tests closely, especially when amphotericin worsens renal clearance. [11]</a:t>
            </a:r>
          </a:p>
          <a:p xmlns:a="http://schemas.openxmlformats.org/drawingml/2006/main">
            <a:r>
              <a:t/>
            </a:r>
          </a:p>
          <a:p xmlns:a="http://schemas.openxmlformats.org/drawingml/2006/main">
            <a:r>
              <a:t>Module section: https://docarcshot.github.io/id-practice-update/lectures/Antifungals_Practical_Primer_Resident_Fellow.html#ampho</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CNS penetration CNS selection depends on the organism, clinical evidence, and drug exposure. CSF concentrations and brain tissue concentrations may differ. Drug Size / binding CNS finding Practical interpretation Fluconazole Small, about 306 Da; relatively water soluble; about 11-12% bound. CSF approximately 80% of plasma in fungal meningitis. No Aspergillus activity despite good CSF exposure. Voriconazole Small, about 349 Da; about 58% bound. Human CSF/plasma median 0.46 in a small PK study; brain entry demonstrated. Established preferred azole for CNS aspergillosis when the organism is susceptible. Itraconazole Large, about 706 Da; lipophilic; 99.8% bound. Low CSF concentrations despite substantial tissue distribution. Do not substitute for voriconazole in CNS aspergillosis on spectrum alone. Posaconazole Large, about 701 Da; lipophilic; &gt;98% bound. CSF exposure often low and variable. Selected CNS salvage use needs organism, exposure, and clinical evidence; serum levels do not directly measure brain exposure. Isavuconazole Active drug is smaller than itraconazole/posaconazole; &gt;99% bound. Brain tissue exposure has been demonstrated despite limited CSF exposure. Potential CNS use is organism-specific; human evidence is much smaller than for voriconazole in CNS aspergillosis. [4] [6] [5] [7] [8] [15] [16] [17] [18] Fellow teaching See molecular structures and the pharmacology behind these differences. Fellow teaching CSF versus brain tissue</a:t>
            </a:r>
          </a:p>
          <a:p xmlns:a="http://schemas.openxmlformats.org/drawingml/2006/main">
            <a:r>
              <a:t/>
            </a:r>
          </a:p>
          <a:p xmlns:a="http://schemas.openxmlformats.org/drawingml/2006/main">
            <a:r>
              <a:t>Module section: https://docarcshot.github.io/id-practice-update/lectures/Antifungals_Practical_Primer_Resident_Fellow.html#cns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CNS penetration CNS selection depends on the organism, clinical evidence, and drug exposure. CSF concentrations and brain tissue concentrations may differ. Drug Size / binding CNS finding Practical interpretation Fluconazole Small, about 306 Da; relatively water soluble; about 11-12% bound. CSF approximately 80% of plasma in fungal meningitis. No Aspergillus activity despite good CSF exposure. Voriconazole Small, about 349 Da; about 58% bound. Human CSF/plasma median 0.46 in a small PK study; brain entry demonstrated. Established preferred azole for CNS aspergillosis when the organism is susceptible. Itraconazole Large, about 706 Da; lipophilic; 99.8% bound. Low CSF concentrations despite substantial tissue distribution. Do not substitute for voriconazole in CNS aspergillosis on spectrum alone. Posaconazole Large, about 701 Da; lipophilic; &gt;98% bound. CSF exposure often low and variable. Selected CNS salvage use needs organism, exposure, and clinical evidence; serum levels do not directly measure brain exposure. Isavuconazole Active drug is smaller than itraconazole/posaconazole; &gt;99% bound. Brain tissue exposure has been demonstrated despite limited CSF exposure. Potential CNS use is organism-specific; human evidence is much smaller than for voriconazole in CNS aspergillosis. [4] [6] [5] [7] [8] [15] [16] [17] [18] Fellow teaching See molecular structures and the pharmacology behind these differences. Fellow teaching CSF versus brain tissue</a:t>
            </a:r>
          </a:p>
          <a:p xmlns:a="http://schemas.openxmlformats.org/drawingml/2006/main">
            <a:r>
              <a:t/>
            </a:r>
          </a:p>
          <a:p xmlns:a="http://schemas.openxmlformats.org/drawingml/2006/main">
            <a:r>
              <a:t>Module section: https://docarcshot.github.io/id-practice-update/lectures/Antifungals_Practical_Primer_Resident_Fellow.html#cns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CNS penetration CNS selection depends on the organism, clinical evidence, and drug exposure. CSF concentrations and brain tissue concentrations may differ. Drug Size / binding CNS finding Practical interpretation Fluconazole Small, about 306 Da; relatively water soluble; about 11-12% bound. CSF approximately 80% of plasma in fungal meningitis. No Aspergillus activity despite good CSF exposure. Voriconazole Small, about 349 Da; about 58% bound. Human CSF/plasma median 0.46 in a small PK study; brain entry demonstrated. Established preferred azole for CNS aspergillosis when the organism is susceptible. Itraconazole Large, about 706 Da; lipophilic; 99.8% bound. Low CSF concentrations despite substantial tissue distribution. Do not substitute for voriconazole in CNS aspergillosis on spectrum alone. Posaconazole Large, about 701 Da; lipophilic; &gt;98% bound. CSF exposure often low and variable. Selected CNS salvage use needs organism, exposure, and clinical evidence; serum levels do not directly measure brain exposure. Isavuconazole Active drug is smaller than itraconazole/posaconazole; &gt;99% bound. Brain tissue exposure has been demonstrated despite limited CSF exposure. Potential CNS use is organism-specific; human evidence is much smaller than for voriconazole in CNS aspergillosis. [4] [6] [5] [7] [8] [15] [16] [17] [18] Fellow teaching See molecular structures and the pharmacology behind these differences. Fellow teaching CSF versus brain tissue</a:t>
            </a:r>
          </a:p>
          <a:p xmlns:a="http://schemas.openxmlformats.org/drawingml/2006/main">
            <a:r>
              <a:t/>
            </a:r>
          </a:p>
          <a:p xmlns:a="http://schemas.openxmlformats.org/drawingml/2006/main">
            <a:r>
              <a:t>Module section: https://docarcshot.github.io/id-practice-update/lectures/Antifungals_Practical_Primer_Resident_Fellow.html#cns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CNS penetration CNS selection depends on the organism, clinical evidence, and drug exposure. CSF concentrations and brain tissue concentrations may differ. Drug Size / binding CNS finding Practical interpretation Fluconazole Small, about 306 Da; relatively water soluble; about 11-12% bound. CSF approximately 80% of plasma in fungal meningitis. No Aspergillus activity despite good CSF exposure. Voriconazole Small, about 349 Da; about 58% bound. Human CSF/plasma median 0.46 in a small PK study; brain entry demonstrated. Established preferred azole for CNS aspergillosis when the organism is susceptible. Itraconazole Large, about 706 Da; lipophilic; 99.8% bound. Low CSF concentrations despite substantial tissue distribution. Do not substitute for voriconazole in CNS aspergillosis on spectrum alone. Posaconazole Large, about 701 Da; lipophilic; &gt;98% bound. CSF exposure often low and variable. Selected CNS salvage use needs organism, exposure, and clinical evidence; serum levels do not directly measure brain exposure. Isavuconazole Active drug is smaller than itraconazole/posaconazole; &gt;99% bound. Brain tissue exposure has been demonstrated despite limited CSF exposure. Potential CNS use is organism-specific; human evidence is much smaller than for voriconazole in CNS aspergillosis. [4] [6] [5] [7] [8] [15] [16] [17] [18] Fellow teaching See molecular structures and the pharmacology behind these differences. Fellow teaching CSF versus brain tissue</a:t>
            </a:r>
          </a:p>
          <a:p xmlns:a="http://schemas.openxmlformats.org/drawingml/2006/main">
            <a:r>
              <a:t/>
            </a:r>
          </a:p>
          <a:p xmlns:a="http://schemas.openxmlformats.org/drawingml/2006/main">
            <a:r>
              <a:t>Module section: https://docarcshot.github.io/id-practice-update/lectures/Antifungals_Practical_Primer_Resident_Fellow.html#cns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CNS penetration CNS selection depends on the organism, clinical evidence, and drug exposure. CSF concentrations and brain tissue concentrations may differ. Drug Size / binding CNS finding Practical interpretation Fluconazole Small, about 306 Da; relatively water soluble; about 11-12% bound. CSF approximately 80% of plasma in fungal meningitis. No Aspergillus activity despite good CSF exposure. Voriconazole Small, about 349 Da; about 58% bound. Human CSF/plasma median 0.46 in a small PK study; brain entry demonstrated. Established preferred azole for CNS aspergillosis when the organism is susceptible. Itraconazole Large, about 706 Da; lipophilic; 99.8% bound. Low CSF concentrations despite substantial tissue distribution. Do not substitute for voriconazole in CNS aspergillosis on spectrum alone. Posaconazole Large, about 701 Da; lipophilic; &gt;98% bound. CSF exposure often low and variable. Selected CNS salvage use needs organism, exposure, and clinical evidence; serum levels do not directly measure brain exposure. Isavuconazole Active drug is smaller than itraconazole/posaconazole; &gt;99% bound. Brain tissue exposure has been demonstrated despite limited CSF exposure. Potential CNS use is organism-specific; human evidence is much smaller than for voriconazole in CNS aspergillosis. [4] [6] [5] [7] [8] [15] [16] [17] [18] Fellow teaching See molecular structures and the pharmacology behind these differences. Fellow teaching CSF versus brain tissue</a:t>
            </a:r>
          </a:p>
          <a:p xmlns:a="http://schemas.openxmlformats.org/drawingml/2006/main">
            <a:r>
              <a:t/>
            </a:r>
          </a:p>
          <a:p xmlns:a="http://schemas.openxmlformats.org/drawingml/2006/main">
            <a:r>
              <a:t>Module section: https://docarcshot.github.io/id-practice-update/lectures/Antifungals_Practical_Primer_Resident_Fellow.html#cns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CNS penetration CNS selection depends on the organism, clinical evidence, and drug exposure. CSF concentrations and brain tissue concentrations may differ. Drug Size / binding CNS finding Practical interpretation Fluconazole Small, about 306 Da; relatively water soluble; about 11-12% bound. CSF approximately 80% of plasma in fungal meningitis. No Aspergillus activity despite good CSF exposure. Voriconazole Small, about 349 Da; about 58% bound. Human CSF/plasma median 0.46 in a small PK study; brain entry demonstrated. Established preferred azole for CNS aspergillosis when the organism is susceptible. Itraconazole Large, about 706 Da; lipophilic; 99.8% bound. Low CSF concentrations despite substantial tissue distribution. Do not substitute for voriconazole in CNS aspergillosis on spectrum alone. Posaconazole Large, about 701 Da; lipophilic; &gt;98% bound. CSF exposure often low and variable. Selected CNS salvage use needs organism, exposure, and clinical evidence; serum levels do not directly measure brain exposure. Isavuconazole Active drug is smaller than itraconazole/posaconazole; &gt;99% bound. Brain tissue exposure has been demonstrated despite limited CSF exposure. Potential CNS use is organism-specific; human evidence is much smaller than for voriconazole in CNS aspergillosis. [4] [6] [5] [7] [8] [15] [16] [17] [18] Fellow teaching See molecular structures and the pharmacology behind these differences. Fellow teaching CSF versus brain tissue</a:t>
            </a:r>
          </a:p>
          <a:p xmlns:a="http://schemas.openxmlformats.org/drawingml/2006/main">
            <a:r>
              <a:t/>
            </a:r>
          </a:p>
          <a:p xmlns:a="http://schemas.openxmlformats.org/drawingml/2006/main">
            <a:r>
              <a:t>Module section: https://docarcshot.github.io/id-practice-update/lectures/Antifungals_Practical_Primer_Resident_Fellow.html#cns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CNS penetration CNS selection depends on the organism, clinical evidence, and drug exposure. CSF concentrations and brain tissue concentrations may differ. Drug Size / binding CNS finding Practical interpretation Fluconazole Small, about 306 Da; relatively water soluble; about 11-12% bound. CSF approximately 80% of plasma in fungal meningitis. No Aspergillus activity despite good CSF exposure. Voriconazole Small, about 349 Da; about 58% bound. Human CSF/plasma median 0.46 in a small PK study; brain entry demonstrated. Established preferred azole for CNS aspergillosis when the organism is susceptible. Itraconazole Large, about 706 Da; lipophilic; 99.8% bound. Low CSF concentrations despite substantial tissue distribution. Do not substitute for voriconazole in CNS aspergillosis on spectrum alone. Posaconazole Large, about 701 Da; lipophilic; &gt;98% bound. CSF exposure often low and variable. Selected CNS salvage use needs organism, exposure, and clinical evidence; serum levels do not directly measure brain exposure. Isavuconazole Active drug is smaller than itraconazole/posaconazole; &gt;99% bound. Brain tissue exposure has been demonstrated despite limited CSF exposure. Potential CNS use is organism-specific; human evidence is much smaller than for voriconazole in CNS aspergillosis. [4] [6] [5] [7] [8] [15] [16] [17] [18] Fellow teaching See molecular structures and the pharmacology behind these differences. Fellow teaching CSF versus brain tissue</a:t>
            </a:r>
          </a:p>
          <a:p xmlns:a="http://schemas.openxmlformats.org/drawingml/2006/main">
            <a:r>
              <a:t/>
            </a:r>
          </a:p>
          <a:p xmlns:a="http://schemas.openxmlformats.org/drawingml/2006/main">
            <a:r>
              <a:t>Module section: https://docarcshot.github.io/id-practice-update/lectures/Antifungals_Practical_Primer_Resident_Fellow.html#cns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Candiduria and urinary drug concentrations Candiduria alone does not establish infection. Asymptomatic candiduria usually needs risk-factor and catheter management, not an antifungal. IDSA exceptions include neutropenia, very low-birth-weight infants, and planned urologic manipulation. Diabetes or a chronic catheter alone is not an indication to treat. Presentation Treatment decision Asymptomatic candiduria Usually observe and remove or replace an unnecessary catheter. Assess the exceptions above. Compatible cystitis symptoms Exclude other causes. If the Candida isolate is fluconazole susceptible, fluconazole is the usual preferred drug. Ascending pyelonephritis or obstructed collecting system Use a urine-active drug guided by susceptibility. Relieve obstruction; consider stent/nephrostomy removal or exchange. Fungus balls generally require intervention. Candidemia with hematogenous renal involvement Treat invasive candidiasis. Micafungin can remain appropriate because renal tissue exposure differs from drug concentration in urine. In catheterized patients, pyuria and colony count cannot reliably distinguish colonization from infection. Unexplained systemic illness, obstruction, or persistent compatible symptoms may warrant further evaluation and imaging. [1] Antifungal concentrations in urine Drug Urinary exposure Practical consequence Fluconazole High active-drug concentrations. Preferred for susceptible Candida urinary infection; adjust maintenance dosing for renal function. Micafungin and other echinocandins Very poor active-drug excretion into urine. Not routine therapy for Candida cystitis or ascending collecting-system infection. Hematogenous renal infection is a different setting. Voriconazole, itraconazole, posaconazole, isavuconazole Low active-drug urinary exposure. Do not select a mold-active azole for Candida cystitis simply because the isolate appears susceptible. Amphotericin B deoxycholate Useful urinary concentrations. Selected resistant Candida urinary infections; substantial toxicity limits use. Liposomal amphotericin B and other lipid formulations Inadequate urinary concentrations for routine Candida UTI treatment. Not interchangeable with deoxycholate for this indication. Flucytosine High active-drug urinary concentrations. Selected resistant C. glabrata infections; not reliable for C. krusei. Renal accumulation, marrow toxicity, and resistance limit use. [1]</a:t>
            </a:r>
          </a:p>
          <a:p xmlns:a="http://schemas.openxmlformats.org/drawingml/2006/main">
            <a:r>
              <a:t/>
            </a:r>
          </a:p>
          <a:p xmlns:a="http://schemas.openxmlformats.org/drawingml/2006/main">
            <a:r>
              <a:t>Module section: https://docarcshot.github.io/id-practice-update/lectures/Antifungals_Practical_Primer_Resident_Fellow.html#urinary</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Candiduria and urinary drug concentrations Candiduria alone does not establish infection. Asymptomatic candiduria usually needs risk-factor and catheter management, not an antifungal. IDSA exceptions include neutropenia, very low-birth-weight infants, and planned urologic manipulation. Diabetes or a chronic catheter alone is not an indication to treat. Presentation Treatment decision Asymptomatic candiduria Usually observe and remove or replace an unnecessary catheter. Assess the exceptions above. Compatible cystitis symptoms Exclude other causes. If the Candida isolate is fluconazole susceptible, fluconazole is the usual preferred drug. Ascending pyelonephritis or obstructed collecting system Use a urine-active drug guided by susceptibility. Relieve obstruction; consider stent/nephrostomy removal or exchange. Fungus balls generally require intervention. Candidemia with hematogenous renal involvement Treat invasive candidiasis. Micafungin can remain appropriate because renal tissue exposure differs from drug concentration in urine. In catheterized patients, pyuria and colony count cannot reliably distinguish colonization from infection. Unexplained systemic illness, obstruction, or persistent compatible symptoms may warrant further evaluation and imaging. [1] Antifungal concentrations in urine Drug Urinary exposure Practical consequence Fluconazole High active-drug concentrations. Preferred for susceptible Candida urinary infection; adjust maintenance dosing for renal function. Micafungin and other echinocandins Very poor active-drug excretion into urine. Not routine therapy for Candida cystitis or ascending collecting-system infection. Hematogenous renal infection is a different setting. Voriconazole, itraconazole, posaconazole, isavuconazole Low active-drug urinary exposure. Do not select a mold-active azole for Candida cystitis simply because the isolate appears susceptible. Amphotericin B deoxycholate Useful urinary concentrations. Selected resistant Candida urinary infections; substantial toxicity limits use. Liposomal amphotericin B and other lipid formulations Inadequate urinary concentrations for routine Candida UTI treatment. Not interchangeable with deoxycholate for this indication. Flucytosine High active-drug urinary concentrations. Selected resistant C. glabrata infections; not reliable for C. krusei. Renal accumulation, marrow toxicity, and resistance limit use. [1]</a:t>
            </a:r>
          </a:p>
          <a:p xmlns:a="http://schemas.openxmlformats.org/drawingml/2006/main">
            <a:r>
              <a:t/>
            </a:r>
          </a:p>
          <a:p xmlns:a="http://schemas.openxmlformats.org/drawingml/2006/main">
            <a:r>
              <a:t>Module section: https://docarcshot.github.io/id-practice-update/lectures/Antifungals_Practical_Primer_Resident_Fellow.html#urinary</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Candiduria and urinary drug concentrations Candiduria alone does not establish infection. Asymptomatic candiduria usually needs risk-factor and catheter management, not an antifungal. IDSA exceptions include neutropenia, very low-birth-weight infants, and planned urologic manipulation. Diabetes or a chronic catheter alone is not an indication to treat. Presentation Treatment decision Asymptomatic candiduria Usually observe and remove or replace an unnecessary catheter. Assess the exceptions above. Compatible cystitis symptoms Exclude other causes. If the Candida isolate is fluconazole susceptible, fluconazole is the usual preferred drug. Ascending pyelonephritis or obstructed collecting system Use a urine-active drug guided by susceptibility. Relieve obstruction; consider stent/nephrostomy removal or exchange. Fungus balls generally require intervention. Candidemia with hematogenous renal involvement Treat invasive candidiasis. Micafungin can remain appropriate because renal tissue exposure differs from drug concentration in urine. In catheterized patients, pyuria and colony count cannot reliably distinguish colonization from infection. Unexplained systemic illness, obstruction, or persistent compatible symptoms may warrant further evaluation and imaging. [1] Antifungal concentrations in urine Drug Urinary exposure Practical consequence Fluconazole High active-drug concentrations. Preferred for susceptible Candida urinary infection; adjust maintenance dosing for renal function. Micafungin and other echinocandins Very poor active-drug excretion into urine. Not routine therapy for Candida cystitis or ascending collecting-system infection. Hematogenous renal infection is a different setting. Voriconazole, itraconazole, posaconazole, isavuconazole Low active-drug urinary exposure. Do not select a mold-active azole for Candida cystitis simply because the isolate appears susceptible. Amphotericin B deoxycholate Useful urinary concentrations. Selected resistant Candida urinary infections; substantial toxicity limits use. Liposomal amphotericin B and other lipid formulations Inadequate urinary concentrations for routine Candida UTI treatment. Not interchangeable with deoxycholate for this indication. Flucytosine High active-drug urinary concentrations. Selected resistant C. glabrata infections; not reliable for C. krusei. Renal accumulation, marrow toxicity, and resistance limit use. [1]</a:t>
            </a:r>
          </a:p>
          <a:p xmlns:a="http://schemas.openxmlformats.org/drawingml/2006/main">
            <a:r>
              <a:t/>
            </a:r>
          </a:p>
          <a:p xmlns:a="http://schemas.openxmlformats.org/drawingml/2006/main">
            <a:r>
              <a:t>Module section: https://docarcshot.github.io/id-practice-update/lectures/Antifungals_Practical_Primer_Resident_Fellow.html#urinary</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Candiduria and urinary drug concentrations Candiduria alone does not establish infection. Asymptomatic candiduria usually needs risk-factor and catheter management, not an antifungal. IDSA exceptions include neutropenia, very low-birth-weight infants, and planned urologic manipulation. Diabetes or a chronic catheter alone is not an indication to treat. Presentation Treatment decision Asymptomatic candiduria Usually observe and remove or replace an unnecessary catheter. Assess the exceptions above. Compatible cystitis symptoms Exclude other causes. If the Candida isolate is fluconazole susceptible, fluconazole is the usual preferred drug. Ascending pyelonephritis or obstructed collecting system Use a urine-active drug guided by susceptibility. Relieve obstruction; consider stent/nephrostomy removal or exchange. Fungus balls generally require intervention. Candidemia with hematogenous renal involvement Treat invasive candidiasis. Micafungin can remain appropriate because renal tissue exposure differs from drug concentration in urine. In catheterized patients, pyuria and colony count cannot reliably distinguish colonization from infection. Unexplained systemic illness, obstruction, or persistent compatible symptoms may warrant further evaluation and imaging. [1] Antifungal concentrations in urine Drug Urinary exposure Practical consequence Fluconazole High active-drug concentrations. Preferred for susceptible Candida urinary infection; adjust maintenance dosing for renal function. Micafungin and other echinocandins Very poor active-drug excretion into urine. Not routine therapy for Candida cystitis or ascending collecting-system infection. Hematogenous renal infection is a different setting. Voriconazole, itraconazole, posaconazole, isavuconazole Low active-drug urinary exposure. Do not select a mold-active azole for Candida cystitis simply because the isolate appears susceptible. Amphotericin B deoxycholate Useful urinary concentrations. Selected resistant Candida urinary infections; substantial toxicity limits use. Liposomal amphotericin B and other lipid formulations Inadequate urinary concentrations for routine Candida UTI treatment. Not interchangeable with deoxycholate for this indication. Flucytosine High active-drug urinary concentrations. Selected resistant C. glabrata infections; not reliable for C. krusei. Renal accumulation, marrow toxicity, and resistance limit use. [1]</a:t>
            </a:r>
          </a:p>
          <a:p xmlns:a="http://schemas.openxmlformats.org/drawingml/2006/main">
            <a:r>
              <a:t/>
            </a:r>
          </a:p>
          <a:p xmlns:a="http://schemas.openxmlformats.org/drawingml/2006/main">
            <a:r>
              <a:t>Module section: https://docarcshot.github.io/id-practice-update/lectures/Antifungals_Practical_Primer_Resident_Fellow.html#urinary</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Candiduria and urinary drug concentrations Candiduria alone does not establish infection. Asymptomatic candiduria usually needs risk-factor and catheter management, not an antifungal. IDSA exceptions include neutropenia, very low-birth-weight infants, and planned urologic manipulation. Diabetes or a chronic catheter alone is not an indication to treat. Presentation Treatment decision Asymptomatic candiduria Usually observe and remove or replace an unnecessary catheter. Assess the exceptions above. Compatible cystitis symptoms Exclude other causes. If the Candida isolate is fluconazole susceptible, fluconazole is the usual preferred drug. Ascending pyelonephritis or obstructed collecting system Use a urine-active drug guided by susceptibility. Relieve obstruction; consider stent/nephrostomy removal or exchange. Fungus balls generally require intervention. Candidemia with hematogenous renal involvement Treat invasive candidiasis. Micafungin can remain appropriate because renal tissue exposure differs from drug concentration in urine. In catheterized patients, pyuria and colony count cannot reliably distinguish colonization from infection. Unexplained systemic illness, obstruction, or persistent compatible symptoms may warrant further evaluation and imaging. [1] Antifungal concentrations in urine Drug Urinary exposure Practical consequence Fluconazole High active-drug concentrations. Preferred for susceptible Candida urinary infection; adjust maintenance dosing for renal function. Micafungin and other echinocandins Very poor active-drug excretion into urine. Not routine therapy for Candida cystitis or ascending collecting-system infection. Hematogenous renal infection is a different setting. Voriconazole, itraconazole, posaconazole, isavuconazole Low active-drug urinary exposure. Do not select a mold-active azole for Candida cystitis simply because the isolate appears susceptible. Amphotericin B deoxycholate Useful urinary concentrations. Selected resistant Candida urinary infections; substantial toxicity limits use. Liposomal amphotericin B and other lipid formulations Inadequate urinary concentrations for routine Candida UTI treatment. Not interchangeable with deoxycholate for this indication. Flucytosine High active-drug urinary concentrations. Selected resistant C. glabrata infections; not reliable for C. krusei. Renal accumulation, marrow toxicity, and resistance limit use. [1]</a:t>
            </a:r>
          </a:p>
          <a:p xmlns:a="http://schemas.openxmlformats.org/drawingml/2006/main">
            <a:r>
              <a:t/>
            </a:r>
          </a:p>
          <a:p xmlns:a="http://schemas.openxmlformats.org/drawingml/2006/main">
            <a:r>
              <a:t>Module section: https://docarcshot.github.io/id-practice-update/lectures/Antifungals_Practical_Primer_Resident_Fellow.html#urinary</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Candiduria and urinary drug concentrations Candiduria alone does not establish infection. Asymptomatic candiduria usually needs risk-factor and catheter management, not an antifungal. IDSA exceptions include neutropenia, very low-birth-weight infants, and planned urologic manipulation. Diabetes or a chronic catheter alone is not an indication to treat. Presentation Treatment decision Asymptomatic candiduria Usually observe and remove or replace an unnecessary catheter. Assess the exceptions above. Compatible cystitis symptoms Exclude other causes. If the Candida isolate is fluconazole susceptible, fluconazole is the usual preferred drug. Ascending pyelonephritis or obstructed collecting system Use a urine-active drug guided by susceptibility. Relieve obstruction; consider stent/nephrostomy removal or exchange. Fungus balls generally require intervention. Candidemia with hematogenous renal involvement Treat invasive candidiasis. Micafungin can remain appropriate because renal tissue exposure differs from drug concentration in urine. In catheterized patients, pyuria and colony count cannot reliably distinguish colonization from infection. Unexplained systemic illness, obstruction, or persistent compatible symptoms may warrant further evaluation and imaging. [1] Antifungal concentrations in urine Drug Urinary exposure Practical consequence Fluconazole High active-drug concentrations. Preferred for susceptible Candida urinary infection; adjust maintenance dosing for renal function. Micafungin and other echinocandins Very poor active-drug excretion into urine. Not routine therapy for Candida cystitis or ascending collecting-system infection. Hematogenous renal infection is a different setting. Voriconazole, itraconazole, posaconazole, isavuconazole Low active-drug urinary exposure. Do not select a mold-active azole for Candida cystitis simply because the isolate appears susceptible. Amphotericin B deoxycholate Useful urinary concentrations. Selected resistant Candida urinary infections; substantial toxicity limits use. Liposomal amphotericin B and other lipid formulations Inadequate urinary concentrations for routine Candida UTI treatment. Not interchangeable with deoxycholate for this indication. Flucytosine High active-drug urinary concentrations. Selected resistant C. glabrata infections; not reliable for C. krusei. Renal accumulation, marrow toxicity, and resistance limit use. [1]</a:t>
            </a:r>
          </a:p>
          <a:p xmlns:a="http://schemas.openxmlformats.org/drawingml/2006/main">
            <a:r>
              <a:t/>
            </a:r>
          </a:p>
          <a:p xmlns:a="http://schemas.openxmlformats.org/drawingml/2006/main">
            <a:r>
              <a:t>Module section: https://docarcshot.github.io/id-practice-update/lectures/Antifungals_Practical_Primer_Resident_Fellow.html#urinary</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Candiduria and urinary drug concentrations Candiduria alone does not establish infection. Asymptomatic candiduria usually needs risk-factor and catheter management, not an antifungal. IDSA exceptions include neutropenia, very low-birth-weight infants, and planned urologic manipulation. Diabetes or a chronic catheter alone is not an indication to treat. Presentation Treatment decision Asymptomatic candiduria Usually observe and remove or replace an unnecessary catheter. Assess the exceptions above. Compatible cystitis symptoms Exclude other causes. If the Candida isolate is fluconazole susceptible, fluconazole is the usual preferred drug. Ascending pyelonephritis or obstructed collecting system Use a urine-active drug guided by susceptibility. Relieve obstruction; consider stent/nephrostomy removal or exchange. Fungus balls generally require intervention. Candidemia with hematogenous renal involvement Treat invasive candidiasis. Micafungin can remain appropriate because renal tissue exposure differs from drug concentration in urine. In catheterized patients, pyuria and colony count cannot reliably distinguish colonization from infection. Unexplained systemic illness, obstruction, or persistent compatible symptoms may warrant further evaluation and imaging. [1] Antifungal concentrations in urine Drug Urinary exposure Practical consequence Fluconazole High active-drug concentrations. Preferred for susceptible Candida urinary infection; adjust maintenance dosing for renal function. Micafungin and other echinocandins Very poor active-drug excretion into urine. Not routine therapy for Candida cystitis or ascending collecting-system infection. Hematogenous renal infection is a different setting. Voriconazole, itraconazole, posaconazole, isavuconazole Low active-drug urinary exposure. Do not select a mold-active azole for Candida cystitis simply because the isolate appears susceptible. Amphotericin B deoxycholate Useful urinary concentrations. Selected resistant Candida urinary infections; substantial toxicity limits use. Liposomal amphotericin B and other lipid formulations Inadequate urinary concentrations for routine Candida UTI treatment. Not interchangeable with deoxycholate for this indication. Flucytosine High active-drug urinary concentrations. Selected resistant C. glabrata infections; not reliable for C. krusei. Renal accumulation, marrow toxicity, and resistance limit use. [1]</a:t>
            </a:r>
          </a:p>
          <a:p xmlns:a="http://schemas.openxmlformats.org/drawingml/2006/main">
            <a:r>
              <a:t/>
            </a:r>
          </a:p>
          <a:p xmlns:a="http://schemas.openxmlformats.org/drawingml/2006/main">
            <a:r>
              <a:t>Module section: https://docarcshot.github.io/id-practice-update/lectures/Antifungals_Practical_Primer_Resident_Fellow.html#urinary</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Candiduria and urinary drug concentrations Candiduria alone does not establish infection. Asymptomatic candiduria usually needs risk-factor and catheter management, not an antifungal. IDSA exceptions include neutropenia, very low-birth-weight infants, and planned urologic manipulation. Diabetes or a chronic catheter alone is not an indication to treat. Presentation Treatment decision Asymptomatic candiduria Usually observe and remove or replace an unnecessary catheter. Assess the exceptions above. Compatible cystitis symptoms Exclude other causes. If the Candida isolate is fluconazole susceptible, fluconazole is the usual preferred drug. Ascending pyelonephritis or obstructed collecting system Use a urine-active drug guided by susceptibility. Relieve obstruction; consider stent/nephrostomy removal or exchange. Fungus balls generally require intervention. Candidemia with hematogenous renal involvement Treat invasive candidiasis. Micafungin can remain appropriate because renal tissue exposure differs from drug concentration in urine. In catheterized patients, pyuria and colony count cannot reliably distinguish colonization from infection. Unexplained systemic illness, obstruction, or persistent compatible symptoms may warrant further evaluation and imaging. [1] Antifungal concentrations in urine Drug Urinary exposure Practical consequence Fluconazole High active-drug concentrations. Preferred for susceptible Candida urinary infection; adjust maintenance dosing for renal function. Micafungin and other echinocandins Very poor active-drug excretion into urine. Not routine therapy for Candida cystitis or ascending collecting-system infection. Hematogenous renal infection is a different setting. Voriconazole, itraconazole, posaconazole, isavuconazole Low active-drug urinary exposure. Do not select a mold-active azole for Candida cystitis simply because the isolate appears susceptible. Amphotericin B deoxycholate Useful urinary concentrations. Selected resistant Candida urinary infections; substantial toxicity limits use. Liposomal amphotericin B and other lipid formulations Inadequate urinary concentrations for routine Candida UTI treatment. Not interchangeable with deoxycholate for this indication. Flucytosine High active-drug urinary concentrations. Selected resistant C. glabrata infections; not reliable for C. krusei. Renal accumulation, marrow toxicity, and resistance limit use. [1]</a:t>
            </a:r>
          </a:p>
          <a:p xmlns:a="http://schemas.openxmlformats.org/drawingml/2006/main">
            <a:r>
              <a:t/>
            </a:r>
          </a:p>
          <a:p xmlns:a="http://schemas.openxmlformats.org/drawingml/2006/main">
            <a:r>
              <a:t>Module section: https://docarcshot.github.io/id-practice-update/lectures/Antifungals_Practical_Primer_Resident_Fellow.html#urinary</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Candiduria and urinary drug concentrations Candiduria alone does not establish infection. Asymptomatic candiduria usually needs risk-factor and catheter management, not an antifungal. IDSA exceptions include neutropenia, very low-birth-weight infants, and planned urologic manipulation. Diabetes or a chronic catheter alone is not an indication to treat. Presentation Treatment decision Asymptomatic candiduria Usually observe and remove or replace an unnecessary catheter. Assess the exceptions above. Compatible cystitis symptoms Exclude other causes. If the Candida isolate is fluconazole susceptible, fluconazole is the usual preferred drug. Ascending pyelonephritis or obstructed collecting system Use a urine-active drug guided by susceptibility. Relieve obstruction; consider stent/nephrostomy removal or exchange. Fungus balls generally require intervention. Candidemia with hematogenous renal involvement Treat invasive candidiasis. Micafungin can remain appropriate because renal tissue exposure differs from drug concentration in urine. In catheterized patients, pyuria and colony count cannot reliably distinguish colonization from infection. Unexplained systemic illness, obstruction, or persistent compatible symptoms may warrant further evaluation and imaging. [1] Antifungal concentrations in urine Drug Urinary exposure Practical consequence Fluconazole High active-drug concentrations. Preferred for susceptible Candida urinary infection; adjust maintenance dosing for renal function. Micafungin and other echinocandins Very poor active-drug excretion into urine. Not routine therapy for Candida cystitis or ascending collecting-system infection. Hematogenous renal infection is a different setting. Voriconazole, itraconazole, posaconazole, isavuconazole Low active-drug urinary exposure. Do not select a mold-active azole for Candida cystitis simply because the isolate appears susceptible. Amphotericin B deoxycholate Useful urinary concentrations. Selected resistant Candida urinary infections; substantial toxicity limits use. Liposomal amphotericin B and other lipid formulations Inadequate urinary concentrations for routine Candida UTI treatment. Not interchangeable with deoxycholate for this indication. Flucytosine High active-drug urinary concentrations. Selected resistant C. glabrata infections; not reliable for C. krusei. Renal accumulation, marrow toxicity, and resistance limit use. [1]</a:t>
            </a:r>
          </a:p>
          <a:p xmlns:a="http://schemas.openxmlformats.org/drawingml/2006/main">
            <a:r>
              <a:t/>
            </a:r>
          </a:p>
          <a:p xmlns:a="http://schemas.openxmlformats.org/drawingml/2006/main">
            <a:r>
              <a:t>Module section: https://docarcshot.github.io/id-practice-update/lectures/Antifungals_Practical_Primer_Resident_Fellow.html#urinary</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Candiduria and urinary drug concentrations Candiduria alone does not establish infection. Asymptomatic candiduria usually needs risk-factor and catheter management, not an antifungal. IDSA exceptions include neutropenia, very low-birth-weight infants, and planned urologic manipulation. Diabetes or a chronic catheter alone is not an indication to treat. Presentation Treatment decision Asymptomatic candiduria Usually observe and remove or replace an unnecessary catheter. Assess the exceptions above. Compatible cystitis symptoms Exclude other causes. If the Candida isolate is fluconazole susceptible, fluconazole is the usual preferred drug. Ascending pyelonephritis or obstructed collecting system Use a urine-active drug guided by susceptibility. Relieve obstruction; consider stent/nephrostomy removal or exchange. Fungus balls generally require intervention. Candidemia with hematogenous renal involvement Treat invasive candidiasis. Micafungin can remain appropriate because renal tissue exposure differs from drug concentration in urine. In catheterized patients, pyuria and colony count cannot reliably distinguish colonization from infection. Unexplained systemic illness, obstruction, or persistent compatible symptoms may warrant further evaluation and imaging. [1] Antifungal concentrations in urine Drug Urinary exposure Practical consequence Fluconazole High active-drug concentrations. Preferred for susceptible Candida urinary infection; adjust maintenance dosing for renal function. Micafungin and other echinocandins Very poor active-drug excretion into urine. Not routine therapy for Candida cystitis or ascending collecting-system infection. Hematogenous renal infection is a different setting. Voriconazole, itraconazole, posaconazole, isavuconazole Low active-drug urinary exposure. Do not select a mold-active azole for Candida cystitis simply because the isolate appears susceptible. Amphotericin B deoxycholate Useful urinary concentrations. Selected resistant Candida urinary infections; substantial toxicity limits use. Liposomal amphotericin B and other lipid formulations Inadequate urinary concentrations for routine Candida UTI treatment. Not interchangeable with deoxycholate for this indication. Flucytosine High active-drug urinary concentrations. Selected resistant C. glabrata infections; not reliable for C. krusei. Renal accumulation, marrow toxicity, and resistance limit use. [1]</a:t>
            </a:r>
          </a:p>
          <a:p xmlns:a="http://schemas.openxmlformats.org/drawingml/2006/main">
            <a:r>
              <a:t/>
            </a:r>
          </a:p>
          <a:p xmlns:a="http://schemas.openxmlformats.org/drawingml/2006/main">
            <a:r>
              <a:t>Module section: https://docarcshot.github.io/id-practice-update/lectures/Antifungals_Practical_Primer_Resident_Fellow.html#urinary</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Candiduria and urinary drug concentrations Candiduria alone does not establish infection. Asymptomatic candiduria usually needs risk-factor and catheter management, not an antifungal. IDSA exceptions include neutropenia, very low-birth-weight infants, and planned urologic manipulation. Diabetes or a chronic catheter alone is not an indication to treat. Presentation Treatment decision Asymptomatic candiduria Usually observe and remove or replace an unnecessary catheter. Assess the exceptions above. Compatible cystitis symptoms Exclude other causes. If the Candida isolate is fluconazole susceptible, fluconazole is the usual preferred drug. Ascending pyelonephritis or obstructed collecting system Use a urine-active drug guided by susceptibility. Relieve obstruction; consider stent/nephrostomy removal or exchange. Fungus balls generally require intervention. Candidemia with hematogenous renal involvement Treat invasive candidiasis. Micafungin can remain appropriate because renal tissue exposure differs from drug concentration in urine. In catheterized patients, pyuria and colony count cannot reliably distinguish colonization from infection. Unexplained systemic illness, obstruction, or persistent compatible symptoms may warrant further evaluation and imaging. [1] Antifungal concentrations in urine Drug Urinary exposure Practical consequence Fluconazole High active-drug concentrations. Preferred for susceptible Candida urinary infection; adjust maintenance dosing for renal function. Micafungin and other echinocandins Very poor active-drug excretion into urine. Not routine therapy for Candida cystitis or ascending collecting-system infection. Hematogenous renal infection is a different setting. Voriconazole, itraconazole, posaconazole, isavuconazole Low active-drug urinary exposure. Do not select a mold-active azole for Candida cystitis simply because the isolate appears susceptible. Amphotericin B deoxycholate Useful urinary concentrations. Selected resistant Candida urinary infections; substantial toxicity limits use. Liposomal amphotericin B and other lipid formulations Inadequate urinary concentrations for routine Candida UTI treatment. Not interchangeable with deoxycholate for this indication. Flucytosine High active-drug urinary concentrations. Selected resistant C. glabrata infections; not reliable for C. krusei. Renal accumulation, marrow toxicity, and resistance limit use. [1]</a:t>
            </a:r>
          </a:p>
          <a:p xmlns:a="http://schemas.openxmlformats.org/drawingml/2006/main">
            <a:r>
              <a:t/>
            </a:r>
          </a:p>
          <a:p xmlns:a="http://schemas.openxmlformats.org/drawingml/2006/main">
            <a:r>
              <a:t>Module section: https://docarcshot.github.io/id-practice-update/lectures/Antifungals_Practical_Primer_Resident_Fellow.html#urinary</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Candiduria and urinary drug concentrations Candiduria alone does not establish infection. Asymptomatic candiduria usually needs risk-factor and catheter management, not an antifungal. IDSA exceptions include neutropenia, very low-birth-weight infants, and planned urologic manipulation. Diabetes or a chronic catheter alone is not an indication to treat. Presentation Treatment decision Asymptomatic candiduria Usually observe and remove or replace an unnecessary catheter. Assess the exceptions above. Compatible cystitis symptoms Exclude other causes. If the Candida isolate is fluconazole susceptible, fluconazole is the usual preferred drug. Ascending pyelonephritis or obstructed collecting system Use a urine-active drug guided by susceptibility. Relieve obstruction; consider stent/nephrostomy removal or exchange. Fungus balls generally require intervention. Candidemia with hematogenous renal involvement Treat invasive candidiasis. Micafungin can remain appropriate because renal tissue exposure differs from drug concentration in urine. In catheterized patients, pyuria and colony count cannot reliably distinguish colonization from infection. Unexplained systemic illness, obstruction, or persistent compatible symptoms may warrant further evaluation and imaging. [1] Antifungal concentrations in urine Drug Urinary exposure Practical consequence Fluconazole High active-drug concentrations. Preferred for susceptible Candida urinary infection; adjust maintenance dosing for renal function. Micafungin and other echinocandins Very poor active-drug excretion into urine. Not routine therapy for Candida cystitis or ascending collecting-system infection. Hematogenous renal infection is a different setting. Voriconazole, itraconazole, posaconazole, isavuconazole Low active-drug urinary exposure. Do not select a mold-active azole for Candida cystitis simply because the isolate appears susceptible. Amphotericin B deoxycholate Useful urinary concentrations. Selected resistant Candida urinary infections; substantial toxicity limits use. Liposomal amphotericin B and other lipid formulations Inadequate urinary concentrations for routine Candida UTI treatment. Not interchangeable with deoxycholate for this indication. Flucytosine High active-drug urinary concentrations. Selected resistant C. glabrata infections; not reliable for C. krusei. Renal accumulation, marrow toxicity, and resistance limit use. [1]</a:t>
            </a:r>
          </a:p>
          <a:p xmlns:a="http://schemas.openxmlformats.org/drawingml/2006/main">
            <a:r>
              <a:t/>
            </a:r>
          </a:p>
          <a:p xmlns:a="http://schemas.openxmlformats.org/drawingml/2006/main">
            <a:r>
              <a:t>Module section: https://docarcshot.github.io/id-practice-update/lectures/Antifungals_Practical_Primer_Resident_Fellow.html#urinary</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Candiduria and urinary drug concentrations Candiduria alone does not establish infection. Asymptomatic candiduria usually needs risk-factor and catheter management, not an antifungal. IDSA exceptions include neutropenia, very low-birth-weight infants, and planned urologic manipulation. Diabetes or a chronic catheter alone is not an indication to treat. Presentation Treatment decision Asymptomatic candiduria Usually observe and remove or replace an unnecessary catheter. Assess the exceptions above. Compatible cystitis symptoms Exclude other causes. If the Candida isolate is fluconazole susceptible, fluconazole is the usual preferred drug. Ascending pyelonephritis or obstructed collecting system Use a urine-active drug guided by susceptibility. Relieve obstruction; consider stent/nephrostomy removal or exchange. Fungus balls generally require intervention. Candidemia with hematogenous renal involvement Treat invasive candidiasis. Micafungin can remain appropriate because renal tissue exposure differs from drug concentration in urine. In catheterized patients, pyuria and colony count cannot reliably distinguish colonization from infection. Unexplained systemic illness, obstruction, or persistent compatible symptoms may warrant further evaluation and imaging. [1] Antifungal concentrations in urine Drug Urinary exposure Practical consequence Fluconazole High active-drug concentrations. Preferred for susceptible Candida urinary infection; adjust maintenance dosing for renal function. Micafungin and other echinocandins Very poor active-drug excretion into urine. Not routine therapy for Candida cystitis or ascending collecting-system infection. Hematogenous renal infection is a different setting. Voriconazole, itraconazole, posaconazole, isavuconazole Low active-drug urinary exposure. Do not select a mold-active azole for Candida cystitis simply because the isolate appears susceptible. Amphotericin B deoxycholate Useful urinary concentrations. Selected resistant Candida urinary infections; substantial toxicity limits use. Liposomal amphotericin B and other lipid formulations Inadequate urinary concentrations for routine Candida UTI treatment. Not interchangeable with deoxycholate for this indication. Flucytosine High active-drug urinary concentrations. Selected resistant C. glabrata infections; not reliable for C. krusei. Renal accumulation, marrow toxicity, and resistance limit use. [1]</a:t>
            </a:r>
          </a:p>
          <a:p xmlns:a="http://schemas.openxmlformats.org/drawingml/2006/main">
            <a:r>
              <a:t/>
            </a:r>
          </a:p>
          <a:p xmlns:a="http://schemas.openxmlformats.org/drawingml/2006/main">
            <a:r>
              <a:t>Module section: https://docarcshot.github.io/id-practice-update/lectures/Antifungals_Practical_Primer_Resident_Fellow.html#urinary</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adult doses The doses below assume normal organ function. Confirm the indication, weight, formulation, hepatic function, and renal replacement requirements before prescribing. Drug / example indication Loading and maintenance Common error Fluconazole / selected invasive Candida infection 800 mg (12 mg/kg) once, then 400 mg (6 mg/kg) daily. Higher doses apply to some susceptible isolates or other indications. Omitting a load or forgetting renal maintenance adjustment. Micafungin / candidemia 100 mg IV daily; no routine loading dose. Using 100 mg as a universal dose. Esophageal candidiasis uses 150 mg daily; endocarditis is a separate high-dose strategy. Caspofungin / candidemia 70 mg IV once, then 50 mg daily. Forgetting the loading dose. Hepatic dosing and interactions need individual review. Anidulafungin / candidemia 200 mg IV once, then 100 mg daily. Forgetting the loading dose. Voriconazole / invasive aspergillosis IV 6 mg/kg every 12 h for 2 doses, then 4 mg/kg every 12 h. Oral regimens differ; confirm weight and label, then guide with TDM. Treating the oral and IV regimens as identical mg/kg doses. Posaconazole / adult DR tablet or IV mold regimen 300 mg every 12 h on day 1, then 300 mg daily. Applying this regimen to conventional suspension. Isavuconazonium / adult mold regimen 372 mg every 8 h for 6 doses, then 372 mg daily, starting 12-24 h after the last loading dose. Confusing prodrug milligrams with the 200 mg active-drug equivalent. Liposomal amphotericin B Often 3-5 mg/kg/day for selected invasive infections. Mucormycosis generally 5-10 mg/kg/day; CNS mucormycosis commonly 10 mg/kg/day. Assuming every fungus and compartment needs the same dose. Flucytosine / selected combination induction 25 mg/kg orally every 6 h with normal renal function. Failing to adjust the dose interval as renal function changes. [1] [2] [7] [8] [19] [11]</a:t>
            </a:r>
          </a:p>
          <a:p xmlns:a="http://schemas.openxmlformats.org/drawingml/2006/main">
            <a:r>
              <a:t/>
            </a:r>
          </a:p>
          <a:p xmlns:a="http://schemas.openxmlformats.org/drawingml/2006/main">
            <a:r>
              <a:t>Module section: https://docarcshot.github.io/id-practice-update/lectures/Antifungals_Practical_Primer_Resident_Fellow.html#doses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adult doses The doses below assume normal organ function. Confirm the indication, weight, formulation, hepatic function, and renal replacement requirements before prescribing. Drug / example indication Loading and maintenance Common error Fluconazole / selected invasive Candida infection 800 mg (12 mg/kg) once, then 400 mg (6 mg/kg) daily. Higher doses apply to some susceptible isolates or other indications. Omitting a load or forgetting renal maintenance adjustment. Micafungin / candidemia 100 mg IV daily; no routine loading dose. Using 100 mg as a universal dose. Esophageal candidiasis uses 150 mg daily; endocarditis is a separate high-dose strategy. Caspofungin / candidemia 70 mg IV once, then 50 mg daily. Forgetting the loading dose. Hepatic dosing and interactions need individual review. Anidulafungin / candidemia 200 mg IV once, then 100 mg daily. Forgetting the loading dose. Voriconazole / invasive aspergillosis IV 6 mg/kg every 12 h for 2 doses, then 4 mg/kg every 12 h. Oral regimens differ; confirm weight and label, then guide with TDM. Treating the oral and IV regimens as identical mg/kg doses. Posaconazole / adult DR tablet or IV mold regimen 300 mg every 12 h on day 1, then 300 mg daily. Applying this regimen to conventional suspension. Isavuconazonium / adult mold regimen 372 mg every 8 h for 6 doses, then 372 mg daily, starting 12-24 h after the last loading dose. Confusing prodrug milligrams with the 200 mg active-drug equivalent. Liposomal amphotericin B Often 3-5 mg/kg/day for selected invasive infections. Mucormycosis generally 5-10 mg/kg/day; CNS mucormycosis commonly 10 mg/kg/day. Assuming every fungus and compartment needs the same dose. Flucytosine / selected combination induction 25 mg/kg orally every 6 h with normal renal function. Failing to adjust the dose interval as renal function changes. [1] [2] [7] [8] [19] [11]</a:t>
            </a:r>
          </a:p>
          <a:p xmlns:a="http://schemas.openxmlformats.org/drawingml/2006/main">
            <a:r>
              <a:t/>
            </a:r>
          </a:p>
          <a:p xmlns:a="http://schemas.openxmlformats.org/drawingml/2006/main">
            <a:r>
              <a:t>Module section: https://docarcshot.github.io/id-practice-update/lectures/Antifungals_Practical_Primer_Resident_Fellow.html#doses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adult doses The doses below assume normal organ function. Confirm the indication, weight, formulation, hepatic function, and renal replacement requirements before prescribing. Drug / example indication Loading and maintenance Common error Fluconazole / selected invasive Candida infection 800 mg (12 mg/kg) once, then 400 mg (6 mg/kg) daily. Higher doses apply to some susceptible isolates or other indications. Omitting a load or forgetting renal maintenance adjustment. Micafungin / candidemia 100 mg IV daily; no routine loading dose. Using 100 mg as a universal dose. Esophageal candidiasis uses 150 mg daily; endocarditis is a separate high-dose strategy. Caspofungin / candidemia 70 mg IV once, then 50 mg daily. Forgetting the loading dose. Hepatic dosing and interactions need individual review. Anidulafungin / candidemia 200 mg IV once, then 100 mg daily. Forgetting the loading dose. Voriconazole / invasive aspergillosis IV 6 mg/kg every 12 h for 2 doses, then 4 mg/kg every 12 h. Oral regimens differ; confirm weight and label, then guide with TDM. Treating the oral and IV regimens as identical mg/kg doses. Posaconazole / adult DR tablet or IV mold regimen 300 mg every 12 h on day 1, then 300 mg daily. Applying this regimen to conventional suspension. Isavuconazonium / adult mold regimen 372 mg every 8 h for 6 doses, then 372 mg daily, starting 12-24 h after the last loading dose. Confusing prodrug milligrams with the 200 mg active-drug equivalent. Liposomal amphotericin B Often 3-5 mg/kg/day for selected invasive infections. Mucormycosis generally 5-10 mg/kg/day; CNS mucormycosis commonly 10 mg/kg/day. Assuming every fungus and compartment needs the same dose. Flucytosine / selected combination induction 25 mg/kg orally every 6 h with normal renal function. Failing to adjust the dose interval as renal function changes. [1] [2] [7] [8] [19] [11]</a:t>
            </a:r>
          </a:p>
          <a:p xmlns:a="http://schemas.openxmlformats.org/drawingml/2006/main">
            <a:r>
              <a:t/>
            </a:r>
          </a:p>
          <a:p xmlns:a="http://schemas.openxmlformats.org/drawingml/2006/main">
            <a:r>
              <a:t>Module section: https://docarcshot.github.io/id-practice-update/lectures/Antifungals_Practical_Primer_Resident_Fellow.html#doses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adult doses The doses below assume normal organ function. Confirm the indication, weight, formulation, hepatic function, and renal replacement requirements before prescribing. Drug / example indication Loading and maintenance Common error Fluconazole / selected invasive Candida infection 800 mg (12 mg/kg) once, then 400 mg (6 mg/kg) daily. Higher doses apply to some susceptible isolates or other indications. Omitting a load or forgetting renal maintenance adjustment. Micafungin / candidemia 100 mg IV daily; no routine loading dose. Using 100 mg as a universal dose. Esophageal candidiasis uses 150 mg daily; endocarditis is a separate high-dose strategy. Caspofungin / candidemia 70 mg IV once, then 50 mg daily. Forgetting the loading dose. Hepatic dosing and interactions need individual review. Anidulafungin / candidemia 200 mg IV once, then 100 mg daily. Forgetting the loading dose. Voriconazole / invasive aspergillosis IV 6 mg/kg every 12 h for 2 doses, then 4 mg/kg every 12 h. Oral regimens differ; confirm weight and label, then guide with TDM. Treating the oral and IV regimens as identical mg/kg doses. Posaconazole / adult DR tablet or IV mold regimen 300 mg every 12 h on day 1, then 300 mg daily. Applying this regimen to conventional suspension. Isavuconazonium / adult mold regimen 372 mg every 8 h for 6 doses, then 372 mg daily, starting 12-24 h after the last loading dose. Confusing prodrug milligrams with the 200 mg active-drug equivalent. Liposomal amphotericin B Often 3-5 mg/kg/day for selected invasive infections. Mucormycosis generally 5-10 mg/kg/day; CNS mucormycosis commonly 10 mg/kg/day. Assuming every fungus and compartment needs the same dose. Flucytosine / selected combination induction 25 mg/kg orally every 6 h with normal renal function. Failing to adjust the dose interval as renal function changes. [1] [2] [7] [8] [19] [11]</a:t>
            </a:r>
          </a:p>
          <a:p xmlns:a="http://schemas.openxmlformats.org/drawingml/2006/main">
            <a:r>
              <a:t/>
            </a:r>
          </a:p>
          <a:p xmlns:a="http://schemas.openxmlformats.org/drawingml/2006/main">
            <a:r>
              <a:t>Module section: https://docarcshot.github.io/id-practice-update/lectures/Antifungals_Practical_Primer_Resident_Fellow.html#doses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adult doses The doses below assume normal organ function. Confirm the indication, weight, formulation, hepatic function, and renal replacement requirements before prescribing. Drug / example indication Loading and maintenance Common error Fluconazole / selected invasive Candida infection 800 mg (12 mg/kg) once, then 400 mg (6 mg/kg) daily. Higher doses apply to some susceptible isolates or other indications. Omitting a load or forgetting renal maintenance adjustment. Micafungin / candidemia 100 mg IV daily; no routine loading dose. Using 100 mg as a universal dose. Esophageal candidiasis uses 150 mg daily; endocarditis is a separate high-dose strategy. Caspofungin / candidemia 70 mg IV once, then 50 mg daily. Forgetting the loading dose. Hepatic dosing and interactions need individual review. Anidulafungin / candidemia 200 mg IV once, then 100 mg daily. Forgetting the loading dose. Voriconazole / invasive aspergillosis IV 6 mg/kg every 12 h for 2 doses, then 4 mg/kg every 12 h. Oral regimens differ; confirm weight and label, then guide with TDM. Treating the oral and IV regimens as identical mg/kg doses. Posaconazole / adult DR tablet or IV mold regimen 300 mg every 12 h on day 1, then 300 mg daily. Applying this regimen to conventional suspension. Isavuconazonium / adult mold regimen 372 mg every 8 h for 6 doses, then 372 mg daily, starting 12-24 h after the last loading dose. Confusing prodrug milligrams with the 200 mg active-drug equivalent. Liposomal amphotericin B Often 3-5 mg/kg/day for selected invasive infections. Mucormycosis generally 5-10 mg/kg/day; CNS mucormycosis commonly 10 mg/kg/day. Assuming every fungus and compartment needs the same dose. Flucytosine / selected combination induction 25 mg/kg orally every 6 h with normal renal function. Failing to adjust the dose interval as renal function changes. [1] [2] [7] [8] [19] [11]</a:t>
            </a:r>
          </a:p>
          <a:p xmlns:a="http://schemas.openxmlformats.org/drawingml/2006/main">
            <a:r>
              <a:t/>
            </a:r>
          </a:p>
          <a:p xmlns:a="http://schemas.openxmlformats.org/drawingml/2006/main">
            <a:r>
              <a:t>Module section: https://docarcshot.github.io/id-practice-update/lectures/Antifungals_Practical_Primer_Resident_Fellow.html#doses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adult doses The doses below assume normal organ function. Confirm the indication, weight, formulation, hepatic function, and renal replacement requirements before prescribing. Drug / example indication Loading and maintenance Common error Fluconazole / selected invasive Candida infection 800 mg (12 mg/kg) once, then 400 mg (6 mg/kg) daily. Higher doses apply to some susceptible isolates or other indications. Omitting a load or forgetting renal maintenance adjustment. Micafungin / candidemia 100 mg IV daily; no routine loading dose. Using 100 mg as a universal dose. Esophageal candidiasis uses 150 mg daily; endocarditis is a separate high-dose strategy. Caspofungin / candidemia 70 mg IV once, then 50 mg daily. Forgetting the loading dose. Hepatic dosing and interactions need individual review. Anidulafungin / candidemia 200 mg IV once, then 100 mg daily. Forgetting the loading dose. Voriconazole / invasive aspergillosis IV 6 mg/kg every 12 h for 2 doses, then 4 mg/kg every 12 h. Oral regimens differ; confirm weight and label, then guide with TDM. Treating the oral and IV regimens as identical mg/kg doses. Posaconazole / adult DR tablet or IV mold regimen 300 mg every 12 h on day 1, then 300 mg daily. Applying this regimen to conventional suspension. Isavuconazonium / adult mold regimen 372 mg every 8 h for 6 doses, then 372 mg daily, starting 12-24 h after the last loading dose. Confusing prodrug milligrams with the 200 mg active-drug equivalent. Liposomal amphotericin B Often 3-5 mg/kg/day for selected invasive infections. Mucormycosis generally 5-10 mg/kg/day; CNS mucormycosis commonly 10 mg/kg/day. Assuming every fungus and compartment needs the same dose. Flucytosine / selected combination induction 25 mg/kg orally every 6 h with normal renal function. Failing to adjust the dose interval as renal function changes. [1] [2] [7] [8] [19] [11]</a:t>
            </a:r>
          </a:p>
          <a:p xmlns:a="http://schemas.openxmlformats.org/drawingml/2006/main">
            <a:r>
              <a:t/>
            </a:r>
          </a:p>
          <a:p xmlns:a="http://schemas.openxmlformats.org/drawingml/2006/main">
            <a:r>
              <a:t>Module section: https://docarcshot.github.io/id-practice-update/lectures/Antifungals_Practical_Primer_Resident_Fellow.html#doses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adult doses The doses below assume normal organ function. Confirm the indication, weight, formulation, hepatic function, and renal replacement requirements before prescribing. Drug / example indication Loading and maintenance Common error Fluconazole / selected invasive Candida infection 800 mg (12 mg/kg) once, then 400 mg (6 mg/kg) daily. Higher doses apply to some susceptible isolates or other indications. Omitting a load or forgetting renal maintenance adjustment. Micafungin / candidemia 100 mg IV daily; no routine loading dose. Using 100 mg as a universal dose. Esophageal candidiasis uses 150 mg daily; endocarditis is a separate high-dose strategy. Caspofungin / candidemia 70 mg IV once, then 50 mg daily. Forgetting the loading dose. Hepatic dosing and interactions need individual review. Anidulafungin / candidemia 200 mg IV once, then 100 mg daily. Forgetting the loading dose. Voriconazole / invasive aspergillosis IV 6 mg/kg every 12 h for 2 doses, then 4 mg/kg every 12 h. Oral regimens differ; confirm weight and label, then guide with TDM. Treating the oral and IV regimens as identical mg/kg doses. Posaconazole / adult DR tablet or IV mold regimen 300 mg every 12 h on day 1, then 300 mg daily. Applying this regimen to conventional suspension. Isavuconazonium / adult mold regimen 372 mg every 8 h for 6 doses, then 372 mg daily, starting 12-24 h after the last loading dose. Confusing prodrug milligrams with the 200 mg active-drug equivalent. Liposomal amphotericin B Often 3-5 mg/kg/day for selected invasive infections. Mucormycosis generally 5-10 mg/kg/day; CNS mucormycosis commonly 10 mg/kg/day. Assuming every fungus and compartment needs the same dose. Flucytosine / selected combination induction 25 mg/kg orally every 6 h with normal renal function. Failing to adjust the dose interval as renal function changes. [1] [2] [7] [8] [19] [11]</a:t>
            </a:r>
          </a:p>
          <a:p xmlns:a="http://schemas.openxmlformats.org/drawingml/2006/main">
            <a:r>
              <a:t/>
            </a:r>
          </a:p>
          <a:p xmlns:a="http://schemas.openxmlformats.org/drawingml/2006/main">
            <a:r>
              <a:t>Module section: https://docarcshot.github.io/id-practice-update/lectures/Antifungals_Practical_Primer_Resident_Fellow.html#doses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adult doses The doses below assume normal organ function. Confirm the indication, weight, formulation, hepatic function, and renal replacement requirements before prescribing. Drug / example indication Loading and maintenance Common error Fluconazole / selected invasive Candida infection 800 mg (12 mg/kg) once, then 400 mg (6 mg/kg) daily. Higher doses apply to some susceptible isolates or other indications. Omitting a load or forgetting renal maintenance adjustment. Micafungin / candidemia 100 mg IV daily; no routine loading dose. Using 100 mg as a universal dose. Esophageal candidiasis uses 150 mg daily; endocarditis is a separate high-dose strategy. Caspofungin / candidemia 70 mg IV once, then 50 mg daily. Forgetting the loading dose. Hepatic dosing and interactions need individual review. Anidulafungin / candidemia 200 mg IV once, then 100 mg daily. Forgetting the loading dose. Voriconazole / invasive aspergillosis IV 6 mg/kg every 12 h for 2 doses, then 4 mg/kg every 12 h. Oral regimens differ; confirm weight and label, then guide with TDM. Treating the oral and IV regimens as identical mg/kg doses. Posaconazole / adult DR tablet or IV mold regimen 300 mg every 12 h on day 1, then 300 mg daily. Applying this regimen to conventional suspension. Isavuconazonium / adult mold regimen 372 mg every 8 h for 6 doses, then 372 mg daily, starting 12-24 h after the last loading dose. Confusing prodrug milligrams with the 200 mg active-drug equivalent. Liposomal amphotericin B Often 3-5 mg/kg/day for selected invasive infections. Mucormycosis generally 5-10 mg/kg/day; CNS mucormycosis commonly 10 mg/kg/day. Assuming every fungus and compartment needs the same dose. Flucytosine / selected combination induction 25 mg/kg orally every 6 h with normal renal function. Failing to adjust the dose interval as renal function changes. [1] [2] [7] [8] [19] [11]</a:t>
            </a:r>
          </a:p>
          <a:p xmlns:a="http://schemas.openxmlformats.org/drawingml/2006/main">
            <a:r>
              <a:t/>
            </a:r>
          </a:p>
          <a:p xmlns:a="http://schemas.openxmlformats.org/drawingml/2006/main">
            <a:r>
              <a:t>Module section: https://docarcshot.github.io/id-practice-update/lectures/Antifungals_Practical_Primer_Resident_Fellow.html#doses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adult doses The doses below assume normal organ function. Confirm the indication, weight, formulation, hepatic function, and renal replacement requirements before prescribing. Drug / example indication Loading and maintenance Common error Fluconazole / selected invasive Candida infection 800 mg (12 mg/kg) once, then 400 mg (6 mg/kg) daily. Higher doses apply to some susceptible isolates or other indications. Omitting a load or forgetting renal maintenance adjustment. Micafungin / candidemia 100 mg IV daily; no routine loading dose. Using 100 mg as a universal dose. Esophageal candidiasis uses 150 mg daily; endocarditis is a separate high-dose strategy. Caspofungin / candidemia 70 mg IV once, then 50 mg daily. Forgetting the loading dose. Hepatic dosing and interactions need individual review. Anidulafungin / candidemia 200 mg IV once, then 100 mg daily. Forgetting the loading dose. Voriconazole / invasive aspergillosis IV 6 mg/kg every 12 h for 2 doses, then 4 mg/kg every 12 h. Oral regimens differ; confirm weight and label, then guide with TDM. Treating the oral and IV regimens as identical mg/kg doses. Posaconazole / adult DR tablet or IV mold regimen 300 mg every 12 h on day 1, then 300 mg daily. Applying this regimen to conventional suspension. Isavuconazonium / adult mold regimen 372 mg every 8 h for 6 doses, then 372 mg daily, starting 12-24 h after the last loading dose. Confusing prodrug milligrams with the 200 mg active-drug equivalent. Liposomal amphotericin B Often 3-5 mg/kg/day for selected invasive infections. Mucormycosis generally 5-10 mg/kg/day; CNS mucormycosis commonly 10 mg/kg/day. Assuming every fungus and compartment needs the same dose. Flucytosine / selected combination induction 25 mg/kg orally every 6 h with normal renal function. Failing to adjust the dose interval as renal function changes. [1] [2] [7] [8] [19] [11]</a:t>
            </a:r>
          </a:p>
          <a:p xmlns:a="http://schemas.openxmlformats.org/drawingml/2006/main">
            <a:r>
              <a:t/>
            </a:r>
          </a:p>
          <a:p xmlns:a="http://schemas.openxmlformats.org/drawingml/2006/main">
            <a:r>
              <a:t>Module section: https://docarcshot.github.io/id-practice-update/lectures/Antifungals_Practical_Primer_Resident_Fellow.html#doses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adult doses The doses below assume normal organ function. Confirm the indication, weight, formulation, hepatic function, and renal replacement requirements before prescribing. Drug / example indication Loading and maintenance Common error Fluconazole / selected invasive Candida infection 800 mg (12 mg/kg) once, then 400 mg (6 mg/kg) daily. Higher doses apply to some susceptible isolates or other indications. Omitting a load or forgetting renal maintenance adjustment. Micafungin / candidemia 100 mg IV daily; no routine loading dose. Using 100 mg as a universal dose. Esophageal candidiasis uses 150 mg daily; endocarditis is a separate high-dose strategy. Caspofungin / candidemia 70 mg IV once, then 50 mg daily. Forgetting the loading dose. Hepatic dosing and interactions need individual review. Anidulafungin / candidemia 200 mg IV once, then 100 mg daily. Forgetting the loading dose. Voriconazole / invasive aspergillosis IV 6 mg/kg every 12 h for 2 doses, then 4 mg/kg every 12 h. Oral regimens differ; confirm weight and label, then guide with TDM. Treating the oral and IV regimens as identical mg/kg doses. Posaconazole / adult DR tablet or IV mold regimen 300 mg every 12 h on day 1, then 300 mg daily. Applying this regimen to conventional suspension. Isavuconazonium / adult mold regimen 372 mg every 8 h for 6 doses, then 372 mg daily, starting 12-24 h after the last loading dose. Confusing prodrug milligrams with the 200 mg active-drug equivalent. Liposomal amphotericin B Often 3-5 mg/kg/day for selected invasive infections. Mucormycosis generally 5-10 mg/kg/day; CNS mucormycosis commonly 10 mg/kg/day. Assuming every fungus and compartment needs the same dose. Flucytosine / selected combination induction 25 mg/kg orally every 6 h with normal renal function. Failing to adjust the dose interval as renal function changes. [1] [2] [7] [8] [19] [11]</a:t>
            </a:r>
          </a:p>
          <a:p xmlns:a="http://schemas.openxmlformats.org/drawingml/2006/main">
            <a:r>
              <a:t/>
            </a:r>
          </a:p>
          <a:p xmlns:a="http://schemas.openxmlformats.org/drawingml/2006/main">
            <a:r>
              <a:t>Module section: https://docarcshot.github.io/id-practice-update/lectures/Antifungals_Practical_Primer_Resident_Fellow.html#doses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adult doses The doses below assume normal organ function. Confirm the indication, weight, formulation, hepatic function, and renal replacement requirements before prescribing. Drug / example indication Loading and maintenance Common error Fluconazole / selected invasive Candida infection 800 mg (12 mg/kg) once, then 400 mg (6 mg/kg) daily. Higher doses apply to some susceptible isolates or other indications. Omitting a load or forgetting renal maintenance adjustment. Micafungin / candidemia 100 mg IV daily; no routine loading dose. Using 100 mg as a universal dose. Esophageal candidiasis uses 150 mg daily; endocarditis is a separate high-dose strategy. Caspofungin / candidemia 70 mg IV once, then 50 mg daily. Forgetting the loading dose. Hepatic dosing and interactions need individual review. Anidulafungin / candidemia 200 mg IV once, then 100 mg daily. Forgetting the loading dose. Voriconazole / invasive aspergillosis IV 6 mg/kg every 12 h for 2 doses, then 4 mg/kg every 12 h. Oral regimens differ; confirm weight and label, then guide with TDM. Treating the oral and IV regimens as identical mg/kg doses. Posaconazole / adult DR tablet or IV mold regimen 300 mg every 12 h on day 1, then 300 mg daily. Applying this regimen to conventional suspension. Isavuconazonium / adult mold regimen 372 mg every 8 h for 6 doses, then 372 mg daily, starting 12-24 h after the last loading dose. Confusing prodrug milligrams with the 200 mg active-drug equivalent. Liposomal amphotericin B Often 3-5 mg/kg/day for selected invasive infections. Mucormycosis generally 5-10 mg/kg/day; CNS mucormycosis commonly 10 mg/kg/day. Assuming every fungus and compartment needs the same dose. Flucytosine / selected combination induction 25 mg/kg orally every 6 h with normal renal function. Failing to adjust the dose interval as renal function changes. [1] [2] [7] [8] [19] [11]</a:t>
            </a:r>
          </a:p>
          <a:p xmlns:a="http://schemas.openxmlformats.org/drawingml/2006/main">
            <a:r>
              <a:t/>
            </a:r>
          </a:p>
          <a:p xmlns:a="http://schemas.openxmlformats.org/drawingml/2006/main">
            <a:r>
              <a:t>Module section: https://docarcshot.github.io/id-practice-update/lectures/Antifungals_Practical_Primer_Resident_Fellow.html#doses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Toxicity monitoring and interactions Obtain baseline renal function, electrolytes, and liver tests for systemic therapy; add CBC when using amphotericin or flucytosine. Review ECG/QTc when an azole or interacting drugs create arrhythmia risk. Correct potassium and magnesium abnormalities. During prolonged azole treatment, repeat liver tests early, often weekly initially, then space them according to stability and the agent's label. Voriconazole labeling specifies at least weekly liver tests for the first month, then monthly if stable. Check BP and potassium on posaconazole or itraconazole. For amphotericin and flucytosine, renal changes require prompt reassessment of dosing, toxicity, and monitoring frequency. [6] [7] [10] [11] Check interactions when starting and stopping Review calcineurin/mTOR inhibitors, venetoclax and other targeted cancer therapies, vinca alkaloids, DOACs, warfarin, statins, sedatives, and QT-active drugs. Rifamycins and other strong inducers can cause antifungal underexposure. The interaction can reverse after stopping the azole, requiring another dose adjustment and repeat monitoring. [3]</a:t>
            </a:r>
          </a:p>
          <a:p xmlns:a="http://schemas.openxmlformats.org/drawingml/2006/main">
            <a:r>
              <a:t/>
            </a:r>
          </a:p>
          <a:p xmlns:a="http://schemas.openxmlformats.org/drawingml/2006/main">
            <a:r>
              <a:t>Module section: https://docarcshot.github.io/id-practice-update/lectures/Antifungals_Practical_Primer_Resident_Fellow.html#monitoring</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Toxicity monitoring and interactions Obtain baseline renal function, electrolytes, and liver tests for systemic therapy; add CBC when using amphotericin or flucytosine. Review ECG/QTc when an azole or interacting drugs create arrhythmia risk. Correct potassium and magnesium abnormalities. During prolonged azole treatment, repeat liver tests early, often weekly initially, then space them according to stability and the agent's label. Voriconazole labeling specifies at least weekly liver tests for the first month, then monthly if stable. Check BP and potassium on posaconazole or itraconazole. For amphotericin and flucytosine, renal changes require prompt reassessment of dosing, toxicity, and monitoring frequency. [6] [7] [10] [11] Check interactions when starting and stopping Review calcineurin/mTOR inhibitors, venetoclax and other targeted cancer therapies, vinca alkaloids, DOACs, warfarin, statins, sedatives, and QT-active drugs. Rifamycins and other strong inducers can cause antifungal underexposure. The interaction can reverse after stopping the azole, requiring another dose adjustment and repeat monitoring. [3]</a:t>
            </a:r>
          </a:p>
          <a:p xmlns:a="http://schemas.openxmlformats.org/drawingml/2006/main">
            <a:r>
              <a:t/>
            </a:r>
          </a:p>
          <a:p xmlns:a="http://schemas.openxmlformats.org/drawingml/2006/main">
            <a:r>
              <a:t>Module section: https://docarcshot.github.io/id-practice-update/lectures/Antifungals_Practical_Primer_Resident_Fellow.html#monitoring</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Therapeutic drug monitoring Document the last dose, draw time, formulation, recent missed doses, food/tube feed administration, interacting drugs, and the indication-specific target. mg/L and mcg/mL are numerically equivalent. Repeat a level after a meaningful dose, route, formulation, interaction, absorption, or clinical change. [14] Drug Usual first assessment Interpretation Voriconazole A trough at about day 3-5 after loading is common; earlier day 2-3 assessment is possible. Measure the parent drug. Common treatment targets are &gt;1-2 mg/L with an upper boundary around 5-5.5 mg/L; severe/CNS disease often prompts a higher minimum within the range. Targets vary by protocol. Itraconazole About day 5-7 after loading; about day 10-14 without loading. Histoplasmosis, parent-only chromatographic assay: &gt;1 mg/L and generally &lt;3-4 mg/L. Combined itraconazole + hydroxyitraconazole: use the indication-specific protocol. The 2026 IDSA aspergillosis pharmacology appendix lists expert treatment targets &gt;1-2 mg/L and an upper boundary &lt;5 mg/L . These combined thresholds are not interchangeable with the parent-only range. [3] [12] Posaconazole A trough at about day 5-7 after loading. A commonly used prophylaxis target is at least 0.7 mg/L. Treatment targets are commonly &gt;1-1.25 mg/L. An upper safety boundary is less settled; high exposure should prompt toxicity review. Isavuconazole Selective TDM, particularly unexpected failure/toxicity, absorption concerns, or unusual PK. No universally validated therapeutic window. Some centers use routine levels; others do not. Do not import voriconazole targets. Flucytosine When monitoring is indicated, usually a 2-hour post-dose level after about 3 days, sooner with concern for accumulation. This is a peak, not an azole trough. BSMM guidance uses about 50-100 mg/L; avoid sustained levels &gt;100 mg/L because toxicity risk increases. Fluconazole, echinocandins, amphotericin B No routine TDM for standard use. Clinical response and organ/toxicity monitoring remain essential. [3] [14] [13] [22] Itraconazole and hydroxyitraconazole levels Example: itraconazole 0.7 mg/L + hydroxyitraconazole 1.3 mg/L = combined 2.0 mg/L. The result meets a combined target of 2.0 mg/L or greater, but does not meet a parent-only target greater than 1.0 mg/L. Compare the result with the range for that assay. Voriconazole N-oxide has minimal antifungal activity and is not added to the voriconazole trough to determine treatment exposure. [6] [13] Fellow teaching Itraconazole assay targets</a:t>
            </a:r>
          </a:p>
          <a:p xmlns:a="http://schemas.openxmlformats.org/drawingml/2006/main">
            <a:r>
              <a:t/>
            </a:r>
          </a:p>
          <a:p xmlns:a="http://schemas.openxmlformats.org/drawingml/2006/main">
            <a:r>
              <a:t>Module section: https://docarcshot.github.io/id-practice-update/lectures/Antifungals_Practical_Primer_Resident_Fellow.html#tdm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Therapeutic drug monitoring Document the last dose, draw time, formulation, recent missed doses, food/tube feed administration, interacting drugs, and the indication-specific target. mg/L and mcg/mL are numerically equivalent. Repeat a level after a meaningful dose, route, formulation, interaction, absorption, or clinical change. [14] Drug Usual first assessment Interpretation Voriconazole A trough at about day 3-5 after loading is common; earlier day 2-3 assessment is possible. Measure the parent drug. Common treatment targets are &gt;1-2 mg/L with an upper boundary around 5-5.5 mg/L; severe/CNS disease often prompts a higher minimum within the range. Targets vary by protocol. Itraconazole About day 5-7 after loading; about day 10-14 without loading. Histoplasmosis, parent-only chromatographic assay: &gt;1 mg/L and generally &lt;3-4 mg/L. Combined itraconazole + hydroxyitraconazole: use the indication-specific protocol. The 2026 IDSA aspergillosis pharmacology appendix lists expert treatment targets &gt;1-2 mg/L and an upper boundary &lt;5 mg/L . These combined thresholds are not interchangeable with the parent-only range. [3] [12] Posaconazole A trough at about day 5-7 after loading. A commonly used prophylaxis target is at least 0.7 mg/L. Treatment targets are commonly &gt;1-1.25 mg/L. An upper safety boundary is less settled; high exposure should prompt toxicity review. Isavuconazole Selective TDM, particularly unexpected failure/toxicity, absorption concerns, or unusual PK. No universally validated therapeutic window. Some centers use routine levels; others do not. Do not import voriconazole targets. Flucytosine When monitoring is indicated, usually a 2-hour post-dose level after about 3 days, sooner with concern for accumulation. This is a peak, not an azole trough. BSMM guidance uses about 50-100 mg/L; avoid sustained levels &gt;100 mg/L because toxicity risk increases. Fluconazole, echinocandins, amphotericin B No routine TDM for standard use. Clinical response and organ/toxicity monitoring remain essential. [3] [14] [13] [22] Itraconazole and hydroxyitraconazole levels Example: itraconazole 0.7 mg/L + hydroxyitraconazole 1.3 mg/L = combined 2.0 mg/L. The result meets a combined target of 2.0 mg/L or greater, but does not meet a parent-only target greater than 1.0 mg/L. Compare the result with the range for that assay. Voriconazole N-oxide has minimal antifungal activity and is not added to the voriconazole trough to determine treatment exposure. [6] [13] Fellow teaching Itraconazole assay targets</a:t>
            </a:r>
          </a:p>
          <a:p xmlns:a="http://schemas.openxmlformats.org/drawingml/2006/main">
            <a:r>
              <a:t/>
            </a:r>
          </a:p>
          <a:p xmlns:a="http://schemas.openxmlformats.org/drawingml/2006/main">
            <a:r>
              <a:t>Module section: https://docarcshot.github.io/id-practice-update/lectures/Antifungals_Practical_Primer_Resident_Fellow.html#tdm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Therapeutic drug monitoring Document the last dose, draw time, formulation, recent missed doses, food/tube feed administration, interacting drugs, and the indication-specific target. mg/L and mcg/mL are numerically equivalent. Repeat a level after a meaningful dose, route, formulation, interaction, absorption, or clinical change. [14] Drug Usual first assessment Interpretation Voriconazole A trough at about day 3-5 after loading is common; earlier day 2-3 assessment is possible. Measure the parent drug. Common treatment targets are &gt;1-2 mg/L with an upper boundary around 5-5.5 mg/L; severe/CNS disease often prompts a higher minimum within the range. Targets vary by protocol. Itraconazole About day 5-7 after loading; about day 10-14 without loading. Histoplasmosis, parent-only chromatographic assay: &gt;1 mg/L and generally &lt;3-4 mg/L. Combined itraconazole + hydroxyitraconazole: use the indication-specific protocol. The 2026 IDSA aspergillosis pharmacology appendix lists expert treatment targets &gt;1-2 mg/L and an upper boundary &lt;5 mg/L . These combined thresholds are not interchangeable with the parent-only range. [3] [12] Posaconazole A trough at about day 5-7 after loading. A commonly used prophylaxis target is at least 0.7 mg/L. Treatment targets are commonly &gt;1-1.25 mg/L. An upper safety boundary is less settled; high exposure should prompt toxicity review. Isavuconazole Selective TDM, particularly unexpected failure/toxicity, absorption concerns, or unusual PK. No universally validated therapeutic window. Some centers use routine levels; others do not. Do not import voriconazole targets. Flucytosine When monitoring is indicated, usually a 2-hour post-dose level after about 3 days, sooner with concern for accumulation. This is a peak, not an azole trough. BSMM guidance uses about 50-100 mg/L; avoid sustained levels &gt;100 mg/L because toxicity risk increases. Fluconazole, echinocandins, amphotericin B No routine TDM for standard use. Clinical response and organ/toxicity monitoring remain essential. [3] [14] [13] [22] Itraconazole and hydroxyitraconazole levels Example: itraconazole 0.7 mg/L + hydroxyitraconazole 1.3 mg/L = combined 2.0 mg/L. The result meets a combined target of 2.0 mg/L or greater, but does not meet a parent-only target greater than 1.0 mg/L. Compare the result with the range for that assay. Voriconazole N-oxide has minimal antifungal activity and is not added to the voriconazole trough to determine treatment exposure. [6] [13] Fellow teaching Itraconazole assay targets</a:t>
            </a:r>
          </a:p>
          <a:p xmlns:a="http://schemas.openxmlformats.org/drawingml/2006/main">
            <a:r>
              <a:t/>
            </a:r>
          </a:p>
          <a:p xmlns:a="http://schemas.openxmlformats.org/drawingml/2006/main">
            <a:r>
              <a:t>Module section: https://docarcshot.github.io/id-practice-update/lectures/Antifungals_Practical_Primer_Resident_Fellow.html#tdm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Therapeutic drug monitoring Document the last dose, draw time, formulation, recent missed doses, food/tube feed administration, interacting drugs, and the indication-specific target. mg/L and mcg/mL are numerically equivalent. Repeat a level after a meaningful dose, route, formulation, interaction, absorption, or clinical change. [14] Drug Usual first assessment Interpretation Voriconazole A trough at about day 3-5 after loading is common; earlier day 2-3 assessment is possible. Measure the parent drug. Common treatment targets are &gt;1-2 mg/L with an upper boundary around 5-5.5 mg/L; severe/CNS disease often prompts a higher minimum within the range. Targets vary by protocol. Itraconazole About day 5-7 after loading; about day 10-14 without loading. Histoplasmosis, parent-only chromatographic assay: &gt;1 mg/L and generally &lt;3-4 mg/L. Combined itraconazole + hydroxyitraconazole: use the indication-specific protocol. The 2026 IDSA aspergillosis pharmacology appendix lists expert treatment targets &gt;1-2 mg/L and an upper boundary &lt;5 mg/L . These combined thresholds are not interchangeable with the parent-only range. [3] [12] Posaconazole A trough at about day 5-7 after loading. A commonly used prophylaxis target is at least 0.7 mg/L. Treatment targets are commonly &gt;1-1.25 mg/L. An upper safety boundary is less settled; high exposure should prompt toxicity review. Isavuconazole Selective TDM, particularly unexpected failure/toxicity, absorption concerns, or unusual PK. No universally validated therapeutic window. Some centers use routine levels; others do not. Do not import voriconazole targets. Flucytosine When monitoring is indicated, usually a 2-hour post-dose level after about 3 days, sooner with concern for accumulation. This is a peak, not an azole trough. BSMM guidance uses about 50-100 mg/L; avoid sustained levels &gt;100 mg/L because toxicity risk increases. Fluconazole, echinocandins, amphotericin B No routine TDM for standard use. Clinical response and organ/toxicity monitoring remain essential. [3] [14] [13] [22] Itraconazole and hydroxyitraconazole levels Example: itraconazole 0.7 mg/L + hydroxyitraconazole 1.3 mg/L = combined 2.0 mg/L. The result meets a combined target of 2.0 mg/L or greater, but does not meet a parent-only target greater than 1.0 mg/L. Compare the result with the range for that assay. Voriconazole N-oxide has minimal antifungal activity and is not added to the voriconazole trough to determine treatment exposure. [6] [13] Fellow teaching Itraconazole assay targets</a:t>
            </a:r>
          </a:p>
          <a:p xmlns:a="http://schemas.openxmlformats.org/drawingml/2006/main">
            <a:r>
              <a:t/>
            </a:r>
          </a:p>
          <a:p xmlns:a="http://schemas.openxmlformats.org/drawingml/2006/main">
            <a:r>
              <a:t>Module section: https://docarcshot.github.io/id-practice-update/lectures/Antifungals_Practical_Primer_Resident_Fellow.html#tdm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Therapeutic drug monitoring Document the last dose, draw time, formulation, recent missed doses, food/tube feed administration, interacting drugs, and the indication-specific target. mg/L and mcg/mL are numerically equivalent. Repeat a level after a meaningful dose, route, formulation, interaction, absorption, or clinical change. [14] Drug Usual first assessment Interpretation Voriconazole A trough at about day 3-5 after loading is common; earlier day 2-3 assessment is possible. Measure the parent drug. Common treatment targets are &gt;1-2 mg/L with an upper boundary around 5-5.5 mg/L; severe/CNS disease often prompts a higher minimum within the range. Targets vary by protocol. Itraconazole About day 5-7 after loading; about day 10-14 without loading. Histoplasmosis, parent-only chromatographic assay: &gt;1 mg/L and generally &lt;3-4 mg/L. Combined itraconazole + hydroxyitraconazole: use the indication-specific protocol. The 2026 IDSA aspergillosis pharmacology appendix lists expert treatment targets &gt;1-2 mg/L and an upper boundary &lt;5 mg/L . These combined thresholds are not interchangeable with the parent-only range. [3] [12] Posaconazole A trough at about day 5-7 after loading. A commonly used prophylaxis target is at least 0.7 mg/L. Treatment targets are commonly &gt;1-1.25 mg/L. An upper safety boundary is less settled; high exposure should prompt toxicity review. Isavuconazole Selective TDM, particularly unexpected failure/toxicity, absorption concerns, or unusual PK. No universally validated therapeutic window. Some centers use routine levels; others do not. Do not import voriconazole targets. Flucytosine When monitoring is indicated, usually a 2-hour post-dose level after about 3 days, sooner with concern for accumulation. This is a peak, not an azole trough. BSMM guidance uses about 50-100 mg/L; avoid sustained levels &gt;100 mg/L because toxicity risk increases. Fluconazole, echinocandins, amphotericin B No routine TDM for standard use. Clinical response and organ/toxicity monitoring remain essential. [3] [14] [13] [22] Itraconazole and hydroxyitraconazole levels Example: itraconazole 0.7 mg/L + hydroxyitraconazole 1.3 mg/L = combined 2.0 mg/L. The result meets a combined target of 2.0 mg/L or greater, but does not meet a parent-only target greater than 1.0 mg/L. Compare the result with the range for that assay. Voriconazole N-oxide has minimal antifungal activity and is not added to the voriconazole trough to determine treatment exposure. [6] [13] Fellow teaching Itraconazole assay targets</a:t>
            </a:r>
          </a:p>
          <a:p xmlns:a="http://schemas.openxmlformats.org/drawingml/2006/main">
            <a:r>
              <a:t/>
            </a:r>
          </a:p>
          <a:p xmlns:a="http://schemas.openxmlformats.org/drawingml/2006/main">
            <a:r>
              <a:t>Module section: https://docarcshot.github.io/id-practice-update/lectures/Antifungals_Practical_Primer_Resident_Fellow.html#tdm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Therapeutic drug monitoring Document the last dose, draw time, formulation, recent missed doses, food/tube feed administration, interacting drugs, and the indication-specific target. mg/L and mcg/mL are numerically equivalent. Repeat a level after a meaningful dose, route, formulation, interaction, absorption, or clinical change. [14] Drug Usual first assessment Interpretation Voriconazole A trough at about day 3-5 after loading is common; earlier day 2-3 assessment is possible. Measure the parent drug. Common treatment targets are &gt;1-2 mg/L with an upper boundary around 5-5.5 mg/L; severe/CNS disease often prompts a higher minimum within the range. Targets vary by protocol. Itraconazole About day 5-7 after loading; about day 10-14 without loading. Histoplasmosis, parent-only chromatographic assay: &gt;1 mg/L and generally &lt;3-4 mg/L. Combined itraconazole + hydroxyitraconazole: use the indication-specific protocol. The 2026 IDSA aspergillosis pharmacology appendix lists expert treatment targets &gt;1-2 mg/L and an upper boundary &lt;5 mg/L . These combined thresholds are not interchangeable with the parent-only range. [3] [12] Posaconazole A trough at about day 5-7 after loading. A commonly used prophylaxis target is at least 0.7 mg/L. Treatment targets are commonly &gt;1-1.25 mg/L. An upper safety boundary is less settled; high exposure should prompt toxicity review. Isavuconazole Selective TDM, particularly unexpected failure/toxicity, absorption concerns, or unusual PK. No universally validated therapeutic window. Some centers use routine levels; others do not. Do not import voriconazole targets. Flucytosine When monitoring is indicated, usually a 2-hour post-dose level after about 3 days, sooner with concern for accumulation. This is a peak, not an azole trough. BSMM guidance uses about 50-100 mg/L; avoid sustained levels &gt;100 mg/L because toxicity risk increases. Fluconazole, echinocandins, amphotericin B No routine TDM for standard use. Clinical response and organ/toxicity monitoring remain essential. [3] [14] [13] [22] Itraconazole and hydroxyitraconazole levels Example: itraconazole 0.7 mg/L + hydroxyitraconazole 1.3 mg/L = combined 2.0 mg/L. The result meets a combined target of 2.0 mg/L or greater, but does not meet a parent-only target greater than 1.0 mg/L. Compare the result with the range for that assay. Voriconazole N-oxide has minimal antifungal activity and is not added to the voriconazole trough to determine treatment exposure. [6] [13] Fellow teaching Itraconazole assay targets</a:t>
            </a:r>
          </a:p>
          <a:p xmlns:a="http://schemas.openxmlformats.org/drawingml/2006/main">
            <a:r>
              <a:t/>
            </a:r>
          </a:p>
          <a:p xmlns:a="http://schemas.openxmlformats.org/drawingml/2006/main">
            <a:r>
              <a:t>Module section: https://docarcshot.github.io/id-practice-update/lectures/Antifungals_Practical_Primer_Resident_Fellow.html#tdm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Therapeutic drug monitoring Document the last dose, draw time, formulation, recent missed doses, food/tube feed administration, interacting drugs, and the indication-specific target. mg/L and mcg/mL are numerically equivalent. Repeat a level after a meaningful dose, route, formulation, interaction, absorption, or clinical change. [14] Drug Usual first assessment Interpretation Voriconazole A trough at about day 3-5 after loading is common; earlier day 2-3 assessment is possible. Measure the parent drug. Common treatment targets are &gt;1-2 mg/L with an upper boundary around 5-5.5 mg/L; severe/CNS disease often prompts a higher minimum within the range. Targets vary by protocol. Itraconazole About day 5-7 after loading; about day 10-14 without loading. Histoplasmosis, parent-only chromatographic assay: &gt;1 mg/L and generally &lt;3-4 mg/L. Combined itraconazole + hydroxyitraconazole: use the indication-specific protocol. The 2026 IDSA aspergillosis pharmacology appendix lists expert treatment targets &gt;1-2 mg/L and an upper boundary &lt;5 mg/L . These combined thresholds are not interchangeable with the parent-only range. [3] [12] Posaconazole A trough at about day 5-7 after loading. A commonly used prophylaxis target is at least 0.7 mg/L. Treatment targets are commonly &gt;1-1.25 mg/L. An upper safety boundary is less settled; high exposure should prompt toxicity review. Isavuconazole Selective TDM, particularly unexpected failure/toxicity, absorption concerns, or unusual PK. No universally validated therapeutic window. Some centers use routine levels; others do not. Do not import voriconazole targets. Flucytosine When monitoring is indicated, usually a 2-hour post-dose level after about 3 days, sooner with concern for accumulation. This is a peak, not an azole trough. BSMM guidance uses about 50-100 mg/L; avoid sustained levels &gt;100 mg/L because toxicity risk increases. Fluconazole, echinocandins, amphotericin B No routine TDM for standard use. Clinical response and organ/toxicity monitoring remain essential. [3] [14] [13] [22] Itraconazole and hydroxyitraconazole levels Example: itraconazole 0.7 mg/L + hydroxyitraconazole 1.3 mg/L = combined 2.0 mg/L. The result meets a combined target of 2.0 mg/L or greater, but does not meet a parent-only target greater than 1.0 mg/L. Compare the result with the range for that assay. Voriconazole N-oxide has minimal antifungal activity and is not added to the voriconazole trough to determine treatment exposure. [6] [13] Fellow teaching Itraconazole assay targets</a:t>
            </a:r>
          </a:p>
          <a:p xmlns:a="http://schemas.openxmlformats.org/drawingml/2006/main">
            <a:r>
              <a:t/>
            </a:r>
          </a:p>
          <a:p xmlns:a="http://schemas.openxmlformats.org/drawingml/2006/main">
            <a:r>
              <a:t>Module section: https://docarcshot.github.io/id-practice-update/lectures/Antifungals_Practical_Primer_Resident_Fellow.html#tdm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Therapeutic drug monitoring Document the last dose, draw time, formulation, recent missed doses, food/tube feed administration, interacting drugs, and the indication-specific target. mg/L and mcg/mL are numerically equivalent. Repeat a level after a meaningful dose, route, formulation, interaction, absorption, or clinical change. [14] Drug Usual first assessment Interpretation Voriconazole A trough at about day 3-5 after loading is common; earlier day 2-3 assessment is possible. Measure the parent drug. Common treatment targets are &gt;1-2 mg/L with an upper boundary around 5-5.5 mg/L; severe/CNS disease often prompts a higher minimum within the range. Targets vary by protocol. Itraconazole About day 5-7 after loading; about day 10-14 without loading. Histoplasmosis, parent-only chromatographic assay: &gt;1 mg/L and generally &lt;3-4 mg/L. Combined itraconazole + hydroxyitraconazole: use the indication-specific protocol. The 2026 IDSA aspergillosis pharmacology appendix lists expert treatment targets &gt;1-2 mg/L and an upper boundary &lt;5 mg/L . These combined thresholds are not interchangeable with the parent-only range. [3] [12] Posaconazole A trough at about day 5-7 after loading. A commonly used prophylaxis target is at least 0.7 mg/L. Treatment targets are commonly &gt;1-1.25 mg/L. An upper safety boundary is less settled; high exposure should prompt toxicity review. Isavuconazole Selective TDM, particularly unexpected failure/toxicity, absorption concerns, or unusual PK. No universally validated therapeutic window. Some centers use routine levels; others do not. Do not import voriconazole targets. Flucytosine When monitoring is indicated, usually a 2-hour post-dose level after about 3 days, sooner with concern for accumulation. This is a peak, not an azole trough. BSMM guidance uses about 50-100 mg/L; avoid sustained levels &gt;100 mg/L because toxicity risk increases. Fluconazole, echinocandins, amphotericin B No routine TDM for standard use. Clinical response and organ/toxicity monitoring remain essential. [3] [14] [13] [22] Itraconazole and hydroxyitraconazole levels Example: itraconazole 0.7 mg/L + hydroxyitraconazole 1.3 mg/L = combined 2.0 mg/L. The result meets a combined target of 2.0 mg/L or greater, but does not meet a parent-only target greater than 1.0 mg/L. Compare the result with the range for that assay. Voriconazole N-oxide has minimal antifungal activity and is not added to the voriconazole trough to determine treatment exposure. [6] [13] Fellow teaching Itraconazole assay targets</a:t>
            </a:r>
          </a:p>
          <a:p xmlns:a="http://schemas.openxmlformats.org/drawingml/2006/main">
            <a:r>
              <a:t/>
            </a:r>
          </a:p>
          <a:p xmlns:a="http://schemas.openxmlformats.org/drawingml/2006/main">
            <a:r>
              <a:t>Module section: https://docarcshot.github.io/id-practice-update/lectures/Antifungals_Practical_Primer_Resident_Fellow.html#tdm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Therapeutic drug monitoring Document the last dose, draw time, formulation, recent missed doses, food/tube feed administration, interacting drugs, and the indication-specific target. mg/L and mcg/mL are numerically equivalent. Repeat a level after a meaningful dose, route, formulation, interaction, absorption, or clinical change. [14] Drug Usual first assessment Interpretation Voriconazole A trough at about day 3-5 after loading is common; earlier day 2-3 assessment is possible. Measure the parent drug. Common treatment targets are &gt;1-2 mg/L with an upper boundary around 5-5.5 mg/L; severe/CNS disease often prompts a higher minimum within the range. Targets vary by protocol. Itraconazole About day 5-7 after loading; about day 10-14 without loading. Histoplasmosis, parent-only chromatographic assay: &gt;1 mg/L and generally &lt;3-4 mg/L. Combined itraconazole + hydroxyitraconazole: use the indication-specific protocol. The 2026 IDSA aspergillosis pharmacology appendix lists expert treatment targets &gt;1-2 mg/L and an upper boundary &lt;5 mg/L . These combined thresholds are not interchangeable with the parent-only range. [3] [12] Posaconazole A trough at about day 5-7 after loading. A commonly used prophylaxis target is at least 0.7 mg/L. Treatment targets are commonly &gt;1-1.25 mg/L. An upper safety boundary is less settled; high exposure should prompt toxicity review. Isavuconazole Selective TDM, particularly unexpected failure/toxicity, absorption concerns, or unusual PK. No universally validated therapeutic window. Some centers use routine levels; others do not. Do not import voriconazole targets. Flucytosine When monitoring is indicated, usually a 2-hour post-dose level after about 3 days, sooner with concern for accumulation. This is a peak, not an azole trough. BSMM guidance uses about 50-100 mg/L; avoid sustained levels &gt;100 mg/L because toxicity risk increases. Fluconazole, echinocandins, amphotericin B No routine TDM for standard use. Clinical response and organ/toxicity monitoring remain essential. [3] [14] [13] [22] Itraconazole and hydroxyitraconazole levels Example: itraconazole 0.7 mg/L + hydroxyitraconazole 1.3 mg/L = combined 2.0 mg/L. The result meets a combined target of 2.0 mg/L or greater, but does not meet a parent-only target greater than 1.0 mg/L. Compare the result with the range for that assay. Voriconazole N-oxide has minimal antifungal activity and is not added to the voriconazole trough to determine treatment exposure. [6] [13] Fellow teaching Itraconazole assay targets</a:t>
            </a:r>
          </a:p>
          <a:p xmlns:a="http://schemas.openxmlformats.org/drawingml/2006/main">
            <a:r>
              <a:t/>
            </a:r>
          </a:p>
          <a:p xmlns:a="http://schemas.openxmlformats.org/drawingml/2006/main">
            <a:r>
              <a:t>Module section: https://docarcshot.github.io/id-practice-update/lectures/Antifungals_Practical_Primer_Resident_Fellow.html#tdm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cases Case 1. Candida in blood and urine A critically ill patient has candidemia and candiduria. Is micafungin inadequate because it has low urine levels? Not necessarily. It is a reasonable initial candidemia drug. Determine whether candiduria is colonization, collecting-system disease, obstruction, or hematogenous renal involvement. A separate symptomatic urinary focus may require a different drug and source control. A positive urine culture alone does not establish a Candida UTI. [1] Case 2. Hallucinations during voriconazole treatment A patient develops hallucinations on day 6 after the voriconazole dose was increased. What should be checked? Check dose history, timing, interacting drugs, liver function, electrolytes, and a correctly timed voriconazole level. Also assess other causes of encephalopathy. Serious toxicity may require holding or changing therapy while results are pending. Nonlinear kinetics mean that doubling the dose can produce more than double the exposure. [6] Case 3. A therapeutic level with new edema A patient receiving itraconazole has a satisfactory combined level but develops edema and dyspnea. Does the drug level exclude toxicity? No. Evaluate for heart failure and reconsider itraconazole promptly. Heart failure can occur despite a therapeutic level. Review interacting calcium channel blockers and other contributors. [5]</a:t>
            </a:r>
          </a:p>
          <a:p xmlns:a="http://schemas.openxmlformats.org/drawingml/2006/main">
            <a:r>
              <a:t/>
            </a:r>
          </a:p>
          <a:p xmlns:a="http://schemas.openxmlformats.org/drawingml/2006/main">
            <a:r>
              <a:t>Module section: https://docarcshot.github.io/id-practice-update/lectures/Antifungals_Practical_Primer_Resident_Fellow.html#cases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cases Case 1. Candida in blood and urine A critically ill patient has candidemia and candiduria. Is micafungin inadequate because it has low urine levels? Not necessarily. It is a reasonable initial candidemia drug. Determine whether candiduria is colonization, collecting-system disease, obstruction, or hematogenous renal involvement. A separate symptomatic urinary focus may require a different drug and source control. A positive urine culture alone does not establish a Candida UTI. [1] Case 2. Hallucinations during voriconazole treatment A patient develops hallucinations on day 6 after the voriconazole dose was increased. What should be checked? Check dose history, timing, interacting drugs, liver function, electrolytes, and a correctly timed voriconazole level. Also assess other causes of encephalopathy. Serious toxicity may require holding or changing therapy while results are pending. Nonlinear kinetics mean that doubling the dose can produce more than double the exposure. [6] Case 3. A therapeutic level with new edema A patient receiving itraconazole has a satisfactory combined level but develops edema and dyspnea. Does the drug level exclude toxicity? No. Evaluate for heart failure and reconsider itraconazole promptly. Heart failure can occur despite a therapeutic level. Review interacting calcium channel blockers and other contributors. [5]</a:t>
            </a:r>
          </a:p>
          <a:p xmlns:a="http://schemas.openxmlformats.org/drawingml/2006/main">
            <a:r>
              <a:t/>
            </a:r>
          </a:p>
          <a:p xmlns:a="http://schemas.openxmlformats.org/drawingml/2006/main">
            <a:r>
              <a:t>Module section: https://docarcshot.github.io/id-practice-update/lectures/Antifungals_Practical_Primer_Resident_Fellow.html#cases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cases Case 1. Candida in blood and urine A critically ill patient has candidemia and candiduria. Is micafungin inadequate because it has low urine levels? Not necessarily. It is a reasonable initial candidemia drug. Determine whether candiduria is colonization, collecting-system disease, obstruction, or hematogenous renal involvement. A separate symptomatic urinary focus may require a different drug and source control. A positive urine culture alone does not establish a Candida UTI. [1] Case 2. Hallucinations during voriconazole treatment A patient develops hallucinations on day 6 after the voriconazole dose was increased. What should be checked? Check dose history, timing, interacting drugs, liver function, electrolytes, and a correctly timed voriconazole level. Also assess other causes of encephalopathy. Serious toxicity may require holding or changing therapy while results are pending. Nonlinear kinetics mean that doubling the dose can produce more than double the exposure. [6] Case 3. A therapeutic level with new edema A patient receiving itraconazole has a satisfactory combined level but develops edema and dyspnea. Does the drug level exclude toxicity? No. Evaluate for heart failure and reconsider itraconazole promptly. Heart failure can occur despite a therapeutic level. Review interacting calcium channel blockers and other contributors. [5]</a:t>
            </a:r>
          </a:p>
          <a:p xmlns:a="http://schemas.openxmlformats.org/drawingml/2006/main">
            <a:r>
              <a:t/>
            </a:r>
          </a:p>
          <a:p xmlns:a="http://schemas.openxmlformats.org/drawingml/2006/main">
            <a:r>
              <a:t>Module section: https://docarcshot.github.io/id-practice-update/lectures/Antifungals_Practical_Primer_Resident_Fellow.html#cases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Before prescribing This primer covers antifungal selection, administration, adverse effects, and monitoring. The resident section is designed for a 30-45 minute discussion, followed by additional pharmacology and evidence for fellows. Resident core Recognize the major coverage gaps, choose a formulation and route, identify toxicities, and arrange monitoring. Fellow section Interpret exposure and susceptibility together, distinguish CSF from brain tissue concentrations, and evaluate the evidence for newer agents. Jump to fellow section Review the diagnosis, likely organism, severity, infection site, source control, prior antifungal exposure, and drug interactions. Candida from respiratory secretions usually represents colonization; a respiratory isolate alone does not establish invasive disease. [1] A susceptible isolate may still require a different drug because of poor urine, CSF, or vitreous exposure. Abscesses and infected devices also require source control. 1 Coverage and species 2 Drug selection and delivery 3 Toxicity and drug levels 4 Bedside decisions</a:t>
            </a:r>
          </a:p>
          <a:p xmlns:a="http://schemas.openxmlformats.org/drawingml/2006/main">
            <a:r>
              <a:t/>
            </a:r>
          </a:p>
          <a:p xmlns:a="http://schemas.openxmlformats.org/drawingml/2006/main">
            <a:r>
              <a:t>Module section: https://docarcshot.github.io/id-practice-update/lectures/Antifungals_Practical_Primer_Resident_Fellow.html#start</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Fellow extension and advanced reference Fellow extension The resident core and rounds sheet end above. Continue here for chemical structures, detailed interpretation, evidence, and newer agents. Molecular structures Clinical nuances Key studies Breakthrough infection Newer approved drugs Pipeline agents</a:t>
            </a:r>
          </a:p>
          <a:p xmlns:a="http://schemas.openxmlformats.org/drawingml/2006/main">
            <a:r>
              <a:t/>
            </a:r>
          </a:p>
          <a:p xmlns:a="http://schemas.openxmlformats.org/drawingml/2006/main">
            <a:r>
              <a:t>Module section: https://docarcshot.github.io/id-practice-update/lectures/Antifungals_Practical_Primer_Resident_Fellow.html#fellow-detail</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structures and pharmacokinetics The triazole ring is the shared pharmacophore. Substituents around that ring change binding to fungal CYP51, lipophilicity, molecular size, protein binding, metabolism, and interactions. These changes can expand antifungal activity without improving CNS exposure. Small size and a substantial unbound fraction favor access to fluid compartments. Lipophilicity can favor membrane passage and tissue partitioning, but very high lipophilicity can accompany extensive protein binding and low CSF concentrations. Efflux, ionization, inflammation, and the measured compartment also matter. Structure alone does not reliably predict CNS exposure. Triazole rings and side chains Blue highlights the triazole ring(s); amber highlights other aromatic ring systems. Unhighlighted atoms and linkers also contribute to the side chains. The colors mark structural regions, not polarity. The drawings are not to scale. Fluconazole 306.27 Da END OF HEADER Two triazole rings and a compact substituent framework. Low protein binding and relatively water-soluble disposition favor fluid-compartment exposure. [51] Voriconazole 349.31 Da END OF HEADER One triazole ring; a fluorinated pyrimidine replaces one of fluconazole's triazole-containing arms. It remains relatively small and has established CSF and brain penetration. [52] Itraconazole 705.6 Da END OF HEADER Multiple rings joined by a long substituent chain. Its large size, lipophilicity, and very high binding accompany low CSF exposure. The marketed drug is a stereoisomer mixture; this PubChem representation does not show every component. [53] Posaconazole 700.8 Da END OF HEADER A long ring-and-linker structure related to itraconazole. Substituent changes affect spectrum and disposition; greater mold activity does not imply better CSF penetration. [54] Isavuconazole 437.5 Da END OF HEADER One triazole plus a thiazole-containing substituent. The drawing is active isavuconazole, not the larger isavuconazonium prodrug. High binding coexists with documented infected-brain tissue exposure. [55]</a:t>
            </a:r>
          </a:p>
          <a:p xmlns:a="http://schemas.openxmlformats.org/drawingml/2006/main">
            <a:r>
              <a:t/>
            </a:r>
          </a:p>
          <a:p xmlns:a="http://schemas.openxmlformats.org/drawingml/2006/main">
            <a:r>
              <a:t>Module section: https://docarcshot.github.io/id-practice-update/lectures/Antifungals_Practical_Primer_Resident_Fellow.html#structures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structures and pharmacokinetics The triazole ring is the shared pharmacophore. Substituents around that ring change binding to fungal CYP51, lipophilicity, molecular size, protein binding, metabolism, and interactions. These changes can expand antifungal activity without improving CNS exposure. Small size and a substantial unbound fraction favor access to fluid compartments. Lipophilicity can favor membrane passage and tissue partitioning, but very high lipophilicity can accompany extensive protein binding and low CSF concentrations. Efflux, ionization, inflammation, and the measured compartment also matter. Structure alone does not reliably predict CNS exposure. Triazole rings and side chains Blue highlights the triazole ring(s); amber highlights other aromatic ring systems. Unhighlighted atoms and linkers also contribute to the side chains. The colors mark structural regions, not polarity. The drawings are not to scale. Fluconazole 306.27 Da END OF HEADER Two triazole rings and a compact substituent framework. Low protein binding and relatively water-soluble disposition favor fluid-compartment exposure. [51] Voriconazole 349.31 Da END OF HEADER One triazole ring; a fluorinated pyrimidine replaces one of fluconazole's triazole-containing arms. It remains relatively small and has established CSF and brain penetration. [52] Itraconazole 705.6 Da END OF HEADER Multiple rings joined by a long substituent chain. Its large size, lipophilicity, and very high binding accompany low CSF exposure. The marketed drug is a stereoisomer mixture; this PubChem representation does not show every component. [53] Posaconazole 700.8 Da END OF HEADER A long ring-and-linker structure related to itraconazole. Substituent changes affect spectrum and disposition; greater mold activity does not imply better CSF penetration. [54] Isavuconazole 437.5 Da END OF HEADER One triazole plus a thiazole-containing substituent. The drawing is active isavuconazole, not the larger isavuconazonium prodrug. High binding coexists with documented infected-brain tissue exposure. [55]</a:t>
            </a:r>
          </a:p>
          <a:p xmlns:a="http://schemas.openxmlformats.org/drawingml/2006/main">
            <a:r>
              <a:t/>
            </a:r>
          </a:p>
          <a:p xmlns:a="http://schemas.openxmlformats.org/drawingml/2006/main">
            <a:r>
              <a:t>Module section: https://docarcshot.github.io/id-practice-update/lectures/Antifungals_Practical_Primer_Resident_Fellow.html#structures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structures and pharmacokinetics The triazole ring is the shared pharmacophore. Substituents around that ring change binding to fungal CYP51, lipophilicity, molecular size, protein binding, metabolism, and interactions. These changes can expand antifungal activity without improving CNS exposure. Small size and a substantial unbound fraction favor access to fluid compartments. Lipophilicity can favor membrane passage and tissue partitioning, but very high lipophilicity can accompany extensive protein binding and low CSF concentrations. Efflux, ionization, inflammation, and the measured compartment also matter. Structure alone does not reliably predict CNS exposure. Triazole rings and side chains Blue highlights the triazole ring(s); amber highlights other aromatic ring systems. Unhighlighted atoms and linkers also contribute to the side chains. The colors mark structural regions, not polarity. The drawings are not to scale. Fluconazole 306.27 Da END OF HEADER Two triazole rings and a compact substituent framework. Low protein binding and relatively water-soluble disposition favor fluid-compartment exposure. [51] Voriconazole 349.31 Da END OF HEADER One triazole ring; a fluorinated pyrimidine replaces one of fluconazole's triazole-containing arms. It remains relatively small and has established CSF and brain penetration. [52] Itraconazole 705.6 Da END OF HEADER Multiple rings joined by a long substituent chain. Its large size, lipophilicity, and very high binding accompany low CSF exposure. The marketed drug is a stereoisomer mixture; this PubChem representation does not show every component. [53] Posaconazole 700.8 Da END OF HEADER A long ring-and-linker structure related to itraconazole. Substituent changes affect spectrum and disposition; greater mold activity does not imply better CSF penetration. [54] Isavuconazole 437.5 Da END OF HEADER One triazole plus a thiazole-containing substituent. The drawing is active isavuconazole, not the larger isavuconazonium prodrug. High binding coexists with documented infected-brain tissue exposure. [55]</a:t>
            </a:r>
          </a:p>
          <a:p xmlns:a="http://schemas.openxmlformats.org/drawingml/2006/main">
            <a:r>
              <a:t/>
            </a:r>
          </a:p>
          <a:p xmlns:a="http://schemas.openxmlformats.org/drawingml/2006/main">
            <a:r>
              <a:t>Module section: https://docarcshot.github.io/id-practice-update/lectures/Antifungals_Practical_Primer_Resident_Fellow.html#structures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structures and pharmacokinetics The triazole ring is the shared pharmacophore. Substituents around that ring change binding to fungal CYP51, lipophilicity, molecular size, protein binding, metabolism, and interactions. These changes can expand antifungal activity without improving CNS exposure. Small size and a substantial unbound fraction favor access to fluid compartments. Lipophilicity can favor membrane passage and tissue partitioning, but very high lipophilicity can accompany extensive protein binding and low CSF concentrations. Efflux, ionization, inflammation, and the measured compartment also matter. Structure alone does not reliably predict CNS exposure. Triazole rings and side chains Blue highlights the triazole ring(s); amber highlights other aromatic ring systems. Unhighlighted atoms and linkers also contribute to the side chains. The colors mark structural regions, not polarity. The drawings are not to scale. Fluconazole 306.27 Da END OF HEADER Two triazole rings and a compact substituent framework. Low protein binding and relatively water-soluble disposition favor fluid-compartment exposure. [51] Voriconazole 349.31 Da END OF HEADER One triazole ring; a fluorinated pyrimidine replaces one of fluconazole's triazole-containing arms. It remains relatively small and has established CSF and brain penetration. [52] Itraconazole 705.6 Da END OF HEADER Multiple rings joined by a long substituent chain. Its large size, lipophilicity, and very high binding accompany low CSF exposure. The marketed drug is a stereoisomer mixture; this PubChem representation does not show every component. [53] Posaconazole 700.8 Da END OF HEADER A long ring-and-linker structure related to itraconazole. Substituent changes affect spectrum and disposition; greater mold activity does not imply better CSF penetration. [54] Isavuconazole 437.5 Da END OF HEADER One triazole plus a thiazole-containing substituent. The drawing is active isavuconazole, not the larger isavuconazonium prodrug. High binding coexists with documented infected-brain tissue exposure. [55]</a:t>
            </a:r>
          </a:p>
          <a:p xmlns:a="http://schemas.openxmlformats.org/drawingml/2006/main">
            <a:r>
              <a:t/>
            </a:r>
          </a:p>
          <a:p xmlns:a="http://schemas.openxmlformats.org/drawingml/2006/main">
            <a:r>
              <a:t>Module section: https://docarcshot.github.io/id-practice-update/lectures/Antifungals_Practical_Primer_Resident_Fellow.html#structures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structures and pharmacokinetics The triazole ring is the shared pharmacophore. Substituents around that ring change binding to fungal CYP51, lipophilicity, molecular size, protein binding, metabolism, and interactions. These changes can expand antifungal activity without improving CNS exposure. Small size and a substantial unbound fraction favor access to fluid compartments. Lipophilicity can favor membrane passage and tissue partitioning, but very high lipophilicity can accompany extensive protein binding and low CSF concentrations. Efflux, ionization, inflammation, and the measured compartment also matter. Structure alone does not reliably predict CNS exposure. Triazole rings and side chains Blue highlights the triazole ring(s); amber highlights other aromatic ring systems. Unhighlighted atoms and linkers also contribute to the side chains. The colors mark structural regions, not polarity. The drawings are not to scale. Fluconazole 306.27 Da END OF HEADER Two triazole rings and a compact substituent framework. Low protein binding and relatively water-soluble disposition favor fluid-compartment exposure. [51] Voriconazole 349.31 Da END OF HEADER One triazole ring; a fluorinated pyrimidine replaces one of fluconazole's triazole-containing arms. It remains relatively small and has established CSF and brain penetration. [52] Itraconazole 705.6 Da END OF HEADER Multiple rings joined by a long substituent chain. Its large size, lipophilicity, and very high binding accompany low CSF exposure. The marketed drug is a stereoisomer mixture; this PubChem representation does not show every component. [53] Posaconazole 700.8 Da END OF HEADER A long ring-and-linker structure related to itraconazole. Substituent changes affect spectrum and disposition; greater mold activity does not imply better CSF penetration. [54] Isavuconazole 437.5 Da END OF HEADER One triazole plus a thiazole-containing substituent. The drawing is active isavuconazole, not the larger isavuconazonium prodrug. High binding coexists with documented infected-brain tissue exposure. [55]</a:t>
            </a:r>
          </a:p>
          <a:p xmlns:a="http://schemas.openxmlformats.org/drawingml/2006/main">
            <a:r>
              <a:t/>
            </a:r>
          </a:p>
          <a:p xmlns:a="http://schemas.openxmlformats.org/drawingml/2006/main">
            <a:r>
              <a:t>Module section: https://docarcshot.github.io/id-practice-update/lectures/Antifungals_Practical_Primer_Resident_Fellow.html#structures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structures and pharmacokinetics The triazole ring is the shared pharmacophore. Substituents around that ring change binding to fungal CYP51, lipophilicity, molecular size, protein binding, metabolism, and interactions. These changes can expand antifungal activity without improving CNS exposure. Small size and a substantial unbound fraction favor access to fluid compartments. Lipophilicity can favor membrane passage and tissue partitioning, but very high lipophilicity can accompany extensive protein binding and low CSF concentrations. Efflux, ionization, inflammation, and the measured compartment also matter. Structure alone does not reliably predict CNS exposure. Triazole rings and side chains Blue highlights the triazole ring(s); amber highlights other aromatic ring systems. Unhighlighted atoms and linkers also contribute to the side chains. The colors mark structural regions, not polarity. The drawings are not to scale. Fluconazole 306.27 Da END OF HEADER Two triazole rings and a compact substituent framework. Low protein binding and relatively water-soluble disposition favor fluid-compartment exposure. [51] Voriconazole 349.31 Da END OF HEADER One triazole ring; a fluorinated pyrimidine replaces one of fluconazole's triazole-containing arms. It remains relatively small and has established CSF and brain penetration. [52] Itraconazole 705.6 Da END OF HEADER Multiple rings joined by a long substituent chain. Its large size, lipophilicity, and very high binding accompany low CSF exposure. The marketed drug is a stereoisomer mixture; this PubChem representation does not show every component. [53] Posaconazole 700.8 Da END OF HEADER A long ring-and-linker structure related to itraconazole. Substituent changes affect spectrum and disposition; greater mold activity does not imply better CSF penetration. [54] Isavuconazole 437.5 Da END OF HEADER One triazole plus a thiazole-containing substituent. The drawing is active isavuconazole, not the larger isavuconazonium prodrug. High binding coexists with documented infected-brain tissue exposure. [55]</a:t>
            </a:r>
          </a:p>
          <a:p xmlns:a="http://schemas.openxmlformats.org/drawingml/2006/main">
            <a:r>
              <a:t/>
            </a:r>
          </a:p>
          <a:p xmlns:a="http://schemas.openxmlformats.org/drawingml/2006/main">
            <a:r>
              <a:t>Module section: https://docarcshot.github.io/id-practice-update/lectures/Antifungals_Practical_Primer_Resident_Fellow.html#structures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structures and pharmacokinetics The triazole ring is the shared pharmacophore. Substituents around that ring change binding to fungal CYP51, lipophilicity, molecular size, protein binding, metabolism, and interactions. These changes can expand antifungal activity without improving CNS exposure. Small size and a substantial unbound fraction favor access to fluid compartments. Lipophilicity can favor membrane passage and tissue partitioning, but very high lipophilicity can accompany extensive protein binding and low CSF concentrations. Efflux, ionization, inflammation, and the measured compartment also matter. Structure alone does not reliably predict CNS exposure. Triazole rings and side chains Blue highlights the triazole ring(s); amber highlights other aromatic ring systems. Unhighlighted atoms and linkers also contribute to the side chains. The colors mark structural regions, not polarity. The drawings are not to scale. Fluconazole 306.27 Da END OF HEADER Two triazole rings and a compact substituent framework. Low protein binding and relatively water-soluble disposition favor fluid-compartment exposure. [51] Voriconazole 349.31 Da END OF HEADER One triazole ring; a fluorinated pyrimidine replaces one of fluconazole's triazole-containing arms. It remains relatively small and has established CSF and brain penetration. [52] Itraconazole 705.6 Da END OF HEADER Multiple rings joined by a long substituent chain. Its large size, lipophilicity, and very high binding accompany low CSF exposure. The marketed drug is a stereoisomer mixture; this PubChem representation does not show every component. [53] Posaconazole 700.8 Da END OF HEADER A long ring-and-linker structure related to itraconazole. Substituent changes affect spectrum and disposition; greater mold activity does not imply better CSF penetration. [54] Isavuconazole 437.5 Da END OF HEADER One triazole plus a thiazole-containing substituent. The drawing is active isavuconazole, not the larger isavuconazonium prodrug. High binding coexists with documented infected-brain tissue exposure. [55]</a:t>
            </a:r>
          </a:p>
          <a:p xmlns:a="http://schemas.openxmlformats.org/drawingml/2006/main">
            <a:r>
              <a:t/>
            </a:r>
          </a:p>
          <a:p xmlns:a="http://schemas.openxmlformats.org/drawingml/2006/main">
            <a:r>
              <a:t>Module section: https://docarcshot.github.io/id-practice-update/lectures/Antifungals_Practical_Primer_Resident_Fellow.html#structures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structures and pharmacokinetics The triazole ring is the shared pharmacophore. Substituents around that ring change binding to fungal CYP51, lipophilicity, molecular size, protein binding, metabolism, and interactions. These changes can expand antifungal activity without improving CNS exposure. Small size and a substantial unbound fraction favor access to fluid compartments. Lipophilicity can favor membrane passage and tissue partitioning, but very high lipophilicity can accompany extensive protein binding and low CSF concentrations. Efflux, ionization, inflammation, and the measured compartment also matter. Structure alone does not reliably predict CNS exposure. Triazole rings and side chains Blue highlights the triazole ring(s); amber highlights other aromatic ring systems. Unhighlighted atoms and linkers also contribute to the side chains. The colors mark structural regions, not polarity. The drawings are not to scale. Fluconazole 306.27 Da END OF HEADER Two triazole rings and a compact substituent framework. Low protein binding and relatively water-soluble disposition favor fluid-compartment exposure. [51] Voriconazole 349.31 Da END OF HEADER One triazole ring; a fluorinated pyrimidine replaces one of fluconazole's triazole-containing arms. It remains relatively small and has established CSF and brain penetration. [52] Itraconazole 705.6 Da END OF HEADER Multiple rings joined by a long substituent chain. Its large size, lipophilicity, and very high binding accompany low CSF exposure. The marketed drug is a stereoisomer mixture; this PubChem representation does not show every component. [53] Posaconazole 700.8 Da END OF HEADER A long ring-and-linker structure related to itraconazole. Substituent changes affect spectrum and disposition; greater mold activity does not imply better CSF penetration. [54] Isavuconazole 437.5 Da END OF HEADER One triazole plus a thiazole-containing substituent. The drawing is active isavuconazole, not the larger isavuconazonium prodrug. High binding coexists with documented infected-brain tissue exposure. [55]</a:t>
            </a:r>
          </a:p>
          <a:p xmlns:a="http://schemas.openxmlformats.org/drawingml/2006/main">
            <a:r>
              <a:t/>
            </a:r>
          </a:p>
          <a:p xmlns:a="http://schemas.openxmlformats.org/drawingml/2006/main">
            <a:r>
              <a:t>Module section: https://docarcshot.github.io/id-practice-update/lectures/Antifungals_Practical_Primer_Resident_Fellow.html#structures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structures and pharmacokinetics The triazole ring is the shared pharmacophore. Substituents around that ring change binding to fungal CYP51, lipophilicity, molecular size, protein binding, metabolism, and interactions. These changes can expand antifungal activity without improving CNS exposure. Small size and a substantial unbound fraction favor access to fluid compartments. Lipophilicity can favor membrane passage and tissue partitioning, but very high lipophilicity can accompany extensive protein binding and low CSF concentrations. Efflux, ionization, inflammation, and the measured compartment also matter. Structure alone does not reliably predict CNS exposure. Triazole rings and side chains Blue highlights the triazole ring(s); amber highlights other aromatic ring systems. Unhighlighted atoms and linkers also contribute to the side chains. The colors mark structural regions, not polarity. The drawings are not to scale. Fluconazole 306.27 Da END OF HEADER Two triazole rings and a compact substituent framework. Low protein binding and relatively water-soluble disposition favor fluid-compartment exposure. [51] Voriconazole 349.31 Da END OF HEADER One triazole ring; a fluorinated pyrimidine replaces one of fluconazole's triazole-containing arms. It remains relatively small and has established CSF and brain penetration. [52] Itraconazole 705.6 Da END OF HEADER Multiple rings joined by a long substituent chain. Its large size, lipophilicity, and very high binding accompany low CSF exposure. The marketed drug is a stereoisomer mixture; this PubChem representation does not show every component. [53] Posaconazole 700.8 Da END OF HEADER A long ring-and-linker structure related to itraconazole. Substituent changes affect spectrum and disposition; greater mold activity does not imply better CSF penetration. [54] Isavuconazole 437.5 Da END OF HEADER One triazole plus a thiazole-containing substituent. The drawing is active isavuconazole, not the larger isavuconazonium prodrug. High binding coexists with documented infected-brain tissue exposure. [55]</a:t>
            </a:r>
          </a:p>
          <a:p xmlns:a="http://schemas.openxmlformats.org/drawingml/2006/main">
            <a:r>
              <a:t/>
            </a:r>
          </a:p>
          <a:p xmlns:a="http://schemas.openxmlformats.org/drawingml/2006/main">
            <a:r>
              <a:t>Module section: https://docarcshot.github.io/id-practice-update/lectures/Antifungals_Practical_Primer_Resident_Fellow.html#structures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structures and pharmacokinetics The triazole ring is the shared pharmacophore. Substituents around that ring change binding to fungal CYP51, lipophilicity, molecular size, protein binding, metabolism, and interactions. These changes can expand antifungal activity without improving CNS exposure. Small size and a substantial unbound fraction favor access to fluid compartments. Lipophilicity can favor membrane passage and tissue partitioning, but very high lipophilicity can accompany extensive protein binding and low CSF concentrations. Efflux, ionization, inflammation, and the measured compartment also matter. Structure alone does not reliably predict CNS exposure. Triazole rings and side chains Blue highlights the triazole ring(s); amber highlights other aromatic ring systems. Unhighlighted atoms and linkers also contribute to the side chains. The colors mark structural regions, not polarity. The drawings are not to scale. Fluconazole 306.27 Da END OF HEADER Two triazole rings and a compact substituent framework. Low protein binding and relatively water-soluble disposition favor fluid-compartment exposure. [51] Voriconazole 349.31 Da END OF HEADER One triazole ring; a fluorinated pyrimidine replaces one of fluconazole's triazole-containing arms. It remains relatively small and has established CSF and brain penetration. [52] Itraconazole 705.6 Da END OF HEADER Multiple rings joined by a long substituent chain. Its large size, lipophilicity, and very high binding accompany low CSF exposure. The marketed drug is a stereoisomer mixture; this PubChem representation does not show every component. [53] Posaconazole 700.8 Da END OF HEADER A long ring-and-linker structure related to itraconazole. Substituent changes affect spectrum and disposition; greater mold activity does not imply better CSF penetration. [54] Isavuconazole 437.5 Da END OF HEADER One triazole plus a thiazole-containing substituent. The drawing is active isavuconazole, not the larger isavuconazonium prodrug. High binding coexists with documented infected-brain tissue exposure. [55]</a:t>
            </a:r>
          </a:p>
          <a:p xmlns:a="http://schemas.openxmlformats.org/drawingml/2006/main">
            <a:r>
              <a:t/>
            </a:r>
          </a:p>
          <a:p xmlns:a="http://schemas.openxmlformats.org/drawingml/2006/main">
            <a:r>
              <a:t>Module section: https://docarcshot.github.io/id-practice-update/lectures/Antifungals_Practical_Primer_Resident_Fellow.html#structures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structures and pharmacokinetics The triazole ring is the shared pharmacophore. Substituents around that ring change binding to fungal CYP51, lipophilicity, molecular size, protein binding, metabolism, and interactions. These changes can expand antifungal activity without improving CNS exposure. Small size and a substantial unbound fraction favor access to fluid compartments. Lipophilicity can favor membrane passage and tissue partitioning, but very high lipophilicity can accompany extensive protein binding and low CSF concentrations. Efflux, ionization, inflammation, and the measured compartment also matter. Structure alone does not reliably predict CNS exposure. Triazole rings and side chains Blue highlights the triazole ring(s); amber highlights other aromatic ring systems. Unhighlighted atoms and linkers also contribute to the side chains. The colors mark structural regions, not polarity. The drawings are not to scale. Fluconazole 306.27 Da END OF HEADER Two triazole rings and a compact substituent framework. Low protein binding and relatively water-soluble disposition favor fluid-compartment exposure. [51] Voriconazole 349.31 Da END OF HEADER One triazole ring; a fluorinated pyrimidine replaces one of fluconazole's triazole-containing arms. It remains relatively small and has established CSF and brain penetration. [52] Itraconazole 705.6 Da END OF HEADER Multiple rings joined by a long substituent chain. Its large size, lipophilicity, and very high binding accompany low CSF exposure. The marketed drug is a stereoisomer mixture; this PubChem representation does not show every component. [53] Posaconazole 700.8 Da END OF HEADER A long ring-and-linker structure related to itraconazole. Substituent changes affect spectrum and disposition; greater mold activity does not imply better CSF penetration. [54] Isavuconazole 437.5 Da END OF HEADER One triazole plus a thiazole-containing substituent. The drawing is active isavuconazole, not the larger isavuconazonium prodrug. High binding coexists with documented infected-brain tissue exposure. [55]</a:t>
            </a:r>
          </a:p>
          <a:p xmlns:a="http://schemas.openxmlformats.org/drawingml/2006/main">
            <a:r>
              <a:t/>
            </a:r>
          </a:p>
          <a:p xmlns:a="http://schemas.openxmlformats.org/drawingml/2006/main">
            <a:r>
              <a:t>Module section: https://docarcshot.github.io/id-practice-update/lectures/Antifungals_Practical_Primer_Resident_Fellow.html#structures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Azole structures and pharmacokinetics The triazole ring is the shared pharmacophore. Substituents around that ring change binding to fungal CYP51, lipophilicity, molecular size, protein binding, metabolism, and interactions. These changes can expand antifungal activity without improving CNS exposure. Small size and a substantial unbound fraction favor access to fluid compartments. Lipophilicity can favor membrane passage and tissue partitioning, but very high lipophilicity can accompany extensive protein binding and low CSF concentrations. Efflux, ionization, inflammation, and the measured compartment also matter. Structure alone does not reliably predict CNS exposure. Triazole rings and side chains Blue highlights the triazole ring(s); amber highlights other aromatic ring systems. Unhighlighted atoms and linkers also contribute to the side chains. The colors mark structural regions, not polarity. The drawings are not to scale. Fluconazole 306.27 Da END OF HEADER Two triazole rings and a compact substituent framework. Low protein binding and relatively water-soluble disposition favor fluid-compartment exposure. [51] Voriconazole 349.31 Da END OF HEADER One triazole ring; a fluorinated pyrimidine replaces one of fluconazole's triazole-containing arms. It remains relatively small and has established CSF and brain penetration. [52] Itraconazole 705.6 Da END OF HEADER Multiple rings joined by a long substituent chain. Its large size, lipophilicity, and very high binding accompany low CSF exposure. The marketed drug is a stereoisomer mixture; this PubChem representation does not show every component. [53] Posaconazole 700.8 Da END OF HEADER A long ring-and-linker structure related to itraconazole. Substituent changes affect spectrum and disposition; greater mold activity does not imply better CSF penetration. [54] Isavuconazole 437.5 Da END OF HEADER One triazole plus a thiazole-containing substituent. The drawing is active isavuconazole, not the larger isavuconazonium prodrug. High binding coexists with documented infected-brain tissue exposure. [55]</a:t>
            </a:r>
          </a:p>
          <a:p xmlns:a="http://schemas.openxmlformats.org/drawingml/2006/main">
            <a:r>
              <a:t/>
            </a:r>
          </a:p>
          <a:p xmlns:a="http://schemas.openxmlformats.org/drawingml/2006/main">
            <a:r>
              <a:t>Module section: https://docarcshot.github.io/id-practice-update/lectures/Antifungals_Practical_Primer_Resident_Fellow.html#structures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clinical considerations Fellow teaching Species-specific susceptibility interpretation For C. glabrata, CLSI fluconazole results use susceptible-dose dependent or resistant categories rather than a standard susceptible category. A susceptible-dose dependent result requires an appropriate dose and exposure. Prior echinocandin treatment or persistent infection should prompt echinocandin testing and repeat evaluation for resistance. For C. parapsilosis, use species-specific interpretation: a naturally higher MIC does not by itself mean an echinocandin will fail. [1] Fellow teaching C. auris susceptibility thresholds CDC's tentative resistance thresholds include fluconazole MIC at least 32 mg/L, amphotericin B at least 2 mg/L, and micafungin at least 4 mg/L. They are interim guides with uncertain outcome correlation, not universal susceptible breakpoints. The October 2026 CDC page notes an established CLSI C. auris-specific rezafungin breakpoint, in addition to the tentative thresholds for other agents. Ask the laboratory which method and interpretive standard it uses; do not transfer thresholds between drugs or methods. [46] Fellow teaching Dematiaceous molds Melanized molds such as Alternaria, Curvularia, Exophiala, and Cladophialophora differ in susceptibility, syndrome, and optimal therapy. Itraconazole, voriconazole, and posaconazole have activity against many species, with species-specific variation. Isavuconazole has variable in vitro activity with less clinical evidence; fluconazole is unreliable. CNS disease requires attention to penetration, species identification, susceptibility results, and surgical source control. Isavuconazole susceptibility cannot be inferred from results for voriconazole or posaconazole. [43] [44] The VITAL cryptococcosis/endemic-fungus subset included only 38 patients across five genera and had no randomized comparator. Comparative efficacy for each organism remains uncertain. [42] Fellow teaching Echinocandin resistance FKS mutations can confer class resistance. Prior echinocandin exposure, persistent candidemia, and species identification affect the need for susceptibility testing. C. parapsilosis has higher baseline echinocandin MICs, but that alone does not establish treatment failure. Request susceptibility data and interpret the breakpoint for that species and drug. [1] Fellow teaching CSF and brain tissue concentrations Meningitis, an angioinvasive lesion, and an encapsulated abscess are different compartments. Isavuconazole tissue measurements from two patients showed substantially different concentrations in inflamed versus normal brain. Amphotericin B can be effective in CNS infection despite low CSF levels. A concentration in homogenized tissue does not establish free extracellular exposure or comparative clinical efficacy. [16] [1] Fellow teaching Parent-only and combined itraconazole targets The 2026 IDSA aspergillosis pharmacology appendix describes combined parent-plus-hydroxy targets, whereas current IDSA histoplasmosis guidance favors a parent component &gt;1 mg/L and &lt;3-4 mg/L, and states that a universal combined cutoff has not been established. It notes that combined levels &gt;2 mg/L may provide similar responses to parent levels &gt;1 mg/L. Mayo also provides distinct parent and combined interpretation. State the assay and treatment target explicitly. A combined result can meet its target while the parent level remains below a parent-only target. [3] [12] [13]</a:t>
            </a:r>
          </a:p>
          <a:p xmlns:a="http://schemas.openxmlformats.org/drawingml/2006/main">
            <a:r>
              <a:t/>
            </a:r>
          </a:p>
          <a:p xmlns:a="http://schemas.openxmlformats.org/drawingml/2006/main">
            <a:r>
              <a:t>Module section: https://docarcshot.github.io/id-practice-update/lectures/Antifungals_Practical_Primer_Resident_Fellow.html#species-detail</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clinical considerations Fellow teaching Species-specific susceptibility interpretation For C. glabrata, CLSI fluconazole results use susceptible-dose dependent or resistant categories rather than a standard susceptible category. A susceptible-dose dependent result requires an appropriate dose and exposure. Prior echinocandin treatment or persistent infection should prompt echinocandin testing and repeat evaluation for resistance. For C. parapsilosis, use species-specific interpretation: a naturally higher MIC does not by itself mean an echinocandin will fail. [1] Fellow teaching C. auris susceptibility thresholds CDC's tentative resistance thresholds include fluconazole MIC at least 32 mg/L, amphotericin B at least 2 mg/L, and micafungin at least 4 mg/L. They are interim guides with uncertain outcome correlation, not universal susceptible breakpoints. The October 2026 CDC page notes an established CLSI C. auris-specific rezafungin breakpoint, in addition to the tentative thresholds for other agents. Ask the laboratory which method and interpretive standard it uses; do not transfer thresholds between drugs or methods. [46] Fellow teaching Dematiaceous molds Melanized molds such as Alternaria, Curvularia, Exophiala, and Cladophialophora differ in susceptibility, syndrome, and optimal therapy. Itraconazole, voriconazole, and posaconazole have activity against many species, with species-specific variation. Isavuconazole has variable in vitro activity with less clinical evidence; fluconazole is unreliable. CNS disease requires attention to penetration, species identification, susceptibility results, and surgical source control. Isavuconazole susceptibility cannot be inferred from results for voriconazole or posaconazole. [43] [44] The VITAL cryptococcosis/endemic-fungus subset included only 38 patients across five genera and had no randomized comparator. Comparative efficacy for each organism remains uncertain. [42] Fellow teaching Echinocandin resistance FKS mutations can confer class resistance. Prior echinocandin exposure, persistent candidemia, and species identification affect the need for susceptibility testing. C. parapsilosis has higher baseline echinocandin MICs, but that alone does not establish treatment failure. Request susceptibility data and interpret the breakpoint for that species and drug. [1] Fellow teaching CSF and brain tissue concentrations Meningitis, an angioinvasive lesion, and an encapsulated abscess are different compartments. Isavuconazole tissue measurements from two patients showed substantially different concentrations in inflamed versus normal brain. Amphotericin B can be effective in CNS infection despite low CSF levels. A concentration in homogenized tissue does not establish free extracellular exposure or comparative clinical efficacy. [16] [1] Fellow teaching Parent-only and combined itraconazole targets The 2026 IDSA aspergillosis pharmacology appendix describes combined parent-plus-hydroxy targets, whereas current IDSA histoplasmosis guidance favors a parent component &gt;1 mg/L and &lt;3-4 mg/L, and states that a universal combined cutoff has not been established. It notes that combined levels &gt;2 mg/L may provide similar responses to parent levels &gt;1 mg/L. Mayo also provides distinct parent and combined interpretation. State the assay and treatment target explicitly. A combined result can meet its target while the parent level remains below a parent-only target. [3] [12] [13]</a:t>
            </a:r>
          </a:p>
          <a:p xmlns:a="http://schemas.openxmlformats.org/drawingml/2006/main">
            <a:r>
              <a:t/>
            </a:r>
          </a:p>
          <a:p xmlns:a="http://schemas.openxmlformats.org/drawingml/2006/main">
            <a:r>
              <a:t>Module section: https://docarcshot.github.io/id-practice-update/lectures/Antifungals_Practical_Primer_Resident_Fellow.html#species-detail</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clinical considerations Fellow teaching Species-specific susceptibility interpretation For C. glabrata, CLSI fluconazole results use susceptible-dose dependent or resistant categories rather than a standard susceptible category. A susceptible-dose dependent result requires an appropriate dose and exposure. Prior echinocandin treatment or persistent infection should prompt echinocandin testing and repeat evaluation for resistance. For C. parapsilosis, use species-specific interpretation: a naturally higher MIC does not by itself mean an echinocandin will fail. [1] Fellow teaching C. auris susceptibility thresholds CDC's tentative resistance thresholds include fluconazole MIC at least 32 mg/L, amphotericin B at least 2 mg/L, and micafungin at least 4 mg/L. They are interim guides with uncertain outcome correlation, not universal susceptible breakpoints. The October 2026 CDC page notes an established CLSI C. auris-specific rezafungin breakpoint, in addition to the tentative thresholds for other agents. Ask the laboratory which method and interpretive standard it uses; do not transfer thresholds between drugs or methods. [46] Fellow teaching Dematiaceous molds Melanized molds such as Alternaria, Curvularia, Exophiala, and Cladophialophora differ in susceptibility, syndrome, and optimal therapy. Itraconazole, voriconazole, and posaconazole have activity against many species, with species-specific variation. Isavuconazole has variable in vitro activity with less clinical evidence; fluconazole is unreliable. CNS disease requires attention to penetration, species identification, susceptibility results, and surgical source control. Isavuconazole susceptibility cannot be inferred from results for voriconazole or posaconazole. [43] [44] The VITAL cryptococcosis/endemic-fungus subset included only 38 patients across five genera and had no randomized comparator. Comparative efficacy for each organism remains uncertain. [42] Fellow teaching Echinocandin resistance FKS mutations can confer class resistance. Prior echinocandin exposure, persistent candidemia, and species identification affect the need for susceptibility testing. C. parapsilosis has higher baseline echinocandin MICs, but that alone does not establish treatment failure. Request susceptibility data and interpret the breakpoint for that species and drug. [1] Fellow teaching CSF and brain tissue concentrations Meningitis, an angioinvasive lesion, and an encapsulated abscess are different compartments. Isavuconazole tissue measurements from two patients showed substantially different concentrations in inflamed versus normal brain. Amphotericin B can be effective in CNS infection despite low CSF levels. A concentration in homogenized tissue does not establish free extracellular exposure or comparative clinical efficacy. [16] [1] Fellow teaching Parent-only and combined itraconazole targets The 2026 IDSA aspergillosis pharmacology appendix describes combined parent-plus-hydroxy targets, whereas current IDSA histoplasmosis guidance favors a parent component &gt;1 mg/L and &lt;3-4 mg/L, and states that a universal combined cutoff has not been established. It notes that combined levels &gt;2 mg/L may provide similar responses to parent levels &gt;1 mg/L. Mayo also provides distinct parent and combined interpretation. State the assay and treatment target explicitly. A combined result can meet its target while the parent level remains below a parent-only target. [3] [12] [13]</a:t>
            </a:r>
          </a:p>
          <a:p xmlns:a="http://schemas.openxmlformats.org/drawingml/2006/main">
            <a:r>
              <a:t/>
            </a:r>
          </a:p>
          <a:p xmlns:a="http://schemas.openxmlformats.org/drawingml/2006/main">
            <a:r>
              <a:t>Module section: https://docarcshot.github.io/id-practice-update/lectures/Antifungals_Practical_Primer_Resident_Fellow.html#auris-detail</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clinical considerations Fellow teaching Species-specific susceptibility interpretation For C. glabrata, CLSI fluconazole results use susceptible-dose dependent or resistant categories rather than a standard susceptible category. A susceptible-dose dependent result requires an appropriate dose and exposure. Prior echinocandin treatment or persistent infection should prompt echinocandin testing and repeat evaluation for resistance. For C. parapsilosis, use species-specific interpretation: a naturally higher MIC does not by itself mean an echinocandin will fail. [1] Fellow teaching C. auris susceptibility thresholds CDC's tentative resistance thresholds include fluconazole MIC at least 32 mg/L, amphotericin B at least 2 mg/L, and micafungin at least 4 mg/L. They are interim guides with uncertain outcome correlation, not universal susceptible breakpoints. The October 2026 CDC page notes an established CLSI C. auris-specific rezafungin breakpoint, in addition to the tentative thresholds for other agents. Ask the laboratory which method and interpretive standard it uses; do not transfer thresholds between drugs or methods. [46] Fellow teaching Dematiaceous molds Melanized molds such as Alternaria, Curvularia, Exophiala, and Cladophialophora differ in susceptibility, syndrome, and optimal therapy. Itraconazole, voriconazole, and posaconazole have activity against many species, with species-specific variation. Isavuconazole has variable in vitro activity with less clinical evidence; fluconazole is unreliable. CNS disease requires attention to penetration, species identification, susceptibility results, and surgical source control. Isavuconazole susceptibility cannot be inferred from results for voriconazole or posaconazole. [43] [44] The VITAL cryptococcosis/endemic-fungus subset included only 38 patients across five genera and had no randomized comparator. Comparative efficacy for each organism remains uncertain. [42] Fellow teaching Echinocandin resistance FKS mutations can confer class resistance. Prior echinocandin exposure, persistent candidemia, and species identification affect the need for susceptibility testing. C. parapsilosis has higher baseline echinocandin MICs, but that alone does not establish treatment failure. Request susceptibility data and interpret the breakpoint for that species and drug. [1] Fellow teaching CSF and brain tissue concentrations Meningitis, an angioinvasive lesion, and an encapsulated abscess are different compartments. Isavuconazole tissue measurements from two patients showed substantially different concentrations in inflamed versus normal brain. Amphotericin B can be effective in CNS infection despite low CSF levels. A concentration in homogenized tissue does not establish free extracellular exposure or comparative clinical efficacy. [16] [1] Fellow teaching Parent-only and combined itraconazole targets The 2026 IDSA aspergillosis pharmacology appendix describes combined parent-plus-hydroxy targets, whereas current IDSA histoplasmosis guidance favors a parent component &gt;1 mg/L and &lt;3-4 mg/L, and states that a universal combined cutoff has not been established. It notes that combined levels &gt;2 mg/L may provide similar responses to parent levels &gt;1 mg/L. Mayo also provides distinct parent and combined interpretation. State the assay and treatment target explicitly. A combined result can meet its target while the parent level remains below a parent-only target. [3] [12] [13]</a:t>
            </a:r>
          </a:p>
          <a:p xmlns:a="http://schemas.openxmlformats.org/drawingml/2006/main">
            <a:r>
              <a:t/>
            </a:r>
          </a:p>
          <a:p xmlns:a="http://schemas.openxmlformats.org/drawingml/2006/main">
            <a:r>
              <a:t>Module section: https://docarcshot.github.io/id-practice-update/lectures/Antifungals_Practical_Primer_Resident_Fellow.html#auris-detail</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clinical considerations Fellow teaching Species-specific susceptibility interpretation For C. glabrata, CLSI fluconazole results use susceptible-dose dependent or resistant categories rather than a standard susceptible category. A susceptible-dose dependent result requires an appropriate dose and exposure. Prior echinocandin treatment or persistent infection should prompt echinocandin testing and repeat evaluation for resistance. For C. parapsilosis, use species-specific interpretation: a naturally higher MIC does not by itself mean an echinocandin will fail. [1] Fellow teaching C. auris susceptibility thresholds CDC's tentative resistance thresholds include fluconazole MIC at least 32 mg/L, amphotericin B at least 2 mg/L, and micafungin at least 4 mg/L. They are interim guides with uncertain outcome correlation, not universal susceptible breakpoints. The October 2026 CDC page notes an established CLSI C. auris-specific rezafungin breakpoint, in addition to the tentative thresholds for other agents. Ask the laboratory which method and interpretive standard it uses; do not transfer thresholds between drugs or methods. [46] Fellow teaching Dematiaceous molds Melanized molds such as Alternaria, Curvularia, Exophiala, and Cladophialophora differ in susceptibility, syndrome, and optimal therapy. Itraconazole, voriconazole, and posaconazole have activity against many species, with species-specific variation. Isavuconazole has variable in vitro activity with less clinical evidence; fluconazole is unreliable. CNS disease requires attention to penetration, species identification, susceptibility results, and surgical source control. Isavuconazole susceptibility cannot be inferred from results for voriconazole or posaconazole. [43] [44] The VITAL cryptococcosis/endemic-fungus subset included only 38 patients across five genera and had no randomized comparator. Comparative efficacy for each organism remains uncertain. [42] Fellow teaching Echinocandin resistance FKS mutations can confer class resistance. Prior echinocandin exposure, persistent candidemia, and species identification affect the need for susceptibility testing. C. parapsilosis has higher baseline echinocandin MICs, but that alone does not establish treatment failure. Request susceptibility data and interpret the breakpoint for that species and drug. [1] Fellow teaching CSF and brain tissue concentrations Meningitis, an angioinvasive lesion, and an encapsulated abscess are different compartments. Isavuconazole tissue measurements from two patients showed substantially different concentrations in inflamed versus normal brain. Amphotericin B can be effective in CNS infection despite low CSF levels. A concentration in homogenized tissue does not establish free extracellular exposure or comparative clinical efficacy. [16] [1] Fellow teaching Parent-only and combined itraconazole targets The 2026 IDSA aspergillosis pharmacology appendix describes combined parent-plus-hydroxy targets, whereas current IDSA histoplasmosis guidance favors a parent component &gt;1 mg/L and &lt;3-4 mg/L, and states that a universal combined cutoff has not been established. It notes that combined levels &gt;2 mg/L may provide similar responses to parent levels &gt;1 mg/L. Mayo also provides distinct parent and combined interpretation. State the assay and treatment target explicitly. A combined result can meet its target while the parent level remains below a parent-only target. [3] [12] [13]</a:t>
            </a:r>
          </a:p>
          <a:p xmlns:a="http://schemas.openxmlformats.org/drawingml/2006/main">
            <a:r>
              <a:t/>
            </a:r>
          </a:p>
          <a:p xmlns:a="http://schemas.openxmlformats.org/drawingml/2006/main">
            <a:r>
              <a:t>Module section: https://docarcshot.github.io/id-practice-update/lectures/Antifungals_Practical_Primer_Resident_Fellow.html#dematiaceous-detail</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clinical considerations Fellow teaching Species-specific susceptibility interpretation For C. glabrata, CLSI fluconazole results use susceptible-dose dependent or resistant categories rather than a standard susceptible category. A susceptible-dose dependent result requires an appropriate dose and exposure. Prior echinocandin treatment or persistent infection should prompt echinocandin testing and repeat evaluation for resistance. For C. parapsilosis, use species-specific interpretation: a naturally higher MIC does not by itself mean an echinocandin will fail. [1] Fellow teaching C. auris susceptibility thresholds CDC's tentative resistance thresholds include fluconazole MIC at least 32 mg/L, amphotericin B at least 2 mg/L, and micafungin at least 4 mg/L. They are interim guides with uncertain outcome correlation, not universal susceptible breakpoints. The October 2026 CDC page notes an established CLSI C. auris-specific rezafungin breakpoint, in addition to the tentative thresholds for other agents. Ask the laboratory which method and interpretive standard it uses; do not transfer thresholds between drugs or methods. [46] Fellow teaching Dematiaceous molds Melanized molds such as Alternaria, Curvularia, Exophiala, and Cladophialophora differ in susceptibility, syndrome, and optimal therapy. Itraconazole, voriconazole, and posaconazole have activity against many species, with species-specific variation. Isavuconazole has variable in vitro activity with less clinical evidence; fluconazole is unreliable. CNS disease requires attention to penetration, species identification, susceptibility results, and surgical source control. Isavuconazole susceptibility cannot be inferred from results for voriconazole or posaconazole. [43] [44] The VITAL cryptococcosis/endemic-fungus subset included only 38 patients across five genera and had no randomized comparator. Comparative efficacy for each organism remains uncertain. [42] Fellow teaching Echinocandin resistance FKS mutations can confer class resistance. Prior echinocandin exposure, persistent candidemia, and species identification affect the need for susceptibility testing. C. parapsilosis has higher baseline echinocandin MICs, but that alone does not establish treatment failure. Request susceptibility data and interpret the breakpoint for that species and drug. [1] Fellow teaching CSF and brain tissue concentrations Meningitis, an angioinvasive lesion, and an encapsulated abscess are different compartments. Isavuconazole tissue measurements from two patients showed substantially different concentrations in inflamed versus normal brain. Amphotericin B can be effective in CNS infection despite low CSF levels. A concentration in homogenized tissue does not establish free extracellular exposure or comparative clinical efficacy. [16] [1] Fellow teaching Parent-only and combined itraconazole targets The 2026 IDSA aspergillosis pharmacology appendix describes combined parent-plus-hydroxy targets, whereas current IDSA histoplasmosis guidance favors a parent component &gt;1 mg/L and &lt;3-4 mg/L, and states that a universal combined cutoff has not been established. It notes that combined levels &gt;2 mg/L may provide similar responses to parent levels &gt;1 mg/L. Mayo also provides distinct parent and combined interpretation. State the assay and treatment target explicitly. A combined result can meet its target while the parent level remains below a parent-only target. [3] [12] [13]</a:t>
            </a:r>
          </a:p>
          <a:p xmlns:a="http://schemas.openxmlformats.org/drawingml/2006/main">
            <a:r>
              <a:t/>
            </a:r>
          </a:p>
          <a:p xmlns:a="http://schemas.openxmlformats.org/drawingml/2006/main">
            <a:r>
              <a:t>Module section: https://docarcshot.github.io/id-practice-update/lectures/Antifungals_Practical_Primer_Resident_Fellow.html#dematiaceous-detail</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clinical considerations Fellow teaching Species-specific susceptibility interpretation For C. glabrata, CLSI fluconazole results use susceptible-dose dependent or resistant categories rather than a standard susceptible category. A susceptible-dose dependent result requires an appropriate dose and exposure. Prior echinocandin treatment or persistent infection should prompt echinocandin testing and repeat evaluation for resistance. For C. parapsilosis, use species-specific interpretation: a naturally higher MIC does not by itself mean an echinocandin will fail. [1] Fellow teaching C. auris susceptibility thresholds CDC's tentative resistance thresholds include fluconazole MIC at least 32 mg/L, amphotericin B at least 2 mg/L, and micafungin at least 4 mg/L. They are interim guides with uncertain outcome correlation, not universal susceptible breakpoints. The October 2026 CDC page notes an established CLSI C. auris-specific rezafungin breakpoint, in addition to the tentative thresholds for other agents. Ask the laboratory which method and interpretive standard it uses; do not transfer thresholds between drugs or methods. [46] Fellow teaching Dematiaceous molds Melanized molds such as Alternaria, Curvularia, Exophiala, and Cladophialophora differ in susceptibility, syndrome, and optimal therapy. Itraconazole, voriconazole, and posaconazole have activity against many species, with species-specific variation. Isavuconazole has variable in vitro activity with less clinical evidence; fluconazole is unreliable. CNS disease requires attention to penetration, species identification, susceptibility results, and surgical source control. Isavuconazole susceptibility cannot be inferred from results for voriconazole or posaconazole. [43] [44] The VITAL cryptococcosis/endemic-fungus subset included only 38 patients across five genera and had no randomized comparator. Comparative efficacy for each organism remains uncertain. [42] Fellow teaching Echinocandin resistance FKS mutations can confer class resistance. Prior echinocandin exposure, persistent candidemia, and species identification affect the need for susceptibility testing. C. parapsilosis has higher baseline echinocandin MICs, but that alone does not establish treatment failure. Request susceptibility data and interpret the breakpoint for that species and drug. [1] Fellow teaching CSF and brain tissue concentrations Meningitis, an angioinvasive lesion, and an encapsulated abscess are different compartments. Isavuconazole tissue measurements from two patients showed substantially different concentrations in inflamed versus normal brain. Amphotericin B can be effective in CNS infection despite low CSF levels. A concentration in homogenized tissue does not establish free extracellular exposure or comparative clinical efficacy. [16] [1] Fellow teaching Parent-only and combined itraconazole targets The 2026 IDSA aspergillosis pharmacology appendix describes combined parent-plus-hydroxy targets, whereas current IDSA histoplasmosis guidance favors a parent component &gt;1 mg/L and &lt;3-4 mg/L, and states that a universal combined cutoff has not been established. It notes that combined levels &gt;2 mg/L may provide similar responses to parent levels &gt;1 mg/L. Mayo also provides distinct parent and combined interpretation. State the assay and treatment target explicitly. A combined result can meet its target while the parent level remains below a parent-only target. [3] [12] [13]</a:t>
            </a:r>
          </a:p>
          <a:p xmlns:a="http://schemas.openxmlformats.org/drawingml/2006/main">
            <a:r>
              <a:t/>
            </a:r>
          </a:p>
          <a:p xmlns:a="http://schemas.openxmlformats.org/drawingml/2006/main">
            <a:r>
              <a:t>Module section: https://docarcshot.github.io/id-practice-update/lectures/Antifungals_Practical_Primer_Resident_Fellow.html#dematiaceous-detail</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clinical considerations Fellow teaching Species-specific susceptibility interpretation For C. glabrata, CLSI fluconazole results use susceptible-dose dependent or resistant categories rather than a standard susceptible category. A susceptible-dose dependent result requires an appropriate dose and exposure. Prior echinocandin treatment or persistent infection should prompt echinocandin testing and repeat evaluation for resistance. For C. parapsilosis, use species-specific interpretation: a naturally higher MIC does not by itself mean an echinocandin will fail. [1] Fellow teaching C. auris susceptibility thresholds CDC's tentative resistance thresholds include fluconazole MIC at least 32 mg/L, amphotericin B at least 2 mg/L, and micafungin at least 4 mg/L. They are interim guides with uncertain outcome correlation, not universal susceptible breakpoints. The October 2026 CDC page notes an established CLSI C. auris-specific rezafungin breakpoint, in addition to the tentative thresholds for other agents. Ask the laboratory which method and interpretive standard it uses; do not transfer thresholds between drugs or methods. [46] Fellow teaching Dematiaceous molds Melanized molds such as Alternaria, Curvularia, Exophiala, and Cladophialophora differ in susceptibility, syndrome, and optimal therapy. Itraconazole, voriconazole, and posaconazole have activity against many species, with species-specific variation. Isavuconazole has variable in vitro activity with less clinical evidence; fluconazole is unreliable. CNS disease requires attention to penetration, species identification, susceptibility results, and surgical source control. Isavuconazole susceptibility cannot be inferred from results for voriconazole or posaconazole. [43] [44] The VITAL cryptococcosis/endemic-fungus subset included only 38 patients across five genera and had no randomized comparator. Comparative efficacy for each organism remains uncertain. [42] Fellow teaching Echinocandin resistance FKS mutations can confer class resistance. Prior echinocandin exposure, persistent candidemia, and species identification affect the need for susceptibility testing. C. parapsilosis has higher baseline echinocandin MICs, but that alone does not establish treatment failure. Request susceptibility data and interpret the breakpoint for that species and drug. [1] Fellow teaching CSF and brain tissue concentrations Meningitis, an angioinvasive lesion, and an encapsulated abscess are different compartments. Isavuconazole tissue measurements from two patients showed substantially different concentrations in inflamed versus normal brain. Amphotericin B can be effective in CNS infection despite low CSF levels. A concentration in homogenized tissue does not establish free extracellular exposure or comparative clinical efficacy. [16] [1] Fellow teaching Parent-only and combined itraconazole targets The 2026 IDSA aspergillosis pharmacology appendix describes combined parent-plus-hydroxy targets, whereas current IDSA histoplasmosis guidance favors a parent component &gt;1 mg/L and &lt;3-4 mg/L, and states that a universal combined cutoff has not been established. It notes that combined levels &gt;2 mg/L may provide similar responses to parent levels &gt;1 mg/L. Mayo also provides distinct parent and combined interpretation. State the assay and treatment target explicitly. A combined result can meet its target while the parent level remains below a parent-only target. [3] [12] [13]</a:t>
            </a:r>
          </a:p>
          <a:p xmlns:a="http://schemas.openxmlformats.org/drawingml/2006/main">
            <a:r>
              <a:t/>
            </a:r>
          </a:p>
          <a:p xmlns:a="http://schemas.openxmlformats.org/drawingml/2006/main">
            <a:r>
              <a:t>Module section: https://docarcshot.github.io/id-practice-update/lectures/Antifungals_Practical_Primer_Resident_Fellow.html#echinocandin-detail</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clinical considerations Fellow teaching Species-specific susceptibility interpretation For C. glabrata, CLSI fluconazole results use susceptible-dose dependent or resistant categories rather than a standard susceptible category. A susceptible-dose dependent result requires an appropriate dose and exposure. Prior echinocandin treatment or persistent infection should prompt echinocandin testing and repeat evaluation for resistance. For C. parapsilosis, use species-specific interpretation: a naturally higher MIC does not by itself mean an echinocandin will fail. [1] Fellow teaching C. auris susceptibility thresholds CDC's tentative resistance thresholds include fluconazole MIC at least 32 mg/L, amphotericin B at least 2 mg/L, and micafungin at least 4 mg/L. They are interim guides with uncertain outcome correlation, not universal susceptible breakpoints. The October 2026 CDC page notes an established CLSI C. auris-specific rezafungin breakpoint, in addition to the tentative thresholds for other agents. Ask the laboratory which method and interpretive standard it uses; do not transfer thresholds between drugs or methods. [46] Fellow teaching Dematiaceous molds Melanized molds such as Alternaria, Curvularia, Exophiala, and Cladophialophora differ in susceptibility, syndrome, and optimal therapy. Itraconazole, voriconazole, and posaconazole have activity against many species, with species-specific variation. Isavuconazole has variable in vitro activity with less clinical evidence; fluconazole is unreliable. CNS disease requires attention to penetration, species identification, susceptibility results, and surgical source control. Isavuconazole susceptibility cannot be inferred from results for voriconazole or posaconazole. [43] [44] The VITAL cryptococcosis/endemic-fungus subset included only 38 patients across five genera and had no randomized comparator. Comparative efficacy for each organism remains uncertain. [42] Fellow teaching Echinocandin resistance FKS mutations can confer class resistance. Prior echinocandin exposure, persistent candidemia, and species identification affect the need for susceptibility testing. C. parapsilosis has higher baseline echinocandin MICs, but that alone does not establish treatment failure. Request susceptibility data and interpret the breakpoint for that species and drug. [1] Fellow teaching CSF and brain tissue concentrations Meningitis, an angioinvasive lesion, and an encapsulated abscess are different compartments. Isavuconazole tissue measurements from two patients showed substantially different concentrations in inflamed versus normal brain. Amphotericin B can be effective in CNS infection despite low CSF levels. A concentration in homogenized tissue does not establish free extracellular exposure or comparative clinical efficacy. [16] [1] Fellow teaching Parent-only and combined itraconazole targets The 2026 IDSA aspergillosis pharmacology appendix describes combined parent-plus-hydroxy targets, whereas current IDSA histoplasmosis guidance favors a parent component &gt;1 mg/L and &lt;3-4 mg/L, and states that a universal combined cutoff has not been established. It notes that combined levels &gt;2 mg/L may provide similar responses to parent levels &gt;1 mg/L. Mayo also provides distinct parent and combined interpretation. State the assay and treatment target explicitly. A combined result can meet its target while the parent level remains below a parent-only target. [3] [12] [13]</a:t>
            </a:r>
          </a:p>
          <a:p xmlns:a="http://schemas.openxmlformats.org/drawingml/2006/main">
            <a:r>
              <a:t/>
            </a:r>
          </a:p>
          <a:p xmlns:a="http://schemas.openxmlformats.org/drawingml/2006/main">
            <a:r>
              <a:t>Module section: https://docarcshot.github.io/id-practice-update/lectures/Antifungals_Practical_Primer_Resident_Fellow.html#echinocandin-detail</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clinical considerations Fellow teaching Species-specific susceptibility interpretation For C. glabrata, CLSI fluconazole results use susceptible-dose dependent or resistant categories rather than a standard susceptible category. A susceptible-dose dependent result requires an appropriate dose and exposure. Prior echinocandin treatment or persistent infection should prompt echinocandin testing and repeat evaluation for resistance. For C. parapsilosis, use species-specific interpretation: a naturally higher MIC does not by itself mean an echinocandin will fail. [1] Fellow teaching C. auris susceptibility thresholds CDC's tentative resistance thresholds include fluconazole MIC at least 32 mg/L, amphotericin B at least 2 mg/L, and micafungin at least 4 mg/L. They are interim guides with uncertain outcome correlation, not universal susceptible breakpoints. The October 2026 CDC page notes an established CLSI C. auris-specific rezafungin breakpoint, in addition to the tentative thresholds for other agents. Ask the laboratory which method and interpretive standard it uses; do not transfer thresholds between drugs or methods. [46] Fellow teaching Dematiaceous molds Melanized molds such as Alternaria, Curvularia, Exophiala, and Cladophialophora differ in susceptibility, syndrome, and optimal therapy. Itraconazole, voriconazole, and posaconazole have activity against many species, with species-specific variation. Isavuconazole has variable in vitro activity with less clinical evidence; fluconazole is unreliable. CNS disease requires attention to penetration, species identification, susceptibility results, and surgical source control. Isavuconazole susceptibility cannot be inferred from results for voriconazole or posaconazole. [43] [44] The VITAL cryptococcosis/endemic-fungus subset included only 38 patients across five genera and had no randomized comparator. Comparative efficacy for each organism remains uncertain. [42] Fellow teaching Echinocandin resistance FKS mutations can confer class resistance. Prior echinocandin exposure, persistent candidemia, and species identification affect the need for susceptibility testing. C. parapsilosis has higher baseline echinocandin MICs, but that alone does not establish treatment failure. Request susceptibility data and interpret the breakpoint for that species and drug. [1] Fellow teaching CSF and brain tissue concentrations Meningitis, an angioinvasive lesion, and an encapsulated abscess are different compartments. Isavuconazole tissue measurements from two patients showed substantially different concentrations in inflamed versus normal brain. Amphotericin B can be effective in CNS infection despite low CSF levels. A concentration in homogenized tissue does not establish free extracellular exposure or comparative clinical efficacy. [16] [1] Fellow teaching Parent-only and combined itraconazole targets The 2026 IDSA aspergillosis pharmacology appendix describes combined parent-plus-hydroxy targets, whereas current IDSA histoplasmosis guidance favors a parent component &gt;1 mg/L and &lt;3-4 mg/L, and states that a universal combined cutoff has not been established. It notes that combined levels &gt;2 mg/L may provide similar responses to parent levels &gt;1 mg/L. Mayo also provides distinct parent and combined interpretation. State the assay and treatment target explicitly. A combined result can meet its target while the parent level remains below a parent-only target. [3] [12] [13]</a:t>
            </a:r>
          </a:p>
          <a:p xmlns:a="http://schemas.openxmlformats.org/drawingml/2006/main">
            <a:r>
              <a:t/>
            </a:r>
          </a:p>
          <a:p xmlns:a="http://schemas.openxmlformats.org/drawingml/2006/main">
            <a:r>
              <a:t>Module section: https://docarcshot.github.io/id-practice-update/lectures/Antifungals_Practical_Primer_Resident_Fellow.html#cns-detail</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clinical considerations Fellow teaching Species-specific susceptibility interpretation For C. glabrata, CLSI fluconazole results use susceptible-dose dependent or resistant categories rather than a standard susceptible category. A susceptible-dose dependent result requires an appropriate dose and exposure. Prior echinocandin treatment or persistent infection should prompt echinocandin testing and repeat evaluation for resistance. For C. parapsilosis, use species-specific interpretation: a naturally higher MIC does not by itself mean an echinocandin will fail. [1] Fellow teaching C. auris susceptibility thresholds CDC's tentative resistance thresholds include fluconazole MIC at least 32 mg/L, amphotericin B at least 2 mg/L, and micafungin at least 4 mg/L. They are interim guides with uncertain outcome correlation, not universal susceptible breakpoints. The October 2026 CDC page notes an established CLSI C. auris-specific rezafungin breakpoint, in addition to the tentative thresholds for other agents. Ask the laboratory which method and interpretive standard it uses; do not transfer thresholds between drugs or methods. [46] Fellow teaching Dematiaceous molds Melanized molds such as Alternaria, Curvularia, Exophiala, and Cladophialophora differ in susceptibility, syndrome, and optimal therapy. Itraconazole, voriconazole, and posaconazole have activity against many species, with species-specific variation. Isavuconazole has variable in vitro activity with less clinical evidence; fluconazole is unreliable. CNS disease requires attention to penetration, species identification, susceptibility results, and surgical source control. Isavuconazole susceptibility cannot be inferred from results for voriconazole or posaconazole. [43] [44] The VITAL cryptococcosis/endemic-fungus subset included only 38 patients across five genera and had no randomized comparator. Comparative efficacy for each organism remains uncertain. [42] Fellow teaching Echinocandin resistance FKS mutations can confer class resistance. Prior echinocandin exposure, persistent candidemia, and species identification affect the need for susceptibility testing. C. parapsilosis has higher baseline echinocandin MICs, but that alone does not establish treatment failure. Request susceptibility data and interpret the breakpoint for that species and drug. [1] Fellow teaching CSF and brain tissue concentrations Meningitis, an angioinvasive lesion, and an encapsulated abscess are different compartments. Isavuconazole tissue measurements from two patients showed substantially different concentrations in inflamed versus normal brain. Amphotericin B can be effective in CNS infection despite low CSF levels. A concentration in homogenized tissue does not establish free extracellular exposure or comparative clinical efficacy. [16] [1] Fellow teaching Parent-only and combined itraconazole targets The 2026 IDSA aspergillosis pharmacology appendix describes combined parent-plus-hydroxy targets, whereas current IDSA histoplasmosis guidance favors a parent component &gt;1 mg/L and &lt;3-4 mg/L, and states that a universal combined cutoff has not been established. It notes that combined levels &gt;2 mg/L may provide similar responses to parent levels &gt;1 mg/L. Mayo also provides distinct parent and combined interpretation. State the assay and treatment target explicitly. A combined result can meet its target while the parent level remains below a parent-only target. [3] [12] [13]</a:t>
            </a:r>
          </a:p>
          <a:p xmlns:a="http://schemas.openxmlformats.org/drawingml/2006/main">
            <a:r>
              <a:t/>
            </a:r>
          </a:p>
          <a:p xmlns:a="http://schemas.openxmlformats.org/drawingml/2006/main">
            <a:r>
              <a:t>Module section: https://docarcshot.github.io/id-practice-update/lectures/Antifungals_Practical_Primer_Resident_Fellow.html#cns-detail</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clinical considerations Fellow teaching Species-specific susceptibility interpretation For C. glabrata, CLSI fluconazole results use susceptible-dose dependent or resistant categories rather than a standard susceptible category. A susceptible-dose dependent result requires an appropriate dose and exposure. Prior echinocandin treatment or persistent infection should prompt echinocandin testing and repeat evaluation for resistance. For C. parapsilosis, use species-specific interpretation: a naturally higher MIC does not by itself mean an echinocandin will fail. [1] Fellow teaching C. auris susceptibility thresholds CDC's tentative resistance thresholds include fluconazole MIC at least 32 mg/L, amphotericin B at least 2 mg/L, and micafungin at least 4 mg/L. They are interim guides with uncertain outcome correlation, not universal susceptible breakpoints. The October 2026 CDC page notes an established CLSI C. auris-specific rezafungin breakpoint, in addition to the tentative thresholds for other agents. Ask the laboratory which method and interpretive standard it uses; do not transfer thresholds between drugs or methods. [46] Fellow teaching Dematiaceous molds Melanized molds such as Alternaria, Curvularia, Exophiala, and Cladophialophora differ in susceptibility, syndrome, and optimal therapy. Itraconazole, voriconazole, and posaconazole have activity against many species, with species-specific variation. Isavuconazole has variable in vitro activity with less clinical evidence; fluconazole is unreliable. CNS disease requires attention to penetration, species identification, susceptibility results, and surgical source control. Isavuconazole susceptibility cannot be inferred from results for voriconazole or posaconazole. [43] [44] The VITAL cryptococcosis/endemic-fungus subset included only 38 patients across five genera and had no randomized comparator. Comparative efficacy for each organism remains uncertain. [42] Fellow teaching Echinocandin resistance FKS mutations can confer class resistance. Prior echinocandin exposure, persistent candidemia, and species identification affect the need for susceptibility testing. C. parapsilosis has higher baseline echinocandin MICs, but that alone does not establish treatment failure. Request susceptibility data and interpret the breakpoint for that species and drug. [1] Fellow teaching CSF and brain tissue concentrations Meningitis, an angioinvasive lesion, and an encapsulated abscess are different compartments. Isavuconazole tissue measurements from two patients showed substantially different concentrations in inflamed versus normal brain. Amphotericin B can be effective in CNS infection despite low CSF levels. A concentration in homogenized tissue does not establish free extracellular exposure or comparative clinical efficacy. [16] [1] Fellow teaching Parent-only and combined itraconazole targets The 2026 IDSA aspergillosis pharmacology appendix describes combined parent-plus-hydroxy targets, whereas current IDSA histoplasmosis guidance favors a parent component &gt;1 mg/L and &lt;3-4 mg/L, and states that a universal combined cutoff has not been established. It notes that combined levels &gt;2 mg/L may provide similar responses to parent levels &gt;1 mg/L. Mayo also provides distinct parent and combined interpretation. State the assay and treatment target explicitly. A combined result can meet its target while the parent level remains below a parent-only target. [3] [12] [13]</a:t>
            </a:r>
          </a:p>
          <a:p xmlns:a="http://schemas.openxmlformats.org/drawingml/2006/main">
            <a:r>
              <a:t/>
            </a:r>
          </a:p>
          <a:p xmlns:a="http://schemas.openxmlformats.org/drawingml/2006/main">
            <a:r>
              <a:t>Module section: https://docarcshot.github.io/id-practice-update/lectures/Antifungals_Practical_Primer_Resident_Fellow.html#itraconazole-detail</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clinical considerations Fellow teaching Species-specific susceptibility interpretation For C. glabrata, CLSI fluconazole results use susceptible-dose dependent or resistant categories rather than a standard susceptible category. A susceptible-dose dependent result requires an appropriate dose and exposure. Prior echinocandin treatment or persistent infection should prompt echinocandin testing and repeat evaluation for resistance. For C. parapsilosis, use species-specific interpretation: a naturally higher MIC does not by itself mean an echinocandin will fail. [1] Fellow teaching C. auris susceptibility thresholds CDC's tentative resistance thresholds include fluconazole MIC at least 32 mg/L, amphotericin B at least 2 mg/L, and micafungin at least 4 mg/L. They are interim guides with uncertain outcome correlation, not universal susceptible breakpoints. The October 2026 CDC page notes an established CLSI C. auris-specific rezafungin breakpoint, in addition to the tentative thresholds for other agents. Ask the laboratory which method and interpretive standard it uses; do not transfer thresholds between drugs or methods. [46] Fellow teaching Dematiaceous molds Melanized molds such as Alternaria, Curvularia, Exophiala, and Cladophialophora differ in susceptibility, syndrome, and optimal therapy. Itraconazole, voriconazole, and posaconazole have activity against many species, with species-specific variation. Isavuconazole has variable in vitro activity with less clinical evidence; fluconazole is unreliable. CNS disease requires attention to penetration, species identification, susceptibility results, and surgical source control. Isavuconazole susceptibility cannot be inferred from results for voriconazole or posaconazole. [43] [44] The VITAL cryptococcosis/endemic-fungus subset included only 38 patients across five genera and had no randomized comparator. Comparative efficacy for each organism remains uncertain. [42] Fellow teaching Echinocandin resistance FKS mutations can confer class resistance. Prior echinocandin exposure, persistent candidemia, and species identification affect the need for susceptibility testing. C. parapsilosis has higher baseline echinocandin MICs, but that alone does not establish treatment failure. Request susceptibility data and interpret the breakpoint for that species and drug. [1] Fellow teaching CSF and brain tissue concentrations Meningitis, an angioinvasive lesion, and an encapsulated abscess are different compartments. Isavuconazole tissue measurements from two patients showed substantially different concentrations in inflamed versus normal brain. Amphotericin B can be effective in CNS infection despite low CSF levels. A concentration in homogenized tissue does not establish free extracellular exposure or comparative clinical efficacy. [16] [1] Fellow teaching Parent-only and combined itraconazole targets The 2026 IDSA aspergillosis pharmacology appendix describes combined parent-plus-hydroxy targets, whereas current IDSA histoplasmosis guidance favors a parent component &gt;1 mg/L and &lt;3-4 mg/L, and states that a universal combined cutoff has not been established. It notes that combined levels &gt;2 mg/L may provide similar responses to parent levels &gt;1 mg/L. Mayo also provides distinct parent and combined interpretation. State the assay and treatment target explicitly. A combined result can meet its target while the parent level remains below a parent-only target. [3] [12] [13]</a:t>
            </a:r>
          </a:p>
          <a:p xmlns:a="http://schemas.openxmlformats.org/drawingml/2006/main">
            <a:r>
              <a:t/>
            </a:r>
          </a:p>
          <a:p xmlns:a="http://schemas.openxmlformats.org/drawingml/2006/main">
            <a:r>
              <a:t>Module section: https://docarcshot.github.io/id-practice-update/lectures/Antifungals_Practical_Primer_Resident_Fellow.html#itraconazole-detail</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Key studies Voriconazole versus itraconazole in histoplasmosis A single-center retrospective cohort compared 175 itraconazole-treated patients with 19 voriconazole-treated patients. Voriconazole was associated with higher mortality during the first 42 days after treatment initiation (adjusted hazard ratio 4.30; 95% CI 1.3-13.9). The small voriconazole group, nonrandomized treatment assignment, and potential residual confounding limit causal inference. These findings support itraconazole preference and argue against treating voriconazole as an interchangeable alternative. [56] Isavuconazole versus voriconazole: SECURE Day-42 mortality was 19% with isavuconazole versus 20% with voriconazole, meeting noninferiority. Drug-related adverse events were less frequent with isavuconazole. The trial did not establish superiority or equivalence for every rare mold or CNS infection. [20] Posaconazole for primary invasive aspergillosis treatment The 2021 randomized trial met noninferiority versus voriconazole for primary invasive aspergillosis treatment. Day-42 mortality was 15% versus 21% in the intention-to-treat population. The confidence interval for the treatment difference crossed zero, so mortality superiority was not established. The regimen used modern IV/tablet formulations, not conventional suspension. [21] Voriconazole TDM trials A 110-patient single-center randomized study supported voriconazole TDM, with less discontinuation from toxicity and better treatment response. A later multicenter cluster randomized crossover study did not show improved treatment outcomes with TDM-guided dosing. PK variability and exposure-related toxicity support monitoring, although a consistent survival benefit has not been shown. [22] [23]</a:t>
            </a:r>
          </a:p>
          <a:p xmlns:a="http://schemas.openxmlformats.org/drawingml/2006/main">
            <a:r>
              <a:t/>
            </a:r>
          </a:p>
          <a:p xmlns:a="http://schemas.openxmlformats.org/drawingml/2006/main">
            <a:r>
              <a:t>Module section: https://docarcshot.github.io/id-practice-update/lectures/Antifungals_Practical_Primer_Resident_Fellow.html#evidence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Key studies Voriconazole versus itraconazole in histoplasmosis A single-center retrospective cohort compared 175 itraconazole-treated patients with 19 voriconazole-treated patients. Voriconazole was associated with higher mortality during the first 42 days after treatment initiation (adjusted hazard ratio 4.30; 95% CI 1.3-13.9). The small voriconazole group, nonrandomized treatment assignment, and potential residual confounding limit causal inference. These findings support itraconazole preference and argue against treating voriconazole as an interchangeable alternative. [56] Isavuconazole versus voriconazole: SECURE Day-42 mortality was 19% with isavuconazole versus 20% with voriconazole, meeting noninferiority. Drug-related adverse events were less frequent with isavuconazole. The trial did not establish superiority or equivalence for every rare mold or CNS infection. [20] Posaconazole for primary invasive aspergillosis treatment The 2021 randomized trial met noninferiority versus voriconazole for primary invasive aspergillosis treatment. Day-42 mortality was 15% versus 21% in the intention-to-treat population. The confidence interval for the treatment difference crossed zero, so mortality superiority was not established. The regimen used modern IV/tablet formulations, not conventional suspension. [21] Voriconazole TDM trials A 110-patient single-center randomized study supported voriconazole TDM, with less discontinuation from toxicity and better treatment response. A later multicenter cluster randomized crossover study did not show improved treatment outcomes with TDM-guided dosing. PK variability and exposure-related toxicity support monitoring, although a consistent survival benefit has not been shown. [22] [23]</a:t>
            </a:r>
          </a:p>
          <a:p xmlns:a="http://schemas.openxmlformats.org/drawingml/2006/main">
            <a:r>
              <a:t/>
            </a:r>
          </a:p>
          <a:p xmlns:a="http://schemas.openxmlformats.org/drawingml/2006/main">
            <a:r>
              <a:t>Module section: https://docarcshot.github.io/id-practice-update/lectures/Antifungals_Practical_Primer_Resident_Fellow.html#evidence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Key studies Voriconazole versus itraconazole in histoplasmosis A single-center retrospective cohort compared 175 itraconazole-treated patients with 19 voriconazole-treated patients. Voriconazole was associated with higher mortality during the first 42 days after treatment initiation (adjusted hazard ratio 4.30; 95% CI 1.3-13.9). The small voriconazole group, nonrandomized treatment assignment, and potential residual confounding limit causal inference. These findings support itraconazole preference and argue against treating voriconazole as an interchangeable alternative. [56] Isavuconazole versus voriconazole: SECURE Day-42 mortality was 19% with isavuconazole versus 20% with voriconazole, meeting noninferiority. Drug-related adverse events were less frequent with isavuconazole. The trial did not establish superiority or equivalence for every rare mold or CNS infection. [20] Posaconazole for primary invasive aspergillosis treatment The 2021 randomized trial met noninferiority versus voriconazole for primary invasive aspergillosis treatment. Day-42 mortality was 15% versus 21% in the intention-to-treat population. The confidence interval for the treatment difference crossed zero, so mortality superiority was not established. The regimen used modern IV/tablet formulations, not conventional suspension. [21] Voriconazole TDM trials A 110-patient single-center randomized study supported voriconazole TDM, with less discontinuation from toxicity and better treatment response. A later multicenter cluster randomized crossover study did not show improved treatment outcomes with TDM-guided dosing. PK variability and exposure-related toxicity support monitoring, although a consistent survival benefit has not been shown. [22] [23]</a:t>
            </a:r>
          </a:p>
          <a:p xmlns:a="http://schemas.openxmlformats.org/drawingml/2006/main">
            <a:r>
              <a:t/>
            </a:r>
          </a:p>
          <a:p xmlns:a="http://schemas.openxmlformats.org/drawingml/2006/main">
            <a:r>
              <a:t>Module section: https://docarcshot.github.io/id-practice-update/lectures/Antifungals_Practical_Primer_Resident_Fellow.html#evidence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Key studies Voriconazole versus itraconazole in histoplasmosis A single-center retrospective cohort compared 175 itraconazole-treated patients with 19 voriconazole-treated patients. Voriconazole was associated with higher mortality during the first 42 days after treatment initiation (adjusted hazard ratio 4.30; 95% CI 1.3-13.9). The small voriconazole group, nonrandomized treatment assignment, and potential residual confounding limit causal inference. These findings support itraconazole preference and argue against treating voriconazole as an interchangeable alternative. [56] Isavuconazole versus voriconazole: SECURE Day-42 mortality was 19% with isavuconazole versus 20% with voriconazole, meeting noninferiority. Drug-related adverse events were less frequent with isavuconazole. The trial did not establish superiority or equivalence for every rare mold or CNS infection. [20] Posaconazole for primary invasive aspergillosis treatment The 2021 randomized trial met noninferiority versus voriconazole for primary invasive aspergillosis treatment. Day-42 mortality was 15% versus 21% in the intention-to-treat population. The confidence interval for the treatment difference crossed zero, so mortality superiority was not established. The regimen used modern IV/tablet formulations, not conventional suspension. [21] Voriconazole TDM trials A 110-patient single-center randomized study supported voriconazole TDM, with less discontinuation from toxicity and better treatment response. A later multicenter cluster randomized crossover study did not show improved treatment outcomes with TDM-guided dosing. PK variability and exposure-related toxicity support monitoring, although a consistent survival benefit has not been shown. [22] [23]</a:t>
            </a:r>
          </a:p>
          <a:p xmlns:a="http://schemas.openxmlformats.org/drawingml/2006/main">
            <a:r>
              <a:t/>
            </a:r>
          </a:p>
          <a:p xmlns:a="http://schemas.openxmlformats.org/drawingml/2006/main">
            <a:r>
              <a:t>Module section: https://docarcshot.github.io/id-practice-update/lectures/Antifungals_Practical_Primer_Resident_Fellow.html#evidence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Breakthrough fungal infection Confirm infection and seek species identification, histopathology, and susceptibility testing when feasible. Review adherence, formulation, absorption, interactions, achieved exposure, devices, drainage, immune recovery, and whether a second fungus lies outside the current spectrum. Persistent infection may reflect inadequate source control despite a low MIC. [2] Fellow teaching MIC interpretation across drug classes Breakpoints depend on organism, method, drug exposure, and available outcomes. An epidemiological cutoff identifies a non-wild-type population; it is not a clinical susceptible breakpoint. For Aspergillus tested against echinocandins, laboratories often assess minimum effective concentration rather than the same MIC endpoint used for azoles. MIC values cannot be compared directly across classes to rank clinical efficacy. [2] Hypoalbuminemia, obesity, critical illness, ECMO, and impaired absorption can complicate interpretation of total plasma levels. Review dosing and level interpretation with pharmacy when these factors are present. [3] Newer experimental posaconazole data show that infection alters cerebral diffusion. These animal data do not establish a human CNS dose or clinical equivalence to voriconazole. [36]</a:t>
            </a:r>
          </a:p>
          <a:p xmlns:a="http://schemas.openxmlformats.org/drawingml/2006/main">
            <a:r>
              <a:t/>
            </a:r>
          </a:p>
          <a:p xmlns:a="http://schemas.openxmlformats.org/drawingml/2006/main">
            <a:r>
              <a:t>Module section: https://docarcshot.github.io/id-practice-update/lectures/Antifungals_Practical_Primer_Resident_Fellow.html#failure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Breakthrough fungal infection Confirm infection and seek species identification, histopathology, and susceptibility testing when feasible. Review adherence, formulation, absorption, interactions, achieved exposure, devices, drainage, immune recovery, and whether a second fungus lies outside the current spectrum. Persistent infection may reflect inadequate source control despite a low MIC. [2] Fellow teaching MIC interpretation across drug classes Breakpoints depend on organism, method, drug exposure, and available outcomes. An epidemiological cutoff identifies a non-wild-type population; it is not a clinical susceptible breakpoint. For Aspergillus tested against echinocandins, laboratories often assess minimum effective concentration rather than the same MIC endpoint used for azoles. MIC values cannot be compared directly across classes to rank clinical efficacy. [2] Hypoalbuminemia, obesity, critical illness, ECMO, and impaired absorption can complicate interpretation of total plasma levels. Review dosing and level interpretation with pharmacy when these factors are present. [3] Newer experimental posaconazole data show that infection alters cerebral diffusion. These animal data do not establish a human CNS dose or clinical equivalence to voriconazole. [36]</a:t>
            </a:r>
          </a:p>
          <a:p xmlns:a="http://schemas.openxmlformats.org/drawingml/2006/main">
            <a:r>
              <a:t/>
            </a:r>
          </a:p>
          <a:p xmlns:a="http://schemas.openxmlformats.org/drawingml/2006/main">
            <a:r>
              <a:t>Module section: https://docarcshot.github.io/id-practice-update/lectures/Antifungals_Practical_Primer_Resident_Fellow.html#failure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Breakthrough fungal infection Confirm infection and seek species identification, histopathology, and susceptibility testing when feasible. Review adherence, formulation, absorption, interactions, achieved exposure, devices, drainage, immune recovery, and whether a second fungus lies outside the current spectrum. Persistent infection may reflect inadequate source control despite a low MIC. [2] Fellow teaching MIC interpretation across drug classes Breakpoints depend on organism, method, drug exposure, and available outcomes. An epidemiological cutoff identifies a non-wild-type population; it is not a clinical susceptible breakpoint. For Aspergillus tested against echinocandins, laboratories often assess minimum effective concentration rather than the same MIC endpoint used for azoles. MIC values cannot be compared directly across classes to rank clinical efficacy. [2] Hypoalbuminemia, obesity, critical illness, ECMO, and impaired absorption can complicate interpretation of total plasma levels. Review dosing and level interpretation with pharmacy when these factors are present. [3] Newer experimental posaconazole data show that infection alters cerebral diffusion. These animal data do not establish a human CNS dose or clinical equivalence to voriconazole. [36]</a:t>
            </a:r>
          </a:p>
          <a:p xmlns:a="http://schemas.openxmlformats.org/drawingml/2006/main">
            <a:r>
              <a:t/>
            </a:r>
          </a:p>
          <a:p xmlns:a="http://schemas.openxmlformats.org/drawingml/2006/main">
            <a:r>
              <a:t>Module section: https://docarcshot.github.io/id-practice-update/lectures/Antifungals_Practical_Primer_Resident_Fellow.html#failure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Newer approved antifungals Approved indications and limitations Drug / mechanism Established U.S. role Nuance and pitfall Rezafungin / Rezzayo Long-acting echinocandin Candidemia and invasive candidiasis with limited or no alternatives. Adult dose 400 mg IV initially, then 200 mg weekly. Same class gaps and possible FKS cross-resistance. Not studied for Candida endocarditis, osteomyelitis, or meningitis; label safety beyond 4 weekly doses is not established. Infusion reactions, liver effects, and photosensitivity require attention. Ibrexafungerp / Brexafemme Oral triterpenoid glucan-synthase inhibitor Vulvovaginal candidiasis and reduction of recurrent VVC. It is not approved for candidemia step-down. GI effects and CYP3A interactions matter. Pregnancy is contraindicated because of embryo-fetal toxicity. Verify availability separately from approval. Oteseconazole / Vivjoa Tetrazole CYP51 inhibitor Reduction of recurrent VVC in females who are not of reproductive potential. Not a systemic mold or candidemia treatment. Contraindicated in females of reproductive potential, pregnancy, and lactation; prolonged exposure underlies the restriction. Drug interactions still require review. [24] [25] [26]</a:t>
            </a:r>
          </a:p>
          <a:p xmlns:a="http://schemas.openxmlformats.org/drawingml/2006/main">
            <a:r>
              <a:t/>
            </a:r>
          </a:p>
          <a:p xmlns:a="http://schemas.openxmlformats.org/drawingml/2006/main">
            <a:r>
              <a:t>Module section: https://docarcshot.github.io/id-practice-update/lectures/Antifungals_Practical_Primer_Resident_Fellow.html#newer</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Newer approved antifungals Approved indications and limitations Drug / mechanism Established U.S. role Nuance and pitfall Rezafungin / Rezzayo Long-acting echinocandin Candidemia and invasive candidiasis with limited or no alternatives. Adult dose 400 mg IV initially, then 200 mg weekly. Same class gaps and possible FKS cross-resistance. Not studied for Candida endocarditis, osteomyelitis, or meningitis; label safety beyond 4 weekly doses is not established. Infusion reactions, liver effects, and photosensitivity require attention. Ibrexafungerp / Brexafemme Oral triterpenoid glucan-synthase inhibitor Vulvovaginal candidiasis and reduction of recurrent VVC. It is not approved for candidemia step-down. GI effects and CYP3A interactions matter. Pregnancy is contraindicated because of embryo-fetal toxicity. Verify availability separately from approval. Oteseconazole / Vivjoa Tetrazole CYP51 inhibitor Reduction of recurrent VVC in females who are not of reproductive potential. Not a systemic mold or candidemia treatment. Contraindicated in females of reproductive potential, pregnancy, and lactation; prolonged exposure underlies the restriction. Drug interactions still require review. [24] [25] [26]</a:t>
            </a:r>
          </a:p>
          <a:p xmlns:a="http://schemas.openxmlformats.org/drawingml/2006/main">
            <a:r>
              <a:t/>
            </a:r>
          </a:p>
          <a:p xmlns:a="http://schemas.openxmlformats.org/drawingml/2006/main">
            <a:r>
              <a:t>Module section: https://docarcshot.github.io/id-practice-update/lectures/Antifungals_Practical_Primer_Resident_Fellow.html#newer</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Newer approved antifungals Approved indications and limitations Drug / mechanism Established U.S. role Nuance and pitfall Rezafungin / Rezzayo Long-acting echinocandin Candidemia and invasive candidiasis with limited or no alternatives. Adult dose 400 mg IV initially, then 200 mg weekly. Same class gaps and possible FKS cross-resistance. Not studied for Candida endocarditis, osteomyelitis, or meningitis; label safety beyond 4 weekly doses is not established. Infusion reactions, liver effects, and photosensitivity require attention. Ibrexafungerp / Brexafemme Oral triterpenoid glucan-synthase inhibitor Vulvovaginal candidiasis and reduction of recurrent VVC. It is not approved for candidemia step-down. GI effects and CYP3A interactions matter. Pregnancy is contraindicated because of embryo-fetal toxicity. Verify availability separately from approval. Oteseconazole / Vivjoa Tetrazole CYP51 inhibitor Reduction of recurrent VVC in females who are not of reproductive potential. Not a systemic mold or candidemia treatment. Contraindicated in females of reproductive potential, pregnancy, and lactation; prolonged exposure underlies the restriction. Drug interactions still require review. [24] [25] [26]</a:t>
            </a:r>
          </a:p>
          <a:p xmlns:a="http://schemas.openxmlformats.org/drawingml/2006/main">
            <a:r>
              <a:t/>
            </a:r>
          </a:p>
          <a:p xmlns:a="http://schemas.openxmlformats.org/drawingml/2006/main">
            <a:r>
              <a:t>Module section: https://docarcshot.github.io/id-practice-update/lectures/Antifungals_Practical_Primer_Resident_Fellow.html#newer</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Newer approved antifungals Approved indications and limitations Drug / mechanism Established U.S. role Nuance and pitfall Rezafungin / Rezzayo Long-acting echinocandin Candidemia and invasive candidiasis with limited or no alternatives. Adult dose 400 mg IV initially, then 200 mg weekly. Same class gaps and possible FKS cross-resistance. Not studied for Candida endocarditis, osteomyelitis, or meningitis; label safety beyond 4 weekly doses is not established. Infusion reactions, liver effects, and photosensitivity require attention. Ibrexafungerp / Brexafemme Oral triterpenoid glucan-synthase inhibitor Vulvovaginal candidiasis and reduction of recurrent VVC. It is not approved for candidemia step-down. GI effects and CYP3A interactions matter. Pregnancy is contraindicated because of embryo-fetal toxicity. Verify availability separately from approval. Oteseconazole / Vivjoa Tetrazole CYP51 inhibitor Reduction of recurrent VVC in females who are not of reproductive potential. Not a systemic mold or candidemia treatment. Contraindicated in females of reproductive potential, pregnancy, and lactation; prolonged exposure underlies the restriction. Drug interactions still require review. [24] [25] [26]</a:t>
            </a:r>
          </a:p>
          <a:p xmlns:a="http://schemas.openxmlformats.org/drawingml/2006/main">
            <a:r>
              <a:t/>
            </a:r>
          </a:p>
          <a:p xmlns:a="http://schemas.openxmlformats.org/drawingml/2006/main">
            <a:r>
              <a:t>Module section: https://docarcshot.github.io/id-practice-update/lectures/Antifungals_Practical_Primer_Resident_Fellow.html#newer</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Investigational antifungals Development status was reviewed October 14, 2026. These agents remain investigational; in vitro activity and sponsor announcements have limited clinical applicability. Agent Target / route Potential spectrum and gaps Current evidence and status Olorofim Orotomide; inhibits fungal dihydroorotate dehydrogenase, blocking pyrimidine synthesis. Oral development. Aspergillus, including some azole-resistant isolates, and selected difficult molds such as Scedosporium and Lomentospora. No useful Candida or Mucorales coverage. Investigational. OASIS phase 3 topline results were announced in June 2026; the October 6 sponsor statement still says it is unapproved. Full published results and regulatory review are needed to define its role. Fosmanogepix → manogepix Prodrug of a Gwt1 inhibitor affecting GPI-anchored protein maturation; IV and oral development. Broad investigational yeast and mold activity, including many resistant isolates. Important gaps include poor activity against C. krusei and related species; Mucorales activity is inconsistent. Small single-arm phase 2 studies reported clinical activity in candidemia and mold infections; comparative efficacy is not established. Two phase 3 programs for invasive yeast and mold infections were ongoing in the 2026 sponsor update. No established routine clinical TDM target or licensed regimen. Opelconazole Inhaled triazole designed for lung exposure. Local Aspergillus-directed development; inhalation does not establish adequate systemic or CNS therapy. Opera-T phase 3 in refractory pulmonary aspergillosis was terminated January 7, 2026. Sponsor interim analysis reported numerically worse response and higher mortality in the active arm. The unfavorable interim findings limit its proposed clinical role. [27] [28] [29] [30] [31] [32] [33] [34] Fellow teaching New mechanisms and resistance Olorofim is not an azole, and fosmanogepix is not an echinocandin. A new target may retain activity against isolates resistant to older classes. Spectrum, clinical efficacy, and emergence of resistance still require study. Assess the enrolled organisms, comparator, outcomes, follow-up, and safety data before applying trial results. [27] [32]</a:t>
            </a:r>
          </a:p>
          <a:p xmlns:a="http://schemas.openxmlformats.org/drawingml/2006/main">
            <a:r>
              <a:t/>
            </a:r>
          </a:p>
          <a:p xmlns:a="http://schemas.openxmlformats.org/drawingml/2006/main">
            <a:r>
              <a:t>Module section: https://docarcshot.github.io/id-practice-update/lectures/Antifungals_Practical_Primer_Resident_Fellow.html#pipeline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Investigational antifungals Development status was reviewed October 14, 2026. These agents remain investigational; in vitro activity and sponsor announcements have limited clinical applicability. Agent Target / route Potential spectrum and gaps Current evidence and status Olorofim Orotomide; inhibits fungal dihydroorotate dehydrogenase, blocking pyrimidine synthesis. Oral development. Aspergillus, including some azole-resistant isolates, and selected difficult molds such as Scedosporium and Lomentospora. No useful Candida or Mucorales coverage. Investigational. OASIS phase 3 topline results were announced in June 2026; the October 6 sponsor statement still says it is unapproved. Full published results and regulatory review are needed to define its role. Fosmanogepix → manogepix Prodrug of a Gwt1 inhibitor affecting GPI-anchored protein maturation; IV and oral development. Broad investigational yeast and mold activity, including many resistant isolates. Important gaps include poor activity against C. krusei and related species; Mucorales activity is inconsistent. Small single-arm phase 2 studies reported clinical activity in candidemia and mold infections; comparative efficacy is not established. Two phase 3 programs for invasive yeast and mold infections were ongoing in the 2026 sponsor update. No established routine clinical TDM target or licensed regimen. Opelconazole Inhaled triazole designed for lung exposure. Local Aspergillus-directed development; inhalation does not establish adequate systemic or CNS therapy. Opera-T phase 3 in refractory pulmonary aspergillosis was terminated January 7, 2026. Sponsor interim analysis reported numerically worse response and higher mortality in the active arm. The unfavorable interim findings limit its proposed clinical role. [27] [28] [29] [30] [31] [32] [33] [34] Fellow teaching New mechanisms and resistance Olorofim is not an azole, and fosmanogepix is not an echinocandin. A new target may retain activity against isolates resistant to older classes. Spectrum, clinical efficacy, and emergence of resistance still require study. Assess the enrolled organisms, comparator, outcomes, follow-up, and safety data before applying trial results. [27] [32]</a:t>
            </a:r>
          </a:p>
          <a:p xmlns:a="http://schemas.openxmlformats.org/drawingml/2006/main">
            <a:r>
              <a:t/>
            </a:r>
          </a:p>
          <a:p xmlns:a="http://schemas.openxmlformats.org/drawingml/2006/main">
            <a:r>
              <a:t>Module section: https://docarcshot.github.io/id-practice-update/lectures/Antifungals_Practical_Primer_Resident_Fellow.html#pipeline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Investigational antifungals Development status was reviewed October 14, 2026. These agents remain investigational; in vitro activity and sponsor announcements have limited clinical applicability. Agent Target / route Potential spectrum and gaps Current evidence and status Olorofim Orotomide; inhibits fungal dihydroorotate dehydrogenase, blocking pyrimidine synthesis. Oral development. Aspergillus, including some azole-resistant isolates, and selected difficult molds such as Scedosporium and Lomentospora. No useful Candida or Mucorales coverage. Investigational. OASIS phase 3 topline results were announced in June 2026; the October 6 sponsor statement still says it is unapproved. Full published results and regulatory review are needed to define its role. Fosmanogepix → manogepix Prodrug of a Gwt1 inhibitor affecting GPI-anchored protein maturation; IV and oral development. Broad investigational yeast and mold activity, including many resistant isolates. Important gaps include poor activity against C. krusei and related species; Mucorales activity is inconsistent. Small single-arm phase 2 studies reported clinical activity in candidemia and mold infections; comparative efficacy is not established. Two phase 3 programs for invasive yeast and mold infections were ongoing in the 2026 sponsor update. No established routine clinical TDM target or licensed regimen. Opelconazole Inhaled triazole designed for lung exposure. Local Aspergillus-directed development; inhalation does not establish adequate systemic or CNS therapy. Opera-T phase 3 in refractory pulmonary aspergillosis was terminated January 7, 2026. Sponsor interim analysis reported numerically worse response and higher mortality in the active arm. The unfavorable interim findings limit its proposed clinical role. [27] [28] [29] [30] [31] [32] [33] [34] Fellow teaching New mechanisms and resistance Olorofim is not an azole, and fosmanogepix is not an echinocandin. A new target may retain activity against isolates resistant to older classes. Spectrum, clinical efficacy, and emergence of resistance still require study. Assess the enrolled organisms, comparator, outcomes, follow-up, and safety data before applying trial results. [27] [32]</a:t>
            </a:r>
          </a:p>
          <a:p xmlns:a="http://schemas.openxmlformats.org/drawingml/2006/main">
            <a:r>
              <a:t/>
            </a:r>
          </a:p>
          <a:p xmlns:a="http://schemas.openxmlformats.org/drawingml/2006/main">
            <a:r>
              <a:t>Module section: https://docarcshot.github.io/id-practice-update/lectures/Antifungals_Practical_Primer_Resident_Fellow.html#pipeline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Investigational antifungals Development status was reviewed October 14, 2026. These agents remain investigational; in vitro activity and sponsor announcements have limited clinical applicability. Agent Target / route Potential spectrum and gaps Current evidence and status Olorofim Orotomide; inhibits fungal dihydroorotate dehydrogenase, blocking pyrimidine synthesis. Oral development. Aspergillus, including some azole-resistant isolates, and selected difficult molds such as Scedosporium and Lomentospora. No useful Candida or Mucorales coverage. Investigational. OASIS phase 3 topline results were announced in June 2026; the October 6 sponsor statement still says it is unapproved. Full published results and regulatory review are needed to define its role. Fosmanogepix → manogepix Prodrug of a Gwt1 inhibitor affecting GPI-anchored protein maturation; IV and oral development. Broad investigational yeast and mold activity, including many resistant isolates. Important gaps include poor activity against C. krusei and related species; Mucorales activity is inconsistent. Small single-arm phase 2 studies reported clinical activity in candidemia and mold infections; comparative efficacy is not established. Two phase 3 programs for invasive yeast and mold infections were ongoing in the 2026 sponsor update. No established routine clinical TDM target or licensed regimen. Opelconazole Inhaled triazole designed for lung exposure. Local Aspergillus-directed development; inhalation does not establish adequate systemic or CNS therapy. Opera-T phase 3 in refractory pulmonary aspergillosis was terminated January 7, 2026. Sponsor interim analysis reported numerically worse response and higher mortality in the active arm. The unfavorable interim findings limit its proposed clinical role. [27] [28] [29] [30] [31] [32] [33] [34] Fellow teaching New mechanisms and resistance Olorofim is not an azole, and fosmanogepix is not an echinocandin. A new target may retain activity against isolates resistant to older classes. Spectrum, clinical efficacy, and emergence of resistance still require study. Assess the enrolled organisms, comparator, outcomes, follow-up, and safety data before applying trial results. [27] [32]</a:t>
            </a:r>
          </a:p>
          <a:p xmlns:a="http://schemas.openxmlformats.org/drawingml/2006/main">
            <a:r>
              <a:t/>
            </a:r>
          </a:p>
          <a:p xmlns:a="http://schemas.openxmlformats.org/drawingml/2006/main">
            <a:r>
              <a:t>Module section: https://docarcshot.github.io/id-practice-update/lectures/Antifungals_Practical_Primer_Resident_Fellow.html#pipeline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Investigational antifungals Development status was reviewed October 14, 2026. These agents remain investigational; in vitro activity and sponsor announcements have limited clinical applicability. Agent Target / route Potential spectrum and gaps Current evidence and status Olorofim Orotomide; inhibits fungal dihydroorotate dehydrogenase, blocking pyrimidine synthesis. Oral development. Aspergillus, including some azole-resistant isolates, and selected difficult molds such as Scedosporium and Lomentospora. No useful Candida or Mucorales coverage. Investigational. OASIS phase 3 topline results were announced in June 2026; the October 6 sponsor statement still says it is unapproved. Full published results and regulatory review are needed to define its role. Fosmanogepix → manogepix Prodrug of a Gwt1 inhibitor affecting GPI-anchored protein maturation; IV and oral development. Broad investigational yeast and mold activity, including many resistant isolates. Important gaps include poor activity against C. krusei and related species; Mucorales activity is inconsistent. Small single-arm phase 2 studies reported clinical activity in candidemia and mold infections; comparative efficacy is not established. Two phase 3 programs for invasive yeast and mold infections were ongoing in the 2026 sponsor update. No established routine clinical TDM target or licensed regimen. Opelconazole Inhaled triazole designed for lung exposure. Local Aspergillus-directed development; inhalation does not establish adequate systemic or CNS therapy. Opera-T phase 3 in refractory pulmonary aspergillosis was terminated January 7, 2026. Sponsor interim analysis reported numerically worse response and higher mortality in the active arm. The unfavorable interim findings limit its proposed clinical role. [27] [28] [29] [30] [31] [32] [33] [34] Fellow teaching New mechanisms and resistance Olorofim is not an azole, and fosmanogepix is not an echinocandin. A new target may retain activity against isolates resistant to older classes. Spectrum, clinical efficacy, and emergence of resistance still require study. Assess the enrolled organisms, comparator, outcomes, follow-up, and safety data before applying trial results. [27] [32]</a:t>
            </a:r>
          </a:p>
          <a:p xmlns:a="http://schemas.openxmlformats.org/drawingml/2006/main">
            <a:r>
              <a:t/>
            </a:r>
          </a:p>
          <a:p xmlns:a="http://schemas.openxmlformats.org/drawingml/2006/main">
            <a:r>
              <a:t>Module section: https://docarcshot.github.io/id-practice-update/lectures/Antifungals_Practical_Primer_Resident_Fellow.html#pipeline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Investigational antifungals Development status was reviewed October 14, 2026. These agents remain investigational; in vitro activity and sponsor announcements have limited clinical applicability. Agent Target / route Potential spectrum and gaps Current evidence and status Olorofim Orotomide; inhibits fungal dihydroorotate dehydrogenase, blocking pyrimidine synthesis. Oral development. Aspergillus, including some azole-resistant isolates, and selected difficult molds such as Scedosporium and Lomentospora. No useful Candida or Mucorales coverage. Investigational. OASIS phase 3 topline results were announced in June 2026; the October 6 sponsor statement still says it is unapproved. Full published results and regulatory review are needed to define its role. Fosmanogepix → manogepix Prodrug of a Gwt1 inhibitor affecting GPI-anchored protein maturation; IV and oral development. Broad investigational yeast and mold activity, including many resistant isolates. Important gaps include poor activity against C. krusei and related species; Mucorales activity is inconsistent. Small single-arm phase 2 studies reported clinical activity in candidemia and mold infections; comparative efficacy is not established. Two phase 3 programs for invasive yeast and mold infections were ongoing in the 2026 sponsor update. No established routine clinical TDM target or licensed regimen. Opelconazole Inhaled triazole designed for lung exposure. Local Aspergillus-directed development; inhalation does not establish adequate systemic or CNS therapy. Opera-T phase 3 in refractory pulmonary aspergillosis was terminated January 7, 2026. Sponsor interim analysis reported numerically worse response and higher mortality in the active arm. The unfavorable interim findings limit its proposed clinical role. [27] [28] [29] [30] [31] [32] [33] [34] Fellow teaching New mechanisms and resistance Olorofim is not an azole, and fosmanogepix is not an echinocandin. A new target may retain activity against isolates resistant to older classes. Spectrum, clinical efficacy, and emergence of resistance still require study. Assess the enrolled organisms, comparator, outcomes, follow-up, and safety data before applying trial results. [27] [32]</a:t>
            </a:r>
          </a:p>
          <a:p xmlns:a="http://schemas.openxmlformats.org/drawingml/2006/main">
            <a:r>
              <a:t/>
            </a:r>
          </a:p>
          <a:p xmlns:a="http://schemas.openxmlformats.org/drawingml/2006/main">
            <a:r>
              <a:t>Module section: https://docarcshot.github.io/id-practice-update/lectures/Antifungals_Practical_Primer_Resident_Fellow.html#pipeline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Investigational antifungals Development status was reviewed October 14, 2026. These agents remain investigational; in vitro activity and sponsor announcements have limited clinical applicability. Agent Target / route Potential spectrum and gaps Current evidence and status Olorofim Orotomide; inhibits fungal dihydroorotate dehydrogenase, blocking pyrimidine synthesis. Oral development. Aspergillus, including some azole-resistant isolates, and selected difficult molds such as Scedosporium and Lomentospora. No useful Candida or Mucorales coverage. Investigational. OASIS phase 3 topline results were announced in June 2026; the October 6 sponsor statement still says it is unapproved. Full published results and regulatory review are needed to define its role. Fosmanogepix → manogepix Prodrug of a Gwt1 inhibitor affecting GPI-anchored protein maturation; IV and oral development. Broad investigational yeast and mold activity, including many resistant isolates. Important gaps include poor activity against C. krusei and related species; Mucorales activity is inconsistent. Small single-arm phase 2 studies reported clinical activity in candidemia and mold infections; comparative efficacy is not established. Two phase 3 programs for invasive yeast and mold infections were ongoing in the 2026 sponsor update. No established routine clinical TDM target or licensed regimen. Opelconazole Inhaled triazole designed for lung exposure. Local Aspergillus-directed development; inhalation does not establish adequate systemic or CNS therapy. Opera-T phase 3 in refractory pulmonary aspergillosis was terminated January 7, 2026. Sponsor interim analysis reported numerically worse response and higher mortality in the active arm. The unfavorable interim findings limit its proposed clinical role. [27] [28] [29] [30] [31] [32] [33] [34] Fellow teaching New mechanisms and resistance Olorofim is not an azole, and fosmanogepix is not an echinocandin. A new target may retain activity against isolates resistant to older classes. Spectrum, clinical efficacy, and emergence of resistance still require study. Assess the enrolled organisms, comparator, outcomes, follow-up, and safety data before applying trial results. [27] [32]</a:t>
            </a:r>
          </a:p>
          <a:p xmlns:a="http://schemas.openxmlformats.org/drawingml/2006/main">
            <a:r>
              <a:t/>
            </a:r>
          </a:p>
          <a:p xmlns:a="http://schemas.openxmlformats.org/drawingml/2006/main">
            <a:r>
              <a:t>Module section: https://docarcshot.github.io/id-practice-update/lectures/Antifungals_Practical_Primer_Resident_Fellow.html#pipeline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Rounds sheet Before the first dose Identify the organism and infection site. Identify source control. Confirm formulation, load, organ function, interaction review, and the monitoring owner. Coverage gaps Fluconazole: no Aspergillus/Mucorales, but active against Cryptococcus and Coccidioides. Itraconazole: usual Histo/Blasto azole. Voriconazole: no Mucorales. Dematiaceous molds: species-dependent. Adverse effects Itraconazole: negative inotropy/CHF. Voriconazole: visual/neuro effects, QT, photosensitivity, periostitis. Posaconazole: hypertension/hypokalemia. Isavuconazole: QT shortening. Amphotericin plan Name the formulation. Follow creatinine, K, Mg, CBC, and liver tests. Plan replacement, infusion management, and appropriate hydration. TDM calculation Itraconazole + hydroxyitraconazole only when using a combined target. Do not add a metabolite to voriconazole. Document draw timing and assay. Site of infection CSF is not a brain tissue level. Candiduria often needs no antifungal. Micafungin has poor urine exposure; renal tissue infection from candidemia is different. See the linked sources and main tables for dosing and target qualifications.</a:t>
            </a:r>
          </a:p>
          <a:p xmlns:a="http://schemas.openxmlformats.org/drawingml/2006/main">
            <a:r>
              <a:t/>
            </a:r>
          </a:p>
          <a:p xmlns:a="http://schemas.openxmlformats.org/drawingml/2006/main">
            <a:r>
              <a:t>Module section: https://docarcshot.github.io/id-practice-update/lectures/Antifungals_Practical_Primer_Resident_Fellow.html#cheat</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Rounds sheet Before the first dose Identify the organism and infection site. Identify source control. Confirm formulation, load, organ function, interaction review, and the monitoring owner. Coverage gaps Fluconazole: no Aspergillus/Mucorales, but active against Cryptococcus and Coccidioides. Itraconazole: usual Histo/Blasto azole. Voriconazole: no Mucorales. Dematiaceous molds: species-dependent. Adverse effects Itraconazole: negative inotropy/CHF. Voriconazole: visual/neuro effects, QT, photosensitivity, periostitis. Posaconazole: hypertension/hypokalemia. Isavuconazole: QT shortening. Amphotericin plan Name the formulation. Follow creatinine, K, Mg, CBC, and liver tests. Plan replacement, infusion management, and appropriate hydration. TDM calculation Itraconazole + hydroxyitraconazole only when using a combined target. Do not add a metabolite to voriconazole. Document draw timing and assay. Site of infection CSF is not a brain tissue level. Candiduria often needs no antifungal. Micafungin has poor urine exposure; renal tissue infection from candidemia is different. See the linked sources and main tables for dosing and target qualifications.</a:t>
            </a:r>
          </a:p>
          <a:p xmlns:a="http://schemas.openxmlformats.org/drawingml/2006/main">
            <a:r>
              <a:t/>
            </a:r>
          </a:p>
          <a:p xmlns:a="http://schemas.openxmlformats.org/drawingml/2006/main">
            <a:r>
              <a:t>Module section: https://docarcshot.github.io/id-practice-update/lectures/Antifungals_Practical_Primer_Resident_Fellow.html#cheat</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Rounds sheet Before the first dose Identify the organism and infection site. Identify source control. Confirm formulation, load, organ function, interaction review, and the monitoring owner. Coverage gaps Fluconazole: no Aspergillus/Mucorales, but active against Cryptococcus and Coccidioides. Itraconazole: usual Histo/Blasto azole. Voriconazole: no Mucorales. Dematiaceous molds: species-dependent. Adverse effects Itraconazole: negative inotropy/CHF. Voriconazole: visual/neuro effects, QT, photosensitivity, periostitis. Posaconazole: hypertension/hypokalemia. Isavuconazole: QT shortening. Amphotericin plan Name the formulation. Follow creatinine, K, Mg, CBC, and liver tests. Plan replacement, infusion management, and appropriate hydration. TDM calculation Itraconazole + hydroxyitraconazole only when using a combined target. Do not add a metabolite to voriconazole. Document draw timing and assay. Site of infection CSF is not a brain tissue level. Candiduria often needs no antifungal. Micafungin has poor urine exposure; renal tissue infection from candidemia is different. See the linked sources and main tables for dosing and target qualifications.</a:t>
            </a:r>
          </a:p>
          <a:p xmlns:a="http://schemas.openxmlformats.org/drawingml/2006/main">
            <a:r>
              <a:t/>
            </a:r>
          </a:p>
          <a:p xmlns:a="http://schemas.openxmlformats.org/drawingml/2006/main">
            <a:r>
              <a:t>Module section: https://docarcshot.github.io/id-practice-update/lectures/Antifungals_Practical_Primer_Resident_Fellow.html#cheat</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https://docarcshot.github.io/id-practice-update/lectures/Antifungals_Practical_Primer_Resident_Fellow.html#references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https://docarcshot.github.io/id-practice-update/lectures/Antifungals_Practical_Primer_Resident_Fellow.html#ref-candida</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https://docarcshot.github.io/id-practice-update/lectures/Antifungals_Practical_Primer_Resident_Fellow.html#ref-asper</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https://docarcshot.github.io/id-practice-update/lectures/Antifungals_Practical_Primer_Resident_Fellow.html#ref-pharm26</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https://docarcshot.github.io/id-practice-update/lectures/Antifungals_Practical_Primer_Resident_Fellow.html#ref-flu</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https://docarcshot.github.io/id-practice-update/lectures/Antifungals_Practical_Primer_Resident_Fellow.html#ref-itra</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https://docarcshot.github.io/id-practice-update/lectures/Antifungals_Practical_Primer_Resident_Fellow.html#ref-vori</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https://docarcshot.github.io/id-practice-update/lectures/Antifungals_Practical_Primer_Resident_Fellow.html#ref-posa</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https://docarcshot.github.io/id-practice-update/lectures/Antifungals_Practical_Primer_Resident_Fellow.html#ref-isa</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https://docarcshot.github.io/id-practice-update/lectures/Antifungals_Practical_Primer_Resident_Fellow.html#ref-mica</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https://docarcshot.github.io/id-practice-update/lectures/Antifungals_Practical_Primer_Resident_Fellow.html#ref-amb</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https://docarcshot.github.io/id-practice-update/lectures/Antifungals_Practical_Primer_Resident_Fellow.html#ref-5fc</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https://docarcshot.github.io/id-practice-update/lectures/Antifungals_Practical_Primer_Resident_Fellow.html#ref-histo</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https://docarcshot.github.io/id-practice-update/lectures/Antifungals_Practical_Primer_Resident_Fellow.html#ref-mayo</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https://docarcshot.github.io/id-practice-update/lectures/Antifungals_Practical_Primer_Resident_Fellow.html#ref-bsmm</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https://docarcshot.github.io/id-practice-update/lectures/Antifungals_Practical_Primer_Resident_Fellow.html#ref-csfv</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https://docarcshot.github.io/id-practice-update/lectures/Antifungals_Practical_Primer_Resident_Fellow.html#ref-csfi</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https://docarcshot.github.io/id-practice-update/lectures/Antifungals_Practical_Primer_Resident_Fellow.html#ref-csfp</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https://docarcshot.github.io/id-practice-update/lectures/Antifungals_Practical_Primer_Resident_Fellow.html#ref-csfp2</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https://docarcshot.github.io/id-practice-update/lectures/Antifungals_Practical_Primer_Resident_Fellow.html#ref-mucor</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https://docarcshot.github.io/id-practice-update/lectures/Antifungals_Practical_Primer_Resident_Fellow.html#ref-secure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https://docarcshot.github.io/id-practice-update/lectures/Antifungals_Practical_Primer_Resident_Fellow.html#ref-posatrial</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https://docarcshot.github.io/id-practice-update/lectures/Antifungals_Practical_Primer_Resident_Fellow.html#ref-tdmtrial</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https://docarcshot.github.io/id-practice-update/lectures/Antifungals_Practical_Primer_Resident_Fellow.html#ref-tdmtrial2</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https://docarcshot.github.io/id-practice-update/lectures/Antifungals_Practical_Primer_Resident_Fellow.html#ref-reza</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https://docarcshot.github.io/id-practice-update/lectures/Antifungals_Practical_Primer_Resident_Fellow.html#ref-ibre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https://docarcshot.github.io/id-practice-update/lectures/Antifungals_Practical_Primer_Resident_Fellow.html#ref-otese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https://docarcshot.github.io/id-practice-update/lectures/Antifungals_Practical_Primer_Resident_Fellow.html#ref-olo</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https://docarcshot.github.io/id-practice-update/lectures/Antifungals_Practical_Primer_Resident_Fellow.html#ref-oasis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https://docarcshot.github.io/id-practice-update/lectures/Antifungals_Practical_Primer_Resident_Fellow.html#ref-olostatus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https://docarcshot.github.io/id-practice-update/lectures/Antifungals_Practical_Primer_Resident_Fellow.html#ref-fmg</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https://docarcshot.github.io/id-practice-update/lectures/Antifungals_Practical_Primer_Resident_Fellow.html#ref-fmgmold</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https://docarcshot.github.io/id-practice-update/lectures/Antifungals_Practical_Primer_Resident_Fellow.html#ref-fmgmicro</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https://docarcshot.github.io/id-practice-update/lectures/Antifungals_Practical_Primer_Resident_Fellow.html#ref-fmgstatus</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https://docarcshot.github.io/id-practice-update/lectures/Antifungals_Practical_Primer_Resident_Fellow.html#ref-opel</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https://docarcshot.github.io/id-practice-update/lectures/Antifungals_Practical_Primer_Resident_Fellow.html#ref-posaaldo</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https://docarcshot.github.io/id-practice-update/lectures/Antifungals_Practical_Primer_Resident_Fellow.html#ref-csf2026</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https://docarcshot.github.io/id-practice-update/lectures/Antifungals_Practical_Primer_Resident_Fellow.html#ref-crypto24</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https://docarcshot.github.io/id-practice-update/lectures/Antifungals_Practical_Primer_Resident_Fellow.html#ref-cryptonih</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https://docarcshot.github.io/id-practice-update/lectures/Antifungals_Practical_Primer_Resident_Fellow.html#ref-histonih</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https://docarcshot.github.io/id-practice-update/lectures/Antifungals_Practical_Primer_Resident_Fellow.html#ref-blasto</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https://docarcshot.github.io/id-practice-update/lectures/Antifungals_Practical_Primer_Resident_Fellow.html#ref-cocci</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https://docarcshot.github.io/id-practice-update/lectures/Antifungals_Practical_Primer_Resident_Fellow.html#ref-vitalendemic</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https://docarcshot.github.io/id-practice-update/lectures/Antifungals_Practical_Primer_Resident_Fellow.html#ref-demat</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https://docarcshot.github.io/id-practice-update/lectures/Antifungals_Practical_Primer_Resident_Fellow.html#ref-dematisa</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https://docarcshot.github.io/id-practice-update/lectures/Antifungals_Practical_Primer_Resident_Fellow.html#ref-auristx</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https://docarcshot.github.io/id-practice-update/lectures/Antifungals_Practical_Primer_Resident_Fellow.html#ref-aurismic</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https://docarcshot.github.io/id-practice-update/lectures/Antifungals_Practical_Primer_Resident_Fellow.html#ref-aurisip</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https://docarcshot.github.io/id-practice-update/lectures/Antifungals_Practical_Primer_Resident_Fellow.html#ref-aurisoverview</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https://docarcshot.github.io/id-practice-update/lectures/Antifungals_Practical_Primer_Resident_Fellow.html#ref-para25</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https://docarcshot.github.io/id-practice-update/lectures/Antifungals_Practical_Primer_Resident_Fellow.html#ref-lusi</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https://docarcshot.github.io/id-practice-update/lectures/Antifungals_Practical_Primer_Resident_Fellow.html#ref-pubchem-fluconazole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https://docarcshot.github.io/id-practice-update/lectures/Antifungals_Practical_Primer_Resident_Fellow.html#ref-pubchem-voriconazole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https://docarcshot.github.io/id-practice-update/lectures/Antifungals_Practical_Primer_Resident_Fellow.html#ref-pubchem-itraconazole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https://docarcshot.github.io/id-practice-update/lectures/Antifungals_Practical_Primer_Resident_Fellow.html#ref-pubchem-posaconazole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https://docarcshot.github.io/id-practice-update/lectures/Antifungals_Practical_Primer_Resident_Fellow.html#ref-pubchem-isavuconazole</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Public sources and evidence References include public guidelines, prescribing information, clinical studies, and chemical records. Pipeline updates from sponsors are identified as such. Pappas et al. IDSA candidiasis guideline, 2016. Patterson et al. IDSA aspergillosis guideline, 2016. IDSA prevention of invasive aspergillosis, pharmacology appendix, 2026. TDM and formulation reference; prevention guidance is not a treatment trial. Diflucan prescribing information. Sporanox capsule prescribing information. Vfend prescribing information. Noxafil prescribing information. Cresemba prescribing information. Micafungin prescribing information. AmBisome prescribing information. Flucytosine prescribing information. IDSA histoplasmosis guidance. Itraconazole assay interpretation and parent versus combined levels. Mayo Clinic Laboratories ITCON test definition. Parent and active metabolite interpretation. Ashbee et al. British Society for Medical Mycology TDM guideline, 2014. Lutsar et al. Voriconazole concentrations in CSF and brain, 2003. Rouzaud et al. Isavuconazole diffusion in infected human brain, 2019. Two-patient tissue study. Wiederhold et al. Reference laboratory experience with azole blood and CSF concentrations, 2014. Barde et al. Low CNS posaconazole concentrations during cerebral phaeohyphomycosis, 2019. Cornely et al. Global mucormycosis guideline, 2019. Maertens et al. SECURE randomized noninferiority trial, 2016. Maertens et al. Posaconazole versus voriconazole randomized noninferiority trial, 2021. Park et al. Voriconazole TDM randomized trial, 2012. Veringa et al. Multicentre cluster randomized voriconazole TDM trial, 2023. Rezzayo prescribing information. Brexafemme prescribing information. Vivjoa prescribing information. Oliver et al. F901318 inhibits fungal DHODH, 2016. F2G/Shionogi OASIS phase 3 topline announcement, June 18, 2026. Sponsor report. F2G regulatory status statement, October 6, 2026. Sponsor report. Pappas et al. Fosmanogepix candidemia phase 2 trial, 2023. Hodges et al. Fosmanogepix AEGIS phase 2 mold study, 2025. Manogepix susceptibility study, 2026. In vitro activity and important gaps. Basilea 2026 half-year update. Two ongoing phase 3 fosmanogepix studies; sponsor report. Pulmocide Opera-T phase 3 termination announcement, January 7, 2026. Sponsor report. Nguyen et al. Posaconazole exposure and pseudohyperaldosteronism, 2020. Experimental posaconazole cerebral diffusion study, 2026. Animal data, not a clinical treatment recommendation. Global cryptococcosis guideline, ECMM/ISHAM/ASM, 2024. NIH HIV opportunistic infection guidance, cryptococcosis. NIH HIV opportunistic infection guidance, histoplasmosis. IDSA blastomycosis guideline, 2008 (archived). IDSA coccidioidomycosis guideline, 2016. Isavuconazole treatment of cryptococcosis and dimorphic mycoses, VITAL subset, 2016. Nonrandomized study. ESCMID/ECMM systemic phaeohyphomycosis guideline, 2014. In vitro activities of ravuconazole and isavuconazole against dematiaceous fungi, 2020. CDC clinical treatment of C. auris infections, reviewed October 6, 2026. CDC C. auris antifungal susceptibility interpretation, October 1, 2026. CDC C. auris infection control guidance, September 30, 2026. CDC C. auris clinical overview. McHugh et al. Fluconazole resistance in C. parapsilosis blood isolates at a U.S. reference laboratory, 2025. Asner et al. Acquired multidrug resistance in C. lusitaniae during therapy, 2015. PubChem fluconazole compound record, CID 3365. Molecular structure source. PubChem voriconazole compound record, CID 71616. Molecular structure source. PubChem itraconazole compound record, CID 55283. Molecular structure source. PubChem posaconazole compound record, CID 468595. Molecular structure source. PubChem isavuconazole compound record, CID 6918485. Molecular structure source. Hendrix et al. Voriconazole versus itraconazole for the initial and step-down treatment of histoplasmosis: a retrospective cohort. Clinical Infectious Diseases, 2021;73:e3727-e3732. doi:10.1093/cid/ciaa1555.</a:t>
            </a:r>
          </a:p>
          <a:p xmlns:a="http://schemas.openxmlformats.org/drawingml/2006/main">
            <a:r>
              <a:t/>
            </a:r>
          </a:p>
          <a:p xmlns:a="http://schemas.openxmlformats.org/drawingml/2006/main">
            <a:r>
              <a:t>Module section: https://docarcshot.github.io/id-practice-update/lectures/Antifungals_Practical_Primer_Resident_Fellow.html#ref-hendrixhisto</a:t>
            </a:r>
          </a:p>
          <a:p xmlns:a="http://schemas.openxmlformats.org/drawingml/2006/main">
            <a:r>
              <a:t/>
            </a:r>
          </a:p>
          <a:p xmlns:a="http://schemas.openxmlformats.org/drawingml/2006/main">
            <a:r>
              <a:t>Public sources and related reading:</a:t>
            </a:r>
          </a:p>
          <a:p xmlns:a="http://schemas.openxmlformats.org/drawingml/2006/main">
            <a:r>
              <a:t>https://www.idsociety.org/practice-guideline/candidiasis/</a:t>
            </a:r>
          </a:p>
          <a:p xmlns:a="http://schemas.openxmlformats.org/drawingml/2006/main">
            <a:r>
              <a:t>https://www.idsociety.org/practice-guideline/aspergillosis/</a:t>
            </a:r>
          </a:p>
          <a:p xmlns:a="http://schemas.openxmlformats.org/drawingml/2006/main">
            <a:r>
              <a:t>https://www.idsociety.org/globalassets/idsa/practice-guidelines/asper-2026/appendix-a---pharmacology-tables.pdf</a:t>
            </a:r>
          </a:p>
          <a:p xmlns:a="http://schemas.openxmlformats.org/drawingml/2006/main">
            <a:r>
              <a:t>https://dailymed.nlm.nih.gov/dailymed/fda/fdaDrugXsl.cfm?setid=f694c617-3383-416c-91b6-b94fda371204&amp;type=display</a:t>
            </a:r>
          </a:p>
          <a:p xmlns:a="http://schemas.openxmlformats.org/drawingml/2006/main">
            <a:r>
              <a:t>https://dailymed.nlm.nih.gov/dailymed/drugInfo.cfm?setid=a4d555fa-787c-40fb-bb7d-b0d4f7318fd0</a:t>
            </a:r>
          </a:p>
          <a:p xmlns:a="http://schemas.openxmlformats.org/drawingml/2006/main">
            <a:r>
              <a:t>https://dailymed.nlm.nih.gov/dailymed/lookup.cfm?setid=ce3ef5cf-3087-4d92-9d94-9eb8287228db</a:t>
            </a:r>
          </a:p>
          <a:p xmlns:a="http://schemas.openxmlformats.org/drawingml/2006/main">
            <a:r>
              <a:t>https://dailymed.nlm.nih.gov/dailymed/lookup.cfm?setid=b073b082-7b57-4423-8c06-4fd4263d6f84</a:t>
            </a:r>
          </a:p>
          <a:p xmlns:a="http://schemas.openxmlformats.org/drawingml/2006/main">
            <a:r>
              <a:t>https://dailymed.nlm.nih.gov/dailymed/drugInfo.cfm?setid=8f7f73b8-586a-4df0-935f-fecd4696c16c</a:t>
            </a:r>
          </a:p>
          <a:p xmlns:a="http://schemas.openxmlformats.org/drawingml/2006/main">
            <a:r>
              <a:t>https://dailymed.nlm.nih.gov/dailymed/drugInfo.cfm?setid=70b3f044-95ca-4503-b669-ed39972592b6</a:t>
            </a:r>
          </a:p>
          <a:p xmlns:a="http://schemas.openxmlformats.org/drawingml/2006/main">
            <a:r>
              <a:t>https://dailymed.nlm.nih.gov/dailymed/getFile.cfm?setid=f7be6506-4d20-401e-a0ff-02ad7c33158a&amp;type=pdf</a:t>
            </a:r>
          </a:p>
          <a:p xmlns:a="http://schemas.openxmlformats.org/drawingml/2006/main">
            <a:r>
              <a:t>https://dailymed.nlm.nih.gov/dailymed/drugInfo.cfm?setid=5721b46a-4a9f-46c2-8804-a9bad4d5f80a</a:t>
            </a:r>
          </a:p>
          <a:p xmlns:a="http://schemas.openxmlformats.org/drawingml/2006/main">
            <a:r>
              <a:t>https://www.idsociety.org/practice-guideline/histoplasmosis/</a:t>
            </a:r>
          </a:p>
          <a:p xmlns:a="http://schemas.openxmlformats.org/drawingml/2006/main">
            <a:r>
              <a:t>https://www.mayocliniclabs.com/test-catalog/download-setup?format=pdf&amp;unit_code=81247</a:t>
            </a:r>
          </a:p>
          <a:p xmlns:a="http://schemas.openxmlformats.org/drawingml/2006/main">
            <a:r>
              <a:t>https://pmc.ncbi.nlm.nih.gov/articles/PMC3977608/</a:t>
            </a:r>
          </a:p>
          <a:p xmlns:a="http://schemas.openxmlformats.org/drawingml/2006/main">
            <a:r>
              <a:t>https://pubmed.ncbi.nlm.nih.gov/12942409/</a:t>
            </a:r>
          </a:p>
          <a:p xmlns:a="http://schemas.openxmlformats.org/drawingml/2006/main">
            <a:r>
              <a:t>https://journals.asm.org/doi/10.1128/aac.02474-18</a:t>
            </a:r>
          </a:p>
          <a:p xmlns:a="http://schemas.openxmlformats.org/drawingml/2006/main">
            <a:r>
              <a:t>https://pubmed.ncbi.nlm.nih.gov/24189246/</a:t>
            </a:r>
          </a:p>
          <a:p xmlns:a="http://schemas.openxmlformats.org/drawingml/2006/main">
            <a:r>
              <a:t>https://pubmed.ncbi.nlm.nih.gov/31427294/</a:t>
            </a:r>
          </a:p>
          <a:p xmlns:a="http://schemas.openxmlformats.org/drawingml/2006/main">
            <a:r>
              <a:t>https://www.ecmm.info/wp-content/uploads/Cornely-TLID-2019-Global-guideline-for-the-diagnosis-and-management-of-mucormycosis-an-initiative-of-the-ECMM-in-cooperation-with-theMSG-ERC_OC.pdf</a:t>
            </a:r>
          </a:p>
          <a:p xmlns:a="http://schemas.openxmlformats.org/drawingml/2006/main">
            <a:r>
              <a:t>https://pubmed.ncbi.nlm.nih.gov/26684607/</a:t>
            </a:r>
          </a:p>
          <a:p xmlns:a="http://schemas.openxmlformats.org/drawingml/2006/main">
            <a:r>
              <a:t>https://pubmed.ncbi.nlm.nih.gov/33549194/</a:t>
            </a:r>
          </a:p>
          <a:p xmlns:a="http://schemas.openxmlformats.org/drawingml/2006/main">
            <a:r>
              <a:t>https://pubmed.ncbi.nlm.nih.gov/22761409/</a:t>
            </a:r>
          </a:p>
          <a:p xmlns:a="http://schemas.openxmlformats.org/drawingml/2006/main">
            <a:r>
              <a:t>https://pubmed.ncbi.nlm.nih.gov/36642232/</a:t>
            </a:r>
          </a:p>
          <a:p xmlns:a="http://schemas.openxmlformats.org/drawingml/2006/main">
            <a:r>
              <a:t>https://dailymed.nlm.nih.gov/dailymed/drugInfo.cfm?setid=90073508-6dca-4d27-aa5a-ed837737c35b</a:t>
            </a:r>
          </a:p>
          <a:p xmlns:a="http://schemas.openxmlformats.org/drawingml/2006/main">
            <a:r>
              <a:t>https://dailymed.nlm.nih.gov/dailymed/drugInfo.cfm?setid=c33be3a1-c4fd-512c-e053-2995a90a63eb</a:t>
            </a:r>
          </a:p>
          <a:p xmlns:a="http://schemas.openxmlformats.org/drawingml/2006/main">
            <a:r>
              <a:t>https://dailymed.nlm.nih.gov/dailymed/drugInfo.cfm?setid=e21d5008-800e-4417-927f-14340341865f</a:t>
            </a:r>
          </a:p>
          <a:p xmlns:a="http://schemas.openxmlformats.org/drawingml/2006/main">
            <a:r>
              <a:t>https://www.pnas.org/doi/10.1073/pnas.1608304113</a:t>
            </a:r>
          </a:p>
          <a:p xmlns:a="http://schemas.openxmlformats.org/drawingml/2006/main">
            <a:r>
              <a:t>https://www.shionogi.com/global/en/news/2026/06/e20260618_1.html</a:t>
            </a:r>
          </a:p>
          <a:p xmlns:a="http://schemas.openxmlformats.org/drawingml/2006/main">
            <a:r>
              <a:t>https://f2g.com/press-release/f2g-announces-abstracts-accepted-for-oral-and-poster-presentation-at-idweek-2026/</a:t>
            </a:r>
          </a:p>
          <a:p xmlns:a="http://schemas.openxmlformats.org/drawingml/2006/main">
            <a:r>
              <a:t>https://pubmed.ncbi.nlm.nih.gov/37596890/</a:t>
            </a:r>
          </a:p>
          <a:p xmlns:a="http://schemas.openxmlformats.org/drawingml/2006/main">
            <a:r>
              <a:t>https://academic.oup.com/cid/article/81/5/e302/8109478</a:t>
            </a:r>
          </a:p>
          <a:p xmlns:a="http://schemas.openxmlformats.org/drawingml/2006/main">
            <a:r>
              <a:t>https://journals.asm.org/doi/10.1128/aac.00476-26</a:t>
            </a:r>
          </a:p>
          <a:p xmlns:a="http://schemas.openxmlformats.org/drawingml/2006/main">
            <a:r>
              <a:t>https://www.basilea.com/news/news/basilea-reports-strong-2026-half-year-results-and-raises-full-year-guidance-fosmanogepix-phase-3-program-on-track</a:t>
            </a:r>
          </a:p>
          <a:p xmlns:a="http://schemas.openxmlformats.org/drawingml/2006/main">
            <a:r>
              <a:t>https://pulmocide.com/press-release/pulmocide-announces-termination-of-opera-t-phase-3-study-with-opelconazole/</a:t>
            </a:r>
          </a:p>
          <a:p xmlns:a="http://schemas.openxmlformats.org/drawingml/2006/main">
            <a:r>
              <a:t>https://pubmed.ncbi.nlm.nih.gov/31403165/</a:t>
            </a:r>
          </a:p>
          <a:p xmlns:a="http://schemas.openxmlformats.org/drawingml/2006/main">
            <a:r>
              <a:t>https://pubmed.ncbi.nlm.nih.gov/41421212/</a:t>
            </a:r>
          </a:p>
          <a:p xmlns:a="http://schemas.openxmlformats.org/drawingml/2006/main">
            <a:r>
              <a:t>https://pmc.ncbi.nlm.nih.gov/articles/PMC11526416/</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https://clinicalinfo.hiv.gov/en/guidelines/hiv-clinical-guidelines-adult-and-adolescent-opportunistic-infections/histoplasmosis</a:t>
            </a:r>
          </a:p>
          <a:p xmlns:a="http://schemas.openxmlformats.org/drawingml/2006/main">
            <a:r>
              <a:t>https://www.idsociety.org/practice-guideline/blastomycosis/</a:t>
            </a:r>
          </a:p>
          <a:p xmlns:a="http://schemas.openxmlformats.org/drawingml/2006/main">
            <a:r>
              <a:t>https://www.idsociety.org/practice-guideline/coccidioidomycosis/</a:t>
            </a:r>
          </a:p>
          <a:p xmlns:a="http://schemas.openxmlformats.org/drawingml/2006/main">
            <a:r>
              <a:t>https://academic.oup.com/cid/article/63/3/356/2595068</a:t>
            </a:r>
          </a:p>
          <a:p xmlns:a="http://schemas.openxmlformats.org/drawingml/2006/main">
            <a:r>
              <a:t>https://pubmed.ncbi.nlm.nih.gov/24483780/</a:t>
            </a:r>
          </a:p>
          <a:p xmlns:a="http://schemas.openxmlformats.org/drawingml/2006/main">
            <a:r>
              <a:t>https://journals.asm.org/doi/10.1128/aac.00643-20</a:t>
            </a:r>
          </a:p>
          <a:p xmlns:a="http://schemas.openxmlformats.org/drawingml/2006/main">
            <a:r>
              <a:t>https://www.cdc.gov/candida-auris/hcp/clinical-care/index.html</a:t>
            </a:r>
          </a:p>
          <a:p xmlns:a="http://schemas.openxmlformats.org/drawingml/2006/main">
            <a:r>
              <a:t>https://www.cdc.gov/candida-auris/hcp/laboratories/antifungal-susceptibility-testing.html</a:t>
            </a:r>
          </a:p>
          <a:p xmlns:a="http://schemas.openxmlformats.org/drawingml/2006/main">
            <a:r>
              <a:t>https://www.cdc.gov/candida-auris/hcp/infection-control/index.html</a:t>
            </a:r>
          </a:p>
          <a:p xmlns:a="http://schemas.openxmlformats.org/drawingml/2006/main">
            <a:r>
              <a:t>https://www.cdc.gov/candida-auris/hcp/clinical-overview/index.html</a:t>
            </a:r>
          </a:p>
          <a:p xmlns:a="http://schemas.openxmlformats.org/drawingml/2006/main">
            <a:r>
              <a:t>https://pubmed.ncbi.nlm.nih.gov/40360931/</a:t>
            </a:r>
          </a:p>
          <a:p xmlns:a="http://schemas.openxmlformats.org/drawingml/2006/main">
            <a:r>
              <a:t>https://pubmed.ncbi.nlm.nih.gov/26438490/</a:t>
            </a:r>
          </a:p>
          <a:p xmlns:a="http://schemas.openxmlformats.org/drawingml/2006/main">
            <a:r>
              <a:t>https://pubchem.ncbi.nlm.nih.gov/compound/3365</a:t>
            </a:r>
          </a:p>
          <a:p xmlns:a="http://schemas.openxmlformats.org/drawingml/2006/main">
            <a:r>
              <a:t>https://pubchem.ncbi.nlm.nih.gov/compound/71616</a:t>
            </a:r>
          </a:p>
          <a:p xmlns:a="http://schemas.openxmlformats.org/drawingml/2006/main">
            <a:r>
              <a:t>https://pubchem.ncbi.nlm.nih.gov/compound/55283</a:t>
            </a:r>
          </a:p>
          <a:p xmlns:a="http://schemas.openxmlformats.org/drawingml/2006/main">
            <a:r>
              <a:t>https://pubchem.ncbi.nlm.nih.gov/compound/468595</a:t>
            </a:r>
          </a:p>
          <a:p xmlns:a="http://schemas.openxmlformats.org/drawingml/2006/main">
            <a:r>
              <a:t>https://pubchem.ncbi.nlm.nih.gov/compound/6918485</a:t>
            </a:r>
          </a:p>
          <a:p xmlns:a="http://schemas.openxmlformats.org/drawingml/2006/main">
            <a:r>
              <a:t>https://pubmed.ncbi.nlm.nih.gov/33070192/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40e2c174664bd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25f2d5ca564b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2a39daf958643d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2830710fc8f49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e5bc65982a34f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224dd35a66f40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A39DCA-7E12-4D8A-8CC5-8B522C491DD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07784BA-BA02-46F4-8D7B-AD43287721E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294945-C9F0-4B29-A716-41C0613AB06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8B060F-81E0-40C2-8CF2-32E5D9BCAE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AC8B842-7D14-4908-973B-C0082C7DF83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9DB1AA-33DC-40D4-B435-79135BB2FB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66E238-BF4E-4068-A9A5-46E4092FDF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719FC20-6F23-4398-8A4E-9BE5EFC4645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24FB5D-2830-481E-AF12-E27916C508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3787ED-7B5F-411C-A318-835FA09940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6e192d86664b18" /><Relationship Type="http://schemas.openxmlformats.org/officeDocument/2006/relationships/slideLayout" Target="/ppt/slideLayouts/slideLayout1.xml" Id="R178109aa96c549ef" /><Relationship Type="http://schemas.openxmlformats.org/officeDocument/2006/relationships/slideLayout" Target="/ppt/slideLayouts/slideLayout2.xml" Id="R926e12a46c73402b" /><Relationship Type="http://schemas.openxmlformats.org/officeDocument/2006/relationships/slideLayout" Target="/ppt/slideLayouts/slideLayout3.xml" Id="Ra29c84cc5bf34b0e" /><Relationship Type="http://schemas.openxmlformats.org/officeDocument/2006/relationships/slideLayout" Target="/ppt/slideLayouts/slideLayout4.xml" Id="R5cab9b7b908d4f55" /><Relationship Type="http://schemas.openxmlformats.org/officeDocument/2006/relationships/slideLayout" Target="/ppt/slideLayouts/slideLayout5.xml" Id="Rb224d6018c5744f3" /><Relationship Type="http://schemas.openxmlformats.org/officeDocument/2006/relationships/slideLayout" Target="/ppt/slideLayouts/slideLayout6.xml" Id="R302fb71857694e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8109aa96c549ef"/>
    <p:sldLayoutId xmlns:r="http://schemas.openxmlformats.org/officeDocument/2006/relationships" id="2147483650" r:id="R926e12a46c73402b"/>
    <p:sldLayoutId xmlns:r="http://schemas.openxmlformats.org/officeDocument/2006/relationships" id="2147483651" r:id="Ra29c84cc5bf34b0e"/>
    <p:sldLayoutId xmlns:r="http://schemas.openxmlformats.org/officeDocument/2006/relationships" id="2147483652" r:id="R5cab9b7b908d4f55"/>
    <p:sldLayoutId xmlns:r="http://schemas.openxmlformats.org/officeDocument/2006/relationships" id="2147483653" r:id="Rb224d6018c5744f3"/>
    <p:sldLayoutId xmlns:r="http://schemas.openxmlformats.org/officeDocument/2006/relationships" id="2147483654" r:id="R302fb71857694e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28d0e54fe8a4739" /><Relationship Type="http://schemas.openxmlformats.org/officeDocument/2006/relationships/notesSlide" Target="/ppt/notesSlides/notesSlide1.xml" Id="R81aac155a94649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bd38d507ddd4238" /><Relationship Type="http://schemas.openxmlformats.org/officeDocument/2006/relationships/notesSlide" Target="/ppt/notesSlides/notesSlide2.xml" Id="R27645e1122204e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a6e114a14ee4429" /><Relationship Type="http://schemas.openxmlformats.org/officeDocument/2006/relationships/notesSlide" Target="/ppt/notesSlides/notesSlide3.xml" Id="R9299c5a166424c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653297a31b74e7d" /><Relationship Type="http://schemas.openxmlformats.org/officeDocument/2006/relationships/notesSlide" Target="/ppt/notesSlides/notesSlide4.xml" Id="Ra7bdff27c59842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1f6dd724f3b46e1" /><Relationship Type="http://schemas.openxmlformats.org/officeDocument/2006/relationships/notesSlide" Target="/ppt/notesSlides/notesSlide5.xml" Id="R7f634354428d40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72b6c7cce544190" /><Relationship Type="http://schemas.openxmlformats.org/officeDocument/2006/relationships/notesSlide" Target="/ppt/notesSlides/notesSlide6.xml" Id="Rcd5cebe01f7248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1c343e4a4bd4fa2" /><Relationship Type="http://schemas.openxmlformats.org/officeDocument/2006/relationships/notesSlide" Target="/ppt/notesSlides/notesSlide7.xml" Id="Rb64733f4d31f46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2483595ed0542e2" /><Relationship Type="http://schemas.openxmlformats.org/officeDocument/2006/relationships/notesSlide" Target="/ppt/notesSlides/notesSlide8.xml" Id="Ra2ebb6ab2d094f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72fe3d92f5c4561" /><Relationship Type="http://schemas.openxmlformats.org/officeDocument/2006/relationships/notesSlide" Target="/ppt/notesSlides/notesSlide9.xml" Id="R6e29369484e148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251b327bf60456a" /><Relationship Type="http://schemas.openxmlformats.org/officeDocument/2006/relationships/notesSlide" Target="/ppt/notesSlides/notesSlide10.xml" Id="Re8874cdb088840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e29f99f7eed4160" /><Relationship Type="http://schemas.openxmlformats.org/officeDocument/2006/relationships/notesSlide" Target="/ppt/notesSlides/notesSlide11.xml" Id="Rba6cdeb8f9bd4b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2b8c3b2392c4a2c" /><Relationship Type="http://schemas.openxmlformats.org/officeDocument/2006/relationships/notesSlide" Target="/ppt/notesSlides/notesSlide12.xml" Id="R141c4c9c615d4b0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7e232c14aac40d9" /><Relationship Type="http://schemas.openxmlformats.org/officeDocument/2006/relationships/notesSlide" Target="/ppt/notesSlides/notesSlide13.xml" Id="Rbc11726097cf48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2dabee769754b92" /><Relationship Type="http://schemas.openxmlformats.org/officeDocument/2006/relationships/notesSlide" Target="/ppt/notesSlides/notesSlide14.xml" Id="Rca31698309d144b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b8b53d4d2bc4bdc" /><Relationship Type="http://schemas.openxmlformats.org/officeDocument/2006/relationships/notesSlide" Target="/ppt/notesSlides/notesSlide15.xml" Id="R2ba77981c85843e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9f160ec28694f13" /><Relationship Type="http://schemas.openxmlformats.org/officeDocument/2006/relationships/notesSlide" Target="/ppt/notesSlides/notesSlide16.xml" Id="R518b07d233c845d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1453c4c94884dac" /><Relationship Type="http://schemas.openxmlformats.org/officeDocument/2006/relationships/notesSlide" Target="/ppt/notesSlides/notesSlide17.xml" Id="Rdb907940ed4040e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57cfff991604f0b" /><Relationship Type="http://schemas.openxmlformats.org/officeDocument/2006/relationships/notesSlide" Target="/ppt/notesSlides/notesSlide18.xml" Id="R6447a61c3705455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5a545581e2a436a" /><Relationship Type="http://schemas.openxmlformats.org/officeDocument/2006/relationships/notesSlide" Target="/ppt/notesSlides/notesSlide19.xml" Id="R4321ffb5e65640a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0f9925586174d6d" /><Relationship Type="http://schemas.openxmlformats.org/officeDocument/2006/relationships/notesSlide" Target="/ppt/notesSlides/notesSlide20.xml" Id="R8c90cb928168433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6ba4a32e8cd4006" /><Relationship Type="http://schemas.openxmlformats.org/officeDocument/2006/relationships/notesSlide" Target="/ppt/notesSlides/notesSlide21.xml" Id="Rc41e9cadba2c49e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d9ad269ba3e4ea3" /><Relationship Type="http://schemas.openxmlformats.org/officeDocument/2006/relationships/notesSlide" Target="/ppt/notesSlides/notesSlide22.xml" Id="Rc1bfea54bada48b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f01cf23148e4605" /><Relationship Type="http://schemas.openxmlformats.org/officeDocument/2006/relationships/notesSlide" Target="/ppt/notesSlides/notesSlide23.xml" Id="R8929e945974f441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63f3d0de1684732" /><Relationship Type="http://schemas.openxmlformats.org/officeDocument/2006/relationships/notesSlide" Target="/ppt/notesSlides/notesSlide24.xml" Id="Rc40ebb5dbf7045e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ff6c1f8c34e46a3" /><Relationship Type="http://schemas.openxmlformats.org/officeDocument/2006/relationships/notesSlide" Target="/ppt/notesSlides/notesSlide25.xml" Id="R02616d050549452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d9fe9be6eda4d83" /><Relationship Type="http://schemas.openxmlformats.org/officeDocument/2006/relationships/notesSlide" Target="/ppt/notesSlides/notesSlide26.xml" Id="Reeb6354bf94e409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88dcb1af6ae4da8" /><Relationship Type="http://schemas.openxmlformats.org/officeDocument/2006/relationships/notesSlide" Target="/ppt/notesSlides/notesSlide27.xml" Id="R08db568f184e407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1c63fec89b142f0" /><Relationship Type="http://schemas.openxmlformats.org/officeDocument/2006/relationships/notesSlide" Target="/ppt/notesSlides/notesSlide28.xml" Id="Rdb1a21a1581d41a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3fe3e51227b4fe7" /><Relationship Type="http://schemas.openxmlformats.org/officeDocument/2006/relationships/notesSlide" Target="/ppt/notesSlides/notesSlide29.xml" Id="R280065daf8b3417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2dd3bec27bb4dc2" /><Relationship Type="http://schemas.openxmlformats.org/officeDocument/2006/relationships/notesSlide" Target="/ppt/notesSlides/notesSlide30.xml" Id="R9ce51662adbd4ef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504e2c6583848cc" /><Relationship Type="http://schemas.openxmlformats.org/officeDocument/2006/relationships/notesSlide" Target="/ppt/notesSlides/notesSlide31.xml" Id="R45ec013e151649e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67ae2c6959842fa" /><Relationship Type="http://schemas.openxmlformats.org/officeDocument/2006/relationships/notesSlide" Target="/ppt/notesSlides/notesSlide32.xml" Id="R58660bf00dd24f0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4b6f9d0345d4e67" /><Relationship Type="http://schemas.openxmlformats.org/officeDocument/2006/relationships/notesSlide" Target="/ppt/notesSlides/notesSlide33.xml" Id="Rbc781781aa1947d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a67f1474ac545da" /><Relationship Type="http://schemas.openxmlformats.org/officeDocument/2006/relationships/notesSlide" Target="/ppt/notesSlides/notesSlide34.xml" Id="Rd013da0f27d44bd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8ddeb01708346b6" /><Relationship Type="http://schemas.openxmlformats.org/officeDocument/2006/relationships/notesSlide" Target="/ppt/notesSlides/notesSlide35.xml" Id="R9dc058f03b7b4b5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ccb6324d46d1457b" /><Relationship Type="http://schemas.openxmlformats.org/officeDocument/2006/relationships/notesSlide" Target="/ppt/notesSlides/notesSlide36.xml" Id="R89294c5bc7794c2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75b94c4ae7d4070" /><Relationship Type="http://schemas.openxmlformats.org/officeDocument/2006/relationships/notesSlide" Target="/ppt/notesSlides/notesSlide37.xml" Id="R6ea6512a8af84c3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8b3fead8af5a4fec" /><Relationship Type="http://schemas.openxmlformats.org/officeDocument/2006/relationships/notesSlide" Target="/ppt/notesSlides/notesSlide38.xml" Id="R82e80733ef47449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d895d7f94964bae" /><Relationship Type="http://schemas.openxmlformats.org/officeDocument/2006/relationships/notesSlide" Target="/ppt/notesSlides/notesSlide39.xml" Id="R79ce38f471c8455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aa0bb02ae5d34ea2" /><Relationship Type="http://schemas.openxmlformats.org/officeDocument/2006/relationships/notesSlide" Target="/ppt/notesSlides/notesSlide40.xml" Id="R3fce463703a946e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d2c264cfeea24100" /><Relationship Type="http://schemas.openxmlformats.org/officeDocument/2006/relationships/notesSlide" Target="/ppt/notesSlides/notesSlide41.xml" Id="R81a7edc6be0e483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a90d711a03ba4582" /><Relationship Type="http://schemas.openxmlformats.org/officeDocument/2006/relationships/notesSlide" Target="/ppt/notesSlides/notesSlide42.xml" Id="Ra677f8d100cd44f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86345f869f7c47cd" /><Relationship Type="http://schemas.openxmlformats.org/officeDocument/2006/relationships/notesSlide" Target="/ppt/notesSlides/notesSlide43.xml" Id="R9f4b01b774c346d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bf4c66d8f0a54e9d" /><Relationship Type="http://schemas.openxmlformats.org/officeDocument/2006/relationships/notesSlide" Target="/ppt/notesSlides/notesSlide44.xml" Id="R5255e59c175a4fb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98679ab723b54f42" /><Relationship Type="http://schemas.openxmlformats.org/officeDocument/2006/relationships/notesSlide" Target="/ppt/notesSlides/notesSlide45.xml" Id="R632df56f2dad486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e7d8c40e8c90420b" /><Relationship Type="http://schemas.openxmlformats.org/officeDocument/2006/relationships/notesSlide" Target="/ppt/notesSlides/notesSlide46.xml" Id="R5c543fd07f1f45b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5060a8443ea74afc" /><Relationship Type="http://schemas.openxmlformats.org/officeDocument/2006/relationships/notesSlide" Target="/ppt/notesSlides/notesSlide47.xml" Id="R90c81cc93a40415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a9fa23e1a99b4beb" /><Relationship Type="http://schemas.openxmlformats.org/officeDocument/2006/relationships/notesSlide" Target="/ppt/notesSlides/notesSlide48.xml" Id="R0fb0ddde36b44c6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5234b5b4ee64428c" /><Relationship Type="http://schemas.openxmlformats.org/officeDocument/2006/relationships/notesSlide" Target="/ppt/notesSlides/notesSlide49.xml" Id="R172738f9409444e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21d9cf0474fd40f4" /><Relationship Type="http://schemas.openxmlformats.org/officeDocument/2006/relationships/notesSlide" Target="/ppt/notesSlides/notesSlide50.xml" Id="Rd190815d9cbc438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730e0a766b224725" /><Relationship Type="http://schemas.openxmlformats.org/officeDocument/2006/relationships/notesSlide" Target="/ppt/notesSlides/notesSlide51.xml" Id="R7cb23ab8d7ec44a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0054b1eb5b1741d9" /><Relationship Type="http://schemas.openxmlformats.org/officeDocument/2006/relationships/notesSlide" Target="/ppt/notesSlides/notesSlide52.xml" Id="R7fd69445b774495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5936df5158444853" /><Relationship Type="http://schemas.openxmlformats.org/officeDocument/2006/relationships/notesSlide" Target="/ppt/notesSlides/notesSlide53.xml" Id="R3569baf28c37450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ae9bb6c668a94d11" /><Relationship Type="http://schemas.openxmlformats.org/officeDocument/2006/relationships/notesSlide" Target="/ppt/notesSlides/notesSlide54.xml" Id="R4b15e21787574fc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cf0c33a6ca4d49bb" /><Relationship Type="http://schemas.openxmlformats.org/officeDocument/2006/relationships/notesSlide" Target="/ppt/notesSlides/notesSlide55.xml" Id="R64009d9921c7499b"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60f162726429429c" /><Relationship Type="http://schemas.openxmlformats.org/officeDocument/2006/relationships/notesSlide" Target="/ppt/notesSlides/notesSlide56.xml" Id="Rccc1c380a897482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62a6ae86ab4343cd" /><Relationship Type="http://schemas.openxmlformats.org/officeDocument/2006/relationships/notesSlide" Target="/ppt/notesSlides/notesSlide57.xml" Id="R357da9e0473a4b1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2f82c31a32d440ad" /><Relationship Type="http://schemas.openxmlformats.org/officeDocument/2006/relationships/notesSlide" Target="/ppt/notesSlides/notesSlide58.xml" Id="R1821aca08fc740e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c2088d23db9d45f4" /><Relationship Type="http://schemas.openxmlformats.org/officeDocument/2006/relationships/notesSlide" Target="/ppt/notesSlides/notesSlide59.xml" Id="R3ab931d792584e3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42827ce172534cee" /><Relationship Type="http://schemas.openxmlformats.org/officeDocument/2006/relationships/notesSlide" Target="/ppt/notesSlides/notesSlide60.xml" Id="R9de641fb176b4a9d"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f3d552a5b5c74a74" /><Relationship Type="http://schemas.openxmlformats.org/officeDocument/2006/relationships/notesSlide" Target="/ppt/notesSlides/notesSlide61.xml" Id="Rc1ba695bdc564069"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6bffce57407b4e72" /><Relationship Type="http://schemas.openxmlformats.org/officeDocument/2006/relationships/notesSlide" Target="/ppt/notesSlides/notesSlide62.xml" Id="Ra8423cf731b547f3"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63313ac66f32458b" /><Relationship Type="http://schemas.openxmlformats.org/officeDocument/2006/relationships/notesSlide" Target="/ppt/notesSlides/notesSlide63.xml" Id="Rb54c43bc75b44961"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125de631fa0a4b26" /><Relationship Type="http://schemas.openxmlformats.org/officeDocument/2006/relationships/notesSlide" Target="/ppt/notesSlides/notesSlide64.xml" Id="Rc103784676df44b2"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28863ba088e6423c" /><Relationship Type="http://schemas.openxmlformats.org/officeDocument/2006/relationships/notesSlide" Target="/ppt/notesSlides/notesSlide65.xml" Id="Rb92edc4a235a473c"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7e8739809b6944fa" /><Relationship Type="http://schemas.openxmlformats.org/officeDocument/2006/relationships/notesSlide" Target="/ppt/notesSlides/notesSlide66.xml" Id="R40d2007bb033459f"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47f422d0cf514d68" /><Relationship Type="http://schemas.openxmlformats.org/officeDocument/2006/relationships/notesSlide" Target="/ppt/notesSlides/notesSlide67.xml" Id="R236d71eefe094ac9"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0b82a7e2f6fe4a00" /><Relationship Type="http://schemas.openxmlformats.org/officeDocument/2006/relationships/notesSlide" Target="/ppt/notesSlides/notesSlide68.xml" Id="R0831b76231b2483f"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3f9d58aedb2046cb" /><Relationship Type="http://schemas.openxmlformats.org/officeDocument/2006/relationships/notesSlide" Target="/ppt/notesSlides/notesSlide69.xml" Id="R7dcc958e705b4806"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19e5f8c769714b54" /><Relationship Type="http://schemas.openxmlformats.org/officeDocument/2006/relationships/notesSlide" Target="/ppt/notesSlides/notesSlide70.xml" Id="R0aba2d5757f04e48"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cdcce34a141a40e3" /><Relationship Type="http://schemas.openxmlformats.org/officeDocument/2006/relationships/notesSlide" Target="/ppt/notesSlides/notesSlide71.xml" Id="Rd626a266d29a4627"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a1c1d74123ae45c8" /><Relationship Type="http://schemas.openxmlformats.org/officeDocument/2006/relationships/notesSlide" Target="/ppt/notesSlides/notesSlide72.xml" Id="R1a8db7adcd1e4367"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780a63ba822b4934" /><Relationship Type="http://schemas.openxmlformats.org/officeDocument/2006/relationships/notesSlide" Target="/ppt/notesSlides/notesSlide73.xml" Id="R095698a8710b435e"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4465404923fe4f21" /><Relationship Type="http://schemas.openxmlformats.org/officeDocument/2006/relationships/notesSlide" Target="/ppt/notesSlides/notesSlide74.xml" Id="R1bc6d2c848b24e11"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d26f51a5938e485c" /><Relationship Type="http://schemas.openxmlformats.org/officeDocument/2006/relationships/notesSlide" Target="/ppt/notesSlides/notesSlide75.xml" Id="R0d16e7501b8c4f9f"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d0a66dc0b3d2416a" /><Relationship Type="http://schemas.openxmlformats.org/officeDocument/2006/relationships/notesSlide" Target="/ppt/notesSlides/notesSlide76.xml" Id="Rfb9d0287948e4cfa"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db8f672035f944ae" /><Relationship Type="http://schemas.openxmlformats.org/officeDocument/2006/relationships/notesSlide" Target="/ppt/notesSlides/notesSlide77.xml" Id="R985703288e284432"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9d92382824ff4eb5" /><Relationship Type="http://schemas.openxmlformats.org/officeDocument/2006/relationships/notesSlide" Target="/ppt/notesSlides/notesSlide78.xml" Id="R2e670aecea094bd6"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746f388789334dbd" /><Relationship Type="http://schemas.openxmlformats.org/officeDocument/2006/relationships/notesSlide" Target="/ppt/notesSlides/notesSlide79.xml" Id="R1e9200dc632d41b9"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abd4a176d55b4973" /><Relationship Type="http://schemas.openxmlformats.org/officeDocument/2006/relationships/notesSlide" Target="/ppt/notesSlides/notesSlide80.xml" Id="Re0b4bb10ccb74798"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0be28a3899784056" /><Relationship Type="http://schemas.openxmlformats.org/officeDocument/2006/relationships/notesSlide" Target="/ppt/notesSlides/notesSlide81.xml" Id="Rb843723529c344c9"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287d055d47284fef" /><Relationship Type="http://schemas.openxmlformats.org/officeDocument/2006/relationships/notesSlide" Target="/ppt/notesSlides/notesSlide82.xml" Id="R8afb173321c049dc"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534eeb6e927d417a" /><Relationship Type="http://schemas.openxmlformats.org/officeDocument/2006/relationships/notesSlide" Target="/ppt/notesSlides/notesSlide83.xml" Id="R0cd4383634454374"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359460ac95d844ab" /><Relationship Type="http://schemas.openxmlformats.org/officeDocument/2006/relationships/notesSlide" Target="/ppt/notesSlides/notesSlide84.xml" Id="Rb5acdc8a3ed44e96"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4d6caf6e995045b4" /><Relationship Type="http://schemas.openxmlformats.org/officeDocument/2006/relationships/notesSlide" Target="/ppt/notesSlides/notesSlide85.xml" Id="Rfa79254092764c99"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3b3ec9450fa8437d" /><Relationship Type="http://schemas.openxmlformats.org/officeDocument/2006/relationships/notesSlide" Target="/ppt/notesSlides/notesSlide86.xml" Id="Rdc90d847d2eb4e63"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5fb3b773395549ef" /><Relationship Type="http://schemas.openxmlformats.org/officeDocument/2006/relationships/notesSlide" Target="/ppt/notesSlides/notesSlide87.xml" Id="R7f8411074d574530"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b871b78b629e4fec" /><Relationship Type="http://schemas.openxmlformats.org/officeDocument/2006/relationships/notesSlide" Target="/ppt/notesSlides/notesSlide88.xml" Id="Rfb99559872b54eb8"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5d4a75b8a2e043f5" /><Relationship Type="http://schemas.openxmlformats.org/officeDocument/2006/relationships/notesSlide" Target="/ppt/notesSlides/notesSlide89.xml" Id="Rbf888cf9d12148bc"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271003b9ee764022" /><Relationship Type="http://schemas.openxmlformats.org/officeDocument/2006/relationships/notesSlide" Target="/ppt/notesSlides/notesSlide90.xml" Id="Re2a085cf84ee40a6"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8516cb675ac84ce4" /><Relationship Type="http://schemas.openxmlformats.org/officeDocument/2006/relationships/notesSlide" Target="/ppt/notesSlides/notesSlide91.xml" Id="Ra24837ed07494c09"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60024567154a431f" /><Relationship Type="http://schemas.openxmlformats.org/officeDocument/2006/relationships/notesSlide" Target="/ppt/notesSlides/notesSlide92.xml" Id="R4bce140574e24ecf"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6476b9df960c4509" /><Relationship Type="http://schemas.openxmlformats.org/officeDocument/2006/relationships/notesSlide" Target="/ppt/notesSlides/notesSlide93.xml" Id="R2035e50f4198469f"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faef5b39cdc44fe1" /><Relationship Type="http://schemas.openxmlformats.org/officeDocument/2006/relationships/notesSlide" Target="/ppt/notesSlides/notesSlide94.xml" Id="R859d1232672e4e89"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4d4e1f1ccaaf4c82" /><Relationship Type="http://schemas.openxmlformats.org/officeDocument/2006/relationships/notesSlide" Target="/ppt/notesSlides/notesSlide95.xml" Id="R008ecbcaf36044d6"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6aac8aa1959e417b" /><Relationship Type="http://schemas.openxmlformats.org/officeDocument/2006/relationships/notesSlide" Target="/ppt/notesSlides/notesSlide96.xml" Id="R0944fd5c9b6e446e"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fd4c9973c16b4bea" /><Relationship Type="http://schemas.openxmlformats.org/officeDocument/2006/relationships/notesSlide" Target="/ppt/notesSlides/notesSlide97.xml" Id="R2bd7562b872842e7"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39248d24818944ba" /><Relationship Type="http://schemas.openxmlformats.org/officeDocument/2006/relationships/notesSlide" Target="/ppt/notesSlides/notesSlide98.xml" Id="R9248dcd35f9940a1"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608d414b28d34569" /><Relationship Type="http://schemas.openxmlformats.org/officeDocument/2006/relationships/notesSlide" Target="/ppt/notesSlides/notesSlide99.xml" Id="R07d42979afd8447d"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5a644b5cc87c4f9f" /><Relationship Type="http://schemas.openxmlformats.org/officeDocument/2006/relationships/notesSlide" Target="/ppt/notesSlides/notesSlide100.xml" Id="Rc78dff61a32f42eb"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23d36533dd6943d1" /><Relationship Type="http://schemas.openxmlformats.org/officeDocument/2006/relationships/notesSlide" Target="/ppt/notesSlides/notesSlide101.xml" Id="Rf2a4ed30e1074b6e"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2b5b1d8a56a7473b" /><Relationship Type="http://schemas.openxmlformats.org/officeDocument/2006/relationships/notesSlide" Target="/ppt/notesSlides/notesSlide102.xml" Id="Ra00950e3721e43fd"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27c338d296a54db2" /><Relationship Type="http://schemas.openxmlformats.org/officeDocument/2006/relationships/notesSlide" Target="/ppt/notesSlides/notesSlide103.xml" Id="R319efbb917d44b03"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f8d7170611314515" /><Relationship Type="http://schemas.openxmlformats.org/officeDocument/2006/relationships/notesSlide" Target="/ppt/notesSlides/notesSlide104.xml" Id="Rb7198fd10ab64aef"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e7bbd034a47349e9" /><Relationship Type="http://schemas.openxmlformats.org/officeDocument/2006/relationships/image" Target="/ppt/media/image.png" Id="Rf75e018fe30d479d" /><Relationship Type="http://schemas.openxmlformats.org/officeDocument/2006/relationships/notesSlide" Target="/ppt/notesSlides/notesSlide105.xml" Id="R7353f78c65d54ff7"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9a5d21c24af847cc" /><Relationship Type="http://schemas.openxmlformats.org/officeDocument/2006/relationships/notesSlide" Target="/ppt/notesSlides/notesSlide106.xml" Id="R06477e349c2647f3"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6.xml" Id="Rf2fb02ceff354c01" /><Relationship Type="http://schemas.openxmlformats.org/officeDocument/2006/relationships/image" Target="/ppt/media/image2.png" Id="Ra3a0491b3c8645f5" /><Relationship Type="http://schemas.openxmlformats.org/officeDocument/2006/relationships/notesSlide" Target="/ppt/notesSlides/notesSlide107.xml" Id="Rf5c4a9f865234282"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6.xml" Id="R7d90d13bd4a44fcc" /><Relationship Type="http://schemas.openxmlformats.org/officeDocument/2006/relationships/notesSlide" Target="/ppt/notesSlides/notesSlide108.xml" Id="Rab87ef6af0354352"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6.xml" Id="Ra4e32d3d1b5b45ed" /><Relationship Type="http://schemas.openxmlformats.org/officeDocument/2006/relationships/image" Target="/ppt/media/image3.png" Id="R589b3a6b1ec14476" /><Relationship Type="http://schemas.openxmlformats.org/officeDocument/2006/relationships/notesSlide" Target="/ppt/notesSlides/notesSlide109.xml" Id="R4cf953d74bdd42d3"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6.xml" Id="Ra2d6830026bc4237" /><Relationship Type="http://schemas.openxmlformats.org/officeDocument/2006/relationships/notesSlide" Target="/ppt/notesSlides/notesSlide110.xml" Id="R641d7911228f42dd"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6.xml" Id="R9ab9c1fed2ec4ef7" /><Relationship Type="http://schemas.openxmlformats.org/officeDocument/2006/relationships/image" Target="/ppt/media/image4.png" Id="R4d610082e80d465f" /><Relationship Type="http://schemas.openxmlformats.org/officeDocument/2006/relationships/notesSlide" Target="/ppt/notesSlides/notesSlide111.xml" Id="R031b674748f34464"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6.xml" Id="R8d03cee6aa25478a" /><Relationship Type="http://schemas.openxmlformats.org/officeDocument/2006/relationships/notesSlide" Target="/ppt/notesSlides/notesSlide112.xml" Id="Rae8e4c833a66481c"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6.xml" Id="Rf69516acafdb4dd8" /><Relationship Type="http://schemas.openxmlformats.org/officeDocument/2006/relationships/image" Target="/ppt/media/image5.png" Id="Rf814fe9e95e947b4" /><Relationship Type="http://schemas.openxmlformats.org/officeDocument/2006/relationships/notesSlide" Target="/ppt/notesSlides/notesSlide113.xml" Id="R0bdb59d644624037"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6.xml" Id="Rd1193c7028794524" /><Relationship Type="http://schemas.openxmlformats.org/officeDocument/2006/relationships/notesSlide" Target="/ppt/notesSlides/notesSlide114.xml" Id="R49079b9d35ae4ef1"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6.xml" Id="R1f70fc23ec2843d0" /><Relationship Type="http://schemas.openxmlformats.org/officeDocument/2006/relationships/notesSlide" Target="/ppt/notesSlides/notesSlide115.xml" Id="R0230f6c6b96943fa"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6.xml" Id="Rdee4b12b0c9246e7" /><Relationship Type="http://schemas.openxmlformats.org/officeDocument/2006/relationships/notesSlide" Target="/ppt/notesSlides/notesSlide116.xml" Id="Rd4f5cbc82311445c"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6.xml" Id="Rf1f117e677674228" /><Relationship Type="http://schemas.openxmlformats.org/officeDocument/2006/relationships/notesSlide" Target="/ppt/notesSlides/notesSlide117.xml" Id="Rf7b333467c5547ff"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6.xml" Id="R45e5a645e7014ec9" /><Relationship Type="http://schemas.openxmlformats.org/officeDocument/2006/relationships/notesSlide" Target="/ppt/notesSlides/notesSlide118.xml" Id="R1ea5cd77d6884f12"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6.xml" Id="R3a6cae0e479347c4" /><Relationship Type="http://schemas.openxmlformats.org/officeDocument/2006/relationships/notesSlide" Target="/ppt/notesSlides/notesSlide119.xml" Id="Rd01b73d813864269"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6.xml" Id="Rd788dcbeedf5452a" /><Relationship Type="http://schemas.openxmlformats.org/officeDocument/2006/relationships/notesSlide" Target="/ppt/notesSlides/notesSlide120.xml" Id="R6f872e5f721c43bc"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6.xml" Id="R45745f94c59d432b" /><Relationship Type="http://schemas.openxmlformats.org/officeDocument/2006/relationships/notesSlide" Target="/ppt/notesSlides/notesSlide121.xml" Id="Ref8ae866334c47bb"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6.xml" Id="R00b9033313144289" /><Relationship Type="http://schemas.openxmlformats.org/officeDocument/2006/relationships/notesSlide" Target="/ppt/notesSlides/notesSlide122.xml" Id="Re9a63559e8e3424d"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6.xml" Id="Rbf8512f7bea1433d" /><Relationship Type="http://schemas.openxmlformats.org/officeDocument/2006/relationships/notesSlide" Target="/ppt/notesSlides/notesSlide123.xml" Id="Ra8ae661b4874479c"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5b43669f329d42e0" /><Relationship Type="http://schemas.openxmlformats.org/officeDocument/2006/relationships/notesSlide" Target="/ppt/notesSlides/notesSlide124.xml" Id="R7a176bf588fc4b36"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6.xml" Id="R43c932e773af408d" /><Relationship Type="http://schemas.openxmlformats.org/officeDocument/2006/relationships/notesSlide" Target="/ppt/notesSlides/notesSlide125.xml" Id="R69e85733d08145cf"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6.xml" Id="R5051f5eed1634ea6" /><Relationship Type="http://schemas.openxmlformats.org/officeDocument/2006/relationships/notesSlide" Target="/ppt/notesSlides/notesSlide126.xml" Id="Rfc90bded3b864f63"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6.xml" Id="R9cde5ef482e14e04" /><Relationship Type="http://schemas.openxmlformats.org/officeDocument/2006/relationships/notesSlide" Target="/ppt/notesSlides/notesSlide127.xml" Id="Rac0c98d9d11f454d"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6.xml" Id="R842a8bcd7a44456f" /><Relationship Type="http://schemas.openxmlformats.org/officeDocument/2006/relationships/notesSlide" Target="/ppt/notesSlides/notesSlide128.xml" Id="Rf5865179696c4a7e"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6.xml" Id="Rbfa15f9d6f474b57" /><Relationship Type="http://schemas.openxmlformats.org/officeDocument/2006/relationships/notesSlide" Target="/ppt/notesSlides/notesSlide129.xml" Id="R8c85b919b3de437f"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6.xml" Id="R212bd7f17dd24e63" /><Relationship Type="http://schemas.openxmlformats.org/officeDocument/2006/relationships/notesSlide" Target="/ppt/notesSlides/notesSlide130.xml" Id="R00de82fdbf384420"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6.xml" Id="R485dba0d442442be" /><Relationship Type="http://schemas.openxmlformats.org/officeDocument/2006/relationships/notesSlide" Target="/ppt/notesSlides/notesSlide131.xml" Id="Red377de5d215498c"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6.xml" Id="R2acc9f827db74f26" /><Relationship Type="http://schemas.openxmlformats.org/officeDocument/2006/relationships/notesSlide" Target="/ppt/notesSlides/notesSlide132.xml" Id="R0b1e03aff1794a5c"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6.xml" Id="R7261024cc83b4381" /><Relationship Type="http://schemas.openxmlformats.org/officeDocument/2006/relationships/notesSlide" Target="/ppt/notesSlides/notesSlide133.xml" Id="Rb1690da8b2734cfc"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6.xml" Id="Rea531558e9d44ad1" /><Relationship Type="http://schemas.openxmlformats.org/officeDocument/2006/relationships/notesSlide" Target="/ppt/notesSlides/notesSlide134.xml" Id="R0f31e80925144314"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6.xml" Id="R63367eba79064216" /><Relationship Type="http://schemas.openxmlformats.org/officeDocument/2006/relationships/notesSlide" Target="/ppt/notesSlides/notesSlide135.xml" Id="R6c052118f76a404e"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6.xml" Id="R7f054a01df4b4fda" /><Relationship Type="http://schemas.openxmlformats.org/officeDocument/2006/relationships/notesSlide" Target="/ppt/notesSlides/notesSlide136.xml" Id="R91a750199af140e0"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6.xml" Id="R837be2b46f3d410f" /><Relationship Type="http://schemas.openxmlformats.org/officeDocument/2006/relationships/notesSlide" Target="/ppt/notesSlides/notesSlide137.xml" Id="Rfdcbdd9c74b8472f"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6.xml" Id="R7d0062cd3fd74a74" /><Relationship Type="http://schemas.openxmlformats.org/officeDocument/2006/relationships/notesSlide" Target="/ppt/notesSlides/notesSlide138.xml" Id="Ra03bb61eb4994042"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6.xml" Id="R891e01386b3a4b2e" /><Relationship Type="http://schemas.openxmlformats.org/officeDocument/2006/relationships/notesSlide" Target="/ppt/notesSlides/notesSlide139.xml" Id="R6047f8e5be954f27"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6.xml" Id="R575e5e27cf9d4b76" /><Relationship Type="http://schemas.openxmlformats.org/officeDocument/2006/relationships/notesSlide" Target="/ppt/notesSlides/notesSlide140.xml" Id="R7c15610d9b0a404d"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6.xml" Id="Ree800fd7eddf4b07" /><Relationship Type="http://schemas.openxmlformats.org/officeDocument/2006/relationships/notesSlide" Target="/ppt/notesSlides/notesSlide141.xml" Id="Rc90c5fda7869468c"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6.xml" Id="R3f498c783e5b4674" /><Relationship Type="http://schemas.openxmlformats.org/officeDocument/2006/relationships/notesSlide" Target="/ppt/notesSlides/notesSlide142.xml" Id="R6653e45c8f64468d"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6.xml" Id="R2cfdd6069dde4a2d" /><Relationship Type="http://schemas.openxmlformats.org/officeDocument/2006/relationships/notesSlide" Target="/ppt/notesSlides/notesSlide143.xml" Id="Rc117a126feb94309"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6.xml" Id="R3b4587ee6de34985" /><Relationship Type="http://schemas.openxmlformats.org/officeDocument/2006/relationships/notesSlide" Target="/ppt/notesSlides/notesSlide144.xml" Id="R922f025a8e064d30"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6.xml" Id="R33bc7b1639f148a6" /><Relationship Type="http://schemas.openxmlformats.org/officeDocument/2006/relationships/notesSlide" Target="/ppt/notesSlides/notesSlide145.xml" Id="Rb5b8cf34f4b541bb"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6.xml" Id="Re883f4824d3c42bd" /><Relationship Type="http://schemas.openxmlformats.org/officeDocument/2006/relationships/notesSlide" Target="/ppt/notesSlides/notesSlide146.xml" Id="R8b4a250a8b3745e2"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6.xml" Id="R0d402a4c948c4837" /><Relationship Type="http://schemas.openxmlformats.org/officeDocument/2006/relationships/notesSlide" Target="/ppt/notesSlides/notesSlide147.xml" Id="Rf5547101a5934257"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6.xml" Id="Rc100b8614b104e23" /><Relationship Type="http://schemas.openxmlformats.org/officeDocument/2006/relationships/notesSlide" Target="/ppt/notesSlides/notesSlide148.xml" Id="R9a56726174da4a50"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6.xml" Id="Ra24a935994ca4041" /><Relationship Type="http://schemas.openxmlformats.org/officeDocument/2006/relationships/notesSlide" Target="/ppt/notesSlides/notesSlide149.xml" Id="R0da6bcc9db964fe7"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6.xml" Id="R25eeb3d8146c4322" /><Relationship Type="http://schemas.openxmlformats.org/officeDocument/2006/relationships/notesSlide" Target="/ppt/notesSlides/notesSlide150.xml" Id="R3bd246429ce24ba4"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6.xml" Id="R90d60ebd30214473" /><Relationship Type="http://schemas.openxmlformats.org/officeDocument/2006/relationships/notesSlide" Target="/ppt/notesSlides/notesSlide151.xml" Id="R8ca4c38fac694446"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6.xml" Id="Ra73d89bd31a04582" /><Relationship Type="http://schemas.openxmlformats.org/officeDocument/2006/relationships/notesSlide" Target="/ppt/notesSlides/notesSlide152.xml" Id="R3c8dde1517a94ca7"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6.xml" Id="Re189227613714594" /><Relationship Type="http://schemas.openxmlformats.org/officeDocument/2006/relationships/notesSlide" Target="/ppt/notesSlides/notesSlide153.xml" Id="R4fafba83817a4798"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6.xml" Id="R3b9864141c764fd9" /><Relationship Type="http://schemas.openxmlformats.org/officeDocument/2006/relationships/notesSlide" Target="/ppt/notesSlides/notesSlide154.xml" Id="Rd626d00ba6bf4e0a"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6.xml" Id="R656cc5f065e34e7f" /><Relationship Type="http://schemas.openxmlformats.org/officeDocument/2006/relationships/notesSlide" Target="/ppt/notesSlides/notesSlide155.xml" Id="R12ff0208b5ee4b0f"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6.xml" Id="Rde8a3003e1b741cd" /><Relationship Type="http://schemas.openxmlformats.org/officeDocument/2006/relationships/notesSlide" Target="/ppt/notesSlides/notesSlide156.xml" Id="Rc0aad64017c646c2"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6.xml" Id="Rc019f4f2fded4374" /><Relationship Type="http://schemas.openxmlformats.org/officeDocument/2006/relationships/notesSlide" Target="/ppt/notesSlides/notesSlide157.xml" Id="R391277a586484b0d"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6.xml" Id="Rcbd25bb214374fa8" /><Relationship Type="http://schemas.openxmlformats.org/officeDocument/2006/relationships/notesSlide" Target="/ppt/notesSlides/notesSlide158.xml" Id="R9b521aeeb06e415b"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6.xml" Id="R571e4a704e8d47e9" /><Relationship Type="http://schemas.openxmlformats.org/officeDocument/2006/relationships/notesSlide" Target="/ppt/notesSlides/notesSlide159.xml" Id="R249200a6f8254ac1"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6.xml" Id="R1aeef81b852e40c5" /><Relationship Type="http://schemas.openxmlformats.org/officeDocument/2006/relationships/notesSlide" Target="/ppt/notesSlides/notesSlide160.xml" Id="R4cb0390205004e1f"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6.xml" Id="R00d9955e020044d5" /><Relationship Type="http://schemas.openxmlformats.org/officeDocument/2006/relationships/notesSlide" Target="/ppt/notesSlides/notesSlide161.xml" Id="Re4b1877bf0304a3a"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6.xml" Id="Reb44469a35064518" /><Relationship Type="http://schemas.openxmlformats.org/officeDocument/2006/relationships/notesSlide" Target="/ppt/notesSlides/notesSlide162.xml" Id="Rb2b658f52c944ce2"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6.xml" Id="R92175a67ba44491c" /><Relationship Type="http://schemas.openxmlformats.org/officeDocument/2006/relationships/notesSlide" Target="/ppt/notesSlides/notesSlide163.xml" Id="Re180a88f71ce45f7"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6.xml" Id="R3d78af6fb0264b75" /><Relationship Type="http://schemas.openxmlformats.org/officeDocument/2006/relationships/notesSlide" Target="/ppt/notesSlides/notesSlide164.xml" Id="R5f7a2b4c327241a6"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6.xml" Id="Rf1a47401d73d4c5f" /><Relationship Type="http://schemas.openxmlformats.org/officeDocument/2006/relationships/notesSlide" Target="/ppt/notesSlides/notesSlide165.xml" Id="R56a81a00f3a44b05"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6.xml" Id="R5ca6598644884970" /><Relationship Type="http://schemas.openxmlformats.org/officeDocument/2006/relationships/notesSlide" Target="/ppt/notesSlides/notesSlide166.xml" Id="Re9c2c2d55b8b4a1f"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6.xml" Id="Rd04a50e47b394770" /><Relationship Type="http://schemas.openxmlformats.org/officeDocument/2006/relationships/notesSlide" Target="/ppt/notesSlides/notesSlide167.xml" Id="R92186a1642c6468a"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6.xml" Id="R74d4fa9afee14c9f" /><Relationship Type="http://schemas.openxmlformats.org/officeDocument/2006/relationships/notesSlide" Target="/ppt/notesSlides/notesSlide168.xml" Id="R5a4435d342f34637"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6.xml" Id="R791397cd2fa84a52" /><Relationship Type="http://schemas.openxmlformats.org/officeDocument/2006/relationships/notesSlide" Target="/ppt/notesSlides/notesSlide169.xml" Id="R55742edd05364da2"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6.xml" Id="R615aee511b804f2d" /><Relationship Type="http://schemas.openxmlformats.org/officeDocument/2006/relationships/notesSlide" Target="/ppt/notesSlides/notesSlide170.xml" Id="R5312f92f9e1a4341"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6.xml" Id="Rfb6a3cfcf97b425e" /><Relationship Type="http://schemas.openxmlformats.org/officeDocument/2006/relationships/notesSlide" Target="/ppt/notesSlides/notesSlide171.xml" Id="R7cee979b9afa41bd"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6.xml" Id="R43564cc4e5d94953" /><Relationship Type="http://schemas.openxmlformats.org/officeDocument/2006/relationships/notesSlide" Target="/ppt/notesSlides/notesSlide172.xml" Id="Rde2cdaa93a0c4d8a" /></Relationships>
</file>

<file path=ppt/slides/_rels/slide173.xml.rels>&#65279;<?xml version="1.0" encoding="utf-8"?><Relationships xmlns="http://schemas.openxmlformats.org/package/2006/relationships"><Relationship Type="http://schemas.openxmlformats.org/officeDocument/2006/relationships/slideLayout" Target="/ppt/slideLayouts/slideLayout6.xml" Id="Rb1ff30160ae64aad" /><Relationship Type="http://schemas.openxmlformats.org/officeDocument/2006/relationships/notesSlide" Target="/ppt/notesSlides/notesSlide173.xml" Id="R9fbaacbe92de4d2a" /></Relationships>
</file>

<file path=ppt/slides/_rels/slide174.xml.rels>&#65279;<?xml version="1.0" encoding="utf-8"?><Relationships xmlns="http://schemas.openxmlformats.org/package/2006/relationships"><Relationship Type="http://schemas.openxmlformats.org/officeDocument/2006/relationships/slideLayout" Target="/ppt/slideLayouts/slideLayout6.xml" Id="R516cbf588d3244f3" /><Relationship Type="http://schemas.openxmlformats.org/officeDocument/2006/relationships/notesSlide" Target="/ppt/notesSlides/notesSlide174.xml" Id="Ra9bad6fac56c49fe" /></Relationships>
</file>

<file path=ppt/slides/_rels/slide175.xml.rels>&#65279;<?xml version="1.0" encoding="utf-8"?><Relationships xmlns="http://schemas.openxmlformats.org/package/2006/relationships"><Relationship Type="http://schemas.openxmlformats.org/officeDocument/2006/relationships/slideLayout" Target="/ppt/slideLayouts/slideLayout6.xml" Id="R40399446ca384530" /><Relationship Type="http://schemas.openxmlformats.org/officeDocument/2006/relationships/notesSlide" Target="/ppt/notesSlides/notesSlide175.xml" Id="Racc74c09e0c64b5a" /></Relationships>
</file>

<file path=ppt/slides/_rels/slide176.xml.rels>&#65279;<?xml version="1.0" encoding="utf-8"?><Relationships xmlns="http://schemas.openxmlformats.org/package/2006/relationships"><Relationship Type="http://schemas.openxmlformats.org/officeDocument/2006/relationships/slideLayout" Target="/ppt/slideLayouts/slideLayout6.xml" Id="R276acea873874e5f" /><Relationship Type="http://schemas.openxmlformats.org/officeDocument/2006/relationships/notesSlide" Target="/ppt/notesSlides/notesSlide176.xml" Id="Rd680264fe6774cba" /></Relationships>
</file>

<file path=ppt/slides/_rels/slide177.xml.rels>&#65279;<?xml version="1.0" encoding="utf-8"?><Relationships xmlns="http://schemas.openxmlformats.org/package/2006/relationships"><Relationship Type="http://schemas.openxmlformats.org/officeDocument/2006/relationships/slideLayout" Target="/ppt/slideLayouts/slideLayout6.xml" Id="R2d7e528b882d459c" /><Relationship Type="http://schemas.openxmlformats.org/officeDocument/2006/relationships/notesSlide" Target="/ppt/notesSlides/notesSlide177.xml" Id="R448a00d9be3d421f" /></Relationships>
</file>

<file path=ppt/slides/_rels/slide178.xml.rels>&#65279;<?xml version="1.0" encoding="utf-8"?><Relationships xmlns="http://schemas.openxmlformats.org/package/2006/relationships"><Relationship Type="http://schemas.openxmlformats.org/officeDocument/2006/relationships/slideLayout" Target="/ppt/slideLayouts/slideLayout6.xml" Id="R7773efad6f49484b" /><Relationship Type="http://schemas.openxmlformats.org/officeDocument/2006/relationships/notesSlide" Target="/ppt/notesSlides/notesSlide178.xml" Id="Ra5157e5a76c34cbc" /></Relationships>
</file>

<file path=ppt/slides/_rels/slide179.xml.rels>&#65279;<?xml version="1.0" encoding="utf-8"?><Relationships xmlns="http://schemas.openxmlformats.org/package/2006/relationships"><Relationship Type="http://schemas.openxmlformats.org/officeDocument/2006/relationships/slideLayout" Target="/ppt/slideLayouts/slideLayout6.xml" Id="R5f39e2ec1b454007" /><Relationship Type="http://schemas.openxmlformats.org/officeDocument/2006/relationships/notesSlide" Target="/ppt/notesSlides/notesSlide179.xml" Id="R72d159c9dec149e1" /></Relationships>
</file>

<file path=ppt/slides/_rels/slide180.xml.rels>&#65279;<?xml version="1.0" encoding="utf-8"?><Relationships xmlns="http://schemas.openxmlformats.org/package/2006/relationships"><Relationship Type="http://schemas.openxmlformats.org/officeDocument/2006/relationships/slideLayout" Target="/ppt/slideLayouts/slideLayout6.xml" Id="Rf64dee81bec14da3" /><Relationship Type="http://schemas.openxmlformats.org/officeDocument/2006/relationships/notesSlide" Target="/ppt/notesSlides/notesSlide180.xml" Id="Rb15fd1d64b5a49c1" /></Relationships>
</file>

<file path=ppt/slides/_rels/slide181.xml.rels>&#65279;<?xml version="1.0" encoding="utf-8"?><Relationships xmlns="http://schemas.openxmlformats.org/package/2006/relationships"><Relationship Type="http://schemas.openxmlformats.org/officeDocument/2006/relationships/slideLayout" Target="/ppt/slideLayouts/slideLayout6.xml" Id="R2a636df4a38849ab" /><Relationship Type="http://schemas.openxmlformats.org/officeDocument/2006/relationships/notesSlide" Target="/ppt/notesSlides/notesSlide181.xml" Id="Rfdedee3e269b4b9c" /></Relationships>
</file>

<file path=ppt/slides/_rels/slide182.xml.rels>&#65279;<?xml version="1.0" encoding="utf-8"?><Relationships xmlns="http://schemas.openxmlformats.org/package/2006/relationships"><Relationship Type="http://schemas.openxmlformats.org/officeDocument/2006/relationships/slideLayout" Target="/ppt/slideLayouts/slideLayout6.xml" Id="R1b42db16b8334e70" /><Relationship Type="http://schemas.openxmlformats.org/officeDocument/2006/relationships/notesSlide" Target="/ppt/notesSlides/notesSlide182.xml" Id="Rd884d2c35a834628" /></Relationships>
</file>

<file path=ppt/slides/_rels/slide183.xml.rels>&#65279;<?xml version="1.0" encoding="utf-8"?><Relationships xmlns="http://schemas.openxmlformats.org/package/2006/relationships"><Relationship Type="http://schemas.openxmlformats.org/officeDocument/2006/relationships/slideLayout" Target="/ppt/slideLayouts/slideLayout6.xml" Id="Re709f50e2aed4b08" /><Relationship Type="http://schemas.openxmlformats.org/officeDocument/2006/relationships/notesSlide" Target="/ppt/notesSlides/notesSlide183.xml" Id="R4256e13e8be24329" /></Relationships>
</file>

<file path=ppt/slides/_rels/slide184.xml.rels>&#65279;<?xml version="1.0" encoding="utf-8"?><Relationships xmlns="http://schemas.openxmlformats.org/package/2006/relationships"><Relationship Type="http://schemas.openxmlformats.org/officeDocument/2006/relationships/slideLayout" Target="/ppt/slideLayouts/slideLayout6.xml" Id="Rec8796a29e2d41eb" /><Relationship Type="http://schemas.openxmlformats.org/officeDocument/2006/relationships/notesSlide" Target="/ppt/notesSlides/notesSlide184.xml" Id="R488e69dd28a047a4" /></Relationships>
</file>

<file path=ppt/slides/_rels/slide185.xml.rels>&#65279;<?xml version="1.0" encoding="utf-8"?><Relationships xmlns="http://schemas.openxmlformats.org/package/2006/relationships"><Relationship Type="http://schemas.openxmlformats.org/officeDocument/2006/relationships/slideLayout" Target="/ppt/slideLayouts/slideLayout6.xml" Id="Re8625be0c6ca45e0" /><Relationship Type="http://schemas.openxmlformats.org/officeDocument/2006/relationships/notesSlide" Target="/ppt/notesSlides/notesSlide185.xml" Id="R6fa97966e3f34c05" /></Relationships>
</file>

<file path=ppt/slides/_rels/slide186.xml.rels>&#65279;<?xml version="1.0" encoding="utf-8"?><Relationships xmlns="http://schemas.openxmlformats.org/package/2006/relationships"><Relationship Type="http://schemas.openxmlformats.org/officeDocument/2006/relationships/slideLayout" Target="/ppt/slideLayouts/slideLayout6.xml" Id="R395b771a2da94bac" /><Relationship Type="http://schemas.openxmlformats.org/officeDocument/2006/relationships/notesSlide" Target="/ppt/notesSlides/notesSlide186.xml" Id="R8893efda1269442b" /></Relationships>
</file>

<file path=ppt/slides/_rels/slide187.xml.rels>&#65279;<?xml version="1.0" encoding="utf-8"?><Relationships xmlns="http://schemas.openxmlformats.org/package/2006/relationships"><Relationship Type="http://schemas.openxmlformats.org/officeDocument/2006/relationships/slideLayout" Target="/ppt/slideLayouts/slideLayout6.xml" Id="Rad461f97f3ef4d40" /><Relationship Type="http://schemas.openxmlformats.org/officeDocument/2006/relationships/notesSlide" Target="/ppt/notesSlides/notesSlide187.xml" Id="R116e7243825b440b" /></Relationships>
</file>

<file path=ppt/slides/_rels/slide188.xml.rels>&#65279;<?xml version="1.0" encoding="utf-8"?><Relationships xmlns="http://schemas.openxmlformats.org/package/2006/relationships"><Relationship Type="http://schemas.openxmlformats.org/officeDocument/2006/relationships/slideLayout" Target="/ppt/slideLayouts/slideLayout6.xml" Id="R02770bf48ce34c35" /><Relationship Type="http://schemas.openxmlformats.org/officeDocument/2006/relationships/notesSlide" Target="/ppt/notesSlides/notesSlide188.xml" Id="Re4c7355817f34ef8" /></Relationships>
</file>

<file path=ppt/slides/_rels/slide189.xml.rels>&#65279;<?xml version="1.0" encoding="utf-8"?><Relationships xmlns="http://schemas.openxmlformats.org/package/2006/relationships"><Relationship Type="http://schemas.openxmlformats.org/officeDocument/2006/relationships/slideLayout" Target="/ppt/slideLayouts/slideLayout6.xml" Id="Ra72a78c2cf494aa3" /><Relationship Type="http://schemas.openxmlformats.org/officeDocument/2006/relationships/notesSlide" Target="/ppt/notesSlides/notesSlide189.xml" Id="R956a8b7ef1d44474" /></Relationships>
</file>

<file path=ppt/slides/_rels/slide190.xml.rels>&#65279;<?xml version="1.0" encoding="utf-8"?><Relationships xmlns="http://schemas.openxmlformats.org/package/2006/relationships"><Relationship Type="http://schemas.openxmlformats.org/officeDocument/2006/relationships/slideLayout" Target="/ppt/slideLayouts/slideLayout6.xml" Id="R7513e9ae461c4605" /><Relationship Type="http://schemas.openxmlformats.org/officeDocument/2006/relationships/notesSlide" Target="/ppt/notesSlides/notesSlide190.xml" Id="R4620fe7db5ea44a6" /></Relationships>
</file>

<file path=ppt/slides/_rels/slide191.xml.rels>&#65279;<?xml version="1.0" encoding="utf-8"?><Relationships xmlns="http://schemas.openxmlformats.org/package/2006/relationships"><Relationship Type="http://schemas.openxmlformats.org/officeDocument/2006/relationships/slideLayout" Target="/ppt/slideLayouts/slideLayout6.xml" Id="R6b44699c94e44cf4" /><Relationship Type="http://schemas.openxmlformats.org/officeDocument/2006/relationships/notesSlide" Target="/ppt/notesSlides/notesSlide191.xml" Id="Ra209b9db95e34e4a" /></Relationships>
</file>

<file path=ppt/slides/_rels/slide192.xml.rels>&#65279;<?xml version="1.0" encoding="utf-8"?><Relationships xmlns="http://schemas.openxmlformats.org/package/2006/relationships"><Relationship Type="http://schemas.openxmlformats.org/officeDocument/2006/relationships/slideLayout" Target="/ppt/slideLayouts/slideLayout6.xml" Id="R7f09a65559ae4c65" /><Relationship Type="http://schemas.openxmlformats.org/officeDocument/2006/relationships/notesSlide" Target="/ppt/notesSlides/notesSlide192.xml" Id="Rb93533ef69e640af" /></Relationships>
</file>

<file path=ppt/slides/_rels/slide193.xml.rels>&#65279;<?xml version="1.0" encoding="utf-8"?><Relationships xmlns="http://schemas.openxmlformats.org/package/2006/relationships"><Relationship Type="http://schemas.openxmlformats.org/officeDocument/2006/relationships/slideLayout" Target="/ppt/slideLayouts/slideLayout6.xml" Id="Rf9cb8dd3f02d429a" /><Relationship Type="http://schemas.openxmlformats.org/officeDocument/2006/relationships/notesSlide" Target="/ppt/notesSlides/notesSlide193.xml" Id="R32fc1de58cc94307" /></Relationships>
</file>

<file path=ppt/slides/_rels/slide194.xml.rels>&#65279;<?xml version="1.0" encoding="utf-8"?><Relationships xmlns="http://schemas.openxmlformats.org/package/2006/relationships"><Relationship Type="http://schemas.openxmlformats.org/officeDocument/2006/relationships/slideLayout" Target="/ppt/slideLayouts/slideLayout6.xml" Id="R756cc4d1dd9e4105" /><Relationship Type="http://schemas.openxmlformats.org/officeDocument/2006/relationships/notesSlide" Target="/ppt/notesSlides/notesSlide194.xml" Id="Rbf8d8ae374524abb" /></Relationships>
</file>

<file path=ppt/slides/_rels/slide195.xml.rels>&#65279;<?xml version="1.0" encoding="utf-8"?><Relationships xmlns="http://schemas.openxmlformats.org/package/2006/relationships"><Relationship Type="http://schemas.openxmlformats.org/officeDocument/2006/relationships/slideLayout" Target="/ppt/slideLayouts/slideLayout6.xml" Id="R90b86ea1bd864ba0" /><Relationship Type="http://schemas.openxmlformats.org/officeDocument/2006/relationships/notesSlide" Target="/ppt/notesSlides/notesSlide195.xml" Id="R779e7e6ed3ce4f3c" /></Relationships>
</file>

<file path=ppt/slides/_rels/slide196.xml.rels>&#65279;<?xml version="1.0" encoding="utf-8"?><Relationships xmlns="http://schemas.openxmlformats.org/package/2006/relationships"><Relationship Type="http://schemas.openxmlformats.org/officeDocument/2006/relationships/slideLayout" Target="/ppt/slideLayouts/slideLayout6.xml" Id="Raa60259fc9234347" /><Relationship Type="http://schemas.openxmlformats.org/officeDocument/2006/relationships/notesSlide" Target="/ppt/notesSlides/notesSlide196.xml" Id="R133f31272cc14191" /></Relationships>
</file>

<file path=ppt/slides/_rels/slide197.xml.rels>&#65279;<?xml version="1.0" encoding="utf-8"?><Relationships xmlns="http://schemas.openxmlformats.org/package/2006/relationships"><Relationship Type="http://schemas.openxmlformats.org/officeDocument/2006/relationships/slideLayout" Target="/ppt/slideLayouts/slideLayout6.xml" Id="R9ed0af639ce44a3a" /><Relationship Type="http://schemas.openxmlformats.org/officeDocument/2006/relationships/notesSlide" Target="/ppt/notesSlides/notesSlide197.xml" Id="R830c6c06490d4f36" /></Relationships>
</file>

<file path=ppt/slides/_rels/slide198.xml.rels>&#65279;<?xml version="1.0" encoding="utf-8"?><Relationships xmlns="http://schemas.openxmlformats.org/package/2006/relationships"><Relationship Type="http://schemas.openxmlformats.org/officeDocument/2006/relationships/slideLayout" Target="/ppt/slideLayouts/slideLayout6.xml" Id="Re1f445adc0a241ef" /><Relationship Type="http://schemas.openxmlformats.org/officeDocument/2006/relationships/notesSlide" Target="/ppt/notesSlides/notesSlide198.xml" Id="Ra7ece9d992f44e65" /></Relationships>
</file>

<file path=ppt/slides/_rels/slide199.xml.rels>&#65279;<?xml version="1.0" encoding="utf-8"?><Relationships xmlns="http://schemas.openxmlformats.org/package/2006/relationships"><Relationship Type="http://schemas.openxmlformats.org/officeDocument/2006/relationships/slideLayout" Target="/ppt/slideLayouts/slideLayout6.xml" Id="Rc30b047dc151430f" /><Relationship Type="http://schemas.openxmlformats.org/officeDocument/2006/relationships/notesSlide" Target="/ppt/notesSlides/notesSlide199.xml" Id="Rf5c409998d4e4a22" /></Relationships>
</file>

<file path=ppt/slides/_rels/slide200.xml.rels>&#65279;<?xml version="1.0" encoding="utf-8"?><Relationships xmlns="http://schemas.openxmlformats.org/package/2006/relationships"><Relationship Type="http://schemas.openxmlformats.org/officeDocument/2006/relationships/slideLayout" Target="/ppt/slideLayouts/slideLayout6.xml" Id="Rd7801a865b034801" /><Relationship Type="http://schemas.openxmlformats.org/officeDocument/2006/relationships/notesSlide" Target="/ppt/notesSlides/notesSlide200.xml" Id="Raa70340c112342de" /></Relationships>
</file>

<file path=ppt/slides/_rels/slide201.xml.rels>&#65279;<?xml version="1.0" encoding="utf-8"?><Relationships xmlns="http://schemas.openxmlformats.org/package/2006/relationships"><Relationship Type="http://schemas.openxmlformats.org/officeDocument/2006/relationships/slideLayout" Target="/ppt/slideLayouts/slideLayout6.xml" Id="Rbdb520bfc7dc4968" /><Relationship Type="http://schemas.openxmlformats.org/officeDocument/2006/relationships/notesSlide" Target="/ppt/notesSlides/notesSlide201.xml" Id="R384821381c754b05" /></Relationships>
</file>

<file path=ppt/slides/_rels/slide202.xml.rels>&#65279;<?xml version="1.0" encoding="utf-8"?><Relationships xmlns="http://schemas.openxmlformats.org/package/2006/relationships"><Relationship Type="http://schemas.openxmlformats.org/officeDocument/2006/relationships/slideLayout" Target="/ppt/slideLayouts/slideLayout6.xml" Id="Ra2b442ecb02544b2" /><Relationship Type="http://schemas.openxmlformats.org/officeDocument/2006/relationships/notesSlide" Target="/ppt/notesSlides/notesSlide202.xml" Id="Re7beeba19f4d40c7" /></Relationships>
</file>

<file path=ppt/slides/_rels/slide203.xml.rels>&#65279;<?xml version="1.0" encoding="utf-8"?><Relationships xmlns="http://schemas.openxmlformats.org/package/2006/relationships"><Relationship Type="http://schemas.openxmlformats.org/officeDocument/2006/relationships/slideLayout" Target="/ppt/slideLayouts/slideLayout6.xml" Id="R5e6eba92f32f40a6" /><Relationship Type="http://schemas.openxmlformats.org/officeDocument/2006/relationships/notesSlide" Target="/ppt/notesSlides/notesSlide203.xml" Id="Raba0206b84e74a1f" /></Relationships>
</file>

<file path=ppt/slides/_rels/slide204.xml.rels>&#65279;<?xml version="1.0" encoding="utf-8"?><Relationships xmlns="http://schemas.openxmlformats.org/package/2006/relationships"><Relationship Type="http://schemas.openxmlformats.org/officeDocument/2006/relationships/slideLayout" Target="/ppt/slideLayouts/slideLayout6.xml" Id="R8cb607b901194fe7" /><Relationship Type="http://schemas.openxmlformats.org/officeDocument/2006/relationships/notesSlide" Target="/ppt/notesSlides/notesSlide204.xml" Id="R9673c9d0551c42e1" /></Relationships>
</file>

<file path=ppt/slides/_rels/slide205.xml.rels>&#65279;<?xml version="1.0" encoding="utf-8"?><Relationships xmlns="http://schemas.openxmlformats.org/package/2006/relationships"><Relationship Type="http://schemas.openxmlformats.org/officeDocument/2006/relationships/slideLayout" Target="/ppt/slideLayouts/slideLayout6.xml" Id="Rc35459a84cb642c2" /><Relationship Type="http://schemas.openxmlformats.org/officeDocument/2006/relationships/notesSlide" Target="/ppt/notesSlides/notesSlide205.xml" Id="R27b05d89cec1449b"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0715A4-87BC-4BB2-A18E-8699E4E25822}"/>
              </a:ext>
            </a:extLst>
          </p:cNvPr>
          <p:cNvSpPr>
            <a:spLocks xmlns:a="http://schemas.openxmlformats.org/drawingml/2006/main" noGrp="1"/>
          </p:cNvSpPr>
          <p:nvPr/>
        </p:nvSpPr>
        <p:spPr>
          <a:xfrm xmlns:a="http://schemas.openxmlformats.org/drawingml/2006/main">
            <a:off x="685800" y="17145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FFFFF"/>
                </a:solidFill>
                <a:latin typeface="DejaVu Sans"/>
                <a:ea typeface="DejaVu Sans"/>
                <a:cs typeface="DejaVu Sans"/>
              </a:defRPr>
            </a:defPPr>
            <a:lvl1pPr>
              <a:defRPr sz="4200" b="1">
                <a:solidFill>
                  <a:srgbClr val="FFFFFF"/>
                </a:solidFill>
                <a:latin typeface="DejaVu Sans"/>
                <a:ea typeface="DejaVu Sans"/>
                <a:cs typeface="DejaVu Sans"/>
              </a:defRPr>
            </a:lvl1pPr>
            <a:lvl2pPr>
              <a:defRPr sz="4200" b="1">
                <a:solidFill>
                  <a:srgbClr val="FFFFFF"/>
                </a:solidFill>
                <a:latin typeface="DejaVu Sans"/>
                <a:ea typeface="DejaVu Sans"/>
                <a:cs typeface="DejaVu Sans"/>
              </a:defRPr>
            </a:lvl2pPr>
            <a:lvl3pPr>
              <a:defRPr sz="4200" b="1">
                <a:solidFill>
                  <a:srgbClr val="FFFFFF"/>
                </a:solidFill>
                <a:latin typeface="DejaVu Sans"/>
                <a:ea typeface="DejaVu Sans"/>
                <a:cs typeface="DejaVu Sans"/>
              </a:defRPr>
            </a:lvl3pPr>
            <a:lvl4pPr>
              <a:defRPr sz="4200" b="1">
                <a:solidFill>
                  <a:srgbClr val="FFFFFF"/>
                </a:solidFill>
                <a:latin typeface="DejaVu Sans"/>
                <a:ea typeface="DejaVu Sans"/>
                <a:cs typeface="DejaVu Sans"/>
              </a:defRPr>
            </a:lvl4pPr>
            <a:lvl5pPr>
              <a:defRPr sz="4200" b="1">
                <a:solidFill>
                  <a:srgbClr val="FFFFFF"/>
                </a:solidFill>
                <a:latin typeface="DejaVu Sans"/>
                <a:ea typeface="DejaVu Sans"/>
                <a:cs typeface="DejaVu Sans"/>
              </a:defRPr>
            </a:lvl5pPr>
            <a:lvl6pPr>
              <a:defRPr sz="4200" b="1">
                <a:solidFill>
                  <a:srgbClr val="FFFFFF"/>
                </a:solidFill>
                <a:latin typeface="DejaVu Sans"/>
                <a:ea typeface="DejaVu Sans"/>
                <a:cs typeface="DejaVu Sans"/>
              </a:defRPr>
            </a:lvl6pPr>
            <a:lvl7pPr>
              <a:defRPr sz="4200" b="1">
                <a:solidFill>
                  <a:srgbClr val="FFFFFF"/>
                </a:solidFill>
                <a:latin typeface="DejaVu Sans"/>
                <a:ea typeface="DejaVu Sans"/>
                <a:cs typeface="DejaVu Sans"/>
              </a:defRPr>
            </a:lvl7pPr>
            <a:lvl8pPr>
              <a:defRPr sz="4200" b="1">
                <a:solidFill>
                  <a:srgbClr val="FFFFFF"/>
                </a:solidFill>
                <a:latin typeface="DejaVu Sans"/>
                <a:ea typeface="DejaVu Sans"/>
                <a:cs typeface="DejaVu Sans"/>
              </a:defRPr>
            </a:lvl8pPr>
            <a:lvl9pPr>
              <a:defRPr sz="4200" b="1">
                <a:solidFill>
                  <a:srgbClr val="FFFFFF"/>
                </a:solidFill>
                <a:latin typeface="DejaVu Sans"/>
                <a:ea typeface="DejaVu Sans"/>
                <a:cs typeface="DejaVu Sans"/>
              </a:defRPr>
            </a:lvl9pPr>
          </a:lstStyle>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Antifungals: A Practical Primer</a:t>
            </a:r>
          </a:p>
        </p:txBody>
      </p:sp>
      <p:sp>
        <p:nvSpPr>
          <p:cNvPr id="2" name="subtitle">
            <a:extLst xmlns:a="http://schemas.openxmlformats.org/drawingml/2006/main">
              <a:ext uri="{FF2B5EF4-FFF2-40B4-BE49-F238E27FC236}">
                <a16:creationId xmlns:a16="http://schemas.microsoft.com/office/drawing/2014/main" id="{19DC5B67-560E-4C64-8EDC-4E738D4BC038}"/>
              </a:ext>
            </a:extLst>
          </p:cNvPr>
          <p:cNvSpPr>
            <a:spLocks xmlns:a="http://schemas.openxmlformats.org/drawingml/2006/main" noGrp="1"/>
          </p:cNvSpPr>
          <p:nvPr/>
        </p:nvSpPr>
        <p:spPr>
          <a:xfrm xmlns:a="http://schemas.openxmlformats.org/drawingml/2006/main">
            <a:off x="723900" y="514350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D7E8E8"/>
                </a:solidFill>
                <a:latin typeface="DejaVu Sans"/>
                <a:ea typeface="DejaVu Sans"/>
                <a:cs typeface="DejaVu Sans"/>
              </a:defRPr>
            </a:defPPr>
            <a:lvl1pPr>
              <a:defRPr sz="1950" b="0">
                <a:solidFill>
                  <a:srgbClr val="D7E8E8"/>
                </a:solidFill>
                <a:latin typeface="DejaVu Sans"/>
                <a:ea typeface="DejaVu Sans"/>
                <a:cs typeface="DejaVu Sans"/>
              </a:defRPr>
            </a:lvl1pPr>
            <a:lvl2pPr>
              <a:defRPr sz="1950" b="0">
                <a:solidFill>
                  <a:srgbClr val="D7E8E8"/>
                </a:solidFill>
                <a:latin typeface="DejaVu Sans"/>
                <a:ea typeface="DejaVu Sans"/>
                <a:cs typeface="DejaVu Sans"/>
              </a:defRPr>
            </a:lvl2pPr>
            <a:lvl3pPr>
              <a:defRPr sz="1950" b="0">
                <a:solidFill>
                  <a:srgbClr val="D7E8E8"/>
                </a:solidFill>
                <a:latin typeface="DejaVu Sans"/>
                <a:ea typeface="DejaVu Sans"/>
                <a:cs typeface="DejaVu Sans"/>
              </a:defRPr>
            </a:lvl3pPr>
            <a:lvl4pPr>
              <a:defRPr sz="1950" b="0">
                <a:solidFill>
                  <a:srgbClr val="D7E8E8"/>
                </a:solidFill>
                <a:latin typeface="DejaVu Sans"/>
                <a:ea typeface="DejaVu Sans"/>
                <a:cs typeface="DejaVu Sans"/>
              </a:defRPr>
            </a:lvl4pPr>
            <a:lvl5pPr>
              <a:defRPr sz="1950" b="0">
                <a:solidFill>
                  <a:srgbClr val="D7E8E8"/>
                </a:solidFill>
                <a:latin typeface="DejaVu Sans"/>
                <a:ea typeface="DejaVu Sans"/>
                <a:cs typeface="DejaVu Sans"/>
              </a:defRPr>
            </a:lvl5pPr>
            <a:lvl6pPr>
              <a:defRPr sz="1950" b="0">
                <a:solidFill>
                  <a:srgbClr val="D7E8E8"/>
                </a:solidFill>
                <a:latin typeface="DejaVu Sans"/>
                <a:ea typeface="DejaVu Sans"/>
                <a:cs typeface="DejaVu Sans"/>
              </a:defRPr>
            </a:lvl6pPr>
            <a:lvl7pPr>
              <a:defRPr sz="1950" b="0">
                <a:solidFill>
                  <a:srgbClr val="D7E8E8"/>
                </a:solidFill>
                <a:latin typeface="DejaVu Sans"/>
                <a:ea typeface="DejaVu Sans"/>
                <a:cs typeface="DejaVu Sans"/>
              </a:defRPr>
            </a:lvl7pPr>
            <a:lvl8pPr>
              <a:defRPr sz="1950" b="0">
                <a:solidFill>
                  <a:srgbClr val="D7E8E8"/>
                </a:solidFill>
                <a:latin typeface="DejaVu Sans"/>
                <a:ea typeface="DejaVu Sans"/>
                <a:cs typeface="DejaVu Sans"/>
              </a:defRPr>
            </a:lvl8pPr>
            <a:lvl9pPr>
              <a:defRPr sz="1950" b="0">
                <a:solidFill>
                  <a:srgbClr val="D7E8E8"/>
                </a:solidFill>
                <a:latin typeface="DejaVu Sans"/>
                <a:ea typeface="DejaVu Sans"/>
                <a:cs typeface="DejaVu Sans"/>
              </a:defRPr>
            </a:lvl9pPr>
          </a:lstStyle>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ID Practice Update</a:t>
            </a:r>
          </a:p>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Resident teaching and advanced reference</a:t>
            </a:r>
          </a:p>
        </p:txBody>
      </p:sp>
    </p:spTree>
    <p:extLst>
      <p:ext uri="{BB962C8B-B14F-4D97-AF65-F5344CB8AC3E}">
        <p14:creationId xmlns:p14="http://schemas.microsoft.com/office/powerpoint/2010/main" val="14080487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AA93B7C-6553-4435-97D7-A33F4EC3BA0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prescribing</a:t>
            </a:r>
          </a:p>
        </p:txBody>
      </p:sp>
      <p:sp>
        <p:nvSpPr>
          <p:cNvPr id="2" name="paragraph-0">
            <a:extLst xmlns:a="http://schemas.openxmlformats.org/drawingml/2006/main">
              <a:ext uri="{FF2B5EF4-FFF2-40B4-BE49-F238E27FC236}">
                <a16:creationId xmlns:a16="http://schemas.microsoft.com/office/drawing/2014/main" id="{DBE30A5C-70EE-4053-A409-9B89332C1EF5}"/>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primer covers antifungal selection, administration, adverse effects, and monitoring. The resident section is designed for a 30-45 minute discussion, followed by additional pharmacology and evidence for fellows.</a:t>
            </a:r>
          </a:p>
        </p:txBody>
      </p:sp>
      <p:sp>
        <p:nvSpPr>
          <p:cNvPr id="3" name="footer">
            <a:extLst xmlns:a="http://schemas.openxmlformats.org/drawingml/2006/main">
              <a:ext uri="{FF2B5EF4-FFF2-40B4-BE49-F238E27FC236}">
                <a16:creationId xmlns:a16="http://schemas.microsoft.com/office/drawing/2014/main" id="{6E15ECC6-541F-4E4B-B2B5-9E91A0C94B6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A579663-9507-4BBA-92F1-8B1F326F0AE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a:t>
            </a:r>
          </a:p>
        </p:txBody>
      </p:sp>
    </p:spTree>
    <p:extLst>
      <p:ext uri="{BB962C8B-B14F-4D97-AF65-F5344CB8AC3E}">
        <p14:creationId xmlns:p14="http://schemas.microsoft.com/office/powerpoint/2010/main" val="10061258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CB49723-2816-4DA0-B333-16203320D17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Resident core</a:t>
            </a:r>
          </a:p>
        </p:txBody>
      </p:sp>
      <p:sp>
        <p:nvSpPr>
          <p:cNvPr id="2" name="paragraph-0">
            <a:extLst xmlns:a="http://schemas.openxmlformats.org/drawingml/2006/main">
              <a:ext uri="{FF2B5EF4-FFF2-40B4-BE49-F238E27FC236}">
                <a16:creationId xmlns:a16="http://schemas.microsoft.com/office/drawing/2014/main" id="{9AB7DEB3-04F5-4847-ACF9-DA8D1F79C00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Recognize the major coverage gaps, choose a formulation and route, identify toxicities, and arrange monitoring.</a:t>
            </a:r>
          </a:p>
        </p:txBody>
      </p:sp>
      <p:sp>
        <p:nvSpPr>
          <p:cNvPr id="3" name="footer">
            <a:extLst xmlns:a="http://schemas.openxmlformats.org/drawingml/2006/main">
              <a:ext uri="{FF2B5EF4-FFF2-40B4-BE49-F238E27FC236}">
                <a16:creationId xmlns:a16="http://schemas.microsoft.com/office/drawing/2014/main" id="{D157017A-A5E1-4D3A-936E-66ACD0ABF48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08E6BCF-DE86-4299-A8E6-3F597A0AAD4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a:t>
            </a:r>
          </a:p>
        </p:txBody>
      </p:sp>
    </p:spTree>
    <p:extLst>
      <p:ext uri="{BB962C8B-B14F-4D97-AF65-F5344CB8AC3E}">
        <p14:creationId xmlns:p14="http://schemas.microsoft.com/office/powerpoint/2010/main" val="20817800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C9FD665-A762-40E5-8880-DED3557644C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Fellow section</a:t>
            </a:r>
          </a:p>
        </p:txBody>
      </p:sp>
      <p:sp>
        <p:nvSpPr>
          <p:cNvPr id="2" name="paragraph-0">
            <a:extLst xmlns:a="http://schemas.openxmlformats.org/drawingml/2006/main">
              <a:ext uri="{FF2B5EF4-FFF2-40B4-BE49-F238E27FC236}">
                <a16:creationId xmlns:a16="http://schemas.microsoft.com/office/drawing/2014/main" id="{A26CEC8A-7A76-4FDC-A5EF-392B5FF5CB19}"/>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Review the diagnosis, likely organism, severity, infection site, source control, prior antifungal exposure, and drug interactions. Candida from respiratory secretions usually represents colonization; a respiratory isolate alone does not establish invasive disease. [1]</a:t>
            </a:r>
          </a:p>
        </p:txBody>
      </p:sp>
      <p:sp>
        <p:nvSpPr>
          <p:cNvPr id="3" name="paragraph-1">
            <a:extLst xmlns:a="http://schemas.openxmlformats.org/drawingml/2006/main">
              <a:ext uri="{FF2B5EF4-FFF2-40B4-BE49-F238E27FC236}">
                <a16:creationId xmlns:a16="http://schemas.microsoft.com/office/drawing/2014/main" id="{122EB5ED-8C63-4146-BA9F-66555CA45294}"/>
              </a:ext>
            </a:extLst>
          </p:cNvPr>
          <p:cNvSpPr>
            <a:spLocks xmlns:a="http://schemas.openxmlformats.org/drawingml/2006/main" noGrp="1"/>
          </p:cNvSpPr>
          <p:nvPr/>
        </p:nvSpPr>
        <p:spPr>
          <a:xfrm xmlns:a="http://schemas.openxmlformats.org/drawingml/2006/main">
            <a:off x="647700" y="36195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susceptible isolate may still require a different drug because of poor urine, CSF, or vitreous exposure. Abscesses and infected devices also require source control.</a:t>
            </a:r>
          </a:p>
        </p:txBody>
      </p:sp>
      <p:sp>
        <p:nvSpPr>
          <p:cNvPr id="4" name="paragraph-2">
            <a:extLst xmlns:a="http://schemas.openxmlformats.org/drawingml/2006/main">
              <a:ext uri="{FF2B5EF4-FFF2-40B4-BE49-F238E27FC236}">
                <a16:creationId xmlns:a16="http://schemas.microsoft.com/office/drawing/2014/main" id="{90D9C5C6-2433-4F0D-8E1C-AB5ED08D89B9}"/>
              </a:ext>
            </a:extLst>
          </p:cNvPr>
          <p:cNvSpPr>
            <a:spLocks xmlns:a="http://schemas.openxmlformats.org/drawingml/2006/main" noGrp="1"/>
          </p:cNvSpPr>
          <p:nvPr/>
        </p:nvSpPr>
        <p:spPr>
          <a:xfrm xmlns:a="http://schemas.openxmlformats.org/drawingml/2006/main">
            <a:off x="647700" y="49339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 Coverage and species 2 Drug selection and delivery 3 Toxicity and drug levels 4 Bedside decisions</a:t>
            </a:r>
          </a:p>
        </p:txBody>
      </p:sp>
      <p:sp>
        <p:nvSpPr>
          <p:cNvPr id="5" name="footer">
            <a:extLst xmlns:a="http://schemas.openxmlformats.org/drawingml/2006/main">
              <a:ext uri="{FF2B5EF4-FFF2-40B4-BE49-F238E27FC236}">
                <a16:creationId xmlns:a16="http://schemas.microsoft.com/office/drawing/2014/main" id="{9D248119-4784-46B9-8C63-958A2E6E87E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4D1E462E-F850-4257-B7A4-570A0BB289F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a:t>
            </a:r>
          </a:p>
        </p:txBody>
      </p:sp>
    </p:spTree>
    <p:extLst>
      <p:ext uri="{BB962C8B-B14F-4D97-AF65-F5344CB8AC3E}">
        <p14:creationId xmlns:p14="http://schemas.microsoft.com/office/powerpoint/2010/main" val="76010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34C729E-1B58-4D3B-AA14-3EEE858449E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Antifungal classes and mechanisms</a:t>
            </a:r>
          </a:p>
        </p:txBody>
      </p:sp>
      <p:graphicFrame>
        <p:nvGraphicFramePr>
          <p:cNvPr id="2" name="">
            <a:extLst xmlns:a="http://schemas.openxmlformats.org/drawingml/2006/main">
              <a:ext uri="{FF2B5EF4-FFF2-40B4-BE49-F238E27FC236}">
                <a16:creationId xmlns:a16="http://schemas.microsoft.com/office/drawing/2014/main" id="{59994141-926D-4EA9-A09C-B59E13CA928D}"/>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Triazoles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Target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Inhibit fungal lanosterol 14-alpha-demethylase (CYP51), reducing ergosterol synthesis.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Bedside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Spectrum and human CYP interactions differ substantially within the class. Fluconazole lacks Aspergillus and Mucorales activity.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9989C0C-4861-495B-B92D-BE38703BFBE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1F93926-CE77-40F4-86C8-8B6336FFD2C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a:t>
            </a:r>
          </a:p>
        </p:txBody>
      </p:sp>
    </p:spTree>
    <p:extLst>
      <p:ext uri="{BB962C8B-B14F-4D97-AF65-F5344CB8AC3E}">
        <p14:creationId xmlns:p14="http://schemas.microsoft.com/office/powerpoint/2010/main" val="3480608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A91CC00-2874-4EEC-9849-07CADD61DF2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Antifungal classes and mechanisms</a:t>
            </a:r>
          </a:p>
        </p:txBody>
      </p:sp>
      <p:graphicFrame>
        <p:nvGraphicFramePr>
          <p:cNvPr id="2" name="">
            <a:extLst xmlns:a="http://schemas.openxmlformats.org/drawingml/2006/main">
              <a:ext uri="{FF2B5EF4-FFF2-40B4-BE49-F238E27FC236}">
                <a16:creationId xmlns:a16="http://schemas.microsoft.com/office/drawing/2014/main" id="{55B2F823-1688-4FE2-B0A1-C712D21118DC}"/>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Echinocandins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Target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Inhibit beta-1,3-D-glucan synthase in the cell wall.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Bedside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Active against many Candida species. Aspergillus activity does not make micafungin standard primary monotherapy for invasive aspergillosis. No useful Cryptococcus or Mucorales coverage.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E9D6647-AFEF-41DE-9008-A0218AD6EEC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0611B67-846F-4CC5-AE3C-C740AF9F92E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a:t>
            </a:r>
          </a:p>
        </p:txBody>
      </p:sp>
    </p:spTree>
    <p:extLst>
      <p:ext uri="{BB962C8B-B14F-4D97-AF65-F5344CB8AC3E}">
        <p14:creationId xmlns:p14="http://schemas.microsoft.com/office/powerpoint/2010/main" val="16964812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2D39B79-84A6-494D-9902-3DBCDE4A0D5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Antifungal classes and mechanisms</a:t>
            </a:r>
          </a:p>
        </p:txBody>
      </p:sp>
      <p:graphicFrame>
        <p:nvGraphicFramePr>
          <p:cNvPr id="2" name="">
            <a:extLst xmlns:a="http://schemas.openxmlformats.org/drawingml/2006/main">
              <a:ext uri="{FF2B5EF4-FFF2-40B4-BE49-F238E27FC236}">
                <a16:creationId xmlns:a16="http://schemas.microsoft.com/office/drawing/2014/main" id="{F40E5604-6A5E-4BB9-8338-5B8C83D55A07}"/>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Amphotericin 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Target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Binds ergosterol and disrupts fungal membranes.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Bedside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Broad yeast and mold activity, with clinically important resistant species. Formulation determines toxicity and distribution.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0DAE878-6C57-4475-AFCF-61A5FB6D08E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D6374A5-B9E0-437A-BD95-B7443A37157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a:t>
            </a:r>
          </a:p>
        </p:txBody>
      </p:sp>
    </p:spTree>
    <p:extLst>
      <p:ext uri="{BB962C8B-B14F-4D97-AF65-F5344CB8AC3E}">
        <p14:creationId xmlns:p14="http://schemas.microsoft.com/office/powerpoint/2010/main" val="15136748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4C31A90-3A0C-4A50-8436-02B5ACE1EE6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Antifungal classes and mechanisms</a:t>
            </a:r>
          </a:p>
        </p:txBody>
      </p:sp>
      <p:graphicFrame>
        <p:nvGraphicFramePr>
          <p:cNvPr id="2" name="">
            <a:extLst xmlns:a="http://schemas.openxmlformats.org/drawingml/2006/main">
              <a:ext uri="{FF2B5EF4-FFF2-40B4-BE49-F238E27FC236}">
                <a16:creationId xmlns:a16="http://schemas.microsoft.com/office/drawing/2014/main" id="{F235ABF8-BEC7-4307-9E78-AF5CEA9F4576}"/>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Flucytosine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Target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Converted within fungal cells into metabolites that interfere with RNA and DNA synthesis.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Bedside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Good CNS entry; rapid resistance with monotherapy limits its role to selected combination regimens.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B48D4C9-FAA8-4841-9B58-8F0DB394816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0BFB7CB-93AC-44E5-8933-267467EEEAF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a:t>
            </a:r>
          </a:p>
        </p:txBody>
      </p:sp>
    </p:spTree>
    <p:extLst>
      <p:ext uri="{BB962C8B-B14F-4D97-AF65-F5344CB8AC3E}">
        <p14:creationId xmlns:p14="http://schemas.microsoft.com/office/powerpoint/2010/main" val="9254415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E06F013-C5E6-46D7-95BE-FC1E86C9CC3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Antifungal classes and mechanisms</a:t>
            </a:r>
          </a:p>
        </p:txBody>
      </p:sp>
      <p:sp>
        <p:nvSpPr>
          <p:cNvPr id="2" name="paragraph-0">
            <a:extLst xmlns:a="http://schemas.openxmlformats.org/drawingml/2006/main">
              <a:ext uri="{FF2B5EF4-FFF2-40B4-BE49-F238E27FC236}">
                <a16:creationId xmlns:a16="http://schemas.microsoft.com/office/drawing/2014/main" id="{AEE37BF3-8A1A-48C8-B0CB-27129143C311}"/>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[4] [2] [11] [19]</a:t>
            </a:r>
          </a:p>
        </p:txBody>
      </p:sp>
      <p:sp>
        <p:nvSpPr>
          <p:cNvPr id="3" name="footer">
            <a:extLst xmlns:a="http://schemas.openxmlformats.org/drawingml/2006/main">
              <a:ext uri="{FF2B5EF4-FFF2-40B4-BE49-F238E27FC236}">
                <a16:creationId xmlns:a16="http://schemas.microsoft.com/office/drawing/2014/main" id="{A3466AC3-4A80-4EDC-9FAB-DFBD8B9A607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D901930-AEDA-4600-89D2-C6D96B62B26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a:t>
            </a:r>
          </a:p>
        </p:txBody>
      </p:sp>
    </p:spTree>
    <p:extLst>
      <p:ext uri="{BB962C8B-B14F-4D97-AF65-F5344CB8AC3E}">
        <p14:creationId xmlns:p14="http://schemas.microsoft.com/office/powerpoint/2010/main" val="174646221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F71D093-028A-4EAC-B317-88B0E9D666E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Coverage of echinocandins, polyenes, and flucytosine</a:t>
            </a:r>
          </a:p>
        </p:txBody>
      </p:sp>
      <p:graphicFrame>
        <p:nvGraphicFramePr>
          <p:cNvPr id="2" name="">
            <a:extLst xmlns:a="http://schemas.openxmlformats.org/drawingml/2006/main">
              <a:ext uri="{FF2B5EF4-FFF2-40B4-BE49-F238E27FC236}">
                <a16:creationId xmlns:a16="http://schemas.microsoft.com/office/drawing/2014/main" id="{92A7505F-CC62-43F2-AE4E-5080F76F459D}"/>
              </a:ext>
            </a:extLst>
          </p:cNvPr>
          <p:cNvGraphicFramePr/>
          <p:nvPr/>
        </p:nvGraphicFramePr>
        <p:xfrm>
          <a:off xmlns:a="http://schemas.openxmlformats.org/drawingml/2006/main" x="647700" y="1866900"/>
          <a:ext xmlns:a="http://schemas.openxmlformats.org/drawingml/2006/main" cx="10896600" cy="27717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Echinocandin: micafungin (Mycamine)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Yeast role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Initial Candida treatment, including many azole-resistant isolates.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Mold role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Aspergillus salvage or selected combination use.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Coverage pitfall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 useful Cryptococcus or Mucorales activity. Trichosporon is another important gap.</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1F862D5-B7FE-4307-8D6E-D76F7A06801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D10345B-C357-43A7-B5C5-1FA032E033C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a:t>
            </a:r>
          </a:p>
        </p:txBody>
      </p:sp>
    </p:spTree>
    <p:extLst>
      <p:ext uri="{BB962C8B-B14F-4D97-AF65-F5344CB8AC3E}">
        <p14:creationId xmlns:p14="http://schemas.microsoft.com/office/powerpoint/2010/main" val="45877594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7FAB275-78B4-4121-A385-55197DD5BFD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Coverage of echinocandins, polyenes, and flucytosine</a:t>
            </a:r>
          </a:p>
        </p:txBody>
      </p:sp>
      <p:graphicFrame>
        <p:nvGraphicFramePr>
          <p:cNvPr id="2" name="">
            <a:extLst xmlns:a="http://schemas.openxmlformats.org/drawingml/2006/main">
              <a:ext uri="{FF2B5EF4-FFF2-40B4-BE49-F238E27FC236}">
                <a16:creationId xmlns:a16="http://schemas.microsoft.com/office/drawing/2014/main" id="{2B458D54-F191-49B7-827D-E9481F4C3B1F}"/>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Polyene: liposomal amphotericin B (AmBisome)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Yeast role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Candida and Cryptococcus treatment roles.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Mold role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Aspergillus and Mucorales activity.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Coverage pitfall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terreus commonly has amphotericin resistance; rare molds need species-specific evaluation.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7FC6935-8773-4E9F-8C4C-4A5419A4AD9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032796A-8A15-432D-98BA-924021B4E37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a:t>
            </a:r>
          </a:p>
        </p:txBody>
      </p:sp>
    </p:spTree>
    <p:extLst>
      <p:ext uri="{BB962C8B-B14F-4D97-AF65-F5344CB8AC3E}">
        <p14:creationId xmlns:p14="http://schemas.microsoft.com/office/powerpoint/2010/main" val="159799612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CED9B46-6D6C-4EE7-8B77-4F8C50B0CCE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Coverage of echinocandins, polyenes, and flucytosine</a:t>
            </a:r>
          </a:p>
        </p:txBody>
      </p:sp>
      <p:graphicFrame>
        <p:nvGraphicFramePr>
          <p:cNvPr id="2" name="">
            <a:extLst xmlns:a="http://schemas.openxmlformats.org/drawingml/2006/main">
              <a:ext uri="{FF2B5EF4-FFF2-40B4-BE49-F238E27FC236}">
                <a16:creationId xmlns:a16="http://schemas.microsoft.com/office/drawing/2014/main" id="{BB12CDCA-88AF-4145-9316-B14ADF62706F}"/>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Antimetabolite: flucytosine (Ancobon)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Yeast role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Selected Candida and Cryptococcus combinations.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Mold role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Not a broad mold drug.</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Coverage pitfall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 not use as routine monotherapy.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338D883-46FA-4B82-B674-8A0C3EC9990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D3B5C3E-EB6E-49F4-84A1-CB1128A85B5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a:t>
            </a:r>
          </a:p>
        </p:txBody>
      </p:sp>
    </p:spTree>
    <p:extLst>
      <p:ext uri="{BB962C8B-B14F-4D97-AF65-F5344CB8AC3E}">
        <p14:creationId xmlns:p14="http://schemas.microsoft.com/office/powerpoint/2010/main" val="110397159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498DA95-1E7A-4BB4-BE0F-FCB729DAFE6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Coverage of echinocandins, polyenes, and flucytosine</a:t>
            </a:r>
          </a:p>
        </p:txBody>
      </p:sp>
      <p:sp>
        <p:nvSpPr>
          <p:cNvPr id="2" name="paragraph-0">
            <a:extLst xmlns:a="http://schemas.openxmlformats.org/drawingml/2006/main">
              <a:ext uri="{FF2B5EF4-FFF2-40B4-BE49-F238E27FC236}">
                <a16:creationId xmlns:a16="http://schemas.microsoft.com/office/drawing/2014/main" id="{F5E055F0-A3E4-4DAA-BF0D-8E0B1918A27C}"/>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 [2] [19] [11]</a:t>
            </a:r>
          </a:p>
        </p:txBody>
      </p:sp>
      <p:sp>
        <p:nvSpPr>
          <p:cNvPr id="3" name="footer">
            <a:extLst xmlns:a="http://schemas.openxmlformats.org/drawingml/2006/main">
              <a:ext uri="{FF2B5EF4-FFF2-40B4-BE49-F238E27FC236}">
                <a16:creationId xmlns:a16="http://schemas.microsoft.com/office/drawing/2014/main" id="{98C533CC-EEC4-40EA-940C-3E5B5AE6618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2948D90-0786-4E2A-864D-5233DD51E07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a:t>
            </a:r>
          </a:p>
        </p:txBody>
      </p:sp>
    </p:spTree>
    <p:extLst>
      <p:ext uri="{BB962C8B-B14F-4D97-AF65-F5344CB8AC3E}">
        <p14:creationId xmlns:p14="http://schemas.microsoft.com/office/powerpoint/2010/main" val="12508550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C541780-D008-43E1-89B4-27B53DDD51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Azole spectrum</a:t>
            </a:r>
          </a:p>
        </p:txBody>
      </p:sp>
      <p:sp>
        <p:nvSpPr>
          <p:cNvPr id="2" name="paragraph-0">
            <a:extLst xmlns:a="http://schemas.openxmlformats.org/drawingml/2006/main">
              <a:ext uri="{FF2B5EF4-FFF2-40B4-BE49-F238E27FC236}">
                <a16:creationId xmlns:a16="http://schemas.microsoft.com/office/drawing/2014/main" id="{CAC48813-5DDD-4669-855D-84341047CC59}"/>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Azoles are listed by first U.S. approval year. Later agents retain yeast activity while adding coverage of some molds. Species, resistance, and the clinical indication determine which drug is appropriate.</a:t>
            </a:r>
          </a:p>
        </p:txBody>
      </p:sp>
      <p:sp>
        <p:nvSpPr>
          <p:cNvPr id="3" name="footer">
            <a:extLst xmlns:a="http://schemas.openxmlformats.org/drawingml/2006/main">
              <a:ext uri="{FF2B5EF4-FFF2-40B4-BE49-F238E27FC236}">
                <a16:creationId xmlns:a16="http://schemas.microsoft.com/office/drawing/2014/main" id="{0179C26A-C07E-4425-B77C-6B349272EBD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D2EB2BE-9043-4F1A-9B38-DB31435678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a:t>
            </a:r>
          </a:p>
        </p:txBody>
      </p:sp>
    </p:spTree>
    <p:extLst>
      <p:ext uri="{BB962C8B-B14F-4D97-AF65-F5344CB8AC3E}">
        <p14:creationId xmlns:p14="http://schemas.microsoft.com/office/powerpoint/2010/main" val="57803707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C0620EC-982D-4359-87B4-FC5C4F522EE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Azole spectrum</a:t>
            </a:r>
          </a:p>
        </p:txBody>
      </p:sp>
      <p:graphicFrame>
        <p:nvGraphicFramePr>
          <p:cNvPr id="2" name="">
            <a:extLst xmlns:a="http://schemas.openxmlformats.org/drawingml/2006/main">
              <a:ext uri="{FF2B5EF4-FFF2-40B4-BE49-F238E27FC236}">
                <a16:creationId xmlns:a16="http://schemas.microsoft.com/office/drawing/2014/main" id="{F8335535-6A09-4D28-8EBC-EE57AB9CDED2}"/>
              </a:ext>
            </a:extLst>
          </p:cNvPr>
          <p:cNvGraphicFramePr/>
          <p:nvPr/>
        </p:nvGraphicFramePr>
        <p:xfrm>
          <a:off xmlns:a="http://schemas.openxmlformats.org/drawingml/2006/main" x="647700" y="1866900"/>
          <a:ext xmlns:a="http://schemas.openxmlformats.org/drawingml/2006/main" cx="10896600" cy="3200400"/>
        </p:xfrm>
        <a:graphic xmlns:a="http://schemas.openxmlformats.org/drawingml/2006/main">
          <a:graphicData uri="http://schemas.openxmlformats.org/drawingml/2006/table">
            <a:tbl>
              <a:tblPr/>
              <a:tblGrid>
                <a:gridCol w="2179320"/>
                <a:gridCol w="2179320"/>
                <a:gridCol w="2179320"/>
                <a:gridCol w="2179320"/>
                <a:gridCol w="2179320"/>
              </a:tblGrid>
              <a:tr h="800100">
                <a:tc>
                  <a:txBody>
                    <a:bodyPr lIns="114300" tIns="114300" rIns="114300" bIns="114300">
                      <a:noAutofit/>
                    </a:bodyPr>
                    <a:lstStyle/>
                    <a:p>
                      <a:r>
                        <a:rPr sz="1800" b="1">
                          <a:solidFill>
                            <a:srgbClr val="FFFFFF"/>
                          </a:solidFill>
                          <a:latin typeface="DejaVu Sans"/>
                          <a:ea typeface="DejaVu Sans"/>
                          <a:cs typeface="DejaVu Sans"/>
                        </a:rPr>
                        <a:t>Azole / approval</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Candida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Cryptococcus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Aspergillus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Dematiaceous molds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00100">
                <a:tc>
                  <a:txBody>
                    <a:bodyPr lIns="114300" tIns="114300" rIns="114300" bIns="114300">
                      <a:noAutofit/>
                    </a:bodyPr>
                    <a:lstStyle/>
                    <a:p>
                      <a:r>
                        <a:rPr sz="1800" b="0">
                          <a:solidFill>
                            <a:srgbClr val="16323B"/>
                          </a:solidFill>
                          <a:latin typeface="DejaVu Sans"/>
                          <a:ea typeface="DejaVu Sans"/>
                          <a:cs typeface="DejaVu Sans"/>
                        </a:rPr>
                        <a:t>Fluconazole 1990</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Active*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Standard*</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No</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Unreliable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00100">
                <a:tc>
                  <a:txBody>
                    <a:bodyPr lIns="114300" tIns="114300" rIns="114300" bIns="114300">
                      <a:noAutofit/>
                    </a:bodyPr>
                    <a:lstStyle/>
                    <a:p>
                      <a:r>
                        <a:rPr sz="1800" b="0">
                          <a:solidFill>
                            <a:srgbClr val="16323B"/>
                          </a:solidFill>
                          <a:latin typeface="DejaVu Sans"/>
                          <a:ea typeface="DejaVu Sans"/>
                          <a:cs typeface="DejaVu Sans"/>
                        </a:rPr>
                        <a:t>Itraconazole 1992</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Active*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Alternative*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Active*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Many species*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00100">
                <a:tc>
                  <a:txBody>
                    <a:bodyPr lIns="114300" tIns="114300" rIns="114300" bIns="114300">
                      <a:noAutofit/>
                    </a:bodyPr>
                    <a:lstStyle/>
                    <a:p>
                      <a:r>
                        <a:rPr sz="1800" b="0">
                          <a:solidFill>
                            <a:srgbClr val="16323B"/>
                          </a:solidFill>
                          <a:latin typeface="DejaVu Sans"/>
                          <a:ea typeface="DejaVu Sans"/>
                          <a:cs typeface="DejaVu Sans"/>
                        </a:rPr>
                        <a:t>Voriconazole 2002</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Active*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Salvage*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Active*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Many species*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AC792F9-B8EF-475A-A104-23C9BC32F5F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ECD50AD-ADB6-4257-A380-F368AE19826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a:t>
            </a:r>
          </a:p>
        </p:txBody>
      </p:sp>
    </p:spTree>
    <p:extLst>
      <p:ext uri="{BB962C8B-B14F-4D97-AF65-F5344CB8AC3E}">
        <p14:creationId xmlns:p14="http://schemas.microsoft.com/office/powerpoint/2010/main" val="206025859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1419DA7-DD49-4703-B3B0-92B440058CB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Azole spectrum</a:t>
            </a:r>
          </a:p>
        </p:txBody>
      </p:sp>
      <p:graphicFrame>
        <p:nvGraphicFramePr>
          <p:cNvPr id="2" name="">
            <a:extLst xmlns:a="http://schemas.openxmlformats.org/drawingml/2006/main">
              <a:ext uri="{FF2B5EF4-FFF2-40B4-BE49-F238E27FC236}">
                <a16:creationId xmlns:a16="http://schemas.microsoft.com/office/drawing/2014/main" id="{021B3B4F-4676-4CD9-A07C-E2E2A2B97B29}"/>
              </a:ext>
            </a:extLst>
          </p:cNvPr>
          <p:cNvGraphicFramePr/>
          <p:nvPr/>
        </p:nvGraphicFramePr>
        <p:xfrm>
          <a:off xmlns:a="http://schemas.openxmlformats.org/drawingml/2006/main" x="647700" y="1866900"/>
          <a:ext xmlns:a="http://schemas.openxmlformats.org/drawingml/2006/main" cx="10896600" cy="2400300"/>
        </p:xfrm>
        <a:graphic xmlns:a="http://schemas.openxmlformats.org/drawingml/2006/main">
          <a:graphicData uri="http://schemas.openxmlformats.org/drawingml/2006/table">
            <a:tbl>
              <a:tblPr/>
              <a:tblGrid>
                <a:gridCol w="2179320"/>
                <a:gridCol w="2179320"/>
                <a:gridCol w="2179320"/>
                <a:gridCol w="2179320"/>
                <a:gridCol w="2179320"/>
              </a:tblGrid>
              <a:tr h="800100">
                <a:tc>
                  <a:txBody>
                    <a:bodyPr lIns="114300" tIns="114300" rIns="114300" bIns="114300">
                      <a:noAutofit/>
                    </a:bodyPr>
                    <a:lstStyle/>
                    <a:p>
                      <a:r>
                        <a:rPr sz="1800" b="1">
                          <a:solidFill>
                            <a:srgbClr val="FFFFFF"/>
                          </a:solidFill>
                          <a:latin typeface="DejaVu Sans"/>
                          <a:ea typeface="DejaVu Sans"/>
                          <a:cs typeface="DejaVu Sans"/>
                        </a:rPr>
                        <a:t>Azole / approval</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Candida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Cryptococcus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Aspergillus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Dematiaceous molds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00100">
                <a:tc>
                  <a:txBody>
                    <a:bodyPr lIns="114300" tIns="114300" rIns="114300" bIns="114300">
                      <a:noAutofit/>
                    </a:bodyPr>
                    <a:lstStyle/>
                    <a:p>
                      <a:r>
                        <a:rPr sz="1800" b="0">
                          <a:solidFill>
                            <a:srgbClr val="16323B"/>
                          </a:solidFill>
                          <a:latin typeface="DejaVu Sans"/>
                          <a:ea typeface="DejaVu Sans"/>
                          <a:cs typeface="DejaVu Sans"/>
                        </a:rPr>
                        <a:t>Posaconazole 2006</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Active*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Salvage*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Active*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Many species*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00100">
                <a:tc>
                  <a:txBody>
                    <a:bodyPr lIns="114300" tIns="114300" rIns="114300" bIns="114300">
                      <a:noAutofit/>
                    </a:bodyPr>
                    <a:lstStyle/>
                    <a:p>
                      <a:r>
                        <a:rPr sz="1800" b="0">
                          <a:solidFill>
                            <a:srgbClr val="16323B"/>
                          </a:solidFill>
                          <a:latin typeface="DejaVu Sans"/>
                          <a:ea typeface="DejaVu Sans"/>
                          <a:cs typeface="DejaVu Sans"/>
                        </a:rPr>
                        <a:t>Isavuconazole 2015</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In vitro*</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Salvage*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Active*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Variable; limited data*</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9C7B32B-4BF4-4865-934F-C533A92277C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ABD3D57-BDC4-45A8-9181-06742835FAC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a:t>
            </a:r>
          </a:p>
        </p:txBody>
      </p:sp>
    </p:spTree>
    <p:extLst>
      <p:ext uri="{BB962C8B-B14F-4D97-AF65-F5344CB8AC3E}">
        <p14:creationId xmlns:p14="http://schemas.microsoft.com/office/powerpoint/2010/main" val="164446654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CC4A31F-7292-40FD-A942-EB9723BB0A2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Azole spectrum</a:t>
            </a:r>
          </a:p>
        </p:txBody>
      </p:sp>
      <p:graphicFrame>
        <p:nvGraphicFramePr>
          <p:cNvPr id="2" name="">
            <a:extLst xmlns:a="http://schemas.openxmlformats.org/drawingml/2006/main">
              <a:ext uri="{FF2B5EF4-FFF2-40B4-BE49-F238E27FC236}">
                <a16:creationId xmlns:a16="http://schemas.microsoft.com/office/drawing/2014/main" id="{C8972AA4-83F0-40DC-94AA-3D699C6939AC}"/>
              </a:ext>
            </a:extLst>
          </p:cNvPr>
          <p:cNvGraphicFramePr/>
          <p:nvPr/>
        </p:nvGraphicFramePr>
        <p:xfrm>
          <a:off xmlns:a="http://schemas.openxmlformats.org/drawingml/2006/main" x="647700" y="1866900"/>
          <a:ext xmlns:a="http://schemas.openxmlformats.org/drawingml/2006/main" cx="10896600" cy="2057400"/>
        </p:xfrm>
        <a:graphic xmlns:a="http://schemas.openxmlformats.org/drawingml/2006/main">
          <a:graphicData uri="http://schemas.openxmlformats.org/drawingml/2006/table">
            <a:tbl>
              <a:tblPr/>
              <a:tblGrid>
                <a:gridCol w="4362450"/>
                <a:gridCol w="6534150"/>
              </a:tblGrid>
              <a:tr h="514350">
                <a:tc>
                  <a:txBody>
                    <a:bodyPr lIns="114300" tIns="114300" rIns="114300" bIns="114300">
                      <a:noAutofit/>
                    </a:bodyPr>
                    <a:lstStyle/>
                    <a:p>
                      <a:r>
                        <a:rPr sz="1800" b="1">
                          <a:solidFill>
                            <a:srgbClr val="FFFFFF"/>
                          </a:solidFill>
                          <a:latin typeface="DejaVu Sans"/>
                          <a:ea typeface="DejaVu Sans"/>
                          <a:cs typeface="DejaVu Sans"/>
                        </a:rPr>
                        <a:t>Azole / approval</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Mucorales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Fluconazole 1990</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No</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Itraconazole 1992</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Unreliable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Voriconazole 2002</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No</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A0CD2EF-6B83-4B1A-80BF-EE807DDDBF2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76DF709-0E4F-4619-964B-916BFC60ACB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a:t>
            </a:r>
          </a:p>
        </p:txBody>
      </p:sp>
    </p:spTree>
    <p:extLst>
      <p:ext uri="{BB962C8B-B14F-4D97-AF65-F5344CB8AC3E}">
        <p14:creationId xmlns:p14="http://schemas.microsoft.com/office/powerpoint/2010/main" val="120218643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10DDE88-AFFC-40C5-B0E6-CC2974EC4FF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Azole spectrum</a:t>
            </a:r>
          </a:p>
        </p:txBody>
      </p:sp>
      <p:graphicFrame>
        <p:nvGraphicFramePr>
          <p:cNvPr id="2" name="">
            <a:extLst xmlns:a="http://schemas.openxmlformats.org/drawingml/2006/main">
              <a:ext uri="{FF2B5EF4-FFF2-40B4-BE49-F238E27FC236}">
                <a16:creationId xmlns:a16="http://schemas.microsoft.com/office/drawing/2014/main" id="{B9829876-D15D-478E-9885-53F7F8BB4CD9}"/>
              </a:ext>
            </a:extLst>
          </p:cNvPr>
          <p:cNvGraphicFramePr/>
          <p:nvPr/>
        </p:nvGraphicFramePr>
        <p:xfrm>
          <a:off xmlns:a="http://schemas.openxmlformats.org/drawingml/2006/main" x="647700" y="1866900"/>
          <a:ext xmlns:a="http://schemas.openxmlformats.org/drawingml/2006/main" cx="10896600" cy="1543050"/>
        </p:xfrm>
        <a:graphic xmlns:a="http://schemas.openxmlformats.org/drawingml/2006/main">
          <a:graphicData uri="http://schemas.openxmlformats.org/drawingml/2006/table">
            <a:tbl>
              <a:tblPr/>
              <a:tblGrid>
                <a:gridCol w="4362450"/>
                <a:gridCol w="6534150"/>
              </a:tblGrid>
              <a:tr h="514350">
                <a:tc>
                  <a:txBody>
                    <a:bodyPr lIns="114300" tIns="114300" rIns="114300" bIns="114300">
                      <a:noAutofit/>
                    </a:bodyPr>
                    <a:lstStyle/>
                    <a:p>
                      <a:r>
                        <a:rPr sz="1800" b="1">
                          <a:solidFill>
                            <a:srgbClr val="FFFFFF"/>
                          </a:solidFill>
                          <a:latin typeface="DejaVu Sans"/>
                          <a:ea typeface="DejaVu Sans"/>
                          <a:cs typeface="DejaVu Sans"/>
                        </a:rPr>
                        <a:t>Azole / approval</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Mucorales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Posaconazole 2006</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Active*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Isavuconazole 2015</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Active*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BF0D584-6918-4449-B58C-F3AD5AA63AB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A4F4007-32E9-4FE4-85B1-4CFB1A4AB26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a:t>
            </a:r>
          </a:p>
        </p:txBody>
      </p:sp>
    </p:spTree>
    <p:extLst>
      <p:ext uri="{BB962C8B-B14F-4D97-AF65-F5344CB8AC3E}">
        <p14:creationId xmlns:p14="http://schemas.microsoft.com/office/powerpoint/2010/main" val="103404983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20C1A29-1EE6-4393-AEE0-627A870883B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Azole spectrum</a:t>
            </a:r>
          </a:p>
        </p:txBody>
      </p:sp>
      <p:sp>
        <p:nvSpPr>
          <p:cNvPr id="2" name="paragraph-0">
            <a:extLst xmlns:a="http://schemas.openxmlformats.org/drawingml/2006/main">
              <a:ext uri="{FF2B5EF4-FFF2-40B4-BE49-F238E27FC236}">
                <a16:creationId xmlns:a16="http://schemas.microsoft.com/office/drawing/2014/main" id="{8A27A884-B789-4E47-9E74-6896E5C83878}"/>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Green Established activity or a usual clinical role in the specified setting. Amber Alternative/salvage use, reduced effectiveness, or limited clinical evidence. Red Absent or unreliable coverage. *See the organism-specific notes and susceptibility table.</a:t>
            </a:r>
          </a:p>
        </p:txBody>
      </p:sp>
      <p:sp>
        <p:nvSpPr>
          <p:cNvPr id="3" name="footer">
            <a:extLst xmlns:a="http://schemas.openxmlformats.org/drawingml/2006/main">
              <a:ext uri="{FF2B5EF4-FFF2-40B4-BE49-F238E27FC236}">
                <a16:creationId xmlns:a16="http://schemas.microsoft.com/office/drawing/2014/main" id="{937C244F-3893-4F57-AAAF-A6C0F06E1D6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FE75AB9-C7E1-4BE4-BA00-ED9D1126CB1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a:t>
            </a:r>
          </a:p>
        </p:txBody>
      </p:sp>
    </p:spTree>
    <p:extLst>
      <p:ext uri="{BB962C8B-B14F-4D97-AF65-F5344CB8AC3E}">
        <p14:creationId xmlns:p14="http://schemas.microsoft.com/office/powerpoint/2010/main" val="31102100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1880B41-45D2-441F-BC41-735B19609F3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Azole spectrum</a:t>
            </a:r>
          </a:p>
        </p:txBody>
      </p:sp>
      <p:sp>
        <p:nvSpPr>
          <p:cNvPr id="2" name="paragraph-0">
            <a:extLst xmlns:a="http://schemas.openxmlformats.org/drawingml/2006/main">
              <a:ext uri="{FF2B5EF4-FFF2-40B4-BE49-F238E27FC236}">
                <a16:creationId xmlns:a16="http://schemas.microsoft.com/office/drawing/2014/main" id="{591E08D0-05F6-4927-9480-B06242837AE0}"/>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Cryptococcus : fluconazole has established roles in selected pulmonary disease and in consolidation/maintenance after appropriate induction. CNS or disseminated disease usually requires an amphotericin-based induction regimen with flucytosine. Itraconazole is an inferior consolidation alternative; voriconazole, posaconazole, and isavuconazole are selected alternatives or salvage agents with much less evidence. [37] [38]</a:t>
            </a:r>
          </a:p>
        </p:txBody>
      </p:sp>
      <p:sp>
        <p:nvSpPr>
          <p:cNvPr id="3" name="footer">
            <a:extLst xmlns:a="http://schemas.openxmlformats.org/drawingml/2006/main">
              <a:ext uri="{FF2B5EF4-FFF2-40B4-BE49-F238E27FC236}">
                <a16:creationId xmlns:a16="http://schemas.microsoft.com/office/drawing/2014/main" id="{A1D97C06-C1E8-4863-A400-C1F574D5E81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59F8318-27DC-4A16-96DA-23D0C3941F0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a:t>
            </a:r>
          </a:p>
        </p:txBody>
      </p:sp>
    </p:spTree>
    <p:extLst>
      <p:ext uri="{BB962C8B-B14F-4D97-AF65-F5344CB8AC3E}">
        <p14:creationId xmlns:p14="http://schemas.microsoft.com/office/powerpoint/2010/main" val="191127289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C661D98-0C2C-445A-BE09-FD6D4206C55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Azole spectrum</a:t>
            </a:r>
          </a:p>
        </p:txBody>
      </p:sp>
      <p:sp>
        <p:nvSpPr>
          <p:cNvPr id="2" name="paragraph-0">
            <a:extLst xmlns:a="http://schemas.openxmlformats.org/drawingml/2006/main">
              <a:ext uri="{FF2B5EF4-FFF2-40B4-BE49-F238E27FC236}">
                <a16:creationId xmlns:a16="http://schemas.microsoft.com/office/drawing/2014/main" id="{3323EE9B-A8E7-42FF-B6C8-AA531A0637BB}"/>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Suspected invasive mold disease while receiving voriconazole prophylaxis requires consideration of Mucorales, resistant Aspergillus, inadequate exposure, and other molds. Increasing the voriconazole dose does not add Mucorales activity. Aspergillus azole resistance may affect several agents; susceptibility testing should guide a change within the class.</a:t>
            </a:r>
          </a:p>
        </p:txBody>
      </p:sp>
      <p:sp>
        <p:nvSpPr>
          <p:cNvPr id="3" name="footer">
            <a:extLst xmlns:a="http://schemas.openxmlformats.org/drawingml/2006/main">
              <a:ext uri="{FF2B5EF4-FFF2-40B4-BE49-F238E27FC236}">
                <a16:creationId xmlns:a16="http://schemas.microsoft.com/office/drawing/2014/main" id="{2DCCFE62-814B-45AB-8598-93454CF47B3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358AF02-99A2-4143-894B-41510A9BC04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a:t>
            </a:r>
          </a:p>
        </p:txBody>
      </p:sp>
    </p:spTree>
    <p:extLst>
      <p:ext uri="{BB962C8B-B14F-4D97-AF65-F5344CB8AC3E}">
        <p14:creationId xmlns:p14="http://schemas.microsoft.com/office/powerpoint/2010/main" val="79362268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783CF3C-56AF-46A8-B16E-4CF38036A93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Azole activity against endemic fungi</a:t>
            </a:r>
          </a:p>
        </p:txBody>
      </p:sp>
      <p:sp>
        <p:nvSpPr>
          <p:cNvPr id="2" name="paragraph-0">
            <a:extLst xmlns:a="http://schemas.openxmlformats.org/drawingml/2006/main">
              <a:ext uri="{FF2B5EF4-FFF2-40B4-BE49-F238E27FC236}">
                <a16:creationId xmlns:a16="http://schemas.microsoft.com/office/drawing/2014/main" id="{4BE8C281-58CD-4C88-929F-EB670A853FD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Azole selection differs among Histoplasma, Blastomyces, and Coccidioides. The table applies when treatment is indicated. Severe disease may require amphotericin induction.</a:t>
            </a:r>
          </a:p>
        </p:txBody>
      </p:sp>
      <p:sp>
        <p:nvSpPr>
          <p:cNvPr id="3" name="footer">
            <a:extLst xmlns:a="http://schemas.openxmlformats.org/drawingml/2006/main">
              <a:ext uri="{FF2B5EF4-FFF2-40B4-BE49-F238E27FC236}">
                <a16:creationId xmlns:a16="http://schemas.microsoft.com/office/drawing/2014/main" id="{4A43635B-5E6A-4F0A-9746-9C2F12B18D3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753F224-2496-4A2D-88C3-2AB5136ACF5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a:t>
            </a:r>
          </a:p>
        </p:txBody>
      </p:sp>
    </p:spTree>
    <p:extLst>
      <p:ext uri="{BB962C8B-B14F-4D97-AF65-F5344CB8AC3E}">
        <p14:creationId xmlns:p14="http://schemas.microsoft.com/office/powerpoint/2010/main" val="255122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DC535FB-CD56-482C-8AF2-88DD6C0AC71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Azole activity against endemic fungi</a:t>
            </a:r>
          </a:p>
        </p:txBody>
      </p:sp>
      <p:graphicFrame>
        <p:nvGraphicFramePr>
          <p:cNvPr id="2" name="">
            <a:extLst xmlns:a="http://schemas.openxmlformats.org/drawingml/2006/main">
              <a:ext uri="{FF2B5EF4-FFF2-40B4-BE49-F238E27FC236}">
                <a16:creationId xmlns:a16="http://schemas.microsoft.com/office/drawing/2014/main" id="{1DF0DF98-A70F-4567-937F-00A0593D861A}"/>
              </a:ext>
            </a:extLst>
          </p:cNvPr>
          <p:cNvGraphicFramePr/>
          <p:nvPr/>
        </p:nvGraphicFramePr>
        <p:xfrm>
          <a:off xmlns:a="http://schemas.openxmlformats.org/drawingml/2006/main" x="647700" y="1866900"/>
          <a:ext xmlns:a="http://schemas.openxmlformats.org/drawingml/2006/main" cx="10896600" cy="21526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Fluconazole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Histoplasma</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Less effective*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Blastomyces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Less effective*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Coccidioides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Standard*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8D5FBAC-553B-441A-9736-514574654A2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6D185EE-AF49-43E2-8758-88E020BA8DE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a:t>
            </a:r>
          </a:p>
        </p:txBody>
      </p:sp>
    </p:spTree>
    <p:extLst>
      <p:ext uri="{BB962C8B-B14F-4D97-AF65-F5344CB8AC3E}">
        <p14:creationId xmlns:p14="http://schemas.microsoft.com/office/powerpoint/2010/main" val="185934784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711935B-A10B-49B4-BE96-827EE39A259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Azole activity against endemic fungi</a:t>
            </a:r>
          </a:p>
        </p:txBody>
      </p:sp>
      <p:graphicFrame>
        <p:nvGraphicFramePr>
          <p:cNvPr id="2" name="">
            <a:extLst xmlns:a="http://schemas.openxmlformats.org/drawingml/2006/main">
              <a:ext uri="{FF2B5EF4-FFF2-40B4-BE49-F238E27FC236}">
                <a16:creationId xmlns:a16="http://schemas.microsoft.com/office/drawing/2014/main" id="{B1EFBA73-D255-4248-9382-9D5858D4E895}"/>
              </a:ext>
            </a:extLst>
          </p:cNvPr>
          <p:cNvGraphicFramePr/>
          <p:nvPr/>
        </p:nvGraphicFramePr>
        <p:xfrm>
          <a:off xmlns:a="http://schemas.openxmlformats.org/drawingml/2006/main" x="647700" y="1866900"/>
          <a:ext xmlns:a="http://schemas.openxmlformats.org/drawingml/2006/main" cx="10896600" cy="21526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Itraconazole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Histoplasma</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Preferred azole*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Blastomyces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Preferred azole*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Coccidioides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Standard*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DCA4646-A36F-4D21-ADD9-E1514140A59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5BEBBA1-B8AD-4BE9-9C12-5FF33ABC037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24</a:t>
            </a:r>
          </a:p>
        </p:txBody>
      </p:sp>
    </p:spTree>
    <p:extLst>
      <p:ext uri="{BB962C8B-B14F-4D97-AF65-F5344CB8AC3E}">
        <p14:creationId xmlns:p14="http://schemas.microsoft.com/office/powerpoint/2010/main" val="33281151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4AC5CEF-1350-4D4E-8C44-B2766F5C542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Azole activity against endemic fungi</a:t>
            </a:r>
          </a:p>
        </p:txBody>
      </p:sp>
      <p:graphicFrame>
        <p:nvGraphicFramePr>
          <p:cNvPr id="2" name="">
            <a:extLst xmlns:a="http://schemas.openxmlformats.org/drawingml/2006/main">
              <a:ext uri="{FF2B5EF4-FFF2-40B4-BE49-F238E27FC236}">
                <a16:creationId xmlns:a16="http://schemas.microsoft.com/office/drawing/2014/main" id="{737C8566-01C1-4187-B269-E56C06658C43}"/>
              </a:ext>
            </a:extLst>
          </p:cNvPr>
          <p:cNvGraphicFramePr/>
          <p:nvPr/>
        </p:nvGraphicFramePr>
        <p:xfrm>
          <a:off xmlns:a="http://schemas.openxmlformats.org/drawingml/2006/main" x="647700" y="1866900"/>
          <a:ext xmlns:a="http://schemas.openxmlformats.org/drawingml/2006/main" cx="10896600" cy="21526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Voriconazole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Histoplasma</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Not preferred; early mortality concern* [56]</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Blastomyces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Alternative; CNS role*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Coccidioides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Salvage*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581072A-0374-4367-A013-F2E0068B825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CA3BF57-33D8-40B6-A992-567BFFF33FF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25</a:t>
            </a:r>
          </a:p>
        </p:txBody>
      </p:sp>
    </p:spTree>
    <p:extLst>
      <p:ext uri="{BB962C8B-B14F-4D97-AF65-F5344CB8AC3E}">
        <p14:creationId xmlns:p14="http://schemas.microsoft.com/office/powerpoint/2010/main" val="213601203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DE7E035-949D-44B5-A685-F33EDB5E35F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Azole activity against endemic fungi</a:t>
            </a:r>
          </a:p>
        </p:txBody>
      </p:sp>
      <p:graphicFrame>
        <p:nvGraphicFramePr>
          <p:cNvPr id="2" name="">
            <a:extLst xmlns:a="http://schemas.openxmlformats.org/drawingml/2006/main">
              <a:ext uri="{FF2B5EF4-FFF2-40B4-BE49-F238E27FC236}">
                <a16:creationId xmlns:a16="http://schemas.microsoft.com/office/drawing/2014/main" id="{9C5F3AFD-A713-4D0D-967C-256A3998C1F4}"/>
              </a:ext>
            </a:extLst>
          </p:cNvPr>
          <p:cNvGraphicFramePr/>
          <p:nvPr/>
        </p:nvGraphicFramePr>
        <p:xfrm>
          <a:off xmlns:a="http://schemas.openxmlformats.org/drawingml/2006/main" x="647700" y="1866900"/>
          <a:ext xmlns:a="http://schemas.openxmlformats.org/drawingml/2006/main" cx="10896600" cy="21526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Posaconazole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Histoplasma</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Alternative*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Blastomyces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Limited/salvage*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Coccidioides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Salvage*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D090CCB-2284-4B6B-A493-E4F69403E20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7FF6792-5F80-4902-B616-5A56BCBD4A7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26</a:t>
            </a:r>
          </a:p>
        </p:txBody>
      </p:sp>
    </p:spTree>
    <p:extLst>
      <p:ext uri="{BB962C8B-B14F-4D97-AF65-F5344CB8AC3E}">
        <p14:creationId xmlns:p14="http://schemas.microsoft.com/office/powerpoint/2010/main" val="22371757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7B4B81D-6483-4ACC-BEF0-C63B7E51C45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Azole activity against endemic fungi</a:t>
            </a:r>
          </a:p>
        </p:txBody>
      </p:sp>
      <p:graphicFrame>
        <p:nvGraphicFramePr>
          <p:cNvPr id="2" name="">
            <a:extLst xmlns:a="http://schemas.openxmlformats.org/drawingml/2006/main">
              <a:ext uri="{FF2B5EF4-FFF2-40B4-BE49-F238E27FC236}">
                <a16:creationId xmlns:a16="http://schemas.microsoft.com/office/drawing/2014/main" id="{5EFBF708-BFE5-4FFC-9454-904CBF5F833C}"/>
              </a:ext>
            </a:extLst>
          </p:cNvPr>
          <p:cNvGraphicFramePr/>
          <p:nvPr/>
        </p:nvGraphicFramePr>
        <p:xfrm>
          <a:off xmlns:a="http://schemas.openxmlformats.org/drawingml/2006/main" x="647700" y="1866900"/>
          <a:ext xmlns:a="http://schemas.openxmlformats.org/drawingml/2006/main" cx="10896600" cy="21526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Isavuconazole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Histoplasma</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Limited data*</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Blastomyces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Limited data*</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Coccidioides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Alternative/salvage*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6BFE113-1305-4BB9-9AD2-3CE0991DED3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A4BD6F1-00D6-4A5A-9D9F-1F7BBC8CDEC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27</a:t>
            </a:r>
          </a:p>
        </p:txBody>
      </p:sp>
    </p:spTree>
    <p:extLst>
      <p:ext uri="{BB962C8B-B14F-4D97-AF65-F5344CB8AC3E}">
        <p14:creationId xmlns:p14="http://schemas.microsoft.com/office/powerpoint/2010/main" val="21861324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5E963E6-0C2F-42E0-87B3-F9AFC005404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 not substitute voriconazole routinely for itraconazole in histoplasmosis</a:t>
            </a:r>
          </a:p>
        </p:txBody>
      </p:sp>
      <p:sp>
        <p:nvSpPr>
          <p:cNvPr id="2" name="paragraph-0">
            <a:extLst xmlns:a="http://schemas.openxmlformats.org/drawingml/2006/main">
              <a:ext uri="{FF2B5EF4-FFF2-40B4-BE49-F238E27FC236}">
                <a16:creationId xmlns:a16="http://schemas.microsoft.com/office/drawing/2014/main" id="{29BED060-1E9F-417B-83EF-33A9E050DE7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Itraconazole remains the preferred azole. Voriconazole has antifungal activity against Histoplasma, but a retrospective comparison found higher early mortality with voriconazole. It should not be used as a routine substitute for itraconazole. [56]</a:t>
            </a:r>
          </a:p>
        </p:txBody>
      </p:sp>
      <p:sp>
        <p:nvSpPr>
          <p:cNvPr id="3" name="paragraph-1">
            <a:extLst xmlns:a="http://schemas.openxmlformats.org/drawingml/2006/main">
              <a:ext uri="{FF2B5EF4-FFF2-40B4-BE49-F238E27FC236}">
                <a16:creationId xmlns:a16="http://schemas.microsoft.com/office/drawing/2014/main" id="{8D9D71A0-F384-413B-8D9F-39460B38B5C4}"/>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[12] [39] [40] [41] [42]</a:t>
            </a:r>
          </a:p>
        </p:txBody>
      </p:sp>
      <p:sp>
        <p:nvSpPr>
          <p:cNvPr id="4" name="footer">
            <a:extLst xmlns:a="http://schemas.openxmlformats.org/drawingml/2006/main">
              <a:ext uri="{FF2B5EF4-FFF2-40B4-BE49-F238E27FC236}">
                <a16:creationId xmlns:a16="http://schemas.microsoft.com/office/drawing/2014/main" id="{CD2E4986-7D1D-4F7A-87E0-752B7537510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7D7DA7F0-9E32-4ABF-AD11-4CDFEA9A629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28</a:t>
            </a:r>
          </a:p>
        </p:txBody>
      </p:sp>
    </p:spTree>
    <p:extLst>
      <p:ext uri="{BB962C8B-B14F-4D97-AF65-F5344CB8AC3E}">
        <p14:creationId xmlns:p14="http://schemas.microsoft.com/office/powerpoint/2010/main" val="3866368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0284FDF-50E7-4A71-BCDA-331B90701F6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Treatment considerations</a:t>
            </a:r>
          </a:p>
        </p:txBody>
      </p:sp>
      <p:sp>
        <p:nvSpPr>
          <p:cNvPr id="2" name="paragraph-0">
            <a:extLst xmlns:a="http://schemas.openxmlformats.org/drawingml/2006/main">
              <a:ext uri="{FF2B5EF4-FFF2-40B4-BE49-F238E27FC236}">
                <a16:creationId xmlns:a16="http://schemas.microsoft.com/office/drawing/2014/main" id="{59CFC7D9-8236-4623-A481-E9F68D821012}"/>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Coccidioides : fluconazole is a standard option, including for meningitis; itraconazole has established roles, particularly in selected nonmeningeal disease. Voriconazole, posaconazole, and isavuconazole have alternative/salvage experience. The fluconazole mold gap in the first table refers to molds such as Aspergillus and Mucorales, not to absence of activity against Coccidioides. [41] [42]</a:t>
            </a:r>
          </a:p>
        </p:txBody>
      </p:sp>
      <p:sp>
        <p:nvSpPr>
          <p:cNvPr id="3" name="paragraph-1">
            <a:extLst xmlns:a="http://schemas.openxmlformats.org/drawingml/2006/main">
              <a:ext uri="{FF2B5EF4-FFF2-40B4-BE49-F238E27FC236}">
                <a16:creationId xmlns:a16="http://schemas.microsoft.com/office/drawing/2014/main" id="{D66426EE-20B0-47E2-A080-D5139105D334}"/>
              </a:ext>
            </a:extLst>
          </p:cNvPr>
          <p:cNvSpPr>
            <a:spLocks xmlns:a="http://schemas.openxmlformats.org/drawingml/2006/main" noGrp="1"/>
          </p:cNvSpPr>
          <p:nvPr/>
        </p:nvSpPr>
        <p:spPr>
          <a:xfrm xmlns:a="http://schemas.openxmlformats.org/drawingml/2006/main">
            <a:off x="647700" y="43243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teaching Dematiaceous molds</a:t>
            </a:r>
          </a:p>
        </p:txBody>
      </p:sp>
      <p:sp>
        <p:nvSpPr>
          <p:cNvPr id="4" name="footer">
            <a:extLst xmlns:a="http://schemas.openxmlformats.org/drawingml/2006/main">
              <a:ext uri="{FF2B5EF4-FFF2-40B4-BE49-F238E27FC236}">
                <a16:creationId xmlns:a16="http://schemas.microsoft.com/office/drawing/2014/main" id="{3C48DC63-4217-45B4-B2A3-BC49E78CFDF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FBDE896D-3B5F-46CA-8B0B-619AB808E92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29</a:t>
            </a:r>
          </a:p>
        </p:txBody>
      </p:sp>
    </p:spTree>
    <p:extLst>
      <p:ext uri="{BB962C8B-B14F-4D97-AF65-F5344CB8AC3E}">
        <p14:creationId xmlns:p14="http://schemas.microsoft.com/office/powerpoint/2010/main" val="59079253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1EBEC43-3210-472C-AFCE-D68C42936A8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Candida species and susceptibility</a:t>
            </a:r>
          </a:p>
        </p:txBody>
      </p:sp>
      <p:sp>
        <p:nvSpPr>
          <p:cNvPr id="2" name="paragraph-0">
            <a:extLst xmlns:a="http://schemas.openxmlformats.org/drawingml/2006/main">
              <a:ext uri="{FF2B5EF4-FFF2-40B4-BE49-F238E27FC236}">
                <a16:creationId xmlns:a16="http://schemas.microsoft.com/office/drawing/2014/main" id="{2EBA569C-D942-4735-BE33-4CC401A925D2}"/>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Species are grouped by usual fluconazole susceptibility, followed by C. auris. Individual isolates may differ. Use the reported susceptibility category and infection site to guide treatment; SDD means susceptible-dose dependent.</a:t>
            </a:r>
          </a:p>
        </p:txBody>
      </p:sp>
      <p:sp>
        <p:nvSpPr>
          <p:cNvPr id="3" name="footer">
            <a:extLst xmlns:a="http://schemas.openxmlformats.org/drawingml/2006/main">
              <a:ext uri="{FF2B5EF4-FFF2-40B4-BE49-F238E27FC236}">
                <a16:creationId xmlns:a16="http://schemas.microsoft.com/office/drawing/2014/main" id="{DE64837A-B7E0-477A-AA70-BFA5A02558F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343D823-CA2A-41F6-B19F-06A9D471ADC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30</a:t>
            </a:r>
          </a:p>
        </p:txBody>
      </p:sp>
    </p:spTree>
    <p:extLst>
      <p:ext uri="{BB962C8B-B14F-4D97-AF65-F5344CB8AC3E}">
        <p14:creationId xmlns:p14="http://schemas.microsoft.com/office/powerpoint/2010/main" val="42120280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C9D30EB-B7AC-4DE0-88A9-68C3A7FF338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Candida species and susceptibility</a:t>
            </a:r>
          </a:p>
        </p:txBody>
      </p:sp>
      <p:graphicFrame>
        <p:nvGraphicFramePr>
          <p:cNvPr id="2" name="">
            <a:extLst xmlns:a="http://schemas.openxmlformats.org/drawingml/2006/main">
              <a:ext uri="{FF2B5EF4-FFF2-40B4-BE49-F238E27FC236}">
                <a16:creationId xmlns:a16="http://schemas.microsoft.com/office/drawing/2014/main" id="{48A596F1-575A-426F-9ED0-D7CB8C7B6209}"/>
              </a:ext>
            </a:extLst>
          </p:cNvPr>
          <p:cNvGraphicFramePr/>
          <p:nvPr/>
        </p:nvGraphicFramePr>
        <p:xfrm>
          <a:off xmlns:a="http://schemas.openxmlformats.org/drawingml/2006/main" x="647700" y="1866900"/>
          <a:ext xmlns:a="http://schemas.openxmlformats.org/drawingml/2006/main" cx="10896600" cy="339090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Usually fluconazole susceptible; acquired resistance remains possible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Azoles, especially fluconazole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fluconazole susceptible; acquired resistance remains possible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Echinocandins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Usually fluconazole susceptible; acquired resistance remains possible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Amphotericin B</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fluconazole susceptible; acquired resistance remains possible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0838100-B8D8-41C7-ACCB-47E917040CF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D8C48FD-5023-4302-B0D1-80F0B7CB577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31</a:t>
            </a:r>
          </a:p>
        </p:txBody>
      </p:sp>
    </p:spTree>
    <p:extLst>
      <p:ext uri="{BB962C8B-B14F-4D97-AF65-F5344CB8AC3E}">
        <p14:creationId xmlns:p14="http://schemas.microsoft.com/office/powerpoint/2010/main" val="128549066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09749C8-2FF5-4021-9695-AC66822C906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Candida species and susceptibility</a:t>
            </a:r>
          </a:p>
        </p:txBody>
      </p:sp>
      <p:graphicFrame>
        <p:nvGraphicFramePr>
          <p:cNvPr id="2" name="">
            <a:extLst xmlns:a="http://schemas.openxmlformats.org/drawingml/2006/main">
              <a:ext uri="{FF2B5EF4-FFF2-40B4-BE49-F238E27FC236}">
                <a16:creationId xmlns:a16="http://schemas.microsoft.com/office/drawing/2014/main" id="{9C3D1FB1-5FFF-472C-8CCA-8D779CF56586}"/>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 albicans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Azoles, especially fluconazole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fluconazole susceptible; confirm the isolate.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Echinocandins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Usually active.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Amphotericin B</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active; toxicity often favors other options.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5F60012-19ED-4ABD-922B-21E560B95AA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B32F750-37FC-455E-B3BE-B44283F8BB3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32</a:t>
            </a:r>
          </a:p>
        </p:txBody>
      </p:sp>
    </p:spTree>
    <p:extLst>
      <p:ext uri="{BB962C8B-B14F-4D97-AF65-F5344CB8AC3E}">
        <p14:creationId xmlns:p14="http://schemas.microsoft.com/office/powerpoint/2010/main" val="96349640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9049A8C-CAF2-4DA9-B4FF-D08823A9C5B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Candida species and susceptibility</a:t>
            </a:r>
          </a:p>
        </p:txBody>
      </p:sp>
      <p:graphicFrame>
        <p:nvGraphicFramePr>
          <p:cNvPr id="2" name="">
            <a:extLst xmlns:a="http://schemas.openxmlformats.org/drawingml/2006/main">
              <a:ext uri="{FF2B5EF4-FFF2-40B4-BE49-F238E27FC236}">
                <a16:creationId xmlns:a16="http://schemas.microsoft.com/office/drawing/2014/main" id="{5EA6C3B2-9E4F-45A2-9E81-BED4AF70E5A5}"/>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 tropicalis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Azoles, especially fluconazole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Often susceptible, but azole resistance varies by region and exposure.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Echinocandins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Usually active; acquired resistance is possible.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Amphotericin B</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active.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5C6DF15-68E0-41AF-A7A2-96FFEA312C6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FC8166B-3D87-469B-8C9A-56596040511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33</a:t>
            </a:r>
          </a:p>
        </p:txBody>
      </p:sp>
    </p:spTree>
    <p:extLst>
      <p:ext uri="{BB962C8B-B14F-4D97-AF65-F5344CB8AC3E}">
        <p14:creationId xmlns:p14="http://schemas.microsoft.com/office/powerpoint/2010/main" val="152777634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2FC756F-F273-4755-9CAA-E8AE2ED3B7E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Candida species and susceptibility</a:t>
            </a:r>
          </a:p>
        </p:txBody>
      </p:sp>
      <p:graphicFrame>
        <p:nvGraphicFramePr>
          <p:cNvPr id="2" name="">
            <a:extLst xmlns:a="http://schemas.openxmlformats.org/drawingml/2006/main">
              <a:ext uri="{FF2B5EF4-FFF2-40B4-BE49-F238E27FC236}">
                <a16:creationId xmlns:a16="http://schemas.microsoft.com/office/drawing/2014/main" id="{7F8A248E-D3C1-4E93-8CC9-6AD2C896CB60}"/>
              </a:ext>
            </a:extLst>
          </p:cNvPr>
          <p:cNvGraphicFramePr/>
          <p:nvPr/>
        </p:nvGraphicFramePr>
        <p:xfrm>
          <a:off xmlns:a="http://schemas.openxmlformats.org/drawingml/2006/main" x="647700" y="1866900"/>
          <a:ext xmlns:a="http://schemas.openxmlformats.org/drawingml/2006/main" cx="10896600" cy="27717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 parapsilosis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Azoles, especially fluconazole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Often susceptible historically, but resistant strains and outbreaks are increasingly reported.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Echinocandins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Higher baseline MICs than many Candida species; this is not automatic clinical resistance.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Amphotericin B</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active.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493090C-0EFC-477B-85A0-0AA6A24C2B8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4A3E9CD-11B0-475B-BE3C-C2799761426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34</a:t>
            </a:r>
          </a:p>
        </p:txBody>
      </p:sp>
    </p:spTree>
    <p:extLst>
      <p:ext uri="{BB962C8B-B14F-4D97-AF65-F5344CB8AC3E}">
        <p14:creationId xmlns:p14="http://schemas.microsoft.com/office/powerpoint/2010/main" val="190752567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A6BFCBA-D175-438E-A463-ABDD8D4F1AB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Candida species and susceptibility</a:t>
            </a:r>
          </a:p>
        </p:txBody>
      </p:sp>
      <p:graphicFrame>
        <p:nvGraphicFramePr>
          <p:cNvPr id="2" name="">
            <a:extLst xmlns:a="http://schemas.openxmlformats.org/drawingml/2006/main">
              <a:ext uri="{FF2B5EF4-FFF2-40B4-BE49-F238E27FC236}">
                <a16:creationId xmlns:a16="http://schemas.microsoft.com/office/drawing/2014/main" id="{4BC6D50C-ADC8-4AAA-8AB2-209633D8104A}"/>
              </a:ext>
            </a:extLst>
          </p:cNvPr>
          <p:cNvGraphicFramePr/>
          <p:nvPr/>
        </p:nvGraphicFramePr>
        <p:xfrm>
          <a:off xmlns:a="http://schemas.openxmlformats.org/drawingml/2006/main" x="647700" y="1866900"/>
          <a:ext xmlns:a="http://schemas.openxmlformats.org/drawingml/2006/main" cx="10896600" cy="27717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 lusitaniae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Azoles, especially fluconazole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May be active; acquired resistance can occur.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Echinocandins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Often active; acquired resistance can occur.</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Amphotericin B</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Can develop amphotericin resistance during therapy. Repeat susceptibility testing if infection persists.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AD1094A-5543-409A-8B7F-64E925C5CCC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FD34813-A71B-4113-8FF3-53AA889C417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35</a:t>
            </a:r>
          </a:p>
        </p:txBody>
      </p:sp>
    </p:spTree>
    <p:extLst>
      <p:ext uri="{BB962C8B-B14F-4D97-AF65-F5344CB8AC3E}">
        <p14:creationId xmlns:p14="http://schemas.microsoft.com/office/powerpoint/2010/main" val="145861887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372E372-E8C0-4579-9BD3-07ADAB39F37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Candida species and susceptibility</a:t>
            </a:r>
          </a:p>
        </p:txBody>
      </p:sp>
      <p:graphicFrame>
        <p:nvGraphicFramePr>
          <p:cNvPr id="2" name="">
            <a:extLst xmlns:a="http://schemas.openxmlformats.org/drawingml/2006/main">
              <a:ext uri="{FF2B5EF4-FFF2-40B4-BE49-F238E27FC236}">
                <a16:creationId xmlns:a16="http://schemas.microsoft.com/office/drawing/2014/main" id="{02C119F3-BD65-4EA5-A754-3D584B3262F2}"/>
              </a:ext>
            </a:extLst>
          </p:cNvPr>
          <p:cNvGraphicFramePr/>
          <p:nvPr/>
        </p:nvGraphicFramePr>
        <p:xfrm>
          <a:off xmlns:a="http://schemas.openxmlformats.org/drawingml/2006/main" x="647700" y="1866900"/>
          <a:ext xmlns:a="http://schemas.openxmlformats.org/drawingml/2006/main" cx="10896600" cy="339090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Reduced fluconazole susceptibility: SDD or resistant, depending on the isolate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Azoles, especially fluconazole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Reduced fluconazole susceptibility: SDD or resistant, depending on the isolate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Echinocandins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Reduced fluconazole susceptibility: SDD or resistant, depending on the isolate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Amphotericin B</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Reduced fluconazole susceptibility: SDD or resistant, depending on the isolate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717DBD45-BC1E-41F3-86E0-6527D6345DC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9FA1E46-4837-4339-AD0B-095385C596A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36</a:t>
            </a:r>
          </a:p>
        </p:txBody>
      </p:sp>
    </p:spTree>
    <p:extLst>
      <p:ext uri="{BB962C8B-B14F-4D97-AF65-F5344CB8AC3E}">
        <p14:creationId xmlns:p14="http://schemas.microsoft.com/office/powerpoint/2010/main" val="151418188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D689D1F-936A-4762-B4E0-6A159B93E71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Candida species and susceptibility</a:t>
            </a:r>
          </a:p>
        </p:txBody>
      </p:sp>
      <p:graphicFrame>
        <p:nvGraphicFramePr>
          <p:cNvPr id="2" name="">
            <a:extLst xmlns:a="http://schemas.openxmlformats.org/drawingml/2006/main">
              <a:ext uri="{FF2B5EF4-FFF2-40B4-BE49-F238E27FC236}">
                <a16:creationId xmlns:a16="http://schemas.microsoft.com/office/drawing/2014/main" id="{6C83B308-C428-4664-B56B-80494A859772}"/>
              </a:ext>
            </a:extLst>
          </p:cNvPr>
          <p:cNvGraphicFramePr/>
          <p:nvPr/>
        </p:nvGraphicFramePr>
        <p:xfrm>
          <a:off xmlns:a="http://schemas.openxmlformats.org/drawingml/2006/main" x="647700" y="1866900"/>
          <a:ext xmlns:a="http://schemas.openxmlformats.org/drawingml/2006/main" cx="10896600" cy="33909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 glabrata Nakaseomyces glabratus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Azoles, especially fluconazole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Reduced susceptibility/resistance is common. High-dose fluconazole step-down only when the MIC category supports it.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Echinocandins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Usual initial invasive-infection choice, but acquired FKS resistance can occur.</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Amphotericin B</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Potential option for resistant isolates; confirm susceptibility.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0392082-0642-4FDF-9B4B-F2A5AD5A786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9F04121-1660-4F76-97B7-1FB8B089386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37</a:t>
            </a:r>
          </a:p>
        </p:txBody>
      </p:sp>
    </p:spTree>
    <p:extLst>
      <p:ext uri="{BB962C8B-B14F-4D97-AF65-F5344CB8AC3E}">
        <p14:creationId xmlns:p14="http://schemas.microsoft.com/office/powerpoint/2010/main" val="122794919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71F678C-421E-4F95-A8AD-A913D965721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Candida species and susceptibility</a:t>
            </a:r>
          </a:p>
        </p:txBody>
      </p:sp>
      <p:graphicFrame>
        <p:nvGraphicFramePr>
          <p:cNvPr id="2" name="">
            <a:extLst xmlns:a="http://schemas.openxmlformats.org/drawingml/2006/main">
              <a:ext uri="{FF2B5EF4-FFF2-40B4-BE49-F238E27FC236}">
                <a16:creationId xmlns:a16="http://schemas.microsoft.com/office/drawing/2014/main" id="{33C7D26C-E77B-4112-ADF6-646A95F4AA2E}"/>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Intrinsic fluconazole resistance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Azoles, especially fluconazole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Intrinsic fluconazole resistance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Echinocandins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Intrinsic fluconazole resistance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Amphotericin B</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Intrinsic fluconazole resistance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4D6EB4E-521D-42B8-A845-39AB1D64883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B079749-EF8E-4D03-9A8A-E16E1FD1C06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38</a:t>
            </a:r>
          </a:p>
        </p:txBody>
      </p:sp>
    </p:spTree>
    <p:extLst>
      <p:ext uri="{BB962C8B-B14F-4D97-AF65-F5344CB8AC3E}">
        <p14:creationId xmlns:p14="http://schemas.microsoft.com/office/powerpoint/2010/main" val="183997823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5D139FD-1E67-4219-B835-2B8C02789F0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Candida species and susceptibility</a:t>
            </a:r>
          </a:p>
        </p:txBody>
      </p:sp>
      <p:graphicFrame>
        <p:nvGraphicFramePr>
          <p:cNvPr id="2" name="">
            <a:extLst xmlns:a="http://schemas.openxmlformats.org/drawingml/2006/main">
              <a:ext uri="{FF2B5EF4-FFF2-40B4-BE49-F238E27FC236}">
                <a16:creationId xmlns:a16="http://schemas.microsoft.com/office/drawing/2014/main" id="{679F91B1-3FE2-4021-A451-E0AB6CCBC040}"/>
              </a:ext>
            </a:extLst>
          </p:cNvPr>
          <p:cNvGraphicFramePr/>
          <p:nvPr/>
        </p:nvGraphicFramePr>
        <p:xfrm>
          <a:off xmlns:a="http://schemas.openxmlformats.org/drawingml/2006/main" x="647700" y="1866900"/>
          <a:ext xmlns:a="http://schemas.openxmlformats.org/drawingml/2006/main" cx="10896600" cy="30813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 krusei Pichia kudriavzevii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Azoles, especially fluconazole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Intrinsic fluconazole resistance does not mean resistance to every azole. Voriconazole can be selected step-down therapy.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Echinocandins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Usually active.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Amphotericin B</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Clinical alternative; review susceptibility rather than assuming all isolates are susceptible.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42E8CF6-BE05-41F8-97F5-0680A6F12E5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D84BF6C-96F0-4634-861E-EECE3E36CAD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39</a:t>
            </a:r>
          </a:p>
        </p:txBody>
      </p:sp>
    </p:spTree>
    <p:extLst>
      <p:ext uri="{BB962C8B-B14F-4D97-AF65-F5344CB8AC3E}">
        <p14:creationId xmlns:p14="http://schemas.microsoft.com/office/powerpoint/2010/main" val="100780702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1D6D302-68B7-4F4C-A26B-AFC8AA08892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Candida species and susceptibility</a:t>
            </a:r>
          </a:p>
        </p:txBody>
      </p:sp>
      <p:graphicFrame>
        <p:nvGraphicFramePr>
          <p:cNvPr id="2" name="">
            <a:extLst xmlns:a="http://schemas.openxmlformats.org/drawingml/2006/main">
              <a:ext uri="{FF2B5EF4-FFF2-40B4-BE49-F238E27FC236}">
                <a16:creationId xmlns:a16="http://schemas.microsoft.com/office/drawing/2014/main" id="{AA901F1B-2F82-4537-8CEB-5302F9329DA6}"/>
              </a:ext>
            </a:extLst>
          </p:cNvPr>
          <p:cNvGraphicFramePr/>
          <p:nvPr/>
        </p:nvGraphicFramePr>
        <p:xfrm>
          <a:off xmlns:a="http://schemas.openxmlformats.org/drawingml/2006/main" x="647700" y="1866900"/>
          <a:ext xmlns:a="http://schemas.openxmlformats.org/drawingml/2006/main" cx="10896600" cy="339090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Frequent fluconazole resistance; possible resistance to multiple classes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Azoles, especially fluconazole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Frequent fluconazole resistance; possible resistance to multiple classes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Echinocandins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Frequent fluconazole resistance; possible resistance to multiple classes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Amphotericin B</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Frequent fluconazole resistance; possible resistance to multiple classes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D805011-AD67-496B-B98B-D64EE6A77FA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914E991-DB69-412E-B818-840724574AD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40</a:t>
            </a:r>
          </a:p>
        </p:txBody>
      </p:sp>
    </p:spTree>
    <p:extLst>
      <p:ext uri="{BB962C8B-B14F-4D97-AF65-F5344CB8AC3E}">
        <p14:creationId xmlns:p14="http://schemas.microsoft.com/office/powerpoint/2010/main" val="86652000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FD53221-935C-430D-90CA-76AB8BBB33D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Candida species and susceptibility</a:t>
            </a:r>
          </a:p>
        </p:txBody>
      </p:sp>
      <p:graphicFrame>
        <p:nvGraphicFramePr>
          <p:cNvPr id="2" name="">
            <a:extLst xmlns:a="http://schemas.openxmlformats.org/drawingml/2006/main">
              <a:ext uri="{FF2B5EF4-FFF2-40B4-BE49-F238E27FC236}">
                <a16:creationId xmlns:a16="http://schemas.microsoft.com/office/drawing/2014/main" id="{65AFB2D9-8E96-417A-A93E-4A2326AB5511}"/>
              </a:ext>
            </a:extLst>
          </p:cNvPr>
          <p:cNvGraphicFramePr/>
          <p:nvPr/>
        </p:nvGraphicFramePr>
        <p:xfrm>
          <a:off xmlns:a="http://schemas.openxmlformats.org/drawingml/2006/main" x="647700" y="1866900"/>
          <a:ext xmlns:a="http://schemas.openxmlformats.org/drawingml/2006/main" cx="10896600" cy="33909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 auris Candidozyma auris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Azoles, especially fluconazole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Fluconazole resistance is common. Resistance can involve multiple drug classes; resistance may extend to newer azoles.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Echinocandins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Usual initial adult therapy. Echinocandin resistance and pan-resistance occur.</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Amphotericin B</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Variable susceptibility; selected alternative for echinocandin resistance or clinical nonresponse.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8F829BF-9442-4421-95B0-0F3C4492057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C1DA560-EF0B-4FBE-BE83-9E137DDB629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41</a:t>
            </a:r>
          </a:p>
        </p:txBody>
      </p:sp>
    </p:spTree>
    <p:extLst>
      <p:ext uri="{BB962C8B-B14F-4D97-AF65-F5344CB8AC3E}">
        <p14:creationId xmlns:p14="http://schemas.microsoft.com/office/powerpoint/2010/main" val="3238146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00975EF-3193-4676-BAC7-3D44ED56F93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Candida species and susceptibility</a:t>
            </a:r>
          </a:p>
        </p:txBody>
      </p:sp>
      <p:sp>
        <p:nvSpPr>
          <p:cNvPr id="2" name="paragraph-0">
            <a:extLst xmlns:a="http://schemas.openxmlformats.org/drawingml/2006/main">
              <a:ext uri="{FF2B5EF4-FFF2-40B4-BE49-F238E27FC236}">
                <a16:creationId xmlns:a16="http://schemas.microsoft.com/office/drawing/2014/main" id="{B39D930A-86C7-4A1A-9A1F-591D772F3F2E}"/>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 [49] [50] [45] [46]</a:t>
            </a:r>
          </a:p>
        </p:txBody>
      </p:sp>
      <p:sp>
        <p:nvSpPr>
          <p:cNvPr id="3" name="paragraph-1">
            <a:extLst xmlns:a="http://schemas.openxmlformats.org/drawingml/2006/main">
              <a:ext uri="{FF2B5EF4-FFF2-40B4-BE49-F238E27FC236}">
                <a16:creationId xmlns:a16="http://schemas.microsoft.com/office/drawing/2014/main" id="{18A5EC31-FF8A-4431-9D05-D62C061C0264}"/>
              </a:ext>
            </a:extLst>
          </p:cNvPr>
          <p:cNvSpPr>
            <a:spLocks xmlns:a="http://schemas.openxmlformats.org/drawingml/2006/main" noGrp="1"/>
          </p:cNvSpPr>
          <p:nvPr/>
        </p:nvSpPr>
        <p:spPr>
          <a:xfrm xmlns:a="http://schemas.openxmlformats.org/drawingml/2006/main">
            <a:off x="647700" y="25622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teaching Species and MIC interpretation</a:t>
            </a:r>
          </a:p>
        </p:txBody>
      </p:sp>
      <p:sp>
        <p:nvSpPr>
          <p:cNvPr id="4" name="footer">
            <a:extLst xmlns:a="http://schemas.openxmlformats.org/drawingml/2006/main">
              <a:ext uri="{FF2B5EF4-FFF2-40B4-BE49-F238E27FC236}">
                <a16:creationId xmlns:a16="http://schemas.microsoft.com/office/drawing/2014/main" id="{675A2222-AF85-4119-B47A-9C3CED30858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29A0BD70-345C-4465-92D7-A6E1764E2FD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42</a:t>
            </a:r>
          </a:p>
        </p:txBody>
      </p:sp>
    </p:spTree>
    <p:extLst>
      <p:ext uri="{BB962C8B-B14F-4D97-AF65-F5344CB8AC3E}">
        <p14:creationId xmlns:p14="http://schemas.microsoft.com/office/powerpoint/2010/main" val="2458199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3923FBD-2149-4232-A7C1-A7A283F1812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Candida auris</a:t>
            </a:r>
          </a:p>
        </p:txBody>
      </p:sp>
      <p:sp>
        <p:nvSpPr>
          <p:cNvPr id="2" name="paragraph-0">
            <a:extLst xmlns:a="http://schemas.openxmlformats.org/drawingml/2006/main">
              <a:ext uri="{FF2B5EF4-FFF2-40B4-BE49-F238E27FC236}">
                <a16:creationId xmlns:a16="http://schemas.microsoft.com/office/drawing/2014/main" id="{100175FC-6178-4957-9053-9382973ED5D4}"/>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adult clinical infection, CDC recommends an echinocandin initially, for example micafungin 100 mg IV daily. Send susceptibility testing and reassess the clinical response. Consider liposomal amphotericin B 5 mg/kg/day for echinocandin resistance or lack of improvement after 5 days, while reassessing source control and the diagnosis. Pan-resistant infection warrants expert/reference-laboratory input and consideration of investigational access. [45]</a:t>
            </a:r>
          </a:p>
        </p:txBody>
      </p:sp>
      <p:sp>
        <p:nvSpPr>
          <p:cNvPr id="3" name="footer">
            <a:extLst xmlns:a="http://schemas.openxmlformats.org/drawingml/2006/main">
              <a:ext uri="{FF2B5EF4-FFF2-40B4-BE49-F238E27FC236}">
                <a16:creationId xmlns:a16="http://schemas.microsoft.com/office/drawing/2014/main" id="{5C2748B7-A63B-4142-8220-C0076560B95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F3C23BB-41C6-4D04-BE41-16A8BBE5E45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43</a:t>
            </a:r>
          </a:p>
        </p:txBody>
      </p:sp>
    </p:spTree>
    <p:extLst>
      <p:ext uri="{BB962C8B-B14F-4D97-AF65-F5344CB8AC3E}">
        <p14:creationId xmlns:p14="http://schemas.microsoft.com/office/powerpoint/2010/main" val="2099249658"/>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E9BF4F5-0CF1-4EFA-86D6-CAB02F20AB3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Candida auris</a:t>
            </a:r>
          </a:p>
        </p:txBody>
      </p:sp>
      <p:sp>
        <p:nvSpPr>
          <p:cNvPr id="2" name="paragraph-0">
            <a:extLst xmlns:a="http://schemas.openxmlformats.org/drawingml/2006/main">
              <a:ext uri="{FF2B5EF4-FFF2-40B4-BE49-F238E27FC236}">
                <a16:creationId xmlns:a16="http://schemas.microsoft.com/office/drawing/2014/main" id="{4B3D0ACE-E6DB-4FED-AC93-E0536C9D5A47}"/>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treat asymptomatic colonization or attempt antifungal decolonization. Notify infection prevention and public health promptly. In acute care use Contact Precautions, clean shared equipment, and use an EPA List P disinfectant. Communicate status on transfer. Clearing an infection does not mean colonization has cleared. [48] [47]</a:t>
            </a:r>
          </a:p>
        </p:txBody>
      </p:sp>
      <p:sp>
        <p:nvSpPr>
          <p:cNvPr id="3" name="paragraph-1">
            <a:extLst xmlns:a="http://schemas.openxmlformats.org/drawingml/2006/main">
              <a:ext uri="{FF2B5EF4-FFF2-40B4-BE49-F238E27FC236}">
                <a16:creationId xmlns:a16="http://schemas.microsoft.com/office/drawing/2014/main" id="{D61D8B93-E54B-403C-9A55-C0FA09FAF438}"/>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teaching C. auris susceptibility thresholds</a:t>
            </a:r>
          </a:p>
        </p:txBody>
      </p:sp>
      <p:sp>
        <p:nvSpPr>
          <p:cNvPr id="4" name="footer">
            <a:extLst xmlns:a="http://schemas.openxmlformats.org/drawingml/2006/main">
              <a:ext uri="{FF2B5EF4-FFF2-40B4-BE49-F238E27FC236}">
                <a16:creationId xmlns:a16="http://schemas.microsoft.com/office/drawing/2014/main" id="{C47AA438-D2FE-43FB-B5F9-620F0CA0C50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233265CE-D23D-4499-8F79-AD94C4F1F08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44</a:t>
            </a:r>
          </a:p>
        </p:txBody>
      </p:sp>
    </p:spTree>
    <p:extLst>
      <p:ext uri="{BB962C8B-B14F-4D97-AF65-F5344CB8AC3E}">
        <p14:creationId xmlns:p14="http://schemas.microsoft.com/office/powerpoint/2010/main" val="65334110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EFC7EDD-F1C9-41A0-99A4-D1F9E8B0920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Fluconazole / Diflucan</a:t>
            </a:r>
          </a:p>
        </p:txBody>
      </p:sp>
      <p:sp>
        <p:nvSpPr>
          <p:cNvPr id="2" name="paragraph-0">
            <a:extLst xmlns:a="http://schemas.openxmlformats.org/drawingml/2006/main">
              <a:ext uri="{FF2B5EF4-FFF2-40B4-BE49-F238E27FC236}">
                <a16:creationId xmlns:a16="http://schemas.microsoft.com/office/drawing/2014/main" id="{6219B052-F332-4550-BCDC-B12A2890D3B9}"/>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Oral absorption is reliable; use oral therapy when the patient can absorb it. Renal clearance makes maintenance dose adjustment important. It reaches urine and CSF well.</a:t>
            </a:r>
          </a:p>
        </p:txBody>
      </p:sp>
      <p:sp>
        <p:nvSpPr>
          <p:cNvPr id="3" name="paragraph-1">
            <a:extLst xmlns:a="http://schemas.openxmlformats.org/drawingml/2006/main">
              <a:ext uri="{FF2B5EF4-FFF2-40B4-BE49-F238E27FC236}">
                <a16:creationId xmlns:a16="http://schemas.microsoft.com/office/drawing/2014/main" id="{A4747688-FE70-458D-A90A-5FFAC7054F7A}"/>
              </a:ext>
            </a:extLst>
          </p:cNvPr>
          <p:cNvSpPr>
            <a:spLocks xmlns:a="http://schemas.openxmlformats.org/drawingml/2006/main" noGrp="1"/>
          </p:cNvSpPr>
          <p:nvPr/>
        </p:nvSpPr>
        <p:spPr>
          <a:xfrm xmlns:a="http://schemas.openxmlformats.org/drawingml/2006/main">
            <a:off x="647700" y="326707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Nausea and headache are common. Watch liver injury and QT prolongation. Less common effects include severe skin reactions, reversible alopecia with prolonged treatment, and reported adrenal insufficiency. Warfarin and other CYP substrates still require review. [4]</a:t>
            </a:r>
          </a:p>
        </p:txBody>
      </p:sp>
      <p:sp>
        <p:nvSpPr>
          <p:cNvPr id="4" name="footer">
            <a:extLst xmlns:a="http://schemas.openxmlformats.org/drawingml/2006/main">
              <a:ext uri="{FF2B5EF4-FFF2-40B4-BE49-F238E27FC236}">
                <a16:creationId xmlns:a16="http://schemas.microsoft.com/office/drawing/2014/main" id="{46CC8B72-C2E9-4A3E-BB70-3F7A006CD1C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E8E058D2-0FF7-4005-99CB-E9D893D1F56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45</a:t>
            </a:r>
          </a:p>
        </p:txBody>
      </p:sp>
    </p:spTree>
    <p:extLst>
      <p:ext uri="{BB962C8B-B14F-4D97-AF65-F5344CB8AC3E}">
        <p14:creationId xmlns:p14="http://schemas.microsoft.com/office/powerpoint/2010/main" val="510256523"/>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50F5652-7C94-4AE8-B528-E1DF2CDD5E1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Itraconazole / Sporanox; SUBA formulation / Tolsura</a:t>
            </a:r>
          </a:p>
        </p:txBody>
      </p:sp>
      <p:sp>
        <p:nvSpPr>
          <p:cNvPr id="2" name="paragraph-0">
            <a:extLst xmlns:a="http://schemas.openxmlformats.org/drawingml/2006/main">
              <a:ext uri="{FF2B5EF4-FFF2-40B4-BE49-F238E27FC236}">
                <a16:creationId xmlns:a16="http://schemas.microsoft.com/office/drawing/2014/main" id="{EE9B9608-3A2C-46B3-A1AB-6B22F98C5E2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Conventional capsules depend on food and gastric acidity. Solution is better absorbed fasting. SUBA formulations have different dosing and administration instructions. They are not interchangeable milligram for milligram.</a:t>
            </a:r>
          </a:p>
        </p:txBody>
      </p:sp>
      <p:sp>
        <p:nvSpPr>
          <p:cNvPr id="3" name="paragraph-1">
            <a:extLst xmlns:a="http://schemas.openxmlformats.org/drawingml/2006/main">
              <a:ext uri="{FF2B5EF4-FFF2-40B4-BE49-F238E27FC236}">
                <a16:creationId xmlns:a16="http://schemas.microsoft.com/office/drawing/2014/main" id="{0FCDE90D-482A-47FB-9F76-DECCA180A1EA}"/>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GI intolerance and liver injury can occur. Negative inotropic effects can cause edema or heart failure. Peripheral neuropathy, hearing loss, and pseudohyperaldosteronism are additional reported toxicities. New dyspnea or edema warrants evaluation for heart failure. [5] [3]</a:t>
            </a:r>
          </a:p>
        </p:txBody>
      </p:sp>
      <p:sp>
        <p:nvSpPr>
          <p:cNvPr id="4" name="footer">
            <a:extLst xmlns:a="http://schemas.openxmlformats.org/drawingml/2006/main">
              <a:ext uri="{FF2B5EF4-FFF2-40B4-BE49-F238E27FC236}">
                <a16:creationId xmlns:a16="http://schemas.microsoft.com/office/drawing/2014/main" id="{09077783-0C1E-4254-A34E-4C68874F670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059D38A5-2F58-4344-9EE7-C0083E3CF3A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46</a:t>
            </a:r>
          </a:p>
        </p:txBody>
      </p:sp>
    </p:spTree>
    <p:extLst>
      <p:ext uri="{BB962C8B-B14F-4D97-AF65-F5344CB8AC3E}">
        <p14:creationId xmlns:p14="http://schemas.microsoft.com/office/powerpoint/2010/main" val="212747277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FDFFC2C-0813-4C38-BF73-7F4EB1E5BCB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Voriconazole / Vfend</a:t>
            </a:r>
          </a:p>
        </p:txBody>
      </p:sp>
      <p:sp>
        <p:nvSpPr>
          <p:cNvPr id="2" name="paragraph-0">
            <a:extLst xmlns:a="http://schemas.openxmlformats.org/drawingml/2006/main">
              <a:ext uri="{FF2B5EF4-FFF2-40B4-BE49-F238E27FC236}">
                <a16:creationId xmlns:a16="http://schemas.microsoft.com/office/drawing/2014/main" id="{CA4093DC-17EE-4FA6-A7C4-403960F2A5F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Take oral doses at least an hour before or after food. Variable CYP2C19 metabolism and nonlinear kinetics make TDM central to treatment.</a:t>
            </a:r>
          </a:p>
        </p:txBody>
      </p:sp>
      <p:sp>
        <p:nvSpPr>
          <p:cNvPr id="3" name="paragraph-1">
            <a:extLst xmlns:a="http://schemas.openxmlformats.org/drawingml/2006/main">
              <a:ext uri="{FF2B5EF4-FFF2-40B4-BE49-F238E27FC236}">
                <a16:creationId xmlns:a16="http://schemas.microsoft.com/office/drawing/2014/main" id="{C172CC7E-7037-410E-8C39-CAF8708B9C5C}"/>
              </a:ext>
            </a:extLst>
          </p:cNvPr>
          <p:cNvSpPr>
            <a:spLocks xmlns:a="http://schemas.openxmlformats.org/drawingml/2006/main" noGrp="1"/>
          </p:cNvSpPr>
          <p:nvPr/>
        </p:nvSpPr>
        <p:spPr>
          <a:xfrm xmlns:a="http://schemas.openxmlformats.org/drawingml/2006/main">
            <a:off x="647700" y="2914650"/>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Transient visual changes are common. Hallucinations or encephalopathy may reflect excessive exposure. Also watch liver injury and QT prolongation. Prolonged treatment is associated with photosensitivity, cutaneous malignancy, and fluoride-associated periostitis. Bone pain with elevated alkaline phosphatase should prompt consideration of periostitis. Recommend sun protection and skin surveillance during prolonged treatment. [6]</a:t>
            </a:r>
          </a:p>
        </p:txBody>
      </p:sp>
      <p:sp>
        <p:nvSpPr>
          <p:cNvPr id="4" name="footer">
            <a:extLst xmlns:a="http://schemas.openxmlformats.org/drawingml/2006/main">
              <a:ext uri="{FF2B5EF4-FFF2-40B4-BE49-F238E27FC236}">
                <a16:creationId xmlns:a16="http://schemas.microsoft.com/office/drawing/2014/main" id="{7ABF288B-51A4-44DD-AAD5-E690FEC90CE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AAC3532E-17EB-461E-A5C2-DD99DAAA92F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47</a:t>
            </a:r>
          </a:p>
        </p:txBody>
      </p:sp>
    </p:spTree>
    <p:extLst>
      <p:ext uri="{BB962C8B-B14F-4D97-AF65-F5344CB8AC3E}">
        <p14:creationId xmlns:p14="http://schemas.microsoft.com/office/powerpoint/2010/main" val="149391832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8A41F11-D025-4789-AA24-FAF5B42E349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Posaconazole / Noxafil</a:t>
            </a:r>
          </a:p>
        </p:txBody>
      </p:sp>
      <p:sp>
        <p:nvSpPr>
          <p:cNvPr id="2" name="paragraph-0">
            <a:extLst xmlns:a="http://schemas.openxmlformats.org/drawingml/2006/main">
              <a:ext uri="{FF2B5EF4-FFF2-40B4-BE49-F238E27FC236}">
                <a16:creationId xmlns:a16="http://schemas.microsoft.com/office/drawing/2014/main" id="{1CC934DF-9CB6-4639-AAAC-223AEDAF5159}"/>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Delayed-release tablets or IV generally give more dependable exposure than conventional suspension. Suspension absorption depends on food and gastric conditions; do not substitute the formulations using the same dose.</a:t>
            </a:r>
          </a:p>
        </p:txBody>
      </p:sp>
      <p:sp>
        <p:nvSpPr>
          <p:cNvPr id="3" name="paragraph-1">
            <a:extLst xmlns:a="http://schemas.openxmlformats.org/drawingml/2006/main">
              <a:ext uri="{FF2B5EF4-FFF2-40B4-BE49-F238E27FC236}">
                <a16:creationId xmlns:a16="http://schemas.microsoft.com/office/drawing/2014/main" id="{528E4119-B740-4EBF-9732-6B0EDBAD0A3A}"/>
              </a:ext>
            </a:extLst>
          </p:cNvPr>
          <p:cNvSpPr>
            <a:spLocks xmlns:a="http://schemas.openxmlformats.org/drawingml/2006/main" noGrp="1"/>
          </p:cNvSpPr>
          <p:nvPr/>
        </p:nvSpPr>
        <p:spPr>
          <a:xfrm xmlns:a="http://schemas.openxmlformats.org/drawingml/2006/main">
            <a:off x="647700" y="361950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GI effects, liver injury, and QT prolongation occur. Hypertension plus hypokalemia can represent pseudohyperaldosteronism, often with low renin and aldosterone. Check BP, potassium, and posaconazole levels; reassess the antifungal if pseudohyperaldosteronism is suspected. [7] [35]</a:t>
            </a:r>
          </a:p>
        </p:txBody>
      </p:sp>
      <p:sp>
        <p:nvSpPr>
          <p:cNvPr id="4" name="footer">
            <a:extLst xmlns:a="http://schemas.openxmlformats.org/drawingml/2006/main">
              <a:ext uri="{FF2B5EF4-FFF2-40B4-BE49-F238E27FC236}">
                <a16:creationId xmlns:a16="http://schemas.microsoft.com/office/drawing/2014/main" id="{A0243418-E3E0-4B9B-BD35-407E6F609EF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CEB820DF-3824-4C57-833C-0097DCAFE2F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48</a:t>
            </a:r>
          </a:p>
        </p:txBody>
      </p:sp>
    </p:spTree>
    <p:extLst>
      <p:ext uri="{BB962C8B-B14F-4D97-AF65-F5344CB8AC3E}">
        <p14:creationId xmlns:p14="http://schemas.microsoft.com/office/powerpoint/2010/main" val="251324498"/>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FC89C0A-625B-4D8A-A1A5-D45396B7CDD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Isavuconazonium / Cresemba</a:t>
            </a:r>
          </a:p>
        </p:txBody>
      </p:sp>
      <p:sp>
        <p:nvSpPr>
          <p:cNvPr id="2" name="paragraph-0">
            <a:extLst xmlns:a="http://schemas.openxmlformats.org/drawingml/2006/main">
              <a:ext uri="{FF2B5EF4-FFF2-40B4-BE49-F238E27FC236}">
                <a16:creationId xmlns:a16="http://schemas.microsoft.com/office/drawing/2014/main" id="{6F0D7BD8-5B93-4117-84F6-FA00EC223C77}"/>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Isavuconazonium is converted to active isavuconazole. 372 mg isavuconazonium sulfate equals 200 mg isavuconazole. Oral absorption is reliable and not materially food dependent; IV does not require cyclodextrin.</a:t>
            </a:r>
          </a:p>
        </p:txBody>
      </p:sp>
      <p:sp>
        <p:nvSpPr>
          <p:cNvPr id="3" name="paragraph-1">
            <a:extLst xmlns:a="http://schemas.openxmlformats.org/drawingml/2006/main">
              <a:ext uri="{FF2B5EF4-FFF2-40B4-BE49-F238E27FC236}">
                <a16:creationId xmlns:a16="http://schemas.microsoft.com/office/drawing/2014/main" id="{3AD62A96-D483-420E-AE54-6667D22AA5BD}"/>
              </a:ext>
            </a:extLst>
          </p:cNvPr>
          <p:cNvSpPr>
            <a:spLocks xmlns:a="http://schemas.openxmlformats.org/drawingml/2006/main" noGrp="1"/>
          </p:cNvSpPr>
          <p:nvPr/>
        </p:nvSpPr>
        <p:spPr>
          <a:xfrm xmlns:a="http://schemas.openxmlformats.org/drawingml/2006/main">
            <a:off x="647700" y="326707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It shortens QT and is contraindicated in familial short-QT syndrome. GI symptoms and liver abnormalities occur; serious hypersensitivity is possible. It often has fewer visual/skin effects than voriconazole, but retains clinically important CYP3A interactions. [8] [20]</a:t>
            </a:r>
          </a:p>
        </p:txBody>
      </p:sp>
      <p:sp>
        <p:nvSpPr>
          <p:cNvPr id="4" name="footer">
            <a:extLst xmlns:a="http://schemas.openxmlformats.org/drawingml/2006/main">
              <a:ext uri="{FF2B5EF4-FFF2-40B4-BE49-F238E27FC236}">
                <a16:creationId xmlns:a16="http://schemas.microsoft.com/office/drawing/2014/main" id="{A2A51A7C-049B-4F2D-84AB-558F7254D5E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6BA44489-859D-4A5C-8452-700EF8DC9AD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49</a:t>
            </a:r>
          </a:p>
        </p:txBody>
      </p:sp>
    </p:spTree>
    <p:extLst>
      <p:ext uri="{BB962C8B-B14F-4D97-AF65-F5344CB8AC3E}">
        <p14:creationId xmlns:p14="http://schemas.microsoft.com/office/powerpoint/2010/main" val="117684739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A3884F7-08B6-416D-B608-37A47C14CC9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Isavuconazonium / Cresemba</a:t>
            </a:r>
          </a:p>
        </p:txBody>
      </p:sp>
      <p:sp>
        <p:nvSpPr>
          <p:cNvPr id="2" name="paragraph-0">
            <a:extLst xmlns:a="http://schemas.openxmlformats.org/drawingml/2006/main">
              <a:ext uri="{FF2B5EF4-FFF2-40B4-BE49-F238E27FC236}">
                <a16:creationId xmlns:a16="http://schemas.microsoft.com/office/drawing/2014/main" id="{DE71083F-4E33-4804-ABCC-885F8FF12E27}"/>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Oral voriconazole does not require renal dose reduction. IV voriconazole and IV posaconazole contain SBECD, which can accumulate in renal impairment. Product labels favor avoiding these IV formulations below the specified renal threshold unless benefit outweighs risk. Consider oral therapy and monitor renal function. [6] [7]</a:t>
            </a:r>
          </a:p>
        </p:txBody>
      </p:sp>
      <p:sp>
        <p:nvSpPr>
          <p:cNvPr id="3" name="footer">
            <a:extLst xmlns:a="http://schemas.openxmlformats.org/drawingml/2006/main">
              <a:ext uri="{FF2B5EF4-FFF2-40B4-BE49-F238E27FC236}">
                <a16:creationId xmlns:a16="http://schemas.microsoft.com/office/drawing/2014/main" id="{4FC2C018-980D-4C8B-898D-373B573C364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9BBF72D-941C-474A-8421-EB0B5B9917B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50</a:t>
            </a:r>
          </a:p>
        </p:txBody>
      </p:sp>
    </p:spTree>
    <p:extLst>
      <p:ext uri="{BB962C8B-B14F-4D97-AF65-F5344CB8AC3E}">
        <p14:creationId xmlns:p14="http://schemas.microsoft.com/office/powerpoint/2010/main" val="773134285"/>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603D1F0-02DF-4982-9FF5-9F25EC2D026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Echinocandins, including micafungin</a:t>
            </a:r>
          </a:p>
        </p:txBody>
      </p:sp>
      <p:sp>
        <p:nvSpPr>
          <p:cNvPr id="2" name="paragraph-0">
            <a:extLst xmlns:a="http://schemas.openxmlformats.org/drawingml/2006/main">
              <a:ext uri="{FF2B5EF4-FFF2-40B4-BE49-F238E27FC236}">
                <a16:creationId xmlns:a16="http://schemas.microsoft.com/office/drawing/2014/main" id="{C0719FAE-AAD4-492E-96D8-0834094EA37E}"/>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Micafungin is IV only. It usually needs neither renal nor hepatic dose adjustment under U.S. labeling, and no dialysis replacement dose. It has fewer CYP interactions than azoles; review concomitant medications. Routine drug levels are not standard. [9]</a:t>
            </a:r>
          </a:p>
        </p:txBody>
      </p:sp>
      <p:sp>
        <p:nvSpPr>
          <p:cNvPr id="3" name="paragraph-1">
            <a:extLst xmlns:a="http://schemas.openxmlformats.org/drawingml/2006/main">
              <a:ext uri="{FF2B5EF4-FFF2-40B4-BE49-F238E27FC236}">
                <a16:creationId xmlns:a16="http://schemas.microsoft.com/office/drawing/2014/main" id="{95A7CBCB-80F3-4304-AD37-4269E6AB4071}"/>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candidemia, an echinocandin is a usual initial choice. Fluconazole step-down requires a clinically stable patient, susceptible isolate, and cleared blood cultures. Infected devices and undrained foci still need source control. [1]</a:t>
            </a:r>
          </a:p>
        </p:txBody>
      </p:sp>
      <p:sp>
        <p:nvSpPr>
          <p:cNvPr id="4" name="footer">
            <a:extLst xmlns:a="http://schemas.openxmlformats.org/drawingml/2006/main">
              <a:ext uri="{FF2B5EF4-FFF2-40B4-BE49-F238E27FC236}">
                <a16:creationId xmlns:a16="http://schemas.microsoft.com/office/drawing/2014/main" id="{5B828F89-162F-482A-9B66-DCB6662865B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86EF78FD-671F-4426-B103-12D5630E22F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51</a:t>
            </a:r>
          </a:p>
        </p:txBody>
      </p:sp>
    </p:spTree>
    <p:extLst>
      <p:ext uri="{BB962C8B-B14F-4D97-AF65-F5344CB8AC3E}">
        <p14:creationId xmlns:p14="http://schemas.microsoft.com/office/powerpoint/2010/main" val="1184030812"/>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77DFAC3-AD6C-44AE-83A3-403348DE957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Echinocandins, including micafungin</a:t>
            </a:r>
          </a:p>
        </p:txBody>
      </p:sp>
      <p:sp>
        <p:nvSpPr>
          <p:cNvPr id="2" name="paragraph-0">
            <a:extLst xmlns:a="http://schemas.openxmlformats.org/drawingml/2006/main">
              <a:ext uri="{FF2B5EF4-FFF2-40B4-BE49-F238E27FC236}">
                <a16:creationId xmlns:a16="http://schemas.microsoft.com/office/drawing/2014/main" id="{17898501-7999-47B4-88CF-1260685E39C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Micafungin has poor urinary, CSF, and vitreous exposure. See the urinary decision table for the distinction between collecting-system infection and hematogenous renal infection.</a:t>
            </a:r>
          </a:p>
        </p:txBody>
      </p:sp>
      <p:sp>
        <p:nvSpPr>
          <p:cNvPr id="3" name="paragraph-1">
            <a:extLst xmlns:a="http://schemas.openxmlformats.org/drawingml/2006/main">
              <a:ext uri="{FF2B5EF4-FFF2-40B4-BE49-F238E27FC236}">
                <a16:creationId xmlns:a16="http://schemas.microsoft.com/office/drawing/2014/main" id="{264A4517-C9D9-4492-85AF-800D977B91E0}"/>
              </a:ext>
            </a:extLst>
          </p:cNvPr>
          <p:cNvSpPr>
            <a:spLocks xmlns:a="http://schemas.openxmlformats.org/drawingml/2006/main" noGrp="1"/>
          </p:cNvSpPr>
          <p:nvPr/>
        </p:nvSpPr>
        <p:spPr>
          <a:xfrm xmlns:a="http://schemas.openxmlformats.org/drawingml/2006/main">
            <a:off x="647700" y="326707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Adverse effects include GI symptoms and liver test abnormalities. Infusion reactions can cause rash, flushing, or hypotension. Rare serious effects include hemolysis, hepatic failure, renal injury, and anaphylaxis. Monitor liver and renal function during treatment. [9]</a:t>
            </a:r>
          </a:p>
        </p:txBody>
      </p:sp>
      <p:sp>
        <p:nvSpPr>
          <p:cNvPr id="4" name="paragraph-2">
            <a:extLst xmlns:a="http://schemas.openxmlformats.org/drawingml/2006/main">
              <a:ext uri="{FF2B5EF4-FFF2-40B4-BE49-F238E27FC236}">
                <a16:creationId xmlns:a16="http://schemas.microsoft.com/office/drawing/2014/main" id="{899DF312-9F41-449E-9D5A-5E5FEAA29C87}"/>
              </a:ext>
            </a:extLst>
          </p:cNvPr>
          <p:cNvSpPr>
            <a:spLocks xmlns:a="http://schemas.openxmlformats.org/drawingml/2006/main" noGrp="1"/>
          </p:cNvSpPr>
          <p:nvPr/>
        </p:nvSpPr>
        <p:spPr>
          <a:xfrm xmlns:a="http://schemas.openxmlformats.org/drawingml/2006/main">
            <a:off x="647700" y="49339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teaching Echinocandin resistance</a:t>
            </a:r>
          </a:p>
        </p:txBody>
      </p:sp>
      <p:sp>
        <p:nvSpPr>
          <p:cNvPr id="5" name="footer">
            <a:extLst xmlns:a="http://schemas.openxmlformats.org/drawingml/2006/main">
              <a:ext uri="{FF2B5EF4-FFF2-40B4-BE49-F238E27FC236}">
                <a16:creationId xmlns:a16="http://schemas.microsoft.com/office/drawing/2014/main" id="{C687165F-6531-47A3-B9C8-6D04221AD7E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9179D283-ABBD-4850-A3E4-695CF359436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52</a:t>
            </a:r>
          </a:p>
        </p:txBody>
      </p:sp>
    </p:spTree>
    <p:extLst>
      <p:ext uri="{BB962C8B-B14F-4D97-AF65-F5344CB8AC3E}">
        <p14:creationId xmlns:p14="http://schemas.microsoft.com/office/powerpoint/2010/main" val="1876186893"/>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F8383CA-5D2E-4A62-863D-EF7E9F0DA43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Amphotericin B formulations and adverse effects</a:t>
            </a:r>
          </a:p>
        </p:txBody>
      </p:sp>
      <p:sp>
        <p:nvSpPr>
          <p:cNvPr id="2" name="paragraph-0">
            <a:extLst xmlns:a="http://schemas.openxmlformats.org/drawingml/2006/main">
              <a:ext uri="{FF2B5EF4-FFF2-40B4-BE49-F238E27FC236}">
                <a16:creationId xmlns:a16="http://schemas.microsoft.com/office/drawing/2014/main" id="{5E515A9C-5EB6-42AF-8C0C-54668529734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Write the full formulation in the order. Liposomal amphotericin B, amphotericin B lipid complex, and deoxycholate differ in dose and toxicity. They are not interchangeable. Liposomal amphotericin reduces, but does not remove, nephrotoxicity and infusion reactions. [10]</a:t>
            </a:r>
          </a:p>
        </p:txBody>
      </p:sp>
      <p:sp>
        <p:nvSpPr>
          <p:cNvPr id="3" name="paragraph-1">
            <a:extLst xmlns:a="http://schemas.openxmlformats.org/drawingml/2006/main">
              <a:ext uri="{FF2B5EF4-FFF2-40B4-BE49-F238E27FC236}">
                <a16:creationId xmlns:a16="http://schemas.microsoft.com/office/drawing/2014/main" id="{AF450207-C246-4130-A589-D582E5C7AA66}"/>
              </a:ext>
            </a:extLst>
          </p:cNvPr>
          <p:cNvSpPr>
            <a:spLocks xmlns:a="http://schemas.openxmlformats.org/drawingml/2006/main" noGrp="1"/>
          </p:cNvSpPr>
          <p:nvPr/>
        </p:nvSpPr>
        <p:spPr>
          <a:xfrm xmlns:a="http://schemas.openxmlformats.org/drawingml/2006/main">
            <a:off x="647700" y="3619500"/>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Follow creatinine, potassium, magnesium, CBC, and liver tests. Check renal function and electrolytes daily initially, replace potassium and magnesium as needed, and review other nephrotoxic drugs. Consider saline hydration if volume status allows. Prepare and dilute the drug according to the formulation's label; saline hydration and the drug infusion are separate orders.</a:t>
            </a:r>
          </a:p>
        </p:txBody>
      </p:sp>
      <p:sp>
        <p:nvSpPr>
          <p:cNvPr id="4" name="footer">
            <a:extLst xmlns:a="http://schemas.openxmlformats.org/drawingml/2006/main">
              <a:ext uri="{FF2B5EF4-FFF2-40B4-BE49-F238E27FC236}">
                <a16:creationId xmlns:a16="http://schemas.microsoft.com/office/drawing/2014/main" id="{5E22A781-4535-4325-B486-A33A3588ACE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E2D6242F-EA9F-4358-BD54-8E0E8058761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53</a:t>
            </a:r>
          </a:p>
        </p:txBody>
      </p:sp>
    </p:spTree>
    <p:extLst>
      <p:ext uri="{BB962C8B-B14F-4D97-AF65-F5344CB8AC3E}">
        <p14:creationId xmlns:p14="http://schemas.microsoft.com/office/powerpoint/2010/main" val="1923735734"/>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89366CF-CFB9-44BA-8BE0-256B86302E9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Amphotericin B formulations and adverse effects</a:t>
            </a:r>
          </a:p>
        </p:txBody>
      </p:sp>
      <p:sp>
        <p:nvSpPr>
          <p:cNvPr id="2" name="paragraph-0">
            <a:extLst xmlns:a="http://schemas.openxmlformats.org/drawingml/2006/main">
              <a:ext uri="{FF2B5EF4-FFF2-40B4-BE49-F238E27FC236}">
                <a16:creationId xmlns:a16="http://schemas.microsoft.com/office/drawing/2014/main" id="{744128ED-C983-490E-AB98-2B3AD67E7ECC}"/>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Common problems include AKI, potassium/magnesium wasting, infusion fever or rigors, and anemia. Less common serious events include hypersensitivity, chest/back pain during infusion, and arrhythmias, including those promoted by electrolyte disturbances. Unexpected phosphate elevation with AmBisome may be assay interference. [10]</a:t>
            </a:r>
          </a:p>
        </p:txBody>
      </p:sp>
      <p:sp>
        <p:nvSpPr>
          <p:cNvPr id="3" name="paragraph-1">
            <a:extLst xmlns:a="http://schemas.openxmlformats.org/drawingml/2006/main">
              <a:ext uri="{FF2B5EF4-FFF2-40B4-BE49-F238E27FC236}">
                <a16:creationId xmlns:a16="http://schemas.microsoft.com/office/drawing/2014/main" id="{23F279DB-7F87-4801-8245-9E12C9DE6B06}"/>
              </a:ext>
            </a:extLst>
          </p:cNvPr>
          <p:cNvSpPr>
            <a:spLocks xmlns:a="http://schemas.openxmlformats.org/drawingml/2006/main" noGrp="1"/>
          </p:cNvSpPr>
          <p:nvPr/>
        </p:nvSpPr>
        <p:spPr>
          <a:xfrm xmlns:a="http://schemas.openxmlformats.org/drawingml/2006/main">
            <a:off x="647700" y="39719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Amphotericin formulation matters for urinary infection. See the urinary exposure table ; liposomal amphotericin is not a substitute for deoxycholate in this setting.</a:t>
            </a:r>
          </a:p>
        </p:txBody>
      </p:sp>
      <p:sp>
        <p:nvSpPr>
          <p:cNvPr id="4" name="footer">
            <a:extLst xmlns:a="http://schemas.openxmlformats.org/drawingml/2006/main">
              <a:ext uri="{FF2B5EF4-FFF2-40B4-BE49-F238E27FC236}">
                <a16:creationId xmlns:a16="http://schemas.microsoft.com/office/drawing/2014/main" id="{2376B14E-726B-467A-8522-65C63186ABC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DAE39EFB-1A92-41F4-860A-21FD333086E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54</a:t>
            </a:r>
          </a:p>
        </p:txBody>
      </p:sp>
    </p:spTree>
    <p:extLst>
      <p:ext uri="{BB962C8B-B14F-4D97-AF65-F5344CB8AC3E}">
        <p14:creationId xmlns:p14="http://schemas.microsoft.com/office/powerpoint/2010/main" val="842642526"/>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71D1600-83E4-4A84-9E35-49EC21BA462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Flucytosine / Ancobon</a:t>
            </a:r>
          </a:p>
        </p:txBody>
      </p:sp>
      <p:sp>
        <p:nvSpPr>
          <p:cNvPr id="2" name="paragraph-0">
            <a:extLst xmlns:a="http://schemas.openxmlformats.org/drawingml/2006/main">
              <a:ext uri="{FF2B5EF4-FFF2-40B4-BE49-F238E27FC236}">
                <a16:creationId xmlns:a16="http://schemas.microsoft.com/office/drawing/2014/main" id="{92716A75-6816-488A-9691-371928A36960}"/>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Flucytosine reaches the CNS and is used in selected combination induction regimens. Renal accumulation can cause marrow suppression and hepatotoxicity; GI intolerance is also common. Adjust for renal function and dialysis. Follow CBC, renal function, and liver tests closely, especially when amphotericin worsens renal clearance. [11]</a:t>
            </a:r>
          </a:p>
        </p:txBody>
      </p:sp>
      <p:sp>
        <p:nvSpPr>
          <p:cNvPr id="3" name="footer">
            <a:extLst xmlns:a="http://schemas.openxmlformats.org/drawingml/2006/main">
              <a:ext uri="{FF2B5EF4-FFF2-40B4-BE49-F238E27FC236}">
                <a16:creationId xmlns:a16="http://schemas.microsoft.com/office/drawing/2014/main" id="{6CF5C4B8-A0EE-4CF7-A924-5A6EEF3A351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7A9475F-8CED-43C7-B95D-2F76611E5F2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55</a:t>
            </a:r>
          </a:p>
        </p:txBody>
      </p:sp>
    </p:spTree>
    <p:extLst>
      <p:ext uri="{BB962C8B-B14F-4D97-AF65-F5344CB8AC3E}">
        <p14:creationId xmlns:p14="http://schemas.microsoft.com/office/powerpoint/2010/main" val="1666369350"/>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633F054-5616-4CFC-A1AE-3A284627699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CNS penetration</a:t>
            </a:r>
          </a:p>
        </p:txBody>
      </p:sp>
      <p:sp>
        <p:nvSpPr>
          <p:cNvPr id="2" name="paragraph-0">
            <a:extLst xmlns:a="http://schemas.openxmlformats.org/drawingml/2006/main">
              <a:ext uri="{FF2B5EF4-FFF2-40B4-BE49-F238E27FC236}">
                <a16:creationId xmlns:a16="http://schemas.microsoft.com/office/drawing/2014/main" id="{2B5F8019-B235-4A8C-A89F-6E354F7C8E4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CNS selection depends on the organism, clinical evidence, and drug exposure. CSF concentrations and brain tissue concentrations may differ.</a:t>
            </a:r>
          </a:p>
        </p:txBody>
      </p:sp>
      <p:sp>
        <p:nvSpPr>
          <p:cNvPr id="3" name="footer">
            <a:extLst xmlns:a="http://schemas.openxmlformats.org/drawingml/2006/main">
              <a:ext uri="{FF2B5EF4-FFF2-40B4-BE49-F238E27FC236}">
                <a16:creationId xmlns:a16="http://schemas.microsoft.com/office/drawing/2014/main" id="{69412A5A-3DAB-4BD0-9EA4-6C9BE75161D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3DF964F-A3EB-4306-BCFF-E4D83258C1C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56</a:t>
            </a:r>
          </a:p>
        </p:txBody>
      </p:sp>
    </p:spTree>
    <p:extLst>
      <p:ext uri="{BB962C8B-B14F-4D97-AF65-F5344CB8AC3E}">
        <p14:creationId xmlns:p14="http://schemas.microsoft.com/office/powerpoint/2010/main" val="643535086"/>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E8C4710-BF58-4F91-9C08-044B72B0385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CNS penetration</a:t>
            </a:r>
          </a:p>
        </p:txBody>
      </p:sp>
      <p:graphicFrame>
        <p:nvGraphicFramePr>
          <p:cNvPr id="2" name="">
            <a:extLst xmlns:a="http://schemas.openxmlformats.org/drawingml/2006/main">
              <a:ext uri="{FF2B5EF4-FFF2-40B4-BE49-F238E27FC236}">
                <a16:creationId xmlns:a16="http://schemas.microsoft.com/office/drawing/2014/main" id="{5DE1A0EC-4EA4-48A7-B745-86E95A1AC076}"/>
              </a:ext>
            </a:extLst>
          </p:cNvPr>
          <p:cNvGraphicFramePr/>
          <p:nvPr/>
        </p:nvGraphicFramePr>
        <p:xfrm>
          <a:off xmlns:a="http://schemas.openxmlformats.org/drawingml/2006/main" x="647700" y="1866900"/>
          <a:ext xmlns:a="http://schemas.openxmlformats.org/drawingml/2006/main" cx="10896600" cy="27717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Fluconazole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Size / binding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Small, about 306 Da; relatively water soluble; about 11-12% bound.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CNS finding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CSF approximately 80% of plasma in fungal meningitis.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 Aspergillus activity despite good CSF exposure.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7500334-C39F-4A1B-A76D-7742725E719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E7400E7-A0D2-4449-8BB0-C7C838DCE9A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57</a:t>
            </a:r>
          </a:p>
        </p:txBody>
      </p:sp>
    </p:spTree>
    <p:extLst>
      <p:ext uri="{BB962C8B-B14F-4D97-AF65-F5344CB8AC3E}">
        <p14:creationId xmlns:p14="http://schemas.microsoft.com/office/powerpoint/2010/main" val="413333179"/>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576046E-2EF3-4731-BCA1-DAF176ACEB7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CNS penetration</a:t>
            </a:r>
          </a:p>
        </p:txBody>
      </p:sp>
      <p:graphicFrame>
        <p:nvGraphicFramePr>
          <p:cNvPr id="2" name="">
            <a:extLst xmlns:a="http://schemas.openxmlformats.org/drawingml/2006/main">
              <a:ext uri="{FF2B5EF4-FFF2-40B4-BE49-F238E27FC236}">
                <a16:creationId xmlns:a16="http://schemas.microsoft.com/office/drawing/2014/main" id="{7603EBDF-DE27-45C6-A07C-F610FAD2104A}"/>
              </a:ext>
            </a:extLst>
          </p:cNvPr>
          <p:cNvGraphicFramePr/>
          <p:nvPr/>
        </p:nvGraphicFramePr>
        <p:xfrm>
          <a:off xmlns:a="http://schemas.openxmlformats.org/drawingml/2006/main" x="647700" y="1866900"/>
          <a:ext xmlns:a="http://schemas.openxmlformats.org/drawingml/2006/main" cx="10896600" cy="27717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Voriconazole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Size / binding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Small, about 349 Da; about 58% bound.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CNS finding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Human CSF/plasma median 0.46 in a small PK study; brain entry demonstrated.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Established preferred azole for CNS aspergillosis when the organism is susceptible.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1C65482-8E74-4A2F-A634-8362CD22416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BB6348F-3B2B-40D1-B84C-6C631C19E63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58</a:t>
            </a:r>
          </a:p>
        </p:txBody>
      </p:sp>
    </p:spTree>
    <p:extLst>
      <p:ext uri="{BB962C8B-B14F-4D97-AF65-F5344CB8AC3E}">
        <p14:creationId xmlns:p14="http://schemas.microsoft.com/office/powerpoint/2010/main" val="1410278613"/>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147A114-43C8-4B2C-8130-2AC88EB9FD9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CNS penetration</a:t>
            </a:r>
          </a:p>
        </p:txBody>
      </p:sp>
      <p:graphicFrame>
        <p:nvGraphicFramePr>
          <p:cNvPr id="2" name="">
            <a:extLst xmlns:a="http://schemas.openxmlformats.org/drawingml/2006/main">
              <a:ext uri="{FF2B5EF4-FFF2-40B4-BE49-F238E27FC236}">
                <a16:creationId xmlns:a16="http://schemas.microsoft.com/office/drawing/2014/main" id="{71FF44B8-12B4-44AC-9D8E-3C925C6CA6F0}"/>
              </a:ext>
            </a:extLst>
          </p:cNvPr>
          <p:cNvGraphicFramePr/>
          <p:nvPr/>
        </p:nvGraphicFramePr>
        <p:xfrm>
          <a:off xmlns:a="http://schemas.openxmlformats.org/drawingml/2006/main" x="647700" y="1866900"/>
          <a:ext xmlns:a="http://schemas.openxmlformats.org/drawingml/2006/main" cx="10896600" cy="27717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Itraconazole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Size / binding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Large, about 706 Da; lipophilic; 99.8% bound.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CNS finding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Low CSF concentrations despite substantial tissue distribution.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 not substitute for voriconazole in CNS aspergillosis on spectrum alone.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914C38E-2F8E-4EC9-9C0D-BC5F62B9431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E84570A-AB8D-4597-9078-8C982E2CFB1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59</a:t>
            </a:r>
          </a:p>
        </p:txBody>
      </p:sp>
    </p:spTree>
    <p:extLst>
      <p:ext uri="{BB962C8B-B14F-4D97-AF65-F5344CB8AC3E}">
        <p14:creationId xmlns:p14="http://schemas.microsoft.com/office/powerpoint/2010/main" val="234268034"/>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4A17A76-EB35-45F3-9214-7125512E3C7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CNS penetration</a:t>
            </a:r>
          </a:p>
        </p:txBody>
      </p:sp>
      <p:graphicFrame>
        <p:nvGraphicFramePr>
          <p:cNvPr id="2" name="">
            <a:extLst xmlns:a="http://schemas.openxmlformats.org/drawingml/2006/main">
              <a:ext uri="{FF2B5EF4-FFF2-40B4-BE49-F238E27FC236}">
                <a16:creationId xmlns:a16="http://schemas.microsoft.com/office/drawing/2014/main" id="{8009F71D-130B-4F2B-BE65-121202F8AFC0}"/>
              </a:ext>
            </a:extLst>
          </p:cNvPr>
          <p:cNvGraphicFramePr/>
          <p:nvPr/>
        </p:nvGraphicFramePr>
        <p:xfrm>
          <a:off xmlns:a="http://schemas.openxmlformats.org/drawingml/2006/main" x="647700" y="1866900"/>
          <a:ext xmlns:a="http://schemas.openxmlformats.org/drawingml/2006/main" cx="10896600" cy="27717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Posaconazole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Size / binding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Large, about 701 Da; lipophilic; &gt;98% bound.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CNS finding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CSF exposure often low and variable.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Selected CNS salvage use needs organism, exposure, and clinical evidence; serum levels do not directly measure brain exposure.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63137CD-B7CF-492B-BE26-B83B5F335F6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76C2FBE-AFC9-42E7-A583-5A8D568CC95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60</a:t>
            </a:r>
          </a:p>
        </p:txBody>
      </p:sp>
    </p:spTree>
    <p:extLst>
      <p:ext uri="{BB962C8B-B14F-4D97-AF65-F5344CB8AC3E}">
        <p14:creationId xmlns:p14="http://schemas.microsoft.com/office/powerpoint/2010/main" val="1633402736"/>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C66DD8F-1030-4A7F-A183-1AC8B0F64E3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CNS penetration</a:t>
            </a:r>
          </a:p>
        </p:txBody>
      </p:sp>
      <p:graphicFrame>
        <p:nvGraphicFramePr>
          <p:cNvPr id="2" name="">
            <a:extLst xmlns:a="http://schemas.openxmlformats.org/drawingml/2006/main">
              <a:ext uri="{FF2B5EF4-FFF2-40B4-BE49-F238E27FC236}">
                <a16:creationId xmlns:a16="http://schemas.microsoft.com/office/drawing/2014/main" id="{BCA569BC-E4C5-43E9-93C6-C57ACBFD579D}"/>
              </a:ext>
            </a:extLst>
          </p:cNvPr>
          <p:cNvGraphicFramePr/>
          <p:nvPr/>
        </p:nvGraphicFramePr>
        <p:xfrm>
          <a:off xmlns:a="http://schemas.openxmlformats.org/drawingml/2006/main" x="647700" y="1866900"/>
          <a:ext xmlns:a="http://schemas.openxmlformats.org/drawingml/2006/main" cx="10896600" cy="33909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Isavuconazole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Size / binding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Active drug is smaller than itraconazole/posaconazole; &gt;99% bound.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CNS finding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Brain tissue exposure has been demonstrated despite limited CSF exposure.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Potential CNS use is organism-specific; human evidence is much smaller than for voriconazole in CNS aspergillosis.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FACCFAB-A136-45A4-A0F1-C1E1862E801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2D8DCF8-4D23-4C7D-93CC-0DC882DEC25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61</a:t>
            </a:r>
          </a:p>
        </p:txBody>
      </p:sp>
    </p:spTree>
    <p:extLst>
      <p:ext uri="{BB962C8B-B14F-4D97-AF65-F5344CB8AC3E}">
        <p14:creationId xmlns:p14="http://schemas.microsoft.com/office/powerpoint/2010/main" val="1481004905"/>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C7C19B2-C7CA-4ADB-8257-21290703263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CNS penetration</a:t>
            </a:r>
          </a:p>
        </p:txBody>
      </p:sp>
      <p:sp>
        <p:nvSpPr>
          <p:cNvPr id="2" name="paragraph-0">
            <a:extLst xmlns:a="http://schemas.openxmlformats.org/drawingml/2006/main">
              <a:ext uri="{FF2B5EF4-FFF2-40B4-BE49-F238E27FC236}">
                <a16:creationId xmlns:a16="http://schemas.microsoft.com/office/drawing/2014/main" id="{3AEDB2C7-1086-4A39-9155-C4F84FFC6E16}"/>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[4] [6] [5] [7] [8] [15] [16] [17] [18]</a:t>
            </a:r>
          </a:p>
        </p:txBody>
      </p:sp>
      <p:sp>
        <p:nvSpPr>
          <p:cNvPr id="3" name="paragraph-1">
            <a:extLst xmlns:a="http://schemas.openxmlformats.org/drawingml/2006/main">
              <a:ext uri="{FF2B5EF4-FFF2-40B4-BE49-F238E27FC236}">
                <a16:creationId xmlns:a16="http://schemas.microsoft.com/office/drawing/2014/main" id="{698511E1-0738-424F-A174-0B3BB4A8FB1D}"/>
              </a:ext>
            </a:extLst>
          </p:cNvPr>
          <p:cNvSpPr>
            <a:spLocks xmlns:a="http://schemas.openxmlformats.org/drawingml/2006/main" noGrp="1"/>
          </p:cNvSpPr>
          <p:nvPr/>
        </p:nvSpPr>
        <p:spPr>
          <a:xfrm xmlns:a="http://schemas.openxmlformats.org/drawingml/2006/main">
            <a:off x="647700" y="25622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teaching See molecular structures and the pharmacology behind these differences.</a:t>
            </a:r>
          </a:p>
        </p:txBody>
      </p:sp>
      <p:sp>
        <p:nvSpPr>
          <p:cNvPr id="4" name="paragraph-2">
            <a:extLst xmlns:a="http://schemas.openxmlformats.org/drawingml/2006/main">
              <a:ext uri="{FF2B5EF4-FFF2-40B4-BE49-F238E27FC236}">
                <a16:creationId xmlns:a16="http://schemas.microsoft.com/office/drawing/2014/main" id="{94DDE051-F7D1-40AD-AECC-AA4DD6B44AF3}"/>
              </a:ext>
            </a:extLst>
          </p:cNvPr>
          <p:cNvSpPr>
            <a:spLocks xmlns:a="http://schemas.openxmlformats.org/drawingml/2006/main" noGrp="1"/>
          </p:cNvSpPr>
          <p:nvPr/>
        </p:nvSpPr>
        <p:spPr>
          <a:xfrm xmlns:a="http://schemas.openxmlformats.org/drawingml/2006/main">
            <a:off x="647700" y="35242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teaching CSF versus brain tissue</a:t>
            </a:r>
          </a:p>
        </p:txBody>
      </p:sp>
      <p:sp>
        <p:nvSpPr>
          <p:cNvPr id="5" name="footer">
            <a:extLst xmlns:a="http://schemas.openxmlformats.org/drawingml/2006/main">
              <a:ext uri="{FF2B5EF4-FFF2-40B4-BE49-F238E27FC236}">
                <a16:creationId xmlns:a16="http://schemas.microsoft.com/office/drawing/2014/main" id="{C23FE919-C2E5-4343-ACEA-0E1C1DD34D2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693C2DCF-29B5-4337-8715-A6F6FAF67A3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62</a:t>
            </a:r>
          </a:p>
        </p:txBody>
      </p:sp>
    </p:spTree>
    <p:extLst>
      <p:ext uri="{BB962C8B-B14F-4D97-AF65-F5344CB8AC3E}">
        <p14:creationId xmlns:p14="http://schemas.microsoft.com/office/powerpoint/2010/main" val="104085374"/>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203E8DF-BF3B-410F-9DEC-D7434C9D5B6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Candiduria and urinary drug concentrations</a:t>
            </a:r>
          </a:p>
        </p:txBody>
      </p:sp>
      <p:sp>
        <p:nvSpPr>
          <p:cNvPr id="2" name="paragraph-0">
            <a:extLst xmlns:a="http://schemas.openxmlformats.org/drawingml/2006/main">
              <a:ext uri="{FF2B5EF4-FFF2-40B4-BE49-F238E27FC236}">
                <a16:creationId xmlns:a16="http://schemas.microsoft.com/office/drawing/2014/main" id="{32F3B047-1505-4F9F-A23F-49F1A189B9FB}"/>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Candiduria alone does not establish infection. Asymptomatic candiduria usually needs risk-factor and catheter management, not an antifungal. IDSA exceptions include neutropenia, very low-birth-weight infants, and planned urologic manipulation. Diabetes or a chronic catheter alone is not an indication to treat.</a:t>
            </a:r>
          </a:p>
        </p:txBody>
      </p:sp>
      <p:sp>
        <p:nvSpPr>
          <p:cNvPr id="3" name="footer">
            <a:extLst xmlns:a="http://schemas.openxmlformats.org/drawingml/2006/main">
              <a:ext uri="{FF2B5EF4-FFF2-40B4-BE49-F238E27FC236}">
                <a16:creationId xmlns:a16="http://schemas.microsoft.com/office/drawing/2014/main" id="{173F922D-2ED9-454F-80EE-B6363E29ECA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A87058A-8196-4013-BB41-EB41CA526C2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63</a:t>
            </a:r>
          </a:p>
        </p:txBody>
      </p:sp>
    </p:spTree>
    <p:extLst>
      <p:ext uri="{BB962C8B-B14F-4D97-AF65-F5344CB8AC3E}">
        <p14:creationId xmlns:p14="http://schemas.microsoft.com/office/powerpoint/2010/main" val="1318779425"/>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4AAAD77-C14A-4FE6-AB92-A0447DBEDB7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Candiduria and urinary drug concentrations</a:t>
            </a:r>
          </a:p>
        </p:txBody>
      </p:sp>
      <p:graphicFrame>
        <p:nvGraphicFramePr>
          <p:cNvPr id="2" name="">
            <a:extLst xmlns:a="http://schemas.openxmlformats.org/drawingml/2006/main">
              <a:ext uri="{FF2B5EF4-FFF2-40B4-BE49-F238E27FC236}">
                <a16:creationId xmlns:a16="http://schemas.microsoft.com/office/drawing/2014/main" id="{8EC181DD-8F75-4A52-97B2-59100C47EEBE}"/>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Asymptomatic candiduria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Treatment decision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observe and remove or replace an unnecessary catheter. Assess the exceptions above.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D689B32-AB1C-4500-8CF1-A4360BB461A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68D6740-DF50-4D66-9B87-EC71E09153D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64</a:t>
            </a:r>
          </a:p>
        </p:txBody>
      </p:sp>
    </p:spTree>
    <p:extLst>
      <p:ext uri="{BB962C8B-B14F-4D97-AF65-F5344CB8AC3E}">
        <p14:creationId xmlns:p14="http://schemas.microsoft.com/office/powerpoint/2010/main" val="1341088525"/>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7A38E3C-1D95-485E-A4AB-871299A1A95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Candiduria and urinary drug concentrations</a:t>
            </a:r>
          </a:p>
        </p:txBody>
      </p:sp>
      <p:graphicFrame>
        <p:nvGraphicFramePr>
          <p:cNvPr id="2" name="">
            <a:extLst xmlns:a="http://schemas.openxmlformats.org/drawingml/2006/main">
              <a:ext uri="{FF2B5EF4-FFF2-40B4-BE49-F238E27FC236}">
                <a16:creationId xmlns:a16="http://schemas.microsoft.com/office/drawing/2014/main" id="{23FBF283-76CB-4537-98D1-E93085362BC6}"/>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Compatible cystitis symptoms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 decision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Exclude other causes. If the Candida isolate is fluconazole susceptible, fluconazole is the usual preferred drug.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4DEFEAD-39F6-4D4E-964D-9B118033D9B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CE91F31-8917-4B28-8797-C4D62A4B5B3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65</a:t>
            </a:r>
          </a:p>
        </p:txBody>
      </p:sp>
    </p:spTree>
    <p:extLst>
      <p:ext uri="{BB962C8B-B14F-4D97-AF65-F5344CB8AC3E}">
        <p14:creationId xmlns:p14="http://schemas.microsoft.com/office/powerpoint/2010/main" val="183788698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B79769F-33D2-4C7C-B113-6D020054A0E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Candiduria and urinary drug concentrations</a:t>
            </a:r>
          </a:p>
        </p:txBody>
      </p:sp>
      <p:graphicFrame>
        <p:nvGraphicFramePr>
          <p:cNvPr id="2" name="">
            <a:extLst xmlns:a="http://schemas.openxmlformats.org/drawingml/2006/main">
              <a:ext uri="{FF2B5EF4-FFF2-40B4-BE49-F238E27FC236}">
                <a16:creationId xmlns:a16="http://schemas.microsoft.com/office/drawing/2014/main" id="{A529B0A5-3892-41D8-83B9-C31E1EAAC96D}"/>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Ascending pyelonephritis or obstructed collecting system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 decision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Use a urine-active drug guided by susceptibility. Relieve obstruction; consider stent/nephrostomy removal or exchange. Fungus balls generally require intervention.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A81F9D7-11C8-4C6F-8290-7DF1B08A758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09DDCB9-D827-4DAE-8ED4-2D7E309C655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66</a:t>
            </a:r>
          </a:p>
        </p:txBody>
      </p:sp>
    </p:spTree>
    <p:extLst>
      <p:ext uri="{BB962C8B-B14F-4D97-AF65-F5344CB8AC3E}">
        <p14:creationId xmlns:p14="http://schemas.microsoft.com/office/powerpoint/2010/main" val="2022076084"/>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3171501-F04E-4F0B-8DE1-E40410E5C00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Candiduria and urinary drug concentrations</a:t>
            </a:r>
          </a:p>
        </p:txBody>
      </p:sp>
      <p:graphicFrame>
        <p:nvGraphicFramePr>
          <p:cNvPr id="2" name="">
            <a:extLst xmlns:a="http://schemas.openxmlformats.org/drawingml/2006/main">
              <a:ext uri="{FF2B5EF4-FFF2-40B4-BE49-F238E27FC236}">
                <a16:creationId xmlns:a16="http://schemas.microsoft.com/office/drawing/2014/main" id="{114B93A4-B84C-41B3-9D6B-008E716DDCE5}"/>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Candidemia with hematogenous renal involvement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 decision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Treat invasive candidiasis. Micafungin can remain appropriate because renal tissue exposure differs from drug concentration in urine.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53B9601-7B6D-43D4-9F72-FB62784A447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1652B65-B4A6-48A2-ADF4-84E83B22601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67</a:t>
            </a:r>
          </a:p>
        </p:txBody>
      </p:sp>
    </p:spTree>
    <p:extLst>
      <p:ext uri="{BB962C8B-B14F-4D97-AF65-F5344CB8AC3E}">
        <p14:creationId xmlns:p14="http://schemas.microsoft.com/office/powerpoint/2010/main" val="173922634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83FE108-7E48-4424-98E4-B4EBD0312EA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Candiduria and urinary drug concentrations</a:t>
            </a:r>
          </a:p>
        </p:txBody>
      </p:sp>
      <p:sp>
        <p:nvSpPr>
          <p:cNvPr id="2" name="paragraph-0">
            <a:extLst xmlns:a="http://schemas.openxmlformats.org/drawingml/2006/main">
              <a:ext uri="{FF2B5EF4-FFF2-40B4-BE49-F238E27FC236}">
                <a16:creationId xmlns:a16="http://schemas.microsoft.com/office/drawing/2014/main" id="{37DA6CE4-21BA-4051-AFA4-F0C5C4F15EFF}"/>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 catheterized patients, pyuria and colony count cannot reliably distinguish colonization from infection. Unexplained systemic illness, obstruction, or persistent compatible symptoms may warrant further evaluation and imaging. [1]</a:t>
            </a:r>
          </a:p>
        </p:txBody>
      </p:sp>
      <p:sp>
        <p:nvSpPr>
          <p:cNvPr id="3" name="footer">
            <a:extLst xmlns:a="http://schemas.openxmlformats.org/drawingml/2006/main">
              <a:ext uri="{FF2B5EF4-FFF2-40B4-BE49-F238E27FC236}">
                <a16:creationId xmlns:a16="http://schemas.microsoft.com/office/drawing/2014/main" id="{0B6EEE9A-867F-440A-BED0-DF28FF7B8E2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0CA54E5-BE0D-4517-82AA-8EB9A4ABF94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68</a:t>
            </a:r>
          </a:p>
        </p:txBody>
      </p:sp>
    </p:spTree>
    <p:extLst>
      <p:ext uri="{BB962C8B-B14F-4D97-AF65-F5344CB8AC3E}">
        <p14:creationId xmlns:p14="http://schemas.microsoft.com/office/powerpoint/2010/main" val="2122031553"/>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3BF4CE6-FC1C-469F-8D56-E7B3EC7FA30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Antifungal concentrations in urine</a:t>
            </a:r>
          </a:p>
        </p:txBody>
      </p:sp>
      <p:graphicFrame>
        <p:nvGraphicFramePr>
          <p:cNvPr id="2" name="">
            <a:extLst xmlns:a="http://schemas.openxmlformats.org/drawingml/2006/main">
              <a:ext uri="{FF2B5EF4-FFF2-40B4-BE49-F238E27FC236}">
                <a16:creationId xmlns:a16="http://schemas.microsoft.com/office/drawing/2014/main" id="{4041DD94-00A2-4EC0-932C-D6369D2FDECD}"/>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Fluconazole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Urinary exposure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High active-drug concentrations.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consequence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Preferred for susceptible Candida urinary infection; adjust maintenance dosing for renal function.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4EDC15F-AA43-4D89-819C-DED8A10082E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4C45BFB-25CB-4426-B50D-54594DC3DE2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69</a:t>
            </a:r>
          </a:p>
        </p:txBody>
      </p:sp>
    </p:spTree>
    <p:extLst>
      <p:ext uri="{BB962C8B-B14F-4D97-AF65-F5344CB8AC3E}">
        <p14:creationId xmlns:p14="http://schemas.microsoft.com/office/powerpoint/2010/main" val="283474706"/>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8FFEF84-1619-44CB-A855-28ED2EF177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Antifungal concentrations in urine</a:t>
            </a:r>
          </a:p>
        </p:txBody>
      </p:sp>
      <p:graphicFrame>
        <p:nvGraphicFramePr>
          <p:cNvPr id="2" name="">
            <a:extLst xmlns:a="http://schemas.openxmlformats.org/drawingml/2006/main">
              <a:ext uri="{FF2B5EF4-FFF2-40B4-BE49-F238E27FC236}">
                <a16:creationId xmlns:a16="http://schemas.microsoft.com/office/drawing/2014/main" id="{D028C756-131E-49A7-850A-315213306156}"/>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Micafungin and other echinocandins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Urinary exposure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Very poor active-drug excretion into urine.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consequence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Not routine therapy for Candida cystitis or ascending collecting-system infection. Hematogenous renal infection is a different setting.</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8E0800E-7D89-4E27-BC76-3A7A841CF1C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4427EDA-2F9E-4019-8877-9CD2EFBE725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70</a:t>
            </a:r>
          </a:p>
        </p:txBody>
      </p:sp>
    </p:spTree>
    <p:extLst>
      <p:ext uri="{BB962C8B-B14F-4D97-AF65-F5344CB8AC3E}">
        <p14:creationId xmlns:p14="http://schemas.microsoft.com/office/powerpoint/2010/main" val="215225028"/>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0C1FBF4-B25D-47D3-BB5C-E482C6E3BAC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Antifungal concentrations in urine</a:t>
            </a:r>
          </a:p>
        </p:txBody>
      </p:sp>
      <p:graphicFrame>
        <p:nvGraphicFramePr>
          <p:cNvPr id="2" name="">
            <a:extLst xmlns:a="http://schemas.openxmlformats.org/drawingml/2006/main">
              <a:ext uri="{FF2B5EF4-FFF2-40B4-BE49-F238E27FC236}">
                <a16:creationId xmlns:a16="http://schemas.microsoft.com/office/drawing/2014/main" id="{BB72F2ED-4DE8-4ED5-B6D4-1E89F2B48290}"/>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Voriconazole, itraconazole, posaconazole, isavuconazole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Urinary exposure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Low active-drug urinary exposure.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consequence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 not select a mold-active azole for Candida cystitis simply because the isolate appears susceptible.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EA644A4-3172-4AD7-A82A-13AF584C665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5BF8EB2-C9E8-4362-A80F-6BD3608ED09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71</a:t>
            </a:r>
          </a:p>
        </p:txBody>
      </p:sp>
    </p:spTree>
    <p:extLst>
      <p:ext uri="{BB962C8B-B14F-4D97-AF65-F5344CB8AC3E}">
        <p14:creationId xmlns:p14="http://schemas.microsoft.com/office/powerpoint/2010/main" val="930997078"/>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60332E2-6D45-415B-8C7A-2535E2E7509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Antifungal concentrations in urine</a:t>
            </a:r>
          </a:p>
        </p:txBody>
      </p:sp>
      <p:graphicFrame>
        <p:nvGraphicFramePr>
          <p:cNvPr id="2" name="">
            <a:extLst xmlns:a="http://schemas.openxmlformats.org/drawingml/2006/main">
              <a:ext uri="{FF2B5EF4-FFF2-40B4-BE49-F238E27FC236}">
                <a16:creationId xmlns:a16="http://schemas.microsoft.com/office/drawing/2014/main" id="{E3F13625-7720-4E46-A5CD-C89D0965412D}"/>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Amphotericin B deoxycholate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Urinary exposure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Useful urinary concentrations.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consequence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Selected resistant Candida urinary infections; substantial toxicity limits use.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B967A60-F54B-4D88-AFB4-6F49DA022AF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BD5441A-77F8-4562-A214-1DFA4E7B147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72</a:t>
            </a:r>
          </a:p>
        </p:txBody>
      </p:sp>
    </p:spTree>
    <p:extLst>
      <p:ext uri="{BB962C8B-B14F-4D97-AF65-F5344CB8AC3E}">
        <p14:creationId xmlns:p14="http://schemas.microsoft.com/office/powerpoint/2010/main" val="764967212"/>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B247B70-AF17-4DDF-9251-3ACDE3CD0EB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Antifungal concentrations in urine</a:t>
            </a:r>
          </a:p>
        </p:txBody>
      </p:sp>
      <p:graphicFrame>
        <p:nvGraphicFramePr>
          <p:cNvPr id="2" name="">
            <a:extLst xmlns:a="http://schemas.openxmlformats.org/drawingml/2006/main">
              <a:ext uri="{FF2B5EF4-FFF2-40B4-BE49-F238E27FC236}">
                <a16:creationId xmlns:a16="http://schemas.microsoft.com/office/drawing/2014/main" id="{0C0CF80D-D3AA-438F-A9A9-42A7C2174344}"/>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Liposomal amphotericin B and other lipid formulations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Urinary exposure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Inadequate urinary concentrations for routine Candida UTI treatment.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consequence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Not interchangeable with deoxycholate for this indication.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32362E7-C5F9-4C0E-B822-38F219A34A7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235098C-3381-4D22-A364-8A527D65CAD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73</a:t>
            </a:r>
          </a:p>
        </p:txBody>
      </p:sp>
    </p:spTree>
    <p:extLst>
      <p:ext uri="{BB962C8B-B14F-4D97-AF65-F5344CB8AC3E}">
        <p14:creationId xmlns:p14="http://schemas.microsoft.com/office/powerpoint/2010/main" val="489490703"/>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8F20903-150A-499D-8D40-A4A899E0186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Antifungal concentrations in urine</a:t>
            </a:r>
          </a:p>
        </p:txBody>
      </p:sp>
      <p:graphicFrame>
        <p:nvGraphicFramePr>
          <p:cNvPr id="2" name="">
            <a:extLst xmlns:a="http://schemas.openxmlformats.org/drawingml/2006/main">
              <a:ext uri="{FF2B5EF4-FFF2-40B4-BE49-F238E27FC236}">
                <a16:creationId xmlns:a16="http://schemas.microsoft.com/office/drawing/2014/main" id="{44BAF59C-3C41-4923-9A05-23EF971B9CD0}"/>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Flucytosine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Urinary exposure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High active-drug urinary concentrations.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consequence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Selected resistant C. glabrata infections; not reliable for C. krusei. Renal accumulation, marrow toxicity, and resistance limit use.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00C15D4-C340-4DD1-BDE9-7D0E6613E0A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ED9282B-E271-4B43-B09A-29AACEEC10C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74</a:t>
            </a:r>
          </a:p>
        </p:txBody>
      </p:sp>
    </p:spTree>
    <p:extLst>
      <p:ext uri="{BB962C8B-B14F-4D97-AF65-F5344CB8AC3E}">
        <p14:creationId xmlns:p14="http://schemas.microsoft.com/office/powerpoint/2010/main" val="1797766582"/>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63F4990-C8E5-42B2-B79A-BC772D6753B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Antifungal concentrations in urine</a:t>
            </a:r>
          </a:p>
        </p:txBody>
      </p:sp>
      <p:sp>
        <p:nvSpPr>
          <p:cNvPr id="2" name="paragraph-0">
            <a:extLst xmlns:a="http://schemas.openxmlformats.org/drawingml/2006/main">
              <a:ext uri="{FF2B5EF4-FFF2-40B4-BE49-F238E27FC236}">
                <a16:creationId xmlns:a16="http://schemas.microsoft.com/office/drawing/2014/main" id="{0F04619A-08F4-43F7-AD50-DAB3196CD8B9}"/>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a:t>
            </a:r>
          </a:p>
        </p:txBody>
      </p:sp>
      <p:sp>
        <p:nvSpPr>
          <p:cNvPr id="3" name="footer">
            <a:extLst xmlns:a="http://schemas.openxmlformats.org/drawingml/2006/main">
              <a:ext uri="{FF2B5EF4-FFF2-40B4-BE49-F238E27FC236}">
                <a16:creationId xmlns:a16="http://schemas.microsoft.com/office/drawing/2014/main" id="{4D532E52-2DA3-48B4-A326-4D7D98BBF56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A18ECEF-8138-4DFB-AA0A-F29273460E9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75</a:t>
            </a:r>
          </a:p>
        </p:txBody>
      </p:sp>
    </p:spTree>
    <p:extLst>
      <p:ext uri="{BB962C8B-B14F-4D97-AF65-F5344CB8AC3E}">
        <p14:creationId xmlns:p14="http://schemas.microsoft.com/office/powerpoint/2010/main" val="2068306457"/>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193FB85-7E21-4A0E-B0B9-2D155AEB3E1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Selected adult doses</a:t>
            </a:r>
          </a:p>
        </p:txBody>
      </p:sp>
      <p:sp>
        <p:nvSpPr>
          <p:cNvPr id="2" name="paragraph-0">
            <a:extLst xmlns:a="http://schemas.openxmlformats.org/drawingml/2006/main">
              <a:ext uri="{FF2B5EF4-FFF2-40B4-BE49-F238E27FC236}">
                <a16:creationId xmlns:a16="http://schemas.microsoft.com/office/drawing/2014/main" id="{DB247C1C-0040-4DB3-8FCD-F051C7794E4E}"/>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doses below assume normal organ function. Confirm the indication, weight, formulation, hepatic function, and renal replacement requirements before prescribing.</a:t>
            </a:r>
          </a:p>
        </p:txBody>
      </p:sp>
      <p:sp>
        <p:nvSpPr>
          <p:cNvPr id="3" name="footer">
            <a:extLst xmlns:a="http://schemas.openxmlformats.org/drawingml/2006/main">
              <a:ext uri="{FF2B5EF4-FFF2-40B4-BE49-F238E27FC236}">
                <a16:creationId xmlns:a16="http://schemas.microsoft.com/office/drawing/2014/main" id="{98953065-99AD-49DD-92A9-FE25A501276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5B8D172-DB69-45B9-94C0-9EFAF67CD08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76</a:t>
            </a:r>
          </a:p>
        </p:txBody>
      </p:sp>
    </p:spTree>
    <p:extLst>
      <p:ext uri="{BB962C8B-B14F-4D97-AF65-F5344CB8AC3E}">
        <p14:creationId xmlns:p14="http://schemas.microsoft.com/office/powerpoint/2010/main" val="554161250"/>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428F63C-1587-4EE9-A534-04C7C47C1B3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Selected adult doses</a:t>
            </a:r>
          </a:p>
        </p:txBody>
      </p:sp>
      <p:graphicFrame>
        <p:nvGraphicFramePr>
          <p:cNvPr id="2" name="">
            <a:extLst xmlns:a="http://schemas.openxmlformats.org/drawingml/2006/main">
              <a:ext uri="{FF2B5EF4-FFF2-40B4-BE49-F238E27FC236}">
                <a16:creationId xmlns:a16="http://schemas.microsoft.com/office/drawing/2014/main" id="{850A1767-78E0-4E38-8016-A5FED909C941}"/>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Fluconazole / selected invasive Candida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Loading and maintenance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800 mg (12 mg/kg) once, then 400 mg (6 mg/kg) daily. Higher doses apply to some susceptible isolates or other indications.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error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Omitting a load or forgetting renal maintenance adjustment.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3870FB0-6E0F-45D4-98A7-6668FE90041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9E79A3C-968C-44E2-A255-DFF7635CCF6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77</a:t>
            </a:r>
          </a:p>
        </p:txBody>
      </p:sp>
    </p:spTree>
    <p:extLst>
      <p:ext uri="{BB962C8B-B14F-4D97-AF65-F5344CB8AC3E}">
        <p14:creationId xmlns:p14="http://schemas.microsoft.com/office/powerpoint/2010/main" val="449119104"/>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B795172-68C5-4694-8651-D61025F6EFE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Selected adult doses</a:t>
            </a:r>
          </a:p>
        </p:txBody>
      </p:sp>
      <p:graphicFrame>
        <p:nvGraphicFramePr>
          <p:cNvPr id="2" name="">
            <a:extLst xmlns:a="http://schemas.openxmlformats.org/drawingml/2006/main">
              <a:ext uri="{FF2B5EF4-FFF2-40B4-BE49-F238E27FC236}">
                <a16:creationId xmlns:a16="http://schemas.microsoft.com/office/drawing/2014/main" id="{4F02AF1D-B195-40DF-BE57-09B81F72D2E1}"/>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Micafungin / candidemia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Loading and maintenance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100 mg IV daily; no routine loading dose.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Common error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Using 100 mg as a universal dose. Esophageal candidiasis uses 150 mg daily; endocarditis is a separate high-dose strategy.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D418B8C-5A42-4176-8444-6BCBEDC7EDF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C3E1C95-0367-4E63-9C38-9250BD0F171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78</a:t>
            </a:r>
          </a:p>
        </p:txBody>
      </p:sp>
    </p:spTree>
    <p:extLst>
      <p:ext uri="{BB962C8B-B14F-4D97-AF65-F5344CB8AC3E}">
        <p14:creationId xmlns:p14="http://schemas.microsoft.com/office/powerpoint/2010/main" val="465080384"/>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328F2BA-6405-4D32-A42B-3E1F5CDEA94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Selected adult doses</a:t>
            </a:r>
          </a:p>
        </p:txBody>
      </p:sp>
      <p:graphicFrame>
        <p:nvGraphicFramePr>
          <p:cNvPr id="2" name="">
            <a:extLst xmlns:a="http://schemas.openxmlformats.org/drawingml/2006/main">
              <a:ext uri="{FF2B5EF4-FFF2-40B4-BE49-F238E27FC236}">
                <a16:creationId xmlns:a16="http://schemas.microsoft.com/office/drawing/2014/main" id="{BF0592FA-E2CC-4B4F-9250-5A2165B30D74}"/>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Caspofungin / candidemia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Loading and maintenance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70 mg IV once, then 50 mg daily.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error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Forgetting the loading dose. Hepatic dosing and interactions need individual review.</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21CB179-5EB1-4C97-8A14-3F0303AE3E7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554B2AD-857C-47A4-9E28-15232C82F2B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79</a:t>
            </a:r>
          </a:p>
        </p:txBody>
      </p:sp>
    </p:spTree>
    <p:extLst>
      <p:ext uri="{BB962C8B-B14F-4D97-AF65-F5344CB8AC3E}">
        <p14:creationId xmlns:p14="http://schemas.microsoft.com/office/powerpoint/2010/main" val="1212597649"/>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2C2FF25-5651-4B87-BBC7-A3D8746AD8C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Selected adult doses</a:t>
            </a:r>
          </a:p>
        </p:txBody>
      </p:sp>
      <p:graphicFrame>
        <p:nvGraphicFramePr>
          <p:cNvPr id="2" name="">
            <a:extLst xmlns:a="http://schemas.openxmlformats.org/drawingml/2006/main">
              <a:ext uri="{FF2B5EF4-FFF2-40B4-BE49-F238E27FC236}">
                <a16:creationId xmlns:a16="http://schemas.microsoft.com/office/drawing/2014/main" id="{4872F803-C143-4E9E-A850-D32BB70CE870}"/>
              </a:ext>
            </a:extLst>
          </p:cNvPr>
          <p:cNvGraphicFramePr/>
          <p:nvPr/>
        </p:nvGraphicFramePr>
        <p:xfrm>
          <a:off xmlns:a="http://schemas.openxmlformats.org/drawingml/2006/main" x="647700" y="1866900"/>
          <a:ext xmlns:a="http://schemas.openxmlformats.org/drawingml/2006/main" cx="10896600" cy="19240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Anidulafungin / candidemia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Loading and maintenance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200 mg IV once, then 100 mg daily.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Common error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Forgetting the loading dose.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6CB9910-BCD0-42B4-B897-FD2F1987EAE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304DF8C-9C9D-4D2F-AB05-D5592A41C79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80</a:t>
            </a:r>
          </a:p>
        </p:txBody>
      </p:sp>
    </p:spTree>
    <p:extLst>
      <p:ext uri="{BB962C8B-B14F-4D97-AF65-F5344CB8AC3E}">
        <p14:creationId xmlns:p14="http://schemas.microsoft.com/office/powerpoint/2010/main" val="924592073"/>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39A760B-32B6-4E44-9111-6E44CCA95AA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Selected adult doses</a:t>
            </a:r>
          </a:p>
        </p:txBody>
      </p:sp>
      <p:graphicFrame>
        <p:nvGraphicFramePr>
          <p:cNvPr id="2" name="">
            <a:extLst xmlns:a="http://schemas.openxmlformats.org/drawingml/2006/main">
              <a:ext uri="{FF2B5EF4-FFF2-40B4-BE49-F238E27FC236}">
                <a16:creationId xmlns:a16="http://schemas.microsoft.com/office/drawing/2014/main" id="{7475EC96-8D92-42A0-926C-6BDA12DD2933}"/>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Voriconazole / invasive aspergillosis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Loading and maintenance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IV 6 mg/kg every 12 h for 2 doses, then 4 mg/kg every 12 h. Oral regimens differ; confirm weight and label, then guide with TDM.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error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Treating the oral and IV regimens as identical mg/kg doses.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BE2D097-646C-432C-B38D-B6BB58F5EB4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BED5CFA-10CD-40F8-A22D-180CF9FFDB8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81</a:t>
            </a:r>
          </a:p>
        </p:txBody>
      </p:sp>
    </p:spTree>
    <p:extLst>
      <p:ext uri="{BB962C8B-B14F-4D97-AF65-F5344CB8AC3E}">
        <p14:creationId xmlns:p14="http://schemas.microsoft.com/office/powerpoint/2010/main" val="332778200"/>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3C69CCC-CCF6-4288-837A-6D5D2A51150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Selected adult doses</a:t>
            </a:r>
          </a:p>
        </p:txBody>
      </p:sp>
      <p:graphicFrame>
        <p:nvGraphicFramePr>
          <p:cNvPr id="2" name="">
            <a:extLst xmlns:a="http://schemas.openxmlformats.org/drawingml/2006/main">
              <a:ext uri="{FF2B5EF4-FFF2-40B4-BE49-F238E27FC236}">
                <a16:creationId xmlns:a16="http://schemas.microsoft.com/office/drawing/2014/main" id="{976B92B0-C592-4236-8166-EF17E8B12953}"/>
              </a:ext>
            </a:extLst>
          </p:cNvPr>
          <p:cNvGraphicFramePr/>
          <p:nvPr/>
        </p:nvGraphicFramePr>
        <p:xfrm>
          <a:off xmlns:a="http://schemas.openxmlformats.org/drawingml/2006/main" x="647700" y="1866900"/>
          <a:ext xmlns:a="http://schemas.openxmlformats.org/drawingml/2006/main" cx="10896600" cy="19240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Posaconazole / adult DR tablet or IV mold regimen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Loading and maintenance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300 mg every 12 h on day 1, then 300 mg daily.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Common error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Applying this regimen to conventional suspension.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13838F1-D1B8-4726-A002-813AB64E950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5730C1F-0232-4C8E-9F2E-7F7CFCBE9D0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82</a:t>
            </a:r>
          </a:p>
        </p:txBody>
      </p:sp>
    </p:spTree>
    <p:extLst>
      <p:ext uri="{BB962C8B-B14F-4D97-AF65-F5344CB8AC3E}">
        <p14:creationId xmlns:p14="http://schemas.microsoft.com/office/powerpoint/2010/main" val="1091319499"/>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BDC77B6-EFF2-42E5-9BBE-9D588FC697F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Selected adult doses</a:t>
            </a:r>
          </a:p>
        </p:txBody>
      </p:sp>
      <p:graphicFrame>
        <p:nvGraphicFramePr>
          <p:cNvPr id="2" name="">
            <a:extLst xmlns:a="http://schemas.openxmlformats.org/drawingml/2006/main">
              <a:ext uri="{FF2B5EF4-FFF2-40B4-BE49-F238E27FC236}">
                <a16:creationId xmlns:a16="http://schemas.microsoft.com/office/drawing/2014/main" id="{95D71EA5-A0F0-479B-96BA-A5860BC52441}"/>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Isavuconazonium / adult mold regimen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Loading and maintenance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372 mg every 8 h for 6 doses, then 372 mg daily, starting 12-24 h after the last loading dose.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error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Confusing prodrug milligrams with the 200 mg active-drug equivalent.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1B4715A-775D-45D6-964A-C17F7A7160B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EA2067C-123F-49BF-B700-5BA869848EE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83</a:t>
            </a:r>
          </a:p>
        </p:txBody>
      </p:sp>
    </p:spTree>
    <p:extLst>
      <p:ext uri="{BB962C8B-B14F-4D97-AF65-F5344CB8AC3E}">
        <p14:creationId xmlns:p14="http://schemas.microsoft.com/office/powerpoint/2010/main" val="38835873"/>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465E036-C8A8-44B5-A086-A67AD6DDA91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Selected adult doses</a:t>
            </a:r>
          </a:p>
        </p:txBody>
      </p:sp>
      <p:graphicFrame>
        <p:nvGraphicFramePr>
          <p:cNvPr id="2" name="">
            <a:extLst xmlns:a="http://schemas.openxmlformats.org/drawingml/2006/main">
              <a:ext uri="{FF2B5EF4-FFF2-40B4-BE49-F238E27FC236}">
                <a16:creationId xmlns:a16="http://schemas.microsoft.com/office/drawing/2014/main" id="{196054CF-D138-4EF1-B9FC-55E1D7644BD2}"/>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Liposomal amphotericin 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Loading and maintenance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Often 3-5 mg/kg/day for selected invasive infections. Mucormycosis generally 5-10 mg/kg/day; CNS mucormycosis commonly 10 mg/kg/day.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error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Assuming every fungus and compartment needs the same dose.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A8C37CA-E453-4219-9CA6-8313A0EF7F9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7A511A4-361E-46AB-BA91-BF8ACC29E83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84</a:t>
            </a:r>
          </a:p>
        </p:txBody>
      </p:sp>
    </p:spTree>
    <p:extLst>
      <p:ext uri="{BB962C8B-B14F-4D97-AF65-F5344CB8AC3E}">
        <p14:creationId xmlns:p14="http://schemas.microsoft.com/office/powerpoint/2010/main" val="2028701814"/>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969F8FD-D461-4F0F-8C3B-43537461634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Selected adult doses</a:t>
            </a:r>
          </a:p>
        </p:txBody>
      </p:sp>
      <p:graphicFrame>
        <p:nvGraphicFramePr>
          <p:cNvPr id="2" name="">
            <a:extLst xmlns:a="http://schemas.openxmlformats.org/drawingml/2006/main">
              <a:ext uri="{FF2B5EF4-FFF2-40B4-BE49-F238E27FC236}">
                <a16:creationId xmlns:a16="http://schemas.microsoft.com/office/drawing/2014/main" id="{13890720-120B-4E04-B27C-A05BD101583F}"/>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Flucytosine / selected combination induction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Loading and maintenance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25 mg/kg orally every 6 h with normal renal function.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error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Failing to adjust the dose interval as renal function changes.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7939816-549D-4008-9DB6-687FE33348A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1524CE2-19D3-4F2E-9EB4-114AD18D23A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85</a:t>
            </a:r>
          </a:p>
        </p:txBody>
      </p:sp>
    </p:spTree>
    <p:extLst>
      <p:ext uri="{BB962C8B-B14F-4D97-AF65-F5344CB8AC3E}">
        <p14:creationId xmlns:p14="http://schemas.microsoft.com/office/powerpoint/2010/main" val="869744018"/>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4E27CEB-861D-4773-951D-AAAE8440BF2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Selected adult doses</a:t>
            </a:r>
          </a:p>
        </p:txBody>
      </p:sp>
      <p:sp>
        <p:nvSpPr>
          <p:cNvPr id="2" name="paragraph-0">
            <a:extLst xmlns:a="http://schemas.openxmlformats.org/drawingml/2006/main">
              <a:ext uri="{FF2B5EF4-FFF2-40B4-BE49-F238E27FC236}">
                <a16:creationId xmlns:a16="http://schemas.microsoft.com/office/drawing/2014/main" id="{F9132EE1-F108-4528-8676-59DEC5CF5552}"/>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 [2] [7] [8] [19] [11]</a:t>
            </a:r>
          </a:p>
        </p:txBody>
      </p:sp>
      <p:sp>
        <p:nvSpPr>
          <p:cNvPr id="3" name="footer">
            <a:extLst xmlns:a="http://schemas.openxmlformats.org/drawingml/2006/main">
              <a:ext uri="{FF2B5EF4-FFF2-40B4-BE49-F238E27FC236}">
                <a16:creationId xmlns:a16="http://schemas.microsoft.com/office/drawing/2014/main" id="{E8D7A908-1EB2-4C96-BA02-F032D2FD794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909D6CC-96E4-439E-88AE-6A1E75E6A79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86</a:t>
            </a:r>
          </a:p>
        </p:txBody>
      </p:sp>
    </p:spTree>
    <p:extLst>
      <p:ext uri="{BB962C8B-B14F-4D97-AF65-F5344CB8AC3E}">
        <p14:creationId xmlns:p14="http://schemas.microsoft.com/office/powerpoint/2010/main" val="318356915"/>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15004D9-9BF9-4EFC-9DD6-2F88D58F713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Toxicity monitoring and interactions</a:t>
            </a:r>
          </a:p>
        </p:txBody>
      </p:sp>
      <p:sp>
        <p:nvSpPr>
          <p:cNvPr id="2" name="paragraph-0">
            <a:extLst xmlns:a="http://schemas.openxmlformats.org/drawingml/2006/main">
              <a:ext uri="{FF2B5EF4-FFF2-40B4-BE49-F238E27FC236}">
                <a16:creationId xmlns:a16="http://schemas.microsoft.com/office/drawing/2014/main" id="{6A99DF81-42AA-4637-A3E5-E0123A63AE75}"/>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baseline renal function, electrolytes, and liver tests for systemic therapy; add CBC when using amphotericin or flucytosine. Review ECG/QTc when an azole or interacting drugs create arrhythmia risk. Correct potassium and magnesium abnormalities. During prolonged azole treatment, repeat liver tests early, often weekly initially, then space them according to stability and the agent's label. Voriconazole labeling specifies at least weekly liver tests for the first month, then monthly if stable. Check BP and potassium on posaconazole or itraconazole.</a:t>
            </a:r>
          </a:p>
        </p:txBody>
      </p:sp>
      <p:sp>
        <p:nvSpPr>
          <p:cNvPr id="3" name="paragraph-1">
            <a:extLst xmlns:a="http://schemas.openxmlformats.org/drawingml/2006/main">
              <a:ext uri="{FF2B5EF4-FFF2-40B4-BE49-F238E27FC236}">
                <a16:creationId xmlns:a16="http://schemas.microsoft.com/office/drawing/2014/main" id="{7A5F66CA-319A-4B8E-A894-EAB128955E97}"/>
              </a:ext>
            </a:extLst>
          </p:cNvPr>
          <p:cNvSpPr>
            <a:spLocks xmlns:a="http://schemas.openxmlformats.org/drawingml/2006/main" noGrp="1"/>
          </p:cNvSpPr>
          <p:nvPr/>
        </p:nvSpPr>
        <p:spPr>
          <a:xfrm xmlns:a="http://schemas.openxmlformats.org/drawingml/2006/main">
            <a:off x="647700" y="50292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amphotericin and flucytosine, renal changes require prompt reassessment of dosing, toxicity, and monitoring frequency. [6] [7] [10] [11]</a:t>
            </a:r>
          </a:p>
        </p:txBody>
      </p:sp>
      <p:sp>
        <p:nvSpPr>
          <p:cNvPr id="4" name="footer">
            <a:extLst xmlns:a="http://schemas.openxmlformats.org/drawingml/2006/main">
              <a:ext uri="{FF2B5EF4-FFF2-40B4-BE49-F238E27FC236}">
                <a16:creationId xmlns:a16="http://schemas.microsoft.com/office/drawing/2014/main" id="{2A7C69BE-7B90-463D-B6B7-79C1F2B30A4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D9629258-AFA9-469E-BEEB-D549F686495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87</a:t>
            </a:r>
          </a:p>
        </p:txBody>
      </p:sp>
    </p:spTree>
    <p:extLst>
      <p:ext uri="{BB962C8B-B14F-4D97-AF65-F5344CB8AC3E}">
        <p14:creationId xmlns:p14="http://schemas.microsoft.com/office/powerpoint/2010/main" val="369703022"/>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A02CA45-CACA-4952-97DA-096004A1267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interactions when starting and stopping</a:t>
            </a:r>
          </a:p>
        </p:txBody>
      </p:sp>
      <p:sp>
        <p:nvSpPr>
          <p:cNvPr id="2" name="paragraph-0">
            <a:extLst xmlns:a="http://schemas.openxmlformats.org/drawingml/2006/main">
              <a:ext uri="{FF2B5EF4-FFF2-40B4-BE49-F238E27FC236}">
                <a16:creationId xmlns:a16="http://schemas.microsoft.com/office/drawing/2014/main" id="{C24D6B46-0094-4591-B564-BCD25FFD40CF}"/>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Review calcineurin/mTOR inhibitors, venetoclax and other targeted cancer therapies, vinca alkaloids, DOACs, warfarin, statins, sedatives, and QT-active drugs. Rifamycins and other strong inducers can cause antifungal underexposure. The interaction can reverse after stopping the azole, requiring another dose adjustment and repeat monitoring. [3]</a:t>
            </a:r>
          </a:p>
        </p:txBody>
      </p:sp>
      <p:sp>
        <p:nvSpPr>
          <p:cNvPr id="3" name="footer">
            <a:extLst xmlns:a="http://schemas.openxmlformats.org/drawingml/2006/main">
              <a:ext uri="{FF2B5EF4-FFF2-40B4-BE49-F238E27FC236}">
                <a16:creationId xmlns:a16="http://schemas.microsoft.com/office/drawing/2014/main" id="{AB39D107-B828-4477-89F3-7B9218A8079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49B9D62-CEBD-4D6D-9049-FEDE74235DC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88</a:t>
            </a:r>
          </a:p>
        </p:txBody>
      </p:sp>
    </p:spTree>
    <p:extLst>
      <p:ext uri="{BB962C8B-B14F-4D97-AF65-F5344CB8AC3E}">
        <p14:creationId xmlns:p14="http://schemas.microsoft.com/office/powerpoint/2010/main" val="1588719027"/>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E349B56-0802-4B5E-8694-1009B98BD6D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Therapeutic drug monitoring</a:t>
            </a:r>
          </a:p>
        </p:txBody>
      </p:sp>
      <p:sp>
        <p:nvSpPr>
          <p:cNvPr id="2" name="paragraph-0">
            <a:extLst xmlns:a="http://schemas.openxmlformats.org/drawingml/2006/main">
              <a:ext uri="{FF2B5EF4-FFF2-40B4-BE49-F238E27FC236}">
                <a16:creationId xmlns:a16="http://schemas.microsoft.com/office/drawing/2014/main" id="{4DF46D80-FD9D-4A99-B8F8-C818A67BDCC1}"/>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Document the last dose, draw time, formulation, recent missed doses, food/tube feed administration, interacting drugs, and the indication-specific target. mg/L and mcg/mL are numerically equivalent. Repeat a level after a meaningful dose, route, formulation, interaction, absorption, or clinical change. [14]</a:t>
            </a:r>
          </a:p>
        </p:txBody>
      </p:sp>
      <p:sp>
        <p:nvSpPr>
          <p:cNvPr id="3" name="footer">
            <a:extLst xmlns:a="http://schemas.openxmlformats.org/drawingml/2006/main">
              <a:ext uri="{FF2B5EF4-FFF2-40B4-BE49-F238E27FC236}">
                <a16:creationId xmlns:a16="http://schemas.microsoft.com/office/drawing/2014/main" id="{20778B02-8A3C-49E6-AF79-D0379429EC9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0685079-4975-4E93-BADA-4EAE93FE99B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89</a:t>
            </a:r>
          </a:p>
        </p:txBody>
      </p:sp>
    </p:spTree>
    <p:extLst>
      <p:ext uri="{BB962C8B-B14F-4D97-AF65-F5344CB8AC3E}">
        <p14:creationId xmlns:p14="http://schemas.microsoft.com/office/powerpoint/2010/main" val="476850857"/>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091DDE6-5218-4A32-8779-51AB3567FA7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Therapeutic drug monitoring</a:t>
            </a:r>
          </a:p>
        </p:txBody>
      </p:sp>
      <p:graphicFrame>
        <p:nvGraphicFramePr>
          <p:cNvPr id="2" name="">
            <a:extLst xmlns:a="http://schemas.openxmlformats.org/drawingml/2006/main">
              <a:ext uri="{FF2B5EF4-FFF2-40B4-BE49-F238E27FC236}">
                <a16:creationId xmlns:a16="http://schemas.microsoft.com/office/drawing/2014/main" id="{85E2E406-A4D1-4865-B4C1-AB514D817C95}"/>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Voriconazole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first assessment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trough at about day 3-5 after loading is common; earlier day 2-3 assessment is possible.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Measure the parent drug. Common treatment targets are &gt;1-2 mg/L with an upper boundary around 5-5.5 mg/L; severe/CNS disease often prompts a higher minimum within the range. Targets vary by protocol.</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7E8A99B-0F7E-45C8-AEF7-80A7A70CAB0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BF2ABAC-5480-48E5-BA17-81203BF90AD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90</a:t>
            </a:r>
          </a:p>
        </p:txBody>
      </p:sp>
    </p:spTree>
    <p:extLst>
      <p:ext uri="{BB962C8B-B14F-4D97-AF65-F5344CB8AC3E}">
        <p14:creationId xmlns:p14="http://schemas.microsoft.com/office/powerpoint/2010/main" val="1549266748"/>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7B7E90C-6340-4E0A-93FD-173E1D4E49C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Therapeutic drug monitoring</a:t>
            </a:r>
          </a:p>
        </p:txBody>
      </p:sp>
      <p:graphicFrame>
        <p:nvGraphicFramePr>
          <p:cNvPr id="2" name="">
            <a:extLst xmlns:a="http://schemas.openxmlformats.org/drawingml/2006/main">
              <a:ext uri="{FF2B5EF4-FFF2-40B4-BE49-F238E27FC236}">
                <a16:creationId xmlns:a16="http://schemas.microsoft.com/office/drawing/2014/main" id="{38A8F7CA-65A7-4A94-A1AD-DCEBD6403547}"/>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Itraconazole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first assessment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About day 5-7 after loading; about day 10-14 without loading.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2395538">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Histoplasmosis, parent-only chromatographic assay: &gt;1 mg/L and generally &lt;3-4 mg/L. Combined itraconazole + hydroxyitraconazole: use the indication-specific protocol. The 2026 IDSA aspergillosis pharmacology appendix lists expert treatment targets &gt;1-2 mg/L and an upper boundary &lt;5 mg/L . These combined thresholds are not interchangeable with the parent-only range. [3] [12]</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7ADE467-B1BE-4054-9820-C38D53E07FE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38EDED9-FC58-461F-B68E-B295410B04C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91</a:t>
            </a:r>
          </a:p>
        </p:txBody>
      </p:sp>
    </p:spTree>
    <p:extLst>
      <p:ext uri="{BB962C8B-B14F-4D97-AF65-F5344CB8AC3E}">
        <p14:creationId xmlns:p14="http://schemas.microsoft.com/office/powerpoint/2010/main" val="254152094"/>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CF129BC-5E84-4427-B37F-EDE91EF0EC4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Therapeutic drug monitoring</a:t>
            </a:r>
          </a:p>
        </p:txBody>
      </p:sp>
      <p:graphicFrame>
        <p:nvGraphicFramePr>
          <p:cNvPr id="2" name="">
            <a:extLst xmlns:a="http://schemas.openxmlformats.org/drawingml/2006/main">
              <a:ext uri="{FF2B5EF4-FFF2-40B4-BE49-F238E27FC236}">
                <a16:creationId xmlns:a16="http://schemas.microsoft.com/office/drawing/2014/main" id="{CA22B81E-B9E8-4DA6-87D4-9F16343837CF}"/>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Posaconazole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first assessment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trough at about day 5-7 after loading.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 commonly used prophylaxis target is at least 0.7 mg/L. Treatment targets are commonly &gt;1-1.25 mg/L. An upper safety boundary is less settled; high exposure should prompt toxicity review.</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E9DBD2B-9FD3-44A0-9CC5-B8F37EBA645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B19A1EC-2FBE-4C3E-88D4-8D65E4517E5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92</a:t>
            </a:r>
          </a:p>
        </p:txBody>
      </p:sp>
    </p:spTree>
    <p:extLst>
      <p:ext uri="{BB962C8B-B14F-4D97-AF65-F5344CB8AC3E}">
        <p14:creationId xmlns:p14="http://schemas.microsoft.com/office/powerpoint/2010/main" val="573648354"/>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FD03878-CDCC-4140-AB5F-28023C53D1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Therapeutic drug monitoring</a:t>
            </a:r>
          </a:p>
        </p:txBody>
      </p:sp>
      <p:graphicFrame>
        <p:nvGraphicFramePr>
          <p:cNvPr id="2" name="">
            <a:extLst xmlns:a="http://schemas.openxmlformats.org/drawingml/2006/main">
              <a:ext uri="{FF2B5EF4-FFF2-40B4-BE49-F238E27FC236}">
                <a16:creationId xmlns:a16="http://schemas.microsoft.com/office/drawing/2014/main" id="{1F87E2AB-2C97-41D7-BDBE-4AD893E073F0}"/>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Isavuconazole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first assessment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Selective TDM, particularly unexpected failure/toxicity, absorption concerns, or unusual PK.</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 universally validated therapeutic window. Some centers use routine levels; others do not. Do not import voriconazole targets.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66854D6-6124-4A09-95EA-4197017ABB9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3DCEAA6-554E-4C7E-9A1C-7EBAE4EE2A1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93</a:t>
            </a:r>
          </a:p>
        </p:txBody>
      </p:sp>
    </p:spTree>
    <p:extLst>
      <p:ext uri="{BB962C8B-B14F-4D97-AF65-F5344CB8AC3E}">
        <p14:creationId xmlns:p14="http://schemas.microsoft.com/office/powerpoint/2010/main" val="71115346"/>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0A8CBA8-9C5F-42D7-8DC6-63F99F68F1E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Therapeutic drug monitoring</a:t>
            </a:r>
          </a:p>
        </p:txBody>
      </p:sp>
      <p:graphicFrame>
        <p:nvGraphicFramePr>
          <p:cNvPr id="2" name="">
            <a:extLst xmlns:a="http://schemas.openxmlformats.org/drawingml/2006/main">
              <a:ext uri="{FF2B5EF4-FFF2-40B4-BE49-F238E27FC236}">
                <a16:creationId xmlns:a16="http://schemas.microsoft.com/office/drawing/2014/main" id="{6840F626-A855-4A5C-8BE9-80F53E544B8D}"/>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Flucytosine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Usual first assessment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When monitoring is indicated, usually a 2-hour post-dose level after about 3 days, sooner with concern for accumulation.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This is a peak, not an azole trough. BSMM guidance uses about 50-100 mg/L; avoid sustained levels &gt;100 mg/L because toxicity risk increases.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A984E98-749D-4E63-B790-C33588B0494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97D8CBB-AD3A-4660-BAFD-4223BF3D2EF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94</a:t>
            </a:r>
          </a:p>
        </p:txBody>
      </p:sp>
    </p:spTree>
    <p:extLst>
      <p:ext uri="{BB962C8B-B14F-4D97-AF65-F5344CB8AC3E}">
        <p14:creationId xmlns:p14="http://schemas.microsoft.com/office/powerpoint/2010/main" val="165693279"/>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0DCA7DB-7863-43F9-867E-C0A3A8390C2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Therapeutic drug monitoring</a:t>
            </a:r>
          </a:p>
        </p:txBody>
      </p:sp>
      <p:graphicFrame>
        <p:nvGraphicFramePr>
          <p:cNvPr id="2" name="">
            <a:extLst xmlns:a="http://schemas.openxmlformats.org/drawingml/2006/main">
              <a:ext uri="{FF2B5EF4-FFF2-40B4-BE49-F238E27FC236}">
                <a16:creationId xmlns:a16="http://schemas.microsoft.com/office/drawing/2014/main" id="{D57A98C9-956A-492B-9BF3-BE0F685E5AAC}"/>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Fluconazole, echinocandins, amphotericin 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first assessment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 routine TDM for standard use.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Clinical response and organ/toxicity monitoring remain essential.</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3042D7B-3A06-4261-94EE-43B7787379F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D3C5E37-77E0-40D3-A2F4-52A97803D6A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95</a:t>
            </a:r>
          </a:p>
        </p:txBody>
      </p:sp>
    </p:spTree>
    <p:extLst>
      <p:ext uri="{BB962C8B-B14F-4D97-AF65-F5344CB8AC3E}">
        <p14:creationId xmlns:p14="http://schemas.microsoft.com/office/powerpoint/2010/main" val="47651870"/>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D2F9C32-2F38-4705-8B17-69AEE4870AA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Therapeutic drug monitoring</a:t>
            </a:r>
          </a:p>
        </p:txBody>
      </p:sp>
      <p:sp>
        <p:nvSpPr>
          <p:cNvPr id="2" name="paragraph-0">
            <a:extLst xmlns:a="http://schemas.openxmlformats.org/drawingml/2006/main">
              <a:ext uri="{FF2B5EF4-FFF2-40B4-BE49-F238E27FC236}">
                <a16:creationId xmlns:a16="http://schemas.microsoft.com/office/drawing/2014/main" id="{3660CEF5-442C-45D2-AE4D-3A687D963DA6}"/>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[3] [14] [13] [22]</a:t>
            </a:r>
          </a:p>
        </p:txBody>
      </p:sp>
      <p:sp>
        <p:nvSpPr>
          <p:cNvPr id="3" name="footer">
            <a:extLst xmlns:a="http://schemas.openxmlformats.org/drawingml/2006/main">
              <a:ext uri="{FF2B5EF4-FFF2-40B4-BE49-F238E27FC236}">
                <a16:creationId xmlns:a16="http://schemas.microsoft.com/office/drawing/2014/main" id="{F514408E-8C20-4A18-A4CA-E391CF2D291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010867D-A1CA-48EE-A1A5-4FDC6E821B1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96</a:t>
            </a:r>
          </a:p>
        </p:txBody>
      </p:sp>
    </p:spTree>
    <p:extLst>
      <p:ext uri="{BB962C8B-B14F-4D97-AF65-F5344CB8AC3E}">
        <p14:creationId xmlns:p14="http://schemas.microsoft.com/office/powerpoint/2010/main" val="1993330683"/>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CDF6469-64ED-4F9A-A65C-33DE6BE661A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Itraconazole and hydroxyitraconazole levels</a:t>
            </a:r>
          </a:p>
        </p:txBody>
      </p:sp>
      <p:sp>
        <p:nvSpPr>
          <p:cNvPr id="2" name="paragraph-0">
            <a:extLst xmlns:a="http://schemas.openxmlformats.org/drawingml/2006/main">
              <a:ext uri="{FF2B5EF4-FFF2-40B4-BE49-F238E27FC236}">
                <a16:creationId xmlns:a16="http://schemas.microsoft.com/office/drawing/2014/main" id="{940DCC53-AB4C-49FA-86A2-64440346FC6F}"/>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Example: itraconazole 0.7 mg/L + hydroxyitraconazole 1.3 mg/L = combined 2.0 mg/L. The result meets a combined target of 2.0 mg/L or greater, but does not meet a parent-only target greater than 1.0 mg/L. Compare the result with the range for that assay.</a:t>
            </a:r>
          </a:p>
        </p:txBody>
      </p:sp>
      <p:sp>
        <p:nvSpPr>
          <p:cNvPr id="3" name="paragraph-1">
            <a:extLst xmlns:a="http://schemas.openxmlformats.org/drawingml/2006/main">
              <a:ext uri="{FF2B5EF4-FFF2-40B4-BE49-F238E27FC236}">
                <a16:creationId xmlns:a16="http://schemas.microsoft.com/office/drawing/2014/main" id="{8EE3BA28-8874-45FD-BB9F-66E0F51E6737}"/>
              </a:ext>
            </a:extLst>
          </p:cNvPr>
          <p:cNvSpPr>
            <a:spLocks xmlns:a="http://schemas.openxmlformats.org/drawingml/2006/main" noGrp="1"/>
          </p:cNvSpPr>
          <p:nvPr/>
        </p:nvSpPr>
        <p:spPr>
          <a:xfrm xmlns:a="http://schemas.openxmlformats.org/drawingml/2006/main">
            <a:off x="647700" y="36195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Voriconazole N-oxide has minimal antifungal activity and is not added to the voriconazole trough to determine treatment exposure. [6] [13]</a:t>
            </a:r>
          </a:p>
        </p:txBody>
      </p:sp>
      <p:sp>
        <p:nvSpPr>
          <p:cNvPr id="4" name="paragraph-2">
            <a:extLst xmlns:a="http://schemas.openxmlformats.org/drawingml/2006/main">
              <a:ext uri="{FF2B5EF4-FFF2-40B4-BE49-F238E27FC236}">
                <a16:creationId xmlns:a16="http://schemas.microsoft.com/office/drawing/2014/main" id="{1739CA95-9A7D-4F21-9620-DBB6E4DA12B9}"/>
              </a:ext>
            </a:extLst>
          </p:cNvPr>
          <p:cNvSpPr>
            <a:spLocks xmlns:a="http://schemas.openxmlformats.org/drawingml/2006/main" noGrp="1"/>
          </p:cNvSpPr>
          <p:nvPr/>
        </p:nvSpPr>
        <p:spPr>
          <a:xfrm xmlns:a="http://schemas.openxmlformats.org/drawingml/2006/main">
            <a:off x="647700" y="45815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teaching Itraconazole assay targets</a:t>
            </a:r>
          </a:p>
        </p:txBody>
      </p:sp>
      <p:sp>
        <p:nvSpPr>
          <p:cNvPr id="5" name="footer">
            <a:extLst xmlns:a="http://schemas.openxmlformats.org/drawingml/2006/main">
              <a:ext uri="{FF2B5EF4-FFF2-40B4-BE49-F238E27FC236}">
                <a16:creationId xmlns:a16="http://schemas.microsoft.com/office/drawing/2014/main" id="{D844D9BF-D586-467F-9027-1B77BE8ECD5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51737CB2-D0B2-4C7A-B0B0-DCB26182DEA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97</a:t>
            </a:r>
          </a:p>
        </p:txBody>
      </p:sp>
    </p:spTree>
    <p:extLst>
      <p:ext uri="{BB962C8B-B14F-4D97-AF65-F5344CB8AC3E}">
        <p14:creationId xmlns:p14="http://schemas.microsoft.com/office/powerpoint/2010/main" val="450307037"/>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D0389BE-3AFB-480A-84C8-9CBE198E546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1. Candida in blood and urine</a:t>
            </a:r>
          </a:p>
        </p:txBody>
      </p:sp>
      <p:sp>
        <p:nvSpPr>
          <p:cNvPr id="2" name="paragraph-0">
            <a:extLst xmlns:a="http://schemas.openxmlformats.org/drawingml/2006/main">
              <a:ext uri="{FF2B5EF4-FFF2-40B4-BE49-F238E27FC236}">
                <a16:creationId xmlns:a16="http://schemas.microsoft.com/office/drawing/2014/main" id="{C5119D3D-8631-4F51-ABE0-8FAE7C70B0F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critically ill patient has candidemia and candiduria. Is micafungin inadequate because it has low urine levels?</a:t>
            </a:r>
          </a:p>
        </p:txBody>
      </p:sp>
      <p:sp>
        <p:nvSpPr>
          <p:cNvPr id="3" name="paragraph-1">
            <a:extLst xmlns:a="http://schemas.openxmlformats.org/drawingml/2006/main">
              <a:ext uri="{FF2B5EF4-FFF2-40B4-BE49-F238E27FC236}">
                <a16:creationId xmlns:a16="http://schemas.microsoft.com/office/drawing/2014/main" id="{B4130C86-DA90-432F-A90C-81728FF4A68A}"/>
              </a:ext>
            </a:extLst>
          </p:cNvPr>
          <p:cNvSpPr>
            <a:spLocks xmlns:a="http://schemas.openxmlformats.org/drawingml/2006/main" noGrp="1"/>
          </p:cNvSpPr>
          <p:nvPr/>
        </p:nvSpPr>
        <p:spPr>
          <a:xfrm xmlns:a="http://schemas.openxmlformats.org/drawingml/2006/main">
            <a:off x="647700" y="291465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Not necessarily. It is a reasonable initial candidemia drug. Determine whether candiduria is colonization, collecting-system disease, obstruction, or hematogenous renal involvement. A separate symptomatic urinary focus may require a different drug and source control. A positive urine culture alone does not establish a Candida UTI. [1]</a:t>
            </a:r>
          </a:p>
        </p:txBody>
      </p:sp>
      <p:sp>
        <p:nvSpPr>
          <p:cNvPr id="4" name="footer">
            <a:extLst xmlns:a="http://schemas.openxmlformats.org/drawingml/2006/main">
              <a:ext uri="{FF2B5EF4-FFF2-40B4-BE49-F238E27FC236}">
                <a16:creationId xmlns:a16="http://schemas.microsoft.com/office/drawing/2014/main" id="{512A6D23-2010-4CA2-8DD9-189B4A52FB7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87583754-A31D-4198-BE99-DF481226A1A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98</a:t>
            </a:r>
          </a:p>
        </p:txBody>
      </p:sp>
    </p:spTree>
    <p:extLst>
      <p:ext uri="{BB962C8B-B14F-4D97-AF65-F5344CB8AC3E}">
        <p14:creationId xmlns:p14="http://schemas.microsoft.com/office/powerpoint/2010/main" val="1427787377"/>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AD569DA-F8FB-40AB-A2EF-0157E1B6A07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2. Hallucinations during voriconazole treatment</a:t>
            </a:r>
          </a:p>
        </p:txBody>
      </p:sp>
      <p:sp>
        <p:nvSpPr>
          <p:cNvPr id="2" name="paragraph-0">
            <a:extLst xmlns:a="http://schemas.openxmlformats.org/drawingml/2006/main">
              <a:ext uri="{FF2B5EF4-FFF2-40B4-BE49-F238E27FC236}">
                <a16:creationId xmlns:a16="http://schemas.microsoft.com/office/drawing/2014/main" id="{6538B0AC-AADE-4444-9DBB-701C9823A7D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develops hallucinations on day 6 after the voriconazole dose was increased. What should be checked?</a:t>
            </a:r>
          </a:p>
        </p:txBody>
      </p:sp>
      <p:sp>
        <p:nvSpPr>
          <p:cNvPr id="3" name="paragraph-1">
            <a:extLst xmlns:a="http://schemas.openxmlformats.org/drawingml/2006/main">
              <a:ext uri="{FF2B5EF4-FFF2-40B4-BE49-F238E27FC236}">
                <a16:creationId xmlns:a16="http://schemas.microsoft.com/office/drawing/2014/main" id="{FE987CEE-8814-4313-A1DD-A843D2B11BAF}"/>
              </a:ext>
            </a:extLst>
          </p:cNvPr>
          <p:cNvSpPr>
            <a:spLocks xmlns:a="http://schemas.openxmlformats.org/drawingml/2006/main" noGrp="1"/>
          </p:cNvSpPr>
          <p:nvPr/>
        </p:nvSpPr>
        <p:spPr>
          <a:xfrm xmlns:a="http://schemas.openxmlformats.org/drawingml/2006/main">
            <a:off x="647700" y="291465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Check dose history, timing, interacting drugs, liver function, electrolytes, and a correctly timed voriconazole level. Also assess other causes of encephalopathy. Serious toxicity may require holding or changing therapy while results are pending. Nonlinear kinetics mean that doubling the dose can produce more than double the exposure. [6]</a:t>
            </a:r>
          </a:p>
        </p:txBody>
      </p:sp>
      <p:sp>
        <p:nvSpPr>
          <p:cNvPr id="4" name="footer">
            <a:extLst xmlns:a="http://schemas.openxmlformats.org/drawingml/2006/main">
              <a:ext uri="{FF2B5EF4-FFF2-40B4-BE49-F238E27FC236}">
                <a16:creationId xmlns:a16="http://schemas.microsoft.com/office/drawing/2014/main" id="{FA32E73C-6494-4FB2-A407-048B34F924B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139B640D-C629-4D3A-84B0-0A6BD49FCD6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99</a:t>
            </a:r>
          </a:p>
        </p:txBody>
      </p:sp>
    </p:spTree>
    <p:extLst>
      <p:ext uri="{BB962C8B-B14F-4D97-AF65-F5344CB8AC3E}">
        <p14:creationId xmlns:p14="http://schemas.microsoft.com/office/powerpoint/2010/main" val="846637819"/>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015B992-0BB3-41DE-AAEA-D41C4EF3C35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3. A therapeutic level with new edema</a:t>
            </a:r>
          </a:p>
        </p:txBody>
      </p:sp>
      <p:sp>
        <p:nvSpPr>
          <p:cNvPr id="2" name="paragraph-0">
            <a:extLst xmlns:a="http://schemas.openxmlformats.org/drawingml/2006/main">
              <a:ext uri="{FF2B5EF4-FFF2-40B4-BE49-F238E27FC236}">
                <a16:creationId xmlns:a16="http://schemas.microsoft.com/office/drawing/2014/main" id="{88D3AE46-10F9-491B-B6F9-0A4905EFC1A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receiving itraconazole has a satisfactory combined level but develops edema and dyspnea. Does the drug level exclude toxicity?</a:t>
            </a:r>
          </a:p>
        </p:txBody>
      </p:sp>
      <p:sp>
        <p:nvSpPr>
          <p:cNvPr id="3" name="paragraph-1">
            <a:extLst xmlns:a="http://schemas.openxmlformats.org/drawingml/2006/main">
              <a:ext uri="{FF2B5EF4-FFF2-40B4-BE49-F238E27FC236}">
                <a16:creationId xmlns:a16="http://schemas.microsoft.com/office/drawing/2014/main" id="{7DF3E8CD-3C23-4CC2-920E-B703327B31BA}"/>
              </a:ext>
            </a:extLst>
          </p:cNvPr>
          <p:cNvSpPr>
            <a:spLocks xmlns:a="http://schemas.openxmlformats.org/drawingml/2006/main" noGrp="1"/>
          </p:cNvSpPr>
          <p:nvPr/>
        </p:nvSpPr>
        <p:spPr>
          <a:xfrm xmlns:a="http://schemas.openxmlformats.org/drawingml/2006/main">
            <a:off x="647700" y="29146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Evaluate for heart failure and reconsider itraconazole promptly. Heart failure can occur despite a therapeutic level. Review interacting calcium channel blockers and other contributors. [5]</a:t>
            </a:r>
          </a:p>
        </p:txBody>
      </p:sp>
      <p:sp>
        <p:nvSpPr>
          <p:cNvPr id="4" name="footer">
            <a:extLst xmlns:a="http://schemas.openxmlformats.org/drawingml/2006/main">
              <a:ext uri="{FF2B5EF4-FFF2-40B4-BE49-F238E27FC236}">
                <a16:creationId xmlns:a16="http://schemas.microsoft.com/office/drawing/2014/main" id="{9B4EF94E-1777-447C-92AC-B15AB103CF7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C70E991B-9658-48B4-A566-8F5F6F960CE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100</a:t>
            </a:r>
          </a:p>
        </p:txBody>
      </p:sp>
    </p:spTree>
    <p:extLst>
      <p:ext uri="{BB962C8B-B14F-4D97-AF65-F5344CB8AC3E}">
        <p14:creationId xmlns:p14="http://schemas.microsoft.com/office/powerpoint/2010/main" val="1566333555"/>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6A82F3A-AF21-401F-B353-28F03731DCB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Fellow section</a:t>
            </a:r>
          </a:p>
        </p:txBody>
      </p:sp>
      <p:sp>
        <p:nvSpPr>
          <p:cNvPr id="2" name="paragraph-0">
            <a:extLst xmlns:a="http://schemas.openxmlformats.org/drawingml/2006/main">
              <a:ext uri="{FF2B5EF4-FFF2-40B4-BE49-F238E27FC236}">
                <a16:creationId xmlns:a16="http://schemas.microsoft.com/office/drawing/2014/main" id="{7FC937A9-19BA-4419-A734-072E41F02A1B}"/>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Interpret exposure and susceptibility together, distinguish CSF from brain tissue concentrations, and evaluate the evidence for newer agents.</a:t>
            </a:r>
          </a:p>
        </p:txBody>
      </p:sp>
      <p:sp>
        <p:nvSpPr>
          <p:cNvPr id="3" name="paragraph-1">
            <a:extLst xmlns:a="http://schemas.openxmlformats.org/drawingml/2006/main">
              <a:ext uri="{FF2B5EF4-FFF2-40B4-BE49-F238E27FC236}">
                <a16:creationId xmlns:a16="http://schemas.microsoft.com/office/drawing/2014/main" id="{9863FB48-E366-4A69-BA6B-448F0F68AED5}"/>
              </a:ext>
            </a:extLst>
          </p:cNvPr>
          <p:cNvSpPr>
            <a:spLocks xmlns:a="http://schemas.openxmlformats.org/drawingml/2006/main" noGrp="1"/>
          </p:cNvSpPr>
          <p:nvPr/>
        </p:nvSpPr>
        <p:spPr>
          <a:xfrm xmlns:a="http://schemas.openxmlformats.org/drawingml/2006/main">
            <a:off x="647700" y="32670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Jump to fellow section</a:t>
            </a:r>
          </a:p>
        </p:txBody>
      </p:sp>
      <p:sp>
        <p:nvSpPr>
          <p:cNvPr id="4" name="footer">
            <a:extLst xmlns:a="http://schemas.openxmlformats.org/drawingml/2006/main">
              <a:ext uri="{FF2B5EF4-FFF2-40B4-BE49-F238E27FC236}">
                <a16:creationId xmlns:a16="http://schemas.microsoft.com/office/drawing/2014/main" id="{A9652BCE-A0A2-4F41-B880-20C19228D47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1A03BE44-9C67-4184-8895-652796A976C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101</a:t>
            </a:r>
          </a:p>
        </p:txBody>
      </p:sp>
    </p:spTree>
    <p:extLst>
      <p:ext uri="{BB962C8B-B14F-4D97-AF65-F5344CB8AC3E}">
        <p14:creationId xmlns:p14="http://schemas.microsoft.com/office/powerpoint/2010/main" val="448856811"/>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DC06C35-D0BF-4175-9741-285701F5616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Fellow extension and advanced reference</a:t>
            </a:r>
          </a:p>
        </p:txBody>
      </p:sp>
      <p:sp>
        <p:nvSpPr>
          <p:cNvPr id="2" name="paragraph-0">
            <a:extLst xmlns:a="http://schemas.openxmlformats.org/drawingml/2006/main">
              <a:ext uri="{FF2B5EF4-FFF2-40B4-BE49-F238E27FC236}">
                <a16:creationId xmlns:a16="http://schemas.microsoft.com/office/drawing/2014/main" id="{E200F557-EFAE-48AD-9B39-CEA6D3B0A551}"/>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extension</a:t>
            </a:r>
          </a:p>
        </p:txBody>
      </p:sp>
      <p:sp>
        <p:nvSpPr>
          <p:cNvPr id="3" name="paragraph-1">
            <a:extLst xmlns:a="http://schemas.openxmlformats.org/drawingml/2006/main">
              <a:ext uri="{FF2B5EF4-FFF2-40B4-BE49-F238E27FC236}">
                <a16:creationId xmlns:a16="http://schemas.microsoft.com/office/drawing/2014/main" id="{CC677A9D-941A-4EC7-84E0-3404A05EA513}"/>
              </a:ext>
            </a:extLst>
          </p:cNvPr>
          <p:cNvSpPr>
            <a:spLocks xmlns:a="http://schemas.openxmlformats.org/drawingml/2006/main" noGrp="1"/>
          </p:cNvSpPr>
          <p:nvPr/>
        </p:nvSpPr>
        <p:spPr>
          <a:xfrm xmlns:a="http://schemas.openxmlformats.org/drawingml/2006/main">
            <a:off x="647700" y="25622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resident core and rounds sheet end above. Continue here for chemical structures, detailed interpretation, evidence, and newer agents.</a:t>
            </a:r>
          </a:p>
        </p:txBody>
      </p:sp>
      <p:sp>
        <p:nvSpPr>
          <p:cNvPr id="4" name="paragraph-2">
            <a:extLst xmlns:a="http://schemas.openxmlformats.org/drawingml/2006/main">
              <a:ext uri="{FF2B5EF4-FFF2-40B4-BE49-F238E27FC236}">
                <a16:creationId xmlns:a16="http://schemas.microsoft.com/office/drawing/2014/main" id="{002DF68D-2339-4A43-A2E6-FE54B03D2FE7}"/>
              </a:ext>
            </a:extLst>
          </p:cNvPr>
          <p:cNvSpPr>
            <a:spLocks xmlns:a="http://schemas.openxmlformats.org/drawingml/2006/main" noGrp="1"/>
          </p:cNvSpPr>
          <p:nvPr/>
        </p:nvSpPr>
        <p:spPr>
          <a:xfrm xmlns:a="http://schemas.openxmlformats.org/drawingml/2006/main">
            <a:off x="647700" y="35242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Molecular structures Clinical nuances Key studies Breakthrough infection Newer approved drugs Pipeline agents</a:t>
            </a:r>
          </a:p>
        </p:txBody>
      </p:sp>
      <p:sp>
        <p:nvSpPr>
          <p:cNvPr id="5" name="footer">
            <a:extLst xmlns:a="http://schemas.openxmlformats.org/drawingml/2006/main">
              <a:ext uri="{FF2B5EF4-FFF2-40B4-BE49-F238E27FC236}">
                <a16:creationId xmlns:a16="http://schemas.microsoft.com/office/drawing/2014/main" id="{75E03602-EAF1-4E65-81AC-63F5950BA8B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6" name="number">
            <a:extLst xmlns:a="http://schemas.openxmlformats.org/drawingml/2006/main">
              <a:ext uri="{FF2B5EF4-FFF2-40B4-BE49-F238E27FC236}">
                <a16:creationId xmlns:a16="http://schemas.microsoft.com/office/drawing/2014/main" id="{85010FC3-A494-461D-A150-24A91215153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102</a:t>
            </a:r>
          </a:p>
        </p:txBody>
      </p:sp>
    </p:spTree>
    <p:extLst>
      <p:ext uri="{BB962C8B-B14F-4D97-AF65-F5344CB8AC3E}">
        <p14:creationId xmlns:p14="http://schemas.microsoft.com/office/powerpoint/2010/main" val="1696261700"/>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A775ABD-0E69-4521-95E1-564C0A75C88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Azole structures and pharmacokinetics</a:t>
            </a:r>
          </a:p>
        </p:txBody>
      </p:sp>
      <p:sp>
        <p:nvSpPr>
          <p:cNvPr id="2" name="paragraph-0">
            <a:extLst xmlns:a="http://schemas.openxmlformats.org/drawingml/2006/main">
              <a:ext uri="{FF2B5EF4-FFF2-40B4-BE49-F238E27FC236}">
                <a16:creationId xmlns:a16="http://schemas.microsoft.com/office/drawing/2014/main" id="{4856945B-CF0A-4183-B7FB-60B422A1112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triazole ring is the shared pharmacophore. Substituents around that ring change binding to fungal CYP51, lipophilicity, molecular size, protein binding, metabolism, and interactions. These changes can expand antifungal activity without improving CNS exposure.</a:t>
            </a:r>
          </a:p>
        </p:txBody>
      </p:sp>
      <p:sp>
        <p:nvSpPr>
          <p:cNvPr id="3" name="paragraph-1">
            <a:extLst xmlns:a="http://schemas.openxmlformats.org/drawingml/2006/main">
              <a:ext uri="{FF2B5EF4-FFF2-40B4-BE49-F238E27FC236}">
                <a16:creationId xmlns:a16="http://schemas.microsoft.com/office/drawing/2014/main" id="{00F7BE35-3F0B-4834-A277-833061B6B7D5}"/>
              </a:ext>
            </a:extLst>
          </p:cNvPr>
          <p:cNvSpPr>
            <a:spLocks xmlns:a="http://schemas.openxmlformats.org/drawingml/2006/main" noGrp="1"/>
          </p:cNvSpPr>
          <p:nvPr/>
        </p:nvSpPr>
        <p:spPr>
          <a:xfrm xmlns:a="http://schemas.openxmlformats.org/drawingml/2006/main">
            <a:off x="647700" y="3619500"/>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Small size and a substantial unbound fraction favor access to fluid compartments. Lipophilicity can favor membrane passage and tissue partitioning, but very high lipophilicity can accompany extensive protein binding and low CSF concentrations. Efflux, ionization, inflammation, and the measured compartment also matter. Structure alone does not reliably predict CNS exposure.</a:t>
            </a:r>
          </a:p>
        </p:txBody>
      </p:sp>
      <p:sp>
        <p:nvSpPr>
          <p:cNvPr id="4" name="footer">
            <a:extLst xmlns:a="http://schemas.openxmlformats.org/drawingml/2006/main">
              <a:ext uri="{FF2B5EF4-FFF2-40B4-BE49-F238E27FC236}">
                <a16:creationId xmlns:a16="http://schemas.microsoft.com/office/drawing/2014/main" id="{6D4F5DEC-B8CE-4B74-B7DA-16BB07BA746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1EF37F87-6A0E-47FA-AAAB-911FBE3156C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103</a:t>
            </a:r>
          </a:p>
        </p:txBody>
      </p:sp>
    </p:spTree>
    <p:extLst>
      <p:ext uri="{BB962C8B-B14F-4D97-AF65-F5344CB8AC3E}">
        <p14:creationId xmlns:p14="http://schemas.microsoft.com/office/powerpoint/2010/main" val="48663034"/>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C1F21DD-26C1-4051-9A42-3C2AFE1A7B9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Triazole rings and side chains</a:t>
            </a:r>
          </a:p>
        </p:txBody>
      </p:sp>
      <p:sp>
        <p:nvSpPr>
          <p:cNvPr id="2" name="paragraph-0">
            <a:extLst xmlns:a="http://schemas.openxmlformats.org/drawingml/2006/main">
              <a:ext uri="{FF2B5EF4-FFF2-40B4-BE49-F238E27FC236}">
                <a16:creationId xmlns:a16="http://schemas.microsoft.com/office/drawing/2014/main" id="{56FB6A9C-AB6F-4E2F-B172-262DB04DB215}"/>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Blue highlights the triazole ring(s); amber highlights other aromatic ring systems. Unhighlighted atoms and linkers also contribute to the side chains. The colors mark structural regions, not polarity. The drawings are not to scale.</a:t>
            </a:r>
          </a:p>
        </p:txBody>
      </p:sp>
      <p:sp>
        <p:nvSpPr>
          <p:cNvPr id="3" name="footer">
            <a:extLst xmlns:a="http://schemas.openxmlformats.org/drawingml/2006/main">
              <a:ext uri="{FF2B5EF4-FFF2-40B4-BE49-F238E27FC236}">
                <a16:creationId xmlns:a16="http://schemas.microsoft.com/office/drawing/2014/main" id="{C0F5B3C6-27DF-4CDE-9904-1EE8EFE4C9B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5F2A644-6093-48E0-AFF9-B02CDE12079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104</a:t>
            </a:r>
          </a:p>
        </p:txBody>
      </p:sp>
    </p:spTree>
    <p:extLst>
      <p:ext uri="{BB962C8B-B14F-4D97-AF65-F5344CB8AC3E}">
        <p14:creationId xmlns:p14="http://schemas.microsoft.com/office/powerpoint/2010/main" val="1035465396"/>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860EB08-47EA-427F-8366-78769DA0B03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Fluconazole 306.27 Da</a:t>
            </a:r>
          </a:p>
        </p:txBody>
      </p:sp>
      <p:pic>
        <p:nvPicPr>
          <p:cNvPr id="2" name="">
            <a:extLst xmlns:a="http://schemas.openxmlformats.org/drawingml/2006/main">
              <a:ext uri="{FF2B5EF4-FFF2-40B4-BE49-F238E27FC236}">
                <a16:creationId xmlns:a16="http://schemas.microsoft.com/office/drawing/2014/main" id="{BC2B330C-9238-46E0-8C91-663B4E4648B2}"/>
              </a:ext>
            </a:extLst>
          </p:cNvPr>
          <p:cNvPicPr>
            <a:picLocks xmlns:a="http://schemas.openxmlformats.org/drawingml/2006/main" noChangeAspect="1"/>
          </p:cNvPicPr>
          <p:nvPr/>
        </p:nvPicPr>
        <p:blipFill>
          <a:blip xmlns:r="http://schemas.openxmlformats.org/officeDocument/2006/relationships" xmlns:a="http://schemas.openxmlformats.org/drawingml/2006/main" r:embed="Rf75e018fe30d479d"/>
          <a:stretch xmlns:a="http://schemas.openxmlformats.org/drawingml/2006/main"/>
        </p:blipFill>
        <p:spPr>
          <a:xfrm xmlns:a="http://schemas.openxmlformats.org/drawingml/2006/main">
            <a:off x="1232491" y="1866900"/>
            <a:ext cx="9727019" cy="4191000"/>
          </a:xfrm>
          <a:prstGeom xmlns:a="http://schemas.openxmlformats.org/drawingml/2006/main" prst="rect">
            <a:avLst/>
          </a:prstGeom>
        </p:spPr>
      </p:pic>
      <p:sp>
        <p:nvSpPr>
          <p:cNvPr id="3" name="footer">
            <a:extLst xmlns:a="http://schemas.openxmlformats.org/drawingml/2006/main">
              <a:ext uri="{FF2B5EF4-FFF2-40B4-BE49-F238E27FC236}">
                <a16:creationId xmlns:a16="http://schemas.microsoft.com/office/drawing/2014/main" id="{3E241C43-FDFD-437F-B1AC-B8943833F5C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58D26F5-B3E1-44DF-A0C9-E733FE1715A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105</a:t>
            </a:r>
          </a:p>
        </p:txBody>
      </p:sp>
    </p:spTree>
    <p:extLst>
      <p:ext uri="{BB962C8B-B14F-4D97-AF65-F5344CB8AC3E}">
        <p14:creationId xmlns:p14="http://schemas.microsoft.com/office/powerpoint/2010/main" val="1819352229"/>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8640667-C845-4AF3-9B31-BDD6CC904C9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Fluconazole 306.27 Da</a:t>
            </a:r>
          </a:p>
        </p:txBody>
      </p:sp>
      <p:sp>
        <p:nvSpPr>
          <p:cNvPr id="2" name="paragraph-0">
            <a:extLst xmlns:a="http://schemas.openxmlformats.org/drawingml/2006/main">
              <a:ext uri="{FF2B5EF4-FFF2-40B4-BE49-F238E27FC236}">
                <a16:creationId xmlns:a16="http://schemas.microsoft.com/office/drawing/2014/main" id="{A6EECA72-8927-4AF4-9362-C171657902F4}"/>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Two triazole rings and a compact substituent framework. Low protein binding and relatively water-soluble disposition favor fluid-compartment exposure. [51]</a:t>
            </a:r>
          </a:p>
        </p:txBody>
      </p:sp>
      <p:sp>
        <p:nvSpPr>
          <p:cNvPr id="3" name="footer">
            <a:extLst xmlns:a="http://schemas.openxmlformats.org/drawingml/2006/main">
              <a:ext uri="{FF2B5EF4-FFF2-40B4-BE49-F238E27FC236}">
                <a16:creationId xmlns:a16="http://schemas.microsoft.com/office/drawing/2014/main" id="{EA09733B-5571-46EB-8929-7F44C08D7BA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23EC2DF-CADC-4C71-9CB0-AD08510B14B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106</a:t>
            </a:r>
          </a:p>
        </p:txBody>
      </p:sp>
    </p:spTree>
    <p:extLst>
      <p:ext uri="{BB962C8B-B14F-4D97-AF65-F5344CB8AC3E}">
        <p14:creationId xmlns:p14="http://schemas.microsoft.com/office/powerpoint/2010/main" val="1726384493"/>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52A419B-BED3-4413-AAE0-47108294DC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Voriconazole 349.31 Da</a:t>
            </a:r>
          </a:p>
        </p:txBody>
      </p:sp>
      <p:pic>
        <p:nvPicPr>
          <p:cNvPr id="2" name="">
            <a:extLst xmlns:a="http://schemas.openxmlformats.org/drawingml/2006/main">
              <a:ext uri="{FF2B5EF4-FFF2-40B4-BE49-F238E27FC236}">
                <a16:creationId xmlns:a16="http://schemas.microsoft.com/office/drawing/2014/main" id="{642EC467-B52F-49AF-8978-E045FAB0E563}"/>
              </a:ext>
            </a:extLst>
          </p:cNvPr>
          <p:cNvPicPr>
            <a:picLocks xmlns:a="http://schemas.openxmlformats.org/drawingml/2006/main" noChangeAspect="1"/>
          </p:cNvPicPr>
          <p:nvPr/>
        </p:nvPicPr>
        <p:blipFill>
          <a:blip xmlns:r="http://schemas.openxmlformats.org/officeDocument/2006/relationships" xmlns:a="http://schemas.openxmlformats.org/drawingml/2006/main" r:embed="Ra3a0491b3c8645f5"/>
          <a:stretch xmlns:a="http://schemas.openxmlformats.org/drawingml/2006/main"/>
        </p:blipFill>
        <p:spPr>
          <a:xfrm xmlns:a="http://schemas.openxmlformats.org/drawingml/2006/main">
            <a:off x="1232491" y="1866900"/>
            <a:ext cx="9727019" cy="4191000"/>
          </a:xfrm>
          <a:prstGeom xmlns:a="http://schemas.openxmlformats.org/drawingml/2006/main" prst="rect">
            <a:avLst/>
          </a:prstGeom>
        </p:spPr>
      </p:pic>
      <p:sp>
        <p:nvSpPr>
          <p:cNvPr id="3" name="footer">
            <a:extLst xmlns:a="http://schemas.openxmlformats.org/drawingml/2006/main">
              <a:ext uri="{FF2B5EF4-FFF2-40B4-BE49-F238E27FC236}">
                <a16:creationId xmlns:a16="http://schemas.microsoft.com/office/drawing/2014/main" id="{F61A3E42-F6C1-4C4F-AF76-1A0420C83AC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0600CE5-6C1C-4F71-A6BC-D433F8D3304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107</a:t>
            </a:r>
          </a:p>
        </p:txBody>
      </p:sp>
    </p:spTree>
    <p:extLst>
      <p:ext uri="{BB962C8B-B14F-4D97-AF65-F5344CB8AC3E}">
        <p14:creationId xmlns:p14="http://schemas.microsoft.com/office/powerpoint/2010/main" val="2058752223"/>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DF9603F-716F-47C9-8509-F6D50021471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Voriconazole 349.31 Da</a:t>
            </a:r>
          </a:p>
        </p:txBody>
      </p:sp>
      <p:sp>
        <p:nvSpPr>
          <p:cNvPr id="2" name="paragraph-0">
            <a:extLst xmlns:a="http://schemas.openxmlformats.org/drawingml/2006/main">
              <a:ext uri="{FF2B5EF4-FFF2-40B4-BE49-F238E27FC236}">
                <a16:creationId xmlns:a16="http://schemas.microsoft.com/office/drawing/2014/main" id="{A335C792-88F7-4C10-A363-EB4F8EA43C2F}"/>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One triazole ring; a fluorinated pyrimidine replaces one of fluconazole's triazole-containing arms. It remains relatively small and has established CSF and brain penetration. [52]</a:t>
            </a:r>
          </a:p>
        </p:txBody>
      </p:sp>
      <p:sp>
        <p:nvSpPr>
          <p:cNvPr id="3" name="footer">
            <a:extLst xmlns:a="http://schemas.openxmlformats.org/drawingml/2006/main">
              <a:ext uri="{FF2B5EF4-FFF2-40B4-BE49-F238E27FC236}">
                <a16:creationId xmlns:a16="http://schemas.microsoft.com/office/drawing/2014/main" id="{49B8933B-680A-4935-A4C2-EF8E1EF1C3A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332ED92-F004-4596-B3A7-9CA85B374D2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108</a:t>
            </a:r>
          </a:p>
        </p:txBody>
      </p:sp>
    </p:spTree>
    <p:extLst>
      <p:ext uri="{BB962C8B-B14F-4D97-AF65-F5344CB8AC3E}">
        <p14:creationId xmlns:p14="http://schemas.microsoft.com/office/powerpoint/2010/main" val="770962530"/>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9E768A6-C59D-4207-AA4B-F744877AE8A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Itraconazole 705.6 Da</a:t>
            </a:r>
          </a:p>
        </p:txBody>
      </p:sp>
      <p:pic>
        <p:nvPicPr>
          <p:cNvPr id="2" name="">
            <a:extLst xmlns:a="http://schemas.openxmlformats.org/drawingml/2006/main">
              <a:ext uri="{FF2B5EF4-FFF2-40B4-BE49-F238E27FC236}">
                <a16:creationId xmlns:a16="http://schemas.microsoft.com/office/drawing/2014/main" id="{7854DD05-F920-43DE-91C4-5AF532D63E17}"/>
              </a:ext>
            </a:extLst>
          </p:cNvPr>
          <p:cNvPicPr>
            <a:picLocks xmlns:a="http://schemas.openxmlformats.org/drawingml/2006/main" noChangeAspect="1"/>
          </p:cNvPicPr>
          <p:nvPr/>
        </p:nvPicPr>
        <p:blipFill>
          <a:blip xmlns:r="http://schemas.openxmlformats.org/officeDocument/2006/relationships" xmlns:a="http://schemas.openxmlformats.org/drawingml/2006/main" r:embed="R589b3a6b1ec14476"/>
          <a:stretch xmlns:a="http://schemas.openxmlformats.org/drawingml/2006/main"/>
        </p:blipFill>
        <p:spPr>
          <a:xfrm xmlns:a="http://schemas.openxmlformats.org/drawingml/2006/main">
            <a:off x="647700" y="2436876"/>
            <a:ext cx="10896600" cy="3051048"/>
          </a:xfrm>
          <a:prstGeom xmlns:a="http://schemas.openxmlformats.org/drawingml/2006/main" prst="rect">
            <a:avLst/>
          </a:prstGeom>
        </p:spPr>
      </p:pic>
      <p:sp>
        <p:nvSpPr>
          <p:cNvPr id="3" name="footer">
            <a:extLst xmlns:a="http://schemas.openxmlformats.org/drawingml/2006/main">
              <a:ext uri="{FF2B5EF4-FFF2-40B4-BE49-F238E27FC236}">
                <a16:creationId xmlns:a16="http://schemas.microsoft.com/office/drawing/2014/main" id="{C4D1803A-DC27-4EE9-A22B-2BA3E403AAE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548688E-4FC5-4956-AB3A-54D23DFA774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109</a:t>
            </a:r>
          </a:p>
        </p:txBody>
      </p:sp>
    </p:spTree>
    <p:extLst>
      <p:ext uri="{BB962C8B-B14F-4D97-AF65-F5344CB8AC3E}">
        <p14:creationId xmlns:p14="http://schemas.microsoft.com/office/powerpoint/2010/main" val="119789728"/>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FBDD6EF-DD51-4292-9697-9D44D101664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Itraconazole 705.6 Da</a:t>
            </a:r>
          </a:p>
        </p:txBody>
      </p:sp>
      <p:sp>
        <p:nvSpPr>
          <p:cNvPr id="2" name="paragraph-0">
            <a:extLst xmlns:a="http://schemas.openxmlformats.org/drawingml/2006/main">
              <a:ext uri="{FF2B5EF4-FFF2-40B4-BE49-F238E27FC236}">
                <a16:creationId xmlns:a16="http://schemas.microsoft.com/office/drawing/2014/main" id="{78A38D52-F7CC-4812-9F08-5EC0A7F71E3B}"/>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Multiple rings joined by a long substituent chain. Its large size, lipophilicity, and very high binding accompany low CSF exposure. The marketed drug is a stereoisomer mixture; this PubChem representation does not show every component. [53]</a:t>
            </a:r>
          </a:p>
        </p:txBody>
      </p:sp>
      <p:sp>
        <p:nvSpPr>
          <p:cNvPr id="3" name="footer">
            <a:extLst xmlns:a="http://schemas.openxmlformats.org/drawingml/2006/main">
              <a:ext uri="{FF2B5EF4-FFF2-40B4-BE49-F238E27FC236}">
                <a16:creationId xmlns:a16="http://schemas.microsoft.com/office/drawing/2014/main" id="{1CCB8F6D-5A74-4B95-A530-1E6C49E107C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EABA896-7967-4612-917F-0BD5D641696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110</a:t>
            </a:r>
          </a:p>
        </p:txBody>
      </p:sp>
    </p:spTree>
    <p:extLst>
      <p:ext uri="{BB962C8B-B14F-4D97-AF65-F5344CB8AC3E}">
        <p14:creationId xmlns:p14="http://schemas.microsoft.com/office/powerpoint/2010/main" val="382876791"/>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E6CFB44-4304-4D88-A298-FD3AB8CD604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Posaconazole 700.8 Da</a:t>
            </a:r>
          </a:p>
        </p:txBody>
      </p:sp>
      <p:pic>
        <p:nvPicPr>
          <p:cNvPr id="2" name="">
            <a:extLst xmlns:a="http://schemas.openxmlformats.org/drawingml/2006/main">
              <a:ext uri="{FF2B5EF4-FFF2-40B4-BE49-F238E27FC236}">
                <a16:creationId xmlns:a16="http://schemas.microsoft.com/office/drawing/2014/main" id="{DA40FEEC-9FF6-44D3-A621-EF753281134F}"/>
              </a:ext>
            </a:extLst>
          </p:cNvPr>
          <p:cNvPicPr>
            <a:picLocks xmlns:a="http://schemas.openxmlformats.org/drawingml/2006/main" noChangeAspect="1"/>
          </p:cNvPicPr>
          <p:nvPr/>
        </p:nvPicPr>
        <p:blipFill>
          <a:blip xmlns:r="http://schemas.openxmlformats.org/officeDocument/2006/relationships" xmlns:a="http://schemas.openxmlformats.org/drawingml/2006/main" r:embed="R4d610082e80d465f"/>
          <a:stretch xmlns:a="http://schemas.openxmlformats.org/drawingml/2006/main"/>
        </p:blipFill>
        <p:spPr>
          <a:xfrm xmlns:a="http://schemas.openxmlformats.org/drawingml/2006/main">
            <a:off x="647700" y="2436876"/>
            <a:ext cx="10896600" cy="3051048"/>
          </a:xfrm>
          <a:prstGeom xmlns:a="http://schemas.openxmlformats.org/drawingml/2006/main" prst="rect">
            <a:avLst/>
          </a:prstGeom>
        </p:spPr>
      </p:pic>
      <p:sp>
        <p:nvSpPr>
          <p:cNvPr id="3" name="footer">
            <a:extLst xmlns:a="http://schemas.openxmlformats.org/drawingml/2006/main">
              <a:ext uri="{FF2B5EF4-FFF2-40B4-BE49-F238E27FC236}">
                <a16:creationId xmlns:a16="http://schemas.microsoft.com/office/drawing/2014/main" id="{80FC3209-0C8F-4577-9B05-C6E587D907B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96FDD3E-9D46-4578-8377-C0FABA88DBD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111</a:t>
            </a:r>
          </a:p>
        </p:txBody>
      </p:sp>
    </p:spTree>
    <p:extLst>
      <p:ext uri="{BB962C8B-B14F-4D97-AF65-F5344CB8AC3E}">
        <p14:creationId xmlns:p14="http://schemas.microsoft.com/office/powerpoint/2010/main" val="1508372623"/>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35BABF0-FC35-42CA-9190-67E0678759F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Posaconazole 700.8 Da</a:t>
            </a:r>
          </a:p>
        </p:txBody>
      </p:sp>
      <p:sp>
        <p:nvSpPr>
          <p:cNvPr id="2" name="paragraph-0">
            <a:extLst xmlns:a="http://schemas.openxmlformats.org/drawingml/2006/main">
              <a:ext uri="{FF2B5EF4-FFF2-40B4-BE49-F238E27FC236}">
                <a16:creationId xmlns:a16="http://schemas.microsoft.com/office/drawing/2014/main" id="{75D0F81E-2CC0-4344-B98B-B0D9717131B6}"/>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long ring-and-linker structure related to itraconazole. Substituent changes affect spectrum and disposition; greater mold activity does not imply better CSF penetration. [54]</a:t>
            </a:r>
          </a:p>
        </p:txBody>
      </p:sp>
      <p:sp>
        <p:nvSpPr>
          <p:cNvPr id="3" name="footer">
            <a:extLst xmlns:a="http://schemas.openxmlformats.org/drawingml/2006/main">
              <a:ext uri="{FF2B5EF4-FFF2-40B4-BE49-F238E27FC236}">
                <a16:creationId xmlns:a16="http://schemas.microsoft.com/office/drawing/2014/main" id="{77147A39-DB7B-4D99-BB79-95F3B375EB3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23D0A3B-F656-46A9-A2F7-B19BD18C701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112</a:t>
            </a:r>
          </a:p>
        </p:txBody>
      </p:sp>
    </p:spTree>
    <p:extLst>
      <p:ext uri="{BB962C8B-B14F-4D97-AF65-F5344CB8AC3E}">
        <p14:creationId xmlns:p14="http://schemas.microsoft.com/office/powerpoint/2010/main" val="1393866039"/>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3DC7554-324D-44E0-9AF1-85524673FC1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Isavuconazole 437.5 Da</a:t>
            </a:r>
          </a:p>
        </p:txBody>
      </p:sp>
      <p:pic>
        <p:nvPicPr>
          <p:cNvPr id="2" name="">
            <a:extLst xmlns:a="http://schemas.openxmlformats.org/drawingml/2006/main">
              <a:ext uri="{FF2B5EF4-FFF2-40B4-BE49-F238E27FC236}">
                <a16:creationId xmlns:a16="http://schemas.microsoft.com/office/drawing/2014/main" id="{7C7C3E97-7ACC-4F6C-B0FD-AE70AF4FCA63}"/>
              </a:ext>
            </a:extLst>
          </p:cNvPr>
          <p:cNvPicPr>
            <a:picLocks xmlns:a="http://schemas.openxmlformats.org/drawingml/2006/main" noChangeAspect="1"/>
          </p:cNvPicPr>
          <p:nvPr/>
        </p:nvPicPr>
        <p:blipFill>
          <a:blip xmlns:r="http://schemas.openxmlformats.org/officeDocument/2006/relationships" xmlns:a="http://schemas.openxmlformats.org/drawingml/2006/main" r:embed="Rf814fe9e95e947b4"/>
          <a:stretch xmlns:a="http://schemas.openxmlformats.org/drawingml/2006/main"/>
        </p:blipFill>
        <p:spPr>
          <a:xfrm xmlns:a="http://schemas.openxmlformats.org/drawingml/2006/main">
            <a:off x="1232491" y="1866900"/>
            <a:ext cx="9727019" cy="4191000"/>
          </a:xfrm>
          <a:prstGeom xmlns:a="http://schemas.openxmlformats.org/drawingml/2006/main" prst="rect">
            <a:avLst/>
          </a:prstGeom>
        </p:spPr>
      </p:pic>
      <p:sp>
        <p:nvSpPr>
          <p:cNvPr id="3" name="footer">
            <a:extLst xmlns:a="http://schemas.openxmlformats.org/drawingml/2006/main">
              <a:ext uri="{FF2B5EF4-FFF2-40B4-BE49-F238E27FC236}">
                <a16:creationId xmlns:a16="http://schemas.microsoft.com/office/drawing/2014/main" id="{7E7EE2C7-C64C-4BFD-9641-B09FADF73FB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F56436C-E471-4E0D-89BF-01B5080B5F8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113</a:t>
            </a:r>
          </a:p>
        </p:txBody>
      </p:sp>
    </p:spTree>
    <p:extLst>
      <p:ext uri="{BB962C8B-B14F-4D97-AF65-F5344CB8AC3E}">
        <p14:creationId xmlns:p14="http://schemas.microsoft.com/office/powerpoint/2010/main" val="1848370632"/>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96CAF20-7BE0-4FC2-B02D-747B3B0E8B6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Isavuconazole 437.5 Da</a:t>
            </a:r>
          </a:p>
        </p:txBody>
      </p:sp>
      <p:sp>
        <p:nvSpPr>
          <p:cNvPr id="2" name="paragraph-0">
            <a:extLst xmlns:a="http://schemas.openxmlformats.org/drawingml/2006/main">
              <a:ext uri="{FF2B5EF4-FFF2-40B4-BE49-F238E27FC236}">
                <a16:creationId xmlns:a16="http://schemas.microsoft.com/office/drawing/2014/main" id="{AC99D4FE-2C02-43D1-B62F-6C3DC309501D}"/>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One triazole plus a thiazole-containing substituent. The drawing is active isavuconazole, not the larger isavuconazonium prodrug. High binding coexists with documented infected-brain tissue exposure. [55]</a:t>
            </a:r>
          </a:p>
        </p:txBody>
      </p:sp>
      <p:sp>
        <p:nvSpPr>
          <p:cNvPr id="3" name="footer">
            <a:extLst xmlns:a="http://schemas.openxmlformats.org/drawingml/2006/main">
              <a:ext uri="{FF2B5EF4-FFF2-40B4-BE49-F238E27FC236}">
                <a16:creationId xmlns:a16="http://schemas.microsoft.com/office/drawing/2014/main" id="{0AF765CD-F2A1-4514-8828-86181194846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88B66A6-A267-4B4D-B6A6-CFC2D6B1261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114</a:t>
            </a:r>
          </a:p>
        </p:txBody>
      </p:sp>
    </p:spTree>
    <p:extLst>
      <p:ext uri="{BB962C8B-B14F-4D97-AF65-F5344CB8AC3E}">
        <p14:creationId xmlns:p14="http://schemas.microsoft.com/office/powerpoint/2010/main" val="1218696426"/>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11356FF-E033-404D-8630-F9310E85F05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Advanced clinical considerations</a:t>
            </a:r>
          </a:p>
        </p:txBody>
      </p:sp>
      <p:sp>
        <p:nvSpPr>
          <p:cNvPr id="2" name="paragraph-0">
            <a:extLst xmlns:a="http://schemas.openxmlformats.org/drawingml/2006/main">
              <a:ext uri="{FF2B5EF4-FFF2-40B4-BE49-F238E27FC236}">
                <a16:creationId xmlns:a16="http://schemas.microsoft.com/office/drawing/2014/main" id="{625345CA-9D49-4F8C-8A9A-388C46B5E0B8}"/>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teaching</a:t>
            </a:r>
          </a:p>
        </p:txBody>
      </p:sp>
      <p:sp>
        <p:nvSpPr>
          <p:cNvPr id="3" name="footer">
            <a:extLst xmlns:a="http://schemas.openxmlformats.org/drawingml/2006/main">
              <a:ext uri="{FF2B5EF4-FFF2-40B4-BE49-F238E27FC236}">
                <a16:creationId xmlns:a16="http://schemas.microsoft.com/office/drawing/2014/main" id="{1B743BFA-53E0-4BA0-BC00-800DC4F5A16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79E824E-B0D0-43C2-AA1B-B4C716FBE3E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115</a:t>
            </a:r>
          </a:p>
        </p:txBody>
      </p:sp>
    </p:spTree>
    <p:extLst>
      <p:ext uri="{BB962C8B-B14F-4D97-AF65-F5344CB8AC3E}">
        <p14:creationId xmlns:p14="http://schemas.microsoft.com/office/powerpoint/2010/main" val="226212439"/>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069EB9E-6EA7-4A92-86D1-FCAF5F62228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Species-specific susceptibility interpretation</a:t>
            </a:r>
          </a:p>
        </p:txBody>
      </p:sp>
      <p:sp>
        <p:nvSpPr>
          <p:cNvPr id="2" name="paragraph-0">
            <a:extLst xmlns:a="http://schemas.openxmlformats.org/drawingml/2006/main">
              <a:ext uri="{FF2B5EF4-FFF2-40B4-BE49-F238E27FC236}">
                <a16:creationId xmlns:a16="http://schemas.microsoft.com/office/drawing/2014/main" id="{81758F43-BE8F-4FA6-A428-B846CD9E1659}"/>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C. glabrata, CLSI fluconazole results use susceptible-dose dependent or resistant categories rather than a standard susceptible category. A susceptible-dose dependent result requires an appropriate dose and exposure. Prior echinocandin treatment or persistent infection should prompt echinocandin testing and repeat evaluation for resistance. For C. parapsilosis, use species-specific interpretation: a naturally higher MIC does not by itself mean an echinocandin will fail. [1]</a:t>
            </a:r>
          </a:p>
        </p:txBody>
      </p:sp>
      <p:sp>
        <p:nvSpPr>
          <p:cNvPr id="3" name="footer">
            <a:extLst xmlns:a="http://schemas.openxmlformats.org/drawingml/2006/main">
              <a:ext uri="{FF2B5EF4-FFF2-40B4-BE49-F238E27FC236}">
                <a16:creationId xmlns:a16="http://schemas.microsoft.com/office/drawing/2014/main" id="{C39EBDC1-4284-4FEF-A315-6200605F7E0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1D5CE71-628E-4390-A2B1-E57EA42FA31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116</a:t>
            </a:r>
          </a:p>
        </p:txBody>
      </p:sp>
    </p:spTree>
    <p:extLst>
      <p:ext uri="{BB962C8B-B14F-4D97-AF65-F5344CB8AC3E}">
        <p14:creationId xmlns:p14="http://schemas.microsoft.com/office/powerpoint/2010/main" val="1668664652"/>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8803CD5-574D-4748-8154-D64439C5B1C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Species-specific susceptibility interpretation</a:t>
            </a:r>
          </a:p>
        </p:txBody>
      </p:sp>
      <p:sp>
        <p:nvSpPr>
          <p:cNvPr id="2" name="paragraph-0">
            <a:extLst xmlns:a="http://schemas.openxmlformats.org/drawingml/2006/main">
              <a:ext uri="{FF2B5EF4-FFF2-40B4-BE49-F238E27FC236}">
                <a16:creationId xmlns:a16="http://schemas.microsoft.com/office/drawing/2014/main" id="{84D239E1-1C8B-42FF-AA86-ECD2843F7AED}"/>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teaching</a:t>
            </a:r>
          </a:p>
        </p:txBody>
      </p:sp>
      <p:sp>
        <p:nvSpPr>
          <p:cNvPr id="3" name="footer">
            <a:extLst xmlns:a="http://schemas.openxmlformats.org/drawingml/2006/main">
              <a:ext uri="{FF2B5EF4-FFF2-40B4-BE49-F238E27FC236}">
                <a16:creationId xmlns:a16="http://schemas.microsoft.com/office/drawing/2014/main" id="{33750662-0DB2-4BA7-B6BC-1B6065527B8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DF96E60-D1F2-44E6-A21B-E73D54583C0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117</a:t>
            </a:r>
          </a:p>
        </p:txBody>
      </p:sp>
    </p:spTree>
    <p:extLst>
      <p:ext uri="{BB962C8B-B14F-4D97-AF65-F5344CB8AC3E}">
        <p14:creationId xmlns:p14="http://schemas.microsoft.com/office/powerpoint/2010/main" val="243696064"/>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4F0FA5A-312E-4DA6-8571-7F8B47A5FFE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 auris susceptibility thresholds</a:t>
            </a:r>
          </a:p>
        </p:txBody>
      </p:sp>
      <p:sp>
        <p:nvSpPr>
          <p:cNvPr id="2" name="paragraph-0">
            <a:extLst xmlns:a="http://schemas.openxmlformats.org/drawingml/2006/main">
              <a:ext uri="{FF2B5EF4-FFF2-40B4-BE49-F238E27FC236}">
                <a16:creationId xmlns:a16="http://schemas.microsoft.com/office/drawing/2014/main" id="{121B4845-E401-4981-9B44-9626F0930F23}"/>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CDC's tentative resistance thresholds include fluconazole MIC at least 32 mg/L, amphotericin B at least 2 mg/L, and micafungin at least 4 mg/L. They are interim guides with uncertain outcome correlation, not universal susceptible breakpoints. The October 2026 CDC page notes an established CLSI C. auris-specific rezafungin breakpoint, in addition to the tentative thresholds for other agents. Ask the laboratory which method and interpretive standard it uses; do not transfer thresholds between drugs or methods. [46]</a:t>
            </a:r>
          </a:p>
        </p:txBody>
      </p:sp>
      <p:sp>
        <p:nvSpPr>
          <p:cNvPr id="3" name="footer">
            <a:extLst xmlns:a="http://schemas.openxmlformats.org/drawingml/2006/main">
              <a:ext uri="{FF2B5EF4-FFF2-40B4-BE49-F238E27FC236}">
                <a16:creationId xmlns:a16="http://schemas.microsoft.com/office/drawing/2014/main" id="{8943A1E2-0DA6-41B0-9B04-222E88A4F8F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D476045-10A3-4571-8B1C-B9787A9F2E8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118</a:t>
            </a:r>
          </a:p>
        </p:txBody>
      </p:sp>
    </p:spTree>
    <p:extLst>
      <p:ext uri="{BB962C8B-B14F-4D97-AF65-F5344CB8AC3E}">
        <p14:creationId xmlns:p14="http://schemas.microsoft.com/office/powerpoint/2010/main" val="1834792704"/>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9A24DC9-BF16-4FA3-B74A-375B39FD957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 auris susceptibility thresholds</a:t>
            </a:r>
          </a:p>
        </p:txBody>
      </p:sp>
      <p:sp>
        <p:nvSpPr>
          <p:cNvPr id="2" name="paragraph-0">
            <a:extLst xmlns:a="http://schemas.openxmlformats.org/drawingml/2006/main">
              <a:ext uri="{FF2B5EF4-FFF2-40B4-BE49-F238E27FC236}">
                <a16:creationId xmlns:a16="http://schemas.microsoft.com/office/drawing/2014/main" id="{71E5AE50-771B-4842-922E-55B58D05184F}"/>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teaching</a:t>
            </a:r>
          </a:p>
        </p:txBody>
      </p:sp>
      <p:sp>
        <p:nvSpPr>
          <p:cNvPr id="3" name="footer">
            <a:extLst xmlns:a="http://schemas.openxmlformats.org/drawingml/2006/main">
              <a:ext uri="{FF2B5EF4-FFF2-40B4-BE49-F238E27FC236}">
                <a16:creationId xmlns:a16="http://schemas.microsoft.com/office/drawing/2014/main" id="{88913E9A-45BB-416A-9E4D-A8328BC5AD2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A8075E9-A18D-4A1C-9E49-29DC7F91FB8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119</a:t>
            </a:r>
          </a:p>
        </p:txBody>
      </p:sp>
    </p:spTree>
    <p:extLst>
      <p:ext uri="{BB962C8B-B14F-4D97-AF65-F5344CB8AC3E}">
        <p14:creationId xmlns:p14="http://schemas.microsoft.com/office/powerpoint/2010/main" val="305918179"/>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DEB62B7-3907-48D1-B618-1BB5F5CF8CF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Dematiaceous molds</a:t>
            </a:r>
          </a:p>
        </p:txBody>
      </p:sp>
      <p:sp>
        <p:nvSpPr>
          <p:cNvPr id="2" name="paragraph-0">
            <a:extLst xmlns:a="http://schemas.openxmlformats.org/drawingml/2006/main">
              <a:ext uri="{FF2B5EF4-FFF2-40B4-BE49-F238E27FC236}">
                <a16:creationId xmlns:a16="http://schemas.microsoft.com/office/drawing/2014/main" id="{1B0CF967-8585-47D8-8A27-DC2EF96BE991}"/>
              </a:ext>
            </a:extLst>
          </p:cNvPr>
          <p:cNvSpPr>
            <a:spLocks xmlns:a="http://schemas.openxmlformats.org/drawingml/2006/main" noGrp="1"/>
          </p:cNvSpPr>
          <p:nvPr/>
        </p:nvSpPr>
        <p:spPr>
          <a:xfrm xmlns:a="http://schemas.openxmlformats.org/drawingml/2006/main">
            <a:off x="647700" y="1952625"/>
            <a:ext cx="108585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Melanized molds such as Alternaria, Curvularia, Exophiala, and Cladophialophora differ in susceptibility, syndrome, and optimal therapy. Itraconazole, voriconazole, and posaconazole have activity against many species, with species-specific variation. Isavuconazole has variable in vitro activity with less clinical evidence; fluconazole is unreliable. CNS disease requires attention to penetration, species identification, susceptibility results, and surgical source control. Isavuconazole susceptibility cannot be inferred from results for voriconazole or posaconazole. [43] [44]</a:t>
            </a:r>
          </a:p>
        </p:txBody>
      </p:sp>
      <p:sp>
        <p:nvSpPr>
          <p:cNvPr id="3" name="footer">
            <a:extLst xmlns:a="http://schemas.openxmlformats.org/drawingml/2006/main">
              <a:ext uri="{FF2B5EF4-FFF2-40B4-BE49-F238E27FC236}">
                <a16:creationId xmlns:a16="http://schemas.microsoft.com/office/drawing/2014/main" id="{E24603EA-BF4B-4585-BCDF-57D4277D888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9E7EC89-8CE7-4714-9080-AA6295D155F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120</a:t>
            </a:r>
          </a:p>
        </p:txBody>
      </p:sp>
    </p:spTree>
    <p:extLst>
      <p:ext uri="{BB962C8B-B14F-4D97-AF65-F5344CB8AC3E}">
        <p14:creationId xmlns:p14="http://schemas.microsoft.com/office/powerpoint/2010/main" val="1060112768"/>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6B10B2A-4531-4189-B5F5-BB0AFD4702B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Dematiaceous molds</a:t>
            </a:r>
          </a:p>
        </p:txBody>
      </p:sp>
      <p:sp>
        <p:nvSpPr>
          <p:cNvPr id="2" name="paragraph-0">
            <a:extLst xmlns:a="http://schemas.openxmlformats.org/drawingml/2006/main">
              <a:ext uri="{FF2B5EF4-FFF2-40B4-BE49-F238E27FC236}">
                <a16:creationId xmlns:a16="http://schemas.microsoft.com/office/drawing/2014/main" id="{134CB6E0-B7C6-4A8A-BAC4-AE9A63BCE818}"/>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VITAL cryptococcosis/endemic-fungus subset included only 38 patients across five genera and had no randomized comparator. Comparative efficacy for each organism remains uncertain. [42]</a:t>
            </a:r>
          </a:p>
        </p:txBody>
      </p:sp>
      <p:sp>
        <p:nvSpPr>
          <p:cNvPr id="3" name="footer">
            <a:extLst xmlns:a="http://schemas.openxmlformats.org/drawingml/2006/main">
              <a:ext uri="{FF2B5EF4-FFF2-40B4-BE49-F238E27FC236}">
                <a16:creationId xmlns:a16="http://schemas.microsoft.com/office/drawing/2014/main" id="{3DB9FF14-16C8-43CA-A831-1A5B6C213EE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71E223B-5376-4BC0-A5FC-29C44B72E5D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121</a:t>
            </a:r>
          </a:p>
        </p:txBody>
      </p:sp>
    </p:spTree>
    <p:extLst>
      <p:ext uri="{BB962C8B-B14F-4D97-AF65-F5344CB8AC3E}">
        <p14:creationId xmlns:p14="http://schemas.microsoft.com/office/powerpoint/2010/main" val="1796846219"/>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2F4E869-9FB5-487D-8C01-0F6956D1F23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Dematiaceous molds</a:t>
            </a:r>
          </a:p>
        </p:txBody>
      </p:sp>
      <p:sp>
        <p:nvSpPr>
          <p:cNvPr id="2" name="paragraph-0">
            <a:extLst xmlns:a="http://schemas.openxmlformats.org/drawingml/2006/main">
              <a:ext uri="{FF2B5EF4-FFF2-40B4-BE49-F238E27FC236}">
                <a16:creationId xmlns:a16="http://schemas.microsoft.com/office/drawing/2014/main" id="{BE143808-69E6-4A3F-A031-AC0FBCFF9856}"/>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teaching</a:t>
            </a:r>
          </a:p>
        </p:txBody>
      </p:sp>
      <p:sp>
        <p:nvSpPr>
          <p:cNvPr id="3" name="footer">
            <a:extLst xmlns:a="http://schemas.openxmlformats.org/drawingml/2006/main">
              <a:ext uri="{FF2B5EF4-FFF2-40B4-BE49-F238E27FC236}">
                <a16:creationId xmlns:a16="http://schemas.microsoft.com/office/drawing/2014/main" id="{093F3DA4-C35A-47D9-A1D9-B6DE334BC3C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33E4D46-A605-448C-867F-0CFD0B2CC9B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122</a:t>
            </a:r>
          </a:p>
        </p:txBody>
      </p:sp>
    </p:spTree>
    <p:extLst>
      <p:ext uri="{BB962C8B-B14F-4D97-AF65-F5344CB8AC3E}">
        <p14:creationId xmlns:p14="http://schemas.microsoft.com/office/powerpoint/2010/main" val="1963330369"/>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9A84FF6-120C-48B4-B1B4-149C0988F99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Echinocandin resistance</a:t>
            </a:r>
          </a:p>
        </p:txBody>
      </p:sp>
      <p:sp>
        <p:nvSpPr>
          <p:cNvPr id="2" name="paragraph-0">
            <a:extLst xmlns:a="http://schemas.openxmlformats.org/drawingml/2006/main">
              <a:ext uri="{FF2B5EF4-FFF2-40B4-BE49-F238E27FC236}">
                <a16:creationId xmlns:a16="http://schemas.microsoft.com/office/drawing/2014/main" id="{7457465B-4300-4F00-A8B0-0A9438E6C82A}"/>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FKS mutations can confer class resistance. Prior echinocandin exposure, persistent candidemia, and species identification affect the need for susceptibility testing. C. parapsilosis has higher baseline echinocandin MICs, but that alone does not establish treatment failure. Request susceptibility data and interpret the breakpoint for that species and drug. [1]</a:t>
            </a:r>
          </a:p>
        </p:txBody>
      </p:sp>
      <p:sp>
        <p:nvSpPr>
          <p:cNvPr id="3" name="footer">
            <a:extLst xmlns:a="http://schemas.openxmlformats.org/drawingml/2006/main">
              <a:ext uri="{FF2B5EF4-FFF2-40B4-BE49-F238E27FC236}">
                <a16:creationId xmlns:a16="http://schemas.microsoft.com/office/drawing/2014/main" id="{34AD6AEE-B714-4011-94E1-F601C43FD27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1E57493-8793-4D8D-AD07-ADF4D1191D6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123</a:t>
            </a:r>
          </a:p>
        </p:txBody>
      </p:sp>
    </p:spTree>
    <p:extLst>
      <p:ext uri="{BB962C8B-B14F-4D97-AF65-F5344CB8AC3E}">
        <p14:creationId xmlns:p14="http://schemas.microsoft.com/office/powerpoint/2010/main" val="1253197736"/>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6001D6E-5D4C-47AB-BB86-D4248EB9204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Echinocandin resistance</a:t>
            </a:r>
          </a:p>
        </p:txBody>
      </p:sp>
      <p:sp>
        <p:nvSpPr>
          <p:cNvPr id="2" name="paragraph-0">
            <a:extLst xmlns:a="http://schemas.openxmlformats.org/drawingml/2006/main">
              <a:ext uri="{FF2B5EF4-FFF2-40B4-BE49-F238E27FC236}">
                <a16:creationId xmlns:a16="http://schemas.microsoft.com/office/drawing/2014/main" id="{CF1037D2-1A97-4821-8225-A675ABB401FA}"/>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teaching</a:t>
            </a:r>
          </a:p>
        </p:txBody>
      </p:sp>
      <p:sp>
        <p:nvSpPr>
          <p:cNvPr id="3" name="footer">
            <a:extLst xmlns:a="http://schemas.openxmlformats.org/drawingml/2006/main">
              <a:ext uri="{FF2B5EF4-FFF2-40B4-BE49-F238E27FC236}">
                <a16:creationId xmlns:a16="http://schemas.microsoft.com/office/drawing/2014/main" id="{849FB51A-A388-4BF1-8F26-06BD2A5FCF6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0A5ADB5-F902-414B-BD1C-9FD80F2FF81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124</a:t>
            </a:r>
          </a:p>
        </p:txBody>
      </p:sp>
    </p:spTree>
    <p:extLst>
      <p:ext uri="{BB962C8B-B14F-4D97-AF65-F5344CB8AC3E}">
        <p14:creationId xmlns:p14="http://schemas.microsoft.com/office/powerpoint/2010/main" val="1047222275"/>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68B3D41-966B-4020-A60C-D91174A72ED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CSF and brain tissue concentrations</a:t>
            </a:r>
          </a:p>
        </p:txBody>
      </p:sp>
      <p:sp>
        <p:nvSpPr>
          <p:cNvPr id="2" name="paragraph-0">
            <a:extLst xmlns:a="http://schemas.openxmlformats.org/drawingml/2006/main">
              <a:ext uri="{FF2B5EF4-FFF2-40B4-BE49-F238E27FC236}">
                <a16:creationId xmlns:a16="http://schemas.microsoft.com/office/drawing/2014/main" id="{959974D7-EDA9-42DD-93F6-0FBC9774D98D}"/>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Meningitis, an angioinvasive lesion, and an encapsulated abscess are different compartments. Isavuconazole tissue measurements from two patients showed substantially different concentrations in inflamed versus normal brain. Amphotericin B can be effective in CNS infection despite low CSF levels. A concentration in homogenized tissue does not establish free extracellular exposure or comparative clinical efficacy. [16] [1]</a:t>
            </a:r>
          </a:p>
        </p:txBody>
      </p:sp>
      <p:sp>
        <p:nvSpPr>
          <p:cNvPr id="3" name="footer">
            <a:extLst xmlns:a="http://schemas.openxmlformats.org/drawingml/2006/main">
              <a:ext uri="{FF2B5EF4-FFF2-40B4-BE49-F238E27FC236}">
                <a16:creationId xmlns:a16="http://schemas.microsoft.com/office/drawing/2014/main" id="{D4093DA6-20A7-4F43-A450-877FD21CF9A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0F9A4CE-D5DD-4093-8600-CC5FCA049C4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125</a:t>
            </a:r>
          </a:p>
        </p:txBody>
      </p:sp>
    </p:spTree>
    <p:extLst>
      <p:ext uri="{BB962C8B-B14F-4D97-AF65-F5344CB8AC3E}">
        <p14:creationId xmlns:p14="http://schemas.microsoft.com/office/powerpoint/2010/main" val="124667623"/>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2FF2314-208A-4AAB-9DDD-6977FD3DD1E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CSF and brain tissue concentrations</a:t>
            </a:r>
          </a:p>
        </p:txBody>
      </p:sp>
      <p:sp>
        <p:nvSpPr>
          <p:cNvPr id="2" name="paragraph-0">
            <a:extLst xmlns:a="http://schemas.openxmlformats.org/drawingml/2006/main">
              <a:ext uri="{FF2B5EF4-FFF2-40B4-BE49-F238E27FC236}">
                <a16:creationId xmlns:a16="http://schemas.microsoft.com/office/drawing/2014/main" id="{FA33B000-EB30-4D33-995E-0D1EA52B73C9}"/>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teaching</a:t>
            </a:r>
          </a:p>
        </p:txBody>
      </p:sp>
      <p:sp>
        <p:nvSpPr>
          <p:cNvPr id="3" name="footer">
            <a:extLst xmlns:a="http://schemas.openxmlformats.org/drawingml/2006/main">
              <a:ext uri="{FF2B5EF4-FFF2-40B4-BE49-F238E27FC236}">
                <a16:creationId xmlns:a16="http://schemas.microsoft.com/office/drawing/2014/main" id="{EB6B27FF-7703-40BC-A7C2-454E35F4F72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3E60FF9-B314-4EF0-85F5-F920A3636E4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126</a:t>
            </a:r>
          </a:p>
        </p:txBody>
      </p:sp>
    </p:spTree>
    <p:extLst>
      <p:ext uri="{BB962C8B-B14F-4D97-AF65-F5344CB8AC3E}">
        <p14:creationId xmlns:p14="http://schemas.microsoft.com/office/powerpoint/2010/main" val="312933207"/>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65EE129-5CDF-49E4-93D6-DFEC6531357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Parent-only and combined itraconazole targets</a:t>
            </a:r>
          </a:p>
        </p:txBody>
      </p:sp>
      <p:sp>
        <p:nvSpPr>
          <p:cNvPr id="2" name="paragraph-0">
            <a:extLst xmlns:a="http://schemas.openxmlformats.org/drawingml/2006/main">
              <a:ext uri="{FF2B5EF4-FFF2-40B4-BE49-F238E27FC236}">
                <a16:creationId xmlns:a16="http://schemas.microsoft.com/office/drawing/2014/main" id="{57E33FB7-8CC9-4521-AC9F-48E33955A901}"/>
              </a:ext>
            </a:extLst>
          </p:cNvPr>
          <p:cNvSpPr>
            <a:spLocks xmlns:a="http://schemas.openxmlformats.org/drawingml/2006/main" noGrp="1"/>
          </p:cNvSpPr>
          <p:nvPr/>
        </p:nvSpPr>
        <p:spPr>
          <a:xfrm xmlns:a="http://schemas.openxmlformats.org/drawingml/2006/main">
            <a:off x="647700" y="1952625"/>
            <a:ext cx="108585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2026 IDSA aspergillosis pharmacology appendix describes combined parent-plus-hydroxy targets, whereas current IDSA histoplasmosis guidance favors a parent component &gt;1 mg/L and &lt;3-4 mg/L, and states that a universal combined cutoff has not been established. It notes that combined levels &gt;2 mg/L may provide similar responses to parent levels &gt;1 mg/L. Mayo also provides distinct parent and combined interpretation. State the assay and treatment target explicitly. A combined result can meet its target while the parent level remains below a parent-only target. [3] [12] [13]</a:t>
            </a:r>
          </a:p>
        </p:txBody>
      </p:sp>
      <p:sp>
        <p:nvSpPr>
          <p:cNvPr id="3" name="footer">
            <a:extLst xmlns:a="http://schemas.openxmlformats.org/drawingml/2006/main">
              <a:ext uri="{FF2B5EF4-FFF2-40B4-BE49-F238E27FC236}">
                <a16:creationId xmlns:a16="http://schemas.microsoft.com/office/drawing/2014/main" id="{01F6BD5A-6BC4-44FD-8608-35004589AD6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A372E9B-A2F1-4DD4-A149-B95F932AA23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127</a:t>
            </a:r>
          </a:p>
        </p:txBody>
      </p:sp>
    </p:spTree>
    <p:extLst>
      <p:ext uri="{BB962C8B-B14F-4D97-AF65-F5344CB8AC3E}">
        <p14:creationId xmlns:p14="http://schemas.microsoft.com/office/powerpoint/2010/main" val="479348242"/>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B2F32DC-F4A2-4546-A2E6-E7F1F3469BF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Voriconazole versus itraconazole in histoplasmosis</a:t>
            </a:r>
          </a:p>
        </p:txBody>
      </p:sp>
      <p:sp>
        <p:nvSpPr>
          <p:cNvPr id="2" name="paragraph-0">
            <a:extLst xmlns:a="http://schemas.openxmlformats.org/drawingml/2006/main">
              <a:ext uri="{FF2B5EF4-FFF2-40B4-BE49-F238E27FC236}">
                <a16:creationId xmlns:a16="http://schemas.microsoft.com/office/drawing/2014/main" id="{FE2076D0-8AB9-475B-BA78-265C06AAE2A5}"/>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single-center retrospective cohort compared 175 itraconazole-treated patients with 19 voriconazole-treated patients. Voriconazole was associated with higher mortality during the first 42 days after treatment initiation (adjusted hazard ratio 4.30; 95% CI 1.3-13.9). The small voriconazole group, nonrandomized treatment assignment, and potential residual confounding limit causal inference. These findings support itraconazole preference and argue against treating voriconazole as an interchangeable alternative. [56]</a:t>
            </a:r>
          </a:p>
        </p:txBody>
      </p:sp>
      <p:sp>
        <p:nvSpPr>
          <p:cNvPr id="3" name="footer">
            <a:extLst xmlns:a="http://schemas.openxmlformats.org/drawingml/2006/main">
              <a:ext uri="{FF2B5EF4-FFF2-40B4-BE49-F238E27FC236}">
                <a16:creationId xmlns:a16="http://schemas.microsoft.com/office/drawing/2014/main" id="{BFE27BF4-2DCD-4EDE-9998-94F5BCBC608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BA86E2E-168A-403D-BB93-FE018C7B65E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128</a:t>
            </a:r>
          </a:p>
        </p:txBody>
      </p:sp>
    </p:spTree>
    <p:extLst>
      <p:ext uri="{BB962C8B-B14F-4D97-AF65-F5344CB8AC3E}">
        <p14:creationId xmlns:p14="http://schemas.microsoft.com/office/powerpoint/2010/main" val="1784239104"/>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3D66371-2785-468D-B080-DA37E0001D2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Isavuconazole versus voriconazole: SECURE</a:t>
            </a:r>
          </a:p>
        </p:txBody>
      </p:sp>
      <p:sp>
        <p:nvSpPr>
          <p:cNvPr id="2" name="paragraph-0">
            <a:extLst xmlns:a="http://schemas.openxmlformats.org/drawingml/2006/main">
              <a:ext uri="{FF2B5EF4-FFF2-40B4-BE49-F238E27FC236}">
                <a16:creationId xmlns:a16="http://schemas.microsoft.com/office/drawing/2014/main" id="{78A9A234-1F0B-4F6A-9C55-0D0308F18A42}"/>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Day-42 mortality was 19% with isavuconazole versus 20% with voriconazole, meeting noninferiority. Drug-related adverse events were less frequent with isavuconazole. The trial did not establish superiority or equivalence for every rare mold or CNS infection. [20]</a:t>
            </a:r>
          </a:p>
        </p:txBody>
      </p:sp>
      <p:sp>
        <p:nvSpPr>
          <p:cNvPr id="3" name="footer">
            <a:extLst xmlns:a="http://schemas.openxmlformats.org/drawingml/2006/main">
              <a:ext uri="{FF2B5EF4-FFF2-40B4-BE49-F238E27FC236}">
                <a16:creationId xmlns:a16="http://schemas.microsoft.com/office/drawing/2014/main" id="{99C0D959-B609-4DE0-8534-60909EF0B4E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7CAEE76-A65D-4344-B84B-EC527DF175A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129</a:t>
            </a:r>
          </a:p>
        </p:txBody>
      </p:sp>
    </p:spTree>
    <p:extLst>
      <p:ext uri="{BB962C8B-B14F-4D97-AF65-F5344CB8AC3E}">
        <p14:creationId xmlns:p14="http://schemas.microsoft.com/office/powerpoint/2010/main" val="159393406"/>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5BB2660-3E69-43B2-8F44-5F83BCC7C5E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Posaconazole for primary invasive aspergillosis treatment</a:t>
            </a:r>
          </a:p>
        </p:txBody>
      </p:sp>
      <p:sp>
        <p:nvSpPr>
          <p:cNvPr id="2" name="paragraph-0">
            <a:extLst xmlns:a="http://schemas.openxmlformats.org/drawingml/2006/main">
              <a:ext uri="{FF2B5EF4-FFF2-40B4-BE49-F238E27FC236}">
                <a16:creationId xmlns:a16="http://schemas.microsoft.com/office/drawing/2014/main" id="{E74466B2-38AE-4055-A766-D15DA566327B}"/>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2021 randomized trial met noninferiority versus voriconazole for primary invasive aspergillosis treatment. Day-42 mortality was 15% versus 21% in the intention-to-treat population. The confidence interval for the treatment difference crossed zero, so mortality superiority was not established. The regimen used modern IV/tablet formulations, not conventional suspension. [21]</a:t>
            </a:r>
          </a:p>
        </p:txBody>
      </p:sp>
      <p:sp>
        <p:nvSpPr>
          <p:cNvPr id="3" name="footer">
            <a:extLst xmlns:a="http://schemas.openxmlformats.org/drawingml/2006/main">
              <a:ext uri="{FF2B5EF4-FFF2-40B4-BE49-F238E27FC236}">
                <a16:creationId xmlns:a16="http://schemas.microsoft.com/office/drawing/2014/main" id="{988B56DD-1A8C-4C6B-A73C-045733EF129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1F626E0-6F69-4A76-9EE2-646583D2CE8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130</a:t>
            </a:r>
          </a:p>
        </p:txBody>
      </p:sp>
    </p:spTree>
    <p:extLst>
      <p:ext uri="{BB962C8B-B14F-4D97-AF65-F5344CB8AC3E}">
        <p14:creationId xmlns:p14="http://schemas.microsoft.com/office/powerpoint/2010/main" val="1471316840"/>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74C560C-876D-4C8A-BA72-F83FC322031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Voriconazole TDM trials</a:t>
            </a:r>
          </a:p>
        </p:txBody>
      </p:sp>
      <p:sp>
        <p:nvSpPr>
          <p:cNvPr id="2" name="paragraph-0">
            <a:extLst xmlns:a="http://schemas.openxmlformats.org/drawingml/2006/main">
              <a:ext uri="{FF2B5EF4-FFF2-40B4-BE49-F238E27FC236}">
                <a16:creationId xmlns:a16="http://schemas.microsoft.com/office/drawing/2014/main" id="{694C73ED-A8BC-4D5A-846E-C1BBD4784F72}"/>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110-patient single-center randomized study supported voriconazole TDM, with less discontinuation from toxicity and better treatment response. A later multicenter cluster randomized crossover study did not show improved treatment outcomes with TDM-guided dosing. PK variability and exposure-related toxicity support monitoring, although a consistent survival benefit has not been shown. [22] [23]</a:t>
            </a:r>
          </a:p>
        </p:txBody>
      </p:sp>
      <p:sp>
        <p:nvSpPr>
          <p:cNvPr id="3" name="footer">
            <a:extLst xmlns:a="http://schemas.openxmlformats.org/drawingml/2006/main">
              <a:ext uri="{FF2B5EF4-FFF2-40B4-BE49-F238E27FC236}">
                <a16:creationId xmlns:a16="http://schemas.microsoft.com/office/drawing/2014/main" id="{AF4E9F77-B149-42B7-AFA6-1424478095A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022B890-5D64-4646-A7F7-93F851BC38B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131</a:t>
            </a:r>
          </a:p>
        </p:txBody>
      </p:sp>
    </p:spTree>
    <p:extLst>
      <p:ext uri="{BB962C8B-B14F-4D97-AF65-F5344CB8AC3E}">
        <p14:creationId xmlns:p14="http://schemas.microsoft.com/office/powerpoint/2010/main" val="1065491906"/>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C4C3594-A28D-4A08-87F7-CE197FF5E9B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Breakthrough fungal infection</a:t>
            </a:r>
          </a:p>
        </p:txBody>
      </p:sp>
      <p:sp>
        <p:nvSpPr>
          <p:cNvPr id="2" name="paragraph-0">
            <a:extLst xmlns:a="http://schemas.openxmlformats.org/drawingml/2006/main">
              <a:ext uri="{FF2B5EF4-FFF2-40B4-BE49-F238E27FC236}">
                <a16:creationId xmlns:a16="http://schemas.microsoft.com/office/drawing/2014/main" id="{02008944-1F01-4F99-B98E-7F099888040F}"/>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Confirm infection and seek species identification, histopathology, and susceptibility testing when feasible. Review adherence, formulation, absorption, interactions, achieved exposure, devices, drainage, immune recovery, and whether a second fungus lies outside the current spectrum. Persistent infection may reflect inadequate source control despite a low MIC. [2]</a:t>
            </a:r>
          </a:p>
        </p:txBody>
      </p:sp>
      <p:sp>
        <p:nvSpPr>
          <p:cNvPr id="3" name="paragraph-1">
            <a:extLst xmlns:a="http://schemas.openxmlformats.org/drawingml/2006/main">
              <a:ext uri="{FF2B5EF4-FFF2-40B4-BE49-F238E27FC236}">
                <a16:creationId xmlns:a16="http://schemas.microsoft.com/office/drawing/2014/main" id="{623D8556-73A7-40BA-B94E-14AFFC8E115D}"/>
              </a:ext>
            </a:extLst>
          </p:cNvPr>
          <p:cNvSpPr>
            <a:spLocks xmlns:a="http://schemas.openxmlformats.org/drawingml/2006/main" noGrp="1"/>
          </p:cNvSpPr>
          <p:nvPr/>
        </p:nvSpPr>
        <p:spPr>
          <a:xfrm xmlns:a="http://schemas.openxmlformats.org/drawingml/2006/main">
            <a:off x="647700" y="43243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teaching</a:t>
            </a:r>
          </a:p>
        </p:txBody>
      </p:sp>
      <p:sp>
        <p:nvSpPr>
          <p:cNvPr id="4" name="footer">
            <a:extLst xmlns:a="http://schemas.openxmlformats.org/drawingml/2006/main">
              <a:ext uri="{FF2B5EF4-FFF2-40B4-BE49-F238E27FC236}">
                <a16:creationId xmlns:a16="http://schemas.microsoft.com/office/drawing/2014/main" id="{BCB8AA1F-8285-4AEC-98BD-1AFEBA01C97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7E4A0126-1781-4EBE-B42D-2173840C34C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132</a:t>
            </a:r>
          </a:p>
        </p:txBody>
      </p:sp>
    </p:spTree>
    <p:extLst>
      <p:ext uri="{BB962C8B-B14F-4D97-AF65-F5344CB8AC3E}">
        <p14:creationId xmlns:p14="http://schemas.microsoft.com/office/powerpoint/2010/main" val="2057212196"/>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82D8A9F-16EA-4556-9DC1-8B831B013E5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MIC interpretation across drug classes</a:t>
            </a:r>
          </a:p>
        </p:txBody>
      </p:sp>
      <p:sp>
        <p:nvSpPr>
          <p:cNvPr id="2" name="paragraph-0">
            <a:extLst xmlns:a="http://schemas.openxmlformats.org/drawingml/2006/main">
              <a:ext uri="{FF2B5EF4-FFF2-40B4-BE49-F238E27FC236}">
                <a16:creationId xmlns:a16="http://schemas.microsoft.com/office/drawing/2014/main" id="{BBBC3BF5-19EF-45D4-A001-CCE4341B9C2F}"/>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Breakpoints depend on organism, method, drug exposure, and available outcomes. An epidemiological cutoff identifies a non-wild-type population; it is not a clinical susceptible breakpoint. For Aspergillus tested against echinocandins, laboratories often assess minimum effective concentration rather than the same MIC endpoint used for azoles. MIC values cannot be compared directly across classes to rank clinical efficacy. [2]</a:t>
            </a:r>
          </a:p>
        </p:txBody>
      </p:sp>
      <p:sp>
        <p:nvSpPr>
          <p:cNvPr id="3" name="footer">
            <a:extLst xmlns:a="http://schemas.openxmlformats.org/drawingml/2006/main">
              <a:ext uri="{FF2B5EF4-FFF2-40B4-BE49-F238E27FC236}">
                <a16:creationId xmlns:a16="http://schemas.microsoft.com/office/drawing/2014/main" id="{F12AB96A-CC64-49ED-9F0A-49BCBD8184C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C9BB65E-01A8-4EC3-84D5-26C4FA99A69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133</a:t>
            </a:r>
          </a:p>
        </p:txBody>
      </p:sp>
    </p:spTree>
    <p:extLst>
      <p:ext uri="{BB962C8B-B14F-4D97-AF65-F5344CB8AC3E}">
        <p14:creationId xmlns:p14="http://schemas.microsoft.com/office/powerpoint/2010/main" val="365702561"/>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FAF4202-7708-4B62-8FB3-44AEA8E204E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MIC interpretation across drug classes</a:t>
            </a:r>
          </a:p>
        </p:txBody>
      </p:sp>
      <p:sp>
        <p:nvSpPr>
          <p:cNvPr id="2" name="paragraph-0">
            <a:extLst xmlns:a="http://schemas.openxmlformats.org/drawingml/2006/main">
              <a:ext uri="{FF2B5EF4-FFF2-40B4-BE49-F238E27FC236}">
                <a16:creationId xmlns:a16="http://schemas.microsoft.com/office/drawing/2014/main" id="{5C377A0C-0320-49FC-996E-8DC7EC7904D4}"/>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Hypoalbuminemia, obesity, critical illness, ECMO, and impaired absorption can complicate interpretation of total plasma levels. Review dosing and level interpretation with pharmacy when these factors are present. [3]</a:t>
            </a:r>
          </a:p>
        </p:txBody>
      </p:sp>
      <p:sp>
        <p:nvSpPr>
          <p:cNvPr id="3" name="paragraph-1">
            <a:extLst xmlns:a="http://schemas.openxmlformats.org/drawingml/2006/main">
              <a:ext uri="{FF2B5EF4-FFF2-40B4-BE49-F238E27FC236}">
                <a16:creationId xmlns:a16="http://schemas.microsoft.com/office/drawing/2014/main" id="{5B8EAF32-FF01-494E-824E-94BA94ED9D61}"/>
              </a:ext>
            </a:extLst>
          </p:cNvPr>
          <p:cNvSpPr>
            <a:spLocks xmlns:a="http://schemas.openxmlformats.org/drawingml/2006/main" noGrp="1"/>
          </p:cNvSpPr>
          <p:nvPr/>
        </p:nvSpPr>
        <p:spPr>
          <a:xfrm xmlns:a="http://schemas.openxmlformats.org/drawingml/2006/main">
            <a:off x="647700" y="36195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Newer experimental posaconazole data show that infection alters cerebral diffusion. These animal data do not establish a human CNS dose or clinical equivalence to voriconazole. [36]</a:t>
            </a:r>
          </a:p>
        </p:txBody>
      </p:sp>
      <p:sp>
        <p:nvSpPr>
          <p:cNvPr id="4" name="footer">
            <a:extLst xmlns:a="http://schemas.openxmlformats.org/drawingml/2006/main">
              <a:ext uri="{FF2B5EF4-FFF2-40B4-BE49-F238E27FC236}">
                <a16:creationId xmlns:a16="http://schemas.microsoft.com/office/drawing/2014/main" id="{5BC53D39-D2FD-4C82-B3F1-03DDFD1F42A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3C97A612-834D-4F70-8773-D862EC80659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134</a:t>
            </a:r>
          </a:p>
        </p:txBody>
      </p:sp>
    </p:spTree>
    <p:extLst>
      <p:ext uri="{BB962C8B-B14F-4D97-AF65-F5344CB8AC3E}">
        <p14:creationId xmlns:p14="http://schemas.microsoft.com/office/powerpoint/2010/main" val="524909791"/>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D82C18A-52AD-4E88-9F1F-66CC985362C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Newer approved antifungals</a:t>
            </a:r>
          </a:p>
        </p:txBody>
      </p:sp>
      <p:graphicFrame>
        <p:nvGraphicFramePr>
          <p:cNvPr id="2" name="">
            <a:extLst xmlns:a="http://schemas.openxmlformats.org/drawingml/2006/main">
              <a:ext uri="{FF2B5EF4-FFF2-40B4-BE49-F238E27FC236}">
                <a16:creationId xmlns:a16="http://schemas.microsoft.com/office/drawing/2014/main" id="{9A7F2F66-9DA3-4343-BA9B-6A51CB782C7C}"/>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Rezafungin / Rezzayo Long-acting echinocandin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Established U.S. role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Candidemia and invasive candidiasis with limited or no alternatives. Adult dose 400 mg IV initially, then 200 mg weekly.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Nuance and pitfall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Same class gaps and possible FKS cross-resistance. Not studied for Candida endocarditis, osteomyelitis, or meningitis; label safety beyond 4 weekly doses is not established. Infusion reactions, liver effects, and photosensitivity require attention.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3E9FD82-5634-4663-8E18-468165D131D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F5F4C92-656A-433B-AA62-879D2DAAE2F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135</a:t>
            </a:r>
          </a:p>
        </p:txBody>
      </p:sp>
    </p:spTree>
    <p:extLst>
      <p:ext uri="{BB962C8B-B14F-4D97-AF65-F5344CB8AC3E}">
        <p14:creationId xmlns:p14="http://schemas.microsoft.com/office/powerpoint/2010/main" val="1424993980"/>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6A496D9-2A8C-4C2F-A237-9E75B1A4E40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Newer approved antifungals</a:t>
            </a:r>
          </a:p>
        </p:txBody>
      </p:sp>
      <p:graphicFrame>
        <p:nvGraphicFramePr>
          <p:cNvPr id="2" name="">
            <a:extLst xmlns:a="http://schemas.openxmlformats.org/drawingml/2006/main">
              <a:ext uri="{FF2B5EF4-FFF2-40B4-BE49-F238E27FC236}">
                <a16:creationId xmlns:a16="http://schemas.microsoft.com/office/drawing/2014/main" id="{7F7DCC6B-AD24-4EC5-9137-7675C64D711B}"/>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Ibrexafungerp / Brexafemme Oral triterpenoid glucan-synthase inhibitor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Established U.S. role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Vulvovaginal candidiasis and reduction of recurrent VVC.</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Nuance and pitfall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It is not approved for candidemia step-down. GI effects and CYP3A interactions matter. Pregnancy is contraindicated because of embryo-fetal toxicity. Verify availability separately from approval.</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7DD8EDF-8DC7-432C-AAC6-4D9E45C4290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7F5B087-F6AE-43AE-A3CC-9AAD27BB2CD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136</a:t>
            </a:r>
          </a:p>
        </p:txBody>
      </p:sp>
    </p:spTree>
    <p:extLst>
      <p:ext uri="{BB962C8B-B14F-4D97-AF65-F5344CB8AC3E}">
        <p14:creationId xmlns:p14="http://schemas.microsoft.com/office/powerpoint/2010/main" val="18778517"/>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6156206-0C52-45A3-9BB0-106EB8FE91B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Newer approved antifungals</a:t>
            </a:r>
          </a:p>
        </p:txBody>
      </p:sp>
      <p:graphicFrame>
        <p:nvGraphicFramePr>
          <p:cNvPr id="2" name="">
            <a:extLst xmlns:a="http://schemas.openxmlformats.org/drawingml/2006/main">
              <a:ext uri="{FF2B5EF4-FFF2-40B4-BE49-F238E27FC236}">
                <a16:creationId xmlns:a16="http://schemas.microsoft.com/office/drawing/2014/main" id="{0CF57B8E-9414-469C-9D5F-60120D83D82C}"/>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Oteseconazole / Vivjoa Tetrazole CYP51 inhibitor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Established U.S. role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Reduction of recurrent VVC in females who are not of reproductive potential.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Nuance and pitfall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Not a systemic mold or candidemia treatment. Contraindicated in females of reproductive potential, pregnancy, and lactation; prolonged exposure underlies the restriction. Drug interactions still require review.</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EDCA9E4-AB42-4D67-B113-6406DB3D258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54DC2E5-7983-4ECC-853E-2534D7F15E4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137</a:t>
            </a:r>
          </a:p>
        </p:txBody>
      </p:sp>
    </p:spTree>
    <p:extLst>
      <p:ext uri="{BB962C8B-B14F-4D97-AF65-F5344CB8AC3E}">
        <p14:creationId xmlns:p14="http://schemas.microsoft.com/office/powerpoint/2010/main" val="1399360524"/>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BA78853-48B8-412E-923C-C2F7A432572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Newer approved antifungals</a:t>
            </a:r>
          </a:p>
        </p:txBody>
      </p:sp>
      <p:sp>
        <p:nvSpPr>
          <p:cNvPr id="2" name="paragraph-0">
            <a:extLst xmlns:a="http://schemas.openxmlformats.org/drawingml/2006/main">
              <a:ext uri="{FF2B5EF4-FFF2-40B4-BE49-F238E27FC236}">
                <a16:creationId xmlns:a16="http://schemas.microsoft.com/office/drawing/2014/main" id="{AD1F419E-5E1C-4907-8563-39DDC4FEB4C4}"/>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[24] [25] [26]</a:t>
            </a:r>
          </a:p>
        </p:txBody>
      </p:sp>
      <p:sp>
        <p:nvSpPr>
          <p:cNvPr id="3" name="footer">
            <a:extLst xmlns:a="http://schemas.openxmlformats.org/drawingml/2006/main">
              <a:ext uri="{FF2B5EF4-FFF2-40B4-BE49-F238E27FC236}">
                <a16:creationId xmlns:a16="http://schemas.microsoft.com/office/drawing/2014/main" id="{FE446B58-967C-4AFC-A3E2-20F770AD977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C1E454C-9812-4301-9D6A-97177A0654C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138</a:t>
            </a:r>
          </a:p>
        </p:txBody>
      </p:sp>
    </p:spTree>
    <p:extLst>
      <p:ext uri="{BB962C8B-B14F-4D97-AF65-F5344CB8AC3E}">
        <p14:creationId xmlns:p14="http://schemas.microsoft.com/office/powerpoint/2010/main" val="1364258565"/>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16726AE-B02A-48C9-B34A-7DDB96A576D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Investigational antifungals</a:t>
            </a:r>
          </a:p>
        </p:txBody>
      </p:sp>
      <p:sp>
        <p:nvSpPr>
          <p:cNvPr id="2" name="paragraph-0">
            <a:extLst xmlns:a="http://schemas.openxmlformats.org/drawingml/2006/main">
              <a:ext uri="{FF2B5EF4-FFF2-40B4-BE49-F238E27FC236}">
                <a16:creationId xmlns:a16="http://schemas.microsoft.com/office/drawing/2014/main" id="{076D0FB5-D87F-40E7-8D98-EC6B063FA2B2}"/>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Development status was reviewed October 14, 2026. These agents remain investigational; in vitro activity and sponsor announcements have limited clinical applicability.</a:t>
            </a:r>
          </a:p>
        </p:txBody>
      </p:sp>
      <p:sp>
        <p:nvSpPr>
          <p:cNvPr id="3" name="footer">
            <a:extLst xmlns:a="http://schemas.openxmlformats.org/drawingml/2006/main">
              <a:ext uri="{FF2B5EF4-FFF2-40B4-BE49-F238E27FC236}">
                <a16:creationId xmlns:a16="http://schemas.microsoft.com/office/drawing/2014/main" id="{0CF98D32-F7A6-4586-8D92-39088DD5DA2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4ADDC81-99E2-4DAE-8131-839B94CB373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139</a:t>
            </a:r>
          </a:p>
        </p:txBody>
      </p:sp>
    </p:spTree>
    <p:extLst>
      <p:ext uri="{BB962C8B-B14F-4D97-AF65-F5344CB8AC3E}">
        <p14:creationId xmlns:p14="http://schemas.microsoft.com/office/powerpoint/2010/main" val="644619592"/>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FFDB4F6-2F36-46EA-A3F6-F40EBD241A3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Investigational antifungals</a:t>
            </a:r>
          </a:p>
        </p:txBody>
      </p:sp>
      <p:graphicFrame>
        <p:nvGraphicFramePr>
          <p:cNvPr id="2" name="">
            <a:extLst xmlns:a="http://schemas.openxmlformats.org/drawingml/2006/main">
              <a:ext uri="{FF2B5EF4-FFF2-40B4-BE49-F238E27FC236}">
                <a16:creationId xmlns:a16="http://schemas.microsoft.com/office/drawing/2014/main" id="{747AAD26-93F7-4349-AA5B-FFF43DE1C540}"/>
              </a:ext>
            </a:extLst>
          </p:cNvPr>
          <p:cNvGraphicFramePr/>
          <p:nvPr/>
        </p:nvGraphicFramePr>
        <p:xfrm>
          <a:off xmlns:a="http://schemas.openxmlformats.org/drawingml/2006/main" x="647700" y="1866900"/>
          <a:ext xmlns:a="http://schemas.openxmlformats.org/drawingml/2006/main" cx="10896600" cy="40100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Olorofim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Target / route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Orotomide; inhibits fungal dihydroorotate dehydrogenase, blocking pyrimidine synthesis. Oral development.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Potential spectrum and gaps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Aspergillus, including some azole-resistant isolates, and selected difficult molds such as Scedosporium and Lomentospora. No useful Candida or Mucorales coverage.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466850">
                <a:tc>
                  <a:txBody>
                    <a:bodyPr lIns="114300" tIns="114300" rIns="114300" bIns="114300">
                      <a:noAutofit/>
                    </a:bodyPr>
                    <a:lstStyle/>
                    <a:p>
                      <a:r>
                        <a:rPr sz="1950" b="0">
                          <a:solidFill>
                            <a:srgbClr val="16323B"/>
                          </a:solidFill>
                          <a:latin typeface="DejaVu Sans"/>
                          <a:ea typeface="DejaVu Sans"/>
                          <a:cs typeface="DejaVu Sans"/>
                        </a:rPr>
                        <a:t>Current evidence and status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Investigational. OASIS phase 3 topline results were announced in June 2026; the October 6 sponsor statement still says it is unapproved. Full published results and regulatory review are needed to define its role.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EFD945D-DCCC-48A4-BD76-5A27CCFD970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8BBEAB5-70DA-4B55-941C-94CDF0E5336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140</a:t>
            </a:r>
          </a:p>
        </p:txBody>
      </p:sp>
    </p:spTree>
    <p:extLst>
      <p:ext uri="{BB962C8B-B14F-4D97-AF65-F5344CB8AC3E}">
        <p14:creationId xmlns:p14="http://schemas.microsoft.com/office/powerpoint/2010/main" val="290578636"/>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95C743D-8174-47D0-BA35-FFB76DDDA26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Investigational antifungals</a:t>
            </a:r>
          </a:p>
        </p:txBody>
      </p:sp>
      <p:graphicFrame>
        <p:nvGraphicFramePr>
          <p:cNvPr id="2" name="">
            <a:extLst xmlns:a="http://schemas.openxmlformats.org/drawingml/2006/main">
              <a:ext uri="{FF2B5EF4-FFF2-40B4-BE49-F238E27FC236}">
                <a16:creationId xmlns:a16="http://schemas.microsoft.com/office/drawing/2014/main" id="{497384F9-BFC3-4A80-8DBB-880C44885D6E}"/>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Fosmanogepix → manogepix</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Target / route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Prodrug of a Gwt1 inhibitor affecting GPI-anchored protein maturation; IV and oral development.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Potential spectrum and gaps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Broad investigational yeast and mold activity, including many resistant isolates. Important gaps include poor activity against C. krusei and related species; Mucorales activity is inconsistent.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EC38F44-96B1-4B93-AD0C-294BE8D6AF0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20AD1B1-B951-4BA5-A5E1-DE41A4B91EA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141</a:t>
            </a:r>
          </a:p>
        </p:txBody>
      </p:sp>
    </p:spTree>
    <p:extLst>
      <p:ext uri="{BB962C8B-B14F-4D97-AF65-F5344CB8AC3E}">
        <p14:creationId xmlns:p14="http://schemas.microsoft.com/office/powerpoint/2010/main" val="1092094955"/>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EC304EB-080A-4101-9842-72C7DAC11BA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Investigational antifungals</a:t>
            </a:r>
          </a:p>
        </p:txBody>
      </p:sp>
      <p:graphicFrame>
        <p:nvGraphicFramePr>
          <p:cNvPr id="2" name="">
            <a:extLst xmlns:a="http://schemas.openxmlformats.org/drawingml/2006/main">
              <a:ext uri="{FF2B5EF4-FFF2-40B4-BE49-F238E27FC236}">
                <a16:creationId xmlns:a16="http://schemas.microsoft.com/office/drawing/2014/main" id="{34BAD7FE-5339-441D-9862-446638A20A20}"/>
              </a:ext>
            </a:extLst>
          </p:cNvPr>
          <p:cNvGraphicFramePr/>
          <p:nvPr/>
        </p:nvGraphicFramePr>
        <p:xfrm>
          <a:off xmlns:a="http://schemas.openxmlformats.org/drawingml/2006/main" x="647700" y="1866900"/>
          <a:ext xmlns:a="http://schemas.openxmlformats.org/drawingml/2006/main" cx="10896600" cy="26241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Fosmanogepix → manogepix</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Current evidence and status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Small single-arm phase 2 studies reported clinical activity in candidemia and mold infections; comparative efficacy is not established. Two phase 3 programs for invasive yeast and mold infections were ongoing in the 2026 sponsor update. No established routine clinical TDM target or licensed regimen.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D426077-DC77-4865-A953-078338F8E6B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C87BD2E-2103-47DB-B7F8-D8D8B9831B8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142</a:t>
            </a:r>
          </a:p>
        </p:txBody>
      </p:sp>
    </p:spTree>
    <p:extLst>
      <p:ext uri="{BB962C8B-B14F-4D97-AF65-F5344CB8AC3E}">
        <p14:creationId xmlns:p14="http://schemas.microsoft.com/office/powerpoint/2010/main" val="301540227"/>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D8BEB21-1A6D-4AC1-B2D0-DAE383958DF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Investigational antifungals</a:t>
            </a:r>
          </a:p>
        </p:txBody>
      </p:sp>
      <p:graphicFrame>
        <p:nvGraphicFramePr>
          <p:cNvPr id="2" name="">
            <a:extLst xmlns:a="http://schemas.openxmlformats.org/drawingml/2006/main">
              <a:ext uri="{FF2B5EF4-FFF2-40B4-BE49-F238E27FC236}">
                <a16:creationId xmlns:a16="http://schemas.microsoft.com/office/drawing/2014/main" id="{ED6E2E7F-244C-4B4C-B16E-07D8E281C250}"/>
              </a:ext>
            </a:extLst>
          </p:cNvPr>
          <p:cNvGraphicFramePr/>
          <p:nvPr/>
        </p:nvGraphicFramePr>
        <p:xfrm>
          <a:off xmlns:a="http://schemas.openxmlformats.org/drawingml/2006/main" x="647700" y="1866900"/>
          <a:ext xmlns:a="http://schemas.openxmlformats.org/drawingml/2006/main" cx="10896600" cy="37004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Opelconazole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Target / route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Inhaled triazole designed for lung exposure.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Potential spectrum and gaps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Local Aspergillus-directed development; inhalation does not establish adequate systemic or CNS therapy.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776413">
                <a:tc>
                  <a:txBody>
                    <a:bodyPr lIns="114300" tIns="114300" rIns="114300" bIns="114300">
                      <a:noAutofit/>
                    </a:bodyPr>
                    <a:lstStyle/>
                    <a:p>
                      <a:r>
                        <a:rPr sz="1950" b="0">
                          <a:solidFill>
                            <a:srgbClr val="16323B"/>
                          </a:solidFill>
                          <a:latin typeface="DejaVu Sans"/>
                          <a:ea typeface="DejaVu Sans"/>
                          <a:cs typeface="DejaVu Sans"/>
                        </a:rPr>
                        <a:t>Current evidence and status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Opera-T phase 3 in refractory pulmonary aspergillosis was terminated January 7, 2026. Sponsor interim analysis reported numerically worse response and higher mortality in the active arm. The unfavorable interim findings limit its proposed clinical role.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D6734597-9B22-4FFF-993F-3102C708B1B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F6AB575-DFD0-4B5F-A532-91D67800831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143</a:t>
            </a:r>
          </a:p>
        </p:txBody>
      </p:sp>
    </p:spTree>
    <p:extLst>
      <p:ext uri="{BB962C8B-B14F-4D97-AF65-F5344CB8AC3E}">
        <p14:creationId xmlns:p14="http://schemas.microsoft.com/office/powerpoint/2010/main" val="760360955"/>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3DFD279-8453-47CD-8805-392EFCA56B5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Investigational antifungals</a:t>
            </a:r>
          </a:p>
        </p:txBody>
      </p:sp>
      <p:sp>
        <p:nvSpPr>
          <p:cNvPr id="2" name="paragraph-0">
            <a:extLst xmlns:a="http://schemas.openxmlformats.org/drawingml/2006/main">
              <a:ext uri="{FF2B5EF4-FFF2-40B4-BE49-F238E27FC236}">
                <a16:creationId xmlns:a16="http://schemas.microsoft.com/office/drawing/2014/main" id="{A27BF288-DE8B-4ECE-9EC1-605F6752572A}"/>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[27] [28] [29] [30] [31] [32] [33] [34]</a:t>
            </a:r>
          </a:p>
        </p:txBody>
      </p:sp>
      <p:sp>
        <p:nvSpPr>
          <p:cNvPr id="3" name="paragraph-1">
            <a:extLst xmlns:a="http://schemas.openxmlformats.org/drawingml/2006/main">
              <a:ext uri="{FF2B5EF4-FFF2-40B4-BE49-F238E27FC236}">
                <a16:creationId xmlns:a16="http://schemas.microsoft.com/office/drawing/2014/main" id="{B42195CE-BE9A-44FA-B682-D2ACE5C5D395}"/>
              </a:ext>
            </a:extLst>
          </p:cNvPr>
          <p:cNvSpPr>
            <a:spLocks xmlns:a="http://schemas.openxmlformats.org/drawingml/2006/main" noGrp="1"/>
          </p:cNvSpPr>
          <p:nvPr/>
        </p:nvSpPr>
        <p:spPr>
          <a:xfrm xmlns:a="http://schemas.openxmlformats.org/drawingml/2006/main">
            <a:off x="647700" y="25622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teaching</a:t>
            </a:r>
          </a:p>
        </p:txBody>
      </p:sp>
      <p:sp>
        <p:nvSpPr>
          <p:cNvPr id="4" name="footer">
            <a:extLst xmlns:a="http://schemas.openxmlformats.org/drawingml/2006/main">
              <a:ext uri="{FF2B5EF4-FFF2-40B4-BE49-F238E27FC236}">
                <a16:creationId xmlns:a16="http://schemas.microsoft.com/office/drawing/2014/main" id="{1099179D-B91B-4BF3-81B6-C33EF29DED0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EBFFF846-5D33-4E7B-975A-1A29F7B5312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144</a:t>
            </a:r>
          </a:p>
        </p:txBody>
      </p:sp>
    </p:spTree>
    <p:extLst>
      <p:ext uri="{BB962C8B-B14F-4D97-AF65-F5344CB8AC3E}">
        <p14:creationId xmlns:p14="http://schemas.microsoft.com/office/powerpoint/2010/main" val="818041112"/>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E3BA860-C06F-4504-8379-B84AFF0B8A7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 mechanisms and resistance</a:t>
            </a:r>
          </a:p>
        </p:txBody>
      </p:sp>
      <p:sp>
        <p:nvSpPr>
          <p:cNvPr id="2" name="paragraph-0">
            <a:extLst xmlns:a="http://schemas.openxmlformats.org/drawingml/2006/main">
              <a:ext uri="{FF2B5EF4-FFF2-40B4-BE49-F238E27FC236}">
                <a16:creationId xmlns:a16="http://schemas.microsoft.com/office/drawing/2014/main" id="{EC1A8479-B475-47DC-9D64-5FF730FF92E7}"/>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Olorofim is not an azole, and fosmanogepix is not an echinocandin. A new target may retain activity against isolates resistant to older classes. Spectrum, clinical efficacy, and emergence of resistance still require study. Assess the enrolled organisms, comparator, outcomes, follow-up, and safety data before applying trial results. [27] [32]</a:t>
            </a:r>
          </a:p>
        </p:txBody>
      </p:sp>
      <p:sp>
        <p:nvSpPr>
          <p:cNvPr id="3" name="footer">
            <a:extLst xmlns:a="http://schemas.openxmlformats.org/drawingml/2006/main">
              <a:ext uri="{FF2B5EF4-FFF2-40B4-BE49-F238E27FC236}">
                <a16:creationId xmlns:a16="http://schemas.microsoft.com/office/drawing/2014/main" id="{150A9E18-FB4F-4CB9-B800-87CC2DF2C28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D9847DB-3E39-4C14-8774-48E86A6D73D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145</a:t>
            </a:r>
          </a:p>
        </p:txBody>
      </p:sp>
    </p:spTree>
    <p:extLst>
      <p:ext uri="{BB962C8B-B14F-4D97-AF65-F5344CB8AC3E}">
        <p14:creationId xmlns:p14="http://schemas.microsoft.com/office/powerpoint/2010/main" val="118882100"/>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806982D-045B-4C50-B176-C83001DE6FE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Rounds sheet</a:t>
            </a:r>
          </a:p>
        </p:txBody>
      </p:sp>
      <p:sp>
        <p:nvSpPr>
          <p:cNvPr id="2" name="paragraph-0">
            <a:extLst xmlns:a="http://schemas.openxmlformats.org/drawingml/2006/main">
              <a:ext uri="{FF2B5EF4-FFF2-40B4-BE49-F238E27FC236}">
                <a16:creationId xmlns:a16="http://schemas.microsoft.com/office/drawing/2014/main" id="{AF98F37C-7F9E-48B0-AA39-87006F20451B}"/>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Identify the organism and infection site. Identify source control. Confirm formulation, load, organ function, interaction review, and the monitoring owner.</a:t>
            </a:r>
          </a:p>
        </p:txBody>
      </p:sp>
      <p:sp>
        <p:nvSpPr>
          <p:cNvPr id="3" name="paragraph-1">
            <a:extLst xmlns:a="http://schemas.openxmlformats.org/drawingml/2006/main">
              <a:ext uri="{FF2B5EF4-FFF2-40B4-BE49-F238E27FC236}">
                <a16:creationId xmlns:a16="http://schemas.microsoft.com/office/drawing/2014/main" id="{2FEC9AD4-4A69-49D7-B449-CFE350DAA209}"/>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Fluconazole: no Aspergillus/Mucorales, but active against Cryptococcus and Coccidioides. Itraconazole: usual Histo/Blasto azole. Voriconazole: no Mucorales. Dematiaceous molds: species-dependent.</a:t>
            </a:r>
          </a:p>
        </p:txBody>
      </p:sp>
      <p:sp>
        <p:nvSpPr>
          <p:cNvPr id="4" name="paragraph-2">
            <a:extLst xmlns:a="http://schemas.openxmlformats.org/drawingml/2006/main">
              <a:ext uri="{FF2B5EF4-FFF2-40B4-BE49-F238E27FC236}">
                <a16:creationId xmlns:a16="http://schemas.microsoft.com/office/drawing/2014/main" id="{DB287052-7214-4AA6-B7CC-51477D82D073}"/>
              </a:ext>
            </a:extLst>
          </p:cNvPr>
          <p:cNvSpPr>
            <a:spLocks xmlns:a="http://schemas.openxmlformats.org/drawingml/2006/main" noGrp="1"/>
          </p:cNvSpPr>
          <p:nvPr/>
        </p:nvSpPr>
        <p:spPr>
          <a:xfrm xmlns:a="http://schemas.openxmlformats.org/drawingml/2006/main">
            <a:off x="647700" y="45815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Itraconazole: negative inotropy/CHF. Voriconazole: visual/neuro effects, QT, photosensitivity, periostitis. Posaconazole: hypertension/hypokalemia. Isavuconazole: QT shortening.</a:t>
            </a:r>
          </a:p>
        </p:txBody>
      </p:sp>
      <p:sp>
        <p:nvSpPr>
          <p:cNvPr id="5" name="footer">
            <a:extLst xmlns:a="http://schemas.openxmlformats.org/drawingml/2006/main">
              <a:ext uri="{FF2B5EF4-FFF2-40B4-BE49-F238E27FC236}">
                <a16:creationId xmlns:a16="http://schemas.microsoft.com/office/drawing/2014/main" id="{3B43C393-674D-4054-83FA-14A37F151F7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C7BE426E-6FC5-499E-89CB-A5B4257D5FA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146</a:t>
            </a:r>
          </a:p>
        </p:txBody>
      </p:sp>
    </p:spTree>
    <p:extLst>
      <p:ext uri="{BB962C8B-B14F-4D97-AF65-F5344CB8AC3E}">
        <p14:creationId xmlns:p14="http://schemas.microsoft.com/office/powerpoint/2010/main" val="1241217019"/>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A925681-2E32-4E71-98D2-F206762CAD0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Rounds sheet</a:t>
            </a:r>
          </a:p>
        </p:txBody>
      </p:sp>
      <p:sp>
        <p:nvSpPr>
          <p:cNvPr id="2" name="paragraph-0">
            <a:extLst xmlns:a="http://schemas.openxmlformats.org/drawingml/2006/main">
              <a:ext uri="{FF2B5EF4-FFF2-40B4-BE49-F238E27FC236}">
                <a16:creationId xmlns:a16="http://schemas.microsoft.com/office/drawing/2014/main" id="{60BD9CCF-1A7B-4BCF-BB09-2F07D22E8D98}"/>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Name the formulation. Follow creatinine, K, Mg, CBC, and liver tests. Plan replacement, infusion management, and appropriate hydration.</a:t>
            </a:r>
          </a:p>
        </p:txBody>
      </p:sp>
      <p:sp>
        <p:nvSpPr>
          <p:cNvPr id="3" name="paragraph-1">
            <a:extLst xmlns:a="http://schemas.openxmlformats.org/drawingml/2006/main">
              <a:ext uri="{FF2B5EF4-FFF2-40B4-BE49-F238E27FC236}">
                <a16:creationId xmlns:a16="http://schemas.microsoft.com/office/drawing/2014/main" id="{780F0C2B-C290-4E51-AAA1-368A34C26C23}"/>
              </a:ext>
            </a:extLst>
          </p:cNvPr>
          <p:cNvSpPr>
            <a:spLocks xmlns:a="http://schemas.openxmlformats.org/drawingml/2006/main" noGrp="1"/>
          </p:cNvSpPr>
          <p:nvPr/>
        </p:nvSpPr>
        <p:spPr>
          <a:xfrm xmlns:a="http://schemas.openxmlformats.org/drawingml/2006/main">
            <a:off x="647700" y="29146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Itraconazole + hydroxyitraconazole only when using a combined target. Do not add a metabolite to voriconazole. Document draw timing and assay.</a:t>
            </a:r>
          </a:p>
        </p:txBody>
      </p:sp>
      <p:sp>
        <p:nvSpPr>
          <p:cNvPr id="4" name="paragraph-2">
            <a:extLst xmlns:a="http://schemas.openxmlformats.org/drawingml/2006/main">
              <a:ext uri="{FF2B5EF4-FFF2-40B4-BE49-F238E27FC236}">
                <a16:creationId xmlns:a16="http://schemas.microsoft.com/office/drawing/2014/main" id="{FBBE1C5E-D27F-4C60-B645-F76D3E24C0F5}"/>
              </a:ext>
            </a:extLst>
          </p:cNvPr>
          <p:cNvSpPr>
            <a:spLocks xmlns:a="http://schemas.openxmlformats.org/drawingml/2006/main" noGrp="1"/>
          </p:cNvSpPr>
          <p:nvPr/>
        </p:nvSpPr>
        <p:spPr>
          <a:xfrm xmlns:a="http://schemas.openxmlformats.org/drawingml/2006/main">
            <a:off x="647700" y="42291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CSF is not a brain tissue level. Candiduria often needs no antifungal. Micafungin has poor urine exposure; renal tissue infection from candidemia is different.</a:t>
            </a:r>
          </a:p>
        </p:txBody>
      </p:sp>
      <p:sp>
        <p:nvSpPr>
          <p:cNvPr id="5" name="footer">
            <a:extLst xmlns:a="http://schemas.openxmlformats.org/drawingml/2006/main">
              <a:ext uri="{FF2B5EF4-FFF2-40B4-BE49-F238E27FC236}">
                <a16:creationId xmlns:a16="http://schemas.microsoft.com/office/drawing/2014/main" id="{B3DF203C-F5EE-4CB7-96F3-E8F845E9D28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45EB6A2C-3D24-4161-ADEA-8E4F4DD2533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147</a:t>
            </a:r>
          </a:p>
        </p:txBody>
      </p:sp>
    </p:spTree>
    <p:extLst>
      <p:ext uri="{BB962C8B-B14F-4D97-AF65-F5344CB8AC3E}">
        <p14:creationId xmlns:p14="http://schemas.microsoft.com/office/powerpoint/2010/main" val="2096146275"/>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27423E7-D253-4A4B-8285-2F341073F23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Rounds sheet</a:t>
            </a:r>
          </a:p>
        </p:txBody>
      </p:sp>
      <p:sp>
        <p:nvSpPr>
          <p:cNvPr id="2" name="paragraph-0">
            <a:extLst xmlns:a="http://schemas.openxmlformats.org/drawingml/2006/main">
              <a:ext uri="{FF2B5EF4-FFF2-40B4-BE49-F238E27FC236}">
                <a16:creationId xmlns:a16="http://schemas.microsoft.com/office/drawing/2014/main" id="{85ABD20C-8D17-4353-A6F7-F8C548C5D14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See the linked sources and main tables for dosing and target qualifications.</a:t>
            </a:r>
          </a:p>
        </p:txBody>
      </p:sp>
      <p:sp>
        <p:nvSpPr>
          <p:cNvPr id="3" name="footer">
            <a:extLst xmlns:a="http://schemas.openxmlformats.org/drawingml/2006/main">
              <a:ext uri="{FF2B5EF4-FFF2-40B4-BE49-F238E27FC236}">
                <a16:creationId xmlns:a16="http://schemas.microsoft.com/office/drawing/2014/main" id="{6FCC2423-D418-4459-ACC0-726EE7D5A6F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4B38EBC0-67C8-492D-9B76-4E724FBDD0F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148</a:t>
            </a:r>
          </a:p>
        </p:txBody>
      </p:sp>
    </p:spTree>
    <p:extLst>
      <p:ext uri="{BB962C8B-B14F-4D97-AF65-F5344CB8AC3E}">
        <p14:creationId xmlns:p14="http://schemas.microsoft.com/office/powerpoint/2010/main" val="1819145393"/>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C8B14E6-04DB-46A4-96DF-238655D7E89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5730FB55-3E06-47BD-A116-C5483ED01D14}"/>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References include public guidelines, prescribing information, clinical studies, and chemical records. Pipeline updates from sponsors are identified as such.</a:t>
            </a:r>
          </a:p>
        </p:txBody>
      </p:sp>
      <p:sp>
        <p:nvSpPr>
          <p:cNvPr id="3" name="footer">
            <a:extLst xmlns:a="http://schemas.openxmlformats.org/drawingml/2006/main">
              <a:ext uri="{FF2B5EF4-FFF2-40B4-BE49-F238E27FC236}">
                <a16:creationId xmlns:a16="http://schemas.microsoft.com/office/drawing/2014/main" id="{50788D23-66B1-45B8-8597-D1DAB6D5079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3240614F-3CDD-4A6C-B1F9-2773DB4C8A7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149</a:t>
            </a:r>
          </a:p>
        </p:txBody>
      </p:sp>
    </p:spTree>
    <p:extLst>
      <p:ext uri="{BB962C8B-B14F-4D97-AF65-F5344CB8AC3E}">
        <p14:creationId xmlns:p14="http://schemas.microsoft.com/office/powerpoint/2010/main" val="1322472379"/>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17C2D82-A40E-4E0E-9629-DE70704EFFB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6EA6EB48-641A-43F5-9CFA-C5B43156ED6A}"/>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Pappas et al. IDSA candidiasis guideline, 2016.</a:t>
            </a:r>
          </a:p>
        </p:txBody>
      </p:sp>
      <p:sp>
        <p:nvSpPr>
          <p:cNvPr id="3" name="footer">
            <a:extLst xmlns:a="http://schemas.openxmlformats.org/drawingml/2006/main">
              <a:ext uri="{FF2B5EF4-FFF2-40B4-BE49-F238E27FC236}">
                <a16:creationId xmlns:a16="http://schemas.microsoft.com/office/drawing/2014/main" id="{FF4AF8EE-625A-4F84-B3EC-7F2766DE25D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B9058126-C864-4C93-BE39-FF984A215BF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150</a:t>
            </a:r>
          </a:p>
        </p:txBody>
      </p:sp>
    </p:spTree>
    <p:extLst>
      <p:ext uri="{BB962C8B-B14F-4D97-AF65-F5344CB8AC3E}">
        <p14:creationId xmlns:p14="http://schemas.microsoft.com/office/powerpoint/2010/main" val="672053781"/>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6F19876-F584-4A66-AE08-85C0F3F0924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C94AA12D-A528-489F-BB40-C488A75B4DC7}"/>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Patterson et al. IDSA aspergillosis guideline, 2016.</a:t>
            </a:r>
          </a:p>
        </p:txBody>
      </p:sp>
      <p:sp>
        <p:nvSpPr>
          <p:cNvPr id="3" name="footer">
            <a:extLst xmlns:a="http://schemas.openxmlformats.org/drawingml/2006/main">
              <a:ext uri="{FF2B5EF4-FFF2-40B4-BE49-F238E27FC236}">
                <a16:creationId xmlns:a16="http://schemas.microsoft.com/office/drawing/2014/main" id="{3EA48A4D-2701-4AF2-B274-2AD3A945736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61A8FDD-32C8-4BDC-B27C-F6E8B0C73FE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151</a:t>
            </a:r>
          </a:p>
        </p:txBody>
      </p:sp>
    </p:spTree>
    <p:extLst>
      <p:ext uri="{BB962C8B-B14F-4D97-AF65-F5344CB8AC3E}">
        <p14:creationId xmlns:p14="http://schemas.microsoft.com/office/powerpoint/2010/main" val="928520866"/>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424A4F5-81A9-4904-B179-E05C10F998D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EC658922-098E-4DF0-ACAD-3834921D4928}"/>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IDSA prevention of invasive aspergillosis, pharmacology appendix, 2026. TDM and formulation reference; prevention guidance is not a treatment trial.</a:t>
            </a:r>
          </a:p>
        </p:txBody>
      </p:sp>
      <p:sp>
        <p:nvSpPr>
          <p:cNvPr id="3" name="footer">
            <a:extLst xmlns:a="http://schemas.openxmlformats.org/drawingml/2006/main">
              <a:ext uri="{FF2B5EF4-FFF2-40B4-BE49-F238E27FC236}">
                <a16:creationId xmlns:a16="http://schemas.microsoft.com/office/drawing/2014/main" id="{526A5706-ADAA-40D4-A963-41B303FF5FF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38D5E044-B9E6-4974-84EE-82314F24A76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152</a:t>
            </a:r>
          </a:p>
        </p:txBody>
      </p:sp>
    </p:spTree>
    <p:extLst>
      <p:ext uri="{BB962C8B-B14F-4D97-AF65-F5344CB8AC3E}">
        <p14:creationId xmlns:p14="http://schemas.microsoft.com/office/powerpoint/2010/main" val="1018340423"/>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95D0A08-20D2-4D91-A818-3C73A08E186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E3E50629-73E2-4607-8C92-C09A1ACC25F0}"/>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Diflucan prescribing information.</a:t>
            </a:r>
          </a:p>
        </p:txBody>
      </p:sp>
      <p:sp>
        <p:nvSpPr>
          <p:cNvPr id="3" name="footer">
            <a:extLst xmlns:a="http://schemas.openxmlformats.org/drawingml/2006/main">
              <a:ext uri="{FF2B5EF4-FFF2-40B4-BE49-F238E27FC236}">
                <a16:creationId xmlns:a16="http://schemas.microsoft.com/office/drawing/2014/main" id="{61E7C91C-9097-4F46-AB69-EB13DCFEBDF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994086F-B8B6-4DEA-BA33-B43B7409634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153</a:t>
            </a:r>
          </a:p>
        </p:txBody>
      </p:sp>
    </p:spTree>
    <p:extLst>
      <p:ext uri="{BB962C8B-B14F-4D97-AF65-F5344CB8AC3E}">
        <p14:creationId xmlns:p14="http://schemas.microsoft.com/office/powerpoint/2010/main" val="168084227"/>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8FFE397-C934-4A6A-A778-AA2549F5F7E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D78BA452-8BF9-4DC9-9D26-1D87FAF87CB4}"/>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Sporanox capsule prescribing information.</a:t>
            </a:r>
          </a:p>
        </p:txBody>
      </p:sp>
      <p:sp>
        <p:nvSpPr>
          <p:cNvPr id="3" name="footer">
            <a:extLst xmlns:a="http://schemas.openxmlformats.org/drawingml/2006/main">
              <a:ext uri="{FF2B5EF4-FFF2-40B4-BE49-F238E27FC236}">
                <a16:creationId xmlns:a16="http://schemas.microsoft.com/office/drawing/2014/main" id="{6D7A0AED-8357-424E-A24F-FADE7F4C4F6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387FED2-9833-43B4-812F-F1D5E39AD30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154</a:t>
            </a:r>
          </a:p>
        </p:txBody>
      </p:sp>
    </p:spTree>
    <p:extLst>
      <p:ext uri="{BB962C8B-B14F-4D97-AF65-F5344CB8AC3E}">
        <p14:creationId xmlns:p14="http://schemas.microsoft.com/office/powerpoint/2010/main" val="402878557"/>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B912140-CEB6-46D9-B386-140940D5071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2D8742E0-ED08-4053-A970-E3D474D78038}"/>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Vfend prescribing information.</a:t>
            </a:r>
          </a:p>
        </p:txBody>
      </p:sp>
      <p:sp>
        <p:nvSpPr>
          <p:cNvPr id="3" name="footer">
            <a:extLst xmlns:a="http://schemas.openxmlformats.org/drawingml/2006/main">
              <a:ext uri="{FF2B5EF4-FFF2-40B4-BE49-F238E27FC236}">
                <a16:creationId xmlns:a16="http://schemas.microsoft.com/office/drawing/2014/main" id="{428654DD-2BBF-4118-AF96-C5EAF53E7AB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CAC3C08-1FCB-4434-98B4-0D0808F44C4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155</a:t>
            </a:r>
          </a:p>
        </p:txBody>
      </p:sp>
    </p:spTree>
    <p:extLst>
      <p:ext uri="{BB962C8B-B14F-4D97-AF65-F5344CB8AC3E}">
        <p14:creationId xmlns:p14="http://schemas.microsoft.com/office/powerpoint/2010/main" val="2043705046"/>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40EC9AD-108E-47E2-BB4B-9F04DA5E441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B5F2E4EA-3C31-4539-B1F9-E4F4E74C2182}"/>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Noxafil prescribing information.</a:t>
            </a:r>
          </a:p>
        </p:txBody>
      </p:sp>
      <p:sp>
        <p:nvSpPr>
          <p:cNvPr id="3" name="footer">
            <a:extLst xmlns:a="http://schemas.openxmlformats.org/drawingml/2006/main">
              <a:ext uri="{FF2B5EF4-FFF2-40B4-BE49-F238E27FC236}">
                <a16:creationId xmlns:a16="http://schemas.microsoft.com/office/drawing/2014/main" id="{EEFB1C28-46F9-49C0-AB8C-59D2FF94471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6EA0924-2DBA-4A3F-89C3-53F53E0FB98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156</a:t>
            </a:r>
          </a:p>
        </p:txBody>
      </p:sp>
    </p:spTree>
    <p:extLst>
      <p:ext uri="{BB962C8B-B14F-4D97-AF65-F5344CB8AC3E}">
        <p14:creationId xmlns:p14="http://schemas.microsoft.com/office/powerpoint/2010/main" val="1902798624"/>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3177AE9-030A-4B72-A714-9779E9936F7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B3BA0EF7-FF4C-4AE8-B65D-EA5BCBBDB4E3}"/>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Cresemba prescribing information.</a:t>
            </a:r>
          </a:p>
        </p:txBody>
      </p:sp>
      <p:sp>
        <p:nvSpPr>
          <p:cNvPr id="3" name="footer">
            <a:extLst xmlns:a="http://schemas.openxmlformats.org/drawingml/2006/main">
              <a:ext uri="{FF2B5EF4-FFF2-40B4-BE49-F238E27FC236}">
                <a16:creationId xmlns:a16="http://schemas.microsoft.com/office/drawing/2014/main" id="{AA6083C2-1660-4538-8847-F8257C44D63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DBA92B8-CE1A-48F5-B150-9238964F64C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157</a:t>
            </a:r>
          </a:p>
        </p:txBody>
      </p:sp>
    </p:spTree>
    <p:extLst>
      <p:ext uri="{BB962C8B-B14F-4D97-AF65-F5344CB8AC3E}">
        <p14:creationId xmlns:p14="http://schemas.microsoft.com/office/powerpoint/2010/main" val="948627807"/>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EA54D0D-0297-4018-A0DF-D85F753E1B8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3509F325-5283-4383-B3A3-D11A10AD248D}"/>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Micafungin prescribing information.</a:t>
            </a:r>
          </a:p>
        </p:txBody>
      </p:sp>
      <p:sp>
        <p:nvSpPr>
          <p:cNvPr id="3" name="footer">
            <a:extLst xmlns:a="http://schemas.openxmlformats.org/drawingml/2006/main">
              <a:ext uri="{FF2B5EF4-FFF2-40B4-BE49-F238E27FC236}">
                <a16:creationId xmlns:a16="http://schemas.microsoft.com/office/drawing/2014/main" id="{CA6B84EE-6E6F-4DE0-82EE-3E961A666FD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B09A9B7-9C4B-4C7E-981C-DB26FBA556C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158</a:t>
            </a:r>
          </a:p>
        </p:txBody>
      </p:sp>
    </p:spTree>
    <p:extLst>
      <p:ext uri="{BB962C8B-B14F-4D97-AF65-F5344CB8AC3E}">
        <p14:creationId xmlns:p14="http://schemas.microsoft.com/office/powerpoint/2010/main" val="689534401"/>
      </p:ext>
    </p:extLst>
  </p:cSld>
</p:sld>
</file>

<file path=ppt/slides/slide1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055A67B-CE1F-4B6B-A92C-FD4F40A55FB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2CE3689A-57EC-4B0E-B15F-3421EC977F06}"/>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AmBisome prescribing information.</a:t>
            </a:r>
          </a:p>
        </p:txBody>
      </p:sp>
      <p:sp>
        <p:nvSpPr>
          <p:cNvPr id="3" name="footer">
            <a:extLst xmlns:a="http://schemas.openxmlformats.org/drawingml/2006/main">
              <a:ext uri="{FF2B5EF4-FFF2-40B4-BE49-F238E27FC236}">
                <a16:creationId xmlns:a16="http://schemas.microsoft.com/office/drawing/2014/main" id="{A2FB66C3-303B-4AE6-909C-8AD86C17937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38404CB-2AC4-42D4-99C4-5E1C1BC38E3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159</a:t>
            </a:r>
          </a:p>
        </p:txBody>
      </p:sp>
    </p:spTree>
    <p:extLst>
      <p:ext uri="{BB962C8B-B14F-4D97-AF65-F5344CB8AC3E}">
        <p14:creationId xmlns:p14="http://schemas.microsoft.com/office/powerpoint/2010/main" val="1811612147"/>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C777D9A-686D-4763-A43A-7A1A784DFB2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24D2CC7A-9F72-4CC1-B7C2-B497474F1F3D}"/>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Flucytosine prescribing information.</a:t>
            </a:r>
          </a:p>
        </p:txBody>
      </p:sp>
      <p:sp>
        <p:nvSpPr>
          <p:cNvPr id="3" name="footer">
            <a:extLst xmlns:a="http://schemas.openxmlformats.org/drawingml/2006/main">
              <a:ext uri="{FF2B5EF4-FFF2-40B4-BE49-F238E27FC236}">
                <a16:creationId xmlns:a16="http://schemas.microsoft.com/office/drawing/2014/main" id="{1F6855F2-693E-4859-B1ED-A0EF6FC6C2D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2C377CF-AB82-479A-B9DC-E233ADC06F3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160</a:t>
            </a:r>
          </a:p>
        </p:txBody>
      </p:sp>
    </p:spTree>
    <p:extLst>
      <p:ext uri="{BB962C8B-B14F-4D97-AF65-F5344CB8AC3E}">
        <p14:creationId xmlns:p14="http://schemas.microsoft.com/office/powerpoint/2010/main" val="1478977588"/>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825C13B-9FB0-4E46-9ABB-E81E0299C0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8B2D8A23-833D-4B14-8961-F869DF09F0F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IDSA histoplasmosis guidance. Itraconazole assay interpretation and parent versus combined levels.</a:t>
            </a:r>
          </a:p>
        </p:txBody>
      </p:sp>
      <p:sp>
        <p:nvSpPr>
          <p:cNvPr id="3" name="footer">
            <a:extLst xmlns:a="http://schemas.openxmlformats.org/drawingml/2006/main">
              <a:ext uri="{FF2B5EF4-FFF2-40B4-BE49-F238E27FC236}">
                <a16:creationId xmlns:a16="http://schemas.microsoft.com/office/drawing/2014/main" id="{95F7021D-06C0-4262-B0DA-A6EAE7980EE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45DAA03-2B75-4324-AC79-1F6E488AA34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161</a:t>
            </a:r>
          </a:p>
        </p:txBody>
      </p:sp>
    </p:spTree>
    <p:extLst>
      <p:ext uri="{BB962C8B-B14F-4D97-AF65-F5344CB8AC3E}">
        <p14:creationId xmlns:p14="http://schemas.microsoft.com/office/powerpoint/2010/main" val="2142944151"/>
      </p:ext>
    </p:extLst>
  </p:cSld>
</p:sld>
</file>

<file path=ppt/slides/slide1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E81B8F7-59C7-48A7-935D-F0EEFBE8000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8ABB0F82-117F-4954-9D37-5321130189C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Mayo Clinic Laboratories ITCON test definition. Parent and active metabolite interpretation.</a:t>
            </a:r>
          </a:p>
        </p:txBody>
      </p:sp>
      <p:sp>
        <p:nvSpPr>
          <p:cNvPr id="3" name="footer">
            <a:extLst xmlns:a="http://schemas.openxmlformats.org/drawingml/2006/main">
              <a:ext uri="{FF2B5EF4-FFF2-40B4-BE49-F238E27FC236}">
                <a16:creationId xmlns:a16="http://schemas.microsoft.com/office/drawing/2014/main" id="{3731621E-7F6F-4608-8D1F-A7D899BF73F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C8B554D-B32B-4B8E-94A5-2B5610A6A4A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162</a:t>
            </a:r>
          </a:p>
        </p:txBody>
      </p:sp>
    </p:spTree>
    <p:extLst>
      <p:ext uri="{BB962C8B-B14F-4D97-AF65-F5344CB8AC3E}">
        <p14:creationId xmlns:p14="http://schemas.microsoft.com/office/powerpoint/2010/main" val="1282924247"/>
      </p:ext>
    </p:extLst>
  </p:cSld>
</p:sld>
</file>

<file path=ppt/slides/slide1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15B1A8D-03E2-4B72-8688-DECBFA35C28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DF8463A8-4862-43B1-915D-E8E7F5CCA48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Ashbee et al. British Society for Medical Mycology TDM guideline, 2014.</a:t>
            </a:r>
          </a:p>
        </p:txBody>
      </p:sp>
      <p:sp>
        <p:nvSpPr>
          <p:cNvPr id="3" name="footer">
            <a:extLst xmlns:a="http://schemas.openxmlformats.org/drawingml/2006/main">
              <a:ext uri="{FF2B5EF4-FFF2-40B4-BE49-F238E27FC236}">
                <a16:creationId xmlns:a16="http://schemas.microsoft.com/office/drawing/2014/main" id="{219B5969-DA83-4889-9DE8-2EAA1A32C9E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2D93EC5B-9924-4502-86CA-ED0B088B99A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163</a:t>
            </a:r>
          </a:p>
        </p:txBody>
      </p:sp>
    </p:spTree>
    <p:extLst>
      <p:ext uri="{BB962C8B-B14F-4D97-AF65-F5344CB8AC3E}">
        <p14:creationId xmlns:p14="http://schemas.microsoft.com/office/powerpoint/2010/main" val="1370496196"/>
      </p:ext>
    </p:extLst>
  </p:cSld>
</p:sld>
</file>

<file path=ppt/slides/slide1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5E23321-D575-4B52-A96D-76EB82D9BF1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20C2C790-E501-4487-B8D2-C7584943223B}"/>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Lutsar et al. Voriconazole concentrations in CSF and brain, 2003.</a:t>
            </a:r>
          </a:p>
        </p:txBody>
      </p:sp>
      <p:sp>
        <p:nvSpPr>
          <p:cNvPr id="3" name="footer">
            <a:extLst xmlns:a="http://schemas.openxmlformats.org/drawingml/2006/main">
              <a:ext uri="{FF2B5EF4-FFF2-40B4-BE49-F238E27FC236}">
                <a16:creationId xmlns:a16="http://schemas.microsoft.com/office/drawing/2014/main" id="{910E2DBE-B87B-4833-A62C-AA58ECC71E9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81E6863-2AEC-4564-9961-23E112C8D94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164</a:t>
            </a:r>
          </a:p>
        </p:txBody>
      </p:sp>
    </p:spTree>
    <p:extLst>
      <p:ext uri="{BB962C8B-B14F-4D97-AF65-F5344CB8AC3E}">
        <p14:creationId xmlns:p14="http://schemas.microsoft.com/office/powerpoint/2010/main" val="1571154048"/>
      </p:ext>
    </p:extLst>
  </p:cSld>
</p:sld>
</file>

<file path=ppt/slides/slide1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9CCB212-C2A6-452F-A8C1-C264F07213E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0ABFAF2F-D35A-417B-A24B-5911304A778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Rouzaud et al. Isavuconazole diffusion in infected human brain, 2019. Two-patient tissue study.</a:t>
            </a:r>
          </a:p>
        </p:txBody>
      </p:sp>
      <p:sp>
        <p:nvSpPr>
          <p:cNvPr id="3" name="footer">
            <a:extLst xmlns:a="http://schemas.openxmlformats.org/drawingml/2006/main">
              <a:ext uri="{FF2B5EF4-FFF2-40B4-BE49-F238E27FC236}">
                <a16:creationId xmlns:a16="http://schemas.microsoft.com/office/drawing/2014/main" id="{92E4A4F6-1DDC-4F9B-8DBB-3DAF5BBCEB6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90D70FB-3894-430F-9FDB-9B60B24735B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165</a:t>
            </a:r>
          </a:p>
        </p:txBody>
      </p:sp>
    </p:spTree>
    <p:extLst>
      <p:ext uri="{BB962C8B-B14F-4D97-AF65-F5344CB8AC3E}">
        <p14:creationId xmlns:p14="http://schemas.microsoft.com/office/powerpoint/2010/main" val="268770616"/>
      </p:ext>
    </p:extLst>
  </p:cSld>
</p:sld>
</file>

<file path=ppt/slides/slide1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6262675-CE00-4AD9-A2B0-CAA5AB2D728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361D357E-26AB-4147-B10D-65E144DEBE1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Wiederhold et al. Reference laboratory experience with azole blood and CSF concentrations, 2014.</a:t>
            </a:r>
          </a:p>
        </p:txBody>
      </p:sp>
      <p:sp>
        <p:nvSpPr>
          <p:cNvPr id="3" name="footer">
            <a:extLst xmlns:a="http://schemas.openxmlformats.org/drawingml/2006/main">
              <a:ext uri="{FF2B5EF4-FFF2-40B4-BE49-F238E27FC236}">
                <a16:creationId xmlns:a16="http://schemas.microsoft.com/office/drawing/2014/main" id="{E48AEFF0-B6DB-4D83-B5BC-40DFE6392D4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3982EFB-E71E-467D-B5BD-DC963E15060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166</a:t>
            </a:r>
          </a:p>
        </p:txBody>
      </p:sp>
    </p:spTree>
    <p:extLst>
      <p:ext uri="{BB962C8B-B14F-4D97-AF65-F5344CB8AC3E}">
        <p14:creationId xmlns:p14="http://schemas.microsoft.com/office/powerpoint/2010/main" val="994009324"/>
      </p:ext>
    </p:extLst>
  </p:cSld>
</p:sld>
</file>

<file path=ppt/slides/slide1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4F91C58-5C5C-4084-A00C-6E991054F54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DBEF5E79-B6E1-472A-BC1B-395550818DD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Barde et al. Low CNS posaconazole concentrations during cerebral phaeohyphomycosis, 2019.</a:t>
            </a:r>
          </a:p>
        </p:txBody>
      </p:sp>
      <p:sp>
        <p:nvSpPr>
          <p:cNvPr id="3" name="footer">
            <a:extLst xmlns:a="http://schemas.openxmlformats.org/drawingml/2006/main">
              <a:ext uri="{FF2B5EF4-FFF2-40B4-BE49-F238E27FC236}">
                <a16:creationId xmlns:a16="http://schemas.microsoft.com/office/drawing/2014/main" id="{25194E00-39A4-4C35-90B1-CEAB7F4A1DB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0BE6466-ED59-46F6-A12F-6335576774E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167</a:t>
            </a:r>
          </a:p>
        </p:txBody>
      </p:sp>
    </p:spTree>
    <p:extLst>
      <p:ext uri="{BB962C8B-B14F-4D97-AF65-F5344CB8AC3E}">
        <p14:creationId xmlns:p14="http://schemas.microsoft.com/office/powerpoint/2010/main" val="707651841"/>
      </p:ext>
    </p:extLst>
  </p:cSld>
</p:sld>
</file>

<file path=ppt/slides/slide1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671C215-B467-4577-9EE0-4604320BC0E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6B6A0FB0-855E-4408-AFC4-BA29ED484E77}"/>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Cornely et al. Global mucormycosis guideline, 2019.</a:t>
            </a:r>
          </a:p>
        </p:txBody>
      </p:sp>
      <p:sp>
        <p:nvSpPr>
          <p:cNvPr id="3" name="footer">
            <a:extLst xmlns:a="http://schemas.openxmlformats.org/drawingml/2006/main">
              <a:ext uri="{FF2B5EF4-FFF2-40B4-BE49-F238E27FC236}">
                <a16:creationId xmlns:a16="http://schemas.microsoft.com/office/drawing/2014/main" id="{85C15766-6276-4D99-9E81-B1F93F0C6AA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19B60AA-B465-4EA0-B7C5-B6A712601DE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168</a:t>
            </a:r>
          </a:p>
        </p:txBody>
      </p:sp>
    </p:spTree>
    <p:extLst>
      <p:ext uri="{BB962C8B-B14F-4D97-AF65-F5344CB8AC3E}">
        <p14:creationId xmlns:p14="http://schemas.microsoft.com/office/powerpoint/2010/main" val="1318368702"/>
      </p:ext>
    </p:extLst>
  </p:cSld>
</p:sld>
</file>

<file path=ppt/slides/slide1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51C7E0F-0557-4BF2-923B-D9529623F28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F5638644-1476-4AE4-A6B9-C78A04BA1598}"/>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Maertens et al. SECURE randomized noninferiority trial, 2016.</a:t>
            </a:r>
          </a:p>
        </p:txBody>
      </p:sp>
      <p:sp>
        <p:nvSpPr>
          <p:cNvPr id="3" name="footer">
            <a:extLst xmlns:a="http://schemas.openxmlformats.org/drawingml/2006/main">
              <a:ext uri="{FF2B5EF4-FFF2-40B4-BE49-F238E27FC236}">
                <a16:creationId xmlns:a16="http://schemas.microsoft.com/office/drawing/2014/main" id="{CDEA63D6-A4E2-4449-97DD-2AB9C3DED94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36E7844-5F6D-48CD-9E9C-430405E3B08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169</a:t>
            </a:r>
          </a:p>
        </p:txBody>
      </p:sp>
    </p:spTree>
    <p:extLst>
      <p:ext uri="{BB962C8B-B14F-4D97-AF65-F5344CB8AC3E}">
        <p14:creationId xmlns:p14="http://schemas.microsoft.com/office/powerpoint/2010/main" val="1274548573"/>
      </p:ext>
    </p:extLst>
  </p:cSld>
</p:sld>
</file>

<file path=ppt/slides/slide1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F7755FC-F3B6-48AF-A62B-D4EEBF82DCD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E98E71B0-1D6C-4F01-A339-2A03F3635BD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Maertens et al. Posaconazole versus voriconazole randomized noninferiority trial, 2021.</a:t>
            </a:r>
          </a:p>
        </p:txBody>
      </p:sp>
      <p:sp>
        <p:nvSpPr>
          <p:cNvPr id="3" name="footer">
            <a:extLst xmlns:a="http://schemas.openxmlformats.org/drawingml/2006/main">
              <a:ext uri="{FF2B5EF4-FFF2-40B4-BE49-F238E27FC236}">
                <a16:creationId xmlns:a16="http://schemas.microsoft.com/office/drawing/2014/main" id="{0792776A-33B8-4AA2-B761-086A5DBB0DC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A2E0008-F480-4F13-94C4-3F271BC8F52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170</a:t>
            </a:r>
          </a:p>
        </p:txBody>
      </p:sp>
    </p:spTree>
    <p:extLst>
      <p:ext uri="{BB962C8B-B14F-4D97-AF65-F5344CB8AC3E}">
        <p14:creationId xmlns:p14="http://schemas.microsoft.com/office/powerpoint/2010/main" val="701587033"/>
      </p:ext>
    </p:extLst>
  </p:cSld>
</p:sld>
</file>

<file path=ppt/slides/slide1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A60D506-C96F-4677-9D9A-890F9AD15C6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91FC7683-9262-4179-94DD-27B7BEEF3DC2}"/>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Park et al. Voriconazole TDM randomized trial, 2012.</a:t>
            </a:r>
          </a:p>
        </p:txBody>
      </p:sp>
      <p:sp>
        <p:nvSpPr>
          <p:cNvPr id="3" name="footer">
            <a:extLst xmlns:a="http://schemas.openxmlformats.org/drawingml/2006/main">
              <a:ext uri="{FF2B5EF4-FFF2-40B4-BE49-F238E27FC236}">
                <a16:creationId xmlns:a16="http://schemas.microsoft.com/office/drawing/2014/main" id="{43C56D47-AA8A-4C54-BFE3-D47E3D575E4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DC326B7-9D16-4542-9584-6EFE320F4F2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171</a:t>
            </a:r>
          </a:p>
        </p:txBody>
      </p:sp>
    </p:spTree>
    <p:extLst>
      <p:ext uri="{BB962C8B-B14F-4D97-AF65-F5344CB8AC3E}">
        <p14:creationId xmlns:p14="http://schemas.microsoft.com/office/powerpoint/2010/main" val="1964553261"/>
      </p:ext>
    </p:extLst>
  </p:cSld>
</p:sld>
</file>

<file path=ppt/slides/slide1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C6CC651-92F4-4608-978D-EF16FDE8D07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48D6073B-ADF8-488C-9B82-61EEB2DFAF6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Veringa et al. Multicentre cluster randomized voriconazole TDM trial, 2023.</a:t>
            </a:r>
          </a:p>
        </p:txBody>
      </p:sp>
      <p:sp>
        <p:nvSpPr>
          <p:cNvPr id="3" name="footer">
            <a:extLst xmlns:a="http://schemas.openxmlformats.org/drawingml/2006/main">
              <a:ext uri="{FF2B5EF4-FFF2-40B4-BE49-F238E27FC236}">
                <a16:creationId xmlns:a16="http://schemas.microsoft.com/office/drawing/2014/main" id="{6567C866-6355-421A-862C-6B716A1C0D9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75BCAD1-72E4-4DE5-B440-69501E7D70A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172</a:t>
            </a:r>
          </a:p>
        </p:txBody>
      </p:sp>
    </p:spTree>
    <p:extLst>
      <p:ext uri="{BB962C8B-B14F-4D97-AF65-F5344CB8AC3E}">
        <p14:creationId xmlns:p14="http://schemas.microsoft.com/office/powerpoint/2010/main" val="1534903054"/>
      </p:ext>
    </p:extLst>
  </p:cSld>
</p:sld>
</file>

<file path=ppt/slides/slide1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86818B7-619B-4552-9585-78A9810BEF2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B61729A6-1546-4503-B1A1-EE154790B34E}"/>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Rezzayo prescribing information.</a:t>
            </a:r>
          </a:p>
        </p:txBody>
      </p:sp>
      <p:sp>
        <p:nvSpPr>
          <p:cNvPr id="3" name="footer">
            <a:extLst xmlns:a="http://schemas.openxmlformats.org/drawingml/2006/main">
              <a:ext uri="{FF2B5EF4-FFF2-40B4-BE49-F238E27FC236}">
                <a16:creationId xmlns:a16="http://schemas.microsoft.com/office/drawing/2014/main" id="{F018075D-4FC5-4301-AFF3-F7D22BC807B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B1F7BEA5-CD45-4AEC-A549-A5CF02F52C3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173</a:t>
            </a:r>
          </a:p>
        </p:txBody>
      </p:sp>
    </p:spTree>
    <p:extLst>
      <p:ext uri="{BB962C8B-B14F-4D97-AF65-F5344CB8AC3E}">
        <p14:creationId xmlns:p14="http://schemas.microsoft.com/office/powerpoint/2010/main" val="1006064682"/>
      </p:ext>
    </p:extLst>
  </p:cSld>
</p:sld>
</file>

<file path=ppt/slides/slide1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1659FD9-4BB5-4BCB-BC58-4E7FCF5B2C2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FAC9B38F-5C35-4437-B1C5-BB3698510004}"/>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Brexafemme prescribing information.</a:t>
            </a:r>
          </a:p>
        </p:txBody>
      </p:sp>
      <p:sp>
        <p:nvSpPr>
          <p:cNvPr id="3" name="footer">
            <a:extLst xmlns:a="http://schemas.openxmlformats.org/drawingml/2006/main">
              <a:ext uri="{FF2B5EF4-FFF2-40B4-BE49-F238E27FC236}">
                <a16:creationId xmlns:a16="http://schemas.microsoft.com/office/drawing/2014/main" id="{7E65E7EF-3D36-40D7-92E7-167273A86A0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2122CC4-A54F-493B-94EC-8100528C841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174</a:t>
            </a:r>
          </a:p>
        </p:txBody>
      </p:sp>
    </p:spTree>
    <p:extLst>
      <p:ext uri="{BB962C8B-B14F-4D97-AF65-F5344CB8AC3E}">
        <p14:creationId xmlns:p14="http://schemas.microsoft.com/office/powerpoint/2010/main" val="1849885980"/>
      </p:ext>
    </p:extLst>
  </p:cSld>
</p:sld>
</file>

<file path=ppt/slides/slide1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4E97A18-4A22-4D8A-B524-685F9E2F5FA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E7B507B1-4A56-416D-854B-E4A52E2C5FCA}"/>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Vivjoa prescribing information.</a:t>
            </a:r>
          </a:p>
        </p:txBody>
      </p:sp>
      <p:sp>
        <p:nvSpPr>
          <p:cNvPr id="3" name="footer">
            <a:extLst xmlns:a="http://schemas.openxmlformats.org/drawingml/2006/main">
              <a:ext uri="{FF2B5EF4-FFF2-40B4-BE49-F238E27FC236}">
                <a16:creationId xmlns:a16="http://schemas.microsoft.com/office/drawing/2014/main" id="{51FBDB8B-B645-4CFD-989C-47499F96BD8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A552AB9-AF8C-4188-96C2-9278EC15AB2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175</a:t>
            </a:r>
          </a:p>
        </p:txBody>
      </p:sp>
    </p:spTree>
    <p:extLst>
      <p:ext uri="{BB962C8B-B14F-4D97-AF65-F5344CB8AC3E}">
        <p14:creationId xmlns:p14="http://schemas.microsoft.com/office/powerpoint/2010/main" val="851144909"/>
      </p:ext>
    </p:extLst>
  </p:cSld>
</p:sld>
</file>

<file path=ppt/slides/slide1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57998F7-FC71-4BE4-97CB-BC9FEFBBAE8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06EB566F-D642-48F6-8212-E2BFD1D85D35}"/>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Oliver et al. F901318 inhibits fungal DHODH, 2016.</a:t>
            </a:r>
          </a:p>
        </p:txBody>
      </p:sp>
      <p:sp>
        <p:nvSpPr>
          <p:cNvPr id="3" name="footer">
            <a:extLst xmlns:a="http://schemas.openxmlformats.org/drawingml/2006/main">
              <a:ext uri="{FF2B5EF4-FFF2-40B4-BE49-F238E27FC236}">
                <a16:creationId xmlns:a16="http://schemas.microsoft.com/office/drawing/2014/main" id="{DEDFC394-C1A5-4F27-9CF7-C42ED5E559B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BAD9E7D8-4D4E-4AE7-B79C-AFD7D88C972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176</a:t>
            </a:r>
          </a:p>
        </p:txBody>
      </p:sp>
    </p:spTree>
    <p:extLst>
      <p:ext uri="{BB962C8B-B14F-4D97-AF65-F5344CB8AC3E}">
        <p14:creationId xmlns:p14="http://schemas.microsoft.com/office/powerpoint/2010/main" val="1173345329"/>
      </p:ext>
    </p:extLst>
  </p:cSld>
</p:sld>
</file>

<file path=ppt/slides/slide1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D4B634E-CB14-4BCF-B7AF-DAF958884C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777C636A-CF00-4150-8ECD-8ACE01A831F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F2G/Shionogi OASIS phase 3 topline announcement, June 18, 2026. Sponsor report.</a:t>
            </a:r>
          </a:p>
        </p:txBody>
      </p:sp>
      <p:sp>
        <p:nvSpPr>
          <p:cNvPr id="3" name="footer">
            <a:extLst xmlns:a="http://schemas.openxmlformats.org/drawingml/2006/main">
              <a:ext uri="{FF2B5EF4-FFF2-40B4-BE49-F238E27FC236}">
                <a16:creationId xmlns:a16="http://schemas.microsoft.com/office/drawing/2014/main" id="{4B2BA30F-A318-444C-8D74-C54F3D4A74F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E04DACD-CA62-4E45-8711-A3818AEC0EE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177</a:t>
            </a:r>
          </a:p>
        </p:txBody>
      </p:sp>
    </p:spTree>
    <p:extLst>
      <p:ext uri="{BB962C8B-B14F-4D97-AF65-F5344CB8AC3E}">
        <p14:creationId xmlns:p14="http://schemas.microsoft.com/office/powerpoint/2010/main" val="592220327"/>
      </p:ext>
    </p:extLst>
  </p:cSld>
</p:sld>
</file>

<file path=ppt/slides/slide1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8A63D7B-89FA-4074-9181-F5DC40026C7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FFC8C940-CB05-4EF0-ADB0-7B01A44A1804}"/>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F2G regulatory status statement, October 6, 2026. Sponsor report.</a:t>
            </a:r>
          </a:p>
        </p:txBody>
      </p:sp>
      <p:sp>
        <p:nvSpPr>
          <p:cNvPr id="3" name="footer">
            <a:extLst xmlns:a="http://schemas.openxmlformats.org/drawingml/2006/main">
              <a:ext uri="{FF2B5EF4-FFF2-40B4-BE49-F238E27FC236}">
                <a16:creationId xmlns:a16="http://schemas.microsoft.com/office/drawing/2014/main" id="{2931302E-656D-4689-8415-91C833CE336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D3F4BA9-0432-47C4-A329-BE4228837C5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178</a:t>
            </a:r>
          </a:p>
        </p:txBody>
      </p:sp>
    </p:spTree>
    <p:extLst>
      <p:ext uri="{BB962C8B-B14F-4D97-AF65-F5344CB8AC3E}">
        <p14:creationId xmlns:p14="http://schemas.microsoft.com/office/powerpoint/2010/main" val="1550333300"/>
      </p:ext>
    </p:extLst>
  </p:cSld>
</p:sld>
</file>

<file path=ppt/slides/slide1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5249DD9-643C-4E89-BC50-B6FDDA53848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F0049D40-25C5-4521-842A-E05F4CEF4ADC}"/>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Pappas et al. Fosmanogepix candidemia phase 2 trial, 2023.</a:t>
            </a:r>
          </a:p>
        </p:txBody>
      </p:sp>
      <p:sp>
        <p:nvSpPr>
          <p:cNvPr id="3" name="footer">
            <a:extLst xmlns:a="http://schemas.openxmlformats.org/drawingml/2006/main">
              <a:ext uri="{FF2B5EF4-FFF2-40B4-BE49-F238E27FC236}">
                <a16:creationId xmlns:a16="http://schemas.microsoft.com/office/drawing/2014/main" id="{586D7194-18F7-4BC8-963A-98F339D3DA4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B359D52-F7AA-4678-9698-3FCB01473A7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179</a:t>
            </a:r>
          </a:p>
        </p:txBody>
      </p:sp>
    </p:spTree>
    <p:extLst>
      <p:ext uri="{BB962C8B-B14F-4D97-AF65-F5344CB8AC3E}">
        <p14:creationId xmlns:p14="http://schemas.microsoft.com/office/powerpoint/2010/main" val="920143763"/>
      </p:ext>
    </p:extLst>
  </p:cSld>
</p:sld>
</file>

<file path=ppt/slides/slide1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96D210B-C843-43D8-81F9-54943821706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D7546433-6191-4328-9DA8-5B80E9A7E2EA}"/>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Hodges et al. Fosmanogepix AEGIS phase 2 mold study, 2025.</a:t>
            </a:r>
          </a:p>
        </p:txBody>
      </p:sp>
      <p:sp>
        <p:nvSpPr>
          <p:cNvPr id="3" name="footer">
            <a:extLst xmlns:a="http://schemas.openxmlformats.org/drawingml/2006/main">
              <a:ext uri="{FF2B5EF4-FFF2-40B4-BE49-F238E27FC236}">
                <a16:creationId xmlns:a16="http://schemas.microsoft.com/office/drawing/2014/main" id="{1E0443CD-83EE-4CC1-8D43-30235A69786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1BD55DF-ADA4-4A9D-9061-5A22FA2EC67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180</a:t>
            </a:r>
          </a:p>
        </p:txBody>
      </p:sp>
    </p:spTree>
    <p:extLst>
      <p:ext uri="{BB962C8B-B14F-4D97-AF65-F5344CB8AC3E}">
        <p14:creationId xmlns:p14="http://schemas.microsoft.com/office/powerpoint/2010/main" val="198761666"/>
      </p:ext>
    </p:extLst>
  </p:cSld>
</p:sld>
</file>

<file path=ppt/slides/slide1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7A93D4A-1745-4FDD-9887-3025C7944E7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D8E75D30-43C1-4E14-B983-22D2FD53CA5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Manogepix susceptibility study, 2026. In vitro activity and important gaps.</a:t>
            </a:r>
          </a:p>
        </p:txBody>
      </p:sp>
      <p:sp>
        <p:nvSpPr>
          <p:cNvPr id="3" name="footer">
            <a:extLst xmlns:a="http://schemas.openxmlformats.org/drawingml/2006/main">
              <a:ext uri="{FF2B5EF4-FFF2-40B4-BE49-F238E27FC236}">
                <a16:creationId xmlns:a16="http://schemas.microsoft.com/office/drawing/2014/main" id="{A732BE69-95BA-4CEE-96AF-21EC3B96D5B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847389D-811D-4F9B-985F-79AA86338C5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181</a:t>
            </a:r>
          </a:p>
        </p:txBody>
      </p:sp>
    </p:spTree>
    <p:extLst>
      <p:ext uri="{BB962C8B-B14F-4D97-AF65-F5344CB8AC3E}">
        <p14:creationId xmlns:p14="http://schemas.microsoft.com/office/powerpoint/2010/main" val="913845270"/>
      </p:ext>
    </p:extLst>
  </p:cSld>
</p:sld>
</file>

<file path=ppt/slides/slide1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F7F121F-9930-4FAB-B9FE-0E52DC5898F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A54A4D5A-A17C-4640-ADE5-91B366AA880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Basilea 2026 half-year update. Two ongoing phase 3 fosmanogepix studies; sponsor report.</a:t>
            </a:r>
          </a:p>
        </p:txBody>
      </p:sp>
      <p:sp>
        <p:nvSpPr>
          <p:cNvPr id="3" name="footer">
            <a:extLst xmlns:a="http://schemas.openxmlformats.org/drawingml/2006/main">
              <a:ext uri="{FF2B5EF4-FFF2-40B4-BE49-F238E27FC236}">
                <a16:creationId xmlns:a16="http://schemas.microsoft.com/office/drawing/2014/main" id="{6F148D01-EA78-4114-BFC5-F1343B1AE4B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02E67CF-83B1-4431-9556-7F07E8A87B8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182</a:t>
            </a:r>
          </a:p>
        </p:txBody>
      </p:sp>
    </p:spTree>
    <p:extLst>
      <p:ext uri="{BB962C8B-B14F-4D97-AF65-F5344CB8AC3E}">
        <p14:creationId xmlns:p14="http://schemas.microsoft.com/office/powerpoint/2010/main" val="455441228"/>
      </p:ext>
    </p:extLst>
  </p:cSld>
</p:sld>
</file>

<file path=ppt/slides/slide1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AAED6B7-8F39-4170-9F24-B39E1EECC0F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28DFA4CC-BF6C-4319-BA2D-B63A8712988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Pulmocide Opera-T phase 3 termination announcement, January 7, 2026. Sponsor report.</a:t>
            </a:r>
          </a:p>
        </p:txBody>
      </p:sp>
      <p:sp>
        <p:nvSpPr>
          <p:cNvPr id="3" name="footer">
            <a:extLst xmlns:a="http://schemas.openxmlformats.org/drawingml/2006/main">
              <a:ext uri="{FF2B5EF4-FFF2-40B4-BE49-F238E27FC236}">
                <a16:creationId xmlns:a16="http://schemas.microsoft.com/office/drawing/2014/main" id="{621FB24E-6102-4955-BBC8-F46CF180838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3D92AF0-EBB3-4E01-8BE9-EFCCA72845E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183</a:t>
            </a:r>
          </a:p>
        </p:txBody>
      </p:sp>
    </p:spTree>
    <p:extLst>
      <p:ext uri="{BB962C8B-B14F-4D97-AF65-F5344CB8AC3E}">
        <p14:creationId xmlns:p14="http://schemas.microsoft.com/office/powerpoint/2010/main" val="1390964478"/>
      </p:ext>
    </p:extLst>
  </p:cSld>
</p:sld>
</file>

<file path=ppt/slides/slide1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99FDBF5-FE42-4944-A666-239546DED87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76067967-E7E5-4FCD-921F-433638E46A6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Nguyen et al. Posaconazole exposure and pseudohyperaldosteronism, 2020.</a:t>
            </a:r>
          </a:p>
        </p:txBody>
      </p:sp>
      <p:sp>
        <p:nvSpPr>
          <p:cNvPr id="3" name="footer">
            <a:extLst xmlns:a="http://schemas.openxmlformats.org/drawingml/2006/main">
              <a:ext uri="{FF2B5EF4-FFF2-40B4-BE49-F238E27FC236}">
                <a16:creationId xmlns:a16="http://schemas.microsoft.com/office/drawing/2014/main" id="{8D9795F4-AF5E-48AE-91A5-B835601B187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BE7FF46-90F3-40EA-8B96-5C0E738ACD5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184</a:t>
            </a:r>
          </a:p>
        </p:txBody>
      </p:sp>
    </p:spTree>
    <p:extLst>
      <p:ext uri="{BB962C8B-B14F-4D97-AF65-F5344CB8AC3E}">
        <p14:creationId xmlns:p14="http://schemas.microsoft.com/office/powerpoint/2010/main" val="712931015"/>
      </p:ext>
    </p:extLst>
  </p:cSld>
</p:sld>
</file>

<file path=ppt/slides/slide1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916524A-7010-4EC4-98FE-CAA26036CC5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2D278F88-03A2-4750-8BD8-BF066FEAE80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Experimental posaconazole cerebral diffusion study, 2026. Animal data, not a clinical treatment recommendation.</a:t>
            </a:r>
          </a:p>
        </p:txBody>
      </p:sp>
      <p:sp>
        <p:nvSpPr>
          <p:cNvPr id="3" name="footer">
            <a:extLst xmlns:a="http://schemas.openxmlformats.org/drawingml/2006/main">
              <a:ext uri="{FF2B5EF4-FFF2-40B4-BE49-F238E27FC236}">
                <a16:creationId xmlns:a16="http://schemas.microsoft.com/office/drawing/2014/main" id="{F266CE04-3C2F-49F2-9384-04EC810A160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1B13FC7-9935-4F6C-8D1B-52B72216A9A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185</a:t>
            </a:r>
          </a:p>
        </p:txBody>
      </p:sp>
    </p:spTree>
    <p:extLst>
      <p:ext uri="{BB962C8B-B14F-4D97-AF65-F5344CB8AC3E}">
        <p14:creationId xmlns:p14="http://schemas.microsoft.com/office/powerpoint/2010/main" val="1575001162"/>
      </p:ext>
    </p:extLst>
  </p:cSld>
</p:sld>
</file>

<file path=ppt/slides/slide1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99ACB8E-1404-4549-A759-79D78367B5A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DFF0D6F3-9C2E-4E60-996D-4165E357146D}"/>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Global cryptococcosis guideline, ECMM/ISHAM/ASM, 2024.</a:t>
            </a:r>
          </a:p>
        </p:txBody>
      </p:sp>
      <p:sp>
        <p:nvSpPr>
          <p:cNvPr id="3" name="footer">
            <a:extLst xmlns:a="http://schemas.openxmlformats.org/drawingml/2006/main">
              <a:ext uri="{FF2B5EF4-FFF2-40B4-BE49-F238E27FC236}">
                <a16:creationId xmlns:a16="http://schemas.microsoft.com/office/drawing/2014/main" id="{A2819E63-15F6-4E0B-8C2F-386591A0332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524BAB3-0311-410B-B82C-9DE100F0F9C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186</a:t>
            </a:r>
          </a:p>
        </p:txBody>
      </p:sp>
    </p:spTree>
    <p:extLst>
      <p:ext uri="{BB962C8B-B14F-4D97-AF65-F5344CB8AC3E}">
        <p14:creationId xmlns:p14="http://schemas.microsoft.com/office/powerpoint/2010/main" val="1891059725"/>
      </p:ext>
    </p:extLst>
  </p:cSld>
</p:sld>
</file>

<file path=ppt/slides/slide1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C82963E-B39C-4D9F-9C0C-83A04A6DFC4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DB9F908E-C326-417F-B960-B81A85698E09}"/>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NIH HIV opportunistic infection guidance, cryptococcosis.</a:t>
            </a:r>
          </a:p>
        </p:txBody>
      </p:sp>
      <p:sp>
        <p:nvSpPr>
          <p:cNvPr id="3" name="footer">
            <a:extLst xmlns:a="http://schemas.openxmlformats.org/drawingml/2006/main">
              <a:ext uri="{FF2B5EF4-FFF2-40B4-BE49-F238E27FC236}">
                <a16:creationId xmlns:a16="http://schemas.microsoft.com/office/drawing/2014/main" id="{B0F12071-92A0-44B8-9905-32AB437977D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08087673-2D9C-40C5-BE22-EF9079813A4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187</a:t>
            </a:r>
          </a:p>
        </p:txBody>
      </p:sp>
    </p:spTree>
    <p:extLst>
      <p:ext uri="{BB962C8B-B14F-4D97-AF65-F5344CB8AC3E}">
        <p14:creationId xmlns:p14="http://schemas.microsoft.com/office/powerpoint/2010/main" val="235181638"/>
      </p:ext>
    </p:extLst>
  </p:cSld>
</p:sld>
</file>

<file path=ppt/slides/slide1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308F265-7875-4127-AE0F-EB24974C471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6BF118B5-14D1-4CDB-8E8E-BCB7AFFC1528}"/>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NIH HIV opportunistic infection guidance, histoplasmosis.</a:t>
            </a:r>
          </a:p>
        </p:txBody>
      </p:sp>
      <p:sp>
        <p:nvSpPr>
          <p:cNvPr id="3" name="footer">
            <a:extLst xmlns:a="http://schemas.openxmlformats.org/drawingml/2006/main">
              <a:ext uri="{FF2B5EF4-FFF2-40B4-BE49-F238E27FC236}">
                <a16:creationId xmlns:a16="http://schemas.microsoft.com/office/drawing/2014/main" id="{12FC16E9-F139-41F7-82B1-8E5D6A2F95F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724B58E-5A2A-46F4-9F47-F90E23FB699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188</a:t>
            </a:r>
          </a:p>
        </p:txBody>
      </p:sp>
    </p:spTree>
    <p:extLst>
      <p:ext uri="{BB962C8B-B14F-4D97-AF65-F5344CB8AC3E}">
        <p14:creationId xmlns:p14="http://schemas.microsoft.com/office/powerpoint/2010/main" val="873691796"/>
      </p:ext>
    </p:extLst>
  </p:cSld>
</p:sld>
</file>

<file path=ppt/slides/slide1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C0D2C39-939B-4673-A13B-54B3ACC1B3E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B2D09091-E224-4F0B-9BBE-734701EA0BEC}"/>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IDSA blastomycosis guideline, 2008 (archived).</a:t>
            </a:r>
          </a:p>
        </p:txBody>
      </p:sp>
      <p:sp>
        <p:nvSpPr>
          <p:cNvPr id="3" name="footer">
            <a:extLst xmlns:a="http://schemas.openxmlformats.org/drawingml/2006/main">
              <a:ext uri="{FF2B5EF4-FFF2-40B4-BE49-F238E27FC236}">
                <a16:creationId xmlns:a16="http://schemas.microsoft.com/office/drawing/2014/main" id="{A42B9518-6317-48EF-81DB-AFA1FFAF629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C083A4E-C0B9-4194-B22D-F6DA872209F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189</a:t>
            </a:r>
          </a:p>
        </p:txBody>
      </p:sp>
    </p:spTree>
    <p:extLst>
      <p:ext uri="{BB962C8B-B14F-4D97-AF65-F5344CB8AC3E}">
        <p14:creationId xmlns:p14="http://schemas.microsoft.com/office/powerpoint/2010/main" val="1135854834"/>
      </p:ext>
    </p:extLst>
  </p:cSld>
</p:sld>
</file>

<file path=ppt/slides/slide1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66599F3-D43C-45B1-AECD-6EEB9C32579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3F510490-FE50-44FB-8835-CF4091C8894F}"/>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IDSA coccidioidomycosis guideline, 2016.</a:t>
            </a:r>
          </a:p>
        </p:txBody>
      </p:sp>
      <p:sp>
        <p:nvSpPr>
          <p:cNvPr id="3" name="footer">
            <a:extLst xmlns:a="http://schemas.openxmlformats.org/drawingml/2006/main">
              <a:ext uri="{FF2B5EF4-FFF2-40B4-BE49-F238E27FC236}">
                <a16:creationId xmlns:a16="http://schemas.microsoft.com/office/drawing/2014/main" id="{62BE696D-E77E-48AC-8669-6D84A31099A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A81A704-4FE0-4974-8782-389A37699A8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190</a:t>
            </a:r>
          </a:p>
        </p:txBody>
      </p:sp>
    </p:spTree>
    <p:extLst>
      <p:ext uri="{BB962C8B-B14F-4D97-AF65-F5344CB8AC3E}">
        <p14:creationId xmlns:p14="http://schemas.microsoft.com/office/powerpoint/2010/main" val="1877162543"/>
      </p:ext>
    </p:extLst>
  </p:cSld>
</p:sld>
</file>

<file path=ppt/slides/slide1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AAA0604-7C24-4D29-B169-2A5A4131FBB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52B79EB8-3DD7-4CA0-8543-996C9CD7344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Isavuconazole treatment of cryptococcosis and dimorphic mycoses, VITAL subset, 2016. Nonrandomized study.</a:t>
            </a:r>
          </a:p>
        </p:txBody>
      </p:sp>
      <p:sp>
        <p:nvSpPr>
          <p:cNvPr id="3" name="footer">
            <a:extLst xmlns:a="http://schemas.openxmlformats.org/drawingml/2006/main">
              <a:ext uri="{FF2B5EF4-FFF2-40B4-BE49-F238E27FC236}">
                <a16:creationId xmlns:a16="http://schemas.microsoft.com/office/drawing/2014/main" id="{4427B929-1ACC-4A74-A6DD-5F92D098252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7439DE5-9110-4C65-9CDD-C067F12FF86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191</a:t>
            </a:r>
          </a:p>
        </p:txBody>
      </p:sp>
    </p:spTree>
    <p:extLst>
      <p:ext uri="{BB962C8B-B14F-4D97-AF65-F5344CB8AC3E}">
        <p14:creationId xmlns:p14="http://schemas.microsoft.com/office/powerpoint/2010/main" val="657774870"/>
      </p:ext>
    </p:extLst>
  </p:cSld>
</p:sld>
</file>

<file path=ppt/slides/slide1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2DBF064-C909-4D0E-87B0-FA0D7BA1DB5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7D5DF034-A17C-4B38-9799-F48E25D64775}"/>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ESCMID/ECMM systemic phaeohyphomycosis guideline, 2014.</a:t>
            </a:r>
          </a:p>
        </p:txBody>
      </p:sp>
      <p:sp>
        <p:nvSpPr>
          <p:cNvPr id="3" name="footer">
            <a:extLst xmlns:a="http://schemas.openxmlformats.org/drawingml/2006/main">
              <a:ext uri="{FF2B5EF4-FFF2-40B4-BE49-F238E27FC236}">
                <a16:creationId xmlns:a16="http://schemas.microsoft.com/office/drawing/2014/main" id="{506E2143-CC0F-4BED-9459-702B17F5EBB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06F55DF-B2DE-4B32-96C2-B62913B3EB3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192</a:t>
            </a:r>
          </a:p>
        </p:txBody>
      </p:sp>
    </p:spTree>
    <p:extLst>
      <p:ext uri="{BB962C8B-B14F-4D97-AF65-F5344CB8AC3E}">
        <p14:creationId xmlns:p14="http://schemas.microsoft.com/office/powerpoint/2010/main" val="422378077"/>
      </p:ext>
    </p:extLst>
  </p:cSld>
</p:sld>
</file>

<file path=ppt/slides/slide1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18D4967-CB8A-4226-88ED-C7BE84A28C9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12E4A09C-3DF6-4AC2-B4C4-710ADFDA76A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 vitro activities of ravuconazole and isavuconazole against dematiaceous fungi, 2020.</a:t>
            </a:r>
          </a:p>
        </p:txBody>
      </p:sp>
      <p:sp>
        <p:nvSpPr>
          <p:cNvPr id="3" name="footer">
            <a:extLst xmlns:a="http://schemas.openxmlformats.org/drawingml/2006/main">
              <a:ext uri="{FF2B5EF4-FFF2-40B4-BE49-F238E27FC236}">
                <a16:creationId xmlns:a16="http://schemas.microsoft.com/office/drawing/2014/main" id="{89C18041-DAF7-4E80-A1F2-FB00CEEBA0D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208FCC1-1591-4FB4-802C-24D4620E08A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193</a:t>
            </a:r>
          </a:p>
        </p:txBody>
      </p:sp>
    </p:spTree>
    <p:extLst>
      <p:ext uri="{BB962C8B-B14F-4D97-AF65-F5344CB8AC3E}">
        <p14:creationId xmlns:p14="http://schemas.microsoft.com/office/powerpoint/2010/main" val="1869067223"/>
      </p:ext>
    </p:extLst>
  </p:cSld>
</p:sld>
</file>

<file path=ppt/slides/slide1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869CD2C-805B-4611-B398-CA92D50F6D0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08635D86-D432-4C60-9209-43DBD0975B5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clinical treatment of C. auris infections, reviewed October 6, 2026.</a:t>
            </a:r>
          </a:p>
        </p:txBody>
      </p:sp>
      <p:sp>
        <p:nvSpPr>
          <p:cNvPr id="3" name="footer">
            <a:extLst xmlns:a="http://schemas.openxmlformats.org/drawingml/2006/main">
              <a:ext uri="{FF2B5EF4-FFF2-40B4-BE49-F238E27FC236}">
                <a16:creationId xmlns:a16="http://schemas.microsoft.com/office/drawing/2014/main" id="{C0BF7096-7173-4F99-9E94-CF9BACFCD96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3C7BD882-4595-429E-A5A2-E47C227A42E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194</a:t>
            </a:r>
          </a:p>
        </p:txBody>
      </p:sp>
    </p:spTree>
    <p:extLst>
      <p:ext uri="{BB962C8B-B14F-4D97-AF65-F5344CB8AC3E}">
        <p14:creationId xmlns:p14="http://schemas.microsoft.com/office/powerpoint/2010/main" val="1094971245"/>
      </p:ext>
    </p:extLst>
  </p:cSld>
</p:sld>
</file>

<file path=ppt/slides/slide1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9102614-9EE2-45F1-BB27-CD94F7A1D22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7DC69D1B-9328-450F-98B8-0C5E16BD444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C. auris antifungal susceptibility interpretation, October 1, 2026.</a:t>
            </a:r>
          </a:p>
        </p:txBody>
      </p:sp>
      <p:sp>
        <p:nvSpPr>
          <p:cNvPr id="3" name="footer">
            <a:extLst xmlns:a="http://schemas.openxmlformats.org/drawingml/2006/main">
              <a:ext uri="{FF2B5EF4-FFF2-40B4-BE49-F238E27FC236}">
                <a16:creationId xmlns:a16="http://schemas.microsoft.com/office/drawing/2014/main" id="{650692F7-78E8-47AF-8F18-F718475DF0D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75B7CBC-363C-476A-8E51-0FB3E1FF047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195</a:t>
            </a:r>
          </a:p>
        </p:txBody>
      </p:sp>
    </p:spTree>
    <p:extLst>
      <p:ext uri="{BB962C8B-B14F-4D97-AF65-F5344CB8AC3E}">
        <p14:creationId xmlns:p14="http://schemas.microsoft.com/office/powerpoint/2010/main" val="761776390"/>
      </p:ext>
    </p:extLst>
  </p:cSld>
</p:sld>
</file>

<file path=ppt/slides/slide1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25D3315-FD7F-45E1-A658-4A83E875098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4D84D5BA-BFD0-4148-9B35-98BB20C6AA7A}"/>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C. auris infection control guidance, September 30, 2026.</a:t>
            </a:r>
          </a:p>
        </p:txBody>
      </p:sp>
      <p:sp>
        <p:nvSpPr>
          <p:cNvPr id="3" name="footer">
            <a:extLst xmlns:a="http://schemas.openxmlformats.org/drawingml/2006/main">
              <a:ext uri="{FF2B5EF4-FFF2-40B4-BE49-F238E27FC236}">
                <a16:creationId xmlns:a16="http://schemas.microsoft.com/office/drawing/2014/main" id="{39DC3300-4D11-46A8-BF84-C1F14CC0F4B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31986836-2F79-419C-99BF-180F5B5A5D4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196</a:t>
            </a:r>
          </a:p>
        </p:txBody>
      </p:sp>
    </p:spTree>
    <p:extLst>
      <p:ext uri="{BB962C8B-B14F-4D97-AF65-F5344CB8AC3E}">
        <p14:creationId xmlns:p14="http://schemas.microsoft.com/office/powerpoint/2010/main" val="1337764422"/>
      </p:ext>
    </p:extLst>
  </p:cSld>
</p:sld>
</file>

<file path=ppt/slides/slide1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3B053E0-2764-435C-A614-E5750894C4E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74ACCDA9-FEB3-4C37-B36B-F1D7AD265E04}"/>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C. auris clinical overview.</a:t>
            </a:r>
          </a:p>
        </p:txBody>
      </p:sp>
      <p:sp>
        <p:nvSpPr>
          <p:cNvPr id="3" name="footer">
            <a:extLst xmlns:a="http://schemas.openxmlformats.org/drawingml/2006/main">
              <a:ext uri="{FF2B5EF4-FFF2-40B4-BE49-F238E27FC236}">
                <a16:creationId xmlns:a16="http://schemas.microsoft.com/office/drawing/2014/main" id="{EA23C8B1-8A3A-462C-A28E-5B8A13CB250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C2CAC16-D51B-48DD-BCCE-0E666F3350D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197</a:t>
            </a:r>
          </a:p>
        </p:txBody>
      </p:sp>
    </p:spTree>
    <p:extLst>
      <p:ext uri="{BB962C8B-B14F-4D97-AF65-F5344CB8AC3E}">
        <p14:creationId xmlns:p14="http://schemas.microsoft.com/office/powerpoint/2010/main" val="1699614734"/>
      </p:ext>
    </p:extLst>
  </p:cSld>
</p:sld>
</file>

<file path=ppt/slides/slide1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F1F1991-3B7A-4751-A379-71FEEDF8740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F588A0A5-F7BB-42DD-A211-77CB834099E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McHugh et al. Fluconazole resistance in C. parapsilosis blood isolates at a U.S. reference laboratory, 2025.</a:t>
            </a:r>
          </a:p>
        </p:txBody>
      </p:sp>
      <p:sp>
        <p:nvSpPr>
          <p:cNvPr id="3" name="footer">
            <a:extLst xmlns:a="http://schemas.openxmlformats.org/drawingml/2006/main">
              <a:ext uri="{FF2B5EF4-FFF2-40B4-BE49-F238E27FC236}">
                <a16:creationId xmlns:a16="http://schemas.microsoft.com/office/drawing/2014/main" id="{DD320575-84C0-47DA-BFBF-65AF550830D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E986D396-FDB1-40EC-A736-28E580358C5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198</a:t>
            </a:r>
          </a:p>
        </p:txBody>
      </p:sp>
    </p:spTree>
    <p:extLst>
      <p:ext uri="{BB962C8B-B14F-4D97-AF65-F5344CB8AC3E}">
        <p14:creationId xmlns:p14="http://schemas.microsoft.com/office/powerpoint/2010/main" val="1055252263"/>
      </p:ext>
    </p:extLst>
  </p:cSld>
</p:sld>
</file>

<file path=ppt/slides/slide1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B2E2B35-8F6C-4D24-BFC5-525C8C83C26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9586F2A4-1F4C-4F2F-B0D5-3CA8598C93F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Asner et al. Acquired multidrug resistance in C. lusitaniae during therapy, 2015.</a:t>
            </a:r>
          </a:p>
        </p:txBody>
      </p:sp>
      <p:sp>
        <p:nvSpPr>
          <p:cNvPr id="3" name="footer">
            <a:extLst xmlns:a="http://schemas.openxmlformats.org/drawingml/2006/main">
              <a:ext uri="{FF2B5EF4-FFF2-40B4-BE49-F238E27FC236}">
                <a16:creationId xmlns:a16="http://schemas.microsoft.com/office/drawing/2014/main" id="{18D20336-DEF1-4B3D-B3B7-2A6271A2C1A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A58087C-3041-4FEF-A9C9-14175B75B77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199</a:t>
            </a:r>
          </a:p>
        </p:txBody>
      </p:sp>
    </p:spTree>
    <p:extLst>
      <p:ext uri="{BB962C8B-B14F-4D97-AF65-F5344CB8AC3E}">
        <p14:creationId xmlns:p14="http://schemas.microsoft.com/office/powerpoint/2010/main" val="1719104634"/>
      </p:ext>
    </p:extLst>
  </p:cSld>
</p:sld>
</file>

<file path=ppt/slides/slide2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8CBE287-8A10-4FE5-A643-2F0C6ADD451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9E1BCCEF-EC01-4308-946A-EFB8B06708B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PubChem fluconazole compound record, CID 3365. Molecular structure source.</a:t>
            </a:r>
          </a:p>
        </p:txBody>
      </p:sp>
      <p:sp>
        <p:nvSpPr>
          <p:cNvPr id="3" name="footer">
            <a:extLst xmlns:a="http://schemas.openxmlformats.org/drawingml/2006/main">
              <a:ext uri="{FF2B5EF4-FFF2-40B4-BE49-F238E27FC236}">
                <a16:creationId xmlns:a16="http://schemas.microsoft.com/office/drawing/2014/main" id="{83E785B0-61C7-4AB7-89E9-5C9913F0153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79ED7A1-EF22-49A3-9BDC-0F5290AFBDB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200</a:t>
            </a:r>
          </a:p>
        </p:txBody>
      </p:sp>
    </p:spTree>
    <p:extLst>
      <p:ext uri="{BB962C8B-B14F-4D97-AF65-F5344CB8AC3E}">
        <p14:creationId xmlns:p14="http://schemas.microsoft.com/office/powerpoint/2010/main" val="886951896"/>
      </p:ext>
    </p:extLst>
  </p:cSld>
</p:sld>
</file>

<file path=ppt/slides/slide2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C71DCD9-F894-4BDF-B7C7-0FEF10FAA0F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DDE77F58-B796-4B12-AB21-57FA3C21DF6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PubChem voriconazole compound record, CID 71616. Molecular structure source.</a:t>
            </a:r>
          </a:p>
        </p:txBody>
      </p:sp>
      <p:sp>
        <p:nvSpPr>
          <p:cNvPr id="3" name="footer">
            <a:extLst xmlns:a="http://schemas.openxmlformats.org/drawingml/2006/main">
              <a:ext uri="{FF2B5EF4-FFF2-40B4-BE49-F238E27FC236}">
                <a16:creationId xmlns:a16="http://schemas.microsoft.com/office/drawing/2014/main" id="{88F2CBCC-E22B-48D1-A8B9-DC323074639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E79ED37C-4BA0-4C55-8ACB-F9B32B14BD8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201</a:t>
            </a:r>
          </a:p>
        </p:txBody>
      </p:sp>
    </p:spTree>
    <p:extLst>
      <p:ext uri="{BB962C8B-B14F-4D97-AF65-F5344CB8AC3E}">
        <p14:creationId xmlns:p14="http://schemas.microsoft.com/office/powerpoint/2010/main" val="388549514"/>
      </p:ext>
    </p:extLst>
  </p:cSld>
</p:sld>
</file>

<file path=ppt/slides/slide2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D9748C1-1D5F-4ECF-B268-96685BBEF5F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CF023079-0AFB-4EB3-8077-B68C9D0B9AD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PubChem itraconazole compound record, CID 55283. Molecular structure source.</a:t>
            </a:r>
          </a:p>
        </p:txBody>
      </p:sp>
      <p:sp>
        <p:nvSpPr>
          <p:cNvPr id="3" name="footer">
            <a:extLst xmlns:a="http://schemas.openxmlformats.org/drawingml/2006/main">
              <a:ext uri="{FF2B5EF4-FFF2-40B4-BE49-F238E27FC236}">
                <a16:creationId xmlns:a16="http://schemas.microsoft.com/office/drawing/2014/main" id="{CA2FA686-983A-474D-BD0B-BCABBA2CD37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9B8105B-108C-4F27-A3B3-C3446B8F24C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202</a:t>
            </a:r>
          </a:p>
        </p:txBody>
      </p:sp>
    </p:spTree>
    <p:extLst>
      <p:ext uri="{BB962C8B-B14F-4D97-AF65-F5344CB8AC3E}">
        <p14:creationId xmlns:p14="http://schemas.microsoft.com/office/powerpoint/2010/main" val="62248512"/>
      </p:ext>
    </p:extLst>
  </p:cSld>
</p:sld>
</file>

<file path=ppt/slides/slide2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0CEA732-DC50-4B97-A888-0042AB94621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1C0195FB-4910-4BD3-ADBC-A8761C6F7CE8}"/>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PubChem posaconazole compound record, CID 468595. Molecular structure source.</a:t>
            </a:r>
          </a:p>
        </p:txBody>
      </p:sp>
      <p:sp>
        <p:nvSpPr>
          <p:cNvPr id="3" name="footer">
            <a:extLst xmlns:a="http://schemas.openxmlformats.org/drawingml/2006/main">
              <a:ext uri="{FF2B5EF4-FFF2-40B4-BE49-F238E27FC236}">
                <a16:creationId xmlns:a16="http://schemas.microsoft.com/office/drawing/2014/main" id="{FE2D2E22-D121-460A-A98C-60E61D3511F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55C0415-14B9-4D8A-8EAC-F30BEED430E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203</a:t>
            </a:r>
          </a:p>
        </p:txBody>
      </p:sp>
    </p:spTree>
    <p:extLst>
      <p:ext uri="{BB962C8B-B14F-4D97-AF65-F5344CB8AC3E}">
        <p14:creationId xmlns:p14="http://schemas.microsoft.com/office/powerpoint/2010/main" val="1075295912"/>
      </p:ext>
    </p:extLst>
  </p:cSld>
</p:sld>
</file>

<file path=ppt/slides/slide2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011297B-C643-4866-B075-D6BD65592DC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D65B701F-E2A4-453D-B223-B70CECACC4C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PubChem isavuconazole compound record, CID 6918485. Molecular structure source.</a:t>
            </a:r>
          </a:p>
        </p:txBody>
      </p:sp>
      <p:sp>
        <p:nvSpPr>
          <p:cNvPr id="3" name="footer">
            <a:extLst xmlns:a="http://schemas.openxmlformats.org/drawingml/2006/main">
              <a:ext uri="{FF2B5EF4-FFF2-40B4-BE49-F238E27FC236}">
                <a16:creationId xmlns:a16="http://schemas.microsoft.com/office/drawing/2014/main" id="{24D5EB5F-61EA-43FD-8D74-11189E3CF29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1AAF919-FE0D-4EE7-ADF2-762C5FD004A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204</a:t>
            </a:r>
          </a:p>
        </p:txBody>
      </p:sp>
    </p:spTree>
    <p:extLst>
      <p:ext uri="{BB962C8B-B14F-4D97-AF65-F5344CB8AC3E}">
        <p14:creationId xmlns:p14="http://schemas.microsoft.com/office/powerpoint/2010/main" val="1258987280"/>
      </p:ext>
    </p:extLst>
  </p:cSld>
</p:sld>
</file>

<file path=ppt/slides/slide2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E3205B7-BBB1-49E1-A83C-7A42F733505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Public sources and evidence</a:t>
            </a:r>
          </a:p>
        </p:txBody>
      </p:sp>
      <p:sp>
        <p:nvSpPr>
          <p:cNvPr id="2" name="paragraph-0">
            <a:extLst xmlns:a="http://schemas.openxmlformats.org/drawingml/2006/main">
              <a:ext uri="{FF2B5EF4-FFF2-40B4-BE49-F238E27FC236}">
                <a16:creationId xmlns:a16="http://schemas.microsoft.com/office/drawing/2014/main" id="{3C1538F2-EC6A-4AAC-A9CA-D3368108A96D}"/>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Hendrix et al. Voriconazole versus itraconazole for the initial and step-down treatment of histoplasmosis: a retrospective cohort. Clinical Infectious Diseases, 2021;73:e3727-e3732. doi:10.1093/cid/ciaa1555.</a:t>
            </a:r>
          </a:p>
        </p:txBody>
      </p:sp>
      <p:sp>
        <p:nvSpPr>
          <p:cNvPr id="3" name="footer">
            <a:extLst xmlns:a="http://schemas.openxmlformats.org/drawingml/2006/main">
              <a:ext uri="{FF2B5EF4-FFF2-40B4-BE49-F238E27FC236}">
                <a16:creationId xmlns:a16="http://schemas.microsoft.com/office/drawing/2014/main" id="{9ADE54D1-663A-4CEB-B994-90F7176CC80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E30B114-112D-472A-AA3F-FFEEEB2D627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205</a:t>
            </a:r>
          </a:p>
        </p:txBody>
      </p:sp>
    </p:spTree>
    <p:extLst>
      <p:ext uri="{BB962C8B-B14F-4D97-AF65-F5344CB8AC3E}">
        <p14:creationId xmlns:p14="http://schemas.microsoft.com/office/powerpoint/2010/main" val="16191349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2026-10-28T18:28:21.6580000Z</dcterms:created>
  <dcterms:modified xsi:type="dcterms:W3CDTF">2026-10-28T18:28:21.6580000Z</dcterms:modified>
</coreProperties>
</file>