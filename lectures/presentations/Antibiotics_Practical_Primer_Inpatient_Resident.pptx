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Override PartName="/ppt/slides/slide152.xml" ContentType="application/vnd.openxmlformats-officedocument.presentationml.slide+xml"/>
  <Override PartName="/ppt/notesSlides/notesSlide152.xml" ContentType="application/vnd.openxmlformats-officedocument.presentationml.notesSlide+xml"/>
  <Override PartName="/ppt/slides/slide153.xml" ContentType="application/vnd.openxmlformats-officedocument.presentationml.slide+xml"/>
  <Override PartName="/ppt/notesSlides/notesSlide153.xml" ContentType="application/vnd.openxmlformats-officedocument.presentationml.notesSlide+xml"/>
  <Override PartName="/ppt/slides/slide154.xml" ContentType="application/vnd.openxmlformats-officedocument.presentationml.slide+xml"/>
  <Override PartName="/ppt/notesSlides/notesSlide154.xml" ContentType="application/vnd.openxmlformats-officedocument.presentationml.notesSlide+xml"/>
  <Override PartName="/ppt/slides/slide155.xml" ContentType="application/vnd.openxmlformats-officedocument.presentationml.slide+xml"/>
  <Override PartName="/ppt/notesSlides/notesSlide155.xml" ContentType="application/vnd.openxmlformats-officedocument.presentationml.notesSlide+xml"/>
  <Override PartName="/ppt/slides/slide156.xml" ContentType="application/vnd.openxmlformats-officedocument.presentationml.slide+xml"/>
  <Override PartName="/ppt/notesSlides/notesSlide156.xml" ContentType="application/vnd.openxmlformats-officedocument.presentationml.notesSlide+xml"/>
  <Override PartName="/ppt/slides/slide157.xml" ContentType="application/vnd.openxmlformats-officedocument.presentationml.slide+xml"/>
  <Override PartName="/ppt/notesSlides/notesSlide157.xml" ContentType="application/vnd.openxmlformats-officedocument.presentationml.notesSlide+xml"/>
  <Override PartName="/ppt/slides/slide158.xml" ContentType="application/vnd.openxmlformats-officedocument.presentationml.slide+xml"/>
  <Override PartName="/ppt/notesSlides/notesSlide158.xml" ContentType="application/vnd.openxmlformats-officedocument.presentationml.notesSlide+xml"/>
  <Override PartName="/ppt/slides/slide159.xml" ContentType="application/vnd.openxmlformats-officedocument.presentationml.slide+xml"/>
  <Override PartName="/ppt/notesSlides/notesSlide159.xml" ContentType="application/vnd.openxmlformats-officedocument.presentationml.notesSlide+xml"/>
  <Override PartName="/ppt/slides/slide160.xml" ContentType="application/vnd.openxmlformats-officedocument.presentationml.slide+xml"/>
  <Override PartName="/ppt/notesSlides/notesSlide160.xml" ContentType="application/vnd.openxmlformats-officedocument.presentationml.notesSlide+xml"/>
  <Override PartName="/ppt/slides/slide161.xml" ContentType="application/vnd.openxmlformats-officedocument.presentationml.slide+xml"/>
  <Override PartName="/ppt/notesSlides/notesSlide161.xml" ContentType="application/vnd.openxmlformats-officedocument.presentationml.notesSlide+xml"/>
  <Override PartName="/ppt/slides/slide162.xml" ContentType="application/vnd.openxmlformats-officedocument.presentationml.slide+xml"/>
  <Override PartName="/ppt/notesSlides/notesSlide162.xml" ContentType="application/vnd.openxmlformats-officedocument.presentationml.notesSlide+xml"/>
  <Override PartName="/ppt/slides/slide163.xml" ContentType="application/vnd.openxmlformats-officedocument.presentationml.slide+xml"/>
  <Override PartName="/ppt/notesSlides/notesSlide163.xml" ContentType="application/vnd.openxmlformats-officedocument.presentationml.notesSlide+xml"/>
  <Override PartName="/ppt/slides/slide164.xml" ContentType="application/vnd.openxmlformats-officedocument.presentationml.slide+xml"/>
  <Override PartName="/ppt/notesSlides/notesSlide164.xml" ContentType="application/vnd.openxmlformats-officedocument.presentationml.notesSlide+xml"/>
  <Override PartName="/ppt/slides/slide165.xml" ContentType="application/vnd.openxmlformats-officedocument.presentationml.slide+xml"/>
  <Override PartName="/ppt/notesSlides/notesSlide165.xml" ContentType="application/vnd.openxmlformats-officedocument.presentationml.notesSlide+xml"/>
  <Override PartName="/ppt/slides/slide166.xml" ContentType="application/vnd.openxmlformats-officedocument.presentationml.slide+xml"/>
  <Override PartName="/ppt/notesSlides/notesSlide166.xml" ContentType="application/vnd.openxmlformats-officedocument.presentationml.notesSlide+xml"/>
  <Override PartName="/ppt/slides/slide167.xml" ContentType="application/vnd.openxmlformats-officedocument.presentationml.slide+xml"/>
  <Override PartName="/ppt/notesSlides/notesSlide167.xml" ContentType="application/vnd.openxmlformats-officedocument.presentationml.notesSlide+xml"/>
  <Override PartName="/ppt/slides/slide168.xml" ContentType="application/vnd.openxmlformats-officedocument.presentationml.slide+xml"/>
  <Override PartName="/ppt/notesSlides/notesSlide168.xml" ContentType="application/vnd.openxmlformats-officedocument.presentationml.notesSlide+xml"/>
  <Override PartName="/ppt/slides/slide169.xml" ContentType="application/vnd.openxmlformats-officedocument.presentationml.slide+xml"/>
  <Override PartName="/ppt/notesSlides/notesSlide169.xml" ContentType="application/vnd.openxmlformats-officedocument.presentationml.notesSlide+xml"/>
  <Override PartName="/ppt/slides/slide170.xml" ContentType="application/vnd.openxmlformats-officedocument.presentationml.slide+xml"/>
  <Override PartName="/ppt/notesSlides/notesSlide170.xml" ContentType="application/vnd.openxmlformats-officedocument.presentationml.notesSlide+xml"/>
  <Override PartName="/ppt/slides/slide171.xml" ContentType="application/vnd.openxmlformats-officedocument.presentationml.slide+xml"/>
  <Override PartName="/ppt/notesSlides/notesSlide171.xml" ContentType="application/vnd.openxmlformats-officedocument.presentationml.notesSlide+xml"/>
  <Override PartName="/ppt/slides/slide172.xml" ContentType="application/vnd.openxmlformats-officedocument.presentationml.slide+xml"/>
  <Override PartName="/ppt/notesSlides/notesSlide172.xml" ContentType="application/vnd.openxmlformats-officedocument.presentationml.notesSlide+xml"/>
  <Override PartName="/ppt/slides/slide173.xml" ContentType="application/vnd.openxmlformats-officedocument.presentationml.slide+xml"/>
  <Override PartName="/ppt/notesSlides/notesSlide173.xml" ContentType="application/vnd.openxmlformats-officedocument.presentationml.notesSlide+xml"/>
  <Override PartName="/ppt/slides/slide174.xml" ContentType="application/vnd.openxmlformats-officedocument.presentationml.slide+xml"/>
  <Override PartName="/ppt/notesSlides/notesSlide174.xml" ContentType="application/vnd.openxmlformats-officedocument.presentationml.notesSlide+xml"/>
  <Override PartName="/ppt/slides/slide175.xml" ContentType="application/vnd.openxmlformats-officedocument.presentationml.slide+xml"/>
  <Override PartName="/ppt/notesSlides/notesSlide175.xml" ContentType="application/vnd.openxmlformats-officedocument.presentationml.notesSlide+xml"/>
  <Override PartName="/ppt/slides/slide176.xml" ContentType="application/vnd.openxmlformats-officedocument.presentationml.slide+xml"/>
  <Override PartName="/ppt/notesSlides/notesSlide176.xml" ContentType="application/vnd.openxmlformats-officedocument.presentationml.notesSlide+xml"/>
  <Override PartName="/ppt/slides/slide177.xml" ContentType="application/vnd.openxmlformats-officedocument.presentationml.slide+xml"/>
  <Override PartName="/ppt/notesSlides/notesSlide177.xml" ContentType="application/vnd.openxmlformats-officedocument.presentationml.notesSlide+xml"/>
  <Override PartName="/ppt/slides/slide178.xml" ContentType="application/vnd.openxmlformats-officedocument.presentationml.slide+xml"/>
  <Override PartName="/ppt/notesSlides/notesSlide178.xml" ContentType="application/vnd.openxmlformats-officedocument.presentationml.notesSlide+xml"/>
  <Override PartName="/ppt/slides/slide179.xml" ContentType="application/vnd.openxmlformats-officedocument.presentationml.slide+xml"/>
  <Override PartName="/ppt/notesSlides/notesSlide179.xml" ContentType="application/vnd.openxmlformats-officedocument.presentationml.notesSlide+xml"/>
  <Override PartName="/ppt/slides/slide180.xml" ContentType="application/vnd.openxmlformats-officedocument.presentationml.slide+xml"/>
  <Override PartName="/ppt/notesSlides/notesSlide180.xml" ContentType="application/vnd.openxmlformats-officedocument.presentationml.notesSlide+xml"/>
  <Override PartName="/ppt/slides/slide181.xml" ContentType="application/vnd.openxmlformats-officedocument.presentationml.slide+xml"/>
  <Override PartName="/ppt/notesSlides/notesSlide181.xml" ContentType="application/vnd.openxmlformats-officedocument.presentationml.notesSlide+xml"/>
  <Override PartName="/ppt/slides/slide182.xml" ContentType="application/vnd.openxmlformats-officedocument.presentationml.slide+xml"/>
  <Override PartName="/ppt/notesSlides/notesSlide182.xml" ContentType="application/vnd.openxmlformats-officedocument.presentationml.notesSlide+xml"/>
  <Override PartName="/ppt/slides/slide183.xml" ContentType="application/vnd.openxmlformats-officedocument.presentationml.slide+xml"/>
  <Override PartName="/ppt/notesSlides/notesSlide183.xml" ContentType="application/vnd.openxmlformats-officedocument.presentationml.notesSlide+xml"/>
  <Override PartName="/ppt/slides/slide184.xml" ContentType="application/vnd.openxmlformats-officedocument.presentationml.slide+xml"/>
  <Override PartName="/ppt/notesSlides/notesSlide184.xml" ContentType="application/vnd.openxmlformats-officedocument.presentationml.notesSlide+xml"/>
  <Override PartName="/ppt/slides/slide185.xml" ContentType="application/vnd.openxmlformats-officedocument.presentationml.slide+xml"/>
  <Override PartName="/ppt/notesSlides/notesSlide185.xml" ContentType="application/vnd.openxmlformats-officedocument.presentationml.notesSlide+xml"/>
  <Override PartName="/ppt/slides/slide186.xml" ContentType="application/vnd.openxmlformats-officedocument.presentationml.slide+xml"/>
  <Override PartName="/ppt/notesSlides/notesSlide186.xml" ContentType="application/vnd.openxmlformats-officedocument.presentationml.notesSlide+xml"/>
  <Override PartName="/ppt/slides/slide187.xml" ContentType="application/vnd.openxmlformats-officedocument.presentationml.slide+xml"/>
  <Override PartName="/ppt/notesSlides/notesSlide187.xml" ContentType="application/vnd.openxmlformats-officedocument.presentationml.notesSlide+xml"/>
  <Override PartName="/ppt/slides/slide188.xml" ContentType="application/vnd.openxmlformats-officedocument.presentationml.slide+xml"/>
  <Override PartName="/ppt/notesSlides/notesSlide188.xml" ContentType="application/vnd.openxmlformats-officedocument.presentationml.notesSlide+xml"/>
  <Override PartName="/ppt/slides/slide189.xml" ContentType="application/vnd.openxmlformats-officedocument.presentationml.slide+xml"/>
  <Override PartName="/ppt/notesSlides/notesSlide189.xml" ContentType="application/vnd.openxmlformats-officedocument.presentationml.notesSlide+xml"/>
  <Override PartName="/ppt/slides/slide190.xml" ContentType="application/vnd.openxmlformats-officedocument.presentationml.slide+xml"/>
  <Override PartName="/ppt/notesSlides/notesSlide190.xml" ContentType="application/vnd.openxmlformats-officedocument.presentationml.notesSlide+xml"/>
  <Override PartName="/ppt/slides/slide191.xml" ContentType="application/vnd.openxmlformats-officedocument.presentationml.slide+xml"/>
  <Override PartName="/ppt/notesSlides/notesSlide191.xml" ContentType="application/vnd.openxmlformats-officedocument.presentationml.notesSlide+xml"/>
  <Override PartName="/ppt/slides/slide192.xml" ContentType="application/vnd.openxmlformats-officedocument.presentationml.slide+xml"/>
  <Override PartName="/ppt/notesSlides/notesSlide192.xml" ContentType="application/vnd.openxmlformats-officedocument.presentationml.notesSlide+xml"/>
  <Override PartName="/ppt/slides/slide193.xml" ContentType="application/vnd.openxmlformats-officedocument.presentationml.slide+xml"/>
  <Override PartName="/ppt/notesSlides/notesSlide193.xml" ContentType="application/vnd.openxmlformats-officedocument.presentationml.notesSlide+xml"/>
  <Override PartName="/ppt/slides/slide194.xml" ContentType="application/vnd.openxmlformats-officedocument.presentationml.slide+xml"/>
  <Override PartName="/ppt/notesSlides/notesSlide194.xml" ContentType="application/vnd.openxmlformats-officedocument.presentationml.notesSlide+xml"/>
  <Override PartName="/ppt/slides/slide195.xml" ContentType="application/vnd.openxmlformats-officedocument.presentationml.slide+xml"/>
  <Override PartName="/ppt/notesSlides/notesSlide195.xml" ContentType="application/vnd.openxmlformats-officedocument.presentationml.notesSlide+xml"/>
  <Override PartName="/ppt/slides/slide196.xml" ContentType="application/vnd.openxmlformats-officedocument.presentationml.slide+xml"/>
  <Override PartName="/ppt/notesSlides/notesSlide196.xml" ContentType="application/vnd.openxmlformats-officedocument.presentationml.notesSlide+xml"/>
  <Override PartName="/ppt/slides/slide197.xml" ContentType="application/vnd.openxmlformats-officedocument.presentationml.slide+xml"/>
  <Override PartName="/ppt/notesSlides/notesSlide197.xml" ContentType="application/vnd.openxmlformats-officedocument.presentationml.notesSlide+xml"/>
  <Override PartName="/ppt/slides/slide198.xml" ContentType="application/vnd.openxmlformats-officedocument.presentationml.slide+xml"/>
  <Override PartName="/ppt/notesSlides/notesSlide198.xml" ContentType="application/vnd.openxmlformats-officedocument.presentationml.notesSlide+xml"/>
  <Override PartName="/ppt/slides/slide199.xml" ContentType="application/vnd.openxmlformats-officedocument.presentationml.slide+xml"/>
  <Override PartName="/ppt/notesSlides/notesSlide199.xml" ContentType="application/vnd.openxmlformats-officedocument.presentationml.notesSlide+xml"/>
  <Override PartName="/ppt/slides/slide200.xml" ContentType="application/vnd.openxmlformats-officedocument.presentationml.slide+xml"/>
  <Override PartName="/ppt/notesSlides/notesSlide200.xml" ContentType="application/vnd.openxmlformats-officedocument.presentationml.notesSlide+xml"/>
  <Override PartName="/ppt/slides/slide201.xml" ContentType="application/vnd.openxmlformats-officedocument.presentationml.slide+xml"/>
  <Override PartName="/ppt/notesSlides/notesSlide201.xml" ContentType="application/vnd.openxmlformats-officedocument.presentationml.notesSlide+xml"/>
  <Override PartName="/ppt/slides/slide202.xml" ContentType="application/vnd.openxmlformats-officedocument.presentationml.slide+xml"/>
  <Override PartName="/ppt/notesSlides/notesSlide202.xml" ContentType="application/vnd.openxmlformats-officedocument.presentationml.notesSlide+xml"/>
  <Override PartName="/ppt/slides/slide203.xml" ContentType="application/vnd.openxmlformats-officedocument.presentationml.slide+xml"/>
  <Override PartName="/ppt/notesSlides/notesSlide20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503f7538f9457f" /><Relationship Type="http://schemas.openxmlformats.org/officeDocument/2006/relationships/extended-properties" Target="/docProps/app.xml" Id="R41b3274e0e7b4191" /><Relationship Type="http://schemas.openxmlformats.org/officeDocument/2006/relationships/officeDocument" Target="/ppt/presentation.xml" Id="R80e828a162724cc5" /></Relationships>
</file>

<file path=ppt/presentation.xml><?xml version="1.0" encoding="utf-8"?>
<p:presentation xmlns:p="http://schemas.openxmlformats.org/presentationml/2006/main">
  <p:sldMasterIdLst>
    <p:sldMasterId xmlns:r="http://schemas.openxmlformats.org/officeDocument/2006/relationships" id="2147483648" r:id="Rdcc0d8a0ce314532"/>
  </p:sldMasterIdLst>
  <p:notesMasterIdLst>
    <p:notesMasterId xmlns:r="http://schemas.openxmlformats.org/officeDocument/2006/relationships" r:id="R0f7720b1905d42e8"/>
  </p:notesMasterIdLst>
  <p:sldIdLst>
    <p:sldId xmlns:r="http://schemas.openxmlformats.org/officeDocument/2006/relationships" id="256" r:id="R94b1fa3cb1a04c59"/>
    <p:sldId xmlns:r="http://schemas.openxmlformats.org/officeDocument/2006/relationships" id="257" r:id="Redcf26f736434503"/>
    <p:sldId xmlns:r="http://schemas.openxmlformats.org/officeDocument/2006/relationships" id="258" r:id="Rddcd48dea8544c3c"/>
    <p:sldId xmlns:r="http://schemas.openxmlformats.org/officeDocument/2006/relationships" id="259" r:id="R24d91bb4a709488f"/>
    <p:sldId xmlns:r="http://schemas.openxmlformats.org/officeDocument/2006/relationships" id="260" r:id="R8a0a5b791720410b"/>
    <p:sldId xmlns:r="http://schemas.openxmlformats.org/officeDocument/2006/relationships" id="261" r:id="R4f15d9beafda4821"/>
    <p:sldId xmlns:r="http://schemas.openxmlformats.org/officeDocument/2006/relationships" id="262" r:id="Rb95d86a3dc794de8"/>
    <p:sldId xmlns:r="http://schemas.openxmlformats.org/officeDocument/2006/relationships" id="263" r:id="Rcd4c32f3940543d2"/>
    <p:sldId xmlns:r="http://schemas.openxmlformats.org/officeDocument/2006/relationships" id="264" r:id="R460abcefaf4c4770"/>
    <p:sldId xmlns:r="http://schemas.openxmlformats.org/officeDocument/2006/relationships" id="265" r:id="Rce5916f3518a4d02"/>
    <p:sldId xmlns:r="http://schemas.openxmlformats.org/officeDocument/2006/relationships" id="266" r:id="Ra6385ed3867d4106"/>
    <p:sldId xmlns:r="http://schemas.openxmlformats.org/officeDocument/2006/relationships" id="267" r:id="R33fc295d15e9407e"/>
    <p:sldId xmlns:r="http://schemas.openxmlformats.org/officeDocument/2006/relationships" id="268" r:id="R759e29505df84396"/>
    <p:sldId xmlns:r="http://schemas.openxmlformats.org/officeDocument/2006/relationships" id="269" r:id="Re6e857a2fb344a96"/>
    <p:sldId xmlns:r="http://schemas.openxmlformats.org/officeDocument/2006/relationships" id="270" r:id="R31dd3f36b2da4230"/>
    <p:sldId xmlns:r="http://schemas.openxmlformats.org/officeDocument/2006/relationships" id="271" r:id="R8c6e3cc5a1ba4307"/>
    <p:sldId xmlns:r="http://schemas.openxmlformats.org/officeDocument/2006/relationships" id="272" r:id="R01ffaf31192c45e5"/>
    <p:sldId xmlns:r="http://schemas.openxmlformats.org/officeDocument/2006/relationships" id="273" r:id="R3a81d8d2cb1b4202"/>
    <p:sldId xmlns:r="http://schemas.openxmlformats.org/officeDocument/2006/relationships" id="274" r:id="R012580a8ddea45ec"/>
    <p:sldId xmlns:r="http://schemas.openxmlformats.org/officeDocument/2006/relationships" id="275" r:id="R32e16e3c76c04fdb"/>
    <p:sldId xmlns:r="http://schemas.openxmlformats.org/officeDocument/2006/relationships" id="276" r:id="Rce689f3f44d54b94"/>
    <p:sldId xmlns:r="http://schemas.openxmlformats.org/officeDocument/2006/relationships" id="277" r:id="R1ccdc9543b7f42fd"/>
    <p:sldId xmlns:r="http://schemas.openxmlformats.org/officeDocument/2006/relationships" id="278" r:id="Rfcb9674980f7473d"/>
    <p:sldId xmlns:r="http://schemas.openxmlformats.org/officeDocument/2006/relationships" id="279" r:id="R99472b3897bd49ea"/>
    <p:sldId xmlns:r="http://schemas.openxmlformats.org/officeDocument/2006/relationships" id="280" r:id="R6191641170a54f9c"/>
    <p:sldId xmlns:r="http://schemas.openxmlformats.org/officeDocument/2006/relationships" id="281" r:id="R74844c8a7e7c4896"/>
    <p:sldId xmlns:r="http://schemas.openxmlformats.org/officeDocument/2006/relationships" id="282" r:id="R2d159d75f7764435"/>
    <p:sldId xmlns:r="http://schemas.openxmlformats.org/officeDocument/2006/relationships" id="283" r:id="R9dbe2d87317c4e40"/>
    <p:sldId xmlns:r="http://schemas.openxmlformats.org/officeDocument/2006/relationships" id="284" r:id="R9be42e713e4f49c6"/>
    <p:sldId xmlns:r="http://schemas.openxmlformats.org/officeDocument/2006/relationships" id="285" r:id="R60140d03562e4250"/>
    <p:sldId xmlns:r="http://schemas.openxmlformats.org/officeDocument/2006/relationships" id="286" r:id="R6ee4cdecc3e34ed2"/>
    <p:sldId xmlns:r="http://schemas.openxmlformats.org/officeDocument/2006/relationships" id="287" r:id="R664d0feff06c4b1a"/>
    <p:sldId xmlns:r="http://schemas.openxmlformats.org/officeDocument/2006/relationships" id="288" r:id="Rd35375654f4c4902"/>
    <p:sldId xmlns:r="http://schemas.openxmlformats.org/officeDocument/2006/relationships" id="289" r:id="Ref0b7f4824614bd0"/>
    <p:sldId xmlns:r="http://schemas.openxmlformats.org/officeDocument/2006/relationships" id="290" r:id="R2f96903c8a7d4574"/>
    <p:sldId xmlns:r="http://schemas.openxmlformats.org/officeDocument/2006/relationships" id="291" r:id="R4ac78ce764a44230"/>
    <p:sldId xmlns:r="http://schemas.openxmlformats.org/officeDocument/2006/relationships" id="292" r:id="R16f2c6afddaa496e"/>
    <p:sldId xmlns:r="http://schemas.openxmlformats.org/officeDocument/2006/relationships" id="293" r:id="R7485195b5b6b47a2"/>
    <p:sldId xmlns:r="http://schemas.openxmlformats.org/officeDocument/2006/relationships" id="294" r:id="Rd89be8415d504b6a"/>
    <p:sldId xmlns:r="http://schemas.openxmlformats.org/officeDocument/2006/relationships" id="295" r:id="Rfa7953ebe7e04ccb"/>
    <p:sldId xmlns:r="http://schemas.openxmlformats.org/officeDocument/2006/relationships" id="296" r:id="R5a4427d542734868"/>
    <p:sldId xmlns:r="http://schemas.openxmlformats.org/officeDocument/2006/relationships" id="297" r:id="R6032ba6b34d643f0"/>
    <p:sldId xmlns:r="http://schemas.openxmlformats.org/officeDocument/2006/relationships" id="298" r:id="Rec3c2d70372342b6"/>
    <p:sldId xmlns:r="http://schemas.openxmlformats.org/officeDocument/2006/relationships" id="299" r:id="R160154e039eb4f9f"/>
    <p:sldId xmlns:r="http://schemas.openxmlformats.org/officeDocument/2006/relationships" id="300" r:id="R91d1ad2960c2438f"/>
    <p:sldId xmlns:r="http://schemas.openxmlformats.org/officeDocument/2006/relationships" id="301" r:id="R13f8f2f49de548cd"/>
    <p:sldId xmlns:r="http://schemas.openxmlformats.org/officeDocument/2006/relationships" id="302" r:id="R1cf0e80383f646ba"/>
    <p:sldId xmlns:r="http://schemas.openxmlformats.org/officeDocument/2006/relationships" id="303" r:id="Rfea64c62214e4484"/>
    <p:sldId xmlns:r="http://schemas.openxmlformats.org/officeDocument/2006/relationships" id="304" r:id="R34c91258b729450f"/>
    <p:sldId xmlns:r="http://schemas.openxmlformats.org/officeDocument/2006/relationships" id="305" r:id="R0cbbeaf363334995"/>
    <p:sldId xmlns:r="http://schemas.openxmlformats.org/officeDocument/2006/relationships" id="306" r:id="Rdbdb9355ef544d02"/>
    <p:sldId xmlns:r="http://schemas.openxmlformats.org/officeDocument/2006/relationships" id="307" r:id="R491a52472cbd4e24"/>
    <p:sldId xmlns:r="http://schemas.openxmlformats.org/officeDocument/2006/relationships" id="308" r:id="R5ef9e09e7cff45bd"/>
    <p:sldId xmlns:r="http://schemas.openxmlformats.org/officeDocument/2006/relationships" id="309" r:id="R462d2fdb1de74dc2"/>
    <p:sldId xmlns:r="http://schemas.openxmlformats.org/officeDocument/2006/relationships" id="310" r:id="R07e24ec36be44c9f"/>
    <p:sldId xmlns:r="http://schemas.openxmlformats.org/officeDocument/2006/relationships" id="311" r:id="R9b28a43f38c344fe"/>
    <p:sldId xmlns:r="http://schemas.openxmlformats.org/officeDocument/2006/relationships" id="312" r:id="R7556f02820e44fa3"/>
    <p:sldId xmlns:r="http://schemas.openxmlformats.org/officeDocument/2006/relationships" id="313" r:id="R9d4ecf917bc44fb8"/>
    <p:sldId xmlns:r="http://schemas.openxmlformats.org/officeDocument/2006/relationships" id="314" r:id="Rc2001cd089234ba2"/>
    <p:sldId xmlns:r="http://schemas.openxmlformats.org/officeDocument/2006/relationships" id="315" r:id="R608c7ca563a24d1d"/>
    <p:sldId xmlns:r="http://schemas.openxmlformats.org/officeDocument/2006/relationships" id="316" r:id="Ra718ca7f542a4955"/>
    <p:sldId xmlns:r="http://schemas.openxmlformats.org/officeDocument/2006/relationships" id="317" r:id="Re01c262df2b6411f"/>
    <p:sldId xmlns:r="http://schemas.openxmlformats.org/officeDocument/2006/relationships" id="318" r:id="R868c19065cd64607"/>
    <p:sldId xmlns:r="http://schemas.openxmlformats.org/officeDocument/2006/relationships" id="319" r:id="R11b20d88cfd1419c"/>
    <p:sldId xmlns:r="http://schemas.openxmlformats.org/officeDocument/2006/relationships" id="320" r:id="R188a8f77fe194ce8"/>
    <p:sldId xmlns:r="http://schemas.openxmlformats.org/officeDocument/2006/relationships" id="321" r:id="R7fe31cb8f9184894"/>
    <p:sldId xmlns:r="http://schemas.openxmlformats.org/officeDocument/2006/relationships" id="322" r:id="R1197a600bf6b4988"/>
    <p:sldId xmlns:r="http://schemas.openxmlformats.org/officeDocument/2006/relationships" id="323" r:id="R5da615e9cf2e4c1f"/>
    <p:sldId xmlns:r="http://schemas.openxmlformats.org/officeDocument/2006/relationships" id="324" r:id="R126e311dea444fbc"/>
    <p:sldId xmlns:r="http://schemas.openxmlformats.org/officeDocument/2006/relationships" id="325" r:id="Rb2fd5b4d7156456a"/>
    <p:sldId xmlns:r="http://schemas.openxmlformats.org/officeDocument/2006/relationships" id="326" r:id="Rc9cda6d04a9648f5"/>
    <p:sldId xmlns:r="http://schemas.openxmlformats.org/officeDocument/2006/relationships" id="327" r:id="R05054a4b9fb04cab"/>
    <p:sldId xmlns:r="http://schemas.openxmlformats.org/officeDocument/2006/relationships" id="328" r:id="R4d773125aaa141c5"/>
    <p:sldId xmlns:r="http://schemas.openxmlformats.org/officeDocument/2006/relationships" id="329" r:id="R8adc05bc9e73434e"/>
    <p:sldId xmlns:r="http://schemas.openxmlformats.org/officeDocument/2006/relationships" id="330" r:id="Ra341bd8780914b58"/>
    <p:sldId xmlns:r="http://schemas.openxmlformats.org/officeDocument/2006/relationships" id="331" r:id="Ra4890fa851734569"/>
    <p:sldId xmlns:r="http://schemas.openxmlformats.org/officeDocument/2006/relationships" id="332" r:id="R6186680c91564171"/>
    <p:sldId xmlns:r="http://schemas.openxmlformats.org/officeDocument/2006/relationships" id="333" r:id="Recea90fb4e4b4849"/>
    <p:sldId xmlns:r="http://schemas.openxmlformats.org/officeDocument/2006/relationships" id="334" r:id="R979f8561f857494a"/>
    <p:sldId xmlns:r="http://schemas.openxmlformats.org/officeDocument/2006/relationships" id="335" r:id="R64eeb3f861b34b08"/>
    <p:sldId xmlns:r="http://schemas.openxmlformats.org/officeDocument/2006/relationships" id="336" r:id="R58939e6442c74070"/>
    <p:sldId xmlns:r="http://schemas.openxmlformats.org/officeDocument/2006/relationships" id="337" r:id="Rf894e2082ba64b6e"/>
    <p:sldId xmlns:r="http://schemas.openxmlformats.org/officeDocument/2006/relationships" id="338" r:id="Rcfa4789d02224bce"/>
    <p:sldId xmlns:r="http://schemas.openxmlformats.org/officeDocument/2006/relationships" id="339" r:id="R38a50de4687b4925"/>
    <p:sldId xmlns:r="http://schemas.openxmlformats.org/officeDocument/2006/relationships" id="340" r:id="R278868bfdc8445c2"/>
    <p:sldId xmlns:r="http://schemas.openxmlformats.org/officeDocument/2006/relationships" id="341" r:id="Rb49ecdd3fcc343be"/>
    <p:sldId xmlns:r="http://schemas.openxmlformats.org/officeDocument/2006/relationships" id="342" r:id="R2375096c82094eff"/>
    <p:sldId xmlns:r="http://schemas.openxmlformats.org/officeDocument/2006/relationships" id="343" r:id="Rcbae3cdf235749d7"/>
    <p:sldId xmlns:r="http://schemas.openxmlformats.org/officeDocument/2006/relationships" id="344" r:id="R005fdc03d5414634"/>
    <p:sldId xmlns:r="http://schemas.openxmlformats.org/officeDocument/2006/relationships" id="345" r:id="R7c60bf73ef264a7b"/>
    <p:sldId xmlns:r="http://schemas.openxmlformats.org/officeDocument/2006/relationships" id="346" r:id="R4834c64c94dd4333"/>
    <p:sldId xmlns:r="http://schemas.openxmlformats.org/officeDocument/2006/relationships" id="347" r:id="R5f9bb5e7cef34130"/>
    <p:sldId xmlns:r="http://schemas.openxmlformats.org/officeDocument/2006/relationships" id="348" r:id="R73e7d02e9ba94a9e"/>
    <p:sldId xmlns:r="http://schemas.openxmlformats.org/officeDocument/2006/relationships" id="349" r:id="Rabf423f0f1614a13"/>
    <p:sldId xmlns:r="http://schemas.openxmlformats.org/officeDocument/2006/relationships" id="350" r:id="Rd958a305d7b745ea"/>
    <p:sldId xmlns:r="http://schemas.openxmlformats.org/officeDocument/2006/relationships" id="351" r:id="R5b7d467d3ed8437b"/>
    <p:sldId xmlns:r="http://schemas.openxmlformats.org/officeDocument/2006/relationships" id="352" r:id="Rf131c2ea855b4c14"/>
    <p:sldId xmlns:r="http://schemas.openxmlformats.org/officeDocument/2006/relationships" id="353" r:id="R1412411188454f9e"/>
    <p:sldId xmlns:r="http://schemas.openxmlformats.org/officeDocument/2006/relationships" id="354" r:id="Rbdc8670f5e8c4335"/>
    <p:sldId xmlns:r="http://schemas.openxmlformats.org/officeDocument/2006/relationships" id="355" r:id="R4235b003212b44fa"/>
    <p:sldId xmlns:r="http://schemas.openxmlformats.org/officeDocument/2006/relationships" id="356" r:id="R16b2410b028a4387"/>
    <p:sldId xmlns:r="http://schemas.openxmlformats.org/officeDocument/2006/relationships" id="357" r:id="R5a66e58068d74244"/>
    <p:sldId xmlns:r="http://schemas.openxmlformats.org/officeDocument/2006/relationships" id="358" r:id="Raef2739863614223"/>
    <p:sldId xmlns:r="http://schemas.openxmlformats.org/officeDocument/2006/relationships" id="359" r:id="R461e3442b07b422a"/>
    <p:sldId xmlns:r="http://schemas.openxmlformats.org/officeDocument/2006/relationships" id="360" r:id="R2f1c9e740f8540fa"/>
    <p:sldId xmlns:r="http://schemas.openxmlformats.org/officeDocument/2006/relationships" id="361" r:id="R831ab22e52214a33"/>
    <p:sldId xmlns:r="http://schemas.openxmlformats.org/officeDocument/2006/relationships" id="362" r:id="Rab5e66bb8eb44b64"/>
    <p:sldId xmlns:r="http://schemas.openxmlformats.org/officeDocument/2006/relationships" id="363" r:id="Rae1638b7c7d34cdb"/>
    <p:sldId xmlns:r="http://schemas.openxmlformats.org/officeDocument/2006/relationships" id="364" r:id="Rb8334a2fc6154974"/>
    <p:sldId xmlns:r="http://schemas.openxmlformats.org/officeDocument/2006/relationships" id="365" r:id="R301f6e666d38471a"/>
    <p:sldId xmlns:r="http://schemas.openxmlformats.org/officeDocument/2006/relationships" id="366" r:id="R14b391e8ffc948a1"/>
    <p:sldId xmlns:r="http://schemas.openxmlformats.org/officeDocument/2006/relationships" id="367" r:id="Rd95754cf9f0d4e91"/>
    <p:sldId xmlns:r="http://schemas.openxmlformats.org/officeDocument/2006/relationships" id="368" r:id="R23db5aa834b343b8"/>
    <p:sldId xmlns:r="http://schemas.openxmlformats.org/officeDocument/2006/relationships" id="369" r:id="Rda754c5d49f64213"/>
    <p:sldId xmlns:r="http://schemas.openxmlformats.org/officeDocument/2006/relationships" id="370" r:id="Rf3bb87c6f5d34ac8"/>
    <p:sldId xmlns:r="http://schemas.openxmlformats.org/officeDocument/2006/relationships" id="371" r:id="Rac8a2202ce424c00"/>
    <p:sldId xmlns:r="http://schemas.openxmlformats.org/officeDocument/2006/relationships" id="372" r:id="Rf7417110d0084aa8"/>
    <p:sldId xmlns:r="http://schemas.openxmlformats.org/officeDocument/2006/relationships" id="373" r:id="R79834fdff7644c17"/>
    <p:sldId xmlns:r="http://schemas.openxmlformats.org/officeDocument/2006/relationships" id="374" r:id="R0d1655caa93b4517"/>
    <p:sldId xmlns:r="http://schemas.openxmlformats.org/officeDocument/2006/relationships" id="375" r:id="R60933f57bab74107"/>
    <p:sldId xmlns:r="http://schemas.openxmlformats.org/officeDocument/2006/relationships" id="376" r:id="Rdb8f2d24009d4232"/>
    <p:sldId xmlns:r="http://schemas.openxmlformats.org/officeDocument/2006/relationships" id="377" r:id="R895153e9d9944721"/>
    <p:sldId xmlns:r="http://schemas.openxmlformats.org/officeDocument/2006/relationships" id="378" r:id="R5df8695f2c9a4e45"/>
    <p:sldId xmlns:r="http://schemas.openxmlformats.org/officeDocument/2006/relationships" id="379" r:id="R6e21211170ce4195"/>
    <p:sldId xmlns:r="http://schemas.openxmlformats.org/officeDocument/2006/relationships" id="380" r:id="R905f2d1e419a4080"/>
    <p:sldId xmlns:r="http://schemas.openxmlformats.org/officeDocument/2006/relationships" id="381" r:id="Re246fb994d064aad"/>
    <p:sldId xmlns:r="http://schemas.openxmlformats.org/officeDocument/2006/relationships" id="382" r:id="Red01b6371f7746dc"/>
    <p:sldId xmlns:r="http://schemas.openxmlformats.org/officeDocument/2006/relationships" id="383" r:id="Rb0b4a5e2b46b41cb"/>
    <p:sldId xmlns:r="http://schemas.openxmlformats.org/officeDocument/2006/relationships" id="384" r:id="Rb40a9a738fa94b7a"/>
    <p:sldId xmlns:r="http://schemas.openxmlformats.org/officeDocument/2006/relationships" id="385" r:id="Rd9945c6ca75e4c4a"/>
    <p:sldId xmlns:r="http://schemas.openxmlformats.org/officeDocument/2006/relationships" id="386" r:id="R4e498da6ede14ff4"/>
    <p:sldId xmlns:r="http://schemas.openxmlformats.org/officeDocument/2006/relationships" id="387" r:id="Re5bd823481b447ff"/>
    <p:sldId xmlns:r="http://schemas.openxmlformats.org/officeDocument/2006/relationships" id="388" r:id="Rda19d70b25ac4607"/>
    <p:sldId xmlns:r="http://schemas.openxmlformats.org/officeDocument/2006/relationships" id="389" r:id="R74e0bd2e36c84c10"/>
    <p:sldId xmlns:r="http://schemas.openxmlformats.org/officeDocument/2006/relationships" id="390" r:id="Rda5e3132b56a468a"/>
    <p:sldId xmlns:r="http://schemas.openxmlformats.org/officeDocument/2006/relationships" id="391" r:id="R21ed707ad6684d48"/>
    <p:sldId xmlns:r="http://schemas.openxmlformats.org/officeDocument/2006/relationships" id="392" r:id="Re12b76ede17c44ba"/>
    <p:sldId xmlns:r="http://schemas.openxmlformats.org/officeDocument/2006/relationships" id="393" r:id="R92c2354f1a474137"/>
    <p:sldId xmlns:r="http://schemas.openxmlformats.org/officeDocument/2006/relationships" id="394" r:id="R41909f26f35e4749"/>
    <p:sldId xmlns:r="http://schemas.openxmlformats.org/officeDocument/2006/relationships" id="395" r:id="R1ada57c712ab4c59"/>
    <p:sldId xmlns:r="http://schemas.openxmlformats.org/officeDocument/2006/relationships" id="396" r:id="R8721416a2cc74102"/>
    <p:sldId xmlns:r="http://schemas.openxmlformats.org/officeDocument/2006/relationships" id="397" r:id="R45b8129027ae4e0d"/>
    <p:sldId xmlns:r="http://schemas.openxmlformats.org/officeDocument/2006/relationships" id="398" r:id="R8b2338fc892040a6"/>
    <p:sldId xmlns:r="http://schemas.openxmlformats.org/officeDocument/2006/relationships" id="399" r:id="R5e65fe3c8b604d3f"/>
    <p:sldId xmlns:r="http://schemas.openxmlformats.org/officeDocument/2006/relationships" id="400" r:id="R64a347afaa914764"/>
    <p:sldId xmlns:r="http://schemas.openxmlformats.org/officeDocument/2006/relationships" id="401" r:id="R361875beacd64000"/>
    <p:sldId xmlns:r="http://schemas.openxmlformats.org/officeDocument/2006/relationships" id="402" r:id="Rd055cec1640f409b"/>
    <p:sldId xmlns:r="http://schemas.openxmlformats.org/officeDocument/2006/relationships" id="403" r:id="R2485aa3af0e045dd"/>
    <p:sldId xmlns:r="http://schemas.openxmlformats.org/officeDocument/2006/relationships" id="404" r:id="R3ba2a908472e4d41"/>
    <p:sldId xmlns:r="http://schemas.openxmlformats.org/officeDocument/2006/relationships" id="405" r:id="R087c3aa4b3d24a26"/>
    <p:sldId xmlns:r="http://schemas.openxmlformats.org/officeDocument/2006/relationships" id="406" r:id="R92960508cbf248e0"/>
    <p:sldId xmlns:r="http://schemas.openxmlformats.org/officeDocument/2006/relationships" id="407" r:id="R062f469130f4431a"/>
    <p:sldId xmlns:r="http://schemas.openxmlformats.org/officeDocument/2006/relationships" id="408" r:id="R92c1afb3c2054286"/>
    <p:sldId xmlns:r="http://schemas.openxmlformats.org/officeDocument/2006/relationships" id="409" r:id="R25a902ce9bbb452d"/>
    <p:sldId xmlns:r="http://schemas.openxmlformats.org/officeDocument/2006/relationships" id="410" r:id="Re514e6f7dca24aee"/>
    <p:sldId xmlns:r="http://schemas.openxmlformats.org/officeDocument/2006/relationships" id="411" r:id="R0116cb2a07de455e"/>
    <p:sldId xmlns:r="http://schemas.openxmlformats.org/officeDocument/2006/relationships" id="412" r:id="R4d97911888ce40fc"/>
    <p:sldId xmlns:r="http://schemas.openxmlformats.org/officeDocument/2006/relationships" id="413" r:id="R4b873bf4c1b748d9"/>
    <p:sldId xmlns:r="http://schemas.openxmlformats.org/officeDocument/2006/relationships" id="414" r:id="Rfa327e696f514bd9"/>
    <p:sldId xmlns:r="http://schemas.openxmlformats.org/officeDocument/2006/relationships" id="415" r:id="R7010b433b87b45cd"/>
    <p:sldId xmlns:r="http://schemas.openxmlformats.org/officeDocument/2006/relationships" id="416" r:id="Rfc50a291ade04a3a"/>
    <p:sldId xmlns:r="http://schemas.openxmlformats.org/officeDocument/2006/relationships" id="417" r:id="Rb0520e66b4ba4824"/>
    <p:sldId xmlns:r="http://schemas.openxmlformats.org/officeDocument/2006/relationships" id="418" r:id="R1afddefb998f4919"/>
    <p:sldId xmlns:r="http://schemas.openxmlformats.org/officeDocument/2006/relationships" id="419" r:id="R398c9eac6d584884"/>
    <p:sldId xmlns:r="http://schemas.openxmlformats.org/officeDocument/2006/relationships" id="420" r:id="Rbba4817f61164b0e"/>
    <p:sldId xmlns:r="http://schemas.openxmlformats.org/officeDocument/2006/relationships" id="421" r:id="R5fc11fcb6d524205"/>
    <p:sldId xmlns:r="http://schemas.openxmlformats.org/officeDocument/2006/relationships" id="422" r:id="Redde52e7b20946e9"/>
    <p:sldId xmlns:r="http://schemas.openxmlformats.org/officeDocument/2006/relationships" id="423" r:id="R2ea1a1d385af4b94"/>
    <p:sldId xmlns:r="http://schemas.openxmlformats.org/officeDocument/2006/relationships" id="424" r:id="R6275d9c4cb4b4ec8"/>
    <p:sldId xmlns:r="http://schemas.openxmlformats.org/officeDocument/2006/relationships" id="425" r:id="R39fc090efde74e48"/>
    <p:sldId xmlns:r="http://schemas.openxmlformats.org/officeDocument/2006/relationships" id="426" r:id="Rc48c938fe9ac4cff"/>
    <p:sldId xmlns:r="http://schemas.openxmlformats.org/officeDocument/2006/relationships" id="427" r:id="R9470aa006cbd404b"/>
    <p:sldId xmlns:r="http://schemas.openxmlformats.org/officeDocument/2006/relationships" id="428" r:id="R5c3a7627d19b4c23"/>
    <p:sldId xmlns:r="http://schemas.openxmlformats.org/officeDocument/2006/relationships" id="429" r:id="R3ae54fbca75144e3"/>
    <p:sldId xmlns:r="http://schemas.openxmlformats.org/officeDocument/2006/relationships" id="430" r:id="R0afbb73b5cee455d"/>
    <p:sldId xmlns:r="http://schemas.openxmlformats.org/officeDocument/2006/relationships" id="431" r:id="R5c3556ffc51c48f9"/>
    <p:sldId xmlns:r="http://schemas.openxmlformats.org/officeDocument/2006/relationships" id="432" r:id="R17b8ed5390034da8"/>
    <p:sldId xmlns:r="http://schemas.openxmlformats.org/officeDocument/2006/relationships" id="433" r:id="R0211a8efbb7f4a86"/>
    <p:sldId xmlns:r="http://schemas.openxmlformats.org/officeDocument/2006/relationships" id="434" r:id="Raf2049a40bd44c11"/>
    <p:sldId xmlns:r="http://schemas.openxmlformats.org/officeDocument/2006/relationships" id="435" r:id="R31534c06143e4434"/>
    <p:sldId xmlns:r="http://schemas.openxmlformats.org/officeDocument/2006/relationships" id="436" r:id="R6807805570dc4be4"/>
    <p:sldId xmlns:r="http://schemas.openxmlformats.org/officeDocument/2006/relationships" id="437" r:id="Rf95c41f6ffef4d7e"/>
    <p:sldId xmlns:r="http://schemas.openxmlformats.org/officeDocument/2006/relationships" id="438" r:id="R92404735eb714c48"/>
    <p:sldId xmlns:r="http://schemas.openxmlformats.org/officeDocument/2006/relationships" id="439" r:id="R7b7e49f075d044e0"/>
    <p:sldId xmlns:r="http://schemas.openxmlformats.org/officeDocument/2006/relationships" id="440" r:id="R029cea1afa2e4e4e"/>
    <p:sldId xmlns:r="http://schemas.openxmlformats.org/officeDocument/2006/relationships" id="441" r:id="Ra7fb3d97556d4d22"/>
    <p:sldId xmlns:r="http://schemas.openxmlformats.org/officeDocument/2006/relationships" id="442" r:id="R85999d4c87274f05"/>
    <p:sldId xmlns:r="http://schemas.openxmlformats.org/officeDocument/2006/relationships" id="443" r:id="R0082484919ec4026"/>
    <p:sldId xmlns:r="http://schemas.openxmlformats.org/officeDocument/2006/relationships" id="444" r:id="R7ec8c168b1dc4d5e"/>
    <p:sldId xmlns:r="http://schemas.openxmlformats.org/officeDocument/2006/relationships" id="445" r:id="R1fa01e17056e4c34"/>
    <p:sldId xmlns:r="http://schemas.openxmlformats.org/officeDocument/2006/relationships" id="446" r:id="Rbcab4c4f89964a35"/>
    <p:sldId xmlns:r="http://schemas.openxmlformats.org/officeDocument/2006/relationships" id="447" r:id="R38ab490e76a44276"/>
    <p:sldId xmlns:r="http://schemas.openxmlformats.org/officeDocument/2006/relationships" id="448" r:id="Rd19b4dafca43432b"/>
    <p:sldId xmlns:r="http://schemas.openxmlformats.org/officeDocument/2006/relationships" id="449" r:id="Rf8014b66b09c469c"/>
    <p:sldId xmlns:r="http://schemas.openxmlformats.org/officeDocument/2006/relationships" id="450" r:id="R73b725554dfb487b"/>
    <p:sldId xmlns:r="http://schemas.openxmlformats.org/officeDocument/2006/relationships" id="451" r:id="R0ba940539913486f"/>
    <p:sldId xmlns:r="http://schemas.openxmlformats.org/officeDocument/2006/relationships" id="452" r:id="Ree2e1a27d79048a7"/>
    <p:sldId xmlns:r="http://schemas.openxmlformats.org/officeDocument/2006/relationships" id="453" r:id="Rda4547d8cfdb44f6"/>
    <p:sldId xmlns:r="http://schemas.openxmlformats.org/officeDocument/2006/relationships" id="454" r:id="R05df35f412a042eb"/>
    <p:sldId xmlns:r="http://schemas.openxmlformats.org/officeDocument/2006/relationships" id="455" r:id="R15e34a1e179d491f"/>
    <p:sldId xmlns:r="http://schemas.openxmlformats.org/officeDocument/2006/relationships" id="456" r:id="R7dc06f2679ac4e23"/>
    <p:sldId xmlns:r="http://schemas.openxmlformats.org/officeDocument/2006/relationships" id="457" r:id="Rded71e47c5ed4a44"/>
    <p:sldId xmlns:r="http://schemas.openxmlformats.org/officeDocument/2006/relationships" id="458" r:id="R0191fbe85f2540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2f8186dc00e4e13" /><Relationship Type="http://schemas.openxmlformats.org/officeDocument/2006/relationships/slideMaster" Target="/ppt/slideMasters/slideMaster1.xml" Id="Rdcc0d8a0ce314532" /><Relationship Type="http://schemas.openxmlformats.org/officeDocument/2006/relationships/notesMaster" Target="/ppt/notesMasters/notesMaster1.xml" Id="R0f7720b1905d42e8" /><Relationship Type="http://schemas.openxmlformats.org/officeDocument/2006/relationships/presProps" Target="/ppt/presProps.xml" Id="Rd814f830527a4fde" /><Relationship Type="http://schemas.openxmlformats.org/officeDocument/2006/relationships/tableStyles" Target="/ppt/tableStyles.xml" Id="R5d192742af594f6e" /><Relationship Type="http://schemas.openxmlformats.org/officeDocument/2006/relationships/slide" Target="/ppt/slides/slide1.xml" Id="R94b1fa3cb1a04c59" /><Relationship Type="http://schemas.openxmlformats.org/officeDocument/2006/relationships/slide" Target="/ppt/slides/slide2.xml" Id="Redcf26f736434503" /><Relationship Type="http://schemas.openxmlformats.org/officeDocument/2006/relationships/slide" Target="/ppt/slides/slide3.xml" Id="Rddcd48dea8544c3c" /><Relationship Type="http://schemas.openxmlformats.org/officeDocument/2006/relationships/slide" Target="/ppt/slides/slide4.xml" Id="R24d91bb4a709488f" /><Relationship Type="http://schemas.openxmlformats.org/officeDocument/2006/relationships/slide" Target="/ppt/slides/slide5.xml" Id="R8a0a5b791720410b" /><Relationship Type="http://schemas.openxmlformats.org/officeDocument/2006/relationships/slide" Target="/ppt/slides/slide6.xml" Id="R4f15d9beafda4821" /><Relationship Type="http://schemas.openxmlformats.org/officeDocument/2006/relationships/slide" Target="/ppt/slides/slide7.xml" Id="Rb95d86a3dc794de8" /><Relationship Type="http://schemas.openxmlformats.org/officeDocument/2006/relationships/slide" Target="/ppt/slides/slide8.xml" Id="Rcd4c32f3940543d2" /><Relationship Type="http://schemas.openxmlformats.org/officeDocument/2006/relationships/slide" Target="/ppt/slides/slide9.xml" Id="R460abcefaf4c4770" /><Relationship Type="http://schemas.openxmlformats.org/officeDocument/2006/relationships/slide" Target="/ppt/slides/slide10.xml" Id="Rce5916f3518a4d02" /><Relationship Type="http://schemas.openxmlformats.org/officeDocument/2006/relationships/slide" Target="/ppt/slides/slide11.xml" Id="Ra6385ed3867d4106" /><Relationship Type="http://schemas.openxmlformats.org/officeDocument/2006/relationships/slide" Target="/ppt/slides/slide12.xml" Id="R33fc295d15e9407e" /><Relationship Type="http://schemas.openxmlformats.org/officeDocument/2006/relationships/slide" Target="/ppt/slides/slide13.xml" Id="R759e29505df84396" /><Relationship Type="http://schemas.openxmlformats.org/officeDocument/2006/relationships/slide" Target="/ppt/slides/slide14.xml" Id="Re6e857a2fb344a96" /><Relationship Type="http://schemas.openxmlformats.org/officeDocument/2006/relationships/slide" Target="/ppt/slides/slide15.xml" Id="R31dd3f36b2da4230" /><Relationship Type="http://schemas.openxmlformats.org/officeDocument/2006/relationships/slide" Target="/ppt/slides/slide16.xml" Id="R8c6e3cc5a1ba4307" /><Relationship Type="http://schemas.openxmlformats.org/officeDocument/2006/relationships/slide" Target="/ppt/slides/slide17.xml" Id="R01ffaf31192c45e5" /><Relationship Type="http://schemas.openxmlformats.org/officeDocument/2006/relationships/slide" Target="/ppt/slides/slide18.xml" Id="R3a81d8d2cb1b4202" /><Relationship Type="http://schemas.openxmlformats.org/officeDocument/2006/relationships/slide" Target="/ppt/slides/slide19.xml" Id="R012580a8ddea45ec" /><Relationship Type="http://schemas.openxmlformats.org/officeDocument/2006/relationships/slide" Target="/ppt/slides/slide20.xml" Id="R32e16e3c76c04fdb" /><Relationship Type="http://schemas.openxmlformats.org/officeDocument/2006/relationships/slide" Target="/ppt/slides/slide21.xml" Id="Rce689f3f44d54b94" /><Relationship Type="http://schemas.openxmlformats.org/officeDocument/2006/relationships/slide" Target="/ppt/slides/slide22.xml" Id="R1ccdc9543b7f42fd" /><Relationship Type="http://schemas.openxmlformats.org/officeDocument/2006/relationships/slide" Target="/ppt/slides/slide23.xml" Id="Rfcb9674980f7473d" /><Relationship Type="http://schemas.openxmlformats.org/officeDocument/2006/relationships/slide" Target="/ppt/slides/slide24.xml" Id="R99472b3897bd49ea" /><Relationship Type="http://schemas.openxmlformats.org/officeDocument/2006/relationships/slide" Target="/ppt/slides/slide25.xml" Id="R6191641170a54f9c" /><Relationship Type="http://schemas.openxmlformats.org/officeDocument/2006/relationships/slide" Target="/ppt/slides/slide26.xml" Id="R74844c8a7e7c4896" /><Relationship Type="http://schemas.openxmlformats.org/officeDocument/2006/relationships/slide" Target="/ppt/slides/slide27.xml" Id="R2d159d75f7764435" /><Relationship Type="http://schemas.openxmlformats.org/officeDocument/2006/relationships/slide" Target="/ppt/slides/slide28.xml" Id="R9dbe2d87317c4e40" /><Relationship Type="http://schemas.openxmlformats.org/officeDocument/2006/relationships/slide" Target="/ppt/slides/slide29.xml" Id="R9be42e713e4f49c6" /><Relationship Type="http://schemas.openxmlformats.org/officeDocument/2006/relationships/slide" Target="/ppt/slides/slide30.xml" Id="R60140d03562e4250" /><Relationship Type="http://schemas.openxmlformats.org/officeDocument/2006/relationships/slide" Target="/ppt/slides/slide31.xml" Id="R6ee4cdecc3e34ed2" /><Relationship Type="http://schemas.openxmlformats.org/officeDocument/2006/relationships/slide" Target="/ppt/slides/slide32.xml" Id="R664d0feff06c4b1a" /><Relationship Type="http://schemas.openxmlformats.org/officeDocument/2006/relationships/slide" Target="/ppt/slides/slide33.xml" Id="Rd35375654f4c4902" /><Relationship Type="http://schemas.openxmlformats.org/officeDocument/2006/relationships/slide" Target="/ppt/slides/slide34.xml" Id="Ref0b7f4824614bd0" /><Relationship Type="http://schemas.openxmlformats.org/officeDocument/2006/relationships/slide" Target="/ppt/slides/slide35.xml" Id="R2f96903c8a7d4574" /><Relationship Type="http://schemas.openxmlformats.org/officeDocument/2006/relationships/slide" Target="/ppt/slides/slide36.xml" Id="R4ac78ce764a44230" /><Relationship Type="http://schemas.openxmlformats.org/officeDocument/2006/relationships/slide" Target="/ppt/slides/slide37.xml" Id="R16f2c6afddaa496e" /><Relationship Type="http://schemas.openxmlformats.org/officeDocument/2006/relationships/slide" Target="/ppt/slides/slide38.xml" Id="R7485195b5b6b47a2" /><Relationship Type="http://schemas.openxmlformats.org/officeDocument/2006/relationships/slide" Target="/ppt/slides/slide39.xml" Id="Rd89be8415d504b6a" /><Relationship Type="http://schemas.openxmlformats.org/officeDocument/2006/relationships/slide" Target="/ppt/slides/slide40.xml" Id="Rfa7953ebe7e04ccb" /><Relationship Type="http://schemas.openxmlformats.org/officeDocument/2006/relationships/slide" Target="/ppt/slides/slide41.xml" Id="R5a4427d542734868" /><Relationship Type="http://schemas.openxmlformats.org/officeDocument/2006/relationships/slide" Target="/ppt/slides/slide42.xml" Id="R6032ba6b34d643f0" /><Relationship Type="http://schemas.openxmlformats.org/officeDocument/2006/relationships/slide" Target="/ppt/slides/slide43.xml" Id="Rec3c2d70372342b6" /><Relationship Type="http://schemas.openxmlformats.org/officeDocument/2006/relationships/slide" Target="/ppt/slides/slide44.xml" Id="R160154e039eb4f9f" /><Relationship Type="http://schemas.openxmlformats.org/officeDocument/2006/relationships/slide" Target="/ppt/slides/slide45.xml" Id="R91d1ad2960c2438f" /><Relationship Type="http://schemas.openxmlformats.org/officeDocument/2006/relationships/slide" Target="/ppt/slides/slide46.xml" Id="R13f8f2f49de548cd" /><Relationship Type="http://schemas.openxmlformats.org/officeDocument/2006/relationships/slide" Target="/ppt/slides/slide47.xml" Id="R1cf0e80383f646ba" /><Relationship Type="http://schemas.openxmlformats.org/officeDocument/2006/relationships/slide" Target="/ppt/slides/slide48.xml" Id="Rfea64c62214e4484" /><Relationship Type="http://schemas.openxmlformats.org/officeDocument/2006/relationships/slide" Target="/ppt/slides/slide49.xml" Id="R34c91258b729450f" /><Relationship Type="http://schemas.openxmlformats.org/officeDocument/2006/relationships/slide" Target="/ppt/slides/slide50.xml" Id="R0cbbeaf363334995" /><Relationship Type="http://schemas.openxmlformats.org/officeDocument/2006/relationships/slide" Target="/ppt/slides/slide51.xml" Id="Rdbdb9355ef544d02" /><Relationship Type="http://schemas.openxmlformats.org/officeDocument/2006/relationships/slide" Target="/ppt/slides/slide52.xml" Id="R491a52472cbd4e24" /><Relationship Type="http://schemas.openxmlformats.org/officeDocument/2006/relationships/slide" Target="/ppt/slides/slide53.xml" Id="R5ef9e09e7cff45bd" /><Relationship Type="http://schemas.openxmlformats.org/officeDocument/2006/relationships/slide" Target="/ppt/slides/slide54.xml" Id="R462d2fdb1de74dc2" /><Relationship Type="http://schemas.openxmlformats.org/officeDocument/2006/relationships/slide" Target="/ppt/slides/slide55.xml" Id="R07e24ec36be44c9f" /><Relationship Type="http://schemas.openxmlformats.org/officeDocument/2006/relationships/slide" Target="/ppt/slides/slide56.xml" Id="R9b28a43f38c344fe" /><Relationship Type="http://schemas.openxmlformats.org/officeDocument/2006/relationships/slide" Target="/ppt/slides/slide57.xml" Id="R7556f02820e44fa3" /><Relationship Type="http://schemas.openxmlformats.org/officeDocument/2006/relationships/slide" Target="/ppt/slides/slide58.xml" Id="R9d4ecf917bc44fb8" /><Relationship Type="http://schemas.openxmlformats.org/officeDocument/2006/relationships/slide" Target="/ppt/slides/slide59.xml" Id="Rc2001cd089234ba2" /><Relationship Type="http://schemas.openxmlformats.org/officeDocument/2006/relationships/slide" Target="/ppt/slides/slide60.xml" Id="R608c7ca563a24d1d" /><Relationship Type="http://schemas.openxmlformats.org/officeDocument/2006/relationships/slide" Target="/ppt/slides/slide61.xml" Id="Ra718ca7f542a4955" /><Relationship Type="http://schemas.openxmlformats.org/officeDocument/2006/relationships/slide" Target="/ppt/slides/slide62.xml" Id="Re01c262df2b6411f" /><Relationship Type="http://schemas.openxmlformats.org/officeDocument/2006/relationships/slide" Target="/ppt/slides/slide63.xml" Id="R868c19065cd64607" /><Relationship Type="http://schemas.openxmlformats.org/officeDocument/2006/relationships/slide" Target="/ppt/slides/slide64.xml" Id="R11b20d88cfd1419c" /><Relationship Type="http://schemas.openxmlformats.org/officeDocument/2006/relationships/slide" Target="/ppt/slides/slide65.xml" Id="R188a8f77fe194ce8" /><Relationship Type="http://schemas.openxmlformats.org/officeDocument/2006/relationships/slide" Target="/ppt/slides/slide66.xml" Id="R7fe31cb8f9184894" /><Relationship Type="http://schemas.openxmlformats.org/officeDocument/2006/relationships/slide" Target="/ppt/slides/slide67.xml" Id="R1197a600bf6b4988" /><Relationship Type="http://schemas.openxmlformats.org/officeDocument/2006/relationships/slide" Target="/ppt/slides/slide68.xml" Id="R5da615e9cf2e4c1f" /><Relationship Type="http://schemas.openxmlformats.org/officeDocument/2006/relationships/slide" Target="/ppt/slides/slide69.xml" Id="R126e311dea444fbc" /><Relationship Type="http://schemas.openxmlformats.org/officeDocument/2006/relationships/slide" Target="/ppt/slides/slide70.xml" Id="Rb2fd5b4d7156456a" /><Relationship Type="http://schemas.openxmlformats.org/officeDocument/2006/relationships/slide" Target="/ppt/slides/slide71.xml" Id="Rc9cda6d04a9648f5" /><Relationship Type="http://schemas.openxmlformats.org/officeDocument/2006/relationships/slide" Target="/ppt/slides/slide72.xml" Id="R05054a4b9fb04cab" /><Relationship Type="http://schemas.openxmlformats.org/officeDocument/2006/relationships/slide" Target="/ppt/slides/slide73.xml" Id="R4d773125aaa141c5" /><Relationship Type="http://schemas.openxmlformats.org/officeDocument/2006/relationships/slide" Target="/ppt/slides/slide74.xml" Id="R8adc05bc9e73434e" /><Relationship Type="http://schemas.openxmlformats.org/officeDocument/2006/relationships/slide" Target="/ppt/slides/slide75.xml" Id="Ra341bd8780914b58" /><Relationship Type="http://schemas.openxmlformats.org/officeDocument/2006/relationships/slide" Target="/ppt/slides/slide76.xml" Id="Ra4890fa851734569" /><Relationship Type="http://schemas.openxmlformats.org/officeDocument/2006/relationships/slide" Target="/ppt/slides/slide77.xml" Id="R6186680c91564171" /><Relationship Type="http://schemas.openxmlformats.org/officeDocument/2006/relationships/slide" Target="/ppt/slides/slide78.xml" Id="Recea90fb4e4b4849" /><Relationship Type="http://schemas.openxmlformats.org/officeDocument/2006/relationships/slide" Target="/ppt/slides/slide79.xml" Id="R979f8561f857494a" /><Relationship Type="http://schemas.openxmlformats.org/officeDocument/2006/relationships/slide" Target="/ppt/slides/slide80.xml" Id="R64eeb3f861b34b08" /><Relationship Type="http://schemas.openxmlformats.org/officeDocument/2006/relationships/slide" Target="/ppt/slides/slide81.xml" Id="R58939e6442c74070" /><Relationship Type="http://schemas.openxmlformats.org/officeDocument/2006/relationships/slide" Target="/ppt/slides/slide82.xml" Id="Rf894e2082ba64b6e" /><Relationship Type="http://schemas.openxmlformats.org/officeDocument/2006/relationships/slide" Target="/ppt/slides/slide83.xml" Id="Rcfa4789d02224bce" /><Relationship Type="http://schemas.openxmlformats.org/officeDocument/2006/relationships/slide" Target="/ppt/slides/slide84.xml" Id="R38a50de4687b4925" /><Relationship Type="http://schemas.openxmlformats.org/officeDocument/2006/relationships/slide" Target="/ppt/slides/slide85.xml" Id="R278868bfdc8445c2" /><Relationship Type="http://schemas.openxmlformats.org/officeDocument/2006/relationships/slide" Target="/ppt/slides/slide86.xml" Id="Rb49ecdd3fcc343be" /><Relationship Type="http://schemas.openxmlformats.org/officeDocument/2006/relationships/slide" Target="/ppt/slides/slide87.xml" Id="R2375096c82094eff" /><Relationship Type="http://schemas.openxmlformats.org/officeDocument/2006/relationships/slide" Target="/ppt/slides/slide88.xml" Id="Rcbae3cdf235749d7" /><Relationship Type="http://schemas.openxmlformats.org/officeDocument/2006/relationships/slide" Target="/ppt/slides/slide89.xml" Id="R005fdc03d5414634" /><Relationship Type="http://schemas.openxmlformats.org/officeDocument/2006/relationships/slide" Target="/ppt/slides/slide90.xml" Id="R7c60bf73ef264a7b" /><Relationship Type="http://schemas.openxmlformats.org/officeDocument/2006/relationships/slide" Target="/ppt/slides/slide91.xml" Id="R4834c64c94dd4333" /><Relationship Type="http://schemas.openxmlformats.org/officeDocument/2006/relationships/slide" Target="/ppt/slides/slide92.xml" Id="R5f9bb5e7cef34130" /><Relationship Type="http://schemas.openxmlformats.org/officeDocument/2006/relationships/slide" Target="/ppt/slides/slide93.xml" Id="R73e7d02e9ba94a9e" /><Relationship Type="http://schemas.openxmlformats.org/officeDocument/2006/relationships/slide" Target="/ppt/slides/slide94.xml" Id="Rabf423f0f1614a13" /><Relationship Type="http://schemas.openxmlformats.org/officeDocument/2006/relationships/slide" Target="/ppt/slides/slide95.xml" Id="Rd958a305d7b745ea" /><Relationship Type="http://schemas.openxmlformats.org/officeDocument/2006/relationships/slide" Target="/ppt/slides/slide96.xml" Id="R5b7d467d3ed8437b" /><Relationship Type="http://schemas.openxmlformats.org/officeDocument/2006/relationships/slide" Target="/ppt/slides/slide97.xml" Id="Rf131c2ea855b4c14" /><Relationship Type="http://schemas.openxmlformats.org/officeDocument/2006/relationships/slide" Target="/ppt/slides/slide98.xml" Id="R1412411188454f9e" /><Relationship Type="http://schemas.openxmlformats.org/officeDocument/2006/relationships/slide" Target="/ppt/slides/slide99.xml" Id="Rbdc8670f5e8c4335" /><Relationship Type="http://schemas.openxmlformats.org/officeDocument/2006/relationships/slide" Target="/ppt/slides/slide100.xml" Id="R4235b003212b44fa" /><Relationship Type="http://schemas.openxmlformats.org/officeDocument/2006/relationships/slide" Target="/ppt/slides/slide101.xml" Id="R16b2410b028a4387" /><Relationship Type="http://schemas.openxmlformats.org/officeDocument/2006/relationships/slide" Target="/ppt/slides/slide102.xml" Id="R5a66e58068d74244" /><Relationship Type="http://schemas.openxmlformats.org/officeDocument/2006/relationships/slide" Target="/ppt/slides/slide103.xml" Id="Raef2739863614223" /><Relationship Type="http://schemas.openxmlformats.org/officeDocument/2006/relationships/slide" Target="/ppt/slides/slide104.xml" Id="R461e3442b07b422a" /><Relationship Type="http://schemas.openxmlformats.org/officeDocument/2006/relationships/slide" Target="/ppt/slides/slide105.xml" Id="R2f1c9e740f8540fa" /><Relationship Type="http://schemas.openxmlformats.org/officeDocument/2006/relationships/slide" Target="/ppt/slides/slide106.xml" Id="R831ab22e52214a33" /><Relationship Type="http://schemas.openxmlformats.org/officeDocument/2006/relationships/slide" Target="/ppt/slides/slide107.xml" Id="Rab5e66bb8eb44b64" /><Relationship Type="http://schemas.openxmlformats.org/officeDocument/2006/relationships/slide" Target="/ppt/slides/slide108.xml" Id="Rae1638b7c7d34cdb" /><Relationship Type="http://schemas.openxmlformats.org/officeDocument/2006/relationships/slide" Target="/ppt/slides/slide109.xml" Id="Rb8334a2fc6154974" /><Relationship Type="http://schemas.openxmlformats.org/officeDocument/2006/relationships/slide" Target="/ppt/slides/slide110.xml" Id="R301f6e666d38471a" /><Relationship Type="http://schemas.openxmlformats.org/officeDocument/2006/relationships/slide" Target="/ppt/slides/slide111.xml" Id="R14b391e8ffc948a1" /><Relationship Type="http://schemas.openxmlformats.org/officeDocument/2006/relationships/slide" Target="/ppt/slides/slide112.xml" Id="Rd95754cf9f0d4e91" /><Relationship Type="http://schemas.openxmlformats.org/officeDocument/2006/relationships/slide" Target="/ppt/slides/slide113.xml" Id="R23db5aa834b343b8" /><Relationship Type="http://schemas.openxmlformats.org/officeDocument/2006/relationships/slide" Target="/ppt/slides/slide114.xml" Id="Rda754c5d49f64213" /><Relationship Type="http://schemas.openxmlformats.org/officeDocument/2006/relationships/slide" Target="/ppt/slides/slide115.xml" Id="Rf3bb87c6f5d34ac8" /><Relationship Type="http://schemas.openxmlformats.org/officeDocument/2006/relationships/slide" Target="/ppt/slides/slide116.xml" Id="Rac8a2202ce424c00" /><Relationship Type="http://schemas.openxmlformats.org/officeDocument/2006/relationships/slide" Target="/ppt/slides/slide117.xml" Id="Rf7417110d0084aa8" /><Relationship Type="http://schemas.openxmlformats.org/officeDocument/2006/relationships/slide" Target="/ppt/slides/slide118.xml" Id="R79834fdff7644c17" /><Relationship Type="http://schemas.openxmlformats.org/officeDocument/2006/relationships/slide" Target="/ppt/slides/slide119.xml" Id="R0d1655caa93b4517" /><Relationship Type="http://schemas.openxmlformats.org/officeDocument/2006/relationships/slide" Target="/ppt/slides/slide120.xml" Id="R60933f57bab74107" /><Relationship Type="http://schemas.openxmlformats.org/officeDocument/2006/relationships/slide" Target="/ppt/slides/slide121.xml" Id="Rdb8f2d24009d4232" /><Relationship Type="http://schemas.openxmlformats.org/officeDocument/2006/relationships/slide" Target="/ppt/slides/slide122.xml" Id="R895153e9d9944721" /><Relationship Type="http://schemas.openxmlformats.org/officeDocument/2006/relationships/slide" Target="/ppt/slides/slide123.xml" Id="R5df8695f2c9a4e45" /><Relationship Type="http://schemas.openxmlformats.org/officeDocument/2006/relationships/slide" Target="/ppt/slides/slide124.xml" Id="R6e21211170ce4195" /><Relationship Type="http://schemas.openxmlformats.org/officeDocument/2006/relationships/slide" Target="/ppt/slides/slide125.xml" Id="R905f2d1e419a4080" /><Relationship Type="http://schemas.openxmlformats.org/officeDocument/2006/relationships/slide" Target="/ppt/slides/slide126.xml" Id="Re246fb994d064aad" /><Relationship Type="http://schemas.openxmlformats.org/officeDocument/2006/relationships/slide" Target="/ppt/slides/slide127.xml" Id="Red01b6371f7746dc" /><Relationship Type="http://schemas.openxmlformats.org/officeDocument/2006/relationships/slide" Target="/ppt/slides/slide128.xml" Id="Rb0b4a5e2b46b41cb" /><Relationship Type="http://schemas.openxmlformats.org/officeDocument/2006/relationships/slide" Target="/ppt/slides/slide129.xml" Id="Rb40a9a738fa94b7a" /><Relationship Type="http://schemas.openxmlformats.org/officeDocument/2006/relationships/slide" Target="/ppt/slides/slide130.xml" Id="Rd9945c6ca75e4c4a" /><Relationship Type="http://schemas.openxmlformats.org/officeDocument/2006/relationships/slide" Target="/ppt/slides/slide131.xml" Id="R4e498da6ede14ff4" /><Relationship Type="http://schemas.openxmlformats.org/officeDocument/2006/relationships/slide" Target="/ppt/slides/slide132.xml" Id="Re5bd823481b447ff" /><Relationship Type="http://schemas.openxmlformats.org/officeDocument/2006/relationships/slide" Target="/ppt/slides/slide133.xml" Id="Rda19d70b25ac4607" /><Relationship Type="http://schemas.openxmlformats.org/officeDocument/2006/relationships/slide" Target="/ppt/slides/slide134.xml" Id="R74e0bd2e36c84c10" /><Relationship Type="http://schemas.openxmlformats.org/officeDocument/2006/relationships/slide" Target="/ppt/slides/slide135.xml" Id="Rda5e3132b56a468a" /><Relationship Type="http://schemas.openxmlformats.org/officeDocument/2006/relationships/slide" Target="/ppt/slides/slide136.xml" Id="R21ed707ad6684d48" /><Relationship Type="http://schemas.openxmlformats.org/officeDocument/2006/relationships/slide" Target="/ppt/slides/slide137.xml" Id="Re12b76ede17c44ba" /><Relationship Type="http://schemas.openxmlformats.org/officeDocument/2006/relationships/slide" Target="/ppt/slides/slide138.xml" Id="R92c2354f1a474137" /><Relationship Type="http://schemas.openxmlformats.org/officeDocument/2006/relationships/slide" Target="/ppt/slides/slide139.xml" Id="R41909f26f35e4749" /><Relationship Type="http://schemas.openxmlformats.org/officeDocument/2006/relationships/slide" Target="/ppt/slides/slide140.xml" Id="R1ada57c712ab4c59" /><Relationship Type="http://schemas.openxmlformats.org/officeDocument/2006/relationships/slide" Target="/ppt/slides/slide141.xml" Id="R8721416a2cc74102" /><Relationship Type="http://schemas.openxmlformats.org/officeDocument/2006/relationships/slide" Target="/ppt/slides/slide142.xml" Id="R45b8129027ae4e0d" /><Relationship Type="http://schemas.openxmlformats.org/officeDocument/2006/relationships/slide" Target="/ppt/slides/slide143.xml" Id="R8b2338fc892040a6" /><Relationship Type="http://schemas.openxmlformats.org/officeDocument/2006/relationships/slide" Target="/ppt/slides/slide144.xml" Id="R5e65fe3c8b604d3f" /><Relationship Type="http://schemas.openxmlformats.org/officeDocument/2006/relationships/slide" Target="/ppt/slides/slide145.xml" Id="R64a347afaa914764" /><Relationship Type="http://schemas.openxmlformats.org/officeDocument/2006/relationships/slide" Target="/ppt/slides/slide146.xml" Id="R361875beacd64000" /><Relationship Type="http://schemas.openxmlformats.org/officeDocument/2006/relationships/slide" Target="/ppt/slides/slide147.xml" Id="Rd055cec1640f409b" /><Relationship Type="http://schemas.openxmlformats.org/officeDocument/2006/relationships/slide" Target="/ppt/slides/slide148.xml" Id="R2485aa3af0e045dd" /><Relationship Type="http://schemas.openxmlformats.org/officeDocument/2006/relationships/slide" Target="/ppt/slides/slide149.xml" Id="R3ba2a908472e4d41" /><Relationship Type="http://schemas.openxmlformats.org/officeDocument/2006/relationships/slide" Target="/ppt/slides/slide150.xml" Id="R087c3aa4b3d24a26" /><Relationship Type="http://schemas.openxmlformats.org/officeDocument/2006/relationships/slide" Target="/ppt/slides/slide151.xml" Id="R92960508cbf248e0" /><Relationship Type="http://schemas.openxmlformats.org/officeDocument/2006/relationships/slide" Target="/ppt/slides/slide152.xml" Id="R062f469130f4431a" /><Relationship Type="http://schemas.openxmlformats.org/officeDocument/2006/relationships/slide" Target="/ppt/slides/slide153.xml" Id="R92c1afb3c2054286" /><Relationship Type="http://schemas.openxmlformats.org/officeDocument/2006/relationships/slide" Target="/ppt/slides/slide154.xml" Id="R25a902ce9bbb452d" /><Relationship Type="http://schemas.openxmlformats.org/officeDocument/2006/relationships/slide" Target="/ppt/slides/slide155.xml" Id="Re514e6f7dca24aee" /><Relationship Type="http://schemas.openxmlformats.org/officeDocument/2006/relationships/slide" Target="/ppt/slides/slide156.xml" Id="R0116cb2a07de455e" /><Relationship Type="http://schemas.openxmlformats.org/officeDocument/2006/relationships/slide" Target="/ppt/slides/slide157.xml" Id="R4d97911888ce40fc" /><Relationship Type="http://schemas.openxmlformats.org/officeDocument/2006/relationships/slide" Target="/ppt/slides/slide158.xml" Id="R4b873bf4c1b748d9" /><Relationship Type="http://schemas.openxmlformats.org/officeDocument/2006/relationships/slide" Target="/ppt/slides/slide159.xml" Id="Rfa327e696f514bd9" /><Relationship Type="http://schemas.openxmlformats.org/officeDocument/2006/relationships/slide" Target="/ppt/slides/slide160.xml" Id="R7010b433b87b45cd" /><Relationship Type="http://schemas.openxmlformats.org/officeDocument/2006/relationships/slide" Target="/ppt/slides/slide161.xml" Id="Rfc50a291ade04a3a" /><Relationship Type="http://schemas.openxmlformats.org/officeDocument/2006/relationships/slide" Target="/ppt/slides/slide162.xml" Id="Rb0520e66b4ba4824" /><Relationship Type="http://schemas.openxmlformats.org/officeDocument/2006/relationships/slide" Target="/ppt/slides/slide163.xml" Id="R1afddefb998f4919" /><Relationship Type="http://schemas.openxmlformats.org/officeDocument/2006/relationships/slide" Target="/ppt/slides/slide164.xml" Id="R398c9eac6d584884" /><Relationship Type="http://schemas.openxmlformats.org/officeDocument/2006/relationships/slide" Target="/ppt/slides/slide165.xml" Id="Rbba4817f61164b0e" /><Relationship Type="http://schemas.openxmlformats.org/officeDocument/2006/relationships/slide" Target="/ppt/slides/slide166.xml" Id="R5fc11fcb6d524205" /><Relationship Type="http://schemas.openxmlformats.org/officeDocument/2006/relationships/slide" Target="/ppt/slides/slide167.xml" Id="Redde52e7b20946e9" /><Relationship Type="http://schemas.openxmlformats.org/officeDocument/2006/relationships/slide" Target="/ppt/slides/slide168.xml" Id="R2ea1a1d385af4b94" /><Relationship Type="http://schemas.openxmlformats.org/officeDocument/2006/relationships/slide" Target="/ppt/slides/slide169.xml" Id="R6275d9c4cb4b4ec8" /><Relationship Type="http://schemas.openxmlformats.org/officeDocument/2006/relationships/slide" Target="/ppt/slides/slide170.xml" Id="R39fc090efde74e48" /><Relationship Type="http://schemas.openxmlformats.org/officeDocument/2006/relationships/slide" Target="/ppt/slides/slide171.xml" Id="Rc48c938fe9ac4cff" /><Relationship Type="http://schemas.openxmlformats.org/officeDocument/2006/relationships/slide" Target="/ppt/slides/slide172.xml" Id="R9470aa006cbd404b" /><Relationship Type="http://schemas.openxmlformats.org/officeDocument/2006/relationships/slide" Target="/ppt/slides/slide173.xml" Id="R5c3a7627d19b4c23" /><Relationship Type="http://schemas.openxmlformats.org/officeDocument/2006/relationships/slide" Target="/ppt/slides/slide174.xml" Id="R3ae54fbca75144e3" /><Relationship Type="http://schemas.openxmlformats.org/officeDocument/2006/relationships/slide" Target="/ppt/slides/slide175.xml" Id="R0afbb73b5cee455d" /><Relationship Type="http://schemas.openxmlformats.org/officeDocument/2006/relationships/slide" Target="/ppt/slides/slide176.xml" Id="R5c3556ffc51c48f9" /><Relationship Type="http://schemas.openxmlformats.org/officeDocument/2006/relationships/slide" Target="/ppt/slides/slide177.xml" Id="R17b8ed5390034da8" /><Relationship Type="http://schemas.openxmlformats.org/officeDocument/2006/relationships/slide" Target="/ppt/slides/slide178.xml" Id="R0211a8efbb7f4a86" /><Relationship Type="http://schemas.openxmlformats.org/officeDocument/2006/relationships/slide" Target="/ppt/slides/slide179.xml" Id="Raf2049a40bd44c11" /><Relationship Type="http://schemas.openxmlformats.org/officeDocument/2006/relationships/slide" Target="/ppt/slides/slide180.xml" Id="R31534c06143e4434" /><Relationship Type="http://schemas.openxmlformats.org/officeDocument/2006/relationships/slide" Target="/ppt/slides/slide181.xml" Id="R6807805570dc4be4" /><Relationship Type="http://schemas.openxmlformats.org/officeDocument/2006/relationships/slide" Target="/ppt/slides/slide182.xml" Id="Rf95c41f6ffef4d7e" /><Relationship Type="http://schemas.openxmlformats.org/officeDocument/2006/relationships/slide" Target="/ppt/slides/slide183.xml" Id="R92404735eb714c48" /><Relationship Type="http://schemas.openxmlformats.org/officeDocument/2006/relationships/slide" Target="/ppt/slides/slide184.xml" Id="R7b7e49f075d044e0" /><Relationship Type="http://schemas.openxmlformats.org/officeDocument/2006/relationships/slide" Target="/ppt/slides/slide185.xml" Id="R029cea1afa2e4e4e" /><Relationship Type="http://schemas.openxmlformats.org/officeDocument/2006/relationships/slide" Target="/ppt/slides/slide186.xml" Id="Ra7fb3d97556d4d22" /><Relationship Type="http://schemas.openxmlformats.org/officeDocument/2006/relationships/slide" Target="/ppt/slides/slide187.xml" Id="R85999d4c87274f05" /><Relationship Type="http://schemas.openxmlformats.org/officeDocument/2006/relationships/slide" Target="/ppt/slides/slide188.xml" Id="R0082484919ec4026" /><Relationship Type="http://schemas.openxmlformats.org/officeDocument/2006/relationships/slide" Target="/ppt/slides/slide189.xml" Id="R7ec8c168b1dc4d5e" /><Relationship Type="http://schemas.openxmlformats.org/officeDocument/2006/relationships/slide" Target="/ppt/slides/slide190.xml" Id="R1fa01e17056e4c34" /><Relationship Type="http://schemas.openxmlformats.org/officeDocument/2006/relationships/slide" Target="/ppt/slides/slide191.xml" Id="Rbcab4c4f89964a35" /><Relationship Type="http://schemas.openxmlformats.org/officeDocument/2006/relationships/slide" Target="/ppt/slides/slide192.xml" Id="R38ab490e76a44276" /><Relationship Type="http://schemas.openxmlformats.org/officeDocument/2006/relationships/slide" Target="/ppt/slides/slide193.xml" Id="Rd19b4dafca43432b" /><Relationship Type="http://schemas.openxmlformats.org/officeDocument/2006/relationships/slide" Target="/ppt/slides/slide194.xml" Id="Rf8014b66b09c469c" /><Relationship Type="http://schemas.openxmlformats.org/officeDocument/2006/relationships/slide" Target="/ppt/slides/slide195.xml" Id="R73b725554dfb487b" /><Relationship Type="http://schemas.openxmlformats.org/officeDocument/2006/relationships/slide" Target="/ppt/slides/slide196.xml" Id="R0ba940539913486f" /><Relationship Type="http://schemas.openxmlformats.org/officeDocument/2006/relationships/slide" Target="/ppt/slides/slide197.xml" Id="Ree2e1a27d79048a7" /><Relationship Type="http://schemas.openxmlformats.org/officeDocument/2006/relationships/slide" Target="/ppt/slides/slide198.xml" Id="Rda4547d8cfdb44f6" /><Relationship Type="http://schemas.openxmlformats.org/officeDocument/2006/relationships/slide" Target="/ppt/slides/slide199.xml" Id="R05df35f412a042eb" /><Relationship Type="http://schemas.openxmlformats.org/officeDocument/2006/relationships/slide" Target="/ppt/slides/slide200.xml" Id="R15e34a1e179d491f" /><Relationship Type="http://schemas.openxmlformats.org/officeDocument/2006/relationships/slide" Target="/ppt/slides/slide201.xml" Id="R7dc06f2679ac4e23" /><Relationship Type="http://schemas.openxmlformats.org/officeDocument/2006/relationships/slide" Target="/ppt/slides/slide202.xml" Id="Rded71e47c5ed4a44" /><Relationship Type="http://schemas.openxmlformats.org/officeDocument/2006/relationships/slide" Target="/ppt/slides/slide203.xml" Id="R0191fbe85f2540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28d61faed947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0bfd9f78194333" /><Relationship Type="http://schemas.openxmlformats.org/officeDocument/2006/relationships/notesMaster" Target="/ppt/notesMasters/notesMaster1.xml" Id="R31586bba1bc44b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018253c606409b" /><Relationship Type="http://schemas.openxmlformats.org/officeDocument/2006/relationships/notesMaster" Target="/ppt/notesMasters/notesMaster1.xml" Id="Rca481470b69047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def17175f34ffd" /><Relationship Type="http://schemas.openxmlformats.org/officeDocument/2006/relationships/notesMaster" Target="/ppt/notesMasters/notesMaster1.xml" Id="R0cad0ff9ba264e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fa20ba399f647a7" /><Relationship Type="http://schemas.openxmlformats.org/officeDocument/2006/relationships/notesMaster" Target="/ppt/notesMasters/notesMaster1.xml" Id="R4106e5f14e564d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3587a7025140f9" /><Relationship Type="http://schemas.openxmlformats.org/officeDocument/2006/relationships/notesMaster" Target="/ppt/notesMasters/notesMaster1.xml" Id="R4f3a8020e7bb4f9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eec814204c1400a" /><Relationship Type="http://schemas.openxmlformats.org/officeDocument/2006/relationships/notesMaster" Target="/ppt/notesMasters/notesMaster1.xml" Id="Rc876e04c73324c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2c675866fc214995" /><Relationship Type="http://schemas.openxmlformats.org/officeDocument/2006/relationships/notesMaster" Target="/ppt/notesMasters/notesMaster1.xml" Id="Re9c18a98573340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6a93c95f09426c" /><Relationship Type="http://schemas.openxmlformats.org/officeDocument/2006/relationships/notesMaster" Target="/ppt/notesMasters/notesMaster1.xml" Id="Rf99c5adcc39148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663d936059d48d8" /><Relationship Type="http://schemas.openxmlformats.org/officeDocument/2006/relationships/notesMaster" Target="/ppt/notesMasters/notesMaster1.xml" Id="Rd69d5aeb63cd409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10d90e8fd474e21" /><Relationship Type="http://schemas.openxmlformats.org/officeDocument/2006/relationships/notesMaster" Target="/ppt/notesMasters/notesMaster1.xml" Id="Ra061135b49004f8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24c5836308a4001" /><Relationship Type="http://schemas.openxmlformats.org/officeDocument/2006/relationships/notesMaster" Target="/ppt/notesMasters/notesMaster1.xml" Id="Rd5454cc0ef78496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55a2afa6f704d01" /><Relationship Type="http://schemas.openxmlformats.org/officeDocument/2006/relationships/notesMaster" Target="/ppt/notesMasters/notesMaster1.xml" Id="R9537bcad3cdc490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2bd32c2459944f6" /><Relationship Type="http://schemas.openxmlformats.org/officeDocument/2006/relationships/notesMaster" Target="/ppt/notesMasters/notesMaster1.xml" Id="Re7eff175bf4849a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9623ed795db477c" /><Relationship Type="http://schemas.openxmlformats.org/officeDocument/2006/relationships/notesMaster" Target="/ppt/notesMasters/notesMaster1.xml" Id="Rfe9f491f0f0b4a6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740b27624aa4151" /><Relationship Type="http://schemas.openxmlformats.org/officeDocument/2006/relationships/notesMaster" Target="/ppt/notesMasters/notesMaster1.xml" Id="R2eba881e0a6e42d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0159f2ba8954d5c" /><Relationship Type="http://schemas.openxmlformats.org/officeDocument/2006/relationships/notesMaster" Target="/ppt/notesMasters/notesMaster1.xml" Id="R60a971ee3b084a7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6a87ffd0cf94286" /><Relationship Type="http://schemas.openxmlformats.org/officeDocument/2006/relationships/notesMaster" Target="/ppt/notesMasters/notesMaster1.xml" Id="R528bdc621be044c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0b8586a6a5448a4" /><Relationship Type="http://schemas.openxmlformats.org/officeDocument/2006/relationships/notesMaster" Target="/ppt/notesMasters/notesMaster1.xml" Id="R631976d2a3bb4f7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805dbe44a82401e" /><Relationship Type="http://schemas.openxmlformats.org/officeDocument/2006/relationships/notesMaster" Target="/ppt/notesMasters/notesMaster1.xml" Id="R718386bce3d4486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6c93b64da5d4e10" /><Relationship Type="http://schemas.openxmlformats.org/officeDocument/2006/relationships/notesMaster" Target="/ppt/notesMasters/notesMaster1.xml" Id="Rce029e9d991243a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18e522d30ae4695" /><Relationship Type="http://schemas.openxmlformats.org/officeDocument/2006/relationships/notesMaster" Target="/ppt/notesMasters/notesMaster1.xml" Id="Rd55ba6db476c484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680c00c87b64fa0" /><Relationship Type="http://schemas.openxmlformats.org/officeDocument/2006/relationships/notesMaster" Target="/ppt/notesMasters/notesMaster1.xml" Id="Rdcb05b5ef0e7429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f26fcc889b0494f" /><Relationship Type="http://schemas.openxmlformats.org/officeDocument/2006/relationships/notesMaster" Target="/ppt/notesMasters/notesMaster1.xml" Id="R2df832e4eaaf41b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dc3c21beaf94516" /><Relationship Type="http://schemas.openxmlformats.org/officeDocument/2006/relationships/notesMaster" Target="/ppt/notesMasters/notesMaster1.xml" Id="R7edfc6d3957e45d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7b99a1d6cff4cfd" /><Relationship Type="http://schemas.openxmlformats.org/officeDocument/2006/relationships/notesMaster" Target="/ppt/notesMasters/notesMaster1.xml" Id="R3df91d82a204438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3587dac9ed6437b" /><Relationship Type="http://schemas.openxmlformats.org/officeDocument/2006/relationships/notesMaster" Target="/ppt/notesMasters/notesMaster1.xml" Id="Rd78b4c130dba47a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586ac4830544900" /><Relationship Type="http://schemas.openxmlformats.org/officeDocument/2006/relationships/notesMaster" Target="/ppt/notesMasters/notesMaster1.xml" Id="R96669cd61a2144b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2fbadf86efd432d" /><Relationship Type="http://schemas.openxmlformats.org/officeDocument/2006/relationships/notesMaster" Target="/ppt/notesMasters/notesMaster1.xml" Id="R782292ef75c74a2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08476243b084d82" /><Relationship Type="http://schemas.openxmlformats.org/officeDocument/2006/relationships/notesMaster" Target="/ppt/notesMasters/notesMaster1.xml" Id="R398768a2dbb8405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04872fff71c4a2e" /><Relationship Type="http://schemas.openxmlformats.org/officeDocument/2006/relationships/notesMaster" Target="/ppt/notesMasters/notesMaster1.xml" Id="R27bcede73e634bc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19e501dfc5f4ecd" /><Relationship Type="http://schemas.openxmlformats.org/officeDocument/2006/relationships/notesMaster" Target="/ppt/notesMasters/notesMaster1.xml" Id="R63ec5a3e126f4f5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3068dc4b590428b" /><Relationship Type="http://schemas.openxmlformats.org/officeDocument/2006/relationships/notesMaster" Target="/ppt/notesMasters/notesMaster1.xml" Id="R3c00b0df4a70499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5f97e344ffd4c3b" /><Relationship Type="http://schemas.openxmlformats.org/officeDocument/2006/relationships/notesMaster" Target="/ppt/notesMasters/notesMaster1.xml" Id="R81137c1b133843d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d28a9d94a424e9c" /><Relationship Type="http://schemas.openxmlformats.org/officeDocument/2006/relationships/notesMaster" Target="/ppt/notesMasters/notesMaster1.xml" Id="R9170904c6e3540a3"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a86a045cf0b4728" /><Relationship Type="http://schemas.openxmlformats.org/officeDocument/2006/relationships/notesMaster" Target="/ppt/notesMasters/notesMaster1.xml" Id="Rbfce5a2a2fdb44b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bf1c0f463eb4a46" /><Relationship Type="http://schemas.openxmlformats.org/officeDocument/2006/relationships/notesMaster" Target="/ppt/notesMasters/notesMaster1.xml" Id="R396301a627f945a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5c8af163a494ea5" /><Relationship Type="http://schemas.openxmlformats.org/officeDocument/2006/relationships/notesMaster" Target="/ppt/notesMasters/notesMaster1.xml" Id="Rb448dab48356422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727e8a3824349d2" /><Relationship Type="http://schemas.openxmlformats.org/officeDocument/2006/relationships/notesMaster" Target="/ppt/notesMasters/notesMaster1.xml" Id="R89b642b9d05f434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5850bd806994db5" /><Relationship Type="http://schemas.openxmlformats.org/officeDocument/2006/relationships/notesMaster" Target="/ppt/notesMasters/notesMaster1.xml" Id="Rb5950bcfd5f8407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e563caef96c4e4a" /><Relationship Type="http://schemas.openxmlformats.org/officeDocument/2006/relationships/notesMaster" Target="/ppt/notesMasters/notesMaster1.xml" Id="R12d34c7a616b486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9a7b7127c5a542d7" /><Relationship Type="http://schemas.openxmlformats.org/officeDocument/2006/relationships/notesMaster" Target="/ppt/notesMasters/notesMaster1.xml" Id="R6625b053aef742e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130fb0c8c174e3c" /><Relationship Type="http://schemas.openxmlformats.org/officeDocument/2006/relationships/notesMaster" Target="/ppt/notesMasters/notesMaster1.xml" Id="Ra2b304bf677b414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1c845400bbd4f58" /><Relationship Type="http://schemas.openxmlformats.org/officeDocument/2006/relationships/notesMaster" Target="/ppt/notesMasters/notesMaster1.xml" Id="R1b6c85f270aa479e"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5d074593ca64cb5" /><Relationship Type="http://schemas.openxmlformats.org/officeDocument/2006/relationships/notesMaster" Target="/ppt/notesMasters/notesMaster1.xml" Id="R8b8dc4e14627454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4c99c9d0bcb408b" /><Relationship Type="http://schemas.openxmlformats.org/officeDocument/2006/relationships/notesMaster" Target="/ppt/notesMasters/notesMaster1.xml" Id="R4012c26083514ec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90b40ad08044956" /><Relationship Type="http://schemas.openxmlformats.org/officeDocument/2006/relationships/notesMaster" Target="/ppt/notesMasters/notesMaster1.xml" Id="R9b041d3a752d4df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4609fd7903b4dea" /><Relationship Type="http://schemas.openxmlformats.org/officeDocument/2006/relationships/notesMaster" Target="/ppt/notesMasters/notesMaster1.xml" Id="Re8b60f3eed304a00"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a4bf3fe92984b5b" /><Relationship Type="http://schemas.openxmlformats.org/officeDocument/2006/relationships/notesMaster" Target="/ppt/notesMasters/notesMaster1.xml" Id="R6d681cd06f90460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2330d2cab93490e" /><Relationship Type="http://schemas.openxmlformats.org/officeDocument/2006/relationships/notesMaster" Target="/ppt/notesMasters/notesMaster1.xml" Id="Re235f7186adb45d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b6a63531c9654b49" /><Relationship Type="http://schemas.openxmlformats.org/officeDocument/2006/relationships/notesMaster" Target="/ppt/notesMasters/notesMaster1.xml" Id="R924fce1e1e0e4238"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28b5a5b5f2a64476" /><Relationship Type="http://schemas.openxmlformats.org/officeDocument/2006/relationships/notesMaster" Target="/ppt/notesMasters/notesMaster1.xml" Id="R8697aad63db3447a"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959220cd66a4626" /><Relationship Type="http://schemas.openxmlformats.org/officeDocument/2006/relationships/notesMaster" Target="/ppt/notesMasters/notesMaster1.xml" Id="Rc2fdf5715f3647c3"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1b1966defed408a" /><Relationship Type="http://schemas.openxmlformats.org/officeDocument/2006/relationships/notesMaster" Target="/ppt/notesMasters/notesMaster1.xml" Id="R4804a0d7dfb04a2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25a863e20ca47ce" /><Relationship Type="http://schemas.openxmlformats.org/officeDocument/2006/relationships/notesMaster" Target="/ppt/notesMasters/notesMaster1.xml" Id="R49c4e4f8eba74034"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b72458be1194343" /><Relationship Type="http://schemas.openxmlformats.org/officeDocument/2006/relationships/notesMaster" Target="/ppt/notesMasters/notesMaster1.xml" Id="Ra072882f94a749c9"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fee114f29d043b5" /><Relationship Type="http://schemas.openxmlformats.org/officeDocument/2006/relationships/notesMaster" Target="/ppt/notesMasters/notesMaster1.xml" Id="R6e975a54db0d49f9"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a2cd883ed9b344b8" /><Relationship Type="http://schemas.openxmlformats.org/officeDocument/2006/relationships/notesMaster" Target="/ppt/notesMasters/notesMaster1.xml" Id="Rae2e0f21d67b4647"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bcc4ad1fc7ba43b3" /><Relationship Type="http://schemas.openxmlformats.org/officeDocument/2006/relationships/notesMaster" Target="/ppt/notesMasters/notesMaster1.xml" Id="R47c5daaabd45496a"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90862fc4e6fa462e" /><Relationship Type="http://schemas.openxmlformats.org/officeDocument/2006/relationships/notesMaster" Target="/ppt/notesMasters/notesMaster1.xml" Id="R7bf60710abea4939"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584c144122d44311" /><Relationship Type="http://schemas.openxmlformats.org/officeDocument/2006/relationships/notesMaster" Target="/ppt/notesMasters/notesMaster1.xml" Id="Rfbcf98052b1e4de5"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f62d559a89784911" /><Relationship Type="http://schemas.openxmlformats.org/officeDocument/2006/relationships/notesMaster" Target="/ppt/notesMasters/notesMaster1.xml" Id="Rb35cb1a676a04bc2"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9b330efc68264cb5" /><Relationship Type="http://schemas.openxmlformats.org/officeDocument/2006/relationships/notesMaster" Target="/ppt/notesMasters/notesMaster1.xml" Id="Ra23e7f3e2e864d9f"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da3de5aa5e7244f9" /><Relationship Type="http://schemas.openxmlformats.org/officeDocument/2006/relationships/notesMaster" Target="/ppt/notesMasters/notesMaster1.xml" Id="R690bde373a5445fb"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9e7100e542054ecf" /><Relationship Type="http://schemas.openxmlformats.org/officeDocument/2006/relationships/notesMaster" Target="/ppt/notesMasters/notesMaster1.xml" Id="R05bcc1ed0063413c"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2db1c315f52a446b" /><Relationship Type="http://schemas.openxmlformats.org/officeDocument/2006/relationships/notesMaster" Target="/ppt/notesMasters/notesMaster1.xml" Id="Re4ccbee9f899408b"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38ca45648d63492f" /><Relationship Type="http://schemas.openxmlformats.org/officeDocument/2006/relationships/notesMaster" Target="/ppt/notesMasters/notesMaster1.xml" Id="Ree7e27a1ece14f7f"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f17157b66fef4f15" /><Relationship Type="http://schemas.openxmlformats.org/officeDocument/2006/relationships/notesMaster" Target="/ppt/notesMasters/notesMaster1.xml" Id="Rfccb5487355f4fea"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56fa9085c4f84afa" /><Relationship Type="http://schemas.openxmlformats.org/officeDocument/2006/relationships/notesMaster" Target="/ppt/notesMasters/notesMaster1.xml" Id="R909ab0ad978843fd"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d4bd8b2edc6d4953" /><Relationship Type="http://schemas.openxmlformats.org/officeDocument/2006/relationships/notesMaster" Target="/ppt/notesMasters/notesMaster1.xml" Id="R7f62ef8b53ab4118"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52d310102fc7473e" /><Relationship Type="http://schemas.openxmlformats.org/officeDocument/2006/relationships/notesMaster" Target="/ppt/notesMasters/notesMaster1.xml" Id="R6a6803bcd29246bf"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572f5fdd647c480d" /><Relationship Type="http://schemas.openxmlformats.org/officeDocument/2006/relationships/notesMaster" Target="/ppt/notesMasters/notesMaster1.xml" Id="Rd77647897f024e02"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0575f37ad524422f" /><Relationship Type="http://schemas.openxmlformats.org/officeDocument/2006/relationships/notesMaster" Target="/ppt/notesMasters/notesMaster1.xml" Id="Rc9dfccc9f7c541bc"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64c27520e95a4d5f" /><Relationship Type="http://schemas.openxmlformats.org/officeDocument/2006/relationships/notesMaster" Target="/ppt/notesMasters/notesMaster1.xml" Id="Rcfaa574f326d4417"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7dbdc8b1ef5b443a" /><Relationship Type="http://schemas.openxmlformats.org/officeDocument/2006/relationships/notesMaster" Target="/ppt/notesMasters/notesMaster1.xml" Id="Rc44ba77c84a542c3"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035cd545c18d4ef8" /><Relationship Type="http://schemas.openxmlformats.org/officeDocument/2006/relationships/notesMaster" Target="/ppt/notesMasters/notesMaster1.xml" Id="R47722c1eaad445eb"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7f1e9a8a45394cef" /><Relationship Type="http://schemas.openxmlformats.org/officeDocument/2006/relationships/notesMaster" Target="/ppt/notesMasters/notesMaster1.xml" Id="R527f20c77cbf4ce7"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966c7d5f05c445df" /><Relationship Type="http://schemas.openxmlformats.org/officeDocument/2006/relationships/notesMaster" Target="/ppt/notesMasters/notesMaster1.xml" Id="R0511aef3073740d0"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136222190c604203" /><Relationship Type="http://schemas.openxmlformats.org/officeDocument/2006/relationships/notesMaster" Target="/ppt/notesMasters/notesMaster1.xml" Id="R31c88fb67812413c"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d3a59a5804184ae7" /><Relationship Type="http://schemas.openxmlformats.org/officeDocument/2006/relationships/notesMaster" Target="/ppt/notesMasters/notesMaster1.xml" Id="Rbee719ecaff84b49"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e6119cb1f09d43d9" /><Relationship Type="http://schemas.openxmlformats.org/officeDocument/2006/relationships/notesMaster" Target="/ppt/notesMasters/notesMaster1.xml" Id="R79a9fbff0cd54e4b"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58b6a394a0304d8d" /><Relationship Type="http://schemas.openxmlformats.org/officeDocument/2006/relationships/notesMaster" Target="/ppt/notesMasters/notesMaster1.xml" Id="R0c860a99650c4a67"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8794af52deec4233" /><Relationship Type="http://schemas.openxmlformats.org/officeDocument/2006/relationships/notesMaster" Target="/ppt/notesMasters/notesMaster1.xml" Id="R682b6282069b4c69"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2895736cba594310" /><Relationship Type="http://schemas.openxmlformats.org/officeDocument/2006/relationships/notesMaster" Target="/ppt/notesMasters/notesMaster1.xml" Id="Rc99c11d53a674c66"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638f628e4c7e4ac3" /><Relationship Type="http://schemas.openxmlformats.org/officeDocument/2006/relationships/notesMaster" Target="/ppt/notesMasters/notesMaster1.xml" Id="R26fd5d5c88d94124"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0022daeeb9d44a68" /><Relationship Type="http://schemas.openxmlformats.org/officeDocument/2006/relationships/notesMaster" Target="/ppt/notesMasters/notesMaster1.xml" Id="R2c354fd61f054fc1"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df3e6538f8124a40" /><Relationship Type="http://schemas.openxmlformats.org/officeDocument/2006/relationships/notesMaster" Target="/ppt/notesMasters/notesMaster1.xml" Id="Rae5096959fca426b"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90a8f6413c3f419f" /><Relationship Type="http://schemas.openxmlformats.org/officeDocument/2006/relationships/notesMaster" Target="/ppt/notesMasters/notesMaster1.xml" Id="R05da81f39ecd43c8"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e9e252e5a5d94eb1" /><Relationship Type="http://schemas.openxmlformats.org/officeDocument/2006/relationships/notesMaster" Target="/ppt/notesMasters/notesMaster1.xml" Id="R537e66f64f3a4230"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ac887f9bc1a4445d" /><Relationship Type="http://schemas.openxmlformats.org/officeDocument/2006/relationships/notesMaster" Target="/ppt/notesMasters/notesMaster1.xml" Id="R0865904f034e4c05"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6b42a269dbd6447f" /><Relationship Type="http://schemas.openxmlformats.org/officeDocument/2006/relationships/notesMaster" Target="/ppt/notesMasters/notesMaster1.xml" Id="R36b3bdd5dea04181"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2322aeccdbfb4274" /><Relationship Type="http://schemas.openxmlformats.org/officeDocument/2006/relationships/notesMaster" Target="/ppt/notesMasters/notesMaster1.xml" Id="R1b9707ca0c984c5a"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0a537c195cdd41c2" /><Relationship Type="http://schemas.openxmlformats.org/officeDocument/2006/relationships/notesMaster" Target="/ppt/notesMasters/notesMaster1.xml" Id="R0607936950de4ba3"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2d3d1406beac406c" /><Relationship Type="http://schemas.openxmlformats.org/officeDocument/2006/relationships/notesMaster" Target="/ppt/notesMasters/notesMaster1.xml" Id="R21b58b51a6094d04"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818199fde355418f" /><Relationship Type="http://schemas.openxmlformats.org/officeDocument/2006/relationships/notesMaster" Target="/ppt/notesMasters/notesMaster1.xml" Id="R06fb3e3d4e684ce6"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c154952789a0496f" /><Relationship Type="http://schemas.openxmlformats.org/officeDocument/2006/relationships/notesMaster" Target="/ppt/notesMasters/notesMaster1.xml" Id="Ra5fdb1019b764eab"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405b5f1e41b84bf9" /><Relationship Type="http://schemas.openxmlformats.org/officeDocument/2006/relationships/notesMaster" Target="/ppt/notesMasters/notesMaster1.xml" Id="Rbd7d459dbe9a4385"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67b9ebd1fe3e4b8e" /><Relationship Type="http://schemas.openxmlformats.org/officeDocument/2006/relationships/notesMaster" Target="/ppt/notesMasters/notesMaster1.xml" Id="R1d2b0837d6f74ffa"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346dbab8188d4a71" /><Relationship Type="http://schemas.openxmlformats.org/officeDocument/2006/relationships/notesMaster" Target="/ppt/notesMasters/notesMaster1.xml" Id="Rd942c3f56bc14099"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a2a1296946d04b65" /><Relationship Type="http://schemas.openxmlformats.org/officeDocument/2006/relationships/notesMaster" Target="/ppt/notesMasters/notesMaster1.xml" Id="Rdd2e3c84d7d04da1"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e2ee6929f279407c" /><Relationship Type="http://schemas.openxmlformats.org/officeDocument/2006/relationships/notesMaster" Target="/ppt/notesMasters/notesMaster1.xml" Id="Re683cb5d34104c15"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b722ff7b0ac54829" /><Relationship Type="http://schemas.openxmlformats.org/officeDocument/2006/relationships/notesMaster" Target="/ppt/notesMasters/notesMaster1.xml" Id="R2c7a14ec92934059"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aa891c2b43bc4262" /><Relationship Type="http://schemas.openxmlformats.org/officeDocument/2006/relationships/notesMaster" Target="/ppt/notesMasters/notesMaster1.xml" Id="R640e2517ac404b3c"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3266d65f7f1a427f" /><Relationship Type="http://schemas.openxmlformats.org/officeDocument/2006/relationships/notesMaster" Target="/ppt/notesMasters/notesMaster1.xml" Id="R4c536cc21ddb48b0"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8f9621dc501f40ef" /><Relationship Type="http://schemas.openxmlformats.org/officeDocument/2006/relationships/notesMaster" Target="/ppt/notesMasters/notesMaster1.xml" Id="R13faea2194f34a77"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5d4ae1ed15cf4ba9" /><Relationship Type="http://schemas.openxmlformats.org/officeDocument/2006/relationships/notesMaster" Target="/ppt/notesMasters/notesMaster1.xml" Id="Ra0bede5d4d0a4a05"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1af22958baff4207" /><Relationship Type="http://schemas.openxmlformats.org/officeDocument/2006/relationships/notesMaster" Target="/ppt/notesMasters/notesMaster1.xml" Id="Redf3b39ec6f34cfe"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3a041265ce0a45fd" /><Relationship Type="http://schemas.openxmlformats.org/officeDocument/2006/relationships/notesMaster" Target="/ppt/notesMasters/notesMaster1.xml" Id="R0f1e14d678e44674"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ae5ff91ea82845d2" /><Relationship Type="http://schemas.openxmlformats.org/officeDocument/2006/relationships/notesMaster" Target="/ppt/notesMasters/notesMaster1.xml" Id="Re6f64d66de8941c5"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a2eeaed81d2149db" /><Relationship Type="http://schemas.openxmlformats.org/officeDocument/2006/relationships/notesMaster" Target="/ppt/notesMasters/notesMaster1.xml" Id="R0e07acb0618e49f0"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322f62d490c24430" /><Relationship Type="http://schemas.openxmlformats.org/officeDocument/2006/relationships/notesMaster" Target="/ppt/notesMasters/notesMaster1.xml" Id="Rc18c84c88ef3472c"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c4bc9ba9cd884ba3" /><Relationship Type="http://schemas.openxmlformats.org/officeDocument/2006/relationships/notesMaster" Target="/ppt/notesMasters/notesMaster1.xml" Id="Rffc971ff154c4a7e"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33636f49763245a2" /><Relationship Type="http://schemas.openxmlformats.org/officeDocument/2006/relationships/notesMaster" Target="/ppt/notesMasters/notesMaster1.xml" Id="R589d1d6f61b848b7"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9259af572b1f461f" /><Relationship Type="http://schemas.openxmlformats.org/officeDocument/2006/relationships/notesMaster" Target="/ppt/notesMasters/notesMaster1.xml" Id="R1405f82452e8449b"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e216c8fc4763402c" /><Relationship Type="http://schemas.openxmlformats.org/officeDocument/2006/relationships/notesMaster" Target="/ppt/notesMasters/notesMaster1.xml" Id="R6044f4bbc98448ed"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763b7a8bf87540ac" /><Relationship Type="http://schemas.openxmlformats.org/officeDocument/2006/relationships/notesMaster" Target="/ppt/notesMasters/notesMaster1.xml" Id="Rf26631fe79d2461d"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602e7759bda04108" /><Relationship Type="http://schemas.openxmlformats.org/officeDocument/2006/relationships/notesMaster" Target="/ppt/notesMasters/notesMaster1.xml" Id="R1a75149842814c16"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0c8730e40b6f49bf" /><Relationship Type="http://schemas.openxmlformats.org/officeDocument/2006/relationships/notesMaster" Target="/ppt/notesMasters/notesMaster1.xml" Id="R8cfb946c2a8d4e14"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f25c56dc516b4764" /><Relationship Type="http://schemas.openxmlformats.org/officeDocument/2006/relationships/notesMaster" Target="/ppt/notesMasters/notesMaster1.xml" Id="R48da5d89219b417c"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ce0dcccf3a974b4d" /><Relationship Type="http://schemas.openxmlformats.org/officeDocument/2006/relationships/notesMaster" Target="/ppt/notesMasters/notesMaster1.xml" Id="R292a6c3dd333454f"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2091b46ad2fc4248" /><Relationship Type="http://schemas.openxmlformats.org/officeDocument/2006/relationships/notesMaster" Target="/ppt/notesMasters/notesMaster1.xml" Id="R287eee40e621475f"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d93f5271c7ca47d5" /><Relationship Type="http://schemas.openxmlformats.org/officeDocument/2006/relationships/notesMaster" Target="/ppt/notesMasters/notesMaster1.xml" Id="Rce2d3b80fb9642df"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d0a4e8fc044c4610" /><Relationship Type="http://schemas.openxmlformats.org/officeDocument/2006/relationships/notesMaster" Target="/ppt/notesMasters/notesMaster1.xml" Id="R32dd861f396044a1"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e5125c02be834f95" /><Relationship Type="http://schemas.openxmlformats.org/officeDocument/2006/relationships/notesMaster" Target="/ppt/notesMasters/notesMaster1.xml" Id="R0b15335720fc4e36"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909ba52a900140b9" /><Relationship Type="http://schemas.openxmlformats.org/officeDocument/2006/relationships/notesMaster" Target="/ppt/notesMasters/notesMaster1.xml" Id="Rd69a91723b5b4c2c"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0ea25064d4094308" /><Relationship Type="http://schemas.openxmlformats.org/officeDocument/2006/relationships/notesMaster" Target="/ppt/notesMasters/notesMaster1.xml" Id="R252902823dc345c8"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ae9cd630e8b64035" /><Relationship Type="http://schemas.openxmlformats.org/officeDocument/2006/relationships/notesMaster" Target="/ppt/notesMasters/notesMaster1.xml" Id="Rd05e1b80b8474133"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c9b2b30c970c4357" /><Relationship Type="http://schemas.openxmlformats.org/officeDocument/2006/relationships/notesMaster" Target="/ppt/notesMasters/notesMaster1.xml" Id="R1e5f0a24682e429e"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fcc64525944e418e" /><Relationship Type="http://schemas.openxmlformats.org/officeDocument/2006/relationships/notesMaster" Target="/ppt/notesMasters/notesMaster1.xml" Id="R41430d1a2a9348eb"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a4a1cc38fc8d403e" /><Relationship Type="http://schemas.openxmlformats.org/officeDocument/2006/relationships/notesMaster" Target="/ppt/notesMasters/notesMaster1.xml" Id="Rcab4db47d56f40a5"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2b33b36624234564" /><Relationship Type="http://schemas.openxmlformats.org/officeDocument/2006/relationships/notesMaster" Target="/ppt/notesMasters/notesMaster1.xml" Id="R382ad288ad714bdb"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9f05cd200e7e4a48" /><Relationship Type="http://schemas.openxmlformats.org/officeDocument/2006/relationships/notesMaster" Target="/ppt/notesMasters/notesMaster1.xml" Id="Re5dbbe97e4414d5f"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f293e00afbc147c4" /><Relationship Type="http://schemas.openxmlformats.org/officeDocument/2006/relationships/notesMaster" Target="/ppt/notesMasters/notesMaster1.xml" Id="Rb351f4a57b1d486a"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e9e6e9ec989d45e9" /><Relationship Type="http://schemas.openxmlformats.org/officeDocument/2006/relationships/notesMaster" Target="/ppt/notesMasters/notesMaster1.xml" Id="R37bca3b8986a47be"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0179773bb5d3493e" /><Relationship Type="http://schemas.openxmlformats.org/officeDocument/2006/relationships/notesMaster" Target="/ppt/notesMasters/notesMaster1.xml" Id="R932f2554f50941c8"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4c743071136f4a10" /><Relationship Type="http://schemas.openxmlformats.org/officeDocument/2006/relationships/notesMaster" Target="/ppt/notesMasters/notesMaster1.xml" Id="R6cd9faaab8a94679"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57e6f6416d2743ab" /><Relationship Type="http://schemas.openxmlformats.org/officeDocument/2006/relationships/notesMaster" Target="/ppt/notesMasters/notesMaster1.xml" Id="R77e01f026ca6452a"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a4a8018972be4847" /><Relationship Type="http://schemas.openxmlformats.org/officeDocument/2006/relationships/notesMaster" Target="/ppt/notesMasters/notesMaster1.xml" Id="Read008b4e84348c1"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b2ef9bbe5a604324" /><Relationship Type="http://schemas.openxmlformats.org/officeDocument/2006/relationships/notesMaster" Target="/ppt/notesMasters/notesMaster1.xml" Id="Re262898d8ec84a5e"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4b0dc028d1cd4e85" /><Relationship Type="http://schemas.openxmlformats.org/officeDocument/2006/relationships/notesMaster" Target="/ppt/notesMasters/notesMaster1.xml" Id="Rddffaf05d93a4178"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d85baf2eba9b45de" /><Relationship Type="http://schemas.openxmlformats.org/officeDocument/2006/relationships/notesMaster" Target="/ppt/notesMasters/notesMaster1.xml" Id="R7c34e370e3e84d6c"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4a8cfd57053e4490" /><Relationship Type="http://schemas.openxmlformats.org/officeDocument/2006/relationships/notesMaster" Target="/ppt/notesMasters/notesMaster1.xml" Id="R235aebf132544f20"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cd57a111121943e1" /><Relationship Type="http://schemas.openxmlformats.org/officeDocument/2006/relationships/notesMaster" Target="/ppt/notesMasters/notesMaster1.xml" Id="R06f589e6cc0546a1" /></Relationships>
</file>

<file path=ppt/notesSlides/_rels/notesSlide143.xml.rels>&#65279;<?xml version="1.0" encoding="utf-8"?><Relationships xmlns="http://schemas.openxmlformats.org/package/2006/relationships"><Relationship Type="http://schemas.openxmlformats.org/officeDocument/2006/relationships/slide" Target="/ppt/slides/slide143.xml" Id="Rebf17a6f3549483b" /><Relationship Type="http://schemas.openxmlformats.org/officeDocument/2006/relationships/notesMaster" Target="/ppt/notesMasters/notesMaster1.xml" Id="R72b465800d9840e6" /></Relationships>
</file>

<file path=ppt/notesSlides/_rels/notesSlide144.xml.rels>&#65279;<?xml version="1.0" encoding="utf-8"?><Relationships xmlns="http://schemas.openxmlformats.org/package/2006/relationships"><Relationship Type="http://schemas.openxmlformats.org/officeDocument/2006/relationships/slide" Target="/ppt/slides/slide144.xml" Id="R47425abccf09453d" /><Relationship Type="http://schemas.openxmlformats.org/officeDocument/2006/relationships/notesMaster" Target="/ppt/notesMasters/notesMaster1.xml" Id="R054095463f3b4cb3" /></Relationships>
</file>

<file path=ppt/notesSlides/_rels/notesSlide145.xml.rels>&#65279;<?xml version="1.0" encoding="utf-8"?><Relationships xmlns="http://schemas.openxmlformats.org/package/2006/relationships"><Relationship Type="http://schemas.openxmlformats.org/officeDocument/2006/relationships/slide" Target="/ppt/slides/slide145.xml" Id="R00a0bf6d21064e88" /><Relationship Type="http://schemas.openxmlformats.org/officeDocument/2006/relationships/notesMaster" Target="/ppt/notesMasters/notesMaster1.xml" Id="Re6acbf5e5165419c" /></Relationships>
</file>

<file path=ppt/notesSlides/_rels/notesSlide146.xml.rels>&#65279;<?xml version="1.0" encoding="utf-8"?><Relationships xmlns="http://schemas.openxmlformats.org/package/2006/relationships"><Relationship Type="http://schemas.openxmlformats.org/officeDocument/2006/relationships/slide" Target="/ppt/slides/slide146.xml" Id="R2088ba999886498f" /><Relationship Type="http://schemas.openxmlformats.org/officeDocument/2006/relationships/notesMaster" Target="/ppt/notesMasters/notesMaster1.xml" Id="R1b52ff61abb94a15" /></Relationships>
</file>

<file path=ppt/notesSlides/_rels/notesSlide147.xml.rels>&#65279;<?xml version="1.0" encoding="utf-8"?><Relationships xmlns="http://schemas.openxmlformats.org/package/2006/relationships"><Relationship Type="http://schemas.openxmlformats.org/officeDocument/2006/relationships/slide" Target="/ppt/slides/slide147.xml" Id="R1fc92d31272544ff" /><Relationship Type="http://schemas.openxmlformats.org/officeDocument/2006/relationships/notesMaster" Target="/ppt/notesMasters/notesMaster1.xml" Id="R294e517e60414474" /></Relationships>
</file>

<file path=ppt/notesSlides/_rels/notesSlide148.xml.rels>&#65279;<?xml version="1.0" encoding="utf-8"?><Relationships xmlns="http://schemas.openxmlformats.org/package/2006/relationships"><Relationship Type="http://schemas.openxmlformats.org/officeDocument/2006/relationships/slide" Target="/ppt/slides/slide148.xml" Id="R0bf94b4de7c74ce0" /><Relationship Type="http://schemas.openxmlformats.org/officeDocument/2006/relationships/notesMaster" Target="/ppt/notesMasters/notesMaster1.xml" Id="R3b6a6ccc5a004e3f" /></Relationships>
</file>

<file path=ppt/notesSlides/_rels/notesSlide149.xml.rels>&#65279;<?xml version="1.0" encoding="utf-8"?><Relationships xmlns="http://schemas.openxmlformats.org/package/2006/relationships"><Relationship Type="http://schemas.openxmlformats.org/officeDocument/2006/relationships/slide" Target="/ppt/slides/slide149.xml" Id="Rf45febe933754cf4" /><Relationship Type="http://schemas.openxmlformats.org/officeDocument/2006/relationships/notesMaster" Target="/ppt/notesMasters/notesMaster1.xml" Id="R502dbb257eac4d5c" /></Relationships>
</file>

<file path=ppt/notesSlides/_rels/notesSlide150.xml.rels>&#65279;<?xml version="1.0" encoding="utf-8"?><Relationships xmlns="http://schemas.openxmlformats.org/package/2006/relationships"><Relationship Type="http://schemas.openxmlformats.org/officeDocument/2006/relationships/slide" Target="/ppt/slides/slide150.xml" Id="R3f988398687c4996" /><Relationship Type="http://schemas.openxmlformats.org/officeDocument/2006/relationships/notesMaster" Target="/ppt/notesMasters/notesMaster1.xml" Id="R8ee8096f56a04ebb" /></Relationships>
</file>

<file path=ppt/notesSlides/_rels/notesSlide151.xml.rels>&#65279;<?xml version="1.0" encoding="utf-8"?><Relationships xmlns="http://schemas.openxmlformats.org/package/2006/relationships"><Relationship Type="http://schemas.openxmlformats.org/officeDocument/2006/relationships/slide" Target="/ppt/slides/slide151.xml" Id="R6d1862023ad04862" /><Relationship Type="http://schemas.openxmlformats.org/officeDocument/2006/relationships/notesMaster" Target="/ppt/notesMasters/notesMaster1.xml" Id="R0f670b57c9914028" /></Relationships>
</file>

<file path=ppt/notesSlides/_rels/notesSlide152.xml.rels>&#65279;<?xml version="1.0" encoding="utf-8"?><Relationships xmlns="http://schemas.openxmlformats.org/package/2006/relationships"><Relationship Type="http://schemas.openxmlformats.org/officeDocument/2006/relationships/slide" Target="/ppt/slides/slide152.xml" Id="R78b0c4fa286540cc" /><Relationship Type="http://schemas.openxmlformats.org/officeDocument/2006/relationships/notesMaster" Target="/ppt/notesMasters/notesMaster1.xml" Id="R4acb6b3f0b4a4799" /></Relationships>
</file>

<file path=ppt/notesSlides/_rels/notesSlide153.xml.rels>&#65279;<?xml version="1.0" encoding="utf-8"?><Relationships xmlns="http://schemas.openxmlformats.org/package/2006/relationships"><Relationship Type="http://schemas.openxmlformats.org/officeDocument/2006/relationships/slide" Target="/ppt/slides/slide153.xml" Id="Rf3b4f05287e64135" /><Relationship Type="http://schemas.openxmlformats.org/officeDocument/2006/relationships/notesMaster" Target="/ppt/notesMasters/notesMaster1.xml" Id="R508090539d13416f" /></Relationships>
</file>

<file path=ppt/notesSlides/_rels/notesSlide154.xml.rels>&#65279;<?xml version="1.0" encoding="utf-8"?><Relationships xmlns="http://schemas.openxmlformats.org/package/2006/relationships"><Relationship Type="http://schemas.openxmlformats.org/officeDocument/2006/relationships/slide" Target="/ppt/slides/slide154.xml" Id="Rda1a090cc10f428e" /><Relationship Type="http://schemas.openxmlformats.org/officeDocument/2006/relationships/notesMaster" Target="/ppt/notesMasters/notesMaster1.xml" Id="Rf71565d9f0f04640" /></Relationships>
</file>

<file path=ppt/notesSlides/_rels/notesSlide155.xml.rels>&#65279;<?xml version="1.0" encoding="utf-8"?><Relationships xmlns="http://schemas.openxmlformats.org/package/2006/relationships"><Relationship Type="http://schemas.openxmlformats.org/officeDocument/2006/relationships/slide" Target="/ppt/slides/slide155.xml" Id="R745ec1fb21bf465d" /><Relationship Type="http://schemas.openxmlformats.org/officeDocument/2006/relationships/notesMaster" Target="/ppt/notesMasters/notesMaster1.xml" Id="Rbdc255ec12df446c" /></Relationships>
</file>

<file path=ppt/notesSlides/_rels/notesSlide156.xml.rels>&#65279;<?xml version="1.0" encoding="utf-8"?><Relationships xmlns="http://schemas.openxmlformats.org/package/2006/relationships"><Relationship Type="http://schemas.openxmlformats.org/officeDocument/2006/relationships/slide" Target="/ppt/slides/slide156.xml" Id="R97ea4626ab6b45be" /><Relationship Type="http://schemas.openxmlformats.org/officeDocument/2006/relationships/notesMaster" Target="/ppt/notesMasters/notesMaster1.xml" Id="R3bfe21013f8c4073" /></Relationships>
</file>

<file path=ppt/notesSlides/_rels/notesSlide157.xml.rels>&#65279;<?xml version="1.0" encoding="utf-8"?><Relationships xmlns="http://schemas.openxmlformats.org/package/2006/relationships"><Relationship Type="http://schemas.openxmlformats.org/officeDocument/2006/relationships/slide" Target="/ppt/slides/slide157.xml" Id="Rafc5b730b759419c" /><Relationship Type="http://schemas.openxmlformats.org/officeDocument/2006/relationships/notesMaster" Target="/ppt/notesMasters/notesMaster1.xml" Id="R5281a64fc704400a" /></Relationships>
</file>

<file path=ppt/notesSlides/_rels/notesSlide158.xml.rels>&#65279;<?xml version="1.0" encoding="utf-8"?><Relationships xmlns="http://schemas.openxmlformats.org/package/2006/relationships"><Relationship Type="http://schemas.openxmlformats.org/officeDocument/2006/relationships/slide" Target="/ppt/slides/slide158.xml" Id="R362fd662936c4556" /><Relationship Type="http://schemas.openxmlformats.org/officeDocument/2006/relationships/notesMaster" Target="/ppt/notesMasters/notesMaster1.xml" Id="R502dfced74334444" /></Relationships>
</file>

<file path=ppt/notesSlides/_rels/notesSlide159.xml.rels>&#65279;<?xml version="1.0" encoding="utf-8"?><Relationships xmlns="http://schemas.openxmlformats.org/package/2006/relationships"><Relationship Type="http://schemas.openxmlformats.org/officeDocument/2006/relationships/slide" Target="/ppt/slides/slide159.xml" Id="R4b30f595e70d42cd" /><Relationship Type="http://schemas.openxmlformats.org/officeDocument/2006/relationships/notesMaster" Target="/ppt/notesMasters/notesMaster1.xml" Id="R870de6e58cc84874" /></Relationships>
</file>

<file path=ppt/notesSlides/_rels/notesSlide160.xml.rels>&#65279;<?xml version="1.0" encoding="utf-8"?><Relationships xmlns="http://schemas.openxmlformats.org/package/2006/relationships"><Relationship Type="http://schemas.openxmlformats.org/officeDocument/2006/relationships/slide" Target="/ppt/slides/slide160.xml" Id="R5b18489b1a4e46e0" /><Relationship Type="http://schemas.openxmlformats.org/officeDocument/2006/relationships/notesMaster" Target="/ppt/notesMasters/notesMaster1.xml" Id="Rb7b7922975104352" /></Relationships>
</file>

<file path=ppt/notesSlides/_rels/notesSlide161.xml.rels>&#65279;<?xml version="1.0" encoding="utf-8"?><Relationships xmlns="http://schemas.openxmlformats.org/package/2006/relationships"><Relationship Type="http://schemas.openxmlformats.org/officeDocument/2006/relationships/slide" Target="/ppt/slides/slide161.xml" Id="R5561b1ce4f1a4547" /><Relationship Type="http://schemas.openxmlformats.org/officeDocument/2006/relationships/notesMaster" Target="/ppt/notesMasters/notesMaster1.xml" Id="R4555e659ae09467b" /></Relationships>
</file>

<file path=ppt/notesSlides/_rels/notesSlide162.xml.rels>&#65279;<?xml version="1.0" encoding="utf-8"?><Relationships xmlns="http://schemas.openxmlformats.org/package/2006/relationships"><Relationship Type="http://schemas.openxmlformats.org/officeDocument/2006/relationships/slide" Target="/ppt/slides/slide162.xml" Id="R728f92c4a9134288" /><Relationship Type="http://schemas.openxmlformats.org/officeDocument/2006/relationships/notesMaster" Target="/ppt/notesMasters/notesMaster1.xml" Id="R954444373b224dca" /></Relationships>
</file>

<file path=ppt/notesSlides/_rels/notesSlide163.xml.rels>&#65279;<?xml version="1.0" encoding="utf-8"?><Relationships xmlns="http://schemas.openxmlformats.org/package/2006/relationships"><Relationship Type="http://schemas.openxmlformats.org/officeDocument/2006/relationships/slide" Target="/ppt/slides/slide163.xml" Id="R40564f7e29d44419" /><Relationship Type="http://schemas.openxmlformats.org/officeDocument/2006/relationships/notesMaster" Target="/ppt/notesMasters/notesMaster1.xml" Id="R767ed23bb32c4e9b" /></Relationships>
</file>

<file path=ppt/notesSlides/_rels/notesSlide164.xml.rels>&#65279;<?xml version="1.0" encoding="utf-8"?><Relationships xmlns="http://schemas.openxmlformats.org/package/2006/relationships"><Relationship Type="http://schemas.openxmlformats.org/officeDocument/2006/relationships/slide" Target="/ppt/slides/slide164.xml" Id="R3b17293188224595" /><Relationship Type="http://schemas.openxmlformats.org/officeDocument/2006/relationships/notesMaster" Target="/ppt/notesMasters/notesMaster1.xml" Id="R731ee8e54ce74438" /></Relationships>
</file>

<file path=ppt/notesSlides/_rels/notesSlide165.xml.rels>&#65279;<?xml version="1.0" encoding="utf-8"?><Relationships xmlns="http://schemas.openxmlformats.org/package/2006/relationships"><Relationship Type="http://schemas.openxmlformats.org/officeDocument/2006/relationships/slide" Target="/ppt/slides/slide165.xml" Id="R0700636adb9f4095" /><Relationship Type="http://schemas.openxmlformats.org/officeDocument/2006/relationships/notesMaster" Target="/ppt/notesMasters/notesMaster1.xml" Id="R26211698c6e34a27" /></Relationships>
</file>

<file path=ppt/notesSlides/_rels/notesSlide166.xml.rels>&#65279;<?xml version="1.0" encoding="utf-8"?><Relationships xmlns="http://schemas.openxmlformats.org/package/2006/relationships"><Relationship Type="http://schemas.openxmlformats.org/officeDocument/2006/relationships/slide" Target="/ppt/slides/slide166.xml" Id="Rdbb843daceec4388" /><Relationship Type="http://schemas.openxmlformats.org/officeDocument/2006/relationships/notesMaster" Target="/ppt/notesMasters/notesMaster1.xml" Id="R651e64f694aa44c4" /></Relationships>
</file>

<file path=ppt/notesSlides/_rels/notesSlide167.xml.rels>&#65279;<?xml version="1.0" encoding="utf-8"?><Relationships xmlns="http://schemas.openxmlformats.org/package/2006/relationships"><Relationship Type="http://schemas.openxmlformats.org/officeDocument/2006/relationships/slide" Target="/ppt/slides/slide167.xml" Id="Rdc57dc3f5bfc4474" /><Relationship Type="http://schemas.openxmlformats.org/officeDocument/2006/relationships/notesMaster" Target="/ppt/notesMasters/notesMaster1.xml" Id="Rf1420d9dfd31488c" /></Relationships>
</file>

<file path=ppt/notesSlides/_rels/notesSlide168.xml.rels>&#65279;<?xml version="1.0" encoding="utf-8"?><Relationships xmlns="http://schemas.openxmlformats.org/package/2006/relationships"><Relationship Type="http://schemas.openxmlformats.org/officeDocument/2006/relationships/slide" Target="/ppt/slides/slide168.xml" Id="R37a538447a7a42ae" /><Relationship Type="http://schemas.openxmlformats.org/officeDocument/2006/relationships/notesMaster" Target="/ppt/notesMasters/notesMaster1.xml" Id="R32e7019fd8c148b9" /></Relationships>
</file>

<file path=ppt/notesSlides/_rels/notesSlide169.xml.rels>&#65279;<?xml version="1.0" encoding="utf-8"?><Relationships xmlns="http://schemas.openxmlformats.org/package/2006/relationships"><Relationship Type="http://schemas.openxmlformats.org/officeDocument/2006/relationships/slide" Target="/ppt/slides/slide169.xml" Id="Rb60c571914d84316" /><Relationship Type="http://schemas.openxmlformats.org/officeDocument/2006/relationships/notesMaster" Target="/ppt/notesMasters/notesMaster1.xml" Id="R69e0a4597ab14a7f" /></Relationships>
</file>

<file path=ppt/notesSlides/_rels/notesSlide170.xml.rels>&#65279;<?xml version="1.0" encoding="utf-8"?><Relationships xmlns="http://schemas.openxmlformats.org/package/2006/relationships"><Relationship Type="http://schemas.openxmlformats.org/officeDocument/2006/relationships/slide" Target="/ppt/slides/slide170.xml" Id="Ree42c07dee794f97" /><Relationship Type="http://schemas.openxmlformats.org/officeDocument/2006/relationships/notesMaster" Target="/ppt/notesMasters/notesMaster1.xml" Id="Rfe7bcf0e359249d6" /></Relationships>
</file>

<file path=ppt/notesSlides/_rels/notesSlide171.xml.rels>&#65279;<?xml version="1.0" encoding="utf-8"?><Relationships xmlns="http://schemas.openxmlformats.org/package/2006/relationships"><Relationship Type="http://schemas.openxmlformats.org/officeDocument/2006/relationships/slide" Target="/ppt/slides/slide171.xml" Id="Rc613b7b4e2344b69" /><Relationship Type="http://schemas.openxmlformats.org/officeDocument/2006/relationships/notesMaster" Target="/ppt/notesMasters/notesMaster1.xml" Id="Rfc9bea8fd1804e6f" /></Relationships>
</file>

<file path=ppt/notesSlides/_rels/notesSlide172.xml.rels>&#65279;<?xml version="1.0" encoding="utf-8"?><Relationships xmlns="http://schemas.openxmlformats.org/package/2006/relationships"><Relationship Type="http://schemas.openxmlformats.org/officeDocument/2006/relationships/slide" Target="/ppt/slides/slide172.xml" Id="Re6efae6b8c554e9a" /><Relationship Type="http://schemas.openxmlformats.org/officeDocument/2006/relationships/notesMaster" Target="/ppt/notesMasters/notesMaster1.xml" Id="R509ebbe2423f41cf" /></Relationships>
</file>

<file path=ppt/notesSlides/_rels/notesSlide173.xml.rels>&#65279;<?xml version="1.0" encoding="utf-8"?><Relationships xmlns="http://schemas.openxmlformats.org/package/2006/relationships"><Relationship Type="http://schemas.openxmlformats.org/officeDocument/2006/relationships/slide" Target="/ppt/slides/slide173.xml" Id="R4e3019e303b54414" /><Relationship Type="http://schemas.openxmlformats.org/officeDocument/2006/relationships/notesMaster" Target="/ppt/notesMasters/notesMaster1.xml" Id="R3824a579bab84ee7" /></Relationships>
</file>

<file path=ppt/notesSlides/_rels/notesSlide174.xml.rels>&#65279;<?xml version="1.0" encoding="utf-8"?><Relationships xmlns="http://schemas.openxmlformats.org/package/2006/relationships"><Relationship Type="http://schemas.openxmlformats.org/officeDocument/2006/relationships/slide" Target="/ppt/slides/slide174.xml" Id="R1f1dacd1c2464af1" /><Relationship Type="http://schemas.openxmlformats.org/officeDocument/2006/relationships/notesMaster" Target="/ppt/notesMasters/notesMaster1.xml" Id="R64c7dbb358a6425d" /></Relationships>
</file>

<file path=ppt/notesSlides/_rels/notesSlide175.xml.rels>&#65279;<?xml version="1.0" encoding="utf-8"?><Relationships xmlns="http://schemas.openxmlformats.org/package/2006/relationships"><Relationship Type="http://schemas.openxmlformats.org/officeDocument/2006/relationships/slide" Target="/ppt/slides/slide175.xml" Id="R05db7893187246b6" /><Relationship Type="http://schemas.openxmlformats.org/officeDocument/2006/relationships/notesMaster" Target="/ppt/notesMasters/notesMaster1.xml" Id="R1a6cb810563142ef" /></Relationships>
</file>

<file path=ppt/notesSlides/_rels/notesSlide176.xml.rels>&#65279;<?xml version="1.0" encoding="utf-8"?><Relationships xmlns="http://schemas.openxmlformats.org/package/2006/relationships"><Relationship Type="http://schemas.openxmlformats.org/officeDocument/2006/relationships/slide" Target="/ppt/slides/slide176.xml" Id="R4ea1bc95ee574602" /><Relationship Type="http://schemas.openxmlformats.org/officeDocument/2006/relationships/notesMaster" Target="/ppt/notesMasters/notesMaster1.xml" Id="R2e0314570b624c0d" /></Relationships>
</file>

<file path=ppt/notesSlides/_rels/notesSlide177.xml.rels>&#65279;<?xml version="1.0" encoding="utf-8"?><Relationships xmlns="http://schemas.openxmlformats.org/package/2006/relationships"><Relationship Type="http://schemas.openxmlformats.org/officeDocument/2006/relationships/slide" Target="/ppt/slides/slide177.xml" Id="Rb0e61959ee6f4cfc" /><Relationship Type="http://schemas.openxmlformats.org/officeDocument/2006/relationships/notesMaster" Target="/ppt/notesMasters/notesMaster1.xml" Id="R020e66514af345df" /></Relationships>
</file>

<file path=ppt/notesSlides/_rels/notesSlide178.xml.rels>&#65279;<?xml version="1.0" encoding="utf-8"?><Relationships xmlns="http://schemas.openxmlformats.org/package/2006/relationships"><Relationship Type="http://schemas.openxmlformats.org/officeDocument/2006/relationships/slide" Target="/ppt/slides/slide178.xml" Id="R58da2098c8f14ad9" /><Relationship Type="http://schemas.openxmlformats.org/officeDocument/2006/relationships/notesMaster" Target="/ppt/notesMasters/notesMaster1.xml" Id="R116de53338c147d4" /></Relationships>
</file>

<file path=ppt/notesSlides/_rels/notesSlide179.xml.rels>&#65279;<?xml version="1.0" encoding="utf-8"?><Relationships xmlns="http://schemas.openxmlformats.org/package/2006/relationships"><Relationship Type="http://schemas.openxmlformats.org/officeDocument/2006/relationships/slide" Target="/ppt/slides/slide179.xml" Id="R5425cc0899cb4e6e" /><Relationship Type="http://schemas.openxmlformats.org/officeDocument/2006/relationships/notesMaster" Target="/ppt/notesMasters/notesMaster1.xml" Id="R1db1f916ba5e4b74" /></Relationships>
</file>

<file path=ppt/notesSlides/_rels/notesSlide180.xml.rels>&#65279;<?xml version="1.0" encoding="utf-8"?><Relationships xmlns="http://schemas.openxmlformats.org/package/2006/relationships"><Relationship Type="http://schemas.openxmlformats.org/officeDocument/2006/relationships/slide" Target="/ppt/slides/slide180.xml" Id="R900c94dd22d84637" /><Relationship Type="http://schemas.openxmlformats.org/officeDocument/2006/relationships/notesMaster" Target="/ppt/notesMasters/notesMaster1.xml" Id="R266fb960ec04414f" /></Relationships>
</file>

<file path=ppt/notesSlides/_rels/notesSlide181.xml.rels>&#65279;<?xml version="1.0" encoding="utf-8"?><Relationships xmlns="http://schemas.openxmlformats.org/package/2006/relationships"><Relationship Type="http://schemas.openxmlformats.org/officeDocument/2006/relationships/slide" Target="/ppt/slides/slide181.xml" Id="R05a8d77520c34e22" /><Relationship Type="http://schemas.openxmlformats.org/officeDocument/2006/relationships/notesMaster" Target="/ppt/notesMasters/notesMaster1.xml" Id="Re1c698925f394740" /></Relationships>
</file>

<file path=ppt/notesSlides/_rels/notesSlide182.xml.rels>&#65279;<?xml version="1.0" encoding="utf-8"?><Relationships xmlns="http://schemas.openxmlformats.org/package/2006/relationships"><Relationship Type="http://schemas.openxmlformats.org/officeDocument/2006/relationships/slide" Target="/ppt/slides/slide182.xml" Id="R0146242793f646f0" /><Relationship Type="http://schemas.openxmlformats.org/officeDocument/2006/relationships/notesMaster" Target="/ppt/notesMasters/notesMaster1.xml" Id="R5e520d7bd8d64b17" /></Relationships>
</file>

<file path=ppt/notesSlides/_rels/notesSlide183.xml.rels>&#65279;<?xml version="1.0" encoding="utf-8"?><Relationships xmlns="http://schemas.openxmlformats.org/package/2006/relationships"><Relationship Type="http://schemas.openxmlformats.org/officeDocument/2006/relationships/slide" Target="/ppt/slides/slide183.xml" Id="R0e683a2aef484841" /><Relationship Type="http://schemas.openxmlformats.org/officeDocument/2006/relationships/notesMaster" Target="/ppt/notesMasters/notesMaster1.xml" Id="R557833890373498d" /></Relationships>
</file>

<file path=ppt/notesSlides/_rels/notesSlide184.xml.rels>&#65279;<?xml version="1.0" encoding="utf-8"?><Relationships xmlns="http://schemas.openxmlformats.org/package/2006/relationships"><Relationship Type="http://schemas.openxmlformats.org/officeDocument/2006/relationships/slide" Target="/ppt/slides/slide184.xml" Id="R96f0d80a51c948c8" /><Relationship Type="http://schemas.openxmlformats.org/officeDocument/2006/relationships/notesMaster" Target="/ppt/notesMasters/notesMaster1.xml" Id="Rcd23ca492a7f4b48" /></Relationships>
</file>

<file path=ppt/notesSlides/_rels/notesSlide185.xml.rels>&#65279;<?xml version="1.0" encoding="utf-8"?><Relationships xmlns="http://schemas.openxmlformats.org/package/2006/relationships"><Relationship Type="http://schemas.openxmlformats.org/officeDocument/2006/relationships/slide" Target="/ppt/slides/slide185.xml" Id="R3634e5501fd74f1b" /><Relationship Type="http://schemas.openxmlformats.org/officeDocument/2006/relationships/notesMaster" Target="/ppt/notesMasters/notesMaster1.xml" Id="Raf94c350ecb24e79" /></Relationships>
</file>

<file path=ppt/notesSlides/_rels/notesSlide186.xml.rels>&#65279;<?xml version="1.0" encoding="utf-8"?><Relationships xmlns="http://schemas.openxmlformats.org/package/2006/relationships"><Relationship Type="http://schemas.openxmlformats.org/officeDocument/2006/relationships/slide" Target="/ppt/slides/slide186.xml" Id="Rd55ec5cb42e04dfe" /><Relationship Type="http://schemas.openxmlformats.org/officeDocument/2006/relationships/notesMaster" Target="/ppt/notesMasters/notesMaster1.xml" Id="R8117a5676f8d464d" /></Relationships>
</file>

<file path=ppt/notesSlides/_rels/notesSlide187.xml.rels>&#65279;<?xml version="1.0" encoding="utf-8"?><Relationships xmlns="http://schemas.openxmlformats.org/package/2006/relationships"><Relationship Type="http://schemas.openxmlformats.org/officeDocument/2006/relationships/slide" Target="/ppt/slides/slide187.xml" Id="R75812ff3c2624eb3" /><Relationship Type="http://schemas.openxmlformats.org/officeDocument/2006/relationships/notesMaster" Target="/ppt/notesMasters/notesMaster1.xml" Id="R35b0065c3ca24c93" /></Relationships>
</file>

<file path=ppt/notesSlides/_rels/notesSlide188.xml.rels>&#65279;<?xml version="1.0" encoding="utf-8"?><Relationships xmlns="http://schemas.openxmlformats.org/package/2006/relationships"><Relationship Type="http://schemas.openxmlformats.org/officeDocument/2006/relationships/slide" Target="/ppt/slides/slide188.xml" Id="R42d95da5248b4690" /><Relationship Type="http://schemas.openxmlformats.org/officeDocument/2006/relationships/notesMaster" Target="/ppt/notesMasters/notesMaster1.xml" Id="Rd12dca21dae34c81" /></Relationships>
</file>

<file path=ppt/notesSlides/_rels/notesSlide189.xml.rels>&#65279;<?xml version="1.0" encoding="utf-8"?><Relationships xmlns="http://schemas.openxmlformats.org/package/2006/relationships"><Relationship Type="http://schemas.openxmlformats.org/officeDocument/2006/relationships/slide" Target="/ppt/slides/slide189.xml" Id="R33d3e0e0fded495d" /><Relationship Type="http://schemas.openxmlformats.org/officeDocument/2006/relationships/notesMaster" Target="/ppt/notesMasters/notesMaster1.xml" Id="R93028350482546dd" /></Relationships>
</file>

<file path=ppt/notesSlides/_rels/notesSlide190.xml.rels>&#65279;<?xml version="1.0" encoding="utf-8"?><Relationships xmlns="http://schemas.openxmlformats.org/package/2006/relationships"><Relationship Type="http://schemas.openxmlformats.org/officeDocument/2006/relationships/slide" Target="/ppt/slides/slide190.xml" Id="R9cab45f1d2fd4503" /><Relationship Type="http://schemas.openxmlformats.org/officeDocument/2006/relationships/notesMaster" Target="/ppt/notesMasters/notesMaster1.xml" Id="Re53a5ca2faf341fa" /></Relationships>
</file>

<file path=ppt/notesSlides/_rels/notesSlide191.xml.rels>&#65279;<?xml version="1.0" encoding="utf-8"?><Relationships xmlns="http://schemas.openxmlformats.org/package/2006/relationships"><Relationship Type="http://schemas.openxmlformats.org/officeDocument/2006/relationships/slide" Target="/ppt/slides/slide191.xml" Id="R44a5a66800404065" /><Relationship Type="http://schemas.openxmlformats.org/officeDocument/2006/relationships/notesMaster" Target="/ppt/notesMasters/notesMaster1.xml" Id="Rc9de317403bb40c6" /></Relationships>
</file>

<file path=ppt/notesSlides/_rels/notesSlide192.xml.rels>&#65279;<?xml version="1.0" encoding="utf-8"?><Relationships xmlns="http://schemas.openxmlformats.org/package/2006/relationships"><Relationship Type="http://schemas.openxmlformats.org/officeDocument/2006/relationships/slide" Target="/ppt/slides/slide192.xml" Id="R8331f40643624b17" /><Relationship Type="http://schemas.openxmlformats.org/officeDocument/2006/relationships/notesMaster" Target="/ppt/notesMasters/notesMaster1.xml" Id="R8890866bf3014dc0" /></Relationships>
</file>

<file path=ppt/notesSlides/_rels/notesSlide193.xml.rels>&#65279;<?xml version="1.0" encoding="utf-8"?><Relationships xmlns="http://schemas.openxmlformats.org/package/2006/relationships"><Relationship Type="http://schemas.openxmlformats.org/officeDocument/2006/relationships/slide" Target="/ppt/slides/slide193.xml" Id="R5e1f50ca997a403a" /><Relationship Type="http://schemas.openxmlformats.org/officeDocument/2006/relationships/notesMaster" Target="/ppt/notesMasters/notesMaster1.xml" Id="Ref14fc9276c84fac" /></Relationships>
</file>

<file path=ppt/notesSlides/_rels/notesSlide194.xml.rels>&#65279;<?xml version="1.0" encoding="utf-8"?><Relationships xmlns="http://schemas.openxmlformats.org/package/2006/relationships"><Relationship Type="http://schemas.openxmlformats.org/officeDocument/2006/relationships/slide" Target="/ppt/slides/slide194.xml" Id="R4502b6b5fe1c4b51" /><Relationship Type="http://schemas.openxmlformats.org/officeDocument/2006/relationships/notesMaster" Target="/ppt/notesMasters/notesMaster1.xml" Id="R4a3c208448494e8f" /></Relationships>
</file>

<file path=ppt/notesSlides/_rels/notesSlide195.xml.rels>&#65279;<?xml version="1.0" encoding="utf-8"?><Relationships xmlns="http://schemas.openxmlformats.org/package/2006/relationships"><Relationship Type="http://schemas.openxmlformats.org/officeDocument/2006/relationships/slide" Target="/ppt/slides/slide195.xml" Id="Rc57fd863a36742c3" /><Relationship Type="http://schemas.openxmlformats.org/officeDocument/2006/relationships/notesMaster" Target="/ppt/notesMasters/notesMaster1.xml" Id="Ra3600496f208499a" /></Relationships>
</file>

<file path=ppt/notesSlides/_rels/notesSlide196.xml.rels>&#65279;<?xml version="1.0" encoding="utf-8"?><Relationships xmlns="http://schemas.openxmlformats.org/package/2006/relationships"><Relationship Type="http://schemas.openxmlformats.org/officeDocument/2006/relationships/slide" Target="/ppt/slides/slide196.xml" Id="Rabceb53419364cdc" /><Relationship Type="http://schemas.openxmlformats.org/officeDocument/2006/relationships/notesMaster" Target="/ppt/notesMasters/notesMaster1.xml" Id="R51444ec98ed24024" /></Relationships>
</file>

<file path=ppt/notesSlides/_rels/notesSlide197.xml.rels>&#65279;<?xml version="1.0" encoding="utf-8"?><Relationships xmlns="http://schemas.openxmlformats.org/package/2006/relationships"><Relationship Type="http://schemas.openxmlformats.org/officeDocument/2006/relationships/slide" Target="/ppt/slides/slide197.xml" Id="Rf8c59f7afecf4bb3" /><Relationship Type="http://schemas.openxmlformats.org/officeDocument/2006/relationships/notesMaster" Target="/ppt/notesMasters/notesMaster1.xml" Id="Rce047ada60e14593" /></Relationships>
</file>

<file path=ppt/notesSlides/_rels/notesSlide198.xml.rels>&#65279;<?xml version="1.0" encoding="utf-8"?><Relationships xmlns="http://schemas.openxmlformats.org/package/2006/relationships"><Relationship Type="http://schemas.openxmlformats.org/officeDocument/2006/relationships/slide" Target="/ppt/slides/slide198.xml" Id="Rcc776b70ca974b28" /><Relationship Type="http://schemas.openxmlformats.org/officeDocument/2006/relationships/notesMaster" Target="/ppt/notesMasters/notesMaster1.xml" Id="R2dc4e40808d64ebd" /></Relationships>
</file>

<file path=ppt/notesSlides/_rels/notesSlide199.xml.rels>&#65279;<?xml version="1.0" encoding="utf-8"?><Relationships xmlns="http://schemas.openxmlformats.org/package/2006/relationships"><Relationship Type="http://schemas.openxmlformats.org/officeDocument/2006/relationships/slide" Target="/ppt/slides/slide199.xml" Id="R57109855789e4806" /><Relationship Type="http://schemas.openxmlformats.org/officeDocument/2006/relationships/notesMaster" Target="/ppt/notesMasters/notesMaster1.xml" Id="R98438c2f74a44e8d" /></Relationships>
</file>

<file path=ppt/notesSlides/_rels/notesSlide200.xml.rels>&#65279;<?xml version="1.0" encoding="utf-8"?><Relationships xmlns="http://schemas.openxmlformats.org/package/2006/relationships"><Relationship Type="http://schemas.openxmlformats.org/officeDocument/2006/relationships/slide" Target="/ppt/slides/slide200.xml" Id="R034c0f5779774def" /><Relationship Type="http://schemas.openxmlformats.org/officeDocument/2006/relationships/notesMaster" Target="/ppt/notesMasters/notesMaster1.xml" Id="Rf1f9b2336ff9432a" /></Relationships>
</file>

<file path=ppt/notesSlides/_rels/notesSlide201.xml.rels>&#65279;<?xml version="1.0" encoding="utf-8"?><Relationships xmlns="http://schemas.openxmlformats.org/package/2006/relationships"><Relationship Type="http://schemas.openxmlformats.org/officeDocument/2006/relationships/slide" Target="/ppt/slides/slide201.xml" Id="Rd98a369f3bd34f32" /><Relationship Type="http://schemas.openxmlformats.org/officeDocument/2006/relationships/notesMaster" Target="/ppt/notesMasters/notesMaster1.xml" Id="R5f883be3e52a4761" /></Relationships>
</file>

<file path=ppt/notesSlides/_rels/notesSlide202.xml.rels>&#65279;<?xml version="1.0" encoding="utf-8"?><Relationships xmlns="http://schemas.openxmlformats.org/package/2006/relationships"><Relationship Type="http://schemas.openxmlformats.org/officeDocument/2006/relationships/slide" Target="/ppt/slides/slide202.xml" Id="R719638b330994b1b" /><Relationship Type="http://schemas.openxmlformats.org/officeDocument/2006/relationships/notesMaster" Target="/ppt/notesMasters/notesMaster1.xml" Id="Rf727ccad3fc040e6" /></Relationships>
</file>

<file path=ppt/notesSlides/_rels/notesSlide203.xml.rels>&#65279;<?xml version="1.0" encoding="utf-8"?><Relationships xmlns="http://schemas.openxmlformats.org/package/2006/relationships"><Relationship Type="http://schemas.openxmlformats.org/officeDocument/2006/relationships/slide" Target="/ppt/slides/slide203.xml" Id="R30107c8a2b6a4cdf" /><Relationship Type="http://schemas.openxmlformats.org/officeDocument/2006/relationships/notesMaster" Target="/ppt/notesMasters/notesMaster1.xml" Id="Ra4e4a6e0886541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https://docarcshot.github.io/id-practice-update/lectures/Antibiotics_Practical_Primer_Inpatient_Resident.html</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What this primer is for Most antibiotic errors on the wards are not failures to remember a mechanism. They come from treating a diagnosis that is not established, choosing a drug without accounting for the site or likely resistance, missing source control, or continuing the initial regimen after better information arrives. The focus is bedside decision-making. Use current pharmacy guidance, the local antibiogram, product labeling, and organism-specific guidelines for prescribing details. By the end, you should be able to Build an empiric regimen from the syndrome, severity, likely pathogens, prior microbiology, and local resistance data. Compare the practical coverage gaps of commonly used inpatient antibiotics, recognize the major restricted agents, and know when their use requires ID and pharmacy input. Recognize when dose, route, tissue penetration, toxicity, monitoring needs, or source control makes an apparently active drug a poor choice. Narrow, stop, or transition therapy when the clinical and microbiologic data permit. Explain what the major antibiotic trials did and did not establish. Use local guidance at the bedside. Check the current formulary, renal adjustment guidance, vancomycin monitoring workflow, local antibiogram, and actual susceptibility report before prescribing. This is primarily a resident primer. Residents should complete the main text. Fellows should know the same material and continue through the brief fellow section on resistance mechanisms, difficult treatment choices, and pipeline agents.</a:t>
            </a:r>
          </a:p>
          <a:p xmlns:a="http://schemas.openxmlformats.org/drawingml/2006/main">
            <a:r>
              <a:t/>
            </a:r>
          </a:p>
          <a:p xmlns:a="http://schemas.openxmlformats.org/drawingml/2006/main">
            <a:r>
              <a:t>Module section: https://docarcshot.github.io/id-practice-update/lectures/Antibiotics_Practical_Primer_Inpatient_Resident.html#start</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What this primer is for Most antibiotic errors on the wards are not failures to remember a mechanism. They come from treating a diagnosis that is not established, choosing a drug without accounting for the site or likely resistance, missing source control, or continuing the initial regimen after better information arrives. The focus is bedside decision-making. Use current pharmacy guidance, the local antibiogram, product labeling, and organism-specific guidelines for prescribing details. By the end, you should be able to Build an empiric regimen from the syndrome, severity, likely pathogens, prior microbiology, and local resistance data. Compare the practical coverage gaps of commonly used inpatient antibiotics, recognize the major restricted agents, and know when their use requires ID and pharmacy input. Recognize when dose, route, tissue penetration, toxicity, monitoring needs, or source control makes an apparently active drug a poor choice. Narrow, stop, or transition therapy when the clinical and microbiologic data permit. Explain what the major antibiotic trials did and did not establish. Use local guidance at the bedside. Check the current formulary, renal adjustment guidance, vancomycin monitoring workflow, local antibiogram, and actual susceptibility report before prescribing. This is primarily a resident primer. Residents should complete the main text. Fellows should know the same material and continue through the brief fellow section on resistance mechanisms, difficult treatment choices, and pipeline agents.</a:t>
            </a:r>
          </a:p>
          <a:p xmlns:a="http://schemas.openxmlformats.org/drawingml/2006/main">
            <a:r>
              <a:t/>
            </a:r>
          </a:p>
          <a:p xmlns:a="http://schemas.openxmlformats.org/drawingml/2006/main">
            <a:r>
              <a:t>Module section: https://docarcshot.github.io/id-practice-update/lectures/Antibiotics_Practical_Primer_Inpatient_Resident.html#start</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What this primer is for Most antibiotic errors on the wards are not failures to remember a mechanism. They come from treating a diagnosis that is not established, choosing a drug without accounting for the site or likely resistance, missing source control, or continuing the initial regimen after better information arrives. The focus is bedside decision-making. Use current pharmacy guidance, the local antibiogram, product labeling, and organism-specific guidelines for prescribing details. By the end, you should be able to Build an empiric regimen from the syndrome, severity, likely pathogens, prior microbiology, and local resistance data. Compare the practical coverage gaps of commonly used inpatient antibiotics, recognize the major restricted agents, and know when their use requires ID and pharmacy input. Recognize when dose, route, tissue penetration, toxicity, monitoring needs, or source control makes an apparently active drug a poor choice. Narrow, stop, or transition therapy when the clinical and microbiologic data permit. Explain what the major antibiotic trials did and did not establish. Use local guidance at the bedside. Check the current formulary, renal adjustment guidance, vancomycin monitoring workflow, local antibiogram, and actual susceptibility report before prescribing. This is primarily a resident primer. Residents should complete the main text. Fellows should know the same material and continue through the brief fellow section on resistance mechanisms, difficult treatment choices, and pipeline agents.</a:t>
            </a:r>
          </a:p>
          <a:p xmlns:a="http://schemas.openxmlformats.org/drawingml/2006/main">
            <a:r>
              <a:t/>
            </a:r>
          </a:p>
          <a:p xmlns:a="http://schemas.openxmlformats.org/drawingml/2006/main">
            <a:r>
              <a:t>Module section: https://docarcshot.github.io/id-practice-update/lectures/Antibiotics_Practical_Primer_Inpatient_Resident.html#start</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What this primer is for Most antibiotic errors on the wards are not failures to remember a mechanism. They come from treating a diagnosis that is not established, choosing a drug without accounting for the site or likely resistance, missing source control, or continuing the initial regimen after better information arrives. The focus is bedside decision-making. Use current pharmacy guidance, the local antibiogram, product labeling, and organism-specific guidelines for prescribing details. By the end, you should be able to Build an empiric regimen from the syndrome, severity, likely pathogens, prior microbiology, and local resistance data. Compare the practical coverage gaps of commonly used inpatient antibiotics, recognize the major restricted agents, and know when their use requires ID and pharmacy input. Recognize when dose, route, tissue penetration, toxicity, monitoring needs, or source control makes an apparently active drug a poor choice. Narrow, stop, or transition therapy when the clinical and microbiologic data permit. Explain what the major antibiotic trials did and did not establish. Use local guidance at the bedside. Check the current formulary, renal adjustment guidance, vancomycin monitoring workflow, local antibiogram, and actual susceptibility report before prescribing. This is primarily a resident primer. Residents should complete the main text. Fellows should know the same material and continue through the brief fellow section on resistance mechanisms, difficult treatment choices, and pipeline agents.</a:t>
            </a:r>
          </a:p>
          <a:p xmlns:a="http://schemas.openxmlformats.org/drawingml/2006/main">
            <a:r>
              <a:t/>
            </a:r>
          </a:p>
          <a:p xmlns:a="http://schemas.openxmlformats.org/drawingml/2006/main">
            <a:r>
              <a:t>Module section: https://docarcshot.github.io/id-practice-update/lectures/Antibiotics_Practical_Primer_Inpatient_Resident.html#start</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Before choosing the drug When someone asks, “What antibiotic should we use?” I usually need several other answers first. Sometimes the correct response is immediate broad therapy. Sometimes it is a better culture, drainage, or no antibiotic at all. Is there an infection? What findings support infection rather than colonization, inflammation, aspiration pneumonitis, or a contaminated specimen? How sick is the patient? Instability lowers the tolerance for missing a pathogen. A stable patient allows more diagnostic precision. Where is it? The syndrome determines likely organisms, penetration, source control, and duration. What has grown before? Review prior cultures, recent antibiotics, healthcare exposure, devices, and the local antibiogram. What will fix the source? Drainage, debridement, device removal, or relief of obstruction may matter more than adding another drug. When will we reassess? Write what you expect to know in 24–72 hours and what would allow narrowing or stopping. For students and residents Be able to state the syndrome, likely organisms, why the chosen drug covers them, what it misses, and what information will change the plan. For fellows Separate guideline recommendations from trial evidence and local practice. When several drugs are active, weigh resistance mechanism, inoculum, exposure, toxicity, source control, and the consequences of failure. A practical word about dosing Do not memorize one dose for each drug. The same antibiotic may have different doses for cystitis, bacteremia, meningitis, obesity, augmented renal clearance, intermittent hemodialysis, or continuous renal replacement therapy. Loading doses are often based on volume of distribution and may still be needed in acute kidney injury; maintenance dosing is where renal clearance usually matters. For severe infection, verify the dose before the first administration rather than waiting for the next day’s rounds. Local practice: Beta-lactam infusion practices differ across sites and may change. Do not assume standard or extended infusion from this module. Use the current site-specific order set and pharmacy guidance.</a:t>
            </a:r>
          </a:p>
          <a:p xmlns:a="http://schemas.openxmlformats.org/drawingml/2006/main">
            <a:r>
              <a:t/>
            </a:r>
          </a:p>
          <a:p xmlns:a="http://schemas.openxmlformats.org/drawingml/2006/main">
            <a:r>
              <a:t>Module section: https://docarcshot.github.io/id-practice-update/lectures/Antibiotics_Practical_Primer_Inpatient_Resident.html#approach</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Before choosing the drug When someone asks, “What antibiotic should we use?” I usually need several other answers first. Sometimes the correct response is immediate broad therapy. Sometimes it is a better culture, drainage, or no antibiotic at all. Is there an infection? What findings support infection rather than colonization, inflammation, aspiration pneumonitis, or a contaminated specimen? How sick is the patient? Instability lowers the tolerance for missing a pathogen. A stable patient allows more diagnostic precision. Where is it? The syndrome determines likely organisms, penetration, source control, and duration. What has grown before? Review prior cultures, recent antibiotics, healthcare exposure, devices, and the local antibiogram. What will fix the source? Drainage, debridement, device removal, or relief of obstruction may matter more than adding another drug. When will we reassess? Write what you expect to know in 24–72 hours and what would allow narrowing or stopping. For students and residents Be able to state the syndrome, likely organisms, why the chosen drug covers them, what it misses, and what information will change the plan. For fellows Separate guideline recommendations from trial evidence and local practice. When several drugs are active, weigh resistance mechanism, inoculum, exposure, toxicity, source control, and the consequences of failure. A practical word about dosing Do not memorize one dose for each drug. The same antibiotic may have different doses for cystitis, bacteremia, meningitis, obesity, augmented renal clearance, intermittent hemodialysis, or continuous renal replacement therapy. Loading doses are often based on volume of distribution and may still be needed in acute kidney injury; maintenance dosing is where renal clearance usually matters. For severe infection, verify the dose before the first administration rather than waiting for the next day’s rounds. Local practice: Beta-lactam infusion practices differ across sites and may change. Do not assume standard or extended infusion from this module. Use the current site-specific order set and pharmacy guidance.</a:t>
            </a:r>
          </a:p>
          <a:p xmlns:a="http://schemas.openxmlformats.org/drawingml/2006/main">
            <a:r>
              <a:t/>
            </a:r>
          </a:p>
          <a:p xmlns:a="http://schemas.openxmlformats.org/drawingml/2006/main">
            <a:r>
              <a:t>Module section: https://docarcshot.github.io/id-practice-update/lectures/Antibiotics_Practical_Primer_Inpatient_Resident.html#approach</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Before choosing the drug When someone asks, “What antibiotic should we use?” I usually need several other answers first. Sometimes the correct response is immediate broad therapy. Sometimes it is a better culture, drainage, or no antibiotic at all. Is there an infection? What findings support infection rather than colonization, inflammation, aspiration pneumonitis, or a contaminated specimen? How sick is the patient? Instability lowers the tolerance for missing a pathogen. A stable patient allows more diagnostic precision. Where is it? The syndrome determines likely organisms, penetration, source control, and duration. What has grown before? Review prior cultures, recent antibiotics, healthcare exposure, devices, and the local antibiogram. What will fix the source? Drainage, debridement, device removal, or relief of obstruction may matter more than adding another drug. When will we reassess? Write what you expect to know in 24–72 hours and what would allow narrowing or stopping. For students and residents Be able to state the syndrome, likely organisms, why the chosen drug covers them, what it misses, and what information will change the plan. For fellows Separate guideline recommendations from trial evidence and local practice. When several drugs are active, weigh resistance mechanism, inoculum, exposure, toxicity, source control, and the consequences of failure. A practical word about dosing Do not memorize one dose for each drug. The same antibiotic may have different doses for cystitis, bacteremia, meningitis, obesity, augmented renal clearance, intermittent hemodialysis, or continuous renal replacement therapy. Loading doses are often based on volume of distribution and may still be needed in acute kidney injury; maintenance dosing is where renal clearance usually matters. For severe infection, verify the dose before the first administration rather than waiting for the next day’s rounds. Local practice: Beta-lactam infusion practices differ across sites and may change. Do not assume standard or extended infusion from this module. Use the current site-specific order set and pharmacy guidance.</a:t>
            </a:r>
          </a:p>
          <a:p xmlns:a="http://schemas.openxmlformats.org/drawingml/2006/main">
            <a:r>
              <a:t/>
            </a:r>
          </a:p>
          <a:p xmlns:a="http://schemas.openxmlformats.org/drawingml/2006/main">
            <a:r>
              <a:t>Module section: https://docarcshot.github.io/id-practice-update/lectures/Antibiotics_Practical_Primer_Inpatient_Resident.html#approach</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Before choosing the drug When someone asks, “What antibiotic should we use?” I usually need several other answers first. Sometimes the correct response is immediate broad therapy. Sometimes it is a better culture, drainage, or no antibiotic at all. Is there an infection? What findings support infection rather than colonization, inflammation, aspiration pneumonitis, or a contaminated specimen? How sick is the patient? Instability lowers the tolerance for missing a pathogen. A stable patient allows more diagnostic precision. Where is it? The syndrome determines likely organisms, penetration, source control, and duration. What has grown before? Review prior cultures, recent antibiotics, healthcare exposure, devices, and the local antibiogram. What will fix the source? Drainage, debridement, device removal, or relief of obstruction may matter more than adding another drug. When will we reassess? Write what you expect to know in 24–72 hours and what would allow narrowing or stopping. For students and residents Be able to state the syndrome, likely organisms, why the chosen drug covers them, what it misses, and what information will change the plan. For fellows Separate guideline recommendations from trial evidence and local practice. When several drugs are active, weigh resistance mechanism, inoculum, exposure, toxicity, source control, and the consequences of failure. A practical word about dosing Do not memorize one dose for each drug. The same antibiotic may have different doses for cystitis, bacteremia, meningitis, obesity, augmented renal clearance, intermittent hemodialysis, or continuous renal replacement therapy. Loading doses are often based on volume of distribution and may still be needed in acute kidney injury; maintenance dosing is where renal clearance usually matters. For severe infection, verify the dose before the first administration rather than waiting for the next day’s rounds. Local practice: Beta-lactam infusion practices differ across sites and may change. Do not assume standard or extended infusion from this module. Use the current site-specific order set and pharmacy guidance.</a:t>
            </a:r>
          </a:p>
          <a:p xmlns:a="http://schemas.openxmlformats.org/drawingml/2006/main">
            <a:r>
              <a:t/>
            </a:r>
          </a:p>
          <a:p xmlns:a="http://schemas.openxmlformats.org/drawingml/2006/main">
            <a:r>
              <a:t>Module section: https://docarcshot.github.io/id-practice-update/lectures/Antibiotics_Practical_Primer_Inpatient_Resident.html#approach</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Before choosing the drug When someone asks, “What antibiotic should we use?” I usually need several other answers first. Sometimes the correct response is immediate broad therapy. Sometimes it is a better culture, drainage, or no antibiotic at all. Is there an infection? What findings support infection rather than colonization, inflammation, aspiration pneumonitis, or a contaminated specimen? How sick is the patient? Instability lowers the tolerance for missing a pathogen. A stable patient allows more diagnostic precision. Where is it? The syndrome determines likely organisms, penetration, source control, and duration. What has grown before? Review prior cultures, recent antibiotics, healthcare exposure, devices, and the local antibiogram. What will fix the source? Drainage, debridement, device removal, or relief of obstruction may matter more than adding another drug. When will we reassess? Write what you expect to know in 24–72 hours and what would allow narrowing or stopping. For students and residents Be able to state the syndrome, likely organisms, why the chosen drug covers them, what it misses, and what information will change the plan. For fellows Separate guideline recommendations from trial evidence and local practice. When several drugs are active, weigh resistance mechanism, inoculum, exposure, toxicity, source control, and the consequences of failure. A practical word about dosing Do not memorize one dose for each drug. The same antibiotic may have different doses for cystitis, bacteremia, meningitis, obesity, augmented renal clearance, intermittent hemodialysis, or continuous renal replacement therapy. Loading doses are often based on volume of distribution and may still be needed in acute kidney injury; maintenance dosing is where renal clearance usually matters. For severe infection, verify the dose before the first administration rather than waiting for the next day’s rounds. Local practice: Beta-lactam infusion practices differ across sites and may change. Do not assume standard or extended infusion from this module. Use the current site-specific order set and pharmacy guidance.</a:t>
            </a:r>
          </a:p>
          <a:p xmlns:a="http://schemas.openxmlformats.org/drawingml/2006/main">
            <a:r>
              <a:t/>
            </a:r>
          </a:p>
          <a:p xmlns:a="http://schemas.openxmlformats.org/drawingml/2006/main">
            <a:r>
              <a:t>Module section: https://docarcshot.github.io/id-practice-update/lectures/Antibiotics_Practical_Primer_Inpatient_Resident.html#approach</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Beta-lactams Beta-lactams are the backbone of inpatient therapy. For each one, know the usual spectrum and the important gaps. The table assumes a susceptible isolate. ESBL production, AmpC risk, carbapenemases, and local resistance can completely change the answer. Common inpatient beta-lactams Drug Where it is commonly useful Important gaps and cautions Ampicillin or amoxicillin Susceptible streptococci, Enterococcus faecalis , and Listeria . Klebsiella pneumoniae is intrinsically resistant to ampicillin. Activity against E. coli is too variable for routine empiric use. 12 Ampicillin-sulbactam Streptococci, MSSA, susceptible E. faecalis , oral flora, and anaerobes. Commonly used for selected head and neck, aspiration-related, skin, and polymicrobial infections. No Pseudomonas . Empiric E. coli and Klebsiella reliability depends on local susceptibility. CRAB dosing is a separate specialist use. Piperacillin-tazobactam Broad empiric coverage including susceptible E. coli , Klebsiella , Pseudomonas , anaerobes, streptococci, MSSA, and many E. faecalis isolates. No MRSA. Do not assume activity against ESBL or AmpC organisms. It is not preferred definitive therapy for ESBL bloodstream infection. Cefazolin MSSA, streptococci, and susceptible E. coli , Klebsiella , and Proteus mirabilis . Often preferred for MSSA infection. No enterococci, MRSA, or Pseudomonas . Not a treatment for ESBL-producing isolates. Ceftriaxone Most streptococci, most pneumococci, and many susceptible Enterobacterales, including E. coli and Klebsiella . Useful for many community-onset infections. No Pseudomonas , enterococci, or MRSA. Avoid as definitive therapy for invasive infection due to organisms at moderate risk of inducible AmpC, including Enterobacter cloacae complex, Klebsiella aerogenes , Citrobacter freundii , and Hafnia alvei . 1 Cefepime Susceptible Enterobacterales, including E. coli and Klebsiella , Pseudomonas , MSSA, and streptococci. Relatively stable against AmpC. No anaerobes, enterococci, or MRSA. Renal adjustment is essential; unexplained encephalopathy or myoclonus should raise concern for neurotoxicity. Ertapenem ESBL-producing E. coli or Klebsiella , susceptible mixed Enterobacterales, and anaerobes when a carbapenem is indicated. No reliable Pseudomonas , Acinetobacter , enterococcal, or MRSA activity. Meropenem Serious ESBL infection, many susceptible Enterobacterales, Pseudomonas , and anaerobes. No MRSA and unreliable enterococcal activity. Preserve for situations where its spectrum or resistance stability is needed. Aztreonam Targeted aerobic gram-negative coverage, including susceptible Pseudomonas , when preferred beta-lactams cannot be used. 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 A convincing immediate or severe ceftazidime allergy should prompt allergy-guided review rather than routine aztreonam use. 4 21 Ceftaroline and ceftobiprole Where ceftaroline and ceftobiprole fit Drug What makes it different What residents should not assume Ceftaroline Teflaro A cephalosporin with MRSA activity. FDA-labeled uses are acute bacterial skin and skin-structure infection, including MRSA, and community-acquired bacterial pneumonia due to designated susceptible organisms. The pneumonia indication includes MSSA, not MRSA. 22 MRSA bacteremia and endocarditis use is off-label and is supported mainly by observational salvage and combination-therapy experience, not a definitive randomized bacteremia trial. Do not count on Pseudomonas , enterococci, atypical organisms, or clinically adequate anaerobic coverage. Ceftobiprole Zevtera 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 The bacteremia indication should not be stretched to left-sided endocarditis. It is not a dependable choice for Pseudomonas , ESBL-producing Enterobacterales, anaerobes, or atypical pneumonia pathogens. Confirm formulary status and susceptibility before use. 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 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 Resident essential: ESBL and AmpC are not interchangeable labels 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 HECK-Yes is a memory aid: Hafnia alvei , Enterobacter cloacae complex, Citrobacter freundii , Klebsiella aerogenes , and Yersinia enterocolitica . Approach to a reported penicillin allergy Use the treating institution’s allergy assessment pathway for patient-specific decisions. 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 Classify the reaction before choosing another beta-lactam History Typical features Resident action Intolerance or nonallergic history Isolated nausea, diarrhea, headache, family history, or a label entered without a patient reaction. Document the history accurately. These findings alone do not establish immune-mediated allergy. Possible immediate IgE-mediated reaction Urticaria, angioedema, bronchospasm, hypotension, or anaphylaxis beginning within minutes to several hours. Confirm the culprit drug and timing. Follow the local allergy pathway and review side-chain relationships before selecting therapy. Benign delayed eruption Morbilliform or maculopapular rash appearing after several days, without mucosal lesions, blistering, systemic illness, or organ injury. Clarify the phenotype and subsequent tolerance. Selected patients may qualify for supervised challenge under the local pathway. Severe delayed or organ-specific reaction SJS/TEN, DRESS, AGEP, interstitial nephritis, drug-induced liver injury, serum sickness, hemolytic anemia, or immune thrombocytopenia. Do not use PEN-FAST to clear the allergy or proceed to routine challenge. Avoid the culprit and obtain Allergy/Immunology or specialist guidance. PEN-FAST Scoring F: reaction within 5 years, or timing unknown: 2 points A or S: anaphylaxis or angioedema, or a severe cutaneous adverse reaction: 2 points T: treatment required, or treatment unknown: 1 point Interpretation 0: very low risk, less than 1% 1–2: low risk, about 5% 3: moderate risk, about 20% 4–5: high risk, about 50% 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 Testing, challenge, and desensitization Skin testing Penicillin skin testing evaluates immediate IgE-mediated allergy. It may be followed by an oral amoxicillin challenge. It does not evaluate SJS/TEN, DRESS, AGEP, interstitial nephritis, serum sickness, hemolytic anemia, or other serious non-IgE reactions. When to involve Allergy/Immunology Consult when the allergy is forcing clearly inferior therapy, when the patient is likely to need repeated antibiotics because of transplant, chemotherapy, or another immunocompromising condition, or when several antimicrobial allergy labels substantially limit treatment. Graded challenge A graded challenge assesses whether a low-risk patient tolerates the drug. It does not induce temporary tolerance. The eligibility and supervision for a challenge depend on the clinical setting and the evaluating team. Desensitization Desensitization induces temporary tolerance when the preferred drug is required and an appropriate alternative is not available. It requires a supervised protocol and uninterrupted dosing. It is not a routine approach to severe delayed reactions. Cross-reactivity 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 Carbapenem cross-reactivity is very low, and the practice parameter supports carbapenem administration without testing or added precautions after penicillin or cephalosporin allergy, including anaphylaxis. Severe delayed reactions still require separate review. 4 Side-chain relationships worth remembering Index allergy Higher-concern related drug Clinical significance Amoxicillin Cefadroxil These share the same R1 side chain. A convincing immediate amoxicillin reaction deserves specific review before cefadroxil is used. Ampicillin Cephalexin and cefaclor These have identical or closely related amino R1 side chains. Do not treat an ampicillin allergy label as a class-wide cephalosporin ban, but do not ignore the phenotype when choosing one of these drugs. Ceftazidime Aztreonam These share an identical R1 side chain. A convincing immediate or severe ceftazidime reaction should prompt allergy-guided review before aztreonam. Cefazolin No commonly used beta-lactam shares its R1 side chain An isolated cefazolin allergy does not automatically predict a reaction to penicillins or other cephalosporins. Base the decision on the reaction phenotype. The bedside table above lists the relationships most likely to change a resident's immediate decision. For a complete matrix, see the public Northwestern Medicine cross-reactivity chart . 4 35 41</a:t>
            </a:r>
          </a:p>
          <a:p xmlns:a="http://schemas.openxmlformats.org/drawingml/2006/main">
            <a:r>
              <a:t/>
            </a:r>
          </a:p>
          <a:p xmlns:a="http://schemas.openxmlformats.org/drawingml/2006/main">
            <a:r>
              <a:t>Module section: https://docarcshot.github.io/id-practice-update/lectures/Antibiotics_Practical_Primer_Inpatient_Resident.html#beta</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Newer and restricted gram-negative agents These drugs are restricted and are usually selected with ID and pharmacy input. Residents do not need to memorize which beta-lactamase each inhibitor blocks. Know the names, the broad clinical role, the major coverage gaps, and what information the consultant needs: organism, infection site, complete susceptibility results, prior antibiotics, and source-control status. 1 What residents should recognize on the medication list Agent Why it may be used What to remember Ceftazidime-avibactam Avycaz Selected carbapenem-resistant Enterobacterales and some resistant Pseudomonas . It does not cover every resistance mechanism and is not reliable alone for NDM. It also lacks dependable anaerobic, MRSA, and enterococcal coverage. Ceftolozane-tazobactam Zerbaxa Primarily susceptible, highly resistant Pseudomonas . It is not the default drug for carbapenem-resistant Enterobacterales and is not a complete regimen for a polymicrobial infection. Meropenem-vaborbactam Vabomere Imipenem-cilastatin-relebactam Recarbrio Selected carbapenem-resistant Enterobacterales. Imipenem-cilastatin-relebactam may also be used for susceptible DTR Pseudomonas . Do not treat these agents as interchangeable. Vaborbactam adds little activity against the usual resistance mechanisms in DTR Pseudomonas ; relebactam can restore imipenem activity in some isolates. Check susceptibility and involve ID pharmacy. Cefiderocol Fetroja Selected infections caused by highly resistant aerobic gram-negative organisms. It has no useful gram-positive or anaerobic activity, and susceptibility is not universal. Aztreonam-avibactam Emblaveo or ceftazidime-avibactam plus aztreonam Selected Enterobacterales with NDM or another metallo-beta-lactamase. These are specialist regimens. They do not provide dependable gram-positive or anaerobic coverage. Aztreonam alone is not an adequate substitute. Sulbactam-durlobactam Xacduro Carbapenem-resistant Acinetobacter baumannii , usually with imipenem-cilastatin or meropenem. 1 34 Its role is specific to resistant Acinetobacter . It is not a CRE or resistant Pseudomonas drug. Why not meropenem-vaborbactam for DTR Pseudomonas ? Vaborbactam primarily inhibits class A enzymes, especially KPC, but does not correct OprD porin loss, increased efflux, or metallo-beta-lactamase production, important causes of carbapenem resistance in P. aeruginosa . It generally provides little additional activity over meropenem against this organism. For susceptible DTR Pseudomonas , consider ceftolozane-tazobactam, ceftazidime-avibactam, or imipenem-cilastatin-relebactam according to infection site and susceptibility; cefiderocol has an important role for metallo-beta-lactamase producers. Do not infer activity from the drug class alone. 1 Resident expectation: explain the organism, infection site, susceptibility results, source-control status, and why a restricted drug is being considered. Selection, dosing, and enzyme-level matching should be reviewed with ID pharmacy or an experienced ID consultant. Residents may continue to other commonly used inpatient agents ; the next section is optional fellow detail. Optional fellow detail</a:t>
            </a:r>
          </a:p>
          <a:p xmlns:a="http://schemas.openxmlformats.org/drawingml/2006/main">
            <a:r>
              <a:t/>
            </a:r>
          </a:p>
          <a:p xmlns:a="http://schemas.openxmlformats.org/drawingml/2006/main">
            <a:r>
              <a:t>Module section: https://docarcshot.github.io/id-practice-update/lectures/Antibiotics_Practical_Primer_Inpatient_Resident.html#resident-newer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Newer and restricted gram-negative agents These drugs are restricted and are usually selected with ID and pharmacy input. Residents do not need to memorize which beta-lactamase each inhibitor blocks. Know the names, the broad clinical role, the major coverage gaps, and what information the consultant needs: organism, infection site, complete susceptibility results, prior antibiotics, and source-control status. 1 What residents should recognize on the medication list Agent Why it may be used What to remember Ceftazidime-avibactam Avycaz Selected carbapenem-resistant Enterobacterales and some resistant Pseudomonas . It does not cover every resistance mechanism and is not reliable alone for NDM. It also lacks dependable anaerobic, MRSA, and enterococcal coverage. Ceftolozane-tazobactam Zerbaxa Primarily susceptible, highly resistant Pseudomonas . It is not the default drug for carbapenem-resistant Enterobacterales and is not a complete regimen for a polymicrobial infection. Meropenem-vaborbactam Vabomere Imipenem-cilastatin-relebactam Recarbrio Selected carbapenem-resistant Enterobacterales. Imipenem-cilastatin-relebactam may also be used for susceptible DTR Pseudomonas . Do not treat these agents as interchangeable. Vaborbactam adds little activity against the usual resistance mechanisms in DTR Pseudomonas ; relebactam can restore imipenem activity in some isolates. Check susceptibility and involve ID pharmacy. Cefiderocol Fetroja Selected infections caused by highly resistant aerobic gram-negative organisms. It has no useful gram-positive or anaerobic activity, and susceptibility is not universal. Aztreonam-avibactam Emblaveo or ceftazidime-avibactam plus aztreonam Selected Enterobacterales with NDM or another metallo-beta-lactamase. These are specialist regimens. They do not provide dependable gram-positive or anaerobic coverage. Aztreonam alone is not an adequate substitute. Sulbactam-durlobactam Xacduro Carbapenem-resistant Acinetobacter baumannii , usually with imipenem-cilastatin or meropenem. 1 34 Its role is specific to resistant Acinetobacter . It is not a CRE or resistant Pseudomonas drug. Why not meropenem-vaborbactam for DTR Pseudomonas ? Vaborbactam primarily inhibits class A enzymes, especially KPC, but does not correct OprD porin loss, increased efflux, or metallo-beta-lactamase production, important causes of carbapenem resistance in P. aeruginosa . It generally provides little additional activity over meropenem against this organism. For susceptible DTR Pseudomonas , consider ceftolozane-tazobactam, ceftazidime-avibactam, or imipenem-cilastatin-relebactam according to infection site and susceptibility; cefiderocol has an important role for metallo-beta-lactamase producers. Do not infer activity from the drug class alone. 1 Resident expectation: explain the organism, infection site, susceptibility results, source-control status, and why a restricted drug is being considered. Selection, dosing, and enzyme-level matching should be reviewed with ID pharmacy or an experienced ID consultant. Residents may continue to other commonly used inpatient agents ; the next section is optional fellow detail. Optional fellow detail</a:t>
            </a:r>
          </a:p>
          <a:p xmlns:a="http://schemas.openxmlformats.org/drawingml/2006/main">
            <a:r>
              <a:t/>
            </a:r>
          </a:p>
          <a:p xmlns:a="http://schemas.openxmlformats.org/drawingml/2006/main">
            <a:r>
              <a:t>Module section: https://docarcshot.github.io/id-practice-update/lectures/Antibiotics_Practical_Primer_Inpatient_Resident.html#resident-newer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Newer and restricted gram-negative agents These drugs are restricted and are usually selected with ID and pharmacy input. Residents do not need to memorize which beta-lactamase each inhibitor blocks. Know the names, the broad clinical role, the major coverage gaps, and what information the consultant needs: organism, infection site, complete susceptibility results, prior antibiotics, and source-control status. 1 What residents should recognize on the medication list Agent Why it may be used What to remember Ceftazidime-avibactam Avycaz Selected carbapenem-resistant Enterobacterales and some resistant Pseudomonas . It does not cover every resistance mechanism and is not reliable alone for NDM. It also lacks dependable anaerobic, MRSA, and enterococcal coverage. Ceftolozane-tazobactam Zerbaxa Primarily susceptible, highly resistant Pseudomonas . It is not the default drug for carbapenem-resistant Enterobacterales and is not a complete regimen for a polymicrobial infection. Meropenem-vaborbactam Vabomere Imipenem-cilastatin-relebactam Recarbrio Selected carbapenem-resistant Enterobacterales. Imipenem-cilastatin-relebactam may also be used for susceptible DTR Pseudomonas . Do not treat these agents as interchangeable. Vaborbactam adds little activity against the usual resistance mechanisms in DTR Pseudomonas ; relebactam can restore imipenem activity in some isolates. Check susceptibility and involve ID pharmacy. Cefiderocol Fetroja Selected infections caused by highly resistant aerobic gram-negative organisms. It has no useful gram-positive or anaerobic activity, and susceptibility is not universal. Aztreonam-avibactam Emblaveo or ceftazidime-avibactam plus aztreonam Selected Enterobacterales with NDM or another metallo-beta-lactamase. These are specialist regimens. They do not provide dependable gram-positive or anaerobic coverage. Aztreonam alone is not an adequate substitute. Sulbactam-durlobactam Xacduro Carbapenem-resistant Acinetobacter baumannii , usually with imipenem-cilastatin or meropenem. 1 34 Its role is specific to resistant Acinetobacter . It is not a CRE or resistant Pseudomonas drug. Why not meropenem-vaborbactam for DTR Pseudomonas ? Vaborbactam primarily inhibits class A enzymes, especially KPC, but does not correct OprD porin loss, increased efflux, or metallo-beta-lactamase production, important causes of carbapenem resistance in P. aeruginosa . It generally provides little additional activity over meropenem against this organism. For susceptible DTR Pseudomonas , consider ceftolozane-tazobactam, ceftazidime-avibactam, or imipenem-cilastatin-relebactam according to infection site and susceptibility; cefiderocol has an important role for metallo-beta-lactamase producers. Do not infer activity from the drug class alone. 1 Resident expectation: explain the organism, infection site, susceptibility results, source-control status, and why a restricted drug is being considered. Selection, dosing, and enzyme-level matching should be reviewed with ID pharmacy or an experienced ID consultant. Residents may continue to other commonly used inpatient agents ; the next section is optional fellow detail. Optional fellow detail</a:t>
            </a:r>
          </a:p>
          <a:p xmlns:a="http://schemas.openxmlformats.org/drawingml/2006/main">
            <a:r>
              <a:t/>
            </a:r>
          </a:p>
          <a:p xmlns:a="http://schemas.openxmlformats.org/drawingml/2006/main">
            <a:r>
              <a:t>Module section: https://docarcshot.github.io/id-practice-update/lectures/Antibiotics_Practical_Primer_Inpatient_Resident.html#resident-newer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Newer and restricted gram-negative agents These drugs are restricted and are usually selected with ID and pharmacy input. Residents do not need to memorize which beta-lactamase each inhibitor blocks. Know the names, the broad clinical role, the major coverage gaps, and what information the consultant needs: organism, infection site, complete susceptibility results, prior antibiotics, and source-control status. 1 What residents should recognize on the medication list Agent Why it may be used What to remember Ceftazidime-avibactam Avycaz Selected carbapenem-resistant Enterobacterales and some resistant Pseudomonas . It does not cover every resistance mechanism and is not reliable alone for NDM. It also lacks dependable anaerobic, MRSA, and enterococcal coverage. Ceftolozane-tazobactam Zerbaxa Primarily susceptible, highly resistant Pseudomonas . It is not the default drug for carbapenem-resistant Enterobacterales and is not a complete regimen for a polymicrobial infection. Meropenem-vaborbactam Vabomere Imipenem-cilastatin-relebactam Recarbrio Selected carbapenem-resistant Enterobacterales. Imipenem-cilastatin-relebactam may also be used for susceptible DTR Pseudomonas . Do not treat these agents as interchangeable. Vaborbactam adds little activity against the usual resistance mechanisms in DTR Pseudomonas ; relebactam can restore imipenem activity in some isolates. Check susceptibility and involve ID pharmacy. Cefiderocol Fetroja Selected infections caused by highly resistant aerobic gram-negative organisms. It has no useful gram-positive or anaerobic activity, and susceptibility is not universal. Aztreonam-avibactam Emblaveo or ceftazidime-avibactam plus aztreonam Selected Enterobacterales with NDM or another metallo-beta-lactamase. These are specialist regimens. They do not provide dependable gram-positive or anaerobic coverage. Aztreonam alone is not an adequate substitute. Sulbactam-durlobactam Xacduro Carbapenem-resistant Acinetobacter baumannii , usually with imipenem-cilastatin or meropenem. 1 34 Its role is specific to resistant Acinetobacter . It is not a CRE or resistant Pseudomonas drug. Why not meropenem-vaborbactam for DTR Pseudomonas ? Vaborbactam primarily inhibits class A enzymes, especially KPC, but does not correct OprD porin loss, increased efflux, or metallo-beta-lactamase production, important causes of carbapenem resistance in P. aeruginosa . It generally provides little additional activity over meropenem against this organism. For susceptible DTR Pseudomonas , consider ceftolozane-tazobactam, ceftazidime-avibactam, or imipenem-cilastatin-relebactam according to infection site and susceptibility; cefiderocol has an important role for metallo-beta-lactamase producers. Do not infer activity from the drug class alone. 1 Resident expectation: explain the organism, infection site, susceptibility results, source-control status, and why a restricted drug is being considered. Selection, dosing, and enzyme-level matching should be reviewed with ID pharmacy or an experienced ID consultant. Residents may continue to other commonly used inpatient agents ; the next section is optional fellow detail. Optional fellow detail</a:t>
            </a:r>
          </a:p>
          <a:p xmlns:a="http://schemas.openxmlformats.org/drawingml/2006/main">
            <a:r>
              <a:t/>
            </a:r>
          </a:p>
          <a:p xmlns:a="http://schemas.openxmlformats.org/drawingml/2006/main">
            <a:r>
              <a:t>Module section: https://docarcshot.github.io/id-practice-update/lectures/Antibiotics_Practical_Primer_Inpatient_Resident.html#resident-newer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Newer and restricted gram-negative agents These drugs are restricted and are usually selected with ID and pharmacy input. Residents do not need to memorize which beta-lactamase each inhibitor blocks. Know the names, the broad clinical role, the major coverage gaps, and what information the consultant needs: organism, infection site, complete susceptibility results, prior antibiotics, and source-control status. 1 What residents should recognize on the medication list Agent Why it may be used What to remember Ceftazidime-avibactam Avycaz Selected carbapenem-resistant Enterobacterales and some resistant Pseudomonas . It does not cover every resistance mechanism and is not reliable alone for NDM. It also lacks dependable anaerobic, MRSA, and enterococcal coverage. Ceftolozane-tazobactam Zerbaxa Primarily susceptible, highly resistant Pseudomonas . It is not the default drug for carbapenem-resistant Enterobacterales and is not a complete regimen for a polymicrobial infection. Meropenem-vaborbactam Vabomere Imipenem-cilastatin-relebactam Recarbrio Selected carbapenem-resistant Enterobacterales. Imipenem-cilastatin-relebactam may also be used for susceptible DTR Pseudomonas . Do not treat these agents as interchangeable. Vaborbactam adds little activity against the usual resistance mechanisms in DTR Pseudomonas ; relebactam can restore imipenem activity in some isolates. Check susceptibility and involve ID pharmacy. Cefiderocol Fetroja Selected infections caused by highly resistant aerobic gram-negative organisms. It has no useful gram-positive or anaerobic activity, and susceptibility is not universal. Aztreonam-avibactam Emblaveo or ceftazidime-avibactam plus aztreonam Selected Enterobacterales with NDM or another metallo-beta-lactamase. These are specialist regimens. They do not provide dependable gram-positive or anaerobic coverage. Aztreonam alone is not an adequate substitute. Sulbactam-durlobactam Xacduro Carbapenem-resistant Acinetobacter baumannii , usually with imipenem-cilastatin or meropenem. 1 34 Its role is specific to resistant Acinetobacter . It is not a CRE or resistant Pseudomonas drug. Why not meropenem-vaborbactam for DTR Pseudomonas ? Vaborbactam primarily inhibits class A enzymes, especially KPC, but does not correct OprD porin loss, increased efflux, or metallo-beta-lactamase production, important causes of carbapenem resistance in P. aeruginosa . It generally provides little additional activity over meropenem against this organism. For susceptible DTR Pseudomonas , consider ceftolozane-tazobactam, ceftazidime-avibactam, or imipenem-cilastatin-relebactam according to infection site and susceptibility; cefiderocol has an important role for metallo-beta-lactamase producers. Do not infer activity from the drug class alone. 1 Resident expectation: explain the organism, infection site, susceptibility results, source-control status, and why a restricted drug is being considered. Selection, dosing, and enzyme-level matching should be reviewed with ID pharmacy or an experienced ID consultant. Residents may continue to other commonly used inpatient agents ; the next section is optional fellow detail. Optional fellow detail</a:t>
            </a:r>
          </a:p>
          <a:p xmlns:a="http://schemas.openxmlformats.org/drawingml/2006/main">
            <a:r>
              <a:t/>
            </a:r>
          </a:p>
          <a:p xmlns:a="http://schemas.openxmlformats.org/drawingml/2006/main">
            <a:r>
              <a:t>Module section: https://docarcshot.github.io/id-practice-update/lectures/Antibiotics_Practical_Primer_Inpatient_Resident.html#resident-newer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Newer and restricted gram-negative agents These drugs are restricted and are usually selected with ID and pharmacy input. Residents do not need to memorize which beta-lactamase each inhibitor blocks. Know the names, the broad clinical role, the major coverage gaps, and what information the consultant needs: organism, infection site, complete susceptibility results, prior antibiotics, and source-control status. 1 What residents should recognize on the medication list Agent Why it may be used What to remember Ceftazidime-avibactam Avycaz Selected carbapenem-resistant Enterobacterales and some resistant Pseudomonas . It does not cover every resistance mechanism and is not reliable alone for NDM. It also lacks dependable anaerobic, MRSA, and enterococcal coverage. Ceftolozane-tazobactam Zerbaxa Primarily susceptible, highly resistant Pseudomonas . It is not the default drug for carbapenem-resistant Enterobacterales and is not a complete regimen for a polymicrobial infection. Meropenem-vaborbactam Vabomere Imipenem-cilastatin-relebactam Recarbrio Selected carbapenem-resistant Enterobacterales. Imipenem-cilastatin-relebactam may also be used for susceptible DTR Pseudomonas . Do not treat these agents as interchangeable. Vaborbactam adds little activity against the usual resistance mechanisms in DTR Pseudomonas ; relebactam can restore imipenem activity in some isolates. Check susceptibility and involve ID pharmacy. Cefiderocol Fetroja Selected infections caused by highly resistant aerobic gram-negative organisms. It has no useful gram-positive or anaerobic activity, and susceptibility is not universal. Aztreonam-avibactam Emblaveo or ceftazidime-avibactam plus aztreonam Selected Enterobacterales with NDM or another metallo-beta-lactamase. These are specialist regimens. They do not provide dependable gram-positive or anaerobic coverage. Aztreonam alone is not an adequate substitute. Sulbactam-durlobactam Xacduro Carbapenem-resistant Acinetobacter baumannii , usually with imipenem-cilastatin or meropenem. 1 34 Its role is specific to resistant Acinetobacter . It is not a CRE or resistant Pseudomonas drug. Why not meropenem-vaborbactam for DTR Pseudomonas ? Vaborbactam primarily inhibits class A enzymes, especially KPC, but does not correct OprD porin loss, increased efflux, or metallo-beta-lactamase production, important causes of carbapenem resistance in P. aeruginosa . It generally provides little additional activity over meropenem against this organism. For susceptible DTR Pseudomonas , consider ceftolozane-tazobactam, ceftazidime-avibactam, or imipenem-cilastatin-relebactam according to infection site and susceptibility; cefiderocol has an important role for metallo-beta-lactamase producers. Do not infer activity from the drug class alone. 1 Resident expectation: explain the organism, infection site, susceptibility results, source-control status, and why a restricted drug is being considered. Selection, dosing, and enzyme-level matching should be reviewed with ID pharmacy or an experienced ID consultant. Residents may continue to other commonly used inpatient agents ; the next section is optional fellow detail. Optional fellow detail</a:t>
            </a:r>
          </a:p>
          <a:p xmlns:a="http://schemas.openxmlformats.org/drawingml/2006/main">
            <a:r>
              <a:t/>
            </a:r>
          </a:p>
          <a:p xmlns:a="http://schemas.openxmlformats.org/drawingml/2006/main">
            <a:r>
              <a:t>Module section: https://docarcshot.github.io/id-practice-update/lectures/Antibiotics_Practical_Primer_Inpatient_Resident.html#resident-newer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Newer and restricted gram-negative agents These drugs are restricted and are usually selected with ID and pharmacy input. Residents do not need to memorize which beta-lactamase each inhibitor blocks. Know the names, the broad clinical role, the major coverage gaps, and what information the consultant needs: organism, infection site, complete susceptibility results, prior antibiotics, and source-control status. 1 What residents should recognize on the medication list Agent Why it may be used What to remember Ceftazidime-avibactam Avycaz Selected carbapenem-resistant Enterobacterales and some resistant Pseudomonas . It does not cover every resistance mechanism and is not reliable alone for NDM. It also lacks dependable anaerobic, MRSA, and enterococcal coverage. Ceftolozane-tazobactam Zerbaxa Primarily susceptible, highly resistant Pseudomonas . It is not the default drug for carbapenem-resistant Enterobacterales and is not a complete regimen for a polymicrobial infection. Meropenem-vaborbactam Vabomere Imipenem-cilastatin-relebactam Recarbrio Selected carbapenem-resistant Enterobacterales. Imipenem-cilastatin-relebactam may also be used for susceptible DTR Pseudomonas . Do not treat these agents as interchangeable. Vaborbactam adds little activity against the usual resistance mechanisms in DTR Pseudomonas ; relebactam can restore imipenem activity in some isolates. Check susceptibility and involve ID pharmacy. Cefiderocol Fetroja Selected infections caused by highly resistant aerobic gram-negative organisms. It has no useful gram-positive or anaerobic activity, and susceptibility is not universal. Aztreonam-avibactam Emblaveo or ceftazidime-avibactam plus aztreonam Selected Enterobacterales with NDM or another metallo-beta-lactamase. These are specialist regimens. They do not provide dependable gram-positive or anaerobic coverage. Aztreonam alone is not an adequate substitute. Sulbactam-durlobactam Xacduro Carbapenem-resistant Acinetobacter baumannii , usually with imipenem-cilastatin or meropenem. 1 34 Its role is specific to resistant Acinetobacter . It is not a CRE or resistant Pseudomonas drug. Why not meropenem-vaborbactam for DTR Pseudomonas ? Vaborbactam primarily inhibits class A enzymes, especially KPC, but does not correct OprD porin loss, increased efflux, or metallo-beta-lactamase production, important causes of carbapenem resistance in P. aeruginosa . It generally provides little additional activity over meropenem against this organism. For susceptible DTR Pseudomonas , consider ceftolozane-tazobactam, ceftazidime-avibactam, or imipenem-cilastatin-relebactam according to infection site and susceptibility; cefiderocol has an important role for metallo-beta-lactamase producers. Do not infer activity from the drug class alone. 1 Resident expectation: explain the organism, infection site, susceptibility results, source-control status, and why a restricted drug is being considered. Selection, dosing, and enzyme-level matching should be reviewed with ID pharmacy or an experienced ID consultant. Residents may continue to other commonly used inpatient agents ; the next section is optional fellow detail. Optional fellow detail</a:t>
            </a:r>
          </a:p>
          <a:p xmlns:a="http://schemas.openxmlformats.org/drawingml/2006/main">
            <a:r>
              <a:t/>
            </a:r>
          </a:p>
          <a:p xmlns:a="http://schemas.openxmlformats.org/drawingml/2006/main">
            <a:r>
              <a:t>Module section: https://docarcshot.github.io/id-practice-update/lectures/Antibiotics_Practical_Primer_Inpatient_Resident.html#resident-newer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Newer and restricted gram-negative agents These drugs are restricted and are usually selected with ID and pharmacy input. Residents do not need to memorize which beta-lactamase each inhibitor blocks. Know the names, the broad clinical role, the major coverage gaps, and what information the consultant needs: organism, infection site, complete susceptibility results, prior antibiotics, and source-control status. 1 What residents should recognize on the medication list Agent Why it may be used What to remember Ceftazidime-avibactam Avycaz Selected carbapenem-resistant Enterobacterales and some resistant Pseudomonas . It does not cover every resistance mechanism and is not reliable alone for NDM. It also lacks dependable anaerobic, MRSA, and enterococcal coverage. Ceftolozane-tazobactam Zerbaxa Primarily susceptible, highly resistant Pseudomonas . It is not the default drug for carbapenem-resistant Enterobacterales and is not a complete regimen for a polymicrobial infection. Meropenem-vaborbactam Vabomere Imipenem-cilastatin-relebactam Recarbrio Selected carbapenem-resistant Enterobacterales. Imipenem-cilastatin-relebactam may also be used for susceptible DTR Pseudomonas . Do not treat these agents as interchangeable. Vaborbactam adds little activity against the usual resistance mechanisms in DTR Pseudomonas ; relebactam can restore imipenem activity in some isolates. Check susceptibility and involve ID pharmacy. Cefiderocol Fetroja Selected infections caused by highly resistant aerobic gram-negative organisms. It has no useful gram-positive or anaerobic activity, and susceptibility is not universal. Aztreonam-avibactam Emblaveo or ceftazidime-avibactam plus aztreonam Selected Enterobacterales with NDM or another metallo-beta-lactamase. These are specialist regimens. They do not provide dependable gram-positive or anaerobic coverage. Aztreonam alone is not an adequate substitute. Sulbactam-durlobactam Xacduro Carbapenem-resistant Acinetobacter baumannii , usually with imipenem-cilastatin or meropenem. 1 34 Its role is specific to resistant Acinetobacter . It is not a CRE or resistant Pseudomonas drug. Why not meropenem-vaborbactam for DTR Pseudomonas ? Vaborbactam primarily inhibits class A enzymes, especially KPC, but does not correct OprD porin loss, increased efflux, or metallo-beta-lactamase production, important causes of carbapenem resistance in P. aeruginosa . It generally provides little additional activity over meropenem against this organism. For susceptible DTR Pseudomonas , consider ceftolozane-tazobactam, ceftazidime-avibactam, or imipenem-cilastatin-relebactam according to infection site and susceptibility; cefiderocol has an important role for metallo-beta-lactamase producers. Do not infer activity from the drug class alone. 1 Resident expectation: explain the organism, infection site, susceptibility results, source-control status, and why a restricted drug is being considered. Selection, dosing, and enzyme-level matching should be reviewed with ID pharmacy or an experienced ID consultant. Residents may continue to other commonly used inpatient agents ; the next section is optional fellow detail. Optional fellow detail</a:t>
            </a:r>
          </a:p>
          <a:p xmlns:a="http://schemas.openxmlformats.org/drawingml/2006/main">
            <a:r>
              <a:t/>
            </a:r>
          </a:p>
          <a:p xmlns:a="http://schemas.openxmlformats.org/drawingml/2006/main">
            <a:r>
              <a:t>Module section: https://docarcshot.github.io/id-practice-update/lectures/Antibiotics_Practical_Primer_Inpatient_Resident.html#resident-newer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Newer and restricted gram-negative agents These drugs are restricted and are usually selected with ID and pharmacy input. Residents do not need to memorize which beta-lactamase each inhibitor blocks. Know the names, the broad clinical role, the major coverage gaps, and what information the consultant needs: organism, infection site, complete susceptibility results, prior antibiotics, and source-control status. 1 What residents should recognize on the medication list Agent Why it may be used What to remember Ceftazidime-avibactam Avycaz Selected carbapenem-resistant Enterobacterales and some resistant Pseudomonas . It does not cover every resistance mechanism and is not reliable alone for NDM. It also lacks dependable anaerobic, MRSA, and enterococcal coverage. Ceftolozane-tazobactam Zerbaxa Primarily susceptible, highly resistant Pseudomonas . It is not the default drug for carbapenem-resistant Enterobacterales and is not a complete regimen for a polymicrobial infection. Meropenem-vaborbactam Vabomere Imipenem-cilastatin-relebactam Recarbrio Selected carbapenem-resistant Enterobacterales. Imipenem-cilastatin-relebactam may also be used for susceptible DTR Pseudomonas . Do not treat these agents as interchangeable. Vaborbactam adds little activity against the usual resistance mechanisms in DTR Pseudomonas ; relebactam can restore imipenem activity in some isolates. Check susceptibility and involve ID pharmacy. Cefiderocol Fetroja Selected infections caused by highly resistant aerobic gram-negative organisms. It has no useful gram-positive or anaerobic activity, and susceptibility is not universal. Aztreonam-avibactam Emblaveo or ceftazidime-avibactam plus aztreonam Selected Enterobacterales with NDM or another metallo-beta-lactamase. These are specialist regimens. They do not provide dependable gram-positive or anaerobic coverage. Aztreonam alone is not an adequate substitute. Sulbactam-durlobactam Xacduro Carbapenem-resistant Acinetobacter baumannii , usually with imipenem-cilastatin or meropenem. 1 34 Its role is specific to resistant Acinetobacter . It is not a CRE or resistant Pseudomonas drug. Why not meropenem-vaborbactam for DTR Pseudomonas ? Vaborbactam primarily inhibits class A enzymes, especially KPC, but does not correct OprD porin loss, increased efflux, or metallo-beta-lactamase production, important causes of carbapenem resistance in P. aeruginosa . It generally provides little additional activity over meropenem against this organism. For susceptible DTR Pseudomonas , consider ceftolozane-tazobactam, ceftazidime-avibactam, or imipenem-cilastatin-relebactam according to infection site and susceptibility; cefiderocol has an important role for metallo-beta-lactamase producers. Do not infer activity from the drug class alone. 1 Resident expectation: explain the organism, infection site, susceptibility results, source-control status, and why a restricted drug is being considered. Selection, dosing, and enzyme-level matching should be reviewed with ID pharmacy or an experienced ID consultant. Residents may continue to other commonly used inpatient agents ; the next section is optional fellow detail. Optional fellow detail</a:t>
            </a:r>
          </a:p>
          <a:p xmlns:a="http://schemas.openxmlformats.org/drawingml/2006/main">
            <a:r>
              <a:t/>
            </a:r>
          </a:p>
          <a:p xmlns:a="http://schemas.openxmlformats.org/drawingml/2006/main">
            <a:r>
              <a:t>Module section: https://docarcshot.github.io/id-practice-update/lectures/Antibiotics_Practical_Primer_Inpatient_Resident.html#resident-newer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Newer and restricted gram-negative agents These drugs are restricted and are usually selected with ID and pharmacy input. Residents do not need to memorize which beta-lactamase each inhibitor blocks. Know the names, the broad clinical role, the major coverage gaps, and what information the consultant needs: organism, infection site, complete susceptibility results, prior antibiotics, and source-control status. 1 What residents should recognize on the medication list Agent Why it may be used What to remember Ceftazidime-avibactam Avycaz Selected carbapenem-resistant Enterobacterales and some resistant Pseudomonas . It does not cover every resistance mechanism and is not reliable alone for NDM. It also lacks dependable anaerobic, MRSA, and enterococcal coverage. Ceftolozane-tazobactam Zerbaxa Primarily susceptible, highly resistant Pseudomonas . It is not the default drug for carbapenem-resistant Enterobacterales and is not a complete regimen for a polymicrobial infection. Meropenem-vaborbactam Vabomere Imipenem-cilastatin-relebactam Recarbrio Selected carbapenem-resistant Enterobacterales. Imipenem-cilastatin-relebactam may also be used for susceptible DTR Pseudomonas . Do not treat these agents as interchangeable. Vaborbactam adds little activity against the usual resistance mechanisms in DTR Pseudomonas ; relebactam can restore imipenem activity in some isolates. Check susceptibility and involve ID pharmacy. Cefiderocol Fetroja Selected infections caused by highly resistant aerobic gram-negative organisms. It has no useful gram-positive or anaerobic activity, and susceptibility is not universal. Aztreonam-avibactam Emblaveo or ceftazidime-avibactam plus aztreonam Selected Enterobacterales with NDM or another metallo-beta-lactamase. These are specialist regimens. They do not provide dependable gram-positive or anaerobic coverage. Aztreonam alone is not an adequate substitute. Sulbactam-durlobactam Xacduro Carbapenem-resistant Acinetobacter baumannii , usually with imipenem-cilastatin or meropenem. 1 34 Its role is specific to resistant Acinetobacter . It is not a CRE or resistant Pseudomonas drug. Why not meropenem-vaborbactam for DTR Pseudomonas ? Vaborbactam primarily inhibits class A enzymes, especially KPC, but does not correct OprD porin loss, increased efflux, or metallo-beta-lactamase production, important causes of carbapenem resistance in P. aeruginosa . It generally provides little additional activity over meropenem against this organism. For susceptible DTR Pseudomonas , consider ceftolozane-tazobactam, ceftazidime-avibactam, or imipenem-cilastatin-relebactam according to infection site and susceptibility; cefiderocol has an important role for metallo-beta-lactamase producers. Do not infer activity from the drug class alone. 1 Resident expectation: explain the organism, infection site, susceptibility results, source-control status, and why a restricted drug is being considered. Selection, dosing, and enzyme-level matching should be reviewed with ID pharmacy or an experienced ID consultant. Residents may continue to other commonly used inpatient agents ; the next section is optional fellow detail. Optional fellow detail</a:t>
            </a:r>
          </a:p>
          <a:p xmlns:a="http://schemas.openxmlformats.org/drawingml/2006/main">
            <a:r>
              <a:t/>
            </a:r>
          </a:p>
          <a:p xmlns:a="http://schemas.openxmlformats.org/drawingml/2006/main">
            <a:r>
              <a:t>Module section: https://docarcshot.github.io/id-practice-update/lectures/Antibiotics_Practical_Primer_Inpatient_Resident.html#resident-newer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Other commonly used inpatient agents Vancomycin Useful empirically for serious MRSA infection and selected resistant gram-positive infections. For pharmacy-directed trough monitoring, follow serum creatinine, confirm when the trough should be drawn, and use the indication-specific target in the local pharmacy workflow. Do not apply one trough goal to every syndrome. Fellow context: The 2020 national consensus recommends AUC-guided monitoring for serious MRSA infection. That differs from the current local workflow and should not be substituted at the bedside without a local practice change. 3 Daptomycin Useful for bacteremia and other serious gram-positive infections, including selected VRE infections. It is inactivated by pulmonary surfactant and should not be used for pneumonia. Follow CPK and assess statin use and new muscle symptoms. Dose depends heavily on organism and syndrome. Linezolid IV and oral exposure are similar. It is useful for MRSA pneumonia and selected VRE infections. Follow the CBC with prolonged therapy and review serotonergic drugs, neuropathy risk, and drug interactions. TMP-SMX Useful for susceptible urinary pathogens, MRSA skin infection, and several organism-specific indications. Dose by the trimethoprim component. Check potassium (K+), renal function, blood counts, and interacting drugs. Metronidazole Provides anaerobic coverage below the diaphragm and for selected oral anaerobic infections. Adding it to piperacillin-tazobactam or a carbapenem is usually redundant. Nitrofurantoin Nitrofurantoin is a lower-tract drug. It should not be used for pyelonephritis or bacteremia. Oral fosfomycin Its established U.S. role is limited. The oral product is FDA-labeled as a single dose for uncomplicated cystitis in women due to susceptible E. coli or E. faecalis . The label states that it is not indicated for pyelonephritis or perinephric abscess. 40 Two newer oral UTI drugs residents may hear about. Tebipenem pivoxil (Utebzi) is approved for selected adults with complicated UTI, including pyelonephritis, who have limited or no alternative oral options. Sulopenem etzadroxil-probenecid (Orlynvah) is limited to selected adult women with uncomplicated UTI and is not a complicated-UTI step-down drug. Verify site formulary and outpatient access before discussing either as a discharge option. 18 19 Where oral fosfomycin may fit Oral fosfomycin on the inpatient service Clinical question Practical interpretation Uncomplicated cystitis The FDA-labeled regimen is a single 3 g dose for women with uncomplicated cystitis due to susceptible E. coli or E. faecalis . This labeled indication should not be extrapolated to upper-tract or invasive infection. 40 Pyelonephritis or complicated UTI Oral fosfomycin is not suggested as initial therapy because renal-parenchymal exposure is limited. The 2024 WikiGuidelines review found that strong evidence for oral fosfomycin in pyelonephritis was lacking. 1 39 A 2026 randomized trial studied improving adults with ESBL complicated UTI after 3 to 7 days of active IV therapy. Clinical cure was 92.8% with oral fosfomycin 3 g daily and 95.2% with continued IV beta-lactam therapy. This supports consideration as transition therapy in selected patients. It does not establish oral fosfomycin as initial treatment for pyelonephritis. 37 ESBL bloodstream infection IDSA does not suggest oral fosfomycin as routine step-down therapy because serum exposure is limited and clinical data are inadequate. When an active fluoroquinolone or TMP-SMX is available and appropriate, those are better-supported oral options. 1 Klebsiella or another non- E. coli gram-negative organism Do not assume activity from the class or a urine result. IDSA does not suggest oral fosfomycin for gram-negative organisms other than E. coli because fosA genes are common, including in K. pneumoniae , and may compromise activity. Oral susceptibility criteria are also limited. 1 When standard treatment cannot be completed. Oral fosfomycin is not recommended as routine step-down therapy for bacteremia. Occasionally, a patient with cleared urinary-source bacteremia cannot remain for IV treatment and has neither an active preferred oral agent nor a feasible OPAT plan. In that setting, an alternative oral plan may be considered with ID and pharmacy rather than stopping antimicrobial therapy altogether. The evidence is limited, and the rationale and uncertainty should be documented. Fluoroquinolones Fluoroquinolones are not drugs to avoid reflexively. Ciprofloxacin or levofloxacin can be excellent definitive therapy for complicated UTI or pyelonephritis when the organism is susceptible, the source is controlled, absorption is reliable, and the patient has no major contraindication. The 2025 cUTI guideline supports 5–7 days of a fluoroquinolone in improving patients and supports IV-to-oral transition when an effective oral option is available. 2 Oral treatment of susceptible Pseudomonas . Ciprofloxacin and levofloxacin are the only established oral antibiotic class with reliable antipseudomonal activity. Moxifloxacin should not be used for a urinary infection and is not a dependable antipseudomonal drug. Confirm susceptibility before relying on oral fluoroquinolone therapy, because resistance is common and can emerge during treatment. 1 6 Use them with the adverse-effect discussion they deserve. FDA warnings include disabling tendon, muscle, joint, neurologic, and CNS effects; dysglycemia; and risk of aortic aneurysm or dissection in susceptible patients. Review QT risk, renal dosing, drug interactions, and separation from cations or tube feeds. 5</a:t>
            </a:r>
          </a:p>
          <a:p xmlns:a="http://schemas.openxmlformats.org/drawingml/2006/main">
            <a:r>
              <a:t/>
            </a:r>
          </a:p>
          <a:p xmlns:a="http://schemas.openxmlformats.org/drawingml/2006/main">
            <a:r>
              <a:t>Module section: https://docarcshot.github.io/id-practice-update/lectures/Antibiotics_Practical_Primer_Inpatient_Resident.html#other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Other commonly used inpatient agents Vancomycin Useful empirically for serious MRSA infection and selected resistant gram-positive infections. For pharmacy-directed trough monitoring, follow serum creatinine, confirm when the trough should be drawn, and use the indication-specific target in the local pharmacy workflow. Do not apply one trough goal to every syndrome. Fellow context: The 2020 national consensus recommends AUC-guided monitoring for serious MRSA infection. That differs from the current local workflow and should not be substituted at the bedside without a local practice change. 3 Daptomycin Useful for bacteremia and other serious gram-positive infections, including selected VRE infections. It is inactivated by pulmonary surfactant and should not be used for pneumonia. Follow CPK and assess statin use and new muscle symptoms. Dose depends heavily on organism and syndrome. Linezolid IV and oral exposure are similar. It is useful for MRSA pneumonia and selected VRE infections. Follow the CBC with prolonged therapy and review serotonergic drugs, neuropathy risk, and drug interactions. TMP-SMX Useful for susceptible urinary pathogens, MRSA skin infection, and several organism-specific indications. Dose by the trimethoprim component. Check potassium (K+), renal function, blood counts, and interacting drugs. Metronidazole Provides anaerobic coverage below the diaphragm and for selected oral anaerobic infections. Adding it to piperacillin-tazobactam or a carbapenem is usually redundant. Nitrofurantoin Nitrofurantoin is a lower-tract drug. It should not be used for pyelonephritis or bacteremia. Oral fosfomycin Its established U.S. role is limited. The oral product is FDA-labeled as a single dose for uncomplicated cystitis in women due to susceptible E. coli or E. faecalis . The label states that it is not indicated for pyelonephritis or perinephric abscess. 40 Two newer oral UTI drugs residents may hear about. Tebipenem pivoxil (Utebzi) is approved for selected adults with complicated UTI, including pyelonephritis, who have limited or no alternative oral options. Sulopenem etzadroxil-probenecid (Orlynvah) is limited to selected adult women with uncomplicated UTI and is not a complicated-UTI step-down drug. Verify site formulary and outpatient access before discussing either as a discharge option. 18 19 Where oral fosfomycin may fit Oral fosfomycin on the inpatient service Clinical question Practical interpretation Uncomplicated cystitis The FDA-labeled regimen is a single 3 g dose for women with uncomplicated cystitis due to susceptible E. coli or E. faecalis . This labeled indication should not be extrapolated to upper-tract or invasive infection. 40 Pyelonephritis or complicated UTI Oral fosfomycin is not suggested as initial therapy because renal-parenchymal exposure is limited. The 2024 WikiGuidelines review found that strong evidence for oral fosfomycin in pyelonephritis was lacking. 1 39 A 2026 randomized trial studied improving adults with ESBL complicated UTI after 3 to 7 days of active IV therapy. Clinical cure was 92.8% with oral fosfomycin 3 g daily and 95.2% with continued IV beta-lactam therapy. This supports consideration as transition therapy in selected patients. It does not establish oral fosfomycin as initial treatment for pyelonephritis. 37 ESBL bloodstream infection IDSA does not suggest oral fosfomycin as routine step-down therapy because serum exposure is limited and clinical data are inadequate. When an active fluoroquinolone or TMP-SMX is available and appropriate, those are better-supported oral options. 1 Klebsiella or another non- E. coli gram-negative organism Do not assume activity from the class or a urine result. IDSA does not suggest oral fosfomycin for gram-negative organisms other than E. coli because fosA genes are common, including in K. pneumoniae , and may compromise activity. Oral susceptibility criteria are also limited. 1 When standard treatment cannot be completed. Oral fosfomycin is not recommended as routine step-down therapy for bacteremia. Occasionally, a patient with cleared urinary-source bacteremia cannot remain for IV treatment and has neither an active preferred oral agent nor a feasible OPAT plan. In that setting, an alternative oral plan may be considered with ID and pharmacy rather than stopping antimicrobial therapy altogether. The evidence is limited, and the rationale and uncertainty should be documented. Fluoroquinolones Fluoroquinolones are not drugs to avoid reflexively. Ciprofloxacin or levofloxacin can be excellent definitive therapy for complicated UTI or pyelonephritis when the organism is susceptible, the source is controlled, absorption is reliable, and the patient has no major contraindication. The 2025 cUTI guideline supports 5–7 days of a fluoroquinolone in improving patients and supports IV-to-oral transition when an effective oral option is available. 2 Oral treatment of susceptible Pseudomonas . Ciprofloxacin and levofloxacin are the only established oral antibiotic class with reliable antipseudomonal activity. Moxifloxacin should not be used for a urinary infection and is not a dependable antipseudomonal drug. Confirm susceptibility before relying on oral fluoroquinolone therapy, because resistance is common and can emerge during treatment. 1 6 Use them with the adverse-effect discussion they deserve. FDA warnings include disabling tendon, muscle, joint, neurologic, and CNS effects; dysglycemia; and risk of aortic aneurysm or dissection in susceptible patients. Review QT risk, renal dosing, drug interactions, and separation from cations or tube feeds. 5</a:t>
            </a:r>
          </a:p>
          <a:p xmlns:a="http://schemas.openxmlformats.org/drawingml/2006/main">
            <a:r>
              <a:t/>
            </a:r>
          </a:p>
          <a:p xmlns:a="http://schemas.openxmlformats.org/drawingml/2006/main">
            <a:r>
              <a:t>Module section: https://docarcshot.github.io/id-practice-update/lectures/Antibiotics_Practical_Primer_Inpatient_Resident.html#other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Other commonly used inpatient agents Vancomycin Useful empirically for serious MRSA infection and selected resistant gram-positive infections. For pharmacy-directed trough monitoring, follow serum creatinine, confirm when the trough should be drawn, and use the indication-specific target in the local pharmacy workflow. Do not apply one trough goal to every syndrome. Fellow context: The 2020 national consensus recommends AUC-guided monitoring for serious MRSA infection. That differs from the current local workflow and should not be substituted at the bedside without a local practice change. 3 Daptomycin Useful for bacteremia and other serious gram-positive infections, including selected VRE infections. It is inactivated by pulmonary surfactant and should not be used for pneumonia. Follow CPK and assess statin use and new muscle symptoms. Dose depends heavily on organism and syndrome. Linezolid IV and oral exposure are similar. It is useful for MRSA pneumonia and selected VRE infections. Follow the CBC with prolonged therapy and review serotonergic drugs, neuropathy risk, and drug interactions. TMP-SMX Useful for susceptible urinary pathogens, MRSA skin infection, and several organism-specific indications. Dose by the trimethoprim component. Check potassium (K+), renal function, blood counts, and interacting drugs. Metronidazole Provides anaerobic coverage below the diaphragm and for selected oral anaerobic infections. Adding it to piperacillin-tazobactam or a carbapenem is usually redundant. Nitrofurantoin Nitrofurantoin is a lower-tract drug. It should not be used for pyelonephritis or bacteremia. Oral fosfomycin Its established U.S. role is limited. The oral product is FDA-labeled as a single dose for uncomplicated cystitis in women due to susceptible E. coli or E. faecalis . The label states that it is not indicated for pyelonephritis or perinephric abscess. 40 Two newer oral UTI drugs residents may hear about. Tebipenem pivoxil (Utebzi) is approved for selected adults with complicated UTI, including pyelonephritis, who have limited or no alternative oral options. Sulopenem etzadroxil-probenecid (Orlynvah) is limited to selected adult women with uncomplicated UTI and is not a complicated-UTI step-down drug. Verify site formulary and outpatient access before discussing either as a discharge option. 18 19 Where oral fosfomycin may fit Oral fosfomycin on the inpatient service Clinical question Practical interpretation Uncomplicated cystitis The FDA-labeled regimen is a single 3 g dose for women with uncomplicated cystitis due to susceptible E. coli or E. faecalis . This labeled indication should not be extrapolated to upper-tract or invasive infection. 40 Pyelonephritis or complicated UTI Oral fosfomycin is not suggested as initial therapy because renal-parenchymal exposure is limited. The 2024 WikiGuidelines review found that strong evidence for oral fosfomycin in pyelonephritis was lacking. 1 39 A 2026 randomized trial studied improving adults with ESBL complicated UTI after 3 to 7 days of active IV therapy. Clinical cure was 92.8% with oral fosfomycin 3 g daily and 95.2% with continued IV beta-lactam therapy. This supports consideration as transition therapy in selected patients. It does not establish oral fosfomycin as initial treatment for pyelonephritis. 37 ESBL bloodstream infection IDSA does not suggest oral fosfomycin as routine step-down therapy because serum exposure is limited and clinical data are inadequate. When an active fluoroquinolone or TMP-SMX is available and appropriate, those are better-supported oral options. 1 Klebsiella or another non- E. coli gram-negative organism Do not assume activity from the class or a urine result. IDSA does not suggest oral fosfomycin for gram-negative organisms other than E. coli because fosA genes are common, including in K. pneumoniae , and may compromise activity. Oral susceptibility criteria are also limited. 1 When standard treatment cannot be completed. Oral fosfomycin is not recommended as routine step-down therapy for bacteremia. Occasionally, a patient with cleared urinary-source bacteremia cannot remain for IV treatment and has neither an active preferred oral agent nor a feasible OPAT plan. In that setting, an alternative oral plan may be considered with ID and pharmacy rather than stopping antimicrobial therapy altogether. The evidence is limited, and the rationale and uncertainty should be documented. Fluoroquinolones Fluoroquinolones are not drugs to avoid reflexively. Ciprofloxacin or levofloxacin can be excellent definitive therapy for complicated UTI or pyelonephritis when the organism is susceptible, the source is controlled, absorption is reliable, and the patient has no major contraindication. The 2025 cUTI guideline supports 5–7 days of a fluoroquinolone in improving patients and supports IV-to-oral transition when an effective oral option is available. 2 Oral treatment of susceptible Pseudomonas . Ciprofloxacin and levofloxacin are the only established oral antibiotic class with reliable antipseudomonal activity. Moxifloxacin should not be used for a urinary infection and is not a dependable antipseudomonal drug. Confirm susceptibility before relying on oral fluoroquinolone therapy, because resistance is common and can emerge during treatment. 1 6 Use them with the adverse-effect discussion they deserve. FDA warnings include disabling tendon, muscle, joint, neurologic, and CNS effects; dysglycemia; and risk of aortic aneurysm or dissection in susceptible patients. Review QT risk, renal dosing, drug interactions, and separation from cations or tube feeds. 5</a:t>
            </a:r>
          </a:p>
          <a:p xmlns:a="http://schemas.openxmlformats.org/drawingml/2006/main">
            <a:r>
              <a:t/>
            </a:r>
          </a:p>
          <a:p xmlns:a="http://schemas.openxmlformats.org/drawingml/2006/main">
            <a:r>
              <a:t>Module section: https://docarcshot.github.io/id-practice-update/lectures/Antibiotics_Practical_Primer_Inpatient_Resident.html#other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Other commonly used inpatient agents Vancomycin Useful empirically for serious MRSA infection and selected resistant gram-positive infections. For pharmacy-directed trough monitoring, follow serum creatinine, confirm when the trough should be drawn, and use the indication-specific target in the local pharmacy workflow. Do not apply one trough goal to every syndrome. Fellow context: The 2020 national consensus recommends AUC-guided monitoring for serious MRSA infection. That differs from the current local workflow and should not be substituted at the bedside without a local practice change. 3 Daptomycin Useful for bacteremia and other serious gram-positive infections, including selected VRE infections. It is inactivated by pulmonary surfactant and should not be used for pneumonia. Follow CPK and assess statin use and new muscle symptoms. Dose depends heavily on organism and syndrome. Linezolid IV and oral exposure are similar. It is useful for MRSA pneumonia and selected VRE infections. Follow the CBC with prolonged therapy and review serotonergic drugs, neuropathy risk, and drug interactions. TMP-SMX Useful for susceptible urinary pathogens, MRSA skin infection, and several organism-specific indications. Dose by the trimethoprim component. Check potassium (K+), renal function, blood counts, and interacting drugs. Metronidazole Provides anaerobic coverage below the diaphragm and for selected oral anaerobic infections. Adding it to piperacillin-tazobactam or a carbapenem is usually redundant. Nitrofurantoin Nitrofurantoin is a lower-tract drug. It should not be used for pyelonephritis or bacteremia. Oral fosfomycin Its established U.S. role is limited. The oral product is FDA-labeled as a single dose for uncomplicated cystitis in women due to susceptible E. coli or E. faecalis . The label states that it is not indicated for pyelonephritis or perinephric abscess. 40 Two newer oral UTI drugs residents may hear about. Tebipenem pivoxil (Utebzi) is approved for selected adults with complicated UTI, including pyelonephritis, who have limited or no alternative oral options. Sulopenem etzadroxil-probenecid (Orlynvah) is limited to selected adult women with uncomplicated UTI and is not a complicated-UTI step-down drug. Verify site formulary and outpatient access before discussing either as a discharge option. 18 19 Where oral fosfomycin may fit Oral fosfomycin on the inpatient service Clinical question Practical interpretation Uncomplicated cystitis The FDA-labeled regimen is a single 3 g dose for women with uncomplicated cystitis due to susceptible E. coli or E. faecalis . This labeled indication should not be extrapolated to upper-tract or invasive infection. 40 Pyelonephritis or complicated UTI Oral fosfomycin is not suggested as initial therapy because renal-parenchymal exposure is limited. The 2024 WikiGuidelines review found that strong evidence for oral fosfomycin in pyelonephritis was lacking. 1 39 A 2026 randomized trial studied improving adults with ESBL complicated UTI after 3 to 7 days of active IV therapy. Clinical cure was 92.8% with oral fosfomycin 3 g daily and 95.2% with continued IV beta-lactam therapy. This supports consideration as transition therapy in selected patients. It does not establish oral fosfomycin as initial treatment for pyelonephritis. 37 ESBL bloodstream infection IDSA does not suggest oral fosfomycin as routine step-down therapy because serum exposure is limited and clinical data are inadequate. When an active fluoroquinolone or TMP-SMX is available and appropriate, those are better-supported oral options. 1 Klebsiella or another non- E. coli gram-negative organism Do not assume activity from the class or a urine result. IDSA does not suggest oral fosfomycin for gram-negative organisms other than E. coli because fosA genes are common, including in K. pneumoniae , and may compromise activity. Oral susceptibility criteria are also limited. 1 When standard treatment cannot be completed. Oral fosfomycin is not recommended as routine step-down therapy for bacteremia. Occasionally, a patient with cleared urinary-source bacteremia cannot remain for IV treatment and has neither an active preferred oral agent nor a feasible OPAT plan. In that setting, an alternative oral plan may be considered with ID and pharmacy rather than stopping antimicrobial therapy altogether. The evidence is limited, and the rationale and uncertainty should be documented. Fluoroquinolones Fluoroquinolones are not drugs to avoid reflexively. Ciprofloxacin or levofloxacin can be excellent definitive therapy for complicated UTI or pyelonephritis when the organism is susceptible, the source is controlled, absorption is reliable, and the patient has no major contraindication. The 2025 cUTI guideline supports 5–7 days of a fluoroquinolone in improving patients and supports IV-to-oral transition when an effective oral option is available. 2 Oral treatment of susceptible Pseudomonas . Ciprofloxacin and levofloxacin are the only established oral antibiotic class with reliable antipseudomonal activity. Moxifloxacin should not be used for a urinary infection and is not a dependable antipseudomonal drug. Confirm susceptibility before relying on oral fluoroquinolone therapy, because resistance is common and can emerge during treatment. 1 6 Use them with the adverse-effect discussion they deserve. FDA warnings include disabling tendon, muscle, joint, neurologic, and CNS effects; dysglycemia; and risk of aortic aneurysm or dissection in susceptible patients. Review QT risk, renal dosing, drug interactions, and separation from cations or tube feeds. 5</a:t>
            </a:r>
          </a:p>
          <a:p xmlns:a="http://schemas.openxmlformats.org/drawingml/2006/main">
            <a:r>
              <a:t/>
            </a:r>
          </a:p>
          <a:p xmlns:a="http://schemas.openxmlformats.org/drawingml/2006/main">
            <a:r>
              <a:t>Module section: https://docarcshot.github.io/id-practice-update/lectures/Antibiotics_Practical_Primer_Inpatient_Resident.html#other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Other commonly used inpatient agents Vancomycin Useful empirically for serious MRSA infection and selected resistant gram-positive infections. For pharmacy-directed trough monitoring, follow serum creatinine, confirm when the trough should be drawn, and use the indication-specific target in the local pharmacy workflow. Do not apply one trough goal to every syndrome. Fellow context: The 2020 national consensus recommends AUC-guided monitoring for serious MRSA infection. That differs from the current local workflow and should not be substituted at the bedside without a local practice change. 3 Daptomycin Useful for bacteremia and other serious gram-positive infections, including selected VRE infections. It is inactivated by pulmonary surfactant and should not be used for pneumonia. Follow CPK and assess statin use and new muscle symptoms. Dose depends heavily on organism and syndrome. Linezolid IV and oral exposure are similar. It is useful for MRSA pneumonia and selected VRE infections. Follow the CBC with prolonged therapy and review serotonergic drugs, neuropathy risk, and drug interactions. TMP-SMX Useful for susceptible urinary pathogens, MRSA skin infection, and several organism-specific indications. Dose by the trimethoprim component. Check potassium (K+), renal function, blood counts, and interacting drugs. Metronidazole Provides anaerobic coverage below the diaphragm and for selected oral anaerobic infections. Adding it to piperacillin-tazobactam or a carbapenem is usually redundant. Nitrofurantoin Nitrofurantoin is a lower-tract drug. It should not be used for pyelonephritis or bacteremia. Oral fosfomycin Its established U.S. role is limited. The oral product is FDA-labeled as a single dose for uncomplicated cystitis in women due to susceptible E. coli or E. faecalis . The label states that it is not indicated for pyelonephritis or perinephric abscess. 40 Two newer oral UTI drugs residents may hear about. Tebipenem pivoxil (Utebzi) is approved for selected adults with complicated UTI, including pyelonephritis, who have limited or no alternative oral options. Sulopenem etzadroxil-probenecid (Orlynvah) is limited to selected adult women with uncomplicated UTI and is not a complicated-UTI step-down drug. Verify site formulary and outpatient access before discussing either as a discharge option. 18 19 Where oral fosfomycin may fit Oral fosfomycin on the inpatient service Clinical question Practical interpretation Uncomplicated cystitis The FDA-labeled regimen is a single 3 g dose for women with uncomplicated cystitis due to susceptible E. coli or E. faecalis . This labeled indication should not be extrapolated to upper-tract or invasive infection. 40 Pyelonephritis or complicated UTI Oral fosfomycin is not suggested as initial therapy because renal-parenchymal exposure is limited. The 2024 WikiGuidelines review found that strong evidence for oral fosfomycin in pyelonephritis was lacking. 1 39 A 2026 randomized trial studied improving adults with ESBL complicated UTI after 3 to 7 days of active IV therapy. Clinical cure was 92.8% with oral fosfomycin 3 g daily and 95.2% with continued IV beta-lactam therapy. This supports consideration as transition therapy in selected patients. It does not establish oral fosfomycin as initial treatment for pyelonephritis. 37 ESBL bloodstream infection IDSA does not suggest oral fosfomycin as routine step-down therapy because serum exposure is limited and clinical data are inadequate. When an active fluoroquinolone or TMP-SMX is available and appropriate, those are better-supported oral options. 1 Klebsiella or another non- E. coli gram-negative organism Do not assume activity from the class or a urine result. IDSA does not suggest oral fosfomycin for gram-negative organisms other than E. coli because fosA genes are common, including in K. pneumoniae , and may compromise activity. Oral susceptibility criteria are also limited. 1 When standard treatment cannot be completed. Oral fosfomycin is not recommended as routine step-down therapy for bacteremia. Occasionally, a patient with cleared urinary-source bacteremia cannot remain for IV treatment and has neither an active preferred oral agent nor a feasible OPAT plan. In that setting, an alternative oral plan may be considered with ID and pharmacy rather than stopping antimicrobial therapy altogether. The evidence is limited, and the rationale and uncertainty should be documented. Fluoroquinolones Fluoroquinolones are not drugs to avoid reflexively. Ciprofloxacin or levofloxacin can be excellent definitive therapy for complicated UTI or pyelonephritis when the organism is susceptible, the source is controlled, absorption is reliable, and the patient has no major contraindication. The 2025 cUTI guideline supports 5–7 days of a fluoroquinolone in improving patients and supports IV-to-oral transition when an effective oral option is available. 2 Oral treatment of susceptible Pseudomonas . Ciprofloxacin and levofloxacin are the only established oral antibiotic class with reliable antipseudomonal activity. Moxifloxacin should not be used for a urinary infection and is not a dependable antipseudomonal drug. Confirm susceptibility before relying on oral fluoroquinolone therapy, because resistance is common and can emerge during treatment. 1 6 Use them with the adverse-effect discussion they deserve. FDA warnings include disabling tendon, muscle, joint, neurologic, and CNS effects; dysglycemia; and risk of aortic aneurysm or dissection in susceptible patients. Review QT risk, renal dosing, drug interactions, and separation from cations or tube feeds. 5</a:t>
            </a:r>
          </a:p>
          <a:p xmlns:a="http://schemas.openxmlformats.org/drawingml/2006/main">
            <a:r>
              <a:t/>
            </a:r>
          </a:p>
          <a:p xmlns:a="http://schemas.openxmlformats.org/drawingml/2006/main">
            <a:r>
              <a:t>Module section: https://docarcshot.github.io/id-practice-update/lectures/Antibiotics_Practical_Primer_Inpatient_Resident.html#other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Other commonly used inpatient agents Vancomycin Useful empirically for serious MRSA infection and selected resistant gram-positive infections. For pharmacy-directed trough monitoring, follow serum creatinine, confirm when the trough should be drawn, and use the indication-specific target in the local pharmacy workflow. Do not apply one trough goal to every syndrome. Fellow context: The 2020 national consensus recommends AUC-guided monitoring for serious MRSA infection. That differs from the current local workflow and should not be substituted at the bedside without a local practice change. 3 Daptomycin Useful for bacteremia and other serious gram-positive infections, including selected VRE infections. It is inactivated by pulmonary surfactant and should not be used for pneumonia. Follow CPK and assess statin use and new muscle symptoms. Dose depends heavily on organism and syndrome. Linezolid IV and oral exposure are similar. It is useful for MRSA pneumonia and selected VRE infections. Follow the CBC with prolonged therapy and review serotonergic drugs, neuropathy risk, and drug interactions. TMP-SMX Useful for susceptible urinary pathogens, MRSA skin infection, and several organism-specific indications. Dose by the trimethoprim component. Check potassium (K+), renal function, blood counts, and interacting drugs. Metronidazole Provides anaerobic coverage below the diaphragm and for selected oral anaerobic infections. Adding it to piperacillin-tazobactam or a carbapenem is usually redundant. Nitrofurantoin Nitrofurantoin is a lower-tract drug. It should not be used for pyelonephritis or bacteremia. Oral fosfomycin Its established U.S. role is limited. The oral product is FDA-labeled as a single dose for uncomplicated cystitis in women due to susceptible E. coli or E. faecalis . The label states that it is not indicated for pyelonephritis or perinephric abscess. 40 Two newer oral UTI drugs residents may hear about. Tebipenem pivoxil (Utebzi) is approved for selected adults with complicated UTI, including pyelonephritis, who have limited or no alternative oral options. Sulopenem etzadroxil-probenecid (Orlynvah) is limited to selected adult women with uncomplicated UTI and is not a complicated-UTI step-down drug. Verify site formulary and outpatient access before discussing either as a discharge option. 18 19 Where oral fosfomycin may fit Oral fosfomycin on the inpatient service Clinical question Practical interpretation Uncomplicated cystitis The FDA-labeled regimen is a single 3 g dose for women with uncomplicated cystitis due to susceptible E. coli or E. faecalis . This labeled indication should not be extrapolated to upper-tract or invasive infection. 40 Pyelonephritis or complicated UTI Oral fosfomycin is not suggested as initial therapy because renal-parenchymal exposure is limited. The 2024 WikiGuidelines review found that strong evidence for oral fosfomycin in pyelonephritis was lacking. 1 39 A 2026 randomized trial studied improving adults with ESBL complicated UTI after 3 to 7 days of active IV therapy. Clinical cure was 92.8% with oral fosfomycin 3 g daily and 95.2% with continued IV beta-lactam therapy. This supports consideration as transition therapy in selected patients. It does not establish oral fosfomycin as initial treatment for pyelonephritis. 37 ESBL bloodstream infection IDSA does not suggest oral fosfomycin as routine step-down therapy because serum exposure is limited and clinical data are inadequate. When an active fluoroquinolone or TMP-SMX is available and appropriate, those are better-supported oral options. 1 Klebsiella or another non- E. coli gram-negative organism Do not assume activity from the class or a urine result. IDSA does not suggest oral fosfomycin for gram-negative organisms other than E. coli because fosA genes are common, including in K. pneumoniae , and may compromise activity. Oral susceptibility criteria are also limited. 1 When standard treatment cannot be completed. Oral fosfomycin is not recommended as routine step-down therapy for bacteremia. Occasionally, a patient with cleared urinary-source bacteremia cannot remain for IV treatment and has neither an active preferred oral agent nor a feasible OPAT plan. In that setting, an alternative oral plan may be considered with ID and pharmacy rather than stopping antimicrobial therapy altogether. The evidence is limited, and the rationale and uncertainty should be documented. Fluoroquinolones Fluoroquinolones are not drugs to avoid reflexively. Ciprofloxacin or levofloxacin can be excellent definitive therapy for complicated UTI or pyelonephritis when the organism is susceptible, the source is controlled, absorption is reliable, and the patient has no major contraindication. The 2025 cUTI guideline supports 5–7 days of a fluoroquinolone in improving patients and supports IV-to-oral transition when an effective oral option is available. 2 Oral treatment of susceptible Pseudomonas . Ciprofloxacin and levofloxacin are the only established oral antibiotic class with reliable antipseudomonal activity. Moxifloxacin should not be used for a urinary infection and is not a dependable antipseudomonal drug. Confirm susceptibility before relying on oral fluoroquinolone therapy, because resistance is common and can emerge during treatment. 1 6 Use them with the adverse-effect discussion they deserve. FDA warnings include disabling tendon, muscle, joint, neurologic, and CNS effects; dysglycemia; and risk of aortic aneurysm or dissection in susceptible patients. Review QT risk, renal dosing, drug interactions, and separation from cations or tube feeds. 5</a:t>
            </a:r>
          </a:p>
          <a:p xmlns:a="http://schemas.openxmlformats.org/drawingml/2006/main">
            <a:r>
              <a:t/>
            </a:r>
          </a:p>
          <a:p xmlns:a="http://schemas.openxmlformats.org/drawingml/2006/main">
            <a:r>
              <a:t>Module section: https://docarcshot.github.io/id-practice-update/lectures/Antibiotics_Practical_Primer_Inpatient_Resident.html#other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Other commonly used inpatient agents Vancomycin Useful empirically for serious MRSA infection and selected resistant gram-positive infections. For pharmacy-directed trough monitoring, follow serum creatinine, confirm when the trough should be drawn, and use the indication-specific target in the local pharmacy workflow. Do not apply one trough goal to every syndrome. Fellow context: The 2020 national consensus recommends AUC-guided monitoring for serious MRSA infection. That differs from the current local workflow and should not be substituted at the bedside without a local practice change. 3 Daptomycin Useful for bacteremia and other serious gram-positive infections, including selected VRE infections. It is inactivated by pulmonary surfactant and should not be used for pneumonia. Follow CPK and assess statin use and new muscle symptoms. Dose depends heavily on organism and syndrome. Linezolid IV and oral exposure are similar. It is useful for MRSA pneumonia and selected VRE infections. Follow the CBC with prolonged therapy and review serotonergic drugs, neuropathy risk, and drug interactions. TMP-SMX Useful for susceptible urinary pathogens, MRSA skin infection, and several organism-specific indications. Dose by the trimethoprim component. Check potassium (K+), renal function, blood counts, and interacting drugs. Metronidazole Provides anaerobic coverage below the diaphragm and for selected oral anaerobic infections. Adding it to piperacillin-tazobactam or a carbapenem is usually redundant. Nitrofurantoin Nitrofurantoin is a lower-tract drug. It should not be used for pyelonephritis or bacteremia. Oral fosfomycin Its established U.S. role is limited. The oral product is FDA-labeled as a single dose for uncomplicated cystitis in women due to susceptible E. coli or E. faecalis . The label states that it is not indicated for pyelonephritis or perinephric abscess. 40 Two newer oral UTI drugs residents may hear about. Tebipenem pivoxil (Utebzi) is approved for selected adults with complicated UTI, including pyelonephritis, who have limited or no alternative oral options. Sulopenem etzadroxil-probenecid (Orlynvah) is limited to selected adult women with uncomplicated UTI and is not a complicated-UTI step-down drug. Verify site formulary and outpatient access before discussing either as a discharge option. 18 19 Where oral fosfomycin may fit Oral fosfomycin on the inpatient service Clinical question Practical interpretation Uncomplicated cystitis The FDA-labeled regimen is a single 3 g dose for women with uncomplicated cystitis due to susceptible E. coli or E. faecalis . This labeled indication should not be extrapolated to upper-tract or invasive infection. 40 Pyelonephritis or complicated UTI Oral fosfomycin is not suggested as initial therapy because renal-parenchymal exposure is limited. The 2024 WikiGuidelines review found that strong evidence for oral fosfomycin in pyelonephritis was lacking. 1 39 A 2026 randomized trial studied improving adults with ESBL complicated UTI after 3 to 7 days of active IV therapy. Clinical cure was 92.8% with oral fosfomycin 3 g daily and 95.2% with continued IV beta-lactam therapy. This supports consideration as transition therapy in selected patients. It does not establish oral fosfomycin as initial treatment for pyelonephritis. 37 ESBL bloodstream infection IDSA does not suggest oral fosfomycin as routine step-down therapy because serum exposure is limited and clinical data are inadequate. When an active fluoroquinolone or TMP-SMX is available and appropriate, those are better-supported oral options. 1 Klebsiella or another non- E. coli gram-negative organism Do not assume activity from the class or a urine result. IDSA does not suggest oral fosfomycin for gram-negative organisms other than E. coli because fosA genes are common, including in K. pneumoniae , and may compromise activity. Oral susceptibility criteria are also limited. 1 When standard treatment cannot be completed. Oral fosfomycin is not recommended as routine step-down therapy for bacteremia. Occasionally, a patient with cleared urinary-source bacteremia cannot remain for IV treatment and has neither an active preferred oral agent nor a feasible OPAT plan. In that setting, an alternative oral plan may be considered with ID and pharmacy rather than stopping antimicrobial therapy altogether. The evidence is limited, and the rationale and uncertainty should be documented. Fluoroquinolones Fluoroquinolones are not drugs to avoid reflexively. Ciprofloxacin or levofloxacin can be excellent definitive therapy for complicated UTI or pyelonephritis when the organism is susceptible, the source is controlled, absorption is reliable, and the patient has no major contraindication. The 2025 cUTI guideline supports 5–7 days of a fluoroquinolone in improving patients and supports IV-to-oral transition when an effective oral option is available. 2 Oral treatment of susceptible Pseudomonas . Ciprofloxacin and levofloxacin are the only established oral antibiotic class with reliable antipseudomonal activity. Moxifloxacin should not be used for a urinary infection and is not a dependable antipseudomonal drug. Confirm susceptibility before relying on oral fluoroquinolone therapy, because resistance is common and can emerge during treatment. 1 6 Use them with the adverse-effect discussion they deserve. FDA warnings include disabling tendon, muscle, joint, neurologic, and CNS effects; dysglycemia; and risk of aortic aneurysm or dissection in susceptible patients. Review QT risk, renal dosing, drug interactions, and separation from cations or tube feeds. 5</a:t>
            </a:r>
          </a:p>
          <a:p xmlns:a="http://schemas.openxmlformats.org/drawingml/2006/main">
            <a:r>
              <a:t/>
            </a:r>
          </a:p>
          <a:p xmlns:a="http://schemas.openxmlformats.org/drawingml/2006/main">
            <a:r>
              <a:t>Module section: https://docarcshot.github.io/id-practice-update/lectures/Antibiotics_Practical_Primer_Inpatient_Resident.html#other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Other commonly used inpatient agents Vancomycin Useful empirically for serious MRSA infection and selected resistant gram-positive infections. For pharmacy-directed trough monitoring, follow serum creatinine, confirm when the trough should be drawn, and use the indication-specific target in the local pharmacy workflow. Do not apply one trough goal to every syndrome. Fellow context: The 2020 national consensus recommends AUC-guided monitoring for serious MRSA infection. That differs from the current local workflow and should not be substituted at the bedside without a local practice change. 3 Daptomycin Useful for bacteremia and other serious gram-positive infections, including selected VRE infections. It is inactivated by pulmonary surfactant and should not be used for pneumonia. Follow CPK and assess statin use and new muscle symptoms. Dose depends heavily on organism and syndrome. Linezolid IV and oral exposure are similar. It is useful for MRSA pneumonia and selected VRE infections. Follow the CBC with prolonged therapy and review serotonergic drugs, neuropathy risk, and drug interactions. TMP-SMX Useful for susceptible urinary pathogens, MRSA skin infection, and several organism-specific indications. Dose by the trimethoprim component. Check potassium (K+), renal function, blood counts, and interacting drugs. Metronidazole Provides anaerobic coverage below the diaphragm and for selected oral anaerobic infections. Adding it to piperacillin-tazobactam or a carbapenem is usually redundant. Nitrofurantoin Nitrofurantoin is a lower-tract drug. It should not be used for pyelonephritis or bacteremia. Oral fosfomycin Its established U.S. role is limited. The oral product is FDA-labeled as a single dose for uncomplicated cystitis in women due to susceptible E. coli or E. faecalis . The label states that it is not indicated for pyelonephritis or perinephric abscess. 40 Two newer oral UTI drugs residents may hear about. Tebipenem pivoxil (Utebzi) is approved for selected adults with complicated UTI, including pyelonephritis, who have limited or no alternative oral options. Sulopenem etzadroxil-probenecid (Orlynvah) is limited to selected adult women with uncomplicated UTI and is not a complicated-UTI step-down drug. Verify site formulary and outpatient access before discussing either as a discharge option. 18 19 Where oral fosfomycin may fit Oral fosfomycin on the inpatient service Clinical question Practical interpretation Uncomplicated cystitis The FDA-labeled regimen is a single 3 g dose for women with uncomplicated cystitis due to susceptible E. coli or E. faecalis . This labeled indication should not be extrapolated to upper-tract or invasive infection. 40 Pyelonephritis or complicated UTI Oral fosfomycin is not suggested as initial therapy because renal-parenchymal exposure is limited. The 2024 WikiGuidelines review found that strong evidence for oral fosfomycin in pyelonephritis was lacking. 1 39 A 2026 randomized trial studied improving adults with ESBL complicated UTI after 3 to 7 days of active IV therapy. Clinical cure was 92.8% with oral fosfomycin 3 g daily and 95.2% with continued IV beta-lactam therapy. This supports consideration as transition therapy in selected patients. It does not establish oral fosfomycin as initial treatment for pyelonephritis. 37 ESBL bloodstream infection IDSA does not suggest oral fosfomycin as routine step-down therapy because serum exposure is limited and clinical data are inadequate. When an active fluoroquinolone or TMP-SMX is available and appropriate, those are better-supported oral options. 1 Klebsiella or another non- E. coli gram-negative organism Do not assume activity from the class or a urine result. IDSA does not suggest oral fosfomycin for gram-negative organisms other than E. coli because fosA genes are common, including in K. pneumoniae , and may compromise activity. Oral susceptibility criteria are also limited. 1 When standard treatment cannot be completed. Oral fosfomycin is not recommended as routine step-down therapy for bacteremia. Occasionally, a patient with cleared urinary-source bacteremia cannot remain for IV treatment and has neither an active preferred oral agent nor a feasible OPAT plan. In that setting, an alternative oral plan may be considered with ID and pharmacy rather than stopping antimicrobial therapy altogether. The evidence is limited, and the rationale and uncertainty should be documented. Fluoroquinolones Fluoroquinolones are not drugs to avoid reflexively. Ciprofloxacin or levofloxacin can be excellent definitive therapy for complicated UTI or pyelonephritis when the organism is susceptible, the source is controlled, absorption is reliable, and the patient has no major contraindication. The 2025 cUTI guideline supports 5–7 days of a fluoroquinolone in improving patients and supports IV-to-oral transition when an effective oral option is available. 2 Oral treatment of susceptible Pseudomonas . Ciprofloxacin and levofloxacin are the only established oral antibiotic class with reliable antipseudomonal activity. Moxifloxacin should not be used for a urinary infection and is not a dependable antipseudomonal drug. Confirm susceptibility before relying on oral fluoroquinolone therapy, because resistance is common and can emerge during treatment. 1 6 Use them with the adverse-effect discussion they deserve. FDA warnings include disabling tendon, muscle, joint, neurologic, and CNS effects; dysglycemia; and risk of aortic aneurysm or dissection in susceptible patients. Review QT risk, renal dosing, drug interactions, and separation from cations or tube feeds. 5</a:t>
            </a:r>
          </a:p>
          <a:p xmlns:a="http://schemas.openxmlformats.org/drawingml/2006/main">
            <a:r>
              <a:t/>
            </a:r>
          </a:p>
          <a:p xmlns:a="http://schemas.openxmlformats.org/drawingml/2006/main">
            <a:r>
              <a:t>Module section: https://docarcshot.github.io/id-practice-update/lectures/Antibiotics_Practical_Primer_Inpatient_Resident.html#other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Other commonly used inpatient agents Vancomycin Useful empirically for serious MRSA infection and selected resistant gram-positive infections. For pharmacy-directed trough monitoring, follow serum creatinine, confirm when the trough should be drawn, and use the indication-specific target in the local pharmacy workflow. Do not apply one trough goal to every syndrome. Fellow context: The 2020 national consensus recommends AUC-guided monitoring for serious MRSA infection. That differs from the current local workflow and should not be substituted at the bedside without a local practice change. 3 Daptomycin Useful for bacteremia and other serious gram-positive infections, including selected VRE infections. It is inactivated by pulmonary surfactant and should not be used for pneumonia. Follow CPK and assess statin use and new muscle symptoms. Dose depends heavily on organism and syndrome. Linezolid IV and oral exposure are similar. It is useful for MRSA pneumonia and selected VRE infections. Follow the CBC with prolonged therapy and review serotonergic drugs, neuropathy risk, and drug interactions. TMP-SMX Useful for susceptible urinary pathogens, MRSA skin infection, and several organism-specific indications. Dose by the trimethoprim component. Check potassium (K+), renal function, blood counts, and interacting drugs. Metronidazole Provides anaerobic coverage below the diaphragm and for selected oral anaerobic infections. Adding it to piperacillin-tazobactam or a carbapenem is usually redundant. Nitrofurantoin Nitrofurantoin is a lower-tract drug. It should not be used for pyelonephritis or bacteremia. Oral fosfomycin Its established U.S. role is limited. The oral product is FDA-labeled as a single dose for uncomplicated cystitis in women due to susceptible E. coli or E. faecalis . The label states that it is not indicated for pyelonephritis or perinephric abscess. 40 Two newer oral UTI drugs residents may hear about. Tebipenem pivoxil (Utebzi) is approved for selected adults with complicated UTI, including pyelonephritis, who have limited or no alternative oral options. Sulopenem etzadroxil-probenecid (Orlynvah) is limited to selected adult women with uncomplicated UTI and is not a complicated-UTI step-down drug. Verify site formulary and outpatient access before discussing either as a discharge option. 18 19 Where oral fosfomycin may fit Oral fosfomycin on the inpatient service Clinical question Practical interpretation Uncomplicated cystitis The FDA-labeled regimen is a single 3 g dose for women with uncomplicated cystitis due to susceptible E. coli or E. faecalis . This labeled indication should not be extrapolated to upper-tract or invasive infection. 40 Pyelonephritis or complicated UTI Oral fosfomycin is not suggested as initial therapy because renal-parenchymal exposure is limited. The 2024 WikiGuidelines review found that strong evidence for oral fosfomycin in pyelonephritis was lacking. 1 39 A 2026 randomized trial studied improving adults with ESBL complicated UTI after 3 to 7 days of active IV therapy. Clinical cure was 92.8% with oral fosfomycin 3 g daily and 95.2% with continued IV beta-lactam therapy. This supports consideration as transition therapy in selected patients. It does not establish oral fosfomycin as initial treatment for pyelonephritis. 37 ESBL bloodstream infection IDSA does not suggest oral fosfomycin as routine step-down therapy because serum exposure is limited and clinical data are inadequate. When an active fluoroquinolone or TMP-SMX is available and appropriate, those are better-supported oral options. 1 Klebsiella or another non- E. coli gram-negative organism Do not assume activity from the class or a urine result. IDSA does not suggest oral fosfomycin for gram-negative organisms other than E. coli because fosA genes are common, including in K. pneumoniae , and may compromise activity. Oral susceptibility criteria are also limited. 1 When standard treatment cannot be completed. Oral fosfomycin is not recommended as routine step-down therapy for bacteremia. Occasionally, a patient with cleared urinary-source bacteremia cannot remain for IV treatment and has neither an active preferred oral agent nor a feasible OPAT plan. In that setting, an alternative oral plan may be considered with ID and pharmacy rather than stopping antimicrobial therapy altogether. The evidence is limited, and the rationale and uncertainty should be documented. Fluoroquinolones Fluoroquinolones are not drugs to avoid reflexively. Ciprofloxacin or levofloxacin can be excellent definitive therapy for complicated UTI or pyelonephritis when the organism is susceptible, the source is controlled, absorption is reliable, and the patient has no major contraindication. The 2025 cUTI guideline supports 5–7 days of a fluoroquinolone in improving patients and supports IV-to-oral transition when an effective oral option is available. 2 Oral treatment of susceptible Pseudomonas . Ciprofloxacin and levofloxacin are the only established oral antibiotic class with reliable antipseudomonal activity. Moxifloxacin should not be used for a urinary infection and is not a dependable antipseudomonal drug. Confirm susceptibility before relying on oral fluoroquinolone therapy, because resistance is common and can emerge during treatment. 1 6 Use them with the adverse-effect discussion they deserve. FDA warnings include disabling tendon, muscle, joint, neurologic, and CNS effects; dysglycemia; and risk of aortic aneurysm or dissection in susceptible patients. Review QT risk, renal dosing, drug interactions, and separation from cations or tube feeds. 5</a:t>
            </a:r>
          </a:p>
          <a:p xmlns:a="http://schemas.openxmlformats.org/drawingml/2006/main">
            <a:r>
              <a:t/>
            </a:r>
          </a:p>
          <a:p xmlns:a="http://schemas.openxmlformats.org/drawingml/2006/main">
            <a:r>
              <a:t>Module section: https://docarcshot.github.io/id-practice-update/lectures/Antibiotics_Practical_Primer_Inpatient_Resident.html#other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Other commonly used inpatient agents Vancomycin Useful empirically for serious MRSA infection and selected resistant gram-positive infections. For pharmacy-directed trough monitoring, follow serum creatinine, confirm when the trough should be drawn, and use the indication-specific target in the local pharmacy workflow. Do not apply one trough goal to every syndrome. Fellow context: The 2020 national consensus recommends AUC-guided monitoring for serious MRSA infection. That differs from the current local workflow and should not be substituted at the bedside without a local practice change. 3 Daptomycin Useful for bacteremia and other serious gram-positive infections, including selected VRE infections. It is inactivated by pulmonary surfactant and should not be used for pneumonia. Follow CPK and assess statin use and new muscle symptoms. Dose depends heavily on organism and syndrome. Linezolid IV and oral exposure are similar. It is useful for MRSA pneumonia and selected VRE infections. Follow the CBC with prolonged therapy and review serotonergic drugs, neuropathy risk, and drug interactions. TMP-SMX Useful for susceptible urinary pathogens, MRSA skin infection, and several organism-specific indications. Dose by the trimethoprim component. Check potassium (K+), renal function, blood counts, and interacting drugs. Metronidazole Provides anaerobic coverage below the diaphragm and for selected oral anaerobic infections. Adding it to piperacillin-tazobactam or a carbapenem is usually redundant. Nitrofurantoin Nitrofurantoin is a lower-tract drug. It should not be used for pyelonephritis or bacteremia. Oral fosfomycin Its established U.S. role is limited. The oral product is FDA-labeled as a single dose for uncomplicated cystitis in women due to susceptible E. coli or E. faecalis . The label states that it is not indicated for pyelonephritis or perinephric abscess. 40 Two newer oral UTI drugs residents may hear about. Tebipenem pivoxil (Utebzi) is approved for selected adults with complicated UTI, including pyelonephritis, who have limited or no alternative oral options. Sulopenem etzadroxil-probenecid (Orlynvah) is limited to selected adult women with uncomplicated UTI and is not a complicated-UTI step-down drug. Verify site formulary and outpatient access before discussing either as a discharge option. 18 19 Where oral fosfomycin may fit Oral fosfomycin on the inpatient service Clinical question Practical interpretation Uncomplicated cystitis The FDA-labeled regimen is a single 3 g dose for women with uncomplicated cystitis due to susceptible E. coli or E. faecalis . This labeled indication should not be extrapolated to upper-tract or invasive infection. 40 Pyelonephritis or complicated UTI Oral fosfomycin is not suggested as initial therapy because renal-parenchymal exposure is limited. The 2024 WikiGuidelines review found that strong evidence for oral fosfomycin in pyelonephritis was lacking. 1 39 A 2026 randomized trial studied improving adults with ESBL complicated UTI after 3 to 7 days of active IV therapy. Clinical cure was 92.8% with oral fosfomycin 3 g daily and 95.2% with continued IV beta-lactam therapy. This supports consideration as transition therapy in selected patients. It does not establish oral fosfomycin as initial treatment for pyelonephritis. 37 ESBL bloodstream infection IDSA does not suggest oral fosfomycin as routine step-down therapy because serum exposure is limited and clinical data are inadequate. When an active fluoroquinolone or TMP-SMX is available and appropriate, those are better-supported oral options. 1 Klebsiella or another non- E. coli gram-negative organism Do not assume activity from the class or a urine result. IDSA does not suggest oral fosfomycin for gram-negative organisms other than E. coli because fosA genes are common, including in K. pneumoniae , and may compromise activity. Oral susceptibility criteria are also limited. 1 When standard treatment cannot be completed. Oral fosfomycin is not recommended as routine step-down therapy for bacteremia. Occasionally, a patient with cleared urinary-source bacteremia cannot remain for IV treatment and has neither an active preferred oral agent nor a feasible OPAT plan. In that setting, an alternative oral plan may be considered with ID and pharmacy rather than stopping antimicrobial therapy altogether. The evidence is limited, and the rationale and uncertainty should be documented. Fluoroquinolones Fluoroquinolones are not drugs to avoid reflexively. Ciprofloxacin or levofloxacin can be excellent definitive therapy for complicated UTI or pyelonephritis when the organism is susceptible, the source is controlled, absorption is reliable, and the patient has no major contraindication. The 2025 cUTI guideline supports 5–7 days of a fluoroquinolone in improving patients and supports IV-to-oral transition when an effective oral option is available. 2 Oral treatment of susceptible Pseudomonas . Ciprofloxacin and levofloxacin are the only established oral antibiotic class with reliable antipseudomonal activity. Moxifloxacin should not be used for a urinary infection and is not a dependable antipseudomonal drug. Confirm susceptibility before relying on oral fluoroquinolone therapy, because resistance is common and can emerge during treatment. 1 6 Use them with the adverse-effect discussion they deserve. FDA warnings include disabling tendon, muscle, joint, neurologic, and CNS effects; dysglycemia; and risk of aortic aneurysm or dissection in susceptible patients. Review QT risk, renal dosing, drug interactions, and separation from cations or tube feeds. 5</a:t>
            </a:r>
          </a:p>
          <a:p xmlns:a="http://schemas.openxmlformats.org/drawingml/2006/main">
            <a:r>
              <a:t/>
            </a:r>
          </a:p>
          <a:p xmlns:a="http://schemas.openxmlformats.org/drawingml/2006/main">
            <a:r>
              <a:t>Module section: https://docarcshot.github.io/id-practice-update/lectures/Antibiotics_Practical_Primer_Inpatient_Resident.html#other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Other commonly used inpatient agents Vancomycin Useful empirically for serious MRSA infection and selected resistant gram-positive infections. For pharmacy-directed trough monitoring, follow serum creatinine, confirm when the trough should be drawn, and use the indication-specific target in the local pharmacy workflow. Do not apply one trough goal to every syndrome. Fellow context: The 2020 national consensus recommends AUC-guided monitoring for serious MRSA infection. That differs from the current local workflow and should not be substituted at the bedside without a local practice change. 3 Daptomycin Useful for bacteremia and other serious gram-positive infections, including selected VRE infections. It is inactivated by pulmonary surfactant and should not be used for pneumonia. Follow CPK and assess statin use and new muscle symptoms. Dose depends heavily on organism and syndrome. Linezolid IV and oral exposure are similar. It is useful for MRSA pneumonia and selected VRE infections. Follow the CBC with prolonged therapy and review serotonergic drugs, neuropathy risk, and drug interactions. TMP-SMX Useful for susceptible urinary pathogens, MRSA skin infection, and several organism-specific indications. Dose by the trimethoprim component. Check potassium (K+), renal function, blood counts, and interacting drugs. Metronidazole Provides anaerobic coverage below the diaphragm and for selected oral anaerobic infections. Adding it to piperacillin-tazobactam or a carbapenem is usually redundant. Nitrofurantoin Nitrofurantoin is a lower-tract drug. It should not be used for pyelonephritis or bacteremia. Oral fosfomycin Its established U.S. role is limited. The oral product is FDA-labeled as a single dose for uncomplicated cystitis in women due to susceptible E. coli or E. faecalis . The label states that it is not indicated for pyelonephritis or perinephric abscess. 40 Two newer oral UTI drugs residents may hear about. Tebipenem pivoxil (Utebzi) is approved for selected adults with complicated UTI, including pyelonephritis, who have limited or no alternative oral options. Sulopenem etzadroxil-probenecid (Orlynvah) is limited to selected adult women with uncomplicated UTI and is not a complicated-UTI step-down drug. Verify site formulary and outpatient access before discussing either as a discharge option. 18 19 Where oral fosfomycin may fit Oral fosfomycin on the inpatient service Clinical question Practical interpretation Uncomplicated cystitis The FDA-labeled regimen is a single 3 g dose for women with uncomplicated cystitis due to susceptible E. coli or E. faecalis . This labeled indication should not be extrapolated to upper-tract or invasive infection. 40 Pyelonephritis or complicated UTI Oral fosfomycin is not suggested as initial therapy because renal-parenchymal exposure is limited. The 2024 WikiGuidelines review found that strong evidence for oral fosfomycin in pyelonephritis was lacking. 1 39 A 2026 randomized trial studied improving adults with ESBL complicated UTI after 3 to 7 days of active IV therapy. Clinical cure was 92.8% with oral fosfomycin 3 g daily and 95.2% with continued IV beta-lactam therapy. This supports consideration as transition therapy in selected patients. It does not establish oral fosfomycin as initial treatment for pyelonephritis. 37 ESBL bloodstream infection IDSA does not suggest oral fosfomycin as routine step-down therapy because serum exposure is limited and clinical data are inadequate. When an active fluoroquinolone or TMP-SMX is available and appropriate, those are better-supported oral options. 1 Klebsiella or another non- E. coli gram-negative organism Do not assume activity from the class or a urine result. IDSA does not suggest oral fosfomycin for gram-negative organisms other than E. coli because fosA genes are common, including in K. pneumoniae , and may compromise activity. Oral susceptibility criteria are also limited. 1 When standard treatment cannot be completed. Oral fosfomycin is not recommended as routine step-down therapy for bacteremia. Occasionally, a patient with cleared urinary-source bacteremia cannot remain for IV treatment and has neither an active preferred oral agent nor a feasible OPAT plan. In that setting, an alternative oral plan may be considered with ID and pharmacy rather than stopping antimicrobial therapy altogether. The evidence is limited, and the rationale and uncertainty should be documented. Fluoroquinolones Fluoroquinolones are not drugs to avoid reflexively. Ciprofloxacin or levofloxacin can be excellent definitive therapy for complicated UTI or pyelonephritis when the organism is susceptible, the source is controlled, absorption is reliable, and the patient has no major contraindication. The 2025 cUTI guideline supports 5–7 days of a fluoroquinolone in improving patients and supports IV-to-oral transition when an effective oral option is available. 2 Oral treatment of susceptible Pseudomonas . Ciprofloxacin and levofloxacin are the only established oral antibiotic class with reliable antipseudomonal activity. Moxifloxacin should not be used for a urinary infection and is not a dependable antipseudomonal drug. Confirm susceptibility before relying on oral fluoroquinolone therapy, because resistance is common and can emerge during treatment. 1 6 Use them with the adverse-effect discussion they deserve. FDA warnings include disabling tendon, muscle, joint, neurologic, and CNS effects; dysglycemia; and risk of aortic aneurysm or dissection in susceptible patients. Review QT risk, renal dosing, drug interactions, and separation from cations or tube feeds. 5</a:t>
            </a:r>
          </a:p>
          <a:p xmlns:a="http://schemas.openxmlformats.org/drawingml/2006/main">
            <a:r>
              <a:t/>
            </a:r>
          </a:p>
          <a:p xmlns:a="http://schemas.openxmlformats.org/drawingml/2006/main">
            <a:r>
              <a:t>Module section: https://docarcshot.github.io/id-practice-update/lectures/Antibiotics_Practical_Primer_Inpatient_Resident.html#other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Other commonly used inpatient agents Vancomycin Useful empirically for serious MRSA infection and selected resistant gram-positive infections. For pharmacy-directed trough monitoring, follow serum creatinine, confirm when the trough should be drawn, and use the indication-specific target in the local pharmacy workflow. Do not apply one trough goal to every syndrome. Fellow context: The 2020 national consensus recommends AUC-guided monitoring for serious MRSA infection. That differs from the current local workflow and should not be substituted at the bedside without a local practice change. 3 Daptomycin Useful for bacteremia and other serious gram-positive infections, including selected VRE infections. It is inactivated by pulmonary surfactant and should not be used for pneumonia. Follow CPK and assess statin use and new muscle symptoms. Dose depends heavily on organism and syndrome. Linezolid IV and oral exposure are similar. It is useful for MRSA pneumonia and selected VRE infections. Follow the CBC with prolonged therapy and review serotonergic drugs, neuropathy risk, and drug interactions. TMP-SMX Useful for susceptible urinary pathogens, MRSA skin infection, and several organism-specific indications. Dose by the trimethoprim component. Check potassium (K+), renal function, blood counts, and interacting drugs. Metronidazole Provides anaerobic coverage below the diaphragm and for selected oral anaerobic infections. Adding it to piperacillin-tazobactam or a carbapenem is usually redundant. Nitrofurantoin Nitrofurantoin is a lower-tract drug. It should not be used for pyelonephritis or bacteremia. Oral fosfomycin Its established U.S. role is limited. The oral product is FDA-labeled as a single dose for uncomplicated cystitis in women due to susceptible E. coli or E. faecalis . The label states that it is not indicated for pyelonephritis or perinephric abscess. 40 Two newer oral UTI drugs residents may hear about. Tebipenem pivoxil (Utebzi) is approved for selected adults with complicated UTI, including pyelonephritis, who have limited or no alternative oral options. Sulopenem etzadroxil-probenecid (Orlynvah) is limited to selected adult women with uncomplicated UTI and is not a complicated-UTI step-down drug. Verify site formulary and outpatient access before discussing either as a discharge option. 18 19 Where oral fosfomycin may fit Oral fosfomycin on the inpatient service Clinical question Practical interpretation Uncomplicated cystitis The FDA-labeled regimen is a single 3 g dose for women with uncomplicated cystitis due to susceptible E. coli or E. faecalis . This labeled indication should not be extrapolated to upper-tract or invasive infection. 40 Pyelonephritis or complicated UTI Oral fosfomycin is not suggested as initial therapy because renal-parenchymal exposure is limited. The 2024 WikiGuidelines review found that strong evidence for oral fosfomycin in pyelonephritis was lacking. 1 39 A 2026 randomized trial studied improving adults with ESBL complicated UTI after 3 to 7 days of active IV therapy. Clinical cure was 92.8% with oral fosfomycin 3 g daily and 95.2% with continued IV beta-lactam therapy. This supports consideration as transition therapy in selected patients. It does not establish oral fosfomycin as initial treatment for pyelonephritis. 37 ESBL bloodstream infection IDSA does not suggest oral fosfomycin as routine step-down therapy because serum exposure is limited and clinical data are inadequate. When an active fluoroquinolone or TMP-SMX is available and appropriate, those are better-supported oral options. 1 Klebsiella or another non- E. coli gram-negative organism Do not assume activity from the class or a urine result. IDSA does not suggest oral fosfomycin for gram-negative organisms other than E. coli because fosA genes are common, including in K. pneumoniae , and may compromise activity. Oral susceptibility criteria are also limited. 1 When standard treatment cannot be completed. Oral fosfomycin is not recommended as routine step-down therapy for bacteremia. Occasionally, a patient with cleared urinary-source bacteremia cannot remain for IV treatment and has neither an active preferred oral agent nor a feasible OPAT plan. In that setting, an alternative oral plan may be considered with ID and pharmacy rather than stopping antimicrobial therapy altogether. The evidence is limited, and the rationale and uncertainty should be documented. Fluoroquinolones Fluoroquinolones are not drugs to avoid reflexively. Ciprofloxacin or levofloxacin can be excellent definitive therapy for complicated UTI or pyelonephritis when the organism is susceptible, the source is controlled, absorption is reliable, and the patient has no major contraindication. The 2025 cUTI guideline supports 5–7 days of a fluoroquinolone in improving patients and supports IV-to-oral transition when an effective oral option is available. 2 Oral treatment of susceptible Pseudomonas . Ciprofloxacin and levofloxacin are the only established oral antibiotic class with reliable antipseudomonal activity. Moxifloxacin should not be used for a urinary infection and is not a dependable antipseudomonal drug. Confirm susceptibility before relying on oral fluoroquinolone therapy, because resistance is common and can emerge during treatment. 1 6 Use them with the adverse-effect discussion they deserve. FDA warnings include disabling tendon, muscle, joint, neurologic, and CNS effects; dysglycemia; and risk of aortic aneurysm or dissection in susceptible patients. Review QT risk, renal dosing, drug interactions, and separation from cations or tube feeds. 5</a:t>
            </a:r>
          </a:p>
          <a:p xmlns:a="http://schemas.openxmlformats.org/drawingml/2006/main">
            <a:r>
              <a:t/>
            </a:r>
          </a:p>
          <a:p xmlns:a="http://schemas.openxmlformats.org/drawingml/2006/main">
            <a:r>
              <a:t>Module section: https://docarcshot.github.io/id-practice-update/lectures/Antibiotics_Practical_Primer_Inpatient_Resident.html#other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Other commonly used inpatient agents Vancomycin Useful empirically for serious MRSA infection and selected resistant gram-positive infections. For pharmacy-directed trough monitoring, follow serum creatinine, confirm when the trough should be drawn, and use the indication-specific target in the local pharmacy workflow. Do not apply one trough goal to every syndrome. Fellow context: The 2020 national consensus recommends AUC-guided monitoring for serious MRSA infection. That differs from the current local workflow and should not be substituted at the bedside without a local practice change. 3 Daptomycin Useful for bacteremia and other serious gram-positive infections, including selected VRE infections. It is inactivated by pulmonary surfactant and should not be used for pneumonia. Follow CPK and assess statin use and new muscle symptoms. Dose depends heavily on organism and syndrome. Linezolid IV and oral exposure are similar. It is useful for MRSA pneumonia and selected VRE infections. Follow the CBC with prolonged therapy and review serotonergic drugs, neuropathy risk, and drug interactions. TMP-SMX Useful for susceptible urinary pathogens, MRSA skin infection, and several organism-specific indications. Dose by the trimethoprim component. Check potassium (K+), renal function, blood counts, and interacting drugs. Metronidazole Provides anaerobic coverage below the diaphragm and for selected oral anaerobic infections. Adding it to piperacillin-tazobactam or a carbapenem is usually redundant. Nitrofurantoin Nitrofurantoin is a lower-tract drug. It should not be used for pyelonephritis or bacteremia. Oral fosfomycin Its established U.S. role is limited. The oral product is FDA-labeled as a single dose for uncomplicated cystitis in women due to susceptible E. coli or E. faecalis . The label states that it is not indicated for pyelonephritis or perinephric abscess. 40 Two newer oral UTI drugs residents may hear about. Tebipenem pivoxil (Utebzi) is approved for selected adults with complicated UTI, including pyelonephritis, who have limited or no alternative oral options. Sulopenem etzadroxil-probenecid (Orlynvah) is limited to selected adult women with uncomplicated UTI and is not a complicated-UTI step-down drug. Verify site formulary and outpatient access before discussing either as a discharge option. 18 19 Where oral fosfomycin may fit Oral fosfomycin on the inpatient service Clinical question Practical interpretation Uncomplicated cystitis The FDA-labeled regimen is a single 3 g dose for women with uncomplicated cystitis due to susceptible E. coli or E. faecalis . This labeled indication should not be extrapolated to upper-tract or invasive infection. 40 Pyelonephritis or complicated UTI Oral fosfomycin is not suggested as initial therapy because renal-parenchymal exposure is limited. The 2024 WikiGuidelines review found that strong evidence for oral fosfomycin in pyelonephritis was lacking. 1 39 A 2026 randomized trial studied improving adults with ESBL complicated UTI after 3 to 7 days of active IV therapy. Clinical cure was 92.8% with oral fosfomycin 3 g daily and 95.2% with continued IV beta-lactam therapy. This supports consideration as transition therapy in selected patients. It does not establish oral fosfomycin as initial treatment for pyelonephritis. 37 ESBL bloodstream infection IDSA does not suggest oral fosfomycin as routine step-down therapy because serum exposure is limited and clinical data are inadequate. When an active fluoroquinolone or TMP-SMX is available and appropriate, those are better-supported oral options. 1 Klebsiella or another non- E. coli gram-negative organism Do not assume activity from the class or a urine result. IDSA does not suggest oral fosfomycin for gram-negative organisms other than E. coli because fosA genes are common, including in K. pneumoniae , and may compromise activity. Oral susceptibility criteria are also limited. 1 When standard treatment cannot be completed. Oral fosfomycin is not recommended as routine step-down therapy for bacteremia. Occasionally, a patient with cleared urinary-source bacteremia cannot remain for IV treatment and has neither an active preferred oral agent nor a feasible OPAT plan. In that setting, an alternative oral plan may be considered with ID and pharmacy rather than stopping antimicrobial therapy altogether. The evidence is limited, and the rationale and uncertainty should be documented. Fluoroquinolones Fluoroquinolones are not drugs to avoid reflexively. Ciprofloxacin or levofloxacin can be excellent definitive therapy for complicated UTI or pyelonephritis when the organism is susceptible, the source is controlled, absorption is reliable, and the patient has no major contraindication. The 2025 cUTI guideline supports 5–7 days of a fluoroquinolone in improving patients and supports IV-to-oral transition when an effective oral option is available. 2 Oral treatment of susceptible Pseudomonas . Ciprofloxacin and levofloxacin are the only established oral antibiotic class with reliable antipseudomonal activity. Moxifloxacin should not be used for a urinary infection and is not a dependable antipseudomonal drug. Confirm susceptibility before relying on oral fluoroquinolone therapy, because resistance is common and can emerge during treatment. 1 6 Use them with the adverse-effect discussion they deserve. FDA warnings include disabling tendon, muscle, joint, neurologic, and CNS effects; dysglycemia; and risk of aortic aneurysm or dissection in susceptible patients. Review QT risk, renal dosing, drug interactions, and separation from cations or tube feeds. 5</a:t>
            </a:r>
          </a:p>
          <a:p xmlns:a="http://schemas.openxmlformats.org/drawingml/2006/main">
            <a:r>
              <a:t/>
            </a:r>
          </a:p>
          <a:p xmlns:a="http://schemas.openxmlformats.org/drawingml/2006/main">
            <a:r>
              <a:t>Module section: https://docarcshot.github.io/id-practice-update/lectures/Antibiotics_Practical_Primer_Inpatient_Resident.html#other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Other commonly used inpatient agents Vancomycin Useful empirically for serious MRSA infection and selected resistant gram-positive infections. For pharmacy-directed trough monitoring, follow serum creatinine, confirm when the trough should be drawn, and use the indication-specific target in the local pharmacy workflow. Do not apply one trough goal to every syndrome. Fellow context: The 2020 national consensus recommends AUC-guided monitoring for serious MRSA infection. That differs from the current local workflow and should not be substituted at the bedside without a local practice change. 3 Daptomycin Useful for bacteremia and other serious gram-positive infections, including selected VRE infections. It is inactivated by pulmonary surfactant and should not be used for pneumonia. Follow CPK and assess statin use and new muscle symptoms. Dose depends heavily on organism and syndrome. Linezolid IV and oral exposure are similar. It is useful for MRSA pneumonia and selected VRE infections. Follow the CBC with prolonged therapy and review serotonergic drugs, neuropathy risk, and drug interactions. TMP-SMX Useful for susceptible urinary pathogens, MRSA skin infection, and several organism-specific indications. Dose by the trimethoprim component. Check potassium (K+), renal function, blood counts, and interacting drugs. Metronidazole Provides anaerobic coverage below the diaphragm and for selected oral anaerobic infections. Adding it to piperacillin-tazobactam or a carbapenem is usually redundant. Nitrofurantoin Nitrofurantoin is a lower-tract drug. It should not be used for pyelonephritis or bacteremia. Oral fosfomycin Its established U.S. role is limited. The oral product is FDA-labeled as a single dose for uncomplicated cystitis in women due to susceptible E. coli or E. faecalis . The label states that it is not indicated for pyelonephritis or perinephric abscess. 40 Two newer oral UTI drugs residents may hear about. Tebipenem pivoxil (Utebzi) is approved for selected adults with complicated UTI, including pyelonephritis, who have limited or no alternative oral options. Sulopenem etzadroxil-probenecid (Orlynvah) is limited to selected adult women with uncomplicated UTI and is not a complicated-UTI step-down drug. Verify site formulary and outpatient access before discussing either as a discharge option. 18 19 Where oral fosfomycin may fit Oral fosfomycin on the inpatient service Clinical question Practical interpretation Uncomplicated cystitis The FDA-labeled regimen is a single 3 g dose for women with uncomplicated cystitis due to susceptible E. coli or E. faecalis . This labeled indication should not be extrapolated to upper-tract or invasive infection. 40 Pyelonephritis or complicated UTI Oral fosfomycin is not suggested as initial therapy because renal-parenchymal exposure is limited. The 2024 WikiGuidelines review found that strong evidence for oral fosfomycin in pyelonephritis was lacking. 1 39 A 2026 randomized trial studied improving adults with ESBL complicated UTI after 3 to 7 days of active IV therapy. Clinical cure was 92.8% with oral fosfomycin 3 g daily and 95.2% with continued IV beta-lactam therapy. This supports consideration as transition therapy in selected patients. It does not establish oral fosfomycin as initial treatment for pyelonephritis. 37 ESBL bloodstream infection IDSA does not suggest oral fosfomycin as routine step-down therapy because serum exposure is limited and clinical data are inadequate. When an active fluoroquinolone or TMP-SMX is available and appropriate, those are better-supported oral options. 1 Klebsiella or another non- E. coli gram-negative organism Do not assume activity from the class or a urine result. IDSA does not suggest oral fosfomycin for gram-negative organisms other than E. coli because fosA genes are common, including in K. pneumoniae , and may compromise activity. Oral susceptibility criteria are also limited. 1 When standard treatment cannot be completed. Oral fosfomycin is not recommended as routine step-down therapy for bacteremia. Occasionally, a patient with cleared urinary-source bacteremia cannot remain for IV treatment and has neither an active preferred oral agent nor a feasible OPAT plan. In that setting, an alternative oral plan may be considered with ID and pharmacy rather than stopping antimicrobial therapy altogether. The evidence is limited, and the rationale and uncertainty should be documented. Fluoroquinolones Fluoroquinolones are not drugs to avoid reflexively. Ciprofloxacin or levofloxacin can be excellent definitive therapy for complicated UTI or pyelonephritis when the organism is susceptible, the source is controlled, absorption is reliable, and the patient has no major contraindication. The 2025 cUTI guideline supports 5–7 days of a fluoroquinolone in improving patients and supports IV-to-oral transition when an effective oral option is available. 2 Oral treatment of susceptible Pseudomonas . Ciprofloxacin and levofloxacin are the only established oral antibiotic class with reliable antipseudomonal activity. Moxifloxacin should not be used for a urinary infection and is not a dependable antipseudomonal drug. Confirm susceptibility before relying on oral fluoroquinolone therapy, because resistance is common and can emerge during treatment. 1 6 Use them with the adverse-effect discussion they deserve. FDA warnings include disabling tendon, muscle, joint, neurologic, and CNS effects; dysglycemia; and risk of aortic aneurysm or dissection in susceptible patients. Review QT risk, renal dosing, drug interactions, and separation from cations or tube feeds. 5</a:t>
            </a:r>
          </a:p>
          <a:p xmlns:a="http://schemas.openxmlformats.org/drawingml/2006/main">
            <a:r>
              <a:t/>
            </a:r>
          </a:p>
          <a:p xmlns:a="http://schemas.openxmlformats.org/drawingml/2006/main">
            <a:r>
              <a:t>Module section: https://docarcshot.github.io/id-practice-update/lectures/Antibiotics_Practical_Primer_Inpatient_Resident.html#other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Other commonly used inpatient agents Vancomycin Useful empirically for serious MRSA infection and selected resistant gram-positive infections. For pharmacy-directed trough monitoring, follow serum creatinine, confirm when the trough should be drawn, and use the indication-specific target in the local pharmacy workflow. Do not apply one trough goal to every syndrome. Fellow context: The 2020 national consensus recommends AUC-guided monitoring for serious MRSA infection. That differs from the current local workflow and should not be substituted at the bedside without a local practice change. 3 Daptomycin Useful for bacteremia and other serious gram-positive infections, including selected VRE infections. It is inactivated by pulmonary surfactant and should not be used for pneumonia. Follow CPK and assess statin use and new muscle symptoms. Dose depends heavily on organism and syndrome. Linezolid IV and oral exposure are similar. It is useful for MRSA pneumonia and selected VRE infections. Follow the CBC with prolonged therapy and review serotonergic drugs, neuropathy risk, and drug interactions. TMP-SMX Useful for susceptible urinary pathogens, MRSA skin infection, and several organism-specific indications. Dose by the trimethoprim component. Check potassium (K+), renal function, blood counts, and interacting drugs. Metronidazole Provides anaerobic coverage below the diaphragm and for selected oral anaerobic infections. Adding it to piperacillin-tazobactam or a carbapenem is usually redundant. Nitrofurantoin Nitrofurantoin is a lower-tract drug. It should not be used for pyelonephritis or bacteremia. Oral fosfomycin Its established U.S. role is limited. The oral product is FDA-labeled as a single dose for uncomplicated cystitis in women due to susceptible E. coli or E. faecalis . The label states that it is not indicated for pyelonephritis or perinephric abscess. 40 Two newer oral UTI drugs residents may hear about. Tebipenem pivoxil (Utebzi) is approved for selected adults with complicated UTI, including pyelonephritis, who have limited or no alternative oral options. Sulopenem etzadroxil-probenecid (Orlynvah) is limited to selected adult women with uncomplicated UTI and is not a complicated-UTI step-down drug. Verify site formulary and outpatient access before discussing either as a discharge option. 18 19 Where oral fosfomycin may fit Oral fosfomycin on the inpatient service Clinical question Practical interpretation Uncomplicated cystitis The FDA-labeled regimen is a single 3 g dose for women with uncomplicated cystitis due to susceptible E. coli or E. faecalis . This labeled indication should not be extrapolated to upper-tract or invasive infection. 40 Pyelonephritis or complicated UTI Oral fosfomycin is not suggested as initial therapy because renal-parenchymal exposure is limited. The 2024 WikiGuidelines review found that strong evidence for oral fosfomycin in pyelonephritis was lacking. 1 39 A 2026 randomized trial studied improving adults with ESBL complicated UTI after 3 to 7 days of active IV therapy. Clinical cure was 92.8% with oral fosfomycin 3 g daily and 95.2% with continued IV beta-lactam therapy. This supports consideration as transition therapy in selected patients. It does not establish oral fosfomycin as initial treatment for pyelonephritis. 37 ESBL bloodstream infection IDSA does not suggest oral fosfomycin as routine step-down therapy because serum exposure is limited and clinical data are inadequate. When an active fluoroquinolone or TMP-SMX is available and appropriate, those are better-supported oral options. 1 Klebsiella or another non- E. coli gram-negative organism Do not assume activity from the class or a urine result. IDSA does not suggest oral fosfomycin for gram-negative organisms other than E. coli because fosA genes are common, including in K. pneumoniae , and may compromise activity. Oral susceptibility criteria are also limited. 1 When standard treatment cannot be completed. Oral fosfomycin is not recommended as routine step-down therapy for bacteremia. Occasionally, a patient with cleared urinary-source bacteremia cannot remain for IV treatment and has neither an active preferred oral agent nor a feasible OPAT plan. In that setting, an alternative oral plan may be considered with ID and pharmacy rather than stopping antimicrobial therapy altogether. The evidence is limited, and the rationale and uncertainty should be documented. Fluoroquinolones Fluoroquinolones are not drugs to avoid reflexively. Ciprofloxacin or levofloxacin can be excellent definitive therapy for complicated UTI or pyelonephritis when the organism is susceptible, the source is controlled, absorption is reliable, and the patient has no major contraindication. The 2025 cUTI guideline supports 5–7 days of a fluoroquinolone in improving patients and supports IV-to-oral transition when an effective oral option is available. 2 Oral treatment of susceptible Pseudomonas . Ciprofloxacin and levofloxacin are the only established oral antibiotic class with reliable antipseudomonal activity. Moxifloxacin should not be used for a urinary infection and is not a dependable antipseudomonal drug. Confirm susceptibility before relying on oral fluoroquinolone therapy, because resistance is common and can emerge during treatment. 1 6 Use them with the adverse-effect discussion they deserve. FDA warnings include disabling tendon, muscle, joint, neurologic, and CNS effects; dysglycemia; and risk of aortic aneurysm or dissection in susceptible patients. Review QT risk, renal dosing, drug interactions, and separation from cations or tube feeds. 5</a:t>
            </a:r>
          </a:p>
          <a:p xmlns:a="http://schemas.openxmlformats.org/drawingml/2006/main">
            <a:r>
              <a:t/>
            </a:r>
          </a:p>
          <a:p xmlns:a="http://schemas.openxmlformats.org/drawingml/2006/main">
            <a:r>
              <a:t>Module section: https://docarcshot.github.io/id-practice-update/lectures/Antibiotics_Practical_Primer_Inpatient_Resident.html#other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Other commonly used inpatient agents Vancomycin Useful empirically for serious MRSA infection and selected resistant gram-positive infections. For pharmacy-directed trough monitoring, follow serum creatinine, confirm when the trough should be drawn, and use the indication-specific target in the local pharmacy workflow. Do not apply one trough goal to every syndrome. Fellow context: The 2020 national consensus recommends AUC-guided monitoring for serious MRSA infection. That differs from the current local workflow and should not be substituted at the bedside without a local practice change. 3 Daptomycin Useful for bacteremia and other serious gram-positive infections, including selected VRE infections. It is inactivated by pulmonary surfactant and should not be used for pneumonia. Follow CPK and assess statin use and new muscle symptoms. Dose depends heavily on organism and syndrome. Linezolid IV and oral exposure are similar. It is useful for MRSA pneumonia and selected VRE infections. Follow the CBC with prolonged therapy and review serotonergic drugs, neuropathy risk, and drug interactions. TMP-SMX Useful for susceptible urinary pathogens, MRSA skin infection, and several organism-specific indications. Dose by the trimethoprim component. Check potassium (K+), renal function, blood counts, and interacting drugs. Metronidazole Provides anaerobic coverage below the diaphragm and for selected oral anaerobic infections. Adding it to piperacillin-tazobactam or a carbapenem is usually redundant. Nitrofurantoin Nitrofurantoin is a lower-tract drug. It should not be used for pyelonephritis or bacteremia. Oral fosfomycin Its established U.S. role is limited. The oral product is FDA-labeled as a single dose for uncomplicated cystitis in women due to susceptible E. coli or E. faecalis . The label states that it is not indicated for pyelonephritis or perinephric abscess. 40 Two newer oral UTI drugs residents may hear about. Tebipenem pivoxil (Utebzi) is approved for selected adults with complicated UTI, including pyelonephritis, who have limited or no alternative oral options. Sulopenem etzadroxil-probenecid (Orlynvah) is limited to selected adult women with uncomplicated UTI and is not a complicated-UTI step-down drug. Verify site formulary and outpatient access before discussing either as a discharge option. 18 19 Where oral fosfomycin may fit Oral fosfomycin on the inpatient service Clinical question Practical interpretation Uncomplicated cystitis The FDA-labeled regimen is a single 3 g dose for women with uncomplicated cystitis due to susceptible E. coli or E. faecalis . This labeled indication should not be extrapolated to upper-tract or invasive infection. 40 Pyelonephritis or complicated UTI Oral fosfomycin is not suggested as initial therapy because renal-parenchymal exposure is limited. The 2024 WikiGuidelines review found that strong evidence for oral fosfomycin in pyelonephritis was lacking. 1 39 A 2026 randomized trial studied improving adults with ESBL complicated UTI after 3 to 7 days of active IV therapy. Clinical cure was 92.8% with oral fosfomycin 3 g daily and 95.2% with continued IV beta-lactam therapy. This supports consideration as transition therapy in selected patients. It does not establish oral fosfomycin as initial treatment for pyelonephritis. 37 ESBL bloodstream infection IDSA does not suggest oral fosfomycin as routine step-down therapy because serum exposure is limited and clinical data are inadequate. When an active fluoroquinolone or TMP-SMX is available and appropriate, those are better-supported oral options. 1 Klebsiella or another non- E. coli gram-negative organism Do not assume activity from the class or a urine result. IDSA does not suggest oral fosfomycin for gram-negative organisms other than E. coli because fosA genes are common, including in K. pneumoniae , and may compromise activity. Oral susceptibility criteria are also limited. 1 When standard treatment cannot be completed. Oral fosfomycin is not recommended as routine step-down therapy for bacteremia. Occasionally, a patient with cleared urinary-source bacteremia cannot remain for IV treatment and has neither an active preferred oral agent nor a feasible OPAT plan. In that setting, an alternative oral plan may be considered with ID and pharmacy rather than stopping antimicrobial therapy altogether. The evidence is limited, and the rationale and uncertainty should be documented. Fluoroquinolones Fluoroquinolones are not drugs to avoid reflexively. Ciprofloxacin or levofloxacin can be excellent definitive therapy for complicated UTI or pyelonephritis when the organism is susceptible, the source is controlled, absorption is reliable, and the patient has no major contraindication. The 2025 cUTI guideline supports 5–7 days of a fluoroquinolone in improving patients and supports IV-to-oral transition when an effective oral option is available. 2 Oral treatment of susceptible Pseudomonas . Ciprofloxacin and levofloxacin are the only established oral antibiotic class with reliable antipseudomonal activity. Moxifloxacin should not be used for a urinary infection and is not a dependable antipseudomonal drug. Confirm susceptibility before relying on oral fluoroquinolone therapy, because resistance is common and can emerge during treatment. 1 6 Use them with the adverse-effect discussion they deserve. FDA warnings include disabling tendon, muscle, joint, neurologic, and CNS effects; dysglycemia; and risk of aortic aneurysm or dissection in susceptible patients. Review QT risk, renal dosing, drug interactions, and separation from cations or tube feeds. 5</a:t>
            </a:r>
          </a:p>
          <a:p xmlns:a="http://schemas.openxmlformats.org/drawingml/2006/main">
            <a:r>
              <a:t/>
            </a:r>
          </a:p>
          <a:p xmlns:a="http://schemas.openxmlformats.org/drawingml/2006/main">
            <a:r>
              <a:t>Module section: https://docarcshot.github.io/id-practice-update/lectures/Antibiotics_Practical_Primer_Inpatient_Resident.html#other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Laboratory monitoring Monitoring depends on illness severity, organ-function stability, treatment length, concomitant drugs, and whether the patient remains hospitalized or is leaving on OPAT. Start with the CBC, creatinine and estimated renal function, hepatic profile when relevant, major drug interactions, and any baseline abnormality likely to affect later interpretation. The table covers the agents residents manage most often. Practical monitoring for commonly used inpatient antimicrobials Drug or group Routine laboratory plan When to monitor more closely Common penicillins and cephalosporins Examples: ampicillin, ampicillin-sulbactam, piperacillin-tazobactam, cefazolin, ceftriaxone Review renal function for drugs that require renal adjustment. Add a CBC and hepatic profile during prolonged therapy. Monitor sooner with AKI, cytopenia, rash, eosinophilia, or possible drug-induced liver injury. With piperacillin-tazobactam, review sodium load and potassium when clinically relevant. With ceftriaxone, investigate biliary symptoms or a new cholestatic pattern. Cefepime and carbapenems Examples: ertapenem, meropenem Review renal function and adjust the dose promptly when it changes. Add a CBC and hepatic profile during prolonged therapy. AKI, older age, encephalopathy, myoclonus, aphasia, or seizures. Review any concomitant valproate before using a carbapenem because the interaction can markedly lower valproate concentrations. Vancomycin Serum creatinine and trough monitoring through the treating pharmacy workflow. Confirm the correct collection time and the indication-specific local target; no single trough goal applies to every syndrome. Unstable renal function, critical illness, dialysis, obesity, concurrent nephrotoxins, or an unexpectedly high or low trough. The 2020 national consensus recommends AUC-guided monitoring for serious MRSA infection; check the service-specific workflow. 3 Daptomycin Baseline and at least weekly CPK; renal function for dosing. 25 Monitor CPK and renal function more often with renal impairment, rising CPK, muscle pain or weakness, or concurrent statin exposure. New fever, hypoxemia, and infiltrates after several weeks should raise concern for eosinophilic pneumonia. Linezolid CBC at least weekly. Review sodium in patients at risk for hyponatremia and glucose in patients receiving hypoglycemic therapy. 26 Treatment beyond 2 weeks, renal or hepatic impairment, baseline marrow suppression, falling platelets, unexplained acidosis, neuropathic symptoms, or visual symptoms. TMP-SMX Potassium (K+), renal function, and CBC. The apparent creatinine rise from trimethoprim may reflect inhibited tubular secretion, but true AKI also occurs. 27 Check K+ and renal function more closely with CKD, high-dose therapy, an ACE inhibitor, ARB, spironolactone, or another hyperkalemia risk. Monitor more closely with cytopenia or concurrent methotrexate. Add sodium and hepatic testing when the clinical context warrants it. Ciprofloxacin, levofloxacin, and moxifloxacin Review renal function for ciprofloxacin and levofloxacin dosing; moxifloxacin does not use renal dose adjustment. Routine ECG or glucose checks are not required for every patient. Check glucose more closely in patients with diabetes or dysglycemia risk. Obtain electrolytes and consider an ECG when QT risk is meaningful. Reassess promptly for hepatitis, cytopenia, or severe adverse symptoms. 5 Metronidazole CBC is reasonable for a prolonged or repeated course; review hepatic function when severe liver disease may alter exposure. 28 Neurologic symptoms, leukopenia, prolonged therapy, or concurrent warfarin. Follow the INR when the drugs are combined. Nitrofurantoin Confirm adequate renal function before use. A brief cystitis course usually does not need serial laboratory testing. For long-term suppression, periodically review renal and hepatic function and actively ask about cough, dyspnea, neuropathy, and hepatitis symptoms. 29 Fluconazole Renal function for dosing and hepatic profile during systemic or prolonged therapy. 30 Abnormal liver tests, interacting drugs, or meaningful QT risk. Check potassium and magnesium and consider an ECG when torsades risk is present; follow the INR with warfarin. For ceftaroline, ceftobiprole, newer beta-lactam/beta-lactamase inhibitor combinations, cefiderocol, sulbactam-durlobactam, and other restricted agents, use the current prescribing information and the local ID pharmacy monitoring plan. Discharge and OPAT. Name the laboratory tests, timing, responsible clinician, result destination, toxicity threshold that should trigger a call, and planned stop date. “Weekly labs” without ownership is not a safe OPAT plan.</a:t>
            </a:r>
          </a:p>
          <a:p xmlns:a="http://schemas.openxmlformats.org/drawingml/2006/main">
            <a:r>
              <a:t/>
            </a:r>
          </a:p>
          <a:p xmlns:a="http://schemas.openxmlformats.org/drawingml/2006/main">
            <a:r>
              <a:t>Module section: https://docarcshot.github.io/id-practice-update/lectures/Antibiotics_Practical_Primer_Inpatient_Resident.html#monitoring</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Laboratory monitoring Monitoring depends on illness severity, organ-function stability, treatment length, concomitant drugs, and whether the patient remains hospitalized or is leaving on OPAT. Start with the CBC, creatinine and estimated renal function, hepatic profile when relevant, major drug interactions, and any baseline abnormality likely to affect later interpretation. The table covers the agents residents manage most often. Practical monitoring for commonly used inpatient antimicrobials Drug or group Routine laboratory plan When to monitor more closely Common penicillins and cephalosporins Examples: ampicillin, ampicillin-sulbactam, piperacillin-tazobactam, cefazolin, ceftriaxone Review renal function for drugs that require renal adjustment. Add a CBC and hepatic profile during prolonged therapy. Monitor sooner with AKI, cytopenia, rash, eosinophilia, or possible drug-induced liver injury. With piperacillin-tazobactam, review sodium load and potassium when clinically relevant. With ceftriaxone, investigate biliary symptoms or a new cholestatic pattern. Cefepime and carbapenems Examples: ertapenem, meropenem Review renal function and adjust the dose promptly when it changes. Add a CBC and hepatic profile during prolonged therapy. AKI, older age, encephalopathy, myoclonus, aphasia, or seizures. Review any concomitant valproate before using a carbapenem because the interaction can markedly lower valproate concentrations. Vancomycin Serum creatinine and trough monitoring through the treating pharmacy workflow. Confirm the correct collection time and the indication-specific local target; no single trough goal applies to every syndrome. Unstable renal function, critical illness, dialysis, obesity, concurrent nephrotoxins, or an unexpectedly high or low trough. The 2020 national consensus recommends AUC-guided monitoring for serious MRSA infection; check the service-specific workflow. 3 Daptomycin Baseline and at least weekly CPK; renal function for dosing. 25 Monitor CPK and renal function more often with renal impairment, rising CPK, muscle pain or weakness, or concurrent statin exposure. New fever, hypoxemia, and infiltrates after several weeks should raise concern for eosinophilic pneumonia. Linezolid CBC at least weekly. Review sodium in patients at risk for hyponatremia and glucose in patients receiving hypoglycemic therapy. 26 Treatment beyond 2 weeks, renal or hepatic impairment, baseline marrow suppression, falling platelets, unexplained acidosis, neuropathic symptoms, or visual symptoms. TMP-SMX Potassium (K+), renal function, and CBC. The apparent creatinine rise from trimethoprim may reflect inhibited tubular secretion, but true AKI also occurs. 27 Check K+ and renal function more closely with CKD, high-dose therapy, an ACE inhibitor, ARB, spironolactone, or another hyperkalemia risk. Monitor more closely with cytopenia or concurrent methotrexate. Add sodium and hepatic testing when the clinical context warrants it. Ciprofloxacin, levofloxacin, and moxifloxacin Review renal function for ciprofloxacin and levofloxacin dosing; moxifloxacin does not use renal dose adjustment. Routine ECG or glucose checks are not required for every patient. Check glucose more closely in patients with diabetes or dysglycemia risk. Obtain electrolytes and consider an ECG when QT risk is meaningful. Reassess promptly for hepatitis, cytopenia, or severe adverse symptoms. 5 Metronidazole CBC is reasonable for a prolonged or repeated course; review hepatic function when severe liver disease may alter exposure. 28 Neurologic symptoms, leukopenia, prolonged therapy, or concurrent warfarin. Follow the INR when the drugs are combined. Nitrofurantoin Confirm adequate renal function before use. A brief cystitis course usually does not need serial laboratory testing. For long-term suppression, periodically review renal and hepatic function and actively ask about cough, dyspnea, neuropathy, and hepatitis symptoms. 29 Fluconazole Renal function for dosing and hepatic profile during systemic or prolonged therapy. 30 Abnormal liver tests, interacting drugs, or meaningful QT risk. Check potassium and magnesium and consider an ECG when torsades risk is present; follow the INR with warfarin. For ceftaroline, ceftobiprole, newer beta-lactam/beta-lactamase inhibitor combinations, cefiderocol, sulbactam-durlobactam, and other restricted agents, use the current prescribing information and the local ID pharmacy monitoring plan. Discharge and OPAT. Name the laboratory tests, timing, responsible clinician, result destination, toxicity threshold that should trigger a call, and planned stop date. “Weekly labs” without ownership is not a safe OPAT plan.</a:t>
            </a:r>
          </a:p>
          <a:p xmlns:a="http://schemas.openxmlformats.org/drawingml/2006/main">
            <a:r>
              <a:t/>
            </a:r>
          </a:p>
          <a:p xmlns:a="http://schemas.openxmlformats.org/drawingml/2006/main">
            <a:r>
              <a:t>Module section: https://docarcshot.github.io/id-practice-update/lectures/Antibiotics_Practical_Primer_Inpatient_Resident.html#monitoring</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Laboratory monitoring Monitoring depends on illness severity, organ-function stability, treatment length, concomitant drugs, and whether the patient remains hospitalized or is leaving on OPAT. Start with the CBC, creatinine and estimated renal function, hepatic profile when relevant, major drug interactions, and any baseline abnormality likely to affect later interpretation. The table covers the agents residents manage most often. Practical monitoring for commonly used inpatient antimicrobials Drug or group Routine laboratory plan When to monitor more closely Common penicillins and cephalosporins Examples: ampicillin, ampicillin-sulbactam, piperacillin-tazobactam, cefazolin, ceftriaxone Review renal function for drugs that require renal adjustment. Add a CBC and hepatic profile during prolonged therapy. Monitor sooner with AKI, cytopenia, rash, eosinophilia, or possible drug-induced liver injury. With piperacillin-tazobactam, review sodium load and potassium when clinically relevant. With ceftriaxone, investigate biliary symptoms or a new cholestatic pattern. Cefepime and carbapenems Examples: ertapenem, meropenem Review renal function and adjust the dose promptly when it changes. Add a CBC and hepatic profile during prolonged therapy. AKI, older age, encephalopathy, myoclonus, aphasia, or seizures. Review any concomitant valproate before using a carbapenem because the interaction can markedly lower valproate concentrations. Vancomycin Serum creatinine and trough monitoring through the treating pharmacy workflow. Confirm the correct collection time and the indication-specific local target; no single trough goal applies to every syndrome. Unstable renal function, critical illness, dialysis, obesity, concurrent nephrotoxins, or an unexpectedly high or low trough. The 2020 national consensus recommends AUC-guided monitoring for serious MRSA infection; check the service-specific workflow. 3 Daptomycin Baseline and at least weekly CPK; renal function for dosing. 25 Monitor CPK and renal function more often with renal impairment, rising CPK, muscle pain or weakness, or concurrent statin exposure. New fever, hypoxemia, and infiltrates after several weeks should raise concern for eosinophilic pneumonia. Linezolid CBC at least weekly. Review sodium in patients at risk for hyponatremia and glucose in patients receiving hypoglycemic therapy. 26 Treatment beyond 2 weeks, renal or hepatic impairment, baseline marrow suppression, falling platelets, unexplained acidosis, neuropathic symptoms, or visual symptoms. TMP-SMX Potassium (K+), renal function, and CBC. The apparent creatinine rise from trimethoprim may reflect inhibited tubular secretion, but true AKI also occurs. 27 Check K+ and renal function more closely with CKD, high-dose therapy, an ACE inhibitor, ARB, spironolactone, or another hyperkalemia risk. Monitor more closely with cytopenia or concurrent methotrexate. Add sodium and hepatic testing when the clinical context warrants it. Ciprofloxacin, levofloxacin, and moxifloxacin Review renal function for ciprofloxacin and levofloxacin dosing; moxifloxacin does not use renal dose adjustment. Routine ECG or glucose checks are not required for every patient. Check glucose more closely in patients with diabetes or dysglycemia risk. Obtain electrolytes and consider an ECG when QT risk is meaningful. Reassess promptly for hepatitis, cytopenia, or severe adverse symptoms. 5 Metronidazole CBC is reasonable for a prolonged or repeated course; review hepatic function when severe liver disease may alter exposure. 28 Neurologic symptoms, leukopenia, prolonged therapy, or concurrent warfarin. Follow the INR when the drugs are combined. Nitrofurantoin Confirm adequate renal function before use. A brief cystitis course usually does not need serial laboratory testing. For long-term suppression, periodically review renal and hepatic function and actively ask about cough, dyspnea, neuropathy, and hepatitis symptoms. 29 Fluconazole Renal function for dosing and hepatic profile during systemic or prolonged therapy. 30 Abnormal liver tests, interacting drugs, or meaningful QT risk. Check potassium and magnesium and consider an ECG when torsades risk is present; follow the INR with warfarin. For ceftaroline, ceftobiprole, newer beta-lactam/beta-lactamase inhibitor combinations, cefiderocol, sulbactam-durlobactam, and other restricted agents, use the current prescribing information and the local ID pharmacy monitoring plan. Discharge and OPAT. Name the laboratory tests, timing, responsible clinician, result destination, toxicity threshold that should trigger a call, and planned stop date. “Weekly labs” without ownership is not a safe OPAT plan.</a:t>
            </a:r>
          </a:p>
          <a:p xmlns:a="http://schemas.openxmlformats.org/drawingml/2006/main">
            <a:r>
              <a:t/>
            </a:r>
          </a:p>
          <a:p xmlns:a="http://schemas.openxmlformats.org/drawingml/2006/main">
            <a:r>
              <a:t>Module section: https://docarcshot.github.io/id-practice-update/lectures/Antibiotics_Practical_Primer_Inpatient_Resident.html#monitoring</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Laboratory monitoring Monitoring depends on illness severity, organ-function stability, treatment length, concomitant drugs, and whether the patient remains hospitalized or is leaving on OPAT. Start with the CBC, creatinine and estimated renal function, hepatic profile when relevant, major drug interactions, and any baseline abnormality likely to affect later interpretation. The table covers the agents residents manage most often. Practical monitoring for commonly used inpatient antimicrobials Drug or group Routine laboratory plan When to monitor more closely Common penicillins and cephalosporins Examples: ampicillin, ampicillin-sulbactam, piperacillin-tazobactam, cefazolin, ceftriaxone Review renal function for drugs that require renal adjustment. Add a CBC and hepatic profile during prolonged therapy. Monitor sooner with AKI, cytopenia, rash, eosinophilia, or possible drug-induced liver injury. With piperacillin-tazobactam, review sodium load and potassium when clinically relevant. With ceftriaxone, investigate biliary symptoms or a new cholestatic pattern. Cefepime and carbapenems Examples: ertapenem, meropenem Review renal function and adjust the dose promptly when it changes. Add a CBC and hepatic profile during prolonged therapy. AKI, older age, encephalopathy, myoclonus, aphasia, or seizures. Review any concomitant valproate before using a carbapenem because the interaction can markedly lower valproate concentrations. Vancomycin Serum creatinine and trough monitoring through the treating pharmacy workflow. Confirm the correct collection time and the indication-specific local target; no single trough goal applies to every syndrome. Unstable renal function, critical illness, dialysis, obesity, concurrent nephrotoxins, or an unexpectedly high or low trough. The 2020 national consensus recommends AUC-guided monitoring for serious MRSA infection; check the service-specific workflow. 3 Daptomycin Baseline and at least weekly CPK; renal function for dosing. 25 Monitor CPK and renal function more often with renal impairment, rising CPK, muscle pain or weakness, or concurrent statin exposure. New fever, hypoxemia, and infiltrates after several weeks should raise concern for eosinophilic pneumonia. Linezolid CBC at least weekly. Review sodium in patients at risk for hyponatremia and glucose in patients receiving hypoglycemic therapy. 26 Treatment beyond 2 weeks, renal or hepatic impairment, baseline marrow suppression, falling platelets, unexplained acidosis, neuropathic symptoms, or visual symptoms. TMP-SMX Potassium (K+), renal function, and CBC. The apparent creatinine rise from trimethoprim may reflect inhibited tubular secretion, but true AKI also occurs. 27 Check K+ and renal function more closely with CKD, high-dose therapy, an ACE inhibitor, ARB, spironolactone, or another hyperkalemia risk. Monitor more closely with cytopenia or concurrent methotrexate. Add sodium and hepatic testing when the clinical context warrants it. Ciprofloxacin, levofloxacin, and moxifloxacin Review renal function for ciprofloxacin and levofloxacin dosing; moxifloxacin does not use renal dose adjustment. Routine ECG or glucose checks are not required for every patient. Check glucose more closely in patients with diabetes or dysglycemia risk. Obtain electrolytes and consider an ECG when QT risk is meaningful. Reassess promptly for hepatitis, cytopenia, or severe adverse symptoms. 5 Metronidazole CBC is reasonable for a prolonged or repeated course; review hepatic function when severe liver disease may alter exposure. 28 Neurologic symptoms, leukopenia, prolonged therapy, or concurrent warfarin. Follow the INR when the drugs are combined. Nitrofurantoin Confirm adequate renal function before use. A brief cystitis course usually does not need serial laboratory testing. For long-term suppression, periodically review renal and hepatic function and actively ask about cough, dyspnea, neuropathy, and hepatitis symptoms. 29 Fluconazole Renal function for dosing and hepatic profile during systemic or prolonged therapy. 30 Abnormal liver tests, interacting drugs, or meaningful QT risk. Check potassium and magnesium and consider an ECG when torsades risk is present; follow the INR with warfarin. For ceftaroline, ceftobiprole, newer beta-lactam/beta-lactamase inhibitor combinations, cefiderocol, sulbactam-durlobactam, and other restricted agents, use the current prescribing information and the local ID pharmacy monitoring plan. Discharge and OPAT. Name the laboratory tests, timing, responsible clinician, result destination, toxicity threshold that should trigger a call, and planned stop date. “Weekly labs” without ownership is not a safe OPAT plan.</a:t>
            </a:r>
          </a:p>
          <a:p xmlns:a="http://schemas.openxmlformats.org/drawingml/2006/main">
            <a:r>
              <a:t/>
            </a:r>
          </a:p>
          <a:p xmlns:a="http://schemas.openxmlformats.org/drawingml/2006/main">
            <a:r>
              <a:t>Module section: https://docarcshot.github.io/id-practice-update/lectures/Antibiotics_Practical_Primer_Inpatient_Resident.html#monitoring</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Laboratory monitoring Monitoring depends on illness severity, organ-function stability, treatment length, concomitant drugs, and whether the patient remains hospitalized or is leaving on OPAT. Start with the CBC, creatinine and estimated renal function, hepatic profile when relevant, major drug interactions, and any baseline abnormality likely to affect later interpretation. The table covers the agents residents manage most often. Practical monitoring for commonly used inpatient antimicrobials Drug or group Routine laboratory plan When to monitor more closely Common penicillins and cephalosporins Examples: ampicillin, ampicillin-sulbactam, piperacillin-tazobactam, cefazolin, ceftriaxone Review renal function for drugs that require renal adjustment. Add a CBC and hepatic profile during prolonged therapy. Monitor sooner with AKI, cytopenia, rash, eosinophilia, or possible drug-induced liver injury. With piperacillin-tazobactam, review sodium load and potassium when clinically relevant. With ceftriaxone, investigate biliary symptoms or a new cholestatic pattern. Cefepime and carbapenems Examples: ertapenem, meropenem Review renal function and adjust the dose promptly when it changes. Add a CBC and hepatic profile during prolonged therapy. AKI, older age, encephalopathy, myoclonus, aphasia, or seizures. Review any concomitant valproate before using a carbapenem because the interaction can markedly lower valproate concentrations. Vancomycin Serum creatinine and trough monitoring through the treating pharmacy workflow. Confirm the correct collection time and the indication-specific local target; no single trough goal applies to every syndrome. Unstable renal function, critical illness, dialysis, obesity, concurrent nephrotoxins, or an unexpectedly high or low trough. The 2020 national consensus recommends AUC-guided monitoring for serious MRSA infection; check the service-specific workflow. 3 Daptomycin Baseline and at least weekly CPK; renal function for dosing. 25 Monitor CPK and renal function more often with renal impairment, rising CPK, muscle pain or weakness, or concurrent statin exposure. New fever, hypoxemia, and infiltrates after several weeks should raise concern for eosinophilic pneumonia. Linezolid CBC at least weekly. Review sodium in patients at risk for hyponatremia and glucose in patients receiving hypoglycemic therapy. 26 Treatment beyond 2 weeks, renal or hepatic impairment, baseline marrow suppression, falling platelets, unexplained acidosis, neuropathic symptoms, or visual symptoms. TMP-SMX Potassium (K+), renal function, and CBC. The apparent creatinine rise from trimethoprim may reflect inhibited tubular secretion, but true AKI also occurs. 27 Check K+ and renal function more closely with CKD, high-dose therapy, an ACE inhibitor, ARB, spironolactone, or another hyperkalemia risk. Monitor more closely with cytopenia or concurrent methotrexate. Add sodium and hepatic testing when the clinical context warrants it. Ciprofloxacin, levofloxacin, and moxifloxacin Review renal function for ciprofloxacin and levofloxacin dosing; moxifloxacin does not use renal dose adjustment. Routine ECG or glucose checks are not required for every patient. Check glucose more closely in patients with diabetes or dysglycemia risk. Obtain electrolytes and consider an ECG when QT risk is meaningful. Reassess promptly for hepatitis, cytopenia, or severe adverse symptoms. 5 Metronidazole CBC is reasonable for a prolonged or repeated course; review hepatic function when severe liver disease may alter exposure. 28 Neurologic symptoms, leukopenia, prolonged therapy, or concurrent warfarin. Follow the INR when the drugs are combined. Nitrofurantoin Confirm adequate renal function before use. A brief cystitis course usually does not need serial laboratory testing. For long-term suppression, periodically review renal and hepatic function and actively ask about cough, dyspnea, neuropathy, and hepatitis symptoms. 29 Fluconazole Renal function for dosing and hepatic profile during systemic or prolonged therapy. 30 Abnormal liver tests, interacting drugs, or meaningful QT risk. Check potassium and magnesium and consider an ECG when torsades risk is present; follow the INR with warfarin. For ceftaroline, ceftobiprole, newer beta-lactam/beta-lactamase inhibitor combinations, cefiderocol, sulbactam-durlobactam, and other restricted agents, use the current prescribing information and the local ID pharmacy monitoring plan. Discharge and OPAT. Name the laboratory tests, timing, responsible clinician, result destination, toxicity threshold that should trigger a call, and planned stop date. “Weekly labs” without ownership is not a safe OPAT plan.</a:t>
            </a:r>
          </a:p>
          <a:p xmlns:a="http://schemas.openxmlformats.org/drawingml/2006/main">
            <a:r>
              <a:t/>
            </a:r>
          </a:p>
          <a:p xmlns:a="http://schemas.openxmlformats.org/drawingml/2006/main">
            <a:r>
              <a:t>Module section: https://docarcshot.github.io/id-practice-update/lectures/Antibiotics_Practical_Primer_Inpatient_Resident.html#monitoring</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Laboratory monitoring Monitoring depends on illness severity, organ-function stability, treatment length, concomitant drugs, and whether the patient remains hospitalized or is leaving on OPAT. Start with the CBC, creatinine and estimated renal function, hepatic profile when relevant, major drug interactions, and any baseline abnormality likely to affect later interpretation. The table covers the agents residents manage most often. Practical monitoring for commonly used inpatient antimicrobials Drug or group Routine laboratory plan When to monitor more closely Common penicillins and cephalosporins Examples: ampicillin, ampicillin-sulbactam, piperacillin-tazobactam, cefazolin, ceftriaxone Review renal function for drugs that require renal adjustment. Add a CBC and hepatic profile during prolonged therapy. Monitor sooner with AKI, cytopenia, rash, eosinophilia, or possible drug-induced liver injury. With piperacillin-tazobactam, review sodium load and potassium when clinically relevant. With ceftriaxone, investigate biliary symptoms or a new cholestatic pattern. Cefepime and carbapenems Examples: ertapenem, meropenem Review renal function and adjust the dose promptly when it changes. Add a CBC and hepatic profile during prolonged therapy. AKI, older age, encephalopathy, myoclonus, aphasia, or seizures. Review any concomitant valproate before using a carbapenem because the interaction can markedly lower valproate concentrations. Vancomycin Serum creatinine and trough monitoring through the treating pharmacy workflow. Confirm the correct collection time and the indication-specific local target; no single trough goal applies to every syndrome. Unstable renal function, critical illness, dialysis, obesity, concurrent nephrotoxins, or an unexpectedly high or low trough. The 2020 national consensus recommends AUC-guided monitoring for serious MRSA infection; check the service-specific workflow. 3 Daptomycin Baseline and at least weekly CPK; renal function for dosing. 25 Monitor CPK and renal function more often with renal impairment, rising CPK, muscle pain or weakness, or concurrent statin exposure. New fever, hypoxemia, and infiltrates after several weeks should raise concern for eosinophilic pneumonia. Linezolid CBC at least weekly. Review sodium in patients at risk for hyponatremia and glucose in patients receiving hypoglycemic therapy. 26 Treatment beyond 2 weeks, renal or hepatic impairment, baseline marrow suppression, falling platelets, unexplained acidosis, neuropathic symptoms, or visual symptoms. TMP-SMX Potassium (K+), renal function, and CBC. The apparent creatinine rise from trimethoprim may reflect inhibited tubular secretion, but true AKI also occurs. 27 Check K+ and renal function more closely with CKD, high-dose therapy, an ACE inhibitor, ARB, spironolactone, or another hyperkalemia risk. Monitor more closely with cytopenia or concurrent methotrexate. Add sodium and hepatic testing when the clinical context warrants it. Ciprofloxacin, levofloxacin, and moxifloxacin Review renal function for ciprofloxacin and levofloxacin dosing; moxifloxacin does not use renal dose adjustment. Routine ECG or glucose checks are not required for every patient. Check glucose more closely in patients with diabetes or dysglycemia risk. Obtain electrolytes and consider an ECG when QT risk is meaningful. Reassess promptly for hepatitis, cytopenia, or severe adverse symptoms. 5 Metronidazole CBC is reasonable for a prolonged or repeated course; review hepatic function when severe liver disease may alter exposure. 28 Neurologic symptoms, leukopenia, prolonged therapy, or concurrent warfarin. Follow the INR when the drugs are combined. Nitrofurantoin Confirm adequate renal function before use. A brief cystitis course usually does not need serial laboratory testing. For long-term suppression, periodically review renal and hepatic function and actively ask about cough, dyspnea, neuropathy, and hepatitis symptoms. 29 Fluconazole Renal function for dosing and hepatic profile during systemic or prolonged therapy. 30 Abnormal liver tests, interacting drugs, or meaningful QT risk. Check potassium and magnesium and consider an ECG when torsades risk is present; follow the INR with warfarin. For ceftaroline, ceftobiprole, newer beta-lactam/beta-lactamase inhibitor combinations, cefiderocol, sulbactam-durlobactam, and other restricted agents, use the current prescribing information and the local ID pharmacy monitoring plan. Discharge and OPAT. Name the laboratory tests, timing, responsible clinician, result destination, toxicity threshold that should trigger a call, and planned stop date. “Weekly labs” without ownership is not a safe OPAT plan.</a:t>
            </a:r>
          </a:p>
          <a:p xmlns:a="http://schemas.openxmlformats.org/drawingml/2006/main">
            <a:r>
              <a:t/>
            </a:r>
          </a:p>
          <a:p xmlns:a="http://schemas.openxmlformats.org/drawingml/2006/main">
            <a:r>
              <a:t>Module section: https://docarcshot.github.io/id-practice-update/lectures/Antibiotics_Practical_Primer_Inpatient_Resident.html#monitoring</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Laboratory monitoring Monitoring depends on illness severity, organ-function stability, treatment length, concomitant drugs, and whether the patient remains hospitalized or is leaving on OPAT. Start with the CBC, creatinine and estimated renal function, hepatic profile when relevant, major drug interactions, and any baseline abnormality likely to affect later interpretation. The table covers the agents residents manage most often. Practical monitoring for commonly used inpatient antimicrobials Drug or group Routine laboratory plan When to monitor more closely Common penicillins and cephalosporins Examples: ampicillin, ampicillin-sulbactam, piperacillin-tazobactam, cefazolin, ceftriaxone Review renal function for drugs that require renal adjustment. Add a CBC and hepatic profile during prolonged therapy. Monitor sooner with AKI, cytopenia, rash, eosinophilia, or possible drug-induced liver injury. With piperacillin-tazobactam, review sodium load and potassium when clinically relevant. With ceftriaxone, investigate biliary symptoms or a new cholestatic pattern. Cefepime and carbapenems Examples: ertapenem, meropenem Review renal function and adjust the dose promptly when it changes. Add a CBC and hepatic profile during prolonged therapy. AKI, older age, encephalopathy, myoclonus, aphasia, or seizures. Review any concomitant valproate before using a carbapenem because the interaction can markedly lower valproate concentrations. Vancomycin Serum creatinine and trough monitoring through the treating pharmacy workflow. Confirm the correct collection time and the indication-specific local target; no single trough goal applies to every syndrome. Unstable renal function, critical illness, dialysis, obesity, concurrent nephrotoxins, or an unexpectedly high or low trough. The 2020 national consensus recommends AUC-guided monitoring for serious MRSA infection; check the service-specific workflow. 3 Daptomycin Baseline and at least weekly CPK; renal function for dosing. 25 Monitor CPK and renal function more often with renal impairment, rising CPK, muscle pain or weakness, or concurrent statin exposure. New fever, hypoxemia, and infiltrates after several weeks should raise concern for eosinophilic pneumonia. Linezolid CBC at least weekly. Review sodium in patients at risk for hyponatremia and glucose in patients receiving hypoglycemic therapy. 26 Treatment beyond 2 weeks, renal or hepatic impairment, baseline marrow suppression, falling platelets, unexplained acidosis, neuropathic symptoms, or visual symptoms. TMP-SMX Potassium (K+), renal function, and CBC. The apparent creatinine rise from trimethoprim may reflect inhibited tubular secretion, but true AKI also occurs. 27 Check K+ and renal function more closely with CKD, high-dose therapy, an ACE inhibitor, ARB, spironolactone, or another hyperkalemia risk. Monitor more closely with cytopenia or concurrent methotrexate. Add sodium and hepatic testing when the clinical context warrants it. Ciprofloxacin, levofloxacin, and moxifloxacin Review renal function for ciprofloxacin and levofloxacin dosing; moxifloxacin does not use renal dose adjustment. Routine ECG or glucose checks are not required for every patient. Check glucose more closely in patients with diabetes or dysglycemia risk. Obtain electrolytes and consider an ECG when QT risk is meaningful. Reassess promptly for hepatitis, cytopenia, or severe adverse symptoms. 5 Metronidazole CBC is reasonable for a prolonged or repeated course; review hepatic function when severe liver disease may alter exposure. 28 Neurologic symptoms, leukopenia, prolonged therapy, or concurrent warfarin. Follow the INR when the drugs are combined. Nitrofurantoin Confirm adequate renal function before use. A brief cystitis course usually does not need serial laboratory testing. For long-term suppression, periodically review renal and hepatic function and actively ask about cough, dyspnea, neuropathy, and hepatitis symptoms. 29 Fluconazole Renal function for dosing and hepatic profile during systemic or prolonged therapy. 30 Abnormal liver tests, interacting drugs, or meaningful QT risk. Check potassium and magnesium and consider an ECG when torsades risk is present; follow the INR with warfarin. For ceftaroline, ceftobiprole, newer beta-lactam/beta-lactamase inhibitor combinations, cefiderocol, sulbactam-durlobactam, and other restricted agents, use the current prescribing information and the local ID pharmacy monitoring plan. Discharge and OPAT. Name the laboratory tests, timing, responsible clinician, result destination, toxicity threshold that should trigger a call, and planned stop date. “Weekly labs” without ownership is not a safe OPAT plan.</a:t>
            </a:r>
          </a:p>
          <a:p xmlns:a="http://schemas.openxmlformats.org/drawingml/2006/main">
            <a:r>
              <a:t/>
            </a:r>
          </a:p>
          <a:p xmlns:a="http://schemas.openxmlformats.org/drawingml/2006/main">
            <a:r>
              <a:t>Module section: https://docarcshot.github.io/id-practice-update/lectures/Antibiotics_Practical_Primer_Inpatient_Resident.html#monitoring</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Laboratory monitoring Monitoring depends on illness severity, organ-function stability, treatment length, concomitant drugs, and whether the patient remains hospitalized or is leaving on OPAT. Start with the CBC, creatinine and estimated renal function, hepatic profile when relevant, major drug interactions, and any baseline abnormality likely to affect later interpretation. The table covers the agents residents manage most often. Practical monitoring for commonly used inpatient antimicrobials Drug or group Routine laboratory plan When to monitor more closely Common penicillins and cephalosporins Examples: ampicillin, ampicillin-sulbactam, piperacillin-tazobactam, cefazolin, ceftriaxone Review renal function for drugs that require renal adjustment. Add a CBC and hepatic profile during prolonged therapy. Monitor sooner with AKI, cytopenia, rash, eosinophilia, or possible drug-induced liver injury. With piperacillin-tazobactam, review sodium load and potassium when clinically relevant. With ceftriaxone, investigate biliary symptoms or a new cholestatic pattern. Cefepime and carbapenems Examples: ertapenem, meropenem Review renal function and adjust the dose promptly when it changes. Add a CBC and hepatic profile during prolonged therapy. AKI, older age, encephalopathy, myoclonus, aphasia, or seizures. Review any concomitant valproate before using a carbapenem because the interaction can markedly lower valproate concentrations. Vancomycin Serum creatinine and trough monitoring through the treating pharmacy workflow. Confirm the correct collection time and the indication-specific local target; no single trough goal applies to every syndrome. Unstable renal function, critical illness, dialysis, obesity, concurrent nephrotoxins, or an unexpectedly high or low trough. The 2020 national consensus recommends AUC-guided monitoring for serious MRSA infection; check the service-specific workflow. 3 Daptomycin Baseline and at least weekly CPK; renal function for dosing. 25 Monitor CPK and renal function more often with renal impairment, rising CPK, muscle pain or weakness, or concurrent statin exposure. New fever, hypoxemia, and infiltrates after several weeks should raise concern for eosinophilic pneumonia. Linezolid CBC at least weekly. Review sodium in patients at risk for hyponatremia and glucose in patients receiving hypoglycemic therapy. 26 Treatment beyond 2 weeks, renal or hepatic impairment, baseline marrow suppression, falling platelets, unexplained acidosis, neuropathic symptoms, or visual symptoms. TMP-SMX Potassium (K+), renal function, and CBC. The apparent creatinine rise from trimethoprim may reflect inhibited tubular secretion, but true AKI also occurs. 27 Check K+ and renal function more closely with CKD, high-dose therapy, an ACE inhibitor, ARB, spironolactone, or another hyperkalemia risk. Monitor more closely with cytopenia or concurrent methotrexate. Add sodium and hepatic testing when the clinical context warrants it. Ciprofloxacin, levofloxacin, and moxifloxacin Review renal function for ciprofloxacin and levofloxacin dosing; moxifloxacin does not use renal dose adjustment. Routine ECG or glucose checks are not required for every patient. Check glucose more closely in patients with diabetes or dysglycemia risk. Obtain electrolytes and consider an ECG when QT risk is meaningful. Reassess promptly for hepatitis, cytopenia, or severe adverse symptoms. 5 Metronidazole CBC is reasonable for a prolonged or repeated course; review hepatic function when severe liver disease may alter exposure. 28 Neurologic symptoms, leukopenia, prolonged therapy, or concurrent warfarin. Follow the INR when the drugs are combined. Nitrofurantoin Confirm adequate renal function before use. A brief cystitis course usually does not need serial laboratory testing. For long-term suppression, periodically review renal and hepatic function and actively ask about cough, dyspnea, neuropathy, and hepatitis symptoms. 29 Fluconazole Renal function for dosing and hepatic profile during systemic or prolonged therapy. 30 Abnormal liver tests, interacting drugs, or meaningful QT risk. Check potassium and magnesium and consider an ECG when torsades risk is present; follow the INR with warfarin. For ceftaroline, ceftobiprole, newer beta-lactam/beta-lactamase inhibitor combinations, cefiderocol, sulbactam-durlobactam, and other restricted agents, use the current prescribing information and the local ID pharmacy monitoring plan. Discharge and OPAT. Name the laboratory tests, timing, responsible clinician, result destination, toxicity threshold that should trigger a call, and planned stop date. “Weekly labs” without ownership is not a safe OPAT plan.</a:t>
            </a:r>
          </a:p>
          <a:p xmlns:a="http://schemas.openxmlformats.org/drawingml/2006/main">
            <a:r>
              <a:t/>
            </a:r>
          </a:p>
          <a:p xmlns:a="http://schemas.openxmlformats.org/drawingml/2006/main">
            <a:r>
              <a:t>Module section: https://docarcshot.github.io/id-practice-update/lectures/Antibiotics_Practical_Primer_Inpatient_Resident.html#monitoring</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Laboratory monitoring Monitoring depends on illness severity, organ-function stability, treatment length, concomitant drugs, and whether the patient remains hospitalized or is leaving on OPAT. Start with the CBC, creatinine and estimated renal function, hepatic profile when relevant, major drug interactions, and any baseline abnormality likely to affect later interpretation. The table covers the agents residents manage most often. Practical monitoring for commonly used inpatient antimicrobials Drug or group Routine laboratory plan When to monitor more closely Common penicillins and cephalosporins Examples: ampicillin, ampicillin-sulbactam, piperacillin-tazobactam, cefazolin, ceftriaxone Review renal function for drugs that require renal adjustment. Add a CBC and hepatic profile during prolonged therapy. Monitor sooner with AKI, cytopenia, rash, eosinophilia, or possible drug-induced liver injury. With piperacillin-tazobactam, review sodium load and potassium when clinically relevant. With ceftriaxone, investigate biliary symptoms or a new cholestatic pattern. Cefepime and carbapenems Examples: ertapenem, meropenem Review renal function and adjust the dose promptly when it changes. Add a CBC and hepatic profile during prolonged therapy. AKI, older age, encephalopathy, myoclonus, aphasia, or seizures. Review any concomitant valproate before using a carbapenem because the interaction can markedly lower valproate concentrations. Vancomycin Serum creatinine and trough monitoring through the treating pharmacy workflow. Confirm the correct collection time and the indication-specific local target; no single trough goal applies to every syndrome. Unstable renal function, critical illness, dialysis, obesity, concurrent nephrotoxins, or an unexpectedly high or low trough. The 2020 national consensus recommends AUC-guided monitoring for serious MRSA infection; check the service-specific workflow. 3 Daptomycin Baseline and at least weekly CPK; renal function for dosing. 25 Monitor CPK and renal function more often with renal impairment, rising CPK, muscle pain or weakness, or concurrent statin exposure. New fever, hypoxemia, and infiltrates after several weeks should raise concern for eosinophilic pneumonia. Linezolid CBC at least weekly. Review sodium in patients at risk for hyponatremia and glucose in patients receiving hypoglycemic therapy. 26 Treatment beyond 2 weeks, renal or hepatic impairment, baseline marrow suppression, falling platelets, unexplained acidosis, neuropathic symptoms, or visual symptoms. TMP-SMX Potassium (K+), renal function, and CBC. The apparent creatinine rise from trimethoprim may reflect inhibited tubular secretion, but true AKI also occurs. 27 Check K+ and renal function more closely with CKD, high-dose therapy, an ACE inhibitor, ARB, spironolactone, or another hyperkalemia risk. Monitor more closely with cytopenia or concurrent methotrexate. Add sodium and hepatic testing when the clinical context warrants it. Ciprofloxacin, levofloxacin, and moxifloxacin Review renal function for ciprofloxacin and levofloxacin dosing; moxifloxacin does not use renal dose adjustment. Routine ECG or glucose checks are not required for every patient. Check glucose more closely in patients with diabetes or dysglycemia risk. Obtain electrolytes and consider an ECG when QT risk is meaningful. Reassess promptly for hepatitis, cytopenia, or severe adverse symptoms. 5 Metronidazole CBC is reasonable for a prolonged or repeated course; review hepatic function when severe liver disease may alter exposure. 28 Neurologic symptoms, leukopenia, prolonged therapy, or concurrent warfarin. Follow the INR when the drugs are combined. Nitrofurantoin Confirm adequate renal function before use. A brief cystitis course usually does not need serial laboratory testing. For long-term suppression, periodically review renal and hepatic function and actively ask about cough, dyspnea, neuropathy, and hepatitis symptoms. 29 Fluconazole Renal function for dosing and hepatic profile during systemic or prolonged therapy. 30 Abnormal liver tests, interacting drugs, or meaningful QT risk. Check potassium and magnesium and consider an ECG when torsades risk is present; follow the INR with warfarin. For ceftaroline, ceftobiprole, newer beta-lactam/beta-lactamase inhibitor combinations, cefiderocol, sulbactam-durlobactam, and other restricted agents, use the current prescribing information and the local ID pharmacy monitoring plan. Discharge and OPAT. Name the laboratory tests, timing, responsible clinician, result destination, toxicity threshold that should trigger a call, and planned stop date. “Weekly labs” without ownership is not a safe OPAT plan.</a:t>
            </a:r>
          </a:p>
          <a:p xmlns:a="http://schemas.openxmlformats.org/drawingml/2006/main">
            <a:r>
              <a:t/>
            </a:r>
          </a:p>
          <a:p xmlns:a="http://schemas.openxmlformats.org/drawingml/2006/main">
            <a:r>
              <a:t>Module section: https://docarcshot.github.io/id-practice-update/lectures/Antibiotics_Practical_Primer_Inpatient_Resident.html#monitoring</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Laboratory monitoring Monitoring depends on illness severity, organ-function stability, treatment length, concomitant drugs, and whether the patient remains hospitalized or is leaving on OPAT. Start with the CBC, creatinine and estimated renal function, hepatic profile when relevant, major drug interactions, and any baseline abnormality likely to affect later interpretation. The table covers the agents residents manage most often. Practical monitoring for commonly used inpatient antimicrobials Drug or group Routine laboratory plan When to monitor more closely Common penicillins and cephalosporins Examples: ampicillin, ampicillin-sulbactam, piperacillin-tazobactam, cefazolin, ceftriaxone Review renal function for drugs that require renal adjustment. Add a CBC and hepatic profile during prolonged therapy. Monitor sooner with AKI, cytopenia, rash, eosinophilia, or possible drug-induced liver injury. With piperacillin-tazobactam, review sodium load and potassium when clinically relevant. With ceftriaxone, investigate biliary symptoms or a new cholestatic pattern. Cefepime and carbapenems Examples: ertapenem, meropenem Review renal function and adjust the dose promptly when it changes. Add a CBC and hepatic profile during prolonged therapy. AKI, older age, encephalopathy, myoclonus, aphasia, or seizures. Review any concomitant valproate before using a carbapenem because the interaction can markedly lower valproate concentrations. Vancomycin Serum creatinine and trough monitoring through the treating pharmacy workflow. Confirm the correct collection time and the indication-specific local target; no single trough goal applies to every syndrome. Unstable renal function, critical illness, dialysis, obesity, concurrent nephrotoxins, or an unexpectedly high or low trough. The 2020 national consensus recommends AUC-guided monitoring for serious MRSA infection; check the service-specific workflow. 3 Daptomycin Baseline and at least weekly CPK; renal function for dosing. 25 Monitor CPK and renal function more often with renal impairment, rising CPK, muscle pain or weakness, or concurrent statin exposure. New fever, hypoxemia, and infiltrates after several weeks should raise concern for eosinophilic pneumonia. Linezolid CBC at least weekly. Review sodium in patients at risk for hyponatremia and glucose in patients receiving hypoglycemic therapy. 26 Treatment beyond 2 weeks, renal or hepatic impairment, baseline marrow suppression, falling platelets, unexplained acidosis, neuropathic symptoms, or visual symptoms. TMP-SMX Potassium (K+), renal function, and CBC. The apparent creatinine rise from trimethoprim may reflect inhibited tubular secretion, but true AKI also occurs. 27 Check K+ and renal function more closely with CKD, high-dose therapy, an ACE inhibitor, ARB, spironolactone, or another hyperkalemia risk. Monitor more closely with cytopenia or concurrent methotrexate. Add sodium and hepatic testing when the clinical context warrants it. Ciprofloxacin, levofloxacin, and moxifloxacin Review renal function for ciprofloxacin and levofloxacin dosing; moxifloxacin does not use renal dose adjustment. Routine ECG or glucose checks are not required for every patient. Check glucose more closely in patients with diabetes or dysglycemia risk. Obtain electrolytes and consider an ECG when QT risk is meaningful. Reassess promptly for hepatitis, cytopenia, or severe adverse symptoms. 5 Metronidazole CBC is reasonable for a prolonged or repeated course; review hepatic function when severe liver disease may alter exposure. 28 Neurologic symptoms, leukopenia, prolonged therapy, or concurrent warfarin. Follow the INR when the drugs are combined. Nitrofurantoin Confirm adequate renal function before use. A brief cystitis course usually does not need serial laboratory testing. For long-term suppression, periodically review renal and hepatic function and actively ask about cough, dyspnea, neuropathy, and hepatitis symptoms. 29 Fluconazole Renal function for dosing and hepatic profile during systemic or prolonged therapy. 30 Abnormal liver tests, interacting drugs, or meaningful QT risk. Check potassium and magnesium and consider an ECG when torsades risk is present; follow the INR with warfarin. For ceftaroline, ceftobiprole, newer beta-lactam/beta-lactamase inhibitor combinations, cefiderocol, sulbactam-durlobactam, and other restricted agents, use the current prescribing information and the local ID pharmacy monitoring plan. Discharge and OPAT. Name the laboratory tests, timing, responsible clinician, result destination, toxicity threshold that should trigger a call, and planned stop date. “Weekly labs” without ownership is not a safe OPAT plan.</a:t>
            </a:r>
          </a:p>
          <a:p xmlns:a="http://schemas.openxmlformats.org/drawingml/2006/main">
            <a:r>
              <a:t/>
            </a:r>
          </a:p>
          <a:p xmlns:a="http://schemas.openxmlformats.org/drawingml/2006/main">
            <a:r>
              <a:t>Module section: https://docarcshot.github.io/id-practice-update/lectures/Antibiotics_Practical_Primer_Inpatient_Resident.html#monitoring</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Laboratory monitoring Monitoring depends on illness severity, organ-function stability, treatment length, concomitant drugs, and whether the patient remains hospitalized or is leaving on OPAT. Start with the CBC, creatinine and estimated renal function, hepatic profile when relevant, major drug interactions, and any baseline abnormality likely to affect later interpretation. The table covers the agents residents manage most often. Practical monitoring for commonly used inpatient antimicrobials Drug or group Routine laboratory plan When to monitor more closely Common penicillins and cephalosporins Examples: ampicillin, ampicillin-sulbactam, piperacillin-tazobactam, cefazolin, ceftriaxone Review renal function for drugs that require renal adjustment. Add a CBC and hepatic profile during prolonged therapy. Monitor sooner with AKI, cytopenia, rash, eosinophilia, or possible drug-induced liver injury. With piperacillin-tazobactam, review sodium load and potassium when clinically relevant. With ceftriaxone, investigate biliary symptoms or a new cholestatic pattern. Cefepime and carbapenems Examples: ertapenem, meropenem Review renal function and adjust the dose promptly when it changes. Add a CBC and hepatic profile during prolonged therapy. AKI, older age, encephalopathy, myoclonus, aphasia, or seizures. Review any concomitant valproate before using a carbapenem because the interaction can markedly lower valproate concentrations. Vancomycin Serum creatinine and trough monitoring through the treating pharmacy workflow. Confirm the correct collection time and the indication-specific local target; no single trough goal applies to every syndrome. Unstable renal function, critical illness, dialysis, obesity, concurrent nephrotoxins, or an unexpectedly high or low trough. The 2020 national consensus recommends AUC-guided monitoring for serious MRSA infection; check the service-specific workflow. 3 Daptomycin Baseline and at least weekly CPK; renal function for dosing. 25 Monitor CPK and renal function more often with renal impairment, rising CPK, muscle pain or weakness, or concurrent statin exposure. New fever, hypoxemia, and infiltrates after several weeks should raise concern for eosinophilic pneumonia. Linezolid CBC at least weekly. Review sodium in patients at risk for hyponatremia and glucose in patients receiving hypoglycemic therapy. 26 Treatment beyond 2 weeks, renal or hepatic impairment, baseline marrow suppression, falling platelets, unexplained acidosis, neuropathic symptoms, or visual symptoms. TMP-SMX Potassium (K+), renal function, and CBC. The apparent creatinine rise from trimethoprim may reflect inhibited tubular secretion, but true AKI also occurs. 27 Check K+ and renal function more closely with CKD, high-dose therapy, an ACE inhibitor, ARB, spironolactone, or another hyperkalemia risk. Monitor more closely with cytopenia or concurrent methotrexate. Add sodium and hepatic testing when the clinical context warrants it. Ciprofloxacin, levofloxacin, and moxifloxacin Review renal function for ciprofloxacin and levofloxacin dosing; moxifloxacin does not use renal dose adjustment. Routine ECG or glucose checks are not required for every patient. Check glucose more closely in patients with diabetes or dysglycemia risk. Obtain electrolytes and consider an ECG when QT risk is meaningful. Reassess promptly for hepatitis, cytopenia, or severe adverse symptoms. 5 Metronidazole CBC is reasonable for a prolonged or repeated course; review hepatic function when severe liver disease may alter exposure. 28 Neurologic symptoms, leukopenia, prolonged therapy, or concurrent warfarin. Follow the INR when the drugs are combined. Nitrofurantoin Confirm adequate renal function before use. A brief cystitis course usually does not need serial laboratory testing. For long-term suppression, periodically review renal and hepatic function and actively ask about cough, dyspnea, neuropathy, and hepatitis symptoms. 29 Fluconazole Renal function for dosing and hepatic profile during systemic or prolonged therapy. 30 Abnormal liver tests, interacting drugs, or meaningful QT risk. Check potassium and magnesium and consider an ECG when torsades risk is present; follow the INR with warfarin. For ceftaroline, ceftobiprole, newer beta-lactam/beta-lactamase inhibitor combinations, cefiderocol, sulbactam-durlobactam, and other restricted agents, use the current prescribing information and the local ID pharmacy monitoring plan. Discharge and OPAT. Name the laboratory tests, timing, responsible clinician, result destination, toxicity threshold that should trigger a call, and planned stop date. “Weekly labs” without ownership is not a safe OPAT plan.</a:t>
            </a:r>
          </a:p>
          <a:p xmlns:a="http://schemas.openxmlformats.org/drawingml/2006/main">
            <a:r>
              <a:t/>
            </a:r>
          </a:p>
          <a:p xmlns:a="http://schemas.openxmlformats.org/drawingml/2006/main">
            <a:r>
              <a:t>Module section: https://docarcshot.github.io/id-practice-update/lectures/Antibiotics_Practical_Primer_Inpatient_Resident.html#monitoring</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Laboratory monitoring Monitoring depends on illness severity, organ-function stability, treatment length, concomitant drugs, and whether the patient remains hospitalized or is leaving on OPAT. Start with the CBC, creatinine and estimated renal function, hepatic profile when relevant, major drug interactions, and any baseline abnormality likely to affect later interpretation. The table covers the agents residents manage most often. Practical monitoring for commonly used inpatient antimicrobials Drug or group Routine laboratory plan When to monitor more closely Common penicillins and cephalosporins Examples: ampicillin, ampicillin-sulbactam, piperacillin-tazobactam, cefazolin, ceftriaxone Review renal function for drugs that require renal adjustment. Add a CBC and hepatic profile during prolonged therapy. Monitor sooner with AKI, cytopenia, rash, eosinophilia, or possible drug-induced liver injury. With piperacillin-tazobactam, review sodium load and potassium when clinically relevant. With ceftriaxone, investigate biliary symptoms or a new cholestatic pattern. Cefepime and carbapenems Examples: ertapenem, meropenem Review renal function and adjust the dose promptly when it changes. Add a CBC and hepatic profile during prolonged therapy. AKI, older age, encephalopathy, myoclonus, aphasia, or seizures. Review any concomitant valproate before using a carbapenem because the interaction can markedly lower valproate concentrations. Vancomycin Serum creatinine and trough monitoring through the treating pharmacy workflow. Confirm the correct collection time and the indication-specific local target; no single trough goal applies to every syndrome. Unstable renal function, critical illness, dialysis, obesity, concurrent nephrotoxins, or an unexpectedly high or low trough. The 2020 national consensus recommends AUC-guided monitoring for serious MRSA infection; check the service-specific workflow. 3 Daptomycin Baseline and at least weekly CPK; renal function for dosing. 25 Monitor CPK and renal function more often with renal impairment, rising CPK, muscle pain or weakness, or concurrent statin exposure. New fever, hypoxemia, and infiltrates after several weeks should raise concern for eosinophilic pneumonia. Linezolid CBC at least weekly. Review sodium in patients at risk for hyponatremia and glucose in patients receiving hypoglycemic therapy. 26 Treatment beyond 2 weeks, renal or hepatic impairment, baseline marrow suppression, falling platelets, unexplained acidosis, neuropathic symptoms, or visual symptoms. TMP-SMX Potassium (K+), renal function, and CBC. The apparent creatinine rise from trimethoprim may reflect inhibited tubular secretion, but true AKI also occurs. 27 Check K+ and renal function more closely with CKD, high-dose therapy, an ACE inhibitor, ARB, spironolactone, or another hyperkalemia risk. Monitor more closely with cytopenia or concurrent methotrexate. Add sodium and hepatic testing when the clinical context warrants it. Ciprofloxacin, levofloxacin, and moxifloxacin Review renal function for ciprofloxacin and levofloxacin dosing; moxifloxacin does not use renal dose adjustment. Routine ECG or glucose checks are not required for every patient. Check glucose more closely in patients with diabetes or dysglycemia risk. Obtain electrolytes and consider an ECG when QT risk is meaningful. Reassess promptly for hepatitis, cytopenia, or severe adverse symptoms. 5 Metronidazole CBC is reasonable for a prolonged or repeated course; review hepatic function when severe liver disease may alter exposure. 28 Neurologic symptoms, leukopenia, prolonged therapy, or concurrent warfarin. Follow the INR when the drugs are combined. Nitrofurantoin Confirm adequate renal function before use. A brief cystitis course usually does not need serial laboratory testing. For long-term suppression, periodically review renal and hepatic function and actively ask about cough, dyspnea, neuropathy, and hepatitis symptoms. 29 Fluconazole Renal function for dosing and hepatic profile during systemic or prolonged therapy. 30 Abnormal liver tests, interacting drugs, or meaningful QT risk. Check potassium and magnesium and consider an ECG when torsades risk is present; follow the INR with warfarin. For ceftaroline, ceftobiprole, newer beta-lactam/beta-lactamase inhibitor combinations, cefiderocol, sulbactam-durlobactam, and other restricted agents, use the current prescribing information and the local ID pharmacy monitoring plan. Discharge and OPAT. Name the laboratory tests, timing, responsible clinician, result destination, toxicity threshold that should trigger a call, and planned stop date. “Weekly labs” without ownership is not a safe OPAT plan.</a:t>
            </a:r>
          </a:p>
          <a:p xmlns:a="http://schemas.openxmlformats.org/drawingml/2006/main">
            <a:r>
              <a:t/>
            </a:r>
          </a:p>
          <a:p xmlns:a="http://schemas.openxmlformats.org/drawingml/2006/main">
            <a:r>
              <a:t>Module section: https://docarcshot.github.io/id-practice-update/lectures/Antibiotics_Practical_Primer_Inpatient_Resident.html#monitoring</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 Klebsiella complicated UTI The culture is back. Does the patient still need IV therapy? A patient was admitted with fever, hypotension, pyelonephritis, and an obstructing ureteral stone. Blood and urine cultures grow K. pneumoniae . Urology has decompressed the collecting system. The patient is improving on cefepime. The isolate is susceptible to ceftriaxone, ciprofloxacin, and levofloxacin and has no identified ESBL phenotype. Before opening the discussion What mattered most in the first 24 hours? Would you narrow cefepime? Could the patient finish orally? How would you choose duration? How I would discuss this on rounds The initial priorities were active therapy and decompression. Once the obstruction is relieved, the patient is stable, and susceptibility results are available, continued antipseudomonal coverage is unnecessary unless there is another reason for it. Ceftriaxone is a reasonable narrower IV option for this susceptible isolate. Ciprofloxacin or levofloxacin is also a reasonable oral option if absorption is reliable, interactions and safety concerns are acceptable, and there is no other deep focus. The presence of bacteremia alone does not require a PICC. For improving cUTI, the 2025 IDSA guideline suggests 5–7 days for a fluoroquinolone or 7 days for a non-fluoroquinolone, counted from the first day of effective therapy. Many supporting studies excluded patients with complete obstruction, abscess, severe sepsis, significant immunocompromise, chronic kidney disease, or urologic procedures, so duration may need individualization. Do not default to 14 days because bacteremia was present. 2</a:t>
            </a:r>
          </a:p>
          <a:p xmlns:a="http://schemas.openxmlformats.org/drawingml/2006/main">
            <a:r>
              <a:t/>
            </a:r>
          </a:p>
          <a:p xmlns:a="http://schemas.openxmlformats.org/drawingml/2006/main">
            <a:r>
              <a:t>Module section: https://docarcshot.github.io/id-practice-update/lectures/Antibiotics_Practical_Primer_Inpatient_Resident.html#uti</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 Klebsiella complicated UTI The culture is back. Does the patient still need IV therapy? A patient was admitted with fever, hypotension, pyelonephritis, and an obstructing ureteral stone. Blood and urine cultures grow K. pneumoniae . Urology has decompressed the collecting system. The patient is improving on cefepime. The isolate is susceptible to ceftriaxone, ciprofloxacin, and levofloxacin and has no identified ESBL phenotype. Before opening the discussion What mattered most in the first 24 hours? Would you narrow cefepime? Could the patient finish orally? How would you choose duration? How I would discuss this on rounds The initial priorities were active therapy and decompression. Once the obstruction is relieved, the patient is stable, and susceptibility results are available, continued antipseudomonal coverage is unnecessary unless there is another reason for it. Ceftriaxone is a reasonable narrower IV option for this susceptible isolate. Ciprofloxacin or levofloxacin is also a reasonable oral option if absorption is reliable, interactions and safety concerns are acceptable, and there is no other deep focus. The presence of bacteremia alone does not require a PICC. For improving cUTI, the 2025 IDSA guideline suggests 5–7 days for a fluoroquinolone or 7 days for a non-fluoroquinolone, counted from the first day of effective therapy. Many supporting studies excluded patients with complete obstruction, abscess, severe sepsis, significant immunocompromise, chronic kidney disease, or urologic procedures, so duration may need individualization. Do not default to 14 days because bacteremia was present. 2</a:t>
            </a:r>
          </a:p>
          <a:p xmlns:a="http://schemas.openxmlformats.org/drawingml/2006/main">
            <a:r>
              <a:t/>
            </a:r>
          </a:p>
          <a:p xmlns:a="http://schemas.openxmlformats.org/drawingml/2006/main">
            <a:r>
              <a:t>Module section: https://docarcshot.github.io/id-practice-update/lectures/Antibiotics_Practical_Primer_Inpatient_Resident.html#uti</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 Klebsiella complicated UTI The culture is back. Does the patient still need IV therapy? A patient was admitted with fever, hypotension, pyelonephritis, and an obstructing ureteral stone. Blood and urine cultures grow K. pneumoniae . Urology has decompressed the collecting system. The patient is improving on cefepime. The isolate is susceptible to ceftriaxone, ciprofloxacin, and levofloxacin and has no identified ESBL phenotype. Before opening the discussion What mattered most in the first 24 hours? Would you narrow cefepime? Could the patient finish orally? How would you choose duration? How I would discuss this on rounds The initial priorities were active therapy and decompression. Once the obstruction is relieved, the patient is stable, and susceptibility results are available, continued antipseudomonal coverage is unnecessary unless there is another reason for it. Ceftriaxone is a reasonable narrower IV option for this susceptible isolate. Ciprofloxacin or levofloxacin is also a reasonable oral option if absorption is reliable, interactions and safety concerns are acceptable, and there is no other deep focus. The presence of bacteremia alone does not require a PICC. For improving cUTI, the 2025 IDSA guideline suggests 5–7 days for a fluoroquinolone or 7 days for a non-fluoroquinolone, counted from the first day of effective therapy. Many supporting studies excluded patients with complete obstruction, abscess, severe sepsis, significant immunocompromise, chronic kidney disease, or urologic procedures, so duration may need individualization. Do not default to 14 days because bacteremia was present. 2</a:t>
            </a:r>
          </a:p>
          <a:p xmlns:a="http://schemas.openxmlformats.org/drawingml/2006/main">
            <a:r>
              <a:t/>
            </a:r>
          </a:p>
          <a:p xmlns:a="http://schemas.openxmlformats.org/drawingml/2006/main">
            <a:r>
              <a:t>Module section: https://docarcshot.github.io/id-practice-update/lectures/Antibiotics_Practical_Primer_Inpatient_Resident.html#uti</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Case: Klebsiella complicated UTI The culture is back. Does the patient still need IV therapy? A patient was admitted with fever, hypotension, pyelonephritis, and an obstructing ureteral stone. Blood and urine cultures grow K. pneumoniae . Urology has decompressed the collecting system. The patient is improving on cefepime. The isolate is susceptible to ceftriaxone, ciprofloxacin, and levofloxacin and has no identified ESBL phenotype. Before opening the discussion What mattered most in the first 24 hours? Would you narrow cefepime? Could the patient finish orally? How would you choose duration? How I would discuss this on rounds The initial priorities were active therapy and decompression. Once the obstruction is relieved, the patient is stable, and susceptibility results are available, continued antipseudomonal coverage is unnecessary unless there is another reason for it. Ceftriaxone is a reasonable narrower IV option for this susceptible isolate. Ciprofloxacin or levofloxacin is also a reasonable oral option if absorption is reliable, interactions and safety concerns are acceptable, and there is no other deep focus. The presence of bacteremia alone does not require a PICC. For improving cUTI, the 2025 IDSA guideline suggests 5–7 days for a fluoroquinolone or 7 days for a non-fluoroquinolone, counted from the first day of effective therapy. Many supporting studies excluded patients with complete obstruction, abscess, severe sepsis, significant immunocompromise, chronic kidney disease, or urologic procedures, so duration may need individualization. Do not default to 14 days because bacteremia was present. 2</a:t>
            </a:r>
          </a:p>
          <a:p xmlns:a="http://schemas.openxmlformats.org/drawingml/2006/main">
            <a:r>
              <a:t/>
            </a:r>
          </a:p>
          <a:p xmlns:a="http://schemas.openxmlformats.org/drawingml/2006/main">
            <a:r>
              <a:t>Module section: https://docarcshot.github.io/id-practice-update/lectures/Antibiotics_Practical_Primer_Inpatient_Resident.html#uti</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When to change from IV to oral therapy Oral therapy is reasonable when the patient is improving, source control is adequate, the organism is susceptible, the chosen drug reaches the relevant site and systemic exposure, the gastrointestinal tract works, and the patient can take the regimen reliably. “Bacteremia” by itself is not an indication for prolonged IV therapy. Agents with high oral exposure Fluoroquinolones, linezolid, metronidazole, TMP-SMX, doxycycline, and fluconazole have high oral bioavailability. Oral beta-lactams can also work for selected infections. Check the dose, organism MIC, infection site, and supporting clinical evidence. When IV therapy should continue Hemodynamic instability, uncontrolled source, unreliable absorption, no active oral option, endovascular or CNS infection without a validated oral strategy, adherence barriers that cannot be addressed, or a clinical course that does not fit the presumed diagnosis. Approximate oral absorption and urinary excretion for common cUTI options Agent Oral absorption Urinary excretion Amoxicillin-clavulanate Amoxicillin about 80%; clavulanate variable Amoxicillin 50–70%; clavulanate 25–40% Cefixime About 50% About 50% Cefpodoxime About 50% About 30% Ceftibuten 75–90% About 56% Cefuroxime About 52% About 50% Cephalexin About 90% About 90% Ciprofloxacin About 70% 40–50% Levofloxacin About 99% 64–100% TMP-SMX 70–90% Sulfamethoxazole 84%; trimethoprim 66% Values are approximate and come from the dosing supplement to the 2025 IDSA cUTI guideline. 2 Absorption is not the same as adequate exposure. Dose, organism MIC, infection site, renal function, and clinical evidence still determine whether an oral drug is a reasonable choice. Oral therapy for uncomplicated gram-negative bacteremia. The 2021 Delphi guidance favored fluoroquinolones or TMP-SMX when active and allowed selected oral beta-lactams only when pharmacokinetic and pharmacodynamic target attainment was likely with optimized dosing. It raised specific concerns about routinely using cefadroxil, cefpodoxime, or cefdinir for this purpose. It is not a local dosing table. Use the current institutional pathway, susceptibility report, syndrome, and pharmacy input for patient-specific decisions. 38 Source control. Changing to oral therapy does not compensate for inadequate drainage, debridement, device management, or relief of obstruction. These are often the conditions that allow either oral or IV therapy to succeed.</a:t>
            </a:r>
          </a:p>
          <a:p xmlns:a="http://schemas.openxmlformats.org/drawingml/2006/main">
            <a:r>
              <a:t/>
            </a:r>
          </a:p>
          <a:p xmlns:a="http://schemas.openxmlformats.org/drawingml/2006/main">
            <a:r>
              <a:t>Module section: https://docarcshot.github.io/id-practice-update/lectures/Antibiotics_Practical_Primer_Inpatient_Resident.html#route</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When to change from IV to oral therapy Oral therapy is reasonable when the patient is improving, source control is adequate, the organism is susceptible, the chosen drug reaches the relevant site and systemic exposure, the gastrointestinal tract works, and the patient can take the regimen reliably. “Bacteremia” by itself is not an indication for prolonged IV therapy. Agents with high oral exposure Fluoroquinolones, linezolid, metronidazole, TMP-SMX, doxycycline, and fluconazole have high oral bioavailability. Oral beta-lactams can also work for selected infections. Check the dose, organism MIC, infection site, and supporting clinical evidence. When IV therapy should continue Hemodynamic instability, uncontrolled source, unreliable absorption, no active oral option, endovascular or CNS infection without a validated oral strategy, adherence barriers that cannot be addressed, or a clinical course that does not fit the presumed diagnosis. Approximate oral absorption and urinary excretion for common cUTI options Agent Oral absorption Urinary excretion Amoxicillin-clavulanate Amoxicillin about 80%; clavulanate variable Amoxicillin 50–70%; clavulanate 25–40% Cefixime About 50% About 50% Cefpodoxime About 50% About 30% Ceftibuten 75–90% About 56% Cefuroxime About 52% About 50% Cephalexin About 90% About 90% Ciprofloxacin About 70% 40–50% Levofloxacin About 99% 64–100% TMP-SMX 70–90% Sulfamethoxazole 84%; trimethoprim 66% Values are approximate and come from the dosing supplement to the 2025 IDSA cUTI guideline. 2 Absorption is not the same as adequate exposure. Dose, organism MIC, infection site, renal function, and clinical evidence still determine whether an oral drug is a reasonable choice. Oral therapy for uncomplicated gram-negative bacteremia. The 2021 Delphi guidance favored fluoroquinolones or TMP-SMX when active and allowed selected oral beta-lactams only when pharmacokinetic and pharmacodynamic target attainment was likely with optimized dosing. It raised specific concerns about routinely using cefadroxil, cefpodoxime, or cefdinir for this purpose. It is not a local dosing table. Use the current institutional pathway, susceptibility report, syndrome, and pharmacy input for patient-specific decisions. 38 Source control. Changing to oral therapy does not compensate for inadequate drainage, debridement, device management, or relief of obstruction. These are often the conditions that allow either oral or IV therapy to succeed.</a:t>
            </a:r>
          </a:p>
          <a:p xmlns:a="http://schemas.openxmlformats.org/drawingml/2006/main">
            <a:r>
              <a:t/>
            </a:r>
          </a:p>
          <a:p xmlns:a="http://schemas.openxmlformats.org/drawingml/2006/main">
            <a:r>
              <a:t>Module section: https://docarcshot.github.io/id-practice-update/lectures/Antibiotics_Practical_Primer_Inpatient_Resident.html#route</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When to change from IV to oral therapy Oral therapy is reasonable when the patient is improving, source control is adequate, the organism is susceptible, the chosen drug reaches the relevant site and systemic exposure, the gastrointestinal tract works, and the patient can take the regimen reliably. “Bacteremia” by itself is not an indication for prolonged IV therapy. Agents with high oral exposure Fluoroquinolones, linezolid, metronidazole, TMP-SMX, doxycycline, and fluconazole have high oral bioavailability. Oral beta-lactams can also work for selected infections. Check the dose, organism MIC, infection site, and supporting clinical evidence. When IV therapy should continue Hemodynamic instability, uncontrolled source, unreliable absorption, no active oral option, endovascular or CNS infection without a validated oral strategy, adherence barriers that cannot be addressed, or a clinical course that does not fit the presumed diagnosis. Approximate oral absorption and urinary excretion for common cUTI options Agent Oral absorption Urinary excretion Amoxicillin-clavulanate Amoxicillin about 80%; clavulanate variable Amoxicillin 50–70%; clavulanate 25–40% Cefixime About 50% About 50% Cefpodoxime About 50% About 30% Ceftibuten 75–90% About 56% Cefuroxime About 52% About 50% Cephalexin About 90% About 90% Ciprofloxacin About 70% 40–50% Levofloxacin About 99% 64–100% TMP-SMX 70–90% Sulfamethoxazole 84%; trimethoprim 66% Values are approximate and come from the dosing supplement to the 2025 IDSA cUTI guideline. 2 Absorption is not the same as adequate exposure. Dose, organism MIC, infection site, renal function, and clinical evidence still determine whether an oral drug is a reasonable choice. Oral therapy for uncomplicated gram-negative bacteremia. The 2021 Delphi guidance favored fluoroquinolones or TMP-SMX when active and allowed selected oral beta-lactams only when pharmacokinetic and pharmacodynamic target attainment was likely with optimized dosing. It raised specific concerns about routinely using cefadroxil, cefpodoxime, or cefdinir for this purpose. It is not a local dosing table. Use the current institutional pathway, susceptibility report, syndrome, and pharmacy input for patient-specific decisions. 38 Source control. Changing to oral therapy does not compensate for inadequate drainage, debridement, device management, or relief of obstruction. These are often the conditions that allow either oral or IV therapy to succeed.</a:t>
            </a:r>
          </a:p>
          <a:p xmlns:a="http://schemas.openxmlformats.org/drawingml/2006/main">
            <a:r>
              <a:t/>
            </a:r>
          </a:p>
          <a:p xmlns:a="http://schemas.openxmlformats.org/drawingml/2006/main">
            <a:r>
              <a:t>Module section: https://docarcshot.github.io/id-practice-update/lectures/Antibiotics_Practical_Primer_Inpatient_Resident.html#route</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When to change from IV to oral therapy Oral therapy is reasonable when the patient is improving, source control is adequate, the organism is susceptible, the chosen drug reaches the relevant site and systemic exposure, the gastrointestinal tract works, and the patient can take the regimen reliably. “Bacteremia” by itself is not an indication for prolonged IV therapy. Agents with high oral exposure Fluoroquinolones, linezolid, metronidazole, TMP-SMX, doxycycline, and fluconazole have high oral bioavailability. Oral beta-lactams can also work for selected infections. Check the dose, organism MIC, infection site, and supporting clinical evidence. When IV therapy should continue Hemodynamic instability, uncontrolled source, unreliable absorption, no active oral option, endovascular or CNS infection without a validated oral strategy, adherence barriers that cannot be addressed, or a clinical course that does not fit the presumed diagnosis. Approximate oral absorption and urinary excretion for common cUTI options Agent Oral absorption Urinary excretion Amoxicillin-clavulanate Amoxicillin about 80%; clavulanate variable Amoxicillin 50–70%; clavulanate 25–40% Cefixime About 50% About 50% Cefpodoxime About 50% About 30% Ceftibuten 75–90% About 56% Cefuroxime About 52% About 50% Cephalexin About 90% About 90% Ciprofloxacin About 70% 40–50% Levofloxacin About 99% 64–100% TMP-SMX 70–90% Sulfamethoxazole 84%; trimethoprim 66% Values are approximate and come from the dosing supplement to the 2025 IDSA cUTI guideline. 2 Absorption is not the same as adequate exposure. Dose, organism MIC, infection site, renal function, and clinical evidence still determine whether an oral drug is a reasonable choice. Oral therapy for uncomplicated gram-negative bacteremia. The 2021 Delphi guidance favored fluoroquinolones or TMP-SMX when active and allowed selected oral beta-lactams only when pharmacokinetic and pharmacodynamic target attainment was likely with optimized dosing. It raised specific concerns about routinely using cefadroxil, cefpodoxime, or cefdinir for this purpose. It is not a local dosing table. Use the current institutional pathway, susceptibility report, syndrome, and pharmacy input for patient-specific decisions. 38 Source control. Changing to oral therapy does not compensate for inadequate drainage, debridement, device management, or relief of obstruction. These are often the conditions that allow either oral or IV therapy to succeed.</a:t>
            </a:r>
          </a:p>
          <a:p xmlns:a="http://schemas.openxmlformats.org/drawingml/2006/main">
            <a:r>
              <a:t/>
            </a:r>
          </a:p>
          <a:p xmlns:a="http://schemas.openxmlformats.org/drawingml/2006/main">
            <a:r>
              <a:t>Module section: https://docarcshot.github.io/id-practice-update/lectures/Antibiotics_Practical_Primer_Inpatient_Resident.html#route</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When to change from IV to oral therapy Oral therapy is reasonable when the patient is improving, source control is adequate, the organism is susceptible, the chosen drug reaches the relevant site and systemic exposure, the gastrointestinal tract works, and the patient can take the regimen reliably. “Bacteremia” by itself is not an indication for prolonged IV therapy. Agents with high oral exposure Fluoroquinolones, linezolid, metronidazole, TMP-SMX, doxycycline, and fluconazole have high oral bioavailability. Oral beta-lactams can also work for selected infections. Check the dose, organism MIC, infection site, and supporting clinical evidence. When IV therapy should continue Hemodynamic instability, uncontrolled source, unreliable absorption, no active oral option, endovascular or CNS infection without a validated oral strategy, adherence barriers that cannot be addressed, or a clinical course that does not fit the presumed diagnosis. Approximate oral absorption and urinary excretion for common cUTI options Agent Oral absorption Urinary excretion Amoxicillin-clavulanate Amoxicillin about 80%; clavulanate variable Amoxicillin 50–70%; clavulanate 25–40% Cefixime About 50% About 50% Cefpodoxime About 50% About 30% Ceftibuten 75–90% About 56% Cefuroxime About 52% About 50% Cephalexin About 90% About 90% Ciprofloxacin About 70% 40–50% Levofloxacin About 99% 64–100% TMP-SMX 70–90% Sulfamethoxazole 84%; trimethoprim 66% Values are approximate and come from the dosing supplement to the 2025 IDSA cUTI guideline. 2 Absorption is not the same as adequate exposure. Dose, organism MIC, infection site, renal function, and clinical evidence still determine whether an oral drug is a reasonable choice. Oral therapy for uncomplicated gram-negative bacteremia. The 2021 Delphi guidance favored fluoroquinolones or TMP-SMX when active and allowed selected oral beta-lactams only when pharmacokinetic and pharmacodynamic target attainment was likely with optimized dosing. It raised specific concerns about routinely using cefadroxil, cefpodoxime, or cefdinir for this purpose. It is not a local dosing table. Use the current institutional pathway, susceptibility report, syndrome, and pharmacy input for patient-specific decisions. 38 Source control. Changing to oral therapy does not compensate for inadequate drainage, debridement, device management, or relief of obstruction. These are often the conditions that allow either oral or IV therapy to succeed.</a:t>
            </a:r>
          </a:p>
          <a:p xmlns:a="http://schemas.openxmlformats.org/drawingml/2006/main">
            <a:r>
              <a:t/>
            </a:r>
          </a:p>
          <a:p xmlns:a="http://schemas.openxmlformats.org/drawingml/2006/main">
            <a:r>
              <a:t>Module section: https://docarcshot.github.io/id-practice-update/lectures/Antibiotics_Practical_Primer_Inpatient_Resident.html#route</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When to change from IV to oral therapy Oral therapy is reasonable when the patient is improving, source control is adequate, the organism is susceptible, the chosen drug reaches the relevant site and systemic exposure, the gastrointestinal tract works, and the patient can take the regimen reliably. “Bacteremia” by itself is not an indication for prolonged IV therapy. Agents with high oral exposure Fluoroquinolones, linezolid, metronidazole, TMP-SMX, doxycycline, and fluconazole have high oral bioavailability. Oral beta-lactams can also work for selected infections. Check the dose, organism MIC, infection site, and supporting clinical evidence. When IV therapy should continue Hemodynamic instability, uncontrolled source, unreliable absorption, no active oral option, endovascular or CNS infection without a validated oral strategy, adherence barriers that cannot be addressed, or a clinical course that does not fit the presumed diagnosis. Approximate oral absorption and urinary excretion for common cUTI options Agent Oral absorption Urinary excretion Amoxicillin-clavulanate Amoxicillin about 80%; clavulanate variable Amoxicillin 50–70%; clavulanate 25–40% Cefixime About 50% About 50% Cefpodoxime About 50% About 30% Ceftibuten 75–90% About 56% Cefuroxime About 52% About 50% Cephalexin About 90% About 90% Ciprofloxacin About 70% 40–50% Levofloxacin About 99% 64–100% TMP-SMX 70–90% Sulfamethoxazole 84%; trimethoprim 66% Values are approximate and come from the dosing supplement to the 2025 IDSA cUTI guideline. 2 Absorption is not the same as adequate exposure. Dose, organism MIC, infection site, renal function, and clinical evidence still determine whether an oral drug is a reasonable choice. Oral therapy for uncomplicated gram-negative bacteremia. The 2021 Delphi guidance favored fluoroquinolones or TMP-SMX when active and allowed selected oral beta-lactams only when pharmacokinetic and pharmacodynamic target attainment was likely with optimized dosing. It raised specific concerns about routinely using cefadroxil, cefpodoxime, or cefdinir for this purpose. It is not a local dosing table. Use the current institutional pathway, susceptibility report, syndrome, and pharmacy input for patient-specific decisions. 38 Source control. Changing to oral therapy does not compensate for inadequate drainage, debridement, device management, or relief of obstruction. These are often the conditions that allow either oral or IV therapy to succeed.</a:t>
            </a:r>
          </a:p>
          <a:p xmlns:a="http://schemas.openxmlformats.org/drawingml/2006/main">
            <a:r>
              <a:t/>
            </a:r>
          </a:p>
          <a:p xmlns:a="http://schemas.openxmlformats.org/drawingml/2006/main">
            <a:r>
              <a:t>Module section: https://docarcshot.github.io/id-practice-update/lectures/Antibiotics_Practical_Primer_Inpatient_Resident.html#route</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When to change from IV to oral therapy Oral therapy is reasonable when the patient is improving, source control is adequate, the organism is susceptible, the chosen drug reaches the relevant site and systemic exposure, the gastrointestinal tract works, and the patient can take the regimen reliably. “Bacteremia” by itself is not an indication for prolonged IV therapy. Agents with high oral exposure Fluoroquinolones, linezolid, metronidazole, TMP-SMX, doxycycline, and fluconazole have high oral bioavailability. Oral beta-lactams can also work for selected infections. Check the dose, organism MIC, infection site, and supporting clinical evidence. When IV therapy should continue Hemodynamic instability, uncontrolled source, unreliable absorption, no active oral option, endovascular or CNS infection without a validated oral strategy, adherence barriers that cannot be addressed, or a clinical course that does not fit the presumed diagnosis. Approximate oral absorption and urinary excretion for common cUTI options Agent Oral absorption Urinary excretion Amoxicillin-clavulanate Amoxicillin about 80%; clavulanate variable Amoxicillin 50–70%; clavulanate 25–40% Cefixime About 50% About 50% Cefpodoxime About 50% About 30% Ceftibuten 75–90% About 56% Cefuroxime About 52% About 50% Cephalexin About 90% About 90% Ciprofloxacin About 70% 40–50% Levofloxacin About 99% 64–100% TMP-SMX 70–90% Sulfamethoxazole 84%; trimethoprim 66% Values are approximate and come from the dosing supplement to the 2025 IDSA cUTI guideline. 2 Absorption is not the same as adequate exposure. Dose, organism MIC, infection site, renal function, and clinical evidence still determine whether an oral drug is a reasonable choice. Oral therapy for uncomplicated gram-negative bacteremia. The 2021 Delphi guidance favored fluoroquinolones or TMP-SMX when active and allowed selected oral beta-lactams only when pharmacokinetic and pharmacodynamic target attainment was likely with optimized dosing. It raised specific concerns about routinely using cefadroxil, cefpodoxime, or cefdinir for this purpose. It is not a local dosing table. Use the current institutional pathway, susceptibility report, syndrome, and pharmacy input for patient-specific decisions. 38 Source control. Changing to oral therapy does not compensate for inadequate drainage, debridement, device management, or relief of obstruction. These are often the conditions that allow either oral or IV therapy to succeed.</a:t>
            </a:r>
          </a:p>
          <a:p xmlns:a="http://schemas.openxmlformats.org/drawingml/2006/main">
            <a:r>
              <a:t/>
            </a:r>
          </a:p>
          <a:p xmlns:a="http://schemas.openxmlformats.org/drawingml/2006/main">
            <a:r>
              <a:t>Module section: https://docarcshot.github.io/id-practice-update/lectures/Antibiotics_Practical_Primer_Inpatient_Resident.html#route</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When to change from IV to oral therapy Oral therapy is reasonable when the patient is improving, source control is adequate, the organism is susceptible, the chosen drug reaches the relevant site and systemic exposure, the gastrointestinal tract works, and the patient can take the regimen reliably. “Bacteremia” by itself is not an indication for prolonged IV therapy. Agents with high oral exposure Fluoroquinolones, linezolid, metronidazole, TMP-SMX, doxycycline, and fluconazole have high oral bioavailability. Oral beta-lactams can also work for selected infections. Check the dose, organism MIC, infection site, and supporting clinical evidence. When IV therapy should continue Hemodynamic instability, uncontrolled source, unreliable absorption, no active oral option, endovascular or CNS infection without a validated oral strategy, adherence barriers that cannot be addressed, or a clinical course that does not fit the presumed diagnosis. Approximate oral absorption and urinary excretion for common cUTI options Agent Oral absorption Urinary excretion Amoxicillin-clavulanate Amoxicillin about 80%; clavulanate variable Amoxicillin 50–70%; clavulanate 25–40% Cefixime About 50% About 50% Cefpodoxime About 50% About 30% Ceftibuten 75–90% About 56% Cefuroxime About 52% About 50% Cephalexin About 90% About 90% Ciprofloxacin About 70% 40–50% Levofloxacin About 99% 64–100% TMP-SMX 70–90% Sulfamethoxazole 84%; trimethoprim 66% Values are approximate and come from the dosing supplement to the 2025 IDSA cUTI guideline. 2 Absorption is not the same as adequate exposure. Dose, organism MIC, infection site, renal function, and clinical evidence still determine whether an oral drug is a reasonable choice. Oral therapy for uncomplicated gram-negative bacteremia. The 2021 Delphi guidance favored fluoroquinolones or TMP-SMX when active and allowed selected oral beta-lactams only when pharmacokinetic and pharmacodynamic target attainment was likely with optimized dosing. It raised specific concerns about routinely using cefadroxil, cefpodoxime, or cefdinir for this purpose. It is not a local dosing table. Use the current institutional pathway, susceptibility report, syndrome, and pharmacy input for patient-specific decisions. 38 Source control. Changing to oral therapy does not compensate for inadequate drainage, debridement, device management, or relief of obstruction. These are often the conditions that allow either oral or IV therapy to succeed.</a:t>
            </a:r>
          </a:p>
          <a:p xmlns:a="http://schemas.openxmlformats.org/drawingml/2006/main">
            <a:r>
              <a:t/>
            </a:r>
          </a:p>
          <a:p xmlns:a="http://schemas.openxmlformats.org/drawingml/2006/main">
            <a:r>
              <a:t>Module section: https://docarcshot.github.io/id-practice-update/lectures/Antibiotics_Practical_Primer_Inpatient_Resident.html#route</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When to change from IV to oral therapy Oral therapy is reasonable when the patient is improving, source control is adequate, the organism is susceptible, the chosen drug reaches the relevant site and systemic exposure, the gastrointestinal tract works, and the patient can take the regimen reliably. “Bacteremia” by itself is not an indication for prolonged IV therapy. Agents with high oral exposure Fluoroquinolones, linezolid, metronidazole, TMP-SMX, doxycycline, and fluconazole have high oral bioavailability. Oral beta-lactams can also work for selected infections. Check the dose, organism MIC, infection site, and supporting clinical evidence. When IV therapy should continue Hemodynamic instability, uncontrolled source, unreliable absorption, no active oral option, endovascular or CNS infection without a validated oral strategy, adherence barriers that cannot be addressed, or a clinical course that does not fit the presumed diagnosis. Approximate oral absorption and urinary excretion for common cUTI options Agent Oral absorption Urinary excretion Amoxicillin-clavulanate Amoxicillin about 80%; clavulanate variable Amoxicillin 50–70%; clavulanate 25–40% Cefixime About 50% About 50% Cefpodoxime About 50% About 30% Ceftibuten 75–90% About 56% Cefuroxime About 52% About 50% Cephalexin About 90% About 90% Ciprofloxacin About 70% 40–50% Levofloxacin About 99% 64–100% TMP-SMX 70–90% Sulfamethoxazole 84%; trimethoprim 66% Values are approximate and come from the dosing supplement to the 2025 IDSA cUTI guideline. 2 Absorption is not the same as adequate exposure. Dose, organism MIC, infection site, renal function, and clinical evidence still determine whether an oral drug is a reasonable choice. Oral therapy for uncomplicated gram-negative bacteremia. The 2021 Delphi guidance favored fluoroquinolones or TMP-SMX when active and allowed selected oral beta-lactams only when pharmacokinetic and pharmacodynamic target attainment was likely with optimized dosing. It raised specific concerns about routinely using cefadroxil, cefpodoxime, or cefdinir for this purpose. It is not a local dosing table. Use the current institutional pathway, susceptibility report, syndrome, and pharmacy input for patient-specific decisions. 38 Source control. Changing to oral therapy does not compensate for inadequate drainage, debridement, device management, or relief of obstruction. These are often the conditions that allow either oral or IV therapy to succeed.</a:t>
            </a:r>
          </a:p>
          <a:p xmlns:a="http://schemas.openxmlformats.org/drawingml/2006/main">
            <a:r>
              <a:t/>
            </a:r>
          </a:p>
          <a:p xmlns:a="http://schemas.openxmlformats.org/drawingml/2006/main">
            <a:r>
              <a:t>Module section: https://docarcshot.github.io/id-practice-update/lectures/Antibiotics_Practical_Primer_Inpatient_Resident.html#route</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Selected trials Each trial evaluated a specific population and treatment strategy. Apply the inclusion criteria and exclusions before using the result at the bedside. MERINO Harris et al., 2018. In 378 patients with ceftriaxone-resistant E. coli or K. pneumoniae bloodstream infection, 30-day mortality was 12.3% with piperacillin-tazobactam and 3.7% with meropenem. Piperacillin-tazobactam did not meet noninferiority. Prefer a carbapenem for invasive ESBL infection even when piperacillin-tazobactam is reported susceptible. 7 CAMERA2 Tong et al., 2020. Adding 7 days of an antistaphylococcal beta-lactam to vancomycin or daptomycin for MRSA bacteremia did not improve the primary composite outcome. It reduced persistent bacteremia at day 5 but increased acute kidney injury from 6% to 23%, and the trial stopped early. This does not support routine combination therapy. 8 OVIVA Li et al., 2019. Among 1,054 adults with bone, joint, or orthopedic hardware infection, an oral strategy used during the first 6 weeks was noninferior to continued IV therapy. Definite treatment failure occurred in 13.2% of the oral group and 14.6% of the IV group among patients with endpoint data. IV catheter complications were much more frequent with IV therapy. Oral drugs were selected by infection specialists; this was not evidence that any oral agent is adequate for any bone infection. 9 POET Iversen et al., 2019. Four hundred stable adults with selected left-sided endocarditis due to streptococci, E. faecalis , S. aureus , or coagulase-negative staphylococci were randomized after at least 10 days of IV therapy. The composite outcome occurred in 9.0% with partial oral therapy and 12.1% with continued IV therapy. The conclusion applies to carefully selected, stable patients using protocolized combination regimens and close follow-up, not to routine early oral treatment of endocarditis. 10 BALANCE Daneman et al., published online 2024 and in print 2025. In 3,608 hospitalized patients with bloodstream infection, 7 days was noninferior to 14 days for 90-day mortality. The trial excluded S. aureus , S. lugdunensis , fungemia, severe immunosuppression, prosthetic heart valves or endovascular grafts, and infections requiring prolonged therapy such as endocarditis, osteomyelitis, septic arthritis, undrained abscess, or retained infected prosthetic material. Seven days is not a universal bacteremia duration. 11</a:t>
            </a:r>
          </a:p>
          <a:p xmlns:a="http://schemas.openxmlformats.org/drawingml/2006/main">
            <a:r>
              <a:t/>
            </a:r>
          </a:p>
          <a:p xmlns:a="http://schemas.openxmlformats.org/drawingml/2006/main">
            <a:r>
              <a:t>Module section: https://docarcshot.github.io/id-practice-update/lectures/Antibiotics_Practical_Primer_Inpatient_Resident.html#studies</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Selected trials Each trial evaluated a specific population and treatment strategy. Apply the inclusion criteria and exclusions before using the result at the bedside. MERINO Harris et al., 2018. In 378 patients with ceftriaxone-resistant E. coli or K. pneumoniae bloodstream infection, 30-day mortality was 12.3% with piperacillin-tazobactam and 3.7% with meropenem. Piperacillin-tazobactam did not meet noninferiority. Prefer a carbapenem for invasive ESBL infection even when piperacillin-tazobactam is reported susceptible. 7 CAMERA2 Tong et al., 2020. Adding 7 days of an antistaphylococcal beta-lactam to vancomycin or daptomycin for MRSA bacteremia did not improve the primary composite outcome. It reduced persistent bacteremia at day 5 but increased acute kidney injury from 6% to 23%, and the trial stopped early. This does not support routine combination therapy. 8 OVIVA Li et al., 2019. Among 1,054 adults with bone, joint, or orthopedic hardware infection, an oral strategy used during the first 6 weeks was noninferior to continued IV therapy. Definite treatment failure occurred in 13.2% of the oral group and 14.6% of the IV group among patients with endpoint data. IV catheter complications were much more frequent with IV therapy. Oral drugs were selected by infection specialists; this was not evidence that any oral agent is adequate for any bone infection. 9 POET Iversen et al., 2019. Four hundred stable adults with selected left-sided endocarditis due to streptococci, E. faecalis , S. aureus , or coagulase-negative staphylococci were randomized after at least 10 days of IV therapy. The composite outcome occurred in 9.0% with partial oral therapy and 12.1% with continued IV therapy. The conclusion applies to carefully selected, stable patients using protocolized combination regimens and close follow-up, not to routine early oral treatment of endocarditis. 10 BALANCE Daneman et al., published online 2024 and in print 2025. In 3,608 hospitalized patients with bloodstream infection, 7 days was noninferior to 14 days for 90-day mortality. The trial excluded S. aureus , S. lugdunensis , fungemia, severe immunosuppression, prosthetic heart valves or endovascular grafts, and infections requiring prolonged therapy such as endocarditis, osteomyelitis, septic arthritis, undrained abscess, or retained infected prosthetic material. Seven days is not a universal bacteremia duration. 11</a:t>
            </a:r>
          </a:p>
          <a:p xmlns:a="http://schemas.openxmlformats.org/drawingml/2006/main">
            <a:r>
              <a:t/>
            </a:r>
          </a:p>
          <a:p xmlns:a="http://schemas.openxmlformats.org/drawingml/2006/main">
            <a:r>
              <a:t>Module section: https://docarcshot.github.io/id-practice-update/lectures/Antibiotics_Practical_Primer_Inpatient_Resident.html#studies</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Selected trials Each trial evaluated a specific population and treatment strategy. Apply the inclusion criteria and exclusions before using the result at the bedside. MERINO Harris et al., 2018. In 378 patients with ceftriaxone-resistant E. coli or K. pneumoniae bloodstream infection, 30-day mortality was 12.3% with piperacillin-tazobactam and 3.7% with meropenem. Piperacillin-tazobactam did not meet noninferiority. Prefer a carbapenem for invasive ESBL infection even when piperacillin-tazobactam is reported susceptible. 7 CAMERA2 Tong et al., 2020. Adding 7 days of an antistaphylococcal beta-lactam to vancomycin or daptomycin for MRSA bacteremia did not improve the primary composite outcome. It reduced persistent bacteremia at day 5 but increased acute kidney injury from 6% to 23%, and the trial stopped early. This does not support routine combination therapy. 8 OVIVA Li et al., 2019. Among 1,054 adults with bone, joint, or orthopedic hardware infection, an oral strategy used during the first 6 weeks was noninferior to continued IV therapy. Definite treatment failure occurred in 13.2% of the oral group and 14.6% of the IV group among patients with endpoint data. IV catheter complications were much more frequent with IV therapy. Oral drugs were selected by infection specialists; this was not evidence that any oral agent is adequate for any bone infection. 9 POET Iversen et al., 2019. Four hundred stable adults with selected left-sided endocarditis due to streptococci, E. faecalis , S. aureus , or coagulase-negative staphylococci were randomized after at least 10 days of IV therapy. The composite outcome occurred in 9.0% with partial oral therapy and 12.1% with continued IV therapy. The conclusion applies to carefully selected, stable patients using protocolized combination regimens and close follow-up, not to routine early oral treatment of endocarditis. 10 BALANCE Daneman et al., published online 2024 and in print 2025. In 3,608 hospitalized patients with bloodstream infection, 7 days was noninferior to 14 days for 90-day mortality. The trial excluded S. aureus , S. lugdunensis , fungemia, severe immunosuppression, prosthetic heart valves or endovascular grafts, and infections requiring prolonged therapy such as endocarditis, osteomyelitis, septic arthritis, undrained abscess, or retained infected prosthetic material. Seven days is not a universal bacteremia duration. 11</a:t>
            </a:r>
          </a:p>
          <a:p xmlns:a="http://schemas.openxmlformats.org/drawingml/2006/main">
            <a:r>
              <a:t/>
            </a:r>
          </a:p>
          <a:p xmlns:a="http://schemas.openxmlformats.org/drawingml/2006/main">
            <a:r>
              <a:t>Module section: https://docarcshot.github.io/id-practice-update/lectures/Antibiotics_Practical_Primer_Inpatient_Resident.html#studies</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Selected trials Each trial evaluated a specific population and treatment strategy. Apply the inclusion criteria and exclusions before using the result at the bedside. MERINO Harris et al., 2018. In 378 patients with ceftriaxone-resistant E. coli or K. pneumoniae bloodstream infection, 30-day mortality was 12.3% with piperacillin-tazobactam and 3.7% with meropenem. Piperacillin-tazobactam did not meet noninferiority. Prefer a carbapenem for invasive ESBL infection even when piperacillin-tazobactam is reported susceptible. 7 CAMERA2 Tong et al., 2020. Adding 7 days of an antistaphylococcal beta-lactam to vancomycin or daptomycin for MRSA bacteremia did not improve the primary composite outcome. It reduced persistent bacteremia at day 5 but increased acute kidney injury from 6% to 23%, and the trial stopped early. This does not support routine combination therapy. 8 OVIVA Li et al., 2019. Among 1,054 adults with bone, joint, or orthopedic hardware infection, an oral strategy used during the first 6 weeks was noninferior to continued IV therapy. Definite treatment failure occurred in 13.2% of the oral group and 14.6% of the IV group among patients with endpoint data. IV catheter complications were much more frequent with IV therapy. Oral drugs were selected by infection specialists; this was not evidence that any oral agent is adequate for any bone infection. 9 POET Iversen et al., 2019. Four hundred stable adults with selected left-sided endocarditis due to streptococci, E. faecalis , S. aureus , or coagulase-negative staphylococci were randomized after at least 10 days of IV therapy. The composite outcome occurred in 9.0% with partial oral therapy and 12.1% with continued IV therapy. The conclusion applies to carefully selected, stable patients using protocolized combination regimens and close follow-up, not to routine early oral treatment of endocarditis. 10 BALANCE Daneman et al., published online 2024 and in print 2025. In 3,608 hospitalized patients with bloodstream infection, 7 days was noninferior to 14 days for 90-day mortality. The trial excluded S. aureus , S. lugdunensis , fungemia, severe immunosuppression, prosthetic heart valves or endovascular grafts, and infections requiring prolonged therapy such as endocarditis, osteomyelitis, septic arthritis, undrained abscess, or retained infected prosthetic material. Seven days is not a universal bacteremia duration. 11</a:t>
            </a:r>
          </a:p>
          <a:p xmlns:a="http://schemas.openxmlformats.org/drawingml/2006/main">
            <a:r>
              <a:t/>
            </a:r>
          </a:p>
          <a:p xmlns:a="http://schemas.openxmlformats.org/drawingml/2006/main">
            <a:r>
              <a:t>Module section: https://docarcshot.github.io/id-practice-update/lectures/Antibiotics_Practical_Primer_Inpatient_Resident.html#studies</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Selected trials Each trial evaluated a specific population and treatment strategy. Apply the inclusion criteria and exclusions before using the result at the bedside. MERINO Harris et al., 2018. In 378 patients with ceftriaxone-resistant E. coli or K. pneumoniae bloodstream infection, 30-day mortality was 12.3% with piperacillin-tazobactam and 3.7% with meropenem. Piperacillin-tazobactam did not meet noninferiority. Prefer a carbapenem for invasive ESBL infection even when piperacillin-tazobactam is reported susceptible. 7 CAMERA2 Tong et al., 2020. Adding 7 days of an antistaphylococcal beta-lactam to vancomycin or daptomycin for MRSA bacteremia did not improve the primary composite outcome. It reduced persistent bacteremia at day 5 but increased acute kidney injury from 6% to 23%, and the trial stopped early. This does not support routine combination therapy. 8 OVIVA Li et al., 2019. Among 1,054 adults with bone, joint, or orthopedic hardware infection, an oral strategy used during the first 6 weeks was noninferior to continued IV therapy. Definite treatment failure occurred in 13.2% of the oral group and 14.6% of the IV group among patients with endpoint data. IV catheter complications were much more frequent with IV therapy. Oral drugs were selected by infection specialists; this was not evidence that any oral agent is adequate for any bone infection. 9 POET Iversen et al., 2019. Four hundred stable adults with selected left-sided endocarditis due to streptococci, E. faecalis , S. aureus , or coagulase-negative staphylococci were randomized after at least 10 days of IV therapy. The composite outcome occurred in 9.0% with partial oral therapy and 12.1% with continued IV therapy. The conclusion applies to carefully selected, stable patients using protocolized combination regimens and close follow-up, not to routine early oral treatment of endocarditis. 10 BALANCE Daneman et al., published online 2024 and in print 2025. In 3,608 hospitalized patients with bloodstream infection, 7 days was noninferior to 14 days for 90-day mortality. The trial excluded S. aureus , S. lugdunensis , fungemia, severe immunosuppression, prosthetic heart valves or endovascular grafts, and infections requiring prolonged therapy such as endocarditis, osteomyelitis, septic arthritis, undrained abscess, or retained infected prosthetic material. Seven days is not a universal bacteremia duration. 11</a:t>
            </a:r>
          </a:p>
          <a:p xmlns:a="http://schemas.openxmlformats.org/drawingml/2006/main">
            <a:r>
              <a:t/>
            </a:r>
          </a:p>
          <a:p xmlns:a="http://schemas.openxmlformats.org/drawingml/2006/main">
            <a:r>
              <a:t>Module section: https://docarcshot.github.io/id-practice-update/lectures/Antibiotics_Practical_Primer_Inpatient_Resident.html#studies</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Selected trials Each trial evaluated a specific population and treatment strategy. Apply the inclusion criteria and exclusions before using the result at the bedside. MERINO Harris et al., 2018. In 378 patients with ceftriaxone-resistant E. coli or K. pneumoniae bloodstream infection, 30-day mortality was 12.3% with piperacillin-tazobactam and 3.7% with meropenem. Piperacillin-tazobactam did not meet noninferiority. Prefer a carbapenem for invasive ESBL infection even when piperacillin-tazobactam is reported susceptible. 7 CAMERA2 Tong et al., 2020. Adding 7 days of an antistaphylococcal beta-lactam to vancomycin or daptomycin for MRSA bacteremia did not improve the primary composite outcome. It reduced persistent bacteremia at day 5 but increased acute kidney injury from 6% to 23%, and the trial stopped early. This does not support routine combination therapy. 8 OVIVA Li et al., 2019. Among 1,054 adults with bone, joint, or orthopedic hardware infection, an oral strategy used during the first 6 weeks was noninferior to continued IV therapy. Definite treatment failure occurred in 13.2% of the oral group and 14.6% of the IV group among patients with endpoint data. IV catheter complications were much more frequent with IV therapy. Oral drugs were selected by infection specialists; this was not evidence that any oral agent is adequate for any bone infection. 9 POET Iversen et al., 2019. Four hundred stable adults with selected left-sided endocarditis due to streptococci, E. faecalis , S. aureus , or coagulase-negative staphylococci were randomized after at least 10 days of IV therapy. The composite outcome occurred in 9.0% with partial oral therapy and 12.1% with continued IV therapy. The conclusion applies to carefully selected, stable patients using protocolized combination regimens and close follow-up, not to routine early oral treatment of endocarditis. 10 BALANCE Daneman et al., published online 2024 and in print 2025. In 3,608 hospitalized patients with bloodstream infection, 7 days was noninferior to 14 days for 90-day mortality. The trial excluded S. aureus , S. lugdunensis , fungemia, severe immunosuppression, prosthetic heart valves or endovascular grafts, and infections requiring prolonged therapy such as endocarditis, osteomyelitis, septic arthritis, undrained abscess, or retained infected prosthetic material. Seven days is not a universal bacteremia duration. 11</a:t>
            </a:r>
          </a:p>
          <a:p xmlns:a="http://schemas.openxmlformats.org/drawingml/2006/main">
            <a:r>
              <a:t/>
            </a:r>
          </a:p>
          <a:p xmlns:a="http://schemas.openxmlformats.org/drawingml/2006/main">
            <a:r>
              <a:t>Module section: https://docarcshot.github.io/id-practice-update/lectures/Antibiotics_Practical_Primer_Inpatient_Resident.html#studies</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Presenting the antibiotic plan on rounds The primary team should be able to tell what you think is being treated, why this drug was chosen, what still needs to happen, and when the plan will change. Syndrome and source [What infection are we treating? Is the source controlled?] Microbiology [Relevant cultures, susceptibilities, and prior organisms] Antibiotic decision today [Drug and route] because [coverage, site, host, and resistance considerations] Safety and dosing [Renal/hepatic adjustment, allergy, interaction, and monitoring plan] Reassessment [What pending result or clinical change permits narrowing, oral transition, stopping, or additional source evaluation?] Duration [First day of effective therapy or other duration anchor, anticipated stop date, and reason] Common errors Fever is treated as a diagnosis without establishing an infectious syndrome. Vancomycin and an antipseudomonal beta-lactam are continued after cultures and the clinical course allow narrowing. MSSA remains on vancomycin instead of an active antistaphylococcal beta-lactam. Susceptible Klebsiella is treated broadly because its narrower beta-lactam options were never reviewed. Fluoroquinolones are rejected categorically even when they provide the best susceptible oral option for cUTI or Pseudomonas . Renal function changes without a dosing reassessment, particularly with cefepime, vancomycin, aminoglycosides, TMP-SMX, or fluoroquinolones. A PICC is ordered before anyone asks whether a validated oral regimen is available. The drug is changed repeatedly while an abscess, obstruction, infected catheter, or hardware remains untreated.</a:t>
            </a:r>
          </a:p>
          <a:p xmlns:a="http://schemas.openxmlformats.org/drawingml/2006/main">
            <a:r>
              <a:t/>
            </a:r>
          </a:p>
          <a:p xmlns:a="http://schemas.openxmlformats.org/drawingml/2006/main">
            <a:r>
              <a:t>Module section: https://docarcshot.github.io/id-practice-update/lectures/Antibiotics_Practical_Primer_Inpatient_Resident.html#consult</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Presenting the antibiotic plan on rounds The primary team should be able to tell what you think is being treated, why this drug was chosen, what still needs to happen, and when the plan will change. Syndrome and source [What infection are we treating? Is the source controlled?] Microbiology [Relevant cultures, susceptibilities, and prior organisms] Antibiotic decision today [Drug and route] because [coverage, site, host, and resistance considerations] Safety and dosing [Renal/hepatic adjustment, allergy, interaction, and monitoring plan] Reassessment [What pending result or clinical change permits narrowing, oral transition, stopping, or additional source evaluation?] Duration [First day of effective therapy or other duration anchor, anticipated stop date, and reason] Common errors Fever is treated as a diagnosis without establishing an infectious syndrome. Vancomycin and an antipseudomonal beta-lactam are continued after cultures and the clinical course allow narrowing. MSSA remains on vancomycin instead of an active antistaphylococcal beta-lactam. Susceptible Klebsiella is treated broadly because its narrower beta-lactam options were never reviewed. Fluoroquinolones are rejected categorically even when they provide the best susceptible oral option for cUTI or Pseudomonas . Renal function changes without a dosing reassessment, particularly with cefepime, vancomycin, aminoglycosides, TMP-SMX, or fluoroquinolones. A PICC is ordered before anyone asks whether a validated oral regimen is available. The drug is changed repeatedly while an abscess, obstruction, infected catheter, or hardware remains untreated.</a:t>
            </a:r>
          </a:p>
          <a:p xmlns:a="http://schemas.openxmlformats.org/drawingml/2006/main">
            <a:r>
              <a:t/>
            </a:r>
          </a:p>
          <a:p xmlns:a="http://schemas.openxmlformats.org/drawingml/2006/main">
            <a:r>
              <a:t>Module section: https://docarcshot.github.io/id-practice-update/lectures/Antibiotics_Practical_Primer_Inpatient_Resident.html#consult</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Presenting the antibiotic plan on rounds The primary team should be able to tell what you think is being treated, why this drug was chosen, what still needs to happen, and when the plan will change. Syndrome and source [What infection are we treating? Is the source controlled?] Microbiology [Relevant cultures, susceptibilities, and prior organisms] Antibiotic decision today [Drug and route] because [coverage, site, host, and resistance considerations] Safety and dosing [Renal/hepatic adjustment, allergy, interaction, and monitoring plan] Reassessment [What pending result or clinical change permits narrowing, oral transition, stopping, or additional source evaluation?] Duration [First day of effective therapy or other duration anchor, anticipated stop date, and reason] Common errors Fever is treated as a diagnosis without establishing an infectious syndrome. Vancomycin and an antipseudomonal beta-lactam are continued after cultures and the clinical course allow narrowing. MSSA remains on vancomycin instead of an active antistaphylococcal beta-lactam. Susceptible Klebsiella is treated broadly because its narrower beta-lactam options were never reviewed. Fluoroquinolones are rejected categorically even when they provide the best susceptible oral option for cUTI or Pseudomonas . Renal function changes without a dosing reassessment, particularly with cefepime, vancomycin, aminoglycosides, TMP-SMX, or fluoroquinolones. A PICC is ordered before anyone asks whether a validated oral regimen is available. The drug is changed repeatedly while an abscess, obstruction, infected catheter, or hardware remains untreated.</a:t>
            </a:r>
          </a:p>
          <a:p xmlns:a="http://schemas.openxmlformats.org/drawingml/2006/main">
            <a:r>
              <a:t/>
            </a:r>
          </a:p>
          <a:p xmlns:a="http://schemas.openxmlformats.org/drawingml/2006/main">
            <a:r>
              <a:t>Module section: https://docarcshot.github.io/id-practice-update/lectures/Antibiotics_Practical_Primer_Inpatient_Resident.html#consult</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Presenting the antibiotic plan on rounds The primary team should be able to tell what you think is being treated, why this drug was chosen, what still needs to happen, and when the plan will change. Syndrome and source [What infection are we treating? Is the source controlled?] Microbiology [Relevant cultures, susceptibilities, and prior organisms] Antibiotic decision today [Drug and route] because [coverage, site, host, and resistance considerations] Safety and dosing [Renal/hepatic adjustment, allergy, interaction, and monitoring plan] Reassessment [What pending result or clinical change permits narrowing, oral transition, stopping, or additional source evaluation?] Duration [First day of effective therapy or other duration anchor, anticipated stop date, and reason] Common errors Fever is treated as a diagnosis without establishing an infectious syndrome. Vancomycin and an antipseudomonal beta-lactam are continued after cultures and the clinical course allow narrowing. MSSA remains on vancomycin instead of an active antistaphylococcal beta-lactam. Susceptible Klebsiella is treated broadly because its narrower beta-lactam options were never reviewed. Fluoroquinolones are rejected categorically even when they provide the best susceptible oral option for cUTI or Pseudomonas . Renal function changes without a dosing reassessment, particularly with cefepime, vancomycin, aminoglycosides, TMP-SMX, or fluoroquinolones. A PICC is ordered before anyone asks whether a validated oral regimen is available. The drug is changed repeatedly while an abscess, obstruction, infected catheter, or hardware remains untreated.</a:t>
            </a:r>
          </a:p>
          <a:p xmlns:a="http://schemas.openxmlformats.org/drawingml/2006/main">
            <a:r>
              <a:t/>
            </a:r>
          </a:p>
          <a:p xmlns:a="http://schemas.openxmlformats.org/drawingml/2006/main">
            <a:r>
              <a:t>Module section: https://docarcshot.github.io/id-practice-update/lectures/Antibiotics_Practical_Primer_Inpatient_Resident.html#consult</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Questions for the end of the session 1. A ceftriaxone-susceptible K. pneumoniae urine and blood isolate is improving after urinary decompression. Must cefepime be continued? Answer No. If there is no ESBL or other resistance concern and the patient is improving, ceftriaxone is a reasonable narrower IV option. Ciprofloxacin or levofloxacin may be reasonable orally when susceptible and otherwise appropriate. 2. Which oral antibiotics can be relied on for susceptible Pseudomonas aeruginosa ? Answer Ciprofloxacin or levofloxacin. Fluoroquinolones are the only established oral class with reliable antipseudomonal activity. Confirm susceptibility. Moxifloxacin is not an appropriate substitute. 3. What should be checked when a service uses trough monitoring for vancomycin? Answer If the service uses trough monitoring, confirm the correct draw time, follow serum creatinine, and use the indication-specific target in the local pharmacy workflow. The national 2020 consensus recommends AUC-guided monitoring for serious MRSA infection, and local monitoring practices may differ. 4. Does OVIVA show that every osteomyelitis patient can receive any active oral antibiotic from day 1? Answer No. Patients entered a specialist-directed oral strategy within 7 days of definitive surgery or planned curative treatment. Drug selection, source control, diagnosis, absorption, adherence, and follow-up still matter. 5. What should happen when cultures narrow the likely pathogen? Answer Reassess whether infection is present, narrow to the least broad effective drug, confirm the dose and route, address source control, and establish the duration anchor and stop date. Sometimes the correct decision is to stop antibiotics. 6. Fellow extension: An Enterobacterales isolate produces NDM. Is ceftazidime-avibactam alone a reliable choice? Answer No. Avibactam does not inhibit NDM, and NDM hydrolyzes ceftazidime. Current IDSA guidance lists aztreonam-avibactam and cefiderocol as preferred options for NDM-producing Enterobacterales. Ceftazidime-avibactam plus aztreonam is an alternative when the fixed aztreonam-avibactam product is unavailable. Final selection still depends on susceptibility testing, infection site, clinical stability, source control, and local ID pharmacy input.</a:t>
            </a:r>
          </a:p>
          <a:p xmlns:a="http://schemas.openxmlformats.org/drawingml/2006/main">
            <a:r>
              <a:t/>
            </a:r>
          </a:p>
          <a:p xmlns:a="http://schemas.openxmlformats.org/drawingml/2006/main">
            <a:r>
              <a:t>Module section: https://docarcshot.github.io/id-practice-update/lectures/Antibiotics_Practical_Primer_Inpatient_Resident.html#quiz</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Questions for the end of the session 1. A ceftriaxone-susceptible K. pneumoniae urine and blood isolate is improving after urinary decompression. Must cefepime be continued? Answer No. If there is no ESBL or other resistance concern and the patient is improving, ceftriaxone is a reasonable narrower IV option. Ciprofloxacin or levofloxacin may be reasonable orally when susceptible and otherwise appropriate. 2. Which oral antibiotics can be relied on for susceptible Pseudomonas aeruginosa ? Answer Ciprofloxacin or levofloxacin. Fluoroquinolones are the only established oral class with reliable antipseudomonal activity. Confirm susceptibility. Moxifloxacin is not an appropriate substitute. 3. What should be checked when a service uses trough monitoring for vancomycin? Answer If the service uses trough monitoring, confirm the correct draw time, follow serum creatinine, and use the indication-specific target in the local pharmacy workflow. The national 2020 consensus recommends AUC-guided monitoring for serious MRSA infection, and local monitoring practices may differ. 4. Does OVIVA show that every osteomyelitis patient can receive any active oral antibiotic from day 1? Answer No. Patients entered a specialist-directed oral strategy within 7 days of definitive surgery or planned curative treatment. Drug selection, source control, diagnosis, absorption, adherence, and follow-up still matter. 5. What should happen when cultures narrow the likely pathogen? Answer Reassess whether infection is present, narrow to the least broad effective drug, confirm the dose and route, address source control, and establish the duration anchor and stop date. Sometimes the correct decision is to stop antibiotics. 6. Fellow extension: An Enterobacterales isolate produces NDM. Is ceftazidime-avibactam alone a reliable choice? Answer No. Avibactam does not inhibit NDM, and NDM hydrolyzes ceftazidime. Current IDSA guidance lists aztreonam-avibactam and cefiderocol as preferred options for NDM-producing Enterobacterales. Ceftazidime-avibactam plus aztreonam is an alternative when the fixed aztreonam-avibactam product is unavailable. Final selection still depends on susceptibility testing, infection site, clinical stability, source control, and local ID pharmacy input.</a:t>
            </a:r>
          </a:p>
          <a:p xmlns:a="http://schemas.openxmlformats.org/drawingml/2006/main">
            <a:r>
              <a:t/>
            </a:r>
          </a:p>
          <a:p xmlns:a="http://schemas.openxmlformats.org/drawingml/2006/main">
            <a:r>
              <a:t>Module section: https://docarcshot.github.io/id-practice-update/lectures/Antibiotics_Practical_Primer_Inpatient_Resident.html#quiz</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Questions for the end of the session 1. A ceftriaxone-susceptible K. pneumoniae urine and blood isolate is improving after urinary decompression. Must cefepime be continued? Answer No. If there is no ESBL or other resistance concern and the patient is improving, ceftriaxone is a reasonable narrower IV option. Ciprofloxacin or levofloxacin may be reasonable orally when susceptible and otherwise appropriate. 2. Which oral antibiotics can be relied on for susceptible Pseudomonas aeruginosa ? Answer Ciprofloxacin or levofloxacin. Fluoroquinolones are the only established oral class with reliable antipseudomonal activity. Confirm susceptibility. Moxifloxacin is not an appropriate substitute. 3. What should be checked when a service uses trough monitoring for vancomycin? Answer If the service uses trough monitoring, confirm the correct draw time, follow serum creatinine, and use the indication-specific target in the local pharmacy workflow. The national 2020 consensus recommends AUC-guided monitoring for serious MRSA infection, and local monitoring practices may differ. 4. Does OVIVA show that every osteomyelitis patient can receive any active oral antibiotic from day 1? Answer No. Patients entered a specialist-directed oral strategy within 7 days of definitive surgery or planned curative treatment. Drug selection, source control, diagnosis, absorption, adherence, and follow-up still matter. 5. What should happen when cultures narrow the likely pathogen? Answer Reassess whether infection is present, narrow to the least broad effective drug, confirm the dose and route, address source control, and establish the duration anchor and stop date. Sometimes the correct decision is to stop antibiotics. 6. Fellow extension: An Enterobacterales isolate produces NDM. Is ceftazidime-avibactam alone a reliable choice? Answer No. Avibactam does not inhibit NDM, and NDM hydrolyzes ceftazidime. Current IDSA guidance lists aztreonam-avibactam and cefiderocol as preferred options for NDM-producing Enterobacterales. Ceftazidime-avibactam plus aztreonam is an alternative when the fixed aztreonam-avibactam product is unavailable. Final selection still depends on susceptibility testing, infection site, clinical stability, source control, and local ID pharmacy input.</a:t>
            </a:r>
          </a:p>
          <a:p xmlns:a="http://schemas.openxmlformats.org/drawingml/2006/main">
            <a:r>
              <a:t/>
            </a:r>
          </a:p>
          <a:p xmlns:a="http://schemas.openxmlformats.org/drawingml/2006/main">
            <a:r>
              <a:t>Module section: https://docarcshot.github.io/id-practice-update/lectures/Antibiotics_Practical_Primer_Inpatient_Resident.html#quiz</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Questions for the end of the session 1. A ceftriaxone-susceptible K. pneumoniae urine and blood isolate is improving after urinary decompression. Must cefepime be continued? Answer No. If there is no ESBL or other resistance concern and the patient is improving, ceftriaxone is a reasonable narrower IV option. Ciprofloxacin or levofloxacin may be reasonable orally when susceptible and otherwise appropriate. 2. Which oral antibiotics can be relied on for susceptible Pseudomonas aeruginosa ? Answer Ciprofloxacin or levofloxacin. Fluoroquinolones are the only established oral class with reliable antipseudomonal activity. Confirm susceptibility. Moxifloxacin is not an appropriate substitute. 3. What should be checked when a service uses trough monitoring for vancomycin? Answer If the service uses trough monitoring, confirm the correct draw time, follow serum creatinine, and use the indication-specific target in the local pharmacy workflow. The national 2020 consensus recommends AUC-guided monitoring for serious MRSA infection, and local monitoring practices may differ. 4. Does OVIVA show that every osteomyelitis patient can receive any active oral antibiotic from day 1? Answer No. Patients entered a specialist-directed oral strategy within 7 days of definitive surgery or planned curative treatment. Drug selection, source control, diagnosis, absorption, adherence, and follow-up still matter. 5. What should happen when cultures narrow the likely pathogen? Answer Reassess whether infection is present, narrow to the least broad effective drug, confirm the dose and route, address source control, and establish the duration anchor and stop date. Sometimes the correct decision is to stop antibiotics. 6. Fellow extension: An Enterobacterales isolate produces NDM. Is ceftazidime-avibactam alone a reliable choice? Answer No. Avibactam does not inhibit NDM, and NDM hydrolyzes ceftazidime. Current IDSA guidance lists aztreonam-avibactam and cefiderocol as preferred options for NDM-producing Enterobacterales. Ceftazidime-avibactam plus aztreonam is an alternative when the fixed aztreonam-avibactam product is unavailable. Final selection still depends on susceptibility testing, infection site, clinical stability, source control, and local ID pharmacy input.</a:t>
            </a:r>
          </a:p>
          <a:p xmlns:a="http://schemas.openxmlformats.org/drawingml/2006/main">
            <a:r>
              <a:t/>
            </a:r>
          </a:p>
          <a:p xmlns:a="http://schemas.openxmlformats.org/drawingml/2006/main">
            <a:r>
              <a:t>Module section: https://docarcshot.github.io/id-practice-update/lectures/Antibiotics_Practical_Primer_Inpatient_Resident.html#quiz</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Questions for the end of the session 1. A ceftriaxone-susceptible K. pneumoniae urine and blood isolate is improving after urinary decompression. Must cefepime be continued? Answer No. If there is no ESBL or other resistance concern and the patient is improving, ceftriaxone is a reasonable narrower IV option. Ciprofloxacin or levofloxacin may be reasonable orally when susceptible and otherwise appropriate. 2. Which oral antibiotics can be relied on for susceptible Pseudomonas aeruginosa ? Answer Ciprofloxacin or levofloxacin. Fluoroquinolones are the only established oral class with reliable antipseudomonal activity. Confirm susceptibility. Moxifloxacin is not an appropriate substitute. 3. What should be checked when a service uses trough monitoring for vancomycin? Answer If the service uses trough monitoring, confirm the correct draw time, follow serum creatinine, and use the indication-specific target in the local pharmacy workflow. The national 2020 consensus recommends AUC-guided monitoring for serious MRSA infection, and local monitoring practices may differ. 4. Does OVIVA show that every osteomyelitis patient can receive any active oral antibiotic from day 1? Answer No. Patients entered a specialist-directed oral strategy within 7 days of definitive surgery or planned curative treatment. Drug selection, source control, diagnosis, absorption, adherence, and follow-up still matter. 5. What should happen when cultures narrow the likely pathogen? Answer Reassess whether infection is present, narrow to the least broad effective drug, confirm the dose and route, address source control, and establish the duration anchor and stop date. Sometimes the correct decision is to stop antibiotics. 6. Fellow extension: An Enterobacterales isolate produces NDM. Is ceftazidime-avibactam alone a reliable choice? Answer No. Avibactam does not inhibit NDM, and NDM hydrolyzes ceftazidime. Current IDSA guidance lists aztreonam-avibactam and cefiderocol as preferred options for NDM-producing Enterobacterales. Ceftazidime-avibactam plus aztreonam is an alternative when the fixed aztreonam-avibactam product is unavailable. Final selection still depends on susceptibility testing, infection site, clinical stability, source control, and local ID pharmacy input.</a:t>
            </a:r>
          </a:p>
          <a:p xmlns:a="http://schemas.openxmlformats.org/drawingml/2006/main">
            <a:r>
              <a:t/>
            </a:r>
          </a:p>
          <a:p xmlns:a="http://schemas.openxmlformats.org/drawingml/2006/main">
            <a:r>
              <a:t>Module section: https://docarcshot.github.io/id-practice-update/lectures/Antibiotics_Practical_Primer_Inpatient_Resident.html#quiz</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Questions for the end of the session 1. A ceftriaxone-susceptible K. pneumoniae urine and blood isolate is improving after urinary decompression. Must cefepime be continued? Answer No. If there is no ESBL or other resistance concern and the patient is improving, ceftriaxone is a reasonable narrower IV option. Ciprofloxacin or levofloxacin may be reasonable orally when susceptible and otherwise appropriate. 2. Which oral antibiotics can be relied on for susceptible Pseudomonas aeruginosa ? Answer Ciprofloxacin or levofloxacin. Fluoroquinolones are the only established oral class with reliable antipseudomonal activity. Confirm susceptibility. Moxifloxacin is not an appropriate substitute. 3. What should be checked when a service uses trough monitoring for vancomycin? Answer If the service uses trough monitoring, confirm the correct draw time, follow serum creatinine, and use the indication-specific target in the local pharmacy workflow. The national 2020 consensus recommends AUC-guided monitoring for serious MRSA infection, and local monitoring practices may differ. 4. Does OVIVA show that every osteomyelitis patient can receive any active oral antibiotic from day 1? Answer No. Patients entered a specialist-directed oral strategy within 7 days of definitive surgery or planned curative treatment. Drug selection, source control, diagnosis, absorption, adherence, and follow-up still matter. 5. What should happen when cultures narrow the likely pathogen? Answer Reassess whether infection is present, narrow to the least broad effective drug, confirm the dose and route, address source control, and establish the duration anchor and stop date. Sometimes the correct decision is to stop antibiotics. 6. Fellow extension: An Enterobacterales isolate produces NDM. Is ceftazidime-avibactam alone a reliable choice? Answer No. Avibactam does not inhibit NDM, and NDM hydrolyzes ceftazidime. Current IDSA guidance lists aztreonam-avibactam and cefiderocol as preferred options for NDM-producing Enterobacterales. Ceftazidime-avibactam plus aztreonam is an alternative when the fixed aztreonam-avibactam product is unavailable. Final selection still depends on susceptibility testing, infection site, clinical stability, source control, and local ID pharmacy input.</a:t>
            </a:r>
          </a:p>
          <a:p xmlns:a="http://schemas.openxmlformats.org/drawingml/2006/main">
            <a:r>
              <a:t/>
            </a:r>
          </a:p>
          <a:p xmlns:a="http://schemas.openxmlformats.org/drawingml/2006/main">
            <a:r>
              <a:t>Module section: https://docarcshot.github.io/id-practice-update/lectures/Antibiotics_Practical_Primer_Inpatient_Resident.html#quiz</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Questions for the end of the session 1. A ceftriaxone-susceptible K. pneumoniae urine and blood isolate is improving after urinary decompression. Must cefepime be continued? Answer No. If there is no ESBL or other resistance concern and the patient is improving, ceftriaxone is a reasonable narrower IV option. Ciprofloxacin or levofloxacin may be reasonable orally when susceptible and otherwise appropriate. 2. Which oral antibiotics can be relied on for susceptible Pseudomonas aeruginosa ? Answer Ciprofloxacin or levofloxacin. Fluoroquinolones are the only established oral class with reliable antipseudomonal activity. Confirm susceptibility. Moxifloxacin is not an appropriate substitute. 3. What should be checked when a service uses trough monitoring for vancomycin? Answer If the service uses trough monitoring, confirm the correct draw time, follow serum creatinine, and use the indication-specific target in the local pharmacy workflow. The national 2020 consensus recommends AUC-guided monitoring for serious MRSA infection, and local monitoring practices may differ. 4. Does OVIVA show that every osteomyelitis patient can receive any active oral antibiotic from day 1? Answer No. Patients entered a specialist-directed oral strategy within 7 days of definitive surgery or planned curative treatment. Drug selection, source control, diagnosis, absorption, adherence, and follow-up still matter. 5. What should happen when cultures narrow the likely pathogen? Answer Reassess whether infection is present, narrow to the least broad effective drug, confirm the dose and route, address source control, and establish the duration anchor and stop date. Sometimes the correct decision is to stop antibiotics. 6. Fellow extension: An Enterobacterales isolate produces NDM. Is ceftazidime-avibactam alone a reliable choice? Answer No. Avibactam does not inhibit NDM, and NDM hydrolyzes ceftazidime. Current IDSA guidance lists aztreonam-avibactam and cefiderocol as preferred options for NDM-producing Enterobacterales. Ceftazidime-avibactam plus aztreonam is an alternative when the fixed aztreonam-avibactam product is unavailable. Final selection still depends on susceptibility testing, infection site, clinical stability, source control, and local ID pharmacy input.</a:t>
            </a:r>
          </a:p>
          <a:p xmlns:a="http://schemas.openxmlformats.org/drawingml/2006/main">
            <a:r>
              <a:t/>
            </a:r>
          </a:p>
          <a:p xmlns:a="http://schemas.openxmlformats.org/drawingml/2006/main">
            <a:r>
              <a:t>Module section: https://docarcshot.github.io/id-practice-update/lectures/Antibiotics_Practical_Primer_Inpatient_Resident.html#quiz</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Questions for the end of the session 1. A ceftriaxone-susceptible K. pneumoniae urine and blood isolate is improving after urinary decompression. Must cefepime be continued? Answer No. If there is no ESBL or other resistance concern and the patient is improving, ceftriaxone is a reasonable narrower IV option. Ciprofloxacin or levofloxacin may be reasonable orally when susceptible and otherwise appropriate. 2. Which oral antibiotics can be relied on for susceptible Pseudomonas aeruginosa ? Answer Ciprofloxacin or levofloxacin. Fluoroquinolones are the only established oral class with reliable antipseudomonal activity. Confirm susceptibility. Moxifloxacin is not an appropriate substitute. 3. What should be checked when a service uses trough monitoring for vancomycin? Answer If the service uses trough monitoring, confirm the correct draw time, follow serum creatinine, and use the indication-specific target in the local pharmacy workflow. The national 2020 consensus recommends AUC-guided monitoring for serious MRSA infection, and local monitoring practices may differ. 4. Does OVIVA show that every osteomyelitis patient can receive any active oral antibiotic from day 1? Answer No. Patients entered a specialist-directed oral strategy within 7 days of definitive surgery or planned curative treatment. Drug selection, source control, diagnosis, absorption, adherence, and follow-up still matter. 5. What should happen when cultures narrow the likely pathogen? Answer Reassess whether infection is present, narrow to the least broad effective drug, confirm the dose and route, address source control, and establish the duration anchor and stop date. Sometimes the correct decision is to stop antibiotics. 6. Fellow extension: An Enterobacterales isolate produces NDM. Is ceftazidime-avibactam alone a reliable choice? Answer No. Avibactam does not inhibit NDM, and NDM hydrolyzes ceftazidime. Current IDSA guidance lists aztreonam-avibactam and cefiderocol as preferred options for NDM-producing Enterobacterales. Ceftazidime-avibactam plus aztreonam is an alternative when the fixed aztreonam-avibactam product is unavailable. Final selection still depends on susceptibility testing, infection site, clinical stability, source control, and local ID pharmacy input.</a:t>
            </a:r>
          </a:p>
          <a:p xmlns:a="http://schemas.openxmlformats.org/drawingml/2006/main">
            <a:r>
              <a:t/>
            </a:r>
          </a:p>
          <a:p xmlns:a="http://schemas.openxmlformats.org/drawingml/2006/main">
            <a:r>
              <a:t>Module section: https://docarcshot.github.io/id-practice-update/lectures/Antibiotics_Practical_Primer_Inpatient_Resident.html#quiz</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Questions for the end of the session 1. A ceftriaxone-susceptible K. pneumoniae urine and blood isolate is improving after urinary decompression. Must cefepime be continued? Answer No. If there is no ESBL or other resistance concern and the patient is improving, ceftriaxone is a reasonable narrower IV option. Ciprofloxacin or levofloxacin may be reasonable orally when susceptible and otherwise appropriate. 2. Which oral antibiotics can be relied on for susceptible Pseudomonas aeruginosa ? Answer Ciprofloxacin or levofloxacin. Fluoroquinolones are the only established oral class with reliable antipseudomonal activity. Confirm susceptibility. Moxifloxacin is not an appropriate substitute. 3. What should be checked when a service uses trough monitoring for vancomycin? Answer If the service uses trough monitoring, confirm the correct draw time, follow serum creatinine, and use the indication-specific target in the local pharmacy workflow. The national 2020 consensus recommends AUC-guided monitoring for serious MRSA infection, and local monitoring practices may differ. 4. Does OVIVA show that every osteomyelitis patient can receive any active oral antibiotic from day 1? Answer No. Patients entered a specialist-directed oral strategy within 7 days of definitive surgery or planned curative treatment. Drug selection, source control, diagnosis, absorption, adherence, and follow-up still matter. 5. What should happen when cultures narrow the likely pathogen? Answer Reassess whether infection is present, narrow to the least broad effective drug, confirm the dose and route, address source control, and establish the duration anchor and stop date. Sometimes the correct decision is to stop antibiotics. 6. Fellow extension: An Enterobacterales isolate produces NDM. Is ceftazidime-avibactam alone a reliable choice? Answer No. Avibactam does not inhibit NDM, and NDM hydrolyzes ceftazidime. Current IDSA guidance lists aztreonam-avibactam and cefiderocol as preferred options for NDM-producing Enterobacterales. Ceftazidime-avibactam plus aztreonam is an alternative when the fixed aztreonam-avibactam product is unavailable. Final selection still depends on susceptibility testing, infection site, clinical stability, source control, and local ID pharmacy input.</a:t>
            </a:r>
          </a:p>
          <a:p xmlns:a="http://schemas.openxmlformats.org/drawingml/2006/main">
            <a:r>
              <a:t/>
            </a:r>
          </a:p>
          <a:p xmlns:a="http://schemas.openxmlformats.org/drawingml/2006/main">
            <a:r>
              <a:t>Module section: https://docarcshot.github.io/id-practice-update/lectures/Antibiotics_Practical_Primer_Inpatient_Resident.html#quiz</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Questions for the end of the session 1. A ceftriaxone-susceptible K. pneumoniae urine and blood isolate is improving after urinary decompression. Must cefepime be continued? Answer No. If there is no ESBL or other resistance concern and the patient is improving, ceftriaxone is a reasonable narrower IV option. Ciprofloxacin or levofloxacin may be reasonable orally when susceptible and otherwise appropriate. 2. Which oral antibiotics can be relied on for susceptible Pseudomonas aeruginosa ? Answer Ciprofloxacin or levofloxacin. Fluoroquinolones are the only established oral class with reliable antipseudomonal activity. Confirm susceptibility. Moxifloxacin is not an appropriate substitute. 3. What should be checked when a service uses trough monitoring for vancomycin? Answer If the service uses trough monitoring, confirm the correct draw time, follow serum creatinine, and use the indication-specific target in the local pharmacy workflow. The national 2020 consensus recommends AUC-guided monitoring for serious MRSA infection, and local monitoring practices may differ. 4. Does OVIVA show that every osteomyelitis patient can receive any active oral antibiotic from day 1? Answer No. Patients entered a specialist-directed oral strategy within 7 days of definitive surgery or planned curative treatment. Drug selection, source control, diagnosis, absorption, adherence, and follow-up still matter. 5. What should happen when cultures narrow the likely pathogen? Answer Reassess whether infection is present, narrow to the least broad effective drug, confirm the dose and route, address source control, and establish the duration anchor and stop date. Sometimes the correct decision is to stop antibiotics. 6. Fellow extension: An Enterobacterales isolate produces NDM. Is ceftazidime-avibactam alone a reliable choice? Answer No. Avibactam does not inhibit NDM, and NDM hydrolyzes ceftazidime. Current IDSA guidance lists aztreonam-avibactam and cefiderocol as preferred options for NDM-producing Enterobacterales. Ceftazidime-avibactam plus aztreonam is an alternative when the fixed aztreonam-avibactam product is unavailable. Final selection still depends on susceptibility testing, infection site, clinical stability, source control, and local ID pharmacy input.</a:t>
            </a:r>
          </a:p>
          <a:p xmlns:a="http://schemas.openxmlformats.org/drawingml/2006/main">
            <a:r>
              <a:t/>
            </a:r>
          </a:p>
          <a:p xmlns:a="http://schemas.openxmlformats.org/drawingml/2006/main">
            <a:r>
              <a:t>Module section: https://docarcshot.github.io/id-practice-update/lectures/Antibiotics_Practical_Primer_Inpatient_Resident.html#quiz</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Before choosing the drug When someone asks, “What antibiotic should we use?” I usually need several other answers first. Sometimes the correct response is immediate broad therapy. Sometimes it is a better culture, drainage, or no antibiotic at all. Is there an infection? What findings support infection rather than colonization, inflammation, aspiration pneumonitis, or a contaminated specimen? How sick is the patient? Instability lowers the tolerance for missing a pathogen. A stable patient allows more diagnostic precision. Where is it? The syndrome determines likely organisms, penetration, source control, and duration. What has grown before? Review prior cultures, recent antibiotics, healthcare exposure, devices, and the local antibiogram. What will fix the source? Drainage, debridement, device removal, or relief of obstruction may matter more than adding another drug. When will we reassess? Write what you expect to know in 24–72 hours and what would allow narrowing or stopping. For students and residents Be able to state the syndrome, likely organisms, why the chosen drug covers them, what it misses, and what information will change the plan. For fellows Separate guideline recommendations from trial evidence and local practice. When several drugs are active, weigh resistance mechanism, inoculum, exposure, toxicity, source control, and the consequences of failure. A practical word about dosing Do not memorize one dose for each drug. The same antibiotic may have different doses for cystitis, bacteremia, meningitis, obesity, augmented renal clearance, intermittent hemodialysis, or continuous renal replacement therapy. Loading doses are often based on volume of distribution and may still be needed in acute kidney injury; maintenance dosing is where renal clearance usually matters. For severe infection, verify the dose before the first administration rather than waiting for the next day’s rounds. Local practice: Beta-lactam infusion practices differ across sites and may change. Do not assume standard or extended infusion from this module. Use the current site-specific order set and pharmacy guidance.</a:t>
            </a:r>
          </a:p>
          <a:p xmlns:a="http://schemas.openxmlformats.org/drawingml/2006/main">
            <a:r>
              <a:t/>
            </a:r>
          </a:p>
          <a:p xmlns:a="http://schemas.openxmlformats.org/drawingml/2006/main">
            <a:r>
              <a:t>Module section: https://docarcshot.github.io/id-practice-update/lectures/Antibiotics_Practical_Primer_Inpatient_Resident.html#approach</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Newer and restricted gram-negative agents These drugs are restricted and are usually selected with ID and pharmacy input. Residents do not need to memorize which beta-lactamase each inhibitor blocks. Know the names, the broad clinical role, the major coverage gaps, and what information the consultant needs: organism, infection site, complete susceptibility results, prior antibiotics, and source-control status. 1 What residents should recognize on the medication list Agent Why it may be used What to remember Ceftazidime-avibactam Avycaz Selected carbapenem-resistant Enterobacterales and some resistant Pseudomonas . It does not cover every resistance mechanism and is not reliable alone for NDM. It also lacks dependable anaerobic, MRSA, and enterococcal coverage. Ceftolozane-tazobactam Zerbaxa Primarily susceptible, highly resistant Pseudomonas . It is not the default drug for carbapenem-resistant Enterobacterales and is not a complete regimen for a polymicrobial infection. Meropenem-vaborbactam Vabomere Imipenem-cilastatin-relebactam Recarbrio Selected carbapenem-resistant Enterobacterales. Imipenem-cilastatin-relebactam may also be used for susceptible DTR Pseudomonas . Do not treat these agents as interchangeable. Vaborbactam adds little activity against the usual resistance mechanisms in DTR Pseudomonas ; relebactam can restore imipenem activity in some isolates. Check susceptibility and involve ID pharmacy. Cefiderocol Fetroja Selected infections caused by highly resistant aerobic gram-negative organisms. It has no useful gram-positive or anaerobic activity, and susceptibility is not universal. Aztreonam-avibactam Emblaveo or ceftazidime-avibactam plus aztreonam Selected Enterobacterales with NDM or another metallo-beta-lactamase. These are specialist regimens. They do not provide dependable gram-positive or anaerobic coverage. Aztreonam alone is not an adequate substitute. Sulbactam-durlobactam Xacduro Carbapenem-resistant Acinetobacter baumannii , usually with imipenem-cilastatin or meropenem. 1 34 Its role is specific to resistant Acinetobacter . It is not a CRE or resistant Pseudomonas drug. Why not meropenem-vaborbactam for DTR Pseudomonas ? Vaborbactam primarily inhibits class A enzymes, especially KPC, but does not correct OprD porin loss, increased efflux, or metallo-beta-lactamase production, important causes of carbapenem resistance in P. aeruginosa . It generally provides little additional activity over meropenem against this organism. For susceptible DTR Pseudomonas , consider ceftolozane-tazobactam, ceftazidime-avibactam, or imipenem-cilastatin-relebactam according to infection site and susceptibility; cefiderocol has an important role for metallo-beta-lactamase producers. Do not infer activity from the drug class alone. 1 Resident expectation: explain the organism, infection site, susceptibility results, source-control status, and why a restricted drug is being considered. Selection, dosing, and enzyme-level matching should be reviewed with ID pharmacy or an experienced ID consultant. Residents may continue to other commonly used inpatient agents ; the next section is optional fellow detail. Optional fellow detail</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Choosing among restricted gram-negative agents 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 Drug-specific selection and limitations Agent Where it may fit Main limitation Ceftazidime-avibactam Avycaz A preferred option for KPC-producing Enterobacterales and the preferred option for OXA-48-like Enterobacterales. It is also one option for susceptible difficult-to-treat resistant Pseudomonas . 1 14 Avibactam does not inhibit metallo-beta-lactamases such as NDM, VIM, or IMP. Ceftazidime-avibactam alone should not be assumed active against an NDM-producing isolate. Ceftolozane-tazobactam Zerbaxa 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 It is not a dependable solution for carbapenemase-producing Enterobacterales, and susceptibility should not be inferred from the organism name. Cefiderocol Fetroja 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 Activity is not universal, and clinical evidence remains limited for several of these organisms. The label retains a warning about an observed mortality imbalance in a trial involving carbapenem-resistant gram-negative infections. Confirm susceptibility before use. Aztreonam A traditional monobactam active only against susceptible aerobic gram-negative organisms, including some Pseudomonas . It is stable to hydrolysis by metallo-beta-lactamases, which becomes useful when paired with an inhibitor that blocks commonly co-produced serine beta-lactamases. 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 Ceftazidime shares an identical R1 side chain, and clinical cross-reactivity has been reported. With a convincing immediate or severe ceftazidime reaction, clarify the phenotype and follow the local allergy pathway before using aztreonam. 4 21 Aztreonam-avibactam Emblaveo 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 It has limited activity against MBL-producing Pseudomonas , and there are no FDA or CLSI breakpoints for that organism. Several mechanism-based uses in IDSA guidance extend beyond the FDA indication. Ceftazidime-avibactam plus aztreonam An alternative for NDM-producing Enterobacterales when the fixed aztreonam-avibactam product is not available. Avibactam protects aztreonam from the accompanying serine beta-lactamases while aztreonam avoids hydrolysis by NDM. 1 The combination requires coordinated dosing, renal adjustment, microbiology support, and ID pharmacy review. Current guidance slightly favors the fixed aztreonam-avibactam product when available. Coverage gaps with newer gram-negative agents A beta-lactamase inhibitor usually protects or extends the gram-negative activity of its partner beta-lactam. It does not add anaerobic, MRSA, enterococcal, or atypical coverage unless the partner drug already provides it. Sulbactam has intrinsic activity against Acinetobacter . What may still need to be added when the syndrome is polymicrobial Agent Anaerobes Gram-positive organisms Clinical implication Ceftazidime-avibactam Avycaz Do not rely on it for clinically adequate anaerobic coverage. The FDA-labeled complicated intra-abdominal infection regimen includes concurrent metronidazole. 14 Do not count on it for MRSA or enterococci. Add anaerobic or gram-positive therapy when required by the syndrome. Ceftolozane-tazobactam Zerbaxa Do not use it as stand-alone anaerobic therapy. Its labeled complicated intra-abdominal infection regimen includes metronidazole. 15 Do not count on it for MRSA or enterococci. Its primary role is treatment of susceptible resistant Pseudomonas . Cefiderocol Fetroja It is an aerobic gram-negative agent; add anaerobic therapy when the syndrome requires it. 16 Do not count on it for gram-positive coverage. A susceptible result does not make it a complete regimen for aspiration, bowel perforation, diabetic foot infection, or another mixed infection. Aztreonam No clinically useful anaerobic activity. No clinically useful gram-positive activity. Use only for susceptible aerobic gram-negative organisms. Alone, it may fail against an NDM isolate when ESBL, AmpC, KPC, or OXA enzymes are also present. Aztreonam and ceftazidime share an identical R1 side chain, so a ceftazidime allergy requires review. 21 Aztreonam-avibactam Emblaveo Do not rely on it for anaerobes. Its labeled complicated intra-abdominal infection regimen requires concurrent metronidazole. 17 Do not count on it for gram-positive coverage. Add metronidazole for its labeled complicated intra-abdominal infection regimen. Ceftazidime-avibactam plus aztreonam The combination does not supply dependable anaerobic coverage. The combination does not supply dependable MRSA or enterococcal coverage. Add coverage for the remaining pathogens when the syndrome requires it. Add anaerobic or gram-positive therapy only when the syndrome, likely pathogens, and infection site require it. Obtain source control and narrow once cultures and the clinical course permit. Using the resistance mechanism to choose among active agents Fellows should connect the resistance phenotype to the likely enzyme, recognize when expected spectrum and measured susceptibility diverge, and explain why one active drug may be preferred over another. Review difficult isolates with microbiology and stewardship. Use the mechanism to narrow the list, then use the site and susceptibility result to choose Resistance problem Agents to discuss Main caution KPC-producing Enterobacterales Ceftazidime-avibactam, meropenem-vaborbactam, or imipenem-relebactam Choose by infection site, susceptibility, prior exposure, and local availability. OXA-48-like Enterobacterales Ceftazidime-avibactam Meropenem-vaborbactam and imipenem-relebactam are not reliable OXA-48 solutions. NDM or another MBL in Enterobacterales Aztreonam-avibactam or cefiderocol. Ceftazidime-avibactam plus aztreonam is an alternative when the fixed product is unavailable. Ceftazidime-avibactam alone does not inhibit the MBL. DTR Pseudomonas aeruginosa Ceftolozane-tazobactam, ceftazidime-avibactam, imipenem-relebactam, or cefiderocol Use the site-specific susceptibility result. CRAB A sulbactam-containing regimen, preferably sulbactam-durlobactam in current guidance Use a CRAB-specific regimen rather than a CRE or DTR Pseudomonas pathway. Final selection requires susceptibility testing, source control, current IDSA guidance, and local formulary review. 1 Newer oral options and pipeline evidence 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 Access matters: confirm inpatient formulary status and outpatient availability before building a transition plan around a newer oral agent. Approved oral agents: labeling details 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 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 Investigational oral agent 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 Recheck approval status, labeling, availability, outcome data, and the local susceptibility-testing method before considering a pipeline agent. In vitro activity alone is insufficient.</a:t>
            </a:r>
          </a:p>
          <a:p xmlns:a="http://schemas.openxmlformats.org/drawingml/2006/main">
            <a:r>
              <a:t/>
            </a:r>
          </a:p>
          <a:p xmlns:a="http://schemas.openxmlformats.org/drawingml/2006/main">
            <a:r>
              <a:t>Module section: https://docarcshot.github.io/id-practice-update/lectures/Antibiotics_Practical_Primer_Inpatient_Resident.html#fellow-detail</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Other commonly used inpatient agents Vancomycin Useful empirically for serious MRSA infection and selected resistant gram-positive infections. For pharmacy-directed trough monitoring, follow serum creatinine, confirm when the trough should be drawn, and use the indication-specific target in the local pharmacy workflow. Do not apply one trough goal to every syndrome. Fellow context: The 2020 national consensus recommends AUC-guided monitoring for serious MRSA infection. That differs from the current local workflow and should not be substituted at the bedside without a local practice change. 3 Daptomycin Useful for bacteremia and other serious gram-positive infections, including selected VRE infections. It is inactivated by pulmonary surfactant and should not be used for pneumonia. Follow CPK and assess statin use and new muscle symptoms. Dose depends heavily on organism and syndrome. Linezolid IV and oral exposure are similar. It is useful for MRSA pneumonia and selected VRE infections. Follow the CBC with prolonged therapy and review serotonergic drugs, neuropathy risk, and drug interactions. TMP-SMX Useful for susceptible urinary pathogens, MRSA skin infection, and several organism-specific indications. Dose by the trimethoprim component. Check potassium (K+), renal function, blood counts, and interacting drugs. Metronidazole Provides anaerobic coverage below the diaphragm and for selected oral anaerobic infections. Adding it to piperacillin-tazobactam or a carbapenem is usually redundant. Nitrofurantoin Nitrofurantoin is a lower-tract drug. It should not be used for pyelonephritis or bacteremia. Oral fosfomycin Its established U.S. role is limited. The oral product is FDA-labeled as a single dose for uncomplicated cystitis in women due to susceptible E. coli or E. faecalis . The label states that it is not indicated for pyelonephritis or perinephric abscess. 40 Two newer oral UTI drugs residents may hear about. Tebipenem pivoxil (Utebzi) is approved for selected adults with complicated UTI, including pyelonephritis, who have limited or no alternative oral options. Sulopenem etzadroxil-probenecid (Orlynvah) is limited to selected adult women with uncomplicated UTI and is not a complicated-UTI step-down drug. Verify site formulary and outpatient access before discussing either as a discharge option. 18 19 Where oral fosfomycin may fit Oral fosfomycin on the inpatient service Clinical question Practical interpretation Uncomplicated cystitis The FDA-labeled regimen is a single 3 g dose for women with uncomplicated cystitis due to susceptible E. coli or E. faecalis . This labeled indication should not be extrapolated to upper-tract or invasive infection. 40 Pyelonephritis or complicated UTI Oral fosfomycin is not suggested as initial therapy because renal-parenchymal exposure is limited. The 2024 WikiGuidelines review found that strong evidence for oral fosfomycin in pyelonephritis was lacking. 1 39 A 2026 randomized trial studied improving adults with ESBL complicated UTI after 3 to 7 days of active IV therapy. Clinical cure was 92.8% with oral fosfomycin 3 g daily and 95.2% with continued IV beta-lactam therapy. This supports consideration as transition therapy in selected patients. It does not establish oral fosfomycin as initial treatment for pyelonephritis. 37 ESBL bloodstream infection IDSA does not suggest oral fosfomycin as routine step-down therapy because serum exposure is limited and clinical data are inadequate. When an active fluoroquinolone or TMP-SMX is available and appropriate, those are better-supported oral options. 1 Klebsiella or another non- E. coli gram-negative organism Do not assume activity from the class or a urine result. IDSA does not suggest oral fosfomycin for gram-negative organisms other than E. coli because fosA genes are common, including in K. pneumoniae , and may compromise activity. Oral susceptibility criteria are also limited. 1 When standard treatment cannot be completed. Oral fosfomycin is not recommended as routine step-down therapy for bacteremia. Occasionally, a patient with cleared urinary-source bacteremia cannot remain for IV treatment and has neither an active preferred oral agent nor a feasible OPAT plan. In that setting, an alternative oral plan may be considered with ID and pharmacy rather than stopping antimicrobial therapy altogether. The evidence is limited, and the rationale and uncertainty should be documented. Fluoroquinolones Fluoroquinolones are not drugs to avoid reflexively. Ciprofloxacin or levofloxacin can be excellent definitive therapy for complicated UTI or pyelonephritis when the organism is susceptible, the source is controlled, absorption is reliable, and the patient has no major contraindication. The 2025 cUTI guideline supports 5–7 days of a fluoroquinolone in improving patients and supports IV-to-oral transition when an effective oral option is available. 2 Oral treatment of susceptible Pseudomonas . Ciprofloxacin and levofloxacin are the only established oral antibiotic class with reliable antipseudomonal activity. Moxifloxacin should not be used for a urinary infection and is not a dependable antipseudomonal drug. Confirm susceptibility before relying on oral fluoroquinolone therapy, because resistance is common and can emerge during treatment. 1 6 Use them with the adverse-effect discussion they deserve. FDA warnings include disabling tendon, muscle, joint, neurologic, and CNS effects; dysglycemia; and risk of aortic aneurysm or dissection in susceptible patients. Review QT risk, renal dosing, drug interactions, and separation from cations or tube feeds. 5</a:t>
            </a:r>
          </a:p>
          <a:p xmlns:a="http://schemas.openxmlformats.org/drawingml/2006/main">
            <a:r>
              <a:t/>
            </a:r>
          </a:p>
          <a:p xmlns:a="http://schemas.openxmlformats.org/drawingml/2006/main">
            <a:r>
              <a:t>Module section: https://docarcshot.github.io/id-practice-update/lectures/Antibiotics_Practical_Primer_Inpatient_Resident.html#other</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Questions for the end of the session 1. A ceftriaxone-susceptible K. pneumoniae urine and blood isolate is improving after urinary decompression. Must cefepime be continued? Answer No. If there is no ESBL or other resistance concern and the patient is improving, ceftriaxone is a reasonable narrower IV option. Ciprofloxacin or levofloxacin may be reasonable orally when susceptible and otherwise appropriate. 2. Which oral antibiotics can be relied on for susceptible Pseudomonas aeruginosa ? Answer Ciprofloxacin or levofloxacin. Fluoroquinolones are the only established oral class with reliable antipseudomonal activity. Confirm susceptibility. Moxifloxacin is not an appropriate substitute. 3. What should be checked when a service uses trough monitoring for vancomycin? Answer If the service uses trough monitoring, confirm the correct draw time, follow serum creatinine, and use the indication-specific target in the local pharmacy workflow. The national 2020 consensus recommends AUC-guided monitoring for serious MRSA infection, and local monitoring practices may differ. 4. Does OVIVA show that every osteomyelitis patient can receive any active oral antibiotic from day 1? Answer No. Patients entered a specialist-directed oral strategy within 7 days of definitive surgery or planned curative treatment. Drug selection, source control, diagnosis, absorption, adherence, and follow-up still matter. 5. What should happen when cultures narrow the likely pathogen? Answer Reassess whether infection is present, narrow to the least broad effective drug, confirm the dose and route, address source control, and establish the duration anchor and stop date. Sometimes the correct decision is to stop antibiotics. 6. Fellow extension: An Enterobacterales isolate produces NDM. Is ceftazidime-avibactam alone a reliable choice? Answer No. Avibactam does not inhibit NDM, and NDM hydrolyzes ceftazidime. Current IDSA guidance lists aztreonam-avibactam and cefiderocol as preferred options for NDM-producing Enterobacterales. Ceftazidime-avibactam plus aztreonam is an alternative when the fixed aztreonam-avibactam product is unavailable. Final selection still depends on susceptibility testing, infection site, clinical stability, source control, and local ID pharmacy input.</a:t>
            </a:r>
          </a:p>
          <a:p xmlns:a="http://schemas.openxmlformats.org/drawingml/2006/main">
            <a:r>
              <a:t/>
            </a:r>
          </a:p>
          <a:p xmlns:a="http://schemas.openxmlformats.org/drawingml/2006/main">
            <a:r>
              <a:t>Module section: https://docarcshot.github.io/id-practice-update/lectures/Antibiotics_Practical_Primer_Inpatient_Resident.html#quiz</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Questions for the end of the session 1. A ceftriaxone-susceptible K. pneumoniae urine and blood isolate is improving after urinary decompression. Must cefepime be continued? Answer No. If there is no ESBL or other resistance concern and the patient is improving, ceftriaxone is a reasonable narrower IV option. Ciprofloxacin or levofloxacin may be reasonable orally when susceptible and otherwise appropriate. 2. Which oral antibiotics can be relied on for susceptible Pseudomonas aeruginosa ? Answer Ciprofloxacin or levofloxacin. Fluoroquinolones are the only established oral class with reliable antipseudomonal activity. Confirm susceptibility. Moxifloxacin is not an appropriate substitute. 3. What should be checked when a service uses trough monitoring for vancomycin? Answer If the service uses trough monitoring, confirm the correct draw time, follow serum creatinine, and use the indication-specific target in the local pharmacy workflow. The national 2020 consensus recommends AUC-guided monitoring for serious MRSA infection, and local monitoring practices may differ. 4. Does OVIVA show that every osteomyelitis patient can receive any active oral antibiotic from day 1? Answer No. Patients entered a specialist-directed oral strategy within 7 days of definitive surgery or planned curative treatment. Drug selection, source control, diagnosis, absorption, adherence, and follow-up still matter. 5. What should happen when cultures narrow the likely pathogen? Answer Reassess whether infection is present, narrow to the least broad effective drug, confirm the dose and route, address source control, and establish the duration anchor and stop date. Sometimes the correct decision is to stop antibiotics. 6. Fellow extension: An Enterobacterales isolate produces NDM. Is ceftazidime-avibactam alone a reliable choice? Answer No. Avibactam does not inhibit NDM, and NDM hydrolyzes ceftazidime. Current IDSA guidance lists aztreonam-avibactam and cefiderocol as preferred options for NDM-producing Enterobacterales. Ceftazidime-avibactam plus aztreonam is an alternative when the fixed aztreonam-avibactam product is unavailable. Final selection still depends on susceptibility testing, infection site, clinical stability, source control, and local ID pharmacy input.</a:t>
            </a:r>
          </a:p>
          <a:p xmlns:a="http://schemas.openxmlformats.org/drawingml/2006/main">
            <a:r>
              <a:t/>
            </a:r>
          </a:p>
          <a:p xmlns:a="http://schemas.openxmlformats.org/drawingml/2006/main">
            <a:r>
              <a:t>Module section: https://docarcshot.github.io/id-practice-update/lectures/Antibiotics_Practical_Primer_Inpatient_Resident.html#quiz</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Antibiotic rounds sheet Before the drug Infection or mimic? Syndrome? Severity? Cultures? Prior organisms? Local resistance? Source control? Coverage Name the likely pathogens. State what the regimen covers and what it misses. Susceptibility overrides memory. Klebsiella Ampicillin does not cover K. pneumoniae . Susceptible isolates may allow cefazolin, ceftriaxone, cefepime, pip-tazo, or carbapenem depending on syndrome and resistance mechanism. Pseudomonas Common IV options include cefepime, ceftazidime, pip-tazo, meropenem/imipenem, aztreonam, or newer agents when indicated. Ciprofloxacin/levofloxacin are the oral class if susceptible. Restricted agents Avycaz: KPC/OXA-48-like and selected resistant Pseudomonas . Zerbaxa: resistant Pseudomonas . Emblaveo or Avycaz plus aztreonam: selected NDM/MBL Enterobacterales. Cefiderocol: selected highly resistant gram-negative infections. Xacduro with imipenem-cilastatin or meropenem: CRAB. Confirm site, susceptibility, mechanism, formulary, and source control with ID pharmacy. Vancomycin For trough-guided services, verify pharmacy oversight. Verify draw timing, the indication-specific target, and serum creatinine. IV to oral Improving patient, controlled source, active oral drug, adequate exposure at the site, functioning GI tract, feasible adherence and follow-up. Monitoring Start with CBC, renal function, and drug-specific risks. Vancomycin: trough and creatinine. Daptomycin: CPK and creatinine. Linezolid: weekly CBC. TMP-SMX: potassium (K+), creatinine, and CBC. State who follows results after discharge. PEN-FAST does not override a serious delayed reaction. Aztreonam and ceftazidime share an R1 side chain. Before signing Drug, route, dose source, monitoring, source control, reassessment trigger, duration anchor, and stop date. Local practice: verify the current antibiogram, formulary, dosing and renal replacement therapy guidance, infusion practices, vancomycin trough workflow, microbiology conventions, and OPAT monitoring protocols.</a:t>
            </a:r>
          </a:p>
          <a:p xmlns:a="http://schemas.openxmlformats.org/drawingml/2006/main">
            <a:r>
              <a:t/>
            </a:r>
          </a:p>
          <a:p xmlns:a="http://schemas.openxmlformats.org/drawingml/2006/main">
            <a:r>
              <a:t>Module section: https://docarcshot.github.io/id-practice-update/lectures/Antibiotics_Practical_Primer_Inpatient_Resident.html#cheat</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Antibiotic rounds sheet Before the drug Infection or mimic? Syndrome? Severity? Cultures? Prior organisms? Local resistance? Source control? Coverage Name the likely pathogens. State what the regimen covers and what it misses. Susceptibility overrides memory. Klebsiella Ampicillin does not cover K. pneumoniae . Susceptible isolates may allow cefazolin, ceftriaxone, cefepime, pip-tazo, or carbapenem depending on syndrome and resistance mechanism. Pseudomonas Common IV options include cefepime, ceftazidime, pip-tazo, meropenem/imipenem, aztreonam, or newer agents when indicated. Ciprofloxacin/levofloxacin are the oral class if susceptible. Restricted agents Avycaz: KPC/OXA-48-like and selected resistant Pseudomonas . Zerbaxa: resistant Pseudomonas . Emblaveo or Avycaz plus aztreonam: selected NDM/MBL Enterobacterales. Cefiderocol: selected highly resistant gram-negative infections. Xacduro with imipenem-cilastatin or meropenem: CRAB. Confirm site, susceptibility, mechanism, formulary, and source control with ID pharmacy. Vancomycin For trough-guided services, verify pharmacy oversight. Verify draw timing, the indication-specific target, and serum creatinine. IV to oral Improving patient, controlled source, active oral drug, adequate exposure at the site, functioning GI tract, feasible adherence and follow-up. Monitoring Start with CBC, renal function, and drug-specific risks. Vancomycin: trough and creatinine. Daptomycin: CPK and creatinine. Linezolid: weekly CBC. TMP-SMX: potassium (K+), creatinine, and CBC. State who follows results after discharge. PEN-FAST does not override a serious delayed reaction. Aztreonam and ceftazidime share an R1 side chain. Before signing Drug, route, dose source, monitoring, source control, reassessment trigger, duration anchor, and stop date. Local practice: verify the current antibiogram, formulary, dosing and renal replacement therapy guidance, infusion practices, vancomycin trough workflow, microbiology conventions, and OPAT monitoring protocols.</a:t>
            </a:r>
          </a:p>
          <a:p xmlns:a="http://schemas.openxmlformats.org/drawingml/2006/main">
            <a:r>
              <a:t/>
            </a:r>
          </a:p>
          <a:p xmlns:a="http://schemas.openxmlformats.org/drawingml/2006/main">
            <a:r>
              <a:t>Module section: https://docarcshot.github.io/id-practice-update/lectures/Antibiotics_Practical_Primer_Inpatient_Resident.html#cheat</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Antibiotic rounds sheet Before the drug Infection or mimic? Syndrome? Severity? Cultures? Prior organisms? Local resistance? Source control? Coverage Name the likely pathogens. State what the regimen covers and what it misses. Susceptibility overrides memory. Klebsiella Ampicillin does not cover K. pneumoniae . Susceptible isolates may allow cefazolin, ceftriaxone, cefepime, pip-tazo, or carbapenem depending on syndrome and resistance mechanism. Pseudomonas Common IV options include cefepime, ceftazidime, pip-tazo, meropenem/imipenem, aztreonam, or newer agents when indicated. Ciprofloxacin/levofloxacin are the oral class if susceptible. Restricted agents Avycaz: KPC/OXA-48-like and selected resistant Pseudomonas . Zerbaxa: resistant Pseudomonas . Emblaveo or Avycaz plus aztreonam: selected NDM/MBL Enterobacterales. Cefiderocol: selected highly resistant gram-negative infections. Xacduro with imipenem-cilastatin or meropenem: CRAB. Confirm site, susceptibility, mechanism, formulary, and source control with ID pharmacy. Vancomycin For trough-guided services, verify pharmacy oversight. Verify draw timing, the indication-specific target, and serum creatinine. IV to oral Improving patient, controlled source, active oral drug, adequate exposure at the site, functioning GI tract, feasible adherence and follow-up. Monitoring Start with CBC, renal function, and drug-specific risks. Vancomycin: trough and creatinine. Daptomycin: CPK and creatinine. Linezolid: weekly CBC. TMP-SMX: potassium (K+), creatinine, and CBC. State who follows results after discharge. PEN-FAST does not override a serious delayed reaction. Aztreonam and ceftazidime share an R1 side chain. Before signing Drug, route, dose source, monitoring, source control, reassessment trigger, duration anchor, and stop date. Local practice: verify the current antibiogram, formulary, dosing and renal replacement therapy guidance, infusion practices, vancomycin trough workflow, microbiology conventions, and OPAT monitoring protocols.</a:t>
            </a:r>
          </a:p>
          <a:p xmlns:a="http://schemas.openxmlformats.org/drawingml/2006/main">
            <a:r>
              <a:t/>
            </a:r>
          </a:p>
          <a:p xmlns:a="http://schemas.openxmlformats.org/drawingml/2006/main">
            <a:r>
              <a:t>Module section: https://docarcshot.github.io/id-practice-update/lectures/Antibiotics_Practical_Primer_Inpatient_Resident.html#cheat</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Antibiotic rounds sheet Before the drug Infection or mimic? Syndrome? Severity? Cultures? Prior organisms? Local resistance? Source control? Coverage Name the likely pathogens. State what the regimen covers and what it misses. Susceptibility overrides memory. Klebsiella Ampicillin does not cover K. pneumoniae . Susceptible isolates may allow cefazolin, ceftriaxone, cefepime, pip-tazo, or carbapenem depending on syndrome and resistance mechanism. Pseudomonas Common IV options include cefepime, ceftazidime, pip-tazo, meropenem/imipenem, aztreonam, or newer agents when indicated. Ciprofloxacin/levofloxacin are the oral class if susceptible. Restricted agents Avycaz: KPC/OXA-48-like and selected resistant Pseudomonas . Zerbaxa: resistant Pseudomonas . Emblaveo or Avycaz plus aztreonam: selected NDM/MBL Enterobacterales. Cefiderocol: selected highly resistant gram-negative infections. Xacduro with imipenem-cilastatin or meropenem: CRAB. Confirm site, susceptibility, mechanism, formulary, and source control with ID pharmacy. Vancomycin For trough-guided services, verify pharmacy oversight. Verify draw timing, the indication-specific target, and serum creatinine. IV to oral Improving patient, controlled source, active oral drug, adequate exposure at the site, functioning GI tract, feasible adherence and follow-up. Monitoring Start with CBC, renal function, and drug-specific risks. Vancomycin: trough and creatinine. Daptomycin: CPK and creatinine. Linezolid: weekly CBC. TMP-SMX: potassium (K+), creatinine, and CBC. State who follows results after discharge. PEN-FAST does not override a serious delayed reaction. Aztreonam and ceftazidime share an R1 side chain. Before signing Drug, route, dose source, monitoring, source control, reassessment trigger, duration anchor, and stop date. Local practice: verify the current antibiogram, formulary, dosing and renal replacement therapy guidance, infusion practices, vancomycin trough workflow, microbiology conventions, and OPAT monitoring protocols.</a:t>
            </a:r>
          </a:p>
          <a:p xmlns:a="http://schemas.openxmlformats.org/drawingml/2006/main">
            <a:r>
              <a:t/>
            </a:r>
          </a:p>
          <a:p xmlns:a="http://schemas.openxmlformats.org/drawingml/2006/main">
            <a:r>
              <a:t>Module section: https://docarcshot.github.io/id-practice-update/lectures/Antibiotics_Practical_Primer_Inpatient_Resident.html#cheat</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Antibiotic rounds sheet Before the drug Infection or mimic? Syndrome? Severity? Cultures? Prior organisms? Local resistance? Source control? Coverage Name the likely pathogens. State what the regimen covers and what it misses. Susceptibility overrides memory. Klebsiella Ampicillin does not cover K. pneumoniae . Susceptible isolates may allow cefazolin, ceftriaxone, cefepime, pip-tazo, or carbapenem depending on syndrome and resistance mechanism. Pseudomonas Common IV options include cefepime, ceftazidime, pip-tazo, meropenem/imipenem, aztreonam, or newer agents when indicated. Ciprofloxacin/levofloxacin are the oral class if susceptible. Restricted agents Avycaz: KPC/OXA-48-like and selected resistant Pseudomonas . Zerbaxa: resistant Pseudomonas . Emblaveo or Avycaz plus aztreonam: selected NDM/MBL Enterobacterales. Cefiderocol: selected highly resistant gram-negative infections. Xacduro with imipenem-cilastatin or meropenem: CRAB. Confirm site, susceptibility, mechanism, formulary, and source control with ID pharmacy. Vancomycin For trough-guided services, verify pharmacy oversight. Verify draw timing, the indication-specific target, and serum creatinine. IV to oral Improving patient, controlled source, active oral drug, adequate exposure at the site, functioning GI tract, feasible adherence and follow-up. Monitoring Start with CBC, renal function, and drug-specific risks. Vancomycin: trough and creatinine. Daptomycin: CPK and creatinine. Linezolid: weekly CBC. TMP-SMX: potassium (K+), creatinine, and CBC. State who follows results after discharge. PEN-FAST does not override a serious delayed reaction. Aztreonam and ceftazidime share an R1 side chain. Before signing Drug, route, dose source, monitoring, source control, reassessment trigger, duration anchor, and stop date. Local practice: verify the current antibiogram, formulary, dosing and renal replacement therapy guidance, infusion practices, vancomycin trough workflow, microbiology conventions, and OPAT monitoring protocols.</a:t>
            </a:r>
          </a:p>
          <a:p xmlns:a="http://schemas.openxmlformats.org/drawingml/2006/main">
            <a:r>
              <a:t/>
            </a:r>
          </a:p>
          <a:p xmlns:a="http://schemas.openxmlformats.org/drawingml/2006/main">
            <a:r>
              <a:t>Module section: https://docarcshot.github.io/id-practice-update/lectures/Antibiotics_Practical_Primer_Inpatient_Resident.html#cheat</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https://docarcshot.github.io/id-practice-update/lectures/Antibiotics_Practical_Primer_Inpatient_Resident.html#references</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https://docarcshot.github.io/id-practice-update/lectures/Antibiotics_Practical_Primer_Inpatient_Resident.html#ref-1</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https://docarcshot.github.io/id-practice-update/lectures/Antibiotics_Practical_Primer_Inpatient_Resident.html#ref-2</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https://docarcshot.github.io/id-practice-update/lectures/Antibiotics_Practical_Primer_Inpatient_Resident.html#ref-3</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https://docarcshot.github.io/id-practice-update/lectures/Antibiotics_Practical_Primer_Inpatient_Resident.html#ref-4</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https://docarcshot.github.io/id-practice-update/lectures/Antibiotics_Practical_Primer_Inpatient_Resident.html#ref-5</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https://docarcshot.github.io/id-practice-update/lectures/Antibiotics_Practical_Primer_Inpatient_Resident.html#ref-6</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https://docarcshot.github.io/id-practice-update/lectures/Antibiotics_Practical_Primer_Inpatient_Resident.html#ref-7</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https://docarcshot.github.io/id-practice-update/lectures/Antibiotics_Practical_Primer_Inpatient_Resident.html#ref-8</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https://docarcshot.github.io/id-practice-update/lectures/Antibiotics_Practical_Primer_Inpatient_Resident.html#ref-9</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https://docarcshot.github.io/id-practice-update/lectures/Antibiotics_Practical_Primer_Inpatient_Resident.html#ref-10</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https://docarcshot.github.io/id-practice-update/lectures/Antibiotics_Practical_Primer_Inpatient_Resident.html#ref-11</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https://docarcshot.github.io/id-practice-update/lectures/Antibiotics_Practical_Primer_Inpatient_Resident.html#ref-12</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https://docarcshot.github.io/id-practice-update/lectures/Antibiotics_Practical_Primer_Inpatient_Resident.html#ref-13</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https://docarcshot.github.io/id-practice-update/lectures/Antibiotics_Practical_Primer_Inpatient_Resident.html#ref-14</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https://docarcshot.github.io/id-practice-update/lectures/Antibiotics_Practical_Primer_Inpatient_Resident.html#ref-15</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https://docarcshot.github.io/id-practice-update/lectures/Antibiotics_Practical_Primer_Inpatient_Resident.html#ref-16</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https://docarcshot.github.io/id-practice-update/lectures/Antibiotics_Practical_Primer_Inpatient_Resident.html#ref-17</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https://docarcshot.github.io/id-practice-update/lectures/Antibiotics_Practical_Primer_Inpatient_Resident.html#ref-18</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https://docarcshot.github.io/id-practice-update/lectures/Antibiotics_Practical_Primer_Inpatient_Resident.html#ref-19</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https://docarcshot.github.io/id-practice-update/lectures/Antibiotics_Practical_Primer_Inpatient_Resident.html#ref-20</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https://docarcshot.github.io/id-practice-update/lectures/Antibiotics_Practical_Primer_Inpatient_Resident.html#ref-21</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https://docarcshot.github.io/id-practice-update/lectures/Antibiotics_Practical_Primer_Inpatient_Resident.html#ref-22</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https://docarcshot.github.io/id-practice-update/lectures/Antibiotics_Practical_Primer_Inpatient_Resident.html#ref-23</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https://docarcshot.github.io/id-practice-update/lectures/Antibiotics_Practical_Primer_Inpatient_Resident.html#ref-24</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https://docarcshot.github.io/id-practice-update/lectures/Antibiotics_Practical_Primer_Inpatient_Resident.html#ref-25</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https://docarcshot.github.io/id-practice-update/lectures/Antibiotics_Practical_Primer_Inpatient_Resident.html#ref-26</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https://docarcshot.github.io/id-practice-update/lectures/Antibiotics_Practical_Primer_Inpatient_Resident.html#ref-27</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https://docarcshot.github.io/id-practice-update/lectures/Antibiotics_Practical_Primer_Inpatient_Resident.html#ref-28</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https://docarcshot.github.io/id-practice-update/lectures/Antibiotics_Practical_Primer_Inpatient_Resident.html#ref-29</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https://docarcshot.github.io/id-practice-update/lectures/Antibiotics_Practical_Primer_Inpatient_Resident.html#ref-30</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https://docarcshot.github.io/id-practice-update/lectures/Antibiotics_Practical_Primer_Inpatient_Resident.html#ref-31</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https://docarcshot.github.io/id-practice-update/lectures/Antibiotics_Practical_Primer_Inpatient_Resident.html#ref-32</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https://docarcshot.github.io/id-practice-update/lectures/Antibiotics_Practical_Primer_Inpatient_Resident.html#ref-33</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https://docarcshot.github.io/id-practice-update/lectures/Antibiotics_Practical_Primer_Inpatient_Resident.html#ref-34</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https://docarcshot.github.io/id-practice-update/lectures/Antibiotics_Practical_Primer_Inpatient_Resident.html#ref-35</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https://docarcshot.github.io/id-practice-update/lectures/Antibiotics_Practical_Primer_Inpatient_Resident.html#ref-36</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https://docarcshot.github.io/id-practice-update/lectures/Antibiotics_Practical_Primer_Inpatient_Resident.html#ref-37</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https://docarcshot.github.io/id-practice-update/lectures/Antibiotics_Practical_Primer_Inpatient_Resident.html#ref-38</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https://docarcshot.github.io/id-practice-update/lectures/Antibiotics_Practical_Primer_Inpatient_Resident.html#ref-39</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https://docarcshot.github.io/id-practice-update/lectures/Antibiotics_Practical_Primer_Inpatient_Resident.html#ref-40</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society recommendation. comparative trial evidence. official regulatory source. Reviewed September 27, 2026. Tamma PD, Bonomo RA, Heil EL, Justo JA, Satlin MJ, Mathers AJ. IDSA 2026 Guidance on the Treatment of Antimicrobial-Resistant Gram-Negative Infections. Published July 30, 2026; evidence current through March 1, 2026. IDSA guidance . Trautner BW, Cortes-Penfield NW, Gupta K, et al. IDSA 2025 Guideline Update on Complicated Urinary Tract Infections. Published July 17, 2025. IDSA guideline . Rybak MJ, Le J, Lodise TP, et al. Therapeutic Monitoring of Vancomycin for Serious MRSA Infections. Am J Health Syst Pharm. 2020;77:835–864. Published March 19, 2020. doi:10.1093/ajhp/zxaa036. IDSA consensus page . Khan DA, Banerji A, Blumenthal KG, et al. Drug Allergy: A 2022 Practice Parameter Update. J Allergy Clin Immunol. 2022;150:1333–1393. Published December 2022. doi:10.1016/j.jaci.2022.08.028. Practice parameter . U.S. Food and Drug Administration. Fluoroquinolone safety communications on disabling adverse effects, dysglycemia and mental health effects, and aortic aneurysm risk. Published 2016–2018. FDA information . CIPRO (ciprofloxacin) tablets and oral suspension, U.S. prescribing information. Adult UTI indications include susceptible K. pneumoniae and P. aeruginosa ; dosage table revised September 2024. DailyMed label . Harris PNA, Tambyah PA, Lye DC, et al. Piperacillin-Tazobactam versus Meropenem for Ceftriaxone-Resistant E. coli or K. pneumoniae Bloodstream Infection. JAMA. 2018;320:984–994. Published September 11, 2018. doi:10.1001/jama.2018.12163. PubMed . Tong SYC, Lye DC, Yahav D, et al. Vancomycin or Daptomycin With versus Without an Antistaphylococcal Beta-Lactam for MRSA Bacteremia. JAMA. 2020;323:527–537. Published February 11, 2020. doi:10.1001/jama.2020.0103. PubMed . Li HK, Rombach I, Zambellas R, et al. Oral versus Intravenous Antibiotics for Bone and Joint Infection. N Engl J Med. 2019;380:425–436. Published January 31, 2019. doi:10.1056/NEJMoa1710926. PubMed . Iversen K, Ihlemann N, Gill SU, et al. Partial Oral versus Intravenous Antibiotic Treatment of Endocarditis. N Engl J Med. 2019;380:415–424. Published August 28, 2018. doi:10.1056/NEJMoa1808312. PubMed . BALANCE Investigators. Antibiotic Treatment for 7 versus 14 Days in Patients with Bloodstream Infections. N Engl J Med. Published online November 20, 2024; print 2025;392:1065–1078. doi:10.1056/NEJMoa2404991. PubMed . Zdarska V, Arcari G, Kolar M, Mlynarcik P. Antibiotic Resistance in Klebsiella pneumoniae and Related Enterobacterales: Molecular Mechanisms, Mobile Elements, and Therapeutic Challenges. Antibiotics (Basel). 2026;15(1):37. Published January 1, 2026. doi:10.3390/antibiotics15010037. PubMed . Trubiano JA, Vogrin S, Chua KYL, et al. Development and Validation of a Penicillin Allergy Clinical Decision Rule. JAMA Intern Med. 2020;180(5):745-752. Published March 16, 2020. doi:10.1001/jamainternmed.2020.0403. PubMed . AVYCAZ (ceftazidime-avibactam) U.S. prescribing information. Initial U.S. approval 2015; label updated April 30, 2025. DailyMed label . ZERBAXA (ceftolozane-tazobactam) U.S. prescribing information. Initial U.S. approval 2014; label updated May 12, 2026. DailyMed label . FETROJA (cefiderocol) U.S. prescribing information. Initial U.S. approval 2019; label updated February 24, 2026. DailyMed label . EMBLAVEO (aztreonam-avibactam) U.S. prescribing information. Initial U.S. approval 2025; label revised June 2026. DailyMed label . U.S. Food and Drug Administration. FDA Approves First Oral Carbapenem Therapy for Complicated Urinary Tract Infections. Published June 17, 2026. FDA announcement . U.S. Food and Drug Administration. FDA Approves New Treatment for Uncomplicated Urinary Tract Infections in Adult Women Who Have Limited or No Alternative Oral Antibiotic Treatment Options. Published October 24, 2024. FDA announcement . 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 Romano A, Gaeta F, Valluzzi RL, et al. IgE-mediated hypersensitivity to cephalosporins: cross-reactivity and tolerability of penicillins, monobactams, and carbapenems. J Allergy Clin Immunol. 2010;126:994–999. Published November 2010. doi:10.1016/j.jaci.2010.06.052. PubMed . TEFLARO (ceftaroline fosamil) U.S. prescribing information. Initial U.S. approval 2010; current label reviewed September 14, 2026. DailyMed label . ZEVTERA (ceftobiprole medocaril sodium) U.S. prescribing information. Initial U.S. approval 2024; label revised December 2025. DailyMed label . Holland TL, Cosgrove SE, Doernberg SB, et al. Ceftobiprole for Treatment of Complicated Staphylococcus aureus Bacteremia. N Engl J Med. 2023;389:1390–1401. Published online September 27, 2023. doi:10.1056/NEJMoa2300220. PubMed . CUBICIN RF (daptomycin) U.S. prescribing information. Label updated March 17, 2025; reviewed September 14, 2026. DailyMed label . Linezolid U.S. prescribing information. Label revised June 2026; reviewed September 14, 2026. DailyMed label . BACTRIM DS (trimethoprim-sulfamethoxazole) U.S. prescribing information; reviewed September 14, 2026. DailyMed label . Metronidazole tablets U.S. prescribing information; reviewed September 14, 2026. DailyMed label . MACROBID (nitrofurantoin monohydrate/macrocrystals) U.S. prescribing information; reviewed September 14, 2026. DailyMed label . Fluconazole tablets U.S. prescribing information; reviewed September 14, 2026. DailyMed label . Turner RB, Wilson DE, Saedi-Kwon H, et al. Comparative analysis of neutropenia in patients receiving prolonged treatment with ceftaroline. J Antimicrob Chemother. 2018;73:772–778. Published online December 8, 2017. doi:10.1093/jac/dkx452. PubMed . VABOMERE (meropenem-vaborbactam) U.S. prescribing information; reviewed September 14, 2026. DailyMed label . RECARBRIO (imipenem-cilastatin-relebactam) U.S. prescribing information; reviewed September 14, 2026. DailyMed label . XACDURO (sulbactam-durlobactam) U.S. prescribing information; reviewed September 14, 2026. DailyMed label . Chaudhry SB, Veve MP, Wagner JL. Cephalosporins: A Focus on Side Chains and Beta-Lactam Cross-Reactivity. Pharmacy (Basel). 2019;7(3):103. Published July 29, 2019. doi:10.3390/pharmacy7030103. PubMed . College of Pharmacists of British Columbia. Guest Post: Beta-Lactam Allergy: Benefits of De-Labeling Can Be Achieved Safely. Published February 4, 2020. Side-chain chart . 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 Heil EL, Bork JT, Abbo LM, et al. Optimizing the Management of Uncomplicated Gram-Negative Bloodstream Infections: Consensus Guidance Using a Modified Delphi Process. Open Forum Infect Dis. 2021;8(10):ofab434. Published October 11, 2021. doi:10.1093/ofid/ofab434. Open-access article . 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 Fosfomycin tromethamine granules for oral solution, U.S. prescribing information. Current label reviewed September 14, 2026. DailyMed label . Northwestern Medicine Antimicrobial Stewardship Program. Beta-Lactam Cross-Reactivity Side-Chain Chart. Accessed September 27, 2026. Northwestern Medicine chart .</a:t>
            </a:r>
          </a:p>
          <a:p xmlns:a="http://schemas.openxmlformats.org/drawingml/2006/main">
            <a:r>
              <a:t/>
            </a:r>
          </a:p>
          <a:p xmlns:a="http://schemas.openxmlformats.org/drawingml/2006/main">
            <a:r>
              <a:t>Module section: https://docarcshot.github.io/id-practice-update/lectures/Antibiotics_Practical_Primer_Inpatient_Resident.html#ref-41</a:t>
            </a:r>
          </a:p>
          <a:p xmlns:a="http://schemas.openxmlformats.org/drawingml/2006/main">
            <a:r>
              <a:t/>
            </a:r>
          </a:p>
          <a:p xmlns:a="http://schemas.openxmlformats.org/drawingml/2006/main">
            <a:r>
              <a:t>Public sources and related reading:</a:t>
            </a:r>
          </a:p>
          <a:p xmlns:a="http://schemas.openxmlformats.org/drawingml/2006/main">
            <a:r>
              <a:t>https://www.mdcalc.com/calc/10422/penicillin-allergy-decision-rule-pen-fast</a:t>
            </a:r>
          </a:p>
          <a:p xmlns:a="http://schemas.openxmlformats.org/drawingml/2006/main">
            <a:r>
              <a:t>https://adsp.nm.org/uploads/1/4/3/0/143064172/nm_beta_lactam_cross_reaction_table.pdf</a:t>
            </a:r>
          </a:p>
          <a:p xmlns:a="http://schemas.openxmlformats.org/drawingml/2006/main">
            <a:r>
              <a:t>https://www.idsociety.org/practice-guideline/amr-guidance/</a:t>
            </a:r>
          </a:p>
          <a:p xmlns:a="http://schemas.openxmlformats.org/drawingml/2006/main">
            <a:r>
              <a:t>https://www.idsociety.org/practice-guideline/complicated-urinary-tract-infections/</a:t>
            </a:r>
          </a:p>
          <a:p xmlns:a="http://schemas.openxmlformats.org/drawingml/2006/main">
            <a:r>
              <a:t>https://www.idsociety.org/practice-guideline/vancomycin/</a:t>
            </a:r>
          </a:p>
          <a:p xmlns:a="http://schemas.openxmlformats.org/drawingml/2006/main">
            <a:r>
              <a:t>https://www.allergyparameters.org/parameters-and-guidelines/drug/2022-drug-allergy-update</a:t>
            </a:r>
          </a:p>
          <a:p xmlns:a="http://schemas.openxmlformats.org/drawingml/2006/main">
            <a:r>
              <a:t>https://www.fda.gov/drugs/information-drug-class/fluoroquinolone-antimicrobial-drugs-information</a:t>
            </a:r>
          </a:p>
          <a:p xmlns:a="http://schemas.openxmlformats.org/drawingml/2006/main">
            <a:r>
              <a:t>https://dailymed.nlm.nih.gov/dailymed/drugInfo.cfm?setid=888dc7f9-ad9c-4c00-8d50-8ddfd9bd27c0</a:t>
            </a:r>
          </a:p>
          <a:p xmlns:a="http://schemas.openxmlformats.org/drawingml/2006/main">
            <a:r>
              <a:t>https://pubmed.ncbi.nlm.nih.gov/30208454/</a:t>
            </a:r>
          </a:p>
          <a:p xmlns:a="http://schemas.openxmlformats.org/drawingml/2006/main">
            <a:r>
              <a:t>https://pubmed.ncbi.nlm.nih.gov/32044943/</a:t>
            </a:r>
          </a:p>
          <a:p xmlns:a="http://schemas.openxmlformats.org/drawingml/2006/main">
            <a:r>
              <a:t>https://pubmed.ncbi.nlm.nih.gov/30699315/</a:t>
            </a:r>
          </a:p>
          <a:p xmlns:a="http://schemas.openxmlformats.org/drawingml/2006/main">
            <a:r>
              <a:t>https://pubmed.ncbi.nlm.nih.gov/30152252/</a:t>
            </a:r>
          </a:p>
          <a:p xmlns:a="http://schemas.openxmlformats.org/drawingml/2006/main">
            <a:r>
              <a:t>https://pubmed.ncbi.nlm.nih.gov/39565030/</a:t>
            </a:r>
          </a:p>
          <a:p xmlns:a="http://schemas.openxmlformats.org/drawingml/2006/main">
            <a:r>
              <a:t>https://pubmed.ncbi.nlm.nih.gov/41594074/</a:t>
            </a:r>
          </a:p>
          <a:p xmlns:a="http://schemas.openxmlformats.org/drawingml/2006/main">
            <a:r>
              <a:t>https://pubmed.ncbi.nlm.nih.gov/32176248/</a:t>
            </a:r>
          </a:p>
          <a:p xmlns:a="http://schemas.openxmlformats.org/drawingml/2006/main">
            <a:r>
              <a:t>https://dailymed.nlm.nih.gov/dailymed/drugInfo.cfm?setid=d9c2803f-dc9c-4b19-b4a3-8303bc8c15fd</a:t>
            </a:r>
          </a:p>
          <a:p xmlns:a="http://schemas.openxmlformats.org/drawingml/2006/main">
            <a:r>
              <a:t>https://dailymed.nlm.nih.gov/dailymed/drugInfo.cfm?setid=70ac1d90-eff3-4f0b-9f46-5846c571b32f</a:t>
            </a:r>
          </a:p>
          <a:p xmlns:a="http://schemas.openxmlformats.org/drawingml/2006/main">
            <a:r>
              <a:t>https://dailymed.nlm.nih.gov/dailymed/drugInfo.cfm?setid=75c0c785-38e0-4049-a6fb-b77581f5b35c</a:t>
            </a:r>
          </a:p>
          <a:p xmlns:a="http://schemas.openxmlformats.org/drawingml/2006/main">
            <a:r>
              <a:t>https://dailymed.nlm.nih.gov/dailymed/drugInfo.cfm?setid=be1a6c99-d4b3-46d7-9e99-6e5f9fab556a</a:t>
            </a:r>
          </a:p>
          <a:p xmlns:a="http://schemas.openxmlformats.org/drawingml/2006/main">
            <a:r>
              <a:t>https://www.fda.gov/drugs/news-events-human-drugs/fda-approves-first-oral-carbapenem-therapy-complicated-urinary-tract-infections</a:t>
            </a:r>
          </a:p>
          <a:p xmlns:a="http://schemas.openxmlformats.org/drawingml/2006/main">
            <a:r>
              <a:t>https://www.fda.gov/drugs/news-events-human-drugs/fda-approves-new-treatment-uncomplicated-urinary-tract-infections-adult-women-who-have-limited-or-no</a:t>
            </a:r>
          </a:p>
          <a:p xmlns:a="http://schemas.openxmlformats.org/drawingml/2006/main">
            <a:r>
              <a:t>https://www.basilea.com/news/news/basilea-announces-in-licensing-of-a-novel-clinical-phase-3-ready-oral-antibiotic</a:t>
            </a:r>
          </a:p>
          <a:p xmlns:a="http://schemas.openxmlformats.org/drawingml/2006/main">
            <a:r>
              <a:t>https://journals.asm.org/doi/10.1128/aac.00934-22</a:t>
            </a:r>
          </a:p>
          <a:p xmlns:a="http://schemas.openxmlformats.org/drawingml/2006/main">
            <a:r>
              <a:t>https://pubmed.ncbi.nlm.nih.gov/20888035/</a:t>
            </a:r>
          </a:p>
          <a:p xmlns:a="http://schemas.openxmlformats.org/drawingml/2006/main">
            <a:r>
              <a:t>https://dailymed.nlm.nih.gov/dailymed/drugInfo.cfm?setid=3ecde48b-75a2-4beb-9999-369f3f61bb8a</a:t>
            </a:r>
          </a:p>
          <a:p xmlns:a="http://schemas.openxmlformats.org/drawingml/2006/main">
            <a:r>
              <a:t>https://dailymed.nlm.nih.gov/dailymed/search.cfm?labeltype=human&amp;query=Ceftobiprole+Medocaril+Sodium</a:t>
            </a:r>
          </a:p>
          <a:p xmlns:a="http://schemas.openxmlformats.org/drawingml/2006/main">
            <a:r>
              <a:t>https://pubmed.ncbi.nlm.nih.gov/37754204/</a:t>
            </a:r>
          </a:p>
          <a:p xmlns:a="http://schemas.openxmlformats.org/drawingml/2006/main">
            <a:r>
              <a:t>https://dailymed.nlm.nih.gov/dailymed/drugInfo.cfm?setid=0b1a8885-2198-4a0e-8105-0c76c1cba6c2</a:t>
            </a:r>
          </a:p>
          <a:p xmlns:a="http://schemas.openxmlformats.org/drawingml/2006/main">
            <a:r>
              <a:t>https://dailymed.nlm.nih.gov/dailymed/lookup.cfm?setid=374af2a7-d994-40bd-a86a-cd9038d0b72c</a:t>
            </a:r>
          </a:p>
          <a:p xmlns:a="http://schemas.openxmlformats.org/drawingml/2006/main">
            <a:r>
              <a:t>https://dailymed.nlm.nih.gov/dailymed/drugInfo.cfm?setid=0138a156-859a-48a3-bf5a-e2db0cc7f2f9</a:t>
            </a:r>
          </a:p>
          <a:p xmlns:a="http://schemas.openxmlformats.org/drawingml/2006/main">
            <a:r>
              <a:t>https://dailymed.nlm.nih.gov/dailymed/lookup.cfm?setid=d5784eeb-6b99-4e8a-847b-b0d1090ed48a</a:t>
            </a:r>
          </a:p>
          <a:p xmlns:a="http://schemas.openxmlformats.org/drawingml/2006/main">
            <a:r>
              <a:t>https://dailymed.nlm.nih.gov/dailymed/drugInfo.cfm?setid=1971e893-5fdb-41e3-a1e9-5e52deed03d1</a:t>
            </a:r>
          </a:p>
          <a:p xmlns:a="http://schemas.openxmlformats.org/drawingml/2006/main">
            <a:r>
              <a:t>https://dailymed.nlm.nih.gov/dailymed/lookup.cfm?setid=d9e772e9-d916-42ae-8020-89b263236102</a:t>
            </a:r>
          </a:p>
          <a:p xmlns:a="http://schemas.openxmlformats.org/drawingml/2006/main">
            <a:r>
              <a:t>https://pubmed.ncbi.nlm.nih.gov/29237024/</a:t>
            </a:r>
          </a:p>
          <a:p xmlns:a="http://schemas.openxmlformats.org/drawingml/2006/main">
            <a:r>
              <a:t>https://dailymed.nlm.nih.gov/dailymed/drugInfo.cfm?setid=e237fd0f-3050-42a3-b43e-b6fb4824e93d</a:t>
            </a:r>
          </a:p>
          <a:p xmlns:a="http://schemas.openxmlformats.org/drawingml/2006/main">
            <a:r>
              <a:t>https://dailymed.nlm.nih.gov/dailymed/drugInfo.cfm?setid=be32f468-738b-40df-a425-591e12f65159</a:t>
            </a:r>
          </a:p>
          <a:p xmlns:a="http://schemas.openxmlformats.org/drawingml/2006/main">
            <a:r>
              <a:t>https://dailymed.nlm.nih.gov/dailymed/lookup.cfm?setid=c0167aec-a89d-4e96-afe5-2ccf3e89fe72</a:t>
            </a:r>
          </a:p>
          <a:p xmlns:a="http://schemas.openxmlformats.org/drawingml/2006/main">
            <a:r>
              <a:t>https://pubmed.ncbi.nlm.nih.gov/31362351/</a:t>
            </a:r>
          </a:p>
          <a:p xmlns:a="http://schemas.openxmlformats.org/drawingml/2006/main">
            <a:r>
              <a:t>https://www.bcpharmacists.org/readlinks/guest-post-beta-lactam-allergy-benefits-de-labeling-can-be-achieved-safely</a:t>
            </a:r>
          </a:p>
          <a:p xmlns:a="http://schemas.openxmlformats.org/drawingml/2006/main">
            <a:r>
              <a:t>https://pubmed.ncbi.nlm.nih.gov/42313397/</a:t>
            </a:r>
          </a:p>
          <a:p xmlns:a="http://schemas.openxmlformats.org/drawingml/2006/main">
            <a:r>
              <a:t>https://academic.oup.com/ofid/article/8/10/ofab434/6355731</a:t>
            </a:r>
          </a:p>
          <a:p xmlns:a="http://schemas.openxmlformats.org/drawingml/2006/main">
            <a:r>
              <a:t>https://pubmed.ncbi.nlm.nih.gov/39495518/</a:t>
            </a:r>
          </a:p>
          <a:p xmlns:a="http://schemas.openxmlformats.org/drawingml/2006/main">
            <a:r>
              <a:t>https://dailymed.nlm.nih.gov/dailymed/drugInfo.cfm?setid=4f206750-8126-99a3-e063-6294a90ade4c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e06b4b02d13413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ddc8c2f5b6c48f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0ec543385bd4aa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68a1457688b4e4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ee2955d6c0345c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6955c85994f444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A15F4D-5DC4-4A9F-BEAE-B84B42A2790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5EA9355-29FF-498B-86ED-1993F8C6058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39FA184-77DD-405F-8DE3-5FAA191E306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51599B-B2C6-4A68-9422-66D7AD2443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5BB36DE-9F69-44C5-9442-89699B4C1B4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38FEE70-C8A3-4889-882A-B61C3F6D8B7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14C2082-BAF7-4DF3-8E9D-A7286F1702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F6EC724-6A01-4C30-8F5A-8DFB9A41602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894CDD-F138-47D6-8E99-567D28BE54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5227BFB-4D1E-4498-A99F-972BB72F39A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52f534fa7ce41e7" /><Relationship Type="http://schemas.openxmlformats.org/officeDocument/2006/relationships/slideLayout" Target="/ppt/slideLayouts/slideLayout1.xml" Id="R1b8e650e838d4a5a" /><Relationship Type="http://schemas.openxmlformats.org/officeDocument/2006/relationships/slideLayout" Target="/ppt/slideLayouts/slideLayout2.xml" Id="R0b97cfebff774b18" /><Relationship Type="http://schemas.openxmlformats.org/officeDocument/2006/relationships/slideLayout" Target="/ppt/slideLayouts/slideLayout3.xml" Id="R54570ef173b94a66" /><Relationship Type="http://schemas.openxmlformats.org/officeDocument/2006/relationships/slideLayout" Target="/ppt/slideLayouts/slideLayout4.xml" Id="Ra25d253c3793448a" /><Relationship Type="http://schemas.openxmlformats.org/officeDocument/2006/relationships/slideLayout" Target="/ppt/slideLayouts/slideLayout5.xml" Id="R13aa2230f52c44be" /><Relationship Type="http://schemas.openxmlformats.org/officeDocument/2006/relationships/slideLayout" Target="/ppt/slideLayouts/slideLayout6.xml" Id="R7f506b2be9ff49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8e650e838d4a5a"/>
    <p:sldLayoutId xmlns:r="http://schemas.openxmlformats.org/officeDocument/2006/relationships" id="2147483650" r:id="R0b97cfebff774b18"/>
    <p:sldLayoutId xmlns:r="http://schemas.openxmlformats.org/officeDocument/2006/relationships" id="2147483651" r:id="R54570ef173b94a66"/>
    <p:sldLayoutId xmlns:r="http://schemas.openxmlformats.org/officeDocument/2006/relationships" id="2147483652" r:id="Ra25d253c3793448a"/>
    <p:sldLayoutId xmlns:r="http://schemas.openxmlformats.org/officeDocument/2006/relationships" id="2147483653" r:id="R13aa2230f52c44be"/>
    <p:sldLayoutId xmlns:r="http://schemas.openxmlformats.org/officeDocument/2006/relationships" id="2147483654" r:id="R7f506b2be9ff49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8a6a6c3b2ec4c82" /><Relationship Type="http://schemas.openxmlformats.org/officeDocument/2006/relationships/notesSlide" Target="/ppt/notesSlides/notesSlide1.xml" Id="Rdd5a40834b1b4ee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d135213abb14c30" /><Relationship Type="http://schemas.openxmlformats.org/officeDocument/2006/relationships/notesSlide" Target="/ppt/notesSlides/notesSlide2.xml" Id="R86ac47f1a36946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0eeed2f8bd84196" /><Relationship Type="http://schemas.openxmlformats.org/officeDocument/2006/relationships/notesSlide" Target="/ppt/notesSlides/notesSlide3.xml" Id="R24c7611549464b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55d43b8abb84701" /><Relationship Type="http://schemas.openxmlformats.org/officeDocument/2006/relationships/notesSlide" Target="/ppt/notesSlides/notesSlide4.xml" Id="R0112c507274042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473fcc0d48a4389" /><Relationship Type="http://schemas.openxmlformats.org/officeDocument/2006/relationships/notesSlide" Target="/ppt/notesSlides/notesSlide5.xml" Id="R1dc794f14fd24f1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f970b8794b04514" /><Relationship Type="http://schemas.openxmlformats.org/officeDocument/2006/relationships/notesSlide" Target="/ppt/notesSlides/notesSlide6.xml" Id="R01623ef983e74a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cb40fe90aa34cf2" /><Relationship Type="http://schemas.openxmlformats.org/officeDocument/2006/relationships/notesSlide" Target="/ppt/notesSlides/notesSlide7.xml" Id="Rfd1e722738e7469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788260587e146ce" /><Relationship Type="http://schemas.openxmlformats.org/officeDocument/2006/relationships/notesSlide" Target="/ppt/notesSlides/notesSlide8.xml" Id="R9c3e86c7b9e94ef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0bd252efdf84cce" /><Relationship Type="http://schemas.openxmlformats.org/officeDocument/2006/relationships/notesSlide" Target="/ppt/notesSlides/notesSlide9.xml" Id="R23e2b97150e44f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3e28d6c7df84c39" /><Relationship Type="http://schemas.openxmlformats.org/officeDocument/2006/relationships/notesSlide" Target="/ppt/notesSlides/notesSlide10.xml" Id="R1e01e251835847d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c4cec6305814da4" /><Relationship Type="http://schemas.openxmlformats.org/officeDocument/2006/relationships/notesSlide" Target="/ppt/notesSlides/notesSlide11.xml" Id="Rf17719f000824af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9b441615ae942d3" /><Relationship Type="http://schemas.openxmlformats.org/officeDocument/2006/relationships/notesSlide" Target="/ppt/notesSlides/notesSlide12.xml" Id="Rbb22d10b9c78478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e8e3fd972514495" /><Relationship Type="http://schemas.openxmlformats.org/officeDocument/2006/relationships/notesSlide" Target="/ppt/notesSlides/notesSlide13.xml" Id="Rc587089c45c4437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0befcd5447a4ca7" /><Relationship Type="http://schemas.openxmlformats.org/officeDocument/2006/relationships/notesSlide" Target="/ppt/notesSlides/notesSlide14.xml" Id="Rfa387edb00e24ca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3819e20cbdb4b53" /><Relationship Type="http://schemas.openxmlformats.org/officeDocument/2006/relationships/notesSlide" Target="/ppt/notesSlides/notesSlide15.xml" Id="R7ef0b7d140ac4de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091593b244649f2" /><Relationship Type="http://schemas.openxmlformats.org/officeDocument/2006/relationships/notesSlide" Target="/ppt/notesSlides/notesSlide16.xml" Id="R4701553e10684de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8c3022e49af42f8" /><Relationship Type="http://schemas.openxmlformats.org/officeDocument/2006/relationships/notesSlide" Target="/ppt/notesSlides/notesSlide17.xml" Id="Rece04c7288084d2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bc8382741104428" /><Relationship Type="http://schemas.openxmlformats.org/officeDocument/2006/relationships/notesSlide" Target="/ppt/notesSlides/notesSlide18.xml" Id="R6fcad1b8b34e47b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3bdc30cf8264a04" /><Relationship Type="http://schemas.openxmlformats.org/officeDocument/2006/relationships/notesSlide" Target="/ppt/notesSlides/notesSlide19.xml" Id="R66b920bac66e498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a39e3df06864e09" /><Relationship Type="http://schemas.openxmlformats.org/officeDocument/2006/relationships/notesSlide" Target="/ppt/notesSlides/notesSlide20.xml" Id="R230858059d6249b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59fe39cc37e4c96" /><Relationship Type="http://schemas.openxmlformats.org/officeDocument/2006/relationships/notesSlide" Target="/ppt/notesSlides/notesSlide21.xml" Id="Rf9141a8ffd614c3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635cd758e5243ef" /><Relationship Type="http://schemas.openxmlformats.org/officeDocument/2006/relationships/notesSlide" Target="/ppt/notesSlides/notesSlide22.xml" Id="R9ff8a0ba554e4bc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a39dea3e310429a" /><Relationship Type="http://schemas.openxmlformats.org/officeDocument/2006/relationships/notesSlide" Target="/ppt/notesSlides/notesSlide23.xml" Id="R6834e959ffa4439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dfe7a13de8446f1" /><Relationship Type="http://schemas.openxmlformats.org/officeDocument/2006/relationships/notesSlide" Target="/ppt/notesSlides/notesSlide24.xml" Id="R9b69ec9787574f4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b2d4075550b4083" /><Relationship Type="http://schemas.openxmlformats.org/officeDocument/2006/relationships/notesSlide" Target="/ppt/notesSlides/notesSlide25.xml" Id="Rb7e1ae71ac3f48e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8a9d922844243e0" /><Relationship Type="http://schemas.openxmlformats.org/officeDocument/2006/relationships/notesSlide" Target="/ppt/notesSlides/notesSlide26.xml" Id="R338cfaf96a51447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2004dada196414c" /><Relationship Type="http://schemas.openxmlformats.org/officeDocument/2006/relationships/notesSlide" Target="/ppt/notesSlides/notesSlide27.xml" Id="R860a716e266448d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073b9522e3f64e15" /><Relationship Type="http://schemas.openxmlformats.org/officeDocument/2006/relationships/notesSlide" Target="/ppt/notesSlides/notesSlide28.xml" Id="Re1a3a7ad9ab94b5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001b81009b141f0" /><Relationship Type="http://schemas.openxmlformats.org/officeDocument/2006/relationships/notesSlide" Target="/ppt/notesSlides/notesSlide29.xml" Id="R8de53054c6df4e9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b929117ecec4ef1" /><Relationship Type="http://schemas.openxmlformats.org/officeDocument/2006/relationships/notesSlide" Target="/ppt/notesSlides/notesSlide30.xml" Id="R648782c4f97c4f6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af087d52fae94848" /><Relationship Type="http://schemas.openxmlformats.org/officeDocument/2006/relationships/notesSlide" Target="/ppt/notesSlides/notesSlide31.xml" Id="Rf6db0de02d1941b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9aec116667784785" /><Relationship Type="http://schemas.openxmlformats.org/officeDocument/2006/relationships/notesSlide" Target="/ppt/notesSlides/notesSlide32.xml" Id="Rc6a237ea88034be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ce614c64f5f04d21" /><Relationship Type="http://schemas.openxmlformats.org/officeDocument/2006/relationships/notesSlide" Target="/ppt/notesSlides/notesSlide33.xml" Id="Rd14259504395419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a0c2a5934b5e4b8a" /><Relationship Type="http://schemas.openxmlformats.org/officeDocument/2006/relationships/notesSlide" Target="/ppt/notesSlides/notesSlide34.xml" Id="Rcbbeb4d0d66e4b7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766909d3917b4d2a" /><Relationship Type="http://schemas.openxmlformats.org/officeDocument/2006/relationships/notesSlide" Target="/ppt/notesSlides/notesSlide35.xml" Id="R74b96db93a74430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7f43a826000b468f" /><Relationship Type="http://schemas.openxmlformats.org/officeDocument/2006/relationships/notesSlide" Target="/ppt/notesSlides/notesSlide36.xml" Id="R15d39705539d4ed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ad1ae49efb6f4d4e" /><Relationship Type="http://schemas.openxmlformats.org/officeDocument/2006/relationships/notesSlide" Target="/ppt/notesSlides/notesSlide37.xml" Id="R3fb59377072447f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db53f06f19ca499a" /><Relationship Type="http://schemas.openxmlformats.org/officeDocument/2006/relationships/notesSlide" Target="/ppt/notesSlides/notesSlide38.xml" Id="R8a9e951f3fe44d8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6714b59520a24b51" /><Relationship Type="http://schemas.openxmlformats.org/officeDocument/2006/relationships/notesSlide" Target="/ppt/notesSlides/notesSlide39.xml" Id="Rf058e91b71f44ed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f3738437ea0a47c1" /><Relationship Type="http://schemas.openxmlformats.org/officeDocument/2006/relationships/notesSlide" Target="/ppt/notesSlides/notesSlide40.xml" Id="R2dab37cfe5fa4e4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2d8e6b9b11784cc2" /><Relationship Type="http://schemas.openxmlformats.org/officeDocument/2006/relationships/notesSlide" Target="/ppt/notesSlides/notesSlide41.xml" Id="Racb12858af4a47d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66f14af1c8844dfb" /><Relationship Type="http://schemas.openxmlformats.org/officeDocument/2006/relationships/notesSlide" Target="/ppt/notesSlides/notesSlide42.xml" Id="Rf25c19120f5a4fec"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f47ad4e047d94429" /><Relationship Type="http://schemas.openxmlformats.org/officeDocument/2006/relationships/notesSlide" Target="/ppt/notesSlides/notesSlide43.xml" Id="R2218c0381fe040e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9f69cd9366b54f53" /><Relationship Type="http://schemas.openxmlformats.org/officeDocument/2006/relationships/notesSlide" Target="/ppt/notesSlides/notesSlide44.xml" Id="R21e55c092575419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f81f8c1509ee45ac" /><Relationship Type="http://schemas.openxmlformats.org/officeDocument/2006/relationships/notesSlide" Target="/ppt/notesSlides/notesSlide45.xml" Id="R6273ad0694db410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ae095b051c7c4a09" /><Relationship Type="http://schemas.openxmlformats.org/officeDocument/2006/relationships/notesSlide" Target="/ppt/notesSlides/notesSlide46.xml" Id="R103066de5e05494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0ed5d1b6cd654a5d" /><Relationship Type="http://schemas.openxmlformats.org/officeDocument/2006/relationships/notesSlide" Target="/ppt/notesSlides/notesSlide47.xml" Id="Rdbddd89684e84ca5"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46ceb719fc1242f9" /><Relationship Type="http://schemas.openxmlformats.org/officeDocument/2006/relationships/notesSlide" Target="/ppt/notesSlides/notesSlide48.xml" Id="Ra945e79a2d8949d7"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df5ea2e5cb614a4b" /><Relationship Type="http://schemas.openxmlformats.org/officeDocument/2006/relationships/notesSlide" Target="/ppt/notesSlides/notesSlide49.xml" Id="R47988659e4c443ae"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e151e88312db4ea9" /><Relationship Type="http://schemas.openxmlformats.org/officeDocument/2006/relationships/notesSlide" Target="/ppt/notesSlides/notesSlide50.xml" Id="R9601072b2b5f419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bf70e24c859e44d5" /><Relationship Type="http://schemas.openxmlformats.org/officeDocument/2006/relationships/notesSlide" Target="/ppt/notesSlides/notesSlide51.xml" Id="Rf305dd1a833a42ce"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5a0eb06dc9234424" /><Relationship Type="http://schemas.openxmlformats.org/officeDocument/2006/relationships/notesSlide" Target="/ppt/notesSlides/notesSlide52.xml" Id="Rb2ebda09fa7c4d7f"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e1057adc99a3427d" /><Relationship Type="http://schemas.openxmlformats.org/officeDocument/2006/relationships/notesSlide" Target="/ppt/notesSlides/notesSlide53.xml" Id="R89d33068b37f4471"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17336ae0c91e475f" /><Relationship Type="http://schemas.openxmlformats.org/officeDocument/2006/relationships/notesSlide" Target="/ppt/notesSlides/notesSlide54.xml" Id="Ra8dd6f51f9584adc"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883cd1a151934fdc" /><Relationship Type="http://schemas.openxmlformats.org/officeDocument/2006/relationships/notesSlide" Target="/ppt/notesSlides/notesSlide55.xml" Id="R9937ff8a87a14316"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5e762b6798034dbb" /><Relationship Type="http://schemas.openxmlformats.org/officeDocument/2006/relationships/notesSlide" Target="/ppt/notesSlides/notesSlide56.xml" Id="Ra58f5258dead4fde"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4dcbb9a33390429b" /><Relationship Type="http://schemas.openxmlformats.org/officeDocument/2006/relationships/notesSlide" Target="/ppt/notesSlides/notesSlide57.xml" Id="R2523170b90674536"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6e442b7bd8e24a8c" /><Relationship Type="http://schemas.openxmlformats.org/officeDocument/2006/relationships/notesSlide" Target="/ppt/notesSlides/notesSlide58.xml" Id="R0c454ba293274d53"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e133dec50af1497b" /><Relationship Type="http://schemas.openxmlformats.org/officeDocument/2006/relationships/notesSlide" Target="/ppt/notesSlides/notesSlide59.xml" Id="R79885f9d49f64cc4"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72fa53b1036546f3" /><Relationship Type="http://schemas.openxmlformats.org/officeDocument/2006/relationships/notesSlide" Target="/ppt/notesSlides/notesSlide60.xml" Id="R83ab2f1cf55d422b"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4e36e5ffcfdc46fd" /><Relationship Type="http://schemas.openxmlformats.org/officeDocument/2006/relationships/notesSlide" Target="/ppt/notesSlides/notesSlide61.xml" Id="Ra7f49d74e24a49ff"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4456f7237a614c97" /><Relationship Type="http://schemas.openxmlformats.org/officeDocument/2006/relationships/notesSlide" Target="/ppt/notesSlides/notesSlide62.xml" Id="Rf63e50663cb542bc"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b0dcf8a5e50f42de" /><Relationship Type="http://schemas.openxmlformats.org/officeDocument/2006/relationships/notesSlide" Target="/ppt/notesSlides/notesSlide63.xml" Id="R494a8b9e261442ce"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2c9b02127063424a" /><Relationship Type="http://schemas.openxmlformats.org/officeDocument/2006/relationships/notesSlide" Target="/ppt/notesSlides/notesSlide64.xml" Id="Rf57afae46fc44e33"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ae73b2e416b24c19" /><Relationship Type="http://schemas.openxmlformats.org/officeDocument/2006/relationships/notesSlide" Target="/ppt/notesSlides/notesSlide65.xml" Id="R1179c7617eb94ec2"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a0691acfae564bf7" /><Relationship Type="http://schemas.openxmlformats.org/officeDocument/2006/relationships/notesSlide" Target="/ppt/notesSlides/notesSlide66.xml" Id="Rfb640f3050884765"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68f5a36faf134143" /><Relationship Type="http://schemas.openxmlformats.org/officeDocument/2006/relationships/notesSlide" Target="/ppt/notesSlides/notesSlide67.xml" Id="R8d690752dd7247e7"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30ab255307de489a" /><Relationship Type="http://schemas.openxmlformats.org/officeDocument/2006/relationships/notesSlide" Target="/ppt/notesSlides/notesSlide68.xml" Id="R119475460c484b28"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487365dc778e48af" /><Relationship Type="http://schemas.openxmlformats.org/officeDocument/2006/relationships/notesSlide" Target="/ppt/notesSlides/notesSlide69.xml" Id="R2f070af1676440dc"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bee249c55d3c4abe" /><Relationship Type="http://schemas.openxmlformats.org/officeDocument/2006/relationships/notesSlide" Target="/ppt/notesSlides/notesSlide70.xml" Id="Rf59fcf56adc84caf"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68754ed8c6824a1c" /><Relationship Type="http://schemas.openxmlformats.org/officeDocument/2006/relationships/notesSlide" Target="/ppt/notesSlides/notesSlide71.xml" Id="R9728916833124976"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1312b7e484ae4f6a" /><Relationship Type="http://schemas.openxmlformats.org/officeDocument/2006/relationships/notesSlide" Target="/ppt/notesSlides/notesSlide72.xml" Id="Rb452461d4ce440e8"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4d4b20f807164a76" /><Relationship Type="http://schemas.openxmlformats.org/officeDocument/2006/relationships/notesSlide" Target="/ppt/notesSlides/notesSlide73.xml" Id="R71a11f57cc694fb4"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cbd1cbd6be9c47be" /><Relationship Type="http://schemas.openxmlformats.org/officeDocument/2006/relationships/notesSlide" Target="/ppt/notesSlides/notesSlide74.xml" Id="Rf13d45e4f7b34b86"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a1e7a96e8ca04646" /><Relationship Type="http://schemas.openxmlformats.org/officeDocument/2006/relationships/notesSlide" Target="/ppt/notesSlides/notesSlide75.xml" Id="R95a7c666aabf4ac2"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6b47251645a74fa9" /><Relationship Type="http://schemas.openxmlformats.org/officeDocument/2006/relationships/notesSlide" Target="/ppt/notesSlides/notesSlide76.xml" Id="R877d972717974317"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845949ba6daa4d17" /><Relationship Type="http://schemas.openxmlformats.org/officeDocument/2006/relationships/notesSlide" Target="/ppt/notesSlides/notesSlide77.xml" Id="R9b17dc79020c4bfa"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356f1f27a5cb42d9" /><Relationship Type="http://schemas.openxmlformats.org/officeDocument/2006/relationships/notesSlide" Target="/ppt/notesSlides/notesSlide78.xml" Id="Rd9413e4497234c66"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2c9c0367f25e4b5c" /><Relationship Type="http://schemas.openxmlformats.org/officeDocument/2006/relationships/notesSlide" Target="/ppt/notesSlides/notesSlide79.xml" Id="Rb1376484170b4614"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b1e3905d561b46aa" /><Relationship Type="http://schemas.openxmlformats.org/officeDocument/2006/relationships/notesSlide" Target="/ppt/notesSlides/notesSlide80.xml" Id="R58d4147814034281"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be748e6318244716" /><Relationship Type="http://schemas.openxmlformats.org/officeDocument/2006/relationships/notesSlide" Target="/ppt/notesSlides/notesSlide81.xml" Id="Rac2966d4468f41a8"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57ca59eba83e43b1" /><Relationship Type="http://schemas.openxmlformats.org/officeDocument/2006/relationships/notesSlide" Target="/ppt/notesSlides/notesSlide82.xml" Id="Redaa273c9b3e4f46"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786c41d674594b2b" /><Relationship Type="http://schemas.openxmlformats.org/officeDocument/2006/relationships/notesSlide" Target="/ppt/notesSlides/notesSlide83.xml" Id="Rb33e03615cb1482c"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6be3e2263b0f4732" /><Relationship Type="http://schemas.openxmlformats.org/officeDocument/2006/relationships/notesSlide" Target="/ppt/notesSlides/notesSlide84.xml" Id="Ra1916f47f44e41b8"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538f7b4082b640fa" /><Relationship Type="http://schemas.openxmlformats.org/officeDocument/2006/relationships/notesSlide" Target="/ppt/notesSlides/notesSlide85.xml" Id="Re5df2a25c1034160"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8b999e2f1c4343dd" /><Relationship Type="http://schemas.openxmlformats.org/officeDocument/2006/relationships/notesSlide" Target="/ppt/notesSlides/notesSlide86.xml" Id="R87976f55f2c2415b"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be19f3da74524775" /><Relationship Type="http://schemas.openxmlformats.org/officeDocument/2006/relationships/notesSlide" Target="/ppt/notesSlides/notesSlide87.xml" Id="Rda17a11f62454e48"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d81c394880dd428e" /><Relationship Type="http://schemas.openxmlformats.org/officeDocument/2006/relationships/notesSlide" Target="/ppt/notesSlides/notesSlide88.xml" Id="Rf536cd2d9ad54ac0"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27f6ad3e25224a99" /><Relationship Type="http://schemas.openxmlformats.org/officeDocument/2006/relationships/notesSlide" Target="/ppt/notesSlides/notesSlide89.xml" Id="Rcf7bc6b5431c4e09"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e1f977bb38ea41bf" /><Relationship Type="http://schemas.openxmlformats.org/officeDocument/2006/relationships/notesSlide" Target="/ppt/notesSlides/notesSlide90.xml" Id="Rfabc1f9a9cf74a65" /></Relationships>
</file>

<file path=ppt/slides/_rels/slide91.xml.rels>&#65279;<?xml version="1.0" encoding="utf-8"?><Relationships xmlns="http://schemas.openxmlformats.org/package/2006/relationships"><Relationship Type="http://schemas.openxmlformats.org/officeDocument/2006/relationships/slideLayout" Target="/ppt/slideLayouts/slideLayout6.xml" Id="R7fb062d892194de3" /><Relationship Type="http://schemas.openxmlformats.org/officeDocument/2006/relationships/notesSlide" Target="/ppt/notesSlides/notesSlide91.xml" Id="Rc6115c1935b446a9" /></Relationships>
</file>

<file path=ppt/slides/_rels/slide92.xml.rels>&#65279;<?xml version="1.0" encoding="utf-8"?><Relationships xmlns="http://schemas.openxmlformats.org/package/2006/relationships"><Relationship Type="http://schemas.openxmlformats.org/officeDocument/2006/relationships/slideLayout" Target="/ppt/slideLayouts/slideLayout6.xml" Id="R1d48a4ab66bb4412" /><Relationship Type="http://schemas.openxmlformats.org/officeDocument/2006/relationships/notesSlide" Target="/ppt/notesSlides/notesSlide92.xml" Id="R2f5d7649782a4227" /></Relationships>
</file>

<file path=ppt/slides/_rels/slide93.xml.rels>&#65279;<?xml version="1.0" encoding="utf-8"?><Relationships xmlns="http://schemas.openxmlformats.org/package/2006/relationships"><Relationship Type="http://schemas.openxmlformats.org/officeDocument/2006/relationships/slideLayout" Target="/ppt/slideLayouts/slideLayout6.xml" Id="R2d9f4a6a76624ace" /><Relationship Type="http://schemas.openxmlformats.org/officeDocument/2006/relationships/notesSlide" Target="/ppt/notesSlides/notesSlide93.xml" Id="Rec3b775e066d4301" /></Relationships>
</file>

<file path=ppt/slides/_rels/slide94.xml.rels>&#65279;<?xml version="1.0" encoding="utf-8"?><Relationships xmlns="http://schemas.openxmlformats.org/package/2006/relationships"><Relationship Type="http://schemas.openxmlformats.org/officeDocument/2006/relationships/slideLayout" Target="/ppt/slideLayouts/slideLayout6.xml" Id="Rf0de57fad0a94ca6" /><Relationship Type="http://schemas.openxmlformats.org/officeDocument/2006/relationships/notesSlide" Target="/ppt/notesSlides/notesSlide94.xml" Id="R87e79ff58bb84e04" /></Relationships>
</file>

<file path=ppt/slides/_rels/slide95.xml.rels>&#65279;<?xml version="1.0" encoding="utf-8"?><Relationships xmlns="http://schemas.openxmlformats.org/package/2006/relationships"><Relationship Type="http://schemas.openxmlformats.org/officeDocument/2006/relationships/slideLayout" Target="/ppt/slideLayouts/slideLayout6.xml" Id="R09340cf372454059" /><Relationship Type="http://schemas.openxmlformats.org/officeDocument/2006/relationships/notesSlide" Target="/ppt/notesSlides/notesSlide95.xml" Id="R89f365007eb449cf" /></Relationships>
</file>

<file path=ppt/slides/_rels/slide96.xml.rels>&#65279;<?xml version="1.0" encoding="utf-8"?><Relationships xmlns="http://schemas.openxmlformats.org/package/2006/relationships"><Relationship Type="http://schemas.openxmlformats.org/officeDocument/2006/relationships/slideLayout" Target="/ppt/slideLayouts/slideLayout6.xml" Id="R44225006d0f14388" /><Relationship Type="http://schemas.openxmlformats.org/officeDocument/2006/relationships/notesSlide" Target="/ppt/notesSlides/notesSlide96.xml" Id="Rb7ab51adc7f744fb" /></Relationships>
</file>

<file path=ppt/slides/_rels/slide97.xml.rels>&#65279;<?xml version="1.0" encoding="utf-8"?><Relationships xmlns="http://schemas.openxmlformats.org/package/2006/relationships"><Relationship Type="http://schemas.openxmlformats.org/officeDocument/2006/relationships/slideLayout" Target="/ppt/slideLayouts/slideLayout6.xml" Id="R84213f270b214241" /><Relationship Type="http://schemas.openxmlformats.org/officeDocument/2006/relationships/notesSlide" Target="/ppt/notesSlides/notesSlide97.xml" Id="R771a62a114994469" /></Relationships>
</file>

<file path=ppt/slides/_rels/slide98.xml.rels>&#65279;<?xml version="1.0" encoding="utf-8"?><Relationships xmlns="http://schemas.openxmlformats.org/package/2006/relationships"><Relationship Type="http://schemas.openxmlformats.org/officeDocument/2006/relationships/slideLayout" Target="/ppt/slideLayouts/slideLayout6.xml" Id="R55ce906298474300" /><Relationship Type="http://schemas.openxmlformats.org/officeDocument/2006/relationships/notesSlide" Target="/ppt/notesSlides/notesSlide98.xml" Id="R8abf92f2c4e844b7" /></Relationships>
</file>

<file path=ppt/slides/_rels/slide99.xml.rels>&#65279;<?xml version="1.0" encoding="utf-8"?><Relationships xmlns="http://schemas.openxmlformats.org/package/2006/relationships"><Relationship Type="http://schemas.openxmlformats.org/officeDocument/2006/relationships/slideLayout" Target="/ppt/slideLayouts/slideLayout6.xml" Id="R5cf93a9d97874ba8" /><Relationship Type="http://schemas.openxmlformats.org/officeDocument/2006/relationships/notesSlide" Target="/ppt/notesSlides/notesSlide99.xml" Id="R31d30ac77f754bbb"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6.xml" Id="Re8268e62cad4472a" /><Relationship Type="http://schemas.openxmlformats.org/officeDocument/2006/relationships/notesSlide" Target="/ppt/notesSlides/notesSlide100.xml" Id="R10e261172879427c"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6.xml" Id="Rcbd15754150c4dff" /><Relationship Type="http://schemas.openxmlformats.org/officeDocument/2006/relationships/notesSlide" Target="/ppt/notesSlides/notesSlide101.xml" Id="Ra41428f12cf3475d"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6.xml" Id="R082a86c954da4ff0" /><Relationship Type="http://schemas.openxmlformats.org/officeDocument/2006/relationships/notesSlide" Target="/ppt/notesSlides/notesSlide102.xml" Id="R297e7c2732d848be"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6.xml" Id="R044c100d5c8144ce" /><Relationship Type="http://schemas.openxmlformats.org/officeDocument/2006/relationships/notesSlide" Target="/ppt/notesSlides/notesSlide103.xml" Id="R4f389251981d46ce"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6.xml" Id="Rfaa3c97cd3134740" /><Relationship Type="http://schemas.openxmlformats.org/officeDocument/2006/relationships/notesSlide" Target="/ppt/notesSlides/notesSlide104.xml" Id="Raff5e628253440f2"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6.xml" Id="Rc64d11d9e2884db1" /><Relationship Type="http://schemas.openxmlformats.org/officeDocument/2006/relationships/notesSlide" Target="/ppt/notesSlides/notesSlide105.xml" Id="Rf822706747f34f56"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6.xml" Id="R9d01b2a566804ca2" /><Relationship Type="http://schemas.openxmlformats.org/officeDocument/2006/relationships/notesSlide" Target="/ppt/notesSlides/notesSlide106.xml" Id="Rdee086d7ed364ccd"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6.xml" Id="R5e969e539608478c" /><Relationship Type="http://schemas.openxmlformats.org/officeDocument/2006/relationships/notesSlide" Target="/ppt/notesSlides/notesSlide107.xml" Id="R645aa0ac77544857"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6.xml" Id="R3c8332c4993d4208" /><Relationship Type="http://schemas.openxmlformats.org/officeDocument/2006/relationships/notesSlide" Target="/ppt/notesSlides/notesSlide108.xml" Id="R8cd4c74305bf4ec9"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6.xml" Id="Rd57a3e77ef9d4311" /><Relationship Type="http://schemas.openxmlformats.org/officeDocument/2006/relationships/notesSlide" Target="/ppt/notesSlides/notesSlide109.xml" Id="R68332f9b6e404734"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6.xml" Id="Rb03a61571a684bfd" /><Relationship Type="http://schemas.openxmlformats.org/officeDocument/2006/relationships/notesSlide" Target="/ppt/notesSlides/notesSlide110.xml" Id="Rabe4483d40ec46a8"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6.xml" Id="R43a4cd55bb8541fc" /><Relationship Type="http://schemas.openxmlformats.org/officeDocument/2006/relationships/notesSlide" Target="/ppt/notesSlides/notesSlide111.xml" Id="Rfd7ad4b7eb0d4002"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6.xml" Id="Rc3cc70c2d9594b91" /><Relationship Type="http://schemas.openxmlformats.org/officeDocument/2006/relationships/notesSlide" Target="/ppt/notesSlides/notesSlide112.xml" Id="R42acd597e7a9468b"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6.xml" Id="R479cb0b5b2f24018" /><Relationship Type="http://schemas.openxmlformats.org/officeDocument/2006/relationships/notesSlide" Target="/ppt/notesSlides/notesSlide113.xml" Id="R0b7d1a2dae75467d"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6.xml" Id="Ra1913e59bd4545aa" /><Relationship Type="http://schemas.openxmlformats.org/officeDocument/2006/relationships/notesSlide" Target="/ppt/notesSlides/notesSlide114.xml" Id="R2b6c351e7017413e"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6.xml" Id="R7781eabe853c49e8" /><Relationship Type="http://schemas.openxmlformats.org/officeDocument/2006/relationships/notesSlide" Target="/ppt/notesSlides/notesSlide115.xml" Id="R5f48b3f610614cf0"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6.xml" Id="R2a88225c06414110" /><Relationship Type="http://schemas.openxmlformats.org/officeDocument/2006/relationships/notesSlide" Target="/ppt/notesSlides/notesSlide116.xml" Id="R71c6a37272824a08"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6.xml" Id="Rfc13e47e07b64ca5" /><Relationship Type="http://schemas.openxmlformats.org/officeDocument/2006/relationships/notesSlide" Target="/ppt/notesSlides/notesSlide117.xml" Id="R6d3b859a0b684949"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6.xml" Id="R44dca9469cf64d3b" /><Relationship Type="http://schemas.openxmlformats.org/officeDocument/2006/relationships/notesSlide" Target="/ppt/notesSlides/notesSlide118.xml" Id="R9adf8aea2de74f53"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6.xml" Id="R093eeb60a9814f21" /><Relationship Type="http://schemas.openxmlformats.org/officeDocument/2006/relationships/notesSlide" Target="/ppt/notesSlides/notesSlide119.xml" Id="R37f25837163145bf"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6.xml" Id="R705e897893ee47a2" /><Relationship Type="http://schemas.openxmlformats.org/officeDocument/2006/relationships/notesSlide" Target="/ppt/notesSlides/notesSlide120.xml" Id="R8b15e4ad7f7d46c5"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6.xml" Id="Rd9d0de086fbb4ba2" /><Relationship Type="http://schemas.openxmlformats.org/officeDocument/2006/relationships/notesSlide" Target="/ppt/notesSlides/notesSlide121.xml" Id="R1575a894d3844d5a"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6.xml" Id="Rd4760d4149ec4a66" /><Relationship Type="http://schemas.openxmlformats.org/officeDocument/2006/relationships/notesSlide" Target="/ppt/notesSlides/notesSlide122.xml" Id="R739dd400f43d46ae"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6.xml" Id="Rdbeac539472c4ed0" /><Relationship Type="http://schemas.openxmlformats.org/officeDocument/2006/relationships/notesSlide" Target="/ppt/notesSlides/notesSlide123.xml" Id="R0984334644cd48e4"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6.xml" Id="R29fc43b013194e70" /><Relationship Type="http://schemas.openxmlformats.org/officeDocument/2006/relationships/notesSlide" Target="/ppt/notesSlides/notesSlide124.xml" Id="R65a91c098bdc4131"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6.xml" Id="R01032de742c5401e" /><Relationship Type="http://schemas.openxmlformats.org/officeDocument/2006/relationships/notesSlide" Target="/ppt/notesSlides/notesSlide125.xml" Id="R729ed6b537884bc1"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6.xml" Id="Red52bad070e74785" /><Relationship Type="http://schemas.openxmlformats.org/officeDocument/2006/relationships/notesSlide" Target="/ppt/notesSlides/notesSlide126.xml" Id="R7d8a3776ee4c4b21"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6.xml" Id="R078551cb4a7a43e8" /><Relationship Type="http://schemas.openxmlformats.org/officeDocument/2006/relationships/notesSlide" Target="/ppt/notesSlides/notesSlide127.xml" Id="R739a33e1bf2e4a9c"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6.xml" Id="Rd890930fc8c3424b" /><Relationship Type="http://schemas.openxmlformats.org/officeDocument/2006/relationships/notesSlide" Target="/ppt/notesSlides/notesSlide128.xml" Id="R9c43e8114c5b43bf"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6.xml" Id="R8e0d79fda8c34122" /><Relationship Type="http://schemas.openxmlformats.org/officeDocument/2006/relationships/notesSlide" Target="/ppt/notesSlides/notesSlide129.xml" Id="R1f68650310ce45da"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6.xml" Id="R768e4f30f24344c5" /><Relationship Type="http://schemas.openxmlformats.org/officeDocument/2006/relationships/notesSlide" Target="/ppt/notesSlides/notesSlide130.xml" Id="Rc619f578b1374813"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6.xml" Id="Rae3a86a30c764cd3" /><Relationship Type="http://schemas.openxmlformats.org/officeDocument/2006/relationships/notesSlide" Target="/ppt/notesSlides/notesSlide131.xml" Id="Rc42c994f49b24836"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6.xml" Id="R8e37751ea2744f42" /><Relationship Type="http://schemas.openxmlformats.org/officeDocument/2006/relationships/notesSlide" Target="/ppt/notesSlides/notesSlide132.xml" Id="R772a1f4b1f824c6a"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6.xml" Id="R7c665c39f407452a" /><Relationship Type="http://schemas.openxmlformats.org/officeDocument/2006/relationships/notesSlide" Target="/ppt/notesSlides/notesSlide133.xml" Id="R162b7708d08f4846"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6.xml" Id="R7942ffe086674119" /><Relationship Type="http://schemas.openxmlformats.org/officeDocument/2006/relationships/notesSlide" Target="/ppt/notesSlides/notesSlide134.xml" Id="R346fc26f508446b5"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6.xml" Id="R9c9ac5c8ccbf4dfa" /><Relationship Type="http://schemas.openxmlformats.org/officeDocument/2006/relationships/notesSlide" Target="/ppt/notesSlides/notesSlide135.xml" Id="R5ab191fb08814ec6"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6.xml" Id="R8b81b70be0944480" /><Relationship Type="http://schemas.openxmlformats.org/officeDocument/2006/relationships/notesSlide" Target="/ppt/notesSlides/notesSlide136.xml" Id="R91ebf52e21514e6f"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6.xml" Id="R11dc9e78052940e6" /><Relationship Type="http://schemas.openxmlformats.org/officeDocument/2006/relationships/notesSlide" Target="/ppt/notesSlides/notesSlide137.xml" Id="R1dc94a9a90d64072"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6.xml" Id="Rf6953082ccc24e79" /><Relationship Type="http://schemas.openxmlformats.org/officeDocument/2006/relationships/notesSlide" Target="/ppt/notesSlides/notesSlide138.xml" Id="Re8b140b2b6df4840"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6.xml" Id="R986b03f88caf4d50" /><Relationship Type="http://schemas.openxmlformats.org/officeDocument/2006/relationships/notesSlide" Target="/ppt/notesSlides/notesSlide139.xml" Id="R12ef6c7538ea4324"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6.xml" Id="R08218e8299384f50" /><Relationship Type="http://schemas.openxmlformats.org/officeDocument/2006/relationships/notesSlide" Target="/ppt/notesSlides/notesSlide140.xml" Id="Rc10d42f992f841f7"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6.xml" Id="R1e523cb2e0954fce" /><Relationship Type="http://schemas.openxmlformats.org/officeDocument/2006/relationships/notesSlide" Target="/ppt/notesSlides/notesSlide141.xml" Id="Re6c9f7bf8db642f6"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6.xml" Id="R43c47a63361f4631" /><Relationship Type="http://schemas.openxmlformats.org/officeDocument/2006/relationships/notesSlide" Target="/ppt/notesSlides/notesSlide142.xml" Id="R83c1561a53f24f79"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6.xml" Id="R2f48de4b9ed448b1" /><Relationship Type="http://schemas.openxmlformats.org/officeDocument/2006/relationships/notesSlide" Target="/ppt/notesSlides/notesSlide143.xml" Id="Rfa03332a4e0a42a4"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6.xml" Id="Rf13f8e9b653c4b48" /><Relationship Type="http://schemas.openxmlformats.org/officeDocument/2006/relationships/notesSlide" Target="/ppt/notesSlides/notesSlide144.xml" Id="R67271401816642ba"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6.xml" Id="Rd8f1617761cd47bb" /><Relationship Type="http://schemas.openxmlformats.org/officeDocument/2006/relationships/notesSlide" Target="/ppt/notesSlides/notesSlide145.xml" Id="R6b8f027a903749e5"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6.xml" Id="R517eae8475fa4702" /><Relationship Type="http://schemas.openxmlformats.org/officeDocument/2006/relationships/notesSlide" Target="/ppt/notesSlides/notesSlide146.xml" Id="R0ec462b9205740c4"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6.xml" Id="Rf0d00a4ae1ce4c0c" /><Relationship Type="http://schemas.openxmlformats.org/officeDocument/2006/relationships/notesSlide" Target="/ppt/notesSlides/notesSlide147.xml" Id="R31bfc08772e3405a"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6.xml" Id="Rd5ae490677db4367" /><Relationship Type="http://schemas.openxmlformats.org/officeDocument/2006/relationships/notesSlide" Target="/ppt/notesSlides/notesSlide148.xml" Id="R7700438ec7f1416b"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6.xml" Id="R079ade93f27a4d7c" /><Relationship Type="http://schemas.openxmlformats.org/officeDocument/2006/relationships/notesSlide" Target="/ppt/notesSlides/notesSlide149.xml" Id="Rb1c40728a8d6419f"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6.xml" Id="Rd33ba88ba15e4a5a" /><Relationship Type="http://schemas.openxmlformats.org/officeDocument/2006/relationships/notesSlide" Target="/ppt/notesSlides/notesSlide150.xml" Id="R3e309a4198974bf6"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6.xml" Id="Rc4de3c0d43f44178" /><Relationship Type="http://schemas.openxmlformats.org/officeDocument/2006/relationships/notesSlide" Target="/ppt/notesSlides/notesSlide151.xml" Id="R828da71f5ffb492f" /></Relationships>
</file>

<file path=ppt/slides/_rels/slide152.xml.rels>&#65279;<?xml version="1.0" encoding="utf-8"?><Relationships xmlns="http://schemas.openxmlformats.org/package/2006/relationships"><Relationship Type="http://schemas.openxmlformats.org/officeDocument/2006/relationships/slideLayout" Target="/ppt/slideLayouts/slideLayout6.xml" Id="R72f0bfd0d2494504" /><Relationship Type="http://schemas.openxmlformats.org/officeDocument/2006/relationships/notesSlide" Target="/ppt/notesSlides/notesSlide152.xml" Id="R900209ea29df4c1e" /></Relationships>
</file>

<file path=ppt/slides/_rels/slide153.xml.rels>&#65279;<?xml version="1.0" encoding="utf-8"?><Relationships xmlns="http://schemas.openxmlformats.org/package/2006/relationships"><Relationship Type="http://schemas.openxmlformats.org/officeDocument/2006/relationships/slideLayout" Target="/ppt/slideLayouts/slideLayout6.xml" Id="R5176bf6bc182434c" /><Relationship Type="http://schemas.openxmlformats.org/officeDocument/2006/relationships/notesSlide" Target="/ppt/notesSlides/notesSlide153.xml" Id="R7f4d3e06b93a409c" /></Relationships>
</file>

<file path=ppt/slides/_rels/slide154.xml.rels>&#65279;<?xml version="1.0" encoding="utf-8"?><Relationships xmlns="http://schemas.openxmlformats.org/package/2006/relationships"><Relationship Type="http://schemas.openxmlformats.org/officeDocument/2006/relationships/slideLayout" Target="/ppt/slideLayouts/slideLayout6.xml" Id="Rf1b0add5c9dd4118" /><Relationship Type="http://schemas.openxmlformats.org/officeDocument/2006/relationships/notesSlide" Target="/ppt/notesSlides/notesSlide154.xml" Id="Rc5d53f98d75e4e69" /></Relationships>
</file>

<file path=ppt/slides/_rels/slide155.xml.rels>&#65279;<?xml version="1.0" encoding="utf-8"?><Relationships xmlns="http://schemas.openxmlformats.org/package/2006/relationships"><Relationship Type="http://schemas.openxmlformats.org/officeDocument/2006/relationships/slideLayout" Target="/ppt/slideLayouts/slideLayout6.xml" Id="Rddf524bb5e12431c" /><Relationship Type="http://schemas.openxmlformats.org/officeDocument/2006/relationships/notesSlide" Target="/ppt/notesSlides/notesSlide155.xml" Id="R6a0470c05b30448b" /></Relationships>
</file>

<file path=ppt/slides/_rels/slide156.xml.rels>&#65279;<?xml version="1.0" encoding="utf-8"?><Relationships xmlns="http://schemas.openxmlformats.org/package/2006/relationships"><Relationship Type="http://schemas.openxmlformats.org/officeDocument/2006/relationships/slideLayout" Target="/ppt/slideLayouts/slideLayout6.xml" Id="Re808967c08ec4095" /><Relationship Type="http://schemas.openxmlformats.org/officeDocument/2006/relationships/notesSlide" Target="/ppt/notesSlides/notesSlide156.xml" Id="Ra705909c69914182" /></Relationships>
</file>

<file path=ppt/slides/_rels/slide157.xml.rels>&#65279;<?xml version="1.0" encoding="utf-8"?><Relationships xmlns="http://schemas.openxmlformats.org/package/2006/relationships"><Relationship Type="http://schemas.openxmlformats.org/officeDocument/2006/relationships/slideLayout" Target="/ppt/slideLayouts/slideLayout6.xml" Id="Rb78d961f9686412a" /><Relationship Type="http://schemas.openxmlformats.org/officeDocument/2006/relationships/notesSlide" Target="/ppt/notesSlides/notesSlide157.xml" Id="R9962249717fc4712" /></Relationships>
</file>

<file path=ppt/slides/_rels/slide158.xml.rels>&#65279;<?xml version="1.0" encoding="utf-8"?><Relationships xmlns="http://schemas.openxmlformats.org/package/2006/relationships"><Relationship Type="http://schemas.openxmlformats.org/officeDocument/2006/relationships/slideLayout" Target="/ppt/slideLayouts/slideLayout6.xml" Id="R6433d0b4c44f4f0d" /><Relationship Type="http://schemas.openxmlformats.org/officeDocument/2006/relationships/notesSlide" Target="/ppt/notesSlides/notesSlide158.xml" Id="R064a5a67ebb1497e" /></Relationships>
</file>

<file path=ppt/slides/_rels/slide159.xml.rels>&#65279;<?xml version="1.0" encoding="utf-8"?><Relationships xmlns="http://schemas.openxmlformats.org/package/2006/relationships"><Relationship Type="http://schemas.openxmlformats.org/officeDocument/2006/relationships/slideLayout" Target="/ppt/slideLayouts/slideLayout6.xml" Id="R3a8c921243d34dbf" /><Relationship Type="http://schemas.openxmlformats.org/officeDocument/2006/relationships/notesSlide" Target="/ppt/notesSlides/notesSlide159.xml" Id="R5493415dda014666" /></Relationships>
</file>

<file path=ppt/slides/_rels/slide160.xml.rels>&#65279;<?xml version="1.0" encoding="utf-8"?><Relationships xmlns="http://schemas.openxmlformats.org/package/2006/relationships"><Relationship Type="http://schemas.openxmlformats.org/officeDocument/2006/relationships/slideLayout" Target="/ppt/slideLayouts/slideLayout6.xml" Id="Rf71ca158c7844d87" /><Relationship Type="http://schemas.openxmlformats.org/officeDocument/2006/relationships/notesSlide" Target="/ppt/notesSlides/notesSlide160.xml" Id="R28b587d40d7746a5" /></Relationships>
</file>

<file path=ppt/slides/_rels/slide161.xml.rels>&#65279;<?xml version="1.0" encoding="utf-8"?><Relationships xmlns="http://schemas.openxmlformats.org/package/2006/relationships"><Relationship Type="http://schemas.openxmlformats.org/officeDocument/2006/relationships/slideLayout" Target="/ppt/slideLayouts/slideLayout6.xml" Id="R494ec26ade4b415a" /><Relationship Type="http://schemas.openxmlformats.org/officeDocument/2006/relationships/notesSlide" Target="/ppt/notesSlides/notesSlide161.xml" Id="Re0d0e351038f4341" /></Relationships>
</file>

<file path=ppt/slides/_rels/slide162.xml.rels>&#65279;<?xml version="1.0" encoding="utf-8"?><Relationships xmlns="http://schemas.openxmlformats.org/package/2006/relationships"><Relationship Type="http://schemas.openxmlformats.org/officeDocument/2006/relationships/slideLayout" Target="/ppt/slideLayouts/slideLayout6.xml" Id="Re12dbdab1d314c7d" /><Relationship Type="http://schemas.openxmlformats.org/officeDocument/2006/relationships/notesSlide" Target="/ppt/notesSlides/notesSlide162.xml" Id="R0169a4c3167f4980" /></Relationships>
</file>

<file path=ppt/slides/_rels/slide163.xml.rels>&#65279;<?xml version="1.0" encoding="utf-8"?><Relationships xmlns="http://schemas.openxmlformats.org/package/2006/relationships"><Relationship Type="http://schemas.openxmlformats.org/officeDocument/2006/relationships/slideLayout" Target="/ppt/slideLayouts/slideLayout6.xml" Id="R70aad1fd3ff34e42" /><Relationship Type="http://schemas.openxmlformats.org/officeDocument/2006/relationships/notesSlide" Target="/ppt/notesSlides/notesSlide163.xml" Id="Ra93ed47233034772" /></Relationships>
</file>

<file path=ppt/slides/_rels/slide164.xml.rels>&#65279;<?xml version="1.0" encoding="utf-8"?><Relationships xmlns="http://schemas.openxmlformats.org/package/2006/relationships"><Relationship Type="http://schemas.openxmlformats.org/officeDocument/2006/relationships/slideLayout" Target="/ppt/slideLayouts/slideLayout6.xml" Id="R6b6a63e9bece4bb6" /><Relationship Type="http://schemas.openxmlformats.org/officeDocument/2006/relationships/notesSlide" Target="/ppt/notesSlides/notesSlide164.xml" Id="R7ec9f2ab5a954c5a" /></Relationships>
</file>

<file path=ppt/slides/_rels/slide165.xml.rels>&#65279;<?xml version="1.0" encoding="utf-8"?><Relationships xmlns="http://schemas.openxmlformats.org/package/2006/relationships"><Relationship Type="http://schemas.openxmlformats.org/officeDocument/2006/relationships/slideLayout" Target="/ppt/slideLayouts/slideLayout6.xml" Id="R38e0569e4e62474b" /><Relationship Type="http://schemas.openxmlformats.org/officeDocument/2006/relationships/notesSlide" Target="/ppt/notesSlides/notesSlide165.xml" Id="Rb6462ae7e84e4ab8" /></Relationships>
</file>

<file path=ppt/slides/_rels/slide166.xml.rels>&#65279;<?xml version="1.0" encoding="utf-8"?><Relationships xmlns="http://schemas.openxmlformats.org/package/2006/relationships"><Relationship Type="http://schemas.openxmlformats.org/officeDocument/2006/relationships/slideLayout" Target="/ppt/slideLayouts/slideLayout6.xml" Id="R85d75d2bd58a472c" /><Relationship Type="http://schemas.openxmlformats.org/officeDocument/2006/relationships/notesSlide" Target="/ppt/notesSlides/notesSlide166.xml" Id="R2bbe2375d4ee491f" /></Relationships>
</file>

<file path=ppt/slides/_rels/slide167.xml.rels>&#65279;<?xml version="1.0" encoding="utf-8"?><Relationships xmlns="http://schemas.openxmlformats.org/package/2006/relationships"><Relationship Type="http://schemas.openxmlformats.org/officeDocument/2006/relationships/slideLayout" Target="/ppt/slideLayouts/slideLayout6.xml" Id="R326a278eca1f4dc8" /><Relationship Type="http://schemas.openxmlformats.org/officeDocument/2006/relationships/notesSlide" Target="/ppt/notesSlides/notesSlide167.xml" Id="Re3b099c227fd4a01" /></Relationships>
</file>

<file path=ppt/slides/_rels/slide168.xml.rels>&#65279;<?xml version="1.0" encoding="utf-8"?><Relationships xmlns="http://schemas.openxmlformats.org/package/2006/relationships"><Relationship Type="http://schemas.openxmlformats.org/officeDocument/2006/relationships/slideLayout" Target="/ppt/slideLayouts/slideLayout6.xml" Id="Rd06af9341e984527" /><Relationship Type="http://schemas.openxmlformats.org/officeDocument/2006/relationships/notesSlide" Target="/ppt/notesSlides/notesSlide168.xml" Id="Rb7c57f910f034835" /></Relationships>
</file>

<file path=ppt/slides/_rels/slide169.xml.rels>&#65279;<?xml version="1.0" encoding="utf-8"?><Relationships xmlns="http://schemas.openxmlformats.org/package/2006/relationships"><Relationship Type="http://schemas.openxmlformats.org/officeDocument/2006/relationships/slideLayout" Target="/ppt/slideLayouts/slideLayout6.xml" Id="Rd1e7a48b35054a63" /><Relationship Type="http://schemas.openxmlformats.org/officeDocument/2006/relationships/notesSlide" Target="/ppt/notesSlides/notesSlide169.xml" Id="Rdec6d703d2214e3f" /></Relationships>
</file>

<file path=ppt/slides/_rels/slide170.xml.rels>&#65279;<?xml version="1.0" encoding="utf-8"?><Relationships xmlns="http://schemas.openxmlformats.org/package/2006/relationships"><Relationship Type="http://schemas.openxmlformats.org/officeDocument/2006/relationships/slideLayout" Target="/ppt/slideLayouts/slideLayout6.xml" Id="Re15cfd9a56fc4843" /><Relationship Type="http://schemas.openxmlformats.org/officeDocument/2006/relationships/notesSlide" Target="/ppt/notesSlides/notesSlide170.xml" Id="R1377a7c5642a4d32" /></Relationships>
</file>

<file path=ppt/slides/_rels/slide171.xml.rels>&#65279;<?xml version="1.0" encoding="utf-8"?><Relationships xmlns="http://schemas.openxmlformats.org/package/2006/relationships"><Relationship Type="http://schemas.openxmlformats.org/officeDocument/2006/relationships/slideLayout" Target="/ppt/slideLayouts/slideLayout6.xml" Id="Rca84c325d5fd44ad" /><Relationship Type="http://schemas.openxmlformats.org/officeDocument/2006/relationships/notesSlide" Target="/ppt/notesSlides/notesSlide171.xml" Id="R7d948645f95f4a5f" /></Relationships>
</file>

<file path=ppt/slides/_rels/slide172.xml.rels>&#65279;<?xml version="1.0" encoding="utf-8"?><Relationships xmlns="http://schemas.openxmlformats.org/package/2006/relationships"><Relationship Type="http://schemas.openxmlformats.org/officeDocument/2006/relationships/slideLayout" Target="/ppt/slideLayouts/slideLayout6.xml" Id="Ra22272f0c13f4939" /><Relationship Type="http://schemas.openxmlformats.org/officeDocument/2006/relationships/notesSlide" Target="/ppt/notesSlides/notesSlide172.xml" Id="Reb1fd0d06966486e" /></Relationships>
</file>

<file path=ppt/slides/_rels/slide173.xml.rels>&#65279;<?xml version="1.0" encoding="utf-8"?><Relationships xmlns="http://schemas.openxmlformats.org/package/2006/relationships"><Relationship Type="http://schemas.openxmlformats.org/officeDocument/2006/relationships/slideLayout" Target="/ppt/slideLayouts/slideLayout6.xml" Id="R69746d20b60f46b4" /><Relationship Type="http://schemas.openxmlformats.org/officeDocument/2006/relationships/notesSlide" Target="/ppt/notesSlides/notesSlide173.xml" Id="Ra16bdd2f08564e15" /></Relationships>
</file>

<file path=ppt/slides/_rels/slide174.xml.rels>&#65279;<?xml version="1.0" encoding="utf-8"?><Relationships xmlns="http://schemas.openxmlformats.org/package/2006/relationships"><Relationship Type="http://schemas.openxmlformats.org/officeDocument/2006/relationships/slideLayout" Target="/ppt/slideLayouts/slideLayout6.xml" Id="R742f084318cb4777" /><Relationship Type="http://schemas.openxmlformats.org/officeDocument/2006/relationships/notesSlide" Target="/ppt/notesSlides/notesSlide174.xml" Id="R3828fd5c7310454e" /></Relationships>
</file>

<file path=ppt/slides/_rels/slide175.xml.rels>&#65279;<?xml version="1.0" encoding="utf-8"?><Relationships xmlns="http://schemas.openxmlformats.org/package/2006/relationships"><Relationship Type="http://schemas.openxmlformats.org/officeDocument/2006/relationships/slideLayout" Target="/ppt/slideLayouts/slideLayout6.xml" Id="R84bff00a0c16482d" /><Relationship Type="http://schemas.openxmlformats.org/officeDocument/2006/relationships/notesSlide" Target="/ppt/notesSlides/notesSlide175.xml" Id="R56536c3610024603" /></Relationships>
</file>

<file path=ppt/slides/_rels/slide176.xml.rels>&#65279;<?xml version="1.0" encoding="utf-8"?><Relationships xmlns="http://schemas.openxmlformats.org/package/2006/relationships"><Relationship Type="http://schemas.openxmlformats.org/officeDocument/2006/relationships/slideLayout" Target="/ppt/slideLayouts/slideLayout6.xml" Id="R4f73e80f267a4f90" /><Relationship Type="http://schemas.openxmlformats.org/officeDocument/2006/relationships/notesSlide" Target="/ppt/notesSlides/notesSlide176.xml" Id="R660995011e994b74" /></Relationships>
</file>

<file path=ppt/slides/_rels/slide177.xml.rels>&#65279;<?xml version="1.0" encoding="utf-8"?><Relationships xmlns="http://schemas.openxmlformats.org/package/2006/relationships"><Relationship Type="http://schemas.openxmlformats.org/officeDocument/2006/relationships/slideLayout" Target="/ppt/slideLayouts/slideLayout6.xml" Id="Rd4533eee11ee4387" /><Relationship Type="http://schemas.openxmlformats.org/officeDocument/2006/relationships/notesSlide" Target="/ppt/notesSlides/notesSlide177.xml" Id="R83803d0c723c41a3" /></Relationships>
</file>

<file path=ppt/slides/_rels/slide178.xml.rels>&#65279;<?xml version="1.0" encoding="utf-8"?><Relationships xmlns="http://schemas.openxmlformats.org/package/2006/relationships"><Relationship Type="http://schemas.openxmlformats.org/officeDocument/2006/relationships/slideLayout" Target="/ppt/slideLayouts/slideLayout6.xml" Id="R0b0faa30f6ed4df1" /><Relationship Type="http://schemas.openxmlformats.org/officeDocument/2006/relationships/notesSlide" Target="/ppt/notesSlides/notesSlide178.xml" Id="Re6d7175a7e7742f9" /></Relationships>
</file>

<file path=ppt/slides/_rels/slide179.xml.rels>&#65279;<?xml version="1.0" encoding="utf-8"?><Relationships xmlns="http://schemas.openxmlformats.org/package/2006/relationships"><Relationship Type="http://schemas.openxmlformats.org/officeDocument/2006/relationships/slideLayout" Target="/ppt/slideLayouts/slideLayout6.xml" Id="Ra4e482cf3436403c" /><Relationship Type="http://schemas.openxmlformats.org/officeDocument/2006/relationships/notesSlide" Target="/ppt/notesSlides/notesSlide179.xml" Id="Rcec3a0912f1644c7" /></Relationships>
</file>

<file path=ppt/slides/_rels/slide180.xml.rels>&#65279;<?xml version="1.0" encoding="utf-8"?><Relationships xmlns="http://schemas.openxmlformats.org/package/2006/relationships"><Relationship Type="http://schemas.openxmlformats.org/officeDocument/2006/relationships/slideLayout" Target="/ppt/slideLayouts/slideLayout6.xml" Id="R122bcb1bf1664051" /><Relationship Type="http://schemas.openxmlformats.org/officeDocument/2006/relationships/notesSlide" Target="/ppt/notesSlides/notesSlide180.xml" Id="R6c88cf225a444724" /></Relationships>
</file>

<file path=ppt/slides/_rels/slide181.xml.rels>&#65279;<?xml version="1.0" encoding="utf-8"?><Relationships xmlns="http://schemas.openxmlformats.org/package/2006/relationships"><Relationship Type="http://schemas.openxmlformats.org/officeDocument/2006/relationships/slideLayout" Target="/ppt/slideLayouts/slideLayout6.xml" Id="Rc59bdbff2132444d" /><Relationship Type="http://schemas.openxmlformats.org/officeDocument/2006/relationships/notesSlide" Target="/ppt/notesSlides/notesSlide181.xml" Id="R1dd14b373a20474a" /></Relationships>
</file>

<file path=ppt/slides/_rels/slide182.xml.rels>&#65279;<?xml version="1.0" encoding="utf-8"?><Relationships xmlns="http://schemas.openxmlformats.org/package/2006/relationships"><Relationship Type="http://schemas.openxmlformats.org/officeDocument/2006/relationships/slideLayout" Target="/ppt/slideLayouts/slideLayout6.xml" Id="Rb8d9eed06990416b" /><Relationship Type="http://schemas.openxmlformats.org/officeDocument/2006/relationships/notesSlide" Target="/ppt/notesSlides/notesSlide182.xml" Id="Rb9f1cb74b858482a" /></Relationships>
</file>

<file path=ppt/slides/_rels/slide183.xml.rels>&#65279;<?xml version="1.0" encoding="utf-8"?><Relationships xmlns="http://schemas.openxmlformats.org/package/2006/relationships"><Relationship Type="http://schemas.openxmlformats.org/officeDocument/2006/relationships/slideLayout" Target="/ppt/slideLayouts/slideLayout6.xml" Id="R1a51e468709c4865" /><Relationship Type="http://schemas.openxmlformats.org/officeDocument/2006/relationships/notesSlide" Target="/ppt/notesSlides/notesSlide183.xml" Id="Rb0f23176e4364535" /></Relationships>
</file>

<file path=ppt/slides/_rels/slide184.xml.rels>&#65279;<?xml version="1.0" encoding="utf-8"?><Relationships xmlns="http://schemas.openxmlformats.org/package/2006/relationships"><Relationship Type="http://schemas.openxmlformats.org/officeDocument/2006/relationships/slideLayout" Target="/ppt/slideLayouts/slideLayout6.xml" Id="Rf258a6f1cd2c46c7" /><Relationship Type="http://schemas.openxmlformats.org/officeDocument/2006/relationships/notesSlide" Target="/ppt/notesSlides/notesSlide184.xml" Id="R795156c424a7466b" /></Relationships>
</file>

<file path=ppt/slides/_rels/slide185.xml.rels>&#65279;<?xml version="1.0" encoding="utf-8"?><Relationships xmlns="http://schemas.openxmlformats.org/package/2006/relationships"><Relationship Type="http://schemas.openxmlformats.org/officeDocument/2006/relationships/slideLayout" Target="/ppt/slideLayouts/slideLayout6.xml" Id="R69d1bbdfa12e447a" /><Relationship Type="http://schemas.openxmlformats.org/officeDocument/2006/relationships/notesSlide" Target="/ppt/notesSlides/notesSlide185.xml" Id="R05d34a84bebb4252" /></Relationships>
</file>

<file path=ppt/slides/_rels/slide186.xml.rels>&#65279;<?xml version="1.0" encoding="utf-8"?><Relationships xmlns="http://schemas.openxmlformats.org/package/2006/relationships"><Relationship Type="http://schemas.openxmlformats.org/officeDocument/2006/relationships/slideLayout" Target="/ppt/slideLayouts/slideLayout6.xml" Id="Rfdfdff48a8da4ecf" /><Relationship Type="http://schemas.openxmlformats.org/officeDocument/2006/relationships/notesSlide" Target="/ppt/notesSlides/notesSlide186.xml" Id="Rededa311a75a4894" /></Relationships>
</file>

<file path=ppt/slides/_rels/slide187.xml.rels>&#65279;<?xml version="1.0" encoding="utf-8"?><Relationships xmlns="http://schemas.openxmlformats.org/package/2006/relationships"><Relationship Type="http://schemas.openxmlformats.org/officeDocument/2006/relationships/slideLayout" Target="/ppt/slideLayouts/slideLayout6.xml" Id="R66a289f4b3ae4c96" /><Relationship Type="http://schemas.openxmlformats.org/officeDocument/2006/relationships/notesSlide" Target="/ppt/notesSlides/notesSlide187.xml" Id="Ra3f3977d5a044716" /></Relationships>
</file>

<file path=ppt/slides/_rels/slide188.xml.rels>&#65279;<?xml version="1.0" encoding="utf-8"?><Relationships xmlns="http://schemas.openxmlformats.org/package/2006/relationships"><Relationship Type="http://schemas.openxmlformats.org/officeDocument/2006/relationships/slideLayout" Target="/ppt/slideLayouts/slideLayout6.xml" Id="R0124e2d30cb34d15" /><Relationship Type="http://schemas.openxmlformats.org/officeDocument/2006/relationships/notesSlide" Target="/ppt/notesSlides/notesSlide188.xml" Id="R3ab9c317732b47f5" /></Relationships>
</file>

<file path=ppt/slides/_rels/slide189.xml.rels>&#65279;<?xml version="1.0" encoding="utf-8"?><Relationships xmlns="http://schemas.openxmlformats.org/package/2006/relationships"><Relationship Type="http://schemas.openxmlformats.org/officeDocument/2006/relationships/slideLayout" Target="/ppt/slideLayouts/slideLayout6.xml" Id="R46c5ec3d7b7e435d" /><Relationship Type="http://schemas.openxmlformats.org/officeDocument/2006/relationships/notesSlide" Target="/ppt/notesSlides/notesSlide189.xml" Id="Reeb5a9b2b61643ca" /></Relationships>
</file>

<file path=ppt/slides/_rels/slide190.xml.rels>&#65279;<?xml version="1.0" encoding="utf-8"?><Relationships xmlns="http://schemas.openxmlformats.org/package/2006/relationships"><Relationship Type="http://schemas.openxmlformats.org/officeDocument/2006/relationships/slideLayout" Target="/ppt/slideLayouts/slideLayout6.xml" Id="R95973ee0a21a479e" /><Relationship Type="http://schemas.openxmlformats.org/officeDocument/2006/relationships/notesSlide" Target="/ppt/notesSlides/notesSlide190.xml" Id="R5c79a718031748d6" /></Relationships>
</file>

<file path=ppt/slides/_rels/slide191.xml.rels>&#65279;<?xml version="1.0" encoding="utf-8"?><Relationships xmlns="http://schemas.openxmlformats.org/package/2006/relationships"><Relationship Type="http://schemas.openxmlformats.org/officeDocument/2006/relationships/slideLayout" Target="/ppt/slideLayouts/slideLayout6.xml" Id="R46e4a314082e4b91" /><Relationship Type="http://schemas.openxmlformats.org/officeDocument/2006/relationships/notesSlide" Target="/ppt/notesSlides/notesSlide191.xml" Id="R21e5a16a89124c34" /></Relationships>
</file>

<file path=ppt/slides/_rels/slide192.xml.rels>&#65279;<?xml version="1.0" encoding="utf-8"?><Relationships xmlns="http://schemas.openxmlformats.org/package/2006/relationships"><Relationship Type="http://schemas.openxmlformats.org/officeDocument/2006/relationships/slideLayout" Target="/ppt/slideLayouts/slideLayout6.xml" Id="R82adea16e4e84f70" /><Relationship Type="http://schemas.openxmlformats.org/officeDocument/2006/relationships/notesSlide" Target="/ppt/notesSlides/notesSlide192.xml" Id="Rba0e7447c87641c0" /></Relationships>
</file>

<file path=ppt/slides/_rels/slide193.xml.rels>&#65279;<?xml version="1.0" encoding="utf-8"?><Relationships xmlns="http://schemas.openxmlformats.org/package/2006/relationships"><Relationship Type="http://schemas.openxmlformats.org/officeDocument/2006/relationships/slideLayout" Target="/ppt/slideLayouts/slideLayout6.xml" Id="Rbc9193e4944144e3" /><Relationship Type="http://schemas.openxmlformats.org/officeDocument/2006/relationships/notesSlide" Target="/ppt/notesSlides/notesSlide193.xml" Id="R0a7264018abd4d46" /></Relationships>
</file>

<file path=ppt/slides/_rels/slide194.xml.rels>&#65279;<?xml version="1.0" encoding="utf-8"?><Relationships xmlns="http://schemas.openxmlformats.org/package/2006/relationships"><Relationship Type="http://schemas.openxmlformats.org/officeDocument/2006/relationships/slideLayout" Target="/ppt/slideLayouts/slideLayout6.xml" Id="Ree38880568214ba3" /><Relationship Type="http://schemas.openxmlformats.org/officeDocument/2006/relationships/notesSlide" Target="/ppt/notesSlides/notesSlide194.xml" Id="Rb63a8002d61e45bc" /></Relationships>
</file>

<file path=ppt/slides/_rels/slide195.xml.rels>&#65279;<?xml version="1.0" encoding="utf-8"?><Relationships xmlns="http://schemas.openxmlformats.org/package/2006/relationships"><Relationship Type="http://schemas.openxmlformats.org/officeDocument/2006/relationships/slideLayout" Target="/ppt/slideLayouts/slideLayout6.xml" Id="R66ab6a19f4ef4962" /><Relationship Type="http://schemas.openxmlformats.org/officeDocument/2006/relationships/notesSlide" Target="/ppt/notesSlides/notesSlide195.xml" Id="Rd976f667db254b29" /></Relationships>
</file>

<file path=ppt/slides/_rels/slide196.xml.rels>&#65279;<?xml version="1.0" encoding="utf-8"?><Relationships xmlns="http://schemas.openxmlformats.org/package/2006/relationships"><Relationship Type="http://schemas.openxmlformats.org/officeDocument/2006/relationships/slideLayout" Target="/ppt/slideLayouts/slideLayout6.xml" Id="R4c58391a590e4c26" /><Relationship Type="http://schemas.openxmlformats.org/officeDocument/2006/relationships/notesSlide" Target="/ppt/notesSlides/notesSlide196.xml" Id="R3236e7ffd3a042e1" /></Relationships>
</file>

<file path=ppt/slides/_rels/slide197.xml.rels>&#65279;<?xml version="1.0" encoding="utf-8"?><Relationships xmlns="http://schemas.openxmlformats.org/package/2006/relationships"><Relationship Type="http://schemas.openxmlformats.org/officeDocument/2006/relationships/slideLayout" Target="/ppt/slideLayouts/slideLayout6.xml" Id="R4632a2730a984d7c" /><Relationship Type="http://schemas.openxmlformats.org/officeDocument/2006/relationships/notesSlide" Target="/ppt/notesSlides/notesSlide197.xml" Id="R9264c7e0026841f7" /></Relationships>
</file>

<file path=ppt/slides/_rels/slide198.xml.rels>&#65279;<?xml version="1.0" encoding="utf-8"?><Relationships xmlns="http://schemas.openxmlformats.org/package/2006/relationships"><Relationship Type="http://schemas.openxmlformats.org/officeDocument/2006/relationships/slideLayout" Target="/ppt/slideLayouts/slideLayout6.xml" Id="R093dfaa18b7f4d4d" /><Relationship Type="http://schemas.openxmlformats.org/officeDocument/2006/relationships/notesSlide" Target="/ppt/notesSlides/notesSlide198.xml" Id="R5adc3e1db3a9442a" /></Relationships>
</file>

<file path=ppt/slides/_rels/slide199.xml.rels>&#65279;<?xml version="1.0" encoding="utf-8"?><Relationships xmlns="http://schemas.openxmlformats.org/package/2006/relationships"><Relationship Type="http://schemas.openxmlformats.org/officeDocument/2006/relationships/slideLayout" Target="/ppt/slideLayouts/slideLayout6.xml" Id="Rc51c2e77a54e49cb" /><Relationship Type="http://schemas.openxmlformats.org/officeDocument/2006/relationships/notesSlide" Target="/ppt/notesSlides/notesSlide199.xml" Id="R004a28c4deb644fd" /></Relationships>
</file>

<file path=ppt/slides/_rels/slide200.xml.rels>&#65279;<?xml version="1.0" encoding="utf-8"?><Relationships xmlns="http://schemas.openxmlformats.org/package/2006/relationships"><Relationship Type="http://schemas.openxmlformats.org/officeDocument/2006/relationships/slideLayout" Target="/ppt/slideLayouts/slideLayout6.xml" Id="Rb51d3016b8684df6" /><Relationship Type="http://schemas.openxmlformats.org/officeDocument/2006/relationships/notesSlide" Target="/ppt/notesSlides/notesSlide200.xml" Id="Rac09cf53691742fc" /></Relationships>
</file>

<file path=ppt/slides/_rels/slide201.xml.rels>&#65279;<?xml version="1.0" encoding="utf-8"?><Relationships xmlns="http://schemas.openxmlformats.org/package/2006/relationships"><Relationship Type="http://schemas.openxmlformats.org/officeDocument/2006/relationships/slideLayout" Target="/ppt/slideLayouts/slideLayout6.xml" Id="R2f98895590464c61" /><Relationship Type="http://schemas.openxmlformats.org/officeDocument/2006/relationships/notesSlide" Target="/ppt/notesSlides/notesSlide201.xml" Id="Ra1b84c035bd348d6" /></Relationships>
</file>

<file path=ppt/slides/_rels/slide202.xml.rels>&#65279;<?xml version="1.0" encoding="utf-8"?><Relationships xmlns="http://schemas.openxmlformats.org/package/2006/relationships"><Relationship Type="http://schemas.openxmlformats.org/officeDocument/2006/relationships/slideLayout" Target="/ppt/slideLayouts/slideLayout6.xml" Id="Rc18f9c312e7e422b" /><Relationship Type="http://schemas.openxmlformats.org/officeDocument/2006/relationships/notesSlide" Target="/ppt/notesSlides/notesSlide202.xml" Id="R293951ee32724616" /></Relationships>
</file>

<file path=ppt/slides/_rels/slide203.xml.rels>&#65279;<?xml version="1.0" encoding="utf-8"?><Relationships xmlns="http://schemas.openxmlformats.org/package/2006/relationships"><Relationship Type="http://schemas.openxmlformats.org/officeDocument/2006/relationships/slideLayout" Target="/ppt/slideLayouts/slideLayout6.xml" Id="Rf5c8af54b3024bab" /><Relationship Type="http://schemas.openxmlformats.org/officeDocument/2006/relationships/notesSlide" Target="/ppt/notesSlides/notesSlide203.xml" Id="R7d047de4c8d044cc" /></Relationships>
</file>

<file path=ppt/slides/slide1.xml><?xml version="1.0" encoding="utf-8"?>
<p:sld xmlns:p="http://schemas.openxmlformats.org/presentationml/2006/main">
  <p:cSld>
    <p:bg>
      <p:bgPr>
        <a:solidFill xmlns:a="http://schemas.openxmlformats.org/drawingml/2006/main">
          <a:srgbClr val="173E48"/>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1105AA1-FD92-4431-836A-09703FEEDAEB}"/>
              </a:ext>
            </a:extLst>
          </p:cNvPr>
          <p:cNvSpPr>
            <a:spLocks xmlns:a="http://schemas.openxmlformats.org/drawingml/2006/main" noGrp="1"/>
          </p:cNvSpPr>
          <p:nvPr/>
        </p:nvSpPr>
        <p:spPr>
          <a:xfrm xmlns:a="http://schemas.openxmlformats.org/drawingml/2006/main">
            <a:off x="685800" y="1714500"/>
            <a:ext cx="10820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200" b="1">
                <a:solidFill>
                  <a:srgbClr val="FFFFFF"/>
                </a:solidFill>
                <a:latin typeface="DejaVu Sans"/>
                <a:ea typeface="DejaVu Sans"/>
                <a:cs typeface="DejaVu Sans"/>
              </a:defRPr>
            </a:defPPr>
            <a:lvl1pPr>
              <a:defRPr sz="4200" b="1">
                <a:solidFill>
                  <a:srgbClr val="FFFFFF"/>
                </a:solidFill>
                <a:latin typeface="DejaVu Sans"/>
                <a:ea typeface="DejaVu Sans"/>
                <a:cs typeface="DejaVu Sans"/>
              </a:defRPr>
            </a:lvl1pPr>
            <a:lvl2pPr>
              <a:defRPr sz="4200" b="1">
                <a:solidFill>
                  <a:srgbClr val="FFFFFF"/>
                </a:solidFill>
                <a:latin typeface="DejaVu Sans"/>
                <a:ea typeface="DejaVu Sans"/>
                <a:cs typeface="DejaVu Sans"/>
              </a:defRPr>
            </a:lvl2pPr>
            <a:lvl3pPr>
              <a:defRPr sz="4200" b="1">
                <a:solidFill>
                  <a:srgbClr val="FFFFFF"/>
                </a:solidFill>
                <a:latin typeface="DejaVu Sans"/>
                <a:ea typeface="DejaVu Sans"/>
                <a:cs typeface="DejaVu Sans"/>
              </a:defRPr>
            </a:lvl3pPr>
            <a:lvl4pPr>
              <a:defRPr sz="4200" b="1">
                <a:solidFill>
                  <a:srgbClr val="FFFFFF"/>
                </a:solidFill>
                <a:latin typeface="DejaVu Sans"/>
                <a:ea typeface="DejaVu Sans"/>
                <a:cs typeface="DejaVu Sans"/>
              </a:defRPr>
            </a:lvl4pPr>
            <a:lvl5pPr>
              <a:defRPr sz="4200" b="1">
                <a:solidFill>
                  <a:srgbClr val="FFFFFF"/>
                </a:solidFill>
                <a:latin typeface="DejaVu Sans"/>
                <a:ea typeface="DejaVu Sans"/>
                <a:cs typeface="DejaVu Sans"/>
              </a:defRPr>
            </a:lvl5pPr>
            <a:lvl6pPr>
              <a:defRPr sz="4200" b="1">
                <a:solidFill>
                  <a:srgbClr val="FFFFFF"/>
                </a:solidFill>
                <a:latin typeface="DejaVu Sans"/>
                <a:ea typeface="DejaVu Sans"/>
                <a:cs typeface="DejaVu Sans"/>
              </a:defRPr>
            </a:lvl6pPr>
            <a:lvl7pPr>
              <a:defRPr sz="4200" b="1">
                <a:solidFill>
                  <a:srgbClr val="FFFFFF"/>
                </a:solidFill>
                <a:latin typeface="DejaVu Sans"/>
                <a:ea typeface="DejaVu Sans"/>
                <a:cs typeface="DejaVu Sans"/>
              </a:defRPr>
            </a:lvl7pPr>
            <a:lvl8pPr>
              <a:defRPr sz="4200" b="1">
                <a:solidFill>
                  <a:srgbClr val="FFFFFF"/>
                </a:solidFill>
                <a:latin typeface="DejaVu Sans"/>
                <a:ea typeface="DejaVu Sans"/>
                <a:cs typeface="DejaVu Sans"/>
              </a:defRPr>
            </a:lvl8pPr>
            <a:lvl9pPr>
              <a:defRPr sz="4200" b="1">
                <a:solidFill>
                  <a:srgbClr val="FFFFFF"/>
                </a:solidFill>
                <a:latin typeface="DejaVu Sans"/>
                <a:ea typeface="DejaVu Sans"/>
                <a:cs typeface="DejaVu Sans"/>
              </a:defRPr>
            </a:lvl9pPr>
          </a:lstStyle>
          <a:p xmlns:a="http://schemas.openxmlformats.org/drawingml/2006/main">
            <a:pPr>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Antibiotics: A Practical Primer for the Inpatient Resident</a:t>
            </a:r>
          </a:p>
        </p:txBody>
      </p:sp>
      <p:sp>
        <p:nvSpPr>
          <p:cNvPr id="2" name="subtitle">
            <a:extLst xmlns:a="http://schemas.openxmlformats.org/drawingml/2006/main">
              <a:ext uri="{FF2B5EF4-FFF2-40B4-BE49-F238E27FC236}">
                <a16:creationId xmlns:a16="http://schemas.microsoft.com/office/drawing/2014/main" id="{1A8942B4-EE2E-430C-8FC3-A82F2F7C44A0}"/>
              </a:ext>
            </a:extLst>
          </p:cNvPr>
          <p:cNvSpPr>
            <a:spLocks xmlns:a="http://schemas.openxmlformats.org/drawingml/2006/main" noGrp="1"/>
          </p:cNvSpPr>
          <p:nvPr/>
        </p:nvSpPr>
        <p:spPr>
          <a:xfrm xmlns:a="http://schemas.openxmlformats.org/drawingml/2006/main">
            <a:off x="723900" y="514350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D7E8E8"/>
                </a:solidFill>
                <a:latin typeface="DejaVu Sans"/>
                <a:ea typeface="DejaVu Sans"/>
                <a:cs typeface="DejaVu Sans"/>
              </a:defRPr>
            </a:defPPr>
            <a:lvl1pPr>
              <a:defRPr sz="1950" b="0">
                <a:solidFill>
                  <a:srgbClr val="D7E8E8"/>
                </a:solidFill>
                <a:latin typeface="DejaVu Sans"/>
                <a:ea typeface="DejaVu Sans"/>
                <a:cs typeface="DejaVu Sans"/>
              </a:defRPr>
            </a:lvl1pPr>
            <a:lvl2pPr>
              <a:defRPr sz="1950" b="0">
                <a:solidFill>
                  <a:srgbClr val="D7E8E8"/>
                </a:solidFill>
                <a:latin typeface="DejaVu Sans"/>
                <a:ea typeface="DejaVu Sans"/>
                <a:cs typeface="DejaVu Sans"/>
              </a:defRPr>
            </a:lvl2pPr>
            <a:lvl3pPr>
              <a:defRPr sz="1950" b="0">
                <a:solidFill>
                  <a:srgbClr val="D7E8E8"/>
                </a:solidFill>
                <a:latin typeface="DejaVu Sans"/>
                <a:ea typeface="DejaVu Sans"/>
                <a:cs typeface="DejaVu Sans"/>
              </a:defRPr>
            </a:lvl3pPr>
            <a:lvl4pPr>
              <a:defRPr sz="1950" b="0">
                <a:solidFill>
                  <a:srgbClr val="D7E8E8"/>
                </a:solidFill>
                <a:latin typeface="DejaVu Sans"/>
                <a:ea typeface="DejaVu Sans"/>
                <a:cs typeface="DejaVu Sans"/>
              </a:defRPr>
            </a:lvl4pPr>
            <a:lvl5pPr>
              <a:defRPr sz="1950" b="0">
                <a:solidFill>
                  <a:srgbClr val="D7E8E8"/>
                </a:solidFill>
                <a:latin typeface="DejaVu Sans"/>
                <a:ea typeface="DejaVu Sans"/>
                <a:cs typeface="DejaVu Sans"/>
              </a:defRPr>
            </a:lvl5pPr>
            <a:lvl6pPr>
              <a:defRPr sz="1950" b="0">
                <a:solidFill>
                  <a:srgbClr val="D7E8E8"/>
                </a:solidFill>
                <a:latin typeface="DejaVu Sans"/>
                <a:ea typeface="DejaVu Sans"/>
                <a:cs typeface="DejaVu Sans"/>
              </a:defRPr>
            </a:lvl6pPr>
            <a:lvl7pPr>
              <a:defRPr sz="1950" b="0">
                <a:solidFill>
                  <a:srgbClr val="D7E8E8"/>
                </a:solidFill>
                <a:latin typeface="DejaVu Sans"/>
                <a:ea typeface="DejaVu Sans"/>
                <a:cs typeface="DejaVu Sans"/>
              </a:defRPr>
            </a:lvl7pPr>
            <a:lvl8pPr>
              <a:defRPr sz="1950" b="0">
                <a:solidFill>
                  <a:srgbClr val="D7E8E8"/>
                </a:solidFill>
                <a:latin typeface="DejaVu Sans"/>
                <a:ea typeface="DejaVu Sans"/>
                <a:cs typeface="DejaVu Sans"/>
              </a:defRPr>
            </a:lvl8pPr>
            <a:lvl9pPr>
              <a:defRPr sz="1950" b="0">
                <a:solidFill>
                  <a:srgbClr val="D7E8E8"/>
                </a:solidFill>
                <a:latin typeface="DejaVu Sans"/>
                <a:ea typeface="DejaVu Sans"/>
                <a:cs typeface="DejaVu Sans"/>
              </a:defRPr>
            </a:lvl9pPr>
          </a:lstStyle>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ID Practice Update</a:t>
            </a:r>
          </a:p>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Resident teaching and advanced reference</a:t>
            </a:r>
          </a:p>
        </p:txBody>
      </p:sp>
    </p:spTree>
    <p:extLst>
      <p:ext uri="{BB962C8B-B14F-4D97-AF65-F5344CB8AC3E}">
        <p14:creationId xmlns:p14="http://schemas.microsoft.com/office/powerpoint/2010/main" val="40091472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6384ECE-86EB-45E0-8ABF-6B80FE02DB8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What this primer is for</a:t>
            </a:r>
          </a:p>
        </p:txBody>
      </p:sp>
      <p:sp>
        <p:nvSpPr>
          <p:cNvPr id="2" name="paragraph-0">
            <a:extLst xmlns:a="http://schemas.openxmlformats.org/drawingml/2006/main">
              <a:ext uri="{FF2B5EF4-FFF2-40B4-BE49-F238E27FC236}">
                <a16:creationId xmlns:a16="http://schemas.microsoft.com/office/drawing/2014/main" id="{B6EC7AC3-E706-453A-9AF7-7F7B63140EFC}"/>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Most antibiotic errors on the wards are not failures to remember a mechanism. They come from treating a diagnosis that is not established, choosing a drug without accounting for the site or likely resistance, missing source control, or continuing the initial regimen after better information arrives.</a:t>
            </a:r>
          </a:p>
        </p:txBody>
      </p:sp>
      <p:sp>
        <p:nvSpPr>
          <p:cNvPr id="3" name="paragraph-1">
            <a:extLst xmlns:a="http://schemas.openxmlformats.org/drawingml/2006/main">
              <a:ext uri="{FF2B5EF4-FFF2-40B4-BE49-F238E27FC236}">
                <a16:creationId xmlns:a16="http://schemas.microsoft.com/office/drawing/2014/main" id="{5487B4DD-BE88-44D2-88F9-400CF94DECE8}"/>
              </a:ext>
            </a:extLst>
          </p:cNvPr>
          <p:cNvSpPr>
            <a:spLocks xmlns:a="http://schemas.openxmlformats.org/drawingml/2006/main" noGrp="1"/>
          </p:cNvSpPr>
          <p:nvPr/>
        </p:nvSpPr>
        <p:spPr>
          <a:xfrm xmlns:a="http://schemas.openxmlformats.org/drawingml/2006/main">
            <a:off x="647700" y="39719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focus is bedside decision-making. Use current pharmacy guidance, the local antibiogram, product labeling, and organism-specific guidelines for prescribing details.</a:t>
            </a:r>
          </a:p>
        </p:txBody>
      </p:sp>
      <p:sp>
        <p:nvSpPr>
          <p:cNvPr id="4" name="footer">
            <a:extLst xmlns:a="http://schemas.openxmlformats.org/drawingml/2006/main">
              <a:ext uri="{FF2B5EF4-FFF2-40B4-BE49-F238E27FC236}">
                <a16:creationId xmlns:a16="http://schemas.microsoft.com/office/drawing/2014/main" id="{D7AA5801-8ED7-447D-BD55-0F89282DE12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5919C40F-F075-4632-B217-492CD974A7F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a:t>
            </a:r>
          </a:p>
        </p:txBody>
      </p:sp>
    </p:spTree>
    <p:extLst>
      <p:ext uri="{BB962C8B-B14F-4D97-AF65-F5344CB8AC3E}">
        <p14:creationId xmlns:p14="http://schemas.microsoft.com/office/powerpoint/2010/main" val="6293324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FEB68ACE-A730-417C-8E65-6334F3FB5BD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By the end, you should be able to</a:t>
            </a:r>
          </a:p>
        </p:txBody>
      </p:sp>
      <p:sp>
        <p:nvSpPr>
          <p:cNvPr id="2" name="paragraph-0">
            <a:extLst xmlns:a="http://schemas.openxmlformats.org/drawingml/2006/main">
              <a:ext uri="{FF2B5EF4-FFF2-40B4-BE49-F238E27FC236}">
                <a16:creationId xmlns:a16="http://schemas.microsoft.com/office/drawing/2014/main" id="{2EA1869D-A64D-4354-9BD4-9751CC252E0E}"/>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Build an empiric regimen from the syndrome, severity, likely pathogens, prior microbiology, and local resistance data.</a:t>
            </a:r>
          </a:p>
        </p:txBody>
      </p:sp>
      <p:sp>
        <p:nvSpPr>
          <p:cNvPr id="3" name="paragraph-1">
            <a:extLst xmlns:a="http://schemas.openxmlformats.org/drawingml/2006/main">
              <a:ext uri="{FF2B5EF4-FFF2-40B4-BE49-F238E27FC236}">
                <a16:creationId xmlns:a16="http://schemas.microsoft.com/office/drawing/2014/main" id="{4F9E3FEA-128D-4FA0-8658-B9EF8EE93D07}"/>
              </a:ext>
            </a:extLst>
          </p:cNvPr>
          <p:cNvSpPr>
            <a:spLocks xmlns:a="http://schemas.openxmlformats.org/drawingml/2006/main" noGrp="1"/>
          </p:cNvSpPr>
          <p:nvPr/>
        </p:nvSpPr>
        <p:spPr>
          <a:xfrm xmlns:a="http://schemas.openxmlformats.org/drawingml/2006/main">
            <a:off x="647700" y="291465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Compare the practical coverage gaps of commonly used inpatient antibiotics, recognize the major restricted agents, and know when their use requires ID and pharmacy input.</a:t>
            </a:r>
          </a:p>
        </p:txBody>
      </p:sp>
      <p:sp>
        <p:nvSpPr>
          <p:cNvPr id="4" name="paragraph-2">
            <a:extLst xmlns:a="http://schemas.openxmlformats.org/drawingml/2006/main">
              <a:ext uri="{FF2B5EF4-FFF2-40B4-BE49-F238E27FC236}">
                <a16:creationId xmlns:a16="http://schemas.microsoft.com/office/drawing/2014/main" id="{CCF6F38D-D4DF-4534-8CE6-1EFCEDF20DBF}"/>
              </a:ext>
            </a:extLst>
          </p:cNvPr>
          <p:cNvSpPr>
            <a:spLocks xmlns:a="http://schemas.openxmlformats.org/drawingml/2006/main" noGrp="1"/>
          </p:cNvSpPr>
          <p:nvPr/>
        </p:nvSpPr>
        <p:spPr>
          <a:xfrm xmlns:a="http://schemas.openxmlformats.org/drawingml/2006/main">
            <a:off x="647700" y="42291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Recognize when dose, route, tissue penetration, toxicity, monitoring needs, or source control makes an apparently active drug a poor choice.</a:t>
            </a:r>
          </a:p>
        </p:txBody>
      </p:sp>
      <p:sp>
        <p:nvSpPr>
          <p:cNvPr id="5" name="footer">
            <a:extLst xmlns:a="http://schemas.openxmlformats.org/drawingml/2006/main">
              <a:ext uri="{FF2B5EF4-FFF2-40B4-BE49-F238E27FC236}">
                <a16:creationId xmlns:a16="http://schemas.microsoft.com/office/drawing/2014/main" id="{91F77CB3-7E44-4CCB-98AB-26C6367E72F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D09E8656-2C69-4151-A7E8-ED59E91FEEC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a:t>
            </a:r>
          </a:p>
        </p:txBody>
      </p:sp>
    </p:spTree>
    <p:extLst>
      <p:ext uri="{BB962C8B-B14F-4D97-AF65-F5344CB8AC3E}">
        <p14:creationId xmlns:p14="http://schemas.microsoft.com/office/powerpoint/2010/main" val="128058700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2DA7221-910A-4921-A5A0-835E8196B25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By the end, you should be able to</a:t>
            </a:r>
          </a:p>
        </p:txBody>
      </p:sp>
      <p:sp>
        <p:nvSpPr>
          <p:cNvPr id="2" name="paragraph-0">
            <a:extLst xmlns:a="http://schemas.openxmlformats.org/drawingml/2006/main">
              <a:ext uri="{FF2B5EF4-FFF2-40B4-BE49-F238E27FC236}">
                <a16:creationId xmlns:a16="http://schemas.microsoft.com/office/drawing/2014/main" id="{BE699883-233C-49E3-B73B-4EBC3A671B2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Narrow, stop, or transition therapy when the clinical and microbiologic data permit.</a:t>
            </a:r>
          </a:p>
        </p:txBody>
      </p:sp>
      <p:sp>
        <p:nvSpPr>
          <p:cNvPr id="3" name="paragraph-1">
            <a:extLst xmlns:a="http://schemas.openxmlformats.org/drawingml/2006/main">
              <a:ext uri="{FF2B5EF4-FFF2-40B4-BE49-F238E27FC236}">
                <a16:creationId xmlns:a16="http://schemas.microsoft.com/office/drawing/2014/main" id="{EC2F65C5-7C4D-4CAF-9E40-4A9A50BD9EF0}"/>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Explain what the major antibiotic trials did and did not establish.</a:t>
            </a:r>
          </a:p>
        </p:txBody>
      </p:sp>
      <p:sp>
        <p:nvSpPr>
          <p:cNvPr id="4" name="paragraph-2">
            <a:extLst xmlns:a="http://schemas.openxmlformats.org/drawingml/2006/main">
              <a:ext uri="{FF2B5EF4-FFF2-40B4-BE49-F238E27FC236}">
                <a16:creationId xmlns:a16="http://schemas.microsoft.com/office/drawing/2014/main" id="{B5084DCC-EAFE-47E0-95CF-A6F9BB8381FC}"/>
              </a:ext>
            </a:extLst>
          </p:cNvPr>
          <p:cNvSpPr>
            <a:spLocks xmlns:a="http://schemas.openxmlformats.org/drawingml/2006/main" noGrp="1"/>
          </p:cNvSpPr>
          <p:nvPr/>
        </p:nvSpPr>
        <p:spPr>
          <a:xfrm xmlns:a="http://schemas.openxmlformats.org/drawingml/2006/main">
            <a:off x="647700" y="352425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 local guidance at the bedside. Check the current formulary, renal adjustment guidance, vancomycin monitoring workflow, local antibiogram, and actual susceptibility report before prescribing.</a:t>
            </a:r>
          </a:p>
        </p:txBody>
      </p:sp>
      <p:sp>
        <p:nvSpPr>
          <p:cNvPr id="5" name="footer">
            <a:extLst xmlns:a="http://schemas.openxmlformats.org/drawingml/2006/main">
              <a:ext uri="{FF2B5EF4-FFF2-40B4-BE49-F238E27FC236}">
                <a16:creationId xmlns:a16="http://schemas.microsoft.com/office/drawing/2014/main" id="{5BAABDE9-E651-4939-81CC-911A35FBF21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F9429B6F-9D3D-44B0-B058-87C194C2BAD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a:t>
            </a:r>
          </a:p>
        </p:txBody>
      </p:sp>
    </p:spTree>
    <p:extLst>
      <p:ext uri="{BB962C8B-B14F-4D97-AF65-F5344CB8AC3E}">
        <p14:creationId xmlns:p14="http://schemas.microsoft.com/office/powerpoint/2010/main" val="17113848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C665F24-05EE-4AE8-B922-7464F6AD9B7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By the end, you should be able to</a:t>
            </a:r>
          </a:p>
        </p:txBody>
      </p:sp>
      <p:sp>
        <p:nvSpPr>
          <p:cNvPr id="2" name="paragraph-0">
            <a:extLst xmlns:a="http://schemas.openxmlformats.org/drawingml/2006/main">
              <a:ext uri="{FF2B5EF4-FFF2-40B4-BE49-F238E27FC236}">
                <a16:creationId xmlns:a16="http://schemas.microsoft.com/office/drawing/2014/main" id="{CB552391-35BA-4B49-A7F0-E8816073DB12}"/>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This is primarily a resident primer. Residents should complete the main text. Fellows should know the same material and continue through the brief fellow section on resistance mechanisms, difficult treatment choices, and pipeline agents.</a:t>
            </a:r>
          </a:p>
        </p:txBody>
      </p:sp>
      <p:sp>
        <p:nvSpPr>
          <p:cNvPr id="3" name="footer">
            <a:extLst xmlns:a="http://schemas.openxmlformats.org/drawingml/2006/main">
              <a:ext uri="{FF2B5EF4-FFF2-40B4-BE49-F238E27FC236}">
                <a16:creationId xmlns:a16="http://schemas.microsoft.com/office/drawing/2014/main" id="{16E0E525-9E27-48F3-9161-8A99CDCCB02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FC1AFEC-B99F-4AF8-8E01-D01BDE3DC7B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a:t>
            </a:r>
          </a:p>
        </p:txBody>
      </p:sp>
    </p:spTree>
    <p:extLst>
      <p:ext uri="{BB962C8B-B14F-4D97-AF65-F5344CB8AC3E}">
        <p14:creationId xmlns:p14="http://schemas.microsoft.com/office/powerpoint/2010/main" val="9509570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996E366B-E034-4C98-8AE6-F147E20865D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Before choosing the drug</a:t>
            </a:r>
          </a:p>
        </p:txBody>
      </p:sp>
      <p:sp>
        <p:nvSpPr>
          <p:cNvPr id="2" name="paragraph-0">
            <a:extLst xmlns:a="http://schemas.openxmlformats.org/drawingml/2006/main">
              <a:ext uri="{FF2B5EF4-FFF2-40B4-BE49-F238E27FC236}">
                <a16:creationId xmlns:a16="http://schemas.microsoft.com/office/drawing/2014/main" id="{C1C86BB2-93A3-469F-9D47-B46975017F26}"/>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When someone asks, “What antibiotic should we use?” I usually need several other answers first. Sometimes the correct response is immediate broad therapy. Sometimes it is a better culture, drainage, or no antibiotic at all.</a:t>
            </a:r>
          </a:p>
        </p:txBody>
      </p:sp>
      <p:sp>
        <p:nvSpPr>
          <p:cNvPr id="3" name="paragraph-1">
            <a:extLst xmlns:a="http://schemas.openxmlformats.org/drawingml/2006/main">
              <a:ext uri="{FF2B5EF4-FFF2-40B4-BE49-F238E27FC236}">
                <a16:creationId xmlns:a16="http://schemas.microsoft.com/office/drawing/2014/main" id="{E05C778F-1B91-475A-80EA-7F690F2BCF13}"/>
              </a:ext>
            </a:extLst>
          </p:cNvPr>
          <p:cNvSpPr>
            <a:spLocks xmlns:a="http://schemas.openxmlformats.org/drawingml/2006/main" noGrp="1"/>
          </p:cNvSpPr>
          <p:nvPr/>
        </p:nvSpPr>
        <p:spPr>
          <a:xfrm xmlns:a="http://schemas.openxmlformats.org/drawingml/2006/main">
            <a:off x="647700" y="361950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Is there an infection? What findings support infection rather than colonization, inflammation, aspiration pneumonitis, or a contaminated specimen?</a:t>
            </a:r>
          </a:p>
        </p:txBody>
      </p:sp>
      <p:sp>
        <p:nvSpPr>
          <p:cNvPr id="4" name="paragraph-2">
            <a:extLst xmlns:a="http://schemas.openxmlformats.org/drawingml/2006/main">
              <a:ext uri="{FF2B5EF4-FFF2-40B4-BE49-F238E27FC236}">
                <a16:creationId xmlns:a16="http://schemas.microsoft.com/office/drawing/2014/main" id="{D4C41BDA-CE65-4D5B-A8B9-F4FD1EFC2946}"/>
              </a:ext>
            </a:extLst>
          </p:cNvPr>
          <p:cNvSpPr>
            <a:spLocks xmlns:a="http://schemas.openxmlformats.org/drawingml/2006/main" noGrp="1"/>
          </p:cNvSpPr>
          <p:nvPr/>
        </p:nvSpPr>
        <p:spPr>
          <a:xfrm xmlns:a="http://schemas.openxmlformats.org/drawingml/2006/main">
            <a:off x="647700" y="49339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How sick is the patient? Instability lowers the tolerance for missing a pathogen. A stable patient allows more diagnostic precision.</a:t>
            </a:r>
          </a:p>
        </p:txBody>
      </p:sp>
      <p:sp>
        <p:nvSpPr>
          <p:cNvPr id="5" name="footer">
            <a:extLst xmlns:a="http://schemas.openxmlformats.org/drawingml/2006/main">
              <a:ext uri="{FF2B5EF4-FFF2-40B4-BE49-F238E27FC236}">
                <a16:creationId xmlns:a16="http://schemas.microsoft.com/office/drawing/2014/main" id="{B53C37BA-DE51-4A79-8FFD-2D2EE7FA0C2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8709AD0F-C281-4C71-904E-3CFB3E89817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a:t>
            </a:r>
          </a:p>
        </p:txBody>
      </p:sp>
    </p:spTree>
    <p:extLst>
      <p:ext uri="{BB962C8B-B14F-4D97-AF65-F5344CB8AC3E}">
        <p14:creationId xmlns:p14="http://schemas.microsoft.com/office/powerpoint/2010/main" val="133572406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C6E78E1D-7162-4F88-83E3-3FAEAEC28D0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Before choosing the drug</a:t>
            </a:r>
          </a:p>
        </p:txBody>
      </p:sp>
      <p:sp>
        <p:nvSpPr>
          <p:cNvPr id="2" name="paragraph-0">
            <a:extLst xmlns:a="http://schemas.openxmlformats.org/drawingml/2006/main">
              <a:ext uri="{FF2B5EF4-FFF2-40B4-BE49-F238E27FC236}">
                <a16:creationId xmlns:a16="http://schemas.microsoft.com/office/drawing/2014/main" id="{3B7C0329-3E48-4A75-9AB2-A2C473658D62}"/>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Where is it? The syndrome determines likely organisms, penetration, source control, and duration.</a:t>
            </a:r>
          </a:p>
        </p:txBody>
      </p:sp>
      <p:sp>
        <p:nvSpPr>
          <p:cNvPr id="3" name="paragraph-1">
            <a:extLst xmlns:a="http://schemas.openxmlformats.org/drawingml/2006/main">
              <a:ext uri="{FF2B5EF4-FFF2-40B4-BE49-F238E27FC236}">
                <a16:creationId xmlns:a16="http://schemas.microsoft.com/office/drawing/2014/main" id="{C876D29A-052F-425A-9561-D1BE9B01E8AB}"/>
              </a:ext>
            </a:extLst>
          </p:cNvPr>
          <p:cNvSpPr>
            <a:spLocks xmlns:a="http://schemas.openxmlformats.org/drawingml/2006/main" noGrp="1"/>
          </p:cNvSpPr>
          <p:nvPr/>
        </p:nvSpPr>
        <p:spPr>
          <a:xfrm xmlns:a="http://schemas.openxmlformats.org/drawingml/2006/main">
            <a:off x="647700" y="29146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has grown before? Review prior cultures, recent antibiotics, healthcare exposure, devices, and the local antibiogram.</a:t>
            </a:r>
          </a:p>
        </p:txBody>
      </p:sp>
      <p:sp>
        <p:nvSpPr>
          <p:cNvPr id="4" name="paragraph-2">
            <a:extLst xmlns:a="http://schemas.openxmlformats.org/drawingml/2006/main">
              <a:ext uri="{FF2B5EF4-FFF2-40B4-BE49-F238E27FC236}">
                <a16:creationId xmlns:a16="http://schemas.microsoft.com/office/drawing/2014/main" id="{CD022F6C-CE63-4C3B-8458-F32402BDB5DF}"/>
              </a:ext>
            </a:extLst>
          </p:cNvPr>
          <p:cNvSpPr>
            <a:spLocks xmlns:a="http://schemas.openxmlformats.org/drawingml/2006/main" noGrp="1"/>
          </p:cNvSpPr>
          <p:nvPr/>
        </p:nvSpPr>
        <p:spPr>
          <a:xfrm xmlns:a="http://schemas.openxmlformats.org/drawingml/2006/main">
            <a:off x="647700" y="38766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will fix the source? Drainage, debridement, device removal, or relief of obstruction may matter more than adding another drug.</a:t>
            </a:r>
          </a:p>
        </p:txBody>
      </p:sp>
      <p:sp>
        <p:nvSpPr>
          <p:cNvPr id="5" name="paragraph-3">
            <a:extLst xmlns:a="http://schemas.openxmlformats.org/drawingml/2006/main">
              <a:ext uri="{FF2B5EF4-FFF2-40B4-BE49-F238E27FC236}">
                <a16:creationId xmlns:a16="http://schemas.microsoft.com/office/drawing/2014/main" id="{BBA8626A-58B1-4ECA-989A-0C8249A99F85}"/>
              </a:ext>
            </a:extLst>
          </p:cNvPr>
          <p:cNvSpPr>
            <a:spLocks xmlns:a="http://schemas.openxmlformats.org/drawingml/2006/main" noGrp="1"/>
          </p:cNvSpPr>
          <p:nvPr/>
        </p:nvSpPr>
        <p:spPr>
          <a:xfrm xmlns:a="http://schemas.openxmlformats.org/drawingml/2006/main">
            <a:off x="647700" y="48387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When will we reassess? Write what you expect to know in 24–72 hours and what would allow narrowing or stopping.</a:t>
            </a:r>
          </a:p>
        </p:txBody>
      </p:sp>
      <p:sp>
        <p:nvSpPr>
          <p:cNvPr id="6" name="footer">
            <a:extLst xmlns:a="http://schemas.openxmlformats.org/drawingml/2006/main">
              <a:ext uri="{FF2B5EF4-FFF2-40B4-BE49-F238E27FC236}">
                <a16:creationId xmlns:a16="http://schemas.microsoft.com/office/drawing/2014/main" id="{81E0DABE-D76B-4F68-AB4D-1B6C8A3A36C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7" name="number">
            <a:extLst xmlns:a="http://schemas.openxmlformats.org/drawingml/2006/main">
              <a:ext uri="{FF2B5EF4-FFF2-40B4-BE49-F238E27FC236}">
                <a16:creationId xmlns:a16="http://schemas.microsoft.com/office/drawing/2014/main" id="{59BDA24B-E9E2-49A8-8514-185849C2255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a:t>
            </a:r>
          </a:p>
        </p:txBody>
      </p:sp>
    </p:spTree>
    <p:extLst>
      <p:ext uri="{BB962C8B-B14F-4D97-AF65-F5344CB8AC3E}">
        <p14:creationId xmlns:p14="http://schemas.microsoft.com/office/powerpoint/2010/main" val="153313775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2261E53-9547-43C8-BCB1-DC0EBFD9A4D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For students and residents</a:t>
            </a:r>
          </a:p>
        </p:txBody>
      </p:sp>
      <p:sp>
        <p:nvSpPr>
          <p:cNvPr id="2" name="paragraph-0">
            <a:extLst xmlns:a="http://schemas.openxmlformats.org/drawingml/2006/main">
              <a:ext uri="{FF2B5EF4-FFF2-40B4-BE49-F238E27FC236}">
                <a16:creationId xmlns:a16="http://schemas.microsoft.com/office/drawing/2014/main" id="{FAA2A406-8CFE-4A01-B8BB-7E4525835282}"/>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Be able to state the syndrome, likely organisms, why the chosen drug covers them, what it misses, and what information will change the plan.</a:t>
            </a:r>
          </a:p>
        </p:txBody>
      </p:sp>
      <p:sp>
        <p:nvSpPr>
          <p:cNvPr id="3" name="footer">
            <a:extLst xmlns:a="http://schemas.openxmlformats.org/drawingml/2006/main">
              <a:ext uri="{FF2B5EF4-FFF2-40B4-BE49-F238E27FC236}">
                <a16:creationId xmlns:a16="http://schemas.microsoft.com/office/drawing/2014/main" id="{F481FF08-91CB-49F3-AE5C-C061B8886ED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82E2171-046B-4551-BBDB-969AEDE7F58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a:t>
            </a:r>
          </a:p>
        </p:txBody>
      </p:sp>
    </p:spTree>
    <p:extLst>
      <p:ext uri="{BB962C8B-B14F-4D97-AF65-F5344CB8AC3E}">
        <p14:creationId xmlns:p14="http://schemas.microsoft.com/office/powerpoint/2010/main" val="6042668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231DB59-E463-4C48-B1D5-CEFA6FCFBB7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 practical word about dosing</a:t>
            </a:r>
          </a:p>
        </p:txBody>
      </p:sp>
      <p:sp>
        <p:nvSpPr>
          <p:cNvPr id="2" name="paragraph-0">
            <a:extLst xmlns:a="http://schemas.openxmlformats.org/drawingml/2006/main">
              <a:ext uri="{FF2B5EF4-FFF2-40B4-BE49-F238E27FC236}">
                <a16:creationId xmlns:a16="http://schemas.microsoft.com/office/drawing/2014/main" id="{FFE0305B-3743-4C58-82A7-00AE3195D23A}"/>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 not memorize one dose for each drug. The same antibiotic may have different doses for cystitis, bacteremia, meningitis, obesity, augmented renal clearance, intermittent hemodialysis, or continuous renal replacement therapy. Loading doses are often based on volume of distribution and may still be needed in acute kidney injury; maintenance dosing is where renal clearance usually matters. For severe infection, verify the dose before the first administration rather than waiting for the next day’s rounds.</a:t>
            </a:r>
          </a:p>
        </p:txBody>
      </p:sp>
      <p:sp>
        <p:nvSpPr>
          <p:cNvPr id="3" name="footer">
            <a:extLst xmlns:a="http://schemas.openxmlformats.org/drawingml/2006/main">
              <a:ext uri="{FF2B5EF4-FFF2-40B4-BE49-F238E27FC236}">
                <a16:creationId xmlns:a16="http://schemas.microsoft.com/office/drawing/2014/main" id="{C8B59C44-158B-40EF-9CB3-9F1694CFD06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7B05336-D43B-4141-A0E5-7FD4BC81C50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a:t>
            </a:r>
          </a:p>
        </p:txBody>
      </p:sp>
    </p:spTree>
    <p:extLst>
      <p:ext uri="{BB962C8B-B14F-4D97-AF65-F5344CB8AC3E}">
        <p14:creationId xmlns:p14="http://schemas.microsoft.com/office/powerpoint/2010/main" val="69157828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F578AEF-D0EF-404F-A4D7-80362C24A45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 practical word about dosing</a:t>
            </a:r>
          </a:p>
        </p:txBody>
      </p:sp>
      <p:sp>
        <p:nvSpPr>
          <p:cNvPr id="2" name="paragraph-0">
            <a:extLst xmlns:a="http://schemas.openxmlformats.org/drawingml/2006/main">
              <a:ext uri="{FF2B5EF4-FFF2-40B4-BE49-F238E27FC236}">
                <a16:creationId xmlns:a16="http://schemas.microsoft.com/office/drawing/2014/main" id="{17871A4C-9F4A-45DE-BC56-E54EA616054B}"/>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Local practice: Beta-lactam infusion practices differ across sites and may change. Do not assume standard or extended infusion from this module. Use the current site-specific order set and pharmacy guidance.</a:t>
            </a:r>
          </a:p>
        </p:txBody>
      </p:sp>
      <p:sp>
        <p:nvSpPr>
          <p:cNvPr id="3" name="footer">
            <a:extLst xmlns:a="http://schemas.openxmlformats.org/drawingml/2006/main">
              <a:ext uri="{FF2B5EF4-FFF2-40B4-BE49-F238E27FC236}">
                <a16:creationId xmlns:a16="http://schemas.microsoft.com/office/drawing/2014/main" id="{1AB87ABC-E31E-4420-8089-C234775A17B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D4A106A-6840-4353-83C4-F90D4BE8720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a:t>
            </a:r>
          </a:p>
        </p:txBody>
      </p:sp>
    </p:spTree>
    <p:extLst>
      <p:ext uri="{BB962C8B-B14F-4D97-AF65-F5344CB8AC3E}">
        <p14:creationId xmlns:p14="http://schemas.microsoft.com/office/powerpoint/2010/main" val="203158960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896165C-B18F-4596-853B-7C2F8B2C5E3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Beta-lactams</a:t>
            </a:r>
          </a:p>
        </p:txBody>
      </p:sp>
      <p:sp>
        <p:nvSpPr>
          <p:cNvPr id="2" name="paragraph-0">
            <a:extLst xmlns:a="http://schemas.openxmlformats.org/drawingml/2006/main">
              <a:ext uri="{FF2B5EF4-FFF2-40B4-BE49-F238E27FC236}">
                <a16:creationId xmlns:a16="http://schemas.microsoft.com/office/drawing/2014/main" id="{29128699-95C7-4C35-BE29-295D1E3F8811}"/>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Beta-lactams are the backbone of inpatient therapy. For each one, know the usual spectrum and the important gaps. The table assumes a susceptible isolate. ESBL production, AmpC risk, carbapenemases, and local resistance can completely change the answer.</a:t>
            </a:r>
          </a:p>
        </p:txBody>
      </p:sp>
      <p:sp>
        <p:nvSpPr>
          <p:cNvPr id="3" name="footer">
            <a:extLst xmlns:a="http://schemas.openxmlformats.org/drawingml/2006/main">
              <a:ext uri="{FF2B5EF4-FFF2-40B4-BE49-F238E27FC236}">
                <a16:creationId xmlns:a16="http://schemas.microsoft.com/office/drawing/2014/main" id="{46DE2091-208B-417D-9ED3-AA5C1D0B17B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37DB662-7F4E-4C09-B769-5137FA6FCA6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a:t>
            </a:r>
          </a:p>
        </p:txBody>
      </p:sp>
    </p:spTree>
    <p:extLst>
      <p:ext uri="{BB962C8B-B14F-4D97-AF65-F5344CB8AC3E}">
        <p14:creationId xmlns:p14="http://schemas.microsoft.com/office/powerpoint/2010/main" val="33149120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F28C4B3-C29F-4646-8050-A127929C3C6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Beta-lactams</a:t>
            </a:r>
          </a:p>
        </p:txBody>
      </p:sp>
      <p:graphicFrame>
        <p:nvGraphicFramePr>
          <p:cNvPr id="2" name="">
            <a:extLst xmlns:a="http://schemas.openxmlformats.org/drawingml/2006/main">
              <a:ext uri="{FF2B5EF4-FFF2-40B4-BE49-F238E27FC236}">
                <a16:creationId xmlns:a16="http://schemas.microsoft.com/office/drawing/2014/main" id="{057E874F-5389-4E81-8B87-28F0B4420E58}"/>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Ampicillin or amoxicillin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Where it is commonly useful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Susceptible streptococci, Enterococcus faecalis , and Listeria .</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Important gaps and cautions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Klebsiella pneumoniae is intrinsically resistant to ampicillin. Activity against E. coli is too variable for routine empiric use. 12</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DE0A498-7356-4FCF-80B0-9CE060CDE84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8CF1C93-9E49-4D83-B684-6276FD7E8B2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a:t>
            </a:r>
          </a:p>
        </p:txBody>
      </p:sp>
    </p:spTree>
    <p:extLst>
      <p:ext uri="{BB962C8B-B14F-4D97-AF65-F5344CB8AC3E}">
        <p14:creationId xmlns:p14="http://schemas.microsoft.com/office/powerpoint/2010/main" val="4148774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9342804-A336-4A5B-9F1E-431016ACF80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Beta-lactams</a:t>
            </a:r>
          </a:p>
        </p:txBody>
      </p:sp>
      <p:graphicFrame>
        <p:nvGraphicFramePr>
          <p:cNvPr id="2" name="">
            <a:extLst xmlns:a="http://schemas.openxmlformats.org/drawingml/2006/main">
              <a:ext uri="{FF2B5EF4-FFF2-40B4-BE49-F238E27FC236}">
                <a16:creationId xmlns:a16="http://schemas.microsoft.com/office/drawing/2014/main" id="{F1335C90-275C-46E1-BCB6-B8C741B4AA47}"/>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Ampicillin-sulbactam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Where it is commonly useful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Streptococci, MSSA, susceptible E. faecalis , oral flora, and anaerobes. Commonly used for selected head and neck, aspiration-related, skin, and polymicrobial infections.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Important gaps and cautions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No Pseudomonas . Empiric E. coli and Klebsiella reliability depends on local susceptibility. CRAB dosing is a separate specialist use.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CDDFF293-BD53-4DE4-A267-665B5F9E893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410E074-7FA1-4E9C-A217-040CDD5D173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a:t>
            </a:r>
          </a:p>
        </p:txBody>
      </p:sp>
    </p:spTree>
    <p:extLst>
      <p:ext uri="{BB962C8B-B14F-4D97-AF65-F5344CB8AC3E}">
        <p14:creationId xmlns:p14="http://schemas.microsoft.com/office/powerpoint/2010/main" val="82735832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DCDD559-E95B-47AD-A44A-5A8FBC5FCC2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Beta-lactams</a:t>
            </a:r>
          </a:p>
        </p:txBody>
      </p:sp>
      <p:graphicFrame>
        <p:nvGraphicFramePr>
          <p:cNvPr id="2" name="">
            <a:extLst xmlns:a="http://schemas.openxmlformats.org/drawingml/2006/main">
              <a:ext uri="{FF2B5EF4-FFF2-40B4-BE49-F238E27FC236}">
                <a16:creationId xmlns:a16="http://schemas.microsoft.com/office/drawing/2014/main" id="{C3EA95DF-1237-49E4-B80C-A3CFBFD5D0C8}"/>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Piperacillin-tazobactam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Where it is commonly useful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Broad empiric coverage including susceptible E. coli , Klebsiella , Pseudomonas , anaerobes, streptococci, MSSA, and many E. faecalis isolates.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Important gaps and cautions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No MRSA. Do not assume activity against ESBL or AmpC organisms. It is not preferred definitive therapy for ESBL bloodstream infection.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E40A106-8C7F-453A-A1EB-6FEB50CEE77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C12C6B6-243D-4024-BC33-5DE85D74CC4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a:t>
            </a:r>
          </a:p>
        </p:txBody>
      </p:sp>
    </p:spTree>
    <p:extLst>
      <p:ext uri="{BB962C8B-B14F-4D97-AF65-F5344CB8AC3E}">
        <p14:creationId xmlns:p14="http://schemas.microsoft.com/office/powerpoint/2010/main" val="127185299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F1D2973-9717-4BD7-83C9-A11B4067C42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Beta-lactams</a:t>
            </a:r>
          </a:p>
        </p:txBody>
      </p:sp>
      <p:graphicFrame>
        <p:nvGraphicFramePr>
          <p:cNvPr id="2" name="">
            <a:extLst xmlns:a="http://schemas.openxmlformats.org/drawingml/2006/main">
              <a:ext uri="{FF2B5EF4-FFF2-40B4-BE49-F238E27FC236}">
                <a16:creationId xmlns:a16="http://schemas.microsoft.com/office/drawing/2014/main" id="{B10482F0-2BAC-4740-A225-381F1C2DD508}"/>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Cefazolin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Where it is commonly useful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MSSA, streptococci, and susceptible E. coli , Klebsiella , and Proteus mirabilis . Often preferred for MSSA infection.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Important gaps and cautions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No enterococci, MRSA, or Pseudomonas . Not a treatment for ESBL-producing isolates.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8C9524D0-31F0-4E52-8E66-9C32AD384B1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0C57A51-1C48-4673-A37A-587A738B86D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a:t>
            </a:r>
          </a:p>
        </p:txBody>
      </p:sp>
    </p:spTree>
    <p:extLst>
      <p:ext uri="{BB962C8B-B14F-4D97-AF65-F5344CB8AC3E}">
        <p14:creationId xmlns:p14="http://schemas.microsoft.com/office/powerpoint/2010/main" val="120466265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1FD1B45-AE1C-477F-BA96-03A7E7B28E2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Beta-lactams</a:t>
            </a:r>
          </a:p>
        </p:txBody>
      </p:sp>
      <p:graphicFrame>
        <p:nvGraphicFramePr>
          <p:cNvPr id="2" name="">
            <a:extLst xmlns:a="http://schemas.openxmlformats.org/drawingml/2006/main">
              <a:ext uri="{FF2B5EF4-FFF2-40B4-BE49-F238E27FC236}">
                <a16:creationId xmlns:a16="http://schemas.microsoft.com/office/drawing/2014/main" id="{8B198DE2-119B-4334-9A21-6B55768D23AD}"/>
              </a:ext>
            </a:extLst>
          </p:cNvPr>
          <p:cNvGraphicFramePr/>
          <p:nvPr/>
        </p:nvGraphicFramePr>
        <p:xfrm>
          <a:off xmlns:a="http://schemas.openxmlformats.org/drawingml/2006/main" x="647700" y="1866900"/>
          <a:ext xmlns:a="http://schemas.openxmlformats.org/drawingml/2006/main" cx="10896600" cy="34718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Ceftriaxone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Where it is commonly useful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Most streptococci, most pneumococci, and many susceptible Enterobacterales, including E. coli and Klebsiella . Useful for many community-onset infections.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Important gaps and cautions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No Pseudomonas , enterococci, or MRSA. Avoid as definitive therapy for invasive infection due to organisms at moderate risk of inducible AmpC, including Enterobacter cloacae complex, Klebsiella aerogenes , Citrobacter freundii , and Hafnia alvei . 1</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CC476CB4-2FB6-4ABC-A795-A894DF35AE6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08C27CD-8435-4125-8060-E287D47F714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a:t>
            </a:r>
          </a:p>
        </p:txBody>
      </p:sp>
    </p:spTree>
    <p:extLst>
      <p:ext uri="{BB962C8B-B14F-4D97-AF65-F5344CB8AC3E}">
        <p14:creationId xmlns:p14="http://schemas.microsoft.com/office/powerpoint/2010/main" val="12889167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8E6A47C-ED51-49A0-BA87-227C8420345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Beta-lactams</a:t>
            </a:r>
          </a:p>
        </p:txBody>
      </p:sp>
      <p:graphicFrame>
        <p:nvGraphicFramePr>
          <p:cNvPr id="2" name="">
            <a:extLst xmlns:a="http://schemas.openxmlformats.org/drawingml/2006/main">
              <a:ext uri="{FF2B5EF4-FFF2-40B4-BE49-F238E27FC236}">
                <a16:creationId xmlns:a16="http://schemas.microsoft.com/office/drawing/2014/main" id="{53EBAD39-8D3E-42F5-BC45-260D1FABC5E2}"/>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Cefepime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Where it is commonly useful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Susceptible Enterobacterales, including E. coli and Klebsiella , Pseudomonas , MSSA, and streptococci. Relatively stable against AmpC.</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Important gaps and cautions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No anaerobes, enterococci, or MRSA. Renal adjustment is essential; unexplained encephalopathy or myoclonus should raise concern for neurotoxicity.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D62A704-1A3A-42EA-951B-F8DB9F00EE1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CD72C91-D64B-427E-9220-97DEBEC377D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a:t>
            </a:r>
          </a:p>
        </p:txBody>
      </p:sp>
    </p:spTree>
    <p:extLst>
      <p:ext uri="{BB962C8B-B14F-4D97-AF65-F5344CB8AC3E}">
        <p14:creationId xmlns:p14="http://schemas.microsoft.com/office/powerpoint/2010/main" val="202591192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B30D832-6B91-41CA-8921-0646E236D41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Beta-lactams</a:t>
            </a:r>
          </a:p>
        </p:txBody>
      </p:sp>
      <p:graphicFrame>
        <p:nvGraphicFramePr>
          <p:cNvPr id="2" name="">
            <a:extLst xmlns:a="http://schemas.openxmlformats.org/drawingml/2006/main">
              <a:ext uri="{FF2B5EF4-FFF2-40B4-BE49-F238E27FC236}">
                <a16:creationId xmlns:a16="http://schemas.microsoft.com/office/drawing/2014/main" id="{CC15210D-7EE5-49DA-8155-6767CCEA16E9}"/>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Ertapenem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Where it is commonly useful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ESBL-producing E. coli or Klebsiella , susceptible mixed Enterobacterales, and anaerobes when a carbapenem is indicated.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Important gaps and cautions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No reliable Pseudomonas , Acinetobacter , enterococcal, or MRSA activity.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D4B7195-0581-438B-87E1-4BA65C29E63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DC39768-D0DC-44BA-9728-8CD9F185F05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a:t>
            </a:r>
          </a:p>
        </p:txBody>
      </p:sp>
    </p:spTree>
    <p:extLst>
      <p:ext uri="{BB962C8B-B14F-4D97-AF65-F5344CB8AC3E}">
        <p14:creationId xmlns:p14="http://schemas.microsoft.com/office/powerpoint/2010/main" val="147240558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A53600C-28D2-48C4-ACF9-07A5FB82388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Beta-lactams</a:t>
            </a:r>
          </a:p>
        </p:txBody>
      </p:sp>
      <p:graphicFrame>
        <p:nvGraphicFramePr>
          <p:cNvPr id="2" name="">
            <a:extLst xmlns:a="http://schemas.openxmlformats.org/drawingml/2006/main">
              <a:ext uri="{FF2B5EF4-FFF2-40B4-BE49-F238E27FC236}">
                <a16:creationId xmlns:a16="http://schemas.microsoft.com/office/drawing/2014/main" id="{5047803A-132F-454D-B481-FAF0BF71F1DC}"/>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Meropenem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Where it is commonly useful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Serious ESBL infection, many susceptible Enterobacterales, Pseudomonas , and anaerobes.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Important gaps and cautions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No MRSA and unreliable enterococcal activity. Preserve for situations where its spectrum or resistance stability is needed.</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274C0E5-0A13-4D7B-8404-6CBAEAECE13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658DAB0-375A-4EA1-90C1-5C2176513F4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a:t>
            </a:r>
          </a:p>
        </p:txBody>
      </p:sp>
    </p:spTree>
    <p:extLst>
      <p:ext uri="{BB962C8B-B14F-4D97-AF65-F5344CB8AC3E}">
        <p14:creationId xmlns:p14="http://schemas.microsoft.com/office/powerpoint/2010/main" val="68712193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9B91448-EB08-4FFB-8B99-43E8E2B8FDA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Beta-lactams</a:t>
            </a:r>
          </a:p>
        </p:txBody>
      </p:sp>
      <p:graphicFrame>
        <p:nvGraphicFramePr>
          <p:cNvPr id="2" name="">
            <a:extLst xmlns:a="http://schemas.openxmlformats.org/drawingml/2006/main">
              <a:ext uri="{FF2B5EF4-FFF2-40B4-BE49-F238E27FC236}">
                <a16:creationId xmlns:a16="http://schemas.microsoft.com/office/drawing/2014/main" id="{4A30FB02-E728-44DC-A24F-DF8B3F25B6F8}"/>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Aztreonam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Where it is commonly useful</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Targeted aerobic gram-negative coverage, including susceptible Pseudomonas , when preferred beta-lactams cannot be used.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80AE02B-1E4C-4516-A63D-DA487330A4D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05CD63E-AAD8-4D89-911D-90359CE7070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a:t>
            </a:r>
          </a:p>
        </p:txBody>
      </p:sp>
    </p:spTree>
    <p:extLst>
      <p:ext uri="{BB962C8B-B14F-4D97-AF65-F5344CB8AC3E}">
        <p14:creationId xmlns:p14="http://schemas.microsoft.com/office/powerpoint/2010/main" val="7679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B8D4D60-29BD-4A39-AC78-89856447987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Beta-lactams</a:t>
            </a:r>
          </a:p>
        </p:txBody>
      </p:sp>
      <p:graphicFrame>
        <p:nvGraphicFramePr>
          <p:cNvPr id="2" name="">
            <a:extLst xmlns:a="http://schemas.openxmlformats.org/drawingml/2006/main">
              <a:ext uri="{FF2B5EF4-FFF2-40B4-BE49-F238E27FC236}">
                <a16:creationId xmlns:a16="http://schemas.microsoft.com/office/drawing/2014/main" id="{FDEB6994-4FCE-4BE5-8D8D-B3AE1A486E79}"/>
              </a:ext>
            </a:extLst>
          </p:cNvPr>
          <p:cNvGraphicFramePr/>
          <p:nvPr/>
        </p:nvGraphicFramePr>
        <p:xfrm>
          <a:off xmlns:a="http://schemas.openxmlformats.org/drawingml/2006/main" x="647700" y="1866900"/>
          <a:ext xmlns:a="http://schemas.openxmlformats.org/drawingml/2006/main" cx="10896600" cy="32432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Aztreonam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705100">
                <a:tc>
                  <a:txBody>
                    <a:bodyPr lIns="114300" tIns="114300" rIns="114300" bIns="114300">
                      <a:noAutofit/>
                    </a:bodyPr>
                    <a:lstStyle/>
                    <a:p>
                      <a:r>
                        <a:rPr sz="1950" b="0">
                          <a:solidFill>
                            <a:srgbClr val="16323B"/>
                          </a:solidFill>
                          <a:latin typeface="DejaVu Sans"/>
                          <a:ea typeface="DejaVu Sans"/>
                          <a:cs typeface="DejaVu Sans"/>
                        </a:rPr>
                        <a:t>Important gaps and cautions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No gram-positive or anaerobic activity and unreliable empiric coverage for many resistant gram-negative organisms. It is usually a poor empiric monotherapy choice for a seriously ill patient. Avoid routine aztreonam when a better beta-lactam can be given safely. It usually has very low cross-reactivity with other beta-lactams, but it shares an identical R1 side chain with ceftazidime.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C418BD51-A19C-4DE4-AEF6-7B1CB1DB046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2663B48-2FF3-442D-AF19-EF0143DECEC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a:t>
            </a:r>
          </a:p>
        </p:txBody>
      </p:sp>
    </p:spTree>
    <p:extLst>
      <p:ext uri="{BB962C8B-B14F-4D97-AF65-F5344CB8AC3E}">
        <p14:creationId xmlns:p14="http://schemas.microsoft.com/office/powerpoint/2010/main" val="211745476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020C7F0-858C-4B51-A9EA-7BAF4250343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Beta-lactams</a:t>
            </a:r>
          </a:p>
        </p:txBody>
      </p:sp>
      <p:graphicFrame>
        <p:nvGraphicFramePr>
          <p:cNvPr id="2" name="">
            <a:extLst xmlns:a="http://schemas.openxmlformats.org/drawingml/2006/main">
              <a:ext uri="{FF2B5EF4-FFF2-40B4-BE49-F238E27FC236}">
                <a16:creationId xmlns:a16="http://schemas.microsoft.com/office/drawing/2014/main" id="{64D826A5-9863-4F1F-8C96-E35040CC1394}"/>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Aztreonam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Important gaps and cautions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 convincing immediate or severe ceftazidime allergy should prompt allergy-guided review rather than routine aztreonam use. 4 21</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C29F5FC3-3EDD-440E-AF1C-DE0A92C3A85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E7CC49F-D347-4C01-ADF0-57FBCB61A4A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a:t>
            </a:r>
          </a:p>
        </p:txBody>
      </p:sp>
    </p:spTree>
    <p:extLst>
      <p:ext uri="{BB962C8B-B14F-4D97-AF65-F5344CB8AC3E}">
        <p14:creationId xmlns:p14="http://schemas.microsoft.com/office/powerpoint/2010/main" val="63726891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0E83B99-B675-41C9-8833-15BFC64145B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Ceftaroline and ceftobiprole</a:t>
            </a:r>
          </a:p>
        </p:txBody>
      </p:sp>
      <p:graphicFrame>
        <p:nvGraphicFramePr>
          <p:cNvPr id="2" name="">
            <a:extLst xmlns:a="http://schemas.openxmlformats.org/drawingml/2006/main">
              <a:ext uri="{FF2B5EF4-FFF2-40B4-BE49-F238E27FC236}">
                <a16:creationId xmlns:a16="http://schemas.microsoft.com/office/drawing/2014/main" id="{83855EA8-3458-4DEA-A406-A7699758F3A7}"/>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Ceftaroline Teflaro</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What makes it different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 cephalosporin with MRSA activity. FDA-labeled uses are acute bacterial skin and skin-structure infection, including MRSA, and community-acquired bacterial pneumonia due to designated susceptible organisms. The pneumonia indication includes MSSA, not MRSA. 22</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BB46CB73-F55E-450C-84C2-D74BBAEE192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9F84C6C-C6E4-471E-ADB2-C334AB020B4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23</a:t>
            </a:r>
          </a:p>
        </p:txBody>
      </p:sp>
    </p:spTree>
    <p:extLst>
      <p:ext uri="{BB962C8B-B14F-4D97-AF65-F5344CB8AC3E}">
        <p14:creationId xmlns:p14="http://schemas.microsoft.com/office/powerpoint/2010/main" val="195366307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1867CC0-00C3-4840-B09A-CE1F00475C3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Ceftaroline and ceftobiprole</a:t>
            </a:r>
          </a:p>
        </p:txBody>
      </p:sp>
      <p:graphicFrame>
        <p:nvGraphicFramePr>
          <p:cNvPr id="2" name="">
            <a:extLst xmlns:a="http://schemas.openxmlformats.org/drawingml/2006/main">
              <a:ext uri="{FF2B5EF4-FFF2-40B4-BE49-F238E27FC236}">
                <a16:creationId xmlns:a16="http://schemas.microsoft.com/office/drawing/2014/main" id="{E63A9BB8-BA0C-4158-8FCA-94F3E261FA68}"/>
              </a:ext>
            </a:extLst>
          </p:cNvPr>
          <p:cNvGraphicFramePr/>
          <p:nvPr/>
        </p:nvGraphicFramePr>
        <p:xfrm>
          <a:off xmlns:a="http://schemas.openxmlformats.org/drawingml/2006/main" x="647700" y="1866900"/>
          <a:ext xmlns:a="http://schemas.openxmlformats.org/drawingml/2006/main" cx="10896600" cy="26241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Ceftaroline Teflaro</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085975">
                <a:tc>
                  <a:txBody>
                    <a:bodyPr lIns="114300" tIns="114300" rIns="114300" bIns="114300">
                      <a:noAutofit/>
                    </a:bodyPr>
                    <a:lstStyle/>
                    <a:p>
                      <a:r>
                        <a:rPr sz="1950" b="0">
                          <a:solidFill>
                            <a:srgbClr val="16323B"/>
                          </a:solidFill>
                          <a:latin typeface="DejaVu Sans"/>
                          <a:ea typeface="DejaVu Sans"/>
                          <a:cs typeface="DejaVu Sans"/>
                        </a:rPr>
                        <a:t>What residents should not assume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MRSA bacteremia and endocarditis use is off-label and is supported mainly by observational salvage and combination-therapy experience, not a definitive randomized bacteremia trial. Do not count on Pseudomonas , enterococci, atypical organisms, or clinically adequate anaerobic coverage.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E292F983-4E9A-442C-BA85-D207C0A8614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0E6E93C-C12E-442F-9624-F95CA38B3C8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24</a:t>
            </a:r>
          </a:p>
        </p:txBody>
      </p:sp>
    </p:spTree>
    <p:extLst>
      <p:ext uri="{BB962C8B-B14F-4D97-AF65-F5344CB8AC3E}">
        <p14:creationId xmlns:p14="http://schemas.microsoft.com/office/powerpoint/2010/main" val="113859766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798AF53-3C22-4C17-80B8-3E2235A86EE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Ceftaroline and ceftobiprole</a:t>
            </a:r>
          </a:p>
        </p:txBody>
      </p:sp>
      <p:graphicFrame>
        <p:nvGraphicFramePr>
          <p:cNvPr id="2" name="">
            <a:extLst xmlns:a="http://schemas.openxmlformats.org/drawingml/2006/main">
              <a:ext uri="{FF2B5EF4-FFF2-40B4-BE49-F238E27FC236}">
                <a16:creationId xmlns:a16="http://schemas.microsoft.com/office/drawing/2014/main" id="{E9ACE0E1-AB96-4355-9CE5-CD67E9C49363}"/>
              </a:ext>
            </a:extLst>
          </p:cNvPr>
          <p:cNvGraphicFramePr/>
          <p:nvPr/>
        </p:nvGraphicFramePr>
        <p:xfrm>
          <a:off xmlns:a="http://schemas.openxmlformats.org/drawingml/2006/main" x="647700" y="1866900"/>
          <a:ext xmlns:a="http://schemas.openxmlformats.org/drawingml/2006/main" cx="10896600" cy="26241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Ceftobiprole Zevtera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085975">
                <a:tc>
                  <a:txBody>
                    <a:bodyPr lIns="114300" tIns="114300" rIns="114300" bIns="114300">
                      <a:noAutofit/>
                    </a:bodyPr>
                    <a:lstStyle/>
                    <a:p>
                      <a:r>
                        <a:rPr sz="1950" b="0">
                          <a:solidFill>
                            <a:srgbClr val="16323B"/>
                          </a:solidFill>
                          <a:latin typeface="DejaVu Sans"/>
                          <a:ea typeface="DejaVu Sans"/>
                          <a:cs typeface="DejaVu Sans"/>
                        </a:rPr>
                        <a:t>What makes it different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 cephalosporin with activity against MSSA and MRSA. FDA-labeled uses include adult S. aureus bacteremia, including right-sided endocarditis, adult acute bacterial skin and skin-structure infection, and community-acquired bacterial pneumonia in adults and children at least 3 months old. 23</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270BF2AF-EBC0-4EE3-B8F7-C00D05A0314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20EC77A-BD64-468D-804B-4B8E1EB920C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25</a:t>
            </a:r>
          </a:p>
        </p:txBody>
      </p:sp>
    </p:spTree>
    <p:extLst>
      <p:ext uri="{BB962C8B-B14F-4D97-AF65-F5344CB8AC3E}">
        <p14:creationId xmlns:p14="http://schemas.microsoft.com/office/powerpoint/2010/main" val="135803745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93EECFB-39D4-4F1F-8ED6-608BA906192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Ceftaroline and ceftobiprole</a:t>
            </a:r>
          </a:p>
        </p:txBody>
      </p:sp>
      <p:graphicFrame>
        <p:nvGraphicFramePr>
          <p:cNvPr id="2" name="">
            <a:extLst xmlns:a="http://schemas.openxmlformats.org/drawingml/2006/main">
              <a:ext uri="{FF2B5EF4-FFF2-40B4-BE49-F238E27FC236}">
                <a16:creationId xmlns:a16="http://schemas.microsoft.com/office/drawing/2014/main" id="{F055E1F8-0E72-4690-A648-890AE0DC3B31}"/>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Ceftobiprole Zevtera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What residents should not assume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The bacteremia indication should not be stretched to left-sided endocarditis. It is not a dependable choice for Pseudomonas , ESBL-producing Enterobacterales, anaerobes, or atypical pneumonia pathogens. Confirm formulary status and susceptibility before use.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3EE0528-C391-4858-AC33-D88A9243F08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7BCDF01-9D1A-4B48-92AF-479F0930269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26</a:t>
            </a:r>
          </a:p>
        </p:txBody>
      </p:sp>
    </p:spTree>
    <p:extLst>
      <p:ext uri="{BB962C8B-B14F-4D97-AF65-F5344CB8AC3E}">
        <p14:creationId xmlns:p14="http://schemas.microsoft.com/office/powerpoint/2010/main" val="87769403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1D4EB1F-D293-412E-B2F8-466B117F6D2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Ceftaroline and ceftobiprole</a:t>
            </a:r>
          </a:p>
        </p:txBody>
      </p:sp>
      <p:sp>
        <p:nvSpPr>
          <p:cNvPr id="2" name="paragraph-0">
            <a:extLst xmlns:a="http://schemas.openxmlformats.org/drawingml/2006/main">
              <a:ext uri="{FF2B5EF4-FFF2-40B4-BE49-F238E27FC236}">
                <a16:creationId xmlns:a16="http://schemas.microsoft.com/office/drawing/2014/main" id="{846ED452-A2E3-4588-AB65-3A4255FEF76E}"/>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ERADICATE provides randomized trial data for ceftobiprole in complicated S. aureus bacteremia. Ceftobiprole was noninferior to daptomycin for overall treatment success: 69.8% compared with 68.7%. The adjusted difference was 2.0 percentage points, with a 95% confidence interval from −7.1 to 11.1. Ceftaroline does not have comparable randomized trial evidence for MRSA bacteremia. ERADICATE also should not be extrapolated to every endovascular infection. 24</a:t>
            </a:r>
          </a:p>
        </p:txBody>
      </p:sp>
      <p:sp>
        <p:nvSpPr>
          <p:cNvPr id="3" name="footer">
            <a:extLst xmlns:a="http://schemas.openxmlformats.org/drawingml/2006/main">
              <a:ext uri="{FF2B5EF4-FFF2-40B4-BE49-F238E27FC236}">
                <a16:creationId xmlns:a16="http://schemas.microsoft.com/office/drawing/2014/main" id="{C00A0E1D-620D-4D06-8B54-F08BDD81E69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AC80336-7A80-43FD-9A8C-F5D62768707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27</a:t>
            </a:r>
          </a:p>
        </p:txBody>
      </p:sp>
    </p:spTree>
    <p:extLst>
      <p:ext uri="{BB962C8B-B14F-4D97-AF65-F5344CB8AC3E}">
        <p14:creationId xmlns:p14="http://schemas.microsoft.com/office/powerpoint/2010/main" val="169804160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99A1A00-8373-4811-8A17-A1C8CA7B5B6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Ceftaroline and ceftobiprole</a:t>
            </a:r>
          </a:p>
        </p:txBody>
      </p:sp>
      <p:sp>
        <p:nvSpPr>
          <p:cNvPr id="2" name="paragraph-0">
            <a:extLst xmlns:a="http://schemas.openxmlformats.org/drawingml/2006/main">
              <a:ext uri="{FF2B5EF4-FFF2-40B4-BE49-F238E27FC236}">
                <a16:creationId xmlns:a16="http://schemas.microsoft.com/office/drawing/2014/main" id="{F2829D24-8159-4EDA-BA0C-A6180EB66FDA}"/>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Consider Klebsiella coverage separately from E. coli . Susceptible isolates may be covered by cefazolin, ceftriaxone, cefepime, piperacillin-tazobactam, or a carbapenem, depending on the syndrome and susceptibility result. Ampicillin is not active against K. pneumoniae . A carbapenem is generally preferred for invasive ESBL-producing K. pneumoniae infection. 1 12</a:t>
            </a:r>
          </a:p>
        </p:txBody>
      </p:sp>
      <p:sp>
        <p:nvSpPr>
          <p:cNvPr id="3" name="footer">
            <a:extLst xmlns:a="http://schemas.openxmlformats.org/drawingml/2006/main">
              <a:ext uri="{FF2B5EF4-FFF2-40B4-BE49-F238E27FC236}">
                <a16:creationId xmlns:a16="http://schemas.microsoft.com/office/drawing/2014/main" id="{B54FAB96-76DC-4F79-8377-2D437CFABD3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548DC98-60F6-4C91-B747-7DE0760E56B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28</a:t>
            </a:r>
          </a:p>
        </p:txBody>
      </p:sp>
    </p:spTree>
    <p:extLst>
      <p:ext uri="{BB962C8B-B14F-4D97-AF65-F5344CB8AC3E}">
        <p14:creationId xmlns:p14="http://schemas.microsoft.com/office/powerpoint/2010/main" val="146442445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604B7DC-D587-4A04-986C-61D3DFCF374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Resident essential: ESBL and AmpC are not interchangeable labels</a:t>
            </a:r>
          </a:p>
        </p:txBody>
      </p:sp>
      <p:sp>
        <p:nvSpPr>
          <p:cNvPr id="2" name="paragraph-0">
            <a:extLst xmlns:a="http://schemas.openxmlformats.org/drawingml/2006/main">
              <a:ext uri="{FF2B5EF4-FFF2-40B4-BE49-F238E27FC236}">
                <a16:creationId xmlns:a16="http://schemas.microsoft.com/office/drawing/2014/main" id="{297E97F4-1340-4DC2-AFF0-A9B12294AC0F}"/>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ESBL enzymes are most often encountered in E. coli , K. pneumoniae , and K. oxytoca and inactivate most penicillins, cephalosporins, and aztreonam. Carbapenems generally remain active. For organisms at moderate risk of clinically significant inducible AmpC, the 2026 IDSA guidance identifies E. cloacae complex, K. aerogenes , C. freundii , and H. alvei . Cefepime is generally effective when the MIC is in the susceptible or susceptible-dose-dependent range; ceftriaxone is not suggested for invasive infection with these organisms. 1</a:t>
            </a:r>
          </a:p>
        </p:txBody>
      </p:sp>
      <p:sp>
        <p:nvSpPr>
          <p:cNvPr id="3" name="footer">
            <a:extLst xmlns:a="http://schemas.openxmlformats.org/drawingml/2006/main">
              <a:ext uri="{FF2B5EF4-FFF2-40B4-BE49-F238E27FC236}">
                <a16:creationId xmlns:a16="http://schemas.microsoft.com/office/drawing/2014/main" id="{B176D51E-EE30-4964-9FF9-52494651008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9F13D25-E07D-4CF8-B735-F5114AE9820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29</a:t>
            </a:r>
          </a:p>
        </p:txBody>
      </p:sp>
    </p:spTree>
    <p:extLst>
      <p:ext uri="{BB962C8B-B14F-4D97-AF65-F5344CB8AC3E}">
        <p14:creationId xmlns:p14="http://schemas.microsoft.com/office/powerpoint/2010/main" val="43779259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AE5A995-21A8-4B68-B9DC-35F1C7287B5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Resident essential: ESBL and AmpC are not interchangeable labels</a:t>
            </a:r>
          </a:p>
        </p:txBody>
      </p:sp>
      <p:sp>
        <p:nvSpPr>
          <p:cNvPr id="2" name="paragraph-0">
            <a:extLst xmlns:a="http://schemas.openxmlformats.org/drawingml/2006/main">
              <a:ext uri="{FF2B5EF4-FFF2-40B4-BE49-F238E27FC236}">
                <a16:creationId xmlns:a16="http://schemas.microsoft.com/office/drawing/2014/main" id="{2316164E-0113-4D0C-8A6F-AD0503C6F004}"/>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HECK-Yes is a memory aid: Hafnia alvei , Enterobacter cloacae complex, Citrobacter freundii , Klebsiella aerogenes , and Yersinia enterocolitica .</a:t>
            </a:r>
          </a:p>
        </p:txBody>
      </p:sp>
      <p:sp>
        <p:nvSpPr>
          <p:cNvPr id="3" name="footer">
            <a:extLst xmlns:a="http://schemas.openxmlformats.org/drawingml/2006/main">
              <a:ext uri="{FF2B5EF4-FFF2-40B4-BE49-F238E27FC236}">
                <a16:creationId xmlns:a16="http://schemas.microsoft.com/office/drawing/2014/main" id="{7B831BE9-155C-4C33-A1A4-A6CD2BAAC7F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B1526DE-6E2C-4B87-AD3E-74CAC2A0786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30</a:t>
            </a:r>
          </a:p>
        </p:txBody>
      </p:sp>
    </p:spTree>
    <p:extLst>
      <p:ext uri="{BB962C8B-B14F-4D97-AF65-F5344CB8AC3E}">
        <p14:creationId xmlns:p14="http://schemas.microsoft.com/office/powerpoint/2010/main" val="150722000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47A2364-F41D-42A7-9CB4-937640BA624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Approach to a reported penicillin allergy</a:t>
            </a:r>
          </a:p>
        </p:txBody>
      </p:sp>
      <p:sp>
        <p:nvSpPr>
          <p:cNvPr id="2" name="paragraph-0">
            <a:extLst xmlns:a="http://schemas.openxmlformats.org/drawingml/2006/main">
              <a:ext uri="{FF2B5EF4-FFF2-40B4-BE49-F238E27FC236}">
                <a16:creationId xmlns:a16="http://schemas.microsoft.com/office/drawing/2014/main" id="{6BE7E21C-0E97-4FA8-AF96-7528BC26E893}"/>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 the treating institution’s allergy assessment pathway for patient-specific decisions.</a:t>
            </a:r>
          </a:p>
        </p:txBody>
      </p:sp>
      <p:sp>
        <p:nvSpPr>
          <p:cNvPr id="3" name="paragraph-1">
            <a:extLst xmlns:a="http://schemas.openxmlformats.org/drawingml/2006/main">
              <a:ext uri="{FF2B5EF4-FFF2-40B4-BE49-F238E27FC236}">
                <a16:creationId xmlns:a16="http://schemas.microsoft.com/office/drawing/2014/main" id="{E8E7549E-33DE-406B-8D69-EFA51C96C13D}"/>
              </a:ext>
            </a:extLst>
          </p:cNvPr>
          <p:cNvSpPr>
            <a:spLocks xmlns:a="http://schemas.openxmlformats.org/drawingml/2006/main" noGrp="1"/>
          </p:cNvSpPr>
          <p:nvPr/>
        </p:nvSpPr>
        <p:spPr>
          <a:xfrm xmlns:a="http://schemas.openxmlformats.org/drawingml/2006/main">
            <a:off x="647700" y="2914650"/>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Start with the history. Document the drug, timing, symptoms, treatment required, time since the reaction, and any beta-lactams tolerated afterward. Most reported penicillin allergies are not confirmed as current IgE-mediated allergy, but an incomplete history should be clarified rather than dismissed. 4</a:t>
            </a:r>
          </a:p>
        </p:txBody>
      </p:sp>
      <p:sp>
        <p:nvSpPr>
          <p:cNvPr id="4" name="footer">
            <a:extLst xmlns:a="http://schemas.openxmlformats.org/drawingml/2006/main">
              <a:ext uri="{FF2B5EF4-FFF2-40B4-BE49-F238E27FC236}">
                <a16:creationId xmlns:a16="http://schemas.microsoft.com/office/drawing/2014/main" id="{FA655013-2369-4018-AD2E-2A7E5216556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8435347A-97AA-44F5-93E1-C18237098D9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31</a:t>
            </a:r>
          </a:p>
        </p:txBody>
      </p:sp>
    </p:spTree>
    <p:extLst>
      <p:ext uri="{BB962C8B-B14F-4D97-AF65-F5344CB8AC3E}">
        <p14:creationId xmlns:p14="http://schemas.microsoft.com/office/powerpoint/2010/main" val="164100281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8A77CDC-4CDD-4FF2-8262-504DF350AB8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Approach to a reported penicillin allergy</a:t>
            </a:r>
          </a:p>
        </p:txBody>
      </p:sp>
      <p:graphicFrame>
        <p:nvGraphicFramePr>
          <p:cNvPr id="2" name="">
            <a:extLst xmlns:a="http://schemas.openxmlformats.org/drawingml/2006/main">
              <a:ext uri="{FF2B5EF4-FFF2-40B4-BE49-F238E27FC236}">
                <a16:creationId xmlns:a16="http://schemas.microsoft.com/office/drawing/2014/main" id="{9D4A9AC6-A4DC-45B0-A7AB-CDEC8031BEAD}"/>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Intolerance or nonallergic history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Typical features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Isolated nausea, diarrhea, headache, family history, or a label entered without a patient reaction.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Resident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Document the history accurately. These findings alone do not establish immune-mediated allergy.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42FA2C42-9976-4A99-AC47-06A55F41573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9330742-C4E7-4DE1-85BB-B76DA71CF51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32</a:t>
            </a:r>
          </a:p>
        </p:txBody>
      </p:sp>
    </p:spTree>
    <p:extLst>
      <p:ext uri="{BB962C8B-B14F-4D97-AF65-F5344CB8AC3E}">
        <p14:creationId xmlns:p14="http://schemas.microsoft.com/office/powerpoint/2010/main" val="127272189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5AB136C-EFB6-4771-A686-9712D838703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Approach to a reported penicillin allergy</a:t>
            </a:r>
          </a:p>
        </p:txBody>
      </p:sp>
      <p:graphicFrame>
        <p:nvGraphicFramePr>
          <p:cNvPr id="2" name="">
            <a:extLst xmlns:a="http://schemas.openxmlformats.org/drawingml/2006/main">
              <a:ext uri="{FF2B5EF4-FFF2-40B4-BE49-F238E27FC236}">
                <a16:creationId xmlns:a16="http://schemas.microsoft.com/office/drawing/2014/main" id="{939C6E14-D32C-4EC0-9873-6B0B27FF03E4}"/>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Possible immediate IgE-mediated reaction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Typical features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Urticaria, angioedema, bronchospasm, hypotension, or anaphylaxis beginning within minutes to several hours.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Resident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Confirm the culprit drug and timing. Follow the local allergy pathway and review side-chain relationships before selecting therapy.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EBF4E6A-1B66-4016-A2F4-B6A4E68E48E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FBC5273-3239-4C97-A145-28DC9C466DA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33</a:t>
            </a:r>
          </a:p>
        </p:txBody>
      </p:sp>
    </p:spTree>
    <p:extLst>
      <p:ext uri="{BB962C8B-B14F-4D97-AF65-F5344CB8AC3E}">
        <p14:creationId xmlns:p14="http://schemas.microsoft.com/office/powerpoint/2010/main" val="147078169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D4CA13A-4036-43C0-A8E0-69512856CD7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Approach to a reported penicillin allergy</a:t>
            </a:r>
          </a:p>
        </p:txBody>
      </p:sp>
      <p:graphicFrame>
        <p:nvGraphicFramePr>
          <p:cNvPr id="2" name="">
            <a:extLst xmlns:a="http://schemas.openxmlformats.org/drawingml/2006/main">
              <a:ext uri="{FF2B5EF4-FFF2-40B4-BE49-F238E27FC236}">
                <a16:creationId xmlns:a16="http://schemas.microsoft.com/office/drawing/2014/main" id="{311108FE-EBF0-4223-9AE0-F0F2FCD7C81F}"/>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Benign delayed eruption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Typical features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Morbilliform or maculopapular rash appearing after several days, without mucosal lesions, blistering, systemic illness, or organ injury.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Resident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Clarify the phenotype and subsequent tolerance. Selected patients may qualify for supervised challenge under the local pathway.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564EA30F-909D-4AD9-B7A3-289FD359F3C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B9C4ABA-F202-4B7D-A118-B1CE2930C7C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34</a:t>
            </a:r>
          </a:p>
        </p:txBody>
      </p:sp>
    </p:spTree>
    <p:extLst>
      <p:ext uri="{BB962C8B-B14F-4D97-AF65-F5344CB8AC3E}">
        <p14:creationId xmlns:p14="http://schemas.microsoft.com/office/powerpoint/2010/main" val="53836479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B769B9D-CC0C-4BFF-B84C-E77707FE2A6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Approach to a reported penicillin allergy</a:t>
            </a:r>
          </a:p>
        </p:txBody>
      </p:sp>
      <p:graphicFrame>
        <p:nvGraphicFramePr>
          <p:cNvPr id="2" name="">
            <a:extLst xmlns:a="http://schemas.openxmlformats.org/drawingml/2006/main">
              <a:ext uri="{FF2B5EF4-FFF2-40B4-BE49-F238E27FC236}">
                <a16:creationId xmlns:a16="http://schemas.microsoft.com/office/drawing/2014/main" id="{A9C31884-7C83-4B39-9DA4-02E8855D93C3}"/>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Severe delayed or organ-specific reaction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Typical features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SJS/TEN, DRESS, AGEP, interstitial nephritis, drug-induced liver injury, serum sickness, hemolytic anemia, or immune thrombocytopenia.</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Resident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Do not use PEN-FAST to clear the allergy or proceed to routine challenge. Avoid the culprit and obtain Allergy/Immunology or specialist guidance.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555F95F-60F7-4751-A244-D84D20E5907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EC97285-8E55-40AE-8926-70BCCD40F19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35</a:t>
            </a:r>
          </a:p>
        </p:txBody>
      </p:sp>
    </p:spTree>
    <p:extLst>
      <p:ext uri="{BB962C8B-B14F-4D97-AF65-F5344CB8AC3E}">
        <p14:creationId xmlns:p14="http://schemas.microsoft.com/office/powerpoint/2010/main" val="137949268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780FCB9-00BC-4912-AC6D-D030137EAB1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Beta-lactams</a:t>
            </a:r>
          </a:p>
        </p:txBody>
      </p:sp>
      <p:sp>
        <p:nvSpPr>
          <p:cNvPr id="2" name="paragraph-0">
            <a:extLst xmlns:a="http://schemas.openxmlformats.org/drawingml/2006/main">
              <a:ext uri="{FF2B5EF4-FFF2-40B4-BE49-F238E27FC236}">
                <a16:creationId xmlns:a16="http://schemas.microsoft.com/office/drawing/2014/main" id="{741818A8-597C-424C-A0FB-886F9275EA73}"/>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PEN-FAST</a:t>
            </a:r>
          </a:p>
        </p:txBody>
      </p:sp>
      <p:sp>
        <p:nvSpPr>
          <p:cNvPr id="3" name="footer">
            <a:extLst xmlns:a="http://schemas.openxmlformats.org/drawingml/2006/main">
              <a:ext uri="{FF2B5EF4-FFF2-40B4-BE49-F238E27FC236}">
                <a16:creationId xmlns:a16="http://schemas.microsoft.com/office/drawing/2014/main" id="{B813A142-EFFB-411A-97B8-F51F03BE711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CF4B0B7-F64D-4047-864F-D46A66BFBFA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36</a:t>
            </a:r>
          </a:p>
        </p:txBody>
      </p:sp>
    </p:spTree>
    <p:extLst>
      <p:ext uri="{BB962C8B-B14F-4D97-AF65-F5344CB8AC3E}">
        <p14:creationId xmlns:p14="http://schemas.microsoft.com/office/powerpoint/2010/main" val="1700574766"/>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8458EC8A-4D0D-4F53-9E02-E523FBA48AB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Scoring</a:t>
            </a:r>
          </a:p>
        </p:txBody>
      </p:sp>
      <p:sp>
        <p:nvSpPr>
          <p:cNvPr id="2" name="paragraph-0">
            <a:extLst xmlns:a="http://schemas.openxmlformats.org/drawingml/2006/main">
              <a:ext uri="{FF2B5EF4-FFF2-40B4-BE49-F238E27FC236}">
                <a16:creationId xmlns:a16="http://schemas.microsoft.com/office/drawing/2014/main" id="{2BCA134E-BA99-4880-9DCA-95AF1FBC5A65}"/>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 reaction within 5 years, or timing unknown: 2 points</a:t>
            </a:r>
          </a:p>
        </p:txBody>
      </p:sp>
      <p:sp>
        <p:nvSpPr>
          <p:cNvPr id="3" name="paragraph-1">
            <a:extLst xmlns:a="http://schemas.openxmlformats.org/drawingml/2006/main">
              <a:ext uri="{FF2B5EF4-FFF2-40B4-BE49-F238E27FC236}">
                <a16:creationId xmlns:a16="http://schemas.microsoft.com/office/drawing/2014/main" id="{5B4833DD-3D8A-4417-A3E0-10B8522765D9}"/>
              </a:ext>
            </a:extLst>
          </p:cNvPr>
          <p:cNvSpPr>
            <a:spLocks xmlns:a="http://schemas.openxmlformats.org/drawingml/2006/main" noGrp="1"/>
          </p:cNvSpPr>
          <p:nvPr/>
        </p:nvSpPr>
        <p:spPr>
          <a:xfrm xmlns:a="http://schemas.openxmlformats.org/drawingml/2006/main">
            <a:off x="647700" y="25622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or S: anaphylaxis or angioedema, or a severe cutaneous adverse reaction: 2 points</a:t>
            </a:r>
          </a:p>
        </p:txBody>
      </p:sp>
      <p:sp>
        <p:nvSpPr>
          <p:cNvPr id="4" name="paragraph-2">
            <a:extLst xmlns:a="http://schemas.openxmlformats.org/drawingml/2006/main">
              <a:ext uri="{FF2B5EF4-FFF2-40B4-BE49-F238E27FC236}">
                <a16:creationId xmlns:a16="http://schemas.microsoft.com/office/drawing/2014/main" id="{723AFEBE-82EC-47FF-9347-131848C49F82}"/>
              </a:ext>
            </a:extLst>
          </p:cNvPr>
          <p:cNvSpPr>
            <a:spLocks xmlns:a="http://schemas.openxmlformats.org/drawingml/2006/main" noGrp="1"/>
          </p:cNvSpPr>
          <p:nvPr/>
        </p:nvSpPr>
        <p:spPr>
          <a:xfrm xmlns:a="http://schemas.openxmlformats.org/drawingml/2006/main">
            <a:off x="647700" y="35242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 treatment required, or treatment unknown: 1 point</a:t>
            </a:r>
          </a:p>
        </p:txBody>
      </p:sp>
      <p:sp>
        <p:nvSpPr>
          <p:cNvPr id="5" name="footer">
            <a:extLst xmlns:a="http://schemas.openxmlformats.org/drawingml/2006/main">
              <a:ext uri="{FF2B5EF4-FFF2-40B4-BE49-F238E27FC236}">
                <a16:creationId xmlns:a16="http://schemas.microsoft.com/office/drawing/2014/main" id="{380FFD1F-2E90-4998-83F6-66F40EAD59A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61D17D7C-43A0-4EA9-92EB-BB6BFFBDC97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37</a:t>
            </a:r>
          </a:p>
        </p:txBody>
      </p:sp>
    </p:spTree>
    <p:extLst>
      <p:ext uri="{BB962C8B-B14F-4D97-AF65-F5344CB8AC3E}">
        <p14:creationId xmlns:p14="http://schemas.microsoft.com/office/powerpoint/2010/main" val="203570575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48A13A3D-5D5D-4310-AEA5-AD4CC22113E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Interpretation</a:t>
            </a:r>
          </a:p>
        </p:txBody>
      </p:sp>
      <p:sp>
        <p:nvSpPr>
          <p:cNvPr id="2" name="paragraph-0">
            <a:extLst xmlns:a="http://schemas.openxmlformats.org/drawingml/2006/main">
              <a:ext uri="{FF2B5EF4-FFF2-40B4-BE49-F238E27FC236}">
                <a16:creationId xmlns:a16="http://schemas.microsoft.com/office/drawing/2014/main" id="{3D0EA79D-D585-4796-A120-DE9B0FAE2BC9}"/>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0: very low risk, less than 1%</a:t>
            </a:r>
          </a:p>
        </p:txBody>
      </p:sp>
      <p:sp>
        <p:nvSpPr>
          <p:cNvPr id="3" name="paragraph-1">
            <a:extLst xmlns:a="http://schemas.openxmlformats.org/drawingml/2006/main">
              <a:ext uri="{FF2B5EF4-FFF2-40B4-BE49-F238E27FC236}">
                <a16:creationId xmlns:a16="http://schemas.microsoft.com/office/drawing/2014/main" id="{5A091270-03D2-47CA-B1D4-E551BE91D351}"/>
              </a:ext>
            </a:extLst>
          </p:cNvPr>
          <p:cNvSpPr>
            <a:spLocks xmlns:a="http://schemas.openxmlformats.org/drawingml/2006/main" noGrp="1"/>
          </p:cNvSpPr>
          <p:nvPr/>
        </p:nvSpPr>
        <p:spPr>
          <a:xfrm xmlns:a="http://schemas.openxmlformats.org/drawingml/2006/main">
            <a:off x="647700" y="25622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1–2: low risk, about 5%</a:t>
            </a:r>
          </a:p>
        </p:txBody>
      </p:sp>
      <p:sp>
        <p:nvSpPr>
          <p:cNvPr id="4" name="paragraph-2">
            <a:extLst xmlns:a="http://schemas.openxmlformats.org/drawingml/2006/main">
              <a:ext uri="{FF2B5EF4-FFF2-40B4-BE49-F238E27FC236}">
                <a16:creationId xmlns:a16="http://schemas.microsoft.com/office/drawing/2014/main" id="{64A68D0C-16B0-471C-B3A2-E98BE319B622}"/>
              </a:ext>
            </a:extLst>
          </p:cNvPr>
          <p:cNvSpPr>
            <a:spLocks xmlns:a="http://schemas.openxmlformats.org/drawingml/2006/main" noGrp="1"/>
          </p:cNvSpPr>
          <p:nvPr/>
        </p:nvSpPr>
        <p:spPr>
          <a:xfrm xmlns:a="http://schemas.openxmlformats.org/drawingml/2006/main">
            <a:off x="647700" y="31718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3: moderate risk, about 20%</a:t>
            </a:r>
          </a:p>
        </p:txBody>
      </p:sp>
      <p:sp>
        <p:nvSpPr>
          <p:cNvPr id="5" name="paragraph-3">
            <a:extLst xmlns:a="http://schemas.openxmlformats.org/drawingml/2006/main">
              <a:ext uri="{FF2B5EF4-FFF2-40B4-BE49-F238E27FC236}">
                <a16:creationId xmlns:a16="http://schemas.microsoft.com/office/drawing/2014/main" id="{AC6A6CAB-998E-4786-AC9F-03A2CB57F1AD}"/>
              </a:ext>
            </a:extLst>
          </p:cNvPr>
          <p:cNvSpPr>
            <a:spLocks xmlns:a="http://schemas.openxmlformats.org/drawingml/2006/main" noGrp="1"/>
          </p:cNvSpPr>
          <p:nvPr/>
        </p:nvSpPr>
        <p:spPr>
          <a:xfrm xmlns:a="http://schemas.openxmlformats.org/drawingml/2006/main">
            <a:off x="647700" y="37814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4–5: high risk, about 50%</a:t>
            </a:r>
          </a:p>
        </p:txBody>
      </p:sp>
      <p:sp>
        <p:nvSpPr>
          <p:cNvPr id="6" name="footer">
            <a:extLst xmlns:a="http://schemas.openxmlformats.org/drawingml/2006/main">
              <a:ext uri="{FF2B5EF4-FFF2-40B4-BE49-F238E27FC236}">
                <a16:creationId xmlns:a16="http://schemas.microsoft.com/office/drawing/2014/main" id="{06305D8A-91C1-43C2-84C6-819C0D4828A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7" name="number">
            <a:extLst xmlns:a="http://schemas.openxmlformats.org/drawingml/2006/main">
              <a:ext uri="{FF2B5EF4-FFF2-40B4-BE49-F238E27FC236}">
                <a16:creationId xmlns:a16="http://schemas.microsoft.com/office/drawing/2014/main" id="{6D991CB6-975C-465D-8AE0-6591B1585B2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38</a:t>
            </a:r>
          </a:p>
        </p:txBody>
      </p:sp>
    </p:spTree>
    <p:extLst>
      <p:ext uri="{BB962C8B-B14F-4D97-AF65-F5344CB8AC3E}">
        <p14:creationId xmlns:p14="http://schemas.microsoft.com/office/powerpoint/2010/main" val="54234098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8906C69-6443-45D6-AEB9-77A87F43E4F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Interpretation</a:t>
            </a:r>
          </a:p>
        </p:txBody>
      </p:sp>
      <p:sp>
        <p:nvSpPr>
          <p:cNvPr id="2" name="paragraph-0">
            <a:extLst xmlns:a="http://schemas.openxmlformats.org/drawingml/2006/main">
              <a:ext uri="{FF2B5EF4-FFF2-40B4-BE49-F238E27FC236}">
                <a16:creationId xmlns:a16="http://schemas.microsoft.com/office/drawing/2014/main" id="{BE2D57C3-3655-43D7-910E-B8053906A013}"/>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 PEN-FAST as a triage tool, not an order. A score below 3 had a negative predictive value of 96.3% in the original study. 13 The PEN-FAST calculator can help organize the history, but residents should not independently remove the allergy label or order a test dose or oral challenge. Suspected severe delayed reactions follow a separate pathway.</a:t>
            </a:r>
          </a:p>
        </p:txBody>
      </p:sp>
      <p:sp>
        <p:nvSpPr>
          <p:cNvPr id="3" name="footer">
            <a:extLst xmlns:a="http://schemas.openxmlformats.org/drawingml/2006/main">
              <a:ext uri="{FF2B5EF4-FFF2-40B4-BE49-F238E27FC236}">
                <a16:creationId xmlns:a16="http://schemas.microsoft.com/office/drawing/2014/main" id="{43D006ED-50CE-4E9B-B597-F6A6FFC172C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85D0844-ED36-413D-8D9F-1C4B55206F7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39</a:t>
            </a:r>
          </a:p>
        </p:txBody>
      </p:sp>
    </p:spTree>
    <p:extLst>
      <p:ext uri="{BB962C8B-B14F-4D97-AF65-F5344CB8AC3E}">
        <p14:creationId xmlns:p14="http://schemas.microsoft.com/office/powerpoint/2010/main" val="33378523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9386FB5-3C77-423A-869F-EFE44D8980D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Beta-lactams</a:t>
            </a:r>
          </a:p>
        </p:txBody>
      </p:sp>
      <p:sp>
        <p:nvSpPr>
          <p:cNvPr id="2" name="paragraph-0">
            <a:extLst xmlns:a="http://schemas.openxmlformats.org/drawingml/2006/main">
              <a:ext uri="{FF2B5EF4-FFF2-40B4-BE49-F238E27FC236}">
                <a16:creationId xmlns:a16="http://schemas.microsoft.com/office/drawing/2014/main" id="{F229BB29-9E04-427C-8257-5AB82F7090BA}"/>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Testing, challenge, and desensitization</a:t>
            </a:r>
          </a:p>
        </p:txBody>
      </p:sp>
      <p:sp>
        <p:nvSpPr>
          <p:cNvPr id="3" name="footer">
            <a:extLst xmlns:a="http://schemas.openxmlformats.org/drawingml/2006/main">
              <a:ext uri="{FF2B5EF4-FFF2-40B4-BE49-F238E27FC236}">
                <a16:creationId xmlns:a16="http://schemas.microsoft.com/office/drawing/2014/main" id="{D45D41CE-814A-4809-A1F6-4F1A56DA686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B8753CC-67C7-4EED-A36F-68D63F262E4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40</a:t>
            </a:r>
          </a:p>
        </p:txBody>
      </p:sp>
    </p:spTree>
    <p:extLst>
      <p:ext uri="{BB962C8B-B14F-4D97-AF65-F5344CB8AC3E}">
        <p14:creationId xmlns:p14="http://schemas.microsoft.com/office/powerpoint/2010/main" val="167463004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C40DEB4-87F7-472F-9AF7-2749A9365FC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Skin testing</a:t>
            </a:r>
          </a:p>
        </p:txBody>
      </p:sp>
      <p:sp>
        <p:nvSpPr>
          <p:cNvPr id="2" name="paragraph-0">
            <a:extLst xmlns:a="http://schemas.openxmlformats.org/drawingml/2006/main">
              <a:ext uri="{FF2B5EF4-FFF2-40B4-BE49-F238E27FC236}">
                <a16:creationId xmlns:a16="http://schemas.microsoft.com/office/drawing/2014/main" id="{20BC0279-6431-4F39-BE36-645FE272184D}"/>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Penicillin skin testing evaluates immediate IgE-mediated allergy. It may be followed by an oral amoxicillin challenge. It does not evaluate SJS/TEN, DRESS, AGEP, interstitial nephritis, serum sickness, hemolytic anemia, or other serious non-IgE reactions.</a:t>
            </a:r>
          </a:p>
        </p:txBody>
      </p:sp>
      <p:sp>
        <p:nvSpPr>
          <p:cNvPr id="3" name="footer">
            <a:extLst xmlns:a="http://schemas.openxmlformats.org/drawingml/2006/main">
              <a:ext uri="{FF2B5EF4-FFF2-40B4-BE49-F238E27FC236}">
                <a16:creationId xmlns:a16="http://schemas.microsoft.com/office/drawing/2014/main" id="{B6475534-C360-4FB2-8722-07B321F35A4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20A9E09-FF54-49A0-BF8E-0EB00F77322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41</a:t>
            </a:r>
          </a:p>
        </p:txBody>
      </p:sp>
    </p:spTree>
    <p:extLst>
      <p:ext uri="{BB962C8B-B14F-4D97-AF65-F5344CB8AC3E}">
        <p14:creationId xmlns:p14="http://schemas.microsoft.com/office/powerpoint/2010/main" val="106796524"/>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DD3CC92-A508-4FE5-8A8A-6924AB5DFCC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to involve Allergy/Immunology</a:t>
            </a:r>
          </a:p>
        </p:txBody>
      </p:sp>
      <p:sp>
        <p:nvSpPr>
          <p:cNvPr id="2" name="paragraph-0">
            <a:extLst xmlns:a="http://schemas.openxmlformats.org/drawingml/2006/main">
              <a:ext uri="{FF2B5EF4-FFF2-40B4-BE49-F238E27FC236}">
                <a16:creationId xmlns:a16="http://schemas.microsoft.com/office/drawing/2014/main" id="{A573C655-4957-4D5D-A8A6-454C88304B90}"/>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Consult when the allergy is forcing clearly inferior therapy, when the patient is likely to need repeated antibiotics because of transplant, chemotherapy, or another immunocompromising condition, or when several antimicrobial allergy labels substantially limit treatment.</a:t>
            </a:r>
          </a:p>
        </p:txBody>
      </p:sp>
      <p:sp>
        <p:nvSpPr>
          <p:cNvPr id="3" name="footer">
            <a:extLst xmlns:a="http://schemas.openxmlformats.org/drawingml/2006/main">
              <a:ext uri="{FF2B5EF4-FFF2-40B4-BE49-F238E27FC236}">
                <a16:creationId xmlns:a16="http://schemas.microsoft.com/office/drawing/2014/main" id="{1513A255-DAB0-4D59-8238-FF18D63CDB4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8264F5E-C193-4540-A6FE-DEBFD2BF18A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42</a:t>
            </a:r>
          </a:p>
        </p:txBody>
      </p:sp>
    </p:spTree>
    <p:extLst>
      <p:ext uri="{BB962C8B-B14F-4D97-AF65-F5344CB8AC3E}">
        <p14:creationId xmlns:p14="http://schemas.microsoft.com/office/powerpoint/2010/main" val="1008396210"/>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00A14C0-F6B0-4632-94E1-31E6FEAA29D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Graded challenge</a:t>
            </a:r>
          </a:p>
        </p:txBody>
      </p:sp>
      <p:sp>
        <p:nvSpPr>
          <p:cNvPr id="2" name="paragraph-0">
            <a:extLst xmlns:a="http://schemas.openxmlformats.org/drawingml/2006/main">
              <a:ext uri="{FF2B5EF4-FFF2-40B4-BE49-F238E27FC236}">
                <a16:creationId xmlns:a16="http://schemas.microsoft.com/office/drawing/2014/main" id="{F9E740F4-1F41-4C65-B3D5-D392EF581022}"/>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graded challenge assesses whether a low-risk patient tolerates the drug. It does not induce temporary tolerance. The eligibility and supervision for a challenge depend on the clinical setting and the evaluating team.</a:t>
            </a:r>
          </a:p>
        </p:txBody>
      </p:sp>
      <p:sp>
        <p:nvSpPr>
          <p:cNvPr id="3" name="footer">
            <a:extLst xmlns:a="http://schemas.openxmlformats.org/drawingml/2006/main">
              <a:ext uri="{FF2B5EF4-FFF2-40B4-BE49-F238E27FC236}">
                <a16:creationId xmlns:a16="http://schemas.microsoft.com/office/drawing/2014/main" id="{CC690BA2-8AE4-49A8-8FBA-93A9A6B5BE5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97282BC-9BE8-4BBB-8067-F264E8F403E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43</a:t>
            </a:r>
          </a:p>
        </p:txBody>
      </p:sp>
    </p:spTree>
    <p:extLst>
      <p:ext uri="{BB962C8B-B14F-4D97-AF65-F5344CB8AC3E}">
        <p14:creationId xmlns:p14="http://schemas.microsoft.com/office/powerpoint/2010/main" val="1625844404"/>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0742394-70EB-4DAB-BAAB-353665918EB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Desensitization</a:t>
            </a:r>
          </a:p>
        </p:txBody>
      </p:sp>
      <p:sp>
        <p:nvSpPr>
          <p:cNvPr id="2" name="paragraph-0">
            <a:extLst xmlns:a="http://schemas.openxmlformats.org/drawingml/2006/main">
              <a:ext uri="{FF2B5EF4-FFF2-40B4-BE49-F238E27FC236}">
                <a16:creationId xmlns:a16="http://schemas.microsoft.com/office/drawing/2014/main" id="{5E337E69-C116-4C65-8B47-D6292804E83B}"/>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Desensitization induces temporary tolerance when the preferred drug is required and an appropriate alternative is not available. It requires a supervised protocol and uninterrupted dosing. It is not a routine approach to severe delayed reactions.</a:t>
            </a:r>
          </a:p>
        </p:txBody>
      </p:sp>
      <p:sp>
        <p:nvSpPr>
          <p:cNvPr id="3" name="footer">
            <a:extLst xmlns:a="http://schemas.openxmlformats.org/drawingml/2006/main">
              <a:ext uri="{FF2B5EF4-FFF2-40B4-BE49-F238E27FC236}">
                <a16:creationId xmlns:a16="http://schemas.microsoft.com/office/drawing/2014/main" id="{9049EDBA-C269-458E-9535-BF3A89B5879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F4C0D59-54AD-486C-813D-DC4F843610E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44</a:t>
            </a:r>
          </a:p>
        </p:txBody>
      </p:sp>
    </p:spTree>
    <p:extLst>
      <p:ext uri="{BB962C8B-B14F-4D97-AF65-F5344CB8AC3E}">
        <p14:creationId xmlns:p14="http://schemas.microsoft.com/office/powerpoint/2010/main" val="1484587272"/>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53C786F-82C4-4578-95F5-6C64BEFB588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Cross-reactivity</a:t>
            </a:r>
          </a:p>
        </p:txBody>
      </p:sp>
      <p:sp>
        <p:nvSpPr>
          <p:cNvPr id="2" name="paragraph-0">
            <a:extLst xmlns:a="http://schemas.openxmlformats.org/drawingml/2006/main">
              <a:ext uri="{FF2B5EF4-FFF2-40B4-BE49-F238E27FC236}">
                <a16:creationId xmlns:a16="http://schemas.microsoft.com/office/drawing/2014/main" id="{F883AABC-78F4-472B-B2F2-4137438A4D61}"/>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Cross-reactivity is driven mainly by R1 side-chain similarity. For an unverified nonanaphylactic penicillin allergy without a severe delayed phenotype, the 2022 practice parameter supports routine cephalosporin administration without testing or added precautions. A structurally dissimilar cephalosporin such as cefazolin can also be given routinely after penicillin anaphylaxis under the practice parameter.</a:t>
            </a:r>
          </a:p>
        </p:txBody>
      </p:sp>
      <p:sp>
        <p:nvSpPr>
          <p:cNvPr id="3" name="paragraph-1">
            <a:extLst xmlns:a="http://schemas.openxmlformats.org/drawingml/2006/main">
              <a:ext uri="{FF2B5EF4-FFF2-40B4-BE49-F238E27FC236}">
                <a16:creationId xmlns:a16="http://schemas.microsoft.com/office/drawing/2014/main" id="{87D20460-6C4B-4F07-B8B6-6B97CD9515C7}"/>
              </a:ext>
            </a:extLst>
          </p:cNvPr>
          <p:cNvSpPr>
            <a:spLocks xmlns:a="http://schemas.openxmlformats.org/drawingml/2006/main" noGrp="1"/>
          </p:cNvSpPr>
          <p:nvPr/>
        </p:nvSpPr>
        <p:spPr>
          <a:xfrm xmlns:a="http://schemas.openxmlformats.org/drawingml/2006/main">
            <a:off x="647700" y="432435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Carbapenem cross-reactivity is very low, and the practice parameter supports carbapenem administration without testing or added precautions after penicillin or cephalosporin allergy, including anaphylaxis. Severe delayed reactions still require separate review. 4</a:t>
            </a:r>
          </a:p>
        </p:txBody>
      </p:sp>
      <p:sp>
        <p:nvSpPr>
          <p:cNvPr id="4" name="footer">
            <a:extLst xmlns:a="http://schemas.openxmlformats.org/drawingml/2006/main">
              <a:ext uri="{FF2B5EF4-FFF2-40B4-BE49-F238E27FC236}">
                <a16:creationId xmlns:a16="http://schemas.microsoft.com/office/drawing/2014/main" id="{CD18F08C-BBC4-4FA6-A4C9-4DF84444370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FFCFD136-9C27-415E-ABCE-F79059F1000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45</a:t>
            </a:r>
          </a:p>
        </p:txBody>
      </p:sp>
    </p:spTree>
    <p:extLst>
      <p:ext uri="{BB962C8B-B14F-4D97-AF65-F5344CB8AC3E}">
        <p14:creationId xmlns:p14="http://schemas.microsoft.com/office/powerpoint/2010/main" val="281225296"/>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51BD2A8-6BCE-4AC9-ACBD-B1B92EE349D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Cross-reactivity</a:t>
            </a:r>
          </a:p>
        </p:txBody>
      </p:sp>
      <p:graphicFrame>
        <p:nvGraphicFramePr>
          <p:cNvPr id="2" name="">
            <a:extLst xmlns:a="http://schemas.openxmlformats.org/drawingml/2006/main">
              <a:ext uri="{FF2B5EF4-FFF2-40B4-BE49-F238E27FC236}">
                <a16:creationId xmlns:a16="http://schemas.microsoft.com/office/drawing/2014/main" id="{10D8BEE2-D0C2-4A27-871F-05DAE1A71CBD}"/>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Amoxicillin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Higher-concern related drug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Cefadroxil</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Clinical significance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These share the same R1 side chain. A convincing immediate amoxicillin reaction deserves specific review before cefadroxil is used.</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C596E64-1A50-41D5-ADC2-6868AC7093B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104C017-4D5D-43B5-AAD8-D2C8D6A990E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46</a:t>
            </a:r>
          </a:p>
        </p:txBody>
      </p:sp>
    </p:spTree>
    <p:extLst>
      <p:ext uri="{BB962C8B-B14F-4D97-AF65-F5344CB8AC3E}">
        <p14:creationId xmlns:p14="http://schemas.microsoft.com/office/powerpoint/2010/main" val="1936086390"/>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A6093F7-D07E-439E-B008-F75C14E4768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Cross-reactivity</a:t>
            </a:r>
          </a:p>
        </p:txBody>
      </p:sp>
      <p:graphicFrame>
        <p:nvGraphicFramePr>
          <p:cNvPr id="2" name="">
            <a:extLst xmlns:a="http://schemas.openxmlformats.org/drawingml/2006/main">
              <a:ext uri="{FF2B5EF4-FFF2-40B4-BE49-F238E27FC236}">
                <a16:creationId xmlns:a16="http://schemas.microsoft.com/office/drawing/2014/main" id="{6DE15E02-277D-4F71-96A7-44293E6E12BC}"/>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Ampicillin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Higher-concern related drug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Cephalexin and cefaclor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Clinical significance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These have identical or closely related amino R1 side chains. Do not treat an ampicillin allergy label as a class-wide cephalosporin ban, but do not ignore the phenotype when choosing one of these drugs.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04E3D30-0D14-4FF6-9CCE-C4B9C19E86A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D7CE739-CFCA-405D-825E-A83640D34C2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47</a:t>
            </a:r>
          </a:p>
        </p:txBody>
      </p:sp>
    </p:spTree>
    <p:extLst>
      <p:ext uri="{BB962C8B-B14F-4D97-AF65-F5344CB8AC3E}">
        <p14:creationId xmlns:p14="http://schemas.microsoft.com/office/powerpoint/2010/main" val="246176729"/>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8964340-1B4D-47F2-ABDA-5D4B8BED2C6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Cross-reactivity</a:t>
            </a:r>
          </a:p>
        </p:txBody>
      </p:sp>
      <p:graphicFrame>
        <p:nvGraphicFramePr>
          <p:cNvPr id="2" name="">
            <a:extLst xmlns:a="http://schemas.openxmlformats.org/drawingml/2006/main">
              <a:ext uri="{FF2B5EF4-FFF2-40B4-BE49-F238E27FC236}">
                <a16:creationId xmlns:a16="http://schemas.microsoft.com/office/drawing/2014/main" id="{77A6935D-FA74-4BB8-9060-75466756C02E}"/>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Ceftazidime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Higher-concern related drug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Aztreonam</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Clinical significance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These share an identical R1 side chain. A convincing immediate or severe ceftazidime reaction should prompt allergy-guided review before aztreonam.</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4ACC0495-8717-4E31-9956-8849925DEA3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16E3330-0508-46F6-89A0-8A7FD9C1380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48</a:t>
            </a:r>
          </a:p>
        </p:txBody>
      </p:sp>
    </p:spTree>
    <p:extLst>
      <p:ext uri="{BB962C8B-B14F-4D97-AF65-F5344CB8AC3E}">
        <p14:creationId xmlns:p14="http://schemas.microsoft.com/office/powerpoint/2010/main" val="619972274"/>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AF9072A-9E65-4FDC-86CE-501DE4F1465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Cross-reactivity</a:t>
            </a:r>
          </a:p>
        </p:txBody>
      </p:sp>
      <p:graphicFrame>
        <p:nvGraphicFramePr>
          <p:cNvPr id="2" name="">
            <a:extLst xmlns:a="http://schemas.openxmlformats.org/drawingml/2006/main">
              <a:ext uri="{FF2B5EF4-FFF2-40B4-BE49-F238E27FC236}">
                <a16:creationId xmlns:a16="http://schemas.microsoft.com/office/drawing/2014/main" id="{A0131A04-6105-45EE-A241-1A42DA95633B}"/>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Cefazolin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Higher-concern related drug</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No commonly used beta-lactam shares its R1 side chain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Clinical significance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An isolated cefazolin allergy does not automatically predict a reaction to penicillins or other cephalosporins. Base the decision on the reaction phenotype.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54232C39-56C7-4987-BEFC-8A393A222AD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761108D-29E1-4DFD-B365-FB09146B9A7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49</a:t>
            </a:r>
          </a:p>
        </p:txBody>
      </p:sp>
    </p:spTree>
    <p:extLst>
      <p:ext uri="{BB962C8B-B14F-4D97-AF65-F5344CB8AC3E}">
        <p14:creationId xmlns:p14="http://schemas.microsoft.com/office/powerpoint/2010/main" val="740735500"/>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E915B95-E775-4534-990D-77087D4545D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Cross-reactivity</a:t>
            </a:r>
          </a:p>
        </p:txBody>
      </p:sp>
      <p:sp>
        <p:nvSpPr>
          <p:cNvPr id="2" name="paragraph-0">
            <a:extLst xmlns:a="http://schemas.openxmlformats.org/drawingml/2006/main">
              <a:ext uri="{FF2B5EF4-FFF2-40B4-BE49-F238E27FC236}">
                <a16:creationId xmlns:a16="http://schemas.microsoft.com/office/drawing/2014/main" id="{A5AE34A8-027C-4829-B90D-8FD1FC48FF78}"/>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bedside table above lists the relationships most likely to change a resident's immediate decision. For a complete matrix, see the public Northwestern Medicine cross-reactivity chart . 4 35 41</a:t>
            </a:r>
          </a:p>
        </p:txBody>
      </p:sp>
      <p:sp>
        <p:nvSpPr>
          <p:cNvPr id="3" name="footer">
            <a:extLst xmlns:a="http://schemas.openxmlformats.org/drawingml/2006/main">
              <a:ext uri="{FF2B5EF4-FFF2-40B4-BE49-F238E27FC236}">
                <a16:creationId xmlns:a16="http://schemas.microsoft.com/office/drawing/2014/main" id="{49F5C014-2859-49B5-B45B-C1FE2DA98CE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2E334FC-6E64-4780-9EEE-76809ECB6B9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50</a:t>
            </a:r>
          </a:p>
        </p:txBody>
      </p:sp>
    </p:spTree>
    <p:extLst>
      <p:ext uri="{BB962C8B-B14F-4D97-AF65-F5344CB8AC3E}">
        <p14:creationId xmlns:p14="http://schemas.microsoft.com/office/powerpoint/2010/main" val="9296912"/>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6ECB042-5969-405C-BEA6-5BC8BFA8F45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Newer and restricted gram-negative agents</a:t>
            </a:r>
          </a:p>
        </p:txBody>
      </p:sp>
      <p:sp>
        <p:nvSpPr>
          <p:cNvPr id="2" name="paragraph-0">
            <a:extLst xmlns:a="http://schemas.openxmlformats.org/drawingml/2006/main">
              <a:ext uri="{FF2B5EF4-FFF2-40B4-BE49-F238E27FC236}">
                <a16:creationId xmlns:a16="http://schemas.microsoft.com/office/drawing/2014/main" id="{B0F549D8-F639-4CE0-814F-F04FC78ACAA7}"/>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These drugs are restricted and are usually selected with ID and pharmacy input. Residents do not need to memorize which beta-lactamase each inhibitor blocks. Know the names, the broad clinical role, the major coverage gaps, and what information the consultant needs: organism, infection site, complete susceptibility results, prior antibiotics, and source-control status. 1</a:t>
            </a:r>
          </a:p>
        </p:txBody>
      </p:sp>
      <p:sp>
        <p:nvSpPr>
          <p:cNvPr id="3" name="footer">
            <a:extLst xmlns:a="http://schemas.openxmlformats.org/drawingml/2006/main">
              <a:ext uri="{FF2B5EF4-FFF2-40B4-BE49-F238E27FC236}">
                <a16:creationId xmlns:a16="http://schemas.microsoft.com/office/drawing/2014/main" id="{64668034-1B08-49A9-B440-7D190F47F51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4675738-36C1-4065-9BBE-ED8E6C9F84C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51</a:t>
            </a:r>
          </a:p>
        </p:txBody>
      </p:sp>
    </p:spTree>
    <p:extLst>
      <p:ext uri="{BB962C8B-B14F-4D97-AF65-F5344CB8AC3E}">
        <p14:creationId xmlns:p14="http://schemas.microsoft.com/office/powerpoint/2010/main" val="884174639"/>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7A02779-AF4E-444D-ABFE-3A8EB02CD7B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Newer and restricted gram-negative agents</a:t>
            </a:r>
          </a:p>
        </p:txBody>
      </p:sp>
      <p:graphicFrame>
        <p:nvGraphicFramePr>
          <p:cNvPr id="2" name="">
            <a:extLst xmlns:a="http://schemas.openxmlformats.org/drawingml/2006/main">
              <a:ext uri="{FF2B5EF4-FFF2-40B4-BE49-F238E27FC236}">
                <a16:creationId xmlns:a16="http://schemas.microsoft.com/office/drawing/2014/main" id="{E7895E65-7F57-4DF2-9FC5-856AD234CA58}"/>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Ceftazidime-avibactam Avycaz</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Why it may be used</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Selected carbapenem-resistant Enterobacterales and some resistant Pseudomonas .</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to remember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It does not cover every resistance mechanism and is not reliable alone for NDM. It also lacks dependable anaerobic, MRSA, and enterococcal coverage.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5E08240A-6914-4511-B8CD-3FBE8AAD7BE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3CAE2AC-5B34-4812-A608-253ED25CEB5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52</a:t>
            </a:r>
          </a:p>
        </p:txBody>
      </p:sp>
    </p:spTree>
    <p:extLst>
      <p:ext uri="{BB962C8B-B14F-4D97-AF65-F5344CB8AC3E}">
        <p14:creationId xmlns:p14="http://schemas.microsoft.com/office/powerpoint/2010/main" val="1515271132"/>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614EA17-4AC1-4F93-9179-426B9DD0283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Newer and restricted gram-negative agents</a:t>
            </a:r>
          </a:p>
        </p:txBody>
      </p:sp>
      <p:graphicFrame>
        <p:nvGraphicFramePr>
          <p:cNvPr id="2" name="">
            <a:extLst xmlns:a="http://schemas.openxmlformats.org/drawingml/2006/main">
              <a:ext uri="{FF2B5EF4-FFF2-40B4-BE49-F238E27FC236}">
                <a16:creationId xmlns:a16="http://schemas.microsoft.com/office/drawing/2014/main" id="{3AC84B3B-1E90-408F-ABEA-B756541D7E87}"/>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Ceftolozane-tazobactam Zerbaxa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Why it may be used</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Primarily susceptible, highly resistant Pseudomonas .</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to remember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It is not the default drug for carbapenem-resistant Enterobacterales and is not a complete regimen for a polymicrobial infection.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F6E7126-8A85-4E3D-9074-DF1F05D8CA5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F24E852-A917-434B-B518-709640EB7B5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53</a:t>
            </a:r>
          </a:p>
        </p:txBody>
      </p:sp>
    </p:spTree>
    <p:extLst>
      <p:ext uri="{BB962C8B-B14F-4D97-AF65-F5344CB8AC3E}">
        <p14:creationId xmlns:p14="http://schemas.microsoft.com/office/powerpoint/2010/main" val="884501172"/>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0E76B85-51CB-4575-881C-BF6A788B65D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Newer and restricted gram-negative agents</a:t>
            </a:r>
          </a:p>
        </p:txBody>
      </p:sp>
      <p:graphicFrame>
        <p:nvGraphicFramePr>
          <p:cNvPr id="2" name="">
            <a:extLst xmlns:a="http://schemas.openxmlformats.org/drawingml/2006/main">
              <a:ext uri="{FF2B5EF4-FFF2-40B4-BE49-F238E27FC236}">
                <a16:creationId xmlns:a16="http://schemas.microsoft.com/office/drawing/2014/main" id="{0FE939C0-2B31-4447-97DA-2C27E0B95079}"/>
              </a:ext>
            </a:extLst>
          </p:cNvPr>
          <p:cNvGraphicFramePr/>
          <p:nvPr/>
        </p:nvGraphicFramePr>
        <p:xfrm>
          <a:off xmlns:a="http://schemas.openxmlformats.org/drawingml/2006/main" x="647700" y="1866900"/>
          <a:ext xmlns:a="http://schemas.openxmlformats.org/drawingml/2006/main" cx="10896600" cy="3781425"/>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Meropenem-vaborbactam Vabomere Imipenem-cilastatin-relebactam Recarbrio</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Why it may be used</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Selected carbapenem-resistant Enterobacterales. Imipenem-cilastatin-relebactam may also be used for susceptible DTR Pseudomonas .</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What to remember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Do not treat these agents as interchangeable. Vaborbactam adds little activity against the usual resistance mechanisms in DTR Pseudomonas ; relebactam can restore imipenem activity in some isolates. Check susceptibility and involve ID pharmacy.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749B14B0-9D3F-4F34-A857-12D568DEAC2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ECDCE37-11E6-4976-AF3C-70EB3A17E71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54</a:t>
            </a:r>
          </a:p>
        </p:txBody>
      </p:sp>
    </p:spTree>
    <p:extLst>
      <p:ext uri="{BB962C8B-B14F-4D97-AF65-F5344CB8AC3E}">
        <p14:creationId xmlns:p14="http://schemas.microsoft.com/office/powerpoint/2010/main" val="469114090"/>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4554FDF-4602-41E2-8C84-AB9E0655903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Newer and restricted gram-negative agents</a:t>
            </a:r>
          </a:p>
        </p:txBody>
      </p:sp>
      <p:graphicFrame>
        <p:nvGraphicFramePr>
          <p:cNvPr id="2" name="">
            <a:extLst xmlns:a="http://schemas.openxmlformats.org/drawingml/2006/main">
              <a:ext uri="{FF2B5EF4-FFF2-40B4-BE49-F238E27FC236}">
                <a16:creationId xmlns:a16="http://schemas.microsoft.com/office/drawing/2014/main" id="{CC1B222C-AB8F-47C8-99D0-BBBB8CCB669A}"/>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Cefiderocol Fetroja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Why it may be used</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Selected infections caused by highly resistant aerobic gram-negative organisms.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to remember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It has no useful gram-positive or anaerobic activity, and susceptibility is not universal.</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26440BD-06AA-4152-B234-20C387705D5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4D90868-D42B-4CC2-A553-4B55FA349EF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55</a:t>
            </a:r>
          </a:p>
        </p:txBody>
      </p:sp>
    </p:spTree>
    <p:extLst>
      <p:ext uri="{BB962C8B-B14F-4D97-AF65-F5344CB8AC3E}">
        <p14:creationId xmlns:p14="http://schemas.microsoft.com/office/powerpoint/2010/main" val="346459767"/>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99CD848-339A-497A-8047-1C8A5F65B79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Newer and restricted gram-negative agents</a:t>
            </a:r>
          </a:p>
        </p:txBody>
      </p:sp>
      <p:graphicFrame>
        <p:nvGraphicFramePr>
          <p:cNvPr id="2" name="">
            <a:extLst xmlns:a="http://schemas.openxmlformats.org/drawingml/2006/main">
              <a:ext uri="{FF2B5EF4-FFF2-40B4-BE49-F238E27FC236}">
                <a16:creationId xmlns:a16="http://schemas.microsoft.com/office/drawing/2014/main" id="{492A2D85-7C2E-4729-B233-8A2F7C5D83F2}"/>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Aztreonam-avibactam Emblaveo or ceftazidime-avibactam plus aztreonam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Why it may be used</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Selected Enterobacterales with NDM or another metallo-beta-lactamase.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to remember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These are specialist regimens. They do not provide dependable gram-positive or anaerobic coverage. Aztreonam alone is not an adequate substitute.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5A11DE31-6F77-4BBA-903F-8649106537F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94E3697-29F8-40BB-9647-6C9FC030130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56</a:t>
            </a:r>
          </a:p>
        </p:txBody>
      </p:sp>
    </p:spTree>
    <p:extLst>
      <p:ext uri="{BB962C8B-B14F-4D97-AF65-F5344CB8AC3E}">
        <p14:creationId xmlns:p14="http://schemas.microsoft.com/office/powerpoint/2010/main" val="1481045421"/>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0DAF369-3B9C-4457-B380-CB9A568EEE1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Newer and restricted gram-negative agents</a:t>
            </a:r>
          </a:p>
        </p:txBody>
      </p:sp>
      <p:graphicFrame>
        <p:nvGraphicFramePr>
          <p:cNvPr id="2" name="">
            <a:extLst xmlns:a="http://schemas.openxmlformats.org/drawingml/2006/main">
              <a:ext uri="{FF2B5EF4-FFF2-40B4-BE49-F238E27FC236}">
                <a16:creationId xmlns:a16="http://schemas.microsoft.com/office/drawing/2014/main" id="{FE69121F-D094-479B-A9F2-B767CE13B3F9}"/>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Sulbactam-durlobactam Xacduro</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Why it may be used</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Carbapenem-resistant Acinetobacter baumannii , usually with imipenem-cilastatin or meropenem. 1 34</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What to remember</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Its role is specific to resistant Acinetobacter . It is not a CRE or resistant Pseudomonas drug.</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F1CE538-664E-42D3-BA5B-06C7ECC074F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4E1A664-9567-49E4-BB84-9EB3E0DE727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57</a:t>
            </a:r>
          </a:p>
        </p:txBody>
      </p:sp>
    </p:spTree>
    <p:extLst>
      <p:ext uri="{BB962C8B-B14F-4D97-AF65-F5344CB8AC3E}">
        <p14:creationId xmlns:p14="http://schemas.microsoft.com/office/powerpoint/2010/main" val="985097196"/>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80A47A4-0697-49DE-B68B-4DE38D3AD46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Newer and restricted gram-negative agents</a:t>
            </a:r>
          </a:p>
        </p:txBody>
      </p:sp>
      <p:sp>
        <p:nvSpPr>
          <p:cNvPr id="2" name="paragraph-0">
            <a:extLst xmlns:a="http://schemas.openxmlformats.org/drawingml/2006/main">
              <a:ext uri="{FF2B5EF4-FFF2-40B4-BE49-F238E27FC236}">
                <a16:creationId xmlns:a16="http://schemas.microsoft.com/office/drawing/2014/main" id="{E0B87645-F6D4-4B55-9D32-F9D5E8FD9B7B}"/>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Why not meropenem-vaborbactam for DTR Pseudomonas ? Vaborbactam primarily inhibits class A enzymes, especially KPC, but does not correct OprD porin loss, increased efflux, or metallo-beta-lactamase production, important causes of carbapenem resistance in P. aeruginosa . It generally provides little additional activity over meropenem against this organism.</a:t>
            </a:r>
          </a:p>
        </p:txBody>
      </p:sp>
      <p:sp>
        <p:nvSpPr>
          <p:cNvPr id="3" name="footer">
            <a:extLst xmlns:a="http://schemas.openxmlformats.org/drawingml/2006/main">
              <a:ext uri="{FF2B5EF4-FFF2-40B4-BE49-F238E27FC236}">
                <a16:creationId xmlns:a16="http://schemas.microsoft.com/office/drawing/2014/main" id="{CBB66720-F265-46D1-AA11-F9DA293727D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C269513-9B16-462D-B49C-8237A74EC44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58</a:t>
            </a:r>
          </a:p>
        </p:txBody>
      </p:sp>
    </p:spTree>
    <p:extLst>
      <p:ext uri="{BB962C8B-B14F-4D97-AF65-F5344CB8AC3E}">
        <p14:creationId xmlns:p14="http://schemas.microsoft.com/office/powerpoint/2010/main" val="1060944059"/>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9C6A80B-B397-4DD2-AF89-2665A3FDE4E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Newer and restricted gram-negative agents</a:t>
            </a:r>
          </a:p>
        </p:txBody>
      </p:sp>
      <p:sp>
        <p:nvSpPr>
          <p:cNvPr id="2" name="paragraph-0">
            <a:extLst xmlns:a="http://schemas.openxmlformats.org/drawingml/2006/main">
              <a:ext uri="{FF2B5EF4-FFF2-40B4-BE49-F238E27FC236}">
                <a16:creationId xmlns:a16="http://schemas.microsoft.com/office/drawing/2014/main" id="{6B86C458-3284-4750-84E6-51E78FE9B8C0}"/>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susceptible DTR Pseudomonas , consider ceftolozane-tazobactam, ceftazidime-avibactam, or imipenem-cilastatin-relebactam according to infection site and susceptibility; cefiderocol has an important role for metallo-beta-lactamase producers. Do not infer activity from the drug class alone. 1</a:t>
            </a:r>
          </a:p>
        </p:txBody>
      </p:sp>
      <p:sp>
        <p:nvSpPr>
          <p:cNvPr id="3" name="footer">
            <a:extLst xmlns:a="http://schemas.openxmlformats.org/drawingml/2006/main">
              <a:ext uri="{FF2B5EF4-FFF2-40B4-BE49-F238E27FC236}">
                <a16:creationId xmlns:a16="http://schemas.microsoft.com/office/drawing/2014/main" id="{FCDE18A4-9DD3-4884-9349-65AFA96C17E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FF5007A-D6FC-409E-B2A6-EC84A5B41D7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59</a:t>
            </a:r>
          </a:p>
        </p:txBody>
      </p:sp>
    </p:spTree>
    <p:extLst>
      <p:ext uri="{BB962C8B-B14F-4D97-AF65-F5344CB8AC3E}">
        <p14:creationId xmlns:p14="http://schemas.microsoft.com/office/powerpoint/2010/main" val="206088211"/>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756CB12-D8F3-44A6-9063-CF580786BE0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Newer and restricted gram-negative agents</a:t>
            </a:r>
          </a:p>
        </p:txBody>
      </p:sp>
      <p:sp>
        <p:nvSpPr>
          <p:cNvPr id="2" name="paragraph-0">
            <a:extLst xmlns:a="http://schemas.openxmlformats.org/drawingml/2006/main">
              <a:ext uri="{FF2B5EF4-FFF2-40B4-BE49-F238E27FC236}">
                <a16:creationId xmlns:a16="http://schemas.microsoft.com/office/drawing/2014/main" id="{F1F734F5-F4EB-43EA-B90A-919E47E70933}"/>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Resident expectation: explain the organism, infection site, susceptibility results, source-control status, and why a restricted drug is being considered. Selection, dosing, and enzyme-level matching should be reviewed with ID pharmacy or an experienced ID consultant. Residents may continue to other commonly used inpatient agents ; the next section is optional fellow detail.</a:t>
            </a:r>
          </a:p>
        </p:txBody>
      </p:sp>
      <p:sp>
        <p:nvSpPr>
          <p:cNvPr id="3" name="footer">
            <a:extLst xmlns:a="http://schemas.openxmlformats.org/drawingml/2006/main">
              <a:ext uri="{FF2B5EF4-FFF2-40B4-BE49-F238E27FC236}">
                <a16:creationId xmlns:a16="http://schemas.microsoft.com/office/drawing/2014/main" id="{D5A598BA-FD91-45B9-9C81-482249A2500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9B6B123-2348-4819-8052-7819CE49ED9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60</a:t>
            </a:r>
          </a:p>
        </p:txBody>
      </p:sp>
    </p:spTree>
    <p:extLst>
      <p:ext uri="{BB962C8B-B14F-4D97-AF65-F5344CB8AC3E}">
        <p14:creationId xmlns:p14="http://schemas.microsoft.com/office/powerpoint/2010/main" val="461198927"/>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FCF0341-5CEC-4A73-9D53-2111E7EE3DF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Vancomycin</a:t>
            </a:r>
          </a:p>
        </p:txBody>
      </p:sp>
      <p:sp>
        <p:nvSpPr>
          <p:cNvPr id="2" name="paragraph-0">
            <a:extLst xmlns:a="http://schemas.openxmlformats.org/drawingml/2006/main">
              <a:ext uri="{FF2B5EF4-FFF2-40B4-BE49-F238E27FC236}">
                <a16:creationId xmlns:a16="http://schemas.microsoft.com/office/drawing/2014/main" id="{B93C0F23-ECE0-47D9-8300-FFA26BB33FDB}"/>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Useful empirically for serious MRSA infection and selected resistant gram-positive infections. For pharmacy-directed trough monitoring, follow serum creatinine, confirm when the trough should be drawn, and use the indication-specific target in the local pharmacy workflow. Do not apply one trough goal to every syndrome.</a:t>
            </a:r>
          </a:p>
        </p:txBody>
      </p:sp>
      <p:sp>
        <p:nvSpPr>
          <p:cNvPr id="3" name="paragraph-1">
            <a:extLst xmlns:a="http://schemas.openxmlformats.org/drawingml/2006/main">
              <a:ext uri="{FF2B5EF4-FFF2-40B4-BE49-F238E27FC236}">
                <a16:creationId xmlns:a16="http://schemas.microsoft.com/office/drawing/2014/main" id="{188E01C8-9931-430A-ABB3-26CCD3988475}"/>
              </a:ext>
            </a:extLst>
          </p:cNvPr>
          <p:cNvSpPr>
            <a:spLocks xmlns:a="http://schemas.openxmlformats.org/drawingml/2006/main" noGrp="1"/>
          </p:cNvSpPr>
          <p:nvPr/>
        </p:nvSpPr>
        <p:spPr>
          <a:xfrm xmlns:a="http://schemas.openxmlformats.org/drawingml/2006/main">
            <a:off x="647700" y="39719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Fellow context: The 2020 national consensus recommends AUC-guided monitoring for serious MRSA infection. That differs from the current local workflow and should not be substituted at the bedside without a local practice change. 3</a:t>
            </a:r>
          </a:p>
        </p:txBody>
      </p:sp>
      <p:sp>
        <p:nvSpPr>
          <p:cNvPr id="4" name="footer">
            <a:extLst xmlns:a="http://schemas.openxmlformats.org/drawingml/2006/main">
              <a:ext uri="{FF2B5EF4-FFF2-40B4-BE49-F238E27FC236}">
                <a16:creationId xmlns:a16="http://schemas.microsoft.com/office/drawing/2014/main" id="{C82BF688-AEFE-441E-9926-B49223E5277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C6A45E6A-8E02-436C-82A2-72B95AA45C1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61</a:t>
            </a:r>
          </a:p>
        </p:txBody>
      </p:sp>
    </p:spTree>
    <p:extLst>
      <p:ext uri="{BB962C8B-B14F-4D97-AF65-F5344CB8AC3E}">
        <p14:creationId xmlns:p14="http://schemas.microsoft.com/office/powerpoint/2010/main" val="202638902"/>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DF9266C-5237-47A8-AD6C-BD47E80EF80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Daptomycin</a:t>
            </a:r>
          </a:p>
        </p:txBody>
      </p:sp>
      <p:sp>
        <p:nvSpPr>
          <p:cNvPr id="2" name="paragraph-0">
            <a:extLst xmlns:a="http://schemas.openxmlformats.org/drawingml/2006/main">
              <a:ext uri="{FF2B5EF4-FFF2-40B4-BE49-F238E27FC236}">
                <a16:creationId xmlns:a16="http://schemas.microsoft.com/office/drawing/2014/main" id="{EA9CAEB0-45E5-4710-B29E-E48123092729}"/>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Useful for bacteremia and other serious gram-positive infections, including selected VRE infections. It is inactivated by pulmonary surfactant and should not be used for pneumonia. Follow CPK and assess statin use and new muscle symptoms. Dose depends heavily on organism and syndrome.</a:t>
            </a:r>
          </a:p>
        </p:txBody>
      </p:sp>
      <p:sp>
        <p:nvSpPr>
          <p:cNvPr id="3" name="footer">
            <a:extLst xmlns:a="http://schemas.openxmlformats.org/drawingml/2006/main">
              <a:ext uri="{FF2B5EF4-FFF2-40B4-BE49-F238E27FC236}">
                <a16:creationId xmlns:a16="http://schemas.microsoft.com/office/drawing/2014/main" id="{EC1A2FE7-A656-4562-8306-9EEA7613684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14CEE0D-FDA5-49E8-ABDB-D70316DFAF9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62</a:t>
            </a:r>
          </a:p>
        </p:txBody>
      </p:sp>
    </p:spTree>
    <p:extLst>
      <p:ext uri="{BB962C8B-B14F-4D97-AF65-F5344CB8AC3E}">
        <p14:creationId xmlns:p14="http://schemas.microsoft.com/office/powerpoint/2010/main" val="2008204224"/>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69267D2-05FA-47EB-8BC3-1128531641C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Linezolid</a:t>
            </a:r>
          </a:p>
        </p:txBody>
      </p:sp>
      <p:sp>
        <p:nvSpPr>
          <p:cNvPr id="2" name="paragraph-0">
            <a:extLst xmlns:a="http://schemas.openxmlformats.org/drawingml/2006/main">
              <a:ext uri="{FF2B5EF4-FFF2-40B4-BE49-F238E27FC236}">
                <a16:creationId xmlns:a16="http://schemas.microsoft.com/office/drawing/2014/main" id="{1FB43AB7-BB93-43A7-8359-17737D82A883}"/>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IV and oral exposure are similar. It is useful for MRSA pneumonia and selected VRE infections. Follow the CBC with prolonged therapy and review serotonergic drugs, neuropathy risk, and drug interactions.</a:t>
            </a:r>
          </a:p>
        </p:txBody>
      </p:sp>
      <p:sp>
        <p:nvSpPr>
          <p:cNvPr id="3" name="footer">
            <a:extLst xmlns:a="http://schemas.openxmlformats.org/drawingml/2006/main">
              <a:ext uri="{FF2B5EF4-FFF2-40B4-BE49-F238E27FC236}">
                <a16:creationId xmlns:a16="http://schemas.microsoft.com/office/drawing/2014/main" id="{FF3F5CDA-8619-4090-9BBA-8C23F176D6A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A65ED34-2699-4838-BEA2-CC290DE8AA2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63</a:t>
            </a:r>
          </a:p>
        </p:txBody>
      </p:sp>
    </p:spTree>
    <p:extLst>
      <p:ext uri="{BB962C8B-B14F-4D97-AF65-F5344CB8AC3E}">
        <p14:creationId xmlns:p14="http://schemas.microsoft.com/office/powerpoint/2010/main" val="190744033"/>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13E1AB5-4139-479D-AFFE-B9A3A13FC3A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TMP-SMX</a:t>
            </a:r>
          </a:p>
        </p:txBody>
      </p:sp>
      <p:sp>
        <p:nvSpPr>
          <p:cNvPr id="2" name="paragraph-0">
            <a:extLst xmlns:a="http://schemas.openxmlformats.org/drawingml/2006/main">
              <a:ext uri="{FF2B5EF4-FFF2-40B4-BE49-F238E27FC236}">
                <a16:creationId xmlns:a16="http://schemas.microsoft.com/office/drawing/2014/main" id="{941CE5F3-DB47-4A1B-96F5-6F817206BA3A}"/>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Useful for susceptible urinary pathogens, MRSA skin infection, and several organism-specific indications. Dose by the trimethoprim component. Check potassium (K+), renal function, blood counts, and interacting drugs.</a:t>
            </a:r>
          </a:p>
        </p:txBody>
      </p:sp>
      <p:sp>
        <p:nvSpPr>
          <p:cNvPr id="3" name="footer">
            <a:extLst xmlns:a="http://schemas.openxmlformats.org/drawingml/2006/main">
              <a:ext uri="{FF2B5EF4-FFF2-40B4-BE49-F238E27FC236}">
                <a16:creationId xmlns:a16="http://schemas.microsoft.com/office/drawing/2014/main" id="{D4BBBFC3-CADF-4288-80EA-A2565CA1029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8E286B6-4284-448B-845D-BE034CF7ED7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64</a:t>
            </a:r>
          </a:p>
        </p:txBody>
      </p:sp>
    </p:spTree>
    <p:extLst>
      <p:ext uri="{BB962C8B-B14F-4D97-AF65-F5344CB8AC3E}">
        <p14:creationId xmlns:p14="http://schemas.microsoft.com/office/powerpoint/2010/main" val="1856509744"/>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F678E36-C138-44CC-B033-08A656F7B8A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Metronidazole</a:t>
            </a:r>
          </a:p>
        </p:txBody>
      </p:sp>
      <p:sp>
        <p:nvSpPr>
          <p:cNvPr id="2" name="paragraph-0">
            <a:extLst xmlns:a="http://schemas.openxmlformats.org/drawingml/2006/main">
              <a:ext uri="{FF2B5EF4-FFF2-40B4-BE49-F238E27FC236}">
                <a16:creationId xmlns:a16="http://schemas.microsoft.com/office/drawing/2014/main" id="{C2243D07-4E12-43BD-ABDA-4ECD52679C18}"/>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Provides anaerobic coverage below the diaphragm and for selected oral anaerobic infections. Adding it to piperacillin-tazobactam or a carbapenem is usually redundant.</a:t>
            </a:r>
          </a:p>
        </p:txBody>
      </p:sp>
      <p:sp>
        <p:nvSpPr>
          <p:cNvPr id="3" name="footer">
            <a:extLst xmlns:a="http://schemas.openxmlformats.org/drawingml/2006/main">
              <a:ext uri="{FF2B5EF4-FFF2-40B4-BE49-F238E27FC236}">
                <a16:creationId xmlns:a16="http://schemas.microsoft.com/office/drawing/2014/main" id="{99D7B150-8A65-41DC-BCAF-B46ECF15571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9E314B5-F278-43C9-A681-675D5F7C95F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65</a:t>
            </a:r>
          </a:p>
        </p:txBody>
      </p:sp>
    </p:spTree>
    <p:extLst>
      <p:ext uri="{BB962C8B-B14F-4D97-AF65-F5344CB8AC3E}">
        <p14:creationId xmlns:p14="http://schemas.microsoft.com/office/powerpoint/2010/main" val="676823144"/>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B8A3B04-91C0-43E7-BC90-BAB2450B470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Nitrofurantoin</a:t>
            </a:r>
          </a:p>
        </p:txBody>
      </p:sp>
      <p:sp>
        <p:nvSpPr>
          <p:cNvPr id="2" name="paragraph-0">
            <a:extLst xmlns:a="http://schemas.openxmlformats.org/drawingml/2006/main">
              <a:ext uri="{FF2B5EF4-FFF2-40B4-BE49-F238E27FC236}">
                <a16:creationId xmlns:a16="http://schemas.microsoft.com/office/drawing/2014/main" id="{7D006403-4B79-42C1-9E62-9E3BE8E9E160}"/>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Nitrofurantoin is a lower-tract drug. It should not be used for pyelonephritis or bacteremia.</a:t>
            </a:r>
          </a:p>
        </p:txBody>
      </p:sp>
      <p:sp>
        <p:nvSpPr>
          <p:cNvPr id="3" name="footer">
            <a:extLst xmlns:a="http://schemas.openxmlformats.org/drawingml/2006/main">
              <a:ext uri="{FF2B5EF4-FFF2-40B4-BE49-F238E27FC236}">
                <a16:creationId xmlns:a16="http://schemas.microsoft.com/office/drawing/2014/main" id="{820C6B0E-DADC-4F42-B9D7-EA089A553D9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A8FD0EB-BE4D-4347-80ED-E3A3F3B7400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66</a:t>
            </a:r>
          </a:p>
        </p:txBody>
      </p:sp>
    </p:spTree>
    <p:extLst>
      <p:ext uri="{BB962C8B-B14F-4D97-AF65-F5344CB8AC3E}">
        <p14:creationId xmlns:p14="http://schemas.microsoft.com/office/powerpoint/2010/main" val="59990154"/>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27189E2-666C-48D1-93B1-9E3A0C6DBA0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Oral fosfomycin</a:t>
            </a:r>
          </a:p>
        </p:txBody>
      </p:sp>
      <p:sp>
        <p:nvSpPr>
          <p:cNvPr id="2" name="paragraph-0">
            <a:extLst xmlns:a="http://schemas.openxmlformats.org/drawingml/2006/main">
              <a:ext uri="{FF2B5EF4-FFF2-40B4-BE49-F238E27FC236}">
                <a16:creationId xmlns:a16="http://schemas.microsoft.com/office/drawing/2014/main" id="{F2DD871D-815B-43D5-9441-042785F6BFCA}"/>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Its established U.S. role is limited. The oral product is FDA-labeled as a single dose for uncomplicated cystitis in women due to susceptible E. coli or E. faecalis . The label states that it is not indicated for pyelonephritis or perinephric abscess. 40</a:t>
            </a:r>
          </a:p>
        </p:txBody>
      </p:sp>
      <p:sp>
        <p:nvSpPr>
          <p:cNvPr id="3" name="footer">
            <a:extLst xmlns:a="http://schemas.openxmlformats.org/drawingml/2006/main">
              <a:ext uri="{FF2B5EF4-FFF2-40B4-BE49-F238E27FC236}">
                <a16:creationId xmlns:a16="http://schemas.microsoft.com/office/drawing/2014/main" id="{F2E75929-8ED6-4218-83C8-BC589942197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86B1312-5FF9-499F-89B6-56F5FA5B1D9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67</a:t>
            </a:r>
          </a:p>
        </p:txBody>
      </p:sp>
    </p:spTree>
    <p:extLst>
      <p:ext uri="{BB962C8B-B14F-4D97-AF65-F5344CB8AC3E}">
        <p14:creationId xmlns:p14="http://schemas.microsoft.com/office/powerpoint/2010/main" val="1176650459"/>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74F8741-C0DF-4201-A836-9E978447C04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Oral fosfomycin</a:t>
            </a:r>
          </a:p>
        </p:txBody>
      </p:sp>
      <p:sp>
        <p:nvSpPr>
          <p:cNvPr id="2" name="paragraph-0">
            <a:extLst xmlns:a="http://schemas.openxmlformats.org/drawingml/2006/main">
              <a:ext uri="{FF2B5EF4-FFF2-40B4-BE49-F238E27FC236}">
                <a16:creationId xmlns:a16="http://schemas.microsoft.com/office/drawing/2014/main" id="{DECE96EF-92DC-4F06-8173-7AF3B5877FA8}"/>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Two newer oral UTI drugs residents may hear about. Tebipenem pivoxil (Utebzi) is approved for selected adults with complicated UTI, including pyelonephritis, who have limited or no alternative oral options. Sulopenem etzadroxil-probenecid (Orlynvah) is limited to selected adult women with uncomplicated UTI and is not a complicated-UTI step-down drug. Verify site formulary and outpatient access before discussing either as a discharge option. 18 19</a:t>
            </a:r>
          </a:p>
        </p:txBody>
      </p:sp>
      <p:sp>
        <p:nvSpPr>
          <p:cNvPr id="3" name="footer">
            <a:extLst xmlns:a="http://schemas.openxmlformats.org/drawingml/2006/main">
              <a:ext uri="{FF2B5EF4-FFF2-40B4-BE49-F238E27FC236}">
                <a16:creationId xmlns:a16="http://schemas.microsoft.com/office/drawing/2014/main" id="{A2B5560A-733F-4F44-93B9-F8BDA103CC6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1CCD2A9-4467-4FD7-AB3E-A835A0F25FA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68</a:t>
            </a:r>
          </a:p>
        </p:txBody>
      </p:sp>
    </p:spTree>
    <p:extLst>
      <p:ext uri="{BB962C8B-B14F-4D97-AF65-F5344CB8AC3E}">
        <p14:creationId xmlns:p14="http://schemas.microsoft.com/office/powerpoint/2010/main" val="429919671"/>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0080D6C-B49E-4928-B47C-34CFFCB71E1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Where oral fosfomycin may fit</a:t>
            </a:r>
          </a:p>
        </p:txBody>
      </p:sp>
      <p:graphicFrame>
        <p:nvGraphicFramePr>
          <p:cNvPr id="2" name="">
            <a:extLst xmlns:a="http://schemas.openxmlformats.org/drawingml/2006/main">
              <a:ext uri="{FF2B5EF4-FFF2-40B4-BE49-F238E27FC236}">
                <a16:creationId xmlns:a16="http://schemas.microsoft.com/office/drawing/2014/main" id="{62D98A86-B26B-4C78-BB10-0D561F16009D}"/>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Uncomplicated cystitis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Practical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The FDA-labeled regimen is a single 3 g dose for women with uncomplicated cystitis due to susceptible E. coli or E. faecalis . This labeled indication should not be extrapolated to upper-tract or invasive infection. 40</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7BEAAEB5-A7DD-49E2-844A-41F3DB2654A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5938B0E-CA8F-4ED1-B4A6-AB10C247811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69</a:t>
            </a:r>
          </a:p>
        </p:txBody>
      </p:sp>
    </p:spTree>
    <p:extLst>
      <p:ext uri="{BB962C8B-B14F-4D97-AF65-F5344CB8AC3E}">
        <p14:creationId xmlns:p14="http://schemas.microsoft.com/office/powerpoint/2010/main" val="1023685316"/>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6CE9361-0954-408C-ABA6-6E393A8BCE8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Where oral fosfomycin may fit</a:t>
            </a:r>
          </a:p>
        </p:txBody>
      </p:sp>
      <p:graphicFrame>
        <p:nvGraphicFramePr>
          <p:cNvPr id="2" name="">
            <a:extLst xmlns:a="http://schemas.openxmlformats.org/drawingml/2006/main">
              <a:ext uri="{FF2B5EF4-FFF2-40B4-BE49-F238E27FC236}">
                <a16:creationId xmlns:a16="http://schemas.microsoft.com/office/drawing/2014/main" id="{C6AB5388-34A6-4D99-9171-89DFD0A797DE}"/>
              </a:ext>
            </a:extLst>
          </p:cNvPr>
          <p:cNvGraphicFramePr/>
          <p:nvPr/>
        </p:nvGraphicFramePr>
        <p:xfrm>
          <a:off xmlns:a="http://schemas.openxmlformats.org/drawingml/2006/main" x="647700" y="1866900"/>
          <a:ext xmlns:a="http://schemas.openxmlformats.org/drawingml/2006/main" cx="10896600" cy="26241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Pyelonephritis or complicated UTI</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085975">
                <a:tc>
                  <a:txBody>
                    <a:bodyPr lIns="114300" tIns="114300" rIns="114300" bIns="114300">
                      <a:noAutofit/>
                    </a:bodyPr>
                    <a:lstStyle/>
                    <a:p>
                      <a:r>
                        <a:rPr sz="1950" b="0">
                          <a:solidFill>
                            <a:srgbClr val="16323B"/>
                          </a:solidFill>
                          <a:latin typeface="DejaVu Sans"/>
                          <a:ea typeface="DejaVu Sans"/>
                          <a:cs typeface="DejaVu Sans"/>
                        </a:rPr>
                        <a:t>Practical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Oral fosfomycin is not suggested as initial therapy because renal-parenchymal exposure is limited. The 2024 WikiGuidelines review found that strong evidence for oral fosfomycin in pyelonephritis was lacking. 1 39 A 2026 randomized trial studied improving adults with ESBL complicated UTI after 3 to 7 days of active IV therapy.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666DF3E4-8E32-459F-88A5-26FF752A29F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4B2C585-25A1-4991-84A3-B0AE20E0089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70</a:t>
            </a:r>
          </a:p>
        </p:txBody>
      </p:sp>
    </p:spTree>
    <p:extLst>
      <p:ext uri="{BB962C8B-B14F-4D97-AF65-F5344CB8AC3E}">
        <p14:creationId xmlns:p14="http://schemas.microsoft.com/office/powerpoint/2010/main" val="925826086"/>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6917D3E-5167-449F-971A-D71761025EE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Where oral fosfomycin may fit</a:t>
            </a:r>
          </a:p>
        </p:txBody>
      </p:sp>
      <p:graphicFrame>
        <p:nvGraphicFramePr>
          <p:cNvPr id="2" name="">
            <a:extLst xmlns:a="http://schemas.openxmlformats.org/drawingml/2006/main">
              <a:ext uri="{FF2B5EF4-FFF2-40B4-BE49-F238E27FC236}">
                <a16:creationId xmlns:a16="http://schemas.microsoft.com/office/drawing/2014/main" id="{1FA2015A-0192-4114-9C60-59449A6DFAE7}"/>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Pyelonephritis or complicated UTI</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Practical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Clinical cure was 92.8% with oral fosfomycin 3 g daily and 95.2% with continued IV beta-lactam therapy. This supports consideration as transition therapy in selected patients. It does not establish oral fosfomycin as initial treatment for pyelonephritis. 37</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31BCDCA2-62FB-487F-84A7-4352F3DD5FB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7E7DC61-D887-4900-A288-23680252FCE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71</a:t>
            </a:r>
          </a:p>
        </p:txBody>
      </p:sp>
    </p:spTree>
    <p:extLst>
      <p:ext uri="{BB962C8B-B14F-4D97-AF65-F5344CB8AC3E}">
        <p14:creationId xmlns:p14="http://schemas.microsoft.com/office/powerpoint/2010/main" val="1350773172"/>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B388E48-DF8C-4379-9DEE-CB52D87B284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Where oral fosfomycin may fit</a:t>
            </a:r>
          </a:p>
        </p:txBody>
      </p:sp>
      <p:graphicFrame>
        <p:nvGraphicFramePr>
          <p:cNvPr id="2" name="">
            <a:extLst xmlns:a="http://schemas.openxmlformats.org/drawingml/2006/main">
              <a:ext uri="{FF2B5EF4-FFF2-40B4-BE49-F238E27FC236}">
                <a16:creationId xmlns:a16="http://schemas.microsoft.com/office/drawing/2014/main" id="{0CEAA04B-ADFD-459A-B42D-08F8EE58C8FA}"/>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ESBL bloodstream infection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Practical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IDSA does not suggest oral fosfomycin as routine step-down therapy because serum exposure is limited and clinical data are inadequate. When an active fluoroquinolone or TMP-SMX is available and appropriate, those are better-supported oral options. 1</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9EA5B5BB-D9A1-40D4-946E-5B77A1EEE9C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BCB7083-AB1D-4531-9A8A-14DFD9008A9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72</a:t>
            </a:r>
          </a:p>
        </p:txBody>
      </p:sp>
    </p:spTree>
    <p:extLst>
      <p:ext uri="{BB962C8B-B14F-4D97-AF65-F5344CB8AC3E}">
        <p14:creationId xmlns:p14="http://schemas.microsoft.com/office/powerpoint/2010/main" val="1648788491"/>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AB92C5F-CECF-4C09-964C-89D2579B882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Where oral fosfomycin may fit</a:t>
            </a:r>
          </a:p>
        </p:txBody>
      </p:sp>
      <p:graphicFrame>
        <p:nvGraphicFramePr>
          <p:cNvPr id="2" name="">
            <a:extLst xmlns:a="http://schemas.openxmlformats.org/drawingml/2006/main">
              <a:ext uri="{FF2B5EF4-FFF2-40B4-BE49-F238E27FC236}">
                <a16:creationId xmlns:a16="http://schemas.microsoft.com/office/drawing/2014/main" id="{40B08DCA-8D06-4946-A78C-E80AE1401788}"/>
              </a:ext>
            </a:extLst>
          </p:cNvPr>
          <p:cNvGraphicFramePr/>
          <p:nvPr/>
        </p:nvGraphicFramePr>
        <p:xfrm>
          <a:off xmlns:a="http://schemas.openxmlformats.org/drawingml/2006/main" x="647700" y="1866900"/>
          <a:ext xmlns:a="http://schemas.openxmlformats.org/drawingml/2006/main" cx="10896600" cy="2933700"/>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Klebsiella or another non- E. coli gram-negative organism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085975">
                <a:tc>
                  <a:txBody>
                    <a:bodyPr lIns="114300" tIns="114300" rIns="114300" bIns="114300">
                      <a:noAutofit/>
                    </a:bodyPr>
                    <a:lstStyle/>
                    <a:p>
                      <a:r>
                        <a:rPr sz="1950" b="0">
                          <a:solidFill>
                            <a:srgbClr val="16323B"/>
                          </a:solidFill>
                          <a:latin typeface="DejaVu Sans"/>
                          <a:ea typeface="DejaVu Sans"/>
                          <a:cs typeface="DejaVu Sans"/>
                        </a:rPr>
                        <a:t>Practical 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Do not assume activity from the class or a urine result. IDSA does not suggest oral fosfomycin for gram-negative organisms other than E. coli because fosA genes are common, including in K. pneumoniae , and may compromise activity. Oral susceptibility criteria are also limited. 1</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6AD7F438-DB73-4581-BD73-3CF5445E788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41E4BB5-B7E4-44C6-B27C-B6B1331C116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73</a:t>
            </a:r>
          </a:p>
        </p:txBody>
      </p:sp>
    </p:spTree>
    <p:extLst>
      <p:ext uri="{BB962C8B-B14F-4D97-AF65-F5344CB8AC3E}">
        <p14:creationId xmlns:p14="http://schemas.microsoft.com/office/powerpoint/2010/main" val="60044642"/>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1148289-D5BB-421C-8D8F-8A7B0D875A0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Fluoroquinolones</a:t>
            </a:r>
          </a:p>
        </p:txBody>
      </p:sp>
      <p:sp>
        <p:nvSpPr>
          <p:cNvPr id="2" name="paragraph-0">
            <a:extLst xmlns:a="http://schemas.openxmlformats.org/drawingml/2006/main">
              <a:ext uri="{FF2B5EF4-FFF2-40B4-BE49-F238E27FC236}">
                <a16:creationId xmlns:a16="http://schemas.microsoft.com/office/drawing/2014/main" id="{33BBD0A8-3ECB-4E94-82CC-A27C5962A394}"/>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Fluoroquinolones are not drugs to avoid reflexively. Ciprofloxacin or levofloxacin can be excellent definitive therapy for complicated UTI or pyelonephritis when the organism is susceptible, the source is controlled, absorption is reliable, and the patient has no major contraindication. The 2025 cUTI guideline supports 5–7 days of a fluoroquinolone in improving patients and supports IV-to-oral transition when an effective oral option is available. 2</a:t>
            </a:r>
          </a:p>
        </p:txBody>
      </p:sp>
      <p:sp>
        <p:nvSpPr>
          <p:cNvPr id="3" name="footer">
            <a:extLst xmlns:a="http://schemas.openxmlformats.org/drawingml/2006/main">
              <a:ext uri="{FF2B5EF4-FFF2-40B4-BE49-F238E27FC236}">
                <a16:creationId xmlns:a16="http://schemas.microsoft.com/office/drawing/2014/main" id="{ACA8A6C6-1E85-45DF-B099-2070AAF935B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D31A63D-BD56-4B8A-92CE-FC6BE211C81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74</a:t>
            </a:r>
          </a:p>
        </p:txBody>
      </p:sp>
    </p:spTree>
    <p:extLst>
      <p:ext uri="{BB962C8B-B14F-4D97-AF65-F5344CB8AC3E}">
        <p14:creationId xmlns:p14="http://schemas.microsoft.com/office/powerpoint/2010/main" val="319202533"/>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53A160F-2736-4242-9FD9-B573EEA6A9C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Fluoroquinolones</a:t>
            </a:r>
          </a:p>
        </p:txBody>
      </p:sp>
      <p:sp>
        <p:nvSpPr>
          <p:cNvPr id="2" name="paragraph-0">
            <a:extLst xmlns:a="http://schemas.openxmlformats.org/drawingml/2006/main">
              <a:ext uri="{FF2B5EF4-FFF2-40B4-BE49-F238E27FC236}">
                <a16:creationId xmlns:a16="http://schemas.microsoft.com/office/drawing/2014/main" id="{4843C5F9-E795-4E88-9265-CD9C0E253EED}"/>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Oral treatment of susceptible Pseudomonas . Ciprofloxacin and levofloxacin are the only established oral antibiotic class with reliable antipseudomonal activity. Moxifloxacin should not be used for a urinary infection and is not a dependable antipseudomonal drug. Confirm susceptibility before relying on oral fluoroquinolone therapy, because resistance is common and can emerge during treatment. 1 6</a:t>
            </a:r>
          </a:p>
        </p:txBody>
      </p:sp>
      <p:sp>
        <p:nvSpPr>
          <p:cNvPr id="3" name="footer">
            <a:extLst xmlns:a="http://schemas.openxmlformats.org/drawingml/2006/main">
              <a:ext uri="{FF2B5EF4-FFF2-40B4-BE49-F238E27FC236}">
                <a16:creationId xmlns:a16="http://schemas.microsoft.com/office/drawing/2014/main" id="{C0C797FC-1131-4CCC-9511-7CCDFE4B533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4241BD2-5274-413B-9E74-9EA0F4E67A3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75</a:t>
            </a:r>
          </a:p>
        </p:txBody>
      </p:sp>
    </p:spTree>
    <p:extLst>
      <p:ext uri="{BB962C8B-B14F-4D97-AF65-F5344CB8AC3E}">
        <p14:creationId xmlns:p14="http://schemas.microsoft.com/office/powerpoint/2010/main" val="180452148"/>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6AF24BE-EA6F-4ED8-99A0-25134E92BBB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Fluoroquinolones</a:t>
            </a:r>
          </a:p>
        </p:txBody>
      </p:sp>
      <p:sp>
        <p:nvSpPr>
          <p:cNvPr id="2" name="paragraph-0">
            <a:extLst xmlns:a="http://schemas.openxmlformats.org/drawingml/2006/main">
              <a:ext uri="{FF2B5EF4-FFF2-40B4-BE49-F238E27FC236}">
                <a16:creationId xmlns:a16="http://schemas.microsoft.com/office/drawing/2014/main" id="{368F11CD-6C42-4AC6-906E-C066A0DF966D}"/>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Use them with the adverse-effect discussion they deserve. FDA warnings include disabling tendon, muscle, joint, neurologic, and CNS effects; dysglycemia; and risk of aortic aneurysm or dissection in susceptible patients. Review QT risk, renal dosing, drug interactions, and separation from cations or tube feeds. 5</a:t>
            </a:r>
          </a:p>
        </p:txBody>
      </p:sp>
      <p:sp>
        <p:nvSpPr>
          <p:cNvPr id="3" name="footer">
            <a:extLst xmlns:a="http://schemas.openxmlformats.org/drawingml/2006/main">
              <a:ext uri="{FF2B5EF4-FFF2-40B4-BE49-F238E27FC236}">
                <a16:creationId xmlns:a16="http://schemas.microsoft.com/office/drawing/2014/main" id="{4D2BD36E-00FD-4E5D-B0FA-D42C1E65392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A66F647-3C49-4640-847D-07C8CB6EFAF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76</a:t>
            </a:r>
          </a:p>
        </p:txBody>
      </p:sp>
    </p:spTree>
    <p:extLst>
      <p:ext uri="{BB962C8B-B14F-4D97-AF65-F5344CB8AC3E}">
        <p14:creationId xmlns:p14="http://schemas.microsoft.com/office/powerpoint/2010/main" val="1975744471"/>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E02825C-9D62-492C-B3A9-451F8C60061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Laboratory monitoring</a:t>
            </a:r>
          </a:p>
        </p:txBody>
      </p:sp>
      <p:sp>
        <p:nvSpPr>
          <p:cNvPr id="2" name="paragraph-0">
            <a:extLst xmlns:a="http://schemas.openxmlformats.org/drawingml/2006/main">
              <a:ext uri="{FF2B5EF4-FFF2-40B4-BE49-F238E27FC236}">
                <a16:creationId xmlns:a16="http://schemas.microsoft.com/office/drawing/2014/main" id="{088774E7-EE33-4687-BA45-2122AA22BB00}"/>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Monitoring depends on illness severity, organ-function stability, treatment length, concomitant drugs, and whether the patient remains hospitalized or is leaving on OPAT. Start with the CBC, creatinine and estimated renal function, hepatic profile when relevant, major drug interactions, and any baseline abnormality likely to affect later interpretation. The table covers the agents residents manage most often.</a:t>
            </a:r>
          </a:p>
        </p:txBody>
      </p:sp>
      <p:sp>
        <p:nvSpPr>
          <p:cNvPr id="3" name="footer">
            <a:extLst xmlns:a="http://schemas.openxmlformats.org/drawingml/2006/main">
              <a:ext uri="{FF2B5EF4-FFF2-40B4-BE49-F238E27FC236}">
                <a16:creationId xmlns:a16="http://schemas.microsoft.com/office/drawing/2014/main" id="{DCE81BB2-51DB-4588-9E57-ADBE713FDD8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88102B4-60F0-455A-9E1E-4BE8196E8FE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77</a:t>
            </a:r>
          </a:p>
        </p:txBody>
      </p:sp>
    </p:spTree>
    <p:extLst>
      <p:ext uri="{BB962C8B-B14F-4D97-AF65-F5344CB8AC3E}">
        <p14:creationId xmlns:p14="http://schemas.microsoft.com/office/powerpoint/2010/main" val="690161579"/>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6D0D7B1-B630-4554-BE07-81FC6CD0C05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Laboratory monitoring</a:t>
            </a:r>
          </a:p>
        </p:txBody>
      </p:sp>
      <p:graphicFrame>
        <p:nvGraphicFramePr>
          <p:cNvPr id="2" name="">
            <a:extLst xmlns:a="http://schemas.openxmlformats.org/drawingml/2006/main">
              <a:ext uri="{FF2B5EF4-FFF2-40B4-BE49-F238E27FC236}">
                <a16:creationId xmlns:a16="http://schemas.microsoft.com/office/drawing/2014/main" id="{403D1C3C-0D0D-42F9-89ED-671007A618AF}"/>
              </a:ext>
            </a:extLst>
          </p:cNvPr>
          <p:cNvGraphicFramePr/>
          <p:nvPr/>
        </p:nvGraphicFramePr>
        <p:xfrm>
          <a:off xmlns:a="http://schemas.openxmlformats.org/drawingml/2006/main" x="647700" y="1866900"/>
          <a:ext xmlns:a="http://schemas.openxmlformats.org/drawingml/2006/main" cx="10896600" cy="4090988"/>
        </p:xfrm>
        <a:graphic xmlns:a="http://schemas.openxmlformats.org/drawingml/2006/main">
          <a:graphicData uri="http://schemas.openxmlformats.org/drawingml/2006/table">
            <a:tbl>
              <a:tblPr/>
              <a:tblGrid>
                <a:gridCol w="2571750"/>
                <a:gridCol w="8324850"/>
              </a:tblGrid>
              <a:tr h="1157288">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Common penicillins and cephalosporins Examples: ampicillin, ampicillin-sulbactam, piperacillin-tazobactam, cefazolin, ceftriaxone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Routine laboratory plan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Review renal function for drugs that require renal adjustment. Add a CBC and hepatic profile during prolonged therapy.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When to monitor more closely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Monitor sooner with AKI, cytopenia, rash, eosinophilia, or possible drug-induced liver injury. With piperacillin-tazobactam, review sodium load and potassium when clinically relevant. With ceftriaxone, investigate biliary symptoms or a new cholestatic pattern.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015172C-73BE-43B5-9374-44C5179F958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E066A97-EBA6-4430-A35E-1D7DD6379FE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78</a:t>
            </a:r>
          </a:p>
        </p:txBody>
      </p:sp>
    </p:spTree>
    <p:extLst>
      <p:ext uri="{BB962C8B-B14F-4D97-AF65-F5344CB8AC3E}">
        <p14:creationId xmlns:p14="http://schemas.microsoft.com/office/powerpoint/2010/main" val="2126744899"/>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44C2070-7391-4A66-8A22-02A022364A8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Laboratory monitoring</a:t>
            </a:r>
          </a:p>
        </p:txBody>
      </p:sp>
      <p:graphicFrame>
        <p:nvGraphicFramePr>
          <p:cNvPr id="2" name="">
            <a:extLst xmlns:a="http://schemas.openxmlformats.org/drawingml/2006/main">
              <a:ext uri="{FF2B5EF4-FFF2-40B4-BE49-F238E27FC236}">
                <a16:creationId xmlns:a16="http://schemas.microsoft.com/office/drawing/2014/main" id="{5F6904EB-4493-4E81-B821-F36DD10F0891}"/>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Cefepime and carbapenems Examples: ertapenem, meropenem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Routine laboratory plan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Review renal function and adjust the dose promptly when it changes. Add a CBC and hepatic profile during prolonged therapy.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When to monitor more closely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AKI, older age, encephalopathy, myoclonus, aphasia, or seizures. Review any concomitant valproate before using a carbapenem because the interaction can markedly lower valproate concentrations.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46A0586-27F2-418F-A6D1-97616BE50E3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F5CB21F-D990-4A93-98AE-7F58E1E78D5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79</a:t>
            </a:r>
          </a:p>
        </p:txBody>
      </p:sp>
    </p:spTree>
    <p:extLst>
      <p:ext uri="{BB962C8B-B14F-4D97-AF65-F5344CB8AC3E}">
        <p14:creationId xmlns:p14="http://schemas.microsoft.com/office/powerpoint/2010/main" val="932484800"/>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5B1CEF3-4E48-4094-A178-D919F51E0EB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Laboratory monitoring</a:t>
            </a:r>
          </a:p>
        </p:txBody>
      </p:sp>
      <p:graphicFrame>
        <p:nvGraphicFramePr>
          <p:cNvPr id="2" name="">
            <a:extLst xmlns:a="http://schemas.openxmlformats.org/drawingml/2006/main">
              <a:ext uri="{FF2B5EF4-FFF2-40B4-BE49-F238E27FC236}">
                <a16:creationId xmlns:a16="http://schemas.microsoft.com/office/drawing/2014/main" id="{B34DD782-BDB1-41C0-8984-797358A8BA90}"/>
              </a:ext>
            </a:extLst>
          </p:cNvPr>
          <p:cNvGraphicFramePr/>
          <p:nvPr/>
        </p:nvGraphicFramePr>
        <p:xfrm>
          <a:off xmlns:a="http://schemas.openxmlformats.org/drawingml/2006/main" x="647700" y="1866900"/>
          <a:ext xmlns:a="http://schemas.openxmlformats.org/drawingml/2006/main" cx="10896600" cy="378142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Vancomycin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Routine laboratory plan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Serum creatinine and trough monitoring through the treating pharmacy workflow. Confirm the correct collection time and the indication-specific local target; no single trough goal applies to every syndrome.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When to monitor more closely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Unstable renal function, critical illness, dialysis, obesity, concurrent nephrotoxins, or an unexpectedly high or low trough. The 2020 national consensus recommends AUC-guided monitoring for serious MRSA infection; check the service-specific workflow. 3</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BF274C6-ABEB-4ECB-9497-01786E518F2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2FDA7FB-5288-4C76-943E-C1C5D6A8BDE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80</a:t>
            </a:r>
          </a:p>
        </p:txBody>
      </p:sp>
    </p:spTree>
    <p:extLst>
      <p:ext uri="{BB962C8B-B14F-4D97-AF65-F5344CB8AC3E}">
        <p14:creationId xmlns:p14="http://schemas.microsoft.com/office/powerpoint/2010/main" val="674226626"/>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2FBAD11-D2B9-4265-9CC6-E35D90EC238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Laboratory monitoring</a:t>
            </a:r>
          </a:p>
        </p:txBody>
      </p:sp>
      <p:graphicFrame>
        <p:nvGraphicFramePr>
          <p:cNvPr id="2" name="">
            <a:extLst xmlns:a="http://schemas.openxmlformats.org/drawingml/2006/main">
              <a:ext uri="{FF2B5EF4-FFF2-40B4-BE49-F238E27FC236}">
                <a16:creationId xmlns:a16="http://schemas.microsoft.com/office/drawing/2014/main" id="{CCF1FBF0-9F17-4B3C-8302-D2980ECA8FFD}"/>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Daptomycin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Routine laboratory plan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Baseline and at least weekly CPK; renal function for dosing. 25</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When to monitor more closely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Monitor CPK and renal function more often with renal impairment, rising CPK, muscle pain or weakness, or concurrent statin exposure. New fever, hypoxemia, and infiltrates after several weeks should raise concern for eosinophilic pneumonia.</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C297BBA8-91EA-4681-A7DA-EB9314472EB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B05181F-8BAD-443A-9803-98BE5596F82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81</a:t>
            </a:r>
          </a:p>
        </p:txBody>
      </p:sp>
    </p:spTree>
    <p:extLst>
      <p:ext uri="{BB962C8B-B14F-4D97-AF65-F5344CB8AC3E}">
        <p14:creationId xmlns:p14="http://schemas.microsoft.com/office/powerpoint/2010/main" val="1327487136"/>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3A2EC29-1635-4670-B174-B54FD7F27CB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Laboratory monitoring</a:t>
            </a:r>
          </a:p>
        </p:txBody>
      </p:sp>
      <p:graphicFrame>
        <p:nvGraphicFramePr>
          <p:cNvPr id="2" name="">
            <a:extLst xmlns:a="http://schemas.openxmlformats.org/drawingml/2006/main">
              <a:ext uri="{FF2B5EF4-FFF2-40B4-BE49-F238E27FC236}">
                <a16:creationId xmlns:a16="http://schemas.microsoft.com/office/drawing/2014/main" id="{5A6371A8-C785-4EB0-BD59-102002D5D8F7}"/>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Linezolid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Routine laboratory plan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CBC at least weekly. Review sodium in patients at risk for hyponatremia and glucose in patients receiving hypoglycemic therapy. 26</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When to monitor more closely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Treatment beyond 2 weeks, renal or hepatic impairment, baseline marrow suppression, falling platelets, unexplained acidosis, neuropathic symptoms, or visual symptoms.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F97CABF5-E87C-4380-BA08-CDC962B5336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45FA3F8-280C-4FC5-BE98-7F422ED8D5B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82</a:t>
            </a:r>
          </a:p>
        </p:txBody>
      </p:sp>
    </p:spTree>
    <p:extLst>
      <p:ext uri="{BB962C8B-B14F-4D97-AF65-F5344CB8AC3E}">
        <p14:creationId xmlns:p14="http://schemas.microsoft.com/office/powerpoint/2010/main" val="1547154805"/>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C407BFB-9269-4664-BED1-AEEFA75B23A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Laboratory monitoring</a:t>
            </a:r>
          </a:p>
        </p:txBody>
      </p:sp>
      <p:graphicFrame>
        <p:nvGraphicFramePr>
          <p:cNvPr id="2" name="">
            <a:extLst xmlns:a="http://schemas.openxmlformats.org/drawingml/2006/main">
              <a:ext uri="{FF2B5EF4-FFF2-40B4-BE49-F238E27FC236}">
                <a16:creationId xmlns:a16="http://schemas.microsoft.com/office/drawing/2014/main" id="{15CD3194-30A4-4E94-854F-300DCBBEA553}"/>
              </a:ext>
            </a:extLst>
          </p:cNvPr>
          <p:cNvGraphicFramePr/>
          <p:nvPr/>
        </p:nvGraphicFramePr>
        <p:xfrm>
          <a:off xmlns:a="http://schemas.openxmlformats.org/drawingml/2006/main" x="647700" y="1866900"/>
          <a:ext xmlns:a="http://schemas.openxmlformats.org/drawingml/2006/main" cx="10896600" cy="34718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TMP-SMX</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Routine laboratory plan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Potassium (K+), renal function, and CBC. The apparent creatinine rise from trimethoprim may reflect inhibited tubular secretion, but true AKI also occurs. 27</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When to monitor more closely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Check K+ and renal function more closely with CKD, high-dose therapy, an ACE inhibitor, ARB, spironolactone, or another hyperkalemia risk. Monitor more closely with cytopenia or concurrent methotrexate. Add sodium and hepatic testing when the clinical context warrants it.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4CE6E97-3EF6-4710-91A0-04A8D4F90B9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A3B1F73-D9EF-4E63-9C28-D6464C4E796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83</a:t>
            </a:r>
          </a:p>
        </p:txBody>
      </p:sp>
    </p:spTree>
    <p:extLst>
      <p:ext uri="{BB962C8B-B14F-4D97-AF65-F5344CB8AC3E}">
        <p14:creationId xmlns:p14="http://schemas.microsoft.com/office/powerpoint/2010/main" val="335706126"/>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12F4BFF-A143-4FE1-93E2-861D0E5C27B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Laboratory monitoring</a:t>
            </a:r>
          </a:p>
        </p:txBody>
      </p:sp>
      <p:graphicFrame>
        <p:nvGraphicFramePr>
          <p:cNvPr id="2" name="">
            <a:extLst xmlns:a="http://schemas.openxmlformats.org/drawingml/2006/main">
              <a:ext uri="{FF2B5EF4-FFF2-40B4-BE49-F238E27FC236}">
                <a16:creationId xmlns:a16="http://schemas.microsoft.com/office/drawing/2014/main" id="{3F016668-8A32-458F-9D8D-55427A849FF1}"/>
              </a:ext>
            </a:extLst>
          </p:cNvPr>
          <p:cNvGraphicFramePr/>
          <p:nvPr/>
        </p:nvGraphicFramePr>
        <p:xfrm>
          <a:off xmlns:a="http://schemas.openxmlformats.org/drawingml/2006/main" x="647700" y="1866900"/>
          <a:ext xmlns:a="http://schemas.openxmlformats.org/drawingml/2006/main" cx="10896600" cy="34718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Ciprofloxacin, levofloxacin, and moxifloxacin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Routine laboratory plan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Review renal function for ciprofloxacin and levofloxacin dosing; moxifloxacin does not use renal dose adjustment. Routine ECG or glucose checks are not required for every patient.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When to monitor more closely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Check glucose more closely in patients with diabetes or dysglycemia risk. Obtain electrolytes and consider an ECG when QT risk is meaningful. Reassess promptly for hepatitis, cytopenia, or severe adverse symptoms. 5</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0FDBC7D-2162-4986-8B85-7D14465034A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8F2CAD9-0F62-4429-B60E-9E0CEC63A75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84</a:t>
            </a:r>
          </a:p>
        </p:txBody>
      </p:sp>
    </p:spTree>
    <p:extLst>
      <p:ext uri="{BB962C8B-B14F-4D97-AF65-F5344CB8AC3E}">
        <p14:creationId xmlns:p14="http://schemas.microsoft.com/office/powerpoint/2010/main" val="1824930889"/>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FEC7D40-6216-40E4-81E3-7A05B55AFFC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Laboratory monitoring</a:t>
            </a:r>
          </a:p>
        </p:txBody>
      </p:sp>
      <p:graphicFrame>
        <p:nvGraphicFramePr>
          <p:cNvPr id="2" name="">
            <a:extLst xmlns:a="http://schemas.openxmlformats.org/drawingml/2006/main">
              <a:ext uri="{FF2B5EF4-FFF2-40B4-BE49-F238E27FC236}">
                <a16:creationId xmlns:a16="http://schemas.microsoft.com/office/drawing/2014/main" id="{F35A2D67-F1B6-43EF-98D3-3130CB009778}"/>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Metronidazole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Routine laboratory plan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CBC is reasonable for a prolonged or repeated course; review hepatic function when severe liver disease may alter exposure. 28</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When to monitor more closely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Neurologic symptoms, leukopenia, prolonged therapy, or concurrent warfarin. Follow the INR when the drugs are combined.</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A8CF365-80B0-4E1D-B368-214415DA6CB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3621D34-BD7B-45D6-B7CE-63569165804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85</a:t>
            </a:r>
          </a:p>
        </p:txBody>
      </p:sp>
    </p:spTree>
    <p:extLst>
      <p:ext uri="{BB962C8B-B14F-4D97-AF65-F5344CB8AC3E}">
        <p14:creationId xmlns:p14="http://schemas.microsoft.com/office/powerpoint/2010/main" val="1324865899"/>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1F659CB-6266-4145-9CA2-FB14470D56D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Laboratory monitoring</a:t>
            </a:r>
          </a:p>
        </p:txBody>
      </p:sp>
      <p:graphicFrame>
        <p:nvGraphicFramePr>
          <p:cNvPr id="2" name="">
            <a:extLst xmlns:a="http://schemas.openxmlformats.org/drawingml/2006/main">
              <a:ext uri="{FF2B5EF4-FFF2-40B4-BE49-F238E27FC236}">
                <a16:creationId xmlns:a16="http://schemas.microsoft.com/office/drawing/2014/main" id="{C2C8C9D9-223F-4F0E-A636-3840A4702B97}"/>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Nitrofurantoin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Routine laboratory plan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Confirm adequate renal function before use. A brief cystitis course usually does not need serial laboratory testing.</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When to monitor more closely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For long-term suppression, periodically review renal and hepatic function and actively ask about cough, dyspnea, neuropathy, and hepatitis symptoms. 29</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894B8C8A-A9D1-466B-BC28-2E2EFAD5DC8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32AA8D6-5789-49DE-B4BF-6EE1DF4691B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86</a:t>
            </a:r>
          </a:p>
        </p:txBody>
      </p:sp>
    </p:spTree>
    <p:extLst>
      <p:ext uri="{BB962C8B-B14F-4D97-AF65-F5344CB8AC3E}">
        <p14:creationId xmlns:p14="http://schemas.microsoft.com/office/powerpoint/2010/main" val="1161687245"/>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C12C659-E13E-4349-A928-CD748D3943C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Laboratory monitoring</a:t>
            </a:r>
          </a:p>
        </p:txBody>
      </p:sp>
      <p:graphicFrame>
        <p:nvGraphicFramePr>
          <p:cNvPr id="2" name="">
            <a:extLst xmlns:a="http://schemas.openxmlformats.org/drawingml/2006/main">
              <a:ext uri="{FF2B5EF4-FFF2-40B4-BE49-F238E27FC236}">
                <a16:creationId xmlns:a16="http://schemas.microsoft.com/office/drawing/2014/main" id="{D01097BC-1189-4646-A05B-C8D8D37FE1D4}"/>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Fluconazole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Routine laboratory plan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Renal function for dosing and hepatic profile during systemic or prolonged therapy. 30</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When to monitor more closely</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Abnormal liver tests, interacting drugs, or meaningful QT risk. Check potassium and magnesium and consider an ECG when torsades risk is present; follow the INR with warfarin.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0FC1F80-C57D-4E37-9D92-A81A2E7D00A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E0FE9EE-000F-4524-AB15-06F34930F3E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87</a:t>
            </a:r>
          </a:p>
        </p:txBody>
      </p:sp>
    </p:spTree>
    <p:extLst>
      <p:ext uri="{BB962C8B-B14F-4D97-AF65-F5344CB8AC3E}">
        <p14:creationId xmlns:p14="http://schemas.microsoft.com/office/powerpoint/2010/main" val="838337140"/>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FCB1DC3-6992-4BEC-9B00-896B9B43E21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Laboratory monitoring</a:t>
            </a:r>
          </a:p>
        </p:txBody>
      </p:sp>
      <p:sp>
        <p:nvSpPr>
          <p:cNvPr id="2" name="paragraph-0">
            <a:extLst xmlns:a="http://schemas.openxmlformats.org/drawingml/2006/main">
              <a:ext uri="{FF2B5EF4-FFF2-40B4-BE49-F238E27FC236}">
                <a16:creationId xmlns:a16="http://schemas.microsoft.com/office/drawing/2014/main" id="{14A1F9E1-AA8D-4A98-9DF9-A65941D0CAAC}"/>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ceftaroline, ceftobiprole, newer beta-lactam/beta-lactamase inhibitor combinations, cefiderocol, sulbactam-durlobactam, and other restricted agents, use the current prescribing information and the local ID pharmacy monitoring plan.</a:t>
            </a:r>
          </a:p>
        </p:txBody>
      </p:sp>
      <p:sp>
        <p:nvSpPr>
          <p:cNvPr id="3" name="paragraph-1">
            <a:extLst xmlns:a="http://schemas.openxmlformats.org/drawingml/2006/main">
              <a:ext uri="{FF2B5EF4-FFF2-40B4-BE49-F238E27FC236}">
                <a16:creationId xmlns:a16="http://schemas.microsoft.com/office/drawing/2014/main" id="{C8FD5AA3-BEC6-4830-8C02-B00E0175896E}"/>
              </a:ext>
            </a:extLst>
          </p:cNvPr>
          <p:cNvSpPr>
            <a:spLocks xmlns:a="http://schemas.openxmlformats.org/drawingml/2006/main" noGrp="1"/>
          </p:cNvSpPr>
          <p:nvPr/>
        </p:nvSpPr>
        <p:spPr>
          <a:xfrm xmlns:a="http://schemas.openxmlformats.org/drawingml/2006/main">
            <a:off x="647700" y="361950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Discharge and OPAT. Name the laboratory tests, timing, responsible clinician, result destination, toxicity threshold that should trigger a call, and planned stop date. “Weekly labs” without ownership is not a safe OPAT plan.</a:t>
            </a:r>
          </a:p>
        </p:txBody>
      </p:sp>
      <p:sp>
        <p:nvSpPr>
          <p:cNvPr id="4" name="footer">
            <a:extLst xmlns:a="http://schemas.openxmlformats.org/drawingml/2006/main">
              <a:ext uri="{FF2B5EF4-FFF2-40B4-BE49-F238E27FC236}">
                <a16:creationId xmlns:a16="http://schemas.microsoft.com/office/drawing/2014/main" id="{2004368A-3689-41B8-B6BD-D0E6E825D32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F60918B6-3C69-4782-AA30-2128041D1BE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88</a:t>
            </a:r>
          </a:p>
        </p:txBody>
      </p:sp>
    </p:spTree>
    <p:extLst>
      <p:ext uri="{BB962C8B-B14F-4D97-AF65-F5344CB8AC3E}">
        <p14:creationId xmlns:p14="http://schemas.microsoft.com/office/powerpoint/2010/main" val="1148835680"/>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2F9F6617-FC65-4C58-B059-1B7457530B5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culture is back. Does the patient still need IV therapy?</a:t>
            </a:r>
          </a:p>
        </p:txBody>
      </p:sp>
      <p:sp>
        <p:nvSpPr>
          <p:cNvPr id="2" name="paragraph-0">
            <a:extLst xmlns:a="http://schemas.openxmlformats.org/drawingml/2006/main">
              <a:ext uri="{FF2B5EF4-FFF2-40B4-BE49-F238E27FC236}">
                <a16:creationId xmlns:a16="http://schemas.microsoft.com/office/drawing/2014/main" id="{81904FDB-0BB9-492F-A1B7-514546A6A666}"/>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was admitted with fever, hypotension, pyelonephritis, and an obstructing ureteral stone. Blood and urine cultures grow K. pneumoniae . Urology has decompressed the collecting system. The patient is improving on cefepime. The isolate is susceptible to ceftriaxone, ciprofloxacin, and levofloxacin and has no identified ESBL phenotype.</a:t>
            </a:r>
          </a:p>
        </p:txBody>
      </p:sp>
      <p:sp>
        <p:nvSpPr>
          <p:cNvPr id="3" name="paragraph-1">
            <a:extLst xmlns:a="http://schemas.openxmlformats.org/drawingml/2006/main">
              <a:ext uri="{FF2B5EF4-FFF2-40B4-BE49-F238E27FC236}">
                <a16:creationId xmlns:a16="http://schemas.microsoft.com/office/drawing/2014/main" id="{0BF3A759-DD04-4F68-BC76-F7B8C0A205DF}"/>
              </a:ext>
            </a:extLst>
          </p:cNvPr>
          <p:cNvSpPr>
            <a:spLocks xmlns:a="http://schemas.openxmlformats.org/drawingml/2006/main" noGrp="1"/>
          </p:cNvSpPr>
          <p:nvPr/>
        </p:nvSpPr>
        <p:spPr>
          <a:xfrm xmlns:a="http://schemas.openxmlformats.org/drawingml/2006/main">
            <a:off x="647700" y="39719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Before opening the discussion</a:t>
            </a:r>
          </a:p>
        </p:txBody>
      </p:sp>
      <p:sp>
        <p:nvSpPr>
          <p:cNvPr id="4" name="paragraph-2">
            <a:extLst xmlns:a="http://schemas.openxmlformats.org/drawingml/2006/main">
              <a:ext uri="{FF2B5EF4-FFF2-40B4-BE49-F238E27FC236}">
                <a16:creationId xmlns:a16="http://schemas.microsoft.com/office/drawing/2014/main" id="{04F6DC1C-DCC4-4EFF-940D-6B437FB3E8F2}"/>
              </a:ext>
            </a:extLst>
          </p:cNvPr>
          <p:cNvSpPr>
            <a:spLocks xmlns:a="http://schemas.openxmlformats.org/drawingml/2006/main" noGrp="1"/>
          </p:cNvSpPr>
          <p:nvPr/>
        </p:nvSpPr>
        <p:spPr>
          <a:xfrm xmlns:a="http://schemas.openxmlformats.org/drawingml/2006/main">
            <a:off x="647700" y="45815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What mattered most in the first 24 hours?</a:t>
            </a:r>
          </a:p>
        </p:txBody>
      </p:sp>
      <p:sp>
        <p:nvSpPr>
          <p:cNvPr id="5" name="paragraph-3">
            <a:extLst xmlns:a="http://schemas.openxmlformats.org/drawingml/2006/main">
              <a:ext uri="{FF2B5EF4-FFF2-40B4-BE49-F238E27FC236}">
                <a16:creationId xmlns:a16="http://schemas.microsoft.com/office/drawing/2014/main" id="{CA091A8E-A505-4574-ABFC-EC50F619AB41}"/>
              </a:ext>
            </a:extLst>
          </p:cNvPr>
          <p:cNvSpPr>
            <a:spLocks xmlns:a="http://schemas.openxmlformats.org/drawingml/2006/main" noGrp="1"/>
          </p:cNvSpPr>
          <p:nvPr/>
        </p:nvSpPr>
        <p:spPr>
          <a:xfrm xmlns:a="http://schemas.openxmlformats.org/drawingml/2006/main">
            <a:off x="647700" y="51911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Would you narrow cefepime?</a:t>
            </a:r>
          </a:p>
        </p:txBody>
      </p:sp>
      <p:sp>
        <p:nvSpPr>
          <p:cNvPr id="6" name="footer">
            <a:extLst xmlns:a="http://schemas.openxmlformats.org/drawingml/2006/main">
              <a:ext uri="{FF2B5EF4-FFF2-40B4-BE49-F238E27FC236}">
                <a16:creationId xmlns:a16="http://schemas.microsoft.com/office/drawing/2014/main" id="{315042FD-E908-40FC-B03F-8280192F17F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7" name="number">
            <a:extLst xmlns:a="http://schemas.openxmlformats.org/drawingml/2006/main">
              <a:ext uri="{FF2B5EF4-FFF2-40B4-BE49-F238E27FC236}">
                <a16:creationId xmlns:a16="http://schemas.microsoft.com/office/drawing/2014/main" id="{0B041800-024E-4B68-A22B-B471F89D03D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89</a:t>
            </a:r>
          </a:p>
        </p:txBody>
      </p:sp>
    </p:spTree>
    <p:extLst>
      <p:ext uri="{BB962C8B-B14F-4D97-AF65-F5344CB8AC3E}">
        <p14:creationId xmlns:p14="http://schemas.microsoft.com/office/powerpoint/2010/main" val="884749698"/>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48D7DA0-BE23-4F5D-BA2A-C22E4982E91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The culture is back. Does the patient still need IV therapy?</a:t>
            </a:r>
          </a:p>
        </p:txBody>
      </p:sp>
      <p:sp>
        <p:nvSpPr>
          <p:cNvPr id="2" name="paragraph-0">
            <a:extLst xmlns:a="http://schemas.openxmlformats.org/drawingml/2006/main">
              <a:ext uri="{FF2B5EF4-FFF2-40B4-BE49-F238E27FC236}">
                <a16:creationId xmlns:a16="http://schemas.microsoft.com/office/drawing/2014/main" id="{3F21B11C-2226-4FDB-BF5E-FCA09BA2A57B}"/>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Could the patient finish orally?</a:t>
            </a:r>
          </a:p>
        </p:txBody>
      </p:sp>
      <p:sp>
        <p:nvSpPr>
          <p:cNvPr id="3" name="paragraph-1">
            <a:extLst xmlns:a="http://schemas.openxmlformats.org/drawingml/2006/main">
              <a:ext uri="{FF2B5EF4-FFF2-40B4-BE49-F238E27FC236}">
                <a16:creationId xmlns:a16="http://schemas.microsoft.com/office/drawing/2014/main" id="{EB2D0245-DFB6-49BB-A961-2BE3766B2F53}"/>
              </a:ext>
            </a:extLst>
          </p:cNvPr>
          <p:cNvSpPr>
            <a:spLocks xmlns:a="http://schemas.openxmlformats.org/drawingml/2006/main" noGrp="1"/>
          </p:cNvSpPr>
          <p:nvPr/>
        </p:nvSpPr>
        <p:spPr>
          <a:xfrm xmlns:a="http://schemas.openxmlformats.org/drawingml/2006/main">
            <a:off x="647700" y="25622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How would you choose duration?</a:t>
            </a:r>
          </a:p>
        </p:txBody>
      </p:sp>
      <p:sp>
        <p:nvSpPr>
          <p:cNvPr id="4" name="footer">
            <a:extLst xmlns:a="http://schemas.openxmlformats.org/drawingml/2006/main">
              <a:ext uri="{FF2B5EF4-FFF2-40B4-BE49-F238E27FC236}">
                <a16:creationId xmlns:a16="http://schemas.microsoft.com/office/drawing/2014/main" id="{A8437692-CC31-4021-87A3-9D077F01053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AFA54E62-FC9B-4D76-865D-31C8B438805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90</a:t>
            </a:r>
          </a:p>
        </p:txBody>
      </p:sp>
    </p:spTree>
    <p:extLst>
      <p:ext uri="{BB962C8B-B14F-4D97-AF65-F5344CB8AC3E}">
        <p14:creationId xmlns:p14="http://schemas.microsoft.com/office/powerpoint/2010/main" val="254982911"/>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9CF4CAC-A2DE-498C-9B57-4CE7FC5A386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How I would discuss this on rounds</a:t>
            </a:r>
          </a:p>
        </p:txBody>
      </p:sp>
      <p:sp>
        <p:nvSpPr>
          <p:cNvPr id="2" name="paragraph-0">
            <a:extLst xmlns:a="http://schemas.openxmlformats.org/drawingml/2006/main">
              <a:ext uri="{FF2B5EF4-FFF2-40B4-BE49-F238E27FC236}">
                <a16:creationId xmlns:a16="http://schemas.microsoft.com/office/drawing/2014/main" id="{1983CFE4-2419-421E-A424-65C767517D42}"/>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initial priorities were active therapy and decompression. Once the obstruction is relieved, the patient is stable, and susceptibility results are available, continued antipseudomonal coverage is unnecessary unless there is another reason for it.</a:t>
            </a:r>
          </a:p>
        </p:txBody>
      </p:sp>
      <p:sp>
        <p:nvSpPr>
          <p:cNvPr id="3" name="paragraph-1">
            <a:extLst xmlns:a="http://schemas.openxmlformats.org/drawingml/2006/main">
              <a:ext uri="{FF2B5EF4-FFF2-40B4-BE49-F238E27FC236}">
                <a16:creationId xmlns:a16="http://schemas.microsoft.com/office/drawing/2014/main" id="{D7713CC9-8800-4B2A-B633-267F3DFB72EB}"/>
              </a:ext>
            </a:extLst>
          </p:cNvPr>
          <p:cNvSpPr>
            <a:spLocks xmlns:a="http://schemas.openxmlformats.org/drawingml/2006/main" noGrp="1"/>
          </p:cNvSpPr>
          <p:nvPr/>
        </p:nvSpPr>
        <p:spPr>
          <a:xfrm xmlns:a="http://schemas.openxmlformats.org/drawingml/2006/main">
            <a:off x="647700" y="3619500"/>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Ceftriaxone is a reasonable narrower IV option for this susceptible isolate. Ciprofloxacin or levofloxacin is also a reasonable oral option if absorption is reliable, interactions and safety concerns are acceptable, and there is no other deep focus. The presence of bacteremia alone does not require a PICC.</a:t>
            </a:r>
          </a:p>
        </p:txBody>
      </p:sp>
      <p:sp>
        <p:nvSpPr>
          <p:cNvPr id="4" name="footer">
            <a:extLst xmlns:a="http://schemas.openxmlformats.org/drawingml/2006/main">
              <a:ext uri="{FF2B5EF4-FFF2-40B4-BE49-F238E27FC236}">
                <a16:creationId xmlns:a16="http://schemas.microsoft.com/office/drawing/2014/main" id="{F2E05054-8EE2-48EE-BD4A-6A138C181B1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BC5649D4-0CDE-4593-AB29-293E8EF9E3D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91</a:t>
            </a:r>
          </a:p>
        </p:txBody>
      </p:sp>
    </p:spTree>
    <p:extLst>
      <p:ext uri="{BB962C8B-B14F-4D97-AF65-F5344CB8AC3E}">
        <p14:creationId xmlns:p14="http://schemas.microsoft.com/office/powerpoint/2010/main" val="1882739094"/>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7C3EBA6-8514-4C0A-8320-512D183F95B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How I would discuss this on rounds</a:t>
            </a:r>
          </a:p>
        </p:txBody>
      </p:sp>
      <p:sp>
        <p:nvSpPr>
          <p:cNvPr id="2" name="paragraph-0">
            <a:extLst xmlns:a="http://schemas.openxmlformats.org/drawingml/2006/main">
              <a:ext uri="{FF2B5EF4-FFF2-40B4-BE49-F238E27FC236}">
                <a16:creationId xmlns:a16="http://schemas.microsoft.com/office/drawing/2014/main" id="{DF1DA26C-9ED3-4E9B-8852-CDB2E59E9E9B}"/>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improving cUTI, the 2025 IDSA guideline suggests 5–7 days for a fluoroquinolone or 7 days for a non-fluoroquinolone, counted from the first day of effective therapy. Many supporting studies excluded patients with complete obstruction, abscess, severe sepsis, significant immunocompromise, chronic kidney disease, or urologic procedures, so duration may need individualization. Do not default to 14 days because bacteremia was present. 2</a:t>
            </a:r>
          </a:p>
        </p:txBody>
      </p:sp>
      <p:sp>
        <p:nvSpPr>
          <p:cNvPr id="3" name="footer">
            <a:extLst xmlns:a="http://schemas.openxmlformats.org/drawingml/2006/main">
              <a:ext uri="{FF2B5EF4-FFF2-40B4-BE49-F238E27FC236}">
                <a16:creationId xmlns:a16="http://schemas.microsoft.com/office/drawing/2014/main" id="{55259C98-7163-46A4-906D-C1224117DB4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9BC9E4B-A5C9-4A4A-BDD0-BB4469E1A34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92</a:t>
            </a:r>
          </a:p>
        </p:txBody>
      </p:sp>
    </p:spTree>
    <p:extLst>
      <p:ext uri="{BB962C8B-B14F-4D97-AF65-F5344CB8AC3E}">
        <p14:creationId xmlns:p14="http://schemas.microsoft.com/office/powerpoint/2010/main" val="214155751"/>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51C8023-D109-41CB-BA0E-A50192DBFFE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to change from IV to oral therapy</a:t>
            </a:r>
          </a:p>
        </p:txBody>
      </p:sp>
      <p:sp>
        <p:nvSpPr>
          <p:cNvPr id="2" name="paragraph-0">
            <a:extLst xmlns:a="http://schemas.openxmlformats.org/drawingml/2006/main">
              <a:ext uri="{FF2B5EF4-FFF2-40B4-BE49-F238E27FC236}">
                <a16:creationId xmlns:a16="http://schemas.microsoft.com/office/drawing/2014/main" id="{CE2D86E7-26E4-46DA-94B8-04D3052C3A8D}"/>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Oral therapy is reasonable when the patient is improving, source control is adequate, the organism is susceptible, the chosen drug reaches the relevant site and systemic exposure, the gastrointestinal tract works, and the patient can take the regimen reliably. “Bacteremia” by itself is not an indication for prolonged IV therapy.</a:t>
            </a:r>
          </a:p>
        </p:txBody>
      </p:sp>
      <p:sp>
        <p:nvSpPr>
          <p:cNvPr id="3" name="footer">
            <a:extLst xmlns:a="http://schemas.openxmlformats.org/drawingml/2006/main">
              <a:ext uri="{FF2B5EF4-FFF2-40B4-BE49-F238E27FC236}">
                <a16:creationId xmlns:a16="http://schemas.microsoft.com/office/drawing/2014/main" id="{36E27680-90F2-4C75-9F42-9BD78B2DEC9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BF65B68-AFEF-4063-9EF9-B134F1D5AB0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93</a:t>
            </a:r>
          </a:p>
        </p:txBody>
      </p:sp>
    </p:spTree>
    <p:extLst>
      <p:ext uri="{BB962C8B-B14F-4D97-AF65-F5344CB8AC3E}">
        <p14:creationId xmlns:p14="http://schemas.microsoft.com/office/powerpoint/2010/main" val="981582732"/>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DC5FFB0-993F-4545-9B48-4F8866FA4F4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Agents with high oral exposure</a:t>
            </a:r>
          </a:p>
        </p:txBody>
      </p:sp>
      <p:sp>
        <p:nvSpPr>
          <p:cNvPr id="2" name="paragraph-0">
            <a:extLst xmlns:a="http://schemas.openxmlformats.org/drawingml/2006/main">
              <a:ext uri="{FF2B5EF4-FFF2-40B4-BE49-F238E27FC236}">
                <a16:creationId xmlns:a16="http://schemas.microsoft.com/office/drawing/2014/main" id="{B250CA50-6C55-47DD-8125-1C84FEADB76B}"/>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Fluoroquinolones, linezolid, metronidazole, TMP-SMX, doxycycline, and fluconazole have high oral bioavailability. Oral beta-lactams can also work for selected infections. Check the dose, organism MIC, infection site, and supporting clinical evidence.</a:t>
            </a:r>
          </a:p>
        </p:txBody>
      </p:sp>
      <p:sp>
        <p:nvSpPr>
          <p:cNvPr id="3" name="footer">
            <a:extLst xmlns:a="http://schemas.openxmlformats.org/drawingml/2006/main">
              <a:ext uri="{FF2B5EF4-FFF2-40B4-BE49-F238E27FC236}">
                <a16:creationId xmlns:a16="http://schemas.microsoft.com/office/drawing/2014/main" id="{19305005-8AEC-4085-8AB1-1FCA297A852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59677A4-FC16-48DB-BD24-D28F356A9D3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94</a:t>
            </a:r>
          </a:p>
        </p:txBody>
      </p:sp>
    </p:spTree>
    <p:extLst>
      <p:ext uri="{BB962C8B-B14F-4D97-AF65-F5344CB8AC3E}">
        <p14:creationId xmlns:p14="http://schemas.microsoft.com/office/powerpoint/2010/main" val="2145446034"/>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B3D5B0B-F4B6-4E1C-A2F0-2515DEECB96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IV therapy should continue</a:t>
            </a:r>
          </a:p>
        </p:txBody>
      </p:sp>
      <p:sp>
        <p:nvSpPr>
          <p:cNvPr id="2" name="paragraph-0">
            <a:extLst xmlns:a="http://schemas.openxmlformats.org/drawingml/2006/main">
              <a:ext uri="{FF2B5EF4-FFF2-40B4-BE49-F238E27FC236}">
                <a16:creationId xmlns:a16="http://schemas.microsoft.com/office/drawing/2014/main" id="{C8471222-53E0-4401-B179-62F6750FEB02}"/>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Hemodynamic instability, uncontrolled source, unreliable absorption, no active oral option, endovascular or CNS infection without a validated oral strategy, adherence barriers that cannot be addressed, or a clinical course that does not fit the presumed diagnosis.</a:t>
            </a:r>
          </a:p>
        </p:txBody>
      </p:sp>
      <p:sp>
        <p:nvSpPr>
          <p:cNvPr id="3" name="footer">
            <a:extLst xmlns:a="http://schemas.openxmlformats.org/drawingml/2006/main">
              <a:ext uri="{FF2B5EF4-FFF2-40B4-BE49-F238E27FC236}">
                <a16:creationId xmlns:a16="http://schemas.microsoft.com/office/drawing/2014/main" id="{0F9EEF42-FC3C-4AFA-8438-9B7FF600C4E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E03BE42-1755-485A-81A5-29789C7D514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95</a:t>
            </a:r>
          </a:p>
        </p:txBody>
      </p:sp>
    </p:spTree>
    <p:extLst>
      <p:ext uri="{BB962C8B-B14F-4D97-AF65-F5344CB8AC3E}">
        <p14:creationId xmlns:p14="http://schemas.microsoft.com/office/powerpoint/2010/main" val="658064580"/>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CB4822E-6DF8-4A2D-BA6D-0A47A420356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IV therapy should continue</a:t>
            </a:r>
          </a:p>
        </p:txBody>
      </p:sp>
      <p:graphicFrame>
        <p:nvGraphicFramePr>
          <p:cNvPr id="2" name="">
            <a:extLst xmlns:a="http://schemas.openxmlformats.org/drawingml/2006/main">
              <a:ext uri="{FF2B5EF4-FFF2-40B4-BE49-F238E27FC236}">
                <a16:creationId xmlns:a16="http://schemas.microsoft.com/office/drawing/2014/main" id="{86576274-83DD-49F9-AD93-83B2A02D8772}"/>
              </a:ext>
            </a:extLst>
          </p:cNvPr>
          <p:cNvGraphicFramePr/>
          <p:nvPr/>
        </p:nvGraphicFramePr>
        <p:xfrm>
          <a:off xmlns:a="http://schemas.openxmlformats.org/drawingml/2006/main" x="647700" y="1866900"/>
          <a:ext xmlns:a="http://schemas.openxmlformats.org/drawingml/2006/main" cx="10896600" cy="2462213"/>
        </p:xfrm>
        <a:graphic xmlns:a="http://schemas.openxmlformats.org/drawingml/2006/main">
          <a:graphicData uri="http://schemas.openxmlformats.org/drawingml/2006/table">
            <a:tbl>
              <a:tblPr/>
              <a:tblGrid>
                <a:gridCol w="3632200"/>
                <a:gridCol w="3632200"/>
                <a:gridCol w="3632200"/>
              </a:tblGrid>
              <a:tr h="538163">
                <a:tc>
                  <a:txBody>
                    <a:bodyPr lIns="114300" tIns="114300" rIns="114300" bIns="114300">
                      <a:noAutofit/>
                    </a:bodyPr>
                    <a:lstStyle/>
                    <a:p>
                      <a:r>
                        <a:rPr sz="1950" b="1">
                          <a:solidFill>
                            <a:srgbClr val="FFFFFF"/>
                          </a:solidFill>
                          <a:latin typeface="DejaVu Sans"/>
                          <a:ea typeface="DejaVu Sans"/>
                          <a:cs typeface="DejaVu Sans"/>
                        </a:rPr>
                        <a:t>Agent</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Oral absorption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Urinary excretion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Amoxicillin-clavulanate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Amoxicillin about 80%; clavulanate variable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Amoxicillin 50–70%; clavulanate 25–40%</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Cefixime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About 50%</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About 50%</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38163">
                <a:tc>
                  <a:txBody>
                    <a:bodyPr lIns="114300" tIns="114300" rIns="114300" bIns="114300">
                      <a:noAutofit/>
                    </a:bodyPr>
                    <a:lstStyle/>
                    <a:p>
                      <a:r>
                        <a:rPr sz="1950" b="0">
                          <a:solidFill>
                            <a:srgbClr val="16323B"/>
                          </a:solidFill>
                          <a:latin typeface="DejaVu Sans"/>
                          <a:ea typeface="DejaVu Sans"/>
                          <a:cs typeface="DejaVu Sans"/>
                        </a:rPr>
                        <a:t>Cefpodoxime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About 50%</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About 30%</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679526D3-085F-4681-841F-A6B92D8E62D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A797B00-84F2-476D-A795-63BB43BD340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96</a:t>
            </a:r>
          </a:p>
        </p:txBody>
      </p:sp>
    </p:spTree>
    <p:extLst>
      <p:ext uri="{BB962C8B-B14F-4D97-AF65-F5344CB8AC3E}">
        <p14:creationId xmlns:p14="http://schemas.microsoft.com/office/powerpoint/2010/main" val="57702583"/>
      </p:ext>
    </p:extLst>
  </p:cSld>
</p:sld>
</file>

<file path=ppt/slides/slide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804CE29-DB92-443F-AFC3-0FC300E4C61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IV therapy should continue</a:t>
            </a:r>
          </a:p>
        </p:txBody>
      </p:sp>
      <p:graphicFrame>
        <p:nvGraphicFramePr>
          <p:cNvPr id="2" name="">
            <a:extLst xmlns:a="http://schemas.openxmlformats.org/drawingml/2006/main">
              <a:ext uri="{FF2B5EF4-FFF2-40B4-BE49-F238E27FC236}">
                <a16:creationId xmlns:a16="http://schemas.microsoft.com/office/drawing/2014/main" id="{5B57014E-68C3-4953-BFE4-290B7E5B67E6}"/>
              </a:ext>
            </a:extLst>
          </p:cNvPr>
          <p:cNvGraphicFramePr/>
          <p:nvPr/>
        </p:nvGraphicFramePr>
        <p:xfrm>
          <a:off xmlns:a="http://schemas.openxmlformats.org/drawingml/2006/main" x="647700" y="1866900"/>
          <a:ext xmlns:a="http://schemas.openxmlformats.org/drawingml/2006/main" cx="10896600" cy="2152650"/>
        </p:xfrm>
        <a:graphic xmlns:a="http://schemas.openxmlformats.org/drawingml/2006/main">
          <a:graphicData uri="http://schemas.openxmlformats.org/drawingml/2006/table">
            <a:tbl>
              <a:tblPr/>
              <a:tblGrid>
                <a:gridCol w="3632200"/>
                <a:gridCol w="3632200"/>
                <a:gridCol w="3632200"/>
              </a:tblGrid>
              <a:tr h="538163">
                <a:tc>
                  <a:txBody>
                    <a:bodyPr lIns="114300" tIns="114300" rIns="114300" bIns="114300">
                      <a:noAutofit/>
                    </a:bodyPr>
                    <a:lstStyle/>
                    <a:p>
                      <a:r>
                        <a:rPr sz="1950" b="1">
                          <a:solidFill>
                            <a:srgbClr val="FFFFFF"/>
                          </a:solidFill>
                          <a:latin typeface="DejaVu Sans"/>
                          <a:ea typeface="DejaVu Sans"/>
                          <a:cs typeface="DejaVu Sans"/>
                        </a:rPr>
                        <a:t>Agent</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Oral absorption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Urinary excretion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Ceftibuten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75–90%</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About 56%</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Cefuroxime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About 52%</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About 50%</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538163">
                <a:tc>
                  <a:txBody>
                    <a:bodyPr lIns="114300" tIns="114300" rIns="114300" bIns="114300">
                      <a:noAutofit/>
                    </a:bodyPr>
                    <a:lstStyle/>
                    <a:p>
                      <a:r>
                        <a:rPr sz="1950" b="0">
                          <a:solidFill>
                            <a:srgbClr val="16323B"/>
                          </a:solidFill>
                          <a:latin typeface="DejaVu Sans"/>
                          <a:ea typeface="DejaVu Sans"/>
                          <a:cs typeface="DejaVu Sans"/>
                        </a:rPr>
                        <a:t>Cephalexin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About 90%</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About 90%</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B1247A01-660F-4334-8C93-46BC1408FD7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13553F5-B46F-4DE2-A300-610BEA83620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97</a:t>
            </a:r>
          </a:p>
        </p:txBody>
      </p:sp>
    </p:spTree>
    <p:extLst>
      <p:ext uri="{BB962C8B-B14F-4D97-AF65-F5344CB8AC3E}">
        <p14:creationId xmlns:p14="http://schemas.microsoft.com/office/powerpoint/2010/main" val="151593306"/>
      </p:ext>
    </p:extLst>
  </p:cSld>
</p:sld>
</file>

<file path=ppt/slides/slide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8AAB01E-655A-4580-AB7B-855F44C4119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IV therapy should continue</a:t>
            </a:r>
          </a:p>
        </p:txBody>
      </p:sp>
      <p:graphicFrame>
        <p:nvGraphicFramePr>
          <p:cNvPr id="2" name="">
            <a:extLst xmlns:a="http://schemas.openxmlformats.org/drawingml/2006/main">
              <a:ext uri="{FF2B5EF4-FFF2-40B4-BE49-F238E27FC236}">
                <a16:creationId xmlns:a16="http://schemas.microsoft.com/office/drawing/2014/main" id="{E6E95A7A-515A-4765-B36D-19396825F64C}"/>
              </a:ext>
            </a:extLst>
          </p:cNvPr>
          <p:cNvGraphicFramePr/>
          <p:nvPr/>
        </p:nvGraphicFramePr>
        <p:xfrm>
          <a:off xmlns:a="http://schemas.openxmlformats.org/drawingml/2006/main" x="647700" y="1866900"/>
          <a:ext xmlns:a="http://schemas.openxmlformats.org/drawingml/2006/main" cx="10896600" cy="2462213"/>
        </p:xfrm>
        <a:graphic xmlns:a="http://schemas.openxmlformats.org/drawingml/2006/main">
          <a:graphicData uri="http://schemas.openxmlformats.org/drawingml/2006/table">
            <a:tbl>
              <a:tblPr/>
              <a:tblGrid>
                <a:gridCol w="3632200"/>
                <a:gridCol w="3632200"/>
                <a:gridCol w="3632200"/>
              </a:tblGrid>
              <a:tr h="538163">
                <a:tc>
                  <a:txBody>
                    <a:bodyPr lIns="114300" tIns="114300" rIns="114300" bIns="114300">
                      <a:noAutofit/>
                    </a:bodyPr>
                    <a:lstStyle/>
                    <a:p>
                      <a:r>
                        <a:rPr sz="1950" b="1">
                          <a:solidFill>
                            <a:srgbClr val="FFFFFF"/>
                          </a:solidFill>
                          <a:latin typeface="DejaVu Sans"/>
                          <a:ea typeface="DejaVu Sans"/>
                          <a:cs typeface="DejaVu Sans"/>
                        </a:rPr>
                        <a:t>Agent</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Oral absorption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Urinary excretion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Ciprofloxacin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About 70%</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40–50%</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Levofloxacin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About 99%</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64–100%</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TMP-SMX</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70–90%</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Sulfamethoxazole 84%; trimethoprim 66%</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8476B495-B0CF-4945-AF77-2ABAA18383F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8C040B0-A49C-4D3C-A72D-2054C9B493C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98</a:t>
            </a:r>
          </a:p>
        </p:txBody>
      </p:sp>
    </p:spTree>
    <p:extLst>
      <p:ext uri="{BB962C8B-B14F-4D97-AF65-F5344CB8AC3E}">
        <p14:creationId xmlns:p14="http://schemas.microsoft.com/office/powerpoint/2010/main" val="1442266046"/>
      </p:ext>
    </p:extLst>
  </p:cSld>
</p:sld>
</file>

<file path=ppt/slides/slide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9454DA2-CC6E-4B49-8C16-E72F7FDFB0F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IV therapy should continue</a:t>
            </a:r>
          </a:p>
        </p:txBody>
      </p:sp>
      <p:sp>
        <p:nvSpPr>
          <p:cNvPr id="2" name="paragraph-0">
            <a:extLst xmlns:a="http://schemas.openxmlformats.org/drawingml/2006/main">
              <a:ext uri="{FF2B5EF4-FFF2-40B4-BE49-F238E27FC236}">
                <a16:creationId xmlns:a16="http://schemas.microsoft.com/office/drawing/2014/main" id="{DFA89453-F3E7-4D20-B160-90043FA7CF34}"/>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Values are approximate and come from the dosing supplement to the 2025 IDSA cUTI guideline. 2 Absorption is not the same as adequate exposure. Dose, organism MIC, infection site, renal function, and clinical evidence still determine whether an oral drug is a reasonable choice.</a:t>
            </a:r>
          </a:p>
        </p:txBody>
      </p:sp>
      <p:sp>
        <p:nvSpPr>
          <p:cNvPr id="3" name="footer">
            <a:extLst xmlns:a="http://schemas.openxmlformats.org/drawingml/2006/main">
              <a:ext uri="{FF2B5EF4-FFF2-40B4-BE49-F238E27FC236}">
                <a16:creationId xmlns:a16="http://schemas.microsoft.com/office/drawing/2014/main" id="{1081A4A3-3C6D-44BE-8A46-D2453BC3027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67BDE6F-1F3B-458B-9804-9C14338A6BE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99</a:t>
            </a:r>
          </a:p>
        </p:txBody>
      </p:sp>
    </p:spTree>
    <p:extLst>
      <p:ext uri="{BB962C8B-B14F-4D97-AF65-F5344CB8AC3E}">
        <p14:creationId xmlns:p14="http://schemas.microsoft.com/office/powerpoint/2010/main" val="1864161382"/>
      </p:ext>
    </p:extLst>
  </p:cSld>
</p:sld>
</file>

<file path=ppt/slides/slide1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5BC342F-AC6E-4ACD-9FFA-6B575E62D40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IV therapy should continue</a:t>
            </a:r>
          </a:p>
        </p:txBody>
      </p:sp>
      <p:sp>
        <p:nvSpPr>
          <p:cNvPr id="2" name="paragraph-0">
            <a:extLst xmlns:a="http://schemas.openxmlformats.org/drawingml/2006/main">
              <a:ext uri="{FF2B5EF4-FFF2-40B4-BE49-F238E27FC236}">
                <a16:creationId xmlns:a16="http://schemas.microsoft.com/office/drawing/2014/main" id="{022A44F8-E53A-4C99-B6B5-5400CCCF5D21}"/>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Oral therapy for uncomplicated gram-negative bacteremia. The 2021 Delphi guidance favored fluoroquinolones or TMP-SMX when active and allowed selected oral beta-lactams only when pharmacokinetic and pharmacodynamic target attainment was likely with optimized dosing. It raised specific concerns about routinely using cefadroxil, cefpodoxime, or cefdinir for this purpose. It is not a local dosing table. Use the current institutional pathway, susceptibility report, syndrome, and pharmacy input for patient-specific decisions. 38</a:t>
            </a:r>
          </a:p>
        </p:txBody>
      </p:sp>
      <p:sp>
        <p:nvSpPr>
          <p:cNvPr id="3" name="footer">
            <a:extLst xmlns:a="http://schemas.openxmlformats.org/drawingml/2006/main">
              <a:ext uri="{FF2B5EF4-FFF2-40B4-BE49-F238E27FC236}">
                <a16:creationId xmlns:a16="http://schemas.microsoft.com/office/drawing/2014/main" id="{7B83247B-217E-42E5-A076-61F0F18EA55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0915BC1-BF7A-4C8B-94D4-AA3098CBC21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100</a:t>
            </a:r>
          </a:p>
        </p:txBody>
      </p:sp>
    </p:spTree>
    <p:extLst>
      <p:ext uri="{BB962C8B-B14F-4D97-AF65-F5344CB8AC3E}">
        <p14:creationId xmlns:p14="http://schemas.microsoft.com/office/powerpoint/2010/main" val="2043052933"/>
      </p:ext>
    </p:extLst>
  </p:cSld>
</p:sld>
</file>

<file path=ppt/slides/slide1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35317F7-6DC7-47BA-8590-38BCD8C552C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IV therapy should continue</a:t>
            </a:r>
          </a:p>
        </p:txBody>
      </p:sp>
      <p:sp>
        <p:nvSpPr>
          <p:cNvPr id="2" name="paragraph-0">
            <a:extLst xmlns:a="http://schemas.openxmlformats.org/drawingml/2006/main">
              <a:ext uri="{FF2B5EF4-FFF2-40B4-BE49-F238E27FC236}">
                <a16:creationId xmlns:a16="http://schemas.microsoft.com/office/drawing/2014/main" id="{97ED559A-60A8-46BC-A6A0-4D208254D9B7}"/>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 control. Changing to oral therapy does not compensate for inadequate drainage, debridement, device management, or relief of obstruction. These are often the conditions that allow either oral or IV therapy to succeed.</a:t>
            </a:r>
          </a:p>
        </p:txBody>
      </p:sp>
      <p:sp>
        <p:nvSpPr>
          <p:cNvPr id="3" name="footer">
            <a:extLst xmlns:a="http://schemas.openxmlformats.org/drawingml/2006/main">
              <a:ext uri="{FF2B5EF4-FFF2-40B4-BE49-F238E27FC236}">
                <a16:creationId xmlns:a16="http://schemas.microsoft.com/office/drawing/2014/main" id="{C68370F5-4503-42B4-A085-D82843FA074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6CE2627-C39B-4763-882B-BA77EFBD631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101</a:t>
            </a:r>
          </a:p>
        </p:txBody>
      </p:sp>
    </p:spTree>
    <p:extLst>
      <p:ext uri="{BB962C8B-B14F-4D97-AF65-F5344CB8AC3E}">
        <p14:creationId xmlns:p14="http://schemas.microsoft.com/office/powerpoint/2010/main" val="1397183882"/>
      </p:ext>
    </p:extLst>
  </p:cSld>
</p:sld>
</file>

<file path=ppt/slides/slide1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CA8F916-13E0-4B57-8099-7071CFD76BB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Selected trials</a:t>
            </a:r>
          </a:p>
        </p:txBody>
      </p:sp>
      <p:sp>
        <p:nvSpPr>
          <p:cNvPr id="2" name="paragraph-0">
            <a:extLst xmlns:a="http://schemas.openxmlformats.org/drawingml/2006/main">
              <a:ext uri="{FF2B5EF4-FFF2-40B4-BE49-F238E27FC236}">
                <a16:creationId xmlns:a16="http://schemas.microsoft.com/office/drawing/2014/main" id="{B9B3DD28-2505-486D-9FEF-C3A6BC003FE1}"/>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Each trial evaluated a specific population and treatment strategy. Apply the inclusion criteria and exclusions before using the result at the bedside.</a:t>
            </a:r>
          </a:p>
        </p:txBody>
      </p:sp>
      <p:sp>
        <p:nvSpPr>
          <p:cNvPr id="3" name="footer">
            <a:extLst xmlns:a="http://schemas.openxmlformats.org/drawingml/2006/main">
              <a:ext uri="{FF2B5EF4-FFF2-40B4-BE49-F238E27FC236}">
                <a16:creationId xmlns:a16="http://schemas.microsoft.com/office/drawing/2014/main" id="{4000DFFD-358B-40AB-B4E1-FA775177CB4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2BE9B40-9934-4D85-B6AB-3DD7FAC0A5F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102</a:t>
            </a:r>
          </a:p>
        </p:txBody>
      </p:sp>
    </p:spTree>
    <p:extLst>
      <p:ext uri="{BB962C8B-B14F-4D97-AF65-F5344CB8AC3E}">
        <p14:creationId xmlns:p14="http://schemas.microsoft.com/office/powerpoint/2010/main" val="1613277076"/>
      </p:ext>
    </p:extLst>
  </p:cSld>
</p:sld>
</file>

<file path=ppt/slides/slide1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89680F9-0457-416C-BF53-A38F34DF4F0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MERINO</a:t>
            </a:r>
          </a:p>
        </p:txBody>
      </p:sp>
      <p:sp>
        <p:nvSpPr>
          <p:cNvPr id="2" name="paragraph-0">
            <a:extLst xmlns:a="http://schemas.openxmlformats.org/drawingml/2006/main">
              <a:ext uri="{FF2B5EF4-FFF2-40B4-BE49-F238E27FC236}">
                <a16:creationId xmlns:a16="http://schemas.microsoft.com/office/drawing/2014/main" id="{C93D30E6-58B1-4FF1-9758-D33721893F61}"/>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Harris et al., 2018. In 378 patients with ceftriaxone-resistant E. coli or K. pneumoniae bloodstream infection, 30-day mortality was 12.3% with piperacillin-tazobactam and 3.7% with meropenem. Piperacillin-tazobactam did not meet noninferiority. Prefer a carbapenem for invasive ESBL infection even when piperacillin-tazobactam is reported susceptible. 7</a:t>
            </a:r>
          </a:p>
        </p:txBody>
      </p:sp>
      <p:sp>
        <p:nvSpPr>
          <p:cNvPr id="3" name="footer">
            <a:extLst xmlns:a="http://schemas.openxmlformats.org/drawingml/2006/main">
              <a:ext uri="{FF2B5EF4-FFF2-40B4-BE49-F238E27FC236}">
                <a16:creationId xmlns:a16="http://schemas.microsoft.com/office/drawing/2014/main" id="{B5B48195-3022-4A18-A6FA-8BCF8D279D5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9CDF38D-09DB-4EE5-AEDE-19535213043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103</a:t>
            </a:r>
          </a:p>
        </p:txBody>
      </p:sp>
    </p:spTree>
    <p:extLst>
      <p:ext uri="{BB962C8B-B14F-4D97-AF65-F5344CB8AC3E}">
        <p14:creationId xmlns:p14="http://schemas.microsoft.com/office/powerpoint/2010/main" val="1256739570"/>
      </p:ext>
    </p:extLst>
  </p:cSld>
</p:sld>
</file>

<file path=ppt/slides/slide10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7AE4A0E-45B3-4D09-B6A8-BA9C9E25D58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CAMERA2</a:t>
            </a:r>
          </a:p>
        </p:txBody>
      </p:sp>
      <p:sp>
        <p:nvSpPr>
          <p:cNvPr id="2" name="paragraph-0">
            <a:extLst xmlns:a="http://schemas.openxmlformats.org/drawingml/2006/main">
              <a:ext uri="{FF2B5EF4-FFF2-40B4-BE49-F238E27FC236}">
                <a16:creationId xmlns:a16="http://schemas.microsoft.com/office/drawing/2014/main" id="{0947AE5C-758D-4414-884B-512885775E5F}"/>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Tong et al., 2020. Adding 7 days of an antistaphylococcal beta-lactam to vancomycin or daptomycin for MRSA bacteremia did not improve the primary composite outcome. It reduced persistent bacteremia at day 5 but increased acute kidney injury from 6% to 23%, and the trial stopped early. This does not support routine combination therapy. 8</a:t>
            </a:r>
          </a:p>
        </p:txBody>
      </p:sp>
      <p:sp>
        <p:nvSpPr>
          <p:cNvPr id="3" name="footer">
            <a:extLst xmlns:a="http://schemas.openxmlformats.org/drawingml/2006/main">
              <a:ext uri="{FF2B5EF4-FFF2-40B4-BE49-F238E27FC236}">
                <a16:creationId xmlns:a16="http://schemas.microsoft.com/office/drawing/2014/main" id="{D8516264-28C8-4ABB-9DE5-55AC7CBE785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9AD5905-C577-49EB-866F-2F1BB2A3835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104</a:t>
            </a:r>
          </a:p>
        </p:txBody>
      </p:sp>
    </p:spTree>
    <p:extLst>
      <p:ext uri="{BB962C8B-B14F-4D97-AF65-F5344CB8AC3E}">
        <p14:creationId xmlns:p14="http://schemas.microsoft.com/office/powerpoint/2010/main" val="1510109920"/>
      </p:ext>
    </p:extLst>
  </p:cSld>
</p:sld>
</file>

<file path=ppt/slides/slide10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91AA54F-92C7-42F3-9FC6-C3932A47108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OVIVA</a:t>
            </a:r>
          </a:p>
        </p:txBody>
      </p:sp>
      <p:sp>
        <p:nvSpPr>
          <p:cNvPr id="2" name="paragraph-0">
            <a:extLst xmlns:a="http://schemas.openxmlformats.org/drawingml/2006/main">
              <a:ext uri="{FF2B5EF4-FFF2-40B4-BE49-F238E27FC236}">
                <a16:creationId xmlns:a16="http://schemas.microsoft.com/office/drawing/2014/main" id="{F4659E24-9AC0-423D-94D2-EF13F34DE3D0}"/>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Li et al., 2019. Among 1,054 adults with bone, joint, or orthopedic hardware infection, an oral strategy used during the first 6 weeks was noninferior to continued IV therapy. Definite treatment failure occurred in 13.2% of the oral group and 14.6% of the IV group among patients with endpoint data. IV catheter complications were much more frequent with IV therapy. Oral drugs were selected by infection specialists; this was not evidence that any oral agent is adequate for any bone infection. 9</a:t>
            </a:r>
          </a:p>
        </p:txBody>
      </p:sp>
      <p:sp>
        <p:nvSpPr>
          <p:cNvPr id="3" name="footer">
            <a:extLst xmlns:a="http://schemas.openxmlformats.org/drawingml/2006/main">
              <a:ext uri="{FF2B5EF4-FFF2-40B4-BE49-F238E27FC236}">
                <a16:creationId xmlns:a16="http://schemas.microsoft.com/office/drawing/2014/main" id="{00C5C6C1-540C-45BF-9837-2EADBA7670F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1305DCB-A0A0-4DEA-AF23-CD9E3786E1D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105</a:t>
            </a:r>
          </a:p>
        </p:txBody>
      </p:sp>
    </p:spTree>
    <p:extLst>
      <p:ext uri="{BB962C8B-B14F-4D97-AF65-F5344CB8AC3E}">
        <p14:creationId xmlns:p14="http://schemas.microsoft.com/office/powerpoint/2010/main" val="2120618460"/>
      </p:ext>
    </p:extLst>
  </p:cSld>
</p:sld>
</file>

<file path=ppt/slides/slide10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B1925BD-F1B1-4AB6-8FE0-E1980ADB923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POET</a:t>
            </a:r>
          </a:p>
        </p:txBody>
      </p:sp>
      <p:sp>
        <p:nvSpPr>
          <p:cNvPr id="2" name="paragraph-0">
            <a:extLst xmlns:a="http://schemas.openxmlformats.org/drawingml/2006/main">
              <a:ext uri="{FF2B5EF4-FFF2-40B4-BE49-F238E27FC236}">
                <a16:creationId xmlns:a16="http://schemas.microsoft.com/office/drawing/2014/main" id="{B2AD2BEF-465B-450B-BDF2-4928E62FE820}"/>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Iversen et al., 2019. Four hundred stable adults with selected left-sided endocarditis due to streptococci, E. faecalis , S. aureus , or coagulase-negative staphylococci were randomized after at least 10 days of IV therapy. The composite outcome occurred in 9.0% with partial oral therapy and 12.1% with continued IV therapy. The conclusion applies to carefully selected, stable patients using protocolized combination regimens and close follow-up, not to routine early oral treatment of endocarditis. 10</a:t>
            </a:r>
          </a:p>
        </p:txBody>
      </p:sp>
      <p:sp>
        <p:nvSpPr>
          <p:cNvPr id="3" name="footer">
            <a:extLst xmlns:a="http://schemas.openxmlformats.org/drawingml/2006/main">
              <a:ext uri="{FF2B5EF4-FFF2-40B4-BE49-F238E27FC236}">
                <a16:creationId xmlns:a16="http://schemas.microsoft.com/office/drawing/2014/main" id="{CF6C2CB5-CC48-40C6-844B-F12038FE3E5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8BD504E-3255-47F2-97A1-8D5DFB4426D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106</a:t>
            </a:r>
          </a:p>
        </p:txBody>
      </p:sp>
    </p:spTree>
    <p:extLst>
      <p:ext uri="{BB962C8B-B14F-4D97-AF65-F5344CB8AC3E}">
        <p14:creationId xmlns:p14="http://schemas.microsoft.com/office/powerpoint/2010/main" val="975871036"/>
      </p:ext>
    </p:extLst>
  </p:cSld>
</p:sld>
</file>

<file path=ppt/slides/slide10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F2FFE38-2B76-4B43-ADF7-A98A6DE8EFF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BALANCE</a:t>
            </a:r>
          </a:p>
        </p:txBody>
      </p:sp>
      <p:sp>
        <p:nvSpPr>
          <p:cNvPr id="2" name="paragraph-0">
            <a:extLst xmlns:a="http://schemas.openxmlformats.org/drawingml/2006/main">
              <a:ext uri="{FF2B5EF4-FFF2-40B4-BE49-F238E27FC236}">
                <a16:creationId xmlns:a16="http://schemas.microsoft.com/office/drawing/2014/main" id="{E606E27A-85E1-464B-8A06-848AA8FD7D9E}"/>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Daneman et al., published online 2024 and in print 2025. In 3,608 hospitalized patients with bloodstream infection, 7 days was noninferior to 14 days for 90-day mortality. The trial excluded S. aureus , S. lugdunensis , fungemia, severe immunosuppression, prosthetic heart valves or endovascular grafts, and infections requiring prolonged therapy such as endocarditis, osteomyelitis, septic arthritis, undrained abscess, or retained infected prosthetic material. Seven days is not a universal bacteremia duration. 11</a:t>
            </a:r>
          </a:p>
        </p:txBody>
      </p:sp>
      <p:sp>
        <p:nvSpPr>
          <p:cNvPr id="3" name="footer">
            <a:extLst xmlns:a="http://schemas.openxmlformats.org/drawingml/2006/main">
              <a:ext uri="{FF2B5EF4-FFF2-40B4-BE49-F238E27FC236}">
                <a16:creationId xmlns:a16="http://schemas.microsoft.com/office/drawing/2014/main" id="{888950DC-DE25-46AC-8EE2-546E96ADEAE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E9EBB0E-2116-4A26-951F-D6760A9B992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107</a:t>
            </a:r>
          </a:p>
        </p:txBody>
      </p:sp>
    </p:spTree>
    <p:extLst>
      <p:ext uri="{BB962C8B-B14F-4D97-AF65-F5344CB8AC3E}">
        <p14:creationId xmlns:p14="http://schemas.microsoft.com/office/powerpoint/2010/main" val="149412505"/>
      </p:ext>
    </p:extLst>
  </p:cSld>
</p:sld>
</file>

<file path=ppt/slides/slide10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A14CD0B-2E6C-4BBE-B6C3-F062E3A2796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Presenting the antibiotic plan on rounds</a:t>
            </a:r>
          </a:p>
        </p:txBody>
      </p:sp>
      <p:sp>
        <p:nvSpPr>
          <p:cNvPr id="2" name="paragraph-0">
            <a:extLst xmlns:a="http://schemas.openxmlformats.org/drawingml/2006/main">
              <a:ext uri="{FF2B5EF4-FFF2-40B4-BE49-F238E27FC236}">
                <a16:creationId xmlns:a16="http://schemas.microsoft.com/office/drawing/2014/main" id="{A28E7438-902E-4B52-956B-F8E369CF1F55}"/>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primary team should be able to tell what you think is being treated, why this drug was chosen, what still needs to happen, and when the plan will change.</a:t>
            </a:r>
          </a:p>
        </p:txBody>
      </p:sp>
      <p:sp>
        <p:nvSpPr>
          <p:cNvPr id="3" name="footer">
            <a:extLst xmlns:a="http://schemas.openxmlformats.org/drawingml/2006/main">
              <a:ext uri="{FF2B5EF4-FFF2-40B4-BE49-F238E27FC236}">
                <a16:creationId xmlns:a16="http://schemas.microsoft.com/office/drawing/2014/main" id="{B6532012-026A-4C87-944D-B131355268D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62B5FA4-5F58-4EC9-B0F5-99EB93968E2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108</a:t>
            </a:r>
          </a:p>
        </p:txBody>
      </p:sp>
    </p:spTree>
    <p:extLst>
      <p:ext uri="{BB962C8B-B14F-4D97-AF65-F5344CB8AC3E}">
        <p14:creationId xmlns:p14="http://schemas.microsoft.com/office/powerpoint/2010/main" val="1854254263"/>
      </p:ext>
    </p:extLst>
  </p:cSld>
</p:sld>
</file>

<file path=ppt/slides/slide10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27008BA-E179-4D8E-9298-A0002E2A0E4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Presenting the antibiotic plan on rounds</a:t>
            </a:r>
          </a:p>
        </p:txBody>
      </p:sp>
      <p:sp>
        <p:nvSpPr>
          <p:cNvPr id="2" name="paragraph-0">
            <a:extLst xmlns:a="http://schemas.openxmlformats.org/drawingml/2006/main">
              <a:ext uri="{FF2B5EF4-FFF2-40B4-BE49-F238E27FC236}">
                <a16:creationId xmlns:a16="http://schemas.microsoft.com/office/drawing/2014/main" id="{04DD3CC3-FB83-44B0-9CD4-DB3701303C38}"/>
              </a:ext>
            </a:extLst>
          </p:cNvPr>
          <p:cNvSpPr>
            <a:spLocks xmlns:a="http://schemas.openxmlformats.org/drawingml/2006/main" noGrp="1"/>
          </p:cNvSpPr>
          <p:nvPr/>
        </p:nvSpPr>
        <p:spPr>
          <a:xfrm xmlns:a="http://schemas.openxmlformats.org/drawingml/2006/main">
            <a:off x="647700" y="1952625"/>
            <a:ext cx="10858500" cy="3286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Syndrome and source [What infection are we treating? Is the source controlled?] Microbiology [Relevant cultures, susceptibilities, and prior organisms] Antibiotic decision today [Drug and route] because [coverage, site, host, and resistance considerations] Safety and dosing [Renal/hepatic adjustment, allergy, interaction, and monitoring plan] Reassessment [What pending result or clinical change permits narrowing, oral transition, stopping, or additional source evaluation?] Duration [First day of effective therapy or other duration anchor, anticipated stop date, and reason]</a:t>
            </a:r>
          </a:p>
        </p:txBody>
      </p:sp>
      <p:sp>
        <p:nvSpPr>
          <p:cNvPr id="3" name="footer">
            <a:extLst xmlns:a="http://schemas.openxmlformats.org/drawingml/2006/main">
              <a:ext uri="{FF2B5EF4-FFF2-40B4-BE49-F238E27FC236}">
                <a16:creationId xmlns:a16="http://schemas.microsoft.com/office/drawing/2014/main" id="{DF222DFA-1216-42DF-840A-AFE3D0E94DD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FACCCEE-57F6-4FE5-802F-736EF01B58B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109</a:t>
            </a:r>
          </a:p>
        </p:txBody>
      </p:sp>
    </p:spTree>
    <p:extLst>
      <p:ext uri="{BB962C8B-B14F-4D97-AF65-F5344CB8AC3E}">
        <p14:creationId xmlns:p14="http://schemas.microsoft.com/office/powerpoint/2010/main" val="1412699236"/>
      </p:ext>
    </p:extLst>
  </p:cSld>
</p:sld>
</file>

<file path=ppt/slides/slide1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7F815809-CEBF-461F-84CB-47E951EC9BD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Common errors</a:t>
            </a:r>
          </a:p>
        </p:txBody>
      </p:sp>
      <p:sp>
        <p:nvSpPr>
          <p:cNvPr id="2" name="paragraph-0">
            <a:extLst xmlns:a="http://schemas.openxmlformats.org/drawingml/2006/main">
              <a:ext uri="{FF2B5EF4-FFF2-40B4-BE49-F238E27FC236}">
                <a16:creationId xmlns:a16="http://schemas.microsoft.com/office/drawing/2014/main" id="{84DB981E-EBD2-4ADF-BCC2-965BF1E73111}"/>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Fever is treated as a diagnosis without establishing an infectious syndrome.</a:t>
            </a:r>
          </a:p>
        </p:txBody>
      </p:sp>
      <p:sp>
        <p:nvSpPr>
          <p:cNvPr id="3" name="paragraph-1">
            <a:extLst xmlns:a="http://schemas.openxmlformats.org/drawingml/2006/main">
              <a:ext uri="{FF2B5EF4-FFF2-40B4-BE49-F238E27FC236}">
                <a16:creationId xmlns:a16="http://schemas.microsoft.com/office/drawing/2014/main" id="{08C18614-1A78-470A-AE27-1757D4E3B29F}"/>
              </a:ext>
            </a:extLst>
          </p:cNvPr>
          <p:cNvSpPr>
            <a:spLocks xmlns:a="http://schemas.openxmlformats.org/drawingml/2006/main" noGrp="1"/>
          </p:cNvSpPr>
          <p:nvPr/>
        </p:nvSpPr>
        <p:spPr>
          <a:xfrm xmlns:a="http://schemas.openxmlformats.org/drawingml/2006/main">
            <a:off x="647700" y="29146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Vancomycin and an antipseudomonal beta-lactam are continued after cultures and the clinical course allow narrowing.</a:t>
            </a:r>
          </a:p>
        </p:txBody>
      </p:sp>
      <p:sp>
        <p:nvSpPr>
          <p:cNvPr id="4" name="paragraph-2">
            <a:extLst xmlns:a="http://schemas.openxmlformats.org/drawingml/2006/main">
              <a:ext uri="{FF2B5EF4-FFF2-40B4-BE49-F238E27FC236}">
                <a16:creationId xmlns:a16="http://schemas.microsoft.com/office/drawing/2014/main" id="{4B54D0C8-5286-40E5-A4B9-BF773F49A02D}"/>
              </a:ext>
            </a:extLst>
          </p:cNvPr>
          <p:cNvSpPr>
            <a:spLocks xmlns:a="http://schemas.openxmlformats.org/drawingml/2006/main" noGrp="1"/>
          </p:cNvSpPr>
          <p:nvPr/>
        </p:nvSpPr>
        <p:spPr>
          <a:xfrm xmlns:a="http://schemas.openxmlformats.org/drawingml/2006/main">
            <a:off x="647700" y="38766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MSSA remains on vancomycin instead of an active antistaphylococcal beta-lactam.</a:t>
            </a:r>
          </a:p>
        </p:txBody>
      </p:sp>
      <p:sp>
        <p:nvSpPr>
          <p:cNvPr id="5" name="paragraph-3">
            <a:extLst xmlns:a="http://schemas.openxmlformats.org/drawingml/2006/main">
              <a:ext uri="{FF2B5EF4-FFF2-40B4-BE49-F238E27FC236}">
                <a16:creationId xmlns:a16="http://schemas.microsoft.com/office/drawing/2014/main" id="{04166D1F-2626-4DC3-9C48-7AED8F55F748}"/>
              </a:ext>
            </a:extLst>
          </p:cNvPr>
          <p:cNvSpPr>
            <a:spLocks xmlns:a="http://schemas.openxmlformats.org/drawingml/2006/main" noGrp="1"/>
          </p:cNvSpPr>
          <p:nvPr/>
        </p:nvSpPr>
        <p:spPr>
          <a:xfrm xmlns:a="http://schemas.openxmlformats.org/drawingml/2006/main">
            <a:off x="647700" y="48387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Susceptible Klebsiella is treated broadly because its narrower beta-lactam options were never reviewed.</a:t>
            </a:r>
          </a:p>
        </p:txBody>
      </p:sp>
      <p:sp>
        <p:nvSpPr>
          <p:cNvPr id="6" name="footer">
            <a:extLst xmlns:a="http://schemas.openxmlformats.org/drawingml/2006/main">
              <a:ext uri="{FF2B5EF4-FFF2-40B4-BE49-F238E27FC236}">
                <a16:creationId xmlns:a16="http://schemas.microsoft.com/office/drawing/2014/main" id="{9C2B56B7-BB2C-453A-8110-A49A861E64E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7" name="number">
            <a:extLst xmlns:a="http://schemas.openxmlformats.org/drawingml/2006/main">
              <a:ext uri="{FF2B5EF4-FFF2-40B4-BE49-F238E27FC236}">
                <a16:creationId xmlns:a16="http://schemas.microsoft.com/office/drawing/2014/main" id="{414B54A0-66AF-479E-942F-024CF22BE3C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110</a:t>
            </a:r>
          </a:p>
        </p:txBody>
      </p:sp>
    </p:spTree>
    <p:extLst>
      <p:ext uri="{BB962C8B-B14F-4D97-AF65-F5344CB8AC3E}">
        <p14:creationId xmlns:p14="http://schemas.microsoft.com/office/powerpoint/2010/main" val="55132531"/>
      </p:ext>
    </p:extLst>
  </p:cSld>
</p:sld>
</file>

<file path=ppt/slides/slide1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30E8C3BF-F027-439A-A0BD-31A6D6976C5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Common errors</a:t>
            </a:r>
          </a:p>
        </p:txBody>
      </p:sp>
      <p:sp>
        <p:nvSpPr>
          <p:cNvPr id="2" name="paragraph-0">
            <a:extLst xmlns:a="http://schemas.openxmlformats.org/drawingml/2006/main">
              <a:ext uri="{FF2B5EF4-FFF2-40B4-BE49-F238E27FC236}">
                <a16:creationId xmlns:a16="http://schemas.microsoft.com/office/drawing/2014/main" id="{CA21E71B-9340-4CAA-A7DB-864AC5FFB92A}"/>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Fluoroquinolones are rejected categorically even when they provide the best susceptible oral option for cUTI or Pseudomonas .</a:t>
            </a:r>
          </a:p>
        </p:txBody>
      </p:sp>
      <p:sp>
        <p:nvSpPr>
          <p:cNvPr id="3" name="paragraph-1">
            <a:extLst xmlns:a="http://schemas.openxmlformats.org/drawingml/2006/main">
              <a:ext uri="{FF2B5EF4-FFF2-40B4-BE49-F238E27FC236}">
                <a16:creationId xmlns:a16="http://schemas.microsoft.com/office/drawing/2014/main" id="{132C747A-086D-460D-8603-AA7AC6F4DD08}"/>
              </a:ext>
            </a:extLst>
          </p:cNvPr>
          <p:cNvSpPr>
            <a:spLocks xmlns:a="http://schemas.openxmlformats.org/drawingml/2006/main" noGrp="1"/>
          </p:cNvSpPr>
          <p:nvPr/>
        </p:nvSpPr>
        <p:spPr>
          <a:xfrm xmlns:a="http://schemas.openxmlformats.org/drawingml/2006/main">
            <a:off x="647700" y="29146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Renal function changes without a dosing reassessment, particularly with cefepime, vancomycin, aminoglycosides, TMP-SMX, or fluoroquinolones.</a:t>
            </a:r>
          </a:p>
        </p:txBody>
      </p:sp>
      <p:sp>
        <p:nvSpPr>
          <p:cNvPr id="4" name="paragraph-2">
            <a:extLst xmlns:a="http://schemas.openxmlformats.org/drawingml/2006/main">
              <a:ext uri="{FF2B5EF4-FFF2-40B4-BE49-F238E27FC236}">
                <a16:creationId xmlns:a16="http://schemas.microsoft.com/office/drawing/2014/main" id="{EC854ADC-0C04-4F7F-96E9-E5071E83C508}"/>
              </a:ext>
            </a:extLst>
          </p:cNvPr>
          <p:cNvSpPr>
            <a:spLocks xmlns:a="http://schemas.openxmlformats.org/drawingml/2006/main" noGrp="1"/>
          </p:cNvSpPr>
          <p:nvPr/>
        </p:nvSpPr>
        <p:spPr>
          <a:xfrm xmlns:a="http://schemas.openxmlformats.org/drawingml/2006/main">
            <a:off x="647700" y="38766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PICC is ordered before anyone asks whether a validated oral regimen is available.</a:t>
            </a:r>
          </a:p>
        </p:txBody>
      </p:sp>
      <p:sp>
        <p:nvSpPr>
          <p:cNvPr id="5" name="paragraph-3">
            <a:extLst xmlns:a="http://schemas.openxmlformats.org/drawingml/2006/main">
              <a:ext uri="{FF2B5EF4-FFF2-40B4-BE49-F238E27FC236}">
                <a16:creationId xmlns:a16="http://schemas.microsoft.com/office/drawing/2014/main" id="{A29C93A1-C49A-4D77-845E-7FFD161BAF26}"/>
              </a:ext>
            </a:extLst>
          </p:cNvPr>
          <p:cNvSpPr>
            <a:spLocks xmlns:a="http://schemas.openxmlformats.org/drawingml/2006/main" noGrp="1"/>
          </p:cNvSpPr>
          <p:nvPr/>
        </p:nvSpPr>
        <p:spPr>
          <a:xfrm xmlns:a="http://schemas.openxmlformats.org/drawingml/2006/main">
            <a:off x="647700" y="48387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drug is changed repeatedly while an abscess, obstruction, infected catheter, or hardware remains untreated.</a:t>
            </a:r>
          </a:p>
        </p:txBody>
      </p:sp>
      <p:sp>
        <p:nvSpPr>
          <p:cNvPr id="6" name="footer">
            <a:extLst xmlns:a="http://schemas.openxmlformats.org/drawingml/2006/main">
              <a:ext uri="{FF2B5EF4-FFF2-40B4-BE49-F238E27FC236}">
                <a16:creationId xmlns:a16="http://schemas.microsoft.com/office/drawing/2014/main" id="{FCED7753-5A68-4FFD-996B-4DFF5174D9E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7" name="number">
            <a:extLst xmlns:a="http://schemas.openxmlformats.org/drawingml/2006/main">
              <a:ext uri="{FF2B5EF4-FFF2-40B4-BE49-F238E27FC236}">
                <a16:creationId xmlns:a16="http://schemas.microsoft.com/office/drawing/2014/main" id="{224E9F5B-5CE5-4069-A339-67A39B92EBD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111</a:t>
            </a:r>
          </a:p>
        </p:txBody>
      </p:sp>
    </p:spTree>
    <p:extLst>
      <p:ext uri="{BB962C8B-B14F-4D97-AF65-F5344CB8AC3E}">
        <p14:creationId xmlns:p14="http://schemas.microsoft.com/office/powerpoint/2010/main" val="1948920133"/>
      </p:ext>
    </p:extLst>
  </p:cSld>
</p:sld>
</file>

<file path=ppt/slides/slide1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0949A53-D596-4738-91FD-07C9C0CAAF2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Questions for the end of the session</a:t>
            </a:r>
          </a:p>
        </p:txBody>
      </p:sp>
      <p:sp>
        <p:nvSpPr>
          <p:cNvPr id="2" name="paragraph-0">
            <a:extLst xmlns:a="http://schemas.openxmlformats.org/drawingml/2006/main">
              <a:ext uri="{FF2B5EF4-FFF2-40B4-BE49-F238E27FC236}">
                <a16:creationId xmlns:a16="http://schemas.microsoft.com/office/drawing/2014/main" id="{69F69676-D85C-4C00-A226-12A4A743AED6}"/>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1. A ceftriaxone-susceptible K. pneumoniae urine and blood isolate is improving after urinary decompression. Must cefepime be continued?</a:t>
            </a:r>
          </a:p>
        </p:txBody>
      </p:sp>
      <p:sp>
        <p:nvSpPr>
          <p:cNvPr id="3" name="footer">
            <a:extLst xmlns:a="http://schemas.openxmlformats.org/drawingml/2006/main">
              <a:ext uri="{FF2B5EF4-FFF2-40B4-BE49-F238E27FC236}">
                <a16:creationId xmlns:a16="http://schemas.microsoft.com/office/drawing/2014/main" id="{85E9A1EE-5262-4234-BD95-D44413759B2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BFD1C92-2850-47BC-9D58-580EFC49F69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112</a:t>
            </a:r>
          </a:p>
        </p:txBody>
      </p:sp>
    </p:spTree>
    <p:extLst>
      <p:ext uri="{BB962C8B-B14F-4D97-AF65-F5344CB8AC3E}">
        <p14:creationId xmlns:p14="http://schemas.microsoft.com/office/powerpoint/2010/main" val="380986307"/>
      </p:ext>
    </p:extLst>
  </p:cSld>
</p:sld>
</file>

<file path=ppt/slides/slide1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81D500C-D946-40A3-BA58-8CE953B31F9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Answer</a:t>
            </a:r>
          </a:p>
        </p:txBody>
      </p:sp>
      <p:sp>
        <p:nvSpPr>
          <p:cNvPr id="2" name="paragraph-0">
            <a:extLst xmlns:a="http://schemas.openxmlformats.org/drawingml/2006/main">
              <a:ext uri="{FF2B5EF4-FFF2-40B4-BE49-F238E27FC236}">
                <a16:creationId xmlns:a16="http://schemas.microsoft.com/office/drawing/2014/main" id="{30940511-B19D-45E2-8FF2-80B5FDD1624B}"/>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If there is no ESBL or other resistance concern and the patient is improving, ceftriaxone is a reasonable narrower IV option. Ciprofloxacin or levofloxacin may be reasonable orally when susceptible and otherwise appropriate.</a:t>
            </a:r>
          </a:p>
        </p:txBody>
      </p:sp>
      <p:sp>
        <p:nvSpPr>
          <p:cNvPr id="3" name="footer">
            <a:extLst xmlns:a="http://schemas.openxmlformats.org/drawingml/2006/main">
              <a:ext uri="{FF2B5EF4-FFF2-40B4-BE49-F238E27FC236}">
                <a16:creationId xmlns:a16="http://schemas.microsoft.com/office/drawing/2014/main" id="{1F8809A3-75FE-4DAA-BDB2-F9406940ECD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F114B6C-248B-4353-AA3C-0DB8AA7E21B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113</a:t>
            </a:r>
          </a:p>
        </p:txBody>
      </p:sp>
    </p:spTree>
    <p:extLst>
      <p:ext uri="{BB962C8B-B14F-4D97-AF65-F5344CB8AC3E}">
        <p14:creationId xmlns:p14="http://schemas.microsoft.com/office/powerpoint/2010/main" val="25543622"/>
      </p:ext>
    </p:extLst>
  </p:cSld>
</p:sld>
</file>

<file path=ppt/slides/slide1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769FA8D-EFD7-4FE2-AB5A-E1E3B0A49D2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Questions for the end of the session</a:t>
            </a:r>
          </a:p>
        </p:txBody>
      </p:sp>
      <p:sp>
        <p:nvSpPr>
          <p:cNvPr id="2" name="paragraph-0">
            <a:extLst xmlns:a="http://schemas.openxmlformats.org/drawingml/2006/main">
              <a:ext uri="{FF2B5EF4-FFF2-40B4-BE49-F238E27FC236}">
                <a16:creationId xmlns:a16="http://schemas.microsoft.com/office/drawing/2014/main" id="{CFD3666D-43F8-43AB-ACFF-698F6FAA162C}"/>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2. Which oral antibiotics can be relied on for susceptible Pseudomonas aeruginosa ?</a:t>
            </a:r>
          </a:p>
        </p:txBody>
      </p:sp>
      <p:sp>
        <p:nvSpPr>
          <p:cNvPr id="3" name="footer">
            <a:extLst xmlns:a="http://schemas.openxmlformats.org/drawingml/2006/main">
              <a:ext uri="{FF2B5EF4-FFF2-40B4-BE49-F238E27FC236}">
                <a16:creationId xmlns:a16="http://schemas.microsoft.com/office/drawing/2014/main" id="{04AB6208-A076-4E0E-9B3B-49BC7AD8AB5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7A4AA62-6508-413D-BB02-B291789A51B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114</a:t>
            </a:r>
          </a:p>
        </p:txBody>
      </p:sp>
    </p:spTree>
    <p:extLst>
      <p:ext uri="{BB962C8B-B14F-4D97-AF65-F5344CB8AC3E}">
        <p14:creationId xmlns:p14="http://schemas.microsoft.com/office/powerpoint/2010/main" val="2039176412"/>
      </p:ext>
    </p:extLst>
  </p:cSld>
</p:sld>
</file>

<file path=ppt/slides/slide1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D1A2AE4-66C5-462D-9242-00C3DD27CF6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Answer</a:t>
            </a:r>
          </a:p>
        </p:txBody>
      </p:sp>
      <p:sp>
        <p:nvSpPr>
          <p:cNvPr id="2" name="paragraph-0">
            <a:extLst xmlns:a="http://schemas.openxmlformats.org/drawingml/2006/main">
              <a:ext uri="{FF2B5EF4-FFF2-40B4-BE49-F238E27FC236}">
                <a16:creationId xmlns:a16="http://schemas.microsoft.com/office/drawing/2014/main" id="{884CA932-E0BD-417A-A31B-B4C07AE2C10A}"/>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Ciprofloxacin or levofloxacin. Fluoroquinolones are the only established oral class with reliable antipseudomonal activity. Confirm susceptibility. Moxifloxacin is not an appropriate substitute.</a:t>
            </a:r>
          </a:p>
        </p:txBody>
      </p:sp>
      <p:sp>
        <p:nvSpPr>
          <p:cNvPr id="3" name="footer">
            <a:extLst xmlns:a="http://schemas.openxmlformats.org/drawingml/2006/main">
              <a:ext uri="{FF2B5EF4-FFF2-40B4-BE49-F238E27FC236}">
                <a16:creationId xmlns:a16="http://schemas.microsoft.com/office/drawing/2014/main" id="{34A7F29E-A6CC-4DBF-8A88-65A71F3C20A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9360A49-6718-4383-82DF-28D79749B86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115</a:t>
            </a:r>
          </a:p>
        </p:txBody>
      </p:sp>
    </p:spTree>
    <p:extLst>
      <p:ext uri="{BB962C8B-B14F-4D97-AF65-F5344CB8AC3E}">
        <p14:creationId xmlns:p14="http://schemas.microsoft.com/office/powerpoint/2010/main" val="1579583307"/>
      </p:ext>
    </p:extLst>
  </p:cSld>
</p:sld>
</file>

<file path=ppt/slides/slide1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89E30A4-F7CF-4543-95F4-59B3D89A94C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Questions for the end of the session</a:t>
            </a:r>
          </a:p>
        </p:txBody>
      </p:sp>
      <p:sp>
        <p:nvSpPr>
          <p:cNvPr id="2" name="paragraph-0">
            <a:extLst xmlns:a="http://schemas.openxmlformats.org/drawingml/2006/main">
              <a:ext uri="{FF2B5EF4-FFF2-40B4-BE49-F238E27FC236}">
                <a16:creationId xmlns:a16="http://schemas.microsoft.com/office/drawing/2014/main" id="{6AA22284-A497-4296-B633-64EEC4D88CF4}"/>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3. What should be checked when a service uses trough monitoring for vancomycin?</a:t>
            </a:r>
          </a:p>
        </p:txBody>
      </p:sp>
      <p:sp>
        <p:nvSpPr>
          <p:cNvPr id="3" name="footer">
            <a:extLst xmlns:a="http://schemas.openxmlformats.org/drawingml/2006/main">
              <a:ext uri="{FF2B5EF4-FFF2-40B4-BE49-F238E27FC236}">
                <a16:creationId xmlns:a16="http://schemas.microsoft.com/office/drawing/2014/main" id="{317FC027-4430-4671-9501-20DFCC64177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2714DC2-7BB6-4669-9905-63FE6FE853B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116</a:t>
            </a:r>
          </a:p>
        </p:txBody>
      </p:sp>
    </p:spTree>
    <p:extLst>
      <p:ext uri="{BB962C8B-B14F-4D97-AF65-F5344CB8AC3E}">
        <p14:creationId xmlns:p14="http://schemas.microsoft.com/office/powerpoint/2010/main" val="1970659236"/>
      </p:ext>
    </p:extLst>
  </p:cSld>
</p:sld>
</file>

<file path=ppt/slides/slide1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6431196-9287-47AB-AA74-1D79C9A1D2D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Answer</a:t>
            </a:r>
          </a:p>
        </p:txBody>
      </p:sp>
      <p:sp>
        <p:nvSpPr>
          <p:cNvPr id="2" name="paragraph-0">
            <a:extLst xmlns:a="http://schemas.openxmlformats.org/drawingml/2006/main">
              <a:ext uri="{FF2B5EF4-FFF2-40B4-BE49-F238E27FC236}">
                <a16:creationId xmlns:a16="http://schemas.microsoft.com/office/drawing/2014/main" id="{CE4B382F-57DD-42CE-BBEA-8821419D7365}"/>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If the service uses trough monitoring, confirm the correct draw time, follow serum creatinine, and use the indication-specific target in the local pharmacy workflow. The national 2020 consensus recommends AUC-guided monitoring for serious MRSA infection, and local monitoring practices may differ.</a:t>
            </a:r>
          </a:p>
        </p:txBody>
      </p:sp>
      <p:sp>
        <p:nvSpPr>
          <p:cNvPr id="3" name="footer">
            <a:extLst xmlns:a="http://schemas.openxmlformats.org/drawingml/2006/main">
              <a:ext uri="{FF2B5EF4-FFF2-40B4-BE49-F238E27FC236}">
                <a16:creationId xmlns:a16="http://schemas.microsoft.com/office/drawing/2014/main" id="{5BBF1B11-5311-41A9-BCCC-22D08335882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7E01280-549E-4285-9D23-397931B1896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117</a:t>
            </a:r>
          </a:p>
        </p:txBody>
      </p:sp>
    </p:spTree>
    <p:extLst>
      <p:ext uri="{BB962C8B-B14F-4D97-AF65-F5344CB8AC3E}">
        <p14:creationId xmlns:p14="http://schemas.microsoft.com/office/powerpoint/2010/main" val="18846292"/>
      </p:ext>
    </p:extLst>
  </p:cSld>
</p:sld>
</file>

<file path=ppt/slides/slide1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9F30145-E725-4361-8309-82652A83FFB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Questions for the end of the session</a:t>
            </a:r>
          </a:p>
        </p:txBody>
      </p:sp>
      <p:sp>
        <p:nvSpPr>
          <p:cNvPr id="2" name="paragraph-0">
            <a:extLst xmlns:a="http://schemas.openxmlformats.org/drawingml/2006/main">
              <a:ext uri="{FF2B5EF4-FFF2-40B4-BE49-F238E27FC236}">
                <a16:creationId xmlns:a16="http://schemas.microsoft.com/office/drawing/2014/main" id="{2F6FB96D-337A-455E-9B79-DF91C1DD4FFE}"/>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4. Does OVIVA show that every osteomyelitis patient can receive any active oral antibiotic from day 1?</a:t>
            </a:r>
          </a:p>
        </p:txBody>
      </p:sp>
      <p:sp>
        <p:nvSpPr>
          <p:cNvPr id="3" name="footer">
            <a:extLst xmlns:a="http://schemas.openxmlformats.org/drawingml/2006/main">
              <a:ext uri="{FF2B5EF4-FFF2-40B4-BE49-F238E27FC236}">
                <a16:creationId xmlns:a16="http://schemas.microsoft.com/office/drawing/2014/main" id="{2F7042A8-D4D9-4AAE-9883-47C7DAB2AE0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59943BA-929B-430F-B9E9-6FF9F438590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118</a:t>
            </a:r>
          </a:p>
        </p:txBody>
      </p:sp>
    </p:spTree>
    <p:extLst>
      <p:ext uri="{BB962C8B-B14F-4D97-AF65-F5344CB8AC3E}">
        <p14:creationId xmlns:p14="http://schemas.microsoft.com/office/powerpoint/2010/main" val="1200086119"/>
      </p:ext>
    </p:extLst>
  </p:cSld>
</p:sld>
</file>

<file path=ppt/slides/slide1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AAC4549-E6CB-4704-A802-2A9704A73F6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Answer</a:t>
            </a:r>
          </a:p>
        </p:txBody>
      </p:sp>
      <p:sp>
        <p:nvSpPr>
          <p:cNvPr id="2" name="paragraph-0">
            <a:extLst xmlns:a="http://schemas.openxmlformats.org/drawingml/2006/main">
              <a:ext uri="{FF2B5EF4-FFF2-40B4-BE49-F238E27FC236}">
                <a16:creationId xmlns:a16="http://schemas.microsoft.com/office/drawing/2014/main" id="{03FE2024-8C86-47A3-B434-03B6D7CE9BA3}"/>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Patients entered a specialist-directed oral strategy within 7 days of definitive surgery or planned curative treatment. Drug selection, source control, diagnosis, absorption, adherence, and follow-up still matter.</a:t>
            </a:r>
          </a:p>
        </p:txBody>
      </p:sp>
      <p:sp>
        <p:nvSpPr>
          <p:cNvPr id="3" name="footer">
            <a:extLst xmlns:a="http://schemas.openxmlformats.org/drawingml/2006/main">
              <a:ext uri="{FF2B5EF4-FFF2-40B4-BE49-F238E27FC236}">
                <a16:creationId xmlns:a16="http://schemas.microsoft.com/office/drawing/2014/main" id="{769AB8A5-CDA5-4DB1-8EAF-D18A343DCD4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DF44D4C-EACC-4CFC-82EC-AC6BCB1E130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119</a:t>
            </a:r>
          </a:p>
        </p:txBody>
      </p:sp>
    </p:spTree>
    <p:extLst>
      <p:ext uri="{BB962C8B-B14F-4D97-AF65-F5344CB8AC3E}">
        <p14:creationId xmlns:p14="http://schemas.microsoft.com/office/powerpoint/2010/main" val="807164396"/>
      </p:ext>
    </p:extLst>
  </p:cSld>
</p:sld>
</file>

<file path=ppt/slides/slide1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5B930AD-3202-4022-801D-0CA91E42164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Questions for the end of the session</a:t>
            </a:r>
          </a:p>
        </p:txBody>
      </p:sp>
      <p:sp>
        <p:nvSpPr>
          <p:cNvPr id="2" name="paragraph-0">
            <a:extLst xmlns:a="http://schemas.openxmlformats.org/drawingml/2006/main">
              <a:ext uri="{FF2B5EF4-FFF2-40B4-BE49-F238E27FC236}">
                <a16:creationId xmlns:a16="http://schemas.microsoft.com/office/drawing/2014/main" id="{4C8D6721-0687-45EF-B56F-CA557E9BD39E}"/>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5. What should happen when cultures narrow the likely pathogen?</a:t>
            </a:r>
          </a:p>
        </p:txBody>
      </p:sp>
      <p:sp>
        <p:nvSpPr>
          <p:cNvPr id="3" name="footer">
            <a:extLst xmlns:a="http://schemas.openxmlformats.org/drawingml/2006/main">
              <a:ext uri="{FF2B5EF4-FFF2-40B4-BE49-F238E27FC236}">
                <a16:creationId xmlns:a16="http://schemas.microsoft.com/office/drawing/2014/main" id="{D9CB6ED4-AC52-4B6E-97BB-26470CD20FC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62A9856-830D-4F68-BAAF-161505C1718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120</a:t>
            </a:r>
          </a:p>
        </p:txBody>
      </p:sp>
    </p:spTree>
    <p:extLst>
      <p:ext uri="{BB962C8B-B14F-4D97-AF65-F5344CB8AC3E}">
        <p14:creationId xmlns:p14="http://schemas.microsoft.com/office/powerpoint/2010/main" val="1034328211"/>
      </p:ext>
    </p:extLst>
  </p:cSld>
</p:sld>
</file>

<file path=ppt/slides/slide1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0FBF4BF-C8E8-4F32-9EA4-2A165150452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Answer</a:t>
            </a:r>
          </a:p>
        </p:txBody>
      </p:sp>
      <p:sp>
        <p:nvSpPr>
          <p:cNvPr id="2" name="paragraph-0">
            <a:extLst xmlns:a="http://schemas.openxmlformats.org/drawingml/2006/main">
              <a:ext uri="{FF2B5EF4-FFF2-40B4-BE49-F238E27FC236}">
                <a16:creationId xmlns:a16="http://schemas.microsoft.com/office/drawing/2014/main" id="{AE8DEB30-3F47-44F3-9B47-190B5A821558}"/>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Reassess whether infection is present, narrow to the least broad effective drug, confirm the dose and route, address source control, and establish the duration anchor and stop date. Sometimes the correct decision is to stop antibiotics.</a:t>
            </a:r>
          </a:p>
        </p:txBody>
      </p:sp>
      <p:sp>
        <p:nvSpPr>
          <p:cNvPr id="3" name="footer">
            <a:extLst xmlns:a="http://schemas.openxmlformats.org/drawingml/2006/main">
              <a:ext uri="{FF2B5EF4-FFF2-40B4-BE49-F238E27FC236}">
                <a16:creationId xmlns:a16="http://schemas.microsoft.com/office/drawing/2014/main" id="{C26C91A0-F733-4801-B35D-2132F9E0ECE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FD58BBB-554A-4ED9-AC97-49E25B8BDA3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121</a:t>
            </a:r>
          </a:p>
        </p:txBody>
      </p:sp>
    </p:spTree>
    <p:extLst>
      <p:ext uri="{BB962C8B-B14F-4D97-AF65-F5344CB8AC3E}">
        <p14:creationId xmlns:p14="http://schemas.microsoft.com/office/powerpoint/2010/main" val="272493626"/>
      </p:ext>
    </p:extLst>
  </p:cSld>
</p:sld>
</file>

<file path=ppt/slides/slide1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90EB9DC-8733-4203-BEBE-33321361959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For fellows</a:t>
            </a:r>
          </a:p>
        </p:txBody>
      </p:sp>
      <p:sp>
        <p:nvSpPr>
          <p:cNvPr id="2" name="paragraph-0">
            <a:extLst xmlns:a="http://schemas.openxmlformats.org/drawingml/2006/main">
              <a:ext uri="{FF2B5EF4-FFF2-40B4-BE49-F238E27FC236}">
                <a16:creationId xmlns:a16="http://schemas.microsoft.com/office/drawing/2014/main" id="{DE39D346-369C-44D1-8094-7FDD3113DB1A}"/>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Separate guideline recommendations from trial evidence and local practice. When several drugs are active, weigh resistance mechanism, inoculum, exposure, toxicity, source control, and the consequences of failure.</a:t>
            </a:r>
          </a:p>
        </p:txBody>
      </p:sp>
      <p:sp>
        <p:nvSpPr>
          <p:cNvPr id="3" name="footer">
            <a:extLst xmlns:a="http://schemas.openxmlformats.org/drawingml/2006/main">
              <a:ext uri="{FF2B5EF4-FFF2-40B4-BE49-F238E27FC236}">
                <a16:creationId xmlns:a16="http://schemas.microsoft.com/office/drawing/2014/main" id="{75B2C3BA-ED0E-4112-B969-5FCFC64E4EE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F261306-FF4A-4578-B881-6E300D39E41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122</a:t>
            </a:r>
          </a:p>
        </p:txBody>
      </p:sp>
    </p:spTree>
    <p:extLst>
      <p:ext uri="{BB962C8B-B14F-4D97-AF65-F5344CB8AC3E}">
        <p14:creationId xmlns:p14="http://schemas.microsoft.com/office/powerpoint/2010/main" val="596069147"/>
      </p:ext>
    </p:extLst>
  </p:cSld>
</p:sld>
</file>

<file path=ppt/slides/slide1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2A83C17-080F-4004-8FF2-B3FAD5BEAA6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Newer and restricted gram-negative agents</a:t>
            </a:r>
          </a:p>
        </p:txBody>
      </p:sp>
      <p:sp>
        <p:nvSpPr>
          <p:cNvPr id="2" name="paragraph-0">
            <a:extLst xmlns:a="http://schemas.openxmlformats.org/drawingml/2006/main">
              <a:ext uri="{FF2B5EF4-FFF2-40B4-BE49-F238E27FC236}">
                <a16:creationId xmlns:a16="http://schemas.microsoft.com/office/drawing/2014/main" id="{1DC0966F-4BE8-4305-BC74-F4D4EDBE26EB}"/>
              </a:ext>
            </a:extLst>
          </p:cNvPr>
          <p:cNvSpPr>
            <a:spLocks xmlns:a="http://schemas.openxmlformats.org/drawingml/2006/main" noGrp="1"/>
          </p:cNvSpPr>
          <p:nvPr/>
        </p:nvSpPr>
        <p:spPr>
          <a:xfrm xmlns:a="http://schemas.openxmlformats.org/drawingml/2006/main">
            <a:off x="647700" y="19526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Optional fellow detail</a:t>
            </a:r>
          </a:p>
        </p:txBody>
      </p:sp>
      <p:sp>
        <p:nvSpPr>
          <p:cNvPr id="3" name="footer">
            <a:extLst xmlns:a="http://schemas.openxmlformats.org/drawingml/2006/main">
              <a:ext uri="{FF2B5EF4-FFF2-40B4-BE49-F238E27FC236}">
                <a16:creationId xmlns:a16="http://schemas.microsoft.com/office/drawing/2014/main" id="{78F47421-A1EC-4A7B-B6D0-13921ED50EE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6C14B22-9912-482C-8AE8-08074C7C5F7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123</a:t>
            </a:r>
          </a:p>
        </p:txBody>
      </p:sp>
    </p:spTree>
    <p:extLst>
      <p:ext uri="{BB962C8B-B14F-4D97-AF65-F5344CB8AC3E}">
        <p14:creationId xmlns:p14="http://schemas.microsoft.com/office/powerpoint/2010/main" val="1600825816"/>
      </p:ext>
    </p:extLst>
  </p:cSld>
</p:sld>
</file>

<file path=ppt/slides/slide1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7999AB1-5F5B-41B0-AD3B-3DEF3CBE604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Choosing among restricted gram-negative agents</a:t>
            </a:r>
          </a:p>
        </p:txBody>
      </p:sp>
      <p:sp>
        <p:nvSpPr>
          <p:cNvPr id="2" name="paragraph-0">
            <a:extLst xmlns:a="http://schemas.openxmlformats.org/drawingml/2006/main">
              <a:ext uri="{FF2B5EF4-FFF2-40B4-BE49-F238E27FC236}">
                <a16:creationId xmlns:a16="http://schemas.microsoft.com/office/drawing/2014/main" id="{C0F9F14D-0819-4C3A-8873-BA09C273F4BE}"/>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This section is intended for fellows and residents seeking additional detail. Fellows should be able to compare agents by resistance mechanism, infection site, susceptibility result, prior exposure, and evidence. Confirm formulary restrictions and current susceptibility data before use.</a:t>
            </a:r>
          </a:p>
        </p:txBody>
      </p:sp>
      <p:sp>
        <p:nvSpPr>
          <p:cNvPr id="3" name="footer">
            <a:extLst xmlns:a="http://schemas.openxmlformats.org/drawingml/2006/main">
              <a:ext uri="{FF2B5EF4-FFF2-40B4-BE49-F238E27FC236}">
                <a16:creationId xmlns:a16="http://schemas.microsoft.com/office/drawing/2014/main" id="{F26C1683-7A33-496C-84D1-7976B46C3D2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76CC43B-BB87-460A-9AD9-6BCDBDA7A83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124</a:t>
            </a:r>
          </a:p>
        </p:txBody>
      </p:sp>
    </p:spTree>
    <p:extLst>
      <p:ext uri="{BB962C8B-B14F-4D97-AF65-F5344CB8AC3E}">
        <p14:creationId xmlns:p14="http://schemas.microsoft.com/office/powerpoint/2010/main" val="240934629"/>
      </p:ext>
    </p:extLst>
  </p:cSld>
</p:sld>
</file>

<file path=ppt/slides/slide1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73285C0-C058-4300-98E4-6E9656434BF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Choosing among restricted gram-negative agents</a:t>
            </a:r>
          </a:p>
        </p:txBody>
      </p:sp>
      <p:graphicFrame>
        <p:nvGraphicFramePr>
          <p:cNvPr id="2" name="">
            <a:extLst xmlns:a="http://schemas.openxmlformats.org/drawingml/2006/main">
              <a:ext uri="{FF2B5EF4-FFF2-40B4-BE49-F238E27FC236}">
                <a16:creationId xmlns:a16="http://schemas.microsoft.com/office/drawing/2014/main" id="{48A57A08-6C02-4F48-A7D4-01BB7594C40E}"/>
              </a:ext>
            </a:extLst>
          </p:cNvPr>
          <p:cNvGraphicFramePr/>
          <p:nvPr/>
        </p:nvGraphicFramePr>
        <p:xfrm>
          <a:off xmlns:a="http://schemas.openxmlformats.org/drawingml/2006/main" x="647700" y="1866900"/>
          <a:ext xmlns:a="http://schemas.openxmlformats.org/drawingml/2006/main" cx="10896600" cy="34718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Ceftazidime-avibactam Avycaz</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Where it may 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 preferred option for KPC-producing Enterobacterales and the preferred option for OXA-48-like Enterobacterales. It is also one option for susceptible difficult-to-treat resistant Pseudomonas . 1 14</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Main limitation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Avibactam does not inhibit metallo-beta-lactamases such as NDM, VIM, or IMP. Ceftazidime-avibactam alone should not be assumed active against an NDM-producing isolate.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DEF8CA4-9041-4C63-BD21-83264680C38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6866FBE-F899-415A-93A1-4DAE7D21489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125</a:t>
            </a:r>
          </a:p>
        </p:txBody>
      </p:sp>
    </p:spTree>
    <p:extLst>
      <p:ext uri="{BB962C8B-B14F-4D97-AF65-F5344CB8AC3E}">
        <p14:creationId xmlns:p14="http://schemas.microsoft.com/office/powerpoint/2010/main" val="1601398811"/>
      </p:ext>
    </p:extLst>
  </p:cSld>
</p:sld>
</file>

<file path=ppt/slides/slide1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14658B6-23B9-4FDF-A395-52F345CAA82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Choosing among restricted gram-negative agents</a:t>
            </a:r>
          </a:p>
        </p:txBody>
      </p:sp>
      <p:graphicFrame>
        <p:nvGraphicFramePr>
          <p:cNvPr id="2" name="">
            <a:extLst xmlns:a="http://schemas.openxmlformats.org/drawingml/2006/main">
              <a:ext uri="{FF2B5EF4-FFF2-40B4-BE49-F238E27FC236}">
                <a16:creationId xmlns:a16="http://schemas.microsoft.com/office/drawing/2014/main" id="{7E8B0A73-FEE1-4E1B-9CF4-0B7B6ECDC890}"/>
              </a:ext>
            </a:extLst>
          </p:cNvPr>
          <p:cNvGraphicFramePr/>
          <p:nvPr/>
        </p:nvGraphicFramePr>
        <p:xfrm>
          <a:off xmlns:a="http://schemas.openxmlformats.org/drawingml/2006/main" x="647700" y="1866900"/>
          <a:ext xmlns:a="http://schemas.openxmlformats.org/drawingml/2006/main" cx="10896600" cy="378142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Ceftolozane-tazobactam Zerbaxa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085975">
                <a:tc>
                  <a:txBody>
                    <a:bodyPr lIns="114300" tIns="114300" rIns="114300" bIns="114300">
                      <a:noAutofit/>
                    </a:bodyPr>
                    <a:lstStyle/>
                    <a:p>
                      <a:r>
                        <a:rPr sz="1950" b="0">
                          <a:solidFill>
                            <a:srgbClr val="16323B"/>
                          </a:solidFill>
                          <a:latin typeface="DejaVu Sans"/>
                          <a:ea typeface="DejaVu Sans"/>
                          <a:cs typeface="DejaVu Sans"/>
                        </a:rPr>
                        <a:t>Where it may 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Its main niche is susceptible difficult-to-treat resistant Pseudomonas aeruginosa . The 2026 IDSA guidance gives it preference for DTR Pseudomonas pneumonia. It also has ESBL activity, but broader reserve agents are generally preserved when a carbapenem or an active oral drug is adequate. 1 15</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Main limitation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It is not a dependable solution for carbapenemase-producing Enterobacterales, and susceptibility should not be inferred from the organism name.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5BFB198B-1A4F-4D3B-866E-CD7C038AF9C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D31658C-003E-4B73-B081-14C05CA8076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126</a:t>
            </a:r>
          </a:p>
        </p:txBody>
      </p:sp>
    </p:spTree>
    <p:extLst>
      <p:ext uri="{BB962C8B-B14F-4D97-AF65-F5344CB8AC3E}">
        <p14:creationId xmlns:p14="http://schemas.microsoft.com/office/powerpoint/2010/main" val="670324973"/>
      </p:ext>
    </p:extLst>
  </p:cSld>
</p:sld>
</file>

<file path=ppt/slides/slide1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4FA6D10-2FEA-429A-8914-845BA8FBC27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Choosing among restricted gram-negative agents</a:t>
            </a:r>
          </a:p>
        </p:txBody>
      </p:sp>
      <p:graphicFrame>
        <p:nvGraphicFramePr>
          <p:cNvPr id="2" name="">
            <a:extLst xmlns:a="http://schemas.openxmlformats.org/drawingml/2006/main">
              <a:ext uri="{FF2B5EF4-FFF2-40B4-BE49-F238E27FC236}">
                <a16:creationId xmlns:a16="http://schemas.microsoft.com/office/drawing/2014/main" id="{5F13BA83-B4EF-42AF-A561-679B75E0435A}"/>
              </a:ext>
            </a:extLst>
          </p:cNvPr>
          <p:cNvGraphicFramePr/>
          <p:nvPr/>
        </p:nvGraphicFramePr>
        <p:xfrm>
          <a:off xmlns:a="http://schemas.openxmlformats.org/drawingml/2006/main" x="647700" y="1866900"/>
          <a:ext xmlns:a="http://schemas.openxmlformats.org/drawingml/2006/main" cx="10896600" cy="26241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Cefiderocol Fetroja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085975">
                <a:tc>
                  <a:txBody>
                    <a:bodyPr lIns="114300" tIns="114300" rIns="114300" bIns="114300">
                      <a:noAutofit/>
                    </a:bodyPr>
                    <a:lstStyle/>
                    <a:p>
                      <a:r>
                        <a:rPr sz="1950" b="0">
                          <a:solidFill>
                            <a:srgbClr val="16323B"/>
                          </a:solidFill>
                          <a:latin typeface="DejaVu Sans"/>
                          <a:ea typeface="DejaVu Sans"/>
                          <a:cs typeface="DejaVu Sans"/>
                        </a:rPr>
                        <a:t>Where it may 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 siderophore cephalosporin with activity against some highly resistant Enterobacterales and nonfermenters. Current guidance includes it among preferred options for NDM-producing Enterobacterales and metallo-beta-lactamase-producing Pseudomonas , and in selected roles for CRAB and invasive Stenotrophomonas maltophilia . 1 16</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039898FA-C25E-4635-A7EE-1AF8E211F34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6D3CA98-53F5-43F0-B537-429D0DA5A31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127</a:t>
            </a:r>
          </a:p>
        </p:txBody>
      </p:sp>
    </p:spTree>
    <p:extLst>
      <p:ext uri="{BB962C8B-B14F-4D97-AF65-F5344CB8AC3E}">
        <p14:creationId xmlns:p14="http://schemas.microsoft.com/office/powerpoint/2010/main" val="1433720923"/>
      </p:ext>
    </p:extLst>
  </p:cSld>
</p:sld>
</file>

<file path=ppt/slides/slide1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A31076C-2D3E-4CF8-B9C1-8AEB0B8EACB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Choosing among restricted gram-negative agents</a:t>
            </a:r>
          </a:p>
        </p:txBody>
      </p:sp>
      <p:graphicFrame>
        <p:nvGraphicFramePr>
          <p:cNvPr id="2" name="">
            <a:extLst xmlns:a="http://schemas.openxmlformats.org/drawingml/2006/main">
              <a:ext uri="{FF2B5EF4-FFF2-40B4-BE49-F238E27FC236}">
                <a16:creationId xmlns:a16="http://schemas.microsoft.com/office/drawing/2014/main" id="{AD593A1B-BA02-4A2B-9F18-AC2E645886E1}"/>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Cefiderocol Fetroja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Main limitation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Activity is not universal, and clinical evidence remains limited for several of these organisms. The label retains a warning about an observed mortality imbalance in a trial involving carbapenem-resistant gram-negative infections. Confirm susceptibility before use.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D694E6CD-C236-4DA2-9BDF-21306E637FC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048E653-A474-4956-B7EF-A4938AD4F77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128</a:t>
            </a:r>
          </a:p>
        </p:txBody>
      </p:sp>
    </p:spTree>
    <p:extLst>
      <p:ext uri="{BB962C8B-B14F-4D97-AF65-F5344CB8AC3E}">
        <p14:creationId xmlns:p14="http://schemas.microsoft.com/office/powerpoint/2010/main" val="1888096298"/>
      </p:ext>
    </p:extLst>
  </p:cSld>
</p:sld>
</file>

<file path=ppt/slides/slide1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5A9AB93-382D-40AD-9A36-E8C0E19EBC7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Choosing among restricted gram-negative agents</a:t>
            </a:r>
          </a:p>
        </p:txBody>
      </p:sp>
      <p:graphicFrame>
        <p:nvGraphicFramePr>
          <p:cNvPr id="2" name="">
            <a:extLst xmlns:a="http://schemas.openxmlformats.org/drawingml/2006/main">
              <a:ext uri="{FF2B5EF4-FFF2-40B4-BE49-F238E27FC236}">
                <a16:creationId xmlns:a16="http://schemas.microsoft.com/office/drawing/2014/main" id="{58FCC046-DCD0-4095-A173-244D8010D3D0}"/>
              </a:ext>
            </a:extLst>
          </p:cNvPr>
          <p:cNvGraphicFramePr/>
          <p:nvPr/>
        </p:nvGraphicFramePr>
        <p:xfrm>
          <a:off xmlns:a="http://schemas.openxmlformats.org/drawingml/2006/main" x="647700" y="1866900"/>
          <a:ext xmlns:a="http://schemas.openxmlformats.org/drawingml/2006/main" cx="10896600" cy="26241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Aztreonam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085975">
                <a:tc>
                  <a:txBody>
                    <a:bodyPr lIns="114300" tIns="114300" rIns="114300" bIns="114300">
                      <a:noAutofit/>
                    </a:bodyPr>
                    <a:lstStyle/>
                    <a:p>
                      <a:r>
                        <a:rPr sz="1950" b="0">
                          <a:solidFill>
                            <a:srgbClr val="16323B"/>
                          </a:solidFill>
                          <a:latin typeface="DejaVu Sans"/>
                          <a:ea typeface="DejaVu Sans"/>
                          <a:cs typeface="DejaVu Sans"/>
                        </a:rPr>
                        <a:t>Where it may 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 traditional monobactam active only against susceptible aerobic gram-negative organisms, including some Pseudomonas . It is stable to hydrolysis by metallo-beta-lactamases, which becomes useful when paired with an inhibitor that blocks commonly co-produced serine beta-lactamases.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0B2A245-09FA-4F2E-B06D-D121F9ABB17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95CC388-B140-40B8-A035-8B56EE06E85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129</a:t>
            </a:r>
          </a:p>
        </p:txBody>
      </p:sp>
    </p:spTree>
    <p:extLst>
      <p:ext uri="{BB962C8B-B14F-4D97-AF65-F5344CB8AC3E}">
        <p14:creationId xmlns:p14="http://schemas.microsoft.com/office/powerpoint/2010/main" val="906523502"/>
      </p:ext>
    </p:extLst>
  </p:cSld>
</p:sld>
</file>

<file path=ppt/slides/slide1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C291763-3920-46E0-A3DB-97FA1C4C728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Choosing among restricted gram-negative agents</a:t>
            </a:r>
          </a:p>
        </p:txBody>
      </p:sp>
      <p:graphicFrame>
        <p:nvGraphicFramePr>
          <p:cNvPr id="2" name="">
            <a:extLst xmlns:a="http://schemas.openxmlformats.org/drawingml/2006/main">
              <a:ext uri="{FF2B5EF4-FFF2-40B4-BE49-F238E27FC236}">
                <a16:creationId xmlns:a16="http://schemas.microsoft.com/office/drawing/2014/main" id="{ACA1090D-0E83-4190-99DE-C2B1E40C242D}"/>
              </a:ext>
            </a:extLst>
          </p:cNvPr>
          <p:cNvGraphicFramePr/>
          <p:nvPr/>
        </p:nvGraphicFramePr>
        <p:xfrm>
          <a:off xmlns:a="http://schemas.openxmlformats.org/drawingml/2006/main" x="647700" y="1866900"/>
          <a:ext xmlns:a="http://schemas.openxmlformats.org/drawingml/2006/main" cx="10896600" cy="29337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Aztreonam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395538">
                <a:tc>
                  <a:txBody>
                    <a:bodyPr lIns="114300" tIns="114300" rIns="114300" bIns="114300">
                      <a:noAutofit/>
                    </a:bodyPr>
                    <a:lstStyle/>
                    <a:p>
                      <a:r>
                        <a:rPr sz="1950" b="0">
                          <a:solidFill>
                            <a:srgbClr val="16323B"/>
                          </a:solidFill>
                          <a:latin typeface="DejaVu Sans"/>
                          <a:ea typeface="DejaVu Sans"/>
                          <a:cs typeface="DejaVu Sans"/>
                        </a:rPr>
                        <a:t>Main limitation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Aztreonam alone is often hydrolyzed by ESBL, AmpC, KPC, or OXA enzymes that travel with NDM and other MBLs. It is not a reliable MBL regimen by itself and is usually a poor empiric agent because it has no gram-positive or anaerobic activity and gram-negative susceptibility cannot be assumed. Avoid routine empiric use. Penicillin allergy alone generally does not preclude aztreonam.</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70D608AD-BF17-4954-9D6E-5BE75C97E48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09C354E-61FC-43CE-808E-268134BEA5A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130</a:t>
            </a:r>
          </a:p>
        </p:txBody>
      </p:sp>
    </p:spTree>
    <p:extLst>
      <p:ext uri="{BB962C8B-B14F-4D97-AF65-F5344CB8AC3E}">
        <p14:creationId xmlns:p14="http://schemas.microsoft.com/office/powerpoint/2010/main" val="872937188"/>
      </p:ext>
    </p:extLst>
  </p:cSld>
</p:sld>
</file>

<file path=ppt/slides/slide1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6D31E84-34DA-4044-9D88-DCF17140CBC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Choosing among restricted gram-negative agents</a:t>
            </a:r>
          </a:p>
        </p:txBody>
      </p:sp>
      <p:graphicFrame>
        <p:nvGraphicFramePr>
          <p:cNvPr id="2" name="">
            <a:extLst xmlns:a="http://schemas.openxmlformats.org/drawingml/2006/main">
              <a:ext uri="{FF2B5EF4-FFF2-40B4-BE49-F238E27FC236}">
                <a16:creationId xmlns:a16="http://schemas.microsoft.com/office/drawing/2014/main" id="{9CB0B657-1A3D-43B5-B787-30AD07FC9A6E}"/>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Aztreonam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Main limitation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Ceftazidime shares an identical R1 side chain, and clinical cross-reactivity has been reported. With a convincing immediate or severe ceftazidime reaction, clarify the phenotype and follow the local allergy pathway before using aztreonam. 4 21</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3E3B1002-4795-45F9-BFFD-C021466AC24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35D05F8-F916-4921-A2EE-173227D6E09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131</a:t>
            </a:r>
          </a:p>
        </p:txBody>
      </p:sp>
    </p:spTree>
    <p:extLst>
      <p:ext uri="{BB962C8B-B14F-4D97-AF65-F5344CB8AC3E}">
        <p14:creationId xmlns:p14="http://schemas.microsoft.com/office/powerpoint/2010/main" val="1292791197"/>
      </p:ext>
    </p:extLst>
  </p:cSld>
</p:sld>
</file>

<file path=ppt/slides/slide1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E5A42EE-5B28-45E9-93A0-272DB3CF7D6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Choosing among restricted gram-negative agents</a:t>
            </a:r>
          </a:p>
        </p:txBody>
      </p:sp>
      <p:graphicFrame>
        <p:nvGraphicFramePr>
          <p:cNvPr id="2" name="">
            <a:extLst xmlns:a="http://schemas.openxmlformats.org/drawingml/2006/main">
              <a:ext uri="{FF2B5EF4-FFF2-40B4-BE49-F238E27FC236}">
                <a16:creationId xmlns:a16="http://schemas.microsoft.com/office/drawing/2014/main" id="{86799BBC-483B-497C-8E1C-951DFFA726B1}"/>
              </a:ext>
            </a:extLst>
          </p:cNvPr>
          <p:cNvGraphicFramePr/>
          <p:nvPr/>
        </p:nvGraphicFramePr>
        <p:xfrm>
          <a:off xmlns:a="http://schemas.openxmlformats.org/drawingml/2006/main" x="647700" y="1866900"/>
          <a:ext xmlns:a="http://schemas.openxmlformats.org/drawingml/2006/main" cx="10896600" cy="29337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Aztreonam-avibactam Emblaveo</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395538">
                <a:tc>
                  <a:txBody>
                    <a:bodyPr lIns="114300" tIns="114300" rIns="114300" bIns="114300">
                      <a:noAutofit/>
                    </a:bodyPr>
                    <a:lstStyle/>
                    <a:p>
                      <a:r>
                        <a:rPr sz="1950" b="0">
                          <a:solidFill>
                            <a:srgbClr val="16323B"/>
                          </a:solidFill>
                          <a:latin typeface="DejaVu Sans"/>
                          <a:ea typeface="DejaVu Sans"/>
                          <a:cs typeface="DejaVu Sans"/>
                        </a:rPr>
                        <a:t>Where it may 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The fixed combination protects aztreonam from many co-produced serine beta-lactamases. IDSA lists aztreonam-avibactam and cefiderocol as preferred options for NDM-producing Enterobacterales, with a slight preference for aztreonam-avibactam. FDA labeling is narrower: adults with complicated intra-abdominal infection, given with metronidazole, who have limited or no alternatives. 1 17</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5DAC00CE-9C94-4851-BE6C-11332B78138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5E241E6-272F-4D54-AF41-793AE442993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132</a:t>
            </a:r>
          </a:p>
        </p:txBody>
      </p:sp>
    </p:spTree>
    <p:extLst>
      <p:ext uri="{BB962C8B-B14F-4D97-AF65-F5344CB8AC3E}">
        <p14:creationId xmlns:p14="http://schemas.microsoft.com/office/powerpoint/2010/main" val="1023217291"/>
      </p:ext>
    </p:extLst>
  </p:cSld>
</p:sld>
</file>

<file path=ppt/slides/slide1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FB56452-DD7B-4EBA-A984-5F58B4AA8B4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Choosing among restricted gram-negative agents</a:t>
            </a:r>
          </a:p>
        </p:txBody>
      </p:sp>
      <p:graphicFrame>
        <p:nvGraphicFramePr>
          <p:cNvPr id="2" name="">
            <a:extLst xmlns:a="http://schemas.openxmlformats.org/drawingml/2006/main">
              <a:ext uri="{FF2B5EF4-FFF2-40B4-BE49-F238E27FC236}">
                <a16:creationId xmlns:a16="http://schemas.microsoft.com/office/drawing/2014/main" id="{9581A253-0635-4B0D-9FD0-AC48D942BCBA}"/>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Aztreonam-avibactam Emblaveo</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Main limitation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It has limited activity against MBL-producing Pseudomonas , and there are no FDA or CLSI breakpoints for that organism. Several mechanism-based uses in IDSA guidance extend beyond the FDA indication.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0603DD48-30EF-4614-B4B2-6EEBB5E6FD7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FCA7F87-B04D-4E28-A130-2F3EA6F50EC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133</a:t>
            </a:r>
          </a:p>
        </p:txBody>
      </p:sp>
    </p:spTree>
    <p:extLst>
      <p:ext uri="{BB962C8B-B14F-4D97-AF65-F5344CB8AC3E}">
        <p14:creationId xmlns:p14="http://schemas.microsoft.com/office/powerpoint/2010/main" val="999621268"/>
      </p:ext>
    </p:extLst>
  </p:cSld>
</p:sld>
</file>

<file path=ppt/slides/slide1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2AF3EB3-27CE-4595-A121-AEB7F69C5D6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Choosing among restricted gram-negative agents</a:t>
            </a:r>
          </a:p>
        </p:txBody>
      </p:sp>
      <p:graphicFrame>
        <p:nvGraphicFramePr>
          <p:cNvPr id="2" name="">
            <a:extLst xmlns:a="http://schemas.openxmlformats.org/drawingml/2006/main">
              <a:ext uri="{FF2B5EF4-FFF2-40B4-BE49-F238E27FC236}">
                <a16:creationId xmlns:a16="http://schemas.microsoft.com/office/drawing/2014/main" id="{B9115EFD-94F7-4AA5-94DC-DE905EED4E9B}"/>
              </a:ext>
            </a:extLst>
          </p:cNvPr>
          <p:cNvGraphicFramePr/>
          <p:nvPr/>
        </p:nvGraphicFramePr>
        <p:xfrm>
          <a:off xmlns:a="http://schemas.openxmlformats.org/drawingml/2006/main" x="647700" y="1866900"/>
          <a:ext xmlns:a="http://schemas.openxmlformats.org/drawingml/2006/main" cx="10896600" cy="378142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Ceftazidime-avibactam plus aztreonam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Where it may 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An alternative for NDM-producing Enterobacterales when the fixed aztreonam-avibactam product is not available. Avibactam protects aztreonam from the accompanying serine beta-lactamases while aztreonam avoids hydrolysis by NDM. 1</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Main limitation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The combination requires coordinated dosing, renal adjustment, microbiology support, and ID pharmacy review. Current guidance slightly favors the fixed aztreonam-avibactam product when available.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648E90B-DB0F-4C05-A843-8C59F0D53BF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1ABCB5D-61F7-46F3-9677-49A077B9B0E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134</a:t>
            </a:r>
          </a:p>
        </p:txBody>
      </p:sp>
    </p:spTree>
    <p:extLst>
      <p:ext uri="{BB962C8B-B14F-4D97-AF65-F5344CB8AC3E}">
        <p14:creationId xmlns:p14="http://schemas.microsoft.com/office/powerpoint/2010/main" val="1280030357"/>
      </p:ext>
    </p:extLst>
  </p:cSld>
</p:sld>
</file>

<file path=ppt/slides/slide1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6D0BE51-B635-4B52-B675-225300DBEF0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Coverage gaps with newer gram-negative agents</a:t>
            </a:r>
          </a:p>
        </p:txBody>
      </p:sp>
      <p:sp>
        <p:nvSpPr>
          <p:cNvPr id="2" name="paragraph-0">
            <a:extLst xmlns:a="http://schemas.openxmlformats.org/drawingml/2006/main">
              <a:ext uri="{FF2B5EF4-FFF2-40B4-BE49-F238E27FC236}">
                <a16:creationId xmlns:a16="http://schemas.microsoft.com/office/drawing/2014/main" id="{B78BCC1D-7BFB-4BCD-A0A6-85063A2E6C0B}"/>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beta-lactamase inhibitor usually protects or extends the gram-negative activity of its partner beta-lactam. It does not add anaerobic, MRSA, enterococcal, or atypical coverage unless the partner drug already provides it. Sulbactam has intrinsic activity against Acinetobacter .</a:t>
            </a:r>
          </a:p>
        </p:txBody>
      </p:sp>
      <p:sp>
        <p:nvSpPr>
          <p:cNvPr id="3" name="footer">
            <a:extLst xmlns:a="http://schemas.openxmlformats.org/drawingml/2006/main">
              <a:ext uri="{FF2B5EF4-FFF2-40B4-BE49-F238E27FC236}">
                <a16:creationId xmlns:a16="http://schemas.microsoft.com/office/drawing/2014/main" id="{3D328DDA-0356-44E3-B339-0E08A7CF9D3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B052AB3-060D-4799-A05C-5AB72169A34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135</a:t>
            </a:r>
          </a:p>
        </p:txBody>
      </p:sp>
    </p:spTree>
    <p:extLst>
      <p:ext uri="{BB962C8B-B14F-4D97-AF65-F5344CB8AC3E}">
        <p14:creationId xmlns:p14="http://schemas.microsoft.com/office/powerpoint/2010/main" val="404063967"/>
      </p:ext>
    </p:extLst>
  </p:cSld>
</p:sld>
</file>

<file path=ppt/slides/slide1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0BA255B-83E8-4B0C-AD29-2F30F9B90AA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Coverage gaps with newer gram-negative agents</a:t>
            </a:r>
          </a:p>
        </p:txBody>
      </p:sp>
      <p:graphicFrame>
        <p:nvGraphicFramePr>
          <p:cNvPr id="2" name="">
            <a:extLst xmlns:a="http://schemas.openxmlformats.org/drawingml/2006/main">
              <a:ext uri="{FF2B5EF4-FFF2-40B4-BE49-F238E27FC236}">
                <a16:creationId xmlns:a16="http://schemas.microsoft.com/office/drawing/2014/main" id="{A9B0B45B-448C-4C29-8F22-05A60B3E5D95}"/>
              </a:ext>
            </a:extLst>
          </p:cNvPr>
          <p:cNvGraphicFramePr/>
          <p:nvPr/>
        </p:nvGraphicFramePr>
        <p:xfrm>
          <a:off xmlns:a="http://schemas.openxmlformats.org/drawingml/2006/main" x="647700" y="1866900"/>
          <a:ext xmlns:a="http://schemas.openxmlformats.org/drawingml/2006/main" cx="10896600" cy="33909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Ceftazidime-avibactam Avycaz</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Anaerobes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Do not rely on it for clinically adequate anaerobic coverage. The FDA-labeled complicated intra-abdominal infection regimen includes concurrent metronidazole. 14</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Gram-positive organisms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Do not count on it for MRSA or enterococci.</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Clinical implication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Add anaerobic or gram-positive therapy when required by the syndrome.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23B1A03F-433B-4982-BED8-553A4BF87EA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EBD9E5D-5F7E-4611-AE10-2E77E891B0C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136</a:t>
            </a:r>
          </a:p>
        </p:txBody>
      </p:sp>
    </p:spTree>
    <p:extLst>
      <p:ext uri="{BB962C8B-B14F-4D97-AF65-F5344CB8AC3E}">
        <p14:creationId xmlns:p14="http://schemas.microsoft.com/office/powerpoint/2010/main" val="462004895"/>
      </p:ext>
    </p:extLst>
  </p:cSld>
</p:sld>
</file>

<file path=ppt/slides/slide1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A7D70A6-34F7-4F98-B3CC-564ADA48020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Coverage gaps with newer gram-negative agents</a:t>
            </a:r>
          </a:p>
        </p:txBody>
      </p:sp>
      <p:graphicFrame>
        <p:nvGraphicFramePr>
          <p:cNvPr id="2" name="">
            <a:extLst xmlns:a="http://schemas.openxmlformats.org/drawingml/2006/main">
              <a:ext uri="{FF2B5EF4-FFF2-40B4-BE49-F238E27FC236}">
                <a16:creationId xmlns:a16="http://schemas.microsoft.com/office/drawing/2014/main" id="{6216FD46-0DFA-4EC4-B79B-763BC09CBF84}"/>
              </a:ext>
            </a:extLst>
          </p:cNvPr>
          <p:cNvGraphicFramePr/>
          <p:nvPr/>
        </p:nvGraphicFramePr>
        <p:xfrm>
          <a:off xmlns:a="http://schemas.openxmlformats.org/drawingml/2006/main" x="647700" y="1866900"/>
          <a:ext xmlns:a="http://schemas.openxmlformats.org/drawingml/2006/main" cx="10896600" cy="33909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Ceftolozane-tazobactam Zerbaxa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Anaerobes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Do not use it as stand-alone anaerobic therapy. Its labeled complicated intra-abdominal infection regimen includes metronidazole. 15</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Gram-positive organisms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Do not count on it for MRSA or enterococci.</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Clinical implication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Its primary role is treatment of susceptible resistant Pseudomonas .</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64D7608E-F9A3-4338-A2D6-D5039B4BDCD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F4BABDE-E271-4F68-8B9F-CFEAC8970FE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137</a:t>
            </a:r>
          </a:p>
        </p:txBody>
      </p:sp>
    </p:spTree>
    <p:extLst>
      <p:ext uri="{BB962C8B-B14F-4D97-AF65-F5344CB8AC3E}">
        <p14:creationId xmlns:p14="http://schemas.microsoft.com/office/powerpoint/2010/main" val="405045815"/>
      </p:ext>
    </p:extLst>
  </p:cSld>
</p:sld>
</file>

<file path=ppt/slides/slide1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57DF92E-0C16-4BFF-B0DC-5250ECE2225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Coverage gaps with newer gram-negative agents</a:t>
            </a:r>
          </a:p>
        </p:txBody>
      </p:sp>
      <p:graphicFrame>
        <p:nvGraphicFramePr>
          <p:cNvPr id="2" name="">
            <a:extLst xmlns:a="http://schemas.openxmlformats.org/drawingml/2006/main">
              <a:ext uri="{FF2B5EF4-FFF2-40B4-BE49-F238E27FC236}">
                <a16:creationId xmlns:a16="http://schemas.microsoft.com/office/drawing/2014/main" id="{1851BF72-3D1C-4E05-99A0-671D61F04F33}"/>
              </a:ext>
            </a:extLst>
          </p:cNvPr>
          <p:cNvGraphicFramePr/>
          <p:nvPr/>
        </p:nvGraphicFramePr>
        <p:xfrm>
          <a:off xmlns:a="http://schemas.openxmlformats.org/drawingml/2006/main" x="647700" y="1866900"/>
          <a:ext xmlns:a="http://schemas.openxmlformats.org/drawingml/2006/main" cx="10896600" cy="33909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Cefiderocol Fetroja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Anaerobes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It is an aerobic gram-negative agent; add anaerobic therapy when the syndrome requires it. 16</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Gram-positive organisms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Do not count on it for gram-positive coverage.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1157288">
                <a:tc>
                  <a:txBody>
                    <a:bodyPr lIns="114300" tIns="114300" rIns="114300" bIns="114300">
                      <a:noAutofit/>
                    </a:bodyPr>
                    <a:lstStyle/>
                    <a:p>
                      <a:r>
                        <a:rPr sz="1950" b="0">
                          <a:solidFill>
                            <a:srgbClr val="16323B"/>
                          </a:solidFill>
                          <a:latin typeface="DejaVu Sans"/>
                          <a:ea typeface="DejaVu Sans"/>
                          <a:cs typeface="DejaVu Sans"/>
                        </a:rPr>
                        <a:t>Clinical implication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 susceptible result does not make it a complete regimen for aspiration, bowel perforation, diabetic foot infection, or another mixed infection.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DA98E169-2F3A-4E74-B252-E44413FF70F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CF0C851-123E-41D7-A4EE-B146AC5E4A7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138</a:t>
            </a:r>
          </a:p>
        </p:txBody>
      </p:sp>
    </p:spTree>
    <p:extLst>
      <p:ext uri="{BB962C8B-B14F-4D97-AF65-F5344CB8AC3E}">
        <p14:creationId xmlns:p14="http://schemas.microsoft.com/office/powerpoint/2010/main" val="879415407"/>
      </p:ext>
    </p:extLst>
  </p:cSld>
</p:sld>
</file>

<file path=ppt/slides/slide1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B0DEBC3-089B-48C8-AFB9-33903268593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Coverage gaps with newer gram-negative agents</a:t>
            </a:r>
          </a:p>
        </p:txBody>
      </p:sp>
      <p:graphicFrame>
        <p:nvGraphicFramePr>
          <p:cNvPr id="2" name="">
            <a:extLst xmlns:a="http://schemas.openxmlformats.org/drawingml/2006/main">
              <a:ext uri="{FF2B5EF4-FFF2-40B4-BE49-F238E27FC236}">
                <a16:creationId xmlns:a16="http://schemas.microsoft.com/office/drawing/2014/main" id="{A853A24A-361C-40B3-99DE-AC2ED7CCB213}"/>
              </a:ext>
            </a:extLst>
          </p:cNvPr>
          <p:cNvGraphicFramePr/>
          <p:nvPr/>
        </p:nvGraphicFramePr>
        <p:xfrm>
          <a:off xmlns:a="http://schemas.openxmlformats.org/drawingml/2006/main" x="647700" y="1866900"/>
          <a:ext xmlns:a="http://schemas.openxmlformats.org/drawingml/2006/main" cx="10896600" cy="37004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Aztreonam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Anaerobes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No clinically useful anaerobic activity.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Gram-positive organisms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No clinically useful gram-positive activity.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1776413">
                <a:tc>
                  <a:txBody>
                    <a:bodyPr lIns="114300" tIns="114300" rIns="114300" bIns="114300">
                      <a:noAutofit/>
                    </a:bodyPr>
                    <a:lstStyle/>
                    <a:p>
                      <a:r>
                        <a:rPr sz="1950" b="0">
                          <a:solidFill>
                            <a:srgbClr val="16323B"/>
                          </a:solidFill>
                          <a:latin typeface="DejaVu Sans"/>
                          <a:ea typeface="DejaVu Sans"/>
                          <a:cs typeface="DejaVu Sans"/>
                        </a:rPr>
                        <a:t>Clinical implication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Use only for susceptible aerobic gram-negative organisms. Alone, it may fail against an NDM isolate when ESBL, AmpC, KPC, or OXA enzymes are also present. Aztreonam and ceftazidime share an identical R1 side chain, so a ceftazidime allergy requires review. 21</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A2D7A6C5-D9D9-4286-A2A2-DD449D6DBE5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AD59E5A-7D61-499C-9361-5312F2DDB73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139</a:t>
            </a:r>
          </a:p>
        </p:txBody>
      </p:sp>
    </p:spTree>
    <p:extLst>
      <p:ext uri="{BB962C8B-B14F-4D97-AF65-F5344CB8AC3E}">
        <p14:creationId xmlns:p14="http://schemas.microsoft.com/office/powerpoint/2010/main" val="522835046"/>
      </p:ext>
    </p:extLst>
  </p:cSld>
</p:sld>
</file>

<file path=ppt/slides/slide1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FA548A5-5223-455D-AA20-38D8EDC7CDF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Coverage gaps with newer gram-negative agents</a:t>
            </a:r>
          </a:p>
        </p:txBody>
      </p:sp>
      <p:graphicFrame>
        <p:nvGraphicFramePr>
          <p:cNvPr id="2" name="">
            <a:extLst xmlns:a="http://schemas.openxmlformats.org/drawingml/2006/main">
              <a:ext uri="{FF2B5EF4-FFF2-40B4-BE49-F238E27FC236}">
                <a16:creationId xmlns:a16="http://schemas.microsoft.com/office/drawing/2014/main" id="{9BEF6964-F5B1-44E7-8CC3-856F72CEBBE3}"/>
              </a:ext>
            </a:extLst>
          </p:cNvPr>
          <p:cNvGraphicFramePr/>
          <p:nvPr/>
        </p:nvGraphicFramePr>
        <p:xfrm>
          <a:off xmlns:a="http://schemas.openxmlformats.org/drawingml/2006/main" x="647700" y="1866900"/>
          <a:ext xmlns:a="http://schemas.openxmlformats.org/drawingml/2006/main" cx="10896600" cy="33909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Aztreonam-avibactam Emblaveo</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Anaerobes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Do not rely on it for anaerobes. Its labeled complicated intra-abdominal infection regimen requires concurrent metronidazole. 17</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Gram-positive organisms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Do not count on it for gram-positive coverage.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Clinical implication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Add metronidazole for its labeled complicated intra-abdominal infection regimen.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3FECAFD-3082-4A59-A59C-460FABA7B35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2973227-B6A3-42B1-B601-677832B3AD5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140</a:t>
            </a:r>
          </a:p>
        </p:txBody>
      </p:sp>
    </p:spTree>
    <p:extLst>
      <p:ext uri="{BB962C8B-B14F-4D97-AF65-F5344CB8AC3E}">
        <p14:creationId xmlns:p14="http://schemas.microsoft.com/office/powerpoint/2010/main" val="1526882783"/>
      </p:ext>
    </p:extLst>
  </p:cSld>
</p:sld>
</file>

<file path=ppt/slides/slide1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E0C9AED-137F-46C5-AF67-D28F22CF3F4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Coverage gaps with newer gram-negative agents</a:t>
            </a:r>
          </a:p>
        </p:txBody>
      </p:sp>
      <p:graphicFrame>
        <p:nvGraphicFramePr>
          <p:cNvPr id="2" name="">
            <a:extLst xmlns:a="http://schemas.openxmlformats.org/drawingml/2006/main">
              <a:ext uri="{FF2B5EF4-FFF2-40B4-BE49-F238E27FC236}">
                <a16:creationId xmlns:a16="http://schemas.microsoft.com/office/drawing/2014/main" id="{35FB79B1-2D48-4819-8DBF-47819C0589FB}"/>
              </a:ext>
            </a:extLst>
          </p:cNvPr>
          <p:cNvGraphicFramePr/>
          <p:nvPr/>
        </p:nvGraphicFramePr>
        <p:xfrm>
          <a:off xmlns:a="http://schemas.openxmlformats.org/drawingml/2006/main" x="647700" y="1866900"/>
          <a:ext xmlns:a="http://schemas.openxmlformats.org/drawingml/2006/main" cx="10896600" cy="30813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Ceftazidime-avibactam plus aztreonam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Anaerobes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The combination does not supply dependable anaerobic coverage.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Gram-positive organisms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The combination does not supply dependable MRSA or enterococcal coverage.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Clinical implication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Add coverage for the remaining pathogens when the syndrome requires it.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1623B24-1E52-4BB7-93B1-FCFF8170337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B4F783B-883A-48C5-94FC-498F271155E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141</a:t>
            </a:r>
          </a:p>
        </p:txBody>
      </p:sp>
    </p:spTree>
    <p:extLst>
      <p:ext uri="{BB962C8B-B14F-4D97-AF65-F5344CB8AC3E}">
        <p14:creationId xmlns:p14="http://schemas.microsoft.com/office/powerpoint/2010/main" val="496466611"/>
      </p:ext>
    </p:extLst>
  </p:cSld>
</p:sld>
</file>

<file path=ppt/slides/slide1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07458E0-6E7E-43E7-96C3-FB34D0653F5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Coverage gaps with newer gram-negative agents</a:t>
            </a:r>
          </a:p>
        </p:txBody>
      </p:sp>
      <p:sp>
        <p:nvSpPr>
          <p:cNvPr id="2" name="paragraph-0">
            <a:extLst xmlns:a="http://schemas.openxmlformats.org/drawingml/2006/main">
              <a:ext uri="{FF2B5EF4-FFF2-40B4-BE49-F238E27FC236}">
                <a16:creationId xmlns:a16="http://schemas.microsoft.com/office/drawing/2014/main" id="{8BFC67D5-BDF4-4D1F-A7A9-687DCFE4623C}"/>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Add anaerobic or gram-positive therapy only when the syndrome, likely pathogens, and infection site require it. Obtain source control and narrow once cultures and the clinical course permit.</a:t>
            </a:r>
          </a:p>
        </p:txBody>
      </p:sp>
      <p:sp>
        <p:nvSpPr>
          <p:cNvPr id="3" name="footer">
            <a:extLst xmlns:a="http://schemas.openxmlformats.org/drawingml/2006/main">
              <a:ext uri="{FF2B5EF4-FFF2-40B4-BE49-F238E27FC236}">
                <a16:creationId xmlns:a16="http://schemas.microsoft.com/office/drawing/2014/main" id="{7E215F0A-1EB3-4A74-84CC-EDB0552F062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FBB1706-7871-457C-A7CA-DEEB710B88A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142</a:t>
            </a:r>
          </a:p>
        </p:txBody>
      </p:sp>
    </p:spTree>
    <p:extLst>
      <p:ext uri="{BB962C8B-B14F-4D97-AF65-F5344CB8AC3E}">
        <p14:creationId xmlns:p14="http://schemas.microsoft.com/office/powerpoint/2010/main" val="505499057"/>
      </p:ext>
    </p:extLst>
  </p:cSld>
</p:sld>
</file>

<file path=ppt/slides/slide1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93138BF-5F93-48F7-94BC-48E96FC9BBD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Using the resistance mechanism to choose among active agents</a:t>
            </a:r>
          </a:p>
        </p:txBody>
      </p:sp>
      <p:sp>
        <p:nvSpPr>
          <p:cNvPr id="2" name="paragraph-0">
            <a:extLst xmlns:a="http://schemas.openxmlformats.org/drawingml/2006/main">
              <a:ext uri="{FF2B5EF4-FFF2-40B4-BE49-F238E27FC236}">
                <a16:creationId xmlns:a16="http://schemas.microsoft.com/office/drawing/2014/main" id="{0F772674-B173-4EE8-AA1D-433EA4A9B2BA}"/>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Fellows should connect the resistance phenotype to the likely enzyme, recognize when expected spectrum and measured susceptibility diverge, and explain why one active drug may be preferred over another. Review difficult isolates with microbiology and stewardship.</a:t>
            </a:r>
          </a:p>
        </p:txBody>
      </p:sp>
      <p:sp>
        <p:nvSpPr>
          <p:cNvPr id="3" name="footer">
            <a:extLst xmlns:a="http://schemas.openxmlformats.org/drawingml/2006/main">
              <a:ext uri="{FF2B5EF4-FFF2-40B4-BE49-F238E27FC236}">
                <a16:creationId xmlns:a16="http://schemas.microsoft.com/office/drawing/2014/main" id="{321F594E-2A15-4FEA-96C1-7693B36CEC1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0509D41-2BBC-44F2-9CCB-1CB915BE790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143</a:t>
            </a:r>
          </a:p>
        </p:txBody>
      </p:sp>
    </p:spTree>
    <p:extLst>
      <p:ext uri="{BB962C8B-B14F-4D97-AF65-F5344CB8AC3E}">
        <p14:creationId xmlns:p14="http://schemas.microsoft.com/office/powerpoint/2010/main" val="722120785"/>
      </p:ext>
    </p:extLst>
  </p:cSld>
</p:sld>
</file>

<file path=ppt/slides/slide1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BEDC6B4-3C99-4763-8BB2-2F2BEC8CC90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Using the resistance mechanism to choose among active agents</a:t>
            </a:r>
          </a:p>
        </p:txBody>
      </p:sp>
      <p:graphicFrame>
        <p:nvGraphicFramePr>
          <p:cNvPr id="2" name="">
            <a:extLst xmlns:a="http://schemas.openxmlformats.org/drawingml/2006/main">
              <a:ext uri="{FF2B5EF4-FFF2-40B4-BE49-F238E27FC236}">
                <a16:creationId xmlns:a16="http://schemas.microsoft.com/office/drawing/2014/main" id="{B4209598-8791-4F9C-BC63-99AD7265FCC7}"/>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KPC-producing Enterobacterales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Agents to discuss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Ceftazidime-avibactam, meropenem-vaborbactam, or imipenem-relebactam</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Main caution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Choose by infection site, susceptibility, prior exposure, and local availability.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25C5A9C-1BF2-4644-9E68-7DAD9B1D50A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C393359-633F-469B-AA52-3312AB3B71A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144</a:t>
            </a:r>
          </a:p>
        </p:txBody>
      </p:sp>
    </p:spTree>
    <p:extLst>
      <p:ext uri="{BB962C8B-B14F-4D97-AF65-F5344CB8AC3E}">
        <p14:creationId xmlns:p14="http://schemas.microsoft.com/office/powerpoint/2010/main" val="2079997340"/>
      </p:ext>
    </p:extLst>
  </p:cSld>
</p:sld>
</file>

<file path=ppt/slides/slide1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86948B3-F05D-42E0-A3C7-7625D9E5E69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Using the resistance mechanism to choose among active agents</a:t>
            </a:r>
          </a:p>
        </p:txBody>
      </p:sp>
      <p:graphicFrame>
        <p:nvGraphicFramePr>
          <p:cNvPr id="2" name="">
            <a:extLst xmlns:a="http://schemas.openxmlformats.org/drawingml/2006/main">
              <a:ext uri="{FF2B5EF4-FFF2-40B4-BE49-F238E27FC236}">
                <a16:creationId xmlns:a16="http://schemas.microsoft.com/office/drawing/2014/main" id="{585DED69-04E1-4384-A1EA-9EB610A18376}"/>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OXA-48-like Enterobacterales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Agents to discuss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Ceftazidime-avibactam</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Main caution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Meropenem-vaborbactam and imipenem-relebactam are not reliable OXA-48 solutions.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93244A1-C21B-4708-B72A-A6AC92868ED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FA3FDE4-4B81-4E8A-BB84-017CF48F914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145</a:t>
            </a:r>
          </a:p>
        </p:txBody>
      </p:sp>
    </p:spTree>
    <p:extLst>
      <p:ext uri="{BB962C8B-B14F-4D97-AF65-F5344CB8AC3E}">
        <p14:creationId xmlns:p14="http://schemas.microsoft.com/office/powerpoint/2010/main" val="611423464"/>
      </p:ext>
    </p:extLst>
  </p:cSld>
</p:sld>
</file>

<file path=ppt/slides/slide1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2CF572D-E320-45B5-B912-76D047504C8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Using the resistance mechanism to choose among active agents</a:t>
            </a:r>
          </a:p>
        </p:txBody>
      </p:sp>
      <p:graphicFrame>
        <p:nvGraphicFramePr>
          <p:cNvPr id="2" name="">
            <a:extLst xmlns:a="http://schemas.openxmlformats.org/drawingml/2006/main">
              <a:ext uri="{FF2B5EF4-FFF2-40B4-BE49-F238E27FC236}">
                <a16:creationId xmlns:a16="http://schemas.microsoft.com/office/drawing/2014/main" id="{134463A4-6E03-4362-BA1B-347178DECF5F}"/>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NDM or another MBL in Enterobacterales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Agents to discuss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Aztreonam-avibactam or cefiderocol. Ceftazidime-avibactam plus aztreonam is an alternative when the fixed product is unavailable.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Main caution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Ceftazidime-avibactam alone does not inhibit the MBL.</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F62B5FF8-BD7C-4080-B0CE-8BF24B392E5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B7D0D55-7EDD-48C3-93ED-926110AA33E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146</a:t>
            </a:r>
          </a:p>
        </p:txBody>
      </p:sp>
    </p:spTree>
    <p:extLst>
      <p:ext uri="{BB962C8B-B14F-4D97-AF65-F5344CB8AC3E}">
        <p14:creationId xmlns:p14="http://schemas.microsoft.com/office/powerpoint/2010/main" val="302182810"/>
      </p:ext>
    </p:extLst>
  </p:cSld>
</p:sld>
</file>

<file path=ppt/slides/slide1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AC0D937-C7AF-4591-AB2A-DE06A3AED35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Using the resistance mechanism to choose among active agents</a:t>
            </a:r>
          </a:p>
        </p:txBody>
      </p:sp>
      <p:graphicFrame>
        <p:nvGraphicFramePr>
          <p:cNvPr id="2" name="">
            <a:extLst xmlns:a="http://schemas.openxmlformats.org/drawingml/2006/main">
              <a:ext uri="{FF2B5EF4-FFF2-40B4-BE49-F238E27FC236}">
                <a16:creationId xmlns:a16="http://schemas.microsoft.com/office/drawing/2014/main" id="{B88B53D7-2FC8-475B-82F9-735D4B327F48}"/>
              </a:ext>
            </a:extLst>
          </p:cNvPr>
          <p:cNvGraphicFramePr/>
          <p:nvPr/>
        </p:nvGraphicFramePr>
        <p:xfrm>
          <a:off xmlns:a="http://schemas.openxmlformats.org/drawingml/2006/main" x="647700" y="1866900"/>
          <a:ext xmlns:a="http://schemas.openxmlformats.org/drawingml/2006/main" cx="10896600" cy="19240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DTR Pseudomonas aeruginosa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Agents to discuss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Ceftolozane-tazobactam, ceftazidime-avibactam, imipenem-relebactam, or cefiderocol</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Main caution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Use the site-specific susceptibility result.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10BE612-2AB4-4E7A-8480-B0D131062E7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65278E54-7DC8-474D-9C3B-57648F2FE52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147</a:t>
            </a:r>
          </a:p>
        </p:txBody>
      </p:sp>
    </p:spTree>
    <p:extLst>
      <p:ext uri="{BB962C8B-B14F-4D97-AF65-F5344CB8AC3E}">
        <p14:creationId xmlns:p14="http://schemas.microsoft.com/office/powerpoint/2010/main" val="1572566486"/>
      </p:ext>
    </p:extLst>
  </p:cSld>
</p:sld>
</file>

<file path=ppt/slides/slide1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0A54E9E-B05C-445A-8489-2C247FB585C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Using the resistance mechanism to choose among active agents</a:t>
            </a:r>
          </a:p>
        </p:txBody>
      </p:sp>
      <p:graphicFrame>
        <p:nvGraphicFramePr>
          <p:cNvPr id="2" name="">
            <a:extLst xmlns:a="http://schemas.openxmlformats.org/drawingml/2006/main">
              <a:ext uri="{FF2B5EF4-FFF2-40B4-BE49-F238E27FC236}">
                <a16:creationId xmlns:a16="http://schemas.microsoft.com/office/drawing/2014/main" id="{8A5EC0BE-C058-4EFC-A1E4-EE335DB3BDAE}"/>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CRAB</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Agents to discuss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 sulbactam-containing regimen, preferably sulbactam-durlobactam in current guidance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Main caution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Use a CRAB-specific regimen rather than a CRE or DTR Pseudomonas pathway.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7892211B-D257-4433-8C6D-44EB3F691D5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C2BE582-3062-4085-8796-3E935DB61C9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148</a:t>
            </a:r>
          </a:p>
        </p:txBody>
      </p:sp>
    </p:spTree>
    <p:extLst>
      <p:ext uri="{BB962C8B-B14F-4D97-AF65-F5344CB8AC3E}">
        <p14:creationId xmlns:p14="http://schemas.microsoft.com/office/powerpoint/2010/main" val="1795895368"/>
      </p:ext>
    </p:extLst>
  </p:cSld>
</p:sld>
</file>

<file path=ppt/slides/slide1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AC0BEDB-889C-4FD3-856D-B77535A5693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Using the resistance mechanism to choose among active agents</a:t>
            </a:r>
          </a:p>
        </p:txBody>
      </p:sp>
      <p:sp>
        <p:nvSpPr>
          <p:cNvPr id="2" name="paragraph-0">
            <a:extLst xmlns:a="http://schemas.openxmlformats.org/drawingml/2006/main">
              <a:ext uri="{FF2B5EF4-FFF2-40B4-BE49-F238E27FC236}">
                <a16:creationId xmlns:a16="http://schemas.microsoft.com/office/drawing/2014/main" id="{0CFB198A-00DE-4707-BCA2-49F891E0089A}"/>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Final selection requires susceptibility testing, source control, current IDSA guidance, and local formulary review. 1</a:t>
            </a:r>
          </a:p>
        </p:txBody>
      </p:sp>
      <p:sp>
        <p:nvSpPr>
          <p:cNvPr id="3" name="footer">
            <a:extLst xmlns:a="http://schemas.openxmlformats.org/drawingml/2006/main">
              <a:ext uri="{FF2B5EF4-FFF2-40B4-BE49-F238E27FC236}">
                <a16:creationId xmlns:a16="http://schemas.microsoft.com/office/drawing/2014/main" id="{3D5A458C-7423-48EE-A7DB-54718CAAECD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3221BAF-2E32-4FFD-B90D-CCD78A957B5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149</a:t>
            </a:r>
          </a:p>
        </p:txBody>
      </p:sp>
    </p:spTree>
    <p:extLst>
      <p:ext uri="{BB962C8B-B14F-4D97-AF65-F5344CB8AC3E}">
        <p14:creationId xmlns:p14="http://schemas.microsoft.com/office/powerpoint/2010/main" val="1951135621"/>
      </p:ext>
    </p:extLst>
  </p:cSld>
</p:sld>
</file>

<file path=ppt/slides/slide1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2ACD123-2934-44AF-9F67-9977B48CD3D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Newer oral options and pipeline evidence</a:t>
            </a:r>
          </a:p>
        </p:txBody>
      </p:sp>
      <p:sp>
        <p:nvSpPr>
          <p:cNvPr id="2" name="paragraph-0">
            <a:extLst xmlns:a="http://schemas.openxmlformats.org/drawingml/2006/main">
              <a:ext uri="{FF2B5EF4-FFF2-40B4-BE49-F238E27FC236}">
                <a16:creationId xmlns:a16="http://schemas.microsoft.com/office/drawing/2014/main" id="{724E4698-C567-44FE-B0CD-0045FA7E592D}"/>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ESBL complicated UTI today, TMP-SMX, ciprofloxacin, or levofloxacin remain preferred oral options when susceptibility is demonstrated and the patient is otherwise appropriate for oral therapy. 1 The newer oral drugs below do not create a general oral pathway for ESBL bacteremia or infection outside the urinary tract.</a:t>
            </a:r>
          </a:p>
        </p:txBody>
      </p:sp>
      <p:sp>
        <p:nvSpPr>
          <p:cNvPr id="3" name="paragraph-1">
            <a:extLst xmlns:a="http://schemas.openxmlformats.org/drawingml/2006/main">
              <a:ext uri="{FF2B5EF4-FFF2-40B4-BE49-F238E27FC236}">
                <a16:creationId xmlns:a16="http://schemas.microsoft.com/office/drawing/2014/main" id="{0C4178D2-D0F6-434F-A966-9F4F3E1099BB}"/>
              </a:ext>
            </a:extLst>
          </p:cNvPr>
          <p:cNvSpPr>
            <a:spLocks xmlns:a="http://schemas.openxmlformats.org/drawingml/2006/main" noGrp="1"/>
          </p:cNvSpPr>
          <p:nvPr/>
        </p:nvSpPr>
        <p:spPr>
          <a:xfrm xmlns:a="http://schemas.openxmlformats.org/drawingml/2006/main">
            <a:off x="647700" y="39719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Access matters: confirm inpatient formulary status and outpatient availability before building a transition plan around a newer oral agent.</a:t>
            </a:r>
          </a:p>
        </p:txBody>
      </p:sp>
      <p:sp>
        <p:nvSpPr>
          <p:cNvPr id="4" name="footer">
            <a:extLst xmlns:a="http://schemas.openxmlformats.org/drawingml/2006/main">
              <a:ext uri="{FF2B5EF4-FFF2-40B4-BE49-F238E27FC236}">
                <a16:creationId xmlns:a16="http://schemas.microsoft.com/office/drawing/2014/main" id="{E9E33E3A-061D-4F61-8BB7-7E7B8F8102D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24EE218B-8E2A-4781-AC1E-65AEDC2401C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150</a:t>
            </a:r>
          </a:p>
        </p:txBody>
      </p:sp>
    </p:spTree>
    <p:extLst>
      <p:ext uri="{BB962C8B-B14F-4D97-AF65-F5344CB8AC3E}">
        <p14:creationId xmlns:p14="http://schemas.microsoft.com/office/powerpoint/2010/main" val="681603183"/>
      </p:ext>
    </p:extLst>
  </p:cSld>
</p:sld>
</file>

<file path=ppt/slides/slide1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D49D50C-705B-46FD-A31C-B67F0D1806D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Approved oral agents: labeling details</a:t>
            </a:r>
          </a:p>
        </p:txBody>
      </p:sp>
      <p:sp>
        <p:nvSpPr>
          <p:cNvPr id="2" name="paragraph-0">
            <a:extLst xmlns:a="http://schemas.openxmlformats.org/drawingml/2006/main">
              <a:ext uri="{FF2B5EF4-FFF2-40B4-BE49-F238E27FC236}">
                <a16:creationId xmlns:a16="http://schemas.microsoft.com/office/drawing/2014/main" id="{8388A946-ED96-4941-8771-509901D01481}"/>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Tebipenem pivoxil (Utebzi) was FDA-approved in June 2026 as the first oral carbapenem in the United States. Its indication is complicated UTI, including pyelonephritis, caused by listed susceptible organisms in adults with limited or no alternative oral options. Approval does not establish it for nonurinary ESBL infection, endovascular infection, or an uncontrolled urinary source. Availability was anticipated by the end of 2026. 18</a:t>
            </a:r>
          </a:p>
        </p:txBody>
      </p:sp>
      <p:sp>
        <p:nvSpPr>
          <p:cNvPr id="3" name="footer">
            <a:extLst xmlns:a="http://schemas.openxmlformats.org/drawingml/2006/main">
              <a:ext uri="{FF2B5EF4-FFF2-40B4-BE49-F238E27FC236}">
                <a16:creationId xmlns:a16="http://schemas.microsoft.com/office/drawing/2014/main" id="{A6429B3E-E536-4854-BD82-0B1799FAFE9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D3D1876-DF0C-40ED-B17A-A127F445A04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151</a:t>
            </a:r>
          </a:p>
        </p:txBody>
      </p:sp>
    </p:spTree>
    <p:extLst>
      <p:ext uri="{BB962C8B-B14F-4D97-AF65-F5344CB8AC3E}">
        <p14:creationId xmlns:p14="http://schemas.microsoft.com/office/powerpoint/2010/main" val="172577709"/>
      </p:ext>
    </p:extLst>
  </p:cSld>
</p:sld>
</file>

<file path=ppt/slides/slide1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837A73E-8FF6-4AA8-9E57-DF55707FED0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Approved oral agents: labeling details</a:t>
            </a:r>
          </a:p>
        </p:txBody>
      </p:sp>
      <p:sp>
        <p:nvSpPr>
          <p:cNvPr id="2" name="paragraph-0">
            <a:extLst xmlns:a="http://schemas.openxmlformats.org/drawingml/2006/main">
              <a:ext uri="{FF2B5EF4-FFF2-40B4-BE49-F238E27FC236}">
                <a16:creationId xmlns:a16="http://schemas.microsoft.com/office/drawing/2014/main" id="{006A95EB-1F42-45FA-8FA8-F95AE3E582C7}"/>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Sulopenem etzadroxil-probenecid (Orlynvah) is approved for uncomplicated UTI in selected adult women with limited or no oral alternatives. FDA specifically states that it is not indicated for primary or step-down treatment of complicated UTI. It should not be used as an oral pyelonephritis or bacteremia shortcut. 19</a:t>
            </a:r>
          </a:p>
        </p:txBody>
      </p:sp>
      <p:sp>
        <p:nvSpPr>
          <p:cNvPr id="3" name="footer">
            <a:extLst xmlns:a="http://schemas.openxmlformats.org/drawingml/2006/main">
              <a:ext uri="{FF2B5EF4-FFF2-40B4-BE49-F238E27FC236}">
                <a16:creationId xmlns:a16="http://schemas.microsoft.com/office/drawing/2014/main" id="{05F14F25-38F8-497D-A27D-3C968ED28CF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0698D0D-BFA4-4B97-8440-C764FA2836E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152</a:t>
            </a:r>
          </a:p>
        </p:txBody>
      </p:sp>
    </p:spTree>
    <p:extLst>
      <p:ext uri="{BB962C8B-B14F-4D97-AF65-F5344CB8AC3E}">
        <p14:creationId xmlns:p14="http://schemas.microsoft.com/office/powerpoint/2010/main" val="1088329667"/>
      </p:ext>
    </p:extLst>
  </p:cSld>
</p:sld>
</file>

<file path=ppt/slides/slide1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AD9EFB6-1C36-441D-B916-58FC06497CF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Investigational oral agent</a:t>
            </a:r>
          </a:p>
        </p:txBody>
      </p:sp>
      <p:sp>
        <p:nvSpPr>
          <p:cNvPr id="2" name="paragraph-0">
            <a:extLst xmlns:a="http://schemas.openxmlformats.org/drawingml/2006/main">
              <a:ext uri="{FF2B5EF4-FFF2-40B4-BE49-F238E27FC236}">
                <a16:creationId xmlns:a16="http://schemas.microsoft.com/office/drawing/2014/main" id="{93D162E3-DD20-4320-BF23-8B2D5C6F56CA}"/>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Ceftibuten-ledaborbactam etzadroxil pairs an oral cephalosporin with an oral prodrug of a boronic-acid beta-lactamase inhibitor. In vitro studies show activity against many ESBL-, AmpC-, KPC-, and OXA-48-producing Enterobacterales. As of September 2026 it is described as phase 3-ready for complicated UTI, including pyelonephritis, but it is not FDA-approved and there are no phase 3 clinical outcomes establishing its role. 20</a:t>
            </a:r>
          </a:p>
        </p:txBody>
      </p:sp>
      <p:sp>
        <p:nvSpPr>
          <p:cNvPr id="3" name="paragraph-1">
            <a:extLst xmlns:a="http://schemas.openxmlformats.org/drawingml/2006/main">
              <a:ext uri="{FF2B5EF4-FFF2-40B4-BE49-F238E27FC236}">
                <a16:creationId xmlns:a16="http://schemas.microsoft.com/office/drawing/2014/main" id="{6D1698FC-E39A-41E3-8700-14E67B6D498D}"/>
              </a:ext>
            </a:extLst>
          </p:cNvPr>
          <p:cNvSpPr>
            <a:spLocks xmlns:a="http://schemas.openxmlformats.org/drawingml/2006/main" noGrp="1"/>
          </p:cNvSpPr>
          <p:nvPr/>
        </p:nvSpPr>
        <p:spPr>
          <a:xfrm xmlns:a="http://schemas.openxmlformats.org/drawingml/2006/main">
            <a:off x="647700" y="46767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Recheck approval status, labeling, availability, outcome data, and the local susceptibility-testing method before considering a pipeline agent. In vitro activity alone is insufficient.</a:t>
            </a:r>
          </a:p>
        </p:txBody>
      </p:sp>
      <p:sp>
        <p:nvSpPr>
          <p:cNvPr id="4" name="footer">
            <a:extLst xmlns:a="http://schemas.openxmlformats.org/drawingml/2006/main">
              <a:ext uri="{FF2B5EF4-FFF2-40B4-BE49-F238E27FC236}">
                <a16:creationId xmlns:a16="http://schemas.microsoft.com/office/drawing/2014/main" id="{086F0167-76DC-4403-862E-90D44587B2B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FFDE03FB-35FF-43CB-804F-FAC4AA76AA8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153</a:t>
            </a:r>
          </a:p>
        </p:txBody>
      </p:sp>
    </p:spTree>
    <p:extLst>
      <p:ext uri="{BB962C8B-B14F-4D97-AF65-F5344CB8AC3E}">
        <p14:creationId xmlns:p14="http://schemas.microsoft.com/office/powerpoint/2010/main" val="1444962360"/>
      </p:ext>
    </p:extLst>
  </p:cSld>
</p:sld>
</file>

<file path=ppt/slides/slide1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EC445DF-11B6-419E-B3C2-D74A843F46C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Where oral fosfomycin may fit</a:t>
            </a:r>
          </a:p>
        </p:txBody>
      </p:sp>
      <p:sp>
        <p:nvSpPr>
          <p:cNvPr id="2" name="paragraph-0">
            <a:extLst xmlns:a="http://schemas.openxmlformats.org/drawingml/2006/main">
              <a:ext uri="{FF2B5EF4-FFF2-40B4-BE49-F238E27FC236}">
                <a16:creationId xmlns:a16="http://schemas.microsoft.com/office/drawing/2014/main" id="{59ACD6CA-86FC-4129-AE42-1FFFDF1C7D86}"/>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When standard treatment cannot be completed. Oral fosfomycin is not recommended as routine step-down therapy for bacteremia. Occasionally, a patient with cleared urinary-source bacteremia cannot remain for IV treatment and has neither an active preferred oral agent nor a feasible OPAT plan. In that setting, an alternative oral plan may be considered with ID and pharmacy rather than stopping antimicrobial therapy altogether. The evidence is limited, and the rationale and uncertainty should be documented.</a:t>
            </a:r>
          </a:p>
        </p:txBody>
      </p:sp>
      <p:sp>
        <p:nvSpPr>
          <p:cNvPr id="3" name="footer">
            <a:extLst xmlns:a="http://schemas.openxmlformats.org/drawingml/2006/main">
              <a:ext uri="{FF2B5EF4-FFF2-40B4-BE49-F238E27FC236}">
                <a16:creationId xmlns:a16="http://schemas.microsoft.com/office/drawing/2014/main" id="{6B22B990-7AB4-46AA-9AF3-C7487936CCF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F149BB6-89A2-4C97-9C0F-B96B90851BB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154</a:t>
            </a:r>
          </a:p>
        </p:txBody>
      </p:sp>
    </p:spTree>
    <p:extLst>
      <p:ext uri="{BB962C8B-B14F-4D97-AF65-F5344CB8AC3E}">
        <p14:creationId xmlns:p14="http://schemas.microsoft.com/office/powerpoint/2010/main" val="501305622"/>
      </p:ext>
    </p:extLst>
  </p:cSld>
</p:sld>
</file>

<file path=ppt/slides/slide1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A551EDA-BA33-4047-BD9F-014F3405A41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Questions for the end of the session</a:t>
            </a:r>
          </a:p>
        </p:txBody>
      </p:sp>
      <p:sp>
        <p:nvSpPr>
          <p:cNvPr id="2" name="paragraph-0">
            <a:extLst xmlns:a="http://schemas.openxmlformats.org/drawingml/2006/main">
              <a:ext uri="{FF2B5EF4-FFF2-40B4-BE49-F238E27FC236}">
                <a16:creationId xmlns:a16="http://schemas.microsoft.com/office/drawing/2014/main" id="{28534137-4638-4974-9E80-C029B5F97D2D}"/>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6. Fellow extension: An Enterobacterales isolate produces NDM. Is ceftazidime-avibactam alone a reliable choice?</a:t>
            </a:r>
          </a:p>
        </p:txBody>
      </p:sp>
      <p:sp>
        <p:nvSpPr>
          <p:cNvPr id="3" name="footer">
            <a:extLst xmlns:a="http://schemas.openxmlformats.org/drawingml/2006/main">
              <a:ext uri="{FF2B5EF4-FFF2-40B4-BE49-F238E27FC236}">
                <a16:creationId xmlns:a16="http://schemas.microsoft.com/office/drawing/2014/main" id="{B3CF6E82-7DCD-48EF-A2A5-BEBAF05170E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3AACCFA-0802-4C18-8EB4-2CF30F542C9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155</a:t>
            </a:r>
          </a:p>
        </p:txBody>
      </p:sp>
    </p:spTree>
    <p:extLst>
      <p:ext uri="{BB962C8B-B14F-4D97-AF65-F5344CB8AC3E}">
        <p14:creationId xmlns:p14="http://schemas.microsoft.com/office/powerpoint/2010/main" val="1872429127"/>
      </p:ext>
    </p:extLst>
  </p:cSld>
</p:sld>
</file>

<file path=ppt/slides/slide1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594E602-0450-4358-8867-06E10238593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Answer</a:t>
            </a:r>
          </a:p>
        </p:txBody>
      </p:sp>
      <p:sp>
        <p:nvSpPr>
          <p:cNvPr id="2" name="paragraph-0">
            <a:extLst xmlns:a="http://schemas.openxmlformats.org/drawingml/2006/main">
              <a:ext uri="{FF2B5EF4-FFF2-40B4-BE49-F238E27FC236}">
                <a16:creationId xmlns:a16="http://schemas.microsoft.com/office/drawing/2014/main" id="{B2EAB540-8355-49E6-A996-D179BF15F617}"/>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Avibactam does not inhibit NDM, and NDM hydrolyzes ceftazidime. Current IDSA guidance lists aztreonam-avibactam and cefiderocol as preferred options for NDM-producing Enterobacterales. Ceftazidime-avibactam plus aztreonam is an alternative when the fixed aztreonam-avibactam product is unavailable. Final selection still depends on susceptibility testing, infection site, clinical stability, source control, and local ID pharmacy input.</a:t>
            </a:r>
          </a:p>
        </p:txBody>
      </p:sp>
      <p:sp>
        <p:nvSpPr>
          <p:cNvPr id="3" name="footer">
            <a:extLst xmlns:a="http://schemas.openxmlformats.org/drawingml/2006/main">
              <a:ext uri="{FF2B5EF4-FFF2-40B4-BE49-F238E27FC236}">
                <a16:creationId xmlns:a16="http://schemas.microsoft.com/office/drawing/2014/main" id="{E4B5D992-1ED0-44B2-B64F-104540F8B90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5B36227-336F-4F97-92B1-919059BA1FE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156</a:t>
            </a:r>
          </a:p>
        </p:txBody>
      </p:sp>
    </p:spTree>
    <p:extLst>
      <p:ext uri="{BB962C8B-B14F-4D97-AF65-F5344CB8AC3E}">
        <p14:creationId xmlns:p14="http://schemas.microsoft.com/office/powerpoint/2010/main" val="1090760550"/>
      </p:ext>
    </p:extLst>
  </p:cSld>
</p:sld>
</file>

<file path=ppt/slides/slide1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5E49AD36-BEDB-46B4-BC4D-8FCC134508B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Antibiotic rounds sheet</a:t>
            </a:r>
          </a:p>
        </p:txBody>
      </p:sp>
      <p:sp>
        <p:nvSpPr>
          <p:cNvPr id="2" name="paragraph-0">
            <a:extLst xmlns:a="http://schemas.openxmlformats.org/drawingml/2006/main">
              <a:ext uri="{FF2B5EF4-FFF2-40B4-BE49-F238E27FC236}">
                <a16:creationId xmlns:a16="http://schemas.microsoft.com/office/drawing/2014/main" id="{C8C495C9-6085-4744-837E-153F7B22204E}"/>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Infection or mimic? Syndrome? Severity? Cultures? Prior organisms? Local resistance? Source control?</a:t>
            </a:r>
          </a:p>
        </p:txBody>
      </p:sp>
      <p:sp>
        <p:nvSpPr>
          <p:cNvPr id="3" name="paragraph-1">
            <a:extLst xmlns:a="http://schemas.openxmlformats.org/drawingml/2006/main">
              <a:ext uri="{FF2B5EF4-FFF2-40B4-BE49-F238E27FC236}">
                <a16:creationId xmlns:a16="http://schemas.microsoft.com/office/drawing/2014/main" id="{799F0E1A-59C4-46C8-9C99-366D6DE41CA8}"/>
              </a:ext>
            </a:extLst>
          </p:cNvPr>
          <p:cNvSpPr>
            <a:spLocks xmlns:a="http://schemas.openxmlformats.org/drawingml/2006/main" noGrp="1"/>
          </p:cNvSpPr>
          <p:nvPr/>
        </p:nvSpPr>
        <p:spPr>
          <a:xfrm xmlns:a="http://schemas.openxmlformats.org/drawingml/2006/main">
            <a:off x="647700" y="29146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Name the likely pathogens. State what the regimen covers and what it misses. Susceptibility overrides memory.</a:t>
            </a:r>
          </a:p>
        </p:txBody>
      </p:sp>
      <p:sp>
        <p:nvSpPr>
          <p:cNvPr id="4" name="paragraph-2">
            <a:extLst xmlns:a="http://schemas.openxmlformats.org/drawingml/2006/main">
              <a:ext uri="{FF2B5EF4-FFF2-40B4-BE49-F238E27FC236}">
                <a16:creationId xmlns:a16="http://schemas.microsoft.com/office/drawing/2014/main" id="{73651078-82BB-412C-B5CB-2837E9EEA1CD}"/>
              </a:ext>
            </a:extLst>
          </p:cNvPr>
          <p:cNvSpPr>
            <a:spLocks xmlns:a="http://schemas.openxmlformats.org/drawingml/2006/main" noGrp="1"/>
          </p:cNvSpPr>
          <p:nvPr/>
        </p:nvSpPr>
        <p:spPr>
          <a:xfrm xmlns:a="http://schemas.openxmlformats.org/drawingml/2006/main">
            <a:off x="647700" y="38766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Ampicillin does not cover K. pneumoniae . Susceptible isolates may allow cefazolin, ceftriaxone, cefepime, pip-tazo, or carbapenem depending on syndrome and resistance mechanism.</a:t>
            </a:r>
          </a:p>
        </p:txBody>
      </p:sp>
      <p:sp>
        <p:nvSpPr>
          <p:cNvPr id="5" name="footer">
            <a:extLst xmlns:a="http://schemas.openxmlformats.org/drawingml/2006/main">
              <a:ext uri="{FF2B5EF4-FFF2-40B4-BE49-F238E27FC236}">
                <a16:creationId xmlns:a16="http://schemas.microsoft.com/office/drawing/2014/main" id="{521C98F9-D62A-4CA9-A2F7-F6E85AA5B12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6" name="number">
            <a:extLst xmlns:a="http://schemas.openxmlformats.org/drawingml/2006/main">
              <a:ext uri="{FF2B5EF4-FFF2-40B4-BE49-F238E27FC236}">
                <a16:creationId xmlns:a16="http://schemas.microsoft.com/office/drawing/2014/main" id="{27C93E67-71AA-49BB-8E28-05A552C2B92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157</a:t>
            </a:r>
          </a:p>
        </p:txBody>
      </p:sp>
    </p:spTree>
    <p:extLst>
      <p:ext uri="{BB962C8B-B14F-4D97-AF65-F5344CB8AC3E}">
        <p14:creationId xmlns:p14="http://schemas.microsoft.com/office/powerpoint/2010/main" val="1709875862"/>
      </p:ext>
    </p:extLst>
  </p:cSld>
</p:sld>
</file>

<file path=ppt/slides/slide1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C0F4760-EC4A-4D6C-8B4E-8200669AF2A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Antibiotic rounds sheet</a:t>
            </a:r>
          </a:p>
        </p:txBody>
      </p:sp>
      <p:sp>
        <p:nvSpPr>
          <p:cNvPr id="2" name="paragraph-0">
            <a:extLst xmlns:a="http://schemas.openxmlformats.org/drawingml/2006/main">
              <a:ext uri="{FF2B5EF4-FFF2-40B4-BE49-F238E27FC236}">
                <a16:creationId xmlns:a16="http://schemas.microsoft.com/office/drawing/2014/main" id="{D1CCF28A-CDF0-47BA-904B-5D6B77C1FA7B}"/>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Common IV options include cefepime, ceftazidime, pip-tazo, meropenem/imipenem, aztreonam, or newer agents when indicated. Ciprofloxacin/levofloxacin are the oral class if susceptible.</a:t>
            </a:r>
          </a:p>
        </p:txBody>
      </p:sp>
      <p:sp>
        <p:nvSpPr>
          <p:cNvPr id="3" name="paragraph-1">
            <a:extLst xmlns:a="http://schemas.openxmlformats.org/drawingml/2006/main">
              <a:ext uri="{FF2B5EF4-FFF2-40B4-BE49-F238E27FC236}">
                <a16:creationId xmlns:a16="http://schemas.microsoft.com/office/drawing/2014/main" id="{7F36891A-6848-486F-9934-CC7332287EFF}"/>
              </a:ext>
            </a:extLst>
          </p:cNvPr>
          <p:cNvSpPr>
            <a:spLocks xmlns:a="http://schemas.openxmlformats.org/drawingml/2006/main" noGrp="1"/>
          </p:cNvSpPr>
          <p:nvPr/>
        </p:nvSpPr>
        <p:spPr>
          <a:xfrm xmlns:a="http://schemas.openxmlformats.org/drawingml/2006/main">
            <a:off x="647700" y="326707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Avycaz: KPC/OXA-48-like and selected resistant Pseudomonas . Zerbaxa: resistant Pseudomonas . Emblaveo or Avycaz plus aztreonam: selected NDM/MBL Enterobacterales. Cefiderocol: selected highly resistant gram-negative infections. Xacduro with imipenem-cilastatin or meropenem: CRAB. Confirm site, susceptibility, mechanism, formulary, and source control with ID pharmacy.</a:t>
            </a:r>
          </a:p>
        </p:txBody>
      </p:sp>
      <p:sp>
        <p:nvSpPr>
          <p:cNvPr id="4" name="footer">
            <a:extLst xmlns:a="http://schemas.openxmlformats.org/drawingml/2006/main">
              <a:ext uri="{FF2B5EF4-FFF2-40B4-BE49-F238E27FC236}">
                <a16:creationId xmlns:a16="http://schemas.microsoft.com/office/drawing/2014/main" id="{B8CE134E-2F65-4242-B147-18A0CC34D4B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5" name="number">
            <a:extLst xmlns:a="http://schemas.openxmlformats.org/drawingml/2006/main">
              <a:ext uri="{FF2B5EF4-FFF2-40B4-BE49-F238E27FC236}">
                <a16:creationId xmlns:a16="http://schemas.microsoft.com/office/drawing/2014/main" id="{721D9661-D401-4B0E-B607-D5BE68653B3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158</a:t>
            </a:r>
          </a:p>
        </p:txBody>
      </p:sp>
    </p:spTree>
    <p:extLst>
      <p:ext uri="{BB962C8B-B14F-4D97-AF65-F5344CB8AC3E}">
        <p14:creationId xmlns:p14="http://schemas.microsoft.com/office/powerpoint/2010/main" val="36122957"/>
      </p:ext>
    </p:extLst>
  </p:cSld>
</p:sld>
</file>

<file path=ppt/slides/slide1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C753B081-69A2-4FC5-A6DB-676B20C472F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Antibiotic rounds sheet</a:t>
            </a:r>
          </a:p>
        </p:txBody>
      </p:sp>
      <p:sp>
        <p:nvSpPr>
          <p:cNvPr id="2" name="paragraph-0">
            <a:extLst xmlns:a="http://schemas.openxmlformats.org/drawingml/2006/main">
              <a:ext uri="{FF2B5EF4-FFF2-40B4-BE49-F238E27FC236}">
                <a16:creationId xmlns:a16="http://schemas.microsoft.com/office/drawing/2014/main" id="{9C216392-FFE3-428B-BC1A-5E5A2123FE9B}"/>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trough-guided services, verify pharmacy oversight. Verify draw timing, the indication-specific target, and serum creatinine.</a:t>
            </a:r>
          </a:p>
        </p:txBody>
      </p:sp>
      <p:sp>
        <p:nvSpPr>
          <p:cNvPr id="3" name="paragraph-1">
            <a:extLst xmlns:a="http://schemas.openxmlformats.org/drawingml/2006/main">
              <a:ext uri="{FF2B5EF4-FFF2-40B4-BE49-F238E27FC236}">
                <a16:creationId xmlns:a16="http://schemas.microsoft.com/office/drawing/2014/main" id="{0490EBB3-5AAF-4928-A5E6-E5A89127DBC9}"/>
              </a:ext>
            </a:extLst>
          </p:cNvPr>
          <p:cNvSpPr>
            <a:spLocks xmlns:a="http://schemas.openxmlformats.org/drawingml/2006/main" noGrp="1"/>
          </p:cNvSpPr>
          <p:nvPr/>
        </p:nvSpPr>
        <p:spPr>
          <a:xfrm xmlns:a="http://schemas.openxmlformats.org/drawingml/2006/main">
            <a:off x="647700" y="291465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Improving patient, controlled source, active oral drug, adequate exposure at the site, functioning GI tract, feasible adherence and follow-up.</a:t>
            </a:r>
          </a:p>
        </p:txBody>
      </p:sp>
      <p:sp>
        <p:nvSpPr>
          <p:cNvPr id="4" name="footer">
            <a:extLst xmlns:a="http://schemas.openxmlformats.org/drawingml/2006/main">
              <a:ext uri="{FF2B5EF4-FFF2-40B4-BE49-F238E27FC236}">
                <a16:creationId xmlns:a16="http://schemas.microsoft.com/office/drawing/2014/main" id="{24D790BF-CA23-4A94-852D-A6361D2FDC4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5" name="number">
            <a:extLst xmlns:a="http://schemas.openxmlformats.org/drawingml/2006/main">
              <a:ext uri="{FF2B5EF4-FFF2-40B4-BE49-F238E27FC236}">
                <a16:creationId xmlns:a16="http://schemas.microsoft.com/office/drawing/2014/main" id="{22FF4982-3B9C-438A-9BDC-85DB6D17F1D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159</a:t>
            </a:r>
          </a:p>
        </p:txBody>
      </p:sp>
    </p:spTree>
    <p:extLst>
      <p:ext uri="{BB962C8B-B14F-4D97-AF65-F5344CB8AC3E}">
        <p14:creationId xmlns:p14="http://schemas.microsoft.com/office/powerpoint/2010/main" val="1406344551"/>
      </p:ext>
    </p:extLst>
  </p:cSld>
</p:sld>
</file>

<file path=ppt/slides/slide1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59B68E0-E611-463A-8B0E-06A5B194BF6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Antibiotic rounds sheet</a:t>
            </a:r>
          </a:p>
        </p:txBody>
      </p:sp>
      <p:sp>
        <p:nvSpPr>
          <p:cNvPr id="2" name="paragraph-0">
            <a:extLst xmlns:a="http://schemas.openxmlformats.org/drawingml/2006/main">
              <a:ext uri="{FF2B5EF4-FFF2-40B4-BE49-F238E27FC236}">
                <a16:creationId xmlns:a16="http://schemas.microsoft.com/office/drawing/2014/main" id="{53215104-38F7-45C8-8D6E-820E6107F9F9}"/>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Start with CBC, renal function, and drug-specific risks. Vancomycin: trough and creatinine. Daptomycin: CPK and creatinine. Linezolid: weekly CBC. TMP-SMX: potassium (K+), creatinine, and CBC. State who follows results after discharge. PEN-FAST does not override a serious delayed reaction. Aztreonam and ceftazidime share an R1 side chain.</a:t>
            </a:r>
          </a:p>
        </p:txBody>
      </p:sp>
      <p:sp>
        <p:nvSpPr>
          <p:cNvPr id="3" name="paragraph-1">
            <a:extLst xmlns:a="http://schemas.openxmlformats.org/drawingml/2006/main">
              <a:ext uri="{FF2B5EF4-FFF2-40B4-BE49-F238E27FC236}">
                <a16:creationId xmlns:a16="http://schemas.microsoft.com/office/drawing/2014/main" id="{A81043C8-943D-40C2-8A31-E665D79502B7}"/>
              </a:ext>
            </a:extLst>
          </p:cNvPr>
          <p:cNvSpPr>
            <a:spLocks xmlns:a="http://schemas.openxmlformats.org/drawingml/2006/main" noGrp="1"/>
          </p:cNvSpPr>
          <p:nvPr/>
        </p:nvSpPr>
        <p:spPr>
          <a:xfrm xmlns:a="http://schemas.openxmlformats.org/drawingml/2006/main">
            <a:off x="647700" y="39719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Drug, route, dose source, monitoring, source control, reassessment trigger, duration anchor, and stop date.</a:t>
            </a:r>
          </a:p>
        </p:txBody>
      </p:sp>
      <p:sp>
        <p:nvSpPr>
          <p:cNvPr id="4" name="footer">
            <a:extLst xmlns:a="http://schemas.openxmlformats.org/drawingml/2006/main">
              <a:ext uri="{FF2B5EF4-FFF2-40B4-BE49-F238E27FC236}">
                <a16:creationId xmlns:a16="http://schemas.microsoft.com/office/drawing/2014/main" id="{C90E5FFE-2C16-4D9C-B48E-B99894E6EEC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5" name="number">
            <a:extLst xmlns:a="http://schemas.openxmlformats.org/drawingml/2006/main">
              <a:ext uri="{FF2B5EF4-FFF2-40B4-BE49-F238E27FC236}">
                <a16:creationId xmlns:a16="http://schemas.microsoft.com/office/drawing/2014/main" id="{BA0815D6-F318-4A9F-A914-E8EECA962ED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160</a:t>
            </a:r>
          </a:p>
        </p:txBody>
      </p:sp>
    </p:spTree>
    <p:extLst>
      <p:ext uri="{BB962C8B-B14F-4D97-AF65-F5344CB8AC3E}">
        <p14:creationId xmlns:p14="http://schemas.microsoft.com/office/powerpoint/2010/main" val="1251837494"/>
      </p:ext>
    </p:extLst>
  </p:cSld>
</p:sld>
</file>

<file path=ppt/slides/slide1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CA2F468-69C5-45AB-A54B-7F0E7B3CE8C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Antibiotic rounds sheet</a:t>
            </a:r>
          </a:p>
        </p:txBody>
      </p:sp>
      <p:sp>
        <p:nvSpPr>
          <p:cNvPr id="2" name="paragraph-0">
            <a:extLst xmlns:a="http://schemas.openxmlformats.org/drawingml/2006/main">
              <a:ext uri="{FF2B5EF4-FFF2-40B4-BE49-F238E27FC236}">
                <a16:creationId xmlns:a16="http://schemas.microsoft.com/office/drawing/2014/main" id="{34128A09-66EF-4008-81F4-23D57F344AC1}"/>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Local practice: verify the current antibiogram, formulary, dosing and renal replacement therapy guidance, infusion practices, vancomycin trough workflow, microbiology conventions, and OPAT monitoring protocols.</a:t>
            </a:r>
          </a:p>
        </p:txBody>
      </p:sp>
      <p:sp>
        <p:nvSpPr>
          <p:cNvPr id="3" name="footer">
            <a:extLst xmlns:a="http://schemas.openxmlformats.org/drawingml/2006/main">
              <a:ext uri="{FF2B5EF4-FFF2-40B4-BE49-F238E27FC236}">
                <a16:creationId xmlns:a16="http://schemas.microsoft.com/office/drawing/2014/main" id="{C660891B-9B83-4837-8EA5-12CDAF6F48D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6AF4A192-84F6-47E1-80F1-D564BE28D61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161</a:t>
            </a:r>
          </a:p>
        </p:txBody>
      </p:sp>
    </p:spTree>
    <p:extLst>
      <p:ext uri="{BB962C8B-B14F-4D97-AF65-F5344CB8AC3E}">
        <p14:creationId xmlns:p14="http://schemas.microsoft.com/office/powerpoint/2010/main" val="1001620037"/>
      </p:ext>
    </p:extLst>
  </p:cSld>
</p:sld>
</file>

<file path=ppt/slides/slide1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2EF3A05-F890-4A33-B613-36C8887F3A2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16C26345-55D6-4E74-A41A-EEDBAF58DB6C}"/>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society recommendation. comparative trial evidence. official regulatory source. Reviewed September 27, 2026.</a:t>
            </a:r>
          </a:p>
        </p:txBody>
      </p:sp>
      <p:sp>
        <p:nvSpPr>
          <p:cNvPr id="3" name="footer">
            <a:extLst xmlns:a="http://schemas.openxmlformats.org/drawingml/2006/main">
              <a:ext uri="{FF2B5EF4-FFF2-40B4-BE49-F238E27FC236}">
                <a16:creationId xmlns:a16="http://schemas.microsoft.com/office/drawing/2014/main" id="{28707E69-5DE5-4749-99A2-F469E45CC1B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4385ECE5-6273-4DF3-9864-4F2414DC9C6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162</a:t>
            </a:r>
          </a:p>
        </p:txBody>
      </p:sp>
    </p:spTree>
    <p:extLst>
      <p:ext uri="{BB962C8B-B14F-4D97-AF65-F5344CB8AC3E}">
        <p14:creationId xmlns:p14="http://schemas.microsoft.com/office/powerpoint/2010/main" val="1389691207"/>
      </p:ext>
    </p:extLst>
  </p:cSld>
</p:sld>
</file>

<file path=ppt/slides/slide1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7B7F555-D92A-4623-9221-A9046F61430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06692A91-0328-43F2-8E0C-C296F7A9A3B5}"/>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Tamma PD, Bonomo RA, Heil EL, Justo JA, Satlin MJ, Mathers AJ. IDSA 2026 Guidance on the Treatment of Antimicrobial-Resistant Gram-Negative Infections. Published July 30, 2026; evidence current through March 1, 2026. IDSA guidance .</a:t>
            </a:r>
          </a:p>
        </p:txBody>
      </p:sp>
      <p:sp>
        <p:nvSpPr>
          <p:cNvPr id="3" name="footer">
            <a:extLst xmlns:a="http://schemas.openxmlformats.org/drawingml/2006/main">
              <a:ext uri="{FF2B5EF4-FFF2-40B4-BE49-F238E27FC236}">
                <a16:creationId xmlns:a16="http://schemas.microsoft.com/office/drawing/2014/main" id="{CC34BA08-E260-4013-863B-9F24DD7B828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EE5914A5-3E97-49C6-8634-7DDDD586AE2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163</a:t>
            </a:r>
          </a:p>
        </p:txBody>
      </p:sp>
    </p:spTree>
    <p:extLst>
      <p:ext uri="{BB962C8B-B14F-4D97-AF65-F5344CB8AC3E}">
        <p14:creationId xmlns:p14="http://schemas.microsoft.com/office/powerpoint/2010/main" val="307918582"/>
      </p:ext>
    </p:extLst>
  </p:cSld>
</p:sld>
</file>

<file path=ppt/slides/slide1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10F57E0-1828-44BB-AE01-8E19E05EE22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E3407D67-C5D0-468F-B903-E80F5B333BBA}"/>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Trautner BW, Cortes-Penfield NW, Gupta K, et al. IDSA 2025 Guideline Update on Complicated Urinary Tract Infections. Published July 17, 2025. IDSA guideline .</a:t>
            </a:r>
          </a:p>
        </p:txBody>
      </p:sp>
      <p:sp>
        <p:nvSpPr>
          <p:cNvPr id="3" name="footer">
            <a:extLst xmlns:a="http://schemas.openxmlformats.org/drawingml/2006/main">
              <a:ext uri="{FF2B5EF4-FFF2-40B4-BE49-F238E27FC236}">
                <a16:creationId xmlns:a16="http://schemas.microsoft.com/office/drawing/2014/main" id="{83D86ADF-B1FC-4FC0-B75F-8757B0DBA1D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91C9E4F2-8EBE-4BAA-9F8A-4146589D917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164</a:t>
            </a:r>
          </a:p>
        </p:txBody>
      </p:sp>
    </p:spTree>
    <p:extLst>
      <p:ext uri="{BB962C8B-B14F-4D97-AF65-F5344CB8AC3E}">
        <p14:creationId xmlns:p14="http://schemas.microsoft.com/office/powerpoint/2010/main" val="2142861693"/>
      </p:ext>
    </p:extLst>
  </p:cSld>
</p:sld>
</file>

<file path=ppt/slides/slide1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9F78B23-F7D4-452C-B3B2-80D6DB50AE1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B8F0998B-CF73-4A23-93FC-BAEA7FD06E94}"/>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Rybak MJ, Le J, Lodise TP, et al. Therapeutic Monitoring of Vancomycin for Serious MRSA Infections. Am J Health Syst Pharm. 2020;77:835–864. Published March 19, 2020. doi:10.1093/ajhp/zxaa036. IDSA consensus page .</a:t>
            </a:r>
          </a:p>
        </p:txBody>
      </p:sp>
      <p:sp>
        <p:nvSpPr>
          <p:cNvPr id="3" name="footer">
            <a:extLst xmlns:a="http://schemas.openxmlformats.org/drawingml/2006/main">
              <a:ext uri="{FF2B5EF4-FFF2-40B4-BE49-F238E27FC236}">
                <a16:creationId xmlns:a16="http://schemas.microsoft.com/office/drawing/2014/main" id="{9883A73B-43FE-4AE5-A222-25B3862D90A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74B39EB7-70AD-475D-BB04-25943D8A377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165</a:t>
            </a:r>
          </a:p>
        </p:txBody>
      </p:sp>
    </p:spTree>
    <p:extLst>
      <p:ext uri="{BB962C8B-B14F-4D97-AF65-F5344CB8AC3E}">
        <p14:creationId xmlns:p14="http://schemas.microsoft.com/office/powerpoint/2010/main" val="1785913358"/>
      </p:ext>
    </p:extLst>
  </p:cSld>
</p:sld>
</file>

<file path=ppt/slides/slide1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C8FD198-E58A-43AD-8F64-9DC62AC4DA8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BA60A329-3AFB-4F44-BD07-73A66D5B3A6A}"/>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Khan DA, Banerji A, Blumenthal KG, et al. Drug Allergy: A 2022 Practice Parameter Update. J Allergy Clin Immunol. 2022;150:1333–1393. Published December 2022. doi:10.1016/j.jaci.2022.08.028. Practice parameter .</a:t>
            </a:r>
          </a:p>
        </p:txBody>
      </p:sp>
      <p:sp>
        <p:nvSpPr>
          <p:cNvPr id="3" name="footer">
            <a:extLst xmlns:a="http://schemas.openxmlformats.org/drawingml/2006/main">
              <a:ext uri="{FF2B5EF4-FFF2-40B4-BE49-F238E27FC236}">
                <a16:creationId xmlns:a16="http://schemas.microsoft.com/office/drawing/2014/main" id="{8C333411-3B57-4327-82DD-1EFB3C3BCD7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61D86E08-9CFB-4168-8924-2190B0748F6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166</a:t>
            </a:r>
          </a:p>
        </p:txBody>
      </p:sp>
    </p:spTree>
    <p:extLst>
      <p:ext uri="{BB962C8B-B14F-4D97-AF65-F5344CB8AC3E}">
        <p14:creationId xmlns:p14="http://schemas.microsoft.com/office/powerpoint/2010/main" val="1672207339"/>
      </p:ext>
    </p:extLst>
  </p:cSld>
</p:sld>
</file>

<file path=ppt/slides/slide1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4770BDE-2C32-44E5-909E-884DDA47770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8DAD8C66-0436-481D-A16E-631D3B2F84FA}"/>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 Food and Drug Administration. Fluoroquinolone safety communications on disabling adverse effects, dysglycemia and mental health effects, and aortic aneurysm risk. Published 2016–2018. FDA information .</a:t>
            </a:r>
          </a:p>
        </p:txBody>
      </p:sp>
      <p:sp>
        <p:nvSpPr>
          <p:cNvPr id="3" name="footer">
            <a:extLst xmlns:a="http://schemas.openxmlformats.org/drawingml/2006/main">
              <a:ext uri="{FF2B5EF4-FFF2-40B4-BE49-F238E27FC236}">
                <a16:creationId xmlns:a16="http://schemas.microsoft.com/office/drawing/2014/main" id="{0FC242BF-1638-43F8-B386-8424E69622D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2A822744-59DE-415D-9987-EAEC3E33DD9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167</a:t>
            </a:r>
          </a:p>
        </p:txBody>
      </p:sp>
    </p:spTree>
    <p:extLst>
      <p:ext uri="{BB962C8B-B14F-4D97-AF65-F5344CB8AC3E}">
        <p14:creationId xmlns:p14="http://schemas.microsoft.com/office/powerpoint/2010/main" val="1272623235"/>
      </p:ext>
    </p:extLst>
  </p:cSld>
</p:sld>
</file>

<file path=ppt/slides/slide1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B44E7F5-D021-4265-8D14-0A663CC94BB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1EFBB9C3-E1EC-4708-BB7D-1E7BC939FEB0}"/>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CIPRO (ciprofloxacin) tablets and oral suspension, U.S. prescribing information. Adult UTI indications include susceptible K. pneumoniae and P. aeruginosa ; dosage table revised September 2024. DailyMed label .</a:t>
            </a:r>
          </a:p>
        </p:txBody>
      </p:sp>
      <p:sp>
        <p:nvSpPr>
          <p:cNvPr id="3" name="footer">
            <a:extLst xmlns:a="http://schemas.openxmlformats.org/drawingml/2006/main">
              <a:ext uri="{FF2B5EF4-FFF2-40B4-BE49-F238E27FC236}">
                <a16:creationId xmlns:a16="http://schemas.microsoft.com/office/drawing/2014/main" id="{2D6FFDE6-8071-4037-B80B-CFC0F3EB01A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C35FF6D0-5AAC-48B7-8E5E-25F7D296FCF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168</a:t>
            </a:r>
          </a:p>
        </p:txBody>
      </p:sp>
    </p:spTree>
    <p:extLst>
      <p:ext uri="{BB962C8B-B14F-4D97-AF65-F5344CB8AC3E}">
        <p14:creationId xmlns:p14="http://schemas.microsoft.com/office/powerpoint/2010/main" val="671333888"/>
      </p:ext>
    </p:extLst>
  </p:cSld>
</p:sld>
</file>

<file path=ppt/slides/slide1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769DEA2-BA3D-4262-B70C-71B9A308227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AB60C4C1-51B7-4CA1-B9C2-FFE222F46C20}"/>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Harris PNA, Tambyah PA, Lye DC, et al. Piperacillin-Tazobactam versus Meropenem for Ceftriaxone-Resistant E. coli or K. pneumoniae Bloodstream Infection. JAMA. 2018;320:984–994. Published September 11, 2018. doi:10.1001/jama.2018.12163. PubMed .</a:t>
            </a:r>
          </a:p>
        </p:txBody>
      </p:sp>
      <p:sp>
        <p:nvSpPr>
          <p:cNvPr id="3" name="footer">
            <a:extLst xmlns:a="http://schemas.openxmlformats.org/drawingml/2006/main">
              <a:ext uri="{FF2B5EF4-FFF2-40B4-BE49-F238E27FC236}">
                <a16:creationId xmlns:a16="http://schemas.microsoft.com/office/drawing/2014/main" id="{418C6076-9DEB-43C6-9E54-9B645BAEFBC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CC53DB90-2D0A-448A-8682-4CDC8A65AB5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169</a:t>
            </a:r>
          </a:p>
        </p:txBody>
      </p:sp>
    </p:spTree>
    <p:extLst>
      <p:ext uri="{BB962C8B-B14F-4D97-AF65-F5344CB8AC3E}">
        <p14:creationId xmlns:p14="http://schemas.microsoft.com/office/powerpoint/2010/main" val="363650796"/>
      </p:ext>
    </p:extLst>
  </p:cSld>
</p:sld>
</file>

<file path=ppt/slides/slide1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79239BA-A16A-4FE6-ABE2-64A491D62E3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7B026363-9AEA-42FB-A47F-341AE02246A5}"/>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Tong SYC, Lye DC, Yahav D, et al. Vancomycin or Daptomycin With versus Without an Antistaphylococcal Beta-Lactam for MRSA Bacteremia. JAMA. 2020;323:527–537. Published February 11, 2020. doi:10.1001/jama.2020.0103. PubMed .</a:t>
            </a:r>
          </a:p>
        </p:txBody>
      </p:sp>
      <p:sp>
        <p:nvSpPr>
          <p:cNvPr id="3" name="footer">
            <a:extLst xmlns:a="http://schemas.openxmlformats.org/drawingml/2006/main">
              <a:ext uri="{FF2B5EF4-FFF2-40B4-BE49-F238E27FC236}">
                <a16:creationId xmlns:a16="http://schemas.microsoft.com/office/drawing/2014/main" id="{4284D258-A10D-4494-8B7A-0AF4BC0E524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4C5DD96B-7765-4C3C-B9B8-C034F149305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170</a:t>
            </a:r>
          </a:p>
        </p:txBody>
      </p:sp>
    </p:spTree>
    <p:extLst>
      <p:ext uri="{BB962C8B-B14F-4D97-AF65-F5344CB8AC3E}">
        <p14:creationId xmlns:p14="http://schemas.microsoft.com/office/powerpoint/2010/main" val="1899973272"/>
      </p:ext>
    </p:extLst>
  </p:cSld>
</p:sld>
</file>

<file path=ppt/slides/slide1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E54D803-1029-498B-AEAF-8C203D0AA6B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6C446C71-7F91-4C2A-B243-803A8F0C3D73}"/>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Li HK, Rombach I, Zambellas R, et al. Oral versus Intravenous Antibiotics for Bone and Joint Infection. N Engl J Med. 2019;380:425–436. Published January 31, 2019. doi:10.1056/NEJMoa1710926. PubMed .</a:t>
            </a:r>
          </a:p>
        </p:txBody>
      </p:sp>
      <p:sp>
        <p:nvSpPr>
          <p:cNvPr id="3" name="footer">
            <a:extLst xmlns:a="http://schemas.openxmlformats.org/drawingml/2006/main">
              <a:ext uri="{FF2B5EF4-FFF2-40B4-BE49-F238E27FC236}">
                <a16:creationId xmlns:a16="http://schemas.microsoft.com/office/drawing/2014/main" id="{47EFDBD1-E91C-4C2B-8AAF-599A8B01981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57D1B4D0-1BC9-48E3-BE1F-6A1975AEDB2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171</a:t>
            </a:r>
          </a:p>
        </p:txBody>
      </p:sp>
    </p:spTree>
    <p:extLst>
      <p:ext uri="{BB962C8B-B14F-4D97-AF65-F5344CB8AC3E}">
        <p14:creationId xmlns:p14="http://schemas.microsoft.com/office/powerpoint/2010/main" val="1131483727"/>
      </p:ext>
    </p:extLst>
  </p:cSld>
</p:sld>
</file>

<file path=ppt/slides/slide1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68545EC-C4B6-4384-BAA6-11339B10E4E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2435EC46-502E-4010-86F0-EA2A365558DE}"/>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Iversen K, Ihlemann N, Gill SU, et al. Partial Oral versus Intravenous Antibiotic Treatment of Endocarditis. N Engl J Med. 2019;380:415–424. Published August 28, 2018. doi:10.1056/NEJMoa1808312. PubMed .</a:t>
            </a:r>
          </a:p>
        </p:txBody>
      </p:sp>
      <p:sp>
        <p:nvSpPr>
          <p:cNvPr id="3" name="footer">
            <a:extLst xmlns:a="http://schemas.openxmlformats.org/drawingml/2006/main">
              <a:ext uri="{FF2B5EF4-FFF2-40B4-BE49-F238E27FC236}">
                <a16:creationId xmlns:a16="http://schemas.microsoft.com/office/drawing/2014/main" id="{07614CDA-CF21-43B1-888F-38102A8850A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5C395A71-9A85-4BEA-A8EF-6BEBCACE0F6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172</a:t>
            </a:r>
          </a:p>
        </p:txBody>
      </p:sp>
    </p:spTree>
    <p:extLst>
      <p:ext uri="{BB962C8B-B14F-4D97-AF65-F5344CB8AC3E}">
        <p14:creationId xmlns:p14="http://schemas.microsoft.com/office/powerpoint/2010/main" val="557611814"/>
      </p:ext>
    </p:extLst>
  </p:cSld>
</p:sld>
</file>

<file path=ppt/slides/slide1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3F70D86-92E1-4941-96A7-4F69871B483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A0026F13-6E62-4A15-B31C-A0969BA2ECC3}"/>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BALANCE Investigators. Antibiotic Treatment for 7 versus 14 Days in Patients with Bloodstream Infections. N Engl J Med. Published online November 20, 2024; print 2025;392:1065–1078. doi:10.1056/NEJMoa2404991. PubMed .</a:t>
            </a:r>
          </a:p>
        </p:txBody>
      </p:sp>
      <p:sp>
        <p:nvSpPr>
          <p:cNvPr id="3" name="footer">
            <a:extLst xmlns:a="http://schemas.openxmlformats.org/drawingml/2006/main">
              <a:ext uri="{FF2B5EF4-FFF2-40B4-BE49-F238E27FC236}">
                <a16:creationId xmlns:a16="http://schemas.microsoft.com/office/drawing/2014/main" id="{2C3A2A84-3AED-43DD-92E0-D4BEA7319D5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2E1D6BFC-109E-4DB3-9BE0-D1D733F8121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173</a:t>
            </a:r>
          </a:p>
        </p:txBody>
      </p:sp>
    </p:spTree>
    <p:extLst>
      <p:ext uri="{BB962C8B-B14F-4D97-AF65-F5344CB8AC3E}">
        <p14:creationId xmlns:p14="http://schemas.microsoft.com/office/powerpoint/2010/main" val="1605494907"/>
      </p:ext>
    </p:extLst>
  </p:cSld>
</p:sld>
</file>

<file path=ppt/slides/slide1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E140D2E-CAA1-4167-B8A3-08DC71CDA03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A945C00A-5215-4361-A9FE-17850EADFF87}"/>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Zdarska V, Arcari G, Kolar M, Mlynarcik P. Antibiotic Resistance in Klebsiella pneumoniae and Related Enterobacterales: Molecular Mechanisms, Mobile Elements, and Therapeutic Challenges. Antibiotics (Basel). 2026;15(1):37. Published January 1, 2026. doi:10.3390/antibiotics15010037. PubMed .</a:t>
            </a:r>
          </a:p>
        </p:txBody>
      </p:sp>
      <p:sp>
        <p:nvSpPr>
          <p:cNvPr id="3" name="footer">
            <a:extLst xmlns:a="http://schemas.openxmlformats.org/drawingml/2006/main">
              <a:ext uri="{FF2B5EF4-FFF2-40B4-BE49-F238E27FC236}">
                <a16:creationId xmlns:a16="http://schemas.microsoft.com/office/drawing/2014/main" id="{655B8984-6AE1-4475-9852-583E4A468BC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383EBDF7-BC87-4F56-94E0-198C0ADFF62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174</a:t>
            </a:r>
          </a:p>
        </p:txBody>
      </p:sp>
    </p:spTree>
    <p:extLst>
      <p:ext uri="{BB962C8B-B14F-4D97-AF65-F5344CB8AC3E}">
        <p14:creationId xmlns:p14="http://schemas.microsoft.com/office/powerpoint/2010/main" val="103807217"/>
      </p:ext>
    </p:extLst>
  </p:cSld>
</p:sld>
</file>

<file path=ppt/slides/slide1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9700241-7DC9-43B2-9C65-8A46019EC2C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1A635F33-6A2F-4B62-BA93-52F9C22CEFE9}"/>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Trubiano JA, Vogrin S, Chua KYL, et al. Development and Validation of a Penicillin Allergy Clinical Decision Rule. JAMA Intern Med. 2020;180(5):745-752. Published March 16, 2020. doi:10.1001/jamainternmed.2020.0403. PubMed .</a:t>
            </a:r>
          </a:p>
        </p:txBody>
      </p:sp>
      <p:sp>
        <p:nvSpPr>
          <p:cNvPr id="3" name="footer">
            <a:extLst xmlns:a="http://schemas.openxmlformats.org/drawingml/2006/main">
              <a:ext uri="{FF2B5EF4-FFF2-40B4-BE49-F238E27FC236}">
                <a16:creationId xmlns:a16="http://schemas.microsoft.com/office/drawing/2014/main" id="{AD5DC52F-DCCA-4826-B942-443C909B6D5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66859AA5-DCDA-47E8-A775-D5B6B0C0AFC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175</a:t>
            </a:r>
          </a:p>
        </p:txBody>
      </p:sp>
    </p:spTree>
    <p:extLst>
      <p:ext uri="{BB962C8B-B14F-4D97-AF65-F5344CB8AC3E}">
        <p14:creationId xmlns:p14="http://schemas.microsoft.com/office/powerpoint/2010/main" val="288396945"/>
      </p:ext>
    </p:extLst>
  </p:cSld>
</p:sld>
</file>

<file path=ppt/slides/slide1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A759D7A-1929-4E59-9B90-C825B37F154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FA99BA31-5277-42EA-A528-47756FC4BB0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AVYCAZ (ceftazidime-avibactam) U.S. prescribing information. Initial U.S. approval 2015; label updated April 30, 2025. DailyMed label .</a:t>
            </a:r>
          </a:p>
        </p:txBody>
      </p:sp>
      <p:sp>
        <p:nvSpPr>
          <p:cNvPr id="3" name="footer">
            <a:extLst xmlns:a="http://schemas.openxmlformats.org/drawingml/2006/main">
              <a:ext uri="{FF2B5EF4-FFF2-40B4-BE49-F238E27FC236}">
                <a16:creationId xmlns:a16="http://schemas.microsoft.com/office/drawing/2014/main" id="{3157D85E-3333-4783-89C0-188C39E48AB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D6518395-49EA-4500-AE13-E2E5C6C5943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176</a:t>
            </a:r>
          </a:p>
        </p:txBody>
      </p:sp>
    </p:spTree>
    <p:extLst>
      <p:ext uri="{BB962C8B-B14F-4D97-AF65-F5344CB8AC3E}">
        <p14:creationId xmlns:p14="http://schemas.microsoft.com/office/powerpoint/2010/main" val="1662514151"/>
      </p:ext>
    </p:extLst>
  </p:cSld>
</p:sld>
</file>

<file path=ppt/slides/slide1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B03C940-34E0-4187-AD3D-06EF02803F3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0B1BBD38-53B6-447C-8BDF-C97E547FC3DD}"/>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ZERBAXA (ceftolozane-tazobactam) U.S. prescribing information. Initial U.S. approval 2014; label updated May 12, 2026. DailyMed label .</a:t>
            </a:r>
          </a:p>
        </p:txBody>
      </p:sp>
      <p:sp>
        <p:nvSpPr>
          <p:cNvPr id="3" name="footer">
            <a:extLst xmlns:a="http://schemas.openxmlformats.org/drawingml/2006/main">
              <a:ext uri="{FF2B5EF4-FFF2-40B4-BE49-F238E27FC236}">
                <a16:creationId xmlns:a16="http://schemas.microsoft.com/office/drawing/2014/main" id="{05EAD506-94BA-4F71-8008-DBCD1C8080F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C2FCD292-C7CC-45C1-ABDF-1D9E3FC433E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177</a:t>
            </a:r>
          </a:p>
        </p:txBody>
      </p:sp>
    </p:spTree>
    <p:extLst>
      <p:ext uri="{BB962C8B-B14F-4D97-AF65-F5344CB8AC3E}">
        <p14:creationId xmlns:p14="http://schemas.microsoft.com/office/powerpoint/2010/main" val="1510187599"/>
      </p:ext>
    </p:extLst>
  </p:cSld>
</p:sld>
</file>

<file path=ppt/slides/slide1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82DF9F0-599A-489E-9260-7DD5E90D3C9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9DCC3285-ED5E-46AD-8DB3-A4CBB0E83054}"/>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FETROJA (cefiderocol) U.S. prescribing information. Initial U.S. approval 2019; label updated February 24, 2026. DailyMed label .</a:t>
            </a:r>
          </a:p>
        </p:txBody>
      </p:sp>
      <p:sp>
        <p:nvSpPr>
          <p:cNvPr id="3" name="footer">
            <a:extLst xmlns:a="http://schemas.openxmlformats.org/drawingml/2006/main">
              <a:ext uri="{FF2B5EF4-FFF2-40B4-BE49-F238E27FC236}">
                <a16:creationId xmlns:a16="http://schemas.microsoft.com/office/drawing/2014/main" id="{8D4810C9-FE2F-4674-9715-7A1178E250C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725182B0-7F65-42AF-87FD-7170C1C2659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178</a:t>
            </a:r>
          </a:p>
        </p:txBody>
      </p:sp>
    </p:spTree>
    <p:extLst>
      <p:ext uri="{BB962C8B-B14F-4D97-AF65-F5344CB8AC3E}">
        <p14:creationId xmlns:p14="http://schemas.microsoft.com/office/powerpoint/2010/main" val="24574064"/>
      </p:ext>
    </p:extLst>
  </p:cSld>
</p:sld>
</file>

<file path=ppt/slides/slide1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D1FBB78-DA69-45F1-BDF1-8FCAE91E3FE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CABD051E-24F2-4EF8-AD7E-08273DF8AA28}"/>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EMBLAVEO (aztreonam-avibactam) U.S. prescribing information. Initial U.S. approval 2025; label revised June 2026. DailyMed label .</a:t>
            </a:r>
          </a:p>
        </p:txBody>
      </p:sp>
      <p:sp>
        <p:nvSpPr>
          <p:cNvPr id="3" name="footer">
            <a:extLst xmlns:a="http://schemas.openxmlformats.org/drawingml/2006/main">
              <a:ext uri="{FF2B5EF4-FFF2-40B4-BE49-F238E27FC236}">
                <a16:creationId xmlns:a16="http://schemas.microsoft.com/office/drawing/2014/main" id="{1255EDA1-8321-4863-848A-7FC5B995222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87AAA86F-143E-49B1-92EE-B577F888115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179</a:t>
            </a:r>
          </a:p>
        </p:txBody>
      </p:sp>
    </p:spTree>
    <p:extLst>
      <p:ext uri="{BB962C8B-B14F-4D97-AF65-F5344CB8AC3E}">
        <p14:creationId xmlns:p14="http://schemas.microsoft.com/office/powerpoint/2010/main" val="1731863927"/>
      </p:ext>
    </p:extLst>
  </p:cSld>
</p:sld>
</file>

<file path=ppt/slides/slide1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274C79A-784B-47D1-8B43-C758B6214DB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28455940-F31A-4BF9-91CB-F6B5C222FEA5}"/>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 Food and Drug Administration. FDA Approves First Oral Carbapenem Therapy for Complicated Urinary Tract Infections. Published June 17, 2026. FDA announcement .</a:t>
            </a:r>
          </a:p>
        </p:txBody>
      </p:sp>
      <p:sp>
        <p:nvSpPr>
          <p:cNvPr id="3" name="footer">
            <a:extLst xmlns:a="http://schemas.openxmlformats.org/drawingml/2006/main">
              <a:ext uri="{FF2B5EF4-FFF2-40B4-BE49-F238E27FC236}">
                <a16:creationId xmlns:a16="http://schemas.microsoft.com/office/drawing/2014/main" id="{25DD2675-69D2-409E-BBD3-3E1DCC52CE4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1D1FD17A-D641-4BFF-B84D-DF63631E734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180</a:t>
            </a:r>
          </a:p>
        </p:txBody>
      </p:sp>
    </p:spTree>
    <p:extLst>
      <p:ext uri="{BB962C8B-B14F-4D97-AF65-F5344CB8AC3E}">
        <p14:creationId xmlns:p14="http://schemas.microsoft.com/office/powerpoint/2010/main" val="219693270"/>
      </p:ext>
    </p:extLst>
  </p:cSld>
</p:sld>
</file>

<file path=ppt/slides/slide1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C790011-2242-4113-AB56-55FCC7F64DD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7D196714-93AC-4221-A040-E7D9E41C0608}"/>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U.S. Food and Drug Administration. FDA Approves New Treatment for Uncomplicated Urinary Tract Infections in Adult Women Who Have Limited or No Alternative Oral Antibiotic Treatment Options. Published October 24, 2024. FDA announcement .</a:t>
            </a:r>
          </a:p>
        </p:txBody>
      </p:sp>
      <p:sp>
        <p:nvSpPr>
          <p:cNvPr id="3" name="footer">
            <a:extLst xmlns:a="http://schemas.openxmlformats.org/drawingml/2006/main">
              <a:ext uri="{FF2B5EF4-FFF2-40B4-BE49-F238E27FC236}">
                <a16:creationId xmlns:a16="http://schemas.microsoft.com/office/drawing/2014/main" id="{8F00F7D1-8928-4FB9-A179-B6FCE3C8CB9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35A54849-433B-46D8-AE2E-85FA477CCDA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181</a:t>
            </a:r>
          </a:p>
        </p:txBody>
      </p:sp>
    </p:spTree>
    <p:extLst>
      <p:ext uri="{BB962C8B-B14F-4D97-AF65-F5344CB8AC3E}">
        <p14:creationId xmlns:p14="http://schemas.microsoft.com/office/powerpoint/2010/main" val="864906162"/>
      </p:ext>
    </p:extLst>
  </p:cSld>
</p:sld>
</file>

<file path=ppt/slides/slide1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E9753D1-5919-482E-8365-B4F1D8FF340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283BEC16-070B-474B-A6E9-C83D58D1C215}"/>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Basilea Pharmaceutica. Ceftibuten-ledaborbactam etzadroxil described as phase 3-ready; announcement published August 14, 2025. Developer announcement . Karlowsky JA, Wise MG, Hackel MA, Pevear DC, Moeck G, Sahm DF. Ceftibuten-Ledaborbactam Activity against Multidrug-Resistant and Extended-Spectrum-Beta-Lactamase-Positive Clinical Isolates of Enterobacterales from a 2018-2020 Global Surveillance Collection. Antimicrob Agents Chemother. 2022;66:e00934-22. Published October 26, 2022. doi:10.1128/aac.00934-22. Original study .</a:t>
            </a:r>
          </a:p>
        </p:txBody>
      </p:sp>
      <p:sp>
        <p:nvSpPr>
          <p:cNvPr id="3" name="footer">
            <a:extLst xmlns:a="http://schemas.openxmlformats.org/drawingml/2006/main">
              <a:ext uri="{FF2B5EF4-FFF2-40B4-BE49-F238E27FC236}">
                <a16:creationId xmlns:a16="http://schemas.microsoft.com/office/drawing/2014/main" id="{2108AC94-6B6F-41A7-BF95-BA0A0B7ABA1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5E6036B0-4BA9-482E-9077-E831D703A29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182</a:t>
            </a:r>
          </a:p>
        </p:txBody>
      </p:sp>
    </p:spTree>
    <p:extLst>
      <p:ext uri="{BB962C8B-B14F-4D97-AF65-F5344CB8AC3E}">
        <p14:creationId xmlns:p14="http://schemas.microsoft.com/office/powerpoint/2010/main" val="311264344"/>
      </p:ext>
    </p:extLst>
  </p:cSld>
</p:sld>
</file>

<file path=ppt/slides/slide1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8044136-EB79-4412-A783-D0DDC3D8000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10FC7C2A-9E36-44AB-BC83-6C66CEA590D6}"/>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Romano A, Gaeta F, Valluzzi RL, et al. IgE-mediated hypersensitivity to cephalosporins: cross-reactivity and tolerability of penicillins, monobactams, and carbapenems. J Allergy Clin Immunol. 2010;126:994–999. Published November 2010. doi:10.1016/j.jaci.2010.06.052. PubMed .</a:t>
            </a:r>
          </a:p>
        </p:txBody>
      </p:sp>
      <p:sp>
        <p:nvSpPr>
          <p:cNvPr id="3" name="footer">
            <a:extLst xmlns:a="http://schemas.openxmlformats.org/drawingml/2006/main">
              <a:ext uri="{FF2B5EF4-FFF2-40B4-BE49-F238E27FC236}">
                <a16:creationId xmlns:a16="http://schemas.microsoft.com/office/drawing/2014/main" id="{95CE6720-0106-498E-ABE9-8D53A39FB7D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FF08A88F-68A9-48B0-9E72-70769C2C934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183</a:t>
            </a:r>
          </a:p>
        </p:txBody>
      </p:sp>
    </p:spTree>
    <p:extLst>
      <p:ext uri="{BB962C8B-B14F-4D97-AF65-F5344CB8AC3E}">
        <p14:creationId xmlns:p14="http://schemas.microsoft.com/office/powerpoint/2010/main" val="528383868"/>
      </p:ext>
    </p:extLst>
  </p:cSld>
</p:sld>
</file>

<file path=ppt/slides/slide1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EFA0E7C-577E-4DDA-95B0-115E6F7D71B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D1CB9761-0D63-4C34-8C4A-A18455FCABA2}"/>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TEFLARO (ceftaroline fosamil) U.S. prescribing information. Initial U.S. approval 2010; current label reviewed September 14, 2026. DailyMed label .</a:t>
            </a:r>
          </a:p>
        </p:txBody>
      </p:sp>
      <p:sp>
        <p:nvSpPr>
          <p:cNvPr id="3" name="footer">
            <a:extLst xmlns:a="http://schemas.openxmlformats.org/drawingml/2006/main">
              <a:ext uri="{FF2B5EF4-FFF2-40B4-BE49-F238E27FC236}">
                <a16:creationId xmlns:a16="http://schemas.microsoft.com/office/drawing/2014/main" id="{919636C6-F4BB-48CC-8EA7-1444E56AF0A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FDB40B23-5FB1-47EB-B420-05158AECC3C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184</a:t>
            </a:r>
          </a:p>
        </p:txBody>
      </p:sp>
    </p:spTree>
    <p:extLst>
      <p:ext uri="{BB962C8B-B14F-4D97-AF65-F5344CB8AC3E}">
        <p14:creationId xmlns:p14="http://schemas.microsoft.com/office/powerpoint/2010/main" val="2123371749"/>
      </p:ext>
    </p:extLst>
  </p:cSld>
</p:sld>
</file>

<file path=ppt/slides/slide1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8CB0C67-9EC5-4F3B-A327-67C9A7F2E1D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6D7A22A8-F6D7-4706-ADDA-F9BCE27E636E}"/>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ZEVTERA (ceftobiprole medocaril sodium) U.S. prescribing information. Initial U.S. approval 2024; label revised December 2025. DailyMed label .</a:t>
            </a:r>
          </a:p>
        </p:txBody>
      </p:sp>
      <p:sp>
        <p:nvSpPr>
          <p:cNvPr id="3" name="footer">
            <a:extLst xmlns:a="http://schemas.openxmlformats.org/drawingml/2006/main">
              <a:ext uri="{FF2B5EF4-FFF2-40B4-BE49-F238E27FC236}">
                <a16:creationId xmlns:a16="http://schemas.microsoft.com/office/drawing/2014/main" id="{278540B3-3DE8-4DB3-8F53-9A733D712C6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CE27D36A-5558-4EC6-B339-AD57D738BE6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185</a:t>
            </a:r>
          </a:p>
        </p:txBody>
      </p:sp>
    </p:spTree>
    <p:extLst>
      <p:ext uri="{BB962C8B-B14F-4D97-AF65-F5344CB8AC3E}">
        <p14:creationId xmlns:p14="http://schemas.microsoft.com/office/powerpoint/2010/main" val="1459899501"/>
      </p:ext>
    </p:extLst>
  </p:cSld>
</p:sld>
</file>

<file path=ppt/slides/slide1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D6D699B-57EB-412F-9F99-3FDCB97096F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83E0B61A-9C97-460A-A8AB-B0D9D9B888B8}"/>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Holland TL, Cosgrove SE, Doernberg SB, et al. Ceftobiprole for Treatment of Complicated Staphylococcus aureus Bacteremia. N Engl J Med. 2023;389:1390–1401. Published online September 27, 2023. doi:10.1056/NEJMoa2300220. PubMed .</a:t>
            </a:r>
          </a:p>
        </p:txBody>
      </p:sp>
      <p:sp>
        <p:nvSpPr>
          <p:cNvPr id="3" name="footer">
            <a:extLst xmlns:a="http://schemas.openxmlformats.org/drawingml/2006/main">
              <a:ext uri="{FF2B5EF4-FFF2-40B4-BE49-F238E27FC236}">
                <a16:creationId xmlns:a16="http://schemas.microsoft.com/office/drawing/2014/main" id="{5888BF33-130F-487F-8D15-F13F1976BC4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CD1D63D0-0E0B-4DC8-8E50-3532754054E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186</a:t>
            </a:r>
          </a:p>
        </p:txBody>
      </p:sp>
    </p:spTree>
    <p:extLst>
      <p:ext uri="{BB962C8B-B14F-4D97-AF65-F5344CB8AC3E}">
        <p14:creationId xmlns:p14="http://schemas.microsoft.com/office/powerpoint/2010/main" val="1242369734"/>
      </p:ext>
    </p:extLst>
  </p:cSld>
</p:sld>
</file>

<file path=ppt/slides/slide1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7CCCF84-BD9B-4E4C-8821-22243FC54B5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F3BCA96C-4E81-499B-8A8D-23D77BF2140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CUBICIN RF (daptomycin) U.S. prescribing information. Label updated March 17, 2025; reviewed September 14, 2026. DailyMed label .</a:t>
            </a:r>
          </a:p>
        </p:txBody>
      </p:sp>
      <p:sp>
        <p:nvSpPr>
          <p:cNvPr id="3" name="footer">
            <a:extLst xmlns:a="http://schemas.openxmlformats.org/drawingml/2006/main">
              <a:ext uri="{FF2B5EF4-FFF2-40B4-BE49-F238E27FC236}">
                <a16:creationId xmlns:a16="http://schemas.microsoft.com/office/drawing/2014/main" id="{434C6E53-99EB-4F30-9B77-DE12A38120F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7E9ACCB4-3AA2-4161-8202-A7529EF3CD1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187</a:t>
            </a:r>
          </a:p>
        </p:txBody>
      </p:sp>
    </p:spTree>
    <p:extLst>
      <p:ext uri="{BB962C8B-B14F-4D97-AF65-F5344CB8AC3E}">
        <p14:creationId xmlns:p14="http://schemas.microsoft.com/office/powerpoint/2010/main" val="825612120"/>
      </p:ext>
    </p:extLst>
  </p:cSld>
</p:sld>
</file>

<file path=ppt/slides/slide1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B97D6E0-B710-44F9-82A3-BD14D606739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08D02AAA-B07F-449C-B14B-6085EA75321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Linezolid U.S. prescribing information. Label revised June 2026; reviewed September 14, 2026. DailyMed label .</a:t>
            </a:r>
          </a:p>
        </p:txBody>
      </p:sp>
      <p:sp>
        <p:nvSpPr>
          <p:cNvPr id="3" name="footer">
            <a:extLst xmlns:a="http://schemas.openxmlformats.org/drawingml/2006/main">
              <a:ext uri="{FF2B5EF4-FFF2-40B4-BE49-F238E27FC236}">
                <a16:creationId xmlns:a16="http://schemas.microsoft.com/office/drawing/2014/main" id="{9F09A141-EAD6-4195-A239-2B8E17C9AB2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99B447F2-04D6-4460-A098-D700AAB74A2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188</a:t>
            </a:r>
          </a:p>
        </p:txBody>
      </p:sp>
    </p:spTree>
    <p:extLst>
      <p:ext uri="{BB962C8B-B14F-4D97-AF65-F5344CB8AC3E}">
        <p14:creationId xmlns:p14="http://schemas.microsoft.com/office/powerpoint/2010/main" val="472081613"/>
      </p:ext>
    </p:extLst>
  </p:cSld>
</p:sld>
</file>

<file path=ppt/slides/slide1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CEC85E6-4622-4387-86D4-FF22EAA96B2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A77697AB-1DD3-45D5-B620-F61FAD7F4B9D}"/>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BACTRIM DS (trimethoprim-sulfamethoxazole) U.S. prescribing information; reviewed September 14, 2026. DailyMed label .</a:t>
            </a:r>
          </a:p>
        </p:txBody>
      </p:sp>
      <p:sp>
        <p:nvSpPr>
          <p:cNvPr id="3" name="footer">
            <a:extLst xmlns:a="http://schemas.openxmlformats.org/drawingml/2006/main">
              <a:ext uri="{FF2B5EF4-FFF2-40B4-BE49-F238E27FC236}">
                <a16:creationId xmlns:a16="http://schemas.microsoft.com/office/drawing/2014/main" id="{36412D86-0C51-413D-BE02-2B3088E95A1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BC681891-E595-4B34-B4DD-D2C093F4DD7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189</a:t>
            </a:r>
          </a:p>
        </p:txBody>
      </p:sp>
    </p:spTree>
    <p:extLst>
      <p:ext uri="{BB962C8B-B14F-4D97-AF65-F5344CB8AC3E}">
        <p14:creationId xmlns:p14="http://schemas.microsoft.com/office/powerpoint/2010/main" val="2089751714"/>
      </p:ext>
    </p:extLst>
  </p:cSld>
</p:sld>
</file>

<file path=ppt/slides/slide1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77B6062-D74B-4478-8083-1CE1D46A621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68CA2026-2351-467B-8429-86F54E24AA4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Metronidazole tablets U.S. prescribing information; reviewed September 14, 2026. DailyMed label .</a:t>
            </a:r>
          </a:p>
        </p:txBody>
      </p:sp>
      <p:sp>
        <p:nvSpPr>
          <p:cNvPr id="3" name="footer">
            <a:extLst xmlns:a="http://schemas.openxmlformats.org/drawingml/2006/main">
              <a:ext uri="{FF2B5EF4-FFF2-40B4-BE49-F238E27FC236}">
                <a16:creationId xmlns:a16="http://schemas.microsoft.com/office/drawing/2014/main" id="{DDB374E1-6CF5-4F5D-88E3-0CC4D21CDD2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F564B163-59C2-4D7E-8EE5-D6A71727471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190</a:t>
            </a:r>
          </a:p>
        </p:txBody>
      </p:sp>
    </p:spTree>
    <p:extLst>
      <p:ext uri="{BB962C8B-B14F-4D97-AF65-F5344CB8AC3E}">
        <p14:creationId xmlns:p14="http://schemas.microsoft.com/office/powerpoint/2010/main" val="72907465"/>
      </p:ext>
    </p:extLst>
  </p:cSld>
</p:sld>
</file>

<file path=ppt/slides/slide1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1B2C594-5B15-4435-9ADC-1E372F157CE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7FFBE9A5-D4B3-46F5-990B-DFF8FCC055EC}"/>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MACROBID (nitrofurantoin monohydrate/macrocrystals) U.S. prescribing information; reviewed September 14, 2026. DailyMed label .</a:t>
            </a:r>
          </a:p>
        </p:txBody>
      </p:sp>
      <p:sp>
        <p:nvSpPr>
          <p:cNvPr id="3" name="footer">
            <a:extLst xmlns:a="http://schemas.openxmlformats.org/drawingml/2006/main">
              <a:ext uri="{FF2B5EF4-FFF2-40B4-BE49-F238E27FC236}">
                <a16:creationId xmlns:a16="http://schemas.microsoft.com/office/drawing/2014/main" id="{A59A2426-7181-4B8A-AEEE-BB11E602A80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CE89BEC0-00F6-4FCC-81AE-565274DDF73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191</a:t>
            </a:r>
          </a:p>
        </p:txBody>
      </p:sp>
    </p:spTree>
    <p:extLst>
      <p:ext uri="{BB962C8B-B14F-4D97-AF65-F5344CB8AC3E}">
        <p14:creationId xmlns:p14="http://schemas.microsoft.com/office/powerpoint/2010/main" val="1923003923"/>
      </p:ext>
    </p:extLst>
  </p:cSld>
</p:sld>
</file>

<file path=ppt/slides/slide1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F1232BD-9D67-43CB-8271-26448CA67E3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F7A75F32-2381-459F-B61B-C0B5B81A2F1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Fluconazole tablets U.S. prescribing information; reviewed September 14, 2026. DailyMed label .</a:t>
            </a:r>
          </a:p>
        </p:txBody>
      </p:sp>
      <p:sp>
        <p:nvSpPr>
          <p:cNvPr id="3" name="footer">
            <a:extLst xmlns:a="http://schemas.openxmlformats.org/drawingml/2006/main">
              <a:ext uri="{FF2B5EF4-FFF2-40B4-BE49-F238E27FC236}">
                <a16:creationId xmlns:a16="http://schemas.microsoft.com/office/drawing/2014/main" id="{610B2E60-4BA8-4434-A3D3-DB706BB0854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CCA6CB71-4BDD-41FE-9C5D-3DEA6B66B12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192</a:t>
            </a:r>
          </a:p>
        </p:txBody>
      </p:sp>
    </p:spTree>
    <p:extLst>
      <p:ext uri="{BB962C8B-B14F-4D97-AF65-F5344CB8AC3E}">
        <p14:creationId xmlns:p14="http://schemas.microsoft.com/office/powerpoint/2010/main" val="1219456670"/>
      </p:ext>
    </p:extLst>
  </p:cSld>
</p:sld>
</file>

<file path=ppt/slides/slide1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719F70C-9EF1-4BCB-977B-C58C79EF8F2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BE013E5E-CD52-4BBA-AD94-C076FF3A49D9}"/>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Turner RB, Wilson DE, Saedi-Kwon H, et al. Comparative analysis of neutropenia in patients receiving prolonged treatment with ceftaroline. J Antimicrob Chemother. 2018;73:772–778. Published online December 8, 2017. doi:10.1093/jac/dkx452. PubMed .</a:t>
            </a:r>
          </a:p>
        </p:txBody>
      </p:sp>
      <p:sp>
        <p:nvSpPr>
          <p:cNvPr id="3" name="footer">
            <a:extLst xmlns:a="http://schemas.openxmlformats.org/drawingml/2006/main">
              <a:ext uri="{FF2B5EF4-FFF2-40B4-BE49-F238E27FC236}">
                <a16:creationId xmlns:a16="http://schemas.microsoft.com/office/drawing/2014/main" id="{0F11D7DC-6F75-4B2E-815B-EAE91FF7705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4A2C42A5-8E94-4C66-BB4A-FAE7184354D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193</a:t>
            </a:r>
          </a:p>
        </p:txBody>
      </p:sp>
    </p:spTree>
    <p:extLst>
      <p:ext uri="{BB962C8B-B14F-4D97-AF65-F5344CB8AC3E}">
        <p14:creationId xmlns:p14="http://schemas.microsoft.com/office/powerpoint/2010/main" val="1417465956"/>
      </p:ext>
    </p:extLst>
  </p:cSld>
</p:sld>
</file>

<file path=ppt/slides/slide1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2A5889B-58B9-4844-9971-97130AE0977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7F444521-00C8-4C5A-8E23-98C34D36A456}"/>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VABOMERE (meropenem-vaborbactam) U.S. prescribing information; reviewed September 14, 2026. DailyMed label .</a:t>
            </a:r>
          </a:p>
        </p:txBody>
      </p:sp>
      <p:sp>
        <p:nvSpPr>
          <p:cNvPr id="3" name="footer">
            <a:extLst xmlns:a="http://schemas.openxmlformats.org/drawingml/2006/main">
              <a:ext uri="{FF2B5EF4-FFF2-40B4-BE49-F238E27FC236}">
                <a16:creationId xmlns:a16="http://schemas.microsoft.com/office/drawing/2014/main" id="{E52B3474-7608-4AE8-89C9-37A7BFD01E1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A8A1E937-AA29-4D6A-B9B0-B69B3278D61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194</a:t>
            </a:r>
          </a:p>
        </p:txBody>
      </p:sp>
    </p:spTree>
    <p:extLst>
      <p:ext uri="{BB962C8B-B14F-4D97-AF65-F5344CB8AC3E}">
        <p14:creationId xmlns:p14="http://schemas.microsoft.com/office/powerpoint/2010/main" val="1017586752"/>
      </p:ext>
    </p:extLst>
  </p:cSld>
</p:sld>
</file>

<file path=ppt/slides/slide1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7FD164F-1B05-4C8F-8EB5-BE3A8905F15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4542702E-C062-4424-9655-41A7B3984785}"/>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RECARBRIO (imipenem-cilastatin-relebactam) U.S. prescribing information; reviewed September 14, 2026. DailyMed label .</a:t>
            </a:r>
          </a:p>
        </p:txBody>
      </p:sp>
      <p:sp>
        <p:nvSpPr>
          <p:cNvPr id="3" name="footer">
            <a:extLst xmlns:a="http://schemas.openxmlformats.org/drawingml/2006/main">
              <a:ext uri="{FF2B5EF4-FFF2-40B4-BE49-F238E27FC236}">
                <a16:creationId xmlns:a16="http://schemas.microsoft.com/office/drawing/2014/main" id="{92B9B992-1E54-4A25-95D3-BA0345D649C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8862CBDA-CB1D-470F-A270-4FEE39E5D18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195</a:t>
            </a:r>
          </a:p>
        </p:txBody>
      </p:sp>
    </p:spTree>
    <p:extLst>
      <p:ext uri="{BB962C8B-B14F-4D97-AF65-F5344CB8AC3E}">
        <p14:creationId xmlns:p14="http://schemas.microsoft.com/office/powerpoint/2010/main" val="918042300"/>
      </p:ext>
    </p:extLst>
  </p:cSld>
</p:sld>
</file>

<file path=ppt/slides/slide1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9508B4F-50B9-4F02-BBA8-B34CF146CE7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2CA7D8FC-BD6C-4D59-8925-5DE40FDCF49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XACDURO (sulbactam-durlobactam) U.S. prescribing information; reviewed September 14, 2026. DailyMed label .</a:t>
            </a:r>
          </a:p>
        </p:txBody>
      </p:sp>
      <p:sp>
        <p:nvSpPr>
          <p:cNvPr id="3" name="footer">
            <a:extLst xmlns:a="http://schemas.openxmlformats.org/drawingml/2006/main">
              <a:ext uri="{FF2B5EF4-FFF2-40B4-BE49-F238E27FC236}">
                <a16:creationId xmlns:a16="http://schemas.microsoft.com/office/drawing/2014/main" id="{B201AC2B-6C11-425D-835E-A7B68AA4040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7D9BA356-9ABD-4277-BAC2-D784A24DD30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196</a:t>
            </a:r>
          </a:p>
        </p:txBody>
      </p:sp>
    </p:spTree>
    <p:extLst>
      <p:ext uri="{BB962C8B-B14F-4D97-AF65-F5344CB8AC3E}">
        <p14:creationId xmlns:p14="http://schemas.microsoft.com/office/powerpoint/2010/main" val="1098599574"/>
      </p:ext>
    </p:extLst>
  </p:cSld>
</p:sld>
</file>

<file path=ppt/slides/slide19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688F889-B897-47B5-B3CD-566EB6980E5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12F85C3E-7D7F-471D-87E6-CB5685FE2A79}"/>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Chaudhry SB, Veve MP, Wagner JL. Cephalosporins: A Focus on Side Chains and Beta-Lactam Cross-Reactivity. Pharmacy (Basel). 2019;7(3):103. Published July 29, 2019. doi:10.3390/pharmacy7030103. PubMed .</a:t>
            </a:r>
          </a:p>
        </p:txBody>
      </p:sp>
      <p:sp>
        <p:nvSpPr>
          <p:cNvPr id="3" name="footer">
            <a:extLst xmlns:a="http://schemas.openxmlformats.org/drawingml/2006/main">
              <a:ext uri="{FF2B5EF4-FFF2-40B4-BE49-F238E27FC236}">
                <a16:creationId xmlns:a16="http://schemas.microsoft.com/office/drawing/2014/main" id="{5CD1D63C-8243-45B8-8BC9-CF400EF46B7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91073D0C-0165-4684-9AD1-FF082B3A2E5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197</a:t>
            </a:r>
          </a:p>
        </p:txBody>
      </p:sp>
    </p:spTree>
    <p:extLst>
      <p:ext uri="{BB962C8B-B14F-4D97-AF65-F5344CB8AC3E}">
        <p14:creationId xmlns:p14="http://schemas.microsoft.com/office/powerpoint/2010/main" val="1681077031"/>
      </p:ext>
    </p:extLst>
  </p:cSld>
</p:sld>
</file>

<file path=ppt/slides/slide19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0B07895-C80F-438F-9607-129C96F3B1B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6732D112-C6B0-4F71-8342-F46067EB82F7}"/>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College of Pharmacists of British Columbia. Guest Post: Beta-Lactam Allergy: Benefits of De-Labeling Can Be Achieved Safely. Published February 4, 2020. Side-chain chart .</a:t>
            </a:r>
          </a:p>
        </p:txBody>
      </p:sp>
      <p:sp>
        <p:nvSpPr>
          <p:cNvPr id="3" name="footer">
            <a:extLst xmlns:a="http://schemas.openxmlformats.org/drawingml/2006/main">
              <a:ext uri="{FF2B5EF4-FFF2-40B4-BE49-F238E27FC236}">
                <a16:creationId xmlns:a16="http://schemas.microsoft.com/office/drawing/2014/main" id="{638FDD4F-2D71-48A5-BBE3-FC25351AE71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13677560-0088-4DF7-BF29-97F9F50CFCE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198</a:t>
            </a:r>
          </a:p>
        </p:txBody>
      </p:sp>
    </p:spTree>
    <p:extLst>
      <p:ext uri="{BB962C8B-B14F-4D97-AF65-F5344CB8AC3E}">
        <p14:creationId xmlns:p14="http://schemas.microsoft.com/office/powerpoint/2010/main" val="1494565368"/>
      </p:ext>
    </p:extLst>
  </p:cSld>
</p:sld>
</file>

<file path=ppt/slides/slide19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E4D592C-7917-4775-A119-56DA587E9A7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36BD827C-69B7-484E-88FC-5FF7C7701E89}"/>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Seo JW, Kim SW, Chang HH, et al. Fosfomycin as Oral Transition Therapy Versus Continued Intravenous Treatment for Complicated Urinary Tract Infections Caused by Extended-Spectrum Beta-Lactamase-Producing Enterobacteriaceae: A Randomized Controlled Trial. Clin Infect Dis. Published online June 18, 2026. doi:10.1093/cid/ciag345. PubMed .</a:t>
            </a:r>
          </a:p>
        </p:txBody>
      </p:sp>
      <p:sp>
        <p:nvSpPr>
          <p:cNvPr id="3" name="footer">
            <a:extLst xmlns:a="http://schemas.openxmlformats.org/drawingml/2006/main">
              <a:ext uri="{FF2B5EF4-FFF2-40B4-BE49-F238E27FC236}">
                <a16:creationId xmlns:a16="http://schemas.microsoft.com/office/drawing/2014/main" id="{E244EBB2-4A8A-4341-9513-7CCBDC3F4C1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FF34F6C3-088C-41FC-8618-9D7529ECFC5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199</a:t>
            </a:r>
          </a:p>
        </p:txBody>
      </p:sp>
    </p:spTree>
    <p:extLst>
      <p:ext uri="{BB962C8B-B14F-4D97-AF65-F5344CB8AC3E}">
        <p14:creationId xmlns:p14="http://schemas.microsoft.com/office/powerpoint/2010/main" val="1323166951"/>
      </p:ext>
    </p:extLst>
  </p:cSld>
</p:sld>
</file>

<file path=ppt/slides/slide20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7AEDEFD-720A-4DE9-AA30-5A6D1C6CEE0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CE500F60-8101-49CA-B2E2-2B3EA821943C}"/>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Heil EL, Bork JT, Abbo LM, et al. Optimizing the Management of Uncomplicated Gram-Negative Bloodstream Infections: Consensus Guidance Using a Modified Delphi Process. Open Forum Infect Dis. 2021;8(10):ofab434. Published October 11, 2021. doi:10.1093/ofid/ofab434. Open-access article .</a:t>
            </a:r>
          </a:p>
        </p:txBody>
      </p:sp>
      <p:sp>
        <p:nvSpPr>
          <p:cNvPr id="3" name="footer">
            <a:extLst xmlns:a="http://schemas.openxmlformats.org/drawingml/2006/main">
              <a:ext uri="{FF2B5EF4-FFF2-40B4-BE49-F238E27FC236}">
                <a16:creationId xmlns:a16="http://schemas.microsoft.com/office/drawing/2014/main" id="{CC1A247E-0A55-4F31-B773-922FBD8EE4F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13E0EC32-1DC4-48F0-B615-42C2D95DF4C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200</a:t>
            </a:r>
          </a:p>
        </p:txBody>
      </p:sp>
    </p:spTree>
    <p:extLst>
      <p:ext uri="{BB962C8B-B14F-4D97-AF65-F5344CB8AC3E}">
        <p14:creationId xmlns:p14="http://schemas.microsoft.com/office/powerpoint/2010/main" val="477285655"/>
      </p:ext>
    </p:extLst>
  </p:cSld>
</p:sld>
</file>

<file path=ppt/slides/slide20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46727FD-ADF1-4149-80F1-F3EB8D68328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28D0BD6A-821F-4DEF-9A5E-E9D9F0938040}"/>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Nelson Z, Coombs G, Drekonja D, et al. Guidelines for the Prevention, Diagnosis, and Management of Urinary Tract Infections in Pediatrics and Adults: A WikiGuidelines Group Consensus Statement. JAMA Netw Open. 2024;7(11):e2444495. Published November 4, 2024. doi:10.1001/jamanetworkopen.2024.44495. PubMed .</a:t>
            </a:r>
          </a:p>
        </p:txBody>
      </p:sp>
      <p:sp>
        <p:nvSpPr>
          <p:cNvPr id="3" name="footer">
            <a:extLst xmlns:a="http://schemas.openxmlformats.org/drawingml/2006/main">
              <a:ext uri="{FF2B5EF4-FFF2-40B4-BE49-F238E27FC236}">
                <a16:creationId xmlns:a16="http://schemas.microsoft.com/office/drawing/2014/main" id="{3E534B15-1DE5-4080-A16A-4F7ADAD1CD5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45B0B320-3BFB-4664-98D8-1AF68EC9069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201</a:t>
            </a:r>
          </a:p>
        </p:txBody>
      </p:sp>
    </p:spTree>
    <p:extLst>
      <p:ext uri="{BB962C8B-B14F-4D97-AF65-F5344CB8AC3E}">
        <p14:creationId xmlns:p14="http://schemas.microsoft.com/office/powerpoint/2010/main" val="1907544645"/>
      </p:ext>
    </p:extLst>
  </p:cSld>
</p:sld>
</file>

<file path=ppt/slides/slide20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9841AA4-F1EB-475D-9CEA-07178C64D2B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C7045467-7D2C-4051-9BE5-B195A9C66F74}"/>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Fosfomycin tromethamine granules for oral solution, U.S. prescribing information. Current label reviewed September 14, 2026. DailyMed label .</a:t>
            </a:r>
          </a:p>
        </p:txBody>
      </p:sp>
      <p:sp>
        <p:nvSpPr>
          <p:cNvPr id="3" name="footer">
            <a:extLst xmlns:a="http://schemas.openxmlformats.org/drawingml/2006/main">
              <a:ext uri="{FF2B5EF4-FFF2-40B4-BE49-F238E27FC236}">
                <a16:creationId xmlns:a16="http://schemas.microsoft.com/office/drawing/2014/main" id="{7535845A-21C3-4FF5-88A3-B7CAB140298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9FF600B3-EDA6-4B20-A734-1871DC2DA3B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202</a:t>
            </a:r>
          </a:p>
        </p:txBody>
      </p:sp>
    </p:spTree>
    <p:extLst>
      <p:ext uri="{BB962C8B-B14F-4D97-AF65-F5344CB8AC3E}">
        <p14:creationId xmlns:p14="http://schemas.microsoft.com/office/powerpoint/2010/main" val="891718065"/>
      </p:ext>
    </p:extLst>
  </p:cSld>
</p:sld>
</file>

<file path=ppt/slides/slide20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52ECABC-3273-47C1-B636-66DC233846A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B02365E5-0398-45B8-91C4-C8DC0A8B23BF}"/>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Northwestern Medicine Antimicrobial Stewardship Program. Beta-Lactam Cross-Reactivity Side-Chain Chart. Accessed September 27, 2026. Northwestern Medicine chart .</a:t>
            </a:r>
          </a:p>
        </p:txBody>
      </p:sp>
      <p:sp>
        <p:nvSpPr>
          <p:cNvPr id="3" name="footer">
            <a:extLst xmlns:a="http://schemas.openxmlformats.org/drawingml/2006/main">
              <a:ext uri="{FF2B5EF4-FFF2-40B4-BE49-F238E27FC236}">
                <a16:creationId xmlns:a16="http://schemas.microsoft.com/office/drawing/2014/main" id="{96FD41E5-8983-42D6-8979-F5EAC2DD3AA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94CAD8E0-CD03-418E-BFC6-D5E81E6341E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203</a:t>
            </a:r>
          </a:p>
        </p:txBody>
      </p:sp>
    </p:spTree>
    <p:extLst>
      <p:ext uri="{BB962C8B-B14F-4D97-AF65-F5344CB8AC3E}">
        <p14:creationId xmlns:p14="http://schemas.microsoft.com/office/powerpoint/2010/main" val="17924091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2026-10-28T18:28:00.1030000Z</dcterms:created>
  <dcterms:modified xsi:type="dcterms:W3CDTF">2026-10-28T18:28:00.1030000Z</dcterms:modified>
</coreProperties>
</file>