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0bf2a1806a4fa5" /><Relationship Type="http://schemas.openxmlformats.org/officeDocument/2006/relationships/extended-properties" Target="/docProps/app.xml" Id="R989c0f0083b54525" /><Relationship Type="http://schemas.openxmlformats.org/officeDocument/2006/relationships/officeDocument" Target="/ppt/presentation.xml" Id="Ra7e6572debb34705" /></Relationships>
</file>

<file path=ppt/presentation.xml><?xml version="1.0" encoding="utf-8"?>
<p:presentation xmlns:p="http://schemas.openxmlformats.org/presentationml/2006/main">
  <p:sldMasterIdLst>
    <p:sldMasterId xmlns:r="http://schemas.openxmlformats.org/officeDocument/2006/relationships" id="2147483648" r:id="Rf648484aaf224bed"/>
  </p:sldMasterIdLst>
  <p:notesMasterIdLst>
    <p:notesMasterId xmlns:r="http://schemas.openxmlformats.org/officeDocument/2006/relationships" r:id="Rcbbb14d5feea4a03"/>
  </p:notesMasterIdLst>
  <p:sldIdLst>
    <p:sldId xmlns:r="http://schemas.openxmlformats.org/officeDocument/2006/relationships" id="256" r:id="R768a36a5abfa44f0"/>
    <p:sldId xmlns:r="http://schemas.openxmlformats.org/officeDocument/2006/relationships" id="257" r:id="R2fccb543fa56454f"/>
    <p:sldId xmlns:r="http://schemas.openxmlformats.org/officeDocument/2006/relationships" id="258" r:id="R7f2f262671e44b3f"/>
    <p:sldId xmlns:r="http://schemas.openxmlformats.org/officeDocument/2006/relationships" id="259" r:id="Re4004bba04f4497a"/>
    <p:sldId xmlns:r="http://schemas.openxmlformats.org/officeDocument/2006/relationships" id="260" r:id="R0358a8ae46eb4e63"/>
    <p:sldId xmlns:r="http://schemas.openxmlformats.org/officeDocument/2006/relationships" id="261" r:id="R4666507fa0c149c2"/>
    <p:sldId xmlns:r="http://schemas.openxmlformats.org/officeDocument/2006/relationships" id="262" r:id="R5231fe66db494c45"/>
    <p:sldId xmlns:r="http://schemas.openxmlformats.org/officeDocument/2006/relationships" id="263" r:id="Ra1aeafe7995240fd"/>
    <p:sldId xmlns:r="http://schemas.openxmlformats.org/officeDocument/2006/relationships" id="264" r:id="Rb50ea03790e74407"/>
    <p:sldId xmlns:r="http://schemas.openxmlformats.org/officeDocument/2006/relationships" id="265" r:id="R17f88ab74f0a4223"/>
    <p:sldId xmlns:r="http://schemas.openxmlformats.org/officeDocument/2006/relationships" id="266" r:id="R95e6936d1bc84f77"/>
    <p:sldId xmlns:r="http://schemas.openxmlformats.org/officeDocument/2006/relationships" id="267" r:id="R3fe8ae29fc414923"/>
    <p:sldId xmlns:r="http://schemas.openxmlformats.org/officeDocument/2006/relationships" id="268" r:id="R381205d10a274100"/>
    <p:sldId xmlns:r="http://schemas.openxmlformats.org/officeDocument/2006/relationships" id="269" r:id="R9bbb2c2656db4a4f"/>
    <p:sldId xmlns:r="http://schemas.openxmlformats.org/officeDocument/2006/relationships" id="270" r:id="R4795741a820949ff"/>
    <p:sldId xmlns:r="http://schemas.openxmlformats.org/officeDocument/2006/relationships" id="271" r:id="R9c19bc2e7a59466a"/>
    <p:sldId xmlns:r="http://schemas.openxmlformats.org/officeDocument/2006/relationships" id="272" r:id="R5d1d26f4db0b466e"/>
    <p:sldId xmlns:r="http://schemas.openxmlformats.org/officeDocument/2006/relationships" id="273" r:id="R0fa316868c5b4cd4"/>
    <p:sldId xmlns:r="http://schemas.openxmlformats.org/officeDocument/2006/relationships" id="274" r:id="R5a55813da1b74420"/>
    <p:sldId xmlns:r="http://schemas.openxmlformats.org/officeDocument/2006/relationships" id="275" r:id="R8221646d55a143fe"/>
    <p:sldId xmlns:r="http://schemas.openxmlformats.org/officeDocument/2006/relationships" id="276" r:id="Rc15065a987ad4a41"/>
    <p:sldId xmlns:r="http://schemas.openxmlformats.org/officeDocument/2006/relationships" id="277" r:id="R1359613824e34b31"/>
    <p:sldId xmlns:r="http://schemas.openxmlformats.org/officeDocument/2006/relationships" id="278" r:id="Rfe85201d4c7543f2"/>
    <p:sldId xmlns:r="http://schemas.openxmlformats.org/officeDocument/2006/relationships" id="279" r:id="Rfa461bb2f0d44c8b"/>
    <p:sldId xmlns:r="http://schemas.openxmlformats.org/officeDocument/2006/relationships" id="280" r:id="Rc4627468afb74740"/>
    <p:sldId xmlns:r="http://schemas.openxmlformats.org/officeDocument/2006/relationships" id="281" r:id="Rfa171617fe4b4642"/>
    <p:sldId xmlns:r="http://schemas.openxmlformats.org/officeDocument/2006/relationships" id="282" r:id="Rc3a38ed146cc4922"/>
    <p:sldId xmlns:r="http://schemas.openxmlformats.org/officeDocument/2006/relationships" id="283" r:id="Reea148afe8be46c7"/>
    <p:sldId xmlns:r="http://schemas.openxmlformats.org/officeDocument/2006/relationships" id="284" r:id="R52917f3506194a6f"/>
    <p:sldId xmlns:r="http://schemas.openxmlformats.org/officeDocument/2006/relationships" id="285" r:id="Raf9583beff614156"/>
    <p:sldId xmlns:r="http://schemas.openxmlformats.org/officeDocument/2006/relationships" id="286" r:id="Ra6ef66e9790e4eb3"/>
    <p:sldId xmlns:r="http://schemas.openxmlformats.org/officeDocument/2006/relationships" id="287" r:id="Re253cf66aa3a42a9"/>
    <p:sldId xmlns:r="http://schemas.openxmlformats.org/officeDocument/2006/relationships" id="288" r:id="Rd8a179099f5a434c"/>
    <p:sldId xmlns:r="http://schemas.openxmlformats.org/officeDocument/2006/relationships" id="289" r:id="R2964a19c34154672"/>
    <p:sldId xmlns:r="http://schemas.openxmlformats.org/officeDocument/2006/relationships" id="290" r:id="R83157a9b180a4311"/>
    <p:sldId xmlns:r="http://schemas.openxmlformats.org/officeDocument/2006/relationships" id="291" r:id="Re8eeb5d3cd13463c"/>
    <p:sldId xmlns:r="http://schemas.openxmlformats.org/officeDocument/2006/relationships" id="292" r:id="R92376c664c7d4ee0"/>
    <p:sldId xmlns:r="http://schemas.openxmlformats.org/officeDocument/2006/relationships" id="293" r:id="Rd2e6135337a54968"/>
    <p:sldId xmlns:r="http://schemas.openxmlformats.org/officeDocument/2006/relationships" id="294" r:id="R5b9aad8acd0c480a"/>
    <p:sldId xmlns:r="http://schemas.openxmlformats.org/officeDocument/2006/relationships" id="295" r:id="Rf214a12355e743cf"/>
    <p:sldId xmlns:r="http://schemas.openxmlformats.org/officeDocument/2006/relationships" id="296" r:id="Rd1ab33a8df3645da"/>
    <p:sldId xmlns:r="http://schemas.openxmlformats.org/officeDocument/2006/relationships" id="297" r:id="Re65d8ca2cd1944a1"/>
    <p:sldId xmlns:r="http://schemas.openxmlformats.org/officeDocument/2006/relationships" id="298" r:id="Rc0acd46e38a94492"/>
    <p:sldId xmlns:r="http://schemas.openxmlformats.org/officeDocument/2006/relationships" id="299" r:id="R43e67d8d60b945e7"/>
    <p:sldId xmlns:r="http://schemas.openxmlformats.org/officeDocument/2006/relationships" id="300" r:id="R7cd06606c1a04496"/>
    <p:sldId xmlns:r="http://schemas.openxmlformats.org/officeDocument/2006/relationships" id="301" r:id="R790f63bdc2e54bdd"/>
    <p:sldId xmlns:r="http://schemas.openxmlformats.org/officeDocument/2006/relationships" id="302" r:id="R2ec08d303bb043e5"/>
    <p:sldId xmlns:r="http://schemas.openxmlformats.org/officeDocument/2006/relationships" id="303" r:id="Rbd100a315a854516"/>
    <p:sldId xmlns:r="http://schemas.openxmlformats.org/officeDocument/2006/relationships" id="304" r:id="R319c3cd78742446e"/>
    <p:sldId xmlns:r="http://schemas.openxmlformats.org/officeDocument/2006/relationships" id="305" r:id="R8e77d630bfb84473"/>
    <p:sldId xmlns:r="http://schemas.openxmlformats.org/officeDocument/2006/relationships" id="306" r:id="R02b32bc797fc458e"/>
    <p:sldId xmlns:r="http://schemas.openxmlformats.org/officeDocument/2006/relationships" id="307" r:id="R8a5688e44d214e1a"/>
    <p:sldId xmlns:r="http://schemas.openxmlformats.org/officeDocument/2006/relationships" id="308" r:id="R292fa104e8ed4734"/>
    <p:sldId xmlns:r="http://schemas.openxmlformats.org/officeDocument/2006/relationships" id="309" r:id="R2fc8c6c117924d6f"/>
    <p:sldId xmlns:r="http://schemas.openxmlformats.org/officeDocument/2006/relationships" id="310" r:id="R3e10def7ca854ac5"/>
    <p:sldId xmlns:r="http://schemas.openxmlformats.org/officeDocument/2006/relationships" id="311" r:id="Re4766eab90ee44d5"/>
    <p:sldId xmlns:r="http://schemas.openxmlformats.org/officeDocument/2006/relationships" id="312" r:id="R392002ebdc3442b1"/>
    <p:sldId xmlns:r="http://schemas.openxmlformats.org/officeDocument/2006/relationships" id="313" r:id="R8e0020136cc247dc"/>
    <p:sldId xmlns:r="http://schemas.openxmlformats.org/officeDocument/2006/relationships" id="314" r:id="R8bcd00d4027e471e"/>
    <p:sldId xmlns:r="http://schemas.openxmlformats.org/officeDocument/2006/relationships" id="315" r:id="Rc42da5841ecc4b69"/>
    <p:sldId xmlns:r="http://schemas.openxmlformats.org/officeDocument/2006/relationships" id="316" r:id="R73f150754fce4580"/>
    <p:sldId xmlns:r="http://schemas.openxmlformats.org/officeDocument/2006/relationships" id="317" r:id="Rce8124db08f54fdb"/>
    <p:sldId xmlns:r="http://schemas.openxmlformats.org/officeDocument/2006/relationships" id="318" r:id="R0b183f1178b84ba8"/>
    <p:sldId xmlns:r="http://schemas.openxmlformats.org/officeDocument/2006/relationships" id="319" r:id="R83b5e24e294849cb"/>
    <p:sldId xmlns:r="http://schemas.openxmlformats.org/officeDocument/2006/relationships" id="320" r:id="R7fd380df3eef491b"/>
    <p:sldId xmlns:r="http://schemas.openxmlformats.org/officeDocument/2006/relationships" id="321" r:id="R6805206ce9b24e45"/>
    <p:sldId xmlns:r="http://schemas.openxmlformats.org/officeDocument/2006/relationships" id="322" r:id="Rcbd4d7c03b9d481b"/>
    <p:sldId xmlns:r="http://schemas.openxmlformats.org/officeDocument/2006/relationships" id="323" r:id="Rfd90777491be4d64"/>
    <p:sldId xmlns:r="http://schemas.openxmlformats.org/officeDocument/2006/relationships" id="324" r:id="Rad036f0ec6db451c"/>
    <p:sldId xmlns:r="http://schemas.openxmlformats.org/officeDocument/2006/relationships" id="325" r:id="R039f2391d46244c8"/>
    <p:sldId xmlns:r="http://schemas.openxmlformats.org/officeDocument/2006/relationships" id="326" r:id="Re1995ccfa8044861"/>
    <p:sldId xmlns:r="http://schemas.openxmlformats.org/officeDocument/2006/relationships" id="327" r:id="Ra4343ac996a44899"/>
    <p:sldId xmlns:r="http://schemas.openxmlformats.org/officeDocument/2006/relationships" id="328" r:id="R785932c560f74308"/>
    <p:sldId xmlns:r="http://schemas.openxmlformats.org/officeDocument/2006/relationships" id="329" r:id="R530d2d46f3db440f"/>
    <p:sldId xmlns:r="http://schemas.openxmlformats.org/officeDocument/2006/relationships" id="330" r:id="R098b090055ee4a75"/>
    <p:sldId xmlns:r="http://schemas.openxmlformats.org/officeDocument/2006/relationships" id="331" r:id="Ref893b5036684dfc"/>
    <p:sldId xmlns:r="http://schemas.openxmlformats.org/officeDocument/2006/relationships" id="332" r:id="R321582f44a4847dd"/>
    <p:sldId xmlns:r="http://schemas.openxmlformats.org/officeDocument/2006/relationships" id="333" r:id="Re02a0901006044c5"/>
    <p:sldId xmlns:r="http://schemas.openxmlformats.org/officeDocument/2006/relationships" id="334" r:id="Ra62ebf43f0824125"/>
    <p:sldId xmlns:r="http://schemas.openxmlformats.org/officeDocument/2006/relationships" id="335" r:id="R57b4e0e96f3043a9"/>
    <p:sldId xmlns:r="http://schemas.openxmlformats.org/officeDocument/2006/relationships" id="336" r:id="Rbd55a17e981e48b7"/>
    <p:sldId xmlns:r="http://schemas.openxmlformats.org/officeDocument/2006/relationships" id="337" r:id="Rf401c603b9da4af4"/>
    <p:sldId xmlns:r="http://schemas.openxmlformats.org/officeDocument/2006/relationships" id="338" r:id="R35edaffa83f14ed6"/>
    <p:sldId xmlns:r="http://schemas.openxmlformats.org/officeDocument/2006/relationships" id="339" r:id="Rb662a1c4b1ac4eb5"/>
    <p:sldId xmlns:r="http://schemas.openxmlformats.org/officeDocument/2006/relationships" id="340" r:id="R12deb15feeeb4682"/>
    <p:sldId xmlns:r="http://schemas.openxmlformats.org/officeDocument/2006/relationships" id="341" r:id="R36d77f135ec24c2d"/>
    <p:sldId xmlns:r="http://schemas.openxmlformats.org/officeDocument/2006/relationships" id="342" r:id="Reaed9396765248ad"/>
    <p:sldId xmlns:r="http://schemas.openxmlformats.org/officeDocument/2006/relationships" id="343" r:id="Rd058840c72c3487a"/>
    <p:sldId xmlns:r="http://schemas.openxmlformats.org/officeDocument/2006/relationships" id="344" r:id="Ree4135784feb4b3b"/>
    <p:sldId xmlns:r="http://schemas.openxmlformats.org/officeDocument/2006/relationships" id="345" r:id="Raea757fa323240af"/>
    <p:sldId xmlns:r="http://schemas.openxmlformats.org/officeDocument/2006/relationships" id="346" r:id="R183f5b0bcf704eb8"/>
    <p:sldId xmlns:r="http://schemas.openxmlformats.org/officeDocument/2006/relationships" id="347" r:id="R4707472e74c14832"/>
    <p:sldId xmlns:r="http://schemas.openxmlformats.org/officeDocument/2006/relationships" id="348" r:id="Rc6c43358816949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6256775e7945ea" /><Relationship Type="http://schemas.openxmlformats.org/officeDocument/2006/relationships/slideMaster" Target="/ppt/slideMasters/slideMaster1.xml" Id="Rf648484aaf224bed" /><Relationship Type="http://schemas.openxmlformats.org/officeDocument/2006/relationships/notesMaster" Target="/ppt/notesMasters/notesMaster1.xml" Id="Rcbbb14d5feea4a03" /><Relationship Type="http://schemas.openxmlformats.org/officeDocument/2006/relationships/presProps" Target="/ppt/presProps.xml" Id="R5d632fb041bc4ff8" /><Relationship Type="http://schemas.openxmlformats.org/officeDocument/2006/relationships/tableStyles" Target="/ppt/tableStyles.xml" Id="R58298bc7f3ff49a4" /><Relationship Type="http://schemas.openxmlformats.org/officeDocument/2006/relationships/slide" Target="/ppt/slides/slide1.xml" Id="R768a36a5abfa44f0" /><Relationship Type="http://schemas.openxmlformats.org/officeDocument/2006/relationships/slide" Target="/ppt/slides/slide2.xml" Id="R2fccb543fa56454f" /><Relationship Type="http://schemas.openxmlformats.org/officeDocument/2006/relationships/slide" Target="/ppt/slides/slide3.xml" Id="R7f2f262671e44b3f" /><Relationship Type="http://schemas.openxmlformats.org/officeDocument/2006/relationships/slide" Target="/ppt/slides/slide4.xml" Id="Re4004bba04f4497a" /><Relationship Type="http://schemas.openxmlformats.org/officeDocument/2006/relationships/slide" Target="/ppt/slides/slide5.xml" Id="R0358a8ae46eb4e63" /><Relationship Type="http://schemas.openxmlformats.org/officeDocument/2006/relationships/slide" Target="/ppt/slides/slide6.xml" Id="R4666507fa0c149c2" /><Relationship Type="http://schemas.openxmlformats.org/officeDocument/2006/relationships/slide" Target="/ppt/slides/slide7.xml" Id="R5231fe66db494c45" /><Relationship Type="http://schemas.openxmlformats.org/officeDocument/2006/relationships/slide" Target="/ppt/slides/slide8.xml" Id="Ra1aeafe7995240fd" /><Relationship Type="http://schemas.openxmlformats.org/officeDocument/2006/relationships/slide" Target="/ppt/slides/slide9.xml" Id="Rb50ea03790e74407" /><Relationship Type="http://schemas.openxmlformats.org/officeDocument/2006/relationships/slide" Target="/ppt/slides/slide10.xml" Id="R17f88ab74f0a4223" /><Relationship Type="http://schemas.openxmlformats.org/officeDocument/2006/relationships/slide" Target="/ppt/slides/slide11.xml" Id="R95e6936d1bc84f77" /><Relationship Type="http://schemas.openxmlformats.org/officeDocument/2006/relationships/slide" Target="/ppt/slides/slide12.xml" Id="R3fe8ae29fc414923" /><Relationship Type="http://schemas.openxmlformats.org/officeDocument/2006/relationships/slide" Target="/ppt/slides/slide13.xml" Id="R381205d10a274100" /><Relationship Type="http://schemas.openxmlformats.org/officeDocument/2006/relationships/slide" Target="/ppt/slides/slide14.xml" Id="R9bbb2c2656db4a4f" /><Relationship Type="http://schemas.openxmlformats.org/officeDocument/2006/relationships/slide" Target="/ppt/slides/slide15.xml" Id="R4795741a820949ff" /><Relationship Type="http://schemas.openxmlformats.org/officeDocument/2006/relationships/slide" Target="/ppt/slides/slide16.xml" Id="R9c19bc2e7a59466a" /><Relationship Type="http://schemas.openxmlformats.org/officeDocument/2006/relationships/slide" Target="/ppt/slides/slide17.xml" Id="R5d1d26f4db0b466e" /><Relationship Type="http://schemas.openxmlformats.org/officeDocument/2006/relationships/slide" Target="/ppt/slides/slide18.xml" Id="R0fa316868c5b4cd4" /><Relationship Type="http://schemas.openxmlformats.org/officeDocument/2006/relationships/slide" Target="/ppt/slides/slide19.xml" Id="R5a55813da1b74420" /><Relationship Type="http://schemas.openxmlformats.org/officeDocument/2006/relationships/slide" Target="/ppt/slides/slide20.xml" Id="R8221646d55a143fe" /><Relationship Type="http://schemas.openxmlformats.org/officeDocument/2006/relationships/slide" Target="/ppt/slides/slide21.xml" Id="Rc15065a987ad4a41" /><Relationship Type="http://schemas.openxmlformats.org/officeDocument/2006/relationships/slide" Target="/ppt/slides/slide22.xml" Id="R1359613824e34b31" /><Relationship Type="http://schemas.openxmlformats.org/officeDocument/2006/relationships/slide" Target="/ppt/slides/slide23.xml" Id="Rfe85201d4c7543f2" /><Relationship Type="http://schemas.openxmlformats.org/officeDocument/2006/relationships/slide" Target="/ppt/slides/slide24.xml" Id="Rfa461bb2f0d44c8b" /><Relationship Type="http://schemas.openxmlformats.org/officeDocument/2006/relationships/slide" Target="/ppt/slides/slide25.xml" Id="Rc4627468afb74740" /><Relationship Type="http://schemas.openxmlformats.org/officeDocument/2006/relationships/slide" Target="/ppt/slides/slide26.xml" Id="Rfa171617fe4b4642" /><Relationship Type="http://schemas.openxmlformats.org/officeDocument/2006/relationships/slide" Target="/ppt/slides/slide27.xml" Id="Rc3a38ed146cc4922" /><Relationship Type="http://schemas.openxmlformats.org/officeDocument/2006/relationships/slide" Target="/ppt/slides/slide28.xml" Id="Reea148afe8be46c7" /><Relationship Type="http://schemas.openxmlformats.org/officeDocument/2006/relationships/slide" Target="/ppt/slides/slide29.xml" Id="R52917f3506194a6f" /><Relationship Type="http://schemas.openxmlformats.org/officeDocument/2006/relationships/slide" Target="/ppt/slides/slide30.xml" Id="Raf9583beff614156" /><Relationship Type="http://schemas.openxmlformats.org/officeDocument/2006/relationships/slide" Target="/ppt/slides/slide31.xml" Id="Ra6ef66e9790e4eb3" /><Relationship Type="http://schemas.openxmlformats.org/officeDocument/2006/relationships/slide" Target="/ppt/slides/slide32.xml" Id="Re253cf66aa3a42a9" /><Relationship Type="http://schemas.openxmlformats.org/officeDocument/2006/relationships/slide" Target="/ppt/slides/slide33.xml" Id="Rd8a179099f5a434c" /><Relationship Type="http://schemas.openxmlformats.org/officeDocument/2006/relationships/slide" Target="/ppt/slides/slide34.xml" Id="R2964a19c34154672" /><Relationship Type="http://schemas.openxmlformats.org/officeDocument/2006/relationships/slide" Target="/ppt/slides/slide35.xml" Id="R83157a9b180a4311" /><Relationship Type="http://schemas.openxmlformats.org/officeDocument/2006/relationships/slide" Target="/ppt/slides/slide36.xml" Id="Re8eeb5d3cd13463c" /><Relationship Type="http://schemas.openxmlformats.org/officeDocument/2006/relationships/slide" Target="/ppt/slides/slide37.xml" Id="R92376c664c7d4ee0" /><Relationship Type="http://schemas.openxmlformats.org/officeDocument/2006/relationships/slide" Target="/ppt/slides/slide38.xml" Id="Rd2e6135337a54968" /><Relationship Type="http://schemas.openxmlformats.org/officeDocument/2006/relationships/slide" Target="/ppt/slides/slide39.xml" Id="R5b9aad8acd0c480a" /><Relationship Type="http://schemas.openxmlformats.org/officeDocument/2006/relationships/slide" Target="/ppt/slides/slide40.xml" Id="Rf214a12355e743cf" /><Relationship Type="http://schemas.openxmlformats.org/officeDocument/2006/relationships/slide" Target="/ppt/slides/slide41.xml" Id="Rd1ab33a8df3645da" /><Relationship Type="http://schemas.openxmlformats.org/officeDocument/2006/relationships/slide" Target="/ppt/slides/slide42.xml" Id="Re65d8ca2cd1944a1" /><Relationship Type="http://schemas.openxmlformats.org/officeDocument/2006/relationships/slide" Target="/ppt/slides/slide43.xml" Id="Rc0acd46e38a94492" /><Relationship Type="http://schemas.openxmlformats.org/officeDocument/2006/relationships/slide" Target="/ppt/slides/slide44.xml" Id="R43e67d8d60b945e7" /><Relationship Type="http://schemas.openxmlformats.org/officeDocument/2006/relationships/slide" Target="/ppt/slides/slide45.xml" Id="R7cd06606c1a04496" /><Relationship Type="http://schemas.openxmlformats.org/officeDocument/2006/relationships/slide" Target="/ppt/slides/slide46.xml" Id="R790f63bdc2e54bdd" /><Relationship Type="http://schemas.openxmlformats.org/officeDocument/2006/relationships/slide" Target="/ppt/slides/slide47.xml" Id="R2ec08d303bb043e5" /><Relationship Type="http://schemas.openxmlformats.org/officeDocument/2006/relationships/slide" Target="/ppt/slides/slide48.xml" Id="Rbd100a315a854516" /><Relationship Type="http://schemas.openxmlformats.org/officeDocument/2006/relationships/slide" Target="/ppt/slides/slide49.xml" Id="R319c3cd78742446e" /><Relationship Type="http://schemas.openxmlformats.org/officeDocument/2006/relationships/slide" Target="/ppt/slides/slide50.xml" Id="R8e77d630bfb84473" /><Relationship Type="http://schemas.openxmlformats.org/officeDocument/2006/relationships/slide" Target="/ppt/slides/slide51.xml" Id="R02b32bc797fc458e" /><Relationship Type="http://schemas.openxmlformats.org/officeDocument/2006/relationships/slide" Target="/ppt/slides/slide52.xml" Id="R8a5688e44d214e1a" /><Relationship Type="http://schemas.openxmlformats.org/officeDocument/2006/relationships/slide" Target="/ppt/slides/slide53.xml" Id="R292fa104e8ed4734" /><Relationship Type="http://schemas.openxmlformats.org/officeDocument/2006/relationships/slide" Target="/ppt/slides/slide54.xml" Id="R2fc8c6c117924d6f" /><Relationship Type="http://schemas.openxmlformats.org/officeDocument/2006/relationships/slide" Target="/ppt/slides/slide55.xml" Id="R3e10def7ca854ac5" /><Relationship Type="http://schemas.openxmlformats.org/officeDocument/2006/relationships/slide" Target="/ppt/slides/slide56.xml" Id="Re4766eab90ee44d5" /><Relationship Type="http://schemas.openxmlformats.org/officeDocument/2006/relationships/slide" Target="/ppt/slides/slide57.xml" Id="R392002ebdc3442b1" /><Relationship Type="http://schemas.openxmlformats.org/officeDocument/2006/relationships/slide" Target="/ppt/slides/slide58.xml" Id="R8e0020136cc247dc" /><Relationship Type="http://schemas.openxmlformats.org/officeDocument/2006/relationships/slide" Target="/ppt/slides/slide59.xml" Id="R8bcd00d4027e471e" /><Relationship Type="http://schemas.openxmlformats.org/officeDocument/2006/relationships/slide" Target="/ppt/slides/slide60.xml" Id="Rc42da5841ecc4b69" /><Relationship Type="http://schemas.openxmlformats.org/officeDocument/2006/relationships/slide" Target="/ppt/slides/slide61.xml" Id="R73f150754fce4580" /><Relationship Type="http://schemas.openxmlformats.org/officeDocument/2006/relationships/slide" Target="/ppt/slides/slide62.xml" Id="Rce8124db08f54fdb" /><Relationship Type="http://schemas.openxmlformats.org/officeDocument/2006/relationships/slide" Target="/ppt/slides/slide63.xml" Id="R0b183f1178b84ba8" /><Relationship Type="http://schemas.openxmlformats.org/officeDocument/2006/relationships/slide" Target="/ppt/slides/slide64.xml" Id="R83b5e24e294849cb" /><Relationship Type="http://schemas.openxmlformats.org/officeDocument/2006/relationships/slide" Target="/ppt/slides/slide65.xml" Id="R7fd380df3eef491b" /><Relationship Type="http://schemas.openxmlformats.org/officeDocument/2006/relationships/slide" Target="/ppt/slides/slide66.xml" Id="R6805206ce9b24e45" /><Relationship Type="http://schemas.openxmlformats.org/officeDocument/2006/relationships/slide" Target="/ppt/slides/slide67.xml" Id="Rcbd4d7c03b9d481b" /><Relationship Type="http://schemas.openxmlformats.org/officeDocument/2006/relationships/slide" Target="/ppt/slides/slide68.xml" Id="Rfd90777491be4d64" /><Relationship Type="http://schemas.openxmlformats.org/officeDocument/2006/relationships/slide" Target="/ppt/slides/slide69.xml" Id="Rad036f0ec6db451c" /><Relationship Type="http://schemas.openxmlformats.org/officeDocument/2006/relationships/slide" Target="/ppt/slides/slide70.xml" Id="R039f2391d46244c8" /><Relationship Type="http://schemas.openxmlformats.org/officeDocument/2006/relationships/slide" Target="/ppt/slides/slide71.xml" Id="Re1995ccfa8044861" /><Relationship Type="http://schemas.openxmlformats.org/officeDocument/2006/relationships/slide" Target="/ppt/slides/slide72.xml" Id="Ra4343ac996a44899" /><Relationship Type="http://schemas.openxmlformats.org/officeDocument/2006/relationships/slide" Target="/ppt/slides/slide73.xml" Id="R785932c560f74308" /><Relationship Type="http://schemas.openxmlformats.org/officeDocument/2006/relationships/slide" Target="/ppt/slides/slide74.xml" Id="R530d2d46f3db440f" /><Relationship Type="http://schemas.openxmlformats.org/officeDocument/2006/relationships/slide" Target="/ppt/slides/slide75.xml" Id="R098b090055ee4a75" /><Relationship Type="http://schemas.openxmlformats.org/officeDocument/2006/relationships/slide" Target="/ppt/slides/slide76.xml" Id="Ref893b5036684dfc" /><Relationship Type="http://schemas.openxmlformats.org/officeDocument/2006/relationships/slide" Target="/ppt/slides/slide77.xml" Id="R321582f44a4847dd" /><Relationship Type="http://schemas.openxmlformats.org/officeDocument/2006/relationships/slide" Target="/ppt/slides/slide78.xml" Id="Re02a0901006044c5" /><Relationship Type="http://schemas.openxmlformats.org/officeDocument/2006/relationships/slide" Target="/ppt/slides/slide79.xml" Id="Ra62ebf43f0824125" /><Relationship Type="http://schemas.openxmlformats.org/officeDocument/2006/relationships/slide" Target="/ppt/slides/slide80.xml" Id="R57b4e0e96f3043a9" /><Relationship Type="http://schemas.openxmlformats.org/officeDocument/2006/relationships/slide" Target="/ppt/slides/slide81.xml" Id="Rbd55a17e981e48b7" /><Relationship Type="http://schemas.openxmlformats.org/officeDocument/2006/relationships/slide" Target="/ppt/slides/slide82.xml" Id="Rf401c603b9da4af4" /><Relationship Type="http://schemas.openxmlformats.org/officeDocument/2006/relationships/slide" Target="/ppt/slides/slide83.xml" Id="R35edaffa83f14ed6" /><Relationship Type="http://schemas.openxmlformats.org/officeDocument/2006/relationships/slide" Target="/ppt/slides/slide84.xml" Id="Rb662a1c4b1ac4eb5" /><Relationship Type="http://schemas.openxmlformats.org/officeDocument/2006/relationships/slide" Target="/ppt/slides/slide85.xml" Id="R12deb15feeeb4682" /><Relationship Type="http://schemas.openxmlformats.org/officeDocument/2006/relationships/slide" Target="/ppt/slides/slide86.xml" Id="R36d77f135ec24c2d" /><Relationship Type="http://schemas.openxmlformats.org/officeDocument/2006/relationships/slide" Target="/ppt/slides/slide87.xml" Id="Reaed9396765248ad" /><Relationship Type="http://schemas.openxmlformats.org/officeDocument/2006/relationships/slide" Target="/ppt/slides/slide88.xml" Id="Rd058840c72c3487a" /><Relationship Type="http://schemas.openxmlformats.org/officeDocument/2006/relationships/slide" Target="/ppt/slides/slide89.xml" Id="Ree4135784feb4b3b" /><Relationship Type="http://schemas.openxmlformats.org/officeDocument/2006/relationships/slide" Target="/ppt/slides/slide90.xml" Id="Raea757fa323240af" /><Relationship Type="http://schemas.openxmlformats.org/officeDocument/2006/relationships/slide" Target="/ppt/slides/slide91.xml" Id="R183f5b0bcf704eb8" /><Relationship Type="http://schemas.openxmlformats.org/officeDocument/2006/relationships/slide" Target="/ppt/slides/slide92.xml" Id="R4707472e74c14832" /><Relationship Type="http://schemas.openxmlformats.org/officeDocument/2006/relationships/slide" Target="/ppt/slides/slide93.xml" Id="Rc6c43358816949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f4261de68140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13f3944d5045a6" /><Relationship Type="http://schemas.openxmlformats.org/officeDocument/2006/relationships/notesMaster" Target="/ppt/notesMasters/notesMaster1.xml" Id="R378881947e994e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be9571a6564494" /><Relationship Type="http://schemas.openxmlformats.org/officeDocument/2006/relationships/notesMaster" Target="/ppt/notesMasters/notesMaster1.xml" Id="R6e1af4d00ce54f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86bde9c1ba460f" /><Relationship Type="http://schemas.openxmlformats.org/officeDocument/2006/relationships/notesMaster" Target="/ppt/notesMasters/notesMaster1.xml" Id="Ra3bf7986de3e47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29dea4271141a0" /><Relationship Type="http://schemas.openxmlformats.org/officeDocument/2006/relationships/notesMaster" Target="/ppt/notesMasters/notesMaster1.xml" Id="Rce8508b66fb040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2e5f55dc1c4389" /><Relationship Type="http://schemas.openxmlformats.org/officeDocument/2006/relationships/notesMaster" Target="/ppt/notesMasters/notesMaster1.xml" Id="R61d97dfd0e2d46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fc9effd6c74458" /><Relationship Type="http://schemas.openxmlformats.org/officeDocument/2006/relationships/notesMaster" Target="/ppt/notesMasters/notesMaster1.xml" Id="Rd1ebca72433c42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12f5d869e04ddf" /><Relationship Type="http://schemas.openxmlformats.org/officeDocument/2006/relationships/notesMaster" Target="/ppt/notesMasters/notesMaster1.xml" Id="R9cfa9d5241d646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bfaf8a741e4c1d" /><Relationship Type="http://schemas.openxmlformats.org/officeDocument/2006/relationships/notesMaster" Target="/ppt/notesMasters/notesMaster1.xml" Id="R16e33f75c35c4d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09edb1e3cf4525" /><Relationship Type="http://schemas.openxmlformats.org/officeDocument/2006/relationships/notesMaster" Target="/ppt/notesMasters/notesMaster1.xml" Id="R866e6c781b7243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baabe3c7ed424e" /><Relationship Type="http://schemas.openxmlformats.org/officeDocument/2006/relationships/notesMaster" Target="/ppt/notesMasters/notesMaster1.xml" Id="Rcae0898f81dc40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758b4862934c27" /><Relationship Type="http://schemas.openxmlformats.org/officeDocument/2006/relationships/notesMaster" Target="/ppt/notesMasters/notesMaster1.xml" Id="R2fb9c07a282147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f84d0d480b4542" /><Relationship Type="http://schemas.openxmlformats.org/officeDocument/2006/relationships/notesMaster" Target="/ppt/notesMasters/notesMaster1.xml" Id="R8b0c15cfad034e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1edafbce0940e2" /><Relationship Type="http://schemas.openxmlformats.org/officeDocument/2006/relationships/notesMaster" Target="/ppt/notesMasters/notesMaster1.xml" Id="R16de619b4b7b4d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11e7ae39ee45dd" /><Relationship Type="http://schemas.openxmlformats.org/officeDocument/2006/relationships/notesMaster" Target="/ppt/notesMasters/notesMaster1.xml" Id="Rfa1f37994ebe43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ffc6b9843141eb" /><Relationship Type="http://schemas.openxmlformats.org/officeDocument/2006/relationships/notesMaster" Target="/ppt/notesMasters/notesMaster1.xml" Id="R1d862d3a06de4e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e7ae0ce2164cb1" /><Relationship Type="http://schemas.openxmlformats.org/officeDocument/2006/relationships/notesMaster" Target="/ppt/notesMasters/notesMaster1.xml" Id="Reb14997f12a045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c7150d43b94157" /><Relationship Type="http://schemas.openxmlformats.org/officeDocument/2006/relationships/notesMaster" Target="/ppt/notesMasters/notesMaster1.xml" Id="Rdddca215a7e745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51210014bd42e1" /><Relationship Type="http://schemas.openxmlformats.org/officeDocument/2006/relationships/notesMaster" Target="/ppt/notesMasters/notesMaster1.xml" Id="R720cf829b59b42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e152f201ab49d7" /><Relationship Type="http://schemas.openxmlformats.org/officeDocument/2006/relationships/notesMaster" Target="/ppt/notesMasters/notesMaster1.xml" Id="R39d558b514684f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2bf88182d8484a" /><Relationship Type="http://schemas.openxmlformats.org/officeDocument/2006/relationships/notesMaster" Target="/ppt/notesMasters/notesMaster1.xml" Id="Rcbecca3718ad49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1c9613d66d41da" /><Relationship Type="http://schemas.openxmlformats.org/officeDocument/2006/relationships/notesMaster" Target="/ppt/notesMasters/notesMaster1.xml" Id="R27054456880e4c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e5a590a12f4772" /><Relationship Type="http://schemas.openxmlformats.org/officeDocument/2006/relationships/notesMaster" Target="/ppt/notesMasters/notesMaster1.xml" Id="R58af7003bf6347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4cd3fef9ac4dd2" /><Relationship Type="http://schemas.openxmlformats.org/officeDocument/2006/relationships/notesMaster" Target="/ppt/notesMasters/notesMaster1.xml" Id="Re0a2a6cfd82a4a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eca920b01354c33" /><Relationship Type="http://schemas.openxmlformats.org/officeDocument/2006/relationships/notesMaster" Target="/ppt/notesMasters/notesMaster1.xml" Id="Rba06cea37d6947e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9ac486fc134f81" /><Relationship Type="http://schemas.openxmlformats.org/officeDocument/2006/relationships/notesMaster" Target="/ppt/notesMasters/notesMaster1.xml" Id="R8c605d25735e48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f6bd9d5c13e48f7" /><Relationship Type="http://schemas.openxmlformats.org/officeDocument/2006/relationships/notesMaster" Target="/ppt/notesMasters/notesMaster1.xml" Id="R3d8b7272eec74e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4b172f7f8124ae3" /><Relationship Type="http://schemas.openxmlformats.org/officeDocument/2006/relationships/notesMaster" Target="/ppt/notesMasters/notesMaster1.xml" Id="R678ba06f5f314e6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9ca24fecba04027" /><Relationship Type="http://schemas.openxmlformats.org/officeDocument/2006/relationships/notesMaster" Target="/ppt/notesMasters/notesMaster1.xml" Id="R69233864c0b1466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5dabbd776bb45f6" /><Relationship Type="http://schemas.openxmlformats.org/officeDocument/2006/relationships/notesMaster" Target="/ppt/notesMasters/notesMaster1.xml" Id="R9ee3a3c2827144f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6d7bede59d6408a" /><Relationship Type="http://schemas.openxmlformats.org/officeDocument/2006/relationships/notesMaster" Target="/ppt/notesMasters/notesMaster1.xml" Id="R9bd1c73829c947c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71b8a47605442b9" /><Relationship Type="http://schemas.openxmlformats.org/officeDocument/2006/relationships/notesMaster" Target="/ppt/notesMasters/notesMaster1.xml" Id="Rf8f3436c9f2947e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43cdc1a9bb497d" /><Relationship Type="http://schemas.openxmlformats.org/officeDocument/2006/relationships/notesMaster" Target="/ppt/notesMasters/notesMaster1.xml" Id="Rd8abdd7ef1434f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b7b7b2601d4b4b" /><Relationship Type="http://schemas.openxmlformats.org/officeDocument/2006/relationships/notesMaster" Target="/ppt/notesMasters/notesMaster1.xml" Id="Rf2a3eaa25b8d4b9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580199193b24315" /><Relationship Type="http://schemas.openxmlformats.org/officeDocument/2006/relationships/notesMaster" Target="/ppt/notesMasters/notesMaster1.xml" Id="R0204c03954b445f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ed914e2aa4b49a6" /><Relationship Type="http://schemas.openxmlformats.org/officeDocument/2006/relationships/notesMaster" Target="/ppt/notesMasters/notesMaster1.xml" Id="Rcbc0385043834f8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c0f63bbe29740e4" /><Relationship Type="http://schemas.openxmlformats.org/officeDocument/2006/relationships/notesMaster" Target="/ppt/notesMasters/notesMaster1.xml" Id="R5d95ef623e2b43c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f86fd6ba3a5464b" /><Relationship Type="http://schemas.openxmlformats.org/officeDocument/2006/relationships/notesMaster" Target="/ppt/notesMasters/notesMaster1.xml" Id="R4b99e7aa18f845c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8f73327e374cb2" /><Relationship Type="http://schemas.openxmlformats.org/officeDocument/2006/relationships/notesMaster" Target="/ppt/notesMasters/notesMaster1.xml" Id="R8db3ae32abeb451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1532450ae724e0a" /><Relationship Type="http://schemas.openxmlformats.org/officeDocument/2006/relationships/notesMaster" Target="/ppt/notesMasters/notesMaster1.xml" Id="Rf3a8f10ef5aa48b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ee3adcf01124399" /><Relationship Type="http://schemas.openxmlformats.org/officeDocument/2006/relationships/notesMaster" Target="/ppt/notesMasters/notesMaster1.xml" Id="R7eec2caa96e341e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63037496e9a496d" /><Relationship Type="http://schemas.openxmlformats.org/officeDocument/2006/relationships/notesMaster" Target="/ppt/notesMasters/notesMaster1.xml" Id="Rf2d6dc3d830d450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217bbe6e0064f1e" /><Relationship Type="http://schemas.openxmlformats.org/officeDocument/2006/relationships/notesMaster" Target="/ppt/notesMasters/notesMaster1.xml" Id="Rb026b7a1656d46f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30aa15f8cfe452b" /><Relationship Type="http://schemas.openxmlformats.org/officeDocument/2006/relationships/notesMaster" Target="/ppt/notesMasters/notesMaster1.xml" Id="R557611a8cfd04ed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042fac126594a38" /><Relationship Type="http://schemas.openxmlformats.org/officeDocument/2006/relationships/notesMaster" Target="/ppt/notesMasters/notesMaster1.xml" Id="Rd531c711364f48a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38dda84a55a413c" /><Relationship Type="http://schemas.openxmlformats.org/officeDocument/2006/relationships/notesMaster" Target="/ppt/notesMasters/notesMaster1.xml" Id="Rd21695a2878b476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f853e93ab904a75" /><Relationship Type="http://schemas.openxmlformats.org/officeDocument/2006/relationships/notesMaster" Target="/ppt/notesMasters/notesMaster1.xml" Id="R2e2aadab698e486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f5eb14fec61446b" /><Relationship Type="http://schemas.openxmlformats.org/officeDocument/2006/relationships/notesMaster" Target="/ppt/notesMasters/notesMaster1.xml" Id="R6ad270e1c2754e5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67fc36cf8584832" /><Relationship Type="http://schemas.openxmlformats.org/officeDocument/2006/relationships/notesMaster" Target="/ppt/notesMasters/notesMaster1.xml" Id="R69298a3a2e5141b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bd26688da2040de" /><Relationship Type="http://schemas.openxmlformats.org/officeDocument/2006/relationships/notesMaster" Target="/ppt/notesMasters/notesMaster1.xml" Id="Rdb8bb9bde3954e9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6bc132660544a46" /><Relationship Type="http://schemas.openxmlformats.org/officeDocument/2006/relationships/notesMaster" Target="/ppt/notesMasters/notesMaster1.xml" Id="Rfa4d3ce806aa4e9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d8aac8447b6484a" /><Relationship Type="http://schemas.openxmlformats.org/officeDocument/2006/relationships/notesMaster" Target="/ppt/notesMasters/notesMaster1.xml" Id="Rb867658c5e9c496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28827b5e21f431c" /><Relationship Type="http://schemas.openxmlformats.org/officeDocument/2006/relationships/notesMaster" Target="/ppt/notesMasters/notesMaster1.xml" Id="Rc732220c665c4bd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ee01cbc1536413f" /><Relationship Type="http://schemas.openxmlformats.org/officeDocument/2006/relationships/notesMaster" Target="/ppt/notesMasters/notesMaster1.xml" Id="R9ee87d022ac94fa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0ebcda76f6849fd" /><Relationship Type="http://schemas.openxmlformats.org/officeDocument/2006/relationships/notesMaster" Target="/ppt/notesMasters/notesMaster1.xml" Id="R59e1ebf84d72423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840ba32e20443c0" /><Relationship Type="http://schemas.openxmlformats.org/officeDocument/2006/relationships/notesMaster" Target="/ppt/notesMasters/notesMaster1.xml" Id="Rfc4e072dc064413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658d39aca78464f" /><Relationship Type="http://schemas.openxmlformats.org/officeDocument/2006/relationships/notesMaster" Target="/ppt/notesMasters/notesMaster1.xml" Id="R9d4d71f3b39d47c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2850d24283141f5" /><Relationship Type="http://schemas.openxmlformats.org/officeDocument/2006/relationships/notesMaster" Target="/ppt/notesMasters/notesMaster1.xml" Id="R9ed45750d2c241a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7073e6fce6c4e83" /><Relationship Type="http://schemas.openxmlformats.org/officeDocument/2006/relationships/notesMaster" Target="/ppt/notesMasters/notesMaster1.xml" Id="R57593b6664c247c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abb913f5c804cd0" /><Relationship Type="http://schemas.openxmlformats.org/officeDocument/2006/relationships/notesMaster" Target="/ppt/notesMasters/notesMaster1.xml" Id="Rf1b4bba4075845b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71c80ce3a164baa" /><Relationship Type="http://schemas.openxmlformats.org/officeDocument/2006/relationships/notesMaster" Target="/ppt/notesMasters/notesMaster1.xml" Id="Rce44a7fd6aad402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b7282d3908846ca" /><Relationship Type="http://schemas.openxmlformats.org/officeDocument/2006/relationships/notesMaster" Target="/ppt/notesMasters/notesMaster1.xml" Id="Rd64dea95ecb04e0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a53a13d15c643ad" /><Relationship Type="http://schemas.openxmlformats.org/officeDocument/2006/relationships/notesMaster" Target="/ppt/notesMasters/notesMaster1.xml" Id="Rda877e33c62a48a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97e735b0424428d" /><Relationship Type="http://schemas.openxmlformats.org/officeDocument/2006/relationships/notesMaster" Target="/ppt/notesMasters/notesMaster1.xml" Id="Rc04b983dd2ad4a0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2f5ab2ec1514377" /><Relationship Type="http://schemas.openxmlformats.org/officeDocument/2006/relationships/notesMaster" Target="/ppt/notesMasters/notesMaster1.xml" Id="Rb5f779c76fb844f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0fbd77dd8194d1c" /><Relationship Type="http://schemas.openxmlformats.org/officeDocument/2006/relationships/notesMaster" Target="/ppt/notesMasters/notesMaster1.xml" Id="R6e9c6f444fed49a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10bca2deead48e7" /><Relationship Type="http://schemas.openxmlformats.org/officeDocument/2006/relationships/notesMaster" Target="/ppt/notesMasters/notesMaster1.xml" Id="R3635051b3f3147e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2f4519edcaf400d" /><Relationship Type="http://schemas.openxmlformats.org/officeDocument/2006/relationships/notesMaster" Target="/ppt/notesMasters/notesMaster1.xml" Id="R593ed501207f4b6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bc490b96f2642ee" /><Relationship Type="http://schemas.openxmlformats.org/officeDocument/2006/relationships/notesMaster" Target="/ppt/notesMasters/notesMaster1.xml" Id="Rfed7bbc241324ba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98af8d763224094" /><Relationship Type="http://schemas.openxmlformats.org/officeDocument/2006/relationships/notesMaster" Target="/ppt/notesMasters/notesMaster1.xml" Id="Rc39ca574ecca496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00a2feec70a4ff4" /><Relationship Type="http://schemas.openxmlformats.org/officeDocument/2006/relationships/notesMaster" Target="/ppt/notesMasters/notesMaster1.xml" Id="Rc186b2e5d25f481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5a8691b680043d2" /><Relationship Type="http://schemas.openxmlformats.org/officeDocument/2006/relationships/notesMaster" Target="/ppt/notesMasters/notesMaster1.xml" Id="R4919974db3e8465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6bc1714bd8f4cd2" /><Relationship Type="http://schemas.openxmlformats.org/officeDocument/2006/relationships/notesMaster" Target="/ppt/notesMasters/notesMaster1.xml" Id="R2f00449d65eb4d5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334dae2de9a447d1" /><Relationship Type="http://schemas.openxmlformats.org/officeDocument/2006/relationships/notesMaster" Target="/ppt/notesMasters/notesMaster1.xml" Id="R952fc364263b485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4f1a81e495dd4bc5" /><Relationship Type="http://schemas.openxmlformats.org/officeDocument/2006/relationships/notesMaster" Target="/ppt/notesMasters/notesMaster1.xml" Id="Re134784c98e44f06"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db766b950b04fa7" /><Relationship Type="http://schemas.openxmlformats.org/officeDocument/2006/relationships/notesMaster" Target="/ppt/notesMasters/notesMaster1.xml" Id="R59ea571ccfd34763"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c54accdf8d34b0e" /><Relationship Type="http://schemas.openxmlformats.org/officeDocument/2006/relationships/notesMaster" Target="/ppt/notesMasters/notesMaster1.xml" Id="Ra3a8c3594dd64d49"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33e2141dc12416d" /><Relationship Type="http://schemas.openxmlformats.org/officeDocument/2006/relationships/notesMaster" Target="/ppt/notesMasters/notesMaster1.xml" Id="R58c1ad27632d4dd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12b42fa01f44cc2" /><Relationship Type="http://schemas.openxmlformats.org/officeDocument/2006/relationships/notesMaster" Target="/ppt/notesMasters/notesMaster1.xml" Id="Rb77b4e1b16bc456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f5a0920180414bc4" /><Relationship Type="http://schemas.openxmlformats.org/officeDocument/2006/relationships/notesMaster" Target="/ppt/notesMasters/notesMaster1.xml" Id="R2001eefa47a8462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c8f0973d40ac461e" /><Relationship Type="http://schemas.openxmlformats.org/officeDocument/2006/relationships/notesMaster" Target="/ppt/notesMasters/notesMaster1.xml" Id="Rea5204052b7a4df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d78e1fee81154da3" /><Relationship Type="http://schemas.openxmlformats.org/officeDocument/2006/relationships/notesMaster" Target="/ppt/notesMasters/notesMaster1.xml" Id="R7647c3d89c8144bf"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301c592ea744096" /><Relationship Type="http://schemas.openxmlformats.org/officeDocument/2006/relationships/notesMaster" Target="/ppt/notesMasters/notesMaster1.xml" Id="R69564a2e4f74436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1992f9d21e8e469d" /><Relationship Type="http://schemas.openxmlformats.org/officeDocument/2006/relationships/notesMaster" Target="/ppt/notesMasters/notesMaster1.xml" Id="R2c7f8e95a6224d08"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9c6b2082521d49e1" /><Relationship Type="http://schemas.openxmlformats.org/officeDocument/2006/relationships/notesMaster" Target="/ppt/notesMasters/notesMaster1.xml" Id="R44963edd78734e82"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017bcb63f46a4612" /><Relationship Type="http://schemas.openxmlformats.org/officeDocument/2006/relationships/notesMaster" Target="/ppt/notesMasters/notesMaster1.xml" Id="R73e9864d33c04426"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3829c92050224399" /><Relationship Type="http://schemas.openxmlformats.org/officeDocument/2006/relationships/notesMaster" Target="/ppt/notesMasters/notesMaster1.xml" Id="Radb04ecbbb8b4d98"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d8baed9cd394a3d" /><Relationship Type="http://schemas.openxmlformats.org/officeDocument/2006/relationships/notesMaster" Target="/ppt/notesMasters/notesMaster1.xml" Id="Rae729ec2c1ec40bc"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25af17901b745ce" /><Relationship Type="http://schemas.openxmlformats.org/officeDocument/2006/relationships/notesMaster" Target="/ppt/notesMasters/notesMaster1.xml" Id="R38e6d149b62a4c9e"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b1edfae505a6490c" /><Relationship Type="http://schemas.openxmlformats.org/officeDocument/2006/relationships/notesMaster" Target="/ppt/notesMasters/notesMaster1.xml" Id="R9e0dedc2a2e5445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e471c3602d6b4135" /><Relationship Type="http://schemas.openxmlformats.org/officeDocument/2006/relationships/notesMaster" Target="/ppt/notesMasters/notesMaster1.xml" Id="R660b50b2510147f2"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8a6add9be75e4068" /><Relationship Type="http://schemas.openxmlformats.org/officeDocument/2006/relationships/notesMaster" Target="/ppt/notesMasters/notesMaster1.xml" Id="Re2090b3d8b0649e9"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3f7effaeacde48d4" /><Relationship Type="http://schemas.openxmlformats.org/officeDocument/2006/relationships/notesMaster" Target="/ppt/notesMasters/notesMaster1.xml" Id="R466f0da78e2c4085"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5cd2c2b9dafb45b3" /><Relationship Type="http://schemas.openxmlformats.org/officeDocument/2006/relationships/notesMaster" Target="/ppt/notesMasters/notesMaster1.xml" Id="Rbb0f3422400548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https://docarcshot.github.io/id-practice-update/lectures/Positive_Blood_Cultures_Contaminant_Source_Clearance_Source_Control.html</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you should be able to do Resident core · 30–45 minutes with discussion A positive blood culture is a piece of data, not yet a diagnosis. When the lab calls, I first want to know how sick the patient is, what grew, how the cultures were collected, and whether there is hardware or a source that needs attention. The antibiotic choice matters, but it is rarely the only decision. Decide whether a positive culture is likely to represent true bloodstream infection, contamination, or an unresolved result. Separate the likely portal of entry from possible endovascular or metastatic infection. Choose when follow-up blood cultures are useful and when they are probably unnecessary. Identify needed source control and determine which date should anchor treatment duration. Give the primary team a clear recommendation, including what could change it. A limitation up front. This is not an antimicrobial order set. Drug and dose still depend on the syndrome, susceptibility results, renal and hepatic function, allergy history, weight, local antibiogram, formulary, pharmacy guidance, and current labeling.</a:t>
            </a:r>
          </a:p>
          <a:p xmlns:a="http://schemas.openxmlformats.org/drawingml/2006/main">
            <a:r>
              <a:t/>
            </a:r>
          </a:p>
          <a:p xmlns:a="http://schemas.openxmlformats.org/drawingml/2006/main">
            <a:r>
              <a:t>Module section: https://docarcshot.github.io/id-practice-update/lectures/Positive_Blood_Cultures_Contaminant_Source_Clearance_Source_Control.html#start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you should be able to do Resident core · 30–45 minutes with discussion A positive blood culture is a piece of data, not yet a diagnosis. When the lab calls, I first want to know how sick the patient is, what grew, how the cultures were collected, and whether there is hardware or a source that needs attention. The antibiotic choice matters, but it is rarely the only decision. Decide whether a positive culture is likely to represent true bloodstream infection, contamination, or an unresolved result. Separate the likely portal of entry from possible endovascular or metastatic infection. Choose when follow-up blood cultures are useful and when they are probably unnecessary. Identify needed source control and determine which date should anchor treatment duration. Give the primary team a clear recommendation, including what could change it. A limitation up front. This is not an antimicrobial order set. Drug and dose still depend on the syndrome, susceptibility results, renal and hepatic function, allergy history, weight, local antibiogram, formulary, pharmacy guidance, and current labeling.</a:t>
            </a:r>
          </a:p>
          <a:p xmlns:a="http://schemas.openxmlformats.org/drawingml/2006/main">
            <a:r>
              <a:t/>
            </a:r>
          </a:p>
          <a:p xmlns:a="http://schemas.openxmlformats.org/drawingml/2006/main">
            <a:r>
              <a:t>Module section: https://docarcshot.github.io/id-practice-update/lectures/Positive_Blood_Cultures_Contaminant_Source_Clearance_Source_Control.html#start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you should be able to do Resident core · 30–45 minutes with discussion A positive blood culture is a piece of data, not yet a diagnosis. When the lab calls, I first want to know how sick the patient is, what grew, how the cultures were collected, and whether there is hardware or a source that needs attention. The antibiotic choice matters, but it is rarely the only decision. Decide whether a positive culture is likely to represent true bloodstream infection, contamination, or an unresolved result. Separate the likely portal of entry from possible endovascular or metastatic infection. Choose when follow-up blood cultures are useful and when they are probably unnecessary. Identify needed source control and determine which date should anchor treatment duration. Give the primary team a clear recommendation, including what could change it. A limitation up front. This is not an antimicrobial order set. Drug and dose still depend on the syndrome, susceptibility results, renal and hepatic function, allergy history, weight, local antibiogram, formulary, pharmacy guidance, and current labeling.</a:t>
            </a:r>
          </a:p>
          <a:p xmlns:a="http://schemas.openxmlformats.org/drawingml/2006/main">
            <a:r>
              <a:t/>
            </a:r>
          </a:p>
          <a:p xmlns:a="http://schemas.openxmlformats.org/drawingml/2006/main">
            <a:r>
              <a:t>Module section: https://docarcshot.github.io/id-practice-update/lectures/Positive_Blood_Cultures_Contaminant_Source_Clearance_Source_Control.html#start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How I approach the initial call The order varies a little depending on the patient. An unstable patient gets active therapy while the rest of the evaluation is happening. In a stable patient, there is usually time to look at the collection details before adding another drug. How sick? Is current therapy active, and can anything wait? Is it real? What grew, from how many sets, and from which sites? Where from? What is the likely source, and could another site have been seeded? Repeat? Will another culture establish clearance or change the workup? What needs fixing? Is there a line, device, obstruction, or collection that antibiotics will not solve? For residents Look at the patient before treating the microbiology report. Count independently collected sets and review where they were drawn. Bottle count alone is not enough. A plausible source may explain entry into the blood, but it does not always explain the full extent of infection. Repeat cultures for a reason, not simply because the first ones were positive. Your plan should address source control and duration, not only antibiotic selection.</a:t>
            </a:r>
          </a:p>
          <a:p xmlns:a="http://schemas.openxmlformats.org/drawingml/2006/main">
            <a:r>
              <a:t/>
            </a:r>
          </a:p>
          <a:p xmlns:a="http://schemas.openxmlformats.org/drawingml/2006/main">
            <a:r>
              <a:t>Module section: https://docarcshot.github.io/id-practice-update/lectures/Positive_Blood_Cultures_Contaminant_Source_Clearance_Source_Control.html#framework</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How I approach the initial call The order varies a little depending on the patient. An unstable patient gets active therapy while the rest of the evaluation is happening. In a stable patient, there is usually time to look at the collection details before adding another drug. How sick? Is current therapy active, and can anything wait? Is it real? What grew, from how many sets, and from which sites? Where from? What is the likely source, and could another site have been seeded? Repeat? Will another culture establish clearance or change the workup? What needs fixing? Is there a line, device, obstruction, or collection that antibiotics will not solve? For residents Look at the patient before treating the microbiology report. Count independently collected sets and review where they were drawn. Bottle count alone is not enough. A plausible source may explain entry into the blood, but it does not always explain the full extent of infection. Repeat cultures for a reason, not simply because the first ones were positive. Your plan should address source control and duration, not only antibiotic selection.</a:t>
            </a:r>
          </a:p>
          <a:p xmlns:a="http://schemas.openxmlformats.org/drawingml/2006/main">
            <a:r>
              <a:t/>
            </a:r>
          </a:p>
          <a:p xmlns:a="http://schemas.openxmlformats.org/drawingml/2006/main">
            <a:r>
              <a:t>Module section: https://docarcshot.github.io/id-practice-update/lectures/Positive_Blood_Cultures_Contaminant_Source_Clearance_Source_Control.html#framework</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How I approach the initial call The order varies a little depending on the patient. An unstable patient gets active therapy while the rest of the evaluation is happening. In a stable patient, there is usually time to look at the collection details before adding another drug. How sick? Is current therapy active, and can anything wait? Is it real? What grew, from how many sets, and from which sites? Where from? What is the likely source, and could another site have been seeded? Repeat? Will another culture establish clearance or change the workup? What needs fixing? Is there a line, device, obstruction, or collection that antibiotics will not solve? For residents Look at the patient before treating the microbiology report. Count independently collected sets and review where they were drawn. Bottle count alone is not enough. A plausible source may explain entry into the blood, but it does not always explain the full extent of infection. Repeat cultures for a reason, not simply because the first ones were positive. Your plan should address source control and duration, not only antibiotic selection.</a:t>
            </a:r>
          </a:p>
          <a:p xmlns:a="http://schemas.openxmlformats.org/drawingml/2006/main">
            <a:r>
              <a:t/>
            </a:r>
          </a:p>
          <a:p xmlns:a="http://schemas.openxmlformats.org/drawingml/2006/main">
            <a:r>
              <a:t>Module section: https://docarcshot.github.io/id-practice-update/lectures/Positive_Blood_Cultures_Contaminant_Source_Clearance_Source_Control.html#framework</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How I approach the initial call The order varies a little depending on the patient. An unstable patient gets active therapy while the rest of the evaluation is happening. In a stable patient, there is usually time to look at the collection details before adding another drug. How sick? Is current therapy active, and can anything wait? Is it real? What grew, from how many sets, and from which sites? Where from? What is the likely source, and could another site have been seeded? Repeat? Will another culture establish clearance or change the workup? What needs fixing? Is there a line, device, obstruction, or collection that antibiotics will not solve? For residents Look at the patient before treating the microbiology report. Count independently collected sets and review where they were drawn. Bottle count alone is not enough. A plausible source may explain entry into the blood, but it does not always explain the full extent of infection. Repeat cultures for a reason, not simply because the first ones were positive. Your plan should address source control and duration, not only antibiotic selection.</a:t>
            </a:r>
          </a:p>
          <a:p xmlns:a="http://schemas.openxmlformats.org/drawingml/2006/main">
            <a:r>
              <a:t/>
            </a:r>
          </a:p>
          <a:p xmlns:a="http://schemas.openxmlformats.org/drawingml/2006/main">
            <a:r>
              <a:t>Module section: https://docarcshot.github.io/id-practice-update/lectures/Positive_Blood_Cultures_Contaminant_Source_Clearance_Source_Control.html#framework</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organism changes the conversation 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 What the first result should trigger Result Default interpretation Immediate questions Act S. aureus or S. lugdunensis Treat as clinically significant. A single positive bottle does not make it a contaminant. Stability, effective therapy, source, intravascular or prosthetic material, follow-up cultures, echocardiography, focal pain, embolic findings. Act Yeast Assume candidemia while species and susceptibilities are pending. Effective antifungal therapy, repeat cultures, lines, recent abdominal pathology, immunosuppression, metastatic complications. Act Enterobacterales, Pseudomonas , other aerobic gram-negative rods Usually true bacteremia, not skin contamination. Urinary, biliary, abdominal, pulmonary, vascular-catheter, wound, or device source; obstruction or undrained focus; active empiric therapy. Interpret Enterococcus , viridans-group streptococci Often clinically significant, but context determines source and endovascular risk. Multiple sets, urinary or abdominal source, mucosal injury, valve/device history, persistence, unknown source, endocarditis features. Interpret Coagulase-negative staphylococci, Corynebacterium , non-anthracis Bacillus , Cutibacterium , Micrococcus Common contaminants when isolated from only one set in a low-risk host. They can be true pathogens, especially with intravascular or prosthetic material, immunocompromise, multiple concordant sets, or compatible illness. How many independently drawn sets? Same species? Peripheral or line draw? Hardware? Immunosuppression? Compatible syndrome? Need to repeat before committing to treatment? 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 How much weight should we give time to positivity? Rapid growth may support a higher organism burden, but there is no universal time cutoff that separates pathogen from contaminant across organisms, platforms, blood volumes, and prior antibiotics. I would not stop or continue treatment on time to positivity alone. 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 What can we safely do with a rapid panel result? 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a:p xmlns:a="http://schemas.openxmlformats.org/drawingml/2006/main">
            <a:r>
              <a:t/>
            </a:r>
          </a:p>
          <a:p xmlns:a="http://schemas.openxmlformats.org/drawingml/2006/main">
            <a:r>
              <a:t>Module section: https://docarcshot.github.io/id-practice-update/lectures/Positive_Blood_Cultures_Contaminant_Source_Clearance_Source_Control.html#signal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Cases for discussion For each case, pause before reading the discussion. Decide what you think the result means, what you need to do today, and what additional finding would change your mind. Case 1: One set, one bottle, coagulase-negative staphylococcus 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 Before moving on Would you call this bacteremia? Would you continue vancomycin? Do you need another culture? How I would handle it This is most likely contamination. I would reassess the patient and make sure there is not a device or clinical finding missing from the initial story. If the probability remains low, I would stop or avoid vancomycin and document why the isolate is not being treated. I would not repeat cultures automatically. I would repeat properly collected peripheral sets if the history is incomplete, a prosthetic device comes to light, or the clinical course makes true infection plausible. When safe, obtain those cultures before giving another antibiotic dose. The error here is allowing the word “positive” to settle the diagnosis. Contaminated cultures lead to unnecessary antibiotics, additional testing, adverse events, and longer hospitalization. 3 , 4 Case 2: One bottle with S. aureus and new back pain A patient with no obvious source has one bottle positive for S. aureus . They are afebrile after antibiotics but mention new focal lumbar pain when you examine them. What matters now? Does one positive bottle change how seriously you take the result? What studies need to be ordered today? Does becoming afebrile lower the concern? How I would handle it 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 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 Case 3: E. coli bacteremia with an obstructed ureter A patient with pyelonephritis and E. coli bacteremia undergoes ureteral decompression. They are hemodynamically stable and improving on active therapy. There is no prosthetic valve, endovascular graft, severe immunocompromise, or evidence of a deep focus. Decisions for rounds Do you need daily cultures until negative? Why were both active antibiotics and decompression necessary? When could oral treatment be reasonable? How I would handle it Active antibiotics and decompression were both necessary. Antibiotics do not relieve an obstructed collecting system. If the patient continues to improve and source control is adequate, I would not routinely repeat blood cultures. 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 Case 4: Yeast in blood after abdominal surgery A patient with recent bowel surgery, an anastomotic leak, and a central venous catheter has yeast reported from one blood-culture bottle. What would you do tonight? Could this be dismissed as contamination? What has to happen besides starting an antifungal? When does the treatment clock begin? How I would handle it 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 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a:p xmlns:a="http://schemas.openxmlformats.org/drawingml/2006/main">
            <a:r>
              <a:t/>
            </a:r>
          </a:p>
          <a:p xmlns:a="http://schemas.openxmlformats.org/drawingml/2006/main">
            <a:r>
              <a:t>Module section: https://docarcshot.github.io/id-practice-update/lectures/Positive_Blood_Cultures_Contaminant_Source_Clearance_Source_Control.html#cases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should the cultures be repeated? 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 Organism-specific clearance strategy Situation Default strategy Why S. aureus bacteremia At least 2 sets at 48 hours after the index sample, then 1 or 2 sets every 24–48 hours until negative. Consider more intensive sampling with ongoing illness, deep or endovascular focus, or persistent positivity. Clearance changes risk classification, diagnostic intensity, source-control reassessment, and the treatment clock. 1 Candidemia Every day or every other day until clearance. Duration for uncomplicated candidemia is counted from documented clearance, with resolution of attributable symptoms and, when present, neutropenia. 2 Uncomplicated gram-negative BSI with clinical response and adequate source control Usually do not repeat routinely. Repeat when there is no appropriate response within 72 hours, endovascular concern, or limited source control. 6 Possible contaminant Repeat properly collected sets when the result could represent true infection because of devices, immunocompromise, compatible illness, multiple concordant positives, or unresolved clinical concern. The repeat is diagnostic, not a ritual. Obtain before new antibiotics when clinically safe. Any bacteremia with deterioration, persistent fever, new embolic or focal symptoms, retained infected material, or inactive therapy Repeat cultures and reconsider the source. The patient is not behaving like someone with a controlled, uncomplicated infection. 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a:p xmlns:a="http://schemas.openxmlformats.org/drawingml/2006/main">
            <a:r>
              <a:t/>
            </a:r>
          </a:p>
          <a:p xmlns:a="http://schemas.openxmlformats.org/drawingml/2006/main">
            <a:r>
              <a:t>Module section: https://docarcshot.github.io/id-practice-update/lectures/Positive_Blood_Cultures_Contaminant_Source_Clearance_Source_Control.html#clearance</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are the antibiotics not going to fix? On rounds, this is often the most important part of the discussion. Obstruction, an undrained collection, necrosis, a leak, or infected foreign material may require source control despite active antimicrobial therapy. Remove Is a catheter, cardiac device, vascular graft, or other hardware involved? If removal may be needed, identify who will make that decision and when. Drain Is there an abscess, empyema, infected collection, septic joint, or another closed-space infection? If someone says it is not drainable, clarify whether that conclusion came from the procedural service. Debride Is there necrotic tissue, an infected wound, devitalized bone, or an uncontrolled surgical focus? Antibiotics cannot restore perfusion or remove dead tissue. Decompress or repair Is there urinary or biliary obstruction, a leak, fistula, perforation, or another continuing anatomic problem? 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 When the team thinks the line is the source Were peripheral and catheter cultures collected before antibiotics, at the same time, with comparable volumes? Is the line still necessary, and can it be removed now? Is there tunnel, pocket, exit-site, or septic-thrombus disease? Is the organism one for which catheter retention carries a high failure risk? If salvage is attempted, what is the failure threshold and when will cultures be repeated? The 2009 IDSA catheter guideline remains an older source and should be reconciled with local vascular-access and infection-prevention policy. 5</a:t>
            </a:r>
          </a:p>
          <a:p xmlns:a="http://schemas.openxmlformats.org/drawingml/2006/main">
            <a:r>
              <a:t/>
            </a:r>
          </a:p>
          <a:p xmlns:a="http://schemas.openxmlformats.org/drawingml/2006/main">
            <a:r>
              <a:t>Module section: https://docarcshot.github.io/id-practice-update/lectures/Positive_Blood_Cultures_Contaminant_Source_Clearance_Source_Control.html#source-control</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Answer the question the team actually has A technically correct consult is not very useful if the primary team cannot tell what to do next. The assessment should state whether the culture is significant, where the infection probably came from, what remains unproven, and what needs to happen today. A practical note structure 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 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 What I would say to the primary team “I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 Before the patient leaves the hospital “Continue antibiotics per ID” is not a discharge plan. State the drug, dose, route, indication, duration anchor, stop date, and monitoring. List all pending blood cultures and susceptibilities, who will review them, and what result changes the plan. Record source-control completion and any retained material. Specify necessary imaging, specialty follow-up, vascular-access plan, laboratory monitoring, and symptoms requiring urgent reassessment. Use oral therapy when evidence, susceptibility, absorption, adherence, and syndrome permit. Bacteremia alone is not an indication for a PICC.</a:t>
            </a:r>
          </a:p>
          <a:p xmlns:a="http://schemas.openxmlformats.org/drawingml/2006/main">
            <a:r>
              <a:t/>
            </a:r>
          </a:p>
          <a:p xmlns:a="http://schemas.openxmlformats.org/drawingml/2006/main">
            <a:r>
              <a:t>Module section: https://docarcshot.github.io/id-practice-update/lectures/Positive_Blood_Cultures_Contaminant_Source_Clearance_Source_Control.html#consult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Answer the question the team actually has A technically correct consult is not very useful if the primary team cannot tell what to do next. The assessment should state whether the culture is significant, where the infection probably came from, what remains unproven, and what needs to happen today. A practical note structure 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 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 What I would say to the primary team “I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 Before the patient leaves the hospital “Continue antibiotics per ID” is not a discharge plan. State the drug, dose, route, indication, duration anchor, stop date, and monitoring. List all pending blood cultures and susceptibilities, who will review them, and what result changes the plan. Record source-control completion and any retained material. Specify necessary imaging, specialty follow-up, vascular-access plan, laboratory monitoring, and symptoms requiring urgent reassessment. Use oral therapy when evidence, susceptibility, absorption, adherence, and syndrome permit. Bacteremia alone is not an indication for a PICC.</a:t>
            </a:r>
          </a:p>
          <a:p xmlns:a="http://schemas.openxmlformats.org/drawingml/2006/main">
            <a:r>
              <a:t/>
            </a:r>
          </a:p>
          <a:p xmlns:a="http://schemas.openxmlformats.org/drawingml/2006/main">
            <a:r>
              <a:t>Module section: https://docarcshot.github.io/id-practice-update/lectures/Positive_Blood_Cultures_Contaminant_Source_Clearance_Source_Control.html#consult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Answer the question the team actually has A technically correct consult is not very useful if the primary team cannot tell what to do next. The assessment should state whether the culture is significant, where the infection probably came from, what remains unproven, and what needs to happen today. A practical note structure 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 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 What I would say to the primary team “I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 Before the patient leaves the hospital “Continue antibiotics per ID” is not a discharge plan. State the drug, dose, route, indication, duration anchor, stop date, and monitoring. List all pending blood cultures and susceptibilities, who will review them, and what result changes the plan. Record source-control completion and any retained material. Specify necessary imaging, specialty follow-up, vascular-access plan, laboratory monitoring, and symptoms requiring urgent reassessment. Use oral therapy when evidence, susceptibility, absorption, adherence, and syndrome permit. Bacteremia alone is not an indication for a PICC.</a:t>
            </a:r>
          </a:p>
          <a:p xmlns:a="http://schemas.openxmlformats.org/drawingml/2006/main">
            <a:r>
              <a:t/>
            </a:r>
          </a:p>
          <a:p xmlns:a="http://schemas.openxmlformats.org/drawingml/2006/main">
            <a:r>
              <a:t>Module section: https://docarcshot.github.io/id-practice-update/lectures/Positive_Blood_Cultures_Contaminant_Source_Clearance_Source_Control.html#consult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Answer the question the team actually has A technically correct consult is not very useful if the primary team cannot tell what to do next. The assessment should state whether the culture is significant, where the infection probably came from, what remains unproven, and what needs to happen today. A practical note structure 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 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 What I would say to the primary team “I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 Before the patient leaves the hospital “Continue antibiotics per ID” is not a discharge plan. State the drug, dose, route, indication, duration anchor, stop date, and monitoring. List all pending blood cultures and susceptibilities, who will review them, and what result changes the plan. Record source-control completion and any retained material. Specify necessary imaging, specialty follow-up, vascular-access plan, laboratory monitoring, and symptoms requiring urgent reassessment. Use oral therapy when evidence, susceptibility, absorption, adherence, and syndrome permit. Bacteremia alone is not an indication for a PICC.</a:t>
            </a:r>
          </a:p>
          <a:p xmlns:a="http://schemas.openxmlformats.org/drawingml/2006/main">
            <a:r>
              <a:t/>
            </a:r>
          </a:p>
          <a:p xmlns:a="http://schemas.openxmlformats.org/drawingml/2006/main">
            <a:r>
              <a:t>Module section: https://docarcshot.github.io/id-practice-update/lectures/Positive_Blood_Cultures_Contaminant_Source_Clearance_Source_Control.html#consult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Answer the question the team actually has A technically correct consult is not very useful if the primary team cannot tell what to do next. The assessment should state whether the culture is significant, where the infection probably came from, what remains unproven, and what needs to happen today. A practical note structure 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 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 What I would say to the primary team “I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 Before the patient leaves the hospital “Continue antibiotics per ID” is not a discharge plan. State the drug, dose, route, indication, duration anchor, stop date, and monitoring. List all pending blood cultures and susceptibilities, who will review them, and what result changes the plan. Record source-control completion and any retained material. Specify necessary imaging, specialty follow-up, vascular-access plan, laboratory monitoring, and symptoms requiring urgent reassessment. Use oral therapy when evidence, susceptibility, absorption, adherence, and syndrome permit. Bacteremia alone is not an indication for a PICC.</a:t>
            </a:r>
          </a:p>
          <a:p xmlns:a="http://schemas.openxmlformats.org/drawingml/2006/main">
            <a:r>
              <a:t/>
            </a:r>
          </a:p>
          <a:p xmlns:a="http://schemas.openxmlformats.org/drawingml/2006/main">
            <a:r>
              <a:t>Module section: https://docarcshot.github.io/id-practice-update/lectures/Positive_Blood_Cultures_Contaminant_Source_Clearance_Source_Control.html#consult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Answer the question the team actually has A technically correct consult is not very useful if the primary team cannot tell what to do next. The assessment should state whether the culture is significant, where the infection probably came from, what remains unproven, and what needs to happen today. A practical note structure 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 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 What I would say to the primary team “I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 Before the patient leaves the hospital “Continue antibiotics per ID” is not a discharge plan. State the drug, dose, route, indication, duration anchor, stop date, and monitoring. List all pending blood cultures and susceptibilities, who will review them, and what result changes the plan. Record source-control completion and any retained material. Specify necessary imaging, specialty follow-up, vascular-access plan, laboratory monitoring, and symptoms requiring urgent reassessment. Use oral therapy when evidence, susceptibility, absorption, adherence, and syndrome permit. Bacteremia alone is not an indication for a PICC.</a:t>
            </a:r>
          </a:p>
          <a:p xmlns:a="http://schemas.openxmlformats.org/drawingml/2006/main">
            <a:r>
              <a:t/>
            </a:r>
          </a:p>
          <a:p xmlns:a="http://schemas.openxmlformats.org/drawingml/2006/main">
            <a:r>
              <a:t>Module section: https://docarcshot.github.io/id-practice-update/lectures/Positive_Blood_Cultures_Contaminant_Source_Clearance_Source_Control.html#consult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discussion begins here Use these questions to examine risk stratification, evidence boundaries, and uncertainty after the resident cases. Questions for fellows Which uncertainty matters enough to change what you do today? Are you applying an organism-specific approach or reflexively using the same workup for every bacteremia? Is a prediction score helping with risk assessment, or are you asking it to exclude disease that it cannot reliably exclude? What does the local rapid panel detect, and what can it miss? If cultures remain positive, is the presumed source wrong, incompletely controlled, or not the whole story? For fellows. A negative TTE does not end the echocardiographic evaluation in every patient. The 2026 consensus supports TEE when risk remains higher because of an intracardiac device, predisposing valve disease, cultures positive at least 48 hours, embolic events, or more than one noncontiguous focus. Community onset and injection drug use also increase concern. 1 For fellows. Do not stretch the BALANCE result beyond its population. The trial excluded severe immunosuppression, prosthetic heart valves or endovascular grafts, deep foci requiring prolonged therapy, S. aureus , S. lugdunensis , possible contaminants, unusual pathogens requiring prolonged therapy, and fungemia. 7</a:t>
            </a:r>
          </a:p>
          <a:p xmlns:a="http://schemas.openxmlformats.org/drawingml/2006/main">
            <a:r>
              <a:t/>
            </a:r>
          </a:p>
          <a:p xmlns:a="http://schemas.openxmlformats.org/drawingml/2006/main">
            <a:r>
              <a:t>Module section: https://docarcshot.github.io/id-practice-update/lectures/Positive_Blood_Cultures_Contaminant_Source_Clearance_Source_Control.html#advanced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discussion begins here Use these questions to examine risk stratification, evidence boundaries, and uncertainty after the resident cases. Questions for fellows Which uncertainty matters enough to change what you do today? Are you applying an organism-specific approach or reflexively using the same workup for every bacteremia? Is a prediction score helping with risk assessment, or are you asking it to exclude disease that it cannot reliably exclude? What does the local rapid panel detect, and what can it miss? If cultures remain positive, is the presumed source wrong, incompletely controlled, or not the whole story? For fellows. A negative TTE does not end the echocardiographic evaluation in every patient. The 2026 consensus supports TEE when risk remains higher because of an intracardiac device, predisposing valve disease, cultures positive at least 48 hours, embolic events, or more than one noncontiguous focus. Community onset and injection drug use also increase concern. 1 For fellows. Do not stretch the BALANCE result beyond its population. The trial excluded severe immunosuppression, prosthetic heart valves or endovascular grafts, deep foci requiring prolonged therapy, S. aureus , S. lugdunensis , possible contaminants, unusual pathogens requiring prolonged therapy, and fungemia. 7</a:t>
            </a:r>
          </a:p>
          <a:p xmlns:a="http://schemas.openxmlformats.org/drawingml/2006/main">
            <a:r>
              <a:t/>
            </a:r>
          </a:p>
          <a:p xmlns:a="http://schemas.openxmlformats.org/drawingml/2006/main">
            <a:r>
              <a:t>Module section: https://docarcshot.github.io/id-practice-update/lectures/Positive_Blood_Cultures_Contaminant_Source_Clearance_Source_Control.html#advanced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discussion begins here Use these questions to examine risk stratification, evidence boundaries, and uncertainty after the resident cases. Questions for fellows Which uncertainty matters enough to change what you do today? Are you applying an organism-specific approach or reflexively using the same workup for every bacteremia? Is a prediction score helping with risk assessment, or are you asking it to exclude disease that it cannot reliably exclude? What does the local rapid panel detect, and what can it miss? If cultures remain positive, is the presumed source wrong, incompletely controlled, or not the whole story? For fellows. A negative TTE does not end the echocardiographic evaluation in every patient. The 2026 consensus supports TEE when risk remains higher because of an intracardiac device, predisposing valve disease, cultures positive at least 48 hours, embolic events, or more than one noncontiguous focus. Community onset and injection drug use also increase concern. 1 For fellows. Do not stretch the BALANCE result beyond its population. The trial excluded severe immunosuppression, prosthetic heart valves or endovascular grafts, deep foci requiring prolonged therapy, S. aureus , S. lugdunensis , possible contaminants, unusual pathogens requiring prolonged therapy, and fungemia. 7</a:t>
            </a:r>
          </a:p>
          <a:p xmlns:a="http://schemas.openxmlformats.org/drawingml/2006/main">
            <a:r>
              <a:t/>
            </a:r>
          </a:p>
          <a:p xmlns:a="http://schemas.openxmlformats.org/drawingml/2006/main">
            <a:r>
              <a:t>Module section: https://docarcshot.github.io/id-practice-update/lectures/Positive_Blood_Cultures_Contaminant_Source_Clearance_Source_Control.html#advanced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discussion begins here Use these questions to examine risk stratification, evidence boundaries, and uncertainty after the resident cases. Questions for fellows Which uncertainty matters enough to change what you do today? Are you applying an organism-specific approach or reflexively using the same workup for every bacteremia? Is a prediction score helping with risk assessment, or are you asking it to exclude disease that it cannot reliably exclude? What does the local rapid panel detect, and what can it miss? If cultures remain positive, is the presumed source wrong, incompletely controlled, or not the whole story? For fellows. A negative TTE does not end the echocardiographic evaluation in every patient. The 2026 consensus supports TEE when risk remains higher because of an intracardiac device, predisposing valve disease, cultures positive at least 48 hours, embolic events, or more than one noncontiguous focus. Community onset and injection drug use also increase concern. 1 For fellows. Do not stretch the BALANCE result beyond its population. The trial excluded severe immunosuppression, prosthetic heart valves or endovascular grafts, deep foci requiring prolonged therapy, S. aureus , S. lugdunensis , possible contaminants, unusual pathogens requiring prolonged therapy, and fungemia. 7</a:t>
            </a:r>
          </a:p>
          <a:p xmlns:a="http://schemas.openxmlformats.org/drawingml/2006/main">
            <a:r>
              <a:t/>
            </a:r>
          </a:p>
          <a:p xmlns:a="http://schemas.openxmlformats.org/drawingml/2006/main">
            <a:r>
              <a:t>Module section: https://docarcshot.github.io/id-practice-update/lectures/Positive_Blood_Cultures_Contaminant_Source_Clearance_Source_Control.html#fellow-sab-discussion</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discussion begins here Use these questions to examine risk stratification, evidence boundaries, and uncertainty after the resident cases. Questions for fellows Which uncertainty matters enough to change what you do today? Are you applying an organism-specific approach or reflexively using the same workup for every bacteremia? Is a prediction score helping with risk assessment, or are you asking it to exclude disease that it cannot reliably exclude? What does the local rapid panel detect, and what can it miss? If cultures remain positive, is the presumed source wrong, incompletely controlled, or not the whole story? For fellows. A negative TTE does not end the echocardiographic evaluation in every patient. The 2026 consensus supports TEE when risk remains higher because of an intracardiac device, predisposing valve disease, cultures positive at least 48 hours, embolic events, or more than one noncontiguous focus. Community onset and injection drug use also increase concern. 1 For fellows. Do not stretch the BALANCE result beyond its population. The trial excluded severe immunosuppression, prosthetic heart valves or endovascular grafts, deep foci requiring prolonged therapy, S. aureus , S. lugdunensis , possible contaminants, unusual pathogens requiring prolonged therapy, and fungemia. 7</a:t>
            </a:r>
          </a:p>
          <a:p xmlns:a="http://schemas.openxmlformats.org/drawingml/2006/main">
            <a:r>
              <a:t/>
            </a:r>
          </a:p>
          <a:p xmlns:a="http://schemas.openxmlformats.org/drawingml/2006/main">
            <a:r>
              <a:t>Module section: https://docarcshot.github.io/id-practice-update/lectures/Positive_Blood_Cultures_Contaminant_Source_Clearance_Source_Control.html#fellow-gn-discussion</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Where these cases usually go off track Calling it from the bottle count “One bottle means contamination” and “two bottles mean true infection” are unreliable shortcuts. Start with the organism, independently collected sets, collection sites, host, devices, and syndrome. Stopping once a plausible source is found A positive urine culture may explain how bacteremia started. It does not make new back pain, an intracardiac device, persistent cultures, or embolic findings irrelevant. Repeating cultures by habit Follow-up cultures are essential in some infections and low yield in others. Know what question the next set is supposed to answer. Changing antibiotics instead of controlling the source A broader regimen does not drain an abscess, remove an infected line, decompress an obstruction, or debride necrotic tissue. Overreading the rapid panel An organism or resistance gene detected on a panel is not a complete phenotype. Know the local assay and wait for conventional results when they matter. Choosing duration from memory There is no single bacteremia duration. The answer depends on the organism, source, extent, source control, host, response, and the population actually studied.</a:t>
            </a:r>
          </a:p>
          <a:p xmlns:a="http://schemas.openxmlformats.org/drawingml/2006/main">
            <a:r>
              <a:t/>
            </a:r>
          </a:p>
          <a:p xmlns:a="http://schemas.openxmlformats.org/drawingml/2006/main">
            <a:r>
              <a:t>Module section: https://docarcshot.github.io/id-practice-update/lectures/Positive_Blood_Cultures_Contaminant_Source_Clearance_Source_Control.html#traps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Where these cases usually go off track Calling it from the bottle count “One bottle means contamination” and “two bottles mean true infection” are unreliable shortcuts. Start with the organism, independently collected sets, collection sites, host, devices, and syndrome. Stopping once a plausible source is found A positive urine culture may explain how bacteremia started. It does not make new back pain, an intracardiac device, persistent cultures, or embolic findings irrelevant. Repeating cultures by habit Follow-up cultures are essential in some infections and low yield in others. Know what question the next set is supposed to answer. Changing antibiotics instead of controlling the source A broader regimen does not drain an abscess, remove an infected line, decompress an obstruction, or debride necrotic tissue. Overreading the rapid panel An organism or resistance gene detected on a panel is not a complete phenotype. Know the local assay and wait for conventional results when they matter. Choosing duration from memory There is no single bacteremia duration. The answer depends on the organism, source, extent, source control, host, response, and the population actually studied.</a:t>
            </a:r>
          </a:p>
          <a:p xmlns:a="http://schemas.openxmlformats.org/drawingml/2006/main">
            <a:r>
              <a:t/>
            </a:r>
          </a:p>
          <a:p xmlns:a="http://schemas.openxmlformats.org/drawingml/2006/main">
            <a:r>
              <a:t>Module section: https://docarcshot.github.io/id-practice-update/lectures/Positive_Blood_Cultures_Contaminant_Source_Clearance_Source_Control.html#traps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Where these cases usually go off track Calling it from the bottle count “One bottle means contamination” and “two bottles mean true infection” are unreliable shortcuts. Start with the organism, independently collected sets, collection sites, host, devices, and syndrome. Stopping once a plausible source is found A positive urine culture may explain how bacteremia started. It does not make new back pain, an intracardiac device, persistent cultures, or embolic findings irrelevant. Repeating cultures by habit Follow-up cultures are essential in some infections and low yield in others. Know what question the next set is supposed to answer. Changing antibiotics instead of controlling the source A broader regimen does not drain an abscess, remove an infected line, decompress an obstruction, or debride necrotic tissue. Overreading the rapid panel An organism or resistance gene detected on a panel is not a complete phenotype. Know the local assay and wait for conventional results when they matter. Choosing duration from memory There is no single bacteremia duration. The answer depends on the organism, source, extent, source control, host, response, and the population actually studied.</a:t>
            </a:r>
          </a:p>
          <a:p xmlns:a="http://schemas.openxmlformats.org/drawingml/2006/main">
            <a:r>
              <a:t/>
            </a:r>
          </a:p>
          <a:p xmlns:a="http://schemas.openxmlformats.org/drawingml/2006/main">
            <a:r>
              <a:t>Module section: https://docarcshot.github.io/id-practice-update/lectures/Positive_Blood_Cultures_Contaminant_Source_Clearance_Source_Control.html#traps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Where these cases usually go off track Calling it from the bottle count “One bottle means contamination” and “two bottles mean true infection” are unreliable shortcuts. Start with the organism, independently collected sets, collection sites, host, devices, and syndrome. Stopping once a plausible source is found A positive urine culture may explain how bacteremia started. It does not make new back pain, an intracardiac device, persistent cultures, or embolic findings irrelevant. Repeating cultures by habit Follow-up cultures are essential in some infections and low yield in others. Know what question the next set is supposed to answer. Changing antibiotics instead of controlling the source A broader regimen does not drain an abscess, remove an infected line, decompress an obstruction, or debride necrotic tissue. Overreading the rapid panel An organism or resistance gene detected on a panel is not a complete phenotype. Know the local assay and wait for conventional results when they matter. Choosing duration from memory There is no single bacteremia duration. The answer depends on the organism, source, extent, source control, host, response, and the population actually studied.</a:t>
            </a:r>
          </a:p>
          <a:p xmlns:a="http://schemas.openxmlformats.org/drawingml/2006/main">
            <a:r>
              <a:t/>
            </a:r>
          </a:p>
          <a:p xmlns:a="http://schemas.openxmlformats.org/drawingml/2006/main">
            <a:r>
              <a:t>Module section: https://docarcshot.github.io/id-practice-update/lectures/Positive_Blood_Cultures_Contaminant_Source_Clearance_Source_Control.html#traps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Where these cases usually go off track Calling it from the bottle count “One bottle means contamination” and “two bottles mean true infection” are unreliable shortcuts. Start with the organism, independently collected sets, collection sites, host, devices, and syndrome. Stopping once a plausible source is found A positive urine culture may explain how bacteremia started. It does not make new back pain, an intracardiac device, persistent cultures, or embolic findings irrelevant. Repeating cultures by habit Follow-up cultures are essential in some infections and low yield in others. Know what question the next set is supposed to answer. Changing antibiotics instead of controlling the source A broader regimen does not drain an abscess, remove an infected line, decompress an obstruction, or debride necrotic tissue. Overreading the rapid panel An organism or resistance gene detected on a panel is not a complete phenotype. Know the local assay and wait for conventional results when they matter. Choosing duration from memory There is no single bacteremia duration. The answer depends on the organism, source, extent, source control, host, response, and the population actually studied.</a:t>
            </a:r>
          </a:p>
          <a:p xmlns:a="http://schemas.openxmlformats.org/drawingml/2006/main">
            <a:r>
              <a:t/>
            </a:r>
          </a:p>
          <a:p xmlns:a="http://schemas.openxmlformats.org/drawingml/2006/main">
            <a:r>
              <a:t>Module section: https://docarcshot.github.io/id-practice-update/lectures/Positive_Blood_Cultures_Contaminant_Source_Clearance_Source_Control.html#traps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Where these cases usually go off track Calling it from the bottle count “One bottle means contamination” and “two bottles mean true infection” are unreliable shortcuts. Start with the organism, independently collected sets, collection sites, host, devices, and syndrome. Stopping once a plausible source is found A positive urine culture may explain how bacteremia started. It does not make new back pain, an intracardiac device, persistent cultures, or embolic findings irrelevant. Repeating cultures by habit Follow-up cultures are essential in some infections and low yield in others. Know what question the next set is supposed to answer. Changing antibiotics instead of controlling the source A broader regimen does not drain an abscess, remove an infected line, decompress an obstruction, or debride necrotic tissue. Overreading the rapid panel An organism or resistance gene detected on a panel is not a complete phenotype. Know the local assay and wait for conventional results when they matter. Choosing duration from memory There is no single bacteremia duration. The answer depends on the organism, source, extent, source control, host, response, and the population actually studied.</a:t>
            </a:r>
          </a:p>
          <a:p xmlns:a="http://schemas.openxmlformats.org/drawingml/2006/main">
            <a:r>
              <a:t/>
            </a:r>
          </a:p>
          <a:p xmlns:a="http://schemas.openxmlformats.org/drawingml/2006/main">
            <a:r>
              <a:t>Module section: https://docarcshot.github.io/id-practice-update/lectures/Positive_Blood_Cultures_Contaminant_Source_Clearance_Source_Control.html#traps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Knowledge check 1. One of four bottles grows S. aureus . The patient looks well. Contaminant? Answer No. Treat as clinically significant and begin the S. aureus bacteremia evaluation. Bottle count does not make S. aureus a contaminant. 2. When should adult S. aureus follow-up cultures be obtained? Answer The 2026 IDSA/ESCMID consensus suggests at least two sets at 48 hours after sampling of the first positive culture, then one or two sets every 24 to 48 hours until negative. Intensify for ongoing illness, deep or endovascular infection, or persistence. 3. Does every adult with S. aureus bacteremia need TTE? Answer The 2026 consensus suggests routine TTE for all adults with S. aureus bacteremia. TEE is risk-based after TTE, not automatically omitted because TTE is negative. 4. An improving patient has E. coli bacteremia from pyelonephritis after ureteral decompression. Repeat daily cultures? Answer Usually no, if this meets uncomplicated gram-negative BSI criteria. Repeat if response is inadequate, an endovascular focus is possible, or source control is limited. 5. One set grows Corynebacterium in a patient with a prosthetic valve. Ignore it? Answer No. It may still be contamination, but prosthetic material raises the consequence and probability of true infection. Reassess the syndrome and obtain properly collected repeat sets before dismissing it. 6. What does a catheter culture turning positive 2.5 hours before a simultaneous peripheral culture suggest? Answer If collected simultaneously with comparable volumes, a differential time to positivity of at least 2 hours supports a catheter source. It does not prove it and must be interpreted with the organism and clinical context. 7. Can the BALANCE trial justify 7 days for candidemia or S. aureus bacteremia? Answer No. The trial excluded fungemia, S. aureus , S. lugdunensis , deep foci requiring prolonged therapy, and other important high-risk groups. 8. What is the most useful one-sentence bacteremia recommendation? Answer 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a:p xmlns:a="http://schemas.openxmlformats.org/drawingml/2006/main">
            <a:r>
              <a:t/>
            </a:r>
          </a:p>
          <a:p xmlns:a="http://schemas.openxmlformats.org/drawingml/2006/main">
            <a:r>
              <a:t>Module section: https://docarcshot.github.io/id-practice-update/lectures/Positive_Blood_Cultures_Contaminant_Source_Clearance_Source_Control.html#quiz</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Positive blood cultures: one-page rounds sheet 1. Validate Organism. Independent sets and sites. Blood volume and collection quality. Host and devices. Compatible syndrome. Trajectory. 2. Stabilize Is current therapy active and timely? Do not wait for final susceptibility in an unstable patient. Use local empiric guidance. 3. Localize Portal: urine, biliary/abdomen, lung, skin/wound, catheter. Extent: valve/device, thrombus, spine, joint, bone, abscess, embolic sites. 4. Clear selectively S. aureus : 2 sets at 48 h, then q24–48 h until negative. Candida : daily or every other day. Uncomplicated GN BSI: usually no repeat. 5. Control Remove line/device when indicated. Drain. Debride. Decompress. Repair leak or fistula. Name owner and timing. 6. Set the clock Document the duration anchor and stop date. S. aureus : clearance or later focus removal. Candidemia: clearance plus symptom resolution; deep foci change duration. 7. Communicate Significance + source + action + contingency. State what result or clinical change reopens the workup. 8. Handoff safely Drug/dose/route, stop date, pending results and owner, source control, retained material, monitoring, follow-up, return triggers. Do not do these: call S. aureus or yeast a contaminant; use bottle count alone; repeat every culture daily; assume antibiotics replace source control; generalize 7-day data to excluded pathogens or deep foci.</a:t>
            </a:r>
          </a:p>
          <a:p xmlns:a="http://schemas.openxmlformats.org/drawingml/2006/main">
            <a:r>
              <a:t/>
            </a:r>
          </a:p>
          <a:p xmlns:a="http://schemas.openxmlformats.org/drawingml/2006/main">
            <a:r>
              <a:t>Module section: https://docarcshot.github.io/id-practice-update/lectures/Positive_Blood_Cultures_Contaminant_Source_Clearance_Source_Control.html#cheat-sheet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Positive blood cultures: one-page rounds sheet 1. Validate Organism. Independent sets and sites. Blood volume and collection quality. Host and devices. Compatible syndrome. Trajectory. 2. Stabilize Is current therapy active and timely? Do not wait for final susceptibility in an unstable patient. Use local empiric guidance. 3. Localize Portal: urine, biliary/abdomen, lung, skin/wound, catheter. Extent: valve/device, thrombus, spine, joint, bone, abscess, embolic sites. 4. Clear selectively S. aureus : 2 sets at 48 h, then q24–48 h until negative. Candida : daily or every other day. Uncomplicated GN BSI: usually no repeat. 5. Control Remove line/device when indicated. Drain. Debride. Decompress. Repair leak or fistula. Name owner and timing. 6. Set the clock Document the duration anchor and stop date. S. aureus : clearance or later focus removal. Candidemia: clearance plus symptom resolution; deep foci change duration. 7. Communicate Significance + source + action + contingency. State what result or clinical change reopens the workup. 8. Handoff safely Drug/dose/route, stop date, pending results and owner, source control, retained material, monitoring, follow-up, return triggers. Do not do these: call S. aureus or yeast a contaminant; use bottle count alone; repeat every culture daily; assume antibiotics replace source control; generalize 7-day data to excluded pathogens or deep foci.</a:t>
            </a:r>
          </a:p>
          <a:p xmlns:a="http://schemas.openxmlformats.org/drawingml/2006/main">
            <a:r>
              <a:t/>
            </a:r>
          </a:p>
          <a:p xmlns:a="http://schemas.openxmlformats.org/drawingml/2006/main">
            <a:r>
              <a:t>Module section: https://docarcshot.github.io/id-practice-update/lectures/Positive_Blood_Cultures_Contaminant_Source_Clearance_Source_Control.html#cheat-sheet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Positive blood cultures: one-page rounds sheet 1. Validate Organism. Independent sets and sites. Blood volume and collection quality. Host and devices. Compatible syndrome. Trajectory. 2. Stabilize Is current therapy active and timely? Do not wait for final susceptibility in an unstable patient. Use local empiric guidance. 3. Localize Portal: urine, biliary/abdomen, lung, skin/wound, catheter. Extent: valve/device, thrombus, spine, joint, bone, abscess, embolic sites. 4. Clear selectively S. aureus : 2 sets at 48 h, then q24–48 h until negative. Candida : daily or every other day. Uncomplicated GN BSI: usually no repeat. 5. Control Remove line/device when indicated. Drain. Debride. Decompress. Repair leak or fistula. Name owner and timing. 6. Set the clock Document the duration anchor and stop date. S. aureus : clearance or later focus removal. Candidemia: clearance plus symptom resolution; deep foci change duration. 7. Communicate Significance + source + action + contingency. State what result or clinical change reopens the workup. 8. Handoff safely Drug/dose/route, stop date, pending results and owner, source control, retained material, monitoring, follow-up, return triggers. Do not do these: call S. aureus or yeast a contaminant; use bottle count alone; repeat every culture daily; assume antibiotics replace source control; generalize 7-day data to excluded pathogens or deep foci.</a:t>
            </a:r>
          </a:p>
          <a:p xmlns:a="http://schemas.openxmlformats.org/drawingml/2006/main">
            <a:r>
              <a:t/>
            </a:r>
          </a:p>
          <a:p xmlns:a="http://schemas.openxmlformats.org/drawingml/2006/main">
            <a:r>
              <a:t>Module section: https://docarcshot.github.io/id-practice-update/lectures/Positive_Blood_Cultures_Contaminant_Source_Clearance_Source_Control.html#cheat-sheet</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https://docarcshot.github.io/id-practice-update/lectures/Positive_Blood_Cultures_Contaminant_Source_Clearance_Source_Control.html#references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https://docarcshot.github.io/id-practice-update/lectures/Positive_Blood_Cultures_Contaminant_Source_Clearance_Source_Control.html#ref-1</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https://docarcshot.github.io/id-practice-update/lectures/Positive_Blood_Cultures_Contaminant_Source_Clearance_Source_Control.html#ref-2</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https://docarcshot.github.io/id-practice-update/lectures/Positive_Blood_Cultures_Contaminant_Source_Clearance_Source_Control.html#ref-3</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https://docarcshot.github.io/id-practice-update/lectures/Positive_Blood_Cultures_Contaminant_Source_Clearance_Source_Control.html#ref-4</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https://docarcshot.github.io/id-practice-update/lectures/Positive_Blood_Cultures_Contaminant_Source_Clearance_Source_Control.html#ref-5</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https://docarcshot.github.io/id-practice-update/lectures/Positive_Blood_Cultures_Contaminant_Source_Clearance_Source_Control.html#ref-6</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https://docarcshot.github.io/id-practice-update/lectures/Positive_Blood_Cultures_Contaminant_Source_Clearance_Source_Control.html#ref-7</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https://docarcshot.github.io/id-practice-update/lectures/Positive_Blood_Cultures_Contaminant_Source_Clearance_Source_Control.html#ref-8</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and evidence notes 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 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 GUIDELINE Pappas PG, Kauffman CA, Andes DR, et al. Clinical Practice Guideline for the Management of Candidiasis: 2016 Update by IDSA. Clin Infect Dis. 2016;62(4):e1-e50. Published online December 16, 2015. doi:10.1093/cid/civ933. IDSA guideline . Reviewed September 13, 2026. LABORATORY REPORT Palavecino EL, Campigotto A, She RC, et al. Laboratory approaches to determining blood culture contamination rates: an ASM Laboratory Practices Subcommittee report. J Clin Microbiol. 2024;62(1):e01028-23. doi:10.1128/jcm.01028-23. Article . Reviewed September 13, 2026. 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 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 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 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 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 For clinical use. Check current site microbiology, antibiogram, formulary, diagnostic access, pharmacy dosing, and OPAT processes.</a:t>
            </a:r>
          </a:p>
          <a:p xmlns:a="http://schemas.openxmlformats.org/drawingml/2006/main">
            <a:r>
              <a:t/>
            </a:r>
          </a:p>
          <a:p xmlns:a="http://schemas.openxmlformats.org/drawingml/2006/main">
            <a:r>
              <a:t>Module section: https://docarcshot.github.io/id-practice-update/lectures/Positive_Blood_Cultures_Contaminant_Source_Clearance_Source_Control.html#references</a:t>
            </a:r>
          </a:p>
          <a:p xmlns:a="http://schemas.openxmlformats.org/drawingml/2006/main">
            <a:r>
              <a:t/>
            </a:r>
          </a:p>
          <a:p xmlns:a="http://schemas.openxmlformats.org/drawingml/2006/main">
            <a:r>
              <a:t>Public sources and related reading:</a:t>
            </a:r>
          </a:p>
          <a:p xmlns:a="http://schemas.openxmlformats.org/drawingml/2006/main">
            <a:r>
              <a:t>https://www.idsociety.org/practice-guideline/staphylococcus-aureus-bacteremia/</a:t>
            </a:r>
          </a:p>
          <a:p xmlns:a="http://schemas.openxmlformats.org/drawingml/2006/main">
            <a:r>
              <a:t>https://www.idsociety.org/practice-guideline/candidiasis/</a:t>
            </a:r>
          </a:p>
          <a:p xmlns:a="http://schemas.openxmlformats.org/drawingml/2006/main">
            <a:r>
              <a:t>https://doi.org/10.1128/jcm.01028-23</a:t>
            </a:r>
          </a:p>
          <a:p xmlns:a="http://schemas.openxmlformats.org/drawingml/2006/main">
            <a:r>
              <a:t>https://doi.org/10.1128/cmr.00087-24</a:t>
            </a:r>
          </a:p>
          <a:p xmlns:a="http://schemas.openxmlformats.org/drawingml/2006/main">
            <a:r>
              <a:t>https://pmc.ncbi.nlm.nih.gov/articles/PMC4039170/</a:t>
            </a:r>
          </a:p>
          <a:p xmlns:a="http://schemas.openxmlformats.org/drawingml/2006/main">
            <a:r>
              <a:t>https://academic.oup.com/ofid/article/8/10/ofab434/6355731</a:t>
            </a:r>
          </a:p>
          <a:p xmlns:a="http://schemas.openxmlformats.org/drawingml/2006/main">
            <a:r>
              <a:t>https://pubmed.ncbi.nlm.nih.gov/39565030/</a:t>
            </a:r>
          </a:p>
          <a:p xmlns:a="http://schemas.openxmlformats.org/drawingml/2006/main">
            <a:r>
              <a:t>https://pubmed.ncbi.nlm.nih.gov/27678085/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6f8ed6b58747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a100e83f7e47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8d81a7919947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25603d8c134d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4a157dd61b45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51f095a6f84e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1092B5-9151-4386-B14D-1BBC692F95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60DD56-D379-45D0-A1C8-CF0A0F2373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ED9CB7-AC9A-4F8D-8078-90FBE18FC3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7CCA78-9AB5-4EEF-BDBE-05D81DAA33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192649-D38D-48EB-A8CF-C7BEBADCD8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A3AEC6-F4FB-491C-B8BE-C00F9CFE4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6E2DD4-7879-4C3D-B130-AC1A7F75D6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23A12D3-C63F-4F55-A0CD-6A1A976094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AE0DEB-5954-4DD5-8013-E34B70FF95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D2ACD6-0D41-473D-BEE5-7A6D24DF76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a1dbffbf32403a" /><Relationship Type="http://schemas.openxmlformats.org/officeDocument/2006/relationships/slideLayout" Target="/ppt/slideLayouts/slideLayout1.xml" Id="R44c20f3e5dfd4975" /><Relationship Type="http://schemas.openxmlformats.org/officeDocument/2006/relationships/slideLayout" Target="/ppt/slideLayouts/slideLayout2.xml" Id="R8d92d164998b4e31" /><Relationship Type="http://schemas.openxmlformats.org/officeDocument/2006/relationships/slideLayout" Target="/ppt/slideLayouts/slideLayout3.xml" Id="R0757edef14c54283" /><Relationship Type="http://schemas.openxmlformats.org/officeDocument/2006/relationships/slideLayout" Target="/ppt/slideLayouts/slideLayout4.xml" Id="R9d4a9ac8bd0e4e4b" /><Relationship Type="http://schemas.openxmlformats.org/officeDocument/2006/relationships/slideLayout" Target="/ppt/slideLayouts/slideLayout5.xml" Id="Rbc481041a1d84a0e" /><Relationship Type="http://schemas.openxmlformats.org/officeDocument/2006/relationships/slideLayout" Target="/ppt/slideLayouts/slideLayout6.xml" Id="Rcaacfdd9ac5e4a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c20f3e5dfd4975"/>
    <p:sldLayoutId xmlns:r="http://schemas.openxmlformats.org/officeDocument/2006/relationships" id="2147483650" r:id="R8d92d164998b4e31"/>
    <p:sldLayoutId xmlns:r="http://schemas.openxmlformats.org/officeDocument/2006/relationships" id="2147483651" r:id="R0757edef14c54283"/>
    <p:sldLayoutId xmlns:r="http://schemas.openxmlformats.org/officeDocument/2006/relationships" id="2147483652" r:id="R9d4a9ac8bd0e4e4b"/>
    <p:sldLayoutId xmlns:r="http://schemas.openxmlformats.org/officeDocument/2006/relationships" id="2147483653" r:id="Rbc481041a1d84a0e"/>
    <p:sldLayoutId xmlns:r="http://schemas.openxmlformats.org/officeDocument/2006/relationships" id="2147483654" r:id="Rcaacfdd9ac5e4a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ac9fd11b894cd5" /><Relationship Type="http://schemas.openxmlformats.org/officeDocument/2006/relationships/notesSlide" Target="/ppt/notesSlides/notesSlide1.xml" Id="Re7391514f7fc4f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0c0feae2a94057" /><Relationship Type="http://schemas.openxmlformats.org/officeDocument/2006/relationships/notesSlide" Target="/ppt/notesSlides/notesSlide2.xml" Id="Rc91edf0fc6e646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43a9cba1cc480d" /><Relationship Type="http://schemas.openxmlformats.org/officeDocument/2006/relationships/notesSlide" Target="/ppt/notesSlides/notesSlide3.xml" Id="R5a496bcf80d948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b15d203de646de" /><Relationship Type="http://schemas.openxmlformats.org/officeDocument/2006/relationships/notesSlide" Target="/ppt/notesSlides/notesSlide4.xml" Id="R5cbf94fe10a749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a1a7b581684e8d" /><Relationship Type="http://schemas.openxmlformats.org/officeDocument/2006/relationships/notesSlide" Target="/ppt/notesSlides/notesSlide5.xml" Id="R764a4e9546f141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413a4d39fe421b" /><Relationship Type="http://schemas.openxmlformats.org/officeDocument/2006/relationships/notesSlide" Target="/ppt/notesSlides/notesSlide6.xml" Id="R89bd5850d95a44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ea0343db82435b" /><Relationship Type="http://schemas.openxmlformats.org/officeDocument/2006/relationships/notesSlide" Target="/ppt/notesSlides/notesSlide7.xml" Id="Rd58ff66fe9ff47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dd8c1f541e14bdf" /><Relationship Type="http://schemas.openxmlformats.org/officeDocument/2006/relationships/notesSlide" Target="/ppt/notesSlides/notesSlide8.xml" Id="Ra296f5977fff44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73c9db63c74b62" /><Relationship Type="http://schemas.openxmlformats.org/officeDocument/2006/relationships/notesSlide" Target="/ppt/notesSlides/notesSlide9.xml" Id="R6ee3375652bc42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814a2199104e41" /><Relationship Type="http://schemas.openxmlformats.org/officeDocument/2006/relationships/notesSlide" Target="/ppt/notesSlides/notesSlide10.xml" Id="Rb1d1bf9cdc1740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1144ee8b8b7400b" /><Relationship Type="http://schemas.openxmlformats.org/officeDocument/2006/relationships/notesSlide" Target="/ppt/notesSlides/notesSlide11.xml" Id="Rc96b94d20a6242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b6eb42ff1c48a0" /><Relationship Type="http://schemas.openxmlformats.org/officeDocument/2006/relationships/notesSlide" Target="/ppt/notesSlides/notesSlide12.xml" Id="Ra005f17c78b54f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ff35bbb81ae45c9" /><Relationship Type="http://schemas.openxmlformats.org/officeDocument/2006/relationships/notesSlide" Target="/ppt/notesSlides/notesSlide13.xml" Id="R8fbc52be25614d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72d8b9fb7e4ced" /><Relationship Type="http://schemas.openxmlformats.org/officeDocument/2006/relationships/notesSlide" Target="/ppt/notesSlides/notesSlide14.xml" Id="Red6c5bc54eae4b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f1726ea39b46a3" /><Relationship Type="http://schemas.openxmlformats.org/officeDocument/2006/relationships/notesSlide" Target="/ppt/notesSlides/notesSlide15.xml" Id="Rf2b1b49c611042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fbf8167d2154c3e" /><Relationship Type="http://schemas.openxmlformats.org/officeDocument/2006/relationships/notesSlide" Target="/ppt/notesSlides/notesSlide16.xml" Id="Rd93e0fb2a4294a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961693d2e334494" /><Relationship Type="http://schemas.openxmlformats.org/officeDocument/2006/relationships/notesSlide" Target="/ppt/notesSlides/notesSlide17.xml" Id="Ra2025709bccb4f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c4d907ddc2f4b5a" /><Relationship Type="http://schemas.openxmlformats.org/officeDocument/2006/relationships/notesSlide" Target="/ppt/notesSlides/notesSlide18.xml" Id="R80d237a2b0f749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ff3e600229c479d" /><Relationship Type="http://schemas.openxmlformats.org/officeDocument/2006/relationships/notesSlide" Target="/ppt/notesSlides/notesSlide19.xml" Id="Rfa3c7815140e40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58ffa33b1dc4f47" /><Relationship Type="http://schemas.openxmlformats.org/officeDocument/2006/relationships/notesSlide" Target="/ppt/notesSlides/notesSlide20.xml" Id="Re0b4b96d64f84b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cf33f91e8e34daa" /><Relationship Type="http://schemas.openxmlformats.org/officeDocument/2006/relationships/notesSlide" Target="/ppt/notesSlides/notesSlide21.xml" Id="R30e8d169ae6345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dc35c4a54a444c7" /><Relationship Type="http://schemas.openxmlformats.org/officeDocument/2006/relationships/notesSlide" Target="/ppt/notesSlides/notesSlide22.xml" Id="Rcc7e20e00d424af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b033a381ac4b7c" /><Relationship Type="http://schemas.openxmlformats.org/officeDocument/2006/relationships/notesSlide" Target="/ppt/notesSlides/notesSlide23.xml" Id="R7df7f869689248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41f46685bbd4606" /><Relationship Type="http://schemas.openxmlformats.org/officeDocument/2006/relationships/notesSlide" Target="/ppt/notesSlides/notesSlide24.xml" Id="Rdf62a506737140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7e92017644b4560" /><Relationship Type="http://schemas.openxmlformats.org/officeDocument/2006/relationships/notesSlide" Target="/ppt/notesSlides/notesSlide25.xml" Id="Rfb02a8cf61e4416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8b4a87883904bf8" /><Relationship Type="http://schemas.openxmlformats.org/officeDocument/2006/relationships/notesSlide" Target="/ppt/notesSlides/notesSlide26.xml" Id="R73d01383458648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80d824b8bd44ec5" /><Relationship Type="http://schemas.openxmlformats.org/officeDocument/2006/relationships/notesSlide" Target="/ppt/notesSlides/notesSlide27.xml" Id="Rfe8a3aa8b94f4ff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52bb073800f4809" /><Relationship Type="http://schemas.openxmlformats.org/officeDocument/2006/relationships/notesSlide" Target="/ppt/notesSlides/notesSlide28.xml" Id="R0d2d97265dca49e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c6618430120404a" /><Relationship Type="http://schemas.openxmlformats.org/officeDocument/2006/relationships/notesSlide" Target="/ppt/notesSlides/notesSlide29.xml" Id="R9856f399ac4640c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3a4b03d51c441d1" /><Relationship Type="http://schemas.openxmlformats.org/officeDocument/2006/relationships/notesSlide" Target="/ppt/notesSlides/notesSlide30.xml" Id="Rc2d82b3688e7481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4eff3656a1b45ec" /><Relationship Type="http://schemas.openxmlformats.org/officeDocument/2006/relationships/notesSlide" Target="/ppt/notesSlides/notesSlide31.xml" Id="R3f93353d4d8841c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229648b7df7401b" /><Relationship Type="http://schemas.openxmlformats.org/officeDocument/2006/relationships/notesSlide" Target="/ppt/notesSlides/notesSlide32.xml" Id="R0af8ee15db934cf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605e70170974cdb" /><Relationship Type="http://schemas.openxmlformats.org/officeDocument/2006/relationships/notesSlide" Target="/ppt/notesSlides/notesSlide33.xml" Id="R52f2fca8a43c4e7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b26e8901f2948b2" /><Relationship Type="http://schemas.openxmlformats.org/officeDocument/2006/relationships/notesSlide" Target="/ppt/notesSlides/notesSlide34.xml" Id="R19628047849248c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766f4f0ea16467b" /><Relationship Type="http://schemas.openxmlformats.org/officeDocument/2006/relationships/notesSlide" Target="/ppt/notesSlides/notesSlide35.xml" Id="Rdf15efb355d84bd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c5c5ec1bd19433b" /><Relationship Type="http://schemas.openxmlformats.org/officeDocument/2006/relationships/notesSlide" Target="/ppt/notesSlides/notesSlide36.xml" Id="R82212dbaaa4a437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d2f9c6241864ae2" /><Relationship Type="http://schemas.openxmlformats.org/officeDocument/2006/relationships/notesSlide" Target="/ppt/notesSlides/notesSlide37.xml" Id="Rc97f46c912af4c0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f2dd6e2f6e546a6" /><Relationship Type="http://schemas.openxmlformats.org/officeDocument/2006/relationships/notesSlide" Target="/ppt/notesSlides/notesSlide38.xml" Id="R0ba34f0238b043b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4b986f11d944dc9" /><Relationship Type="http://schemas.openxmlformats.org/officeDocument/2006/relationships/notesSlide" Target="/ppt/notesSlides/notesSlide39.xml" Id="R292f2cf11b154e8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5d60a0a6507404a" /><Relationship Type="http://schemas.openxmlformats.org/officeDocument/2006/relationships/notesSlide" Target="/ppt/notesSlides/notesSlide40.xml" Id="R742252bc7645499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8a909fdfed04b61" /><Relationship Type="http://schemas.openxmlformats.org/officeDocument/2006/relationships/notesSlide" Target="/ppt/notesSlides/notesSlide41.xml" Id="Rca7f23f3ac2b47f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c38f15adfe44ad3" /><Relationship Type="http://schemas.openxmlformats.org/officeDocument/2006/relationships/notesSlide" Target="/ppt/notesSlides/notesSlide42.xml" Id="Rf3922c900f9a4ec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1fedb12c7d5479b" /><Relationship Type="http://schemas.openxmlformats.org/officeDocument/2006/relationships/notesSlide" Target="/ppt/notesSlides/notesSlide43.xml" Id="R45266245fc134f7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ca2250e9df14530" /><Relationship Type="http://schemas.openxmlformats.org/officeDocument/2006/relationships/notesSlide" Target="/ppt/notesSlides/notesSlide44.xml" Id="Rb0ee3018dbba4d7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127ae1d2a794900" /><Relationship Type="http://schemas.openxmlformats.org/officeDocument/2006/relationships/notesSlide" Target="/ppt/notesSlides/notesSlide45.xml" Id="R418d96c6c00b4bb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9b37ff871da42c7" /><Relationship Type="http://schemas.openxmlformats.org/officeDocument/2006/relationships/notesSlide" Target="/ppt/notesSlides/notesSlide46.xml" Id="R2d6c691b95034bb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fb61845b83d43c9" /><Relationship Type="http://schemas.openxmlformats.org/officeDocument/2006/relationships/notesSlide" Target="/ppt/notesSlides/notesSlide47.xml" Id="R9a3f2de7c46744a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f8fb34f847447fe" /><Relationship Type="http://schemas.openxmlformats.org/officeDocument/2006/relationships/notesSlide" Target="/ppt/notesSlides/notesSlide48.xml" Id="Rb7470c18b2774b8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f0a3150fe7f4a34" /><Relationship Type="http://schemas.openxmlformats.org/officeDocument/2006/relationships/notesSlide" Target="/ppt/notesSlides/notesSlide49.xml" Id="R602f62c8a7a449f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2395ebdd8324f7e" /><Relationship Type="http://schemas.openxmlformats.org/officeDocument/2006/relationships/notesSlide" Target="/ppt/notesSlides/notesSlide50.xml" Id="Rc37be566ae324cb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6ea3838160941fc" /><Relationship Type="http://schemas.openxmlformats.org/officeDocument/2006/relationships/notesSlide" Target="/ppt/notesSlides/notesSlide51.xml" Id="R08acf518592f403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e675de822414abb" /><Relationship Type="http://schemas.openxmlformats.org/officeDocument/2006/relationships/notesSlide" Target="/ppt/notesSlides/notesSlide52.xml" Id="Rec219cfa09364f7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b2880fc476c4620" /><Relationship Type="http://schemas.openxmlformats.org/officeDocument/2006/relationships/notesSlide" Target="/ppt/notesSlides/notesSlide53.xml" Id="R36a8765a5d614ff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864360bcf2334b01" /><Relationship Type="http://schemas.openxmlformats.org/officeDocument/2006/relationships/notesSlide" Target="/ppt/notesSlides/notesSlide54.xml" Id="Rc48fd742afb5413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cdf1d77f9fdd467b" /><Relationship Type="http://schemas.openxmlformats.org/officeDocument/2006/relationships/notesSlide" Target="/ppt/notesSlides/notesSlide55.xml" Id="Rf57a86172f20407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f07f6af8c8e4467d" /><Relationship Type="http://schemas.openxmlformats.org/officeDocument/2006/relationships/notesSlide" Target="/ppt/notesSlides/notesSlide56.xml" Id="Rd4bed9bb312f4ce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2952016fe16a4696" /><Relationship Type="http://schemas.openxmlformats.org/officeDocument/2006/relationships/notesSlide" Target="/ppt/notesSlides/notesSlide57.xml" Id="R424cea81e2bf464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6c5639751214c9f" /><Relationship Type="http://schemas.openxmlformats.org/officeDocument/2006/relationships/notesSlide" Target="/ppt/notesSlides/notesSlide58.xml" Id="R14a5ca57b35a472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5d58169a17934205" /><Relationship Type="http://schemas.openxmlformats.org/officeDocument/2006/relationships/notesSlide" Target="/ppt/notesSlides/notesSlide59.xml" Id="R89f255fb47d84f8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124f80550064efd" /><Relationship Type="http://schemas.openxmlformats.org/officeDocument/2006/relationships/notesSlide" Target="/ppt/notesSlides/notesSlide60.xml" Id="R8c2df1ef9e73434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6c3b755b286d468e" /><Relationship Type="http://schemas.openxmlformats.org/officeDocument/2006/relationships/notesSlide" Target="/ppt/notesSlides/notesSlide61.xml" Id="R4d73cba612c042f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cf1434c0affc4bcf" /><Relationship Type="http://schemas.openxmlformats.org/officeDocument/2006/relationships/notesSlide" Target="/ppt/notesSlides/notesSlide62.xml" Id="R1df2a16b7a1241c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0af2b37f6270486e" /><Relationship Type="http://schemas.openxmlformats.org/officeDocument/2006/relationships/notesSlide" Target="/ppt/notesSlides/notesSlide63.xml" Id="Rad991e8dbc79402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d253107b00f84ae3" /><Relationship Type="http://schemas.openxmlformats.org/officeDocument/2006/relationships/notesSlide" Target="/ppt/notesSlides/notesSlide64.xml" Id="R408e1c9d5c97451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31a73c7438144520" /><Relationship Type="http://schemas.openxmlformats.org/officeDocument/2006/relationships/notesSlide" Target="/ppt/notesSlides/notesSlide65.xml" Id="R5d2867a0fd7e4ee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c9f3e6ae73e94019" /><Relationship Type="http://schemas.openxmlformats.org/officeDocument/2006/relationships/notesSlide" Target="/ppt/notesSlides/notesSlide66.xml" Id="R14e9e5d27965447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cfad8a0d4c12407d" /><Relationship Type="http://schemas.openxmlformats.org/officeDocument/2006/relationships/notesSlide" Target="/ppt/notesSlides/notesSlide67.xml" Id="Rfc71539bb02743a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7dca6a03354a4869" /><Relationship Type="http://schemas.openxmlformats.org/officeDocument/2006/relationships/notesSlide" Target="/ppt/notesSlides/notesSlide68.xml" Id="R9c4b1318307a4f8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ffb5fddb418d4f92" /><Relationship Type="http://schemas.openxmlformats.org/officeDocument/2006/relationships/notesSlide" Target="/ppt/notesSlides/notesSlide69.xml" Id="Rfa4c01968d374e1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9cca49dc33df4443" /><Relationship Type="http://schemas.openxmlformats.org/officeDocument/2006/relationships/notesSlide" Target="/ppt/notesSlides/notesSlide70.xml" Id="Re7af0faae36f4e1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266b265d0a434233" /><Relationship Type="http://schemas.openxmlformats.org/officeDocument/2006/relationships/notesSlide" Target="/ppt/notesSlides/notesSlide71.xml" Id="R86cbc4c405ae46e9"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39b51f8cb5a84fe4" /><Relationship Type="http://schemas.openxmlformats.org/officeDocument/2006/relationships/notesSlide" Target="/ppt/notesSlides/notesSlide72.xml" Id="R8de4e753662d4bd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c14bbc20189b4d03" /><Relationship Type="http://schemas.openxmlformats.org/officeDocument/2006/relationships/notesSlide" Target="/ppt/notesSlides/notesSlide73.xml" Id="R6f06273961c3449c"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5fbbc6f8b94f4ed1" /><Relationship Type="http://schemas.openxmlformats.org/officeDocument/2006/relationships/notesSlide" Target="/ppt/notesSlides/notesSlide74.xml" Id="Ra46fe73bad864b2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047806da823a4af6" /><Relationship Type="http://schemas.openxmlformats.org/officeDocument/2006/relationships/notesSlide" Target="/ppt/notesSlides/notesSlide75.xml" Id="R745c5d6d7324439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b0d0276376945e0" /><Relationship Type="http://schemas.openxmlformats.org/officeDocument/2006/relationships/notesSlide" Target="/ppt/notesSlides/notesSlide76.xml" Id="R824acd08c4a1409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9b2b89e1526d4c04" /><Relationship Type="http://schemas.openxmlformats.org/officeDocument/2006/relationships/notesSlide" Target="/ppt/notesSlides/notesSlide77.xml" Id="R36edf2b5cb8c4ab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a656fd7ffc294fc8" /><Relationship Type="http://schemas.openxmlformats.org/officeDocument/2006/relationships/notesSlide" Target="/ppt/notesSlides/notesSlide78.xml" Id="R96f54308d9c94f4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4fb87e64c1dd434a" /><Relationship Type="http://schemas.openxmlformats.org/officeDocument/2006/relationships/notesSlide" Target="/ppt/notesSlides/notesSlide79.xml" Id="R44a20abba83747c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d9d38f318de04a5f" /><Relationship Type="http://schemas.openxmlformats.org/officeDocument/2006/relationships/notesSlide" Target="/ppt/notesSlides/notesSlide80.xml" Id="R0c91f9307b9d454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3bb088a9311c483e" /><Relationship Type="http://schemas.openxmlformats.org/officeDocument/2006/relationships/notesSlide" Target="/ppt/notesSlides/notesSlide81.xml" Id="R6cc44326044d4caf"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035de18684774678" /><Relationship Type="http://schemas.openxmlformats.org/officeDocument/2006/relationships/notesSlide" Target="/ppt/notesSlides/notesSlide82.xml" Id="Ra3e44b9ae2474bf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503b369a1b854166" /><Relationship Type="http://schemas.openxmlformats.org/officeDocument/2006/relationships/notesSlide" Target="/ppt/notesSlides/notesSlide83.xml" Id="Ree62f032e1b7425a"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cf2cd9a7f69743a4" /><Relationship Type="http://schemas.openxmlformats.org/officeDocument/2006/relationships/notesSlide" Target="/ppt/notesSlides/notesSlide84.xml" Id="R944d36f0f8f544c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94fe5a7a3cd740cd" /><Relationship Type="http://schemas.openxmlformats.org/officeDocument/2006/relationships/notesSlide" Target="/ppt/notesSlides/notesSlide85.xml" Id="Ra564ed8a9a054d08"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b43a124568344a82" /><Relationship Type="http://schemas.openxmlformats.org/officeDocument/2006/relationships/notesSlide" Target="/ppt/notesSlides/notesSlide86.xml" Id="R83ef617f11014971"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114781e764044ecb" /><Relationship Type="http://schemas.openxmlformats.org/officeDocument/2006/relationships/notesSlide" Target="/ppt/notesSlides/notesSlide87.xml" Id="Rb5253339664a4dc3"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0dfc888b430a4bca" /><Relationship Type="http://schemas.openxmlformats.org/officeDocument/2006/relationships/notesSlide" Target="/ppt/notesSlides/notesSlide88.xml" Id="R8d396c89fee84a85"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445fee8b3a40451e" /><Relationship Type="http://schemas.openxmlformats.org/officeDocument/2006/relationships/notesSlide" Target="/ppt/notesSlides/notesSlide89.xml" Id="Rbf53c47cd44744c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f2edd31525e044e5" /><Relationship Type="http://schemas.openxmlformats.org/officeDocument/2006/relationships/notesSlide" Target="/ppt/notesSlides/notesSlide90.xml" Id="R9d70aa708fd74b26"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92c67364ec5d484a" /><Relationship Type="http://schemas.openxmlformats.org/officeDocument/2006/relationships/notesSlide" Target="/ppt/notesSlides/notesSlide91.xml" Id="Rd5779d0e021f4d37"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d23a06961bee43c1" /><Relationship Type="http://schemas.openxmlformats.org/officeDocument/2006/relationships/notesSlide" Target="/ppt/notesSlides/notesSlide92.xml" Id="R295e792028af4f24"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7e9116a123014fb5" /><Relationship Type="http://schemas.openxmlformats.org/officeDocument/2006/relationships/notesSlide" Target="/ppt/notesSlides/notesSlide93.xml" Id="Re603dd21f8814df5"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948746-EBEC-4018-A8C2-DBEBF54D3D59}"/>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Positive Blood Cultures</a:t>
            </a:r>
          </a:p>
        </p:txBody>
      </p:sp>
      <p:sp>
        <p:nvSpPr>
          <p:cNvPr id="2" name="subtitle">
            <a:extLst xmlns:a="http://schemas.openxmlformats.org/drawingml/2006/main">
              <a:ext uri="{FF2B5EF4-FFF2-40B4-BE49-F238E27FC236}">
                <a16:creationId xmlns:a16="http://schemas.microsoft.com/office/drawing/2014/main" id="{10D19AC1-CF83-4959-B73F-E83FADDCCFD6}"/>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592930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D106647-AA91-4753-AA6E-621C3942C5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you should be able to do</a:t>
            </a:r>
          </a:p>
        </p:txBody>
      </p:sp>
      <p:sp>
        <p:nvSpPr>
          <p:cNvPr id="2" name="paragraph-0">
            <a:extLst xmlns:a="http://schemas.openxmlformats.org/drawingml/2006/main">
              <a:ext uri="{FF2B5EF4-FFF2-40B4-BE49-F238E27FC236}">
                <a16:creationId xmlns:a16="http://schemas.microsoft.com/office/drawing/2014/main" id="{6547B309-9757-42D9-82C9-F1EA8655D7F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 · 30–45 minutes with discussion</a:t>
            </a:r>
          </a:p>
        </p:txBody>
      </p:sp>
      <p:sp>
        <p:nvSpPr>
          <p:cNvPr id="3" name="paragraph-1">
            <a:extLst xmlns:a="http://schemas.openxmlformats.org/drawingml/2006/main">
              <a:ext uri="{FF2B5EF4-FFF2-40B4-BE49-F238E27FC236}">
                <a16:creationId xmlns:a16="http://schemas.microsoft.com/office/drawing/2014/main" id="{8791717F-282F-4D72-A1C0-EF7D3CFC4624}"/>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blood culture is a piece of data, not yet a diagnosis. When the lab calls, I first want to know how sick the patient is, what grew, how the cultures were collected, and whether there is hardware or a source that needs attention. The antibiotic choice matters, but it is rarely the only decision.</a:t>
            </a:r>
          </a:p>
        </p:txBody>
      </p:sp>
      <p:sp>
        <p:nvSpPr>
          <p:cNvPr id="4" name="paragraph-2">
            <a:extLst xmlns:a="http://schemas.openxmlformats.org/drawingml/2006/main">
              <a:ext uri="{FF2B5EF4-FFF2-40B4-BE49-F238E27FC236}">
                <a16:creationId xmlns:a16="http://schemas.microsoft.com/office/drawing/2014/main" id="{F1491E57-E43F-4526-9801-ABC0AAD00985}"/>
              </a:ext>
            </a:extLst>
          </p:cNvPr>
          <p:cNvSpPr>
            <a:spLocks xmlns:a="http://schemas.openxmlformats.org/drawingml/2006/main" noGrp="1"/>
          </p:cNvSpPr>
          <p:nvPr/>
        </p:nvSpPr>
        <p:spPr>
          <a:xfrm xmlns:a="http://schemas.openxmlformats.org/drawingml/2006/main">
            <a:off x="647700" y="45815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Decide whether a positive culture is likely to represent true bloodstream infection, contamination, or an unresolved result.</a:t>
            </a:r>
          </a:p>
        </p:txBody>
      </p:sp>
      <p:sp>
        <p:nvSpPr>
          <p:cNvPr id="5" name="footer">
            <a:extLst xmlns:a="http://schemas.openxmlformats.org/drawingml/2006/main">
              <a:ext uri="{FF2B5EF4-FFF2-40B4-BE49-F238E27FC236}">
                <a16:creationId xmlns:a16="http://schemas.microsoft.com/office/drawing/2014/main" id="{9EAD6060-590D-4B48-AE8F-CB41CB5257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AE65F846-AF0F-4512-870C-44B564B2D3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148077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4A48888-9461-4547-A808-C9BBD3F416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you should be able to do</a:t>
            </a:r>
          </a:p>
        </p:txBody>
      </p:sp>
      <p:sp>
        <p:nvSpPr>
          <p:cNvPr id="2" name="paragraph-0">
            <a:extLst xmlns:a="http://schemas.openxmlformats.org/drawingml/2006/main">
              <a:ext uri="{FF2B5EF4-FFF2-40B4-BE49-F238E27FC236}">
                <a16:creationId xmlns:a16="http://schemas.microsoft.com/office/drawing/2014/main" id="{180EE5A7-193B-40EE-A887-81DD27B7A5D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Separate the likely portal of entry from possible endovascular or metastatic infection.</a:t>
            </a:r>
          </a:p>
        </p:txBody>
      </p:sp>
      <p:sp>
        <p:nvSpPr>
          <p:cNvPr id="3" name="paragraph-1">
            <a:extLst xmlns:a="http://schemas.openxmlformats.org/drawingml/2006/main">
              <a:ext uri="{FF2B5EF4-FFF2-40B4-BE49-F238E27FC236}">
                <a16:creationId xmlns:a16="http://schemas.microsoft.com/office/drawing/2014/main" id="{1E882BD5-346F-438D-A71C-20E4B3F0FC1C}"/>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Choose when follow-up blood cultures are useful and when they are probably unnecessary.</a:t>
            </a:r>
          </a:p>
        </p:txBody>
      </p:sp>
      <p:sp>
        <p:nvSpPr>
          <p:cNvPr id="4" name="paragraph-2">
            <a:extLst xmlns:a="http://schemas.openxmlformats.org/drawingml/2006/main">
              <a:ext uri="{FF2B5EF4-FFF2-40B4-BE49-F238E27FC236}">
                <a16:creationId xmlns:a16="http://schemas.microsoft.com/office/drawing/2014/main" id="{9EFCC04B-B888-4C47-93A4-6A9CF36E435D}"/>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Identify needed source control and determine which date should anchor treatment duration.</a:t>
            </a:r>
          </a:p>
        </p:txBody>
      </p:sp>
      <p:sp>
        <p:nvSpPr>
          <p:cNvPr id="5" name="paragraph-3">
            <a:extLst xmlns:a="http://schemas.openxmlformats.org/drawingml/2006/main">
              <a:ext uri="{FF2B5EF4-FFF2-40B4-BE49-F238E27FC236}">
                <a16:creationId xmlns:a16="http://schemas.microsoft.com/office/drawing/2014/main" id="{959A7F05-5A8A-4876-A287-633D12AA6029}"/>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Give the primary team a clear recommendation, including what could change it.</a:t>
            </a:r>
          </a:p>
        </p:txBody>
      </p:sp>
      <p:sp>
        <p:nvSpPr>
          <p:cNvPr id="6" name="footer">
            <a:extLst xmlns:a="http://schemas.openxmlformats.org/drawingml/2006/main">
              <a:ext uri="{FF2B5EF4-FFF2-40B4-BE49-F238E27FC236}">
                <a16:creationId xmlns:a16="http://schemas.microsoft.com/office/drawing/2014/main" id="{B73A8152-D119-4308-A4E2-B8147CC39C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844AA29D-FCFD-4C92-8956-5AD8AFEB3A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7849206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162ECDA-1CCC-4E56-A166-EB8C690EB37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you should be able to do</a:t>
            </a:r>
          </a:p>
        </p:txBody>
      </p:sp>
      <p:sp>
        <p:nvSpPr>
          <p:cNvPr id="2" name="paragraph-0">
            <a:extLst xmlns:a="http://schemas.openxmlformats.org/drawingml/2006/main">
              <a:ext uri="{FF2B5EF4-FFF2-40B4-BE49-F238E27FC236}">
                <a16:creationId xmlns:a16="http://schemas.microsoft.com/office/drawing/2014/main" id="{A879F627-BACE-4F7E-AC99-2CE8FACEF51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limitation up front. This is not an antimicrobial order set. Drug and dose still depend on the syndrome, susceptibility results, renal and hepatic function, allergy history, weight, local antibiogram, formulary, pharmacy guidance, and current labeling.</a:t>
            </a:r>
          </a:p>
        </p:txBody>
      </p:sp>
      <p:sp>
        <p:nvSpPr>
          <p:cNvPr id="3" name="footer">
            <a:extLst xmlns:a="http://schemas.openxmlformats.org/drawingml/2006/main">
              <a:ext uri="{FF2B5EF4-FFF2-40B4-BE49-F238E27FC236}">
                <a16:creationId xmlns:a16="http://schemas.microsoft.com/office/drawing/2014/main" id="{C5FA5881-C5C4-4321-8417-BF3A6A6C17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2D8FFD8-4DAF-45ED-8499-68DF0509B7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21196229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AD8BC05-2DC4-4AE6-BBB1-C320C61E58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approach the initial call</a:t>
            </a:r>
          </a:p>
        </p:txBody>
      </p:sp>
      <p:sp>
        <p:nvSpPr>
          <p:cNvPr id="2" name="paragraph-0">
            <a:extLst xmlns:a="http://schemas.openxmlformats.org/drawingml/2006/main">
              <a:ext uri="{FF2B5EF4-FFF2-40B4-BE49-F238E27FC236}">
                <a16:creationId xmlns:a16="http://schemas.microsoft.com/office/drawing/2014/main" id="{59A6225D-A298-4296-B45A-0FD9D2281F3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order varies a little depending on the patient. An unstable patient gets active therapy while the rest of the evaluation is happening. In a stable patient, there is usually time to look at the collection details before adding another drug.</a:t>
            </a:r>
          </a:p>
        </p:txBody>
      </p:sp>
      <p:sp>
        <p:nvSpPr>
          <p:cNvPr id="3" name="paragraph-1">
            <a:extLst xmlns:a="http://schemas.openxmlformats.org/drawingml/2006/main">
              <a:ext uri="{FF2B5EF4-FFF2-40B4-BE49-F238E27FC236}">
                <a16:creationId xmlns:a16="http://schemas.microsoft.com/office/drawing/2014/main" id="{6B1CD6CD-DB4F-42F6-B4C5-6028FB26B274}"/>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How sick? Is current therapy active, and can anything wait?</a:t>
            </a:r>
          </a:p>
        </p:txBody>
      </p:sp>
      <p:sp>
        <p:nvSpPr>
          <p:cNvPr id="4" name="paragraph-2">
            <a:extLst xmlns:a="http://schemas.openxmlformats.org/drawingml/2006/main">
              <a:ext uri="{FF2B5EF4-FFF2-40B4-BE49-F238E27FC236}">
                <a16:creationId xmlns:a16="http://schemas.microsoft.com/office/drawing/2014/main" id="{DECE047F-AADA-4E22-A19E-F679E19F1E1D}"/>
              </a:ext>
            </a:extLst>
          </p:cNvPr>
          <p:cNvSpPr>
            <a:spLocks xmlns:a="http://schemas.openxmlformats.org/drawingml/2006/main" noGrp="1"/>
          </p:cNvSpPr>
          <p:nvPr/>
        </p:nvSpPr>
        <p:spPr>
          <a:xfrm xmlns:a="http://schemas.openxmlformats.org/drawingml/2006/main">
            <a:off x="647700" y="42291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it real? What grew, from how many sets, and from which sites?</a:t>
            </a:r>
          </a:p>
        </p:txBody>
      </p:sp>
      <p:sp>
        <p:nvSpPr>
          <p:cNvPr id="5" name="paragraph-3">
            <a:extLst xmlns:a="http://schemas.openxmlformats.org/drawingml/2006/main">
              <a:ext uri="{FF2B5EF4-FFF2-40B4-BE49-F238E27FC236}">
                <a16:creationId xmlns:a16="http://schemas.microsoft.com/office/drawing/2014/main" id="{DAC184D6-BC26-49AF-AF06-41EA029D127B}"/>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Where from? What is the likely source, and could another site have been seeded?</a:t>
            </a:r>
          </a:p>
        </p:txBody>
      </p:sp>
      <p:sp>
        <p:nvSpPr>
          <p:cNvPr id="6" name="footer">
            <a:extLst xmlns:a="http://schemas.openxmlformats.org/drawingml/2006/main">
              <a:ext uri="{FF2B5EF4-FFF2-40B4-BE49-F238E27FC236}">
                <a16:creationId xmlns:a16="http://schemas.microsoft.com/office/drawing/2014/main" id="{3C478464-79AD-4BCB-9FA9-6E80DFF0656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B13BBA48-613B-45B7-BDC6-6D259D5EB0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5258151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6DBBE11-B4A7-4F9D-8452-92A94C65A3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approach the initial call</a:t>
            </a:r>
          </a:p>
        </p:txBody>
      </p:sp>
      <p:sp>
        <p:nvSpPr>
          <p:cNvPr id="2" name="paragraph-0">
            <a:extLst xmlns:a="http://schemas.openxmlformats.org/drawingml/2006/main">
              <a:ext uri="{FF2B5EF4-FFF2-40B4-BE49-F238E27FC236}">
                <a16:creationId xmlns:a16="http://schemas.microsoft.com/office/drawing/2014/main" id="{83804FC8-607D-43B2-8E10-3A17E3A28A8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 Will another culture establish clearance or change the workup?</a:t>
            </a:r>
          </a:p>
        </p:txBody>
      </p:sp>
      <p:sp>
        <p:nvSpPr>
          <p:cNvPr id="3" name="paragraph-1">
            <a:extLst xmlns:a="http://schemas.openxmlformats.org/drawingml/2006/main">
              <a:ext uri="{FF2B5EF4-FFF2-40B4-BE49-F238E27FC236}">
                <a16:creationId xmlns:a16="http://schemas.microsoft.com/office/drawing/2014/main" id="{C185DF26-9282-4211-94DB-3251EBF2AB73}"/>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needs fixing? Is there a line, device, obstruction, or collection that antibiotics will not solve?</a:t>
            </a:r>
          </a:p>
        </p:txBody>
      </p:sp>
      <p:sp>
        <p:nvSpPr>
          <p:cNvPr id="4" name="footer">
            <a:extLst xmlns:a="http://schemas.openxmlformats.org/drawingml/2006/main">
              <a:ext uri="{FF2B5EF4-FFF2-40B4-BE49-F238E27FC236}">
                <a16:creationId xmlns:a16="http://schemas.microsoft.com/office/drawing/2014/main" id="{9934BCB6-21E7-4DF2-8F95-6F863BA89A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44B3612-1AFB-46D1-8D65-C4C3927430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9139161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8DE2973-3E4D-4CE1-802D-D5C3CA5608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residents</a:t>
            </a:r>
          </a:p>
        </p:txBody>
      </p:sp>
      <p:sp>
        <p:nvSpPr>
          <p:cNvPr id="2" name="paragraph-0">
            <a:extLst xmlns:a="http://schemas.openxmlformats.org/drawingml/2006/main">
              <a:ext uri="{FF2B5EF4-FFF2-40B4-BE49-F238E27FC236}">
                <a16:creationId xmlns:a16="http://schemas.microsoft.com/office/drawing/2014/main" id="{57E486E6-847A-491F-9C12-27DA607EE13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Look at the patient before treating the microbiology report.</a:t>
            </a:r>
          </a:p>
        </p:txBody>
      </p:sp>
      <p:sp>
        <p:nvSpPr>
          <p:cNvPr id="3" name="paragraph-1">
            <a:extLst xmlns:a="http://schemas.openxmlformats.org/drawingml/2006/main">
              <a:ext uri="{FF2B5EF4-FFF2-40B4-BE49-F238E27FC236}">
                <a16:creationId xmlns:a16="http://schemas.microsoft.com/office/drawing/2014/main" id="{632F1F8C-EB4D-4F62-8572-AC4AF72381E9}"/>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Count independently collected sets and review where they were drawn. Bottle count alone is not enough.</a:t>
            </a:r>
          </a:p>
        </p:txBody>
      </p:sp>
      <p:sp>
        <p:nvSpPr>
          <p:cNvPr id="4" name="paragraph-2">
            <a:extLst xmlns:a="http://schemas.openxmlformats.org/drawingml/2006/main">
              <a:ext uri="{FF2B5EF4-FFF2-40B4-BE49-F238E27FC236}">
                <a16:creationId xmlns:a16="http://schemas.microsoft.com/office/drawing/2014/main" id="{F1603CC0-5079-4A46-8F54-C2C2546D7C80}"/>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plausible source may explain entry into the blood, but it does not always explain the full extent of infection.</a:t>
            </a:r>
          </a:p>
        </p:txBody>
      </p:sp>
      <p:sp>
        <p:nvSpPr>
          <p:cNvPr id="5" name="paragraph-3">
            <a:extLst xmlns:a="http://schemas.openxmlformats.org/drawingml/2006/main">
              <a:ext uri="{FF2B5EF4-FFF2-40B4-BE49-F238E27FC236}">
                <a16:creationId xmlns:a16="http://schemas.microsoft.com/office/drawing/2014/main" id="{A0E30B4D-4177-4CD9-A368-7EB32EE6604A}"/>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 cultures for a reason, not simply because the first ones were positive.</a:t>
            </a:r>
          </a:p>
        </p:txBody>
      </p:sp>
      <p:sp>
        <p:nvSpPr>
          <p:cNvPr id="6" name="footer">
            <a:extLst xmlns:a="http://schemas.openxmlformats.org/drawingml/2006/main">
              <a:ext uri="{FF2B5EF4-FFF2-40B4-BE49-F238E27FC236}">
                <a16:creationId xmlns:a16="http://schemas.microsoft.com/office/drawing/2014/main" id="{39EE75B0-7C1F-40BA-85C4-58E27A0781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A796E76C-2473-482C-ABF4-3E6BC9DBB4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966553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2E84EE-8376-4F85-8364-652AC6DC94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residents</a:t>
            </a:r>
          </a:p>
        </p:txBody>
      </p:sp>
      <p:sp>
        <p:nvSpPr>
          <p:cNvPr id="2" name="paragraph-0">
            <a:extLst xmlns:a="http://schemas.openxmlformats.org/drawingml/2006/main">
              <a:ext uri="{FF2B5EF4-FFF2-40B4-BE49-F238E27FC236}">
                <a16:creationId xmlns:a16="http://schemas.microsoft.com/office/drawing/2014/main" id="{81E0C2DE-D64A-4250-9C64-D7AAB53E5A8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Your plan should address source control and duration, not only antibiotic selection.</a:t>
            </a:r>
          </a:p>
        </p:txBody>
      </p:sp>
      <p:sp>
        <p:nvSpPr>
          <p:cNvPr id="3" name="footer">
            <a:extLst xmlns:a="http://schemas.openxmlformats.org/drawingml/2006/main">
              <a:ext uri="{FF2B5EF4-FFF2-40B4-BE49-F238E27FC236}">
                <a16:creationId xmlns:a16="http://schemas.microsoft.com/office/drawing/2014/main" id="{6C734247-5215-45AC-A6D4-C730F57344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B06D909-D54A-4035-A149-F30F9CD4A9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14328089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F16942-6EAF-497C-8F41-C0A5091E71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sp>
        <p:nvSpPr>
          <p:cNvPr id="2" name="paragraph-0">
            <a:extLst xmlns:a="http://schemas.openxmlformats.org/drawingml/2006/main">
              <a:ext uri="{FF2B5EF4-FFF2-40B4-BE49-F238E27FC236}">
                <a16:creationId xmlns:a16="http://schemas.microsoft.com/office/drawing/2014/main" id="{F965EBEF-08FA-42BE-8C2B-C4F5FC73952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Some results should be treated as clinically significant while the workup continues. Others need context before committing the patient to treatment. This is where the species, number of independently drawn sets, and presence of prosthetic material matter much more than a simple count of positive bottles.</a:t>
            </a:r>
          </a:p>
        </p:txBody>
      </p:sp>
      <p:sp>
        <p:nvSpPr>
          <p:cNvPr id="3" name="footer">
            <a:extLst xmlns:a="http://schemas.openxmlformats.org/drawingml/2006/main">
              <a:ext uri="{FF2B5EF4-FFF2-40B4-BE49-F238E27FC236}">
                <a16:creationId xmlns:a16="http://schemas.microsoft.com/office/drawing/2014/main" id="{793C2078-7554-4A8E-BC82-6F1DEFC817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FAEAAB5-90AD-409B-AB72-1A644FAABC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2951255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C2BB1A-AB35-40D9-9F92-9EC3519F79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graphicFrame>
        <p:nvGraphicFramePr>
          <p:cNvPr id="2" name="">
            <a:extLst xmlns:a="http://schemas.openxmlformats.org/drawingml/2006/main">
              <a:ext uri="{FF2B5EF4-FFF2-40B4-BE49-F238E27FC236}">
                <a16:creationId xmlns:a16="http://schemas.microsoft.com/office/drawing/2014/main" id="{CDEBC27B-8DAC-49DB-B82F-5B99AC2EEE9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Act S. aureus or S. lugdunensis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 as clinically significant. A single positive bottle does not make it a contaminant.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questions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Stability, effective therapy, source, intravascular or prosthetic material, follow-up cultures, echocardiography, focal pain, embolic findings.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6CF65AA-C2B5-44A9-AB72-96D82C0CB4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7D83E97-AE84-4A9B-B133-8B57A9413C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863606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A16173-846A-4295-846B-8F831DE6573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graphicFrame>
        <p:nvGraphicFramePr>
          <p:cNvPr id="2" name="">
            <a:extLst xmlns:a="http://schemas.openxmlformats.org/drawingml/2006/main">
              <a:ext uri="{FF2B5EF4-FFF2-40B4-BE49-F238E27FC236}">
                <a16:creationId xmlns:a16="http://schemas.microsoft.com/office/drawing/2014/main" id="{1113F6EF-B2E1-41C3-B614-9F218B98346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Act Yeast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Assume candidemia while species and susceptibilities are pending.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questions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Effective antifungal therapy, repeat cultures, lines, recent abdominal pathology, immunosuppression, metastatic complications.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6B609D3-30A3-4C8C-888F-1398E18FAC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AF9330-A9C2-46FB-A6A8-D7770A50B9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1221918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F26C79-0FB9-4575-A0F7-FF1FC5835F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graphicFrame>
        <p:nvGraphicFramePr>
          <p:cNvPr id="2" name="">
            <a:extLst xmlns:a="http://schemas.openxmlformats.org/drawingml/2006/main">
              <a:ext uri="{FF2B5EF4-FFF2-40B4-BE49-F238E27FC236}">
                <a16:creationId xmlns:a16="http://schemas.microsoft.com/office/drawing/2014/main" id="{B2497F57-FB82-4611-9703-DF501E31DD8B}"/>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Act Enterobacterales, Pseudomonas , other aerobic gram-negative rods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true bacteremia, not skin contamination.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questions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Urinary, biliary, abdominal, pulmonary, vascular-catheter, wound, or device source; obstruction or undrained focus; active empiric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3777D3A-623E-4BF4-8A09-AF68406B11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4ACB651-BFBB-42B8-8713-D50F622A1B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2830223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6D8B9EB-BF6D-49F1-B90E-8EF1951F9F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graphicFrame>
        <p:nvGraphicFramePr>
          <p:cNvPr id="2" name="">
            <a:extLst xmlns:a="http://schemas.openxmlformats.org/drawingml/2006/main">
              <a:ext uri="{FF2B5EF4-FFF2-40B4-BE49-F238E27FC236}">
                <a16:creationId xmlns:a16="http://schemas.microsoft.com/office/drawing/2014/main" id="{022857F6-0E6A-4B6A-AA46-25F5EB4AC5D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Interpret Enterococcus , viridans-group streptococci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clinically significant, but context determines source and endovascular risk.</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questions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Multiple sets, urinary or abdominal source, mucosal injury, valve/device history, persistence, unknown source, endocarditis features.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7D49F7B-120E-4E3F-A614-7386271B8D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EB1CC98-C389-4CD0-BF66-C3EA7AA1F9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2832094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67FA49-C09D-4422-8D97-8545D47D5A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graphicFrame>
        <p:nvGraphicFramePr>
          <p:cNvPr id="2" name="">
            <a:extLst xmlns:a="http://schemas.openxmlformats.org/drawingml/2006/main">
              <a:ext uri="{FF2B5EF4-FFF2-40B4-BE49-F238E27FC236}">
                <a16:creationId xmlns:a16="http://schemas.microsoft.com/office/drawing/2014/main" id="{6CB75752-4BDD-450E-B61E-EA20C5413321}"/>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Interpret Coagulase-negative staphylococci, Corynebacterium , non-anthracis Bacillus , Cutibacterium , Micrococcus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Default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Common contaminants when isolated from only one set in a low-risk host. They can be true pathogens, especially with intravascular or prosthetic material, immunocompromise, multiple concordant sets, or compatible illness.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Immediate questions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How many independently drawn sets? Same species? Peripheral or line draw? Hardware? Immunosuppression? Compatible syndrome? Need to repeat before committing to treatment?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9B020CE-DD13-4556-BC01-7F2A7AFAF8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3FD9AFF-ED46-44C0-A068-4BB9D1270B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21330758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409F79-7C9B-4717-A8F1-25CA0D1300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organism changes the conversation</a:t>
            </a:r>
          </a:p>
        </p:txBody>
      </p:sp>
      <p:sp>
        <p:nvSpPr>
          <p:cNvPr id="2" name="paragraph-0">
            <a:extLst xmlns:a="http://schemas.openxmlformats.org/drawingml/2006/main">
              <a:ext uri="{FF2B5EF4-FFF2-40B4-BE49-F238E27FC236}">
                <a16:creationId xmlns:a16="http://schemas.microsoft.com/office/drawing/2014/main" id="{15D316D9-41E8-43FA-B5DA-A26CADCA6D0F}"/>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shortcut that causes trouble. “One bottle is a contaminant” is not a reliable rule. One bottle can represent true infection. The probability depends on the organism, independently collected sets, blood volume, collection site, time to positivity, host, devices, and clinical course. The 2024 ASM laboratory report uses a common commensal isolated from a single set within a culture series in its contamination definition, but the bedside decision remains clinical. 3</a:t>
            </a:r>
          </a:p>
        </p:txBody>
      </p:sp>
      <p:sp>
        <p:nvSpPr>
          <p:cNvPr id="3" name="footer">
            <a:extLst xmlns:a="http://schemas.openxmlformats.org/drawingml/2006/main">
              <a:ext uri="{FF2B5EF4-FFF2-40B4-BE49-F238E27FC236}">
                <a16:creationId xmlns:a16="http://schemas.microsoft.com/office/drawing/2014/main" id="{3CAF474C-B2A6-444C-B316-310BD1A0EDC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EA9DC7-0960-4A6D-9B08-A9F050A1BC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9387363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1B9D665-8076-431F-9497-FAF6728AAA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much weight should we give time to positivity?</a:t>
            </a:r>
          </a:p>
        </p:txBody>
      </p:sp>
      <p:sp>
        <p:nvSpPr>
          <p:cNvPr id="2" name="paragraph-0">
            <a:extLst xmlns:a="http://schemas.openxmlformats.org/drawingml/2006/main">
              <a:ext uri="{FF2B5EF4-FFF2-40B4-BE49-F238E27FC236}">
                <a16:creationId xmlns:a16="http://schemas.microsoft.com/office/drawing/2014/main" id="{67B5B19E-4DDD-4CC3-9FB3-038B0633BEB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Rapid growth may support a higher organism burden, but there is no universal time cutoff that separates pathogen from contaminant across organisms, platforms, blood volumes, and prior antibiotics. I would not stop or continue treatment on time to positivity alone.</a:t>
            </a:r>
          </a:p>
        </p:txBody>
      </p:sp>
      <p:sp>
        <p:nvSpPr>
          <p:cNvPr id="3" name="paragraph-1">
            <a:extLst xmlns:a="http://schemas.openxmlformats.org/drawingml/2006/main">
              <a:ext uri="{FF2B5EF4-FFF2-40B4-BE49-F238E27FC236}">
                <a16:creationId xmlns:a16="http://schemas.microsoft.com/office/drawing/2014/main" id="{CC3E64DC-57BF-4875-BA63-68C2A2803865}"/>
              </a:ext>
            </a:extLst>
          </p:cNvPr>
          <p:cNvSpPr>
            <a:spLocks xmlns:a="http://schemas.openxmlformats.org/drawingml/2006/main" noGrp="1"/>
          </p:cNvSpPr>
          <p:nvPr/>
        </p:nvSpPr>
        <p:spPr>
          <a:xfrm xmlns:a="http://schemas.openxmlformats.org/drawingml/2006/main">
            <a:off x="647700" y="361950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catheter-related bloodstream infection is suspected and paired peripheral and catheter cultures are drawn simultaneously with comparable volumes, catheter growth at least 2 hours earlier than the peripheral culture supports a catheter source. It does not substitute for the full clinical assessment. 5 Apply the local laboratory’s collection and reporting method.</a:t>
            </a:r>
          </a:p>
        </p:txBody>
      </p:sp>
      <p:sp>
        <p:nvSpPr>
          <p:cNvPr id="4" name="footer">
            <a:extLst xmlns:a="http://schemas.openxmlformats.org/drawingml/2006/main">
              <a:ext uri="{FF2B5EF4-FFF2-40B4-BE49-F238E27FC236}">
                <a16:creationId xmlns:a16="http://schemas.microsoft.com/office/drawing/2014/main" id="{0445426D-1000-483A-BDCC-2C8CDB8D63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A9D8E05-4B81-4B4D-A71F-18813F25E1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1137016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4E077A-0B67-4AB8-B255-C18E5DAC20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can we safely do with a rapid panel result?</a:t>
            </a:r>
          </a:p>
        </p:txBody>
      </p:sp>
      <p:sp>
        <p:nvSpPr>
          <p:cNvPr id="2" name="paragraph-0">
            <a:extLst xmlns:a="http://schemas.openxmlformats.org/drawingml/2006/main">
              <a:ext uri="{FF2B5EF4-FFF2-40B4-BE49-F238E27FC236}">
                <a16:creationId xmlns:a16="http://schemas.microsoft.com/office/drawing/2014/main" id="{2606B9B6-22E2-4781-B750-86C43A5108A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rapid panel can move care forward, but only if you know what the local assay detects, what it misses, and how it handles polymicrobial cultures. A resistance gene is not the same thing as a complete susceptibility profile. Conventional identification and phenotypic susceptibility testing still matter. In a systematic review and meta-analysis, rapid diagnostics were associated with lower mortality when paired with active stewardship support, but not when used alone. 8</a:t>
            </a:r>
          </a:p>
        </p:txBody>
      </p:sp>
      <p:sp>
        <p:nvSpPr>
          <p:cNvPr id="3" name="footer">
            <a:extLst xmlns:a="http://schemas.openxmlformats.org/drawingml/2006/main">
              <a:ext uri="{FF2B5EF4-FFF2-40B4-BE49-F238E27FC236}">
                <a16:creationId xmlns:a16="http://schemas.microsoft.com/office/drawing/2014/main" id="{7BA151D5-DDAF-4BE3-B414-1CA7C7F1EB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F3E06A9-E2C5-4097-B5A2-415994E4DFF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4831569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E5FEB6B-2BFE-4613-B009-6DA588C2B7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Cases for discussion</a:t>
            </a:r>
          </a:p>
        </p:txBody>
      </p:sp>
      <p:sp>
        <p:nvSpPr>
          <p:cNvPr id="2" name="paragraph-0">
            <a:extLst xmlns:a="http://schemas.openxmlformats.org/drawingml/2006/main">
              <a:ext uri="{FF2B5EF4-FFF2-40B4-BE49-F238E27FC236}">
                <a16:creationId xmlns:a16="http://schemas.microsoft.com/office/drawing/2014/main" id="{BDCED254-335A-4B60-9490-9D928C10616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each case, pause before reading the discussion. Decide what you think the result means, what you need to do today, and what additional finding would change your mind.</a:t>
            </a:r>
          </a:p>
        </p:txBody>
      </p:sp>
      <p:sp>
        <p:nvSpPr>
          <p:cNvPr id="3" name="footer">
            <a:extLst xmlns:a="http://schemas.openxmlformats.org/drawingml/2006/main">
              <a:ext uri="{FF2B5EF4-FFF2-40B4-BE49-F238E27FC236}">
                <a16:creationId xmlns:a16="http://schemas.microsoft.com/office/drawing/2014/main" id="{969E8FBE-5918-49D4-B985-E8A10272B8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7E4D605-CAB6-462A-B537-DFB08E7C37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7715370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E93A026-D9B2-4E6F-9D64-240A37FA83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One set, one bottle, coagulase-negative staphylococcus</a:t>
            </a:r>
          </a:p>
        </p:txBody>
      </p:sp>
      <p:sp>
        <p:nvSpPr>
          <p:cNvPr id="2" name="paragraph-0">
            <a:extLst xmlns:a="http://schemas.openxmlformats.org/drawingml/2006/main">
              <a:ext uri="{FF2B5EF4-FFF2-40B4-BE49-F238E27FC236}">
                <a16:creationId xmlns:a16="http://schemas.microsoft.com/office/drawing/2014/main" id="{48A68D62-B5E0-4973-849A-C471F289DCC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stable patient admitted with a heart-failure exacerbation had one blood-culture set collected for a temperature of 37.9°C. One bottle grows coagulase-negative staphylococcus at 28 hours. There is no central line, prosthetic valve, cardiac device, vascular graft, or orthopedic hardware. Nothing else suggests an infection.</a:t>
            </a:r>
          </a:p>
        </p:txBody>
      </p:sp>
      <p:sp>
        <p:nvSpPr>
          <p:cNvPr id="3" name="paragraph-1">
            <a:extLst xmlns:a="http://schemas.openxmlformats.org/drawingml/2006/main">
              <a:ext uri="{FF2B5EF4-FFF2-40B4-BE49-F238E27FC236}">
                <a16:creationId xmlns:a16="http://schemas.microsoft.com/office/drawing/2014/main" id="{81819F8A-BB77-4E9E-A9D6-0BEAC3D0B30F}"/>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moving on</a:t>
            </a:r>
          </a:p>
        </p:txBody>
      </p:sp>
      <p:sp>
        <p:nvSpPr>
          <p:cNvPr id="4" name="paragraph-2">
            <a:extLst xmlns:a="http://schemas.openxmlformats.org/drawingml/2006/main">
              <a:ext uri="{FF2B5EF4-FFF2-40B4-BE49-F238E27FC236}">
                <a16:creationId xmlns:a16="http://schemas.microsoft.com/office/drawing/2014/main" id="{FBC0324C-B4E7-482E-9AD2-7534507C234A}"/>
              </a:ext>
            </a:extLst>
          </p:cNvPr>
          <p:cNvSpPr>
            <a:spLocks xmlns:a="http://schemas.openxmlformats.org/drawingml/2006/main" noGrp="1"/>
          </p:cNvSpPr>
          <p:nvPr/>
        </p:nvSpPr>
        <p:spPr>
          <a:xfrm xmlns:a="http://schemas.openxmlformats.org/drawingml/2006/main">
            <a:off x="647700" y="45815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Would you call this bacteremia?</a:t>
            </a:r>
          </a:p>
        </p:txBody>
      </p:sp>
      <p:sp>
        <p:nvSpPr>
          <p:cNvPr id="5" name="paragraph-3">
            <a:extLst xmlns:a="http://schemas.openxmlformats.org/drawingml/2006/main">
              <a:ext uri="{FF2B5EF4-FFF2-40B4-BE49-F238E27FC236}">
                <a16:creationId xmlns:a16="http://schemas.microsoft.com/office/drawing/2014/main" id="{1BB465FB-F5A0-4D75-8037-680AF0DC9EC6}"/>
              </a:ext>
            </a:extLst>
          </p:cNvPr>
          <p:cNvSpPr>
            <a:spLocks xmlns:a="http://schemas.openxmlformats.org/drawingml/2006/main" noGrp="1"/>
          </p:cNvSpPr>
          <p:nvPr/>
        </p:nvSpPr>
        <p:spPr>
          <a:xfrm xmlns:a="http://schemas.openxmlformats.org/drawingml/2006/main">
            <a:off x="647700" y="51911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Would you continue vancomycin?</a:t>
            </a:r>
          </a:p>
        </p:txBody>
      </p:sp>
      <p:sp>
        <p:nvSpPr>
          <p:cNvPr id="6" name="footer">
            <a:extLst xmlns:a="http://schemas.openxmlformats.org/drawingml/2006/main">
              <a:ext uri="{FF2B5EF4-FFF2-40B4-BE49-F238E27FC236}">
                <a16:creationId xmlns:a16="http://schemas.microsoft.com/office/drawing/2014/main" id="{AB512D32-ED24-4D6F-AC4B-7DAF45329E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95E95D6D-78A7-40B9-ABAD-842D8B1381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2360185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4229B5-C071-438A-A9CC-7E96C3B95D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One set, one bottle, coagulase-negative staphylococcus</a:t>
            </a:r>
          </a:p>
        </p:txBody>
      </p:sp>
      <p:sp>
        <p:nvSpPr>
          <p:cNvPr id="2" name="paragraph-0">
            <a:extLst xmlns:a="http://schemas.openxmlformats.org/drawingml/2006/main">
              <a:ext uri="{FF2B5EF4-FFF2-40B4-BE49-F238E27FC236}">
                <a16:creationId xmlns:a16="http://schemas.microsoft.com/office/drawing/2014/main" id="{685066EB-7073-41DE-9345-25A4F6995CA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you need another culture?</a:t>
            </a:r>
          </a:p>
        </p:txBody>
      </p:sp>
      <p:sp>
        <p:nvSpPr>
          <p:cNvPr id="3" name="footer">
            <a:extLst xmlns:a="http://schemas.openxmlformats.org/drawingml/2006/main">
              <a:ext uri="{FF2B5EF4-FFF2-40B4-BE49-F238E27FC236}">
                <a16:creationId xmlns:a16="http://schemas.microsoft.com/office/drawing/2014/main" id="{8505F3FE-7551-42AF-941E-E541B72E80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7A3689F-BCE4-4287-951F-C98BA0E1BD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00055250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DEFBC73-32E7-4E14-8FE5-4674C5225F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A9010163-C22F-4A84-A761-34494D535EF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most likely contamination. I would reassess the patient and make sure there is not a device or clinical finding missing from the initial story. If the probability remains low, I would stop or avoid vancomycin and document why the isolate is not being treated.</a:t>
            </a:r>
          </a:p>
        </p:txBody>
      </p:sp>
      <p:sp>
        <p:nvSpPr>
          <p:cNvPr id="3" name="paragraph-1">
            <a:extLst xmlns:a="http://schemas.openxmlformats.org/drawingml/2006/main">
              <a:ext uri="{FF2B5EF4-FFF2-40B4-BE49-F238E27FC236}">
                <a16:creationId xmlns:a16="http://schemas.microsoft.com/office/drawing/2014/main" id="{35E2AA7C-0DAF-43D7-AB50-A8F3BEFE4476}"/>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 would not repeat cultures automatically. I would repeat properly collected peripheral sets if the history is incomplete, a prosthetic device comes to light, or the clinical course makes true infection plausible. When safe, obtain those cultures before giving another antibiotic dose.</a:t>
            </a:r>
          </a:p>
        </p:txBody>
      </p:sp>
      <p:sp>
        <p:nvSpPr>
          <p:cNvPr id="4" name="footer">
            <a:extLst xmlns:a="http://schemas.openxmlformats.org/drawingml/2006/main">
              <a:ext uri="{FF2B5EF4-FFF2-40B4-BE49-F238E27FC236}">
                <a16:creationId xmlns:a16="http://schemas.microsoft.com/office/drawing/2014/main" id="{DB4F6ACB-039B-4FC9-947C-A8E2D0055E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970C1DA-3D54-40DB-A96E-848DDD5C23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502832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0C1FF29-1CB3-4D74-A1A3-8603B5BE83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229DC872-8A14-490A-84BE-9249F681A04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error here is allowing the word “positive” to settle the diagnosis. Contaminated cultures lead to unnecessary antibiotics, additional testing, adverse events, and longer hospitalization. 3 , 4</a:t>
            </a:r>
          </a:p>
        </p:txBody>
      </p:sp>
      <p:sp>
        <p:nvSpPr>
          <p:cNvPr id="3" name="footer">
            <a:extLst xmlns:a="http://schemas.openxmlformats.org/drawingml/2006/main">
              <a:ext uri="{FF2B5EF4-FFF2-40B4-BE49-F238E27FC236}">
                <a16:creationId xmlns:a16="http://schemas.microsoft.com/office/drawing/2014/main" id="{494707D4-DD76-4132-A1E2-107E5EF427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E2B30B-4180-43D0-8BE9-ECC2C8B792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424231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CFAB827-ED06-427C-9340-FDCC884A2B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One bottle with S. aureus and new back pain</a:t>
            </a:r>
          </a:p>
        </p:txBody>
      </p:sp>
      <p:sp>
        <p:nvSpPr>
          <p:cNvPr id="2" name="paragraph-0">
            <a:extLst xmlns:a="http://schemas.openxmlformats.org/drawingml/2006/main">
              <a:ext uri="{FF2B5EF4-FFF2-40B4-BE49-F238E27FC236}">
                <a16:creationId xmlns:a16="http://schemas.microsoft.com/office/drawing/2014/main" id="{5F192D5D-508D-4A20-9D90-AD89949FB06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no obvious source has one bottle positive for S. aureus . They are afebrile after antibiotics but mention new focal lumbar pain when you examine them.</a:t>
            </a:r>
          </a:p>
        </p:txBody>
      </p:sp>
      <p:sp>
        <p:nvSpPr>
          <p:cNvPr id="3" name="paragraph-1">
            <a:extLst xmlns:a="http://schemas.openxmlformats.org/drawingml/2006/main">
              <a:ext uri="{FF2B5EF4-FFF2-40B4-BE49-F238E27FC236}">
                <a16:creationId xmlns:a16="http://schemas.microsoft.com/office/drawing/2014/main" id="{EF5F69D3-A866-405B-A534-50825A0CD0ED}"/>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matters now?</a:t>
            </a:r>
          </a:p>
        </p:txBody>
      </p:sp>
      <p:sp>
        <p:nvSpPr>
          <p:cNvPr id="4" name="paragraph-2">
            <a:extLst xmlns:a="http://schemas.openxmlformats.org/drawingml/2006/main">
              <a:ext uri="{FF2B5EF4-FFF2-40B4-BE49-F238E27FC236}">
                <a16:creationId xmlns:a16="http://schemas.microsoft.com/office/drawing/2014/main" id="{CB2A4740-F00F-458D-89CF-EFED5058220F}"/>
              </a:ext>
            </a:extLst>
          </p:cNvPr>
          <p:cNvSpPr>
            <a:spLocks xmlns:a="http://schemas.openxmlformats.org/drawingml/2006/main" noGrp="1"/>
          </p:cNvSpPr>
          <p:nvPr/>
        </p:nvSpPr>
        <p:spPr>
          <a:xfrm xmlns:a="http://schemas.openxmlformats.org/drawingml/2006/main">
            <a:off x="647700" y="38766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Does one positive bottle change how seriously you take the result?</a:t>
            </a:r>
          </a:p>
        </p:txBody>
      </p:sp>
      <p:sp>
        <p:nvSpPr>
          <p:cNvPr id="5" name="paragraph-3">
            <a:extLst xmlns:a="http://schemas.openxmlformats.org/drawingml/2006/main">
              <a:ext uri="{FF2B5EF4-FFF2-40B4-BE49-F238E27FC236}">
                <a16:creationId xmlns:a16="http://schemas.microsoft.com/office/drawing/2014/main" id="{BB03A6F6-3831-4FC2-9EC0-4E857B68A066}"/>
              </a:ext>
            </a:extLst>
          </p:cNvPr>
          <p:cNvSpPr>
            <a:spLocks xmlns:a="http://schemas.openxmlformats.org/drawingml/2006/main" noGrp="1"/>
          </p:cNvSpPr>
          <p:nvPr/>
        </p:nvSpPr>
        <p:spPr>
          <a:xfrm xmlns:a="http://schemas.openxmlformats.org/drawingml/2006/main">
            <a:off x="647700" y="44862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studies need to be ordered today?</a:t>
            </a:r>
          </a:p>
        </p:txBody>
      </p:sp>
      <p:sp>
        <p:nvSpPr>
          <p:cNvPr id="6" name="footer">
            <a:extLst xmlns:a="http://schemas.openxmlformats.org/drawingml/2006/main">
              <a:ext uri="{FF2B5EF4-FFF2-40B4-BE49-F238E27FC236}">
                <a16:creationId xmlns:a16="http://schemas.microsoft.com/office/drawing/2014/main" id="{0AC0AB4D-D263-4C1A-BE4B-D3DDD23DE55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24812DE7-5E50-4E81-B242-FF40AE0EAC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1419037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BA38E2F-E626-4690-AB45-4F3B011536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One bottle with S. aureus and new back pain</a:t>
            </a:r>
          </a:p>
        </p:txBody>
      </p:sp>
      <p:sp>
        <p:nvSpPr>
          <p:cNvPr id="2" name="paragraph-0">
            <a:extLst xmlns:a="http://schemas.openxmlformats.org/drawingml/2006/main">
              <a:ext uri="{FF2B5EF4-FFF2-40B4-BE49-F238E27FC236}">
                <a16:creationId xmlns:a16="http://schemas.microsoft.com/office/drawing/2014/main" id="{9089B8DE-0893-4637-9329-F06B5301064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Does becoming afebrile lower the concern?</a:t>
            </a:r>
          </a:p>
        </p:txBody>
      </p:sp>
      <p:sp>
        <p:nvSpPr>
          <p:cNvPr id="3" name="footer">
            <a:extLst xmlns:a="http://schemas.openxmlformats.org/drawingml/2006/main">
              <a:ext uri="{FF2B5EF4-FFF2-40B4-BE49-F238E27FC236}">
                <a16:creationId xmlns:a16="http://schemas.microsoft.com/office/drawing/2014/main" id="{71AEAC31-CE04-471E-BAEB-E4C64C673E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C8D5FCE-59E5-48A6-88D0-EAAC478466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2082835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C888DD-3C49-4DE2-88DE-6D67B6BE6D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2F328B83-0368-44CC-B43F-88F2F29D986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 would treat this as S. aureus bacteremia. One positive bottle does not make S. aureus a contaminant. The immediate work includes active therapy, at least two follow-up culture sets at 48 hours after the index sample, TTE, review of all intravascular and prosthetic material, and a careful search for focal symptoms.</a:t>
            </a:r>
          </a:p>
        </p:txBody>
      </p:sp>
      <p:sp>
        <p:nvSpPr>
          <p:cNvPr id="3" name="paragraph-1">
            <a:extLst xmlns:a="http://schemas.openxmlformats.org/drawingml/2006/main">
              <a:ext uri="{FF2B5EF4-FFF2-40B4-BE49-F238E27FC236}">
                <a16:creationId xmlns:a16="http://schemas.microsoft.com/office/drawing/2014/main" id="{B9F4138D-202C-4E10-9DD1-02CD46AB9978}"/>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back pain changes the case. It needs directed evaluation for vertebral or epidural infection. Defervescence after antibiotics does not answer that question. If cultures remain positive at or beyond 48 hours, the patient moves into an increased-risk pathway and the source and extent of infection need to be reconsidered. 1</a:t>
            </a:r>
          </a:p>
        </p:txBody>
      </p:sp>
      <p:sp>
        <p:nvSpPr>
          <p:cNvPr id="4" name="footer">
            <a:extLst xmlns:a="http://schemas.openxmlformats.org/drawingml/2006/main">
              <a:ext uri="{FF2B5EF4-FFF2-40B4-BE49-F238E27FC236}">
                <a16:creationId xmlns:a16="http://schemas.microsoft.com/office/drawing/2014/main" id="{94535497-5481-461E-94B6-D8C173EA1F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7383D52-2C00-4938-B718-B55394D4E6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1473615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7A6E6B1-88B1-4263-AC00-EC088D7CB2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E. coli bacteremia with an obstructed ureter</a:t>
            </a:r>
          </a:p>
        </p:txBody>
      </p:sp>
      <p:sp>
        <p:nvSpPr>
          <p:cNvPr id="2" name="paragraph-0">
            <a:extLst xmlns:a="http://schemas.openxmlformats.org/drawingml/2006/main">
              <a:ext uri="{FF2B5EF4-FFF2-40B4-BE49-F238E27FC236}">
                <a16:creationId xmlns:a16="http://schemas.microsoft.com/office/drawing/2014/main" id="{1B26AEE0-43D0-4B23-A677-B297A875F87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pyelonephritis and E. coli bacteremia undergoes ureteral decompression. They are hemodynamically stable and improving on active therapy. There is no prosthetic valve, endovascular graft, severe immunocompromise, or evidence of a deep focus.</a:t>
            </a:r>
          </a:p>
        </p:txBody>
      </p:sp>
      <p:sp>
        <p:nvSpPr>
          <p:cNvPr id="3" name="paragraph-1">
            <a:extLst xmlns:a="http://schemas.openxmlformats.org/drawingml/2006/main">
              <a:ext uri="{FF2B5EF4-FFF2-40B4-BE49-F238E27FC236}">
                <a16:creationId xmlns:a16="http://schemas.microsoft.com/office/drawing/2014/main" id="{54FC0CE3-A675-4FA1-B495-0DE44E34B890}"/>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Decisions for rounds</a:t>
            </a:r>
          </a:p>
        </p:txBody>
      </p:sp>
      <p:sp>
        <p:nvSpPr>
          <p:cNvPr id="4" name="paragraph-2">
            <a:extLst xmlns:a="http://schemas.openxmlformats.org/drawingml/2006/main">
              <a:ext uri="{FF2B5EF4-FFF2-40B4-BE49-F238E27FC236}">
                <a16:creationId xmlns:a16="http://schemas.microsoft.com/office/drawing/2014/main" id="{503787CD-952F-4FE3-90E6-497480082341}"/>
              </a:ext>
            </a:extLst>
          </p:cNvPr>
          <p:cNvSpPr>
            <a:spLocks xmlns:a="http://schemas.openxmlformats.org/drawingml/2006/main" noGrp="1"/>
          </p:cNvSpPr>
          <p:nvPr/>
        </p:nvSpPr>
        <p:spPr>
          <a:xfrm xmlns:a="http://schemas.openxmlformats.org/drawingml/2006/main">
            <a:off x="647700" y="42291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you need daily cultures until negative?</a:t>
            </a:r>
          </a:p>
        </p:txBody>
      </p:sp>
      <p:sp>
        <p:nvSpPr>
          <p:cNvPr id="5" name="paragraph-3">
            <a:extLst xmlns:a="http://schemas.openxmlformats.org/drawingml/2006/main">
              <a:ext uri="{FF2B5EF4-FFF2-40B4-BE49-F238E27FC236}">
                <a16:creationId xmlns:a16="http://schemas.microsoft.com/office/drawing/2014/main" id="{E25F7F68-017F-4342-8626-6000F174EDB8}"/>
              </a:ext>
            </a:extLst>
          </p:cNvPr>
          <p:cNvSpPr>
            <a:spLocks xmlns:a="http://schemas.openxmlformats.org/drawingml/2006/main" noGrp="1"/>
          </p:cNvSpPr>
          <p:nvPr/>
        </p:nvSpPr>
        <p:spPr>
          <a:xfrm xmlns:a="http://schemas.openxmlformats.org/drawingml/2006/main">
            <a:off x="647700" y="48387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Why were both active antibiotics and decompression necessary?</a:t>
            </a:r>
          </a:p>
        </p:txBody>
      </p:sp>
      <p:sp>
        <p:nvSpPr>
          <p:cNvPr id="6" name="footer">
            <a:extLst xmlns:a="http://schemas.openxmlformats.org/drawingml/2006/main">
              <a:ext uri="{FF2B5EF4-FFF2-40B4-BE49-F238E27FC236}">
                <a16:creationId xmlns:a16="http://schemas.microsoft.com/office/drawing/2014/main" id="{65D36EDC-A822-4BEB-9672-B2350C431C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FE2DBCFE-9458-46F2-AB38-9AE18EAA95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3627002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26604D-D35D-40C1-B7FF-5DE2A024CD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E. coli bacteremia with an obstructed ureter</a:t>
            </a:r>
          </a:p>
        </p:txBody>
      </p:sp>
      <p:sp>
        <p:nvSpPr>
          <p:cNvPr id="2" name="paragraph-0">
            <a:extLst xmlns:a="http://schemas.openxmlformats.org/drawingml/2006/main">
              <a:ext uri="{FF2B5EF4-FFF2-40B4-BE49-F238E27FC236}">
                <a16:creationId xmlns:a16="http://schemas.microsoft.com/office/drawing/2014/main" id="{6B70F08E-1FFE-4B5A-84C8-3EBB4703D7F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could oral treatment be reasonable?</a:t>
            </a:r>
          </a:p>
        </p:txBody>
      </p:sp>
      <p:sp>
        <p:nvSpPr>
          <p:cNvPr id="3" name="footer">
            <a:extLst xmlns:a="http://schemas.openxmlformats.org/drawingml/2006/main">
              <a:ext uri="{FF2B5EF4-FFF2-40B4-BE49-F238E27FC236}">
                <a16:creationId xmlns:a16="http://schemas.microsoft.com/office/drawing/2014/main" id="{D24BA118-846B-4D8C-B84D-E17345077B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8A91059-1B96-4A99-A422-A93D20A946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9270225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DF71FB5-5C8B-4C14-AA28-A62D1D1B3F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E26C4C83-F6D5-4B46-9B30-E14252E72B0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Active antibiotics and decompression were both necessary. Antibiotics do not relieve an obstructed collecting system. If the patient continues to improve and source control is adequate, I would not routinely repeat blood cultures.</a:t>
            </a:r>
          </a:p>
        </p:txBody>
      </p:sp>
      <p:sp>
        <p:nvSpPr>
          <p:cNvPr id="3" name="footer">
            <a:extLst xmlns:a="http://schemas.openxmlformats.org/drawingml/2006/main">
              <a:ext uri="{FF2B5EF4-FFF2-40B4-BE49-F238E27FC236}">
                <a16:creationId xmlns:a16="http://schemas.microsoft.com/office/drawing/2014/main" id="{4D663795-225B-443E-94D5-5D93BC64536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ABBB59B-94E9-49A2-915C-8E68A91B72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5759070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E19B33-AA6A-44C4-8C32-3FEC26076BA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0EB4B02F-5E65-46D3-8068-FD773FE8321B}"/>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Seven total days of effective therapy is supported for eligible patients. Count from the first day of active treatment; if improvement begins only after source control, the 2021 consensus uses the source-control day as day 1. Oral transition is reasonable when the source is established, the patient is improving, the isolate is susceptible to an oral agent with adequate systemic exposure, and the gastrointestinal tract is functioning. 6 , 7</a:t>
            </a:r>
          </a:p>
        </p:txBody>
      </p:sp>
      <p:sp>
        <p:nvSpPr>
          <p:cNvPr id="3" name="footer">
            <a:extLst xmlns:a="http://schemas.openxmlformats.org/drawingml/2006/main">
              <a:ext uri="{FF2B5EF4-FFF2-40B4-BE49-F238E27FC236}">
                <a16:creationId xmlns:a16="http://schemas.microsoft.com/office/drawing/2014/main" id="{FCA70002-097D-4794-8393-AB152A3180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BB425A0-C357-4C4E-9E2C-12CB32E413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3363676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7A3F550-EE4A-479B-9A10-E224E7592A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Yeast in blood after abdominal surgery</a:t>
            </a:r>
          </a:p>
        </p:txBody>
      </p:sp>
      <p:sp>
        <p:nvSpPr>
          <p:cNvPr id="2" name="paragraph-0">
            <a:extLst xmlns:a="http://schemas.openxmlformats.org/drawingml/2006/main">
              <a:ext uri="{FF2B5EF4-FFF2-40B4-BE49-F238E27FC236}">
                <a16:creationId xmlns:a16="http://schemas.microsoft.com/office/drawing/2014/main" id="{F5EB7101-5775-4DBD-B1D9-09AEC5003E6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recent bowel surgery, an anastomotic leak, and a central venous catheter has yeast reported from one blood-culture bottle.</a:t>
            </a:r>
          </a:p>
        </p:txBody>
      </p:sp>
      <p:sp>
        <p:nvSpPr>
          <p:cNvPr id="3" name="paragraph-1">
            <a:extLst xmlns:a="http://schemas.openxmlformats.org/drawingml/2006/main">
              <a:ext uri="{FF2B5EF4-FFF2-40B4-BE49-F238E27FC236}">
                <a16:creationId xmlns:a16="http://schemas.microsoft.com/office/drawing/2014/main" id="{048CA0BC-4973-4232-BC76-8835F11C651B}"/>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would you do tonight?</a:t>
            </a:r>
          </a:p>
        </p:txBody>
      </p:sp>
      <p:sp>
        <p:nvSpPr>
          <p:cNvPr id="4" name="paragraph-2">
            <a:extLst xmlns:a="http://schemas.openxmlformats.org/drawingml/2006/main">
              <a:ext uri="{FF2B5EF4-FFF2-40B4-BE49-F238E27FC236}">
                <a16:creationId xmlns:a16="http://schemas.microsoft.com/office/drawing/2014/main" id="{DA5C60D1-28B5-4390-972B-F6BBE12AE269}"/>
              </a:ext>
            </a:extLst>
          </p:cNvPr>
          <p:cNvSpPr>
            <a:spLocks xmlns:a="http://schemas.openxmlformats.org/drawingml/2006/main" noGrp="1"/>
          </p:cNvSpPr>
          <p:nvPr/>
        </p:nvSpPr>
        <p:spPr>
          <a:xfrm xmlns:a="http://schemas.openxmlformats.org/drawingml/2006/main">
            <a:off x="647700" y="3524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Could this be dismissed as contamination?</a:t>
            </a:r>
          </a:p>
        </p:txBody>
      </p:sp>
      <p:sp>
        <p:nvSpPr>
          <p:cNvPr id="5" name="paragraph-3">
            <a:extLst xmlns:a="http://schemas.openxmlformats.org/drawingml/2006/main">
              <a:ext uri="{FF2B5EF4-FFF2-40B4-BE49-F238E27FC236}">
                <a16:creationId xmlns:a16="http://schemas.microsoft.com/office/drawing/2014/main" id="{E2244015-0D43-481A-8CD1-814A1F02B850}"/>
              </a:ext>
            </a:extLst>
          </p:cNvPr>
          <p:cNvSpPr>
            <a:spLocks xmlns:a="http://schemas.openxmlformats.org/drawingml/2006/main" noGrp="1"/>
          </p:cNvSpPr>
          <p:nvPr/>
        </p:nvSpPr>
        <p:spPr>
          <a:xfrm xmlns:a="http://schemas.openxmlformats.org/drawingml/2006/main">
            <a:off x="647700" y="41338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has to happen besides starting an antifungal?</a:t>
            </a:r>
          </a:p>
        </p:txBody>
      </p:sp>
      <p:sp>
        <p:nvSpPr>
          <p:cNvPr id="6" name="footer">
            <a:extLst xmlns:a="http://schemas.openxmlformats.org/drawingml/2006/main">
              <a:ext uri="{FF2B5EF4-FFF2-40B4-BE49-F238E27FC236}">
                <a16:creationId xmlns:a16="http://schemas.microsoft.com/office/drawing/2014/main" id="{49E4275D-6C22-47F9-AE54-08D385D278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EB23DF67-EF6E-41A1-8A5C-2E364BF47F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96915459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044358B-4661-4568-9ACC-8D13BD4A58E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Yeast in blood after abdominal surgery</a:t>
            </a:r>
          </a:p>
        </p:txBody>
      </p:sp>
      <p:sp>
        <p:nvSpPr>
          <p:cNvPr id="2" name="paragraph-0">
            <a:extLst xmlns:a="http://schemas.openxmlformats.org/drawingml/2006/main">
              <a:ext uri="{FF2B5EF4-FFF2-40B4-BE49-F238E27FC236}">
                <a16:creationId xmlns:a16="http://schemas.microsoft.com/office/drawing/2014/main" id="{B664CEA0-C600-455A-81C6-01B7CD6E73C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does the treatment clock begin?</a:t>
            </a:r>
          </a:p>
        </p:txBody>
      </p:sp>
      <p:sp>
        <p:nvSpPr>
          <p:cNvPr id="3" name="footer">
            <a:extLst xmlns:a="http://schemas.openxmlformats.org/drawingml/2006/main">
              <a:ext uri="{FF2B5EF4-FFF2-40B4-BE49-F238E27FC236}">
                <a16:creationId xmlns:a16="http://schemas.microsoft.com/office/drawing/2014/main" id="{E258654E-0CA9-4B19-A714-1E4B0FD7C5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D95EBD2-26D9-4B5B-A229-56C6501DFF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23707322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EB1BDF-459B-4152-8263-F653206221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EF378B06-0733-461C-8F0F-46E34E557C79}"/>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 would manage this as candidemia while identification is pending. Start active antifungal therapy using current guidance and local pharmacy input. Obtain blood cultures every day or every other day until clearance. The abdomen needs another look for drainage or repair, and the catheter should be addressed early when it is the presumed source and can be removed safely.</a:t>
            </a:r>
          </a:p>
        </p:txBody>
      </p:sp>
      <p:sp>
        <p:nvSpPr>
          <p:cNvPr id="3" name="footer">
            <a:extLst xmlns:a="http://schemas.openxmlformats.org/drawingml/2006/main">
              <a:ext uri="{FF2B5EF4-FFF2-40B4-BE49-F238E27FC236}">
                <a16:creationId xmlns:a16="http://schemas.microsoft.com/office/drawing/2014/main" id="{196144C4-C100-450A-B5B8-7CFE29E780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C96CB00-85D1-4DE4-BE85-1AA0C64ED8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76267294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B32D9D-1B1D-4AEB-81C5-397D4FCF22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handle it</a:t>
            </a:r>
          </a:p>
        </p:txBody>
      </p:sp>
      <p:sp>
        <p:nvSpPr>
          <p:cNvPr id="2" name="paragraph-0">
            <a:extLst xmlns:a="http://schemas.openxmlformats.org/drawingml/2006/main">
              <a:ext uri="{FF2B5EF4-FFF2-40B4-BE49-F238E27FC236}">
                <a16:creationId xmlns:a16="http://schemas.microsoft.com/office/drawing/2014/main" id="{4D2AE0D6-7162-4004-8723-EF1AE4E3CF5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candidemia without metastatic complications, the IDSA guideline recommends treatment for 2 weeks after documented clearance and resolution of attributable symptoms. For a patient with neutropenia, neutropenia must also resolve before this uncomplicated stopping rule applies. The clock does not start with the first positive bottle. 2</a:t>
            </a:r>
          </a:p>
        </p:txBody>
      </p:sp>
      <p:sp>
        <p:nvSpPr>
          <p:cNvPr id="3" name="footer">
            <a:extLst xmlns:a="http://schemas.openxmlformats.org/drawingml/2006/main">
              <a:ext uri="{FF2B5EF4-FFF2-40B4-BE49-F238E27FC236}">
                <a16:creationId xmlns:a16="http://schemas.microsoft.com/office/drawing/2014/main" id="{6C73D583-50A7-49FE-AC82-141AA515A8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29ED56E-48C3-4DCC-B51A-B2F4EF9B20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53204478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F2EEC47-E08B-42C4-B100-5782F5DEE3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sp>
        <p:nvSpPr>
          <p:cNvPr id="2" name="paragraph-0">
            <a:extLst xmlns:a="http://schemas.openxmlformats.org/drawingml/2006/main">
              <a:ext uri="{FF2B5EF4-FFF2-40B4-BE49-F238E27FC236}">
                <a16:creationId xmlns:a16="http://schemas.microsoft.com/office/drawing/2014/main" id="{26BAEE88-2ADB-4D5F-A2BC-112BF0E3FC3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organism- and situation-specific. S. aureus bacteremia and candidemia require documented clearance. An improving patient with a controlled gram-negative source usually does not need daily cultures. The useful question is not “Were the cultures positive?” It is “What will another set tell me or change?”</a:t>
            </a:r>
          </a:p>
        </p:txBody>
      </p:sp>
      <p:sp>
        <p:nvSpPr>
          <p:cNvPr id="3" name="footer">
            <a:extLst xmlns:a="http://schemas.openxmlformats.org/drawingml/2006/main">
              <a:ext uri="{FF2B5EF4-FFF2-40B4-BE49-F238E27FC236}">
                <a16:creationId xmlns:a16="http://schemas.microsoft.com/office/drawing/2014/main" id="{B5F53189-2D7D-4380-80E8-1E6FB93871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818B613-75BD-4919-BC72-E2776B1722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79198276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B1CD5A-6006-4AFC-9D9D-D59ED981F6A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graphicFrame>
        <p:nvGraphicFramePr>
          <p:cNvPr id="2" name="">
            <a:extLst xmlns:a="http://schemas.openxmlformats.org/drawingml/2006/main">
              <a:ext uri="{FF2B5EF4-FFF2-40B4-BE49-F238E27FC236}">
                <a16:creationId xmlns:a16="http://schemas.microsoft.com/office/drawing/2014/main" id="{E048B830-4900-4384-B57A-B1B4B3BAD19D}"/>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 aureus bacteremia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Default strategy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least 2 sets at 48 hours after the index sample, then 1 or 2 sets every 24–48 hours until negative. Consider more intensive sampling with ongoing illness, deep or endovascular focus, or persistent positivity.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Clearance changes risk classification, diagnostic intensity, source-control reassessment, and the treatment clock. 1</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84F9039-3196-44D4-96D8-3CEA81C791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9C6E980-BBB1-40AB-A9D7-BE699A4025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75431492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ED8F16-9856-41B0-A715-45B9B8A158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graphicFrame>
        <p:nvGraphicFramePr>
          <p:cNvPr id="2" name="">
            <a:extLst xmlns:a="http://schemas.openxmlformats.org/drawingml/2006/main">
              <a:ext uri="{FF2B5EF4-FFF2-40B4-BE49-F238E27FC236}">
                <a16:creationId xmlns:a16="http://schemas.microsoft.com/office/drawing/2014/main" id="{9FC4E787-8E4A-40EF-8ACE-0C74CA8BCFF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Candidemia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strategy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Every day or every other day until clearance.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Duration for uncomplicated candidemia is counted from documented clearance, with resolution of attributable symptoms and, when present, neutropenia. 2</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955E31B-8E3E-4DBC-9552-04A8ADA50E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38E1472-1773-4B9D-9EB8-064D654EC6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137888630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6BC428-D3C4-42B9-9F54-DD432E6798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graphicFrame>
        <p:nvGraphicFramePr>
          <p:cNvPr id="2" name="">
            <a:extLst xmlns:a="http://schemas.openxmlformats.org/drawingml/2006/main">
              <a:ext uri="{FF2B5EF4-FFF2-40B4-BE49-F238E27FC236}">
                <a16:creationId xmlns:a16="http://schemas.microsoft.com/office/drawing/2014/main" id="{3D4FE339-AD12-4E86-9825-82CCE5BAAEAA}"/>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Uncomplicated gram-negative BSI with clinical response and adequate source control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strategy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do not repeat routinely.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Repeat when there is no appropriate response within 72 hours, endovascular concern, or limited source control. 6</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0C775FF-0CF7-4384-89F1-437B43EEBA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6A4063B-FE08-466B-85B9-6366CAC441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82051548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CD5E3B-58D5-4515-BEFC-9798788FF3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graphicFrame>
        <p:nvGraphicFramePr>
          <p:cNvPr id="2" name="">
            <a:extLst xmlns:a="http://schemas.openxmlformats.org/drawingml/2006/main">
              <a:ext uri="{FF2B5EF4-FFF2-40B4-BE49-F238E27FC236}">
                <a16:creationId xmlns:a16="http://schemas.microsoft.com/office/drawing/2014/main" id="{2C97D738-C890-45EC-9509-F4682441118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Possible contaminant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Default strategy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properly collected sets when the result could represent true infection because of devices, immunocompromise, compatible illness, multiple concordant positives, or unresolved clinical concern.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repeat is diagnostic, not a ritual. Obtain before new antibiotics when clinically safe.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8832CC8-1BE6-487E-A6D5-094D8D9D13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6EBE6C1-5416-472B-A30F-E227914A15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29817251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D81C34-277C-4753-A26B-22194E5A80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graphicFrame>
        <p:nvGraphicFramePr>
          <p:cNvPr id="2" name="">
            <a:extLst xmlns:a="http://schemas.openxmlformats.org/drawingml/2006/main">
              <a:ext uri="{FF2B5EF4-FFF2-40B4-BE49-F238E27FC236}">
                <a16:creationId xmlns:a16="http://schemas.microsoft.com/office/drawing/2014/main" id="{7A29BE45-E0AE-4CA3-962B-CED2174665E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Any bacteremia with deterioration, persistent fever, new embolic or focal symptoms, retained infected material, or inactive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Default strategy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cultures and reconsider the source.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patient is not behaving like someone with a controlled, uncomplicated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464E69D-478C-4FD4-9469-A3FA3FF2AB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76E0B1B-EA6A-43BD-9E8C-B201063D66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71091627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498A717-CB81-455D-AB76-2FC5E2938D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should the cultures be repeated?</a:t>
            </a:r>
          </a:p>
        </p:txBody>
      </p:sp>
      <p:sp>
        <p:nvSpPr>
          <p:cNvPr id="2" name="paragraph-0">
            <a:extLst xmlns:a="http://schemas.openxmlformats.org/drawingml/2006/main">
              <a:ext uri="{FF2B5EF4-FFF2-40B4-BE49-F238E27FC236}">
                <a16:creationId xmlns:a16="http://schemas.microsoft.com/office/drawing/2014/main" id="{6249F0E1-DB87-4BB1-803C-7AB0F316E89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Put the reason in the plan. “Repeat cultures to document S. aureus clearance” is useful. So is “repeat because the catheter remains in place.” For an improving patient with uncomplicated gram-negative bacteremia, it may be appropriate to document why cultures are not being repeated.</a:t>
            </a:r>
          </a:p>
        </p:txBody>
      </p:sp>
      <p:sp>
        <p:nvSpPr>
          <p:cNvPr id="3" name="footer">
            <a:extLst xmlns:a="http://schemas.openxmlformats.org/drawingml/2006/main">
              <a:ext uri="{FF2B5EF4-FFF2-40B4-BE49-F238E27FC236}">
                <a16:creationId xmlns:a16="http://schemas.microsoft.com/office/drawing/2014/main" id="{935CD48D-E5B5-47A5-B63C-CC07AA21E3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B2EFC53-4EC4-460D-9014-CEA3D23893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99939807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68BAD2B-B410-4126-A7E2-8C8DD58AD9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are the antibiotics not going to fix?</a:t>
            </a:r>
          </a:p>
        </p:txBody>
      </p:sp>
      <p:sp>
        <p:nvSpPr>
          <p:cNvPr id="2" name="paragraph-0">
            <a:extLst xmlns:a="http://schemas.openxmlformats.org/drawingml/2006/main">
              <a:ext uri="{FF2B5EF4-FFF2-40B4-BE49-F238E27FC236}">
                <a16:creationId xmlns:a16="http://schemas.microsoft.com/office/drawing/2014/main" id="{4DC714CC-E23F-4D9A-B548-28C49E87CB2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On rounds, this is often the most important part of the discussion. Obstruction, an undrained collection, necrosis, a leak, or infected foreign material may require source control despite active antimicrobial therapy.</a:t>
            </a:r>
          </a:p>
        </p:txBody>
      </p:sp>
      <p:sp>
        <p:nvSpPr>
          <p:cNvPr id="3" name="footer">
            <a:extLst xmlns:a="http://schemas.openxmlformats.org/drawingml/2006/main">
              <a:ext uri="{FF2B5EF4-FFF2-40B4-BE49-F238E27FC236}">
                <a16:creationId xmlns:a16="http://schemas.microsoft.com/office/drawing/2014/main" id="{F4AC5525-4300-4708-9ACF-84B01BBA141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06E81B3-1F27-4D3C-8838-0830BC0CD2D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37052494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AC47E0-7000-4748-BCEC-BBD13FDA92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Remove</a:t>
            </a:r>
          </a:p>
        </p:txBody>
      </p:sp>
      <p:sp>
        <p:nvSpPr>
          <p:cNvPr id="2" name="paragraph-0">
            <a:extLst xmlns:a="http://schemas.openxmlformats.org/drawingml/2006/main">
              <a:ext uri="{FF2B5EF4-FFF2-40B4-BE49-F238E27FC236}">
                <a16:creationId xmlns:a16="http://schemas.microsoft.com/office/drawing/2014/main" id="{7F8FD2F7-49C6-4BE4-ACD9-02FBFF7F5BC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a catheter, cardiac device, vascular graft, or other hardware involved? If removal may be needed, identify who will make that decision and when.</a:t>
            </a:r>
          </a:p>
        </p:txBody>
      </p:sp>
      <p:sp>
        <p:nvSpPr>
          <p:cNvPr id="3" name="footer">
            <a:extLst xmlns:a="http://schemas.openxmlformats.org/drawingml/2006/main">
              <a:ext uri="{FF2B5EF4-FFF2-40B4-BE49-F238E27FC236}">
                <a16:creationId xmlns:a16="http://schemas.microsoft.com/office/drawing/2014/main" id="{935742E4-DFDA-4E85-AAC6-01F5DAC8CF5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B00B07F-681C-4084-B2B3-9F15CB09C6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44977188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64FC5A0-3C88-4DE9-A639-20B853E1E8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Drain</a:t>
            </a:r>
          </a:p>
        </p:txBody>
      </p:sp>
      <p:sp>
        <p:nvSpPr>
          <p:cNvPr id="2" name="paragraph-0">
            <a:extLst xmlns:a="http://schemas.openxmlformats.org/drawingml/2006/main">
              <a:ext uri="{FF2B5EF4-FFF2-40B4-BE49-F238E27FC236}">
                <a16:creationId xmlns:a16="http://schemas.microsoft.com/office/drawing/2014/main" id="{61429E8C-3A9E-492A-A280-0658A35A17E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there an abscess, empyema, infected collection, septic joint, or another closed-space infection? If someone says it is not drainable, clarify whether that conclusion came from the procedural service.</a:t>
            </a:r>
          </a:p>
        </p:txBody>
      </p:sp>
      <p:sp>
        <p:nvSpPr>
          <p:cNvPr id="3" name="footer">
            <a:extLst xmlns:a="http://schemas.openxmlformats.org/drawingml/2006/main">
              <a:ext uri="{FF2B5EF4-FFF2-40B4-BE49-F238E27FC236}">
                <a16:creationId xmlns:a16="http://schemas.microsoft.com/office/drawing/2014/main" id="{B9FA0E26-1463-4DBD-9568-28B404DAA83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FD322B4-5778-4351-A765-A21B07FF24D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69423879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6C03CC-F78B-4F13-BB2B-DD7E7740E8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Debride</a:t>
            </a:r>
          </a:p>
        </p:txBody>
      </p:sp>
      <p:sp>
        <p:nvSpPr>
          <p:cNvPr id="2" name="paragraph-0">
            <a:extLst xmlns:a="http://schemas.openxmlformats.org/drawingml/2006/main">
              <a:ext uri="{FF2B5EF4-FFF2-40B4-BE49-F238E27FC236}">
                <a16:creationId xmlns:a16="http://schemas.microsoft.com/office/drawing/2014/main" id="{DB65CDAF-42D2-4480-B732-A929D0723A8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there necrotic tissue, an infected wound, devitalized bone, or an uncontrolled surgical focus? Antibiotics cannot restore perfusion or remove dead tissue.</a:t>
            </a:r>
          </a:p>
        </p:txBody>
      </p:sp>
      <p:sp>
        <p:nvSpPr>
          <p:cNvPr id="3" name="footer">
            <a:extLst xmlns:a="http://schemas.openxmlformats.org/drawingml/2006/main">
              <a:ext uri="{FF2B5EF4-FFF2-40B4-BE49-F238E27FC236}">
                <a16:creationId xmlns:a16="http://schemas.microsoft.com/office/drawing/2014/main" id="{7648A6DF-6CD5-4656-8A53-6EB424C6C6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C5F101C-C05F-46E1-B3FE-09A71D8305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24615000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855146B-0A76-439D-8B2C-77507B420B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Decompress or repair</a:t>
            </a:r>
          </a:p>
        </p:txBody>
      </p:sp>
      <p:sp>
        <p:nvSpPr>
          <p:cNvPr id="2" name="paragraph-0">
            <a:extLst xmlns:a="http://schemas.openxmlformats.org/drawingml/2006/main">
              <a:ext uri="{FF2B5EF4-FFF2-40B4-BE49-F238E27FC236}">
                <a16:creationId xmlns:a16="http://schemas.microsoft.com/office/drawing/2014/main" id="{4F6FADCA-D493-4D2E-B8BC-7FB0EA2A13C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there urinary or biliary obstruction, a leak, fistula, perforation, or another continuing anatomic problem?</a:t>
            </a:r>
          </a:p>
        </p:txBody>
      </p:sp>
      <p:sp>
        <p:nvSpPr>
          <p:cNvPr id="3" name="paragraph-1">
            <a:extLst xmlns:a="http://schemas.openxmlformats.org/drawingml/2006/main">
              <a:ext uri="{FF2B5EF4-FFF2-40B4-BE49-F238E27FC236}">
                <a16:creationId xmlns:a16="http://schemas.microsoft.com/office/drawing/2014/main" id="{B1E796EF-136D-43CC-9BCD-06030217FE43}"/>
              </a:ext>
            </a:extLst>
          </p:cNvPr>
          <p:cNvSpPr>
            <a:spLocks xmlns:a="http://schemas.openxmlformats.org/drawingml/2006/main" noGrp="1"/>
          </p:cNvSpPr>
          <p:nvPr/>
        </p:nvSpPr>
        <p:spPr>
          <a:xfrm xmlns:a="http://schemas.openxmlformats.org/drawingml/2006/main">
            <a:off x="647700" y="291465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cultures stay positive, stop and reconsider the case. For S. aureus , a positive follow-up culture at least 48 hours after the first positive culture is a major increased-risk feature. Check whether therapy is active and reaching the patient, but also reconsider the source, every line and device, and occult endovascular or metastatic infection. Broader therapy alone is usually not the answer. 1</a:t>
            </a:r>
          </a:p>
        </p:txBody>
      </p:sp>
      <p:sp>
        <p:nvSpPr>
          <p:cNvPr id="4" name="footer">
            <a:extLst xmlns:a="http://schemas.openxmlformats.org/drawingml/2006/main">
              <a:ext uri="{FF2B5EF4-FFF2-40B4-BE49-F238E27FC236}">
                <a16:creationId xmlns:a16="http://schemas.microsoft.com/office/drawing/2014/main" id="{5C053B20-C1D6-434A-9E3A-8466EE1CAE6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027B17F-87AE-4D84-9EA7-DC96EDC0F0F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183063208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7E7A085-FC6B-47D4-B8CD-C8FB627395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team thinks the line is the source</a:t>
            </a:r>
          </a:p>
        </p:txBody>
      </p:sp>
      <p:sp>
        <p:nvSpPr>
          <p:cNvPr id="2" name="paragraph-0">
            <a:extLst xmlns:a="http://schemas.openxmlformats.org/drawingml/2006/main">
              <a:ext uri="{FF2B5EF4-FFF2-40B4-BE49-F238E27FC236}">
                <a16:creationId xmlns:a16="http://schemas.microsoft.com/office/drawing/2014/main" id="{3BAB88D5-4EE3-4FF9-AE1C-5178C8E6EA4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Were peripheral and catheter cultures collected before antibiotics, at the same time, with comparable volumes?</a:t>
            </a:r>
          </a:p>
        </p:txBody>
      </p:sp>
      <p:sp>
        <p:nvSpPr>
          <p:cNvPr id="3" name="paragraph-1">
            <a:extLst xmlns:a="http://schemas.openxmlformats.org/drawingml/2006/main">
              <a:ext uri="{FF2B5EF4-FFF2-40B4-BE49-F238E27FC236}">
                <a16:creationId xmlns:a16="http://schemas.microsoft.com/office/drawing/2014/main" id="{E09A3548-F0AA-4553-B74B-D9061A207D01}"/>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 line still necessary, and can it be removed now?</a:t>
            </a:r>
          </a:p>
        </p:txBody>
      </p:sp>
      <p:sp>
        <p:nvSpPr>
          <p:cNvPr id="4" name="paragraph-2">
            <a:extLst xmlns:a="http://schemas.openxmlformats.org/drawingml/2006/main">
              <a:ext uri="{FF2B5EF4-FFF2-40B4-BE49-F238E27FC236}">
                <a16:creationId xmlns:a16="http://schemas.microsoft.com/office/drawing/2014/main" id="{53FFA22A-8CF9-4B7B-A045-0265F16EE1C3}"/>
              </a:ext>
            </a:extLst>
          </p:cNvPr>
          <p:cNvSpPr>
            <a:spLocks xmlns:a="http://schemas.openxmlformats.org/drawingml/2006/main" noGrp="1"/>
          </p:cNvSpPr>
          <p:nvPr/>
        </p:nvSpPr>
        <p:spPr>
          <a:xfrm xmlns:a="http://schemas.openxmlformats.org/drawingml/2006/main">
            <a:off x="647700" y="3524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there tunnel, pocket, exit-site, or septic-thrombus disease?</a:t>
            </a:r>
          </a:p>
        </p:txBody>
      </p:sp>
      <p:sp>
        <p:nvSpPr>
          <p:cNvPr id="5" name="paragraph-3">
            <a:extLst xmlns:a="http://schemas.openxmlformats.org/drawingml/2006/main">
              <a:ext uri="{FF2B5EF4-FFF2-40B4-BE49-F238E27FC236}">
                <a16:creationId xmlns:a16="http://schemas.microsoft.com/office/drawing/2014/main" id="{F79B4FBE-D752-4E71-AC3F-5285807B1815}"/>
              </a:ext>
            </a:extLst>
          </p:cNvPr>
          <p:cNvSpPr>
            <a:spLocks xmlns:a="http://schemas.openxmlformats.org/drawingml/2006/main" noGrp="1"/>
          </p:cNvSpPr>
          <p:nvPr/>
        </p:nvSpPr>
        <p:spPr>
          <a:xfrm xmlns:a="http://schemas.openxmlformats.org/drawingml/2006/main">
            <a:off x="647700" y="41338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 organism one for which catheter retention carries a high failure risk?</a:t>
            </a:r>
          </a:p>
        </p:txBody>
      </p:sp>
      <p:sp>
        <p:nvSpPr>
          <p:cNvPr id="6" name="footer">
            <a:extLst xmlns:a="http://schemas.openxmlformats.org/drawingml/2006/main">
              <a:ext uri="{FF2B5EF4-FFF2-40B4-BE49-F238E27FC236}">
                <a16:creationId xmlns:a16="http://schemas.microsoft.com/office/drawing/2014/main" id="{72DD6F41-8A28-4E5B-9D0E-E15343C469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2B78423F-0CD6-466B-BDB4-8EAD1BCE3F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31905877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535E41F-8BDF-432E-AE12-F51425EDA9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team thinks the line is the source</a:t>
            </a:r>
          </a:p>
        </p:txBody>
      </p:sp>
      <p:sp>
        <p:nvSpPr>
          <p:cNvPr id="2" name="paragraph-0">
            <a:extLst xmlns:a="http://schemas.openxmlformats.org/drawingml/2006/main">
              <a:ext uri="{FF2B5EF4-FFF2-40B4-BE49-F238E27FC236}">
                <a16:creationId xmlns:a16="http://schemas.microsoft.com/office/drawing/2014/main" id="{D89A00A9-8BF5-4235-91CC-3BE78FEF013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salvage is attempted, what is the failure threshold and when will cultures be repeated?</a:t>
            </a:r>
          </a:p>
        </p:txBody>
      </p:sp>
      <p:sp>
        <p:nvSpPr>
          <p:cNvPr id="3" name="paragraph-1">
            <a:extLst xmlns:a="http://schemas.openxmlformats.org/drawingml/2006/main">
              <a:ext uri="{FF2B5EF4-FFF2-40B4-BE49-F238E27FC236}">
                <a16:creationId xmlns:a16="http://schemas.microsoft.com/office/drawing/2014/main" id="{1C84ED17-D930-4ADA-9CC2-6FD3C3FBCC6C}"/>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2009 IDSA catheter guideline remains an older source and should be reconciled with local vascular-access and infection-prevention policy. 5</a:t>
            </a:r>
          </a:p>
        </p:txBody>
      </p:sp>
      <p:sp>
        <p:nvSpPr>
          <p:cNvPr id="4" name="footer">
            <a:extLst xmlns:a="http://schemas.openxmlformats.org/drawingml/2006/main">
              <a:ext uri="{FF2B5EF4-FFF2-40B4-BE49-F238E27FC236}">
                <a16:creationId xmlns:a16="http://schemas.microsoft.com/office/drawing/2014/main" id="{99AEA629-E410-4994-869D-D56EAFBB09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50AC87C-0FA0-411B-BDA9-A76A75F248C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23232046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9971B6-F7EA-4FF2-845F-622FB875D1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 the question the team actually has</a:t>
            </a:r>
          </a:p>
        </p:txBody>
      </p:sp>
      <p:sp>
        <p:nvSpPr>
          <p:cNvPr id="2" name="paragraph-0">
            <a:extLst xmlns:a="http://schemas.openxmlformats.org/drawingml/2006/main">
              <a:ext uri="{FF2B5EF4-FFF2-40B4-BE49-F238E27FC236}">
                <a16:creationId xmlns:a16="http://schemas.microsoft.com/office/drawing/2014/main" id="{72680B5B-A635-4937-AD1F-3C9798D7D86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technically correct consult is not very useful if the primary team cannot tell what to do next. The assessment should state whether the culture is significant, where the infection probably came from, what remains unproven, and what needs to happen today.</a:t>
            </a:r>
          </a:p>
        </p:txBody>
      </p:sp>
      <p:sp>
        <p:nvSpPr>
          <p:cNvPr id="3" name="footer">
            <a:extLst xmlns:a="http://schemas.openxmlformats.org/drawingml/2006/main">
              <a:ext uri="{FF2B5EF4-FFF2-40B4-BE49-F238E27FC236}">
                <a16:creationId xmlns:a16="http://schemas.microsoft.com/office/drawing/2014/main" id="{EEC21EAD-EEBB-4B7F-8843-307CDCCCD2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79B96B4-3178-4FEB-A4DB-D9ED0ECCD7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169099309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506D16-6952-4259-B1C6-6D41E0466C3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practical note structure</a:t>
            </a:r>
          </a:p>
        </p:txBody>
      </p:sp>
      <p:sp>
        <p:nvSpPr>
          <p:cNvPr id="2" name="paragraph-0">
            <a:extLst xmlns:a="http://schemas.openxmlformats.org/drawingml/2006/main">
              <a:ext uri="{FF2B5EF4-FFF2-40B4-BE49-F238E27FC236}">
                <a16:creationId xmlns:a16="http://schemas.microsoft.com/office/drawing/2014/main" id="{632C9F56-B074-4B82-B4A9-70A954E7E15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Positive blood cultures Blood cultures: [dates, number of sets, collection sites, identification, susceptibilities] Assessment: This is [true BSI / likely contamination / still uncertain]. The likely source is [ ] because [ ]. We remain concerned about [endovascular, prosthetic, or metastatic site] because [ ].</a:t>
            </a:r>
          </a:p>
        </p:txBody>
      </p:sp>
      <p:sp>
        <p:nvSpPr>
          <p:cNvPr id="3" name="footer">
            <a:extLst xmlns:a="http://schemas.openxmlformats.org/drawingml/2006/main">
              <a:ext uri="{FF2B5EF4-FFF2-40B4-BE49-F238E27FC236}">
                <a16:creationId xmlns:a16="http://schemas.microsoft.com/office/drawing/2014/main" id="{242AEF40-CAE7-4148-AB5B-8BFA7D4E16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01D4DD9-CB4F-4019-A584-806AF5CC4E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70068941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D95CDC-D2CA-4985-9205-750670F739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practical note structure</a:t>
            </a:r>
          </a:p>
        </p:txBody>
      </p:sp>
      <p:sp>
        <p:nvSpPr>
          <p:cNvPr id="2" name="paragraph-0">
            <a:extLst xmlns:a="http://schemas.openxmlformats.org/drawingml/2006/main">
              <a:ext uri="{FF2B5EF4-FFF2-40B4-BE49-F238E27FC236}">
                <a16:creationId xmlns:a16="http://schemas.microsoft.com/office/drawing/2014/main" id="{3B27CFC9-26D7-4C33-A45F-B5D754D588AF}"/>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Plan today - Active therapy: [ ] - Repeat cultures: [what, when, and why] - Source control: [action, responsible service, expected timing] - Additional evaluation: [only tests likely to change management] Duration and follow-through - Duration anchor and anticipated stop date: [ ] - Pending results and who will review them: [ ] - Criteria for narrowing, oral transition, discharge, or reopening the workup: [ ]</a:t>
            </a:r>
          </a:p>
        </p:txBody>
      </p:sp>
      <p:sp>
        <p:nvSpPr>
          <p:cNvPr id="3" name="footer">
            <a:extLst xmlns:a="http://schemas.openxmlformats.org/drawingml/2006/main">
              <a:ext uri="{FF2B5EF4-FFF2-40B4-BE49-F238E27FC236}">
                <a16:creationId xmlns:a16="http://schemas.microsoft.com/office/drawing/2014/main" id="{04F8FF9F-624B-4A6B-B36B-3790099082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01C2648-8B94-4716-B5E8-795A2F1E1B8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49742096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E40A7E-CE35-47EA-8951-94F517DE32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I would say to the primary team</a:t>
            </a:r>
          </a:p>
        </p:txBody>
      </p:sp>
      <p:sp>
        <p:nvSpPr>
          <p:cNvPr id="2" name="paragraph-0">
            <a:extLst xmlns:a="http://schemas.openxmlformats.org/drawingml/2006/main">
              <a:ext uri="{FF2B5EF4-FFF2-40B4-BE49-F238E27FC236}">
                <a16:creationId xmlns:a16="http://schemas.microsoft.com/office/drawing/2014/main" id="{EB94B0E3-1EA0-4B9B-B9FC-B8B58D84B79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 think this is true S. aureus bacteremia even though only one bottle is positive. We need two follow-up sets tomorrow at the 48-hour mark and a TTE. His focal back pain also needs directed spine imaging. If the cultures remain positive, we need to reassess source control, confirm active drug delivery, and investigate an endovascular or metastatic focus.”</a:t>
            </a:r>
          </a:p>
        </p:txBody>
      </p:sp>
      <p:sp>
        <p:nvSpPr>
          <p:cNvPr id="3" name="footer">
            <a:extLst xmlns:a="http://schemas.openxmlformats.org/drawingml/2006/main">
              <a:ext uri="{FF2B5EF4-FFF2-40B4-BE49-F238E27FC236}">
                <a16:creationId xmlns:a16="http://schemas.microsoft.com/office/drawing/2014/main" id="{BCA2E052-2037-4CC7-A2A8-0538CA0D9E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C365205-5A73-46E2-84CB-3FEEDF366C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27622142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95D61FA-83EE-4D82-B36E-3670269F17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the patient leaves the hospital</a:t>
            </a:r>
          </a:p>
        </p:txBody>
      </p:sp>
      <p:sp>
        <p:nvSpPr>
          <p:cNvPr id="2" name="paragraph-0">
            <a:extLst xmlns:a="http://schemas.openxmlformats.org/drawingml/2006/main">
              <a:ext uri="{FF2B5EF4-FFF2-40B4-BE49-F238E27FC236}">
                <a16:creationId xmlns:a16="http://schemas.microsoft.com/office/drawing/2014/main" id="{6A411F59-6B4D-4D26-ACC2-64D1437B48A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“Continue antibiotics per ID” is not a discharge plan. State the drug, dose, route, indication, duration anchor, stop date, and monitoring.</a:t>
            </a:r>
          </a:p>
        </p:txBody>
      </p:sp>
      <p:sp>
        <p:nvSpPr>
          <p:cNvPr id="3" name="paragraph-1">
            <a:extLst xmlns:a="http://schemas.openxmlformats.org/drawingml/2006/main">
              <a:ext uri="{FF2B5EF4-FFF2-40B4-BE49-F238E27FC236}">
                <a16:creationId xmlns:a16="http://schemas.microsoft.com/office/drawing/2014/main" id="{0BF99787-01FF-4C88-BFB3-DE2326AFEE23}"/>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List all pending blood cultures and susceptibilities, who will review them, and what result changes the plan.</a:t>
            </a:r>
          </a:p>
        </p:txBody>
      </p:sp>
      <p:sp>
        <p:nvSpPr>
          <p:cNvPr id="4" name="paragraph-2">
            <a:extLst xmlns:a="http://schemas.openxmlformats.org/drawingml/2006/main">
              <a:ext uri="{FF2B5EF4-FFF2-40B4-BE49-F238E27FC236}">
                <a16:creationId xmlns:a16="http://schemas.microsoft.com/office/drawing/2014/main" id="{8065D940-EE47-473C-B89B-2F27B606DC69}"/>
              </a:ext>
            </a:extLst>
          </p:cNvPr>
          <p:cNvSpPr>
            <a:spLocks xmlns:a="http://schemas.openxmlformats.org/drawingml/2006/main" noGrp="1"/>
          </p:cNvSpPr>
          <p:nvPr/>
        </p:nvSpPr>
        <p:spPr>
          <a:xfrm xmlns:a="http://schemas.openxmlformats.org/drawingml/2006/main">
            <a:off x="647700" y="38766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Record source-control completion and any retained material.</a:t>
            </a:r>
          </a:p>
        </p:txBody>
      </p:sp>
      <p:sp>
        <p:nvSpPr>
          <p:cNvPr id="5" name="paragraph-3">
            <a:extLst xmlns:a="http://schemas.openxmlformats.org/drawingml/2006/main">
              <a:ext uri="{FF2B5EF4-FFF2-40B4-BE49-F238E27FC236}">
                <a16:creationId xmlns:a16="http://schemas.microsoft.com/office/drawing/2014/main" id="{193F5630-5461-4AB3-848F-9C6F75C91D53}"/>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Specify necessary imaging, specialty follow-up, vascular-access plan, laboratory monitoring, and symptoms requiring urgent reassessment.</a:t>
            </a:r>
          </a:p>
        </p:txBody>
      </p:sp>
      <p:sp>
        <p:nvSpPr>
          <p:cNvPr id="6" name="footer">
            <a:extLst xmlns:a="http://schemas.openxmlformats.org/drawingml/2006/main">
              <a:ext uri="{FF2B5EF4-FFF2-40B4-BE49-F238E27FC236}">
                <a16:creationId xmlns:a16="http://schemas.microsoft.com/office/drawing/2014/main" id="{49E4DDE3-1AB8-4E93-8F96-7345E58232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EE6883D4-622F-42F5-B176-8C9A8167B4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6578449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50862B-6A7F-46B3-B860-EE98F81F68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the patient leaves the hospital</a:t>
            </a:r>
          </a:p>
        </p:txBody>
      </p:sp>
      <p:sp>
        <p:nvSpPr>
          <p:cNvPr id="2" name="paragraph-0">
            <a:extLst xmlns:a="http://schemas.openxmlformats.org/drawingml/2006/main">
              <a:ext uri="{FF2B5EF4-FFF2-40B4-BE49-F238E27FC236}">
                <a16:creationId xmlns:a16="http://schemas.microsoft.com/office/drawing/2014/main" id="{1850A835-1EE8-4400-BF4C-E98BB71F62C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oral therapy when evidence, susceptibility, absorption, adherence, and syndrome permit. Bacteremia alone is not an indication for a PICC.</a:t>
            </a:r>
          </a:p>
        </p:txBody>
      </p:sp>
      <p:sp>
        <p:nvSpPr>
          <p:cNvPr id="3" name="footer">
            <a:extLst xmlns:a="http://schemas.openxmlformats.org/drawingml/2006/main">
              <a:ext uri="{FF2B5EF4-FFF2-40B4-BE49-F238E27FC236}">
                <a16:creationId xmlns:a16="http://schemas.microsoft.com/office/drawing/2014/main" id="{CF679D13-2B8E-4384-9CE8-A86BECA225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AB67390-AE97-41BB-AD1F-6F394E1751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119229235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DC7D97-F8B6-4F5D-8335-CF5162E54E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fellow discussion begins here</a:t>
            </a:r>
          </a:p>
        </p:txBody>
      </p:sp>
      <p:sp>
        <p:nvSpPr>
          <p:cNvPr id="2" name="paragraph-0">
            <a:extLst xmlns:a="http://schemas.openxmlformats.org/drawingml/2006/main">
              <a:ext uri="{FF2B5EF4-FFF2-40B4-BE49-F238E27FC236}">
                <a16:creationId xmlns:a16="http://schemas.microsoft.com/office/drawing/2014/main" id="{0011BF83-90CA-4585-86F8-904CA34F420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these questions to examine risk stratification, evidence boundaries, and uncertainty after the resident cases.</a:t>
            </a:r>
          </a:p>
        </p:txBody>
      </p:sp>
      <p:sp>
        <p:nvSpPr>
          <p:cNvPr id="3" name="footer">
            <a:extLst xmlns:a="http://schemas.openxmlformats.org/drawingml/2006/main">
              <a:ext uri="{FF2B5EF4-FFF2-40B4-BE49-F238E27FC236}">
                <a16:creationId xmlns:a16="http://schemas.microsoft.com/office/drawing/2014/main" id="{94BDFF05-D43B-49EB-8575-31A5A407CE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BA7F39B-E102-4217-A76F-4A4E45460F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176658158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F1D574A-EE96-4021-927D-3C91D949EA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fellows</a:t>
            </a:r>
          </a:p>
        </p:txBody>
      </p:sp>
      <p:sp>
        <p:nvSpPr>
          <p:cNvPr id="2" name="paragraph-0">
            <a:extLst xmlns:a="http://schemas.openxmlformats.org/drawingml/2006/main">
              <a:ext uri="{FF2B5EF4-FFF2-40B4-BE49-F238E27FC236}">
                <a16:creationId xmlns:a16="http://schemas.microsoft.com/office/drawing/2014/main" id="{C9D5A206-A0B1-41B2-AE9B-DF22D850AAB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Which uncertainty matters enough to change what you do today?</a:t>
            </a:r>
          </a:p>
        </p:txBody>
      </p:sp>
      <p:sp>
        <p:nvSpPr>
          <p:cNvPr id="3" name="paragraph-1">
            <a:extLst xmlns:a="http://schemas.openxmlformats.org/drawingml/2006/main">
              <a:ext uri="{FF2B5EF4-FFF2-40B4-BE49-F238E27FC236}">
                <a16:creationId xmlns:a16="http://schemas.microsoft.com/office/drawing/2014/main" id="{146E883D-828D-4367-8D7B-DA8A0FE9AC8A}"/>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Are you applying an organism-specific approach or reflexively using the same workup for every bacteremia?</a:t>
            </a:r>
          </a:p>
        </p:txBody>
      </p:sp>
      <p:sp>
        <p:nvSpPr>
          <p:cNvPr id="4" name="paragraph-2">
            <a:extLst xmlns:a="http://schemas.openxmlformats.org/drawingml/2006/main">
              <a:ext uri="{FF2B5EF4-FFF2-40B4-BE49-F238E27FC236}">
                <a16:creationId xmlns:a16="http://schemas.microsoft.com/office/drawing/2014/main" id="{874D96F7-28B1-4A86-AAF9-C499FA4E448D}"/>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a prediction score helping with risk assessment, or are you asking it to exclude disease that it cannot reliably exclude?</a:t>
            </a:r>
          </a:p>
        </p:txBody>
      </p:sp>
      <p:sp>
        <p:nvSpPr>
          <p:cNvPr id="5" name="paragraph-3">
            <a:extLst xmlns:a="http://schemas.openxmlformats.org/drawingml/2006/main">
              <a:ext uri="{FF2B5EF4-FFF2-40B4-BE49-F238E27FC236}">
                <a16:creationId xmlns:a16="http://schemas.microsoft.com/office/drawing/2014/main" id="{98043180-5C91-4E6C-AAF7-E58C87C5AA91}"/>
              </a:ext>
            </a:extLst>
          </p:cNvPr>
          <p:cNvSpPr>
            <a:spLocks xmlns:a="http://schemas.openxmlformats.org/drawingml/2006/main" noGrp="1"/>
          </p:cNvSpPr>
          <p:nvPr/>
        </p:nvSpPr>
        <p:spPr>
          <a:xfrm xmlns:a="http://schemas.openxmlformats.org/drawingml/2006/main">
            <a:off x="647700" y="44862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does the local rapid panel detect, and what can it miss?</a:t>
            </a:r>
          </a:p>
        </p:txBody>
      </p:sp>
      <p:sp>
        <p:nvSpPr>
          <p:cNvPr id="6" name="footer">
            <a:extLst xmlns:a="http://schemas.openxmlformats.org/drawingml/2006/main">
              <a:ext uri="{FF2B5EF4-FFF2-40B4-BE49-F238E27FC236}">
                <a16:creationId xmlns:a16="http://schemas.microsoft.com/office/drawing/2014/main" id="{33C9A9B8-9B2F-41A6-ADCB-6F7D267646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B617B188-F12F-4AF3-B06E-7D52C9009D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212565776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4BAD5C9-1780-44A0-B792-67DE5212AF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fellows</a:t>
            </a:r>
          </a:p>
        </p:txBody>
      </p:sp>
      <p:sp>
        <p:nvSpPr>
          <p:cNvPr id="2" name="paragraph-0">
            <a:extLst xmlns:a="http://schemas.openxmlformats.org/drawingml/2006/main">
              <a:ext uri="{FF2B5EF4-FFF2-40B4-BE49-F238E27FC236}">
                <a16:creationId xmlns:a16="http://schemas.microsoft.com/office/drawing/2014/main" id="{1B8CD60E-EB8B-4400-AFD2-1609F2CF246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cultures remain positive, is the presumed source wrong, incompletely controlled, or not the whole story?</a:t>
            </a:r>
          </a:p>
        </p:txBody>
      </p:sp>
      <p:sp>
        <p:nvSpPr>
          <p:cNvPr id="3" name="footer">
            <a:extLst xmlns:a="http://schemas.openxmlformats.org/drawingml/2006/main">
              <a:ext uri="{FF2B5EF4-FFF2-40B4-BE49-F238E27FC236}">
                <a16:creationId xmlns:a16="http://schemas.microsoft.com/office/drawing/2014/main" id="{B387226B-5EB9-4CB0-92A2-342AEEA0828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28C028-98FA-4714-9B36-0D19783726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81194162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86B59B-34D4-461E-9730-19AD1BD47F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fellows</a:t>
            </a:r>
          </a:p>
        </p:txBody>
      </p:sp>
      <p:sp>
        <p:nvSpPr>
          <p:cNvPr id="2" name="paragraph-0">
            <a:extLst xmlns:a="http://schemas.openxmlformats.org/drawingml/2006/main">
              <a:ext uri="{FF2B5EF4-FFF2-40B4-BE49-F238E27FC236}">
                <a16:creationId xmlns:a16="http://schemas.microsoft.com/office/drawing/2014/main" id="{A9BA2376-8062-45F3-BE8B-FD0F726946F6}"/>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fellows. A negative TTE does not end the echocardiographic evaluation in every patient. The 2026 consensus supports TEE when risk remains higher because of an intracardiac device, predisposing valve disease, cultures positive at least 48 hours, embolic events, or more than one noncontiguous focus. Community onset and injection drug use also increase concern. 1</a:t>
            </a:r>
          </a:p>
        </p:txBody>
      </p:sp>
      <p:sp>
        <p:nvSpPr>
          <p:cNvPr id="3" name="footer">
            <a:extLst xmlns:a="http://schemas.openxmlformats.org/drawingml/2006/main">
              <a:ext uri="{FF2B5EF4-FFF2-40B4-BE49-F238E27FC236}">
                <a16:creationId xmlns:a16="http://schemas.microsoft.com/office/drawing/2014/main" id="{28B2184F-421C-48F4-B60E-8B0D957936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8A04E36-98FB-4A0C-94FE-33718F92DF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26481234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FABA68-8821-47F4-A4A4-02F16A34BD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fellows</a:t>
            </a:r>
          </a:p>
        </p:txBody>
      </p:sp>
      <p:sp>
        <p:nvSpPr>
          <p:cNvPr id="2" name="paragraph-0">
            <a:extLst xmlns:a="http://schemas.openxmlformats.org/drawingml/2006/main">
              <a:ext uri="{FF2B5EF4-FFF2-40B4-BE49-F238E27FC236}">
                <a16:creationId xmlns:a16="http://schemas.microsoft.com/office/drawing/2014/main" id="{03779135-5C24-42C3-9101-CECB43EE3E5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fellows. Do not stretch the BALANCE result beyond its population. The trial excluded severe immunosuppression, prosthetic heart valves or endovascular grafts, deep foci requiring prolonged therapy, S. aureus , S. lugdunensis , possible contaminants, unusual pathogens requiring prolonged therapy, and fungemia. 7</a:t>
            </a:r>
          </a:p>
        </p:txBody>
      </p:sp>
      <p:sp>
        <p:nvSpPr>
          <p:cNvPr id="3" name="footer">
            <a:extLst xmlns:a="http://schemas.openxmlformats.org/drawingml/2006/main">
              <a:ext uri="{FF2B5EF4-FFF2-40B4-BE49-F238E27FC236}">
                <a16:creationId xmlns:a16="http://schemas.microsoft.com/office/drawing/2014/main" id="{B9B7EE95-678D-45D8-AD20-A417752011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575D92A-0D33-4B35-B4EB-05BFE7D10F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95842373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3C41A8-C963-4DA7-BA9E-EAF8C9FA1DA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Calling it from the bottle count</a:t>
            </a:r>
          </a:p>
        </p:txBody>
      </p:sp>
      <p:sp>
        <p:nvSpPr>
          <p:cNvPr id="2" name="paragraph-0">
            <a:extLst xmlns:a="http://schemas.openxmlformats.org/drawingml/2006/main">
              <a:ext uri="{FF2B5EF4-FFF2-40B4-BE49-F238E27FC236}">
                <a16:creationId xmlns:a16="http://schemas.microsoft.com/office/drawing/2014/main" id="{8E281032-26F4-4029-835D-FA0DD2AA1BB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“One bottle means contamination” and “two bottles mean true infection” are unreliable shortcuts. Start with the organism, independently collected sets, collection sites, host, devices, and syndrome.</a:t>
            </a:r>
          </a:p>
        </p:txBody>
      </p:sp>
      <p:sp>
        <p:nvSpPr>
          <p:cNvPr id="3" name="footer">
            <a:extLst xmlns:a="http://schemas.openxmlformats.org/drawingml/2006/main">
              <a:ext uri="{FF2B5EF4-FFF2-40B4-BE49-F238E27FC236}">
                <a16:creationId xmlns:a16="http://schemas.microsoft.com/office/drawing/2014/main" id="{73644605-A33B-48D1-BDBC-9660F030FB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2BB7C0D-A6DE-48D1-AC89-2FE211B0FB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51288148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68F8F3-1C95-4D5A-8B11-D2898D45B8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Stopping once a plausible source is found</a:t>
            </a:r>
          </a:p>
        </p:txBody>
      </p:sp>
      <p:sp>
        <p:nvSpPr>
          <p:cNvPr id="2" name="paragraph-0">
            <a:extLst xmlns:a="http://schemas.openxmlformats.org/drawingml/2006/main">
              <a:ext uri="{FF2B5EF4-FFF2-40B4-BE49-F238E27FC236}">
                <a16:creationId xmlns:a16="http://schemas.microsoft.com/office/drawing/2014/main" id="{96DA14C8-5606-416A-9BA5-F1315577913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urine culture may explain how bacteremia started. It does not make new back pain, an intracardiac device, persistent cultures, or embolic findings irrelevant.</a:t>
            </a:r>
          </a:p>
        </p:txBody>
      </p:sp>
      <p:sp>
        <p:nvSpPr>
          <p:cNvPr id="3" name="footer">
            <a:extLst xmlns:a="http://schemas.openxmlformats.org/drawingml/2006/main">
              <a:ext uri="{FF2B5EF4-FFF2-40B4-BE49-F238E27FC236}">
                <a16:creationId xmlns:a16="http://schemas.microsoft.com/office/drawing/2014/main" id="{260EC13D-AC05-4FB3-A3A0-6235821D4E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B261B50-6362-41EB-9178-05FBD70E506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51051570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4C68ECF-42F5-4596-8A86-A07F7B30FB1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Repeating cultures by habit</a:t>
            </a:r>
          </a:p>
        </p:txBody>
      </p:sp>
      <p:sp>
        <p:nvSpPr>
          <p:cNvPr id="2" name="paragraph-0">
            <a:extLst xmlns:a="http://schemas.openxmlformats.org/drawingml/2006/main">
              <a:ext uri="{FF2B5EF4-FFF2-40B4-BE49-F238E27FC236}">
                <a16:creationId xmlns:a16="http://schemas.microsoft.com/office/drawing/2014/main" id="{0FA8F48B-1152-44A5-83EF-9F430164464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Follow-up cultures are essential in some infections and low yield in others. Know what question the next set is supposed to answer.</a:t>
            </a:r>
          </a:p>
        </p:txBody>
      </p:sp>
      <p:sp>
        <p:nvSpPr>
          <p:cNvPr id="3" name="footer">
            <a:extLst xmlns:a="http://schemas.openxmlformats.org/drawingml/2006/main">
              <a:ext uri="{FF2B5EF4-FFF2-40B4-BE49-F238E27FC236}">
                <a16:creationId xmlns:a16="http://schemas.microsoft.com/office/drawing/2014/main" id="{A5752C66-10E6-418D-B088-BDE954B799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4863AE3-4108-4D29-8E2B-5F7FDA9BB3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1695066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0C36BDC-5860-4FF0-9DF9-B4B720A63CD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Changing antibiotics instead of controlling the source</a:t>
            </a:r>
          </a:p>
        </p:txBody>
      </p:sp>
      <p:sp>
        <p:nvSpPr>
          <p:cNvPr id="2" name="paragraph-0">
            <a:extLst xmlns:a="http://schemas.openxmlformats.org/drawingml/2006/main">
              <a:ext uri="{FF2B5EF4-FFF2-40B4-BE49-F238E27FC236}">
                <a16:creationId xmlns:a16="http://schemas.microsoft.com/office/drawing/2014/main" id="{949DB0AE-0015-4A3D-9E29-2A3FE6C2A20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broader regimen does not drain an abscess, remove an infected line, decompress an obstruction, or debride necrotic tissue.</a:t>
            </a:r>
          </a:p>
        </p:txBody>
      </p:sp>
      <p:sp>
        <p:nvSpPr>
          <p:cNvPr id="3" name="footer">
            <a:extLst xmlns:a="http://schemas.openxmlformats.org/drawingml/2006/main">
              <a:ext uri="{FF2B5EF4-FFF2-40B4-BE49-F238E27FC236}">
                <a16:creationId xmlns:a16="http://schemas.microsoft.com/office/drawing/2014/main" id="{D88E9F83-F135-4E64-A3D3-E25BE3DBCB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7163174-C2B1-42F1-A6E3-C70160A2A0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752750560"/>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74193F6-31FD-458F-B67B-1F8BAF5094E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Overreading the rapid panel</a:t>
            </a:r>
          </a:p>
        </p:txBody>
      </p:sp>
      <p:sp>
        <p:nvSpPr>
          <p:cNvPr id="2" name="paragraph-0">
            <a:extLst xmlns:a="http://schemas.openxmlformats.org/drawingml/2006/main">
              <a:ext uri="{FF2B5EF4-FFF2-40B4-BE49-F238E27FC236}">
                <a16:creationId xmlns:a16="http://schemas.microsoft.com/office/drawing/2014/main" id="{54AADFF6-BBBE-4F47-8424-03F33EE6503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organism or resistance gene detected on a panel is not a complete phenotype. Know the local assay and wait for conventional results when they matter.</a:t>
            </a:r>
          </a:p>
        </p:txBody>
      </p:sp>
      <p:sp>
        <p:nvSpPr>
          <p:cNvPr id="3" name="footer">
            <a:extLst xmlns:a="http://schemas.openxmlformats.org/drawingml/2006/main">
              <a:ext uri="{FF2B5EF4-FFF2-40B4-BE49-F238E27FC236}">
                <a16:creationId xmlns:a16="http://schemas.microsoft.com/office/drawing/2014/main" id="{1288BBE5-AFC9-47B2-B0F6-99620CE918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40DA41-DE2D-497A-A5B8-5E4611DA2E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05779664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3CB631A-F6BC-4E19-A752-BA3F70A75A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duration from memory</a:t>
            </a:r>
          </a:p>
        </p:txBody>
      </p:sp>
      <p:sp>
        <p:nvSpPr>
          <p:cNvPr id="2" name="paragraph-0">
            <a:extLst xmlns:a="http://schemas.openxmlformats.org/drawingml/2006/main">
              <a:ext uri="{FF2B5EF4-FFF2-40B4-BE49-F238E27FC236}">
                <a16:creationId xmlns:a16="http://schemas.microsoft.com/office/drawing/2014/main" id="{E980F9E4-3C67-4667-B27F-396029D74B9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There is no single bacteremia duration. The answer depends on the organism, source, extent, source control, host, response, and the population actually studied.</a:t>
            </a:r>
          </a:p>
        </p:txBody>
      </p:sp>
      <p:sp>
        <p:nvSpPr>
          <p:cNvPr id="3" name="footer">
            <a:extLst xmlns:a="http://schemas.openxmlformats.org/drawingml/2006/main">
              <a:ext uri="{FF2B5EF4-FFF2-40B4-BE49-F238E27FC236}">
                <a16:creationId xmlns:a16="http://schemas.microsoft.com/office/drawing/2014/main" id="{B70FE25F-0E65-44A3-B20E-7DDEFE01E9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63085B9-E0C6-4E10-99FC-5A3B5FB2B4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91097500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3D821F-B4C9-4B5E-A43C-E9D9D0FCF2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378F7569-A2F0-40DD-A86C-55480D04071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One of four bottles grows S. aureus . The patient looks well. Contaminant?</a:t>
            </a:r>
          </a:p>
        </p:txBody>
      </p:sp>
      <p:sp>
        <p:nvSpPr>
          <p:cNvPr id="3" name="footer">
            <a:extLst xmlns:a="http://schemas.openxmlformats.org/drawingml/2006/main">
              <a:ext uri="{FF2B5EF4-FFF2-40B4-BE49-F238E27FC236}">
                <a16:creationId xmlns:a16="http://schemas.microsoft.com/office/drawing/2014/main" id="{9E52F69A-352D-4E41-B6F8-4413C73A4D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9DFA5E-F881-45A1-BE24-97F7FCF1E7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88181260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3D0632-54D6-4359-AFF1-54465691986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838886A4-5AB2-4C1E-AC58-920685A77EA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Treat as clinically significant and begin the S. aureus bacteremia evaluation. Bottle count does not make S. aureus a contaminant.</a:t>
            </a:r>
          </a:p>
        </p:txBody>
      </p:sp>
      <p:sp>
        <p:nvSpPr>
          <p:cNvPr id="3" name="footer">
            <a:extLst xmlns:a="http://schemas.openxmlformats.org/drawingml/2006/main">
              <a:ext uri="{FF2B5EF4-FFF2-40B4-BE49-F238E27FC236}">
                <a16:creationId xmlns:a16="http://schemas.microsoft.com/office/drawing/2014/main" id="{96EF7C71-0823-4686-92AA-077F52C00F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5C4C705-2304-467A-B865-950134F72A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6741440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832664-5E36-42BA-8E7A-5CF856EED0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2DB42302-0535-46CA-A19B-EA8C3916E0A6}"/>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When should adult S. aureus follow-up cultures be obtained?</a:t>
            </a:r>
          </a:p>
        </p:txBody>
      </p:sp>
      <p:sp>
        <p:nvSpPr>
          <p:cNvPr id="3" name="footer">
            <a:extLst xmlns:a="http://schemas.openxmlformats.org/drawingml/2006/main">
              <a:ext uri="{FF2B5EF4-FFF2-40B4-BE49-F238E27FC236}">
                <a16:creationId xmlns:a16="http://schemas.microsoft.com/office/drawing/2014/main" id="{6D2E7A5F-4CD0-41D7-B689-B54103183E6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285AC8B-A705-4025-9FB4-81A23AADBA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200828737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024236-D5B0-4AE4-86DB-D672DFDBC8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26FCBB4C-3473-4424-BC5E-9F5DA96A33B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IDSA/ESCMID consensus suggests at least two sets at 48 hours after sampling of the first positive culture, then one or two sets every 24 to 48 hours until negative. Intensify for ongoing illness, deep or endovascular infection, or persistence.</a:t>
            </a:r>
          </a:p>
        </p:txBody>
      </p:sp>
      <p:sp>
        <p:nvSpPr>
          <p:cNvPr id="3" name="footer">
            <a:extLst xmlns:a="http://schemas.openxmlformats.org/drawingml/2006/main">
              <a:ext uri="{FF2B5EF4-FFF2-40B4-BE49-F238E27FC236}">
                <a16:creationId xmlns:a16="http://schemas.microsoft.com/office/drawing/2014/main" id="{9C92BD00-35D2-476F-9758-E167B93803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580CA5E-321D-44E8-ACC3-E58172FBB4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38103956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4B6B7F-BF91-4440-91F4-F24347F5F7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00C56286-EF89-4878-BE4B-8C31B3E2079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Does every adult with S. aureus bacteremia need TTE?</a:t>
            </a:r>
          </a:p>
        </p:txBody>
      </p:sp>
      <p:sp>
        <p:nvSpPr>
          <p:cNvPr id="3" name="footer">
            <a:extLst xmlns:a="http://schemas.openxmlformats.org/drawingml/2006/main">
              <a:ext uri="{FF2B5EF4-FFF2-40B4-BE49-F238E27FC236}">
                <a16:creationId xmlns:a16="http://schemas.microsoft.com/office/drawing/2014/main" id="{B13184CF-C25F-43DA-A6D3-3260601E49C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B81FFC0-FE32-4425-9A78-7ED5F40E06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1052109758"/>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165C5E-D35B-4824-AC86-D8203CE338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FE04D6D4-F592-45A0-B97B-D06C6346D69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2026 consensus suggests routine TTE for all adults with S. aureus bacteremia. TEE is risk-based after TTE, not automatically omitted because TTE is negative.</a:t>
            </a:r>
          </a:p>
        </p:txBody>
      </p:sp>
      <p:sp>
        <p:nvSpPr>
          <p:cNvPr id="3" name="footer">
            <a:extLst xmlns:a="http://schemas.openxmlformats.org/drawingml/2006/main">
              <a:ext uri="{FF2B5EF4-FFF2-40B4-BE49-F238E27FC236}">
                <a16:creationId xmlns:a16="http://schemas.microsoft.com/office/drawing/2014/main" id="{F0A6C715-8195-4D05-82E0-A191C4BE5D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D5A6DA3-2E78-490E-9C47-DEE6980D781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1963214009"/>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9845AB-7814-42CB-8C2A-91697E4ADD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8BAAC62F-1F72-4137-BD63-08067B21603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An improving patient has E. coli bacteremia from pyelonephritis after ureteral decompression. Repeat daily cultures?</a:t>
            </a:r>
          </a:p>
        </p:txBody>
      </p:sp>
      <p:sp>
        <p:nvSpPr>
          <p:cNvPr id="3" name="footer">
            <a:extLst xmlns:a="http://schemas.openxmlformats.org/drawingml/2006/main">
              <a:ext uri="{FF2B5EF4-FFF2-40B4-BE49-F238E27FC236}">
                <a16:creationId xmlns:a16="http://schemas.microsoft.com/office/drawing/2014/main" id="{454D6DB0-5C19-43DD-B015-B3741BC7DA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377A61B-CB9B-4C35-A337-595DED7F1F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59971860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892C82-218F-4C6C-BE4F-AA0C4613F7A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7D6550FF-C0E2-4EC4-A450-67BDFEF790A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Usually no, if this meets uncomplicated gram-negative BSI criteria. Repeat if response is inadequate, an endovascular focus is possible, or source control is limited.</a:t>
            </a:r>
          </a:p>
        </p:txBody>
      </p:sp>
      <p:sp>
        <p:nvSpPr>
          <p:cNvPr id="3" name="footer">
            <a:extLst xmlns:a="http://schemas.openxmlformats.org/drawingml/2006/main">
              <a:ext uri="{FF2B5EF4-FFF2-40B4-BE49-F238E27FC236}">
                <a16:creationId xmlns:a16="http://schemas.microsoft.com/office/drawing/2014/main" id="{CFF13E7D-CA78-4858-ADF0-7A503A0D9F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936266C-3F4B-45F3-A689-5696D7C0D0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2048220504"/>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16F6810-9B28-4FE8-A796-54691C966A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79DD6E59-74CF-469B-9D40-B67261508B0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One set grows Corynebacterium in a patient with a prosthetic valve. Ignore it?</a:t>
            </a:r>
          </a:p>
        </p:txBody>
      </p:sp>
      <p:sp>
        <p:nvSpPr>
          <p:cNvPr id="3" name="footer">
            <a:extLst xmlns:a="http://schemas.openxmlformats.org/drawingml/2006/main">
              <a:ext uri="{FF2B5EF4-FFF2-40B4-BE49-F238E27FC236}">
                <a16:creationId xmlns:a16="http://schemas.microsoft.com/office/drawing/2014/main" id="{0C4259B5-7E3E-4AAD-9BFF-F696A3DB28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DACFD89-712F-441C-A489-CF70BFC35E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443293214"/>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E139F5-0601-436A-9361-B37E45C5EB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0321E34C-F4D3-48B1-96BB-ABD492B1761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It may still be contamination, but prosthetic material raises the consequence and probability of true infection. Reassess the syndrome and obtain properly collected repeat sets before dismissing it.</a:t>
            </a:r>
          </a:p>
        </p:txBody>
      </p:sp>
      <p:sp>
        <p:nvSpPr>
          <p:cNvPr id="3" name="footer">
            <a:extLst xmlns:a="http://schemas.openxmlformats.org/drawingml/2006/main">
              <a:ext uri="{FF2B5EF4-FFF2-40B4-BE49-F238E27FC236}">
                <a16:creationId xmlns:a16="http://schemas.microsoft.com/office/drawing/2014/main" id="{BEA08691-5BDF-4C80-B048-B0FBA0E2EA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C5C6DEE-B060-40A6-B668-3580BC43BA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471972342"/>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11955A-36E7-4823-8BDD-C66369024B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CD04F156-4A10-4001-AA2A-530009A5062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What does a catheter culture turning positive 2.5 hours before a simultaneous peripheral culture suggest?</a:t>
            </a:r>
          </a:p>
        </p:txBody>
      </p:sp>
      <p:sp>
        <p:nvSpPr>
          <p:cNvPr id="3" name="footer">
            <a:extLst xmlns:a="http://schemas.openxmlformats.org/drawingml/2006/main">
              <a:ext uri="{FF2B5EF4-FFF2-40B4-BE49-F238E27FC236}">
                <a16:creationId xmlns:a16="http://schemas.microsoft.com/office/drawing/2014/main" id="{66A60295-C3B6-4954-A063-C30154BB87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556755B-A2CE-451D-B47D-8ED983653E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29697807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5CF4074-EFDD-45CD-A4A7-47026E85E9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D07A82C4-63B3-478C-98D4-8F0BD4C255C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collected simultaneously with comparable volumes, a differential time to positivity of at least 2 hours supports a catheter source. It does not prove it and must be interpreted with the organism and clinical context.</a:t>
            </a:r>
          </a:p>
        </p:txBody>
      </p:sp>
      <p:sp>
        <p:nvSpPr>
          <p:cNvPr id="3" name="footer">
            <a:extLst xmlns:a="http://schemas.openxmlformats.org/drawingml/2006/main">
              <a:ext uri="{FF2B5EF4-FFF2-40B4-BE49-F238E27FC236}">
                <a16:creationId xmlns:a16="http://schemas.microsoft.com/office/drawing/2014/main" id="{9DEA1DAF-D633-4088-B2C6-5C20EF293A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FABC689-18B0-49D5-8616-D7DA5A99100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17430480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1F49E0A-E209-44BF-AC53-DD002E811F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5FCEB0D9-5C68-411B-B1C3-C538C00E31F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7. Can the BALANCE trial justify 7 days for candidemia or S. aureus bacteremia?</a:t>
            </a:r>
          </a:p>
        </p:txBody>
      </p:sp>
      <p:sp>
        <p:nvSpPr>
          <p:cNvPr id="3" name="footer">
            <a:extLst xmlns:a="http://schemas.openxmlformats.org/drawingml/2006/main">
              <a:ext uri="{FF2B5EF4-FFF2-40B4-BE49-F238E27FC236}">
                <a16:creationId xmlns:a16="http://schemas.microsoft.com/office/drawing/2014/main" id="{B885D5FF-A605-49A4-9222-3EE85820A95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1C63DB2-B6E8-476D-960E-2BDF7558B5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1790167130"/>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A8A8A3-39FB-48A4-9D5E-57C0B38F51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DFED35F8-B2DB-4B29-908E-20FB0A9A6C9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The trial excluded fungemia, S. aureus , S. lugdunensis , deep foci requiring prolonged therapy, and other important high-risk groups.</a:t>
            </a:r>
          </a:p>
        </p:txBody>
      </p:sp>
      <p:sp>
        <p:nvSpPr>
          <p:cNvPr id="3" name="footer">
            <a:extLst xmlns:a="http://schemas.openxmlformats.org/drawingml/2006/main">
              <a:ext uri="{FF2B5EF4-FFF2-40B4-BE49-F238E27FC236}">
                <a16:creationId xmlns:a16="http://schemas.microsoft.com/office/drawing/2014/main" id="{1D08616F-3892-474E-B808-7453CABF4FB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88409ED-7DC3-4079-9EDA-9E40475733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1528612982"/>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4F2433B-9A5B-41E1-A80D-8F1DFFA2F2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Knowledge check</a:t>
            </a:r>
          </a:p>
        </p:txBody>
      </p:sp>
      <p:sp>
        <p:nvSpPr>
          <p:cNvPr id="2" name="paragraph-0">
            <a:extLst xmlns:a="http://schemas.openxmlformats.org/drawingml/2006/main">
              <a:ext uri="{FF2B5EF4-FFF2-40B4-BE49-F238E27FC236}">
                <a16:creationId xmlns:a16="http://schemas.microsoft.com/office/drawing/2014/main" id="{CCBC2F9A-CD23-4919-A8F1-F2E8AF079F2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8. What is the most useful one-sentence bacteremia recommendation?</a:t>
            </a:r>
          </a:p>
        </p:txBody>
      </p:sp>
      <p:sp>
        <p:nvSpPr>
          <p:cNvPr id="3" name="footer">
            <a:extLst xmlns:a="http://schemas.openxmlformats.org/drawingml/2006/main">
              <a:ext uri="{FF2B5EF4-FFF2-40B4-BE49-F238E27FC236}">
                <a16:creationId xmlns:a16="http://schemas.microsoft.com/office/drawing/2014/main" id="{B396D9D0-1FE7-4813-9324-889CC9623B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7FCBFD2-E55F-41BD-A6B7-F9EA933952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204128705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C5E5E33-4A0E-4938-8009-5C668EE08C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A96C12F4-5BEC-47BD-9884-50496F1EC31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One that states significance, source, next action, and contingency. Example: “This is true bacteremia from an obstructed urinary source; decompression is complete, repeat cultures are unnecessary if improvement continues, and we will narrow to an active oral option when susceptibilities return.”</a:t>
            </a:r>
          </a:p>
        </p:txBody>
      </p:sp>
      <p:sp>
        <p:nvSpPr>
          <p:cNvPr id="3" name="footer">
            <a:extLst xmlns:a="http://schemas.openxmlformats.org/drawingml/2006/main">
              <a:ext uri="{FF2B5EF4-FFF2-40B4-BE49-F238E27FC236}">
                <a16:creationId xmlns:a16="http://schemas.microsoft.com/office/drawing/2014/main" id="{139B4C88-920A-4F8A-A8EB-D6EDC432D0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952A0BD-19B9-4905-9F55-1E0E5F7410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54055859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E222C31-64C7-4183-A8DF-48CABD5872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Positive blood cultures: one-page rounds sheet</a:t>
            </a:r>
          </a:p>
        </p:txBody>
      </p:sp>
      <p:sp>
        <p:nvSpPr>
          <p:cNvPr id="2" name="paragraph-0">
            <a:extLst xmlns:a="http://schemas.openxmlformats.org/drawingml/2006/main">
              <a:ext uri="{FF2B5EF4-FFF2-40B4-BE49-F238E27FC236}">
                <a16:creationId xmlns:a16="http://schemas.microsoft.com/office/drawing/2014/main" id="{5B3522EF-33A7-4D0E-A8B8-01D88FB3B9F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Organism. Independent sets and sites. Blood volume and collection quality. Host and devices. Compatible syndrome. Trajectory.</a:t>
            </a:r>
          </a:p>
        </p:txBody>
      </p:sp>
      <p:sp>
        <p:nvSpPr>
          <p:cNvPr id="3" name="paragraph-1">
            <a:extLst xmlns:a="http://schemas.openxmlformats.org/drawingml/2006/main">
              <a:ext uri="{FF2B5EF4-FFF2-40B4-BE49-F238E27FC236}">
                <a16:creationId xmlns:a16="http://schemas.microsoft.com/office/drawing/2014/main" id="{58A69FE9-353A-4A2F-B87A-377123EA8D2D}"/>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current therapy active and timely? Do not wait for final susceptibility in an unstable patient. Use local empiric guidance.</a:t>
            </a:r>
          </a:p>
        </p:txBody>
      </p:sp>
      <p:sp>
        <p:nvSpPr>
          <p:cNvPr id="4" name="paragraph-2">
            <a:extLst xmlns:a="http://schemas.openxmlformats.org/drawingml/2006/main">
              <a:ext uri="{FF2B5EF4-FFF2-40B4-BE49-F238E27FC236}">
                <a16:creationId xmlns:a16="http://schemas.microsoft.com/office/drawing/2014/main" id="{F7F956B4-A46F-41F7-8AB7-A201D7953763}"/>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Portal: urine, biliary/abdomen, lung, skin/wound, catheter. Extent: valve/device, thrombus, spine, joint, bone, abscess, embolic sites.</a:t>
            </a:r>
          </a:p>
        </p:txBody>
      </p:sp>
      <p:sp>
        <p:nvSpPr>
          <p:cNvPr id="5" name="paragraph-3">
            <a:extLst xmlns:a="http://schemas.openxmlformats.org/drawingml/2006/main">
              <a:ext uri="{FF2B5EF4-FFF2-40B4-BE49-F238E27FC236}">
                <a16:creationId xmlns:a16="http://schemas.microsoft.com/office/drawing/2014/main" id="{57269156-B48E-43E6-B1BF-6C104BA9E3B0}"/>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 aureus : 2 sets at 48 h, then q24–48 h until negative. Candida : daily or every other day. Uncomplicated GN BSI: usually no repeat.</a:t>
            </a:r>
          </a:p>
        </p:txBody>
      </p:sp>
      <p:sp>
        <p:nvSpPr>
          <p:cNvPr id="6" name="footer">
            <a:extLst xmlns:a="http://schemas.openxmlformats.org/drawingml/2006/main">
              <a:ext uri="{FF2B5EF4-FFF2-40B4-BE49-F238E27FC236}">
                <a16:creationId xmlns:a16="http://schemas.microsoft.com/office/drawing/2014/main" id="{0A8AD1F6-440B-4A9F-B317-83FECB3184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7" name="number">
            <a:extLst xmlns:a="http://schemas.openxmlformats.org/drawingml/2006/main">
              <a:ext uri="{FF2B5EF4-FFF2-40B4-BE49-F238E27FC236}">
                <a16:creationId xmlns:a16="http://schemas.microsoft.com/office/drawing/2014/main" id="{E5C2AC54-93B8-4D89-83F1-0836DC32F9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138026216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B707908-7AC6-4256-8569-4243EBE92BF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Positive blood cultures: one-page rounds sheet</a:t>
            </a:r>
          </a:p>
        </p:txBody>
      </p:sp>
      <p:sp>
        <p:nvSpPr>
          <p:cNvPr id="2" name="paragraph-0">
            <a:extLst xmlns:a="http://schemas.openxmlformats.org/drawingml/2006/main">
              <a:ext uri="{FF2B5EF4-FFF2-40B4-BE49-F238E27FC236}">
                <a16:creationId xmlns:a16="http://schemas.microsoft.com/office/drawing/2014/main" id="{8F831F27-9EEA-4DFC-981C-F9D82625685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Remove line/device when indicated. Drain. Debride. Decompress. Repair leak or fistula. Name owner and timing.</a:t>
            </a:r>
          </a:p>
        </p:txBody>
      </p:sp>
      <p:sp>
        <p:nvSpPr>
          <p:cNvPr id="3" name="paragraph-1">
            <a:extLst xmlns:a="http://schemas.openxmlformats.org/drawingml/2006/main">
              <a:ext uri="{FF2B5EF4-FFF2-40B4-BE49-F238E27FC236}">
                <a16:creationId xmlns:a16="http://schemas.microsoft.com/office/drawing/2014/main" id="{99C8C547-A76B-4E69-A9D6-B12735526603}"/>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the duration anchor and stop date. S. aureus : clearance or later focus removal. Candidemia: clearance plus symptom resolution; deep foci change duration.</a:t>
            </a:r>
          </a:p>
        </p:txBody>
      </p:sp>
      <p:sp>
        <p:nvSpPr>
          <p:cNvPr id="4" name="paragraph-2">
            <a:extLst xmlns:a="http://schemas.openxmlformats.org/drawingml/2006/main">
              <a:ext uri="{FF2B5EF4-FFF2-40B4-BE49-F238E27FC236}">
                <a16:creationId xmlns:a16="http://schemas.microsoft.com/office/drawing/2014/main" id="{657E8F17-3591-4F64-818E-076DD6F041C8}"/>
              </a:ext>
            </a:extLst>
          </p:cNvPr>
          <p:cNvSpPr>
            <a:spLocks xmlns:a="http://schemas.openxmlformats.org/drawingml/2006/main" noGrp="1"/>
          </p:cNvSpPr>
          <p:nvPr/>
        </p:nvSpPr>
        <p:spPr>
          <a:xfrm xmlns:a="http://schemas.openxmlformats.org/drawingml/2006/main">
            <a:off x="647700" y="42291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Significance + source + action + contingency. State what result or clinical change reopens the workup.</a:t>
            </a:r>
          </a:p>
        </p:txBody>
      </p:sp>
      <p:sp>
        <p:nvSpPr>
          <p:cNvPr id="5" name="footer">
            <a:extLst xmlns:a="http://schemas.openxmlformats.org/drawingml/2006/main">
              <a:ext uri="{FF2B5EF4-FFF2-40B4-BE49-F238E27FC236}">
                <a16:creationId xmlns:a16="http://schemas.microsoft.com/office/drawing/2014/main" id="{DFFFBDCF-4DF0-4AC2-AFCA-6D57032E3B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6EC5A992-0516-48E3-8070-64D17D2854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483001309"/>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EA4A18-513B-4426-BBD4-5F5F610869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Positive blood cultures: one-page rounds sheet</a:t>
            </a:r>
          </a:p>
        </p:txBody>
      </p:sp>
      <p:sp>
        <p:nvSpPr>
          <p:cNvPr id="2" name="paragraph-0">
            <a:extLst xmlns:a="http://schemas.openxmlformats.org/drawingml/2006/main">
              <a:ext uri="{FF2B5EF4-FFF2-40B4-BE49-F238E27FC236}">
                <a16:creationId xmlns:a16="http://schemas.microsoft.com/office/drawing/2014/main" id="{A957A75E-3462-47D0-9A90-BA504FBE0B0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Drug/dose/route, stop date, pending results and owner, source control, retained material, monitoring, follow-up, return triggers.</a:t>
            </a:r>
          </a:p>
        </p:txBody>
      </p:sp>
      <p:sp>
        <p:nvSpPr>
          <p:cNvPr id="3" name="paragraph-1">
            <a:extLst xmlns:a="http://schemas.openxmlformats.org/drawingml/2006/main">
              <a:ext uri="{FF2B5EF4-FFF2-40B4-BE49-F238E27FC236}">
                <a16:creationId xmlns:a16="http://schemas.microsoft.com/office/drawing/2014/main" id="{B1FD2E5A-95D5-487E-A7FE-A0750B06CC3B}"/>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do these: call S. aureus or yeast a contaminant; use bottle count alone; repeat every culture daily; assume antibiotics replace source control; generalize 7-day data to excluded pathogens or deep foci.</a:t>
            </a:r>
          </a:p>
        </p:txBody>
      </p:sp>
      <p:sp>
        <p:nvSpPr>
          <p:cNvPr id="4" name="footer">
            <a:extLst xmlns:a="http://schemas.openxmlformats.org/drawingml/2006/main">
              <a:ext uri="{FF2B5EF4-FFF2-40B4-BE49-F238E27FC236}">
                <a16:creationId xmlns:a16="http://schemas.microsoft.com/office/drawing/2014/main" id="{802038CD-FCAF-401A-BF03-942749D984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E3884247-C73F-47EC-B48F-4F56D3846B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72745799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B38B52-8136-41B4-A845-2ACE31C40C4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48A9FCBE-8EA5-4E7B-B2B0-AF41EE287DD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CONSENSUS reflects expert consensus informed by evidence review. GUIDELINE reflects a professional-society recommendation. RCT reflects randomized trial evidence. OBSERVATIONAL reflects nonrandomized data. Evidence labels matter because many bloodstream-infection practices remain consensus-based.</a:t>
            </a:r>
          </a:p>
        </p:txBody>
      </p:sp>
      <p:sp>
        <p:nvSpPr>
          <p:cNvPr id="3" name="footer">
            <a:extLst xmlns:a="http://schemas.openxmlformats.org/drawingml/2006/main">
              <a:ext uri="{FF2B5EF4-FFF2-40B4-BE49-F238E27FC236}">
                <a16:creationId xmlns:a16="http://schemas.microsoft.com/office/drawing/2014/main" id="{A5947CEC-F3CC-45A3-AA65-D936CB7C055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28BF70B-34BE-4E7B-AD1D-2538971123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1657074345"/>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0EC6C5-D287-40B9-BE12-D76DCE7EB7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9F21DEBE-EEBB-4848-8F76-27853473DDC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CONSENSUS Liu C, Chambers HF, Vandenesch F, Kern WV, et al. IDSA/ESCMID 2026 Consensus Statements on Staphylococcus aureus Bacteremia: Risk Stratification, Diagnostic Evaluation, and Management of Adults and Children. Published and last updated September 9, 2026. IDSA consensus page . Reviewed September 13, 2026.</a:t>
            </a:r>
          </a:p>
        </p:txBody>
      </p:sp>
      <p:sp>
        <p:nvSpPr>
          <p:cNvPr id="3" name="footer">
            <a:extLst xmlns:a="http://schemas.openxmlformats.org/drawingml/2006/main">
              <a:ext uri="{FF2B5EF4-FFF2-40B4-BE49-F238E27FC236}">
                <a16:creationId xmlns:a16="http://schemas.microsoft.com/office/drawing/2014/main" id="{35F92BD9-D453-4A77-AFE5-BD80F9B2773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0D70D2D-7EEF-49E6-B978-3BE81424CC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517532334"/>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14CDC4-833F-4B50-9D03-72DCF1796DF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D203E264-9B8F-457F-8CE9-559EAD4A5A9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Pappas PG, Kauffman CA, Andes DR, et al. Clinical Practice Guideline for the Management of Candidiasis: 2016 Update by IDSA. Clin Infect Dis. 2016;62(4):e1-e50. Published online December 16, 2015. doi:10.1093/cid/civ933. IDSA guideline . Reviewed September 13, 2026.</a:t>
            </a:r>
          </a:p>
        </p:txBody>
      </p:sp>
      <p:sp>
        <p:nvSpPr>
          <p:cNvPr id="3" name="footer">
            <a:extLst xmlns:a="http://schemas.openxmlformats.org/drawingml/2006/main">
              <a:ext uri="{FF2B5EF4-FFF2-40B4-BE49-F238E27FC236}">
                <a16:creationId xmlns:a16="http://schemas.microsoft.com/office/drawing/2014/main" id="{55DCD6DC-1B08-4EAE-B4A3-BDEDCB90BA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F1B7E79-6503-4D08-BA6E-F5D1F5F079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1397861981"/>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A1EBCB-D5B7-4BD6-A810-BF5B769523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B784833B-1917-48D5-A8FE-DB109759C16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LABORATORY REPORT Palavecino EL, Campigotto A, She RC, et al. Laboratory approaches to determining blood culture contamination rates: an ASM Laboratory Practices Subcommittee report. J Clin Microbiol. 2024;62(1):e01028-23. doi:10.1128/jcm.01028-23. Article . Reviewed September 13, 2026.</a:t>
            </a:r>
          </a:p>
        </p:txBody>
      </p:sp>
      <p:sp>
        <p:nvSpPr>
          <p:cNvPr id="3" name="footer">
            <a:extLst xmlns:a="http://schemas.openxmlformats.org/drawingml/2006/main">
              <a:ext uri="{FF2B5EF4-FFF2-40B4-BE49-F238E27FC236}">
                <a16:creationId xmlns:a16="http://schemas.microsoft.com/office/drawing/2014/main" id="{3C1F41ED-9761-4BE9-82FB-A4F42253D4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9436571-8DE7-4365-BBB2-8124959F23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33112364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F565F2-B966-4839-B23C-FAFFC8C5FC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7F48A2B5-5AC8-4AD9-BD4F-A132284AD52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 META-ANALYSIS Sautter RL, Parrott JS, Nachamkin I, et al. American Society for Microbiology evidence-based laboratory medicine practice guidelines to reduce blood culture contamination rates: a systematic review and meta-analysis. Clin Microbiol Rev. 2024;37(4). doi:10.1128/cmr.00087-24. Article . Reviewed September 13, 2026.</a:t>
            </a:r>
          </a:p>
        </p:txBody>
      </p:sp>
      <p:sp>
        <p:nvSpPr>
          <p:cNvPr id="3" name="footer">
            <a:extLst xmlns:a="http://schemas.openxmlformats.org/drawingml/2006/main">
              <a:ext uri="{FF2B5EF4-FFF2-40B4-BE49-F238E27FC236}">
                <a16:creationId xmlns:a16="http://schemas.microsoft.com/office/drawing/2014/main" id="{18FE22B3-995F-4A5F-8E33-530F06C625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3187B9F-C4DA-405B-AA56-F0587C2DE1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19583975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B3F532-4A57-4E62-B540-1BF6B7FC61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2C647BDE-BF3C-41CE-A670-F46C2BFDDDF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GUIDELINE Mermel LA, Allon M, Bouza E, et al. Clinical Practice Guidelines for the Diagnosis and Management of Intravascular Catheter-Related Infection: 2009 Update by IDSA. Clin Infect Dis. 2009;49(1):1-45. doi:10.1086/599376. Full text . Reviewed September 13, 2026. Older guideline; apply current local vascular-access policy.</a:t>
            </a:r>
          </a:p>
        </p:txBody>
      </p:sp>
      <p:sp>
        <p:nvSpPr>
          <p:cNvPr id="3" name="footer">
            <a:extLst xmlns:a="http://schemas.openxmlformats.org/drawingml/2006/main">
              <a:ext uri="{FF2B5EF4-FFF2-40B4-BE49-F238E27FC236}">
                <a16:creationId xmlns:a16="http://schemas.microsoft.com/office/drawing/2014/main" id="{5CBF82E3-802C-4517-BCC6-98DE1248B3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DF6D61E-6C77-4CE7-A0AF-E5499F62E2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1286715439"/>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BA7A54-82FC-42AC-90EA-774BD48851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F5BE0B8E-4EB4-4FF5-BEB4-0F5C05E01A9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CONSENSUS Heil EL, Bork JT, Abbo LM, et al. Optimizing the Management of Uncomplicated Gram-Negative Bloodstream Infections: Consensus Guidance Using a Modified Delphi Process. Open Forum Infect Dis. 2021;8(10):ofab434. Published October 11, 2021. doi:10.1093/ofid/ofab434. Full text . Reviewed September 13, 2026.</a:t>
            </a:r>
          </a:p>
        </p:txBody>
      </p:sp>
      <p:sp>
        <p:nvSpPr>
          <p:cNvPr id="3" name="footer">
            <a:extLst xmlns:a="http://schemas.openxmlformats.org/drawingml/2006/main">
              <a:ext uri="{FF2B5EF4-FFF2-40B4-BE49-F238E27FC236}">
                <a16:creationId xmlns:a16="http://schemas.microsoft.com/office/drawing/2014/main" id="{774E9890-7E80-4CA2-9553-5B08158C1F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B43AF2B-2933-4AE6-840A-75CDD08AB9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743502414"/>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1E129D-F580-4C2F-8812-394E9DCD87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34D880AD-0AEF-4210-BB41-C50A0C2350AB}"/>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RCT BALANCE Investigators for the Canadian Critical Care Trials Group, the Association of Medical Microbiology and Infectious Disease Canada Clinical Research Network, the Australian and New Zealand Intensive Care Society Clinical Trials Group, and the Australasian Society for Infectious Diseases Clinical Research Network. Antibiotic Treatment for 7 versus 14 Days in Patients with Bloodstream Infections. N Engl J Med. Published online November 20, 2024; print 2025;392:1065-1078. doi:10.1056/NEJMoa2404991. PubMed . Reviewed September 13, 2026.</a:t>
            </a:r>
          </a:p>
        </p:txBody>
      </p:sp>
      <p:sp>
        <p:nvSpPr>
          <p:cNvPr id="3" name="footer">
            <a:extLst xmlns:a="http://schemas.openxmlformats.org/drawingml/2006/main">
              <a:ext uri="{FF2B5EF4-FFF2-40B4-BE49-F238E27FC236}">
                <a16:creationId xmlns:a16="http://schemas.microsoft.com/office/drawing/2014/main" id="{9825CB6D-325C-4D85-AA1C-69719304C1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39FA082-9E40-4345-90F7-A2D1B6D878B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1941263141"/>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3A1DB2-D7C0-4925-BDBC-E71069B005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BE626E23-599B-4FD9-B50B-5AE9B99DEA8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SYSTEMATIC REVIEW Timbrook TT, Morton JB, McConeghy KW, Caffrey AR, Mylonakis E, LaPlante KL. The Effect of Molecular Rapid Diagnostic Testing on Clinical Outcomes in Bloodstream Infections: A Systematic Review and Meta-analysis. Clin Infect Dis. 2017;64(1):15-23. doi:10.1093/cid/ciw649. PubMed . Reviewed September 13, 2026.</a:t>
            </a:r>
          </a:p>
        </p:txBody>
      </p:sp>
      <p:sp>
        <p:nvSpPr>
          <p:cNvPr id="3" name="footer">
            <a:extLst xmlns:a="http://schemas.openxmlformats.org/drawingml/2006/main">
              <a:ext uri="{FF2B5EF4-FFF2-40B4-BE49-F238E27FC236}">
                <a16:creationId xmlns:a16="http://schemas.microsoft.com/office/drawing/2014/main" id="{D24F294E-3686-4C13-BE99-511FB833BF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EAD3336-D025-409C-B4A3-C1FB42B1E4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178311850"/>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033134-64EA-42BE-96CB-55D6A837CD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 and evidence notes</a:t>
            </a:r>
          </a:p>
        </p:txBody>
      </p:sp>
      <p:sp>
        <p:nvSpPr>
          <p:cNvPr id="2" name="paragraph-0">
            <a:extLst xmlns:a="http://schemas.openxmlformats.org/drawingml/2006/main">
              <a:ext uri="{FF2B5EF4-FFF2-40B4-BE49-F238E27FC236}">
                <a16:creationId xmlns:a16="http://schemas.microsoft.com/office/drawing/2014/main" id="{5161207C-E1A1-45D7-8315-743C3A60AC3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clinical use. Check current site microbiology, antibiogram, formulary, diagnostic access, pharmacy dosing, and OPAT processes.</a:t>
            </a:r>
          </a:p>
        </p:txBody>
      </p:sp>
      <p:sp>
        <p:nvSpPr>
          <p:cNvPr id="3" name="footer">
            <a:extLst xmlns:a="http://schemas.openxmlformats.org/drawingml/2006/main">
              <a:ext uri="{FF2B5EF4-FFF2-40B4-BE49-F238E27FC236}">
                <a16:creationId xmlns:a16="http://schemas.microsoft.com/office/drawing/2014/main" id="{7DD133AB-1F19-431C-AAB7-8E62A7048A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30F1DC0-DE1D-4BF4-8853-BC94A833F0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1557295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2026-10-28T18:29:32.8780000Z</dcterms:created>
  <dcterms:modified xsi:type="dcterms:W3CDTF">2026-10-28T18:29:32.8780000Z</dcterms:modified>
</coreProperties>
</file>