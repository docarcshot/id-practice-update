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2b5f6ec0104a8e" /><Relationship Type="http://schemas.openxmlformats.org/officeDocument/2006/relationships/extended-properties" Target="/docProps/app.xml" Id="Rc8d3e3a5377d473a" /><Relationship Type="http://schemas.openxmlformats.org/officeDocument/2006/relationships/officeDocument" Target="/ppt/presentation.xml" Id="Rb36491a94f13478b" /></Relationships>
</file>

<file path=ppt/presentation.xml><?xml version="1.0" encoding="utf-8"?>
<p:presentation xmlns:p="http://schemas.openxmlformats.org/presentationml/2006/main">
  <p:sldMasterIdLst>
    <p:sldMasterId xmlns:r="http://schemas.openxmlformats.org/officeDocument/2006/relationships" id="2147483648" r:id="Rdde5532f480e4bd6"/>
  </p:sldMasterIdLst>
  <p:notesMasterIdLst>
    <p:notesMasterId xmlns:r="http://schemas.openxmlformats.org/officeDocument/2006/relationships" r:id="Rff398cd0fb5b4a7e"/>
  </p:notesMasterIdLst>
  <p:sldIdLst>
    <p:sldId xmlns:r="http://schemas.openxmlformats.org/officeDocument/2006/relationships" id="256" r:id="R5ba9355517ac4609"/>
    <p:sldId xmlns:r="http://schemas.openxmlformats.org/officeDocument/2006/relationships" id="257" r:id="R0cb3936894514389"/>
    <p:sldId xmlns:r="http://schemas.openxmlformats.org/officeDocument/2006/relationships" id="258" r:id="R641c80d4416b416d"/>
    <p:sldId xmlns:r="http://schemas.openxmlformats.org/officeDocument/2006/relationships" id="259" r:id="R6e563996c165492e"/>
    <p:sldId xmlns:r="http://schemas.openxmlformats.org/officeDocument/2006/relationships" id="260" r:id="R3609a6d5db5149f5"/>
    <p:sldId xmlns:r="http://schemas.openxmlformats.org/officeDocument/2006/relationships" id="261" r:id="R2b9d700ef9114925"/>
    <p:sldId xmlns:r="http://schemas.openxmlformats.org/officeDocument/2006/relationships" id="262" r:id="R90d2be66c0234151"/>
    <p:sldId xmlns:r="http://schemas.openxmlformats.org/officeDocument/2006/relationships" id="263" r:id="R7d9f3fa6e9c147f3"/>
    <p:sldId xmlns:r="http://schemas.openxmlformats.org/officeDocument/2006/relationships" id="264" r:id="R0f773aeb55ed4f29"/>
    <p:sldId xmlns:r="http://schemas.openxmlformats.org/officeDocument/2006/relationships" id="265" r:id="R7712671e935e4b27"/>
    <p:sldId xmlns:r="http://schemas.openxmlformats.org/officeDocument/2006/relationships" id="266" r:id="R9d15599d31f44a5d"/>
    <p:sldId xmlns:r="http://schemas.openxmlformats.org/officeDocument/2006/relationships" id="267" r:id="R1f6ce83d30284a89"/>
    <p:sldId xmlns:r="http://schemas.openxmlformats.org/officeDocument/2006/relationships" id="268" r:id="Rc53f36845ccc4a63"/>
    <p:sldId xmlns:r="http://schemas.openxmlformats.org/officeDocument/2006/relationships" id="269" r:id="R8f7cf3657ead43e4"/>
    <p:sldId xmlns:r="http://schemas.openxmlformats.org/officeDocument/2006/relationships" id="270" r:id="R43dc1dce84e84986"/>
    <p:sldId xmlns:r="http://schemas.openxmlformats.org/officeDocument/2006/relationships" id="271" r:id="R9e2fe5a784954861"/>
    <p:sldId xmlns:r="http://schemas.openxmlformats.org/officeDocument/2006/relationships" id="272" r:id="R8e21810c1c6c4197"/>
    <p:sldId xmlns:r="http://schemas.openxmlformats.org/officeDocument/2006/relationships" id="273" r:id="R517d0211539c420e"/>
    <p:sldId xmlns:r="http://schemas.openxmlformats.org/officeDocument/2006/relationships" id="274" r:id="Rd9705f0806f44227"/>
    <p:sldId xmlns:r="http://schemas.openxmlformats.org/officeDocument/2006/relationships" id="275" r:id="R723466004eb145ce"/>
    <p:sldId xmlns:r="http://schemas.openxmlformats.org/officeDocument/2006/relationships" id="276" r:id="Redd5d826811c4aac"/>
    <p:sldId xmlns:r="http://schemas.openxmlformats.org/officeDocument/2006/relationships" id="277" r:id="R6e1593520ed94944"/>
    <p:sldId xmlns:r="http://schemas.openxmlformats.org/officeDocument/2006/relationships" id="278" r:id="R6002dd5bde34407e"/>
    <p:sldId xmlns:r="http://schemas.openxmlformats.org/officeDocument/2006/relationships" id="279" r:id="Rd78e445c64eb45df"/>
    <p:sldId xmlns:r="http://schemas.openxmlformats.org/officeDocument/2006/relationships" id="280" r:id="R280d9d0b9ffd4e98"/>
    <p:sldId xmlns:r="http://schemas.openxmlformats.org/officeDocument/2006/relationships" id="281" r:id="Raf15740e37764c78"/>
    <p:sldId xmlns:r="http://schemas.openxmlformats.org/officeDocument/2006/relationships" id="282" r:id="Rcf9ffe64cd4d4614"/>
    <p:sldId xmlns:r="http://schemas.openxmlformats.org/officeDocument/2006/relationships" id="283" r:id="R147e73ac12e44f48"/>
    <p:sldId xmlns:r="http://schemas.openxmlformats.org/officeDocument/2006/relationships" id="284" r:id="R1c4d9666b60b4af4"/>
    <p:sldId xmlns:r="http://schemas.openxmlformats.org/officeDocument/2006/relationships" id="285" r:id="R75f232a868f5436e"/>
    <p:sldId xmlns:r="http://schemas.openxmlformats.org/officeDocument/2006/relationships" id="286" r:id="R573d710f309b4222"/>
    <p:sldId xmlns:r="http://schemas.openxmlformats.org/officeDocument/2006/relationships" id="287" r:id="R6aaa7b906d36485b"/>
    <p:sldId xmlns:r="http://schemas.openxmlformats.org/officeDocument/2006/relationships" id="288" r:id="Ra36d7d242d6f4be9"/>
    <p:sldId xmlns:r="http://schemas.openxmlformats.org/officeDocument/2006/relationships" id="289" r:id="Rfeb603c89ba146ed"/>
    <p:sldId xmlns:r="http://schemas.openxmlformats.org/officeDocument/2006/relationships" id="290" r:id="R53d33a504b0d48d8"/>
    <p:sldId xmlns:r="http://schemas.openxmlformats.org/officeDocument/2006/relationships" id="291" r:id="Rd8048690dd79471e"/>
    <p:sldId xmlns:r="http://schemas.openxmlformats.org/officeDocument/2006/relationships" id="292" r:id="R02b6f34008054ef5"/>
    <p:sldId xmlns:r="http://schemas.openxmlformats.org/officeDocument/2006/relationships" id="293" r:id="Re973f445fc724f71"/>
    <p:sldId xmlns:r="http://schemas.openxmlformats.org/officeDocument/2006/relationships" id="294" r:id="Rddd468169c954db3"/>
    <p:sldId xmlns:r="http://schemas.openxmlformats.org/officeDocument/2006/relationships" id="295" r:id="R54b74a46ab6244f0"/>
    <p:sldId xmlns:r="http://schemas.openxmlformats.org/officeDocument/2006/relationships" id="296" r:id="R124350f833564a70"/>
    <p:sldId xmlns:r="http://schemas.openxmlformats.org/officeDocument/2006/relationships" id="297" r:id="R74f95d1485ff443e"/>
    <p:sldId xmlns:r="http://schemas.openxmlformats.org/officeDocument/2006/relationships" id="298" r:id="Re8fe7d5c22b5407b"/>
    <p:sldId xmlns:r="http://schemas.openxmlformats.org/officeDocument/2006/relationships" id="299" r:id="Rfda5862ee4864942"/>
    <p:sldId xmlns:r="http://schemas.openxmlformats.org/officeDocument/2006/relationships" id="300" r:id="R5dd53bf6512a43f8"/>
    <p:sldId xmlns:r="http://schemas.openxmlformats.org/officeDocument/2006/relationships" id="301" r:id="R2c4792cd797f4c74"/>
    <p:sldId xmlns:r="http://schemas.openxmlformats.org/officeDocument/2006/relationships" id="302" r:id="R55268a75ec20476f"/>
    <p:sldId xmlns:r="http://schemas.openxmlformats.org/officeDocument/2006/relationships" id="303" r:id="Rdf55ff9940434286"/>
    <p:sldId xmlns:r="http://schemas.openxmlformats.org/officeDocument/2006/relationships" id="304" r:id="R9b98d01449c8451b"/>
    <p:sldId xmlns:r="http://schemas.openxmlformats.org/officeDocument/2006/relationships" id="305" r:id="R6e2e2ba31f4b414e"/>
    <p:sldId xmlns:r="http://schemas.openxmlformats.org/officeDocument/2006/relationships" id="306" r:id="R3a8b120bac904c53"/>
    <p:sldId xmlns:r="http://schemas.openxmlformats.org/officeDocument/2006/relationships" id="307" r:id="R3c23cb6b3adb454d"/>
    <p:sldId xmlns:r="http://schemas.openxmlformats.org/officeDocument/2006/relationships" id="308" r:id="R1a7dc71910a644b4"/>
    <p:sldId xmlns:r="http://schemas.openxmlformats.org/officeDocument/2006/relationships" id="309" r:id="R154e83132a164236"/>
    <p:sldId xmlns:r="http://schemas.openxmlformats.org/officeDocument/2006/relationships" id="310" r:id="R96b616f4727c4560"/>
    <p:sldId xmlns:r="http://schemas.openxmlformats.org/officeDocument/2006/relationships" id="311" r:id="Rb8fbb192e7eb4068"/>
    <p:sldId xmlns:r="http://schemas.openxmlformats.org/officeDocument/2006/relationships" id="312" r:id="Re2e3d3cf354f48e6"/>
    <p:sldId xmlns:r="http://schemas.openxmlformats.org/officeDocument/2006/relationships" id="313" r:id="R4995ecb1547340fe"/>
    <p:sldId xmlns:r="http://schemas.openxmlformats.org/officeDocument/2006/relationships" id="314" r:id="Re123e94efb9e4ae3"/>
    <p:sldId xmlns:r="http://schemas.openxmlformats.org/officeDocument/2006/relationships" id="315" r:id="Rc6a74f92517c4325"/>
    <p:sldId xmlns:r="http://schemas.openxmlformats.org/officeDocument/2006/relationships" id="316" r:id="R8776b7f4a99c4654"/>
    <p:sldId xmlns:r="http://schemas.openxmlformats.org/officeDocument/2006/relationships" id="317" r:id="Rc40d259b2611440e"/>
    <p:sldId xmlns:r="http://schemas.openxmlformats.org/officeDocument/2006/relationships" id="318" r:id="R69f55dd338824a23"/>
    <p:sldId xmlns:r="http://schemas.openxmlformats.org/officeDocument/2006/relationships" id="319" r:id="Rb88cfb4bceb64b7c"/>
    <p:sldId xmlns:r="http://schemas.openxmlformats.org/officeDocument/2006/relationships" id="320" r:id="R4691d6afec57485d"/>
    <p:sldId xmlns:r="http://schemas.openxmlformats.org/officeDocument/2006/relationships" id="321" r:id="Rfe762bfc5c2f4cf4"/>
    <p:sldId xmlns:r="http://schemas.openxmlformats.org/officeDocument/2006/relationships" id="322" r:id="Rdf114c1808c048a5"/>
    <p:sldId xmlns:r="http://schemas.openxmlformats.org/officeDocument/2006/relationships" id="323" r:id="R9289dc1ffa824ff6"/>
    <p:sldId xmlns:r="http://schemas.openxmlformats.org/officeDocument/2006/relationships" id="324" r:id="R0d84a091ecaa4f7a"/>
    <p:sldId xmlns:r="http://schemas.openxmlformats.org/officeDocument/2006/relationships" id="325" r:id="R6918bd0f6d364189"/>
    <p:sldId xmlns:r="http://schemas.openxmlformats.org/officeDocument/2006/relationships" id="326" r:id="R87c2e480766c43c7"/>
    <p:sldId xmlns:r="http://schemas.openxmlformats.org/officeDocument/2006/relationships" id="327" r:id="Rdd6473b1f45f4302"/>
    <p:sldId xmlns:r="http://schemas.openxmlformats.org/officeDocument/2006/relationships" id="328" r:id="R0a84dadeda9a40e5"/>
    <p:sldId xmlns:r="http://schemas.openxmlformats.org/officeDocument/2006/relationships" id="329" r:id="Ra9fce2b47bef42cf"/>
    <p:sldId xmlns:r="http://schemas.openxmlformats.org/officeDocument/2006/relationships" id="330" r:id="Rb185757bfaaa4446"/>
    <p:sldId xmlns:r="http://schemas.openxmlformats.org/officeDocument/2006/relationships" id="331" r:id="R95bbe25af2174e81"/>
    <p:sldId xmlns:r="http://schemas.openxmlformats.org/officeDocument/2006/relationships" id="332" r:id="R2a5bc800f2bc4136"/>
    <p:sldId xmlns:r="http://schemas.openxmlformats.org/officeDocument/2006/relationships" id="333" r:id="Rfb9a1dd9a4ea4d70"/>
    <p:sldId xmlns:r="http://schemas.openxmlformats.org/officeDocument/2006/relationships" id="334" r:id="Red28e451b7cc47e4"/>
    <p:sldId xmlns:r="http://schemas.openxmlformats.org/officeDocument/2006/relationships" id="335" r:id="Rce442fff5bff4238"/>
    <p:sldId xmlns:r="http://schemas.openxmlformats.org/officeDocument/2006/relationships" id="336" r:id="R9feee52ba44141e8"/>
    <p:sldId xmlns:r="http://schemas.openxmlformats.org/officeDocument/2006/relationships" id="337" r:id="R91068f35b812463e"/>
    <p:sldId xmlns:r="http://schemas.openxmlformats.org/officeDocument/2006/relationships" id="338" r:id="R7b8ab5d7e49548da"/>
    <p:sldId xmlns:r="http://schemas.openxmlformats.org/officeDocument/2006/relationships" id="339" r:id="R31903ccefd154d94"/>
    <p:sldId xmlns:r="http://schemas.openxmlformats.org/officeDocument/2006/relationships" id="340" r:id="R98b7eff205874b39"/>
    <p:sldId xmlns:r="http://schemas.openxmlformats.org/officeDocument/2006/relationships" id="341" r:id="Rbd6cbabeedae474b"/>
    <p:sldId xmlns:r="http://schemas.openxmlformats.org/officeDocument/2006/relationships" id="342" r:id="Rd1c9ac84721b46fc"/>
    <p:sldId xmlns:r="http://schemas.openxmlformats.org/officeDocument/2006/relationships" id="343" r:id="R100a97a3e4344cc4"/>
    <p:sldId xmlns:r="http://schemas.openxmlformats.org/officeDocument/2006/relationships" id="344" r:id="Re1b42afb49774ea8"/>
    <p:sldId xmlns:r="http://schemas.openxmlformats.org/officeDocument/2006/relationships" id="345" r:id="R406e63f508f54fb0"/>
    <p:sldId xmlns:r="http://schemas.openxmlformats.org/officeDocument/2006/relationships" id="346" r:id="Rd3f4693a658c4a12"/>
    <p:sldId xmlns:r="http://schemas.openxmlformats.org/officeDocument/2006/relationships" id="347" r:id="R2a24da7b423242df"/>
    <p:sldId xmlns:r="http://schemas.openxmlformats.org/officeDocument/2006/relationships" id="348" r:id="R7da9f44eb9d44e89"/>
    <p:sldId xmlns:r="http://schemas.openxmlformats.org/officeDocument/2006/relationships" id="349" r:id="Rdcf8c3fd53c74eaf"/>
    <p:sldId xmlns:r="http://schemas.openxmlformats.org/officeDocument/2006/relationships" id="350" r:id="R1ececf52669e4a19"/>
    <p:sldId xmlns:r="http://schemas.openxmlformats.org/officeDocument/2006/relationships" id="351" r:id="R3b9f77899cf14b25"/>
    <p:sldId xmlns:r="http://schemas.openxmlformats.org/officeDocument/2006/relationships" id="352" r:id="R284aad9c830546dd"/>
    <p:sldId xmlns:r="http://schemas.openxmlformats.org/officeDocument/2006/relationships" id="353" r:id="R1ecee67ec66d48cd"/>
    <p:sldId xmlns:r="http://schemas.openxmlformats.org/officeDocument/2006/relationships" id="354" r:id="Rd1bf4e73ddc14408"/>
    <p:sldId xmlns:r="http://schemas.openxmlformats.org/officeDocument/2006/relationships" id="355" r:id="R548fbb4026d24886"/>
    <p:sldId xmlns:r="http://schemas.openxmlformats.org/officeDocument/2006/relationships" id="356" r:id="R86373c299de54748"/>
    <p:sldId xmlns:r="http://schemas.openxmlformats.org/officeDocument/2006/relationships" id="357" r:id="R3a5edf71ef2d4c0c"/>
    <p:sldId xmlns:r="http://schemas.openxmlformats.org/officeDocument/2006/relationships" id="358" r:id="R8fece79f50a04906"/>
    <p:sldId xmlns:r="http://schemas.openxmlformats.org/officeDocument/2006/relationships" id="359" r:id="R624e392ebbcb475a"/>
    <p:sldId xmlns:r="http://schemas.openxmlformats.org/officeDocument/2006/relationships" id="360" r:id="Rc5cdea56e6fd4a52"/>
    <p:sldId xmlns:r="http://schemas.openxmlformats.org/officeDocument/2006/relationships" id="361" r:id="R369be4899cae4017"/>
    <p:sldId xmlns:r="http://schemas.openxmlformats.org/officeDocument/2006/relationships" id="362" r:id="R2cdcbf5cc4454efb"/>
    <p:sldId xmlns:r="http://schemas.openxmlformats.org/officeDocument/2006/relationships" id="363" r:id="R4eb0b5309a424800"/>
    <p:sldId xmlns:r="http://schemas.openxmlformats.org/officeDocument/2006/relationships" id="364" r:id="R768e17b9e7d04bd2"/>
    <p:sldId xmlns:r="http://schemas.openxmlformats.org/officeDocument/2006/relationships" id="365" r:id="R111eba7eb40d4b2e"/>
    <p:sldId xmlns:r="http://schemas.openxmlformats.org/officeDocument/2006/relationships" id="366" r:id="R3692ef14899d4042"/>
    <p:sldId xmlns:r="http://schemas.openxmlformats.org/officeDocument/2006/relationships" id="367" r:id="Rbc975c2243fe4aec"/>
    <p:sldId xmlns:r="http://schemas.openxmlformats.org/officeDocument/2006/relationships" id="368" r:id="R7e7a6cf6f6b0408e"/>
    <p:sldId xmlns:r="http://schemas.openxmlformats.org/officeDocument/2006/relationships" id="369" r:id="R6c7f9ed1261c4e85"/>
    <p:sldId xmlns:r="http://schemas.openxmlformats.org/officeDocument/2006/relationships" id="370" r:id="Rf2cf84eb9b93496d"/>
    <p:sldId xmlns:r="http://schemas.openxmlformats.org/officeDocument/2006/relationships" id="371" r:id="Rbe98f9da80be4af5"/>
    <p:sldId xmlns:r="http://schemas.openxmlformats.org/officeDocument/2006/relationships" id="372" r:id="Rc9f57df121004e96"/>
    <p:sldId xmlns:r="http://schemas.openxmlformats.org/officeDocument/2006/relationships" id="373" r:id="R1d895fb5d4964943"/>
    <p:sldId xmlns:r="http://schemas.openxmlformats.org/officeDocument/2006/relationships" id="374" r:id="R35c4d15c22994260"/>
    <p:sldId xmlns:r="http://schemas.openxmlformats.org/officeDocument/2006/relationships" id="375" r:id="Rd11ceb0d249e421a"/>
    <p:sldId xmlns:r="http://schemas.openxmlformats.org/officeDocument/2006/relationships" id="376" r:id="R666d341bd25f45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e56e772278499a" /><Relationship Type="http://schemas.openxmlformats.org/officeDocument/2006/relationships/slideMaster" Target="/ppt/slideMasters/slideMaster1.xml" Id="Rdde5532f480e4bd6" /><Relationship Type="http://schemas.openxmlformats.org/officeDocument/2006/relationships/notesMaster" Target="/ppt/notesMasters/notesMaster1.xml" Id="Rff398cd0fb5b4a7e" /><Relationship Type="http://schemas.openxmlformats.org/officeDocument/2006/relationships/presProps" Target="/ppt/presProps.xml" Id="Rf9b05b2a33624131" /><Relationship Type="http://schemas.openxmlformats.org/officeDocument/2006/relationships/tableStyles" Target="/ppt/tableStyles.xml" Id="R46ba01ae2c7143d4" /><Relationship Type="http://schemas.openxmlformats.org/officeDocument/2006/relationships/slide" Target="/ppt/slides/slide1.xml" Id="R5ba9355517ac4609" /><Relationship Type="http://schemas.openxmlformats.org/officeDocument/2006/relationships/slide" Target="/ppt/slides/slide2.xml" Id="R0cb3936894514389" /><Relationship Type="http://schemas.openxmlformats.org/officeDocument/2006/relationships/slide" Target="/ppt/slides/slide3.xml" Id="R641c80d4416b416d" /><Relationship Type="http://schemas.openxmlformats.org/officeDocument/2006/relationships/slide" Target="/ppt/slides/slide4.xml" Id="R6e563996c165492e" /><Relationship Type="http://schemas.openxmlformats.org/officeDocument/2006/relationships/slide" Target="/ppt/slides/slide5.xml" Id="R3609a6d5db5149f5" /><Relationship Type="http://schemas.openxmlformats.org/officeDocument/2006/relationships/slide" Target="/ppt/slides/slide6.xml" Id="R2b9d700ef9114925" /><Relationship Type="http://schemas.openxmlformats.org/officeDocument/2006/relationships/slide" Target="/ppt/slides/slide7.xml" Id="R90d2be66c0234151" /><Relationship Type="http://schemas.openxmlformats.org/officeDocument/2006/relationships/slide" Target="/ppt/slides/slide8.xml" Id="R7d9f3fa6e9c147f3" /><Relationship Type="http://schemas.openxmlformats.org/officeDocument/2006/relationships/slide" Target="/ppt/slides/slide9.xml" Id="R0f773aeb55ed4f29" /><Relationship Type="http://schemas.openxmlformats.org/officeDocument/2006/relationships/slide" Target="/ppt/slides/slide10.xml" Id="R7712671e935e4b27" /><Relationship Type="http://schemas.openxmlformats.org/officeDocument/2006/relationships/slide" Target="/ppt/slides/slide11.xml" Id="R9d15599d31f44a5d" /><Relationship Type="http://schemas.openxmlformats.org/officeDocument/2006/relationships/slide" Target="/ppt/slides/slide12.xml" Id="R1f6ce83d30284a89" /><Relationship Type="http://schemas.openxmlformats.org/officeDocument/2006/relationships/slide" Target="/ppt/slides/slide13.xml" Id="Rc53f36845ccc4a63" /><Relationship Type="http://schemas.openxmlformats.org/officeDocument/2006/relationships/slide" Target="/ppt/slides/slide14.xml" Id="R8f7cf3657ead43e4" /><Relationship Type="http://schemas.openxmlformats.org/officeDocument/2006/relationships/slide" Target="/ppt/slides/slide15.xml" Id="R43dc1dce84e84986" /><Relationship Type="http://schemas.openxmlformats.org/officeDocument/2006/relationships/slide" Target="/ppt/slides/slide16.xml" Id="R9e2fe5a784954861" /><Relationship Type="http://schemas.openxmlformats.org/officeDocument/2006/relationships/slide" Target="/ppt/slides/slide17.xml" Id="R8e21810c1c6c4197" /><Relationship Type="http://schemas.openxmlformats.org/officeDocument/2006/relationships/slide" Target="/ppt/slides/slide18.xml" Id="R517d0211539c420e" /><Relationship Type="http://schemas.openxmlformats.org/officeDocument/2006/relationships/slide" Target="/ppt/slides/slide19.xml" Id="Rd9705f0806f44227" /><Relationship Type="http://schemas.openxmlformats.org/officeDocument/2006/relationships/slide" Target="/ppt/slides/slide20.xml" Id="R723466004eb145ce" /><Relationship Type="http://schemas.openxmlformats.org/officeDocument/2006/relationships/slide" Target="/ppt/slides/slide21.xml" Id="Redd5d826811c4aac" /><Relationship Type="http://schemas.openxmlformats.org/officeDocument/2006/relationships/slide" Target="/ppt/slides/slide22.xml" Id="R6e1593520ed94944" /><Relationship Type="http://schemas.openxmlformats.org/officeDocument/2006/relationships/slide" Target="/ppt/slides/slide23.xml" Id="R6002dd5bde34407e" /><Relationship Type="http://schemas.openxmlformats.org/officeDocument/2006/relationships/slide" Target="/ppt/slides/slide24.xml" Id="Rd78e445c64eb45df" /><Relationship Type="http://schemas.openxmlformats.org/officeDocument/2006/relationships/slide" Target="/ppt/slides/slide25.xml" Id="R280d9d0b9ffd4e98" /><Relationship Type="http://schemas.openxmlformats.org/officeDocument/2006/relationships/slide" Target="/ppt/slides/slide26.xml" Id="Raf15740e37764c78" /><Relationship Type="http://schemas.openxmlformats.org/officeDocument/2006/relationships/slide" Target="/ppt/slides/slide27.xml" Id="Rcf9ffe64cd4d4614" /><Relationship Type="http://schemas.openxmlformats.org/officeDocument/2006/relationships/slide" Target="/ppt/slides/slide28.xml" Id="R147e73ac12e44f48" /><Relationship Type="http://schemas.openxmlformats.org/officeDocument/2006/relationships/slide" Target="/ppt/slides/slide29.xml" Id="R1c4d9666b60b4af4" /><Relationship Type="http://schemas.openxmlformats.org/officeDocument/2006/relationships/slide" Target="/ppt/slides/slide30.xml" Id="R75f232a868f5436e" /><Relationship Type="http://schemas.openxmlformats.org/officeDocument/2006/relationships/slide" Target="/ppt/slides/slide31.xml" Id="R573d710f309b4222" /><Relationship Type="http://schemas.openxmlformats.org/officeDocument/2006/relationships/slide" Target="/ppt/slides/slide32.xml" Id="R6aaa7b906d36485b" /><Relationship Type="http://schemas.openxmlformats.org/officeDocument/2006/relationships/slide" Target="/ppt/slides/slide33.xml" Id="Ra36d7d242d6f4be9" /><Relationship Type="http://schemas.openxmlformats.org/officeDocument/2006/relationships/slide" Target="/ppt/slides/slide34.xml" Id="Rfeb603c89ba146ed" /><Relationship Type="http://schemas.openxmlformats.org/officeDocument/2006/relationships/slide" Target="/ppt/slides/slide35.xml" Id="R53d33a504b0d48d8" /><Relationship Type="http://schemas.openxmlformats.org/officeDocument/2006/relationships/slide" Target="/ppt/slides/slide36.xml" Id="Rd8048690dd79471e" /><Relationship Type="http://schemas.openxmlformats.org/officeDocument/2006/relationships/slide" Target="/ppt/slides/slide37.xml" Id="R02b6f34008054ef5" /><Relationship Type="http://schemas.openxmlformats.org/officeDocument/2006/relationships/slide" Target="/ppt/slides/slide38.xml" Id="Re973f445fc724f71" /><Relationship Type="http://schemas.openxmlformats.org/officeDocument/2006/relationships/slide" Target="/ppt/slides/slide39.xml" Id="Rddd468169c954db3" /><Relationship Type="http://schemas.openxmlformats.org/officeDocument/2006/relationships/slide" Target="/ppt/slides/slide40.xml" Id="R54b74a46ab6244f0" /><Relationship Type="http://schemas.openxmlformats.org/officeDocument/2006/relationships/slide" Target="/ppt/slides/slide41.xml" Id="R124350f833564a70" /><Relationship Type="http://schemas.openxmlformats.org/officeDocument/2006/relationships/slide" Target="/ppt/slides/slide42.xml" Id="R74f95d1485ff443e" /><Relationship Type="http://schemas.openxmlformats.org/officeDocument/2006/relationships/slide" Target="/ppt/slides/slide43.xml" Id="Re8fe7d5c22b5407b" /><Relationship Type="http://schemas.openxmlformats.org/officeDocument/2006/relationships/slide" Target="/ppt/slides/slide44.xml" Id="Rfda5862ee4864942" /><Relationship Type="http://schemas.openxmlformats.org/officeDocument/2006/relationships/slide" Target="/ppt/slides/slide45.xml" Id="R5dd53bf6512a43f8" /><Relationship Type="http://schemas.openxmlformats.org/officeDocument/2006/relationships/slide" Target="/ppt/slides/slide46.xml" Id="R2c4792cd797f4c74" /><Relationship Type="http://schemas.openxmlformats.org/officeDocument/2006/relationships/slide" Target="/ppt/slides/slide47.xml" Id="R55268a75ec20476f" /><Relationship Type="http://schemas.openxmlformats.org/officeDocument/2006/relationships/slide" Target="/ppt/slides/slide48.xml" Id="Rdf55ff9940434286" /><Relationship Type="http://schemas.openxmlformats.org/officeDocument/2006/relationships/slide" Target="/ppt/slides/slide49.xml" Id="R9b98d01449c8451b" /><Relationship Type="http://schemas.openxmlformats.org/officeDocument/2006/relationships/slide" Target="/ppt/slides/slide50.xml" Id="R6e2e2ba31f4b414e" /><Relationship Type="http://schemas.openxmlformats.org/officeDocument/2006/relationships/slide" Target="/ppt/slides/slide51.xml" Id="R3a8b120bac904c53" /><Relationship Type="http://schemas.openxmlformats.org/officeDocument/2006/relationships/slide" Target="/ppt/slides/slide52.xml" Id="R3c23cb6b3adb454d" /><Relationship Type="http://schemas.openxmlformats.org/officeDocument/2006/relationships/slide" Target="/ppt/slides/slide53.xml" Id="R1a7dc71910a644b4" /><Relationship Type="http://schemas.openxmlformats.org/officeDocument/2006/relationships/slide" Target="/ppt/slides/slide54.xml" Id="R154e83132a164236" /><Relationship Type="http://schemas.openxmlformats.org/officeDocument/2006/relationships/slide" Target="/ppt/slides/slide55.xml" Id="R96b616f4727c4560" /><Relationship Type="http://schemas.openxmlformats.org/officeDocument/2006/relationships/slide" Target="/ppt/slides/slide56.xml" Id="Rb8fbb192e7eb4068" /><Relationship Type="http://schemas.openxmlformats.org/officeDocument/2006/relationships/slide" Target="/ppt/slides/slide57.xml" Id="Re2e3d3cf354f48e6" /><Relationship Type="http://schemas.openxmlformats.org/officeDocument/2006/relationships/slide" Target="/ppt/slides/slide58.xml" Id="R4995ecb1547340fe" /><Relationship Type="http://schemas.openxmlformats.org/officeDocument/2006/relationships/slide" Target="/ppt/slides/slide59.xml" Id="Re123e94efb9e4ae3" /><Relationship Type="http://schemas.openxmlformats.org/officeDocument/2006/relationships/slide" Target="/ppt/slides/slide60.xml" Id="Rc6a74f92517c4325" /><Relationship Type="http://schemas.openxmlformats.org/officeDocument/2006/relationships/slide" Target="/ppt/slides/slide61.xml" Id="R8776b7f4a99c4654" /><Relationship Type="http://schemas.openxmlformats.org/officeDocument/2006/relationships/slide" Target="/ppt/slides/slide62.xml" Id="Rc40d259b2611440e" /><Relationship Type="http://schemas.openxmlformats.org/officeDocument/2006/relationships/slide" Target="/ppt/slides/slide63.xml" Id="R69f55dd338824a23" /><Relationship Type="http://schemas.openxmlformats.org/officeDocument/2006/relationships/slide" Target="/ppt/slides/slide64.xml" Id="Rb88cfb4bceb64b7c" /><Relationship Type="http://schemas.openxmlformats.org/officeDocument/2006/relationships/slide" Target="/ppt/slides/slide65.xml" Id="R4691d6afec57485d" /><Relationship Type="http://schemas.openxmlformats.org/officeDocument/2006/relationships/slide" Target="/ppt/slides/slide66.xml" Id="Rfe762bfc5c2f4cf4" /><Relationship Type="http://schemas.openxmlformats.org/officeDocument/2006/relationships/slide" Target="/ppt/slides/slide67.xml" Id="Rdf114c1808c048a5" /><Relationship Type="http://schemas.openxmlformats.org/officeDocument/2006/relationships/slide" Target="/ppt/slides/slide68.xml" Id="R9289dc1ffa824ff6" /><Relationship Type="http://schemas.openxmlformats.org/officeDocument/2006/relationships/slide" Target="/ppt/slides/slide69.xml" Id="R0d84a091ecaa4f7a" /><Relationship Type="http://schemas.openxmlformats.org/officeDocument/2006/relationships/slide" Target="/ppt/slides/slide70.xml" Id="R6918bd0f6d364189" /><Relationship Type="http://schemas.openxmlformats.org/officeDocument/2006/relationships/slide" Target="/ppt/slides/slide71.xml" Id="R87c2e480766c43c7" /><Relationship Type="http://schemas.openxmlformats.org/officeDocument/2006/relationships/slide" Target="/ppt/slides/slide72.xml" Id="Rdd6473b1f45f4302" /><Relationship Type="http://schemas.openxmlformats.org/officeDocument/2006/relationships/slide" Target="/ppt/slides/slide73.xml" Id="R0a84dadeda9a40e5" /><Relationship Type="http://schemas.openxmlformats.org/officeDocument/2006/relationships/slide" Target="/ppt/slides/slide74.xml" Id="Ra9fce2b47bef42cf" /><Relationship Type="http://schemas.openxmlformats.org/officeDocument/2006/relationships/slide" Target="/ppt/slides/slide75.xml" Id="Rb185757bfaaa4446" /><Relationship Type="http://schemas.openxmlformats.org/officeDocument/2006/relationships/slide" Target="/ppt/slides/slide76.xml" Id="R95bbe25af2174e81" /><Relationship Type="http://schemas.openxmlformats.org/officeDocument/2006/relationships/slide" Target="/ppt/slides/slide77.xml" Id="R2a5bc800f2bc4136" /><Relationship Type="http://schemas.openxmlformats.org/officeDocument/2006/relationships/slide" Target="/ppt/slides/slide78.xml" Id="Rfb9a1dd9a4ea4d70" /><Relationship Type="http://schemas.openxmlformats.org/officeDocument/2006/relationships/slide" Target="/ppt/slides/slide79.xml" Id="Red28e451b7cc47e4" /><Relationship Type="http://schemas.openxmlformats.org/officeDocument/2006/relationships/slide" Target="/ppt/slides/slide80.xml" Id="Rce442fff5bff4238" /><Relationship Type="http://schemas.openxmlformats.org/officeDocument/2006/relationships/slide" Target="/ppt/slides/slide81.xml" Id="R9feee52ba44141e8" /><Relationship Type="http://schemas.openxmlformats.org/officeDocument/2006/relationships/slide" Target="/ppt/slides/slide82.xml" Id="R91068f35b812463e" /><Relationship Type="http://schemas.openxmlformats.org/officeDocument/2006/relationships/slide" Target="/ppt/slides/slide83.xml" Id="R7b8ab5d7e49548da" /><Relationship Type="http://schemas.openxmlformats.org/officeDocument/2006/relationships/slide" Target="/ppt/slides/slide84.xml" Id="R31903ccefd154d94" /><Relationship Type="http://schemas.openxmlformats.org/officeDocument/2006/relationships/slide" Target="/ppt/slides/slide85.xml" Id="R98b7eff205874b39" /><Relationship Type="http://schemas.openxmlformats.org/officeDocument/2006/relationships/slide" Target="/ppt/slides/slide86.xml" Id="Rbd6cbabeedae474b" /><Relationship Type="http://schemas.openxmlformats.org/officeDocument/2006/relationships/slide" Target="/ppt/slides/slide87.xml" Id="Rd1c9ac84721b46fc" /><Relationship Type="http://schemas.openxmlformats.org/officeDocument/2006/relationships/slide" Target="/ppt/slides/slide88.xml" Id="R100a97a3e4344cc4" /><Relationship Type="http://schemas.openxmlformats.org/officeDocument/2006/relationships/slide" Target="/ppt/slides/slide89.xml" Id="Re1b42afb49774ea8" /><Relationship Type="http://schemas.openxmlformats.org/officeDocument/2006/relationships/slide" Target="/ppt/slides/slide90.xml" Id="R406e63f508f54fb0" /><Relationship Type="http://schemas.openxmlformats.org/officeDocument/2006/relationships/slide" Target="/ppt/slides/slide91.xml" Id="Rd3f4693a658c4a12" /><Relationship Type="http://schemas.openxmlformats.org/officeDocument/2006/relationships/slide" Target="/ppt/slides/slide92.xml" Id="R2a24da7b423242df" /><Relationship Type="http://schemas.openxmlformats.org/officeDocument/2006/relationships/slide" Target="/ppt/slides/slide93.xml" Id="R7da9f44eb9d44e89" /><Relationship Type="http://schemas.openxmlformats.org/officeDocument/2006/relationships/slide" Target="/ppt/slides/slide94.xml" Id="Rdcf8c3fd53c74eaf" /><Relationship Type="http://schemas.openxmlformats.org/officeDocument/2006/relationships/slide" Target="/ppt/slides/slide95.xml" Id="R1ececf52669e4a19" /><Relationship Type="http://schemas.openxmlformats.org/officeDocument/2006/relationships/slide" Target="/ppt/slides/slide96.xml" Id="R3b9f77899cf14b25" /><Relationship Type="http://schemas.openxmlformats.org/officeDocument/2006/relationships/slide" Target="/ppt/slides/slide97.xml" Id="R284aad9c830546dd" /><Relationship Type="http://schemas.openxmlformats.org/officeDocument/2006/relationships/slide" Target="/ppt/slides/slide98.xml" Id="R1ecee67ec66d48cd" /><Relationship Type="http://schemas.openxmlformats.org/officeDocument/2006/relationships/slide" Target="/ppt/slides/slide99.xml" Id="Rd1bf4e73ddc14408" /><Relationship Type="http://schemas.openxmlformats.org/officeDocument/2006/relationships/slide" Target="/ppt/slides/slide100.xml" Id="R548fbb4026d24886" /><Relationship Type="http://schemas.openxmlformats.org/officeDocument/2006/relationships/slide" Target="/ppt/slides/slide101.xml" Id="R86373c299de54748" /><Relationship Type="http://schemas.openxmlformats.org/officeDocument/2006/relationships/slide" Target="/ppt/slides/slide102.xml" Id="R3a5edf71ef2d4c0c" /><Relationship Type="http://schemas.openxmlformats.org/officeDocument/2006/relationships/slide" Target="/ppt/slides/slide103.xml" Id="R8fece79f50a04906" /><Relationship Type="http://schemas.openxmlformats.org/officeDocument/2006/relationships/slide" Target="/ppt/slides/slide104.xml" Id="R624e392ebbcb475a" /><Relationship Type="http://schemas.openxmlformats.org/officeDocument/2006/relationships/slide" Target="/ppt/slides/slide105.xml" Id="Rc5cdea56e6fd4a52" /><Relationship Type="http://schemas.openxmlformats.org/officeDocument/2006/relationships/slide" Target="/ppt/slides/slide106.xml" Id="R369be4899cae4017" /><Relationship Type="http://schemas.openxmlformats.org/officeDocument/2006/relationships/slide" Target="/ppt/slides/slide107.xml" Id="R2cdcbf5cc4454efb" /><Relationship Type="http://schemas.openxmlformats.org/officeDocument/2006/relationships/slide" Target="/ppt/slides/slide108.xml" Id="R4eb0b5309a424800" /><Relationship Type="http://schemas.openxmlformats.org/officeDocument/2006/relationships/slide" Target="/ppt/slides/slide109.xml" Id="R768e17b9e7d04bd2" /><Relationship Type="http://schemas.openxmlformats.org/officeDocument/2006/relationships/slide" Target="/ppt/slides/slide110.xml" Id="R111eba7eb40d4b2e" /><Relationship Type="http://schemas.openxmlformats.org/officeDocument/2006/relationships/slide" Target="/ppt/slides/slide111.xml" Id="R3692ef14899d4042" /><Relationship Type="http://schemas.openxmlformats.org/officeDocument/2006/relationships/slide" Target="/ppt/slides/slide112.xml" Id="Rbc975c2243fe4aec" /><Relationship Type="http://schemas.openxmlformats.org/officeDocument/2006/relationships/slide" Target="/ppt/slides/slide113.xml" Id="R7e7a6cf6f6b0408e" /><Relationship Type="http://schemas.openxmlformats.org/officeDocument/2006/relationships/slide" Target="/ppt/slides/slide114.xml" Id="R6c7f9ed1261c4e85" /><Relationship Type="http://schemas.openxmlformats.org/officeDocument/2006/relationships/slide" Target="/ppt/slides/slide115.xml" Id="Rf2cf84eb9b93496d" /><Relationship Type="http://schemas.openxmlformats.org/officeDocument/2006/relationships/slide" Target="/ppt/slides/slide116.xml" Id="Rbe98f9da80be4af5" /><Relationship Type="http://schemas.openxmlformats.org/officeDocument/2006/relationships/slide" Target="/ppt/slides/slide117.xml" Id="Rc9f57df121004e96" /><Relationship Type="http://schemas.openxmlformats.org/officeDocument/2006/relationships/slide" Target="/ppt/slides/slide118.xml" Id="R1d895fb5d4964943" /><Relationship Type="http://schemas.openxmlformats.org/officeDocument/2006/relationships/slide" Target="/ppt/slides/slide119.xml" Id="R35c4d15c22994260" /><Relationship Type="http://schemas.openxmlformats.org/officeDocument/2006/relationships/slide" Target="/ppt/slides/slide120.xml" Id="Rd11ceb0d249e421a" /><Relationship Type="http://schemas.openxmlformats.org/officeDocument/2006/relationships/slide" Target="/ppt/slides/slide121.xml" Id="R666d341bd25f45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7d2abc90de48b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49a39c85f54981" /><Relationship Type="http://schemas.openxmlformats.org/officeDocument/2006/relationships/notesMaster" Target="/ppt/notesMasters/notesMaster1.xml" Id="Rf76fa0e2bb1d44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cb059d920743b7" /><Relationship Type="http://schemas.openxmlformats.org/officeDocument/2006/relationships/notesMaster" Target="/ppt/notesMasters/notesMaster1.xml" Id="Re124e4a6a37246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8f84cdb5304ebc" /><Relationship Type="http://schemas.openxmlformats.org/officeDocument/2006/relationships/notesMaster" Target="/ppt/notesMasters/notesMaster1.xml" Id="R1cd898b36af543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95bf28f2b44e75" /><Relationship Type="http://schemas.openxmlformats.org/officeDocument/2006/relationships/notesMaster" Target="/ppt/notesMasters/notesMaster1.xml" Id="R5b6dfefdf6024f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bca676f57c4159" /><Relationship Type="http://schemas.openxmlformats.org/officeDocument/2006/relationships/notesMaster" Target="/ppt/notesMasters/notesMaster1.xml" Id="R2c9767e8896542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a5e6b5fb314ee8" /><Relationship Type="http://schemas.openxmlformats.org/officeDocument/2006/relationships/notesMaster" Target="/ppt/notesMasters/notesMaster1.xml" Id="Rd3e6aa1ecccc446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a7df30104345cb" /><Relationship Type="http://schemas.openxmlformats.org/officeDocument/2006/relationships/notesMaster" Target="/ppt/notesMasters/notesMaster1.xml" Id="R7fca6df7184441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d214f300489454f" /><Relationship Type="http://schemas.openxmlformats.org/officeDocument/2006/relationships/notesMaster" Target="/ppt/notesMasters/notesMaster1.xml" Id="R0d71ac20ac5c4e6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5dd220976e4843" /><Relationship Type="http://schemas.openxmlformats.org/officeDocument/2006/relationships/notesMaster" Target="/ppt/notesMasters/notesMaster1.xml" Id="Rf7377147b55a4b3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06c1be27de4c8c" /><Relationship Type="http://schemas.openxmlformats.org/officeDocument/2006/relationships/notesMaster" Target="/ppt/notesMasters/notesMaster1.xml" Id="R3eed2082cc6f431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01d3b3ae8854311" /><Relationship Type="http://schemas.openxmlformats.org/officeDocument/2006/relationships/notesMaster" Target="/ppt/notesMasters/notesMaster1.xml" Id="Ra6952b255b5a4ec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0d7d0cbfd4743f1" /><Relationship Type="http://schemas.openxmlformats.org/officeDocument/2006/relationships/notesMaster" Target="/ppt/notesMasters/notesMaster1.xml" Id="R6b1bdbc6f82b4b5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6ecd1d20df4d06" /><Relationship Type="http://schemas.openxmlformats.org/officeDocument/2006/relationships/notesMaster" Target="/ppt/notesMasters/notesMaster1.xml" Id="R6aa365390e2e46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bbb26bc80a149ad" /><Relationship Type="http://schemas.openxmlformats.org/officeDocument/2006/relationships/notesMaster" Target="/ppt/notesMasters/notesMaster1.xml" Id="Rba1965a5b93647c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f28c9e55b5b461f" /><Relationship Type="http://schemas.openxmlformats.org/officeDocument/2006/relationships/notesMaster" Target="/ppt/notesMasters/notesMaster1.xml" Id="R9f0d43df71c3492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39b19f3307c4923" /><Relationship Type="http://schemas.openxmlformats.org/officeDocument/2006/relationships/notesMaster" Target="/ppt/notesMasters/notesMaster1.xml" Id="R0fb3dab2708240b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e224bb9bb494032" /><Relationship Type="http://schemas.openxmlformats.org/officeDocument/2006/relationships/notesMaster" Target="/ppt/notesMasters/notesMaster1.xml" Id="Rb3e7f7cae4af438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9ca3ed6086f46ba" /><Relationship Type="http://schemas.openxmlformats.org/officeDocument/2006/relationships/notesMaster" Target="/ppt/notesMasters/notesMaster1.xml" Id="R7b9e0e311f994e9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c4f9df4c8654118" /><Relationship Type="http://schemas.openxmlformats.org/officeDocument/2006/relationships/notesMaster" Target="/ppt/notesMasters/notesMaster1.xml" Id="Rb3fb05c1f86a400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b607ad7725f455a" /><Relationship Type="http://schemas.openxmlformats.org/officeDocument/2006/relationships/notesMaster" Target="/ppt/notesMasters/notesMaster1.xml" Id="R28ab87c19a6943a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1edf0b21c0e4a4d" /><Relationship Type="http://schemas.openxmlformats.org/officeDocument/2006/relationships/notesMaster" Target="/ppt/notesMasters/notesMaster1.xml" Id="R4050d44cfe0a4c0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7353a597072479e" /><Relationship Type="http://schemas.openxmlformats.org/officeDocument/2006/relationships/notesMaster" Target="/ppt/notesMasters/notesMaster1.xml" Id="Rbe382c1d9f334e3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06328e840bc4ea2" /><Relationship Type="http://schemas.openxmlformats.org/officeDocument/2006/relationships/notesMaster" Target="/ppt/notesMasters/notesMaster1.xml" Id="R42f1cff6e92d42b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91d67e0797a49b0" /><Relationship Type="http://schemas.openxmlformats.org/officeDocument/2006/relationships/notesMaster" Target="/ppt/notesMasters/notesMaster1.xml" Id="R9fa9390e520e46f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8bfcfa70de04103" /><Relationship Type="http://schemas.openxmlformats.org/officeDocument/2006/relationships/notesMaster" Target="/ppt/notesMasters/notesMaster1.xml" Id="R9894e446fc28446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2091811da01481b" /><Relationship Type="http://schemas.openxmlformats.org/officeDocument/2006/relationships/notesMaster" Target="/ppt/notesMasters/notesMaster1.xml" Id="R1f5c5f4498c04cb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f1285e9383f4f9e" /><Relationship Type="http://schemas.openxmlformats.org/officeDocument/2006/relationships/notesMaster" Target="/ppt/notesMasters/notesMaster1.xml" Id="Rb08d82611557451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8c9ab691f3c4222" /><Relationship Type="http://schemas.openxmlformats.org/officeDocument/2006/relationships/notesMaster" Target="/ppt/notesMasters/notesMaster1.xml" Id="Ra435b5df6a8940c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6bdfbde0f264c46" /><Relationship Type="http://schemas.openxmlformats.org/officeDocument/2006/relationships/notesMaster" Target="/ppt/notesMasters/notesMaster1.xml" Id="R799b024093a4485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977828e8d4547fb" /><Relationship Type="http://schemas.openxmlformats.org/officeDocument/2006/relationships/notesMaster" Target="/ppt/notesMasters/notesMaster1.xml" Id="R78a0874d156049c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7fbd42eb6184def" /><Relationship Type="http://schemas.openxmlformats.org/officeDocument/2006/relationships/notesMaster" Target="/ppt/notesMasters/notesMaster1.xml" Id="Rff1afc103cbd4ce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4da8876356e43a3" /><Relationship Type="http://schemas.openxmlformats.org/officeDocument/2006/relationships/notesMaster" Target="/ppt/notesMasters/notesMaster1.xml" Id="Rc4e8f0c500934af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51a52a8374b4358" /><Relationship Type="http://schemas.openxmlformats.org/officeDocument/2006/relationships/notesMaster" Target="/ppt/notesMasters/notesMaster1.xml" Id="Rf597fe1c0ce14de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2044858327e4e16" /><Relationship Type="http://schemas.openxmlformats.org/officeDocument/2006/relationships/notesMaster" Target="/ppt/notesMasters/notesMaster1.xml" Id="R075448d10d9f4d5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d423f95ae6d47f8" /><Relationship Type="http://schemas.openxmlformats.org/officeDocument/2006/relationships/notesMaster" Target="/ppt/notesMasters/notesMaster1.xml" Id="R1101b806e02b48d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99e163d361e4c5a" /><Relationship Type="http://schemas.openxmlformats.org/officeDocument/2006/relationships/notesMaster" Target="/ppt/notesMasters/notesMaster1.xml" Id="R8ae098ed95ef4a3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b64ae9c016641b3" /><Relationship Type="http://schemas.openxmlformats.org/officeDocument/2006/relationships/notesMaster" Target="/ppt/notesMasters/notesMaster1.xml" Id="R978275bacfcf4f6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56ca2b4fb77444a" /><Relationship Type="http://schemas.openxmlformats.org/officeDocument/2006/relationships/notesMaster" Target="/ppt/notesMasters/notesMaster1.xml" Id="R424b820e5b2e452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7a7a39c90234fac" /><Relationship Type="http://schemas.openxmlformats.org/officeDocument/2006/relationships/notesMaster" Target="/ppt/notesMasters/notesMaster1.xml" Id="R96c07c967c63497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0bc902d2f034bec" /><Relationship Type="http://schemas.openxmlformats.org/officeDocument/2006/relationships/notesMaster" Target="/ppt/notesMasters/notesMaster1.xml" Id="R16c4421a3f4642b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914f909f284437d" /><Relationship Type="http://schemas.openxmlformats.org/officeDocument/2006/relationships/notesMaster" Target="/ppt/notesMasters/notesMaster1.xml" Id="R57f2531ff41a4fb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b93ae230886461a" /><Relationship Type="http://schemas.openxmlformats.org/officeDocument/2006/relationships/notesMaster" Target="/ppt/notesMasters/notesMaster1.xml" Id="Ref46182ce116408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93b0b6a43d64d8d" /><Relationship Type="http://schemas.openxmlformats.org/officeDocument/2006/relationships/notesMaster" Target="/ppt/notesMasters/notesMaster1.xml" Id="R40d04330c1e44ed7"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af93ac59d9d4641" /><Relationship Type="http://schemas.openxmlformats.org/officeDocument/2006/relationships/notesMaster" Target="/ppt/notesMasters/notesMaster1.xml" Id="Rbaab0703c906400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9b66396daf04fff" /><Relationship Type="http://schemas.openxmlformats.org/officeDocument/2006/relationships/notesMaster" Target="/ppt/notesMasters/notesMaster1.xml" Id="R1afaa5bdb13e4a3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b9381ffc0014dde" /><Relationship Type="http://schemas.openxmlformats.org/officeDocument/2006/relationships/notesMaster" Target="/ppt/notesMasters/notesMaster1.xml" Id="R2b9738ffb0a142e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e818ea612d5491c" /><Relationship Type="http://schemas.openxmlformats.org/officeDocument/2006/relationships/notesMaster" Target="/ppt/notesMasters/notesMaster1.xml" Id="R6ceba971da15475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93b5ad630884877" /><Relationship Type="http://schemas.openxmlformats.org/officeDocument/2006/relationships/notesMaster" Target="/ppt/notesMasters/notesMaster1.xml" Id="R386fe95314b0452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a7d44d90d184b5d" /><Relationship Type="http://schemas.openxmlformats.org/officeDocument/2006/relationships/notesMaster" Target="/ppt/notesMasters/notesMaster1.xml" Id="R93e9fec896464e0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67f59377f09c45a2" /><Relationship Type="http://schemas.openxmlformats.org/officeDocument/2006/relationships/notesMaster" Target="/ppt/notesMasters/notesMaster1.xml" Id="R53a668c40ff54c18"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b4133d243424380" /><Relationship Type="http://schemas.openxmlformats.org/officeDocument/2006/relationships/notesMaster" Target="/ppt/notesMasters/notesMaster1.xml" Id="Rdb2c57f2f90e4b44"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de720c63743e406b" /><Relationship Type="http://schemas.openxmlformats.org/officeDocument/2006/relationships/notesMaster" Target="/ppt/notesMasters/notesMaster1.xml" Id="R66d3d4ac109f48c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a6b04c09878f471e" /><Relationship Type="http://schemas.openxmlformats.org/officeDocument/2006/relationships/notesMaster" Target="/ppt/notesMasters/notesMaster1.xml" Id="Rac7125b897994308"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d70adab28407420b" /><Relationship Type="http://schemas.openxmlformats.org/officeDocument/2006/relationships/notesMaster" Target="/ppt/notesMasters/notesMaster1.xml" Id="Rac078631650a46b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d8c9d7698d74a81" /><Relationship Type="http://schemas.openxmlformats.org/officeDocument/2006/relationships/notesMaster" Target="/ppt/notesMasters/notesMaster1.xml" Id="R18c0e199897c4c09"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ecbf940df4664348" /><Relationship Type="http://schemas.openxmlformats.org/officeDocument/2006/relationships/notesMaster" Target="/ppt/notesMasters/notesMaster1.xml" Id="Rdba1ad87cf004dfd"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14058ce29dbc48d6" /><Relationship Type="http://schemas.openxmlformats.org/officeDocument/2006/relationships/notesMaster" Target="/ppt/notesMasters/notesMaster1.xml" Id="Ra5a4cc8395164de3"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485ba726cb3f4992" /><Relationship Type="http://schemas.openxmlformats.org/officeDocument/2006/relationships/notesMaster" Target="/ppt/notesMasters/notesMaster1.xml" Id="R0c25ae98d6904ba0"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1f3e730465e74e84" /><Relationship Type="http://schemas.openxmlformats.org/officeDocument/2006/relationships/notesMaster" Target="/ppt/notesMasters/notesMaster1.xml" Id="R978a0e01585d4d6f"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30c4500db6dc420a" /><Relationship Type="http://schemas.openxmlformats.org/officeDocument/2006/relationships/notesMaster" Target="/ppt/notesMasters/notesMaster1.xml" Id="Rc605e58f83284792"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bc0f585f24e04ff2" /><Relationship Type="http://schemas.openxmlformats.org/officeDocument/2006/relationships/notesMaster" Target="/ppt/notesMasters/notesMaster1.xml" Id="R323157ebc4d34f1d"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9bfc07aab4ff498b" /><Relationship Type="http://schemas.openxmlformats.org/officeDocument/2006/relationships/notesMaster" Target="/ppt/notesMasters/notesMaster1.xml" Id="R394ccbb4c7c54cae"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31e394677a5b4325" /><Relationship Type="http://schemas.openxmlformats.org/officeDocument/2006/relationships/notesMaster" Target="/ppt/notesMasters/notesMaster1.xml" Id="R7903e0722b2648c6"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293e776652d64816" /><Relationship Type="http://schemas.openxmlformats.org/officeDocument/2006/relationships/notesMaster" Target="/ppt/notesMasters/notesMaster1.xml" Id="R26801e89f7ce49da"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b03b9c4ba6d5490a" /><Relationship Type="http://schemas.openxmlformats.org/officeDocument/2006/relationships/notesMaster" Target="/ppt/notesMasters/notesMaster1.xml" Id="Rea95ec6fbf3b4faf"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7db77727f1134355" /><Relationship Type="http://schemas.openxmlformats.org/officeDocument/2006/relationships/notesMaster" Target="/ppt/notesMasters/notesMaster1.xml" Id="R3baf55a440be49a1"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54a23553a35447da" /><Relationship Type="http://schemas.openxmlformats.org/officeDocument/2006/relationships/notesMaster" Target="/ppt/notesMasters/notesMaster1.xml" Id="Rf255d24f4b3d475f"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62df245d3f114097" /><Relationship Type="http://schemas.openxmlformats.org/officeDocument/2006/relationships/notesMaster" Target="/ppt/notesMasters/notesMaster1.xml" Id="Rb692c463766f49da"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723a13109cd541fb" /><Relationship Type="http://schemas.openxmlformats.org/officeDocument/2006/relationships/notesMaster" Target="/ppt/notesMasters/notesMaster1.xml" Id="Rdaaabcd419874f9c"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b5540ad6ecb1481b" /><Relationship Type="http://schemas.openxmlformats.org/officeDocument/2006/relationships/notesMaster" Target="/ppt/notesMasters/notesMaster1.xml" Id="R9410d62f28064de3"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f0e7843f494f4ba5" /><Relationship Type="http://schemas.openxmlformats.org/officeDocument/2006/relationships/notesMaster" Target="/ppt/notesMasters/notesMaster1.xml" Id="R15d452ea8ace4553"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bacfb6d1aee449a1" /><Relationship Type="http://schemas.openxmlformats.org/officeDocument/2006/relationships/notesMaster" Target="/ppt/notesMasters/notesMaster1.xml" Id="R85070b83861c4242"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03f4eee096274cfc" /><Relationship Type="http://schemas.openxmlformats.org/officeDocument/2006/relationships/notesMaster" Target="/ppt/notesMasters/notesMaster1.xml" Id="Re8eb5fbab76e4af2"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e54f0b10d9664c94" /><Relationship Type="http://schemas.openxmlformats.org/officeDocument/2006/relationships/notesMaster" Target="/ppt/notesMasters/notesMaster1.xml" Id="R7d6aece08ee94cba"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e5f161fcf9564f76" /><Relationship Type="http://schemas.openxmlformats.org/officeDocument/2006/relationships/notesMaster" Target="/ppt/notesMasters/notesMaster1.xml" Id="Rec85f10a54af439a"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1e45e193a14b4862" /><Relationship Type="http://schemas.openxmlformats.org/officeDocument/2006/relationships/notesMaster" Target="/ppt/notesMasters/notesMaster1.xml" Id="R18279676de244477"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f1cc5fcfc76b45ae" /><Relationship Type="http://schemas.openxmlformats.org/officeDocument/2006/relationships/notesMaster" Target="/ppt/notesMasters/notesMaster1.xml" Id="R9147e968e7b84791"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2b162ea5f91d4228" /><Relationship Type="http://schemas.openxmlformats.org/officeDocument/2006/relationships/notesMaster" Target="/ppt/notesMasters/notesMaster1.xml" Id="R98bd42f825524d77"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8dd3af48c5f3459e" /><Relationship Type="http://schemas.openxmlformats.org/officeDocument/2006/relationships/notesMaster" Target="/ppt/notesMasters/notesMaster1.xml" Id="R63cd9eb426204f5d"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f7ca1d7082654bab" /><Relationship Type="http://schemas.openxmlformats.org/officeDocument/2006/relationships/notesMaster" Target="/ppt/notesMasters/notesMaster1.xml" Id="Rc4369a6e79df48ef"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a94a935b0f4c4794" /><Relationship Type="http://schemas.openxmlformats.org/officeDocument/2006/relationships/notesMaster" Target="/ppt/notesMasters/notesMaster1.xml" Id="Rcc7ad779c2c14e70"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9ebb557504ac42d8" /><Relationship Type="http://schemas.openxmlformats.org/officeDocument/2006/relationships/notesMaster" Target="/ppt/notesMasters/notesMaster1.xml" Id="R3592e030ccc047b3"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85cae60fe8f148ce" /><Relationship Type="http://schemas.openxmlformats.org/officeDocument/2006/relationships/notesMaster" Target="/ppt/notesMasters/notesMaster1.xml" Id="Ra508f3056e954e31"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19e24a2530154d2d" /><Relationship Type="http://schemas.openxmlformats.org/officeDocument/2006/relationships/notesMaster" Target="/ppt/notesMasters/notesMaster1.xml" Id="R5d215999c85443a3"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e36225dee9c54a65" /><Relationship Type="http://schemas.openxmlformats.org/officeDocument/2006/relationships/notesMaster" Target="/ppt/notesMasters/notesMaster1.xml" Id="Rf08a16dfb6214a9e"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18cd856a417041af" /><Relationship Type="http://schemas.openxmlformats.org/officeDocument/2006/relationships/notesMaster" Target="/ppt/notesMasters/notesMaster1.xml" Id="Rf566ee2983124046"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68e25b3f9c8e4ec4" /><Relationship Type="http://schemas.openxmlformats.org/officeDocument/2006/relationships/notesMaster" Target="/ppt/notesMasters/notesMaster1.xml" Id="Rc2ec425953224bcd"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4250fc05bce7432e" /><Relationship Type="http://schemas.openxmlformats.org/officeDocument/2006/relationships/notesMaster" Target="/ppt/notesMasters/notesMaster1.xml" Id="Rcbb881d90d2d4530"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637654e194c34e8e" /><Relationship Type="http://schemas.openxmlformats.org/officeDocument/2006/relationships/notesMaster" Target="/ppt/notesMasters/notesMaster1.xml" Id="Ree17f5cf44ec4c03"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dd951eebf33a433b" /><Relationship Type="http://schemas.openxmlformats.org/officeDocument/2006/relationships/notesMaster" Target="/ppt/notesMasters/notesMaster1.xml" Id="R699cf1ea6ca641ad"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6dcc18ab33534eec" /><Relationship Type="http://schemas.openxmlformats.org/officeDocument/2006/relationships/notesMaster" Target="/ppt/notesMasters/notesMaster1.xml" Id="R18e53ea818014562"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5a603d5ffd1b4755" /><Relationship Type="http://schemas.openxmlformats.org/officeDocument/2006/relationships/notesMaster" Target="/ppt/notesMasters/notesMaster1.xml" Id="R1ced12886d004fe2"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195e0a7bbb244ffa" /><Relationship Type="http://schemas.openxmlformats.org/officeDocument/2006/relationships/notesMaster" Target="/ppt/notesMasters/notesMaster1.xml" Id="R2963ff82d6494049"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c4a21cf6cd5047ba" /><Relationship Type="http://schemas.openxmlformats.org/officeDocument/2006/relationships/notesMaster" Target="/ppt/notesMasters/notesMaster1.xml" Id="Rf8bfb60d78cf4a9b"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0202f073c716465e" /><Relationship Type="http://schemas.openxmlformats.org/officeDocument/2006/relationships/notesMaster" Target="/ppt/notesMasters/notesMaster1.xml" Id="Re37a04250fa14abc"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141db168904b4ca7" /><Relationship Type="http://schemas.openxmlformats.org/officeDocument/2006/relationships/notesMaster" Target="/ppt/notesMasters/notesMaster1.xml" Id="Rcb936de633bc439b"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f5f82227478d4ed9" /><Relationship Type="http://schemas.openxmlformats.org/officeDocument/2006/relationships/notesMaster" Target="/ppt/notesMasters/notesMaster1.xml" Id="Rf9a15bd5125f465c"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313f7a47051a47aa" /><Relationship Type="http://schemas.openxmlformats.org/officeDocument/2006/relationships/notesMaster" Target="/ppt/notesMasters/notesMaster1.xml" Id="R79d19791512740b4"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58c1103bdc2c4975" /><Relationship Type="http://schemas.openxmlformats.org/officeDocument/2006/relationships/notesMaster" Target="/ppt/notesMasters/notesMaster1.xml" Id="Rbd5caed37b9c4df9"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b635c184d0294ffe" /><Relationship Type="http://schemas.openxmlformats.org/officeDocument/2006/relationships/notesMaster" Target="/ppt/notesMasters/notesMaster1.xml" Id="R79ef6626601740d0"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39a2ee231d4b4dfa" /><Relationship Type="http://schemas.openxmlformats.org/officeDocument/2006/relationships/notesMaster" Target="/ppt/notesMasters/notesMaster1.xml" Id="R19481b5841ec40d2"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197afcfed9f34f7b" /><Relationship Type="http://schemas.openxmlformats.org/officeDocument/2006/relationships/notesMaster" Target="/ppt/notesMasters/notesMaster1.xml" Id="R2bec55718fe842c9"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6078cfeb46a743ee" /><Relationship Type="http://schemas.openxmlformats.org/officeDocument/2006/relationships/notesMaster" Target="/ppt/notesMasters/notesMaster1.xml" Id="R6e8a7b4a733e4d4e"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6b04e50c86674b5d" /><Relationship Type="http://schemas.openxmlformats.org/officeDocument/2006/relationships/notesMaster" Target="/ppt/notesMasters/notesMaster1.xml" Id="Rd0c27261177e4782"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fc5f81d185c348b5" /><Relationship Type="http://schemas.openxmlformats.org/officeDocument/2006/relationships/notesMaster" Target="/ppt/notesMasters/notesMaster1.xml" Id="R10d0e302863e4eb9"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26d4ab3bcdaa4b0a" /><Relationship Type="http://schemas.openxmlformats.org/officeDocument/2006/relationships/notesMaster" Target="/ppt/notesMasters/notesMaster1.xml" Id="R1165fad8fed741bf"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403f2f34537a411c" /><Relationship Type="http://schemas.openxmlformats.org/officeDocument/2006/relationships/notesMaster" Target="/ppt/notesMasters/notesMaster1.xml" Id="R2ce91e594ed44a7f"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95e4216766da442e" /><Relationship Type="http://schemas.openxmlformats.org/officeDocument/2006/relationships/notesMaster" Target="/ppt/notesMasters/notesMaster1.xml" Id="R16a1e19551ed4e62"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0857d34f37374a27" /><Relationship Type="http://schemas.openxmlformats.org/officeDocument/2006/relationships/notesMaster" Target="/ppt/notesMasters/notesMaster1.xml" Id="Rdd79a90cb96a4d07"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5adda5a70cc54b39" /><Relationship Type="http://schemas.openxmlformats.org/officeDocument/2006/relationships/notesMaster" Target="/ppt/notesMasters/notesMaster1.xml" Id="R0a3ba0c7bc9d41ca"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cf29cff51fb24992" /><Relationship Type="http://schemas.openxmlformats.org/officeDocument/2006/relationships/notesMaster" Target="/ppt/notesMasters/notesMaster1.xml" Id="R793e4c5342024526"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6187d28948624200" /><Relationship Type="http://schemas.openxmlformats.org/officeDocument/2006/relationships/notesMaster" Target="/ppt/notesMasters/notesMaster1.xml" Id="Rbd247c34d2f740ad"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2c71b021fbfb4fe0" /><Relationship Type="http://schemas.openxmlformats.org/officeDocument/2006/relationships/notesMaster" Target="/ppt/notesMasters/notesMaster1.xml" Id="R0e1576d08cc0411e"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44e819b5af224902" /><Relationship Type="http://schemas.openxmlformats.org/officeDocument/2006/relationships/notesMaster" Target="/ppt/notesMasters/notesMaster1.xml" Id="R31f0e334ec0a4764"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31be04535e594c6c" /><Relationship Type="http://schemas.openxmlformats.org/officeDocument/2006/relationships/notesMaster" Target="/ppt/notesMasters/notesMaster1.xml" Id="Rada6d28792a54faa"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bee83ba8178249e2" /><Relationship Type="http://schemas.openxmlformats.org/officeDocument/2006/relationships/notesMaster" Target="/ppt/notesMasters/notesMaster1.xml" Id="R2151bc70c86b4053"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80a3c60baf7e4da6" /><Relationship Type="http://schemas.openxmlformats.org/officeDocument/2006/relationships/notesMaster" Target="/ppt/notesMasters/notesMaster1.xml" Id="R59aecc340d3948db"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c02c838c5eb54df0" /><Relationship Type="http://schemas.openxmlformats.org/officeDocument/2006/relationships/notesMaster" Target="/ppt/notesMasters/notesMaster1.xml" Id="Re843f2134b154644"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46ae619a02454925" /><Relationship Type="http://schemas.openxmlformats.org/officeDocument/2006/relationships/notesMaster" Target="/ppt/notesMasters/notesMaster1.xml" Id="R65932c7dbe624781"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61e12b025dee436b" /><Relationship Type="http://schemas.openxmlformats.org/officeDocument/2006/relationships/notesMaster" Target="/ppt/notesMasters/notesMaster1.xml" Id="R637febb104e24c69"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2343c5b66a334ba8" /><Relationship Type="http://schemas.openxmlformats.org/officeDocument/2006/relationships/notesMaster" Target="/ppt/notesMasters/notesMaster1.xml" Id="R030e7e1bff2147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https://docarcshot.github.io/id-practice-update/lectures/Fever_of_Unknown_Origin_Resident_Fellow_Module.html</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Resident core</a:t>
            </a:r>
          </a:p>
          <a:p xmlns:a="http://schemas.openxmlformats.org/drawingml/2006/main">
            <a:r>
              <a:t/>
            </a:r>
          </a:p>
          <a:p xmlns:a="http://schemas.openxmlformats.org/drawingml/2006/main">
            <a:r>
              <a:t>Module section: https://docarcshot.github.io/id-practice-update/lectures/Fever_of_Unknown_Origin_Resident_Fellow_Module.html#start</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 Approach to FUO This module covers the initial evaluation of prolonged fever, including exposure history, baseline tests, infectious and noninfectious causes, and indications for imaging or biopsy. The fellow section covers culture-negative endocarditis, PET/CT, tissue sampling, molecular testing, and inflammatory disorders. A patient has four weeks of documented fever, negative blood cultures, and no localizing symptoms. What else would you ask before ordering tests? The exposure table can also be used during a consult. Resident core</a:t>
            </a:r>
          </a:p>
          <a:p xmlns:a="http://schemas.openxmlformats.org/drawingml/2006/main">
            <a:r>
              <a:t/>
            </a:r>
          </a:p>
          <a:p xmlns:a="http://schemas.openxmlformats.org/drawingml/2006/main">
            <a:r>
              <a:t>Module section: https://docarcshot.github.io/id-practice-update/lectures/Fever_of_Unknown_Origin_Resident_Fellow_Module.html#start</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 Approach to FUO This module covers the initial evaluation of prolonged fever, including exposure history, baseline tests, infectious and noninfectious causes, and indications for imaging or biopsy. The fellow section covers culture-negative endocarditis, PET/CT, tissue sampling, molecular testing, and inflammatory disorders. A patient has four weeks of documented fever, negative blood cultures, and no localizing symptoms. What else would you ask before ordering tests? The exposure table can also be used during a consult. Resident core</a:t>
            </a:r>
          </a:p>
          <a:p xmlns:a="http://schemas.openxmlformats.org/drawingml/2006/main">
            <a:r>
              <a:t/>
            </a:r>
          </a:p>
          <a:p xmlns:a="http://schemas.openxmlformats.org/drawingml/2006/main">
            <a:r>
              <a:t>Module section: https://docarcshot.github.io/id-practice-update/lectures/Fever_of_Unknown_Origin_Resident_Fellow_Module.html#start</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 Approach to FUO This module covers the initial evaluation of prolonged fever, including exposure history, baseline tests, infectious and noninfectious causes, and indications for imaging or biopsy. The fellow section covers culture-negative endocarditis, PET/CT, tissue sampling, molecular testing, and inflammatory disorders. A patient has four weeks of documented fever, negative blood cultures, and no localizing symptoms. What else would you ask before ordering tests? The exposure table can also be used during a consult. Resident core</a:t>
            </a:r>
          </a:p>
          <a:p xmlns:a="http://schemas.openxmlformats.org/drawingml/2006/main">
            <a:r>
              <a:t/>
            </a:r>
          </a:p>
          <a:p xmlns:a="http://schemas.openxmlformats.org/drawingml/2006/main">
            <a:r>
              <a:t>Module section: https://docarcshot.github.io/id-practice-update/lectures/Fever_of_Unknown_Origin_Resident_Fellow_Module.html#definition</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Definition and patient population Classic FUO is prolonged documented fever, conventionally at least 38.3°C on several occasions over at least three weeks, without an explanation after an appropriate minimum evaluation in an immunocompetent adult. The 2024 consensus emphasizes what evaluation was completed rather than a required number of inpatient days. Definitions vary; the three-week threshold is a classification convention, not a reason to delay necessary care. Presentation How to approach it New fever over hours to days Evaluate the acute syndrome and severity. Negative initial cultures do not make this classic FUO. New hospital or ICU fever Review procedures, devices, aspiration, thrombosis, transfusion, drugs, and new infection. Evaluate causes of hospital-acquired fever. Neutropenia, transplant, substantial immunosuppression, or advanced HIV Evaluate according to immune status and likely opportunistic infections. The urgency and testing differ from classic FUO. Inflammation of unknown origin Persistent unexplained inflammatory-marker elevation for at least three weeks without qualifying fever. Similar etiologic categories; elevated CRP alone does not prove infection. Review the recorded temperatures, measurement method, antipyretic use, and timing. If possible, examine the patient during a febrile episode. Sources Wright et al. FUO and IUO modified Delphi consensus. OFID 2024. · SCCM/IDSA guideline on new fever in adult ICU patients. 2023. Resident core</a:t>
            </a:r>
          </a:p>
          <a:p xmlns:a="http://schemas.openxmlformats.org/drawingml/2006/main">
            <a:r>
              <a:t/>
            </a:r>
          </a:p>
          <a:p xmlns:a="http://schemas.openxmlformats.org/drawingml/2006/main">
            <a:r>
              <a:t>Module section: https://docarcshot.github.io/id-practice-update/lectures/Fever_of_Unknown_Origin_Resident_Fellow_Module.html#definition</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Definition and patient population Classic FUO is prolonged documented fever, conventionally at least 38.3°C on several occasions over at least three weeks, without an explanation after an appropriate minimum evaluation in an immunocompetent adult. The 2024 consensus emphasizes what evaluation was completed rather than a required number of inpatient days. Definitions vary; the three-week threshold is a classification convention, not a reason to delay necessary care. Presentation How to approach it New fever over hours to days Evaluate the acute syndrome and severity. Negative initial cultures do not make this classic FUO. New hospital or ICU fever Review procedures, devices, aspiration, thrombosis, transfusion, drugs, and new infection. Evaluate causes of hospital-acquired fever. Neutropenia, transplant, substantial immunosuppression, or advanced HIV Evaluate according to immune status and likely opportunistic infections. The urgency and testing differ from classic FUO. Inflammation of unknown origin Persistent unexplained inflammatory-marker elevation for at least three weeks without qualifying fever. Similar etiologic categories; elevated CRP alone does not prove infection. Review the recorded temperatures, measurement method, antipyretic use, and timing. If possible, examine the patient during a febrile episode. Sources Wright et al. FUO and IUO modified Delphi consensus. OFID 2024. · SCCM/IDSA guideline on new fever in adult ICU patients. 2023. Resident core</a:t>
            </a:r>
          </a:p>
          <a:p xmlns:a="http://schemas.openxmlformats.org/drawingml/2006/main">
            <a:r>
              <a:t/>
            </a:r>
          </a:p>
          <a:p xmlns:a="http://schemas.openxmlformats.org/drawingml/2006/main">
            <a:r>
              <a:t>Module section: https://docarcshot.github.io/id-practice-update/lectures/Fever_of_Unknown_Origin_Resident_Fellow_Module.html#definition</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Definition and patient population Classic FUO is prolonged documented fever, conventionally at least 38.3°C on several occasions over at least three weeks, without an explanation after an appropriate minimum evaluation in an immunocompetent adult. The 2024 consensus emphasizes what evaluation was completed rather than a required number of inpatient days. Definitions vary; the three-week threshold is a classification convention, not a reason to delay necessary care. Presentation How to approach it New fever over hours to days Evaluate the acute syndrome and severity. Negative initial cultures do not make this classic FUO. New hospital or ICU fever Review procedures, devices, aspiration, thrombosis, transfusion, drugs, and new infection. Evaluate causes of hospital-acquired fever. Neutropenia, transplant, substantial immunosuppression, or advanced HIV Evaluate according to immune status and likely opportunistic infections. The urgency and testing differ from classic FUO. Inflammation of unknown origin Persistent unexplained inflammatory-marker elevation for at least three weeks without qualifying fever. Similar etiologic categories; elevated CRP alone does not prove infection. Review the recorded temperatures, measurement method, antipyretic use, and timing. If possible, examine the patient during a febrile episode. Sources Wright et al. FUO and IUO modified Delphi consensus. OFID 2024. · SCCM/IDSA guideline on new fever in adult ICU patients. 2023. Resident core</a:t>
            </a:r>
          </a:p>
          <a:p xmlns:a="http://schemas.openxmlformats.org/drawingml/2006/main">
            <a:r>
              <a:t/>
            </a:r>
          </a:p>
          <a:p xmlns:a="http://schemas.openxmlformats.org/drawingml/2006/main">
            <a:r>
              <a:t>Module section: https://docarcshot.github.io/id-practice-update/lectures/Fever_of_Unknown_Origin_Resident_Fellow_Module.html#definition</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Definition and patient population Classic FUO is prolonged documented fever, conventionally at least 38.3°C on several occasions over at least three weeks, without an explanation after an appropriate minimum evaluation in an immunocompetent adult. The 2024 consensus emphasizes what evaluation was completed rather than a required number of inpatient days. Definitions vary; the three-week threshold is a classification convention, not a reason to delay necessary care. Presentation How to approach it New fever over hours to days Evaluate the acute syndrome and severity. Negative initial cultures do not make this classic FUO. New hospital or ICU fever Review procedures, devices, aspiration, thrombosis, transfusion, drugs, and new infection. Evaluate causes of hospital-acquired fever. Neutropenia, transplant, substantial immunosuppression, or advanced HIV Evaluate according to immune status and likely opportunistic infections. The urgency and testing differ from classic FUO. Inflammation of unknown origin Persistent unexplained inflammatory-marker elevation for at least three weeks without qualifying fever. Similar etiologic categories; elevated CRP alone does not prove infection. Review the recorded temperatures, measurement method, antipyretic use, and timing. If possible, examine the patient during a febrile episode. Sources Wright et al. FUO and IUO modified Delphi consensus. OFID 2024. · SCCM/IDSA guideline on new fever in adult ICU patients. 2023. Resident core</a:t>
            </a:r>
          </a:p>
          <a:p xmlns:a="http://schemas.openxmlformats.org/drawingml/2006/main">
            <a:r>
              <a:t/>
            </a:r>
          </a:p>
          <a:p xmlns:a="http://schemas.openxmlformats.org/drawingml/2006/main">
            <a:r>
              <a:t>Module section: https://docarcshot.github.io/id-practice-update/lectures/Fever_of_Unknown_Origin_Resident_Fellow_Module.html#definition</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Definition and patient population Classic FUO is prolonged documented fever, conventionally at least 38.3°C on several occasions over at least three weeks, without an explanation after an appropriate minimum evaluation in an immunocompetent adult. The 2024 consensus emphasizes what evaluation was completed rather than a required number of inpatient days. Definitions vary; the three-week threshold is a classification convention, not a reason to delay necessary care. Presentation How to approach it New fever over hours to days Evaluate the acute syndrome and severity. Negative initial cultures do not make this classic FUO. New hospital or ICU fever Review procedures, devices, aspiration, thrombosis, transfusion, drugs, and new infection. Evaluate causes of hospital-acquired fever. Neutropenia, transplant, substantial immunosuppression, or advanced HIV Evaluate according to immune status and likely opportunistic infections. The urgency and testing differ from classic FUO. Inflammation of unknown origin Persistent unexplained inflammatory-marker elevation for at least three weeks without qualifying fever. Similar etiologic categories; elevated CRP alone does not prove infection. Review the recorded temperatures, measurement method, antipyretic use, and timing. If possible, examine the patient during a febrile episode. Sources Wright et al. FUO and IUO modified Delphi consensus. OFID 2024. · SCCM/IDSA guideline on new fever in adult ICU patients. 2023. Resident core</a:t>
            </a:r>
          </a:p>
          <a:p xmlns:a="http://schemas.openxmlformats.org/drawingml/2006/main">
            <a:r>
              <a:t/>
            </a:r>
          </a:p>
          <a:p xmlns:a="http://schemas.openxmlformats.org/drawingml/2006/main">
            <a:r>
              <a:t>Module section: https://docarcshot.github.io/id-practice-update/lectures/Fever_of_Unknown_Origin_Resident_Fellow_Module.html#definition</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Definition and patient population Classic FUO is prolonged documented fever, conventionally at least 38.3°C on several occasions over at least three weeks, without an explanation after an appropriate minimum evaluation in an immunocompetent adult. The 2024 consensus emphasizes what evaluation was completed rather than a required number of inpatient days. Definitions vary; the three-week threshold is a classification convention, not a reason to delay necessary care. Presentation How to approach it New fever over hours to days Evaluate the acute syndrome and severity. Negative initial cultures do not make this classic FUO. New hospital or ICU fever Review procedures, devices, aspiration, thrombosis, transfusion, drugs, and new infection. Evaluate causes of hospital-acquired fever. Neutropenia, transplant, substantial immunosuppression, or advanced HIV Evaluate according to immune status and likely opportunistic infections. The urgency and testing differ from classic FUO. Inflammation of unknown origin Persistent unexplained inflammatory-marker elevation for at least three weeks without qualifying fever. Similar etiologic categories; elevated CRP alone does not prove infection. Review the recorded temperatures, measurement method, antipyretic use, and timing. If possible, examine the patient during a febrile episode. Sources Wright et al. FUO and IUO modified Delphi consensus. OFID 2024. · SCCM/IDSA guideline on new fever in adult ICU patients. 2023. Resident core</a:t>
            </a:r>
          </a:p>
          <a:p xmlns:a="http://schemas.openxmlformats.org/drawingml/2006/main">
            <a:r>
              <a:t/>
            </a:r>
          </a:p>
          <a:p xmlns:a="http://schemas.openxmlformats.org/drawingml/2006/main">
            <a:r>
              <a:t>Module section: https://docarcshot.github.io/id-practice-update/lectures/Fever_of_Unknown_Origin_Resident_Fellow_Module.html#definition</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Definition and patient population Classic FUO is prolonged documented fever, conventionally at least 38.3°C on several occasions over at least three weeks, without an explanation after an appropriate minimum evaluation in an immunocompetent adult. The 2024 consensus emphasizes what evaluation was completed rather than a required number of inpatient days. Definitions vary; the three-week threshold is a classification convention, not a reason to delay necessary care. Presentation How to approach it New fever over hours to days Evaluate the acute syndrome and severity. Negative initial cultures do not make this classic FUO. New hospital or ICU fever Review procedures, devices, aspiration, thrombosis, transfusion, drugs, and new infection. Evaluate causes of hospital-acquired fever. Neutropenia, transplant, substantial immunosuppression, or advanced HIV Evaluate according to immune status and likely opportunistic infections. The urgency and testing differ from classic FUO. Inflammation of unknown origin Persistent unexplained inflammatory-marker elevation for at least three weeks without qualifying fever. Similar etiologic categories; elevated CRP alone does not prove infection. Review the recorded temperatures, measurement method, antipyretic use, and timing. If possible, examine the patient during a febrile episode. Sources Wright et al. FUO and IUO modified Delphi consensus. OFID 2024. · SCCM/IDSA guideline on new fever in adult ICU patients. 2023. Resident core</a:t>
            </a:r>
          </a:p>
          <a:p xmlns:a="http://schemas.openxmlformats.org/drawingml/2006/main">
            <a:r>
              <a:t/>
            </a:r>
          </a:p>
          <a:p xmlns:a="http://schemas.openxmlformats.org/drawingml/2006/main">
            <a:r>
              <a:t>Module section: https://docarcshot.github.io/id-practice-update/lectures/Fever_of_Unknown_Origin_Resident_Fellow_Module.html#triage</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When treatment cannot wait Finding Immediate response Shock, rapidly worsening organ dysfunction, or convincing serious infection Obtain cultures promptly if this does not delay treatment, stabilize, start antimicrobials for the suspected infection, and obtain source control. Fever with profound neutropenia Begin treatment for febrile neutropenia promptly. Meningismus, encephalopathy, new neurologic deficit, or back pain with neurologic signs Urgent CNS/spinal evaluation and empiric treatment when indicated. Do not delay necessary therapy for an unsafe or delayed lumbar puncture. New visual symptoms with a convincing giant cell arteritis syndrome Urgent ophthalmology/rheumatology assessment and glucocorticoids. Obtain rapid vascular imaging or biopsy without delaying vision-saving treatment. Cytopenias, hepatitis, coagulopathy, rising ferritin, and deterioration Consider HLH/MAS while investigating infection and malignancy. Seek urgent hematology/rheumatology/critical care input. Avoid empiric antibiotics or glucocorticoids in stable classic FUO unless a specific suspected diagnosis requires treatment. Both can reduce diagnostic yield. Sources Wright et al. FUO and IUO modified Delphi consensus. OFID 2024. · Surviving Sepsis Campaign adult guidelines. 2026. · Dejaco et al. EULAR imaging recommendations for large vessel vasculitis, 2023 update. Published 2024. · Shakoory et al. EULAR/ACR points to consider in suspected HLH/MAS. Published 2023. Resident core</a:t>
            </a:r>
          </a:p>
          <a:p xmlns:a="http://schemas.openxmlformats.org/drawingml/2006/main">
            <a:r>
              <a:t/>
            </a:r>
          </a:p>
          <a:p xmlns:a="http://schemas.openxmlformats.org/drawingml/2006/main">
            <a:r>
              <a:t>Module section: https://docarcshot.github.io/id-practice-update/lectures/Fever_of_Unknown_Origin_Resident_Fellow_Module.html#triage</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When treatment cannot wait Finding Immediate response Shock, rapidly worsening organ dysfunction, or convincing serious infection Obtain cultures promptly if this does not delay treatment, stabilize, start antimicrobials for the suspected infection, and obtain source control. Fever with profound neutropenia Begin treatment for febrile neutropenia promptly. Meningismus, encephalopathy, new neurologic deficit, or back pain with neurologic signs Urgent CNS/spinal evaluation and empiric treatment when indicated. Do not delay necessary therapy for an unsafe or delayed lumbar puncture. New visual symptoms with a convincing giant cell arteritis syndrome Urgent ophthalmology/rheumatology assessment and glucocorticoids. Obtain rapid vascular imaging or biopsy without delaying vision-saving treatment. Cytopenias, hepatitis, coagulopathy, rising ferritin, and deterioration Consider HLH/MAS while investigating infection and malignancy. Seek urgent hematology/rheumatology/critical care input. Avoid empiric antibiotics or glucocorticoids in stable classic FUO unless a specific suspected diagnosis requires treatment. Both can reduce diagnostic yield. Sources Wright et al. FUO and IUO modified Delphi consensus. OFID 2024. · Surviving Sepsis Campaign adult guidelines. 2026. · Dejaco et al. EULAR imaging recommendations for large vessel vasculitis, 2023 update. Published 2024. · Shakoory et al. EULAR/ACR points to consider in suspected HLH/MAS. Published 2023. Resident core</a:t>
            </a:r>
          </a:p>
          <a:p xmlns:a="http://schemas.openxmlformats.org/drawingml/2006/main">
            <a:r>
              <a:t/>
            </a:r>
          </a:p>
          <a:p xmlns:a="http://schemas.openxmlformats.org/drawingml/2006/main">
            <a:r>
              <a:t>Module section: https://docarcshot.github.io/id-practice-update/lectures/Fever_of_Unknown_Origin_Resident_Fellow_Module.html#triage</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When treatment cannot wait Finding Immediate response Shock, rapidly worsening organ dysfunction, or convincing serious infection Obtain cultures promptly if this does not delay treatment, stabilize, start antimicrobials for the suspected infection, and obtain source control. Fever with profound neutropenia Begin treatment for febrile neutropenia promptly. Meningismus, encephalopathy, new neurologic deficit, or back pain with neurologic signs Urgent CNS/spinal evaluation and empiric treatment when indicated. Do not delay necessary therapy for an unsafe or delayed lumbar puncture. New visual symptoms with a convincing giant cell arteritis syndrome Urgent ophthalmology/rheumatology assessment and glucocorticoids. Obtain rapid vascular imaging or biopsy without delaying vision-saving treatment. Cytopenias, hepatitis, coagulopathy, rising ferritin, and deterioration Consider HLH/MAS while investigating infection and malignancy. Seek urgent hematology/rheumatology/critical care input. Avoid empiric antibiotics or glucocorticoids in stable classic FUO unless a specific suspected diagnosis requires treatment. Both can reduce diagnostic yield. Sources Wright et al. FUO and IUO modified Delphi consensus. OFID 2024. · Surviving Sepsis Campaign adult guidelines. 2026. · Dejaco et al. EULAR imaging recommendations for large vessel vasculitis, 2023 update. Published 2024. · Shakoory et al. EULAR/ACR points to consider in suspected HLH/MAS. Published 2023. Resident core</a:t>
            </a:r>
          </a:p>
          <a:p xmlns:a="http://schemas.openxmlformats.org/drawingml/2006/main">
            <a:r>
              <a:t/>
            </a:r>
          </a:p>
          <a:p xmlns:a="http://schemas.openxmlformats.org/drawingml/2006/main">
            <a:r>
              <a:t>Module section: https://docarcshot.github.io/id-practice-update/lectures/Fever_of_Unknown_Origin_Resident_Fellow_Module.html#triage</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When treatment cannot wait Finding Immediate response Shock, rapidly worsening organ dysfunction, or convincing serious infection Obtain cultures promptly if this does not delay treatment, stabilize, start antimicrobials for the suspected infection, and obtain source control. Fever with profound neutropenia Begin treatment for febrile neutropenia promptly. Meningismus, encephalopathy, new neurologic deficit, or back pain with neurologic signs Urgent CNS/spinal evaluation and empiric treatment when indicated. Do not delay necessary therapy for an unsafe or delayed lumbar puncture. New visual symptoms with a convincing giant cell arteritis syndrome Urgent ophthalmology/rheumatology assessment and glucocorticoids. Obtain rapid vascular imaging or biopsy without delaying vision-saving treatment. Cytopenias, hepatitis, coagulopathy, rising ferritin, and deterioration Consider HLH/MAS while investigating infection and malignancy. Seek urgent hematology/rheumatology/critical care input. Avoid empiric antibiotics or glucocorticoids in stable classic FUO unless a specific suspected diagnosis requires treatment. Both can reduce diagnostic yield. Sources Wright et al. FUO and IUO modified Delphi consensus. OFID 2024. · Surviving Sepsis Campaign adult guidelines. 2026. · Dejaco et al. EULAR imaging recommendations for large vessel vasculitis, 2023 update. Published 2024. · Shakoory et al. EULAR/ACR points to consider in suspected HLH/MAS. Published 2023. Resident core</a:t>
            </a:r>
          </a:p>
          <a:p xmlns:a="http://schemas.openxmlformats.org/drawingml/2006/main">
            <a:r>
              <a:t/>
            </a:r>
          </a:p>
          <a:p xmlns:a="http://schemas.openxmlformats.org/drawingml/2006/main">
            <a:r>
              <a:t>Module section: https://docarcshot.github.io/id-practice-update/lectures/Fever_of_Unknown_Origin_Resident_Fellow_Module.html#triage</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When treatment cannot wait Finding Immediate response Shock, rapidly worsening organ dysfunction, or convincing serious infection Obtain cultures promptly if this does not delay treatment, stabilize, start antimicrobials for the suspected infection, and obtain source control. Fever with profound neutropenia Begin treatment for febrile neutropenia promptly. Meningismus, encephalopathy, new neurologic deficit, or back pain with neurologic signs Urgent CNS/spinal evaluation and empiric treatment when indicated. Do not delay necessary therapy for an unsafe or delayed lumbar puncture. New visual symptoms with a convincing giant cell arteritis syndrome Urgent ophthalmology/rheumatology assessment and glucocorticoids. Obtain rapid vascular imaging or biopsy without delaying vision-saving treatment. Cytopenias, hepatitis, coagulopathy, rising ferritin, and deterioration Consider HLH/MAS while investigating infection and malignancy. Seek urgent hematology/rheumatology/critical care input. Avoid empiric antibiotics or glucocorticoids in stable classic FUO unless a specific suspected diagnosis requires treatment. Both can reduce diagnostic yield. Sources Wright et al. FUO and IUO modified Delphi consensus. OFID 2024. · Surviving Sepsis Campaign adult guidelines. 2026. · Dejaco et al. EULAR imaging recommendations for large vessel vasculitis, 2023 update. Published 2024. · Shakoory et al. EULAR/ACR points to consider in suspected HLH/MAS. Published 2023. Resident core</a:t>
            </a:r>
          </a:p>
          <a:p xmlns:a="http://schemas.openxmlformats.org/drawingml/2006/main">
            <a:r>
              <a:t/>
            </a:r>
          </a:p>
          <a:p xmlns:a="http://schemas.openxmlformats.org/drawingml/2006/main">
            <a:r>
              <a:t>Module section: https://docarcshot.github.io/id-practice-update/lectures/Fever_of_Unknown_Origin_Resident_Fellow_Module.html#triage</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When treatment cannot wait Finding Immediate response Shock, rapidly worsening organ dysfunction, or convincing serious infection Obtain cultures promptly if this does not delay treatment, stabilize, start antimicrobials for the suspected infection, and obtain source control. Fever with profound neutropenia Begin treatment for febrile neutropenia promptly. Meningismus, encephalopathy, new neurologic deficit, or back pain with neurologic signs Urgent CNS/spinal evaluation and empiric treatment when indicated. Do not delay necessary therapy for an unsafe or delayed lumbar puncture. New visual symptoms with a convincing giant cell arteritis syndrome Urgent ophthalmology/rheumatology assessment and glucocorticoids. Obtain rapid vascular imaging or biopsy without delaying vision-saving treatment. Cytopenias, hepatitis, coagulopathy, rising ferritin, and deterioration Consider HLH/MAS while investigating infection and malignancy. Seek urgent hematology/rheumatology/critical care input. Avoid empiric antibiotics or glucocorticoids in stable classic FUO unless a specific suspected diagnosis requires treatment. Both can reduce diagnostic yield. Sources Wright et al. FUO and IUO modified Delphi consensus. OFID 2024. · Surviving Sepsis Campaign adult guidelines. 2026. · Dejaco et al. EULAR imaging recommendations for large vessel vasculitis, 2023 update. Published 2024. · Shakoory et al. EULAR/ACR points to consider in suspected HLH/MAS. Published 2023. Resident core</a:t>
            </a:r>
          </a:p>
          <a:p xmlns:a="http://schemas.openxmlformats.org/drawingml/2006/main">
            <a:r>
              <a:t/>
            </a:r>
          </a:p>
          <a:p xmlns:a="http://schemas.openxmlformats.org/drawingml/2006/main">
            <a:r>
              <a:t>Module section: https://docarcshot.github.io/id-practice-update/lectures/Fever_of_Unknown_Origin_Resident_Fellow_Module.html#triage</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When treatment cannot wait Finding Immediate response Shock, rapidly worsening organ dysfunction, or convincing serious infection Obtain cultures promptly if this does not delay treatment, stabilize, start antimicrobials for the suspected infection, and obtain source control. Fever with profound neutropenia Begin treatment for febrile neutropenia promptly. Meningismus, encephalopathy, new neurologic deficit, or back pain with neurologic signs Urgent CNS/spinal evaluation and empiric treatment when indicated. Do not delay necessary therapy for an unsafe or delayed lumbar puncture. New visual symptoms with a convincing giant cell arteritis syndrome Urgent ophthalmology/rheumatology assessment and glucocorticoids. Obtain rapid vascular imaging or biopsy without delaying vision-saving treatment. Cytopenias, hepatitis, coagulopathy, rising ferritin, and deterioration Consider HLH/MAS while investigating infection and malignancy. Seek urgent hematology/rheumatology/critical care input. Avoid empiric antibiotics or glucocorticoids in stable classic FUO unless a specific suspected diagnosis requires treatment. Both can reduce diagnostic yield. Sources Wright et al. FUO and IUO modified Delphi consensus. OFID 2024. · Surviving Sepsis Campaign adult guidelines. 2026. · Dejaco et al. EULAR imaging recommendations for large vessel vasculitis, 2023 update. Published 2024. · Shakoory et al. EULAR/ACR points to consider in suspected HLH/MAS. Published 2023. Resident core</a:t>
            </a:r>
          </a:p>
          <a:p xmlns:a="http://schemas.openxmlformats.org/drawingml/2006/main">
            <a:r>
              <a:t/>
            </a:r>
          </a:p>
          <a:p xmlns:a="http://schemas.openxmlformats.org/drawingml/2006/main">
            <a:r>
              <a:t>Module section: https://docarcshot.github.io/id-practice-update/lectures/Fever_of_Unknown_Origin_Resident_Fellow_Module.html#workup-stages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Workup by stage This sequence is for a stable, immunocompetent adult with prolonged unexplained fever. History, examination, and earlier results may move a test to an earlier stage or make it unnecessary. A focal finding should be evaluated when identified. Stage Evaluation When to change the sequence First assessment Confirm documented fever and its duration. Review immune status, medications, exposures, prior tests, and the full examination. Assess for hypotension, organ injury, or another indication for urgent treatment. Shock, neutropenia, suspected meningitis, or threatened vision from giant cell arteritis requires urgent evaluation and treatment. Initial workup CBC with differential; metabolic panel with liver tests and calcium; ESR/CRP, ferritin, TSH; ANA, ANCA, and RF as included in the FUO consensus. Three blood-culture sets; urinalysis with reflex culture; HIV screening; IGRA or TST. CT chest/abdomen/pelvis, or chest radiography plus abdominal ultrasound when CT is unavailable. Review completed testing before repeating it. Obtain cultures before antibiotics when possible. Suspected active TB requires specimens from the involved site regardless of IGRA/TST results. Additional tests based on findings Echocardiography for suspected endocarditis; MRI for focal spinal symptoms; exposure-specific serology, PCR, or fungal testing; selected viral studies; CSF studies for a neurologic presentation; organ-directed rheumatologic or hematologic evaluation. These tests may belong in the initial evaluation. Examples include TEE with a prosthetic valve and suspected endocarditis, malaria smears after relevant travel, or MRI for back pain with neurologic findings. If the initial evaluation is unrevealing Repeat the history and examination and review medication timing. Consider FDG PET/CT, particularly with persistent elevated inflammatory markers and no localizing finding. Biopsy an appropriate node, skin lesion, or imaging abnormality. An accessible suspicious lesion can be biopsied earlier. Progressive cytopenias or an abnormal smear may warrant marrow evaluation. PET uptake alone does not distinguish infection, inflammation, and malignancy. If no diagnosis is found Reassess the completed workup and pending results. Use selected molecular tests when infection remains suspected. For a stable patient, arrange follow-up and repeat examination and laboratory testing as indicated. New focal symptoms, falling blood counts, or renal/liver injury require further evaluation. Avoid empiric antibiotics or steroids unless a specific suspected diagnosis warrants treatment. These stages summarize the evaluation discussed below. They are not a validated scoring system or a required sequence of orders. Exposure-based tests are ordered for the relevant patient, not as a routine panel. Sources FUO consensus, OFID 2024 · Contemporary ambulatory FUO approach, CID 2026 · EANM PET/CT consensus, 2024 Resident core</a:t>
            </a:r>
          </a:p>
          <a:p xmlns:a="http://schemas.openxmlformats.org/drawingml/2006/main">
            <a:r>
              <a:t/>
            </a:r>
          </a:p>
          <a:p xmlns:a="http://schemas.openxmlformats.org/drawingml/2006/main">
            <a:r>
              <a:t>Module section: https://docarcshot.github.io/id-practice-update/lectures/Fever_of_Unknown_Origin_Resident_Fellow_Module.html#workup-stages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Workup by stage This sequence is for a stable, immunocompetent adult with prolonged unexplained fever. History, examination, and earlier results may move a test to an earlier stage or make it unnecessary. A focal finding should be evaluated when identified. Stage Evaluation When to change the sequence First assessment Confirm documented fever and its duration. Review immune status, medications, exposures, prior tests, and the full examination. Assess for hypotension, organ injury, or another indication for urgent treatment. Shock, neutropenia, suspected meningitis, or threatened vision from giant cell arteritis requires urgent evaluation and treatment. Initial workup CBC with differential; metabolic panel with liver tests and calcium; ESR/CRP, ferritin, TSH; ANA, ANCA, and RF as included in the FUO consensus. Three blood-culture sets; urinalysis with reflex culture; HIV screening; IGRA or TST. CT chest/abdomen/pelvis, or chest radiography plus abdominal ultrasound when CT is unavailable. Review completed testing before repeating it. Obtain cultures before antibiotics when possible. Suspected active TB requires specimens from the involved site regardless of IGRA/TST results. Additional tests based on findings Echocardiography for suspected endocarditis; MRI for focal spinal symptoms; exposure-specific serology, PCR, or fungal testing; selected viral studies; CSF studies for a neurologic presentation; organ-directed rheumatologic or hematologic evaluation. These tests may belong in the initial evaluation. Examples include TEE with a prosthetic valve and suspected endocarditis, malaria smears after relevant travel, or MRI for back pain with neurologic findings. If the initial evaluation is unrevealing Repeat the history and examination and review medication timing. Consider FDG PET/CT, particularly with persistent elevated inflammatory markers and no localizing finding. Biopsy an appropriate node, skin lesion, or imaging abnormality. An accessible suspicious lesion can be biopsied earlier. Progressive cytopenias or an abnormal smear may warrant marrow evaluation. PET uptake alone does not distinguish infection, inflammation, and malignancy. If no diagnosis is found Reassess the completed workup and pending results. Use selected molecular tests when infection remains suspected. For a stable patient, arrange follow-up and repeat examination and laboratory testing as indicated. New focal symptoms, falling blood counts, or renal/liver injury require further evaluation. Avoid empiric antibiotics or steroids unless a specific suspected diagnosis warrants treatment. These stages summarize the evaluation discussed below. They are not a validated scoring system or a required sequence of orders. Exposure-based tests are ordered for the relevant patient, not as a routine panel. Sources FUO consensus, OFID 2024 · Contemporary ambulatory FUO approach, CID 2026 · EANM PET/CT consensus, 2024 Resident core</a:t>
            </a:r>
          </a:p>
          <a:p xmlns:a="http://schemas.openxmlformats.org/drawingml/2006/main">
            <a:r>
              <a:t/>
            </a:r>
          </a:p>
          <a:p xmlns:a="http://schemas.openxmlformats.org/drawingml/2006/main">
            <a:r>
              <a:t>Module section: https://docarcshot.github.io/id-practice-update/lectures/Fever_of_Unknown_Origin_Resident_Fellow_Module.html#workup-stages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Workup by stage This sequence is for a stable, immunocompetent adult with prolonged unexplained fever. History, examination, and earlier results may move a test to an earlier stage or make it unnecessary. A focal finding should be evaluated when identified. Stage Evaluation When to change the sequence First assessment Confirm documented fever and its duration. Review immune status, medications, exposures, prior tests, and the full examination. Assess for hypotension, organ injury, or another indication for urgent treatment. Shock, neutropenia, suspected meningitis, or threatened vision from giant cell arteritis requires urgent evaluation and treatment. Initial workup CBC with differential; metabolic panel with liver tests and calcium; ESR/CRP, ferritin, TSH; ANA, ANCA, and RF as included in the FUO consensus. Three blood-culture sets; urinalysis with reflex culture; HIV screening; IGRA or TST. CT chest/abdomen/pelvis, or chest radiography plus abdominal ultrasound when CT is unavailable. Review completed testing before repeating it. Obtain cultures before antibiotics when possible. Suspected active TB requires specimens from the involved site regardless of IGRA/TST results. Additional tests based on findings Echocardiography for suspected endocarditis; MRI for focal spinal symptoms; exposure-specific serology, PCR, or fungal testing; selected viral studies; CSF studies for a neurologic presentation; organ-directed rheumatologic or hematologic evaluation. These tests may belong in the initial evaluation. Examples include TEE with a prosthetic valve and suspected endocarditis, malaria smears after relevant travel, or MRI for back pain with neurologic findings. If the initial evaluation is unrevealing Repeat the history and examination and review medication timing. Consider FDG PET/CT, particularly with persistent elevated inflammatory markers and no localizing finding. Biopsy an appropriate node, skin lesion, or imaging abnormality. An accessible suspicious lesion can be biopsied earlier. Progressive cytopenias or an abnormal smear may warrant marrow evaluation. PET uptake alone does not distinguish infection, inflammation, and malignancy. If no diagnosis is found Reassess the completed workup and pending results. Use selected molecular tests when infection remains suspected. For a stable patient, arrange follow-up and repeat examination and laboratory testing as indicated. New focal symptoms, falling blood counts, or renal/liver injury require further evaluation. Avoid empiric antibiotics or steroids unless a specific suspected diagnosis warrants treatment. These stages summarize the evaluation discussed below. They are not a validated scoring system or a required sequence of orders. Exposure-based tests are ordered for the relevant patient, not as a routine panel. Sources FUO consensus, OFID 2024 · Contemporary ambulatory FUO approach, CID 2026 · EANM PET/CT consensus, 2024 Resident core</a:t>
            </a:r>
          </a:p>
          <a:p xmlns:a="http://schemas.openxmlformats.org/drawingml/2006/main">
            <a:r>
              <a:t/>
            </a:r>
          </a:p>
          <a:p xmlns:a="http://schemas.openxmlformats.org/drawingml/2006/main">
            <a:r>
              <a:t>Module section: https://docarcshot.github.io/id-practice-update/lectures/Fever_of_Unknown_Origin_Resident_Fellow_Module.html#workup-stages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Workup by stage This sequence is for a stable, immunocompetent adult with prolonged unexplained fever. History, examination, and earlier results may move a test to an earlier stage or make it unnecessary. A focal finding should be evaluated when identified. Stage Evaluation When to change the sequence First assessment Confirm documented fever and its duration. Review immune status, medications, exposures, prior tests, and the full examination. Assess for hypotension, organ injury, or another indication for urgent treatment. Shock, neutropenia, suspected meningitis, or threatened vision from giant cell arteritis requires urgent evaluation and treatment. Initial workup CBC with differential; metabolic panel with liver tests and calcium; ESR/CRP, ferritin, TSH; ANA, ANCA, and RF as included in the FUO consensus. Three blood-culture sets; urinalysis with reflex culture; HIV screening; IGRA or TST. CT chest/abdomen/pelvis, or chest radiography plus abdominal ultrasound when CT is unavailable. Review completed testing before repeating it. Obtain cultures before antibiotics when possible. Suspected active TB requires specimens from the involved site regardless of IGRA/TST results. Additional tests based on findings Echocardiography for suspected endocarditis; MRI for focal spinal symptoms; exposure-specific serology, PCR, or fungal testing; selected viral studies; CSF studies for a neurologic presentation; organ-directed rheumatologic or hematologic evaluation. These tests may belong in the initial evaluation. Examples include TEE with a prosthetic valve and suspected endocarditis, malaria smears after relevant travel, or MRI for back pain with neurologic findings. If the initial evaluation is unrevealing Repeat the history and examination and review medication timing. Consider FDG PET/CT, particularly with persistent elevated inflammatory markers and no localizing finding. Biopsy an appropriate node, skin lesion, or imaging abnormality. An accessible suspicious lesion can be biopsied earlier. Progressive cytopenias or an abnormal smear may warrant marrow evaluation. PET uptake alone does not distinguish infection, inflammation, and malignancy. If no diagnosis is found Reassess the completed workup and pending results. Use selected molecular tests when infection remains suspected. For a stable patient, arrange follow-up and repeat examination and laboratory testing as indicated. New focal symptoms, falling blood counts, or renal/liver injury require further evaluation. Avoid empiric antibiotics or steroids unless a specific suspected diagnosis warrants treatment. These stages summarize the evaluation discussed below. They are not a validated scoring system or a required sequence of orders. Exposure-based tests are ordered for the relevant patient, not as a routine panel. Sources FUO consensus, OFID 2024 · Contemporary ambulatory FUO approach, CID 2026 · EANM PET/CT consensus, 2024 Resident core</a:t>
            </a:r>
          </a:p>
          <a:p xmlns:a="http://schemas.openxmlformats.org/drawingml/2006/main">
            <a:r>
              <a:t/>
            </a:r>
          </a:p>
          <a:p xmlns:a="http://schemas.openxmlformats.org/drawingml/2006/main">
            <a:r>
              <a:t>Module section: https://docarcshot.github.io/id-practice-update/lectures/Fever_of_Unknown_Origin_Resident_Fellow_Module.html#workup-stages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Workup by stage This sequence is for a stable, immunocompetent adult with prolonged unexplained fever. History, examination, and earlier results may move a test to an earlier stage or make it unnecessary. A focal finding should be evaluated when identified. Stage Evaluation When to change the sequence First assessment Confirm documented fever and its duration. Review immune status, medications, exposures, prior tests, and the full examination. Assess for hypotension, organ injury, or another indication for urgent treatment. Shock, neutropenia, suspected meningitis, or threatened vision from giant cell arteritis requires urgent evaluation and treatment. Initial workup CBC with differential; metabolic panel with liver tests and calcium; ESR/CRP, ferritin, TSH; ANA, ANCA, and RF as included in the FUO consensus. Three blood-culture sets; urinalysis with reflex culture; HIV screening; IGRA or TST. CT chest/abdomen/pelvis, or chest radiography plus abdominal ultrasound when CT is unavailable. Review completed testing before repeating it. Obtain cultures before antibiotics when possible. Suspected active TB requires specimens from the involved site regardless of IGRA/TST results. Additional tests based on findings Echocardiography for suspected endocarditis; MRI for focal spinal symptoms; exposure-specific serology, PCR, or fungal testing; selected viral studies; CSF studies for a neurologic presentation; organ-directed rheumatologic or hematologic evaluation. These tests may belong in the initial evaluation. Examples include TEE with a prosthetic valve and suspected endocarditis, malaria smears after relevant travel, or MRI for back pain with neurologic findings. If the initial evaluation is unrevealing Repeat the history and examination and review medication timing. Consider FDG PET/CT, particularly with persistent elevated inflammatory markers and no localizing finding. Biopsy an appropriate node, skin lesion, or imaging abnormality. An accessible suspicious lesion can be biopsied earlier. Progressive cytopenias or an abnormal smear may warrant marrow evaluation. PET uptake alone does not distinguish infection, inflammation, and malignancy. If no diagnosis is found Reassess the completed workup and pending results. Use selected molecular tests when infection remains suspected. For a stable patient, arrange follow-up and repeat examination and laboratory testing as indicated. New focal symptoms, falling blood counts, or renal/liver injury require further evaluation. Avoid empiric antibiotics or steroids unless a specific suspected diagnosis warrants treatment. These stages summarize the evaluation discussed below. They are not a validated scoring system or a required sequence of orders. Exposure-based tests are ordered for the relevant patient, not as a routine panel. Sources FUO consensus, OFID 2024 · Contemporary ambulatory FUO approach, CID 2026 · EANM PET/CT consensus, 2024 Resident core</a:t>
            </a:r>
          </a:p>
          <a:p xmlns:a="http://schemas.openxmlformats.org/drawingml/2006/main">
            <a:r>
              <a:t/>
            </a:r>
          </a:p>
          <a:p xmlns:a="http://schemas.openxmlformats.org/drawingml/2006/main">
            <a:r>
              <a:t>Module section: https://docarcshot.github.io/id-practice-update/lectures/Fever_of_Unknown_Origin_Resident_Fellow_Module.html#workup-stages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Workup by stage This sequence is for a stable, immunocompetent adult with prolonged unexplained fever. History, examination, and earlier results may move a test to an earlier stage or make it unnecessary. A focal finding should be evaluated when identified. Stage Evaluation When to change the sequence First assessment Confirm documented fever and its duration. Review immune status, medications, exposures, prior tests, and the full examination. Assess for hypotension, organ injury, or another indication for urgent treatment. Shock, neutropenia, suspected meningitis, or threatened vision from giant cell arteritis requires urgent evaluation and treatment. Initial workup CBC with differential; metabolic panel with liver tests and calcium; ESR/CRP, ferritin, TSH; ANA, ANCA, and RF as included in the FUO consensus. Three blood-culture sets; urinalysis with reflex culture; HIV screening; IGRA or TST. CT chest/abdomen/pelvis, or chest radiography plus abdominal ultrasound when CT is unavailable. Review completed testing before repeating it. Obtain cultures before antibiotics when possible. Suspected active TB requires specimens from the involved site regardless of IGRA/TST results. Additional tests based on findings Echocardiography for suspected endocarditis; MRI for focal spinal symptoms; exposure-specific serology, PCR, or fungal testing; selected viral studies; CSF studies for a neurologic presentation; organ-directed rheumatologic or hematologic evaluation. These tests may belong in the initial evaluation. Examples include TEE with a prosthetic valve and suspected endocarditis, malaria smears after relevant travel, or MRI for back pain with neurologic findings. If the initial evaluation is unrevealing Repeat the history and examination and review medication timing. Consider FDG PET/CT, particularly with persistent elevated inflammatory markers and no localizing finding. Biopsy an appropriate node, skin lesion, or imaging abnormality. An accessible suspicious lesion can be biopsied earlier. Progressive cytopenias or an abnormal smear may warrant marrow evaluation. PET uptake alone does not distinguish infection, inflammation, and malignancy. If no diagnosis is found Reassess the completed workup and pending results. Use selected molecular tests when infection remains suspected. For a stable patient, arrange follow-up and repeat examination and laboratory testing as indicated. New focal symptoms, falling blood counts, or renal/liver injury require further evaluation. Avoid empiric antibiotics or steroids unless a specific suspected diagnosis warrants treatment. These stages summarize the evaluation discussed below. They are not a validated scoring system or a required sequence of orders. Exposure-based tests are ordered for the relevant patient, not as a routine panel. Sources FUO consensus, OFID 2024 · Contemporary ambulatory FUO approach, CID 2026 · EANM PET/CT consensus, 2024 Resident core</a:t>
            </a:r>
          </a:p>
          <a:p xmlns:a="http://schemas.openxmlformats.org/drawingml/2006/main">
            <a:r>
              <a:t/>
            </a:r>
          </a:p>
          <a:p xmlns:a="http://schemas.openxmlformats.org/drawingml/2006/main">
            <a:r>
              <a:t>Module section: https://docarcshot.github.io/id-practice-update/lectures/Fever_of_Unknown_Origin_Resident_Fellow_Module.html#workup-stages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Workup by stage This sequence is for a stable, immunocompetent adult with prolonged unexplained fever. History, examination, and earlier results may move a test to an earlier stage or make it unnecessary. A focal finding should be evaluated when identified. Stage Evaluation When to change the sequence First assessment Confirm documented fever and its duration. Review immune status, medications, exposures, prior tests, and the full examination. Assess for hypotension, organ injury, or another indication for urgent treatment. Shock, neutropenia, suspected meningitis, or threatened vision from giant cell arteritis requires urgent evaluation and treatment. Initial workup CBC with differential; metabolic panel with liver tests and calcium; ESR/CRP, ferritin, TSH; ANA, ANCA, and RF as included in the FUO consensus. Three blood-culture sets; urinalysis with reflex culture; HIV screening; IGRA or TST. CT chest/abdomen/pelvis, or chest radiography plus abdominal ultrasound when CT is unavailable. Review completed testing before repeating it. Obtain cultures before antibiotics when possible. Suspected active TB requires specimens from the involved site regardless of IGRA/TST results. Additional tests based on findings Echocardiography for suspected endocarditis; MRI for focal spinal symptoms; exposure-specific serology, PCR, or fungal testing; selected viral studies; CSF studies for a neurologic presentation; organ-directed rheumatologic or hematologic evaluation. These tests may belong in the initial evaluation. Examples include TEE with a prosthetic valve and suspected endocarditis, malaria smears after relevant travel, or MRI for back pain with neurologic findings. If the initial evaluation is unrevealing Repeat the history and examination and review medication timing. Consider FDG PET/CT, particularly with persistent elevated inflammatory markers and no localizing finding. Biopsy an appropriate node, skin lesion, or imaging abnormality. An accessible suspicious lesion can be biopsied earlier. Progressive cytopenias or an abnormal smear may warrant marrow evaluation. PET uptake alone does not distinguish infection, inflammation, and malignancy. If no diagnosis is found Reassess the completed workup and pending results. Use selected molecular tests when infection remains suspected. For a stable patient, arrange follow-up and repeat examination and laboratory testing as indicated. New focal symptoms, falling blood counts, or renal/liver injury require further evaluation. Avoid empiric antibiotics or steroids unless a specific suspected diagnosis warrants treatment. These stages summarize the evaluation discussed below. They are not a validated scoring system or a required sequence of orders. Exposure-based tests are ordered for the relevant patient, not as a routine panel. Sources FUO consensus, OFID 2024 · Contemporary ambulatory FUO approach, CID 2026 · EANM PET/CT consensus, 2024 Resident core</a:t>
            </a:r>
          </a:p>
          <a:p xmlns:a="http://schemas.openxmlformats.org/drawingml/2006/main">
            <a:r>
              <a:t/>
            </a:r>
          </a:p>
          <a:p xmlns:a="http://schemas.openxmlformats.org/drawingml/2006/main">
            <a:r>
              <a:t>Module section: https://docarcshot.github.io/id-practice-update/lectures/Fever_of_Unknown_Origin_Resident_Fellow_Module.html#workup-stages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Workup by stage This sequence is for a stable, immunocompetent adult with prolonged unexplained fever. History, examination, and earlier results may move a test to an earlier stage or make it unnecessary. A focal finding should be evaluated when identified. Stage Evaluation When to change the sequence First assessment Confirm documented fever and its duration. Review immune status, medications, exposures, prior tests, and the full examination. Assess for hypotension, organ injury, or another indication for urgent treatment. Shock, neutropenia, suspected meningitis, or threatened vision from giant cell arteritis requires urgent evaluation and treatment. Initial workup CBC with differential; metabolic panel with liver tests and calcium; ESR/CRP, ferritin, TSH; ANA, ANCA, and RF as included in the FUO consensus. Three blood-culture sets; urinalysis with reflex culture; HIV screening; IGRA or TST. CT chest/abdomen/pelvis, or chest radiography plus abdominal ultrasound when CT is unavailable. Review completed testing before repeating it. Obtain cultures before antibiotics when possible. Suspected active TB requires specimens from the involved site regardless of IGRA/TST results. Additional tests based on findings Echocardiography for suspected endocarditis; MRI for focal spinal symptoms; exposure-specific serology, PCR, or fungal testing; selected viral studies; CSF studies for a neurologic presentation; organ-directed rheumatologic or hematologic evaluation. These tests may belong in the initial evaluation. Examples include TEE with a prosthetic valve and suspected endocarditis, malaria smears after relevant travel, or MRI for back pain with neurologic findings. If the initial evaluation is unrevealing Repeat the history and examination and review medication timing. Consider FDG PET/CT, particularly with persistent elevated inflammatory markers and no localizing finding. Biopsy an appropriate node, skin lesion, or imaging abnormality. An accessible suspicious lesion can be biopsied earlier. Progressive cytopenias or an abnormal smear may warrant marrow evaluation. PET uptake alone does not distinguish infection, inflammation, and malignancy. If no diagnosis is found Reassess the completed workup and pending results. Use selected molecular tests when infection remains suspected. For a stable patient, arrange follow-up and repeat examination and laboratory testing as indicated. New focal symptoms, falling blood counts, or renal/liver injury require further evaluation. Avoid empiric antibiotics or steroids unless a specific suspected diagnosis warrants treatment. These stages summarize the evaluation discussed below. They are not a validated scoring system or a required sequence of orders. Exposure-based tests are ordered for the relevant patient, not as a routine panel. Sources FUO consensus, OFID 2024 · Contemporary ambulatory FUO approach, CID 2026 · EANM PET/CT consensus, 2024 Resident core</a:t>
            </a:r>
          </a:p>
          <a:p xmlns:a="http://schemas.openxmlformats.org/drawingml/2006/main">
            <a:r>
              <a:t/>
            </a:r>
          </a:p>
          <a:p xmlns:a="http://schemas.openxmlformats.org/drawingml/2006/main">
            <a:r>
              <a:t>Module section: https://docarcshot.github.io/id-practice-update/lectures/Fever_of_Unknown_Origin_Resident_Fellow_Module.html#clues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History and examination Ask where the patient has lived and traveled, what they did there, and when. Clarify animal contact and work or recreational exposures. Ask whether others became ill. Take the sexual and substance-use history privately. Social and exposure history Ask the patient What it raises Testing when the syndrome fits Where have you lived and traveled, including earlier in life? When did you return? Rural or urban? What did you do there? Malaria, TB, endemic fungi, and geographically restricted infections. Country alone is insufficient. Urgent thick/thin smears for possible malaria; repeat every 12–24 hours for three sets if suspicion persists. Select other tests by itinerary and syndrome. Any TB contacts? Prior TB treatment? Time in shelters, correctional facilities, or other crowded settings? Pulmonary or extrapulmonary TB. Remote exposure may matter. IGRA/TST is baseline infection testing. Suspected active disease requires site-specific imaging and microbiology; a negative IGRA does not exclude it. Do you handle cattle, sheep, goats, or animal placentas? Help with births? Work in veterinary care, farming, meat processing, or a laboratory? Q fever and brucellosis, especially with hepatitis, endocarditis, or persistent systemic illness. Coxiella serology, with PCR useful early in acute illness; Brucella cultures/serology with laboratory notification. Exposure alone does not establish either diagnosis. Raw milk or unpasteurized cheese, including products brought from abroad? Wild-hog hunting or butchering? Veterinary vaccine needle sticks? Brucellosis; route helps identify species and assay limitations. Alert the laboratory before cultures. Standard serology does not detect B. canis or RB51 infection; discuss testing with microbiology/public health. Cats or kittens? Scratches or flea infestation? Body lice? Access to showers and clean clothing? B. henselae with adenopathy or hepatosplenic disease; B. quintana with lice exposure and culture-negative endocarditis. Bartonella serology and selected PCR when indicated. Persistent antibodies and cross-reactivity complicate interpretation. Ticks, hiking, gardening, hunting, brush clearing, or camping? Where and when? Any skin ulcer or enlarged node? Ehrlichiosis and other tickborne infections; tularemia with compatible ulcer/nodal or pulmonary disease. Many present acutely rather than as classic FUO. Ehrlichia blood PCR early; paired serology when appropriate. Tularemia serology/PCR or culture with laboratory warning. Do not delay treatment of convincing acute rickettsial illness for results. Caves, bat or bird droppings, demolition, chicken coops, soil disturbance, or dusty travel in the Southwest? Histoplasmosis or other endemic mycoses, depending on location, host, and organ involvement. Histoplasma urine/serum antigen for compatible illness; add antibody or tissue testing as indicated. Histoplasma and Blastomyces antigen cross-reactivity limits species attribution. Floodwater, freshwater swimming, rodent infestation, sewage, or animal urine exposure? Leptospirosis, especially with renal injury, hepatitis, or meningitis. PCR and serology selected by illness timing and available specimen. Exposure without a compatible syndrome is insufficient. New sexual partners or recent condomless exposure? Injected drugs, shared equipment, or nonmedical injections? Acute HIV and other exposure-associated infections; injection-related bacteremia/endocarditis. HIV Ag/Ab, adding RNA if acute HIV remains plausible despite negative/indeterminate screening. STI/hepatitis testing by exposure and syndrome; cultures and echo for suspected endocarditis. What medicines, supplements, infusions, and intermittent drugs have you taken? Which started before fever, and which were added afterward? Drug fever or a systemic drug reaction. Recently added antibiotics may perpetuate fever. Review dates, rash, eosinophils, renal/liver injury. Withdraw a suspected offending drug that can be safely stopped safely; use a formal drug-reaction evaluation for organ injury. Any operations, dental infection, implanted valve/device, vascular graft, orthopedic hardware, or recent procedure? Endocarditis, device infection, or a deep postoperative focus. Cultures and targeted echo/imaging. Hardware is a risk modifier; it does not prove the source. Any steroids, biologics, cancer therapy, transplant, splenectomy, or immune disorder? Changes both the differential and urgency. Substantial immunosuppression falls outside the classic immunocompetent FUO pathway. Use the host-specific evaluation; review actual agent, dose, timing, prophylaxis, and immune recovery. History and examination beyond exposures Ask about new headache, jaw fatigue or visual symptoms; back or focal bone pain; joint swelling or morning stiffness; transient rash; oral ulcers; pleuritic pain; diarrhea or blood in stool; weight loss; and symptom-free intervals. Examine the mouth, skin, nails, nodes, heart, abdomen/spleen, spine, joints, wounds, and device sites. Repeat the examination when new symptoms emerge. Select tests based on the exposure, timing, immune status, and clinical findings. Sources CDC Q fever testing · CDC brucellosis overview · CDC ehrlichiosis testing · CDC tularemia testing · CDC leptospirosis overview · CDC histoplasmosis testing · CDC Bartonella quintana overview · CDC malaria diagnosis · CDC HIV testing guidance Resident core</a:t>
            </a:r>
          </a:p>
          <a:p xmlns:a="http://schemas.openxmlformats.org/drawingml/2006/main">
            <a:r>
              <a:t/>
            </a:r>
          </a:p>
          <a:p xmlns:a="http://schemas.openxmlformats.org/drawingml/2006/main">
            <a:r>
              <a:t>Module section: https://docarcshot.github.io/id-practice-update/lectures/Fever_of_Unknown_Origin_Resident_Fellow_Module.html#clues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History and examination Ask where the patient has lived and traveled, what they did there, and when. Clarify animal contact and work or recreational exposures. Ask whether others became ill. Take the sexual and substance-use history privately. Social and exposure history Ask the patient What it raises Testing when the syndrome fits Where have you lived and traveled, including earlier in life? When did you return? Rural or urban? What did you do there? Malaria, TB, endemic fungi, and geographically restricted infections. Country alone is insufficient. Urgent thick/thin smears for possible malaria; repeat every 12–24 hours for three sets if suspicion persists. Select other tests by itinerary and syndrome. Any TB contacts? Prior TB treatment? Time in shelters, correctional facilities, or other crowded settings? Pulmonary or extrapulmonary TB. Remote exposure may matter. IGRA/TST is baseline infection testing. Suspected active disease requires site-specific imaging and microbiology; a negative IGRA does not exclude it. Do you handle cattle, sheep, goats, or animal placentas? Help with births? Work in veterinary care, farming, meat processing, or a laboratory? Q fever and brucellosis, especially with hepatitis, endocarditis, or persistent systemic illness. Coxiella serology, with PCR useful early in acute illness; Brucella cultures/serology with laboratory notification. Exposure alone does not establish either diagnosis. Raw milk or unpasteurized cheese, including products brought from abroad? Wild-hog hunting or butchering? Veterinary vaccine needle sticks? Brucellosis; route helps identify species and assay limitations. Alert the laboratory before cultures. Standard serology does not detect B. canis or RB51 infection; discuss testing with microbiology/public health. Cats or kittens? Scratches or flea infestation? Body lice? Access to showers and clean clothing? B. henselae with adenopathy or hepatosplenic disease; B. quintana with lice exposure and culture-negative endocarditis. Bartonella serology and selected PCR when indicated. Persistent antibodies and cross-reactivity complicate interpretation. Ticks, hiking, gardening, hunting, brush clearing, or camping? Where and when? Any skin ulcer or enlarged node? Ehrlichiosis and other tickborne infections; tularemia with compatible ulcer/nodal or pulmonary disease. Many present acutely rather than as classic FUO. Ehrlichia blood PCR early; paired serology when appropriate. Tularemia serology/PCR or culture with laboratory warning. Do not delay treatment of convincing acute rickettsial illness for results. Caves, bat or bird droppings, demolition, chicken coops, soil disturbance, or dusty travel in the Southwest? Histoplasmosis or other endemic mycoses, depending on location, host, and organ involvement. Histoplasma urine/serum antigen for compatible illness; add antibody or tissue testing as indicated. Histoplasma and Blastomyces antigen cross-reactivity limits species attribution. Floodwater, freshwater swimming, rodent infestation, sewage, or animal urine exposure? Leptospirosis, especially with renal injury, hepatitis, or meningitis. PCR and serology selected by illness timing and available specimen. Exposure without a compatible syndrome is insufficient. New sexual partners or recent condomless exposure? Injected drugs, shared equipment, or nonmedical injections? Acute HIV and other exposure-associated infections; injection-related bacteremia/endocarditis. HIV Ag/Ab, adding RNA if acute HIV remains plausible despite negative/indeterminate screening. STI/hepatitis testing by exposure and syndrome; cultures and echo for suspected endocarditis. What medicines, supplements, infusions, and intermittent drugs have you taken? Which started before fever, and which were added afterward? Drug fever or a systemic drug reaction. Recently added antibiotics may perpetuate fever. Review dates, rash, eosinophils, renal/liver injury. Withdraw a suspected offending drug that can be safely stopped safely; use a formal drug-reaction evaluation for organ injury. Any operations, dental infection, implanted valve/device, vascular graft, orthopedic hardware, or recent procedure? Endocarditis, device infection, or a deep postoperative focus. Cultures and targeted echo/imaging. Hardware is a risk modifier; it does not prove the source. Any steroids, biologics, cancer therapy, transplant, splenectomy, or immune disorder? Changes both the differential and urgency. Substantial immunosuppression falls outside the classic immunocompetent FUO pathway. Use the host-specific evaluation; review actual agent, dose, timing, prophylaxis, and immune recovery. History and examination beyond exposures Ask about new headache, jaw fatigue or visual symptoms; back or focal bone pain; joint swelling or morning stiffness; transient rash; oral ulcers; pleuritic pain; diarrhea or blood in stool; weight loss; and symptom-free intervals. Examine the mouth, skin, nails, nodes, heart, abdomen/spleen, spine, joints, wounds, and device sites. Repeat the examination when new symptoms emerge. Select tests based on the exposure, timing, immune status, and clinical findings. Sources CDC Q fever testing · CDC brucellosis overview · CDC ehrlichiosis testing · CDC tularemia testing · CDC leptospirosis overview · CDC histoplasmosis testing · CDC Bartonella quintana overview · CDC malaria diagnosis · CDC HIV testing guidance Resident core</a:t>
            </a:r>
          </a:p>
          <a:p xmlns:a="http://schemas.openxmlformats.org/drawingml/2006/main">
            <a:r>
              <a:t/>
            </a:r>
          </a:p>
          <a:p xmlns:a="http://schemas.openxmlformats.org/drawingml/2006/main">
            <a:r>
              <a:t>Module section: https://docarcshot.github.io/id-practice-update/lectures/Fever_of_Unknown_Origin_Resident_Fellow_Module.html#clues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History and examination Ask where the patient has lived and traveled, what they did there, and when. Clarify animal contact and work or recreational exposures. Ask whether others became ill. Take the sexual and substance-use history privately. Social and exposure history Ask the patient What it raises Testing when the syndrome fits Where have you lived and traveled, including earlier in life? When did you return? Rural or urban? What did you do there? Malaria, TB, endemic fungi, and geographically restricted infections. Country alone is insufficient. Urgent thick/thin smears for possible malaria; repeat every 12–24 hours for three sets if suspicion persists. Select other tests by itinerary and syndrome. Any TB contacts? Prior TB treatment? Time in shelters, correctional facilities, or other crowded settings? Pulmonary or extrapulmonary TB. Remote exposure may matter. IGRA/TST is baseline infection testing. Suspected active disease requires site-specific imaging and microbiology; a negative IGRA does not exclude it. Do you handle cattle, sheep, goats, or animal placentas? Help with births? Work in veterinary care, farming, meat processing, or a laboratory? Q fever and brucellosis, especially with hepatitis, endocarditis, or persistent systemic illness. Coxiella serology, with PCR useful early in acute illness; Brucella cultures/serology with laboratory notification. Exposure alone does not establish either diagnosis. Raw milk or unpasteurized cheese, including products brought from abroad? Wild-hog hunting or butchering? Veterinary vaccine needle sticks? Brucellosis; route helps identify species and assay limitations. Alert the laboratory before cultures. Standard serology does not detect B. canis or RB51 infection; discuss testing with microbiology/public health. Cats or kittens? Scratches or flea infestation? Body lice? Access to showers and clean clothing? B. henselae with adenopathy or hepatosplenic disease; B. quintana with lice exposure and culture-negative endocarditis. Bartonella serology and selected PCR when indicated. Persistent antibodies and cross-reactivity complicate interpretation. Ticks, hiking, gardening, hunting, brush clearing, or camping? Where and when? Any skin ulcer or enlarged node? Ehrlichiosis and other tickborne infections; tularemia with compatible ulcer/nodal or pulmonary disease. Many present acutely rather than as classic FUO. Ehrlichia blood PCR early; paired serology when appropriate. Tularemia serology/PCR or culture with laboratory warning. Do not delay treatment of convincing acute rickettsial illness for results. Caves, bat or bird droppings, demolition, chicken coops, soil disturbance, or dusty travel in the Southwest? Histoplasmosis or other endemic mycoses, depending on location, host, and organ involvement. Histoplasma urine/serum antigen for compatible illness; add antibody or tissue testing as indicated. Histoplasma and Blastomyces antigen cross-reactivity limits species attribution. Floodwater, freshwater swimming, rodent infestation, sewage, or animal urine exposure? Leptospirosis, especially with renal injury, hepatitis, or meningitis. PCR and serology selected by illness timing and available specimen. Exposure without a compatible syndrome is insufficient. New sexual partners or recent condomless exposure? Injected drugs, shared equipment, or nonmedical injections? Acute HIV and other exposure-associated infections; injection-related bacteremia/endocarditis. HIV Ag/Ab, adding RNA if acute HIV remains plausible despite negative/indeterminate screening. STI/hepatitis testing by exposure and syndrome; cultures and echo for suspected endocarditis. What medicines, supplements, infusions, and intermittent drugs have you taken? Which started before fever, and which were added afterward? Drug fever or a systemic drug reaction. Recently added antibiotics may perpetuate fever. Review dates, rash, eosinophils, renal/liver injury. Withdraw a suspected offending drug that can be safely stopped safely; use a formal drug-reaction evaluation for organ injury. Any operations, dental infection, implanted valve/device, vascular graft, orthopedic hardware, or recent procedure? Endocarditis, device infection, or a deep postoperative focus. Cultures and targeted echo/imaging. Hardware is a risk modifier; it does not prove the source. Any steroids, biologics, cancer therapy, transplant, splenectomy, or immune disorder? Changes both the differential and urgency. Substantial immunosuppression falls outside the classic immunocompetent FUO pathway. Use the host-specific evaluation; review actual agent, dose, timing, prophylaxis, and immune recovery. History and examination beyond exposures Ask about new headache, jaw fatigue or visual symptoms; back or focal bone pain; joint swelling or morning stiffness; transient rash; oral ulcers; pleuritic pain; diarrhea or blood in stool; weight loss; and symptom-free intervals. Examine the mouth, skin, nails, nodes, heart, abdomen/spleen, spine, joints, wounds, and device sites. Repeat the examination when new symptoms emerge. Select tests based on the exposure, timing, immune status, and clinical findings. Sources CDC Q fever testing · CDC brucellosis overview · CDC ehrlichiosis testing · CDC tularemia testing · CDC leptospirosis overview · CDC histoplasmosis testing · CDC Bartonella quintana overview · CDC malaria diagnosis · CDC HIV testing guidance Resident core</a:t>
            </a:r>
          </a:p>
          <a:p xmlns:a="http://schemas.openxmlformats.org/drawingml/2006/main">
            <a:r>
              <a:t/>
            </a:r>
          </a:p>
          <a:p xmlns:a="http://schemas.openxmlformats.org/drawingml/2006/main">
            <a:r>
              <a:t>Module section: https://docarcshot.github.io/id-practice-update/lectures/Fever_of_Unknown_Origin_Resident_Fellow_Module.html#clues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History and examination Ask where the patient has lived and traveled, what they did there, and when. Clarify animal contact and work or recreational exposures. Ask whether others became ill. Take the sexual and substance-use history privately. Social and exposure history Ask the patient What it raises Testing when the syndrome fits Where have you lived and traveled, including earlier in life? When did you return? Rural or urban? What did you do there? Malaria, TB, endemic fungi, and geographically restricted infections. Country alone is insufficient. Urgent thick/thin smears for possible malaria; repeat every 12–24 hours for three sets if suspicion persists. Select other tests by itinerary and syndrome. Any TB contacts? Prior TB treatment? Time in shelters, correctional facilities, or other crowded settings? Pulmonary or extrapulmonary TB. Remote exposure may matter. IGRA/TST is baseline infection testing. Suspected active disease requires site-specific imaging and microbiology; a negative IGRA does not exclude it. Do you handle cattle, sheep, goats, or animal placentas? Help with births? Work in veterinary care, farming, meat processing, or a laboratory? Q fever and brucellosis, especially with hepatitis, endocarditis, or persistent systemic illness. Coxiella serology, with PCR useful early in acute illness; Brucella cultures/serology with laboratory notification. Exposure alone does not establish either diagnosis. Raw milk or unpasteurized cheese, including products brought from abroad? Wild-hog hunting or butchering? Veterinary vaccine needle sticks? Brucellosis; route helps identify species and assay limitations. Alert the laboratory before cultures. Standard serology does not detect B. canis or RB51 infection; discuss testing with microbiology/public health. Cats or kittens? Scratches or flea infestation? Body lice? Access to showers and clean clothing? B. henselae with adenopathy or hepatosplenic disease; B. quintana with lice exposure and culture-negative endocarditis. Bartonella serology and selected PCR when indicated. Persistent antibodies and cross-reactivity complicate interpretation. Ticks, hiking, gardening, hunting, brush clearing, or camping? Where and when? Any skin ulcer or enlarged node? Ehrlichiosis and other tickborne infections; tularemia with compatible ulcer/nodal or pulmonary disease. Many present acutely rather than as classic FUO. Ehrlichia blood PCR early; paired serology when appropriate. Tularemia serology/PCR or culture with laboratory warning. Do not delay treatment of convincing acute rickettsial illness for results. Caves, bat or bird droppings, demolition, chicken coops, soil disturbance, or dusty travel in the Southwest? Histoplasmosis or other endemic mycoses, depending on location, host, and organ involvement. Histoplasma urine/serum antigen for compatible illness; add antibody or tissue testing as indicated. Histoplasma and Blastomyces antigen cross-reactivity limits species attribution. Floodwater, freshwater swimming, rodent infestation, sewage, or animal urine exposure? Leptospirosis, especially with renal injury, hepatitis, or meningitis. PCR and serology selected by illness timing and available specimen. Exposure without a compatible syndrome is insufficient. New sexual partners or recent condomless exposure? Injected drugs, shared equipment, or nonmedical injections? Acute HIV and other exposure-associated infections; injection-related bacteremia/endocarditis. HIV Ag/Ab, adding RNA if acute HIV remains plausible despite negative/indeterminate screening. STI/hepatitis testing by exposure and syndrome; cultures and echo for suspected endocarditis. What medicines, supplements, infusions, and intermittent drugs have you taken? Which started before fever, and which were added afterward? Drug fever or a systemic drug reaction. Recently added antibiotics may perpetuate fever. Review dates, rash, eosinophils, renal/liver injury. Withdraw a suspected offending drug that can be safely stopped safely; use a formal drug-reaction evaluation for organ injury. Any operations, dental infection, implanted valve/device, vascular graft, orthopedic hardware, or recent procedure? Endocarditis, device infection, or a deep postoperative focus. Cultures and targeted echo/imaging. Hardware is a risk modifier; it does not prove the source. Any steroids, biologics, cancer therapy, transplant, splenectomy, or immune disorder? Changes both the differential and urgency. Substantial immunosuppression falls outside the classic immunocompetent FUO pathway. Use the host-specific evaluation; review actual agent, dose, timing, prophylaxis, and immune recovery. History and examination beyond exposures Ask about new headache, jaw fatigue or visual symptoms; back or focal bone pain; joint swelling or morning stiffness; transient rash; oral ulcers; pleuritic pain; diarrhea or blood in stool; weight loss; and symptom-free intervals. Examine the mouth, skin, nails, nodes, heart, abdomen/spleen, spine, joints, wounds, and device sites. Repeat the examination when new symptoms emerge. Select tests based on the exposure, timing, immune status, and clinical findings. Sources CDC Q fever testing · CDC brucellosis overview · CDC ehrlichiosis testing · CDC tularemia testing · CDC leptospirosis overview · CDC histoplasmosis testing · CDC Bartonella quintana overview · CDC malaria diagnosis · CDC HIV testing guidance Resident core</a:t>
            </a:r>
          </a:p>
          <a:p xmlns:a="http://schemas.openxmlformats.org/drawingml/2006/main">
            <a:r>
              <a:t/>
            </a:r>
          </a:p>
          <a:p xmlns:a="http://schemas.openxmlformats.org/drawingml/2006/main">
            <a:r>
              <a:t>Module section: https://docarcshot.github.io/id-practice-update/lectures/Fever_of_Unknown_Origin_Resident_Fellow_Module.html#clues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History and examination Ask where the patient has lived and traveled, what they did there, and when. Clarify animal contact and work or recreational exposures. Ask whether others became ill. Take the sexual and substance-use history privately. Social and exposure history Ask the patient What it raises Testing when the syndrome fits Where have you lived and traveled, including earlier in life? When did you return? Rural or urban? What did you do there? Malaria, TB, endemic fungi, and geographically restricted infections. Country alone is insufficient. Urgent thick/thin smears for possible malaria; repeat every 12–24 hours for three sets if suspicion persists. Select other tests by itinerary and syndrome. Any TB contacts? Prior TB treatment? Time in shelters, correctional facilities, or other crowded settings? Pulmonary or extrapulmonary TB. Remote exposure may matter. IGRA/TST is baseline infection testing. Suspected active disease requires site-specific imaging and microbiology; a negative IGRA does not exclude it. Do you handle cattle, sheep, goats, or animal placentas? Help with births? Work in veterinary care, farming, meat processing, or a laboratory? Q fever and brucellosis, especially with hepatitis, endocarditis, or persistent systemic illness. Coxiella serology, with PCR useful early in acute illness; Brucella cultures/serology with laboratory notification. Exposure alone does not establish either diagnosis. Raw milk or unpasteurized cheese, including products brought from abroad? Wild-hog hunting or butchering? Veterinary vaccine needle sticks? Brucellosis; route helps identify species and assay limitations. Alert the laboratory before cultures. Standard serology does not detect B. canis or RB51 infection; discuss testing with microbiology/public health. Cats or kittens? Scratches or flea infestation? Body lice? Access to showers and clean clothing? B. henselae with adenopathy or hepatosplenic disease; B. quintana with lice exposure and culture-negative endocarditis. Bartonella serology and selected PCR when indicated. Persistent antibodies and cross-reactivity complicate interpretation. Ticks, hiking, gardening, hunting, brush clearing, or camping? Where and when? Any skin ulcer or enlarged node? Ehrlichiosis and other tickborne infections; tularemia with compatible ulcer/nodal or pulmonary disease. Many present acutely rather than as classic FUO. Ehrlichia blood PCR early; paired serology when appropriate. Tularemia serology/PCR or culture with laboratory warning. Do not delay treatment of convincing acute rickettsial illness for results. Caves, bat or bird droppings, demolition, chicken coops, soil disturbance, or dusty travel in the Southwest? Histoplasmosis or other endemic mycoses, depending on location, host, and organ involvement. Histoplasma urine/serum antigen for compatible illness; add antibody or tissue testing as indicated. Histoplasma and Blastomyces antigen cross-reactivity limits species attribution. Floodwater, freshwater swimming, rodent infestation, sewage, or animal urine exposure? Leptospirosis, especially with renal injury, hepatitis, or meningitis. PCR and serology selected by illness timing and available specimen. Exposure without a compatible syndrome is insufficient. New sexual partners or recent condomless exposure? Injected drugs, shared equipment, or nonmedical injections? Acute HIV and other exposure-associated infections; injection-related bacteremia/endocarditis. HIV Ag/Ab, adding RNA if acute HIV remains plausible despite negative/indeterminate screening. STI/hepatitis testing by exposure and syndrome; cultures and echo for suspected endocarditis. What medicines, supplements, infusions, and intermittent drugs have you taken? Which started before fever, and which were added afterward? Drug fever or a systemic drug reaction. Recently added antibiotics may perpetuate fever. Review dates, rash, eosinophils, renal/liver injury. Withdraw a suspected offending drug that can be safely stopped safely; use a formal drug-reaction evaluation for organ injury. Any operations, dental infection, implanted valve/device, vascular graft, orthopedic hardware, or recent procedure? Endocarditis, device infection, or a deep postoperative focus. Cultures and targeted echo/imaging. Hardware is a risk modifier; it does not prove the source. Any steroids, biologics, cancer therapy, transplant, splenectomy, or immune disorder? Changes both the differential and urgency. Substantial immunosuppression falls outside the classic immunocompetent FUO pathway. Use the host-specific evaluation; review actual agent, dose, timing, prophylaxis, and immune recovery. History and examination beyond exposures Ask about new headache, jaw fatigue or visual symptoms; back or focal bone pain; joint swelling or morning stiffness; transient rash; oral ulcers; pleuritic pain; diarrhea or blood in stool; weight loss; and symptom-free intervals. Examine the mouth, skin, nails, nodes, heart, abdomen/spleen, spine, joints, wounds, and device sites. Repeat the examination when new symptoms emerge. Select tests based on the exposure, timing, immune status, and clinical findings. Sources CDC Q fever testing · CDC brucellosis overview · CDC ehrlichiosis testing · CDC tularemia testing · CDC leptospirosis overview · CDC histoplasmosis testing · CDC Bartonella quintana overview · CDC malaria diagnosis · CDC HIV testing guidance Resident core</a:t>
            </a:r>
          </a:p>
          <a:p xmlns:a="http://schemas.openxmlformats.org/drawingml/2006/main">
            <a:r>
              <a:t/>
            </a:r>
          </a:p>
          <a:p xmlns:a="http://schemas.openxmlformats.org/drawingml/2006/main">
            <a:r>
              <a:t>Module section: https://docarcshot.github.io/id-practice-update/lectures/Fever_of_Unknown_Origin_Resident_Fellow_Module.html#clues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History and examination Ask where the patient has lived and traveled, what they did there, and when. Clarify animal contact and work or recreational exposures. Ask whether others became ill. Take the sexual and substance-use history privately. Social and exposure history Ask the patient What it raises Testing when the syndrome fits Where have you lived and traveled, including earlier in life? When did you return? Rural or urban? What did you do there? Malaria, TB, endemic fungi, and geographically restricted infections. Country alone is insufficient. Urgent thick/thin smears for possible malaria; repeat every 12–24 hours for three sets if suspicion persists. Select other tests by itinerary and syndrome. Any TB contacts? Prior TB treatment? Time in shelters, correctional facilities, or other crowded settings? Pulmonary or extrapulmonary TB. Remote exposure may matter. IGRA/TST is baseline infection testing. Suspected active disease requires site-specific imaging and microbiology; a negative IGRA does not exclude it. Do you handle cattle, sheep, goats, or animal placentas? Help with births? Work in veterinary care, farming, meat processing, or a laboratory? Q fever and brucellosis, especially with hepatitis, endocarditis, or persistent systemic illness. Coxiella serology, with PCR useful early in acute illness; Brucella cultures/serology with laboratory notification. Exposure alone does not establish either diagnosis. Raw milk or unpasteurized cheese, including products brought from abroad? Wild-hog hunting or butchering? Veterinary vaccine needle sticks? Brucellosis; route helps identify species and assay limitations. Alert the laboratory before cultures. Standard serology does not detect B. canis or RB51 infection; discuss testing with microbiology/public health. Cats or kittens? Scratches or flea infestation? Body lice? Access to showers and clean clothing? B. henselae with adenopathy or hepatosplenic disease; B. quintana with lice exposure and culture-negative endocarditis. Bartonella serology and selected PCR when indicated. Persistent antibodies and cross-reactivity complicate interpretation. Ticks, hiking, gardening, hunting, brush clearing, or camping? Where and when? Any skin ulcer or enlarged node? Ehrlichiosis and other tickborne infections; tularemia with compatible ulcer/nodal or pulmonary disease. Many present acutely rather than as classic FUO. Ehrlichia blood PCR early; paired serology when appropriate. Tularemia serology/PCR or culture with laboratory warning. Do not delay treatment of convincing acute rickettsial illness for results. Caves, bat or bird droppings, demolition, chicken coops, soil disturbance, or dusty travel in the Southwest? Histoplasmosis or other endemic mycoses, depending on location, host, and organ involvement. Histoplasma urine/serum antigen for compatible illness; add antibody or tissue testing as indicated. Histoplasma and Blastomyces antigen cross-reactivity limits species attribution. Floodwater, freshwater swimming, rodent infestation, sewage, or animal urine exposure? Leptospirosis, especially with renal injury, hepatitis, or meningitis. PCR and serology selected by illness timing and available specimen. Exposure without a compatible syndrome is insufficient. New sexual partners or recent condomless exposure? Injected drugs, shared equipment, or nonmedical injections? Acute HIV and other exposure-associated infections; injection-related bacteremia/endocarditis. HIV Ag/Ab, adding RNA if acute HIV remains plausible despite negative/indeterminate screening. STI/hepatitis testing by exposure and syndrome; cultures and echo for suspected endocarditis. What medicines, supplements, infusions, and intermittent drugs have you taken? Which started before fever, and which were added afterward? Drug fever or a systemic drug reaction. Recently added antibiotics may perpetuate fever. Review dates, rash, eosinophils, renal/liver injury. Withdraw a suspected offending drug that can be safely stopped safely; use a formal drug-reaction evaluation for organ injury. Any operations, dental infection, implanted valve/device, vascular graft, orthopedic hardware, or recent procedure? Endocarditis, device infection, or a deep postoperative focus. Cultures and targeted echo/imaging. Hardware is a risk modifier; it does not prove the source. Any steroids, biologics, cancer therapy, transplant, splenectomy, or immune disorder? Changes both the differential and urgency. Substantial immunosuppression falls outside the classic immunocompetent FUO pathway. Use the host-specific evaluation; review actual agent, dose, timing, prophylaxis, and immune recovery. History and examination beyond exposures Ask about new headache, jaw fatigue or visual symptoms; back or focal bone pain; joint swelling or morning stiffness; transient rash; oral ulcers; pleuritic pain; diarrhea or blood in stool; weight loss; and symptom-free intervals. Examine the mouth, skin, nails, nodes, heart, abdomen/spleen, spine, joints, wounds, and device sites. Repeat the examination when new symptoms emerge. Select tests based on the exposure, timing, immune status, and clinical findings. Sources CDC Q fever testing · CDC brucellosis overview · CDC ehrlichiosis testing · CDC tularemia testing · CDC leptospirosis overview · CDC histoplasmosis testing · CDC Bartonella quintana overview · CDC malaria diagnosis · CDC HIV testing guidance Resident core</a:t>
            </a:r>
          </a:p>
          <a:p xmlns:a="http://schemas.openxmlformats.org/drawingml/2006/main">
            <a:r>
              <a:t/>
            </a:r>
          </a:p>
          <a:p xmlns:a="http://schemas.openxmlformats.org/drawingml/2006/main">
            <a:r>
              <a:t>Module section: https://docarcshot.github.io/id-practice-update/lectures/Fever_of_Unknown_Origin_Resident_Fellow_Module.html#clues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History and examination Ask where the patient has lived and traveled, what they did there, and when. Clarify animal contact and work or recreational exposures. Ask whether others became ill. Take the sexual and substance-use history privately. Social and exposure history Ask the patient What it raises Testing when the syndrome fits Where have you lived and traveled, including earlier in life? When did you return? Rural or urban? What did you do there? Malaria, TB, endemic fungi, and geographically restricted infections. Country alone is insufficient. Urgent thick/thin smears for possible malaria; repeat every 12–24 hours for three sets if suspicion persists. Select other tests by itinerary and syndrome. Any TB contacts? Prior TB treatment? Time in shelters, correctional facilities, or other crowded settings? Pulmonary or extrapulmonary TB. Remote exposure may matter. IGRA/TST is baseline infection testing. Suspected active disease requires site-specific imaging and microbiology; a negative IGRA does not exclude it. Do you handle cattle, sheep, goats, or animal placentas? Help with births? Work in veterinary care, farming, meat processing, or a laboratory? Q fever and brucellosis, especially with hepatitis, endocarditis, or persistent systemic illness. Coxiella serology, with PCR useful early in acute illness; Brucella cultures/serology with laboratory notification. Exposure alone does not establish either diagnosis. Raw milk or unpasteurized cheese, including products brought from abroad? Wild-hog hunting or butchering? Veterinary vaccine needle sticks? Brucellosis; route helps identify species and assay limitations. Alert the laboratory before cultures. Standard serology does not detect B. canis or RB51 infection; discuss testing with microbiology/public health. Cats or kittens? Scratches or flea infestation? Body lice? Access to showers and clean clothing? B. henselae with adenopathy or hepatosplenic disease; B. quintana with lice exposure and culture-negative endocarditis. Bartonella serology and selected PCR when indicated. Persistent antibodies and cross-reactivity complicate interpretation. Ticks, hiking, gardening, hunting, brush clearing, or camping? Where and when? Any skin ulcer or enlarged node? Ehrlichiosis and other tickborne infections; tularemia with compatible ulcer/nodal or pulmonary disease. Many present acutely rather than as classic FUO. Ehrlichia blood PCR early; paired serology when appropriate. Tularemia serology/PCR or culture with laboratory warning. Do not delay treatment of convincing acute rickettsial illness for results. Caves, bat or bird droppings, demolition, chicken coops, soil disturbance, or dusty travel in the Southwest? Histoplasmosis or other endemic mycoses, depending on location, host, and organ involvement. Histoplasma urine/serum antigen for compatible illness; add antibody or tissue testing as indicated. Histoplasma and Blastomyces antigen cross-reactivity limits species attribution. Floodwater, freshwater swimming, rodent infestation, sewage, or animal urine exposure? Leptospirosis, especially with renal injury, hepatitis, or meningitis. PCR and serology selected by illness timing and available specimen. Exposure without a compatible syndrome is insufficient. New sexual partners or recent condomless exposure? Injected drugs, shared equipment, or nonmedical injections? Acute HIV and other exposure-associated infections; injection-related bacteremia/endocarditis. HIV Ag/Ab, adding RNA if acute HIV remains plausible despite negative/indeterminate screening. STI/hepatitis testing by exposure and syndrome; cultures and echo for suspected endocarditis. What medicines, supplements, infusions, and intermittent drugs have you taken? Which started before fever, and which were added afterward? Drug fever or a systemic drug reaction. Recently added antibiotics may perpetuate fever. Review dates, rash, eosinophils, renal/liver injury. Withdraw a suspected offending drug that can be safely stopped safely; use a formal drug-reaction evaluation for organ injury. Any operations, dental infection, implanted valve/device, vascular graft, orthopedic hardware, or recent procedure? Endocarditis, device infection, or a deep postoperative focus. Cultures and targeted echo/imaging. Hardware is a risk modifier; it does not prove the source. Any steroids, biologics, cancer therapy, transplant, splenectomy, or immune disorder? Changes both the differential and urgency. Substantial immunosuppression falls outside the classic immunocompetent FUO pathway. Use the host-specific evaluation; review actual agent, dose, timing, prophylaxis, and immune recovery. History and examination beyond exposures Ask about new headache, jaw fatigue or visual symptoms; back or focal bone pain; joint swelling or morning stiffness; transient rash; oral ulcers; pleuritic pain; diarrhea or blood in stool; weight loss; and symptom-free intervals. Examine the mouth, skin, nails, nodes, heart, abdomen/spleen, spine, joints, wounds, and device sites. Repeat the examination when new symptoms emerge. Select tests based on the exposure, timing, immune status, and clinical findings. Sources CDC Q fever testing · CDC brucellosis overview · CDC ehrlichiosis testing · CDC tularemia testing · CDC leptospirosis overview · CDC histoplasmosis testing · CDC Bartonella quintana overview · CDC malaria diagnosis · CDC HIV testing guidance Resident core</a:t>
            </a:r>
          </a:p>
          <a:p xmlns:a="http://schemas.openxmlformats.org/drawingml/2006/main">
            <a:r>
              <a:t/>
            </a:r>
          </a:p>
          <a:p xmlns:a="http://schemas.openxmlformats.org/drawingml/2006/main">
            <a:r>
              <a:t>Module section: https://docarcshot.github.io/id-practice-update/lectures/Fever_of_Unknown_Origin_Resident_Fellow_Module.html#clues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History and examination Ask where the patient has lived and traveled, what they did there, and when. Clarify animal contact and work or recreational exposures. Ask whether others became ill. Take the sexual and substance-use history privately. Social and exposure history Ask the patient What it raises Testing when the syndrome fits Where have you lived and traveled, including earlier in life? When did you return? Rural or urban? What did you do there? Malaria, TB, endemic fungi, and geographically restricted infections. Country alone is insufficient. Urgent thick/thin smears for possible malaria; repeat every 12–24 hours for three sets if suspicion persists. Select other tests by itinerary and syndrome. Any TB contacts? Prior TB treatment? Time in shelters, correctional facilities, or other crowded settings? Pulmonary or extrapulmonary TB. Remote exposure may matter. IGRA/TST is baseline infection testing. Suspected active disease requires site-specific imaging and microbiology; a negative IGRA does not exclude it. Do you handle cattle, sheep, goats, or animal placentas? Help with births? Work in veterinary care, farming, meat processing, or a laboratory? Q fever and brucellosis, especially with hepatitis, endocarditis, or persistent systemic illness. Coxiella serology, with PCR useful early in acute illness; Brucella cultures/serology with laboratory notification. Exposure alone does not establish either diagnosis. Raw milk or unpasteurized cheese, including products brought from abroad? Wild-hog hunting or butchering? Veterinary vaccine needle sticks? Brucellosis; route helps identify species and assay limitations. Alert the laboratory before cultures. Standard serology does not detect B. canis or RB51 infection; discuss testing with microbiology/public health. Cats or kittens? Scratches or flea infestation? Body lice? Access to showers and clean clothing? B. henselae with adenopathy or hepatosplenic disease; B. quintana with lice exposure and culture-negative endocarditis. Bartonella serology and selected PCR when indicated. Persistent antibodies and cross-reactivity complicate interpretation. Ticks, hiking, gardening, hunting, brush clearing, or camping? Where and when? Any skin ulcer or enlarged node? Ehrlichiosis and other tickborne infections; tularemia with compatible ulcer/nodal or pulmonary disease. Many present acutely rather than as classic FUO. Ehrlichia blood PCR early; paired serology when appropriate. Tularemia serology/PCR or culture with laboratory warning. Do not delay treatment of convincing acute rickettsial illness for results. Caves, bat or bird droppings, demolition, chicken coops, soil disturbance, or dusty travel in the Southwest? Histoplasmosis or other endemic mycoses, depending on location, host, and organ involvement. Histoplasma urine/serum antigen for compatible illness; add antibody or tissue testing as indicated. Histoplasma and Blastomyces antigen cross-reactivity limits species attribution. Floodwater, freshwater swimming, rodent infestation, sewage, or animal urine exposure? Leptospirosis, especially with renal injury, hepatitis, or meningitis. PCR and serology selected by illness timing and available specimen. Exposure without a compatible syndrome is insufficient. New sexual partners or recent condomless exposure? Injected drugs, shared equipment, or nonmedical injections? Acute HIV and other exposure-associated infections; injection-related bacteremia/endocarditis. HIV Ag/Ab, adding RNA if acute HIV remains plausible despite negative/indeterminate screening. STI/hepatitis testing by exposure and syndrome; cultures and echo for suspected endocarditis. What medicines, supplements, infusions, and intermittent drugs have you taken? Which started before fever, and which were added afterward? Drug fever or a systemic drug reaction. Recently added antibiotics may perpetuate fever. Review dates, rash, eosinophils, renal/liver injury. Withdraw a suspected offending drug that can be safely stopped safely; use a formal drug-reaction evaluation for organ injury. Any operations, dental infection, implanted valve/device, vascular graft, orthopedic hardware, or recent procedure? Endocarditis, device infection, or a deep postoperative focus. Cultures and targeted echo/imaging. Hardware is a risk modifier; it does not prove the source. Any steroids, biologics, cancer therapy, transplant, splenectomy, or immune disorder? Changes both the differential and urgency. Substantial immunosuppression falls outside the classic immunocompetent FUO pathway. Use the host-specific evaluation; review actual agent, dose, timing, prophylaxis, and immune recovery. History and examination beyond exposures Ask about new headache, jaw fatigue or visual symptoms; back or focal bone pain; joint swelling or morning stiffness; transient rash; oral ulcers; pleuritic pain; diarrhea or blood in stool; weight loss; and symptom-free intervals. Examine the mouth, skin, nails, nodes, heart, abdomen/spleen, spine, joints, wounds, and device sites. Repeat the examination when new symptoms emerge. Select tests based on the exposure, timing, immune status, and clinical findings. Sources CDC Q fever testing · CDC brucellosis overview · CDC ehrlichiosis testing · CDC tularemia testing · CDC leptospirosis overview · CDC histoplasmosis testing · CDC Bartonella quintana overview · CDC malaria diagnosis · CDC HIV testing guidance Resident core</a:t>
            </a:r>
          </a:p>
          <a:p xmlns:a="http://schemas.openxmlformats.org/drawingml/2006/main">
            <a:r>
              <a:t/>
            </a:r>
          </a:p>
          <a:p xmlns:a="http://schemas.openxmlformats.org/drawingml/2006/main">
            <a:r>
              <a:t>Module section: https://docarcshot.github.io/id-practice-update/lectures/Fever_of_Unknown_Origin_Resident_Fellow_Module.html#clues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History and examination Ask where the patient has lived and traveled, what they did there, and when. Clarify animal contact and work or recreational exposures. Ask whether others became ill. Take the sexual and substance-use history privately. Social and exposure history Ask the patient What it raises Testing when the syndrome fits Where have you lived and traveled, including earlier in life? When did you return? Rural or urban? What did you do there? Malaria, TB, endemic fungi, and geographically restricted infections. Country alone is insufficient. Urgent thick/thin smears for possible malaria; repeat every 12–24 hours for three sets if suspicion persists. Select other tests by itinerary and syndrome. Any TB contacts? Prior TB treatment? Time in shelters, correctional facilities, or other crowded settings? Pulmonary or extrapulmonary TB. Remote exposure may matter. IGRA/TST is baseline infection testing. Suspected active disease requires site-specific imaging and microbiology; a negative IGRA does not exclude it. Do you handle cattle, sheep, goats, or animal placentas? Help with births? Work in veterinary care, farming, meat processing, or a laboratory? Q fever and brucellosis, especially with hepatitis, endocarditis, or persistent systemic illness. Coxiella serology, with PCR useful early in acute illness; Brucella cultures/serology with laboratory notification. Exposure alone does not establish either diagnosis. Raw milk or unpasteurized cheese, including products brought from abroad? Wild-hog hunting or butchering? Veterinary vaccine needle sticks? Brucellosis; route helps identify species and assay limitations. Alert the laboratory before cultures. Standard serology does not detect B. canis or RB51 infection; discuss testing with microbiology/public health. Cats or kittens? Scratches or flea infestation? Body lice? Access to showers and clean clothing? B. henselae with adenopathy or hepatosplenic disease; B. quintana with lice exposure and culture-negative endocarditis. Bartonella serology and selected PCR when indicated. Persistent antibodies and cross-reactivity complicate interpretation. Ticks, hiking, gardening, hunting, brush clearing, or camping? Where and when? Any skin ulcer or enlarged node? Ehrlichiosis and other tickborne infections; tularemia with compatible ulcer/nodal or pulmonary disease. Many present acutely rather than as classic FUO. Ehrlichia blood PCR early; paired serology when appropriate. Tularemia serology/PCR or culture with laboratory warning. Do not delay treatment of convincing acute rickettsial illness for results. Caves, bat or bird droppings, demolition, chicken coops, soil disturbance, or dusty travel in the Southwest? Histoplasmosis or other endemic mycoses, depending on location, host, and organ involvement. Histoplasma urine/serum antigen for compatible illness; add antibody or tissue testing as indicated. Histoplasma and Blastomyces antigen cross-reactivity limits species attribution. Floodwater, freshwater swimming, rodent infestation, sewage, or animal urine exposure? Leptospirosis, especially with renal injury, hepatitis, or meningitis. PCR and serology selected by illness timing and available specimen. Exposure without a compatible syndrome is insufficient. New sexual partners or recent condomless exposure? Injected drugs, shared equipment, or nonmedical injections? Acute HIV and other exposure-associated infections; injection-related bacteremia/endocarditis. HIV Ag/Ab, adding RNA if acute HIV remains plausible despite negative/indeterminate screening. STI/hepatitis testing by exposure and syndrome; cultures and echo for suspected endocarditis. What medicines, supplements, infusions, and intermittent drugs have you taken? Which started before fever, and which were added afterward? Drug fever or a systemic drug reaction. Recently added antibiotics may perpetuate fever. Review dates, rash, eosinophils, renal/liver injury. Withdraw a suspected offending drug that can be safely stopped safely; use a formal drug-reaction evaluation for organ injury. Any operations, dental infection, implanted valve/device, vascular graft, orthopedic hardware, or recent procedure? Endocarditis, device infection, or a deep postoperative focus. Cultures and targeted echo/imaging. Hardware is a risk modifier; it does not prove the source. Any steroids, biologics, cancer therapy, transplant, splenectomy, or immune disorder? Changes both the differential and urgency. Substantial immunosuppression falls outside the classic immunocompetent FUO pathway. Use the host-specific evaluation; review actual agent, dose, timing, prophylaxis, and immune recovery. History and examination beyond exposures Ask about new headache, jaw fatigue or visual symptoms; back or focal bone pain; joint swelling or morning stiffness; transient rash; oral ulcers; pleuritic pain; diarrhea or blood in stool; weight loss; and symptom-free intervals. Examine the mouth, skin, nails, nodes, heart, abdomen/spleen, spine, joints, wounds, and device sites. Repeat the examination when new symptoms emerge. Select tests based on the exposure, timing, immune status, and clinical findings. Sources CDC Q fever testing · CDC brucellosis overview · CDC ehrlichiosis testing · CDC tularemia testing · CDC leptospirosis overview · CDC histoplasmosis testing · CDC Bartonella quintana overview · CDC malaria diagnosis · CDC HIV testing guidance Resident core</a:t>
            </a:r>
          </a:p>
          <a:p xmlns:a="http://schemas.openxmlformats.org/drawingml/2006/main">
            <a:r>
              <a:t/>
            </a:r>
          </a:p>
          <a:p xmlns:a="http://schemas.openxmlformats.org/drawingml/2006/main">
            <a:r>
              <a:t>Module section: https://docarcshot.github.io/id-practice-update/lectures/Fever_of_Unknown_Origin_Resident_Fellow_Module.html#clues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History and examination Ask where the patient has lived and traveled, what they did there, and when. Clarify animal contact and work or recreational exposures. Ask whether others became ill. Take the sexual and substance-use history privately. Social and exposure history Ask the patient What it raises Testing when the syndrome fits Where have you lived and traveled, including earlier in life? When did you return? Rural or urban? What did you do there? Malaria, TB, endemic fungi, and geographically restricted infections. Country alone is insufficient. Urgent thick/thin smears for possible malaria; repeat every 12–24 hours for three sets if suspicion persists. Select other tests by itinerary and syndrome. Any TB contacts? Prior TB treatment? Time in shelters, correctional facilities, or other crowded settings? Pulmonary or extrapulmonary TB. Remote exposure may matter. IGRA/TST is baseline infection testing. Suspected active disease requires site-specific imaging and microbiology; a negative IGRA does not exclude it. Do you handle cattle, sheep, goats, or animal placentas? Help with births? Work in veterinary care, farming, meat processing, or a laboratory? Q fever and brucellosis, especially with hepatitis, endocarditis, or persistent systemic illness. Coxiella serology, with PCR useful early in acute illness; Brucella cultures/serology with laboratory notification. Exposure alone does not establish either diagnosis. Raw milk or unpasteurized cheese, including products brought from abroad? Wild-hog hunting or butchering? Veterinary vaccine needle sticks? Brucellosis; route helps identify species and assay limitations. Alert the laboratory before cultures. Standard serology does not detect B. canis or RB51 infection; discuss testing with microbiology/public health. Cats or kittens? Scratches or flea infestation? Body lice? Access to showers and clean clothing? B. henselae with adenopathy or hepatosplenic disease; B. quintana with lice exposure and culture-negative endocarditis. Bartonella serology and selected PCR when indicated. Persistent antibodies and cross-reactivity complicate interpretation. Ticks, hiking, gardening, hunting, brush clearing, or camping? Where and when? Any skin ulcer or enlarged node? Ehrlichiosis and other tickborne infections; tularemia with compatible ulcer/nodal or pulmonary disease. Many present acutely rather than as classic FUO. Ehrlichia blood PCR early; paired serology when appropriate. Tularemia serology/PCR or culture with laboratory warning. Do not delay treatment of convincing acute rickettsial illness for results. Caves, bat or bird droppings, demolition, chicken coops, soil disturbance, or dusty travel in the Southwest? Histoplasmosis or other endemic mycoses, depending on location, host, and organ involvement. Histoplasma urine/serum antigen for compatible illness; add antibody or tissue testing as indicated. Histoplasma and Blastomyces antigen cross-reactivity limits species attribution. Floodwater, freshwater swimming, rodent infestation, sewage, or animal urine exposure? Leptospirosis, especially with renal injury, hepatitis, or meningitis. PCR and serology selected by illness timing and available specimen. Exposure without a compatible syndrome is insufficient. New sexual partners or recent condomless exposure? Injected drugs, shared equipment, or nonmedical injections? Acute HIV and other exposure-associated infections; injection-related bacteremia/endocarditis. HIV Ag/Ab, adding RNA if acute HIV remains plausible despite negative/indeterminate screening. STI/hepatitis testing by exposure and syndrome; cultures and echo for suspected endocarditis. What medicines, supplements, infusions, and intermittent drugs have you taken? Which started before fever, and which were added afterward? Drug fever or a systemic drug reaction. Recently added antibiotics may perpetuate fever. Review dates, rash, eosinophils, renal/liver injury. Withdraw a suspected offending drug that can be safely stopped safely; use a formal drug-reaction evaluation for organ injury. Any operations, dental infection, implanted valve/device, vascular graft, orthopedic hardware, or recent procedure? Endocarditis, device infection, or a deep postoperative focus. Cultures and targeted echo/imaging. Hardware is a risk modifier; it does not prove the source. Any steroids, biologics, cancer therapy, transplant, splenectomy, or immune disorder? Changes both the differential and urgency. Substantial immunosuppression falls outside the classic immunocompetent FUO pathway. Use the host-specific evaluation; review actual agent, dose, timing, prophylaxis, and immune recovery. History and examination beyond exposures Ask about new headache, jaw fatigue or visual symptoms; back or focal bone pain; joint swelling or morning stiffness; transient rash; oral ulcers; pleuritic pain; diarrhea or blood in stool; weight loss; and symptom-free intervals. Examine the mouth, skin, nails, nodes, heart, abdomen/spleen, spine, joints, wounds, and device sites. Repeat the examination when new symptoms emerge. Select tests based on the exposure, timing, immune status, and clinical findings. Sources CDC Q fever testing · CDC brucellosis overview · CDC ehrlichiosis testing · CDC tularemia testing · CDC leptospirosis overview · CDC histoplasmosis testing · CDC Bartonella quintana overview · CDC malaria diagnosis · CDC HIV testing guidance Resident core</a:t>
            </a:r>
          </a:p>
          <a:p xmlns:a="http://schemas.openxmlformats.org/drawingml/2006/main">
            <a:r>
              <a:t/>
            </a:r>
          </a:p>
          <a:p xmlns:a="http://schemas.openxmlformats.org/drawingml/2006/main">
            <a:r>
              <a:t>Module section: https://docarcshot.github.io/id-practice-update/lectures/Fever_of_Unknown_Origin_Resident_Fellow_Module.html#clues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History and examination Ask where the patient has lived and traveled, what they did there, and when. Clarify animal contact and work or recreational exposures. Ask whether others became ill. Take the sexual and substance-use history privately. Social and exposure history Ask the patient What it raises Testing when the syndrome fits Where have you lived and traveled, including earlier in life? When did you return? Rural or urban? What did you do there? Malaria, TB, endemic fungi, and geographically restricted infections. Country alone is insufficient. Urgent thick/thin smears for possible malaria; repeat every 12–24 hours for three sets if suspicion persists. Select other tests by itinerary and syndrome. Any TB contacts? Prior TB treatment? Time in shelters, correctional facilities, or other crowded settings? Pulmonary or extrapulmonary TB. Remote exposure may matter. IGRA/TST is baseline infection testing. Suspected active disease requires site-specific imaging and microbiology; a negative IGRA does not exclude it. Do you handle cattle, sheep, goats, or animal placentas? Help with births? Work in veterinary care, farming, meat processing, or a laboratory? Q fever and brucellosis, especially with hepatitis, endocarditis, or persistent systemic illness. Coxiella serology, with PCR useful early in acute illness; Brucella cultures/serology with laboratory notification. Exposure alone does not establish either diagnosis. Raw milk or unpasteurized cheese, including products brought from abroad? Wild-hog hunting or butchering? Veterinary vaccine needle sticks? Brucellosis; route helps identify species and assay limitations. Alert the laboratory before cultures. Standard serology does not detect B. canis or RB51 infection; discuss testing with microbiology/public health. Cats or kittens? Scratches or flea infestation? Body lice? Access to showers and clean clothing? B. henselae with adenopathy or hepatosplenic disease; B. quintana with lice exposure and culture-negative endocarditis. Bartonella serology and selected PCR when indicated. Persistent antibodies and cross-reactivity complicate interpretation. Ticks, hiking, gardening, hunting, brush clearing, or camping? Where and when? Any skin ulcer or enlarged node? Ehrlichiosis and other tickborne infections; tularemia with compatible ulcer/nodal or pulmonary disease. Many present acutely rather than as classic FUO. Ehrlichia blood PCR early; paired serology when appropriate. Tularemia serology/PCR or culture with laboratory warning. Do not delay treatment of convincing acute rickettsial illness for results. Caves, bat or bird droppings, demolition, chicken coops, soil disturbance, or dusty travel in the Southwest? Histoplasmosis or other endemic mycoses, depending on location, host, and organ involvement. Histoplasma urine/serum antigen for compatible illness; add antibody or tissue testing as indicated. Histoplasma and Blastomyces antigen cross-reactivity limits species attribution. Floodwater, freshwater swimming, rodent infestation, sewage, or animal urine exposure? Leptospirosis, especially with renal injury, hepatitis, or meningitis. PCR and serology selected by illness timing and available specimen. Exposure without a compatible syndrome is insufficient. New sexual partners or recent condomless exposure? Injected drugs, shared equipment, or nonmedical injections? Acute HIV and other exposure-associated infections; injection-related bacteremia/endocarditis. HIV Ag/Ab, adding RNA if acute HIV remains plausible despite negative/indeterminate screening. STI/hepatitis testing by exposure and syndrome; cultures and echo for suspected endocarditis. What medicines, supplements, infusions, and intermittent drugs have you taken? Which started before fever, and which were added afterward? Drug fever or a systemic drug reaction. Recently added antibiotics may perpetuate fever. Review dates, rash, eosinophils, renal/liver injury. Withdraw a suspected offending drug that can be safely stopped safely; use a formal drug-reaction evaluation for organ injury. Any operations, dental infection, implanted valve/device, vascular graft, orthopedic hardware, or recent procedure? Endocarditis, device infection, or a deep postoperative focus. Cultures and targeted echo/imaging. Hardware is a risk modifier; it does not prove the source. Any steroids, biologics, cancer therapy, transplant, splenectomy, or immune disorder? Changes both the differential and urgency. Substantial immunosuppression falls outside the classic immunocompetent FUO pathway. Use the host-specific evaluation; review actual agent, dose, timing, prophylaxis, and immune recovery. History and examination beyond exposures Ask about new headache, jaw fatigue or visual symptoms; back or focal bone pain; joint swelling or morning stiffness; transient rash; oral ulcers; pleuritic pain; diarrhea or blood in stool; weight loss; and symptom-free intervals. Examine the mouth, skin, nails, nodes, heart, abdomen/spleen, spine, joints, wounds, and device sites. Repeat the examination when new symptoms emerge. Select tests based on the exposure, timing, immune status, and clinical findings. Sources CDC Q fever testing · CDC brucellosis overview · CDC ehrlichiosis testing · CDC tularemia testing · CDC leptospirosis overview · CDC histoplasmosis testing · CDC Bartonella quintana overview · CDC malaria diagnosis · CDC HIV testing guidance Resident core</a:t>
            </a:r>
          </a:p>
          <a:p xmlns:a="http://schemas.openxmlformats.org/drawingml/2006/main">
            <a:r>
              <a:t/>
            </a:r>
          </a:p>
          <a:p xmlns:a="http://schemas.openxmlformats.org/drawingml/2006/main">
            <a:r>
              <a:t>Module section: https://docarcshot.github.io/id-practice-update/lectures/Fever_of_Unknown_Origin_Resident_Fellow_Module.html#clues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History and examination Ask where the patient has lived and traveled, what they did there, and when. Clarify animal contact and work or recreational exposures. Ask whether others became ill. Take the sexual and substance-use history privately. Social and exposure history Ask the patient What it raises Testing when the syndrome fits Where have you lived and traveled, including earlier in life? When did you return? Rural or urban? What did you do there? Malaria, TB, endemic fungi, and geographically restricted infections. Country alone is insufficient. Urgent thick/thin smears for possible malaria; repeat every 12–24 hours for three sets if suspicion persists. Select other tests by itinerary and syndrome. Any TB contacts? Prior TB treatment? Time in shelters, correctional facilities, or other crowded settings? Pulmonary or extrapulmonary TB. Remote exposure may matter. IGRA/TST is baseline infection testing. Suspected active disease requires site-specific imaging and microbiology; a negative IGRA does not exclude it. Do you handle cattle, sheep, goats, or animal placentas? Help with births? Work in veterinary care, farming, meat processing, or a laboratory? Q fever and brucellosis, especially with hepatitis, endocarditis, or persistent systemic illness. Coxiella serology, with PCR useful early in acute illness; Brucella cultures/serology with laboratory notification. Exposure alone does not establish either diagnosis. Raw milk or unpasteurized cheese, including products brought from abroad? Wild-hog hunting or butchering? Veterinary vaccine needle sticks? Brucellosis; route helps identify species and assay limitations. Alert the laboratory before cultures. Standard serology does not detect B. canis or RB51 infection; discuss testing with microbiology/public health. Cats or kittens? Scratches or flea infestation? Body lice? Access to showers and clean clothing? B. henselae with adenopathy or hepatosplenic disease; B. quintana with lice exposure and culture-negative endocarditis. Bartonella serology and selected PCR when indicated. Persistent antibodies and cross-reactivity complicate interpretation. Ticks, hiking, gardening, hunting, brush clearing, or camping? Where and when? Any skin ulcer or enlarged node? Ehrlichiosis and other tickborne infections; tularemia with compatible ulcer/nodal or pulmonary disease. Many present acutely rather than as classic FUO. Ehrlichia blood PCR early; paired serology when appropriate. Tularemia serology/PCR or culture with laboratory warning. Do not delay treatment of convincing acute rickettsial illness for results. Caves, bat or bird droppings, demolition, chicken coops, soil disturbance, or dusty travel in the Southwest? Histoplasmosis or other endemic mycoses, depending on location, host, and organ involvement. Histoplasma urine/serum antigen for compatible illness; add antibody or tissue testing as indicated. Histoplasma and Blastomyces antigen cross-reactivity limits species attribution. Floodwater, freshwater swimming, rodent infestation, sewage, or animal urine exposure? Leptospirosis, especially with renal injury, hepatitis, or meningitis. PCR and serology selected by illness timing and available specimen. Exposure without a compatible syndrome is insufficient. New sexual partners or recent condomless exposure? Injected drugs, shared equipment, or nonmedical injections? Acute HIV and other exposure-associated infections; injection-related bacteremia/endocarditis. HIV Ag/Ab, adding RNA if acute HIV remains plausible despite negative/indeterminate screening. STI/hepatitis testing by exposure and syndrome; cultures and echo for suspected endocarditis. What medicines, supplements, infusions, and intermittent drugs have you taken? Which started before fever, and which were added afterward? Drug fever or a systemic drug reaction. Recently added antibiotics may perpetuate fever. Review dates, rash, eosinophils, renal/liver injury. Withdraw a suspected offending drug that can be safely stopped safely; use a formal drug-reaction evaluation for organ injury. Any operations, dental infection, implanted valve/device, vascular graft, orthopedic hardware, or recent procedure? Endocarditis, device infection, or a deep postoperative focus. Cultures and targeted echo/imaging. Hardware is a risk modifier; it does not prove the source. Any steroids, biologics, cancer therapy, transplant, splenectomy, or immune disorder? Changes both the differential and urgency. Substantial immunosuppression falls outside the classic immunocompetent FUO pathway. Use the host-specific evaluation; review actual agent, dose, timing, prophylaxis, and immune recovery. History and examination beyond exposures Ask about new headache, jaw fatigue or visual symptoms; back or focal bone pain; joint swelling or morning stiffness; transient rash; oral ulcers; pleuritic pain; diarrhea or blood in stool; weight loss; and symptom-free intervals. Examine the mouth, skin, nails, nodes, heart, abdomen/spleen, spine, joints, wounds, and device sites. Repeat the examination when new symptoms emerge. Select tests based on the exposure, timing, immune status, and clinical findings. Sources CDC Q fever testing · CDC brucellosis overview · CDC ehrlichiosis testing · CDC tularemia testing · CDC leptospirosis overview · CDC histoplasmosis testing · CDC Bartonella quintana overview · CDC malaria diagnosis · CDC HIV testing guidance Resident core</a:t>
            </a:r>
          </a:p>
          <a:p xmlns:a="http://schemas.openxmlformats.org/drawingml/2006/main">
            <a:r>
              <a:t/>
            </a:r>
          </a:p>
          <a:p xmlns:a="http://schemas.openxmlformats.org/drawingml/2006/main">
            <a:r>
              <a:t>Module section: https://docarcshot.github.io/id-practice-update/lectures/Fever_of_Unknown_Origin_Resident_Fellow_Module.html#clues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History and examination Ask where the patient has lived and traveled, what they did there, and when. Clarify animal contact and work or recreational exposures. Ask whether others became ill. Take the sexual and substance-use history privately. Social and exposure history Ask the patient What it raises Testing when the syndrome fits Where have you lived and traveled, including earlier in life? When did you return? Rural or urban? What did you do there? Malaria, TB, endemic fungi, and geographically restricted infections. Country alone is insufficient. Urgent thick/thin smears for possible malaria; repeat every 12–24 hours for three sets if suspicion persists. Select other tests by itinerary and syndrome. Any TB contacts? Prior TB treatment? Time in shelters, correctional facilities, or other crowded settings? Pulmonary or extrapulmonary TB. Remote exposure may matter. IGRA/TST is baseline infection testing. Suspected active disease requires site-specific imaging and microbiology; a negative IGRA does not exclude it. Do you handle cattle, sheep, goats, or animal placentas? Help with births? Work in veterinary care, farming, meat processing, or a laboratory? Q fever and brucellosis, especially with hepatitis, endocarditis, or persistent systemic illness. Coxiella serology, with PCR useful early in acute illness; Brucella cultures/serology with laboratory notification. Exposure alone does not establish either diagnosis. Raw milk or unpasteurized cheese, including products brought from abroad? Wild-hog hunting or butchering? Veterinary vaccine needle sticks? Brucellosis; route helps identify species and assay limitations. Alert the laboratory before cultures. Standard serology does not detect B. canis or RB51 infection; discuss testing with microbiology/public health. Cats or kittens? Scratches or flea infestation? Body lice? Access to showers and clean clothing? B. henselae with adenopathy or hepatosplenic disease; B. quintana with lice exposure and culture-negative endocarditis. Bartonella serology and selected PCR when indicated. Persistent antibodies and cross-reactivity complicate interpretation. Ticks, hiking, gardening, hunting, brush clearing, or camping? Where and when? Any skin ulcer or enlarged node? Ehrlichiosis and other tickborne infections; tularemia with compatible ulcer/nodal or pulmonary disease. Many present acutely rather than as classic FUO. Ehrlichia blood PCR early; paired serology when appropriate. Tularemia serology/PCR or culture with laboratory warning. Do not delay treatment of convincing acute rickettsial illness for results. Caves, bat or bird droppings, demolition, chicken coops, soil disturbance, or dusty travel in the Southwest? Histoplasmosis or other endemic mycoses, depending on location, host, and organ involvement. Histoplasma urine/serum antigen for compatible illness; add antibody or tissue testing as indicated. Histoplasma and Blastomyces antigen cross-reactivity limits species attribution. Floodwater, freshwater swimming, rodent infestation, sewage, or animal urine exposure? Leptospirosis, especially with renal injury, hepatitis, or meningitis. PCR and serology selected by illness timing and available specimen. Exposure without a compatible syndrome is insufficient. New sexual partners or recent condomless exposure? Injected drugs, shared equipment, or nonmedical injections? Acute HIV and other exposure-associated infections; injection-related bacteremia/endocarditis. HIV Ag/Ab, adding RNA if acute HIV remains plausible despite negative/indeterminate screening. STI/hepatitis testing by exposure and syndrome; cultures and echo for suspected endocarditis. What medicines, supplements, infusions, and intermittent drugs have you taken? Which started before fever, and which were added afterward? Drug fever or a systemic drug reaction. Recently added antibiotics may perpetuate fever. Review dates, rash, eosinophils, renal/liver injury. Withdraw a suspected offending drug that can be safely stopped safely; use a formal drug-reaction evaluation for organ injury. Any operations, dental infection, implanted valve/device, vascular graft, orthopedic hardware, or recent procedure? Endocarditis, device infection, or a deep postoperative focus. Cultures and targeted echo/imaging. Hardware is a risk modifier; it does not prove the source. Any steroids, biologics, cancer therapy, transplant, splenectomy, or immune disorder? Changes both the differential and urgency. Substantial immunosuppression falls outside the classic immunocompetent FUO pathway. Use the host-specific evaluation; review actual agent, dose, timing, prophylaxis, and immune recovery. History and examination beyond exposures Ask about new headache, jaw fatigue or visual symptoms; back or focal bone pain; joint swelling or morning stiffness; transient rash; oral ulcers; pleuritic pain; diarrhea or blood in stool; weight loss; and symptom-free intervals. Examine the mouth, skin, nails, nodes, heart, abdomen/spleen, spine, joints, wounds, and device sites. Repeat the examination when new symptoms emerge. Select tests based on the exposure, timing, immune status, and clinical findings. Sources CDC Q fever testing · CDC brucellosis overview · CDC ehrlichiosis testing · CDC tularemia testing · CDC leptospirosis overview · CDC histoplasmosis testing · CDC Bartonella quintana overview · CDC malaria diagnosis · CDC HIV testing guidance Resident core</a:t>
            </a:r>
          </a:p>
          <a:p xmlns:a="http://schemas.openxmlformats.org/drawingml/2006/main">
            <a:r>
              <a:t/>
            </a:r>
          </a:p>
          <a:p xmlns:a="http://schemas.openxmlformats.org/drawingml/2006/main">
            <a:r>
              <a:t>Module section: https://docarcshot.github.io/id-practice-update/lectures/Fever_of_Unknown_Origin_Resident_Fellow_Module.html#clues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History and examination Ask where the patient has lived and traveled, what they did there, and when. Clarify animal contact and work or recreational exposures. Ask whether others became ill. Take the sexual and substance-use history privately. Social and exposure history Ask the patient What it raises Testing when the syndrome fits Where have you lived and traveled, including earlier in life? When did you return? Rural or urban? What did you do there? Malaria, TB, endemic fungi, and geographically restricted infections. Country alone is insufficient. Urgent thick/thin smears for possible malaria; repeat every 12–24 hours for three sets if suspicion persists. Select other tests by itinerary and syndrome. Any TB contacts? Prior TB treatment? Time in shelters, correctional facilities, or other crowded settings? Pulmonary or extrapulmonary TB. Remote exposure may matter. IGRA/TST is baseline infection testing. Suspected active disease requires site-specific imaging and microbiology; a negative IGRA does not exclude it. Do you handle cattle, sheep, goats, or animal placentas? Help with births? Work in veterinary care, farming, meat processing, or a laboratory? Q fever and brucellosis, especially with hepatitis, endocarditis, or persistent systemic illness. Coxiella serology, with PCR useful early in acute illness; Brucella cultures/serology with laboratory notification. Exposure alone does not establish either diagnosis. Raw milk or unpasteurized cheese, including products brought from abroad? Wild-hog hunting or butchering? Veterinary vaccine needle sticks? Brucellosis; route helps identify species and assay limitations. Alert the laboratory before cultures. Standard serology does not detect B. canis or RB51 infection; discuss testing with microbiology/public health. Cats or kittens? Scratches or flea infestation? Body lice? Access to showers and clean clothing? B. henselae with adenopathy or hepatosplenic disease; B. quintana with lice exposure and culture-negative endocarditis. Bartonella serology and selected PCR when indicated. Persistent antibodies and cross-reactivity complicate interpretation. Ticks, hiking, gardening, hunting, brush clearing, or camping? Where and when? Any skin ulcer or enlarged node? Ehrlichiosis and other tickborne infections; tularemia with compatible ulcer/nodal or pulmonary disease. Many present acutely rather than as classic FUO. Ehrlichia blood PCR early; paired serology when appropriate. Tularemia serology/PCR or culture with laboratory warning. Do not delay treatment of convincing acute rickettsial illness for results. Caves, bat or bird droppings, demolition, chicken coops, soil disturbance, or dusty travel in the Southwest? Histoplasmosis or other endemic mycoses, depending on location, host, and organ involvement. Histoplasma urine/serum antigen for compatible illness; add antibody or tissue testing as indicated. Histoplasma and Blastomyces antigen cross-reactivity limits species attribution. Floodwater, freshwater swimming, rodent infestation, sewage, or animal urine exposure? Leptospirosis, especially with renal injury, hepatitis, or meningitis. PCR and serology selected by illness timing and available specimen. Exposure without a compatible syndrome is insufficient. New sexual partners or recent condomless exposure? Injected drugs, shared equipment, or nonmedical injections? Acute HIV and other exposure-associated infections; injection-related bacteremia/endocarditis. HIV Ag/Ab, adding RNA if acute HIV remains plausible despite negative/indeterminate screening. STI/hepatitis testing by exposure and syndrome; cultures and echo for suspected endocarditis. What medicines, supplements, infusions, and intermittent drugs have you taken? Which started before fever, and which were added afterward? Drug fever or a systemic drug reaction. Recently added antibiotics may perpetuate fever. Review dates, rash, eosinophils, renal/liver injury. Withdraw a suspected offending drug that can be safely stopped safely; use a formal drug-reaction evaluation for organ injury. Any operations, dental infection, implanted valve/device, vascular graft, orthopedic hardware, or recent procedure? Endocarditis, device infection, or a deep postoperative focus. Cultures and targeted echo/imaging. Hardware is a risk modifier; it does not prove the source. Any steroids, biologics, cancer therapy, transplant, splenectomy, or immune disorder? Changes both the differential and urgency. Substantial immunosuppression falls outside the classic immunocompetent FUO pathway. Use the host-specific evaluation; review actual agent, dose, timing, prophylaxis, and immune recovery. History and examination beyond exposures Ask about new headache, jaw fatigue or visual symptoms; back or focal bone pain; joint swelling or morning stiffness; transient rash; oral ulcers; pleuritic pain; diarrhea or blood in stool; weight loss; and symptom-free intervals. Examine the mouth, skin, nails, nodes, heart, abdomen/spleen, spine, joints, wounds, and device sites. Repeat the examination when new symptoms emerge. Select tests based on the exposure, timing, immune status, and clinical findings. Sources CDC Q fever testing · CDC brucellosis overview · CDC ehrlichiosis testing · CDC tularemia testing · CDC leptospirosis overview · CDC histoplasmosis testing · CDC Bartonella quintana overview · CDC malaria diagnosis · CDC HIV testing guidance Resident core</a:t>
            </a:r>
          </a:p>
          <a:p xmlns:a="http://schemas.openxmlformats.org/drawingml/2006/main">
            <a:r>
              <a:t/>
            </a:r>
          </a:p>
          <a:p xmlns:a="http://schemas.openxmlformats.org/drawingml/2006/main">
            <a:r>
              <a:t>Module section: https://docarcshot.github.io/id-practice-update/lectures/Fever_of_Unknown_Origin_Resident_Fellow_Module.html#clues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History and examination Ask where the patient has lived and traveled, what they did there, and when. Clarify animal contact and work or recreational exposures. Ask whether others became ill. Take the sexual and substance-use history privately. Social and exposure history Ask the patient What it raises Testing when the syndrome fits Where have you lived and traveled, including earlier in life? When did you return? Rural or urban? What did you do there? Malaria, TB, endemic fungi, and geographically restricted infections. Country alone is insufficient. Urgent thick/thin smears for possible malaria; repeat every 12–24 hours for three sets if suspicion persists. Select other tests by itinerary and syndrome. Any TB contacts? Prior TB treatment? Time in shelters, correctional facilities, or other crowded settings? Pulmonary or extrapulmonary TB. Remote exposure may matter. IGRA/TST is baseline infection testing. Suspected active disease requires site-specific imaging and microbiology; a negative IGRA does not exclude it. Do you handle cattle, sheep, goats, or animal placentas? Help with births? Work in veterinary care, farming, meat processing, or a laboratory? Q fever and brucellosis, especially with hepatitis, endocarditis, or persistent systemic illness. Coxiella serology, with PCR useful early in acute illness; Brucella cultures/serology with laboratory notification. Exposure alone does not establish either diagnosis. Raw milk or unpasteurized cheese, including products brought from abroad? Wild-hog hunting or butchering? Veterinary vaccine needle sticks? Brucellosis; route helps identify species and assay limitations. Alert the laboratory before cultures. Standard serology does not detect B. canis or RB51 infection; discuss testing with microbiology/public health. Cats or kittens? Scratches or flea infestation? Body lice? Access to showers and clean clothing? B. henselae with adenopathy or hepatosplenic disease; B. quintana with lice exposure and culture-negative endocarditis. Bartonella serology and selected PCR when indicated. Persistent antibodies and cross-reactivity complicate interpretation. Ticks, hiking, gardening, hunting, brush clearing, or camping? Where and when? Any skin ulcer or enlarged node? Ehrlichiosis and other tickborne infections; tularemia with compatible ulcer/nodal or pulmonary disease. Many present acutely rather than as classic FUO. Ehrlichia blood PCR early; paired serology when appropriate. Tularemia serology/PCR or culture with laboratory warning. Do not delay treatment of convincing acute rickettsial illness for results. Caves, bat or bird droppings, demolition, chicken coops, soil disturbance, or dusty travel in the Southwest? Histoplasmosis or other endemic mycoses, depending on location, host, and organ involvement. Histoplasma urine/serum antigen for compatible illness; add antibody or tissue testing as indicated. Histoplasma and Blastomyces antigen cross-reactivity limits species attribution. Floodwater, freshwater swimming, rodent infestation, sewage, or animal urine exposure? Leptospirosis, especially with renal injury, hepatitis, or meningitis. PCR and serology selected by illness timing and available specimen. Exposure without a compatible syndrome is insufficient. New sexual partners or recent condomless exposure? Injected drugs, shared equipment, or nonmedical injections? Acute HIV and other exposure-associated infections; injection-related bacteremia/endocarditis. HIV Ag/Ab, adding RNA if acute HIV remains plausible despite negative/indeterminate screening. STI/hepatitis testing by exposure and syndrome; cultures and echo for suspected endocarditis. What medicines, supplements, infusions, and intermittent drugs have you taken? Which started before fever, and which were added afterward? Drug fever or a systemic drug reaction. Recently added antibiotics may perpetuate fever. Review dates, rash, eosinophils, renal/liver injury. Withdraw a suspected offending drug that can be safely stopped safely; use a formal drug-reaction evaluation for organ injury. Any operations, dental infection, implanted valve/device, vascular graft, orthopedic hardware, or recent procedure? Endocarditis, device infection, or a deep postoperative focus. Cultures and targeted echo/imaging. Hardware is a risk modifier; it does not prove the source. Any steroids, biologics, cancer therapy, transplant, splenectomy, or immune disorder? Changes both the differential and urgency. Substantial immunosuppression falls outside the classic immunocompetent FUO pathway. Use the host-specific evaluation; review actual agent, dose, timing, prophylaxis, and immune recovery. History and examination beyond exposures Ask about new headache, jaw fatigue or visual symptoms; back or focal bone pain; joint swelling or morning stiffness; transient rash; oral ulcers; pleuritic pain; diarrhea or blood in stool; weight loss; and symptom-free intervals. Examine the mouth, skin, nails, nodes, heart, abdomen/spleen, spine, joints, wounds, and device sites. Repeat the examination when new symptoms emerge. Select tests based on the exposure, timing, immune status, and clinical findings. Sources CDC Q fever testing · CDC brucellosis overview · CDC ehrlichiosis testing · CDC tularemia testing · CDC leptospirosis overview · CDC histoplasmosis testing · CDC Bartonella quintana overview · CDC malaria diagnosis · CDC HIV testing guidance Resident core</a:t>
            </a:r>
          </a:p>
          <a:p xmlns:a="http://schemas.openxmlformats.org/drawingml/2006/main">
            <a:r>
              <a:t/>
            </a:r>
          </a:p>
          <a:p xmlns:a="http://schemas.openxmlformats.org/drawingml/2006/main">
            <a:r>
              <a:t>Module section: https://docarcshot.github.io/id-practice-update/lectures/Fever_of_Unknown_Origin_Resident_Fellow_Module.html#differential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Differential diagnosis Category Prioritize when the clinical pattern fits Evaluation Infection Endocarditis or vascular infection, occult abscess, vertebral infection, extrapulmonary TB, exposure-associated zoonoses, acute HIV, and endemic fungi in the appropriate host Cultures before antibiotics; targeted imaging, echocardiography, or tissue; organism-specific tests driven by the exposure. Noninfectious inflammation Giant cell or other vasculitis, Still's disease, connective-tissue disease, sarcoidosis, inflammatory bowel disease Look for vascular, articular, skin, renal, pulmonary, and GI manifestations. Interpret serology with the examination and organ findings. Malignancy Lymphoma and other hematologic disease, selected solid tumors Review blood counts and smear; image and obtain an appropriate node or other lesion for pathology. Other causes Drug fever, venous thromboembolism, thyroiditis, tissue injury, and less often temperature measurement problems Reconstruct medication chronology, test the suspected mechanism, and avoid unsupported labels. Undiagnosed illness A legitimate outcome after adequate evaluation in a clinically stable patient Create a follow-up plan. Empiric antibiotics are usually unnecessary in stable classic FUO. Consider histoplasmosis and tickborne infection in Missouri when the exposure and presentation fit. Include remote residence and travel in the history. Sources Wright et al. FUO and IUO modified Delphi consensus. OFID 2024. · DeSimone et al. AHA scientific statement on blood culture-negative endocarditis. 2025. Noninfectious causes Pattern Consider Next step Older adult, new headache/jaw symptoms, visual change, or inflammatory shoulder/hip stiffness Giant cell arteritis/PMR spectrum Urgent assessment for visual symptoms; directed vascular imaging or biopsy. Fever with rash, arthritis, serositis, renal or pulmonary findings Connective-tissue disease or vasculitis Organ-directed evaluation, urinalysis, and selected serology; involve rheumatology. Spiking fever, transient rash, inflammatory arthritis, neutrophilia Still’s disease Assess infection and malignancy; ferritin supports the pattern but is not diagnostic. Nodes, weight loss, organomegaly, or abnormal blood counts Lymphoma/hematologic disease Obtain suitable tissue; preserve architecture and coordinate flow cytometry. New medicine, rash, eosinophilia, or renal/liver injury Drug fever or systemic drug reaction Review chronology and stop a suspected offending drug safely; assess organ involvement. Painful thyroid or compatible thyroid symptoms Thyroiditis TSH and free T4, with directed thyroid evaluation. Unilateral swelling, pleuritic pain, hypoxemia, or thrombosis risk Venous thromboembolism Use syndrome-appropriate diagnostic testing rather than screening all FUO patients. Sources Contemporary ambulatory FUO approach, CID 2026 · EULAR large vessel vasculitis imaging · EULAR/PReS Still’s disease recommendations Resident core</a:t>
            </a:r>
          </a:p>
          <a:p xmlns:a="http://schemas.openxmlformats.org/drawingml/2006/main">
            <a:r>
              <a:t/>
            </a:r>
          </a:p>
          <a:p xmlns:a="http://schemas.openxmlformats.org/drawingml/2006/main">
            <a:r>
              <a:t>Module section: https://docarcshot.github.io/id-practice-update/lectures/Fever_of_Unknown_Origin_Resident_Fellow_Module.html#differential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Differential diagnosis Category Prioritize when the clinical pattern fits Evaluation Infection Endocarditis or vascular infection, occult abscess, vertebral infection, extrapulmonary TB, exposure-associated zoonoses, acute HIV, and endemic fungi in the appropriate host Cultures before antibiotics; targeted imaging, echocardiography, or tissue; organism-specific tests driven by the exposure. Noninfectious inflammation Giant cell or other vasculitis, Still's disease, connective-tissue disease, sarcoidosis, inflammatory bowel disease Look for vascular, articular, skin, renal, pulmonary, and GI manifestations. Interpret serology with the examination and organ findings. Malignancy Lymphoma and other hematologic disease, selected solid tumors Review blood counts and smear; image and obtain an appropriate node or other lesion for pathology. Other causes Drug fever, venous thromboembolism, thyroiditis, tissue injury, and less often temperature measurement problems Reconstruct medication chronology, test the suspected mechanism, and avoid unsupported labels. Undiagnosed illness A legitimate outcome after adequate evaluation in a clinically stable patient Create a follow-up plan. Empiric antibiotics are usually unnecessary in stable classic FUO. Consider histoplasmosis and tickborne infection in Missouri when the exposure and presentation fit. Include remote residence and travel in the history. Sources Wright et al. FUO and IUO modified Delphi consensus. OFID 2024. · DeSimone et al. AHA scientific statement on blood culture-negative endocarditis. 2025. Noninfectious causes Pattern Consider Next step Older adult, new headache/jaw symptoms, visual change, or inflammatory shoulder/hip stiffness Giant cell arteritis/PMR spectrum Urgent assessment for visual symptoms; directed vascular imaging or biopsy. Fever with rash, arthritis, serositis, renal or pulmonary findings Connective-tissue disease or vasculitis Organ-directed evaluation, urinalysis, and selected serology; involve rheumatology. Spiking fever, transient rash, inflammatory arthritis, neutrophilia Still’s disease Assess infection and malignancy; ferritin supports the pattern but is not diagnostic. Nodes, weight loss, organomegaly, or abnormal blood counts Lymphoma/hematologic disease Obtain suitable tissue; preserve architecture and coordinate flow cytometry. New medicine, rash, eosinophilia, or renal/liver injury Drug fever or systemic drug reaction Review chronology and stop a suspected offending drug safely; assess organ involvement. Painful thyroid or compatible thyroid symptoms Thyroiditis TSH and free T4, with directed thyroid evaluation. Unilateral swelling, pleuritic pain, hypoxemia, or thrombosis risk Venous thromboembolism Use syndrome-appropriate diagnostic testing rather than screening all FUO patients. Sources Contemporary ambulatory FUO approach, CID 2026 · EULAR large vessel vasculitis imaging · EULAR/PReS Still’s disease recommendations Resident core</a:t>
            </a:r>
          </a:p>
          <a:p xmlns:a="http://schemas.openxmlformats.org/drawingml/2006/main">
            <a:r>
              <a:t/>
            </a:r>
          </a:p>
          <a:p xmlns:a="http://schemas.openxmlformats.org/drawingml/2006/main">
            <a:r>
              <a:t>Module section: https://docarcshot.github.io/id-practice-update/lectures/Fever_of_Unknown_Origin_Resident_Fellow_Module.html#differential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Differential diagnosis Category Prioritize when the clinical pattern fits Evaluation Infection Endocarditis or vascular infection, occult abscess, vertebral infection, extrapulmonary TB, exposure-associated zoonoses, acute HIV, and endemic fungi in the appropriate host Cultures before antibiotics; targeted imaging, echocardiography, or tissue; organism-specific tests driven by the exposure. Noninfectious inflammation Giant cell or other vasculitis, Still's disease, connective-tissue disease, sarcoidosis, inflammatory bowel disease Look for vascular, articular, skin, renal, pulmonary, and GI manifestations. Interpret serology with the examination and organ findings. Malignancy Lymphoma and other hematologic disease, selected solid tumors Review blood counts and smear; image and obtain an appropriate node or other lesion for pathology. Other causes Drug fever, venous thromboembolism, thyroiditis, tissue injury, and less often temperature measurement problems Reconstruct medication chronology, test the suspected mechanism, and avoid unsupported labels. Undiagnosed illness A legitimate outcome after adequate evaluation in a clinically stable patient Create a follow-up plan. Empiric antibiotics are usually unnecessary in stable classic FUO. Consider histoplasmosis and tickborne infection in Missouri when the exposure and presentation fit. Include remote residence and travel in the history. Sources Wright et al. FUO and IUO modified Delphi consensus. OFID 2024. · DeSimone et al. AHA scientific statement on blood culture-negative endocarditis. 2025. Noninfectious causes Pattern Consider Next step Older adult, new headache/jaw symptoms, visual change, or inflammatory shoulder/hip stiffness Giant cell arteritis/PMR spectrum Urgent assessment for visual symptoms; directed vascular imaging or biopsy. Fever with rash, arthritis, serositis, renal or pulmonary findings Connective-tissue disease or vasculitis Organ-directed evaluation, urinalysis, and selected serology; involve rheumatology. Spiking fever, transient rash, inflammatory arthritis, neutrophilia Still’s disease Assess infection and malignancy; ferritin supports the pattern but is not diagnostic. Nodes, weight loss, organomegaly, or abnormal blood counts Lymphoma/hematologic disease Obtain suitable tissue; preserve architecture and coordinate flow cytometry. New medicine, rash, eosinophilia, or renal/liver injury Drug fever or systemic drug reaction Review chronology and stop a suspected offending drug safely; assess organ involvement. Painful thyroid or compatible thyroid symptoms Thyroiditis TSH and free T4, with directed thyroid evaluation. Unilateral swelling, pleuritic pain, hypoxemia, or thrombosis risk Venous thromboembolism Use syndrome-appropriate diagnostic testing rather than screening all FUO patients. Sources Contemporary ambulatory FUO approach, CID 2026 · EULAR large vessel vasculitis imaging · EULAR/PReS Still’s disease recommendations Resident core</a:t>
            </a:r>
          </a:p>
          <a:p xmlns:a="http://schemas.openxmlformats.org/drawingml/2006/main">
            <a:r>
              <a:t/>
            </a:r>
          </a:p>
          <a:p xmlns:a="http://schemas.openxmlformats.org/drawingml/2006/main">
            <a:r>
              <a:t>Module section: https://docarcshot.github.io/id-practice-update/lectures/Fever_of_Unknown_Origin_Resident_Fellow_Module.html#differential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Differential diagnosis Category Prioritize when the clinical pattern fits Evaluation Infection Endocarditis or vascular infection, occult abscess, vertebral infection, extrapulmonary TB, exposure-associated zoonoses, acute HIV, and endemic fungi in the appropriate host Cultures before antibiotics; targeted imaging, echocardiography, or tissue; organism-specific tests driven by the exposure. Noninfectious inflammation Giant cell or other vasculitis, Still's disease, connective-tissue disease, sarcoidosis, inflammatory bowel disease Look for vascular, articular, skin, renal, pulmonary, and GI manifestations. Interpret serology with the examination and organ findings. Malignancy Lymphoma and other hematologic disease, selected solid tumors Review blood counts and smear; image and obtain an appropriate node or other lesion for pathology. Other causes Drug fever, venous thromboembolism, thyroiditis, tissue injury, and less often temperature measurement problems Reconstruct medication chronology, test the suspected mechanism, and avoid unsupported labels. Undiagnosed illness A legitimate outcome after adequate evaluation in a clinically stable patient Create a follow-up plan. Empiric antibiotics are usually unnecessary in stable classic FUO. Consider histoplasmosis and tickborne infection in Missouri when the exposure and presentation fit. Include remote residence and travel in the history. Sources Wright et al. FUO and IUO modified Delphi consensus. OFID 2024. · DeSimone et al. AHA scientific statement on blood culture-negative endocarditis. 2025. Noninfectious causes Pattern Consider Next step Older adult, new headache/jaw symptoms, visual change, or inflammatory shoulder/hip stiffness Giant cell arteritis/PMR spectrum Urgent assessment for visual symptoms; directed vascular imaging or biopsy. Fever with rash, arthritis, serositis, renal or pulmonary findings Connective-tissue disease or vasculitis Organ-directed evaluation, urinalysis, and selected serology; involve rheumatology. Spiking fever, transient rash, inflammatory arthritis, neutrophilia Still’s disease Assess infection and malignancy; ferritin supports the pattern but is not diagnostic. Nodes, weight loss, organomegaly, or abnormal blood counts Lymphoma/hematologic disease Obtain suitable tissue; preserve architecture and coordinate flow cytometry. New medicine, rash, eosinophilia, or renal/liver injury Drug fever or systemic drug reaction Review chronology and stop a suspected offending drug safely; assess organ involvement. Painful thyroid or compatible thyroid symptoms Thyroiditis TSH and free T4, with directed thyroid evaluation. Unilateral swelling, pleuritic pain, hypoxemia, or thrombosis risk Venous thromboembolism Use syndrome-appropriate diagnostic testing rather than screening all FUO patients. Sources Contemporary ambulatory FUO approach, CID 2026 · EULAR large vessel vasculitis imaging · EULAR/PReS Still’s disease recommendations Resident core</a:t>
            </a:r>
          </a:p>
          <a:p xmlns:a="http://schemas.openxmlformats.org/drawingml/2006/main">
            <a:r>
              <a:t/>
            </a:r>
          </a:p>
          <a:p xmlns:a="http://schemas.openxmlformats.org/drawingml/2006/main">
            <a:r>
              <a:t>Module section: https://docarcshot.github.io/id-practice-update/lectures/Fever_of_Unknown_Origin_Resident_Fellow_Module.html#differential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Differential diagnosis Category Prioritize when the clinical pattern fits Evaluation Infection Endocarditis or vascular infection, occult abscess, vertebral infection, extrapulmonary TB, exposure-associated zoonoses, acute HIV, and endemic fungi in the appropriate host Cultures before antibiotics; targeted imaging, echocardiography, or tissue; organism-specific tests driven by the exposure. Noninfectious inflammation Giant cell or other vasculitis, Still's disease, connective-tissue disease, sarcoidosis, inflammatory bowel disease Look for vascular, articular, skin, renal, pulmonary, and GI manifestations. Interpret serology with the examination and organ findings. Malignancy Lymphoma and other hematologic disease, selected solid tumors Review blood counts and smear; image and obtain an appropriate node or other lesion for pathology. Other causes Drug fever, venous thromboembolism, thyroiditis, tissue injury, and less often temperature measurement problems Reconstruct medication chronology, test the suspected mechanism, and avoid unsupported labels. Undiagnosed illness A legitimate outcome after adequate evaluation in a clinically stable patient Create a follow-up plan. Empiric antibiotics are usually unnecessary in stable classic FUO. Consider histoplasmosis and tickborne infection in Missouri when the exposure and presentation fit. Include remote residence and travel in the history. Sources Wright et al. FUO and IUO modified Delphi consensus. OFID 2024. · DeSimone et al. AHA scientific statement on blood culture-negative endocarditis. 2025. Noninfectious causes Pattern Consider Next step Older adult, new headache/jaw symptoms, visual change, or inflammatory shoulder/hip stiffness Giant cell arteritis/PMR spectrum Urgent assessment for visual symptoms; directed vascular imaging or biopsy. Fever with rash, arthritis, serositis, renal or pulmonary findings Connective-tissue disease or vasculitis Organ-directed evaluation, urinalysis, and selected serology; involve rheumatology. Spiking fever, transient rash, inflammatory arthritis, neutrophilia Still’s disease Assess infection and malignancy; ferritin supports the pattern but is not diagnostic. Nodes, weight loss, organomegaly, or abnormal blood counts Lymphoma/hematologic disease Obtain suitable tissue; preserve architecture and coordinate flow cytometry. New medicine, rash, eosinophilia, or renal/liver injury Drug fever or systemic drug reaction Review chronology and stop a suspected offending drug safely; assess organ involvement. Painful thyroid or compatible thyroid symptoms Thyroiditis TSH and free T4, with directed thyroid evaluation. Unilateral swelling, pleuritic pain, hypoxemia, or thrombosis risk Venous thromboembolism Use syndrome-appropriate diagnostic testing rather than screening all FUO patients. Sources Contemporary ambulatory FUO approach, CID 2026 · EULAR large vessel vasculitis imaging · EULAR/PReS Still’s disease recommendations Resident core</a:t>
            </a:r>
          </a:p>
          <a:p xmlns:a="http://schemas.openxmlformats.org/drawingml/2006/main">
            <a:r>
              <a:t/>
            </a:r>
          </a:p>
          <a:p xmlns:a="http://schemas.openxmlformats.org/drawingml/2006/main">
            <a:r>
              <a:t>Module section: https://docarcshot.github.io/id-practice-update/lectures/Fever_of_Unknown_Origin_Resident_Fellow_Module.html#differential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Differential diagnosis Category Prioritize when the clinical pattern fits Evaluation Infection Endocarditis or vascular infection, occult abscess, vertebral infection, extrapulmonary TB, exposure-associated zoonoses, acute HIV, and endemic fungi in the appropriate host Cultures before antibiotics; targeted imaging, echocardiography, or tissue; organism-specific tests driven by the exposure. Noninfectious inflammation Giant cell or other vasculitis, Still's disease, connective-tissue disease, sarcoidosis, inflammatory bowel disease Look for vascular, articular, skin, renal, pulmonary, and GI manifestations. Interpret serology with the examination and organ findings. Malignancy Lymphoma and other hematologic disease, selected solid tumors Review blood counts and smear; image and obtain an appropriate node or other lesion for pathology. Other causes Drug fever, venous thromboembolism, thyroiditis, tissue injury, and less often temperature measurement problems Reconstruct medication chronology, test the suspected mechanism, and avoid unsupported labels. Undiagnosed illness A legitimate outcome after adequate evaluation in a clinically stable patient Create a follow-up plan. Empiric antibiotics are usually unnecessary in stable classic FUO. Consider histoplasmosis and tickborne infection in Missouri when the exposure and presentation fit. Include remote residence and travel in the history. Sources Wright et al. FUO and IUO modified Delphi consensus. OFID 2024. · DeSimone et al. AHA scientific statement on blood culture-negative endocarditis. 2025. Noninfectious causes Pattern Consider Next step Older adult, new headache/jaw symptoms, visual change, or inflammatory shoulder/hip stiffness Giant cell arteritis/PMR spectrum Urgent assessment for visual symptoms; directed vascular imaging or biopsy. Fever with rash, arthritis, serositis, renal or pulmonary findings Connective-tissue disease or vasculitis Organ-directed evaluation, urinalysis, and selected serology; involve rheumatology. Spiking fever, transient rash, inflammatory arthritis, neutrophilia Still’s disease Assess infection and malignancy; ferritin supports the pattern but is not diagnostic. Nodes, weight loss, organomegaly, or abnormal blood counts Lymphoma/hematologic disease Obtain suitable tissue; preserve architecture and coordinate flow cytometry. New medicine, rash, eosinophilia, or renal/liver injury Drug fever or systemic drug reaction Review chronology and stop a suspected offending drug safely; assess organ involvement. Painful thyroid or compatible thyroid symptoms Thyroiditis TSH and free T4, with directed thyroid evaluation. Unilateral swelling, pleuritic pain, hypoxemia, or thrombosis risk Venous thromboembolism Use syndrome-appropriate diagnostic testing rather than screening all FUO patients. Sources Contemporary ambulatory FUO approach, CID 2026 · EULAR large vessel vasculitis imaging · EULAR/PReS Still’s disease recommendations Resident core</a:t>
            </a:r>
          </a:p>
          <a:p xmlns:a="http://schemas.openxmlformats.org/drawingml/2006/main">
            <a:r>
              <a:t/>
            </a:r>
          </a:p>
          <a:p xmlns:a="http://schemas.openxmlformats.org/drawingml/2006/main">
            <a:r>
              <a:t>Module section: https://docarcshot.github.io/id-practice-update/lectures/Fever_of_Unknown_Origin_Resident_Fellow_Module.html#differential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Differential diagnosis Category Prioritize when the clinical pattern fits Evaluation Infection Endocarditis or vascular infection, occult abscess, vertebral infection, extrapulmonary TB, exposure-associated zoonoses, acute HIV, and endemic fungi in the appropriate host Cultures before antibiotics; targeted imaging, echocardiography, or tissue; organism-specific tests driven by the exposure. Noninfectious inflammation Giant cell or other vasculitis, Still's disease, connective-tissue disease, sarcoidosis, inflammatory bowel disease Look for vascular, articular, skin, renal, pulmonary, and GI manifestations. Interpret serology with the examination and organ findings. Malignancy Lymphoma and other hematologic disease, selected solid tumors Review blood counts and smear; image and obtain an appropriate node or other lesion for pathology. Other causes Drug fever, venous thromboembolism, thyroiditis, tissue injury, and less often temperature measurement problems Reconstruct medication chronology, test the suspected mechanism, and avoid unsupported labels. Undiagnosed illness A legitimate outcome after adequate evaluation in a clinically stable patient Create a follow-up plan. Empiric antibiotics are usually unnecessary in stable classic FUO. Consider histoplasmosis and tickborne infection in Missouri when the exposure and presentation fit. Include remote residence and travel in the history. Sources Wright et al. FUO and IUO modified Delphi consensus. OFID 2024. · DeSimone et al. AHA scientific statement on blood culture-negative endocarditis. 2025. Noninfectious causes Pattern Consider Next step Older adult, new headache/jaw symptoms, visual change, or inflammatory shoulder/hip stiffness Giant cell arteritis/PMR spectrum Urgent assessment for visual symptoms; directed vascular imaging or biopsy. Fever with rash, arthritis, serositis, renal or pulmonary findings Connective-tissue disease or vasculitis Organ-directed evaluation, urinalysis, and selected serology; involve rheumatology. Spiking fever, transient rash, inflammatory arthritis, neutrophilia Still’s disease Assess infection and malignancy; ferritin supports the pattern but is not diagnostic. Nodes, weight loss, organomegaly, or abnormal blood counts Lymphoma/hematologic disease Obtain suitable tissue; preserve architecture and coordinate flow cytometry. New medicine, rash, eosinophilia, or renal/liver injury Drug fever or systemic drug reaction Review chronology and stop a suspected offending drug safely; assess organ involvement. Painful thyroid or compatible thyroid symptoms Thyroiditis TSH and free T4, with directed thyroid evaluation. Unilateral swelling, pleuritic pain, hypoxemia, or thrombosis risk Venous thromboembolism Use syndrome-appropriate diagnostic testing rather than screening all FUO patients. Sources Contemporary ambulatory FUO approach, CID 2026 · EULAR large vessel vasculitis imaging · EULAR/PReS Still’s disease recommendations Resident core</a:t>
            </a:r>
          </a:p>
          <a:p xmlns:a="http://schemas.openxmlformats.org/drawingml/2006/main">
            <a:r>
              <a:t/>
            </a:r>
          </a:p>
          <a:p xmlns:a="http://schemas.openxmlformats.org/drawingml/2006/main">
            <a:r>
              <a:t>Module section: https://docarcshot.github.io/id-practice-update/lectures/Fever_of_Unknown_Origin_Resident_Fellow_Module.html#differential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Differential diagnosis Category Prioritize when the clinical pattern fits Evaluation Infection Endocarditis or vascular infection, occult abscess, vertebral infection, extrapulmonary TB, exposure-associated zoonoses, acute HIV, and endemic fungi in the appropriate host Cultures before antibiotics; targeted imaging, echocardiography, or tissue; organism-specific tests driven by the exposure. Noninfectious inflammation Giant cell or other vasculitis, Still's disease, connective-tissue disease, sarcoidosis, inflammatory bowel disease Look for vascular, articular, skin, renal, pulmonary, and GI manifestations. Interpret serology with the examination and organ findings. Malignancy Lymphoma and other hematologic disease, selected solid tumors Review blood counts and smear; image and obtain an appropriate node or other lesion for pathology. Other causes Drug fever, venous thromboembolism, thyroiditis, tissue injury, and less often temperature measurement problems Reconstruct medication chronology, test the suspected mechanism, and avoid unsupported labels. Undiagnosed illness A legitimate outcome after adequate evaluation in a clinically stable patient Create a follow-up plan. Empiric antibiotics are usually unnecessary in stable classic FUO. Consider histoplasmosis and tickborne infection in Missouri when the exposure and presentation fit. Include remote residence and travel in the history. Sources Wright et al. FUO and IUO modified Delphi consensus. OFID 2024. · DeSimone et al. AHA scientific statement on blood culture-negative endocarditis. 2025. Noninfectious causes Pattern Consider Next step Older adult, new headache/jaw symptoms, visual change, or inflammatory shoulder/hip stiffness Giant cell arteritis/PMR spectrum Urgent assessment for visual symptoms; directed vascular imaging or biopsy. Fever with rash, arthritis, serositis, renal or pulmonary findings Connective-tissue disease or vasculitis Organ-directed evaluation, urinalysis, and selected serology; involve rheumatology. Spiking fever, transient rash, inflammatory arthritis, neutrophilia Still’s disease Assess infection and malignancy; ferritin supports the pattern but is not diagnostic. Nodes, weight loss, organomegaly, or abnormal blood counts Lymphoma/hematologic disease Obtain suitable tissue; preserve architecture and coordinate flow cytometry. New medicine, rash, eosinophilia, or renal/liver injury Drug fever or systemic drug reaction Review chronology and stop a suspected offending drug safely; assess organ involvement. Painful thyroid or compatible thyroid symptoms Thyroiditis TSH and free T4, with directed thyroid evaluation. Unilateral swelling, pleuritic pain, hypoxemia, or thrombosis risk Venous thromboembolism Use syndrome-appropriate diagnostic testing rather than screening all FUO patients. Sources Contemporary ambulatory FUO approach, CID 2026 · EULAR large vessel vasculitis imaging · EULAR/PReS Still’s disease recommendations Resident core</a:t>
            </a:r>
          </a:p>
          <a:p xmlns:a="http://schemas.openxmlformats.org/drawingml/2006/main">
            <a:r>
              <a:t/>
            </a:r>
          </a:p>
          <a:p xmlns:a="http://schemas.openxmlformats.org/drawingml/2006/main">
            <a:r>
              <a:t>Module section: https://docarcshot.github.io/id-practice-update/lectures/Fever_of_Unknown_Origin_Resident_Fellow_Module.html#differential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Differential diagnosis Category Prioritize when the clinical pattern fits Evaluation Infection Endocarditis or vascular infection, occult abscess, vertebral infection, extrapulmonary TB, exposure-associated zoonoses, acute HIV, and endemic fungi in the appropriate host Cultures before antibiotics; targeted imaging, echocardiography, or tissue; organism-specific tests driven by the exposure. Noninfectious inflammation Giant cell or other vasculitis, Still's disease, connective-tissue disease, sarcoidosis, inflammatory bowel disease Look for vascular, articular, skin, renal, pulmonary, and GI manifestations. Interpret serology with the examination and organ findings. Malignancy Lymphoma and other hematologic disease, selected solid tumors Review blood counts and smear; image and obtain an appropriate node or other lesion for pathology. Other causes Drug fever, venous thromboembolism, thyroiditis, tissue injury, and less often temperature measurement problems Reconstruct medication chronology, test the suspected mechanism, and avoid unsupported labels. Undiagnosed illness A legitimate outcome after adequate evaluation in a clinically stable patient Create a follow-up plan. Empiric antibiotics are usually unnecessary in stable classic FUO. Consider histoplasmosis and tickborne infection in Missouri when the exposure and presentation fit. Include remote residence and travel in the history. Sources Wright et al. FUO and IUO modified Delphi consensus. OFID 2024. · DeSimone et al. AHA scientific statement on blood culture-negative endocarditis. 2025. Noninfectious causes Pattern Consider Next step Older adult, new headache/jaw symptoms, visual change, or inflammatory shoulder/hip stiffness Giant cell arteritis/PMR spectrum Urgent assessment for visual symptoms; directed vascular imaging or biopsy. Fever with rash, arthritis, serositis, renal or pulmonary findings Connective-tissue disease or vasculitis Organ-directed evaluation, urinalysis, and selected serology; involve rheumatology. Spiking fever, transient rash, inflammatory arthritis, neutrophilia Still’s disease Assess infection and malignancy; ferritin supports the pattern but is not diagnostic. Nodes, weight loss, organomegaly, or abnormal blood counts Lymphoma/hematologic disease Obtain suitable tissue; preserve architecture and coordinate flow cytometry. New medicine, rash, eosinophilia, or renal/liver injury Drug fever or systemic drug reaction Review chronology and stop a suspected offending drug safely; assess organ involvement. Painful thyroid or compatible thyroid symptoms Thyroiditis TSH and free T4, with directed thyroid evaluation. Unilateral swelling, pleuritic pain, hypoxemia, or thrombosis risk Venous thromboembolism Use syndrome-appropriate diagnostic testing rather than screening all FUO patients. Sources Contemporary ambulatory FUO approach, CID 2026 · EULAR large vessel vasculitis imaging · EULAR/PReS Still’s disease recommendations Resident core</a:t>
            </a:r>
          </a:p>
          <a:p xmlns:a="http://schemas.openxmlformats.org/drawingml/2006/main">
            <a:r>
              <a:t/>
            </a:r>
          </a:p>
          <a:p xmlns:a="http://schemas.openxmlformats.org/drawingml/2006/main">
            <a:r>
              <a:t>Module section: https://docarcshot.github.io/id-practice-update/lectures/Fever_of_Unknown_Origin_Resident_Fellow_Module.html#differential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Differential diagnosis Category Prioritize when the clinical pattern fits Evaluation Infection Endocarditis or vascular infection, occult abscess, vertebral infection, extrapulmonary TB, exposure-associated zoonoses, acute HIV, and endemic fungi in the appropriate host Cultures before antibiotics; targeted imaging, echocardiography, or tissue; organism-specific tests driven by the exposure. Noninfectious inflammation Giant cell or other vasculitis, Still's disease, connective-tissue disease, sarcoidosis, inflammatory bowel disease Look for vascular, articular, skin, renal, pulmonary, and GI manifestations. Interpret serology with the examination and organ findings. Malignancy Lymphoma and other hematologic disease, selected solid tumors Review blood counts and smear; image and obtain an appropriate node or other lesion for pathology. Other causes Drug fever, venous thromboembolism, thyroiditis, tissue injury, and less often temperature measurement problems Reconstruct medication chronology, test the suspected mechanism, and avoid unsupported labels. Undiagnosed illness A legitimate outcome after adequate evaluation in a clinically stable patient Create a follow-up plan. Empiric antibiotics are usually unnecessary in stable classic FUO. Consider histoplasmosis and tickborne infection in Missouri when the exposure and presentation fit. Include remote residence and travel in the history. Sources Wright et al. FUO and IUO modified Delphi consensus. OFID 2024. · DeSimone et al. AHA scientific statement on blood culture-negative endocarditis. 2025. Noninfectious causes Pattern Consider Next step Older adult, new headache/jaw symptoms, visual change, or inflammatory shoulder/hip stiffness Giant cell arteritis/PMR spectrum Urgent assessment for visual symptoms; directed vascular imaging or biopsy. Fever with rash, arthritis, serositis, renal or pulmonary findings Connective-tissue disease or vasculitis Organ-directed evaluation, urinalysis, and selected serology; involve rheumatology. Spiking fever, transient rash, inflammatory arthritis, neutrophilia Still’s disease Assess infection and malignancy; ferritin supports the pattern but is not diagnostic. Nodes, weight loss, organomegaly, or abnormal blood counts Lymphoma/hematologic disease Obtain suitable tissue; preserve architecture and coordinate flow cytometry. New medicine, rash, eosinophilia, or renal/liver injury Drug fever or systemic drug reaction Review chronology and stop a suspected offending drug safely; assess organ involvement. Painful thyroid or compatible thyroid symptoms Thyroiditis TSH and free T4, with directed thyroid evaluation. Unilateral swelling, pleuritic pain, hypoxemia, or thrombosis risk Venous thromboembolism Use syndrome-appropriate diagnostic testing rather than screening all FUO patients. Sources Contemporary ambulatory FUO approach, CID 2026 · EULAR large vessel vasculitis imaging · EULAR/PReS Still’s disease recommendations Resident core</a:t>
            </a:r>
          </a:p>
          <a:p xmlns:a="http://schemas.openxmlformats.org/drawingml/2006/main">
            <a:r>
              <a:t/>
            </a:r>
          </a:p>
          <a:p xmlns:a="http://schemas.openxmlformats.org/drawingml/2006/main">
            <a:r>
              <a:t>Module section: https://docarcshot.github.io/id-practice-update/lectures/Fever_of_Unknown_Origin_Resident_Fellow_Module.html#differential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Differential diagnosis Category Prioritize when the clinical pattern fits Evaluation Infection Endocarditis or vascular infection, occult abscess, vertebral infection, extrapulmonary TB, exposure-associated zoonoses, acute HIV, and endemic fungi in the appropriate host Cultures before antibiotics; targeted imaging, echocardiography, or tissue; organism-specific tests driven by the exposure. Noninfectious inflammation Giant cell or other vasculitis, Still's disease, connective-tissue disease, sarcoidosis, inflammatory bowel disease Look for vascular, articular, skin, renal, pulmonary, and GI manifestations. Interpret serology with the examination and organ findings. Malignancy Lymphoma and other hematologic disease, selected solid tumors Review blood counts and smear; image and obtain an appropriate node or other lesion for pathology. Other causes Drug fever, venous thromboembolism, thyroiditis, tissue injury, and less often temperature measurement problems Reconstruct medication chronology, test the suspected mechanism, and avoid unsupported labels. Undiagnosed illness A legitimate outcome after adequate evaluation in a clinically stable patient Create a follow-up plan. Empiric antibiotics are usually unnecessary in stable classic FUO. Consider histoplasmosis and tickborne infection in Missouri when the exposure and presentation fit. Include remote residence and travel in the history. Sources Wright et al. FUO and IUO modified Delphi consensus. OFID 2024. · DeSimone et al. AHA scientific statement on blood culture-negative endocarditis. 2025. Noninfectious causes Pattern Consider Next step Older adult, new headache/jaw symptoms, visual change, or inflammatory shoulder/hip stiffness Giant cell arteritis/PMR spectrum Urgent assessment for visual symptoms; directed vascular imaging or biopsy. Fever with rash, arthritis, serositis, renal or pulmonary findings Connective-tissue disease or vasculitis Organ-directed evaluation, urinalysis, and selected serology; involve rheumatology. Spiking fever, transient rash, inflammatory arthritis, neutrophilia Still’s disease Assess infection and malignancy; ferritin supports the pattern but is not diagnostic. Nodes, weight loss, organomegaly, or abnormal blood counts Lymphoma/hematologic disease Obtain suitable tissue; preserve architecture and coordinate flow cytometry. New medicine, rash, eosinophilia, or renal/liver injury Drug fever or systemic drug reaction Review chronology and stop a suspected offending drug safely; assess organ involvement. Painful thyroid or compatible thyroid symptoms Thyroiditis TSH and free T4, with directed thyroid evaluation. Unilateral swelling, pleuritic pain, hypoxemia, or thrombosis risk Venous thromboembolism Use syndrome-appropriate diagnostic testing rather than screening all FUO patients. Sources Contemporary ambulatory FUO approach, CID 2026 · EULAR large vessel vasculitis imaging · EULAR/PReS Still’s disease recommendations Resident core</a:t>
            </a:r>
          </a:p>
          <a:p xmlns:a="http://schemas.openxmlformats.org/drawingml/2006/main">
            <a:r>
              <a:t/>
            </a:r>
          </a:p>
          <a:p xmlns:a="http://schemas.openxmlformats.org/drawingml/2006/main">
            <a:r>
              <a:t>Module section: https://docarcshot.github.io/id-practice-update/lectures/Fever_of_Unknown_Origin_Resident_Fellow_Module.html#initial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Initial workup The tests below follow the 2024 FUO consensus. This baseline evaluation applies to prolonged unexplained fever in an immunocompetent adult. Component Proposed minimum and interpretation Blood testing CBC with differential; comprehensive metabolic panel including calcium and liver tests; ESR, CRP, ferritin, and TSH. Review trends and obtain a smear when counts suggest hematologic disease. Microbiology Three adequately filled blood-culture sets from peripheral draws, before antibiotics when feasible; urinalysis with microscopy and reflex urine culture; HIV Ag/Ab screening; TB infection testing with IGRA or TST. Do not wait for a fever spike to obtain cultures. An IGRA/TST neither diagnoses nor excludes active TB. A positive urine culture still requires assessment for a urinary syndrome. Inflammatory serology The consensus includes ANA, ANCA, and rheumatoid factor. Interpret in clinical context. Follow-up antibodies, complement, and organ-specific testing should be directed by the suspected syndrome. Imaging CT chest, abdomen, and pelvis is preferred by the panel when available; chest radiography plus abdominal ultrasound is an alternative. Contrast choice depends on the suspected lesion and patient factors. Additional tests Hepatitis tests, EBV/CMV tests, fungal antigens, zoonotic serology, echocardiography, spine MRI, and lumbar puncture require a relevant question. They are not all routine FUO screening. Review the original reports and timing. Cultures obtained after antibiotics and inadequate imaging may need to be repeated. Sources Wright et al. FUO and IUO modified Delphi consensus. OFID 2024. · DeSimone et al. AHA scientific statement on blood culture-negative endocarditis. 2025. Additional testing Clinical clue Useful next step Murmur, valve/device, embolic findings, or persistent bacteremia TTE and TEE according to endocarditis suspicion and TTE quality; a limited negative TTE is insufficient. Focal back pain or neurologic signs MRI of the involved spine; urgent evaluation if cord compression is possible. Enlarging node, skin lesion, or imaging target Biopsy with pathology and appropriate microbiology rather than another broad antibody panel. Cytopenias, abnormal smear, or organomegaly Smear review, directed hematologic testing, and possible marrow/tissue evaluation. Meningitis/encephalitis syndrome CSF studies when safe, with imaging and empiric treatment according to urgency. Mononucleosis-like illness or hepatitis Selected EBV/CMV/hepatitis testing. Do not use isolated IgG as proof of the cause of fever. Repeat testing if the original specimen was inadequate, the test was obtained too early, or new findings change the differential. Resident core</a:t>
            </a:r>
          </a:p>
          <a:p xmlns:a="http://schemas.openxmlformats.org/drawingml/2006/main">
            <a:r>
              <a:t/>
            </a:r>
          </a:p>
          <a:p xmlns:a="http://schemas.openxmlformats.org/drawingml/2006/main">
            <a:r>
              <a:t>Module section: https://docarcshot.github.io/id-practice-update/lectures/Fever_of_Unknown_Origin_Resident_Fellow_Module.html#initial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Initial workup The tests below follow the 2024 FUO consensus. This baseline evaluation applies to prolonged unexplained fever in an immunocompetent adult. Component Proposed minimum and interpretation Blood testing CBC with differential; comprehensive metabolic panel including calcium and liver tests; ESR, CRP, ferritin, and TSH. Review trends and obtain a smear when counts suggest hematologic disease. Microbiology Three adequately filled blood-culture sets from peripheral draws, before antibiotics when feasible; urinalysis with microscopy and reflex urine culture; HIV Ag/Ab screening; TB infection testing with IGRA or TST. Do not wait for a fever spike to obtain cultures. An IGRA/TST neither diagnoses nor excludes active TB. A positive urine culture still requires assessment for a urinary syndrome. Inflammatory serology The consensus includes ANA, ANCA, and rheumatoid factor. Interpret in clinical context. Follow-up antibodies, complement, and organ-specific testing should be directed by the suspected syndrome. Imaging CT chest, abdomen, and pelvis is preferred by the panel when available; chest radiography plus abdominal ultrasound is an alternative. Contrast choice depends on the suspected lesion and patient factors. Additional tests Hepatitis tests, EBV/CMV tests, fungal antigens, zoonotic serology, echocardiography, spine MRI, and lumbar puncture require a relevant question. They are not all routine FUO screening. Review the original reports and timing. Cultures obtained after antibiotics and inadequate imaging may need to be repeated. Sources Wright et al. FUO and IUO modified Delphi consensus. OFID 2024. · DeSimone et al. AHA scientific statement on blood culture-negative endocarditis. 2025. Additional testing Clinical clue Useful next step Murmur, valve/device, embolic findings, or persistent bacteremia TTE and TEE according to endocarditis suspicion and TTE quality; a limited negative TTE is insufficient. Focal back pain or neurologic signs MRI of the involved spine; urgent evaluation if cord compression is possible. Enlarging node, skin lesion, or imaging target Biopsy with pathology and appropriate microbiology rather than another broad antibody panel. Cytopenias, abnormal smear, or organomegaly Smear review, directed hematologic testing, and possible marrow/tissue evaluation. Meningitis/encephalitis syndrome CSF studies when safe, with imaging and empiric treatment according to urgency. Mononucleosis-like illness or hepatitis Selected EBV/CMV/hepatitis testing. Do not use isolated IgG as proof of the cause of fever. Repeat testing if the original specimen was inadequate, the test was obtained too early, or new findings change the differential. Resident core</a:t>
            </a:r>
          </a:p>
          <a:p xmlns:a="http://schemas.openxmlformats.org/drawingml/2006/main">
            <a:r>
              <a:t/>
            </a:r>
          </a:p>
          <a:p xmlns:a="http://schemas.openxmlformats.org/drawingml/2006/main">
            <a:r>
              <a:t>Module section: https://docarcshot.github.io/id-practice-update/lectures/Fever_of_Unknown_Origin_Resident_Fellow_Module.html#initial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Initial workup The tests below follow the 2024 FUO consensus. This baseline evaluation applies to prolonged unexplained fever in an immunocompetent adult. Component Proposed minimum and interpretation Blood testing CBC with differential; comprehensive metabolic panel including calcium and liver tests; ESR, CRP, ferritin, and TSH. Review trends and obtain a smear when counts suggest hematologic disease. Microbiology Three adequately filled blood-culture sets from peripheral draws, before antibiotics when feasible; urinalysis with microscopy and reflex urine culture; HIV Ag/Ab screening; TB infection testing with IGRA or TST. Do not wait for a fever spike to obtain cultures. An IGRA/TST neither diagnoses nor excludes active TB. A positive urine culture still requires assessment for a urinary syndrome. Inflammatory serology The consensus includes ANA, ANCA, and rheumatoid factor. Interpret in clinical context. Follow-up antibodies, complement, and organ-specific testing should be directed by the suspected syndrome. Imaging CT chest, abdomen, and pelvis is preferred by the panel when available; chest radiography plus abdominal ultrasound is an alternative. Contrast choice depends on the suspected lesion and patient factors. Additional tests Hepatitis tests, EBV/CMV tests, fungal antigens, zoonotic serology, echocardiography, spine MRI, and lumbar puncture require a relevant question. They are not all routine FUO screening. Review the original reports and timing. Cultures obtained after antibiotics and inadequate imaging may need to be repeated. Sources Wright et al. FUO and IUO modified Delphi consensus. OFID 2024. · DeSimone et al. AHA scientific statement on blood culture-negative endocarditis. 2025. Additional testing Clinical clue Useful next step Murmur, valve/device, embolic findings, or persistent bacteremia TTE and TEE according to endocarditis suspicion and TTE quality; a limited negative TTE is insufficient. Focal back pain or neurologic signs MRI of the involved spine; urgent evaluation if cord compression is possible. Enlarging node, skin lesion, or imaging target Biopsy with pathology and appropriate microbiology rather than another broad antibody panel. Cytopenias, abnormal smear, or organomegaly Smear review, directed hematologic testing, and possible marrow/tissue evaluation. Meningitis/encephalitis syndrome CSF studies when safe, with imaging and empiric treatment according to urgency. Mononucleosis-like illness or hepatitis Selected EBV/CMV/hepatitis testing. Do not use isolated IgG as proof of the cause of fever. Repeat testing if the original specimen was inadequate, the test was obtained too early, or new findings change the differential. Resident core</a:t>
            </a:r>
          </a:p>
          <a:p xmlns:a="http://schemas.openxmlformats.org/drawingml/2006/main">
            <a:r>
              <a:t/>
            </a:r>
          </a:p>
          <a:p xmlns:a="http://schemas.openxmlformats.org/drawingml/2006/main">
            <a:r>
              <a:t>Module section: https://docarcshot.github.io/id-practice-update/lectures/Fever_of_Unknown_Origin_Resident_Fellow_Module.html#initial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Initial workup The tests below follow the 2024 FUO consensus. This baseline evaluation applies to prolonged unexplained fever in an immunocompetent adult. Component Proposed minimum and interpretation Blood testing CBC with differential; comprehensive metabolic panel including calcium and liver tests; ESR, CRP, ferritin, and TSH. Review trends and obtain a smear when counts suggest hematologic disease. Microbiology Three adequately filled blood-culture sets from peripheral draws, before antibiotics when feasible; urinalysis with microscopy and reflex urine culture; HIV Ag/Ab screening; TB infection testing with IGRA or TST. Do not wait for a fever spike to obtain cultures. An IGRA/TST neither diagnoses nor excludes active TB. A positive urine culture still requires assessment for a urinary syndrome. Inflammatory serology The consensus includes ANA, ANCA, and rheumatoid factor. Interpret in clinical context. Follow-up antibodies, complement, and organ-specific testing should be directed by the suspected syndrome. Imaging CT chest, abdomen, and pelvis is preferred by the panel when available; chest radiography plus abdominal ultrasound is an alternative. Contrast choice depends on the suspected lesion and patient factors. Additional tests Hepatitis tests, EBV/CMV tests, fungal antigens, zoonotic serology, echocardiography, spine MRI, and lumbar puncture require a relevant question. They are not all routine FUO screening. Review the original reports and timing. Cultures obtained after antibiotics and inadequate imaging may need to be repeated. Sources Wright et al. FUO and IUO modified Delphi consensus. OFID 2024. · DeSimone et al. AHA scientific statement on blood culture-negative endocarditis. 2025. Additional testing Clinical clue Useful next step Murmur, valve/device, embolic findings, or persistent bacteremia TTE and TEE according to endocarditis suspicion and TTE quality; a limited negative TTE is insufficient. Focal back pain or neurologic signs MRI of the involved spine; urgent evaluation if cord compression is possible. Enlarging node, skin lesion, or imaging target Biopsy with pathology and appropriate microbiology rather than another broad antibody panel. Cytopenias, abnormal smear, or organomegaly Smear review, directed hematologic testing, and possible marrow/tissue evaluation. Meningitis/encephalitis syndrome CSF studies when safe, with imaging and empiric treatment according to urgency. Mononucleosis-like illness or hepatitis Selected EBV/CMV/hepatitis testing. Do not use isolated IgG as proof of the cause of fever. Repeat testing if the original specimen was inadequate, the test was obtained too early, or new findings change the differential. Resident core</a:t>
            </a:r>
          </a:p>
          <a:p xmlns:a="http://schemas.openxmlformats.org/drawingml/2006/main">
            <a:r>
              <a:t/>
            </a:r>
          </a:p>
          <a:p xmlns:a="http://schemas.openxmlformats.org/drawingml/2006/main">
            <a:r>
              <a:t>Module section: https://docarcshot.github.io/id-practice-update/lectures/Fever_of_Unknown_Origin_Resident_Fellow_Module.html#initial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Initial workup The tests below follow the 2024 FUO consensus. This baseline evaluation applies to prolonged unexplained fever in an immunocompetent adult. Component Proposed minimum and interpretation Blood testing CBC with differential; comprehensive metabolic panel including calcium and liver tests; ESR, CRP, ferritin, and TSH. Review trends and obtain a smear when counts suggest hematologic disease. Microbiology Three adequately filled blood-culture sets from peripheral draws, before antibiotics when feasible; urinalysis with microscopy and reflex urine culture; HIV Ag/Ab screening; TB infection testing with IGRA or TST. Do not wait for a fever spike to obtain cultures. An IGRA/TST neither diagnoses nor excludes active TB. A positive urine culture still requires assessment for a urinary syndrome. Inflammatory serology The consensus includes ANA, ANCA, and rheumatoid factor. Interpret in clinical context. Follow-up antibodies, complement, and organ-specific testing should be directed by the suspected syndrome. Imaging CT chest, abdomen, and pelvis is preferred by the panel when available; chest radiography plus abdominal ultrasound is an alternative. Contrast choice depends on the suspected lesion and patient factors. Additional tests Hepatitis tests, EBV/CMV tests, fungal antigens, zoonotic serology, echocardiography, spine MRI, and lumbar puncture require a relevant question. They are not all routine FUO screening. Review the original reports and timing. Cultures obtained after antibiotics and inadequate imaging may need to be repeated. Sources Wright et al. FUO and IUO modified Delphi consensus. OFID 2024. · DeSimone et al. AHA scientific statement on blood culture-negative endocarditis. 2025. Additional testing Clinical clue Useful next step Murmur, valve/device, embolic findings, or persistent bacteremia TTE and TEE according to endocarditis suspicion and TTE quality; a limited negative TTE is insufficient. Focal back pain or neurologic signs MRI of the involved spine; urgent evaluation if cord compression is possible. Enlarging node, skin lesion, or imaging target Biopsy with pathology and appropriate microbiology rather than another broad antibody panel. Cytopenias, abnormal smear, or organomegaly Smear review, directed hematologic testing, and possible marrow/tissue evaluation. Meningitis/encephalitis syndrome CSF studies when safe, with imaging and empiric treatment according to urgency. Mononucleosis-like illness or hepatitis Selected EBV/CMV/hepatitis testing. Do not use isolated IgG as proof of the cause of fever. Repeat testing if the original specimen was inadequate, the test was obtained too early, or new findings change the differential. Resident core</a:t>
            </a:r>
          </a:p>
          <a:p xmlns:a="http://schemas.openxmlformats.org/drawingml/2006/main">
            <a:r>
              <a:t/>
            </a:r>
          </a:p>
          <a:p xmlns:a="http://schemas.openxmlformats.org/drawingml/2006/main">
            <a:r>
              <a:t>Module section: https://docarcshot.github.io/id-practice-update/lectures/Fever_of_Unknown_Origin_Resident_Fellow_Module.html#initial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Initial workup The tests below follow the 2024 FUO consensus. This baseline evaluation applies to prolonged unexplained fever in an immunocompetent adult. Component Proposed minimum and interpretation Blood testing CBC with differential; comprehensive metabolic panel including calcium and liver tests; ESR, CRP, ferritin, and TSH. Review trends and obtain a smear when counts suggest hematologic disease. Microbiology Three adequately filled blood-culture sets from peripheral draws, before antibiotics when feasible; urinalysis with microscopy and reflex urine culture; HIV Ag/Ab screening; TB infection testing with IGRA or TST. Do not wait for a fever spike to obtain cultures. An IGRA/TST neither diagnoses nor excludes active TB. A positive urine culture still requires assessment for a urinary syndrome. Inflammatory serology The consensus includes ANA, ANCA, and rheumatoid factor. Interpret in clinical context. Follow-up antibodies, complement, and organ-specific testing should be directed by the suspected syndrome. Imaging CT chest, abdomen, and pelvis is preferred by the panel when available; chest radiography plus abdominal ultrasound is an alternative. Contrast choice depends on the suspected lesion and patient factors. Additional tests Hepatitis tests, EBV/CMV tests, fungal antigens, zoonotic serology, echocardiography, spine MRI, and lumbar puncture require a relevant question. They are not all routine FUO screening. Review the original reports and timing. Cultures obtained after antibiotics and inadequate imaging may need to be repeated. Sources Wright et al. FUO and IUO modified Delphi consensus. OFID 2024. · DeSimone et al. AHA scientific statement on blood culture-negative endocarditis. 2025. Additional testing Clinical clue Useful next step Murmur, valve/device, embolic findings, or persistent bacteremia TTE and TEE according to endocarditis suspicion and TTE quality; a limited negative TTE is insufficient. Focal back pain or neurologic signs MRI of the involved spine; urgent evaluation if cord compression is possible. Enlarging node, skin lesion, or imaging target Biopsy with pathology and appropriate microbiology rather than another broad antibody panel. Cytopenias, abnormal smear, or organomegaly Smear review, directed hematologic testing, and possible marrow/tissue evaluation. Meningitis/encephalitis syndrome CSF studies when safe, with imaging and empiric treatment according to urgency. Mononucleosis-like illness or hepatitis Selected EBV/CMV/hepatitis testing. Do not use isolated IgG as proof of the cause of fever. Repeat testing if the original specimen was inadequate, the test was obtained too early, or new findings change the differential. Resident core</a:t>
            </a:r>
          </a:p>
          <a:p xmlns:a="http://schemas.openxmlformats.org/drawingml/2006/main">
            <a:r>
              <a:t/>
            </a:r>
          </a:p>
          <a:p xmlns:a="http://schemas.openxmlformats.org/drawingml/2006/main">
            <a:r>
              <a:t>Module section: https://docarcshot.github.io/id-practice-update/lectures/Fever_of_Unknown_Origin_Resident_Fellow_Module.html#initial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Initial workup The tests below follow the 2024 FUO consensus. This baseline evaluation applies to prolonged unexplained fever in an immunocompetent adult. Component Proposed minimum and interpretation Blood testing CBC with differential; comprehensive metabolic panel including calcium and liver tests; ESR, CRP, ferritin, and TSH. Review trends and obtain a smear when counts suggest hematologic disease. Microbiology Three adequately filled blood-culture sets from peripheral draws, before antibiotics when feasible; urinalysis with microscopy and reflex urine culture; HIV Ag/Ab screening; TB infection testing with IGRA or TST. Do not wait for a fever spike to obtain cultures. An IGRA/TST neither diagnoses nor excludes active TB. A positive urine culture still requires assessment for a urinary syndrome. Inflammatory serology The consensus includes ANA, ANCA, and rheumatoid factor. Interpret in clinical context. Follow-up antibodies, complement, and organ-specific testing should be directed by the suspected syndrome. Imaging CT chest, abdomen, and pelvis is preferred by the panel when available; chest radiography plus abdominal ultrasound is an alternative. Contrast choice depends on the suspected lesion and patient factors. Additional tests Hepatitis tests, EBV/CMV tests, fungal antigens, zoonotic serology, echocardiography, spine MRI, and lumbar puncture require a relevant question. They are not all routine FUO screening. Review the original reports and timing. Cultures obtained after antibiotics and inadequate imaging may need to be repeated. Sources Wright et al. FUO and IUO modified Delphi consensus. OFID 2024. · DeSimone et al. AHA scientific statement on blood culture-negative endocarditis. 2025. Additional testing Clinical clue Useful next step Murmur, valve/device, embolic findings, or persistent bacteremia TTE and TEE according to endocarditis suspicion and TTE quality; a limited negative TTE is insufficient. Focal back pain or neurologic signs MRI of the involved spine; urgent evaluation if cord compression is possible. Enlarging node, skin lesion, or imaging target Biopsy with pathology and appropriate microbiology rather than another broad antibody panel. Cytopenias, abnormal smear, or organomegaly Smear review, directed hematologic testing, and possible marrow/tissue evaluation. Meningitis/encephalitis syndrome CSF studies when safe, with imaging and empiric treatment according to urgency. Mononucleosis-like illness or hepatitis Selected EBV/CMV/hepatitis testing. Do not use isolated IgG as proof of the cause of fever. Repeat testing if the original specimen was inadequate, the test was obtained too early, or new findings change the differential. Resident core</a:t>
            </a:r>
          </a:p>
          <a:p xmlns:a="http://schemas.openxmlformats.org/drawingml/2006/main">
            <a:r>
              <a:t/>
            </a:r>
          </a:p>
          <a:p xmlns:a="http://schemas.openxmlformats.org/drawingml/2006/main">
            <a:r>
              <a:t>Module section: https://docarcshot.github.io/id-practice-update/lectures/Fever_of_Unknown_Origin_Resident_Fellow_Module.html#initial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Initial workup The tests below follow the 2024 FUO consensus. This baseline evaluation applies to prolonged unexplained fever in an immunocompetent adult. Component Proposed minimum and interpretation Blood testing CBC with differential; comprehensive metabolic panel including calcium and liver tests; ESR, CRP, ferritin, and TSH. Review trends and obtain a smear when counts suggest hematologic disease. Microbiology Three adequately filled blood-culture sets from peripheral draws, before antibiotics when feasible; urinalysis with microscopy and reflex urine culture; HIV Ag/Ab screening; TB infection testing with IGRA or TST. Do not wait for a fever spike to obtain cultures. An IGRA/TST neither diagnoses nor excludes active TB. A positive urine culture still requires assessment for a urinary syndrome. Inflammatory serology The consensus includes ANA, ANCA, and rheumatoid factor. Interpret in clinical context. Follow-up antibodies, complement, and organ-specific testing should be directed by the suspected syndrome. Imaging CT chest, abdomen, and pelvis is preferred by the panel when available; chest radiography plus abdominal ultrasound is an alternative. Contrast choice depends on the suspected lesion and patient factors. Additional tests Hepatitis tests, EBV/CMV tests, fungal antigens, zoonotic serology, echocardiography, spine MRI, and lumbar puncture require a relevant question. They are not all routine FUO screening. Review the original reports and timing. Cultures obtained after antibiotics and inadequate imaging may need to be repeated. Sources Wright et al. FUO and IUO modified Delphi consensus. OFID 2024. · DeSimone et al. AHA scientific statement on blood culture-negative endocarditis. 2025. Additional testing Clinical clue Useful next step Murmur, valve/device, embolic findings, or persistent bacteremia TTE and TEE according to endocarditis suspicion and TTE quality; a limited negative TTE is insufficient. Focal back pain or neurologic signs MRI of the involved spine; urgent evaluation if cord compression is possible. Enlarging node, skin lesion, or imaging target Biopsy with pathology and appropriate microbiology rather than another broad antibody panel. Cytopenias, abnormal smear, or organomegaly Smear review, directed hematologic testing, and possible marrow/tissue evaluation. Meningitis/encephalitis syndrome CSF studies when safe, with imaging and empiric treatment according to urgency. Mononucleosis-like illness or hepatitis Selected EBV/CMV/hepatitis testing. Do not use isolated IgG as proof of the cause of fever. Repeat testing if the original specimen was inadequate, the test was obtained too early, or new findings change the differential. Resident core</a:t>
            </a:r>
          </a:p>
          <a:p xmlns:a="http://schemas.openxmlformats.org/drawingml/2006/main">
            <a:r>
              <a:t/>
            </a:r>
          </a:p>
          <a:p xmlns:a="http://schemas.openxmlformats.org/drawingml/2006/main">
            <a:r>
              <a:t>Module section: https://docarcshot.github.io/id-practice-update/lectures/Fever_of_Unknown_Origin_Resident_Fellow_Module.html#initial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Initial workup The tests below follow the 2024 FUO consensus. This baseline evaluation applies to prolonged unexplained fever in an immunocompetent adult. Component Proposed minimum and interpretation Blood testing CBC with differential; comprehensive metabolic panel including calcium and liver tests; ESR, CRP, ferritin, and TSH. Review trends and obtain a smear when counts suggest hematologic disease. Microbiology Three adequately filled blood-culture sets from peripheral draws, before antibiotics when feasible; urinalysis with microscopy and reflex urine culture; HIV Ag/Ab screening; TB infection testing with IGRA or TST. Do not wait for a fever spike to obtain cultures. An IGRA/TST neither diagnoses nor excludes active TB. A positive urine culture still requires assessment for a urinary syndrome. Inflammatory serology The consensus includes ANA, ANCA, and rheumatoid factor. Interpret in clinical context. Follow-up antibodies, complement, and organ-specific testing should be directed by the suspected syndrome. Imaging CT chest, abdomen, and pelvis is preferred by the panel when available; chest radiography plus abdominal ultrasound is an alternative. Contrast choice depends on the suspected lesion and patient factors. Additional tests Hepatitis tests, EBV/CMV tests, fungal antigens, zoonotic serology, echocardiography, spine MRI, and lumbar puncture require a relevant question. They are not all routine FUO screening. Review the original reports and timing. Cultures obtained after antibiotics and inadequate imaging may need to be repeated. Sources Wright et al. FUO and IUO modified Delphi consensus. OFID 2024. · DeSimone et al. AHA scientific statement on blood culture-negative endocarditis. 2025. Additional testing Clinical clue Useful next step Murmur, valve/device, embolic findings, or persistent bacteremia TTE and TEE according to endocarditis suspicion and TTE quality; a limited negative TTE is insufficient. Focal back pain or neurologic signs MRI of the involved spine; urgent evaluation if cord compression is possible. Enlarging node, skin lesion, or imaging target Biopsy with pathology and appropriate microbiology rather than another broad antibody panel. Cytopenias, abnormal smear, or organomegaly Smear review, directed hematologic testing, and possible marrow/tissue evaluation. Meningitis/encephalitis syndrome CSF studies when safe, with imaging and empiric treatment according to urgency. Mononucleosis-like illness or hepatitis Selected EBV/CMV/hepatitis testing. Do not use isolated IgG as proof of the cause of fever. Repeat testing if the original specimen was inadequate, the test was obtained too early, or new findings change the differential. Resident core</a:t>
            </a:r>
          </a:p>
          <a:p xmlns:a="http://schemas.openxmlformats.org/drawingml/2006/main">
            <a:r>
              <a:t/>
            </a:r>
          </a:p>
          <a:p xmlns:a="http://schemas.openxmlformats.org/drawingml/2006/main">
            <a:r>
              <a:t>Module section: https://docarcshot.github.io/id-practice-update/lectures/Fever_of_Unknown_Origin_Resident_Fellow_Module.html#initial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Initial workup The tests below follow the 2024 FUO consensus. This baseline evaluation applies to prolonged unexplained fever in an immunocompetent adult. Component Proposed minimum and interpretation Blood testing CBC with differential; comprehensive metabolic panel including calcium and liver tests; ESR, CRP, ferritin, and TSH. Review trends and obtain a smear when counts suggest hematologic disease. Microbiology Three adequately filled blood-culture sets from peripheral draws, before antibiotics when feasible; urinalysis with microscopy and reflex urine culture; HIV Ag/Ab screening; TB infection testing with IGRA or TST. Do not wait for a fever spike to obtain cultures. An IGRA/TST neither diagnoses nor excludes active TB. A positive urine culture still requires assessment for a urinary syndrome. Inflammatory serology The consensus includes ANA, ANCA, and rheumatoid factor. Interpret in clinical context. Follow-up antibodies, complement, and organ-specific testing should be directed by the suspected syndrome. Imaging CT chest, abdomen, and pelvis is preferred by the panel when available; chest radiography plus abdominal ultrasound is an alternative. Contrast choice depends on the suspected lesion and patient factors. Additional tests Hepatitis tests, EBV/CMV tests, fungal antigens, zoonotic serology, echocardiography, spine MRI, and lumbar puncture require a relevant question. They are not all routine FUO screening. Review the original reports and timing. Cultures obtained after antibiotics and inadequate imaging may need to be repeated. Sources Wright et al. FUO and IUO modified Delphi consensus. OFID 2024. · DeSimone et al. AHA scientific statement on blood culture-negative endocarditis. 2025. Additional testing Clinical clue Useful next step Murmur, valve/device, embolic findings, or persistent bacteremia TTE and TEE according to endocarditis suspicion and TTE quality; a limited negative TTE is insufficient. Focal back pain or neurologic signs MRI of the involved spine; urgent evaluation if cord compression is possible. Enlarging node, skin lesion, or imaging target Biopsy with pathology and appropriate microbiology rather than another broad antibody panel. Cytopenias, abnormal smear, or organomegaly Smear review, directed hematologic testing, and possible marrow/tissue evaluation. Meningitis/encephalitis syndrome CSF studies when safe, with imaging and empiric treatment according to urgency. Mononucleosis-like illness or hepatitis Selected EBV/CMV/hepatitis testing. Do not use isolated IgG as proof of the cause of fever. Repeat testing if the original specimen was inadequate, the test was obtained too early, or new findings change the differential. Resident core</a:t>
            </a:r>
          </a:p>
          <a:p xmlns:a="http://schemas.openxmlformats.org/drawingml/2006/main">
            <a:r>
              <a:t/>
            </a:r>
          </a:p>
          <a:p xmlns:a="http://schemas.openxmlformats.org/drawingml/2006/main">
            <a:r>
              <a:t>Module section: https://docarcshot.github.io/id-practice-update/lectures/Fever_of_Unknown_Origin_Resident_Fellow_Module.html#initial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Initial workup The tests below follow the 2024 FUO consensus. This baseline evaluation applies to prolonged unexplained fever in an immunocompetent adult. Component Proposed minimum and interpretation Blood testing CBC with differential; comprehensive metabolic panel including calcium and liver tests; ESR, CRP, ferritin, and TSH. Review trends and obtain a smear when counts suggest hematologic disease. Microbiology Three adequately filled blood-culture sets from peripheral draws, before antibiotics when feasible; urinalysis with microscopy and reflex urine culture; HIV Ag/Ab screening; TB infection testing with IGRA or TST. Do not wait for a fever spike to obtain cultures. An IGRA/TST neither diagnoses nor excludes active TB. A positive urine culture still requires assessment for a urinary syndrome. Inflammatory serology The consensus includes ANA, ANCA, and rheumatoid factor. Interpret in clinical context. Follow-up antibodies, complement, and organ-specific testing should be directed by the suspected syndrome. Imaging CT chest, abdomen, and pelvis is preferred by the panel when available; chest radiography plus abdominal ultrasound is an alternative. Contrast choice depends on the suspected lesion and patient factors. Additional tests Hepatitis tests, EBV/CMV tests, fungal antigens, zoonotic serology, echocardiography, spine MRI, and lumbar puncture require a relevant question. They are not all routine FUO screening. Review the original reports and timing. Cultures obtained after antibiotics and inadequate imaging may need to be repeated. Sources Wright et al. FUO and IUO modified Delphi consensus. OFID 2024. · DeSimone et al. AHA scientific statement on blood culture-negative endocarditis. 2025. Additional testing Clinical clue Useful next step Murmur, valve/device, embolic findings, or persistent bacteremia TTE and TEE according to endocarditis suspicion and TTE quality; a limited negative TTE is insufficient. Focal back pain or neurologic signs MRI of the involved spine; urgent evaluation if cord compression is possible. Enlarging node, skin lesion, or imaging target Biopsy with pathology and appropriate microbiology rather than another broad antibody panel. Cytopenias, abnormal smear, or organomegaly Smear review, directed hematologic testing, and possible marrow/tissue evaluation. Meningitis/encephalitis syndrome CSF studies when safe, with imaging and empiric treatment according to urgency. Mononucleosis-like illness or hepatitis Selected EBV/CMV/hepatitis testing. Do not use isolated IgG as proof of the cause of fever. Repeat testing if the original specimen was inadequate, the test was obtained too early, or new findings change the differential. Resident core</a:t>
            </a:r>
          </a:p>
          <a:p xmlns:a="http://schemas.openxmlformats.org/drawingml/2006/main">
            <a:r>
              <a:t/>
            </a:r>
          </a:p>
          <a:p xmlns:a="http://schemas.openxmlformats.org/drawingml/2006/main">
            <a:r>
              <a:t>Module section: https://docarcshot.github.io/id-practice-update/lectures/Fever_of_Unknown_Origin_Resident_Fellow_Module.html#next</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Imaging and biopsy Use targeted imaging for focal findings. Obtain echocardiography for suspected endocarditis and MRI for suspected spinal infection. An accessible lesion may be suitable for biopsy. Consider FDG PET/CT after an unrevealing initial evaluation, particularly when inflammatory markers remain elevated. It may identify a focus for further testing or biopsy. Uptake occurs with infection, inflammation, and malignancy. The 2024 EANM review found PET/CT diagnostically helpful in about 50% to 60% of patients. The studies were mostly observational and used different definitions of diagnostic yield. A negative scan may support observation in a stable patient but does not exclude all causes of fever. Before biopsy, arrange specimens for pathology and any indicated cultures or molecular tests. Send fresh sterile tissue for cultures and a separate specimen in formalin for histology. Glucocorticoids can reduce inflammatory PET signal. Discuss timing before starting them when the patient is stable, but never delay urgent treatment to improve a scan. Sources Hess et al. EANM consensus on FDG PET/CT in FUO and IUO. 2024. · DeSimone et al. AHA scientific statement on blood culture-negative endocarditis. 2025. Resident core</a:t>
            </a:r>
          </a:p>
          <a:p xmlns:a="http://schemas.openxmlformats.org/drawingml/2006/main">
            <a:r>
              <a:t/>
            </a:r>
          </a:p>
          <a:p xmlns:a="http://schemas.openxmlformats.org/drawingml/2006/main">
            <a:r>
              <a:t>Module section: https://docarcshot.github.io/id-practice-update/lectures/Fever_of_Unknown_Origin_Resident_Fellow_Module.html#next</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Imaging and biopsy Use targeted imaging for focal findings. Obtain echocardiography for suspected endocarditis and MRI for suspected spinal infection. An accessible lesion may be suitable for biopsy. Consider FDG PET/CT after an unrevealing initial evaluation, particularly when inflammatory markers remain elevated. It may identify a focus for further testing or biopsy. Uptake occurs with infection, inflammation, and malignancy. The 2024 EANM review found PET/CT diagnostically helpful in about 50% to 60% of patients. The studies were mostly observational and used different definitions of diagnostic yield. A negative scan may support observation in a stable patient but does not exclude all causes of fever. Before biopsy, arrange specimens for pathology and any indicated cultures or molecular tests. Send fresh sterile tissue for cultures and a separate specimen in formalin for histology. Glucocorticoids can reduce inflammatory PET signal. Discuss timing before starting them when the patient is stable, but never delay urgent treatment to improve a scan. Sources Hess et al. EANM consensus on FDG PET/CT in FUO and IUO. 2024. · DeSimone et al. AHA scientific statement on blood culture-negative endocarditis. 2025. Resident core</a:t>
            </a:r>
          </a:p>
          <a:p xmlns:a="http://schemas.openxmlformats.org/drawingml/2006/main">
            <a:r>
              <a:t/>
            </a:r>
          </a:p>
          <a:p xmlns:a="http://schemas.openxmlformats.org/drawingml/2006/main">
            <a:r>
              <a:t>Module section: https://docarcshot.github.io/id-practice-update/lectures/Fever_of_Unknown_Origin_Resident_Fellow_Module.html#next</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Imaging and biopsy Use targeted imaging for focal findings. Obtain echocardiography for suspected endocarditis and MRI for suspected spinal infection. An accessible lesion may be suitable for biopsy. Consider FDG PET/CT after an unrevealing initial evaluation, particularly when inflammatory markers remain elevated. It may identify a focus for further testing or biopsy. Uptake occurs with infection, inflammation, and malignancy. The 2024 EANM review found PET/CT diagnostically helpful in about 50% to 60% of patients. The studies were mostly observational and used different definitions of diagnostic yield. A negative scan may support observation in a stable patient but does not exclude all causes of fever. Before biopsy, arrange specimens for pathology and any indicated cultures or molecular tests. Send fresh sterile tissue for cultures and a separate specimen in formalin for histology. Glucocorticoids can reduce inflammatory PET signal. Discuss timing before starting them when the patient is stable, but never delay urgent treatment to improve a scan. Sources Hess et al. EANM consensus on FDG PET/CT in FUO and IUO. 2024. · DeSimone et al. AHA scientific statement on blood culture-negative endocarditis. 2025. Resident core</a:t>
            </a:r>
          </a:p>
          <a:p xmlns:a="http://schemas.openxmlformats.org/drawingml/2006/main">
            <a:r>
              <a:t/>
            </a:r>
          </a:p>
          <a:p xmlns:a="http://schemas.openxmlformats.org/drawingml/2006/main">
            <a:r>
              <a:t>Module section: https://docarcshot.github.io/id-practice-update/lectures/Fever_of_Unknown_Origin_Resident_Fellow_Module.html#next</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Imaging and biopsy Use targeted imaging for focal findings. Obtain echocardiography for suspected endocarditis and MRI for suspected spinal infection. An accessible lesion may be suitable for biopsy. Consider FDG PET/CT after an unrevealing initial evaluation, particularly when inflammatory markers remain elevated. It may identify a focus for further testing or biopsy. Uptake occurs with infection, inflammation, and malignancy. The 2024 EANM review found PET/CT diagnostically helpful in about 50% to 60% of patients. The studies were mostly observational and used different definitions of diagnostic yield. A negative scan may support observation in a stable patient but does not exclude all causes of fever. Before biopsy, arrange specimens for pathology and any indicated cultures or molecular tests. Send fresh sterile tissue for cultures and a separate specimen in formalin for histology. Glucocorticoids can reduce inflammatory PET signal. Discuss timing before starting them when the patient is stable, but never delay urgent treatment to improve a scan. Sources Hess et al. EANM consensus on FDG PET/CT in FUO and IUO. 2024. · DeSimone et al. AHA scientific statement on blood culture-negative endocarditis. 2025. Resident core</a:t>
            </a:r>
          </a:p>
          <a:p xmlns:a="http://schemas.openxmlformats.org/drawingml/2006/main">
            <a:r>
              <a:t/>
            </a:r>
          </a:p>
          <a:p xmlns:a="http://schemas.openxmlformats.org/drawingml/2006/main">
            <a:r>
              <a:t>Module section: https://docarcshot.github.io/id-practice-update/lectures/Fever_of_Unknown_Origin_Resident_Fellow_Module.html#management</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8. Management and follow-up For a stable immunocompetent patient with no urgent treatable syndrome, provide hydration, nutrition, and symptom control while pursuing diagnosis. Fever suppression is for comfort; response to acetaminophen, an NSAID, or steroids does not establish the cause. Stop a suspected offending drug if it can be safely discontinued. If the drug is treating a confirmed infection, select an alternative when needed. Before discharge, arrange follow-up and assign responsibility for pending results. Reassessment should include new symptoms, examination findings, blood counts, and renal or liver abnormalities. Choose the interval according to the patient’s condition. Urgent reassessment is needed for hypotension, dyspnea, confusion, new neurologic or visual symptoms, severe focal pain, poor intake, bleeding, or other deterioration. Sources Wright et al. FUO and IUO modified Delphi consensus. OFID 2024. · Someko et al. Drug fever. Annals of Clinical Epidemiology 2023. Resident core</a:t>
            </a:r>
          </a:p>
          <a:p xmlns:a="http://schemas.openxmlformats.org/drawingml/2006/main">
            <a:r>
              <a:t/>
            </a:r>
          </a:p>
          <a:p xmlns:a="http://schemas.openxmlformats.org/drawingml/2006/main">
            <a:r>
              <a:t>Module section: https://docarcshot.github.io/id-practice-update/lectures/Fever_of_Unknown_Origin_Resident_Fellow_Module.html#management</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8. Management and follow-up For a stable immunocompetent patient with no urgent treatable syndrome, provide hydration, nutrition, and symptom control while pursuing diagnosis. Fever suppression is for comfort; response to acetaminophen, an NSAID, or steroids does not establish the cause. Stop a suspected offending drug if it can be safely discontinued. If the drug is treating a confirmed infection, select an alternative when needed. Before discharge, arrange follow-up and assign responsibility for pending results. Reassessment should include new symptoms, examination findings, blood counts, and renal or liver abnormalities. Choose the interval according to the patient’s condition. Urgent reassessment is needed for hypotension, dyspnea, confusion, new neurologic or visual symptoms, severe focal pain, poor intake, bleeding, or other deterioration. Sources Wright et al. FUO and IUO modified Delphi consensus. OFID 2024. · Someko et al. Drug fever. Annals of Clinical Epidemiology 2023. Resident core</a:t>
            </a:r>
          </a:p>
          <a:p xmlns:a="http://schemas.openxmlformats.org/drawingml/2006/main">
            <a:r>
              <a:t/>
            </a:r>
          </a:p>
          <a:p xmlns:a="http://schemas.openxmlformats.org/drawingml/2006/main">
            <a:r>
              <a:t>Module section: https://docarcshot.github.io/id-practice-update/lectures/Fever_of_Unknown_Origin_Resident_Fellow_Module.html#management</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8. Management and follow-up For a stable immunocompetent patient with no urgent treatable syndrome, provide hydration, nutrition, and symptom control while pursuing diagnosis. Fever suppression is for comfort; response to acetaminophen, an NSAID, or steroids does not establish the cause. Stop a suspected offending drug if it can be safely discontinued. If the drug is treating a confirmed infection, select an alternative when needed. Before discharge, arrange follow-up and assign responsibility for pending results. Reassessment should include new symptoms, examination findings, blood counts, and renal or liver abnormalities. Choose the interval according to the patient’s condition. Urgent reassessment is needed for hypotension, dyspnea, confusion, new neurologic or visual symptoms, severe focal pain, poor intake, bleeding, or other deterioration. Sources Wright et al. FUO and IUO modified Delphi consensus. OFID 2024. · Someko et al. Drug fever. Annals of Clinical Epidemiology 2023. Resident core</a:t>
            </a:r>
          </a:p>
          <a:p xmlns:a="http://schemas.openxmlformats.org/drawingml/2006/main">
            <a:r>
              <a:t/>
            </a:r>
          </a:p>
          <a:p xmlns:a="http://schemas.openxmlformats.org/drawingml/2006/main">
            <a:r>
              <a:t>Module section: https://docarcshot.github.io/id-practice-update/lectures/Fever_of_Unknown_Origin_Resident_Fellow_Module.html#cases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Cases For each case, discuss the differential, next test, and whether treatment should begin before results are available. Case 1. A 68-year-old has five weeks of documented fever, elevated CRP, fatigue, and negative cultures. CT chest/abdomen/pelvis is unrevealing. On repeat questioning, there is new jaw fatigue with chewing and transient monocular dimming. What changes now? Discussion Suspect giant cell arteritis with threatened vision. Arrange same-day specialist assessment and start glucocorticoids without waiting for PET/CT or biopsy. Obtain temporal and axillary ultrasound where expertise is available, or temporal artery biopsy according to local practice. Case 2. A stable patient with a prosthetic valve has four weeks of fever and recent amoxicillin exposure. Blood cultures are negative and a limited TTE shows no vegetation. Should empiric treatment be stopped because this is “noninfectious FUO”? Discussion A prosthetic valve and prior antibiotics raise concern for culture-negative endocarditis. Review the cultures and antibiotic history, obtain additional cultures when indicated, and arrange TEE and endocarditis consultation. Add Coxiella and Bartonella testing if cultures remain negative; select other tests according to exposures. Case 3. A 45-year-old has four weeks of confirmed fever. Baseline evaluation and PET/CT are unrevealing. Counts, renal function, and liver tests are stable, there is no focal syndrome, and the patient is eating and ambulatory. Is a two-week broad-spectrum antibiotic course the next step? Discussion An empiric antibiotic course is not indicated. Review medications and the completed workup, provide symptomatic care, and arrange follow-up. New focal symptoms or worsening laboratory findings warrant further evaluation. Sources Wright et al. FUO and IUO modified Delphi consensus. OFID 2024. · Dejaco et al. EULAR imaging recommendations for large vessel vasculitis, 2023 update. Published 2024. · DeSimone et al. AHA scientific statement on blood culture-negative endocarditis. 2025. · Hess et al. EANM consensus on FDG PET/CT in FUO and IUO. 2024. Resident core</a:t>
            </a:r>
          </a:p>
          <a:p xmlns:a="http://schemas.openxmlformats.org/drawingml/2006/main">
            <a:r>
              <a:t/>
            </a:r>
          </a:p>
          <a:p xmlns:a="http://schemas.openxmlformats.org/drawingml/2006/main">
            <a:r>
              <a:t>Module section: https://docarcshot.github.io/id-practice-update/lectures/Fever_of_Unknown_Origin_Resident_Fellow_Module.html#cases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Cases For each case, discuss the differential, next test, and whether treatment should begin before results are available. Case 1. A 68-year-old has five weeks of documented fever, elevated CRP, fatigue, and negative cultures. CT chest/abdomen/pelvis is unrevealing. On repeat questioning, there is new jaw fatigue with chewing and transient monocular dimming. What changes now? Discussion Suspect giant cell arteritis with threatened vision. Arrange same-day specialist assessment and start glucocorticoids without waiting for PET/CT or biopsy. Obtain temporal and axillary ultrasound where expertise is available, or temporal artery biopsy according to local practice. Case 2. A stable patient with a prosthetic valve has four weeks of fever and recent amoxicillin exposure. Blood cultures are negative and a limited TTE shows no vegetation. Should empiric treatment be stopped because this is “noninfectious FUO”? Discussion A prosthetic valve and prior antibiotics raise concern for culture-negative endocarditis. Review the cultures and antibiotic history, obtain additional cultures when indicated, and arrange TEE and endocarditis consultation. Add Coxiella and Bartonella testing if cultures remain negative; select other tests according to exposures. Case 3. A 45-year-old has four weeks of confirmed fever. Baseline evaluation and PET/CT are unrevealing. Counts, renal function, and liver tests are stable, there is no focal syndrome, and the patient is eating and ambulatory. Is a two-week broad-spectrum antibiotic course the next step? Discussion An empiric antibiotic course is not indicated. Review medications and the completed workup, provide symptomatic care, and arrange follow-up. New focal symptoms or worsening laboratory findings warrant further evaluation. Sources Wright et al. FUO and IUO modified Delphi consensus. OFID 2024. · Dejaco et al. EULAR imaging recommendations for large vessel vasculitis, 2023 update. Published 2024. · DeSimone et al. AHA scientific statement on blood culture-negative endocarditis. 2025. · Hess et al. EANM consensus on FDG PET/CT in FUO and IUO. 2024. Resident core</a:t>
            </a:r>
          </a:p>
          <a:p xmlns:a="http://schemas.openxmlformats.org/drawingml/2006/main">
            <a:r>
              <a:t/>
            </a:r>
          </a:p>
          <a:p xmlns:a="http://schemas.openxmlformats.org/drawingml/2006/main">
            <a:r>
              <a:t>Module section: https://docarcshot.github.io/id-practice-update/lectures/Fever_of_Unknown_Origin_Resident_Fellow_Module.html#cases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Cases For each case, discuss the differential, next test, and whether treatment should begin before results are available. Case 1. A 68-year-old has five weeks of documented fever, elevated CRP, fatigue, and negative cultures. CT chest/abdomen/pelvis is unrevealing. On repeat questioning, there is new jaw fatigue with chewing and transient monocular dimming. What changes now? Discussion Suspect giant cell arteritis with threatened vision. Arrange same-day specialist assessment and start glucocorticoids without waiting for PET/CT or biopsy. Obtain temporal and axillary ultrasound where expertise is available, or temporal artery biopsy according to local practice. Case 2. A stable patient with a prosthetic valve has four weeks of fever and recent amoxicillin exposure. Blood cultures are negative and a limited TTE shows no vegetation. Should empiric treatment be stopped because this is “noninfectious FUO”? Discussion A prosthetic valve and prior antibiotics raise concern for culture-negative endocarditis. Review the cultures and antibiotic history, obtain additional cultures when indicated, and arrange TEE and endocarditis consultation. Add Coxiella and Bartonella testing if cultures remain negative; select other tests according to exposures. Case 3. A 45-year-old has four weeks of confirmed fever. Baseline evaluation and PET/CT are unrevealing. Counts, renal function, and liver tests are stable, there is no focal syndrome, and the patient is eating and ambulatory. Is a two-week broad-spectrum antibiotic course the next step? Discussion An empiric antibiotic course is not indicated. Review medications and the completed workup, provide symptomatic care, and arrange follow-up. New focal symptoms or worsening laboratory findings warrant further evaluation. Sources Wright et al. FUO and IUO modified Delphi consensus. OFID 2024. · Dejaco et al. EULAR imaging recommendations for large vessel vasculitis, 2023 update. Published 2024. · DeSimone et al. AHA scientific statement on blood culture-negative endocarditis. 2025. · Hess et al. EANM consensus on FDG PET/CT in FUO and IUO. 2024. Resident core</a:t>
            </a:r>
          </a:p>
          <a:p xmlns:a="http://schemas.openxmlformats.org/drawingml/2006/main">
            <a:r>
              <a:t/>
            </a:r>
          </a:p>
          <a:p xmlns:a="http://schemas.openxmlformats.org/drawingml/2006/main">
            <a:r>
              <a:t>Module section: https://docarcshot.github.io/id-practice-update/lectures/Fever_of_Unknown_Origin_Resident_Fellow_Module.html#cases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Cases For each case, discuss the differential, next test, and whether treatment should begin before results are available. Case 1. A 68-year-old has five weeks of documented fever, elevated CRP, fatigue, and negative cultures. CT chest/abdomen/pelvis is unrevealing. On repeat questioning, there is new jaw fatigue with chewing and transient monocular dimming. What changes now? Discussion Suspect giant cell arteritis with threatened vision. Arrange same-day specialist assessment and start glucocorticoids without waiting for PET/CT or biopsy. Obtain temporal and axillary ultrasound where expertise is available, or temporal artery biopsy according to local practice. Case 2. A stable patient with a prosthetic valve has four weeks of fever and recent amoxicillin exposure. Blood cultures are negative and a limited TTE shows no vegetation. Should empiric treatment be stopped because this is “noninfectious FUO”? Discussion A prosthetic valve and prior antibiotics raise concern for culture-negative endocarditis. Review the cultures and antibiotic history, obtain additional cultures when indicated, and arrange TEE and endocarditis consultation. Add Coxiella and Bartonella testing if cultures remain negative; select other tests according to exposures. Case 3. A 45-year-old has four weeks of confirmed fever. Baseline evaluation and PET/CT are unrevealing. Counts, renal function, and liver tests are stable, there is no focal syndrome, and the patient is eating and ambulatory. Is a two-week broad-spectrum antibiotic course the next step? Discussion An empiric antibiotic course is not indicated. Review medications and the completed workup, provide symptomatic care, and arrange follow-up. New focal symptoms or worsening laboratory findings warrant further evaluation. Sources Wright et al. FUO and IUO modified Delphi consensus. OFID 2024. · Dejaco et al. EULAR imaging recommendations for large vessel vasculitis, 2023 update. Published 2024. · DeSimone et al. AHA scientific statement on blood culture-negative endocarditis. 2025. · Hess et al. EANM consensus on FDG PET/CT in FUO and IUO. 2024. Resident core</a:t>
            </a:r>
          </a:p>
          <a:p xmlns:a="http://schemas.openxmlformats.org/drawingml/2006/main">
            <a:r>
              <a:t/>
            </a:r>
          </a:p>
          <a:p xmlns:a="http://schemas.openxmlformats.org/drawingml/2006/main">
            <a:r>
              <a:t>Module section: https://docarcshot.github.io/id-practice-update/lectures/Fever_of_Unknown_Origin_Resident_Fellow_Module.html#close</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10. Presenting the assessment Present the fever timeline, immune status, relevant exposures, examination findings, and abnormal tests. State the leading diagnoses and the reason for the next test. Explain how the result would affect treatment or further testing. Include the follow-up plan if testing remains negative. Optional extension</a:t>
            </a:r>
          </a:p>
          <a:p xmlns:a="http://schemas.openxmlformats.org/drawingml/2006/main">
            <a:r>
              <a:t/>
            </a:r>
          </a:p>
          <a:p xmlns:a="http://schemas.openxmlformats.org/drawingml/2006/main">
            <a:r>
              <a:t>Module section: https://docarcshot.github.io/id-practice-update/lectures/Fever_of_Unknown_Origin_Resident_Fellow_Module.html#close</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Cases For each case, discuss the differential, next test, and whether treatment should begin before results are available. Case 1. A 68-year-old has five weeks of documented fever, elevated CRP, fatigue, and negative cultures. CT chest/abdomen/pelvis is unrevealing. On repeat questioning, there is new jaw fatigue with chewing and transient monocular dimming. What changes now? Discussion Suspect giant cell arteritis with threatened vision. Arrange same-day specialist assessment and start glucocorticoids without waiting for PET/CT or biopsy. Obtain temporal and axillary ultrasound where expertise is available, or temporal artery biopsy according to local practice. Case 2. A stable patient with a prosthetic valve has four weeks of fever and recent amoxicillin exposure. Blood cultures are negative and a limited TTE shows no vegetation. Should empiric treatment be stopped because this is “noninfectious FUO”? Discussion A prosthetic valve and prior antibiotics raise concern for culture-negative endocarditis. Review the cultures and antibiotic history, obtain additional cultures when indicated, and arrange TEE and endocarditis consultation. Add Coxiella and Bartonella testing if cultures remain negative; select other tests according to exposures. Case 3. A 45-year-old has four weeks of confirmed fever. Baseline evaluation and PET/CT are unrevealing. Counts, renal function, and liver tests are stable, there is no focal syndrome, and the patient is eating and ambulatory. Is a two-week broad-spectrum antibiotic course the next step? Discussion An empiric antibiotic course is not indicated. Review medications and the completed workup, provide symptomatic care, and arrange follow-up. New focal symptoms or worsening laboratory findings warrant further evaluation. Sources Wright et al. FUO and IUO modified Delphi consensus. OFID 2024. · Dejaco et al. EULAR imaging recommendations for large vessel vasculitis, 2023 update. Published 2024. · DeSimone et al. AHA scientific statement on blood culture-negative endocarditis. 2025. · Hess et al. EANM consensus on FDG PET/CT in FUO and IUO. 2024. Resident core</a:t>
            </a:r>
          </a:p>
          <a:p xmlns:a="http://schemas.openxmlformats.org/drawingml/2006/main">
            <a:r>
              <a:t/>
            </a:r>
          </a:p>
          <a:p xmlns:a="http://schemas.openxmlformats.org/drawingml/2006/main">
            <a:r>
              <a:t>Module section: https://docarcshot.github.io/id-practice-update/lectures/Fever_of_Unknown_Origin_Resident_Fellow_Module.html#cases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Cases For each case, discuss the differential, next test, and whether treatment should begin before results are available. Case 1. A 68-year-old has five weeks of documented fever, elevated CRP, fatigue, and negative cultures. CT chest/abdomen/pelvis is unrevealing. On repeat questioning, there is new jaw fatigue with chewing and transient monocular dimming. What changes now? Discussion Suspect giant cell arteritis with threatened vision. Arrange same-day specialist assessment and start glucocorticoids without waiting for PET/CT or biopsy. Obtain temporal and axillary ultrasound where expertise is available, or temporal artery biopsy according to local practice. Case 2. A stable patient with a prosthetic valve has four weeks of fever and recent amoxicillin exposure. Blood cultures are negative and a limited TTE shows no vegetation. Should empiric treatment be stopped because this is “noninfectious FUO”? Discussion A prosthetic valve and prior antibiotics raise concern for culture-negative endocarditis. Review the cultures and antibiotic history, obtain additional cultures when indicated, and arrange TEE and endocarditis consultation. Add Coxiella and Bartonella testing if cultures remain negative; select other tests according to exposures. Case 3. A 45-year-old has four weeks of confirmed fever. Baseline evaluation and PET/CT are unrevealing. Counts, renal function, and liver tests are stable, there is no focal syndrome, and the patient is eating and ambulatory. Is a two-week broad-spectrum antibiotic course the next step? Discussion An empiric antibiotic course is not indicated. Review medications and the completed workup, provide symptomatic care, and arrange follow-up. New focal symptoms or worsening laboratory findings warrant further evaluation. Sources Wright et al. FUO and IUO modified Delphi consensus. OFID 2024. · Dejaco et al. EULAR imaging recommendations for large vessel vasculitis, 2023 update. Published 2024. · DeSimone et al. AHA scientific statement on blood culture-negative endocarditis. 2025. · Hess et al. EANM consensus on FDG PET/CT in FUO and IUO. 2024. Resident core</a:t>
            </a:r>
          </a:p>
          <a:p xmlns:a="http://schemas.openxmlformats.org/drawingml/2006/main">
            <a:r>
              <a:t/>
            </a:r>
          </a:p>
          <a:p xmlns:a="http://schemas.openxmlformats.org/drawingml/2006/main">
            <a:r>
              <a:t>Module section: https://docarcshot.github.io/id-practice-update/lectures/Fever_of_Unknown_Origin_Resident_Fellow_Module.html#cases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Cases For each case, discuss the differential, next test, and whether treatment should begin before results are available. Case 1. A 68-year-old has five weeks of documented fever, elevated CRP, fatigue, and negative cultures. CT chest/abdomen/pelvis is unrevealing. On repeat questioning, there is new jaw fatigue with chewing and transient monocular dimming. What changes now? Discussion Suspect giant cell arteritis with threatened vision. Arrange same-day specialist assessment and start glucocorticoids without waiting for PET/CT or biopsy. Obtain temporal and axillary ultrasound where expertise is available, or temporal artery biopsy according to local practice. Case 2. A stable patient with a prosthetic valve has four weeks of fever and recent amoxicillin exposure. Blood cultures are negative and a limited TTE shows no vegetation. Should empiric treatment be stopped because this is “noninfectious FUO”? Discussion A prosthetic valve and prior antibiotics raise concern for culture-negative endocarditis. Review the cultures and antibiotic history, obtain additional cultures when indicated, and arrange TEE and endocarditis consultation. Add Coxiella and Bartonella testing if cultures remain negative; select other tests according to exposures. Case 3. A 45-year-old has four weeks of confirmed fever. Baseline evaluation and PET/CT are unrevealing. Counts, renal function, and liver tests are stable, there is no focal syndrome, and the patient is eating and ambulatory. Is a two-week broad-spectrum antibiotic course the next step? Discussion An empiric antibiotic course is not indicated. Review medications and the completed workup, provide symptomatic care, and arrange follow-up. New focal symptoms or worsening laboratory findings warrant further evaluation. Sources Wright et al. FUO and IUO modified Delphi consensus. OFID 2024. · Dejaco et al. EULAR imaging recommendations for large vessel vasculitis, 2023 update. Published 2024. · DeSimone et al. AHA scientific statement on blood culture-negative endocarditis. 2025. · Hess et al. EANM consensus on FDG PET/CT in FUO and IUO. 2024. Resident core</a:t>
            </a:r>
          </a:p>
          <a:p xmlns:a="http://schemas.openxmlformats.org/drawingml/2006/main">
            <a:r>
              <a:t/>
            </a:r>
          </a:p>
          <a:p xmlns:a="http://schemas.openxmlformats.org/drawingml/2006/main">
            <a:r>
              <a:t>Module section: https://docarcshot.github.io/id-practice-update/lectures/Fever_of_Unknown_Origin_Resident_Fellow_Module.html#cases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10. Presenting the assessment Present the fever timeline, immune status, relevant exposures, examination findings, and abnormal tests. State the leading diagnoses and the reason for the next test. Explain how the result would affect treatment or further testing. Include the follow-up plan if testing remains negative. Optional extension</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Definition and patient population Classic FUO is prolonged documented fever, conventionally at least 38.3°C on several occasions over at least three weeks, without an explanation after an appropriate minimum evaluation in an immunocompetent adult. The 2024 consensus emphasizes what evaluation was completed rather than a required number of inpatient days. Definitions vary; the three-week threshold is a classification convention, not a reason to delay necessary care. Presentation How to approach it New fever over hours to days Evaluate the acute syndrome and severity. Negative initial cultures do not make this classic FUO. New hospital or ICU fever Review procedures, devices, aspiration, thrombosis, transfusion, drugs, and new infection. Evaluate causes of hospital-acquired fever. Neutropenia, transplant, substantial immunosuppression, or advanced HIV Evaluate according to immune status and likely opportunistic infections. The urgency and testing differ from classic FUO. Inflammation of unknown origin Persistent unexplained inflammatory-marker elevation for at least three weeks without qualifying fever. Similar etiologic categories; elevated CRP alone does not prove infection. Review the recorded temperatures, measurement method, antipyretic use, and timing. If possible, examine the patient during a febrile episode. Sources Wright et al. FUO and IUO modified Delphi consensus. OFID 2024. · SCCM/IDSA guideline on new fever in adult ICU patients. 2023. Resident core</a:t>
            </a:r>
          </a:p>
          <a:p xmlns:a="http://schemas.openxmlformats.org/drawingml/2006/main">
            <a:r>
              <a:t/>
            </a:r>
          </a:p>
          <a:p xmlns:a="http://schemas.openxmlformats.org/drawingml/2006/main">
            <a:r>
              <a:t>Module section: https://docarcshot.github.io/id-practice-update/lectures/Fever_of_Unknown_Origin_Resident_Fellow_Module.html#definition</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When treatment cannot wait Finding Immediate response Shock, rapidly worsening organ dysfunction, or convincing serious infection Obtain cultures promptly if this does not delay treatment, stabilize, start antimicrobials for the suspected infection, and obtain source control. Fever with profound neutropenia Begin treatment for febrile neutropenia promptly. Meningismus, encephalopathy, new neurologic deficit, or back pain with neurologic signs Urgent CNS/spinal evaluation and empiric treatment when indicated. Do not delay necessary therapy for an unsafe or delayed lumbar puncture. New visual symptoms with a convincing giant cell arteritis syndrome Urgent ophthalmology/rheumatology assessment and glucocorticoids. Obtain rapid vascular imaging or biopsy without delaying vision-saving treatment. Cytopenias, hepatitis, coagulopathy, rising ferritin, and deterioration Consider HLH/MAS while investigating infection and malignancy. Seek urgent hematology/rheumatology/critical care input. Avoid empiric antibiotics or glucocorticoids in stable classic FUO unless a specific suspected diagnosis requires treatment. Both can reduce diagnostic yield. Sources Wright et al. FUO and IUO modified Delphi consensus. OFID 2024. · Surviving Sepsis Campaign adult guidelines. 2026. · Dejaco et al. EULAR imaging recommendations for large vessel vasculitis, 2023 update. Published 2024. · Shakoory et al. EULAR/ACR points to consider in suspected HLH/MAS. Published 2023. Resident core</a:t>
            </a:r>
          </a:p>
          <a:p xmlns:a="http://schemas.openxmlformats.org/drawingml/2006/main">
            <a:r>
              <a:t/>
            </a:r>
          </a:p>
          <a:p xmlns:a="http://schemas.openxmlformats.org/drawingml/2006/main">
            <a:r>
              <a:t>Module section: https://docarcshot.github.io/id-practice-update/lectures/Fever_of_Unknown_Origin_Resident_Fellow_Module.html#triage</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Workup by stage This sequence is for a stable, immunocompetent adult with prolonged unexplained fever. History, examination, and earlier results may move a test to an earlier stage or make it unnecessary. A focal finding should be evaluated when identified. Stage Evaluation When to change the sequence First assessment Confirm documented fever and its duration. Review immune status, medications, exposures, prior tests, and the full examination. Assess for hypotension, organ injury, or another indication for urgent treatment. Shock, neutropenia, suspected meningitis, or threatened vision from giant cell arteritis requires urgent evaluation and treatment. Initial workup CBC with differential; metabolic panel with liver tests and calcium; ESR/CRP, ferritin, TSH; ANA, ANCA, and RF as included in the FUO consensus. Three blood-culture sets; urinalysis with reflex culture; HIV screening; IGRA or TST. CT chest/abdomen/pelvis, or chest radiography plus abdominal ultrasound when CT is unavailable. Review completed testing before repeating it. Obtain cultures before antibiotics when possible. Suspected active TB requires specimens from the involved site regardless of IGRA/TST results. Additional tests based on findings Echocardiography for suspected endocarditis; MRI for focal spinal symptoms; exposure-specific serology, PCR, or fungal testing; selected viral studies; CSF studies for a neurologic presentation; organ-directed rheumatologic or hematologic evaluation. These tests may belong in the initial evaluation. Examples include TEE with a prosthetic valve and suspected endocarditis, malaria smears after relevant travel, or MRI for back pain with neurologic findings. If the initial evaluation is unrevealing Repeat the history and examination and review medication timing. Consider FDG PET/CT, particularly with persistent elevated inflammatory markers and no localizing finding. Biopsy an appropriate node, skin lesion, or imaging abnormality. An accessible suspicious lesion can be biopsied earlier. Progressive cytopenias or an abnormal smear may warrant marrow evaluation. PET uptake alone does not distinguish infection, inflammation, and malignancy. If no diagnosis is found Reassess the completed workup and pending results. Use selected molecular tests when infection remains suspected. For a stable patient, arrange follow-up and repeat examination and laboratory testing as indicated. New focal symptoms, falling blood counts, or renal/liver injury require further evaluation. Avoid empiric antibiotics or steroids unless a specific suspected diagnosis warrants treatment. These stages summarize the evaluation discussed below. They are not a validated scoring system or a required sequence of orders. Exposure-based tests are ordered for the relevant patient, not as a routine panel. Sources FUO consensus, OFID 2024 · Contemporary ambulatory FUO approach, CID 2026 · EANM PET/CT consensus, 2024 Resident core</a:t>
            </a:r>
          </a:p>
          <a:p xmlns:a="http://schemas.openxmlformats.org/drawingml/2006/main">
            <a:r>
              <a:t/>
            </a:r>
          </a:p>
          <a:p xmlns:a="http://schemas.openxmlformats.org/drawingml/2006/main">
            <a:r>
              <a:t>Module section: https://docarcshot.github.io/id-practice-update/lectures/Fever_of_Unknown_Origin_Resident_Fellow_Module.html#workup-stages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History and examination Ask where the patient has lived and traveled, what they did there, and when. Clarify animal contact and work or recreational exposures. Ask whether others became ill. Take the sexual and substance-use history privately. Social and exposure history Ask the patient What it raises Testing when the syndrome fits Where have you lived and traveled, including earlier in life? When did you return? Rural or urban? What did you do there? Malaria, TB, endemic fungi, and geographically restricted infections. Country alone is insufficient. Urgent thick/thin smears for possible malaria; repeat every 12–24 hours for three sets if suspicion persists. Select other tests by itinerary and syndrome. Any TB contacts? Prior TB treatment? Time in shelters, correctional facilities, or other crowded settings? Pulmonary or extrapulmonary TB. Remote exposure may matter. IGRA/TST is baseline infection testing. Suspected active disease requires site-specific imaging and microbiology; a negative IGRA does not exclude it. Do you handle cattle, sheep, goats, or animal placentas? Help with births? Work in veterinary care, farming, meat processing, or a laboratory? Q fever and brucellosis, especially with hepatitis, endocarditis, or persistent systemic illness. Coxiella serology, with PCR useful early in acute illness; Brucella cultures/serology with laboratory notification. Exposure alone does not establish either diagnosis. Raw milk or unpasteurized cheese, including products brought from abroad? Wild-hog hunting or butchering? Veterinary vaccine needle sticks? Brucellosis; route helps identify species and assay limitations. Alert the laboratory before cultures. Standard serology does not detect B. canis or RB51 infection; discuss testing with microbiology/public health. Cats or kittens? Scratches or flea infestation? Body lice? Access to showers and clean clothing? B. henselae with adenopathy or hepatosplenic disease; B. quintana with lice exposure and culture-negative endocarditis. Bartonella serology and selected PCR when indicated. Persistent antibodies and cross-reactivity complicate interpretation. Ticks, hiking, gardening, hunting, brush clearing, or camping? Where and when? Any skin ulcer or enlarged node? Ehrlichiosis and other tickborne infections; tularemia with compatible ulcer/nodal or pulmonary disease. Many present acutely rather than as classic FUO. Ehrlichia blood PCR early; paired serology when appropriate. Tularemia serology/PCR or culture with laboratory warning. Do not delay treatment of convincing acute rickettsial illness for results. Caves, bat or bird droppings, demolition, chicken coops, soil disturbance, or dusty travel in the Southwest? Histoplasmosis or other endemic mycoses, depending on location, host, and organ involvement. Histoplasma urine/serum antigen for compatible illness; add antibody or tissue testing as indicated. Histoplasma and Blastomyces antigen cross-reactivity limits species attribution. Floodwater, freshwater swimming, rodent infestation, sewage, or animal urine exposure? Leptospirosis, especially with renal injury, hepatitis, or meningitis. PCR and serology selected by illness timing and available specimen. Exposure without a compatible syndrome is insufficient. New sexual partners or recent condomless exposure? Injected drugs, shared equipment, or nonmedical injections? Acute HIV and other exposure-associated infections; injection-related bacteremia/endocarditis. HIV Ag/Ab, adding RNA if acute HIV remains plausible despite negative/indeterminate screening. STI/hepatitis testing by exposure and syndrome; cultures and echo for suspected endocarditis. What medicines, supplements, infusions, and intermittent drugs have you taken? Which started before fever, and which were added afterward? Drug fever or a systemic drug reaction. Recently added antibiotics may perpetuate fever. Review dates, rash, eosinophils, renal/liver injury. Withdraw a suspected offending drug that can be safely stopped safely; use a formal drug-reaction evaluation for organ injury. Any operations, dental infection, implanted valve/device, vascular graft, orthopedic hardware, or recent procedure? Endocarditis, device infection, or a deep postoperative focus. Cultures and targeted echo/imaging. Hardware is a risk modifier; it does not prove the source. Any steroids, biologics, cancer therapy, transplant, splenectomy, or immune disorder? Changes both the differential and urgency. Substantial immunosuppression falls outside the classic immunocompetent FUO pathway. Use the host-specific evaluation; review actual agent, dose, timing, prophylaxis, and immune recovery. History and examination beyond exposures Ask about new headache, jaw fatigue or visual symptoms; back or focal bone pain; joint swelling or morning stiffness; transient rash; oral ulcers; pleuritic pain; diarrhea or blood in stool; weight loss; and symptom-free intervals. Examine the mouth, skin, nails, nodes, heart, abdomen/spleen, spine, joints, wounds, and device sites. Repeat the examination when new symptoms emerge. Select tests based on the exposure, timing, immune status, and clinical findings. Sources CDC Q fever testing · CDC brucellosis overview · CDC ehrlichiosis testing · CDC tularemia testing · CDC leptospirosis overview · CDC histoplasmosis testing · CDC Bartonella quintana overview · CDC malaria diagnosis · CDC HIV testing guidance Resident core</a:t>
            </a:r>
          </a:p>
          <a:p xmlns:a="http://schemas.openxmlformats.org/drawingml/2006/main">
            <a:r>
              <a:t/>
            </a:r>
          </a:p>
          <a:p xmlns:a="http://schemas.openxmlformats.org/drawingml/2006/main">
            <a:r>
              <a:t>Module section: https://docarcshot.github.io/id-practice-update/lectures/Fever_of_Unknown_Origin_Resident_Fellow_Module.html#clues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Differential diagnosis Category Prioritize when the clinical pattern fits Evaluation Infection Endocarditis or vascular infection, occult abscess, vertebral infection, extrapulmonary TB, exposure-associated zoonoses, acute HIV, and endemic fungi in the appropriate host Cultures before antibiotics; targeted imaging, echocardiography, or tissue; organism-specific tests driven by the exposure. Noninfectious inflammation Giant cell or other vasculitis, Still's disease, connective-tissue disease, sarcoidosis, inflammatory bowel disease Look for vascular, articular, skin, renal, pulmonary, and GI manifestations. Interpret serology with the examination and organ findings. Malignancy Lymphoma and other hematologic disease, selected solid tumors Review blood counts and smear; image and obtain an appropriate node or other lesion for pathology. Other causes Drug fever, venous thromboembolism, thyroiditis, tissue injury, and less often temperature measurement problems Reconstruct medication chronology, test the suspected mechanism, and avoid unsupported labels. Undiagnosed illness A legitimate outcome after adequate evaluation in a clinically stable patient Create a follow-up plan. Empiric antibiotics are usually unnecessary in stable classic FUO. Consider histoplasmosis and tickborne infection in Missouri when the exposure and presentation fit. Include remote residence and travel in the history. Sources Wright et al. FUO and IUO modified Delphi consensus. OFID 2024. · DeSimone et al. AHA scientific statement on blood culture-negative endocarditis. 2025. Noninfectious causes Pattern Consider Next step Older adult, new headache/jaw symptoms, visual change, or inflammatory shoulder/hip stiffness Giant cell arteritis/PMR spectrum Urgent assessment for visual symptoms; directed vascular imaging or biopsy. Fever with rash, arthritis, serositis, renal or pulmonary findings Connective-tissue disease or vasculitis Organ-directed evaluation, urinalysis, and selected serology; involve rheumatology. Spiking fever, transient rash, inflammatory arthritis, neutrophilia Still’s disease Assess infection and malignancy; ferritin supports the pattern but is not diagnostic. Nodes, weight loss, organomegaly, or abnormal blood counts Lymphoma/hematologic disease Obtain suitable tissue; preserve architecture and coordinate flow cytometry. New medicine, rash, eosinophilia, or renal/liver injury Drug fever or systemic drug reaction Review chronology and stop a suspected offending drug safely; assess organ involvement. Painful thyroid or compatible thyroid symptoms Thyroiditis TSH and free T4, with directed thyroid evaluation. Unilateral swelling, pleuritic pain, hypoxemia, or thrombosis risk Venous thromboembolism Use syndrome-appropriate diagnostic testing rather than screening all FUO patients. Sources Contemporary ambulatory FUO approach, CID 2026 · EULAR large vessel vasculitis imaging · EULAR/PReS Still’s disease recommendations Resident core</a:t>
            </a:r>
          </a:p>
          <a:p xmlns:a="http://schemas.openxmlformats.org/drawingml/2006/main">
            <a:r>
              <a:t/>
            </a:r>
          </a:p>
          <a:p xmlns:a="http://schemas.openxmlformats.org/drawingml/2006/main">
            <a:r>
              <a:t>Module section: https://docarcshot.github.io/id-practice-update/lectures/Fever_of_Unknown_Origin_Resident_Fellow_Module.html#differential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Differential diagnosis Category Prioritize when the clinical pattern fits Evaluation Infection Endocarditis or vascular infection, occult abscess, vertebral infection, extrapulmonary TB, exposure-associated zoonoses, acute HIV, and endemic fungi in the appropriate host Cultures before antibiotics; targeted imaging, echocardiography, or tissue; organism-specific tests driven by the exposure. Noninfectious inflammation Giant cell or other vasculitis, Still's disease, connective-tissue disease, sarcoidosis, inflammatory bowel disease Look for vascular, articular, skin, renal, pulmonary, and GI manifestations. Interpret serology with the examination and organ findings. Malignancy Lymphoma and other hematologic disease, selected solid tumors Review blood counts and smear; image and obtain an appropriate node or other lesion for pathology. Other causes Drug fever, venous thromboembolism, thyroiditis, tissue injury, and less often temperature measurement problems Reconstruct medication chronology, test the suspected mechanism, and avoid unsupported labels. Undiagnosed illness A legitimate outcome after adequate evaluation in a clinically stable patient Create a follow-up plan. Empiric antibiotics are usually unnecessary in stable classic FUO. Consider histoplasmosis and tickborne infection in Missouri when the exposure and presentation fit. Include remote residence and travel in the history. Sources Wright et al. FUO and IUO modified Delphi consensus. OFID 2024. · DeSimone et al. AHA scientific statement on blood culture-negative endocarditis. 2025. Noninfectious causes Pattern Consider Next step Older adult, new headache/jaw symptoms, visual change, or inflammatory shoulder/hip stiffness Giant cell arteritis/PMR spectrum Urgent assessment for visual symptoms; directed vascular imaging or biopsy. Fever with rash, arthritis, serositis, renal or pulmonary findings Connective-tissue disease or vasculitis Organ-directed evaluation, urinalysis, and selected serology; involve rheumatology. Spiking fever, transient rash, inflammatory arthritis, neutrophilia Still’s disease Assess infection and malignancy; ferritin supports the pattern but is not diagnostic. Nodes, weight loss, organomegaly, or abnormal blood counts Lymphoma/hematologic disease Obtain suitable tissue; preserve architecture and coordinate flow cytometry. New medicine, rash, eosinophilia, or renal/liver injury Drug fever or systemic drug reaction Review chronology and stop a suspected offending drug safely; assess organ involvement. Painful thyroid or compatible thyroid symptoms Thyroiditis TSH and free T4, with directed thyroid evaluation. Unilateral swelling, pleuritic pain, hypoxemia, or thrombosis risk Venous thromboembolism Use syndrome-appropriate diagnostic testing rather than screening all FUO patients. Sources Contemporary ambulatory FUO approach, CID 2026 · EULAR large vessel vasculitis imaging · EULAR/PReS Still’s disease recommendations Resident core</a:t>
            </a:r>
          </a:p>
          <a:p xmlns:a="http://schemas.openxmlformats.org/drawingml/2006/main">
            <a:r>
              <a:t/>
            </a:r>
          </a:p>
          <a:p xmlns:a="http://schemas.openxmlformats.org/drawingml/2006/main">
            <a:r>
              <a:t>Module section: https://docarcshot.github.io/id-practice-update/lectures/Fever_of_Unknown_Origin_Resident_Fellow_Module.html#differential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Initial workup The tests below follow the 2024 FUO consensus. This baseline evaluation applies to prolonged unexplained fever in an immunocompetent adult. Component Proposed minimum and interpretation Blood testing CBC with differential; comprehensive metabolic panel including calcium and liver tests; ESR, CRP, ferritin, and TSH. Review trends and obtain a smear when counts suggest hematologic disease. Microbiology Three adequately filled blood-culture sets from peripheral draws, before antibiotics when feasible; urinalysis with microscopy and reflex urine culture; HIV Ag/Ab screening; TB infection testing with IGRA or TST. Do not wait for a fever spike to obtain cultures. An IGRA/TST neither diagnoses nor excludes active TB. A positive urine culture still requires assessment for a urinary syndrome. Inflammatory serology The consensus includes ANA, ANCA, and rheumatoid factor. Interpret in clinical context. Follow-up antibodies, complement, and organ-specific testing should be directed by the suspected syndrome. Imaging CT chest, abdomen, and pelvis is preferred by the panel when available; chest radiography plus abdominal ultrasound is an alternative. Contrast choice depends on the suspected lesion and patient factors. Additional tests Hepatitis tests, EBV/CMV tests, fungal antigens, zoonotic serology, echocardiography, spine MRI, and lumbar puncture require a relevant question. They are not all routine FUO screening. Review the original reports and timing. Cultures obtained after antibiotics and inadequate imaging may need to be repeated. Sources Wright et al. FUO and IUO modified Delphi consensus. OFID 2024. · DeSimone et al. AHA scientific statement on blood culture-negative endocarditis. 2025. Additional testing Clinical clue Useful next step Murmur, valve/device, embolic findings, or persistent bacteremia TTE and TEE according to endocarditis suspicion and TTE quality; a limited negative TTE is insufficient. Focal back pain or neurologic signs MRI of the involved spine; urgent evaluation if cord compression is possible. Enlarging node, skin lesion, or imaging target Biopsy with pathology and appropriate microbiology rather than another broad antibody panel. Cytopenias, abnormal smear, or organomegaly Smear review, directed hematologic testing, and possible marrow/tissue evaluation. Meningitis/encephalitis syndrome CSF studies when safe, with imaging and empiric treatment according to urgency. Mononucleosis-like illness or hepatitis Selected EBV/CMV/hepatitis testing. Do not use isolated IgG as proof of the cause of fever. Repeat testing if the original specimen was inadequate, the test was obtained too early, or new findings change the differential. Resident core</a:t>
            </a:r>
          </a:p>
          <a:p xmlns:a="http://schemas.openxmlformats.org/drawingml/2006/main">
            <a:r>
              <a:t/>
            </a:r>
          </a:p>
          <a:p xmlns:a="http://schemas.openxmlformats.org/drawingml/2006/main">
            <a:r>
              <a:t>Module section: https://docarcshot.github.io/id-practice-update/lectures/Fever_of_Unknown_Origin_Resident_Fellow_Module.html#initial</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Imaging and biopsy Use targeted imaging for focal findings. Obtain echocardiography for suspected endocarditis and MRI for suspected spinal infection. An accessible lesion may be suitable for biopsy. Consider FDG PET/CT after an unrevealing initial evaluation, particularly when inflammatory markers remain elevated. It may identify a focus for further testing or biopsy. Uptake occurs with infection, inflammation, and malignancy. The 2024 EANM review found PET/CT diagnostically helpful in about 50% to 60% of patients. The studies were mostly observational and used different definitions of diagnostic yield. A negative scan may support observation in a stable patient but does not exclude all causes of fever. Before biopsy, arrange specimens for pathology and any indicated cultures or molecular tests. Send fresh sterile tissue for cultures and a separate specimen in formalin for histology. Glucocorticoids can reduce inflammatory PET signal. Discuss timing before starting them when the patient is stable, but never delay urgent treatment to improve a scan. Sources Hess et al. EANM consensus on FDG PET/CT in FUO and IUO. 2024. · DeSimone et al. AHA scientific statement on blood culture-negative endocarditis. 2025. Resident core</a:t>
            </a:r>
          </a:p>
          <a:p xmlns:a="http://schemas.openxmlformats.org/drawingml/2006/main">
            <a:r>
              <a:t/>
            </a:r>
          </a:p>
          <a:p xmlns:a="http://schemas.openxmlformats.org/drawingml/2006/main">
            <a:r>
              <a:t>Module section: https://docarcshot.github.io/id-practice-update/lectures/Fever_of_Unknown_Origin_Resident_Fellow_Module.html#next</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8. Management and follow-up For a stable immunocompetent patient with no urgent treatable syndrome, provide hydration, nutrition, and symptom control while pursuing diagnosis. Fever suppression is for comfort; response to acetaminophen, an NSAID, or steroids does not establish the cause. Stop a suspected offending drug if it can be safely discontinued. If the drug is treating a confirmed infection, select an alternative when needed. Before discharge, arrange follow-up and assign responsibility for pending results. Reassessment should include new symptoms, examination findings, blood counts, and renal or liver abnormalities. Choose the interval according to the patient’s condition. Urgent reassessment is needed for hypotension, dyspnea, confusion, new neurologic or visual symptoms, severe focal pain, poor intake, bleeding, or other deterioration. Sources Wright et al. FUO and IUO modified Delphi consensus. OFID 2024. · Someko et al. Drug fever. Annals of Clinical Epidemiology 2023. Resident core</a:t>
            </a:r>
          </a:p>
          <a:p xmlns:a="http://schemas.openxmlformats.org/drawingml/2006/main">
            <a:r>
              <a:t/>
            </a:r>
          </a:p>
          <a:p xmlns:a="http://schemas.openxmlformats.org/drawingml/2006/main">
            <a:r>
              <a:t>Module section: https://docarcshot.github.io/id-practice-update/lectures/Fever_of_Unknown_Origin_Resident_Fellow_Module.html#management</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Cases For each case, discuss the differential, next test, and whether treatment should begin before results are available. Case 1. A 68-year-old has five weeks of documented fever, elevated CRP, fatigue, and negative cultures. CT chest/abdomen/pelvis is unrevealing. On repeat questioning, there is new jaw fatigue with chewing and transient monocular dimming. What changes now? Discussion Suspect giant cell arteritis with threatened vision. Arrange same-day specialist assessment and start glucocorticoids without waiting for PET/CT or biopsy. Obtain temporal and axillary ultrasound where expertise is available, or temporal artery biopsy according to local practice. Case 2. A stable patient with a prosthetic valve has four weeks of fever and recent amoxicillin exposure. Blood cultures are negative and a limited TTE shows no vegetation. Should empiric treatment be stopped because this is “noninfectious FUO”? Discussion A prosthetic valve and prior antibiotics raise concern for culture-negative endocarditis. Review the cultures and antibiotic history, obtain additional cultures when indicated, and arrange TEE and endocarditis consultation. Add Coxiella and Bartonella testing if cultures remain negative; select other tests according to exposures. Case 3. A 45-year-old has four weeks of confirmed fever. Baseline evaluation and PET/CT are unrevealing. Counts, renal function, and liver tests are stable, there is no focal syndrome, and the patient is eating and ambulatory. Is a two-week broad-spectrum antibiotic course the next step? Discussion An empiric antibiotic course is not indicated. Review medications and the completed workup, provide symptomatic care, and arrange follow-up. New focal symptoms or worsening laboratory findings warrant further evaluation. Sources Wright et al. FUO and IUO modified Delphi consensus. OFID 2024. · Dejaco et al. EULAR imaging recommendations for large vessel vasculitis, 2023 update. Published 2024. · DeSimone et al. AHA scientific statement on blood culture-negative endocarditis. 2025. · Hess et al. EANM consensus on FDG PET/CT in FUO and IUO. 2024. Resident core</a:t>
            </a:r>
          </a:p>
          <a:p xmlns:a="http://schemas.openxmlformats.org/drawingml/2006/main">
            <a:r>
              <a:t/>
            </a:r>
          </a:p>
          <a:p xmlns:a="http://schemas.openxmlformats.org/drawingml/2006/main">
            <a:r>
              <a:t>Module section: https://docarcshot.github.io/id-practice-update/lectures/Fever_of_Unknown_Origin_Resident_Fellow_Module.html#cases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Advanced fellow section Additional evaluation when the initial workup is unrevealing. FUO definitions and study limitations The 2024 panel retained 38.3°C as the fever threshold and emphasized a completed baseline evaluation, immune status, and geography. PET/CT is not required for the FUO definition. FUO studies differ in entry criteria, immune exclusions, referral populations, and prior testing. These differences limit comparisons of diagnostic yield. Sources Wright et al. FUO and IUO modified Delphi consensus. OFID 2024. Culture-negative endocarditis Prior antibiotics are a common cause of negative cultures in endocarditis. Review antibiotic timing and the quality of blood cultures. If endocarditis remains suspected, obtain further cultures and cardiac imaging and discuss additional testing with microbiology. 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 Sources DeSimone et al. AHA scientific statement on blood culture-negative endocarditis. 2025. Biopsy selection and specimen collection Target Question and specimen planning Enlarging or metabolically active node Lymphoma, infection, granulomatous disease. Discuss core versus excisional sampling to preserve architecture; coordinate flow cytometry and cultures. Persistent cytopenias or abnormal smear Marrow disease, lymphoma, or disseminated infection may justify marrow examination. A normal peripheral count and no other clue weaken the case for blind marrow biopsy. Skin lesion or ulcer Biopsy a representative active lesion; obtain histology and tissue cultures when infection is possible. Superficial swab growth may represent colonization. Granulomatous pathology Correlate with exposures and immune state; nonnecrotizing granulomas are not specific for sarcoidosis. Negative stains alone do not exclude fungal or mycobacterial infection. Sources Wright et al. FUO and IUO modified Delphi consensus. OFID 2024. · DeSimone et al. AHA scientific statement on blood culture-negative endocarditis. 2025. · ATS guideline on diagnosis and detection of sarcoidosis. 2020. Molecular testing 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 When possible, test material from the involved site and send conventional cultures and pathology along with molecular testing. Sources Wright et al. FUO and IUO modified Delphi consensus. OFID 2024. · DeSimone et al. AHA scientific statement on blood culture-negative endocarditis. 2025. Recurrent fever and inflammatory disorders Pattern Focused consideration Limits Discrete attacks with well intervals and serositis Autoinflammatory disease, including familial Mediterranean fever; characterize onset, family history, and episode duration Genetic testing is directed by phenotype and specialist assessment, not ethnicity alone. Later-life inflammatory disease, macrocytic anemia, chondritis, skin disease, thrombosis Consider VEXAS and discuss somatic UBA1 testing with hematology/rheumatology An uncommon diagnosis requiring a compatible phenotype; not routine FUO screening. Spiking fever, inflammatory arthritis, transient rash, neutrophilia Still's disease after evaluation for infection and malignancy Ferritin is supportive but nonspecific. Current guidance favors early IL-1 or IL-6 inhibition with a short glucocorticoid course once the diagnosis is established. Fever, falling counts, hepatitis, coagulopathy, rising ferritin HLH/MAS Infection may trigger HLH and can remain active during the inflammatory illness. 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 PET/CT PET/CT may identify an occult focus or biopsy site after an unrevealing initial evaluation. Use MRI, echocardiography, or direct biopsy when there is a specific indication. FDG uptake occurs with infection, sterile inflammation, malignancy, and normal physiologic activity. 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 Sources EANM PET/CT consensus, 2024 Interpreting conflicting results Finding Interpretation and next action Positive low-level zoonotic antibody without a matching syndrome Check assay, prior exposure, cross-reactivity, and timing. A single result may require paired titers or confirmation. Positive Histoplasma and Blastomyces antigens Cross-reactivity can produce both. Correlate with geography and tissue/culture; do not assume dual infection. Negative early tickborne or zoonotic serology Antibodies may not yet be detectable. Use organism-specific PCR when suitable, and repeat serology at the appropriate interval. Ferritin elevation with inflammation Does not distinguish infection, Still’s disease, malignancy, and HLH/MAS by itself. Falling counts and organ injury demand reassessment. Granulomas with negative organism stains Review sampling, cultures, molecular testing, host, and exposure. Do not equate nonnecrotizing granulomas with sarcoidosis. Sources CDC Q fever testing · CDC ehrlichiosis testing · CDC histoplasmosis testing · EULAR/ACR HLH/MAS points to consider Follow-up after a negative workup Review the workup, medications, pending tests, and changes in symptoms or laboratory results. Arrange reassessment. Progressive cytopenias, organ injury, or new focal symptoms require further evaluation. Improvement with an NSAID or glucocorticoid is nonspecific. If treatment is started for a suspected diagnosis, obtain relevant specimens beforehand when safe and document when the diagnosis and treatment will be reassessed.</a:t>
            </a:r>
          </a:p>
          <a:p xmlns:a="http://schemas.openxmlformats.org/drawingml/2006/main">
            <a:r>
              <a:t/>
            </a:r>
          </a:p>
          <a:p xmlns:a="http://schemas.openxmlformats.org/drawingml/2006/main">
            <a:r>
              <a:t>Module section: https://docarcshot.github.io/id-practice-update/lectures/Fever_of_Unknown_Origin_Resident_Fellow_Module.html#advanced</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Wright et al. FUO and IUO modified Delphi consensus. OFID 2024. Hess et al. EANM consensus on FDG PET/CT in FUO and IUO. 2024. DeSimone et al. AHA scientific statement on blood culture-negative endocarditis. 2025. Surviving Sepsis Campaign adult guidelines. 2026. SCCM/IDSA guideline on new fever in adult ICU patients. 2023. Dejaco et al. EULAR imaging recommendations for large vessel vasculitis, 2023 update. Published 2024. Shakoory et al. EULAR/ACR points to consider in suspected HLH/MAS. Published 2023. Someko et al. Drug fever. Annals of Clinical Epidemiology 2023. Fautrel et al. EULAR/PReS recommendations for Still's disease. 2024. ATS guideline on diagnosis and detection of sarcoidosis. 2020. Beck et al. Somatic UBA1 mutations and adult-onset autoinflammatory disease. NEJM 2020. Sources CDC Q fever testing · CDC brucellosis overview · CDC ehrlichiosis testing · CDC tularemia testing · CDC leptospirosis overview · CDC histoplasmosis testing · CDC Bartonella quintana overview · CDC malaria diagnosis · CDC HIV testing guidance Contemporary Ambulatory Approach to Adult Fever of Unknown Origin. CID 2026.</a:t>
            </a:r>
          </a:p>
          <a:p xmlns:a="http://schemas.openxmlformats.org/drawingml/2006/main">
            <a:r>
              <a:t/>
            </a:r>
          </a:p>
          <a:p xmlns:a="http://schemas.openxmlformats.org/drawingml/2006/main">
            <a:r>
              <a:t>Module section: https://docarcshot.github.io/id-practice-update/lectures/Fever_of_Unknown_Origin_Resident_Fellow_Module.html#sources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Wright et al. FUO and IUO modified Delphi consensus. OFID 2024. Hess et al. EANM consensus on FDG PET/CT in FUO and IUO. 2024. DeSimone et al. AHA scientific statement on blood culture-negative endocarditis. 2025. Surviving Sepsis Campaign adult guidelines. 2026. SCCM/IDSA guideline on new fever in adult ICU patients. 2023. Dejaco et al. EULAR imaging recommendations for large vessel vasculitis, 2023 update. Published 2024. Shakoory et al. EULAR/ACR points to consider in suspected HLH/MAS. Published 2023. Someko et al. Drug fever. Annals of Clinical Epidemiology 2023. Fautrel et al. EULAR/PReS recommendations for Still's disease. 2024. ATS guideline on diagnosis and detection of sarcoidosis. 2020. Beck et al. Somatic UBA1 mutations and adult-onset autoinflammatory disease. NEJM 2020. Sources CDC Q fever testing · CDC brucellosis overview · CDC ehrlichiosis testing · CDC tularemia testing · CDC leptospirosis overview · CDC histoplasmosis testing · CDC Bartonella quintana overview · CDC malaria diagnosis · CDC HIV testing guidance Contemporary Ambulatory Approach to Adult Fever of Unknown Origin. CID 2026.</a:t>
            </a:r>
          </a:p>
          <a:p xmlns:a="http://schemas.openxmlformats.org/drawingml/2006/main">
            <a:r>
              <a:t/>
            </a:r>
          </a:p>
          <a:p xmlns:a="http://schemas.openxmlformats.org/drawingml/2006/main">
            <a:r>
              <a:t>Module section: https://docarcshot.github.io/id-practice-update/lectures/Fever_of_Unknown_Origin_Resident_Fellow_Module.html#sources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Wright et al. FUO and IUO modified Delphi consensus. OFID 2024. Hess et al. EANM consensus on FDG PET/CT in FUO and IUO. 2024. DeSimone et al. AHA scientific statement on blood culture-negative endocarditis. 2025. Surviving Sepsis Campaign adult guidelines. 2026. SCCM/IDSA guideline on new fever in adult ICU patients. 2023. Dejaco et al. EULAR imaging recommendations for large vessel vasculitis, 2023 update. Published 2024. Shakoory et al. EULAR/ACR points to consider in suspected HLH/MAS. Published 2023. Someko et al. Drug fever. Annals of Clinical Epidemiology 2023. Fautrel et al. EULAR/PReS recommendations for Still's disease. 2024. ATS guideline on diagnosis and detection of sarcoidosis. 2020. Beck et al. Somatic UBA1 mutations and adult-onset autoinflammatory disease. NEJM 2020. Sources CDC Q fever testing · CDC brucellosis overview · CDC ehrlichiosis testing · CDC tularemia testing · CDC leptospirosis overview · CDC histoplasmosis testing · CDC Bartonella quintana overview · CDC malaria diagnosis · CDC HIV testing guidance Contemporary Ambulatory Approach to Adult Fever of Unknown Origin. CID 2026.</a:t>
            </a:r>
          </a:p>
          <a:p xmlns:a="http://schemas.openxmlformats.org/drawingml/2006/main">
            <a:r>
              <a:t/>
            </a:r>
          </a:p>
          <a:p xmlns:a="http://schemas.openxmlformats.org/drawingml/2006/main">
            <a:r>
              <a:t>Module section: https://docarcshot.github.io/id-practice-update/lectures/Fever_of_Unknown_Origin_Resident_Fellow_Module.html#sources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Wright et al. FUO and IUO modified Delphi consensus. OFID 2024. Hess et al. EANM consensus on FDG PET/CT in FUO and IUO. 2024. DeSimone et al. AHA scientific statement on blood culture-negative endocarditis. 2025. Surviving Sepsis Campaign adult guidelines. 2026. SCCM/IDSA guideline on new fever in adult ICU patients. 2023. Dejaco et al. EULAR imaging recommendations for large vessel vasculitis, 2023 update. Published 2024. Shakoory et al. EULAR/ACR points to consider in suspected HLH/MAS. Published 2023. Someko et al. Drug fever. Annals of Clinical Epidemiology 2023. Fautrel et al. EULAR/PReS recommendations for Still's disease. 2024. ATS guideline on diagnosis and detection of sarcoidosis. 2020. Beck et al. Somatic UBA1 mutations and adult-onset autoinflammatory disease. NEJM 2020. Sources CDC Q fever testing · CDC brucellosis overview · CDC ehrlichiosis testing · CDC tularemia testing · CDC leptospirosis overview · CDC histoplasmosis testing · CDC Bartonella quintana overview · CDC malaria diagnosis · CDC HIV testing guidance Contemporary Ambulatory Approach to Adult Fever of Unknown Origin. CID 2026.</a:t>
            </a:r>
          </a:p>
          <a:p xmlns:a="http://schemas.openxmlformats.org/drawingml/2006/main">
            <a:r>
              <a:t/>
            </a:r>
          </a:p>
          <a:p xmlns:a="http://schemas.openxmlformats.org/drawingml/2006/main">
            <a:r>
              <a:t>Module section: https://docarcshot.github.io/id-practice-update/lectures/Fever_of_Unknown_Origin_Resident_Fellow_Module.html#sources</a:t>
            </a:r>
          </a:p>
          <a:p xmlns:a="http://schemas.openxmlformats.org/drawingml/2006/main">
            <a:r>
              <a:t/>
            </a:r>
          </a:p>
          <a:p xmlns:a="http://schemas.openxmlformats.org/drawingml/2006/main">
            <a:r>
              <a:t>Public sources and related reading:</a:t>
            </a:r>
          </a:p>
          <a:p xmlns:a="http://schemas.openxmlformats.org/drawingml/2006/main">
            <a:r>
              <a:t>https://pmc.ncbi.nlm.nih.gov/articles/PMC11222709/</a:t>
            </a:r>
          </a:p>
          <a:p xmlns:a="http://schemas.openxmlformats.org/drawingml/2006/main">
            <a:r>
              <a:t>https://www.idsociety.org/practice-guideline/new-fever-in-critically-ill-patients/</a:t>
            </a:r>
          </a:p>
          <a:p xmlns:a="http://schemas.openxmlformats.org/drawingml/2006/main">
            <a:r>
              <a:t>https://www.sccm.org/clinical-resources/guidelines/guidelines/surviving-sepsis-campaign-international-guidelines-for-management-of-sepsis-and-septic-shock-2026</a:t>
            </a:r>
          </a:p>
          <a:p xmlns:a="http://schemas.openxmlformats.org/drawingml/2006/main">
            <a:r>
              <a:t>https://doi.org/10.1136/ard-2023-224543</a:t>
            </a:r>
          </a:p>
          <a:p xmlns:a="http://schemas.openxmlformats.org/drawingml/2006/main">
            <a:r>
              <a:t>https://pmc.ncbi.nlm.nih.gov/articles/PMC11040593/</a:t>
            </a:r>
          </a:p>
          <a:p xmlns:a="http://schemas.openxmlformats.org/drawingml/2006/main">
            <a:r>
              <a:t>https://academic.oup.com/cid/article/82/6/909/8726777</a:t>
            </a:r>
          </a:p>
          <a:p xmlns:a="http://schemas.openxmlformats.org/drawingml/2006/main">
            <a:r>
              <a:t>https://pmc.ncbi.nlm.nih.gov/articles/PMC11224117/</a:t>
            </a:r>
          </a:p>
          <a:p xmlns:a="http://schemas.openxmlformats.org/drawingml/2006/main">
            <a:r>
              <a:t>https://www.cdc.gov/q-fever/hcp/diagnosis-testing/index.html</a:t>
            </a:r>
          </a:p>
          <a:p xmlns:a="http://schemas.openxmlformats.org/drawingml/2006/main">
            <a:r>
              <a:t>https://www.cdc.gov/brucellosis/hcp/clinical-overview/index.html</a:t>
            </a:r>
          </a:p>
          <a:p xmlns:a="http://schemas.openxmlformats.org/drawingml/2006/main">
            <a:r>
              <a:t>https://www.cdc.gov/ehrlichiosis/hcp/diagnosis-testing/index.html</a:t>
            </a:r>
          </a:p>
          <a:p xmlns:a="http://schemas.openxmlformats.org/drawingml/2006/main">
            <a:r>
              <a:t>https://www.cdc.gov/tularemia/hcp/diagnosis-testing/index.html</a:t>
            </a:r>
          </a:p>
          <a:p xmlns:a="http://schemas.openxmlformats.org/drawingml/2006/main">
            <a:r>
              <a:t>https://www.cdc.gov/leptospirosis/hcp/clinical-overview/index.html</a:t>
            </a:r>
          </a:p>
          <a:p xmlns:a="http://schemas.openxmlformats.org/drawingml/2006/main">
            <a:r>
              <a:t>https://www.cdc.gov/histoplasmosis/hcp/algorithm/index.html</a:t>
            </a:r>
          </a:p>
          <a:p xmlns:a="http://schemas.openxmlformats.org/drawingml/2006/main">
            <a:r>
              <a:t>https://www.cdc.gov/bartonella/hcp/clinical-overview/bartonella-quintana.html</a:t>
            </a:r>
          </a:p>
          <a:p xmlns:a="http://schemas.openxmlformats.org/drawingml/2006/main">
            <a:r>
              <a:t>https://www.cdc.gov/malaria/hcp/clinical-guidance/evaluation-and-diagnosis.html</a:t>
            </a:r>
          </a:p>
          <a:p xmlns:a="http://schemas.openxmlformats.org/drawingml/2006/main">
            <a:r>
              <a:t>https://www.cdc.gov/std/treatment-guidelines/hiv.htm</a:t>
            </a:r>
          </a:p>
          <a:p xmlns:a="http://schemas.openxmlformats.org/drawingml/2006/main">
            <a:r>
              <a:t>https://pmc.ncbi.nlm.nih.gov/articles/PMC12132861/</a:t>
            </a:r>
          </a:p>
          <a:p xmlns:a="http://schemas.openxmlformats.org/drawingml/2006/main">
            <a:r>
              <a:t>https://pmc.ncbi.nlm.nih.gov/articles/PMC11672000/</a:t>
            </a:r>
          </a:p>
          <a:p xmlns:a="http://schemas.openxmlformats.org/drawingml/2006/main">
            <a:r>
              <a:t>https://link.springer.com/article/10.1007/s00259-024-06732-8</a:t>
            </a:r>
          </a:p>
          <a:p xmlns:a="http://schemas.openxmlformats.org/drawingml/2006/main">
            <a:r>
              <a:t>https://www.jstage.jst.go.jp/article/ace/5/4/5_23013/_html/-char/en</a:t>
            </a:r>
          </a:p>
          <a:p xmlns:a="http://schemas.openxmlformats.org/drawingml/2006/main">
            <a:r>
              <a:t>https://doi.org/10.1164/rccm.202002-0251ST</a:t>
            </a:r>
          </a:p>
          <a:p xmlns:a="http://schemas.openxmlformats.org/drawingml/2006/main">
            <a:r>
              <a:t>https://doi.org/10.1056/NEJMoa2026834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43ac0f26514f9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7cbf9f402f54c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1f9786c43db43a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83866efed4a4c6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5be767a5b244a6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147b8f2371741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1900DD-0283-4149-A4C1-359D0E62E9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AAC1E50-4618-44E3-93AD-DFA424AFCFC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99981F2-BBF8-47A3-95A7-3A6DE763FC9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56058B-954E-4692-8A31-7AA7EEB130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AD6FAC9-916C-414F-A62D-6CC9B00202F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507C19F-4381-4C90-8065-BD410EBD15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2658FE-A7FE-43DF-B29E-5ED302ADFB7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327E403-D3BC-44BA-A70E-BA5C881EDA1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B95CD1-8AE8-4134-8F68-E024B86EF8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9237E1-E4D8-4084-849E-C5DE08CA2B3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53c189a3ce4d15" /><Relationship Type="http://schemas.openxmlformats.org/officeDocument/2006/relationships/slideLayout" Target="/ppt/slideLayouts/slideLayout1.xml" Id="Rff6fd34e6b9c46ac" /><Relationship Type="http://schemas.openxmlformats.org/officeDocument/2006/relationships/slideLayout" Target="/ppt/slideLayouts/slideLayout2.xml" Id="R2bb4531e54df4afc" /><Relationship Type="http://schemas.openxmlformats.org/officeDocument/2006/relationships/slideLayout" Target="/ppt/slideLayouts/slideLayout3.xml" Id="Rde69664b9dcc4720" /><Relationship Type="http://schemas.openxmlformats.org/officeDocument/2006/relationships/slideLayout" Target="/ppt/slideLayouts/slideLayout4.xml" Id="R84f6af83347a4016" /><Relationship Type="http://schemas.openxmlformats.org/officeDocument/2006/relationships/slideLayout" Target="/ppt/slideLayouts/slideLayout5.xml" Id="R42f344a003934b25" /><Relationship Type="http://schemas.openxmlformats.org/officeDocument/2006/relationships/slideLayout" Target="/ppt/slideLayouts/slideLayout6.xml" Id="Rddc922ab0a7842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6fd34e6b9c46ac"/>
    <p:sldLayoutId xmlns:r="http://schemas.openxmlformats.org/officeDocument/2006/relationships" id="2147483650" r:id="R2bb4531e54df4afc"/>
    <p:sldLayoutId xmlns:r="http://schemas.openxmlformats.org/officeDocument/2006/relationships" id="2147483651" r:id="Rde69664b9dcc4720"/>
    <p:sldLayoutId xmlns:r="http://schemas.openxmlformats.org/officeDocument/2006/relationships" id="2147483652" r:id="R84f6af83347a4016"/>
    <p:sldLayoutId xmlns:r="http://schemas.openxmlformats.org/officeDocument/2006/relationships" id="2147483653" r:id="R42f344a003934b25"/>
    <p:sldLayoutId xmlns:r="http://schemas.openxmlformats.org/officeDocument/2006/relationships" id="2147483654" r:id="Rddc922ab0a7842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57e0a4d4b254918" /><Relationship Type="http://schemas.openxmlformats.org/officeDocument/2006/relationships/notesSlide" Target="/ppt/notesSlides/notesSlide1.xml" Id="R361e89b9c1f247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eebada3fc6b4e53" /><Relationship Type="http://schemas.openxmlformats.org/officeDocument/2006/relationships/notesSlide" Target="/ppt/notesSlides/notesSlide2.xml" Id="Rf923f67cd70b40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5160a69ff30490c" /><Relationship Type="http://schemas.openxmlformats.org/officeDocument/2006/relationships/notesSlide" Target="/ppt/notesSlides/notesSlide3.xml" Id="R77419b56d4a441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58a5412f43943f4" /><Relationship Type="http://schemas.openxmlformats.org/officeDocument/2006/relationships/notesSlide" Target="/ppt/notesSlides/notesSlide4.xml" Id="Rfa1f5fe2ff574a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92f455bf4274925" /><Relationship Type="http://schemas.openxmlformats.org/officeDocument/2006/relationships/notesSlide" Target="/ppt/notesSlides/notesSlide5.xml" Id="Rcf6f494404ca4e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827e8e6d11d4232" /><Relationship Type="http://schemas.openxmlformats.org/officeDocument/2006/relationships/notesSlide" Target="/ppt/notesSlides/notesSlide6.xml" Id="Re509db0e2bc348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af8955530a5412d" /><Relationship Type="http://schemas.openxmlformats.org/officeDocument/2006/relationships/notesSlide" Target="/ppt/notesSlides/notesSlide7.xml" Id="R767bc974331340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ad9538f959e4cfb" /><Relationship Type="http://schemas.openxmlformats.org/officeDocument/2006/relationships/notesSlide" Target="/ppt/notesSlides/notesSlide8.xml" Id="Rbe2fa6c70f6d41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e269f71a0684c0b" /><Relationship Type="http://schemas.openxmlformats.org/officeDocument/2006/relationships/notesSlide" Target="/ppt/notesSlides/notesSlide9.xml" Id="Rde585915154c44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d9d777429994cf6" /><Relationship Type="http://schemas.openxmlformats.org/officeDocument/2006/relationships/notesSlide" Target="/ppt/notesSlides/notesSlide10.xml" Id="R53d6c113322c4e0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a0f8f6cce8049e9" /><Relationship Type="http://schemas.openxmlformats.org/officeDocument/2006/relationships/notesSlide" Target="/ppt/notesSlides/notesSlide11.xml" Id="R0802e94bffb74b4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37829f8af06460d" /><Relationship Type="http://schemas.openxmlformats.org/officeDocument/2006/relationships/notesSlide" Target="/ppt/notesSlides/notesSlide12.xml" Id="Rb61b1a06f15b4b2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ccd2f6a24d34261" /><Relationship Type="http://schemas.openxmlformats.org/officeDocument/2006/relationships/notesSlide" Target="/ppt/notesSlides/notesSlide13.xml" Id="Rbd186db54817435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b0f082d98ba4a33" /><Relationship Type="http://schemas.openxmlformats.org/officeDocument/2006/relationships/notesSlide" Target="/ppt/notesSlides/notesSlide14.xml" Id="Rbd4fc766563b45a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34643014ea048a2" /><Relationship Type="http://schemas.openxmlformats.org/officeDocument/2006/relationships/notesSlide" Target="/ppt/notesSlides/notesSlide15.xml" Id="R4b025d0107f74e7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0edc53debe64e9b" /><Relationship Type="http://schemas.openxmlformats.org/officeDocument/2006/relationships/notesSlide" Target="/ppt/notesSlides/notesSlide16.xml" Id="R360031e2a1f148f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72677ea78e942fd" /><Relationship Type="http://schemas.openxmlformats.org/officeDocument/2006/relationships/notesSlide" Target="/ppt/notesSlides/notesSlide17.xml" Id="R9182fdd3b20e452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d0b45a982854eb5" /><Relationship Type="http://schemas.openxmlformats.org/officeDocument/2006/relationships/notesSlide" Target="/ppt/notesSlides/notesSlide18.xml" Id="Ra6a155d497d54ff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0ba7c998d9a4e5c" /><Relationship Type="http://schemas.openxmlformats.org/officeDocument/2006/relationships/notesSlide" Target="/ppt/notesSlides/notesSlide19.xml" Id="R44fdf54111ce49c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9cbccd2a0f2481c" /><Relationship Type="http://schemas.openxmlformats.org/officeDocument/2006/relationships/notesSlide" Target="/ppt/notesSlides/notesSlide20.xml" Id="R57531c8c322140e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157f18ff7624e1c" /><Relationship Type="http://schemas.openxmlformats.org/officeDocument/2006/relationships/notesSlide" Target="/ppt/notesSlides/notesSlide21.xml" Id="R8d8bc419e74b4f8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dc263ec44284605" /><Relationship Type="http://schemas.openxmlformats.org/officeDocument/2006/relationships/notesSlide" Target="/ppt/notesSlides/notesSlide22.xml" Id="R0fe344e5a6d941c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ffedeb248f3439c" /><Relationship Type="http://schemas.openxmlformats.org/officeDocument/2006/relationships/notesSlide" Target="/ppt/notesSlides/notesSlide23.xml" Id="R621cd15712c649f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e114c2055d24dbe" /><Relationship Type="http://schemas.openxmlformats.org/officeDocument/2006/relationships/notesSlide" Target="/ppt/notesSlides/notesSlide24.xml" Id="R7cd83783dee64a1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0d704ba3ae6437d" /><Relationship Type="http://schemas.openxmlformats.org/officeDocument/2006/relationships/notesSlide" Target="/ppt/notesSlides/notesSlide25.xml" Id="R6a0f832c0a40482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69604b1629047a6" /><Relationship Type="http://schemas.openxmlformats.org/officeDocument/2006/relationships/notesSlide" Target="/ppt/notesSlides/notesSlide26.xml" Id="R0ac20f2b1796403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70db80a39b94413" /><Relationship Type="http://schemas.openxmlformats.org/officeDocument/2006/relationships/notesSlide" Target="/ppt/notesSlides/notesSlide27.xml" Id="R8565aff2f5ad48f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749d74bc2d143a2" /><Relationship Type="http://schemas.openxmlformats.org/officeDocument/2006/relationships/notesSlide" Target="/ppt/notesSlides/notesSlide28.xml" Id="Rd588206742a3458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013f77bfa884a19" /><Relationship Type="http://schemas.openxmlformats.org/officeDocument/2006/relationships/notesSlide" Target="/ppt/notesSlides/notesSlide29.xml" Id="R5104d3a5a63f424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e2dc85dd4da407d" /><Relationship Type="http://schemas.openxmlformats.org/officeDocument/2006/relationships/notesSlide" Target="/ppt/notesSlides/notesSlide30.xml" Id="R83b9fc52d6eb46f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be745ef8243471c" /><Relationship Type="http://schemas.openxmlformats.org/officeDocument/2006/relationships/notesSlide" Target="/ppt/notesSlides/notesSlide31.xml" Id="R95ddc855910b4e5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14058feb9a30441e" /><Relationship Type="http://schemas.openxmlformats.org/officeDocument/2006/relationships/notesSlide" Target="/ppt/notesSlides/notesSlide32.xml" Id="R34dea1214c69479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60277e1389c4853" /><Relationship Type="http://schemas.openxmlformats.org/officeDocument/2006/relationships/notesSlide" Target="/ppt/notesSlides/notesSlide33.xml" Id="R0e9c327dccfb4cf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64dfce8192b84fda" /><Relationship Type="http://schemas.openxmlformats.org/officeDocument/2006/relationships/notesSlide" Target="/ppt/notesSlides/notesSlide34.xml" Id="Rcfbb64ead03046e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40142ae44b654b6c" /><Relationship Type="http://schemas.openxmlformats.org/officeDocument/2006/relationships/notesSlide" Target="/ppt/notesSlides/notesSlide35.xml" Id="R153d1ebe2c8641b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5fcbe43bcb034a96" /><Relationship Type="http://schemas.openxmlformats.org/officeDocument/2006/relationships/notesSlide" Target="/ppt/notesSlides/notesSlide36.xml" Id="Rae9eb2e75bc5419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b047d9242d9d4f19" /><Relationship Type="http://schemas.openxmlformats.org/officeDocument/2006/relationships/notesSlide" Target="/ppt/notesSlides/notesSlide37.xml" Id="Rf739fbb7d016462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fb62beda0c84178" /><Relationship Type="http://schemas.openxmlformats.org/officeDocument/2006/relationships/notesSlide" Target="/ppt/notesSlides/notesSlide38.xml" Id="R94066a1851984b2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6a94472385da4b65" /><Relationship Type="http://schemas.openxmlformats.org/officeDocument/2006/relationships/notesSlide" Target="/ppt/notesSlides/notesSlide39.xml" Id="R2c5d132fc7fb440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316aa6fdfd864498" /><Relationship Type="http://schemas.openxmlformats.org/officeDocument/2006/relationships/notesSlide" Target="/ppt/notesSlides/notesSlide40.xml" Id="Rf8546139bf1f4b6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c7627b05b59447b1" /><Relationship Type="http://schemas.openxmlformats.org/officeDocument/2006/relationships/notesSlide" Target="/ppt/notesSlides/notesSlide41.xml" Id="Raa8d2a29ea60415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95fd274710014df7" /><Relationship Type="http://schemas.openxmlformats.org/officeDocument/2006/relationships/notesSlide" Target="/ppt/notesSlides/notesSlide42.xml" Id="R806ac7a455394d5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f1727037bcb04afb" /><Relationship Type="http://schemas.openxmlformats.org/officeDocument/2006/relationships/notesSlide" Target="/ppt/notesSlides/notesSlide43.xml" Id="R002894270ac1460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54f0b0403446418d" /><Relationship Type="http://schemas.openxmlformats.org/officeDocument/2006/relationships/notesSlide" Target="/ppt/notesSlides/notesSlide44.xml" Id="R5e06fa82b8db4d4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c1a5403669c544ff" /><Relationship Type="http://schemas.openxmlformats.org/officeDocument/2006/relationships/notesSlide" Target="/ppt/notesSlides/notesSlide45.xml" Id="Rdac15545fb2f451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f74a80f4d04142a1" /><Relationship Type="http://schemas.openxmlformats.org/officeDocument/2006/relationships/notesSlide" Target="/ppt/notesSlides/notesSlide46.xml" Id="Rac8af105e6f441d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cf2d2f19d5ce4501" /><Relationship Type="http://schemas.openxmlformats.org/officeDocument/2006/relationships/notesSlide" Target="/ppt/notesSlides/notesSlide47.xml" Id="Raa7dfa370de64cf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75017b8c434b46ea" /><Relationship Type="http://schemas.openxmlformats.org/officeDocument/2006/relationships/notesSlide" Target="/ppt/notesSlides/notesSlide48.xml" Id="Rf8c6d857cc1949d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580289e94a434721" /><Relationship Type="http://schemas.openxmlformats.org/officeDocument/2006/relationships/notesSlide" Target="/ppt/notesSlides/notesSlide49.xml" Id="Rd082accbccec450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d05bf1015f2b40ef" /><Relationship Type="http://schemas.openxmlformats.org/officeDocument/2006/relationships/notesSlide" Target="/ppt/notesSlides/notesSlide50.xml" Id="R1b043700bbae40a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faa4eedda367423b" /><Relationship Type="http://schemas.openxmlformats.org/officeDocument/2006/relationships/notesSlide" Target="/ppt/notesSlides/notesSlide51.xml" Id="R9be48a2073814bb7"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4045f526366b441f" /><Relationship Type="http://schemas.openxmlformats.org/officeDocument/2006/relationships/notesSlide" Target="/ppt/notesSlides/notesSlide52.xml" Id="R8620e2e83a23462a"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54a5e88571714ee7" /><Relationship Type="http://schemas.openxmlformats.org/officeDocument/2006/relationships/notesSlide" Target="/ppt/notesSlides/notesSlide53.xml" Id="Re0d764bea5d340d9"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39f362a88108497b" /><Relationship Type="http://schemas.openxmlformats.org/officeDocument/2006/relationships/notesSlide" Target="/ppt/notesSlides/notesSlide54.xml" Id="Ra1f45e6249f64392"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1efa200323bf4cfc" /><Relationship Type="http://schemas.openxmlformats.org/officeDocument/2006/relationships/notesSlide" Target="/ppt/notesSlides/notesSlide55.xml" Id="R582c5a138f054411"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9327b8a6394b4149" /><Relationship Type="http://schemas.openxmlformats.org/officeDocument/2006/relationships/notesSlide" Target="/ppt/notesSlides/notesSlide56.xml" Id="R05a1357e2ec34f6f"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1abd49a648a74833" /><Relationship Type="http://schemas.openxmlformats.org/officeDocument/2006/relationships/notesSlide" Target="/ppt/notesSlides/notesSlide57.xml" Id="R9416f6d000e14ad6"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e1d47b780175483d" /><Relationship Type="http://schemas.openxmlformats.org/officeDocument/2006/relationships/notesSlide" Target="/ppt/notesSlides/notesSlide58.xml" Id="R1b21689697714569"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4d01d242a1dc4097" /><Relationship Type="http://schemas.openxmlformats.org/officeDocument/2006/relationships/notesSlide" Target="/ppt/notesSlides/notesSlide59.xml" Id="R98a97119181f41e5"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36e7431d5c9e46f6" /><Relationship Type="http://schemas.openxmlformats.org/officeDocument/2006/relationships/notesSlide" Target="/ppt/notesSlides/notesSlide60.xml" Id="R2f0d81c74e61440e"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7489786f29e245fd" /><Relationship Type="http://schemas.openxmlformats.org/officeDocument/2006/relationships/notesSlide" Target="/ppt/notesSlides/notesSlide61.xml" Id="R51826eef712a48c9"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095fc5fbe6474d8b" /><Relationship Type="http://schemas.openxmlformats.org/officeDocument/2006/relationships/notesSlide" Target="/ppt/notesSlides/notesSlide62.xml" Id="R30efb56d29bf4d2e"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7975653f9df74d62" /><Relationship Type="http://schemas.openxmlformats.org/officeDocument/2006/relationships/notesSlide" Target="/ppt/notesSlides/notesSlide63.xml" Id="R8159da1522664902"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4e9189519dde4ea4" /><Relationship Type="http://schemas.openxmlformats.org/officeDocument/2006/relationships/notesSlide" Target="/ppt/notesSlides/notesSlide64.xml" Id="R940b925255c84e4a"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4f9c354119994fd8" /><Relationship Type="http://schemas.openxmlformats.org/officeDocument/2006/relationships/notesSlide" Target="/ppt/notesSlides/notesSlide65.xml" Id="Rfa9af2858056478c"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4322d87ec0864ceb" /><Relationship Type="http://schemas.openxmlformats.org/officeDocument/2006/relationships/notesSlide" Target="/ppt/notesSlides/notesSlide66.xml" Id="R3e42a05ab8484b18"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d6221bb2262e4d97" /><Relationship Type="http://schemas.openxmlformats.org/officeDocument/2006/relationships/notesSlide" Target="/ppt/notesSlides/notesSlide67.xml" Id="Rce9908aed78d4371"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dc9684aaf9ac423b" /><Relationship Type="http://schemas.openxmlformats.org/officeDocument/2006/relationships/notesSlide" Target="/ppt/notesSlides/notesSlide68.xml" Id="R9443ec71bbeb4b6f"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7a377f9e3c154ae2" /><Relationship Type="http://schemas.openxmlformats.org/officeDocument/2006/relationships/notesSlide" Target="/ppt/notesSlides/notesSlide69.xml" Id="Re5cdbbf73fbd4026"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9e3c7360afa24f85" /><Relationship Type="http://schemas.openxmlformats.org/officeDocument/2006/relationships/notesSlide" Target="/ppt/notesSlides/notesSlide70.xml" Id="R9d321018b0804e5e"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443dba386ed040d3" /><Relationship Type="http://schemas.openxmlformats.org/officeDocument/2006/relationships/notesSlide" Target="/ppt/notesSlides/notesSlide71.xml" Id="R5c48f26da4f649cf"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8a326d2534624247" /><Relationship Type="http://schemas.openxmlformats.org/officeDocument/2006/relationships/notesSlide" Target="/ppt/notesSlides/notesSlide72.xml" Id="Rd2a40e9d4a2e4cf8"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1bf1f8efae004c48" /><Relationship Type="http://schemas.openxmlformats.org/officeDocument/2006/relationships/notesSlide" Target="/ppt/notesSlides/notesSlide73.xml" Id="R23d5e99459fd4305"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e84d9e703ae14faa" /><Relationship Type="http://schemas.openxmlformats.org/officeDocument/2006/relationships/notesSlide" Target="/ppt/notesSlides/notesSlide74.xml" Id="R5c66b50634a34aaa"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b81a9ceeca4c4161" /><Relationship Type="http://schemas.openxmlformats.org/officeDocument/2006/relationships/notesSlide" Target="/ppt/notesSlides/notesSlide75.xml" Id="R178cb9a2aca24a9d"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d86f9f074d244a38" /><Relationship Type="http://schemas.openxmlformats.org/officeDocument/2006/relationships/notesSlide" Target="/ppt/notesSlides/notesSlide76.xml" Id="R30273eaf161a46a3"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43658c87581140ed" /><Relationship Type="http://schemas.openxmlformats.org/officeDocument/2006/relationships/notesSlide" Target="/ppt/notesSlides/notesSlide77.xml" Id="Rb2895c92ac0e4258"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81c0a8771c49465d" /><Relationship Type="http://schemas.openxmlformats.org/officeDocument/2006/relationships/notesSlide" Target="/ppt/notesSlides/notesSlide78.xml" Id="R51d7e91d5b604020"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02be005f491c4a2f" /><Relationship Type="http://schemas.openxmlformats.org/officeDocument/2006/relationships/notesSlide" Target="/ppt/notesSlides/notesSlide79.xml" Id="R7e6d8853d7304df8"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ff2a425bb18540a8" /><Relationship Type="http://schemas.openxmlformats.org/officeDocument/2006/relationships/notesSlide" Target="/ppt/notesSlides/notesSlide80.xml" Id="R9b820faf736348e3"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4d4eb20cdb894dcf" /><Relationship Type="http://schemas.openxmlformats.org/officeDocument/2006/relationships/notesSlide" Target="/ppt/notesSlides/notesSlide81.xml" Id="R44526d7162b04df2"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99030588f6904906" /><Relationship Type="http://schemas.openxmlformats.org/officeDocument/2006/relationships/notesSlide" Target="/ppt/notesSlides/notesSlide82.xml" Id="Rb22738d1be3542d5"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6f3f82935bdd4461" /><Relationship Type="http://schemas.openxmlformats.org/officeDocument/2006/relationships/notesSlide" Target="/ppt/notesSlides/notesSlide83.xml" Id="Rc427a0a8685d4690"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0b88c3a2295d4a17" /><Relationship Type="http://schemas.openxmlformats.org/officeDocument/2006/relationships/notesSlide" Target="/ppt/notesSlides/notesSlide84.xml" Id="Rfb5c74a7a5f4467a"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81323960e6c040a1" /><Relationship Type="http://schemas.openxmlformats.org/officeDocument/2006/relationships/notesSlide" Target="/ppt/notesSlides/notesSlide85.xml" Id="R27845485e9dd4911"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8fb3b6e444394428" /><Relationship Type="http://schemas.openxmlformats.org/officeDocument/2006/relationships/notesSlide" Target="/ppt/notesSlides/notesSlide86.xml" Id="R47ee08aeb06145f6"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8401d74a53054357" /><Relationship Type="http://schemas.openxmlformats.org/officeDocument/2006/relationships/notesSlide" Target="/ppt/notesSlides/notesSlide87.xml" Id="R183ad9aae4aa4b0a"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acb09db1d8f5453f" /><Relationship Type="http://schemas.openxmlformats.org/officeDocument/2006/relationships/notesSlide" Target="/ppt/notesSlides/notesSlide88.xml" Id="R59ff6ffde419441f"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3d16401c6f9f43aa" /><Relationship Type="http://schemas.openxmlformats.org/officeDocument/2006/relationships/notesSlide" Target="/ppt/notesSlides/notesSlide89.xml" Id="Rfe4f99a77202473c"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a6439740ca274984" /><Relationship Type="http://schemas.openxmlformats.org/officeDocument/2006/relationships/notesSlide" Target="/ppt/notesSlides/notesSlide90.xml" Id="R75e3211ca85e4845"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a12da932c0824ae4" /><Relationship Type="http://schemas.openxmlformats.org/officeDocument/2006/relationships/notesSlide" Target="/ppt/notesSlides/notesSlide91.xml" Id="R2a0f4dd86f4347cc"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eaace13909a84adc" /><Relationship Type="http://schemas.openxmlformats.org/officeDocument/2006/relationships/notesSlide" Target="/ppt/notesSlides/notesSlide92.xml" Id="R25d389c1bd3e4054"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fc6656ee1e04412a" /><Relationship Type="http://schemas.openxmlformats.org/officeDocument/2006/relationships/notesSlide" Target="/ppt/notesSlides/notesSlide93.xml" Id="R20cce1ed4a7a4670" /></Relationships>
</file>

<file path=ppt/slides/_rels/slide94.xml.rels>&#65279;<?xml version="1.0" encoding="utf-8"?><Relationships xmlns="http://schemas.openxmlformats.org/package/2006/relationships"><Relationship Type="http://schemas.openxmlformats.org/officeDocument/2006/relationships/slideLayout" Target="/ppt/slideLayouts/slideLayout6.xml" Id="R35d88008173e4f14" /><Relationship Type="http://schemas.openxmlformats.org/officeDocument/2006/relationships/notesSlide" Target="/ppt/notesSlides/notesSlide94.xml" Id="Ra353049305a04e9a" /></Relationships>
</file>

<file path=ppt/slides/_rels/slide95.xml.rels>&#65279;<?xml version="1.0" encoding="utf-8"?><Relationships xmlns="http://schemas.openxmlformats.org/package/2006/relationships"><Relationship Type="http://schemas.openxmlformats.org/officeDocument/2006/relationships/slideLayout" Target="/ppt/slideLayouts/slideLayout6.xml" Id="R1390bacbad244eba" /><Relationship Type="http://schemas.openxmlformats.org/officeDocument/2006/relationships/notesSlide" Target="/ppt/notesSlides/notesSlide95.xml" Id="R54bdb113d33041a9" /></Relationships>
</file>

<file path=ppt/slides/_rels/slide96.xml.rels>&#65279;<?xml version="1.0" encoding="utf-8"?><Relationships xmlns="http://schemas.openxmlformats.org/package/2006/relationships"><Relationship Type="http://schemas.openxmlformats.org/officeDocument/2006/relationships/slideLayout" Target="/ppt/slideLayouts/slideLayout6.xml" Id="Rf1f52c2a6f0c4509" /><Relationship Type="http://schemas.openxmlformats.org/officeDocument/2006/relationships/notesSlide" Target="/ppt/notesSlides/notesSlide96.xml" Id="Re9db3d00985744ec" /></Relationships>
</file>

<file path=ppt/slides/_rels/slide97.xml.rels>&#65279;<?xml version="1.0" encoding="utf-8"?><Relationships xmlns="http://schemas.openxmlformats.org/package/2006/relationships"><Relationship Type="http://schemas.openxmlformats.org/officeDocument/2006/relationships/slideLayout" Target="/ppt/slideLayouts/slideLayout6.xml" Id="Ra3a92335c6eb48d3" /><Relationship Type="http://schemas.openxmlformats.org/officeDocument/2006/relationships/notesSlide" Target="/ppt/notesSlides/notesSlide97.xml" Id="R035bfc0878014642" /></Relationships>
</file>

<file path=ppt/slides/_rels/slide98.xml.rels>&#65279;<?xml version="1.0" encoding="utf-8"?><Relationships xmlns="http://schemas.openxmlformats.org/package/2006/relationships"><Relationship Type="http://schemas.openxmlformats.org/officeDocument/2006/relationships/slideLayout" Target="/ppt/slideLayouts/slideLayout6.xml" Id="Rd9747d52634d4eb5" /><Relationship Type="http://schemas.openxmlformats.org/officeDocument/2006/relationships/notesSlide" Target="/ppt/notesSlides/notesSlide98.xml" Id="R0b5af958afef4f20" /></Relationships>
</file>

<file path=ppt/slides/_rels/slide99.xml.rels>&#65279;<?xml version="1.0" encoding="utf-8"?><Relationships xmlns="http://schemas.openxmlformats.org/package/2006/relationships"><Relationship Type="http://schemas.openxmlformats.org/officeDocument/2006/relationships/slideLayout" Target="/ppt/slideLayouts/slideLayout6.xml" Id="Rc2f3fb761a274782" /><Relationship Type="http://schemas.openxmlformats.org/officeDocument/2006/relationships/notesSlide" Target="/ppt/notesSlides/notesSlide99.xml" Id="Rd4297891821543fc"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6.xml" Id="R6d68b2ca5e314a89" /><Relationship Type="http://schemas.openxmlformats.org/officeDocument/2006/relationships/notesSlide" Target="/ppt/notesSlides/notesSlide100.xml" Id="Re7d514062a4444fc"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6.xml" Id="R87d93806799a4840" /><Relationship Type="http://schemas.openxmlformats.org/officeDocument/2006/relationships/notesSlide" Target="/ppt/notesSlides/notesSlide101.xml" Id="Rc43fdd8e541740fd"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6.xml" Id="R1f5eb5c533a9414e" /><Relationship Type="http://schemas.openxmlformats.org/officeDocument/2006/relationships/notesSlide" Target="/ppt/notesSlides/notesSlide102.xml" Id="R47eeb91e4b8f422e"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6.xml" Id="R5a514c1467504046" /><Relationship Type="http://schemas.openxmlformats.org/officeDocument/2006/relationships/notesSlide" Target="/ppt/notesSlides/notesSlide103.xml" Id="R4be2f273bed2401e"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6.xml" Id="R7cdefe19958f453a" /><Relationship Type="http://schemas.openxmlformats.org/officeDocument/2006/relationships/notesSlide" Target="/ppt/notesSlides/notesSlide104.xml" Id="R0d5df68ae88544e8"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6.xml" Id="R00be1defdc31460e" /><Relationship Type="http://schemas.openxmlformats.org/officeDocument/2006/relationships/notesSlide" Target="/ppt/notesSlides/notesSlide105.xml" Id="R1f82c52ca96c4866"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6.xml" Id="R88b0964cc8bd4537" /><Relationship Type="http://schemas.openxmlformats.org/officeDocument/2006/relationships/notesSlide" Target="/ppt/notesSlides/notesSlide106.xml" Id="R9ad08c532fc74f65"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6.xml" Id="R1944e0f88cb4468e" /><Relationship Type="http://schemas.openxmlformats.org/officeDocument/2006/relationships/notesSlide" Target="/ppt/notesSlides/notesSlide107.xml" Id="Ref28eda4041f441c"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6.xml" Id="R9dd5686e82b8469f" /><Relationship Type="http://schemas.openxmlformats.org/officeDocument/2006/relationships/notesSlide" Target="/ppt/notesSlides/notesSlide108.xml" Id="R7e339d6bdc0f4c63"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6.xml" Id="R9edae963384a4414" /><Relationship Type="http://schemas.openxmlformats.org/officeDocument/2006/relationships/notesSlide" Target="/ppt/notesSlides/notesSlide109.xml" Id="R5d527afff250477f"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6.xml" Id="Ra260a07b11894b3a" /><Relationship Type="http://schemas.openxmlformats.org/officeDocument/2006/relationships/notesSlide" Target="/ppt/notesSlides/notesSlide110.xml" Id="R37088a0e2ed6466c"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6.xml" Id="Rbc1d01a1be024619" /><Relationship Type="http://schemas.openxmlformats.org/officeDocument/2006/relationships/notesSlide" Target="/ppt/notesSlides/notesSlide111.xml" Id="R8bc4789828f84e30"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6.xml" Id="R4501a51b6caf4c92" /><Relationship Type="http://schemas.openxmlformats.org/officeDocument/2006/relationships/notesSlide" Target="/ppt/notesSlides/notesSlide112.xml" Id="R5cc0154e3e634f97"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6.xml" Id="R1f0ba85c740a4c88" /><Relationship Type="http://schemas.openxmlformats.org/officeDocument/2006/relationships/notesSlide" Target="/ppt/notesSlides/notesSlide113.xml" Id="R3fca6ae1f35443a0"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6.xml" Id="R0711c1d0132540a4" /><Relationship Type="http://schemas.openxmlformats.org/officeDocument/2006/relationships/notesSlide" Target="/ppt/notesSlides/notesSlide114.xml" Id="Rb28f3cc195bb4c73"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6.xml" Id="R5bd1396bcffb4143" /><Relationship Type="http://schemas.openxmlformats.org/officeDocument/2006/relationships/notesSlide" Target="/ppt/notesSlides/notesSlide115.xml" Id="R0df0370d9f074212"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6.xml" Id="Rbed71ff1e2a545cf" /><Relationship Type="http://schemas.openxmlformats.org/officeDocument/2006/relationships/notesSlide" Target="/ppt/notesSlides/notesSlide116.xml" Id="R71b8df8573374ac0"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6.xml" Id="R53dc5ca9ed3240cf" /><Relationship Type="http://schemas.openxmlformats.org/officeDocument/2006/relationships/notesSlide" Target="/ppt/notesSlides/notesSlide117.xml" Id="R44d59d5521af494d"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6.xml" Id="R50ef6c5b3f4a4676" /><Relationship Type="http://schemas.openxmlformats.org/officeDocument/2006/relationships/notesSlide" Target="/ppt/notesSlides/notesSlide118.xml" Id="R629f635fa7044923"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6.xml" Id="Rf5f9ae2bdeb04a6e" /><Relationship Type="http://schemas.openxmlformats.org/officeDocument/2006/relationships/notesSlide" Target="/ppt/notesSlides/notesSlide119.xml" Id="R95108f7effc3471b"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6.xml" Id="R04e3fcdef4cd4908" /><Relationship Type="http://schemas.openxmlformats.org/officeDocument/2006/relationships/notesSlide" Target="/ppt/notesSlides/notesSlide120.xml" Id="Re92b042f1a8d4393"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6.xml" Id="R2af42a78093545ab" /><Relationship Type="http://schemas.openxmlformats.org/officeDocument/2006/relationships/notesSlide" Target="/ppt/notesSlides/notesSlide121.xml" Id="R865e883fe24c4e9c" /></Relationships>
</file>

<file path=ppt/slides/slide1.xml><?xml version="1.0" encoding="utf-8"?>
<p:sld xmlns:p="http://schemas.openxmlformats.org/presentationml/2006/main">
  <p:cSld>
    <p:bg>
      <p:bgPr>
        <a:solidFill xmlns:a="http://schemas.openxmlformats.org/drawingml/2006/main">
          <a:srgbClr val="173E48"/>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4626D7-95B5-4604-AB55-34720F5FB403}"/>
              </a:ext>
            </a:extLst>
          </p:cNvPr>
          <p:cNvSpPr>
            <a:spLocks xmlns:a="http://schemas.openxmlformats.org/drawingml/2006/main" noGrp="1"/>
          </p:cNvSpPr>
          <p:nvPr/>
        </p:nvSpPr>
        <p:spPr>
          <a:xfrm xmlns:a="http://schemas.openxmlformats.org/drawingml/2006/main">
            <a:off x="685800" y="1714500"/>
            <a:ext cx="10820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200" b="1">
                <a:solidFill>
                  <a:srgbClr val="FFFFFF"/>
                </a:solidFill>
                <a:latin typeface="DejaVu Sans"/>
                <a:ea typeface="DejaVu Sans"/>
                <a:cs typeface="DejaVu Sans"/>
              </a:defRPr>
            </a:defPPr>
            <a:lvl1pPr>
              <a:defRPr sz="4200" b="1">
                <a:solidFill>
                  <a:srgbClr val="FFFFFF"/>
                </a:solidFill>
                <a:latin typeface="DejaVu Sans"/>
                <a:ea typeface="DejaVu Sans"/>
                <a:cs typeface="DejaVu Sans"/>
              </a:defRPr>
            </a:lvl1pPr>
            <a:lvl2pPr>
              <a:defRPr sz="4200" b="1">
                <a:solidFill>
                  <a:srgbClr val="FFFFFF"/>
                </a:solidFill>
                <a:latin typeface="DejaVu Sans"/>
                <a:ea typeface="DejaVu Sans"/>
                <a:cs typeface="DejaVu Sans"/>
              </a:defRPr>
            </a:lvl2pPr>
            <a:lvl3pPr>
              <a:defRPr sz="4200" b="1">
                <a:solidFill>
                  <a:srgbClr val="FFFFFF"/>
                </a:solidFill>
                <a:latin typeface="DejaVu Sans"/>
                <a:ea typeface="DejaVu Sans"/>
                <a:cs typeface="DejaVu Sans"/>
              </a:defRPr>
            </a:lvl3pPr>
            <a:lvl4pPr>
              <a:defRPr sz="4200" b="1">
                <a:solidFill>
                  <a:srgbClr val="FFFFFF"/>
                </a:solidFill>
                <a:latin typeface="DejaVu Sans"/>
                <a:ea typeface="DejaVu Sans"/>
                <a:cs typeface="DejaVu Sans"/>
              </a:defRPr>
            </a:lvl4pPr>
            <a:lvl5pPr>
              <a:defRPr sz="4200" b="1">
                <a:solidFill>
                  <a:srgbClr val="FFFFFF"/>
                </a:solidFill>
                <a:latin typeface="DejaVu Sans"/>
                <a:ea typeface="DejaVu Sans"/>
                <a:cs typeface="DejaVu Sans"/>
              </a:defRPr>
            </a:lvl5pPr>
            <a:lvl6pPr>
              <a:defRPr sz="4200" b="1">
                <a:solidFill>
                  <a:srgbClr val="FFFFFF"/>
                </a:solidFill>
                <a:latin typeface="DejaVu Sans"/>
                <a:ea typeface="DejaVu Sans"/>
                <a:cs typeface="DejaVu Sans"/>
              </a:defRPr>
            </a:lvl6pPr>
            <a:lvl7pPr>
              <a:defRPr sz="4200" b="1">
                <a:solidFill>
                  <a:srgbClr val="FFFFFF"/>
                </a:solidFill>
                <a:latin typeface="DejaVu Sans"/>
                <a:ea typeface="DejaVu Sans"/>
                <a:cs typeface="DejaVu Sans"/>
              </a:defRPr>
            </a:lvl7pPr>
            <a:lvl8pPr>
              <a:defRPr sz="4200" b="1">
                <a:solidFill>
                  <a:srgbClr val="FFFFFF"/>
                </a:solidFill>
                <a:latin typeface="DejaVu Sans"/>
                <a:ea typeface="DejaVu Sans"/>
                <a:cs typeface="DejaVu Sans"/>
              </a:defRPr>
            </a:lvl8pPr>
            <a:lvl9pPr>
              <a:defRPr sz="4200" b="1">
                <a:solidFill>
                  <a:srgbClr val="FFFFFF"/>
                </a:solidFill>
                <a:latin typeface="DejaVu Sans"/>
                <a:ea typeface="DejaVu Sans"/>
                <a:cs typeface="DejaVu Sans"/>
              </a:defRPr>
            </a:lvl9pPr>
          </a:lstStyle>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Fever of Unknown Origin</a:t>
            </a:r>
          </a:p>
        </p:txBody>
      </p:sp>
      <p:sp>
        <p:nvSpPr>
          <p:cNvPr id="2" name="subtitle">
            <a:extLst xmlns:a="http://schemas.openxmlformats.org/drawingml/2006/main">
              <a:ext uri="{FF2B5EF4-FFF2-40B4-BE49-F238E27FC236}">
                <a16:creationId xmlns:a16="http://schemas.microsoft.com/office/drawing/2014/main" id="{EDB25E2A-A861-4071-A785-D2D55A14C4FA}"/>
              </a:ext>
            </a:extLst>
          </p:cNvPr>
          <p:cNvSpPr>
            <a:spLocks xmlns:a="http://schemas.openxmlformats.org/drawingml/2006/main" noGrp="1"/>
          </p:cNvSpPr>
          <p:nvPr/>
        </p:nvSpPr>
        <p:spPr>
          <a:xfrm xmlns:a="http://schemas.openxmlformats.org/drawingml/2006/main">
            <a:off x="723900" y="514350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D7E8E8"/>
                </a:solidFill>
                <a:latin typeface="DejaVu Sans"/>
                <a:ea typeface="DejaVu Sans"/>
                <a:cs typeface="DejaVu Sans"/>
              </a:defRPr>
            </a:defPPr>
            <a:lvl1pPr>
              <a:defRPr sz="1950" b="0">
                <a:solidFill>
                  <a:srgbClr val="D7E8E8"/>
                </a:solidFill>
                <a:latin typeface="DejaVu Sans"/>
                <a:ea typeface="DejaVu Sans"/>
                <a:cs typeface="DejaVu Sans"/>
              </a:defRPr>
            </a:lvl1pPr>
            <a:lvl2pPr>
              <a:defRPr sz="1950" b="0">
                <a:solidFill>
                  <a:srgbClr val="D7E8E8"/>
                </a:solidFill>
                <a:latin typeface="DejaVu Sans"/>
                <a:ea typeface="DejaVu Sans"/>
                <a:cs typeface="DejaVu Sans"/>
              </a:defRPr>
            </a:lvl2pPr>
            <a:lvl3pPr>
              <a:defRPr sz="1950" b="0">
                <a:solidFill>
                  <a:srgbClr val="D7E8E8"/>
                </a:solidFill>
                <a:latin typeface="DejaVu Sans"/>
                <a:ea typeface="DejaVu Sans"/>
                <a:cs typeface="DejaVu Sans"/>
              </a:defRPr>
            </a:lvl3pPr>
            <a:lvl4pPr>
              <a:defRPr sz="1950" b="0">
                <a:solidFill>
                  <a:srgbClr val="D7E8E8"/>
                </a:solidFill>
                <a:latin typeface="DejaVu Sans"/>
                <a:ea typeface="DejaVu Sans"/>
                <a:cs typeface="DejaVu Sans"/>
              </a:defRPr>
            </a:lvl4pPr>
            <a:lvl5pPr>
              <a:defRPr sz="1950" b="0">
                <a:solidFill>
                  <a:srgbClr val="D7E8E8"/>
                </a:solidFill>
                <a:latin typeface="DejaVu Sans"/>
                <a:ea typeface="DejaVu Sans"/>
                <a:cs typeface="DejaVu Sans"/>
              </a:defRPr>
            </a:lvl5pPr>
            <a:lvl6pPr>
              <a:defRPr sz="1950" b="0">
                <a:solidFill>
                  <a:srgbClr val="D7E8E8"/>
                </a:solidFill>
                <a:latin typeface="DejaVu Sans"/>
                <a:ea typeface="DejaVu Sans"/>
                <a:cs typeface="DejaVu Sans"/>
              </a:defRPr>
            </a:lvl6pPr>
            <a:lvl7pPr>
              <a:defRPr sz="1950" b="0">
                <a:solidFill>
                  <a:srgbClr val="D7E8E8"/>
                </a:solidFill>
                <a:latin typeface="DejaVu Sans"/>
                <a:ea typeface="DejaVu Sans"/>
                <a:cs typeface="DejaVu Sans"/>
              </a:defRPr>
            </a:lvl7pPr>
            <a:lvl8pPr>
              <a:defRPr sz="1950" b="0">
                <a:solidFill>
                  <a:srgbClr val="D7E8E8"/>
                </a:solidFill>
                <a:latin typeface="DejaVu Sans"/>
                <a:ea typeface="DejaVu Sans"/>
                <a:cs typeface="DejaVu Sans"/>
              </a:defRPr>
            </a:lvl8pPr>
            <a:lvl9pPr>
              <a:defRPr sz="1950" b="0">
                <a:solidFill>
                  <a:srgbClr val="D7E8E8"/>
                </a:solidFill>
                <a:latin typeface="DejaVu Sans"/>
                <a:ea typeface="DejaVu Sans"/>
                <a:cs typeface="DejaVu Sans"/>
              </a:defRPr>
            </a:lvl9pPr>
          </a:lstStyle>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ID Practice Update</a:t>
            </a:r>
          </a:p>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Resident teaching and advanced reference</a:t>
            </a:r>
          </a:p>
        </p:txBody>
      </p:sp>
    </p:spTree>
    <p:extLst>
      <p:ext uri="{BB962C8B-B14F-4D97-AF65-F5344CB8AC3E}">
        <p14:creationId xmlns:p14="http://schemas.microsoft.com/office/powerpoint/2010/main" val="1583659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B385688-0ACE-427B-98AD-EF52BB41917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Fever of Unknown Origin</a:t>
            </a:r>
          </a:p>
        </p:txBody>
      </p:sp>
      <p:sp>
        <p:nvSpPr>
          <p:cNvPr id="2" name="paragraph-0">
            <a:extLst xmlns:a="http://schemas.openxmlformats.org/drawingml/2006/main">
              <a:ext uri="{FF2B5EF4-FFF2-40B4-BE49-F238E27FC236}">
                <a16:creationId xmlns:a16="http://schemas.microsoft.com/office/drawing/2014/main" id="{F5C5B83C-5055-4C14-BFE1-8D15A1CBBC53}"/>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Resident core</a:t>
            </a:r>
          </a:p>
        </p:txBody>
      </p:sp>
      <p:sp>
        <p:nvSpPr>
          <p:cNvPr id="3" name="footer">
            <a:extLst xmlns:a="http://schemas.openxmlformats.org/drawingml/2006/main">
              <a:ext uri="{FF2B5EF4-FFF2-40B4-BE49-F238E27FC236}">
                <a16:creationId xmlns:a16="http://schemas.microsoft.com/office/drawing/2014/main" id="{31D130AB-7DAF-445B-85B8-FFDF5AA865A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26D818E-281E-4B0C-A624-AB88B0B715E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a:t>
            </a:r>
          </a:p>
        </p:txBody>
      </p:sp>
    </p:spTree>
    <p:extLst>
      <p:ext uri="{BB962C8B-B14F-4D97-AF65-F5344CB8AC3E}">
        <p14:creationId xmlns:p14="http://schemas.microsoft.com/office/powerpoint/2010/main" val="129367791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7EE0399-00D7-45BB-8F3F-47BA74032EB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Approach to FUO</a:t>
            </a:r>
          </a:p>
        </p:txBody>
      </p:sp>
      <p:sp>
        <p:nvSpPr>
          <p:cNvPr id="2" name="paragraph-0">
            <a:extLst xmlns:a="http://schemas.openxmlformats.org/drawingml/2006/main">
              <a:ext uri="{FF2B5EF4-FFF2-40B4-BE49-F238E27FC236}">
                <a16:creationId xmlns:a16="http://schemas.microsoft.com/office/drawing/2014/main" id="{3C2B80F3-5851-4A65-9E50-C05F4ECB3EB5}"/>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This module covers the initial evaluation of prolonged fever, including exposure history, baseline tests, infectious and noninfectious causes, and indications for imaging or biopsy.</a:t>
            </a:r>
          </a:p>
        </p:txBody>
      </p:sp>
      <p:sp>
        <p:nvSpPr>
          <p:cNvPr id="3" name="paragraph-1">
            <a:extLst xmlns:a="http://schemas.openxmlformats.org/drawingml/2006/main">
              <a:ext uri="{FF2B5EF4-FFF2-40B4-BE49-F238E27FC236}">
                <a16:creationId xmlns:a16="http://schemas.microsoft.com/office/drawing/2014/main" id="{F0DD3737-B336-4914-A0BD-2B27B3EC8DFB}"/>
              </a:ext>
            </a:extLst>
          </p:cNvPr>
          <p:cNvSpPr>
            <a:spLocks xmlns:a="http://schemas.openxmlformats.org/drawingml/2006/main" noGrp="1"/>
          </p:cNvSpPr>
          <p:nvPr/>
        </p:nvSpPr>
        <p:spPr>
          <a:xfrm xmlns:a="http://schemas.openxmlformats.org/drawingml/2006/main">
            <a:off x="647700" y="32670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fellow section covers culture-negative endocarditis, PET/CT, tissue sampling, molecular testing, and inflammatory disorders.</a:t>
            </a:r>
          </a:p>
        </p:txBody>
      </p:sp>
      <p:sp>
        <p:nvSpPr>
          <p:cNvPr id="4" name="paragraph-2">
            <a:extLst xmlns:a="http://schemas.openxmlformats.org/drawingml/2006/main">
              <a:ext uri="{FF2B5EF4-FFF2-40B4-BE49-F238E27FC236}">
                <a16:creationId xmlns:a16="http://schemas.microsoft.com/office/drawing/2014/main" id="{6DA0C68E-19E0-4787-82D2-50CB630B5D51}"/>
              </a:ext>
            </a:extLst>
          </p:cNvPr>
          <p:cNvSpPr>
            <a:spLocks xmlns:a="http://schemas.openxmlformats.org/drawingml/2006/main" noGrp="1"/>
          </p:cNvSpPr>
          <p:nvPr/>
        </p:nvSpPr>
        <p:spPr>
          <a:xfrm xmlns:a="http://schemas.openxmlformats.org/drawingml/2006/main">
            <a:off x="647700" y="422910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has four weeks of documented fever, negative blood cultures, and no localizing symptoms. What else would you ask before ordering tests?</a:t>
            </a:r>
          </a:p>
        </p:txBody>
      </p:sp>
      <p:sp>
        <p:nvSpPr>
          <p:cNvPr id="5" name="footer">
            <a:extLst xmlns:a="http://schemas.openxmlformats.org/drawingml/2006/main">
              <a:ext uri="{FF2B5EF4-FFF2-40B4-BE49-F238E27FC236}">
                <a16:creationId xmlns:a16="http://schemas.microsoft.com/office/drawing/2014/main" id="{D12EA8AF-62F3-4A21-A23B-1F91FC14F07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BB082B07-263E-4374-ADBF-D04D2CF5CAE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a:t>
            </a:r>
          </a:p>
        </p:txBody>
      </p:sp>
    </p:spTree>
    <p:extLst>
      <p:ext uri="{BB962C8B-B14F-4D97-AF65-F5344CB8AC3E}">
        <p14:creationId xmlns:p14="http://schemas.microsoft.com/office/powerpoint/2010/main" val="20417496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06E7822-EA71-4A9E-AA36-280DCF7AD4D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Approach to FUO</a:t>
            </a:r>
          </a:p>
        </p:txBody>
      </p:sp>
      <p:sp>
        <p:nvSpPr>
          <p:cNvPr id="2" name="paragraph-0">
            <a:extLst xmlns:a="http://schemas.openxmlformats.org/drawingml/2006/main">
              <a:ext uri="{FF2B5EF4-FFF2-40B4-BE49-F238E27FC236}">
                <a16:creationId xmlns:a16="http://schemas.microsoft.com/office/drawing/2014/main" id="{B41C5540-3648-4CE8-A45B-366BC98151FB}"/>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exposure table can also be used during a consult.</a:t>
            </a:r>
          </a:p>
        </p:txBody>
      </p:sp>
      <p:sp>
        <p:nvSpPr>
          <p:cNvPr id="3" name="footer">
            <a:extLst xmlns:a="http://schemas.openxmlformats.org/drawingml/2006/main">
              <a:ext uri="{FF2B5EF4-FFF2-40B4-BE49-F238E27FC236}">
                <a16:creationId xmlns:a16="http://schemas.microsoft.com/office/drawing/2014/main" id="{73CDE586-76F9-4AC4-99DF-5DE8B462579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5EB3F2C-AF46-4FE5-841C-EA816A7584B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a:t>
            </a:r>
          </a:p>
        </p:txBody>
      </p:sp>
    </p:spTree>
    <p:extLst>
      <p:ext uri="{BB962C8B-B14F-4D97-AF65-F5344CB8AC3E}">
        <p14:creationId xmlns:p14="http://schemas.microsoft.com/office/powerpoint/2010/main" val="586685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5E5EAD5-BA74-41CD-89E8-4031E25F34E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Approach to FUO</a:t>
            </a:r>
          </a:p>
        </p:txBody>
      </p:sp>
      <p:sp>
        <p:nvSpPr>
          <p:cNvPr id="2" name="paragraph-0">
            <a:extLst xmlns:a="http://schemas.openxmlformats.org/drawingml/2006/main">
              <a:ext uri="{FF2B5EF4-FFF2-40B4-BE49-F238E27FC236}">
                <a16:creationId xmlns:a16="http://schemas.microsoft.com/office/drawing/2014/main" id="{B81311D0-3BF9-4AE7-8CE9-0072648E364B}"/>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Resident core</a:t>
            </a:r>
          </a:p>
        </p:txBody>
      </p:sp>
      <p:sp>
        <p:nvSpPr>
          <p:cNvPr id="3" name="footer">
            <a:extLst xmlns:a="http://schemas.openxmlformats.org/drawingml/2006/main">
              <a:ext uri="{FF2B5EF4-FFF2-40B4-BE49-F238E27FC236}">
                <a16:creationId xmlns:a16="http://schemas.microsoft.com/office/drawing/2014/main" id="{1E8E5D69-422C-47E3-9FF1-E1709C7F084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300617C-2999-4255-BB51-FE109DAE66D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a:t>
            </a:r>
          </a:p>
        </p:txBody>
      </p:sp>
    </p:spTree>
    <p:extLst>
      <p:ext uri="{BB962C8B-B14F-4D97-AF65-F5344CB8AC3E}">
        <p14:creationId xmlns:p14="http://schemas.microsoft.com/office/powerpoint/2010/main" val="8592887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B4CA5F2-0505-4565-AF25-EEF2C4B01FE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Definition and patient population</a:t>
            </a:r>
          </a:p>
        </p:txBody>
      </p:sp>
      <p:sp>
        <p:nvSpPr>
          <p:cNvPr id="2" name="paragraph-0">
            <a:extLst xmlns:a="http://schemas.openxmlformats.org/drawingml/2006/main">
              <a:ext uri="{FF2B5EF4-FFF2-40B4-BE49-F238E27FC236}">
                <a16:creationId xmlns:a16="http://schemas.microsoft.com/office/drawing/2014/main" id="{AB6CA66E-D597-4ED5-902F-D953E263EE1D}"/>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Classic FUO is prolonged documented fever, conventionally at least 38.3°C on several occasions over at least three weeks, without an explanation after an appropriate minimum evaluation in an immunocompetent adult. The 2024 consensus emphasizes what evaluation was completed rather than a required number of inpatient days. Definitions vary; the three-week threshold is a classification convention, not a reason to delay necessary care.</a:t>
            </a:r>
          </a:p>
        </p:txBody>
      </p:sp>
      <p:sp>
        <p:nvSpPr>
          <p:cNvPr id="3" name="footer">
            <a:extLst xmlns:a="http://schemas.openxmlformats.org/drawingml/2006/main">
              <a:ext uri="{FF2B5EF4-FFF2-40B4-BE49-F238E27FC236}">
                <a16:creationId xmlns:a16="http://schemas.microsoft.com/office/drawing/2014/main" id="{C8C9DD92-E68D-4F3B-A5AB-45385F9E057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CDD5A32-9B85-418D-9F4B-98BA1FFEC1B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a:t>
            </a:r>
          </a:p>
        </p:txBody>
      </p:sp>
    </p:spTree>
    <p:extLst>
      <p:ext uri="{BB962C8B-B14F-4D97-AF65-F5344CB8AC3E}">
        <p14:creationId xmlns:p14="http://schemas.microsoft.com/office/powerpoint/2010/main" val="3936113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81D8174-DC3D-49EC-800F-E7EEF996340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Definition and patient population</a:t>
            </a:r>
          </a:p>
        </p:txBody>
      </p:sp>
      <p:graphicFrame>
        <p:nvGraphicFramePr>
          <p:cNvPr id="2" name="">
            <a:extLst xmlns:a="http://schemas.openxmlformats.org/drawingml/2006/main">
              <a:ext uri="{FF2B5EF4-FFF2-40B4-BE49-F238E27FC236}">
                <a16:creationId xmlns:a16="http://schemas.microsoft.com/office/drawing/2014/main" id="{A0F97552-8A2D-4769-B039-52644576BA15}"/>
              </a:ext>
            </a:extLst>
          </p:cNvPr>
          <p:cNvGraphicFramePr/>
          <p:nvPr/>
        </p:nvGraphicFramePr>
        <p:xfrm>
          <a:off xmlns:a="http://schemas.openxmlformats.org/drawingml/2006/main" x="647700" y="1866900"/>
          <a:ext xmlns:a="http://schemas.openxmlformats.org/drawingml/2006/main" cx="10896600" cy="13858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New fever over hours to days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How to approach 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Evaluate the acute syndrome and severity. Negative initial cultures do not make this classic FUO.</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22276AB3-0BCE-4862-84CE-184088B7793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334E6EE-02B4-4A1D-AA44-CCA8DA27BEC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a:t>
            </a:r>
          </a:p>
        </p:txBody>
      </p:sp>
    </p:spTree>
    <p:extLst>
      <p:ext uri="{BB962C8B-B14F-4D97-AF65-F5344CB8AC3E}">
        <p14:creationId xmlns:p14="http://schemas.microsoft.com/office/powerpoint/2010/main" val="191465796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F81A89E-AFD6-4C6F-9F6A-6ACB5BE4FE8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Definition and patient population</a:t>
            </a:r>
          </a:p>
        </p:txBody>
      </p:sp>
      <p:graphicFrame>
        <p:nvGraphicFramePr>
          <p:cNvPr id="2" name="">
            <a:extLst xmlns:a="http://schemas.openxmlformats.org/drawingml/2006/main">
              <a:ext uri="{FF2B5EF4-FFF2-40B4-BE49-F238E27FC236}">
                <a16:creationId xmlns:a16="http://schemas.microsoft.com/office/drawing/2014/main" id="{2548531F-7DE0-4B82-9CE4-297D6D241009}"/>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New hospital or ICU fever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How to approach 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Review procedures, devices, aspiration, thrombosis, transfusion, drugs, and new infection. Evaluate causes of hospital-acquired fever.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FF3491A-73A4-406D-894B-8EA4ED11A8A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00C66E0-E337-4484-9604-158A67DB4BC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a:t>
            </a:r>
          </a:p>
        </p:txBody>
      </p:sp>
    </p:spTree>
    <p:extLst>
      <p:ext uri="{BB962C8B-B14F-4D97-AF65-F5344CB8AC3E}">
        <p14:creationId xmlns:p14="http://schemas.microsoft.com/office/powerpoint/2010/main" val="85688644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24F9022-73B4-4F11-B3FF-0CE7A0EF4E1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Definition and patient population</a:t>
            </a:r>
          </a:p>
        </p:txBody>
      </p:sp>
      <p:graphicFrame>
        <p:nvGraphicFramePr>
          <p:cNvPr id="2" name="">
            <a:extLst xmlns:a="http://schemas.openxmlformats.org/drawingml/2006/main">
              <a:ext uri="{FF2B5EF4-FFF2-40B4-BE49-F238E27FC236}">
                <a16:creationId xmlns:a16="http://schemas.microsoft.com/office/drawing/2014/main" id="{F7279875-F965-4B82-8A49-3A4A30C15331}"/>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Neutropenia, transplant, substantial immunosuppression, or advanced HIV</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How to approach 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Evaluate according to immune status and likely opportunistic infections. The urgency and testing differ from classic FUO.</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DA48025C-1D47-4228-AC58-CF98DAC6443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99FDF46-534C-4B87-B2D8-90EE8A6DBD5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a:t>
            </a:r>
          </a:p>
        </p:txBody>
      </p:sp>
    </p:spTree>
    <p:extLst>
      <p:ext uri="{BB962C8B-B14F-4D97-AF65-F5344CB8AC3E}">
        <p14:creationId xmlns:p14="http://schemas.microsoft.com/office/powerpoint/2010/main" val="110879002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F3CF656-FFD6-41F1-9E3E-68ACD988921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Definition and patient population</a:t>
            </a:r>
          </a:p>
        </p:txBody>
      </p:sp>
      <p:graphicFrame>
        <p:nvGraphicFramePr>
          <p:cNvPr id="2" name="">
            <a:extLst xmlns:a="http://schemas.openxmlformats.org/drawingml/2006/main">
              <a:ext uri="{FF2B5EF4-FFF2-40B4-BE49-F238E27FC236}">
                <a16:creationId xmlns:a16="http://schemas.microsoft.com/office/drawing/2014/main" id="{8D080329-85F9-4042-828D-97544466EE9D}"/>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Inflammation of unknown origin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How to approach 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Persistent unexplained inflammatory-marker elevation for at least three weeks without qualifying fever. Similar etiologic categories; elevated CRP alone does not prove infection.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57245F1E-8542-402B-9130-83376F37A38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2F71868-FC51-42FA-865D-492D314FB04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a:t>
            </a:r>
          </a:p>
        </p:txBody>
      </p:sp>
    </p:spTree>
    <p:extLst>
      <p:ext uri="{BB962C8B-B14F-4D97-AF65-F5344CB8AC3E}">
        <p14:creationId xmlns:p14="http://schemas.microsoft.com/office/powerpoint/2010/main" val="208328117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22B6E2C-327D-4712-B44F-F147130E4B0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Definition and patient population</a:t>
            </a:r>
          </a:p>
        </p:txBody>
      </p:sp>
      <p:sp>
        <p:nvSpPr>
          <p:cNvPr id="2" name="paragraph-0">
            <a:extLst xmlns:a="http://schemas.openxmlformats.org/drawingml/2006/main">
              <a:ext uri="{FF2B5EF4-FFF2-40B4-BE49-F238E27FC236}">
                <a16:creationId xmlns:a16="http://schemas.microsoft.com/office/drawing/2014/main" id="{E152DA40-0974-42B3-B7AB-CFBB01557C7D}"/>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Review the recorded temperatures, measurement method, antipyretic use, and timing. If possible, examine the patient during a febrile episode.</a:t>
            </a:r>
          </a:p>
        </p:txBody>
      </p:sp>
      <p:sp>
        <p:nvSpPr>
          <p:cNvPr id="3" name="footer">
            <a:extLst xmlns:a="http://schemas.openxmlformats.org/drawingml/2006/main">
              <a:ext uri="{FF2B5EF4-FFF2-40B4-BE49-F238E27FC236}">
                <a16:creationId xmlns:a16="http://schemas.microsoft.com/office/drawing/2014/main" id="{DDEF7E07-03C3-4C37-8B06-6293C0BBF7B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6706709-4AAB-44CC-83AA-7BFACA869E7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a:t>
            </a:r>
          </a:p>
        </p:txBody>
      </p:sp>
    </p:spTree>
    <p:extLst>
      <p:ext uri="{BB962C8B-B14F-4D97-AF65-F5344CB8AC3E}">
        <p14:creationId xmlns:p14="http://schemas.microsoft.com/office/powerpoint/2010/main" val="85211445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A20308F-60A4-4647-A274-3611A121E00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Definition and patient population</a:t>
            </a:r>
          </a:p>
        </p:txBody>
      </p:sp>
      <p:sp>
        <p:nvSpPr>
          <p:cNvPr id="2" name="paragraph-0">
            <a:extLst xmlns:a="http://schemas.openxmlformats.org/drawingml/2006/main">
              <a:ext uri="{FF2B5EF4-FFF2-40B4-BE49-F238E27FC236}">
                <a16:creationId xmlns:a16="http://schemas.microsoft.com/office/drawing/2014/main" id="{02F85EA8-E124-469B-A00B-23CD1EE519C0}"/>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Resident core</a:t>
            </a:r>
          </a:p>
        </p:txBody>
      </p:sp>
      <p:sp>
        <p:nvSpPr>
          <p:cNvPr id="3" name="footer">
            <a:extLst xmlns:a="http://schemas.openxmlformats.org/drawingml/2006/main">
              <a:ext uri="{FF2B5EF4-FFF2-40B4-BE49-F238E27FC236}">
                <a16:creationId xmlns:a16="http://schemas.microsoft.com/office/drawing/2014/main" id="{CF111367-D7D6-4EC3-963A-1383F54BE2B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C1EF4FA-162F-49F8-904D-442DAAA22CC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a:t>
            </a:r>
          </a:p>
        </p:txBody>
      </p:sp>
    </p:spTree>
    <p:extLst>
      <p:ext uri="{BB962C8B-B14F-4D97-AF65-F5344CB8AC3E}">
        <p14:creationId xmlns:p14="http://schemas.microsoft.com/office/powerpoint/2010/main" val="66757781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E6CE696-9711-43EA-A0FC-6B6AA8124AD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treatment cannot wait</a:t>
            </a:r>
          </a:p>
        </p:txBody>
      </p:sp>
      <p:graphicFrame>
        <p:nvGraphicFramePr>
          <p:cNvPr id="2" name="">
            <a:extLst xmlns:a="http://schemas.openxmlformats.org/drawingml/2006/main">
              <a:ext uri="{FF2B5EF4-FFF2-40B4-BE49-F238E27FC236}">
                <a16:creationId xmlns:a16="http://schemas.microsoft.com/office/drawing/2014/main" id="{59D798E2-A5F2-43B2-8622-41583B5F8772}"/>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Shock, rapidly worsening organ dysfunction, or convincing serious 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Immediate response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Obtain cultures promptly if this does not delay treatment, stabilize, start antimicrobials for the suspected infection, and obtain source control.</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365C78D5-C806-4E7B-9958-3C7D09923B1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81B44D4-42E1-4CD1-9B2F-8B794665677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a:t>
            </a:r>
          </a:p>
        </p:txBody>
      </p:sp>
    </p:spTree>
    <p:extLst>
      <p:ext uri="{BB962C8B-B14F-4D97-AF65-F5344CB8AC3E}">
        <p14:creationId xmlns:p14="http://schemas.microsoft.com/office/powerpoint/2010/main" val="18968557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9F94E0A-8D29-4B9E-81B5-3D2C06528A9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treatment cannot wait</a:t>
            </a:r>
          </a:p>
        </p:txBody>
      </p:sp>
      <p:graphicFrame>
        <p:nvGraphicFramePr>
          <p:cNvPr id="2" name="">
            <a:extLst xmlns:a="http://schemas.openxmlformats.org/drawingml/2006/main">
              <a:ext uri="{FF2B5EF4-FFF2-40B4-BE49-F238E27FC236}">
                <a16:creationId xmlns:a16="http://schemas.microsoft.com/office/drawing/2014/main" id="{677F4F84-1589-414C-8BDC-F2169CCDD77E}"/>
              </a:ext>
            </a:extLst>
          </p:cNvPr>
          <p:cNvGraphicFramePr/>
          <p:nvPr/>
        </p:nvGraphicFramePr>
        <p:xfrm>
          <a:off xmlns:a="http://schemas.openxmlformats.org/drawingml/2006/main" x="647700" y="1866900"/>
          <a:ext xmlns:a="http://schemas.openxmlformats.org/drawingml/2006/main" cx="10896600" cy="13858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Fever with profound neutropenia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Immediate response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Begin treatment for febrile neutropenia promptly.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2F47038-DC8F-4FA3-BCE1-DF3F91653F1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B35CD1B-2846-4C1C-B096-44B57D02509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a:t>
            </a:r>
          </a:p>
        </p:txBody>
      </p:sp>
    </p:spTree>
    <p:extLst>
      <p:ext uri="{BB962C8B-B14F-4D97-AF65-F5344CB8AC3E}">
        <p14:creationId xmlns:p14="http://schemas.microsoft.com/office/powerpoint/2010/main" val="169982269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83A87AB-0A5C-45BF-AAC9-2EA16AFE663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treatment cannot wait</a:t>
            </a:r>
          </a:p>
        </p:txBody>
      </p:sp>
      <p:graphicFrame>
        <p:nvGraphicFramePr>
          <p:cNvPr id="2" name="">
            <a:extLst xmlns:a="http://schemas.openxmlformats.org/drawingml/2006/main">
              <a:ext uri="{FF2B5EF4-FFF2-40B4-BE49-F238E27FC236}">
                <a16:creationId xmlns:a16="http://schemas.microsoft.com/office/drawing/2014/main" id="{DEAF8743-B6FA-447D-8245-A9A285C7CDDF}"/>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Meningismus, encephalopathy, new neurologic deficit, or back pain with neurologic signs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Immediate response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Urgent CNS/spinal evaluation and empiric treatment when indicated. Do not delay necessary therapy for an unsafe or delayed lumbar puncture.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6B444788-687B-4341-9369-6FE146BA10F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A43896F-99ED-4A00-899A-C622E1D9802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a:t>
            </a:r>
          </a:p>
        </p:txBody>
      </p:sp>
    </p:spTree>
    <p:extLst>
      <p:ext uri="{BB962C8B-B14F-4D97-AF65-F5344CB8AC3E}">
        <p14:creationId xmlns:p14="http://schemas.microsoft.com/office/powerpoint/2010/main" val="212672072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4BF16AC-B80F-424B-8A7A-6797B37DD94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treatment cannot wait</a:t>
            </a:r>
          </a:p>
        </p:txBody>
      </p:sp>
      <p:graphicFrame>
        <p:nvGraphicFramePr>
          <p:cNvPr id="2" name="">
            <a:extLst xmlns:a="http://schemas.openxmlformats.org/drawingml/2006/main">
              <a:ext uri="{FF2B5EF4-FFF2-40B4-BE49-F238E27FC236}">
                <a16:creationId xmlns:a16="http://schemas.microsoft.com/office/drawing/2014/main" id="{EA77DCC4-BCEC-4A79-9E20-11368550BB08}"/>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New visual symptoms with a convincing giant cell arteritis syndrome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Immediate response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Urgent ophthalmology/rheumatology assessment and glucocorticoids. Obtain rapid vascular imaging or biopsy without delaying vision-saving treatment.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8864C3E3-DD16-40C3-BE18-794ECE5C7EC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0754F31-D0A2-4D23-9ADA-05E6F50A3D9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a:t>
            </a:r>
          </a:p>
        </p:txBody>
      </p:sp>
    </p:spTree>
    <p:extLst>
      <p:ext uri="{BB962C8B-B14F-4D97-AF65-F5344CB8AC3E}">
        <p14:creationId xmlns:p14="http://schemas.microsoft.com/office/powerpoint/2010/main" val="199272904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FADB620-E1BC-4C06-9976-1665ABE4C9E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treatment cannot wait</a:t>
            </a:r>
          </a:p>
        </p:txBody>
      </p:sp>
      <p:graphicFrame>
        <p:nvGraphicFramePr>
          <p:cNvPr id="2" name="">
            <a:extLst xmlns:a="http://schemas.openxmlformats.org/drawingml/2006/main">
              <a:ext uri="{FF2B5EF4-FFF2-40B4-BE49-F238E27FC236}">
                <a16:creationId xmlns:a16="http://schemas.microsoft.com/office/drawing/2014/main" id="{617BD8CE-1B1D-4867-BD9E-05E96E0D8DFF}"/>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Cytopenias, hepatitis, coagulopathy, rising ferritin, and deterioration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Immediate response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Consider HLH/MAS while investigating infection and malignancy. Seek urgent hematology/rheumatology/critical care input.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B07DE7BB-5F65-473D-A145-D1B6FEDA5FA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024E097-8C3F-4C86-B6D3-E652ED993B7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a:t>
            </a:r>
          </a:p>
        </p:txBody>
      </p:sp>
    </p:spTree>
    <p:extLst>
      <p:ext uri="{BB962C8B-B14F-4D97-AF65-F5344CB8AC3E}">
        <p14:creationId xmlns:p14="http://schemas.microsoft.com/office/powerpoint/2010/main" val="201449622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7762D83-8BC8-4FE0-84ED-6CA2CD42C54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treatment cannot wait</a:t>
            </a:r>
          </a:p>
        </p:txBody>
      </p:sp>
      <p:sp>
        <p:nvSpPr>
          <p:cNvPr id="2" name="paragraph-0">
            <a:extLst xmlns:a="http://schemas.openxmlformats.org/drawingml/2006/main">
              <a:ext uri="{FF2B5EF4-FFF2-40B4-BE49-F238E27FC236}">
                <a16:creationId xmlns:a16="http://schemas.microsoft.com/office/drawing/2014/main" id="{040DE859-0601-4D93-986E-BDB0D7F68AAF}"/>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Avoid empiric antibiotics or glucocorticoids in stable classic FUO unless a specific suspected diagnosis requires treatment. Both can reduce diagnostic yield.</a:t>
            </a:r>
          </a:p>
        </p:txBody>
      </p:sp>
      <p:sp>
        <p:nvSpPr>
          <p:cNvPr id="3" name="footer">
            <a:extLst xmlns:a="http://schemas.openxmlformats.org/drawingml/2006/main">
              <a:ext uri="{FF2B5EF4-FFF2-40B4-BE49-F238E27FC236}">
                <a16:creationId xmlns:a16="http://schemas.microsoft.com/office/drawing/2014/main" id="{471C22D5-EC37-4A4B-A113-EC69D423209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1D3EDDB-05E2-4569-96D7-6414E6D59C3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a:t>
            </a:r>
          </a:p>
        </p:txBody>
      </p:sp>
    </p:spTree>
    <p:extLst>
      <p:ext uri="{BB962C8B-B14F-4D97-AF65-F5344CB8AC3E}">
        <p14:creationId xmlns:p14="http://schemas.microsoft.com/office/powerpoint/2010/main" val="11266254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D562F93-AE9F-4ABA-B5B3-D3153B963DD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treatment cannot wait</a:t>
            </a:r>
          </a:p>
        </p:txBody>
      </p:sp>
      <p:sp>
        <p:nvSpPr>
          <p:cNvPr id="2" name="paragraph-0">
            <a:extLst xmlns:a="http://schemas.openxmlformats.org/drawingml/2006/main">
              <a:ext uri="{FF2B5EF4-FFF2-40B4-BE49-F238E27FC236}">
                <a16:creationId xmlns:a16="http://schemas.microsoft.com/office/drawing/2014/main" id="{1E52017B-C4EF-4DC5-B12C-953938674F82}"/>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Resident core</a:t>
            </a:r>
          </a:p>
        </p:txBody>
      </p:sp>
      <p:sp>
        <p:nvSpPr>
          <p:cNvPr id="3" name="footer">
            <a:extLst xmlns:a="http://schemas.openxmlformats.org/drawingml/2006/main">
              <a:ext uri="{FF2B5EF4-FFF2-40B4-BE49-F238E27FC236}">
                <a16:creationId xmlns:a16="http://schemas.microsoft.com/office/drawing/2014/main" id="{5C2A89EA-EC29-4D88-A4DF-358C2086FEB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3151FD5-FDAA-441A-82F4-8458B01A08B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a:t>
            </a:r>
          </a:p>
        </p:txBody>
      </p:sp>
    </p:spTree>
    <p:extLst>
      <p:ext uri="{BB962C8B-B14F-4D97-AF65-F5344CB8AC3E}">
        <p14:creationId xmlns:p14="http://schemas.microsoft.com/office/powerpoint/2010/main" val="26333923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71C97F3-07F1-4052-BAE8-45D0A81CCE7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Workup by stage</a:t>
            </a:r>
          </a:p>
        </p:txBody>
      </p:sp>
      <p:sp>
        <p:nvSpPr>
          <p:cNvPr id="2" name="paragraph-0">
            <a:extLst xmlns:a="http://schemas.openxmlformats.org/drawingml/2006/main">
              <a:ext uri="{FF2B5EF4-FFF2-40B4-BE49-F238E27FC236}">
                <a16:creationId xmlns:a16="http://schemas.microsoft.com/office/drawing/2014/main" id="{8B0AE16B-E954-4AB3-A587-407DAC03EF98}"/>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This sequence is for a stable, immunocompetent adult with prolonged unexplained fever. History, examination, and earlier results may move a test to an earlier stage or make it unnecessary. A focal finding should be evaluated when identified.</a:t>
            </a:r>
          </a:p>
        </p:txBody>
      </p:sp>
      <p:sp>
        <p:nvSpPr>
          <p:cNvPr id="3" name="footer">
            <a:extLst xmlns:a="http://schemas.openxmlformats.org/drawingml/2006/main">
              <a:ext uri="{FF2B5EF4-FFF2-40B4-BE49-F238E27FC236}">
                <a16:creationId xmlns:a16="http://schemas.microsoft.com/office/drawing/2014/main" id="{F7F12837-5158-43CE-A32A-A73009EB69B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CED9016-6249-4732-800E-9E8CB4F6542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a:t>
            </a:r>
          </a:p>
        </p:txBody>
      </p:sp>
    </p:spTree>
    <p:extLst>
      <p:ext uri="{BB962C8B-B14F-4D97-AF65-F5344CB8AC3E}">
        <p14:creationId xmlns:p14="http://schemas.microsoft.com/office/powerpoint/2010/main" val="6115278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0C1F786-A419-4BC2-B04F-0CCCFBF8D2E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Workup by stage</a:t>
            </a:r>
          </a:p>
        </p:txBody>
      </p:sp>
      <p:graphicFrame>
        <p:nvGraphicFramePr>
          <p:cNvPr id="2" name="">
            <a:extLst xmlns:a="http://schemas.openxmlformats.org/drawingml/2006/main">
              <a:ext uri="{FF2B5EF4-FFF2-40B4-BE49-F238E27FC236}">
                <a16:creationId xmlns:a16="http://schemas.microsoft.com/office/drawing/2014/main" id="{781EDAB1-3C8C-42C7-95A2-7D93B64E6413}"/>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First assessment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Evaluation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Confirm documented fever and its duration. Review immune status, medications, exposures, prior tests, and the full examination. Assess for hypotension, organ injury, or another indication for urgent treatment.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When to change the sequence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Shock, neutropenia, suspected meningitis, or threatened vision from giant cell arteritis requires urgent evaluation and treatment.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890B321-D78C-42D5-A531-74CEB07D75F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C9CA74A-F534-4689-BC5A-81ADFA12125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a:t>
            </a:r>
          </a:p>
        </p:txBody>
      </p:sp>
    </p:spTree>
    <p:extLst>
      <p:ext uri="{BB962C8B-B14F-4D97-AF65-F5344CB8AC3E}">
        <p14:creationId xmlns:p14="http://schemas.microsoft.com/office/powerpoint/2010/main" val="4096617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E4A4D48-AAEE-436A-9AEB-D8561B04DCE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Workup by stage</a:t>
            </a:r>
          </a:p>
        </p:txBody>
      </p:sp>
      <p:graphicFrame>
        <p:nvGraphicFramePr>
          <p:cNvPr id="2" name="">
            <a:extLst xmlns:a="http://schemas.openxmlformats.org/drawingml/2006/main">
              <a:ext uri="{FF2B5EF4-FFF2-40B4-BE49-F238E27FC236}">
                <a16:creationId xmlns:a16="http://schemas.microsoft.com/office/drawing/2014/main" id="{14B61949-46B9-4AA0-A1DC-2D582C2BAF53}"/>
              </a:ext>
            </a:extLst>
          </p:cNvPr>
          <p:cNvGraphicFramePr/>
          <p:nvPr/>
        </p:nvGraphicFramePr>
        <p:xfrm>
          <a:off xmlns:a="http://schemas.openxmlformats.org/drawingml/2006/main" x="647700" y="1866900"/>
          <a:ext xmlns:a="http://schemas.openxmlformats.org/drawingml/2006/main" cx="10896600" cy="40909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Initial workup</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085975">
                <a:tc>
                  <a:txBody>
                    <a:bodyPr lIns="114300" tIns="114300" rIns="114300" bIns="114300">
                      <a:noAutofit/>
                    </a:bodyPr>
                    <a:lstStyle/>
                    <a:p>
                      <a:r>
                        <a:rPr sz="1950" b="0">
                          <a:solidFill>
                            <a:srgbClr val="16323B"/>
                          </a:solidFill>
                          <a:latin typeface="DejaVu Sans"/>
                          <a:ea typeface="DejaVu Sans"/>
                          <a:cs typeface="DejaVu Sans"/>
                        </a:rPr>
                        <a:t>Evaluation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CBC with differential; metabolic panel with liver tests and calcium; ESR/CRP, ferritin, TSH; ANA, ANCA, and RF as included in the FUO consensus. Three blood-culture sets; urinalysis with reflex culture; HIV screening; IGRA or TST. CT chest/abdomen/pelvis, or chest radiography plus abdominal ultrasound when CT is unavailable.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When to change the sequence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Review completed testing before repeating it. Obtain cultures before antibiotics when possible. Suspected active TB requires specimens from the involved site regardless of IGRA/TST results.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1EDF641-42EE-41E8-90C8-E78116792BE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CA9D172-DD7E-460C-AAC7-CEAE00022CA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a:t>
            </a:r>
          </a:p>
        </p:txBody>
      </p:sp>
    </p:spTree>
    <p:extLst>
      <p:ext uri="{BB962C8B-B14F-4D97-AF65-F5344CB8AC3E}">
        <p14:creationId xmlns:p14="http://schemas.microsoft.com/office/powerpoint/2010/main" val="135801232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E920A87-1721-4F9C-A76D-B53F22E6667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Workup by stage</a:t>
            </a:r>
          </a:p>
        </p:txBody>
      </p:sp>
      <p:graphicFrame>
        <p:nvGraphicFramePr>
          <p:cNvPr id="2" name="">
            <a:extLst xmlns:a="http://schemas.openxmlformats.org/drawingml/2006/main">
              <a:ext uri="{FF2B5EF4-FFF2-40B4-BE49-F238E27FC236}">
                <a16:creationId xmlns:a16="http://schemas.microsoft.com/office/drawing/2014/main" id="{E80D3FEC-817D-45D4-BE2B-6EF548A27634}"/>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Additional tests based on findings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Evaluation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Echocardiography for suspected endocarditis; MRI for focal spinal symptoms; exposure-specific serology, PCR, or fungal testing; selected viral studies; CSF studies for a neurologic presentation; organ-directed rheumatologic or hematologic evaluation.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When to change the sequence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These tests may belong in the initial evaluation. Examples include TEE with a prosthetic valve and suspected endocarditis, malaria smears after relevant travel, or MRI for back pain with neurologic findings.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1F600EB-461E-4800-B566-208F1089BD5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7440EC7-4FB5-4F9E-A90A-8DEA162E922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23</a:t>
            </a:r>
          </a:p>
        </p:txBody>
      </p:sp>
    </p:spTree>
    <p:extLst>
      <p:ext uri="{BB962C8B-B14F-4D97-AF65-F5344CB8AC3E}">
        <p14:creationId xmlns:p14="http://schemas.microsoft.com/office/powerpoint/2010/main" val="135222118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76D980F-F22B-45D1-9247-F323CD5DD9B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Workup by stage</a:t>
            </a:r>
          </a:p>
        </p:txBody>
      </p:sp>
      <p:graphicFrame>
        <p:nvGraphicFramePr>
          <p:cNvPr id="2" name="">
            <a:extLst xmlns:a="http://schemas.openxmlformats.org/drawingml/2006/main">
              <a:ext uri="{FF2B5EF4-FFF2-40B4-BE49-F238E27FC236}">
                <a16:creationId xmlns:a16="http://schemas.microsoft.com/office/drawing/2014/main" id="{0CC810F3-3655-4C3E-A40B-225075B33472}"/>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If the initial evaluation is unrevealing</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Evaluation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Repeat the history and examination and review medication timing. Consider FDG PET/CT, particularly with persistent elevated inflammatory markers and no localizing finding. Biopsy an appropriate node, skin lesion, or imaging abnormality.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When to change the sequence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An accessible suspicious lesion can be biopsied earlier. Progressive cytopenias or an abnormal smear may warrant marrow evaluation. PET uptake alone does not distinguish infection, inflammation, and malignancy.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740D356-C51D-4E40-AD0E-A624F9DC8FC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422E1DE-8FC4-48D6-9351-39FFE55C105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24</a:t>
            </a:r>
          </a:p>
        </p:txBody>
      </p:sp>
    </p:spTree>
    <p:extLst>
      <p:ext uri="{BB962C8B-B14F-4D97-AF65-F5344CB8AC3E}">
        <p14:creationId xmlns:p14="http://schemas.microsoft.com/office/powerpoint/2010/main" val="192931478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5147B2B-728F-445B-B13E-4F7BEEA7AF1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Workup by stage</a:t>
            </a:r>
          </a:p>
        </p:txBody>
      </p:sp>
      <p:graphicFrame>
        <p:nvGraphicFramePr>
          <p:cNvPr id="2" name="">
            <a:extLst xmlns:a="http://schemas.openxmlformats.org/drawingml/2006/main">
              <a:ext uri="{FF2B5EF4-FFF2-40B4-BE49-F238E27FC236}">
                <a16:creationId xmlns:a16="http://schemas.microsoft.com/office/drawing/2014/main" id="{6E36BEF9-88E0-41C7-ACE0-73A21B13A576}"/>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If no diagnosis is found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Evaluation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Reassess the completed workup and pending results. Use selected molecular tests when infection remains suspected. For a stable patient, arrange follow-up and repeat examination and laboratory testing as indicated.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When to change the sequence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New focal symptoms, falling blood counts, or renal/liver injury require further evaluation. Avoid empiric antibiotics or steroids unless a specific suspected diagnosis warrants treatment.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BD7CB7D-015E-447C-B4A2-90B97746020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303D83C-64E0-4048-9BD9-7A9EBBCB20C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25</a:t>
            </a:r>
          </a:p>
        </p:txBody>
      </p:sp>
    </p:spTree>
    <p:extLst>
      <p:ext uri="{BB962C8B-B14F-4D97-AF65-F5344CB8AC3E}">
        <p14:creationId xmlns:p14="http://schemas.microsoft.com/office/powerpoint/2010/main" val="128825391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907B475-1767-4695-A8F1-02AD0DE20E3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Workup by stage</a:t>
            </a:r>
          </a:p>
        </p:txBody>
      </p:sp>
      <p:sp>
        <p:nvSpPr>
          <p:cNvPr id="2" name="paragraph-0">
            <a:extLst xmlns:a="http://schemas.openxmlformats.org/drawingml/2006/main">
              <a:ext uri="{FF2B5EF4-FFF2-40B4-BE49-F238E27FC236}">
                <a16:creationId xmlns:a16="http://schemas.microsoft.com/office/drawing/2014/main" id="{D378E9BE-C795-4239-8307-95D5134585D2}"/>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These stages summarize the evaluation discussed below. They are not a validated scoring system or a required sequence of orders. Exposure-based tests are ordered for the relevant patient, not as a routine panel.</a:t>
            </a:r>
          </a:p>
        </p:txBody>
      </p:sp>
      <p:sp>
        <p:nvSpPr>
          <p:cNvPr id="3" name="footer">
            <a:extLst xmlns:a="http://schemas.openxmlformats.org/drawingml/2006/main">
              <a:ext uri="{FF2B5EF4-FFF2-40B4-BE49-F238E27FC236}">
                <a16:creationId xmlns:a16="http://schemas.microsoft.com/office/drawing/2014/main" id="{A3C85773-9B82-45F2-95FE-ED1E31846E6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73DF7C0-A3B0-4238-A6B6-07C4BEDC6C0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26</a:t>
            </a:r>
          </a:p>
        </p:txBody>
      </p:sp>
    </p:spTree>
    <p:extLst>
      <p:ext uri="{BB962C8B-B14F-4D97-AF65-F5344CB8AC3E}">
        <p14:creationId xmlns:p14="http://schemas.microsoft.com/office/powerpoint/2010/main" val="15474545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A32B53C-F90F-4EEA-B1A6-1F29B3837AC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Workup by stage</a:t>
            </a:r>
          </a:p>
        </p:txBody>
      </p:sp>
      <p:sp>
        <p:nvSpPr>
          <p:cNvPr id="2" name="paragraph-0">
            <a:extLst xmlns:a="http://schemas.openxmlformats.org/drawingml/2006/main">
              <a:ext uri="{FF2B5EF4-FFF2-40B4-BE49-F238E27FC236}">
                <a16:creationId xmlns:a16="http://schemas.microsoft.com/office/drawing/2014/main" id="{8BE932B6-CB97-47A2-8E43-B38F882B6A19}"/>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Resident core</a:t>
            </a:r>
          </a:p>
        </p:txBody>
      </p:sp>
      <p:sp>
        <p:nvSpPr>
          <p:cNvPr id="3" name="footer">
            <a:extLst xmlns:a="http://schemas.openxmlformats.org/drawingml/2006/main">
              <a:ext uri="{FF2B5EF4-FFF2-40B4-BE49-F238E27FC236}">
                <a16:creationId xmlns:a16="http://schemas.microsoft.com/office/drawing/2014/main" id="{B829E4B2-7B38-446E-9D30-13B0D928BD8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972DF3E-4CF3-40C5-B984-A44E66AC73E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27</a:t>
            </a:r>
          </a:p>
        </p:txBody>
      </p:sp>
    </p:spTree>
    <p:extLst>
      <p:ext uri="{BB962C8B-B14F-4D97-AF65-F5344CB8AC3E}">
        <p14:creationId xmlns:p14="http://schemas.microsoft.com/office/powerpoint/2010/main" val="110856039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6B7820D-1239-4D9C-867F-125F1D1ADF3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History and examination</a:t>
            </a:r>
          </a:p>
        </p:txBody>
      </p:sp>
      <p:sp>
        <p:nvSpPr>
          <p:cNvPr id="2" name="paragraph-0">
            <a:extLst xmlns:a="http://schemas.openxmlformats.org/drawingml/2006/main">
              <a:ext uri="{FF2B5EF4-FFF2-40B4-BE49-F238E27FC236}">
                <a16:creationId xmlns:a16="http://schemas.microsoft.com/office/drawing/2014/main" id="{725391B5-AAC2-4271-9997-7474FCD4BA4C}"/>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Ask where the patient has lived and traveled, what they did there, and when. Clarify animal contact and work or recreational exposures. Ask whether others became ill. Take the sexual and substance-use history privately.</a:t>
            </a:r>
          </a:p>
        </p:txBody>
      </p:sp>
      <p:sp>
        <p:nvSpPr>
          <p:cNvPr id="3" name="footer">
            <a:extLst xmlns:a="http://schemas.openxmlformats.org/drawingml/2006/main">
              <a:ext uri="{FF2B5EF4-FFF2-40B4-BE49-F238E27FC236}">
                <a16:creationId xmlns:a16="http://schemas.microsoft.com/office/drawing/2014/main" id="{B12CAB63-A54F-40AC-8E3C-F125EFC1346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07836C7-CC92-4D80-B8FE-01D861EA2BB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28</a:t>
            </a:r>
          </a:p>
        </p:txBody>
      </p:sp>
    </p:spTree>
    <p:extLst>
      <p:ext uri="{BB962C8B-B14F-4D97-AF65-F5344CB8AC3E}">
        <p14:creationId xmlns:p14="http://schemas.microsoft.com/office/powerpoint/2010/main" val="46137027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8DE292A-D88E-419B-9C63-DA3B3CFE48F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Social and exposure history</a:t>
            </a:r>
          </a:p>
        </p:txBody>
      </p:sp>
      <p:graphicFrame>
        <p:nvGraphicFramePr>
          <p:cNvPr id="2" name="">
            <a:extLst xmlns:a="http://schemas.openxmlformats.org/drawingml/2006/main">
              <a:ext uri="{FF2B5EF4-FFF2-40B4-BE49-F238E27FC236}">
                <a16:creationId xmlns:a16="http://schemas.microsoft.com/office/drawing/2014/main" id="{C3BE7631-E802-4FA4-9310-9FB73747836C}"/>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1157288">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Where have you lived and traveled, including earlier in life? When did you return? Rural or urban? What did you do there?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it raises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Malaria, TB, endemic fungi, and geographically restricted infections. Country alone is insufficient.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Testing when the syndrome fits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Urgent thick/thin smears for possible malaria; repeat every 12–24 hours for three sets if suspicion persists. Select other tests by itinerary and syndrome.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A863418-8278-4738-8A6C-55B561DE3C4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C87BA62-62CB-4B0A-9EFF-60D54AF90FA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29</a:t>
            </a:r>
          </a:p>
        </p:txBody>
      </p:sp>
    </p:spTree>
    <p:extLst>
      <p:ext uri="{BB962C8B-B14F-4D97-AF65-F5344CB8AC3E}">
        <p14:creationId xmlns:p14="http://schemas.microsoft.com/office/powerpoint/2010/main" val="31075778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6DB56C7-4CE7-488E-BAA4-BAC81E66138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Social and exposure history</a:t>
            </a:r>
          </a:p>
        </p:txBody>
      </p:sp>
      <p:graphicFrame>
        <p:nvGraphicFramePr>
          <p:cNvPr id="2" name="">
            <a:extLst xmlns:a="http://schemas.openxmlformats.org/drawingml/2006/main">
              <a:ext uri="{FF2B5EF4-FFF2-40B4-BE49-F238E27FC236}">
                <a16:creationId xmlns:a16="http://schemas.microsoft.com/office/drawing/2014/main" id="{76482312-85D8-4B38-8290-F76EE59D1F1E}"/>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Any TB contacts? Prior TB treatment? Time in shelters, correctional facilities, or other crowded settings?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it raises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Pulmonary or extrapulmonary TB. Remote exposure may matter.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Testing when the syndrome fits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IGRA/TST is baseline infection testing. Suspected active disease requires site-specific imaging and microbiology; a negative IGRA does not exclude it.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B6ED7AC-2B64-4CE2-9E4B-55A34553ECC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E36EC9E-4452-4C16-A901-0FF30A6B12C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30</a:t>
            </a:r>
          </a:p>
        </p:txBody>
      </p:sp>
    </p:spTree>
    <p:extLst>
      <p:ext uri="{BB962C8B-B14F-4D97-AF65-F5344CB8AC3E}">
        <p14:creationId xmlns:p14="http://schemas.microsoft.com/office/powerpoint/2010/main" val="123122854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B153FD9-C747-40DA-AC75-3EC33E8B613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Social and exposure history</a:t>
            </a:r>
          </a:p>
        </p:txBody>
      </p:sp>
      <p:graphicFrame>
        <p:nvGraphicFramePr>
          <p:cNvPr id="2" name="">
            <a:extLst xmlns:a="http://schemas.openxmlformats.org/drawingml/2006/main">
              <a:ext uri="{FF2B5EF4-FFF2-40B4-BE49-F238E27FC236}">
                <a16:creationId xmlns:a16="http://schemas.microsoft.com/office/drawing/2014/main" id="{EA389654-7BA4-42D3-B396-0184CCE31AAF}"/>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2571750"/>
                <a:gridCol w="8324850"/>
              </a:tblGrid>
              <a:tr h="1157288">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Do you handle cattle, sheep, goats, or animal placentas? Help with births? Work in veterinary care, farming, meat processing, or a laboratory?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it raises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Q fever and brucellosis, especially with hepatitis, endocarditis, or persistent systemic illness.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Testing when the syndrome fits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Coxiella serology, with PCR useful early in acute illness; Brucella cultures/serology with laboratory notification. Exposure alone does not establish either diagnosis.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72C4B29-A6B6-4511-B730-773340CD1D7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412C050-A61F-4B00-84CC-6400030A36B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31</a:t>
            </a:r>
          </a:p>
        </p:txBody>
      </p:sp>
    </p:spTree>
    <p:extLst>
      <p:ext uri="{BB962C8B-B14F-4D97-AF65-F5344CB8AC3E}">
        <p14:creationId xmlns:p14="http://schemas.microsoft.com/office/powerpoint/2010/main" val="138102222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09E292D-6DBC-4991-9A1E-C1C64E2DA86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Social and exposure history</a:t>
            </a:r>
          </a:p>
        </p:txBody>
      </p:sp>
      <p:graphicFrame>
        <p:nvGraphicFramePr>
          <p:cNvPr id="2" name="">
            <a:extLst xmlns:a="http://schemas.openxmlformats.org/drawingml/2006/main">
              <a:ext uri="{FF2B5EF4-FFF2-40B4-BE49-F238E27FC236}">
                <a16:creationId xmlns:a16="http://schemas.microsoft.com/office/drawing/2014/main" id="{56FC7A0C-AF5E-4AAA-AF71-E084191D663F}"/>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1157288">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Raw milk or unpasteurized cheese, including products brought from abroad? Wild-hog hunting or butchering? Veterinary vaccine needle sticks?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it raises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Brucellosis; route helps identify species and assay limitations.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Testing when the syndrome fits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Alert the laboratory before cultures. Standard serology does not detect B. canis or RB51 infection; discuss testing with microbiology/public health.</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15783D3-1DB9-4482-B799-CB044F04E92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BFD957C-79B7-433B-B2A9-5FBFBFA951E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32</a:t>
            </a:r>
          </a:p>
        </p:txBody>
      </p:sp>
    </p:spTree>
    <p:extLst>
      <p:ext uri="{BB962C8B-B14F-4D97-AF65-F5344CB8AC3E}">
        <p14:creationId xmlns:p14="http://schemas.microsoft.com/office/powerpoint/2010/main" val="48785715"/>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1E581B9-A106-4CD5-BCC1-411018BDB43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Social and exposure history</a:t>
            </a:r>
          </a:p>
        </p:txBody>
      </p:sp>
      <p:graphicFrame>
        <p:nvGraphicFramePr>
          <p:cNvPr id="2" name="">
            <a:extLst xmlns:a="http://schemas.openxmlformats.org/drawingml/2006/main">
              <a:ext uri="{FF2B5EF4-FFF2-40B4-BE49-F238E27FC236}">
                <a16:creationId xmlns:a16="http://schemas.microsoft.com/office/drawing/2014/main" id="{9CDA82CE-3193-4483-9A12-84E7AB445E6F}"/>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Cats or kittens? Scratches or flea infestation? Body lice? Access to showers and clean clothing?</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it raises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 henselae with adenopathy or hepatosplenic disease; B. quintana with lice exposure and culture-negative endocarditis.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Testing when the syndrome fits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Bartonella serology and selected PCR when indicated. Persistent antibodies and cross-reactivity complicate interpretation.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D64DCF4-6574-4342-9159-E3D40CB0000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76C366B-866E-49E8-ADDA-74707E9F1E6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33</a:t>
            </a:r>
          </a:p>
        </p:txBody>
      </p:sp>
    </p:spTree>
    <p:extLst>
      <p:ext uri="{BB962C8B-B14F-4D97-AF65-F5344CB8AC3E}">
        <p14:creationId xmlns:p14="http://schemas.microsoft.com/office/powerpoint/2010/main" val="43787304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6B826F7-C8CA-49C3-925A-72AE43A661A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Social and exposure history</a:t>
            </a:r>
          </a:p>
        </p:txBody>
      </p:sp>
      <p:graphicFrame>
        <p:nvGraphicFramePr>
          <p:cNvPr id="2" name="">
            <a:extLst xmlns:a="http://schemas.openxmlformats.org/drawingml/2006/main">
              <a:ext uri="{FF2B5EF4-FFF2-40B4-BE49-F238E27FC236}">
                <a16:creationId xmlns:a16="http://schemas.microsoft.com/office/drawing/2014/main" id="{04AD04B2-070D-46C7-BC4F-DEE850F2F0FE}"/>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2571750"/>
                <a:gridCol w="8324850"/>
              </a:tblGrid>
              <a:tr h="1157288">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Ticks, hiking, gardening, hunting, brush clearing, or camping? Where and when? Any skin ulcer or enlarged node?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it raises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Ehrlichiosis and other tickborne infections; tularemia with compatible ulcer/nodal or pulmonary disease. Many present acutely rather than as classic FUO.</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Testing when the syndrome fits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Ehrlichia blood PCR early; paired serology when appropriate. Tularemia serology/PCR or culture with laboratory warning. Do not delay treatment of convincing acute rickettsial illness for results.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D75C9D8-FCA8-4894-A985-88A4A5FE582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817B8A2-600F-426E-8984-7D51A1DC59E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34</a:t>
            </a:r>
          </a:p>
        </p:txBody>
      </p:sp>
    </p:spTree>
    <p:extLst>
      <p:ext uri="{BB962C8B-B14F-4D97-AF65-F5344CB8AC3E}">
        <p14:creationId xmlns:p14="http://schemas.microsoft.com/office/powerpoint/2010/main" val="29715381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BD53263-BABC-49DF-A1FC-02C041BF082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Social and exposure history</a:t>
            </a:r>
          </a:p>
        </p:txBody>
      </p:sp>
      <p:graphicFrame>
        <p:nvGraphicFramePr>
          <p:cNvPr id="2" name="">
            <a:extLst xmlns:a="http://schemas.openxmlformats.org/drawingml/2006/main">
              <a:ext uri="{FF2B5EF4-FFF2-40B4-BE49-F238E27FC236}">
                <a16:creationId xmlns:a16="http://schemas.microsoft.com/office/drawing/2014/main" id="{B45366A4-9124-4544-ABD6-21A5955EE921}"/>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Caves, bat or bird droppings, demolition, chicken coops, soil disturbance, or dusty travel in the Southwest?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it raises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Histoplasmosis or other endemic mycoses, depending on location, host, and organ involvement.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Testing when the syndrome fits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Histoplasma urine/serum antigen for compatible illness; add antibody or tissue testing as indicated. Histoplasma and Blastomyces antigen cross-reactivity limits species attribution.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E931CA4-005D-4BFC-8427-01082977759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B1F5CDF-3796-4CD3-9FFF-EED25247121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35</a:t>
            </a:r>
          </a:p>
        </p:txBody>
      </p:sp>
    </p:spTree>
    <p:extLst>
      <p:ext uri="{BB962C8B-B14F-4D97-AF65-F5344CB8AC3E}">
        <p14:creationId xmlns:p14="http://schemas.microsoft.com/office/powerpoint/2010/main" val="162090235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3940B02-B91F-4391-96F7-61C03EF57DF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Social and exposure history</a:t>
            </a:r>
          </a:p>
        </p:txBody>
      </p:sp>
      <p:graphicFrame>
        <p:nvGraphicFramePr>
          <p:cNvPr id="2" name="">
            <a:extLst xmlns:a="http://schemas.openxmlformats.org/drawingml/2006/main">
              <a:ext uri="{FF2B5EF4-FFF2-40B4-BE49-F238E27FC236}">
                <a16:creationId xmlns:a16="http://schemas.microsoft.com/office/drawing/2014/main" id="{16F727D7-08EB-4EA2-B28D-81D9543FB304}"/>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Floodwater, freshwater swimming, rodent infestation, sewage, or animal urine exposure?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it raises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Leptospirosis, especially with renal injury, hepatitis, or meningitis.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Testing when the syndrome fits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PCR and serology selected by illness timing and available specimen. Exposure without a compatible syndrome is insufficient.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9F1ADFC-A1DD-4E6C-81C5-FBC8E13A97F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8E5FA4A-D470-4A83-8D1C-0840A552B4E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36</a:t>
            </a:r>
          </a:p>
        </p:txBody>
      </p:sp>
    </p:spTree>
    <p:extLst>
      <p:ext uri="{BB962C8B-B14F-4D97-AF65-F5344CB8AC3E}">
        <p14:creationId xmlns:p14="http://schemas.microsoft.com/office/powerpoint/2010/main" val="116741719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E6FFF72-2E54-4F95-A76C-1FE9E058377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Social and exposure history</a:t>
            </a:r>
          </a:p>
        </p:txBody>
      </p:sp>
      <p:graphicFrame>
        <p:nvGraphicFramePr>
          <p:cNvPr id="2" name="">
            <a:extLst xmlns:a="http://schemas.openxmlformats.org/drawingml/2006/main">
              <a:ext uri="{FF2B5EF4-FFF2-40B4-BE49-F238E27FC236}">
                <a16:creationId xmlns:a16="http://schemas.microsoft.com/office/drawing/2014/main" id="{65C29070-34D5-48D3-80AD-067F38D04B53}"/>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New sexual partners or recent condomless exposure? Injected drugs, shared equipment, or nonmedical injections?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it raises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Acute HIV and other exposure-associated infections; injection-related bacteremia/endocarditis.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Testing when the syndrome fits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HIV Ag/Ab, adding RNA if acute HIV remains plausible despite negative/indeterminate screening. STI/hepatitis testing by exposure and syndrome; cultures and echo for suspected endocarditis.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2A5CA7E-3099-41C5-91CE-4A02069FE3C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C68D792-D0A4-4AE5-877F-6EF9598D598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37</a:t>
            </a:r>
          </a:p>
        </p:txBody>
      </p:sp>
    </p:spTree>
    <p:extLst>
      <p:ext uri="{BB962C8B-B14F-4D97-AF65-F5344CB8AC3E}">
        <p14:creationId xmlns:p14="http://schemas.microsoft.com/office/powerpoint/2010/main" val="155971761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0C5B6DB-984D-4AF9-882D-BE18440672D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Social and exposure history</a:t>
            </a:r>
          </a:p>
        </p:txBody>
      </p:sp>
      <p:graphicFrame>
        <p:nvGraphicFramePr>
          <p:cNvPr id="2" name="">
            <a:extLst xmlns:a="http://schemas.openxmlformats.org/drawingml/2006/main">
              <a:ext uri="{FF2B5EF4-FFF2-40B4-BE49-F238E27FC236}">
                <a16:creationId xmlns:a16="http://schemas.microsoft.com/office/drawing/2014/main" id="{B07CFA27-EAAD-4DC3-83D9-D23F98C4E025}"/>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2571750"/>
                <a:gridCol w="8324850"/>
              </a:tblGrid>
              <a:tr h="1157288">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What medicines, supplements, infusions, and intermittent drugs have you taken? Which started before fever, and which were added afterward?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it raises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Drug fever or a systemic drug reaction. Recently added antibiotics may perpetuate fever.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Testing when the syndrome fits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Review dates, rash, eosinophils, renal/liver injury. Withdraw a suspected offending drug that can be safely stopped safely; use a formal drug-reaction evaluation for organ injury.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41EE423-B28B-4F1C-8516-A5CDABB8144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D9945C0-C311-4DAE-9D13-E71E135597D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38</a:t>
            </a:r>
          </a:p>
        </p:txBody>
      </p:sp>
    </p:spTree>
    <p:extLst>
      <p:ext uri="{BB962C8B-B14F-4D97-AF65-F5344CB8AC3E}">
        <p14:creationId xmlns:p14="http://schemas.microsoft.com/office/powerpoint/2010/main" val="7376690"/>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96D5A77-25BE-4436-A642-9DD77B0EA61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Social and exposure history</a:t>
            </a:r>
          </a:p>
        </p:txBody>
      </p:sp>
      <p:graphicFrame>
        <p:nvGraphicFramePr>
          <p:cNvPr id="2" name="">
            <a:extLst xmlns:a="http://schemas.openxmlformats.org/drawingml/2006/main">
              <a:ext uri="{FF2B5EF4-FFF2-40B4-BE49-F238E27FC236}">
                <a16:creationId xmlns:a16="http://schemas.microsoft.com/office/drawing/2014/main" id="{E4646892-4226-454D-B9EE-294AB385682B}"/>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1157288">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Any operations, dental infection, implanted valve/device, vascular graft, orthopedic hardware, or recent procedure?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it raises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Endocarditis, device infection, or a deep postoperative focus.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Testing when the syndrome fits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Cultures and targeted echo/imaging. Hardware is a risk modifier; it does not prove the source.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6681B8AE-17BE-4CF4-BC6B-48D111E40F8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043E41F-A811-47F0-9361-6156123BF67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39</a:t>
            </a:r>
          </a:p>
        </p:txBody>
      </p:sp>
    </p:spTree>
    <p:extLst>
      <p:ext uri="{BB962C8B-B14F-4D97-AF65-F5344CB8AC3E}">
        <p14:creationId xmlns:p14="http://schemas.microsoft.com/office/powerpoint/2010/main" val="1102931513"/>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A932156-2AE1-41D3-8407-F80B9B153AD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Social and exposure history</a:t>
            </a:r>
          </a:p>
        </p:txBody>
      </p:sp>
      <p:graphicFrame>
        <p:nvGraphicFramePr>
          <p:cNvPr id="2" name="">
            <a:extLst xmlns:a="http://schemas.openxmlformats.org/drawingml/2006/main">
              <a:ext uri="{FF2B5EF4-FFF2-40B4-BE49-F238E27FC236}">
                <a16:creationId xmlns:a16="http://schemas.microsoft.com/office/drawing/2014/main" id="{F6C8298A-A219-46C7-965C-9AD9A9272259}"/>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Any steroids, biologics, cancer therapy, transplant, splenectomy, or immune disorder?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it raises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Changes both the differential and urgency. Substantial immunosuppression falls outside the classic immunocompetent FUO pathway.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Testing when the syndrome fits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Use the host-specific evaluation; review actual agent, dose, timing, prophylaxis, and immune recovery.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716652D-169D-45D6-8F87-5F10B9A6FEE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F8D17DF-6EC4-43BD-AEE7-BEA37FC3210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40</a:t>
            </a:r>
          </a:p>
        </p:txBody>
      </p:sp>
    </p:spTree>
    <p:extLst>
      <p:ext uri="{BB962C8B-B14F-4D97-AF65-F5344CB8AC3E}">
        <p14:creationId xmlns:p14="http://schemas.microsoft.com/office/powerpoint/2010/main" val="156223109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3975AF3-6206-4B42-AFEA-D14A9C36C08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History and examination beyond exposures</a:t>
            </a:r>
          </a:p>
        </p:txBody>
      </p:sp>
      <p:sp>
        <p:nvSpPr>
          <p:cNvPr id="2" name="paragraph-0">
            <a:extLst xmlns:a="http://schemas.openxmlformats.org/drawingml/2006/main">
              <a:ext uri="{FF2B5EF4-FFF2-40B4-BE49-F238E27FC236}">
                <a16:creationId xmlns:a16="http://schemas.microsoft.com/office/drawing/2014/main" id="{6D7BFDA2-7775-40F4-991E-CB2B2E847097}"/>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Ask about new headache, jaw fatigue or visual symptoms; back or focal bone pain; joint swelling or morning stiffness; transient rash; oral ulcers; pleuritic pain; diarrhea or blood in stool; weight loss; and symptom-free intervals. Examine the mouth, skin, nails, nodes, heart, abdomen/spleen, spine, joints, wounds, and device sites. Repeat the examination when new symptoms emerge.</a:t>
            </a:r>
          </a:p>
        </p:txBody>
      </p:sp>
      <p:sp>
        <p:nvSpPr>
          <p:cNvPr id="3" name="paragraph-1">
            <a:extLst xmlns:a="http://schemas.openxmlformats.org/drawingml/2006/main">
              <a:ext uri="{FF2B5EF4-FFF2-40B4-BE49-F238E27FC236}">
                <a16:creationId xmlns:a16="http://schemas.microsoft.com/office/drawing/2014/main" id="{537DE7F2-89DC-4733-8072-1E838727BEF3}"/>
              </a:ext>
            </a:extLst>
          </p:cNvPr>
          <p:cNvSpPr>
            <a:spLocks xmlns:a="http://schemas.openxmlformats.org/drawingml/2006/main" noGrp="1"/>
          </p:cNvSpPr>
          <p:nvPr/>
        </p:nvSpPr>
        <p:spPr>
          <a:xfrm xmlns:a="http://schemas.openxmlformats.org/drawingml/2006/main">
            <a:off x="647700" y="43243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Select tests based on the exposure, timing, immune status, and clinical findings.</a:t>
            </a:r>
          </a:p>
        </p:txBody>
      </p:sp>
      <p:sp>
        <p:nvSpPr>
          <p:cNvPr id="4" name="footer">
            <a:extLst xmlns:a="http://schemas.openxmlformats.org/drawingml/2006/main">
              <a:ext uri="{FF2B5EF4-FFF2-40B4-BE49-F238E27FC236}">
                <a16:creationId xmlns:a16="http://schemas.microsoft.com/office/drawing/2014/main" id="{F135DE9E-17A8-4119-B4C1-21BDC1A46B4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429E01BF-B950-4391-B228-871A0B70D2C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41</a:t>
            </a:r>
          </a:p>
        </p:txBody>
      </p:sp>
    </p:spTree>
    <p:extLst>
      <p:ext uri="{BB962C8B-B14F-4D97-AF65-F5344CB8AC3E}">
        <p14:creationId xmlns:p14="http://schemas.microsoft.com/office/powerpoint/2010/main" val="16966686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DF58287-566A-4FC1-85EF-302B4D685E9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History and examination beyond exposures</a:t>
            </a:r>
          </a:p>
        </p:txBody>
      </p:sp>
      <p:sp>
        <p:nvSpPr>
          <p:cNvPr id="2" name="paragraph-0">
            <a:extLst xmlns:a="http://schemas.openxmlformats.org/drawingml/2006/main">
              <a:ext uri="{FF2B5EF4-FFF2-40B4-BE49-F238E27FC236}">
                <a16:creationId xmlns:a16="http://schemas.microsoft.com/office/drawing/2014/main" id="{0AECEC10-E916-4C44-A264-A3695139C59A}"/>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Resident core</a:t>
            </a:r>
          </a:p>
        </p:txBody>
      </p:sp>
      <p:sp>
        <p:nvSpPr>
          <p:cNvPr id="3" name="footer">
            <a:extLst xmlns:a="http://schemas.openxmlformats.org/drawingml/2006/main">
              <a:ext uri="{FF2B5EF4-FFF2-40B4-BE49-F238E27FC236}">
                <a16:creationId xmlns:a16="http://schemas.microsoft.com/office/drawing/2014/main" id="{901DE611-409D-41A3-B840-94C93BE3B25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0C2031C-FF29-4E2B-9C5E-A84124CC52E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42</a:t>
            </a:r>
          </a:p>
        </p:txBody>
      </p:sp>
    </p:spTree>
    <p:extLst>
      <p:ext uri="{BB962C8B-B14F-4D97-AF65-F5344CB8AC3E}">
        <p14:creationId xmlns:p14="http://schemas.microsoft.com/office/powerpoint/2010/main" val="35091370"/>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5582311-E6A6-4A36-8A76-9A6AA96BFC7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Differential diagnosis</a:t>
            </a:r>
          </a:p>
        </p:txBody>
      </p:sp>
      <p:graphicFrame>
        <p:nvGraphicFramePr>
          <p:cNvPr id="2" name="">
            <a:extLst xmlns:a="http://schemas.openxmlformats.org/drawingml/2006/main">
              <a:ext uri="{FF2B5EF4-FFF2-40B4-BE49-F238E27FC236}">
                <a16:creationId xmlns:a16="http://schemas.microsoft.com/office/drawing/2014/main" id="{9832B84F-A187-4456-86A8-DC8BAF831DB4}"/>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Prioritize when the clinical pattern fits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Endocarditis or vascular infection, occult abscess, vertebral infection, extrapulmonary TB, exposure-associated zoonoses, acute HIV, and endemic fungi in the appropriate host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Evaluation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Cultures before antibiotics; targeted imaging, echocardiography, or tissue; organism-specific tests driven by the exposure.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25AE6D2-6124-4AE3-AA99-1F93AAA7FFD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42D8B7A-FCF8-4B54-9899-D2494B98C17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43</a:t>
            </a:r>
          </a:p>
        </p:txBody>
      </p:sp>
    </p:spTree>
    <p:extLst>
      <p:ext uri="{BB962C8B-B14F-4D97-AF65-F5344CB8AC3E}">
        <p14:creationId xmlns:p14="http://schemas.microsoft.com/office/powerpoint/2010/main" val="450871333"/>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0F7E3AC-0A87-4AE5-80FD-F4E68B28A3D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Differential diagnosis</a:t>
            </a:r>
          </a:p>
        </p:txBody>
      </p:sp>
      <p:graphicFrame>
        <p:nvGraphicFramePr>
          <p:cNvPr id="2" name="">
            <a:extLst xmlns:a="http://schemas.openxmlformats.org/drawingml/2006/main">
              <a:ext uri="{FF2B5EF4-FFF2-40B4-BE49-F238E27FC236}">
                <a16:creationId xmlns:a16="http://schemas.microsoft.com/office/drawing/2014/main" id="{45C4CD17-2DD2-4B87-8F66-2AF45D9A311E}"/>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Noninfectious inflammation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Prioritize when the clinical pattern fits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Giant cell or other vasculitis, Still's disease, connective-tissue disease, sarcoidosis, inflammatory bowel disease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Evaluation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Look for vascular, articular, skin, renal, pulmonary, and GI manifestations. Interpret serology with the examination and organ findings.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1479B98-287E-48B0-84B8-DE507F30EFA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1F4E866-D5DB-47A8-9CE2-AFB6603C9B5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44</a:t>
            </a:r>
          </a:p>
        </p:txBody>
      </p:sp>
    </p:spTree>
    <p:extLst>
      <p:ext uri="{BB962C8B-B14F-4D97-AF65-F5344CB8AC3E}">
        <p14:creationId xmlns:p14="http://schemas.microsoft.com/office/powerpoint/2010/main" val="202183209"/>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FFDD98D-206F-4D99-A8FE-5C903AB311B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Differential diagnosis</a:t>
            </a:r>
          </a:p>
        </p:txBody>
      </p:sp>
      <p:graphicFrame>
        <p:nvGraphicFramePr>
          <p:cNvPr id="2" name="">
            <a:extLst xmlns:a="http://schemas.openxmlformats.org/drawingml/2006/main">
              <a:ext uri="{FF2B5EF4-FFF2-40B4-BE49-F238E27FC236}">
                <a16:creationId xmlns:a16="http://schemas.microsoft.com/office/drawing/2014/main" id="{CB4961CC-528E-413B-9C79-D17CBFCB02FB}"/>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Malignancy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Prioritize when the clinical pattern fits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Lymphoma and other hematologic disease, selected solid tumors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Evaluation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Review blood counts and smear; image and obtain an appropriate node or other lesion for pathology.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F1A35B07-944C-43CF-85AE-0F355CA78EF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2D15E51-246C-45D4-A7FC-8EAD0579A1A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45</a:t>
            </a:r>
          </a:p>
        </p:txBody>
      </p:sp>
    </p:spTree>
    <p:extLst>
      <p:ext uri="{BB962C8B-B14F-4D97-AF65-F5344CB8AC3E}">
        <p14:creationId xmlns:p14="http://schemas.microsoft.com/office/powerpoint/2010/main" val="213535585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5E7616C-9C75-4374-89A1-27E222C92C4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Differential diagnosis</a:t>
            </a:r>
          </a:p>
        </p:txBody>
      </p:sp>
      <p:graphicFrame>
        <p:nvGraphicFramePr>
          <p:cNvPr id="2" name="">
            <a:extLst xmlns:a="http://schemas.openxmlformats.org/drawingml/2006/main">
              <a:ext uri="{FF2B5EF4-FFF2-40B4-BE49-F238E27FC236}">
                <a16:creationId xmlns:a16="http://schemas.microsoft.com/office/drawing/2014/main" id="{DD279CD2-D276-4BD0-881B-8D0549DD632D}"/>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Other causes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Prioritize when the clinical pattern fits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Drug fever, venous thromboembolism, thyroiditis, tissue injury, and less often temperature measurement problems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Evaluation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Reconstruct medication chronology, test the suspected mechanism, and avoid unsupported labels.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8014EC9-1D0E-46DD-8D6B-969189BB6EC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D2CF0B8-DB95-4147-B716-2998B423DE9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46</a:t>
            </a:r>
          </a:p>
        </p:txBody>
      </p:sp>
    </p:spTree>
    <p:extLst>
      <p:ext uri="{BB962C8B-B14F-4D97-AF65-F5344CB8AC3E}">
        <p14:creationId xmlns:p14="http://schemas.microsoft.com/office/powerpoint/2010/main" val="1694888235"/>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3F01D54-D064-44A3-9E8E-97EF21FDD1E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Differential diagnosis</a:t>
            </a:r>
          </a:p>
        </p:txBody>
      </p:sp>
      <p:graphicFrame>
        <p:nvGraphicFramePr>
          <p:cNvPr id="2" name="">
            <a:extLst xmlns:a="http://schemas.openxmlformats.org/drawingml/2006/main">
              <a:ext uri="{FF2B5EF4-FFF2-40B4-BE49-F238E27FC236}">
                <a16:creationId xmlns:a16="http://schemas.microsoft.com/office/drawing/2014/main" id="{117F705F-C065-4370-BC08-494E5ACFE3E3}"/>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Undiagnosed illness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Prioritize when the clinical pattern fits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 legitimate outcome after adequate evaluation in a clinically stable patient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Evaluation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Create a follow-up plan. Empiric antibiotics are usually unnecessary in stable classic FUO.</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7BF3356-F61D-4C06-A19E-D167A7246EC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600DF82-F01D-4F0D-91BA-F2804280831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47</a:t>
            </a:r>
          </a:p>
        </p:txBody>
      </p:sp>
    </p:spTree>
    <p:extLst>
      <p:ext uri="{BB962C8B-B14F-4D97-AF65-F5344CB8AC3E}">
        <p14:creationId xmlns:p14="http://schemas.microsoft.com/office/powerpoint/2010/main" val="177758256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534D245-3CE7-472E-9234-BB998044FE0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Differential diagnosis</a:t>
            </a:r>
          </a:p>
        </p:txBody>
      </p:sp>
      <p:sp>
        <p:nvSpPr>
          <p:cNvPr id="2" name="paragraph-0">
            <a:extLst xmlns:a="http://schemas.openxmlformats.org/drawingml/2006/main">
              <a:ext uri="{FF2B5EF4-FFF2-40B4-BE49-F238E27FC236}">
                <a16:creationId xmlns:a16="http://schemas.microsoft.com/office/drawing/2014/main" id="{9953D326-A490-4115-B7E5-2308D71E665C}"/>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Consider histoplasmosis and tickborne infection in Missouri when the exposure and presentation fit. Include remote residence and travel in the history.</a:t>
            </a:r>
          </a:p>
        </p:txBody>
      </p:sp>
      <p:sp>
        <p:nvSpPr>
          <p:cNvPr id="3" name="footer">
            <a:extLst xmlns:a="http://schemas.openxmlformats.org/drawingml/2006/main">
              <a:ext uri="{FF2B5EF4-FFF2-40B4-BE49-F238E27FC236}">
                <a16:creationId xmlns:a16="http://schemas.microsoft.com/office/drawing/2014/main" id="{A9E76A40-6761-438E-9A08-5D8C4534C53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0CB53C8-DA9F-4400-A4A8-6AE985AB4D7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48</a:t>
            </a:r>
          </a:p>
        </p:txBody>
      </p:sp>
    </p:spTree>
    <p:extLst>
      <p:ext uri="{BB962C8B-B14F-4D97-AF65-F5344CB8AC3E}">
        <p14:creationId xmlns:p14="http://schemas.microsoft.com/office/powerpoint/2010/main" val="847807356"/>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EC41C9A-AA4C-418F-929A-D9025388984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Noninfectious causes</a:t>
            </a:r>
          </a:p>
        </p:txBody>
      </p:sp>
      <p:graphicFrame>
        <p:nvGraphicFramePr>
          <p:cNvPr id="2" name="">
            <a:extLst xmlns:a="http://schemas.openxmlformats.org/drawingml/2006/main">
              <a:ext uri="{FF2B5EF4-FFF2-40B4-BE49-F238E27FC236}">
                <a16:creationId xmlns:a16="http://schemas.microsoft.com/office/drawing/2014/main" id="{D223D8DA-5ECE-4FCB-A07B-BFB7BE85D8EF}"/>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Pattern</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Consider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Next step</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Older adult, new headache/jaw symptoms, visual change, or inflammatory shoulder/hip stiffness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Giant cell arteritis/PMR spectrum</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Urgent assessment for visual symptoms; directed vascular imaging or biopsy.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Fever with rash, arthritis, serositis, renal or pulmonary findings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Connective-tissue disease or vasculitis</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Organ-directed evaluation, urinalysis, and selected serology; involve rheumatology.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3A6110A-7FED-4B5D-8423-9BC1C8F7FD9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C20F976-EA8F-4805-86D4-024002B1E65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49</a:t>
            </a:r>
          </a:p>
        </p:txBody>
      </p:sp>
    </p:spTree>
    <p:extLst>
      <p:ext uri="{BB962C8B-B14F-4D97-AF65-F5344CB8AC3E}">
        <p14:creationId xmlns:p14="http://schemas.microsoft.com/office/powerpoint/2010/main" val="1407339536"/>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3584661-9DDC-4B84-BC62-4FF50FB5938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Noninfectious causes</a:t>
            </a:r>
          </a:p>
        </p:txBody>
      </p:sp>
      <p:graphicFrame>
        <p:nvGraphicFramePr>
          <p:cNvPr id="2" name="">
            <a:extLst xmlns:a="http://schemas.openxmlformats.org/drawingml/2006/main">
              <a:ext uri="{FF2B5EF4-FFF2-40B4-BE49-F238E27FC236}">
                <a16:creationId xmlns:a16="http://schemas.microsoft.com/office/drawing/2014/main" id="{D4D05DD6-E544-476B-BBF0-B87CA4BC0546}"/>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Pattern</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Consider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Next step</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Spiking fever, transient rash, inflammatory arthritis, neutrophilia</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Still’s disease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Assess infection and malignancy; ferritin supports the pattern but is not diagnostic.</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Nodes, weight loss, organomegaly, or abnormal blood counts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Lymphoma/hematologic disease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Obtain suitable tissue; preserve architecture and coordinate flow cytometry.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452BBAA-249E-4452-B31A-5648CBEE017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70DCA9F-5888-4EF9-92A6-2C87D73FC4F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50</a:t>
            </a:r>
          </a:p>
        </p:txBody>
      </p:sp>
    </p:spTree>
    <p:extLst>
      <p:ext uri="{BB962C8B-B14F-4D97-AF65-F5344CB8AC3E}">
        <p14:creationId xmlns:p14="http://schemas.microsoft.com/office/powerpoint/2010/main" val="968422321"/>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0C61692-B4E2-44D4-806A-5F74AE3E82E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Noninfectious causes</a:t>
            </a:r>
          </a:p>
        </p:txBody>
      </p:sp>
      <p:graphicFrame>
        <p:nvGraphicFramePr>
          <p:cNvPr id="2" name="">
            <a:extLst xmlns:a="http://schemas.openxmlformats.org/drawingml/2006/main">
              <a:ext uri="{FF2B5EF4-FFF2-40B4-BE49-F238E27FC236}">
                <a16:creationId xmlns:a16="http://schemas.microsoft.com/office/drawing/2014/main" id="{E61696A6-6954-41C0-963F-7E4FC97C84A5}"/>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Pattern</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Consider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Next step</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New medicine, rash, eosinophilia, or renal/liver injury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Drug fever or systemic drug reaction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Review chronology and stop a suspected offending drug safely; assess organ involvement.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Painful thyroid or compatible thyroid symptoms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Thyroiditis</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TSH and free T4, with directed thyroid evaluation.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5791C22F-D701-42DC-B298-80BBA33E288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66CF1F6-F6EE-462C-97F6-3AB46CA7015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51</a:t>
            </a:r>
          </a:p>
        </p:txBody>
      </p:sp>
    </p:spTree>
    <p:extLst>
      <p:ext uri="{BB962C8B-B14F-4D97-AF65-F5344CB8AC3E}">
        <p14:creationId xmlns:p14="http://schemas.microsoft.com/office/powerpoint/2010/main" val="1142004572"/>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70D3C1F-209F-4C4E-912A-BAC3A2B1E77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Noninfectious causes</a:t>
            </a:r>
          </a:p>
        </p:txBody>
      </p:sp>
      <p:graphicFrame>
        <p:nvGraphicFramePr>
          <p:cNvPr id="2" name="">
            <a:extLst xmlns:a="http://schemas.openxmlformats.org/drawingml/2006/main">
              <a:ext uri="{FF2B5EF4-FFF2-40B4-BE49-F238E27FC236}">
                <a16:creationId xmlns:a16="http://schemas.microsoft.com/office/drawing/2014/main" id="{4010928B-FFD7-4DCD-958A-8E084D4D8683}"/>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Pattern</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Consider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Next step</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Unilateral swelling, pleuritic pain, hypoxemia, or thrombosis risk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Venous thromboembolism</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Use syndrome-appropriate diagnostic testing rather than screening all FUO patients.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049A015-4ACD-47E5-832C-A202A10ED2C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66FC6F1-CB1F-4EBB-B7B3-90C49CC31B5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52</a:t>
            </a:r>
          </a:p>
        </p:txBody>
      </p:sp>
    </p:spTree>
    <p:extLst>
      <p:ext uri="{BB962C8B-B14F-4D97-AF65-F5344CB8AC3E}">
        <p14:creationId xmlns:p14="http://schemas.microsoft.com/office/powerpoint/2010/main" val="518263494"/>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08031FB-B98F-4604-BC91-45C8B5F5CFE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Noninfectious causes</a:t>
            </a:r>
          </a:p>
        </p:txBody>
      </p:sp>
      <p:sp>
        <p:nvSpPr>
          <p:cNvPr id="2" name="paragraph-0">
            <a:extLst xmlns:a="http://schemas.openxmlformats.org/drawingml/2006/main">
              <a:ext uri="{FF2B5EF4-FFF2-40B4-BE49-F238E27FC236}">
                <a16:creationId xmlns:a16="http://schemas.microsoft.com/office/drawing/2014/main" id="{83012918-7EEA-463A-8879-8C9CCD2196A7}"/>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Resident core</a:t>
            </a:r>
          </a:p>
        </p:txBody>
      </p:sp>
      <p:sp>
        <p:nvSpPr>
          <p:cNvPr id="3" name="footer">
            <a:extLst xmlns:a="http://schemas.openxmlformats.org/drawingml/2006/main">
              <a:ext uri="{FF2B5EF4-FFF2-40B4-BE49-F238E27FC236}">
                <a16:creationId xmlns:a16="http://schemas.microsoft.com/office/drawing/2014/main" id="{0767DFA0-C6DA-47CA-A3DF-0F48D9268A9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1BFE3A1-8BAB-4B8D-B881-3B3FD443B2D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53</a:t>
            </a:r>
          </a:p>
        </p:txBody>
      </p:sp>
    </p:spTree>
    <p:extLst>
      <p:ext uri="{BB962C8B-B14F-4D97-AF65-F5344CB8AC3E}">
        <p14:creationId xmlns:p14="http://schemas.microsoft.com/office/powerpoint/2010/main" val="1900161622"/>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F96F5A3-7ED5-48A2-8C1A-A665B8CBF37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Initial workup</a:t>
            </a:r>
          </a:p>
        </p:txBody>
      </p:sp>
      <p:sp>
        <p:nvSpPr>
          <p:cNvPr id="2" name="paragraph-0">
            <a:extLst xmlns:a="http://schemas.openxmlformats.org/drawingml/2006/main">
              <a:ext uri="{FF2B5EF4-FFF2-40B4-BE49-F238E27FC236}">
                <a16:creationId xmlns:a16="http://schemas.microsoft.com/office/drawing/2014/main" id="{D41862D2-BD92-4D72-A57C-0EE33E5A77DB}"/>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tests below follow the 2024 FUO consensus. This baseline evaluation applies to prolonged unexplained fever in an immunocompetent adult.</a:t>
            </a:r>
          </a:p>
        </p:txBody>
      </p:sp>
      <p:sp>
        <p:nvSpPr>
          <p:cNvPr id="3" name="footer">
            <a:extLst xmlns:a="http://schemas.openxmlformats.org/drawingml/2006/main">
              <a:ext uri="{FF2B5EF4-FFF2-40B4-BE49-F238E27FC236}">
                <a16:creationId xmlns:a16="http://schemas.microsoft.com/office/drawing/2014/main" id="{B8EBE7F3-25E9-494F-BF96-54D850B3272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0223C45-3AA2-456E-80D3-485A592024B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54</a:t>
            </a:r>
          </a:p>
        </p:txBody>
      </p:sp>
    </p:spTree>
    <p:extLst>
      <p:ext uri="{BB962C8B-B14F-4D97-AF65-F5344CB8AC3E}">
        <p14:creationId xmlns:p14="http://schemas.microsoft.com/office/powerpoint/2010/main" val="516954082"/>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112C9AB-194A-4BCE-A74D-2DB8C807B97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Initial workup</a:t>
            </a:r>
          </a:p>
        </p:txBody>
      </p:sp>
      <p:graphicFrame>
        <p:nvGraphicFramePr>
          <p:cNvPr id="2" name="">
            <a:extLst xmlns:a="http://schemas.openxmlformats.org/drawingml/2006/main">
              <a:ext uri="{FF2B5EF4-FFF2-40B4-BE49-F238E27FC236}">
                <a16:creationId xmlns:a16="http://schemas.microsoft.com/office/drawing/2014/main" id="{E13F377D-48AA-45FB-B798-C8413668C8FA}"/>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Blood testing</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Proposed minimum and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CBC with differential; comprehensive metabolic panel including calcium and liver tests; ESR, CRP, ferritin, and TSH. Review trends and obtain a smear when counts suggest hematologic disease.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B153C19A-CF37-4E02-9C99-8AECC8E621F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8B1227D-545B-4F5E-ADFB-6A3C4BA5D45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55</a:t>
            </a:r>
          </a:p>
        </p:txBody>
      </p:sp>
    </p:spTree>
    <p:extLst>
      <p:ext uri="{BB962C8B-B14F-4D97-AF65-F5344CB8AC3E}">
        <p14:creationId xmlns:p14="http://schemas.microsoft.com/office/powerpoint/2010/main" val="127954951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59479B8-EB8A-4EA9-AF6D-4378D388153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Initial workup</a:t>
            </a:r>
          </a:p>
        </p:txBody>
      </p:sp>
      <p:graphicFrame>
        <p:nvGraphicFramePr>
          <p:cNvPr id="2" name="">
            <a:extLst xmlns:a="http://schemas.openxmlformats.org/drawingml/2006/main">
              <a:ext uri="{FF2B5EF4-FFF2-40B4-BE49-F238E27FC236}">
                <a16:creationId xmlns:a16="http://schemas.microsoft.com/office/drawing/2014/main" id="{8F520DEC-6A58-468E-B9D7-D471DF68AAF4}"/>
              </a:ext>
            </a:extLst>
          </p:cNvPr>
          <p:cNvGraphicFramePr/>
          <p:nvPr/>
        </p:nvGraphicFramePr>
        <p:xfrm>
          <a:off xmlns:a="http://schemas.openxmlformats.org/drawingml/2006/main" x="647700" y="1866900"/>
          <a:ext xmlns:a="http://schemas.openxmlformats.org/drawingml/2006/main" cx="10896600" cy="32432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Microbiology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705100">
                <a:tc>
                  <a:txBody>
                    <a:bodyPr lIns="114300" tIns="114300" rIns="114300" bIns="114300">
                      <a:noAutofit/>
                    </a:bodyPr>
                    <a:lstStyle/>
                    <a:p>
                      <a:r>
                        <a:rPr sz="1950" b="0">
                          <a:solidFill>
                            <a:srgbClr val="16323B"/>
                          </a:solidFill>
                          <a:latin typeface="DejaVu Sans"/>
                          <a:ea typeface="DejaVu Sans"/>
                          <a:cs typeface="DejaVu Sans"/>
                        </a:rPr>
                        <a:t>Proposed minimum and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Three adequately filled blood-culture sets from peripheral draws, before antibiotics when feasible; urinalysis with microscopy and reflex urine culture; HIV Ag/Ab screening; TB infection testing with IGRA or TST. Do not wait for a fever spike to obtain cultures. An IGRA/TST neither diagnoses nor excludes active TB. A positive urine culture still requires assessment for a urinary syndrome.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705D5CE-2B2B-4E83-9BFE-F8646B0D3AF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8A09685-70F7-44FD-97EC-25329C62850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56</a:t>
            </a:r>
          </a:p>
        </p:txBody>
      </p:sp>
    </p:spTree>
    <p:extLst>
      <p:ext uri="{BB962C8B-B14F-4D97-AF65-F5344CB8AC3E}">
        <p14:creationId xmlns:p14="http://schemas.microsoft.com/office/powerpoint/2010/main" val="1734975339"/>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E5875C1-0E92-4B9B-AEF4-EA3A422837B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Initial workup</a:t>
            </a:r>
          </a:p>
        </p:txBody>
      </p:sp>
      <p:graphicFrame>
        <p:nvGraphicFramePr>
          <p:cNvPr id="2" name="">
            <a:extLst xmlns:a="http://schemas.openxmlformats.org/drawingml/2006/main">
              <a:ext uri="{FF2B5EF4-FFF2-40B4-BE49-F238E27FC236}">
                <a16:creationId xmlns:a16="http://schemas.microsoft.com/office/drawing/2014/main" id="{A6C82831-AA1F-44D6-88DB-D9D866893A71}"/>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Inflammatory serology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Proposed minimum and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The consensus includes ANA, ANCA, and rheumatoid factor. Interpret in clinical context. Follow-up antibodies, complement, and organ-specific testing should be directed by the suspected syndrome.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9F65F5C-54F1-4860-BC0A-FB05B1D9156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1B44E44-6238-46EB-876A-A8FE2FE30B4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57</a:t>
            </a:r>
          </a:p>
        </p:txBody>
      </p:sp>
    </p:spTree>
    <p:extLst>
      <p:ext uri="{BB962C8B-B14F-4D97-AF65-F5344CB8AC3E}">
        <p14:creationId xmlns:p14="http://schemas.microsoft.com/office/powerpoint/2010/main" val="917486138"/>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D1C938C-043C-4358-8204-8317CA9ADAA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Initial workup</a:t>
            </a:r>
          </a:p>
        </p:txBody>
      </p:sp>
      <p:graphicFrame>
        <p:nvGraphicFramePr>
          <p:cNvPr id="2" name="">
            <a:extLst xmlns:a="http://schemas.openxmlformats.org/drawingml/2006/main">
              <a:ext uri="{FF2B5EF4-FFF2-40B4-BE49-F238E27FC236}">
                <a16:creationId xmlns:a16="http://schemas.microsoft.com/office/drawing/2014/main" id="{0566378F-66B1-4934-B5BC-1EADD895F92D}"/>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Imaging</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Proposed minimum and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CT chest, abdomen, and pelvis is preferred by the panel when available; chest radiography plus abdominal ultrasound is an alternative. Contrast choice depends on the suspected lesion and patient factors.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80EBEDF6-82F1-4ED3-A15B-F9F0BB92DA3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810B35B-8220-4ABD-810A-A46286F4C3A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58</a:t>
            </a:r>
          </a:p>
        </p:txBody>
      </p:sp>
    </p:spTree>
    <p:extLst>
      <p:ext uri="{BB962C8B-B14F-4D97-AF65-F5344CB8AC3E}">
        <p14:creationId xmlns:p14="http://schemas.microsoft.com/office/powerpoint/2010/main" val="1625408609"/>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84A45A5-9048-4C49-BE3D-95E6918BC23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Initial workup</a:t>
            </a:r>
          </a:p>
        </p:txBody>
      </p:sp>
      <p:graphicFrame>
        <p:nvGraphicFramePr>
          <p:cNvPr id="2" name="">
            <a:extLst xmlns:a="http://schemas.openxmlformats.org/drawingml/2006/main">
              <a:ext uri="{FF2B5EF4-FFF2-40B4-BE49-F238E27FC236}">
                <a16:creationId xmlns:a16="http://schemas.microsoft.com/office/drawing/2014/main" id="{A2933EDA-5801-4B01-A932-29FBA061C271}"/>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Additional tests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Proposed minimum and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Hepatitis tests, EBV/CMV tests, fungal antigens, zoonotic serology, echocardiography, spine MRI, and lumbar puncture require a relevant question. They are not all routine FUO screening.</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5D3B2141-8660-4FE2-AB20-4DF3EA4D623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E843680-FE52-45A5-89B7-43FCE737490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59</a:t>
            </a:r>
          </a:p>
        </p:txBody>
      </p:sp>
    </p:spTree>
    <p:extLst>
      <p:ext uri="{BB962C8B-B14F-4D97-AF65-F5344CB8AC3E}">
        <p14:creationId xmlns:p14="http://schemas.microsoft.com/office/powerpoint/2010/main" val="1246293303"/>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085E5B9-5127-4B9A-82DF-08F795C221E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Initial workup</a:t>
            </a:r>
          </a:p>
        </p:txBody>
      </p:sp>
      <p:sp>
        <p:nvSpPr>
          <p:cNvPr id="2" name="paragraph-0">
            <a:extLst xmlns:a="http://schemas.openxmlformats.org/drawingml/2006/main">
              <a:ext uri="{FF2B5EF4-FFF2-40B4-BE49-F238E27FC236}">
                <a16:creationId xmlns:a16="http://schemas.microsoft.com/office/drawing/2014/main" id="{3A14CC74-29FA-472A-BD5C-CACDA02C9244}"/>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Review the original reports and timing. Cultures obtained after antibiotics and inadequate imaging may need to be repeated.</a:t>
            </a:r>
          </a:p>
        </p:txBody>
      </p:sp>
      <p:sp>
        <p:nvSpPr>
          <p:cNvPr id="3" name="footer">
            <a:extLst xmlns:a="http://schemas.openxmlformats.org/drawingml/2006/main">
              <a:ext uri="{FF2B5EF4-FFF2-40B4-BE49-F238E27FC236}">
                <a16:creationId xmlns:a16="http://schemas.microsoft.com/office/drawing/2014/main" id="{01CDDC87-5858-4088-9E2E-5782802A4FF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E5D1FC8-A49C-4F4A-9EC1-AE31BA64264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60</a:t>
            </a:r>
          </a:p>
        </p:txBody>
      </p:sp>
    </p:spTree>
    <p:extLst>
      <p:ext uri="{BB962C8B-B14F-4D97-AF65-F5344CB8AC3E}">
        <p14:creationId xmlns:p14="http://schemas.microsoft.com/office/powerpoint/2010/main" val="1072748330"/>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9286F1C-3B1C-4C8E-8D20-2F11AB2D23B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Additional testing</a:t>
            </a:r>
          </a:p>
        </p:txBody>
      </p:sp>
      <p:graphicFrame>
        <p:nvGraphicFramePr>
          <p:cNvPr id="2" name="">
            <a:extLst xmlns:a="http://schemas.openxmlformats.org/drawingml/2006/main">
              <a:ext uri="{FF2B5EF4-FFF2-40B4-BE49-F238E27FC236}">
                <a16:creationId xmlns:a16="http://schemas.microsoft.com/office/drawing/2014/main" id="{2A230BB3-1DEA-4F66-AE8F-2826F10382B6}"/>
              </a:ext>
            </a:extLst>
          </p:cNvPr>
          <p:cNvGraphicFramePr/>
          <p:nvPr/>
        </p:nvGraphicFramePr>
        <p:xfrm>
          <a:off xmlns:a="http://schemas.openxmlformats.org/drawingml/2006/main" x="647700" y="1866900"/>
          <a:ext xmlns:a="http://schemas.openxmlformats.org/drawingml/2006/main" cx="10896600" cy="3700463"/>
        </p:xfrm>
        <a:graphic xmlns:a="http://schemas.openxmlformats.org/drawingml/2006/main">
          <a:graphicData uri="http://schemas.openxmlformats.org/drawingml/2006/table">
            <a:tbl>
              <a:tblPr/>
              <a:tblGrid>
                <a:gridCol w="4362450"/>
                <a:gridCol w="6534150"/>
              </a:tblGrid>
              <a:tr h="538163">
                <a:tc>
                  <a:txBody>
                    <a:bodyPr lIns="114300" tIns="114300" rIns="114300" bIns="114300">
                      <a:noAutofit/>
                    </a:bodyPr>
                    <a:lstStyle/>
                    <a:p>
                      <a:r>
                        <a:rPr sz="1950" b="1">
                          <a:solidFill>
                            <a:srgbClr val="FFFFFF"/>
                          </a:solidFill>
                          <a:latin typeface="DejaVu Sans"/>
                          <a:ea typeface="DejaVu Sans"/>
                          <a:cs typeface="DejaVu Sans"/>
                        </a:rPr>
                        <a:t>Clinical clue</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Useful next step</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Murmur, valve/device, embolic findings, or persistent bacteremia</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TTE and TEE according to endocarditis suspicion and TTE quality; a limited negative TTE is insufficient.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Focal back pain or neurologic signs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MRI of the involved spine; urgent evaluation if cord compression is possible.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1157288">
                <a:tc>
                  <a:txBody>
                    <a:bodyPr lIns="114300" tIns="114300" rIns="114300" bIns="114300">
                      <a:noAutofit/>
                    </a:bodyPr>
                    <a:lstStyle/>
                    <a:p>
                      <a:r>
                        <a:rPr sz="1950" b="0">
                          <a:solidFill>
                            <a:srgbClr val="16323B"/>
                          </a:solidFill>
                          <a:latin typeface="DejaVu Sans"/>
                          <a:ea typeface="DejaVu Sans"/>
                          <a:cs typeface="DejaVu Sans"/>
                        </a:rPr>
                        <a:t>Enlarging node, skin lesion, or imaging target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Biopsy with pathology and appropriate microbiology rather than another broad antibody panel.</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E4FC43E3-1C0D-437D-BB91-0851D010ADB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6571AE3-AE4D-4292-BAA5-9C77CBABA2B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61</a:t>
            </a:r>
          </a:p>
        </p:txBody>
      </p:sp>
    </p:spTree>
    <p:extLst>
      <p:ext uri="{BB962C8B-B14F-4D97-AF65-F5344CB8AC3E}">
        <p14:creationId xmlns:p14="http://schemas.microsoft.com/office/powerpoint/2010/main" val="2075719963"/>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C1FF6BF-9ACA-40CD-9915-45981FC79CB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Additional testing</a:t>
            </a:r>
          </a:p>
        </p:txBody>
      </p:sp>
      <p:graphicFrame>
        <p:nvGraphicFramePr>
          <p:cNvPr id="2" name="">
            <a:extLst xmlns:a="http://schemas.openxmlformats.org/drawingml/2006/main">
              <a:ext uri="{FF2B5EF4-FFF2-40B4-BE49-F238E27FC236}">
                <a16:creationId xmlns:a16="http://schemas.microsoft.com/office/drawing/2014/main" id="{9F0F8B9C-5FA2-4BCC-9AF9-45795D9BC75E}"/>
              </a:ext>
            </a:extLst>
          </p:cNvPr>
          <p:cNvGraphicFramePr/>
          <p:nvPr/>
        </p:nvGraphicFramePr>
        <p:xfrm>
          <a:off xmlns:a="http://schemas.openxmlformats.org/drawingml/2006/main" x="647700" y="1866900"/>
          <a:ext xmlns:a="http://schemas.openxmlformats.org/drawingml/2006/main" cx="10896600" cy="3390900"/>
        </p:xfrm>
        <a:graphic xmlns:a="http://schemas.openxmlformats.org/drawingml/2006/main">
          <a:graphicData uri="http://schemas.openxmlformats.org/drawingml/2006/table">
            <a:tbl>
              <a:tblPr/>
              <a:tblGrid>
                <a:gridCol w="4362450"/>
                <a:gridCol w="6534150"/>
              </a:tblGrid>
              <a:tr h="538163">
                <a:tc>
                  <a:txBody>
                    <a:bodyPr lIns="114300" tIns="114300" rIns="114300" bIns="114300">
                      <a:noAutofit/>
                    </a:bodyPr>
                    <a:lstStyle/>
                    <a:p>
                      <a:r>
                        <a:rPr sz="1950" b="1">
                          <a:solidFill>
                            <a:srgbClr val="FFFFFF"/>
                          </a:solidFill>
                          <a:latin typeface="DejaVu Sans"/>
                          <a:ea typeface="DejaVu Sans"/>
                          <a:cs typeface="DejaVu Sans"/>
                        </a:rPr>
                        <a:t>Clinical clue</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Useful next step</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Cytopenias, abnormal smear, or organomegaly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Smear review, directed hematologic testing, and possible marrow/tissue evaluation.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Meningitis/encephalitis syndrome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CSF studies when safe, with imaging and empiric treatment according to urgency.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1157288">
                <a:tc>
                  <a:txBody>
                    <a:bodyPr lIns="114300" tIns="114300" rIns="114300" bIns="114300">
                      <a:noAutofit/>
                    </a:bodyPr>
                    <a:lstStyle/>
                    <a:p>
                      <a:r>
                        <a:rPr sz="1950" b="0">
                          <a:solidFill>
                            <a:srgbClr val="16323B"/>
                          </a:solidFill>
                          <a:latin typeface="DejaVu Sans"/>
                          <a:ea typeface="DejaVu Sans"/>
                          <a:cs typeface="DejaVu Sans"/>
                        </a:rPr>
                        <a:t>Mononucleosis-like illness or hepatitis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Selected EBV/CMV/hepatitis testing. Do not use isolated IgG as proof of the cause of fever.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5546704-A217-444B-BFF8-498D95FCC9D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46960BC-6CF2-497B-9682-F586DD4F64C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62</a:t>
            </a:r>
          </a:p>
        </p:txBody>
      </p:sp>
    </p:spTree>
    <p:extLst>
      <p:ext uri="{BB962C8B-B14F-4D97-AF65-F5344CB8AC3E}">
        <p14:creationId xmlns:p14="http://schemas.microsoft.com/office/powerpoint/2010/main" val="758751954"/>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E97D3C9-DECB-47CE-A633-CEE2002A3FB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Additional testing</a:t>
            </a:r>
          </a:p>
        </p:txBody>
      </p:sp>
      <p:sp>
        <p:nvSpPr>
          <p:cNvPr id="2" name="paragraph-0">
            <a:extLst xmlns:a="http://schemas.openxmlformats.org/drawingml/2006/main">
              <a:ext uri="{FF2B5EF4-FFF2-40B4-BE49-F238E27FC236}">
                <a16:creationId xmlns:a16="http://schemas.microsoft.com/office/drawing/2014/main" id="{AC8613BF-14E2-44F4-8792-A9FFE067B0F7}"/>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Repeat testing if the original specimen was inadequate, the test was obtained too early, or new findings change the differential.</a:t>
            </a:r>
          </a:p>
        </p:txBody>
      </p:sp>
      <p:sp>
        <p:nvSpPr>
          <p:cNvPr id="3" name="footer">
            <a:extLst xmlns:a="http://schemas.openxmlformats.org/drawingml/2006/main">
              <a:ext uri="{FF2B5EF4-FFF2-40B4-BE49-F238E27FC236}">
                <a16:creationId xmlns:a16="http://schemas.microsoft.com/office/drawing/2014/main" id="{5457B061-1B8C-4F23-AB5C-A92842B7948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3A63D16-E6DE-4CAF-B8D2-9940174D19D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63</a:t>
            </a:r>
          </a:p>
        </p:txBody>
      </p:sp>
    </p:spTree>
    <p:extLst>
      <p:ext uri="{BB962C8B-B14F-4D97-AF65-F5344CB8AC3E}">
        <p14:creationId xmlns:p14="http://schemas.microsoft.com/office/powerpoint/2010/main" val="440971929"/>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B9A58BC-3AE9-448C-A68E-BE62C46ED36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Additional testing</a:t>
            </a:r>
          </a:p>
        </p:txBody>
      </p:sp>
      <p:sp>
        <p:nvSpPr>
          <p:cNvPr id="2" name="paragraph-0">
            <a:extLst xmlns:a="http://schemas.openxmlformats.org/drawingml/2006/main">
              <a:ext uri="{FF2B5EF4-FFF2-40B4-BE49-F238E27FC236}">
                <a16:creationId xmlns:a16="http://schemas.microsoft.com/office/drawing/2014/main" id="{24EBA10E-3E9C-41F7-9FFA-F4C0F57A8928}"/>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Resident core</a:t>
            </a:r>
          </a:p>
        </p:txBody>
      </p:sp>
      <p:sp>
        <p:nvSpPr>
          <p:cNvPr id="3" name="footer">
            <a:extLst xmlns:a="http://schemas.openxmlformats.org/drawingml/2006/main">
              <a:ext uri="{FF2B5EF4-FFF2-40B4-BE49-F238E27FC236}">
                <a16:creationId xmlns:a16="http://schemas.microsoft.com/office/drawing/2014/main" id="{5BC501A5-16BE-4E57-AFA1-A537AB313AA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DF23DD0-135C-463D-8DF2-2E6F646DCE4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64</a:t>
            </a:r>
          </a:p>
        </p:txBody>
      </p:sp>
    </p:spTree>
    <p:extLst>
      <p:ext uri="{BB962C8B-B14F-4D97-AF65-F5344CB8AC3E}">
        <p14:creationId xmlns:p14="http://schemas.microsoft.com/office/powerpoint/2010/main" val="1025315211"/>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6FF0E1D-3906-44ED-A0BC-7490F5E5892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Imaging and biopsy</a:t>
            </a:r>
          </a:p>
        </p:txBody>
      </p:sp>
      <p:sp>
        <p:nvSpPr>
          <p:cNvPr id="2" name="paragraph-0">
            <a:extLst xmlns:a="http://schemas.openxmlformats.org/drawingml/2006/main">
              <a:ext uri="{FF2B5EF4-FFF2-40B4-BE49-F238E27FC236}">
                <a16:creationId xmlns:a16="http://schemas.microsoft.com/office/drawing/2014/main" id="{7320D3AD-560F-45EF-A7E4-92A178700AA5}"/>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targeted imaging for focal findings. Obtain echocardiography for suspected endocarditis and MRI for suspected spinal infection. An accessible lesion may be suitable for biopsy.</a:t>
            </a:r>
          </a:p>
        </p:txBody>
      </p:sp>
      <p:sp>
        <p:nvSpPr>
          <p:cNvPr id="3" name="paragraph-1">
            <a:extLst xmlns:a="http://schemas.openxmlformats.org/drawingml/2006/main">
              <a:ext uri="{FF2B5EF4-FFF2-40B4-BE49-F238E27FC236}">
                <a16:creationId xmlns:a16="http://schemas.microsoft.com/office/drawing/2014/main" id="{543518FE-7B16-40A3-83CA-E8661575C4CF}"/>
              </a:ext>
            </a:extLst>
          </p:cNvPr>
          <p:cNvSpPr>
            <a:spLocks xmlns:a="http://schemas.openxmlformats.org/drawingml/2006/main" noGrp="1"/>
          </p:cNvSpPr>
          <p:nvPr/>
        </p:nvSpPr>
        <p:spPr>
          <a:xfrm xmlns:a="http://schemas.openxmlformats.org/drawingml/2006/main">
            <a:off x="647700" y="326707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Consider FDG PET/CT after an unrevealing initial evaluation, particularly when inflammatory markers remain elevated. It may identify a focus for further testing or biopsy. Uptake occurs with infection, inflammation, and malignancy.</a:t>
            </a:r>
          </a:p>
        </p:txBody>
      </p:sp>
      <p:sp>
        <p:nvSpPr>
          <p:cNvPr id="4" name="footer">
            <a:extLst xmlns:a="http://schemas.openxmlformats.org/drawingml/2006/main">
              <a:ext uri="{FF2B5EF4-FFF2-40B4-BE49-F238E27FC236}">
                <a16:creationId xmlns:a16="http://schemas.microsoft.com/office/drawing/2014/main" id="{B1B90CB3-6A97-4662-8E1F-0430CCBE92B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42D58E86-3CA8-4EE0-A62D-7DE46002D68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65</a:t>
            </a:r>
          </a:p>
        </p:txBody>
      </p:sp>
    </p:spTree>
    <p:extLst>
      <p:ext uri="{BB962C8B-B14F-4D97-AF65-F5344CB8AC3E}">
        <p14:creationId xmlns:p14="http://schemas.microsoft.com/office/powerpoint/2010/main" val="1860490788"/>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DD54435-B04C-48F7-ABF0-9E76D93D558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Imaging and biopsy</a:t>
            </a:r>
          </a:p>
        </p:txBody>
      </p:sp>
      <p:sp>
        <p:nvSpPr>
          <p:cNvPr id="2" name="paragraph-0">
            <a:extLst xmlns:a="http://schemas.openxmlformats.org/drawingml/2006/main">
              <a:ext uri="{FF2B5EF4-FFF2-40B4-BE49-F238E27FC236}">
                <a16:creationId xmlns:a16="http://schemas.microsoft.com/office/drawing/2014/main" id="{7847B382-8B9D-4455-A92D-3278FEA5AEC9}"/>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2024 EANM review found PET/CT diagnostically helpful in about 50% to 60% of patients. The studies were mostly observational and used different definitions of diagnostic yield. A negative scan may support observation in a stable patient but does not exclude all causes of fever.</a:t>
            </a:r>
          </a:p>
        </p:txBody>
      </p:sp>
      <p:sp>
        <p:nvSpPr>
          <p:cNvPr id="3" name="paragraph-1">
            <a:extLst xmlns:a="http://schemas.openxmlformats.org/drawingml/2006/main">
              <a:ext uri="{FF2B5EF4-FFF2-40B4-BE49-F238E27FC236}">
                <a16:creationId xmlns:a16="http://schemas.microsoft.com/office/drawing/2014/main" id="{75982A8C-4DE1-4BBB-8E65-553E472C115F}"/>
              </a:ext>
            </a:extLst>
          </p:cNvPr>
          <p:cNvSpPr>
            <a:spLocks xmlns:a="http://schemas.openxmlformats.org/drawingml/2006/main" noGrp="1"/>
          </p:cNvSpPr>
          <p:nvPr/>
        </p:nvSpPr>
        <p:spPr>
          <a:xfrm xmlns:a="http://schemas.openxmlformats.org/drawingml/2006/main">
            <a:off x="647700" y="39719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Before biopsy, arrange specimens for pathology and any indicated cultures or molecular tests. Send fresh sterile tissue for cultures and a separate specimen in formalin for histology.</a:t>
            </a:r>
          </a:p>
        </p:txBody>
      </p:sp>
      <p:sp>
        <p:nvSpPr>
          <p:cNvPr id="4" name="footer">
            <a:extLst xmlns:a="http://schemas.openxmlformats.org/drawingml/2006/main">
              <a:ext uri="{FF2B5EF4-FFF2-40B4-BE49-F238E27FC236}">
                <a16:creationId xmlns:a16="http://schemas.microsoft.com/office/drawing/2014/main" id="{07502EB0-38A7-4A19-BE7F-A23CF2797B9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11738EBC-9E9E-454D-A65A-D6D10283718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66</a:t>
            </a:r>
          </a:p>
        </p:txBody>
      </p:sp>
    </p:spTree>
    <p:extLst>
      <p:ext uri="{BB962C8B-B14F-4D97-AF65-F5344CB8AC3E}">
        <p14:creationId xmlns:p14="http://schemas.microsoft.com/office/powerpoint/2010/main" val="1910560323"/>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DBD1C6F-CBB0-4667-AFD5-56A6FD1FEC8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Imaging and biopsy</a:t>
            </a:r>
          </a:p>
        </p:txBody>
      </p:sp>
      <p:sp>
        <p:nvSpPr>
          <p:cNvPr id="2" name="paragraph-0">
            <a:extLst xmlns:a="http://schemas.openxmlformats.org/drawingml/2006/main">
              <a:ext uri="{FF2B5EF4-FFF2-40B4-BE49-F238E27FC236}">
                <a16:creationId xmlns:a16="http://schemas.microsoft.com/office/drawing/2014/main" id="{2330725F-DB64-4E30-87FF-31EAFC10FF7C}"/>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Glucocorticoids can reduce inflammatory PET signal. Discuss timing before starting them when the patient is stable, but never delay urgent treatment to improve a scan.</a:t>
            </a:r>
          </a:p>
        </p:txBody>
      </p:sp>
      <p:sp>
        <p:nvSpPr>
          <p:cNvPr id="3" name="footer">
            <a:extLst xmlns:a="http://schemas.openxmlformats.org/drawingml/2006/main">
              <a:ext uri="{FF2B5EF4-FFF2-40B4-BE49-F238E27FC236}">
                <a16:creationId xmlns:a16="http://schemas.microsoft.com/office/drawing/2014/main" id="{EA208848-022A-4793-A304-2A8BBDB4E97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9CB3F4D-3B9A-45F1-A4BB-1F1CDAB713E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67</a:t>
            </a:r>
          </a:p>
        </p:txBody>
      </p:sp>
    </p:spTree>
    <p:extLst>
      <p:ext uri="{BB962C8B-B14F-4D97-AF65-F5344CB8AC3E}">
        <p14:creationId xmlns:p14="http://schemas.microsoft.com/office/powerpoint/2010/main" val="850966619"/>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DDF698D-4E03-4B1C-8DE8-C83BD6E09BA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Imaging and biopsy</a:t>
            </a:r>
          </a:p>
        </p:txBody>
      </p:sp>
      <p:sp>
        <p:nvSpPr>
          <p:cNvPr id="2" name="paragraph-0">
            <a:extLst xmlns:a="http://schemas.openxmlformats.org/drawingml/2006/main">
              <a:ext uri="{FF2B5EF4-FFF2-40B4-BE49-F238E27FC236}">
                <a16:creationId xmlns:a16="http://schemas.microsoft.com/office/drawing/2014/main" id="{AC7FA92E-9C68-46E2-999F-BC380DB81BEA}"/>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Resident core</a:t>
            </a:r>
          </a:p>
        </p:txBody>
      </p:sp>
      <p:sp>
        <p:nvSpPr>
          <p:cNvPr id="3" name="footer">
            <a:extLst xmlns:a="http://schemas.openxmlformats.org/drawingml/2006/main">
              <a:ext uri="{FF2B5EF4-FFF2-40B4-BE49-F238E27FC236}">
                <a16:creationId xmlns:a16="http://schemas.microsoft.com/office/drawing/2014/main" id="{5E9AD926-F742-4CAC-9712-DC6D44763E7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7C56EA4-439E-4657-B37E-F6702776F93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68</a:t>
            </a:r>
          </a:p>
        </p:txBody>
      </p:sp>
    </p:spTree>
    <p:extLst>
      <p:ext uri="{BB962C8B-B14F-4D97-AF65-F5344CB8AC3E}">
        <p14:creationId xmlns:p14="http://schemas.microsoft.com/office/powerpoint/2010/main" val="913062121"/>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C8EB508-E251-46D4-B594-73EBE9E4D67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Management and follow-up</a:t>
            </a:r>
          </a:p>
        </p:txBody>
      </p:sp>
      <p:sp>
        <p:nvSpPr>
          <p:cNvPr id="2" name="paragraph-0">
            <a:extLst xmlns:a="http://schemas.openxmlformats.org/drawingml/2006/main">
              <a:ext uri="{FF2B5EF4-FFF2-40B4-BE49-F238E27FC236}">
                <a16:creationId xmlns:a16="http://schemas.microsoft.com/office/drawing/2014/main" id="{B32BF520-39D2-4EE6-B536-AC70C9075C3C}"/>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a stable immunocompetent patient with no urgent treatable syndrome, provide hydration, nutrition, and symptom control while pursuing diagnosis. Fever suppression is for comfort; response to acetaminophen, an NSAID, or steroids does not establish the cause.</a:t>
            </a:r>
          </a:p>
        </p:txBody>
      </p:sp>
      <p:sp>
        <p:nvSpPr>
          <p:cNvPr id="3" name="paragraph-1">
            <a:extLst xmlns:a="http://schemas.openxmlformats.org/drawingml/2006/main">
              <a:ext uri="{FF2B5EF4-FFF2-40B4-BE49-F238E27FC236}">
                <a16:creationId xmlns:a16="http://schemas.microsoft.com/office/drawing/2014/main" id="{9E31F18E-23D8-44D5-AC5E-8802FE1AB27C}"/>
              </a:ext>
            </a:extLst>
          </p:cNvPr>
          <p:cNvSpPr>
            <a:spLocks xmlns:a="http://schemas.openxmlformats.org/drawingml/2006/main" noGrp="1"/>
          </p:cNvSpPr>
          <p:nvPr/>
        </p:nvSpPr>
        <p:spPr>
          <a:xfrm xmlns:a="http://schemas.openxmlformats.org/drawingml/2006/main">
            <a:off x="647700" y="361950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Stop a suspected offending drug if it can be safely discontinued. If the drug is treating a confirmed infection, select an alternative when needed.</a:t>
            </a:r>
          </a:p>
        </p:txBody>
      </p:sp>
      <p:sp>
        <p:nvSpPr>
          <p:cNvPr id="4" name="footer">
            <a:extLst xmlns:a="http://schemas.openxmlformats.org/drawingml/2006/main">
              <a:ext uri="{FF2B5EF4-FFF2-40B4-BE49-F238E27FC236}">
                <a16:creationId xmlns:a16="http://schemas.microsoft.com/office/drawing/2014/main" id="{01131881-892F-41A0-8CB3-79E93437672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B7A0D1C3-2CED-4FA9-B04D-8C5F61F8277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69</a:t>
            </a:r>
          </a:p>
        </p:txBody>
      </p:sp>
    </p:spTree>
    <p:extLst>
      <p:ext uri="{BB962C8B-B14F-4D97-AF65-F5344CB8AC3E}">
        <p14:creationId xmlns:p14="http://schemas.microsoft.com/office/powerpoint/2010/main" val="1079079048"/>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B0EF790-CDE1-488A-AF8E-AA15424299C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Management and follow-up</a:t>
            </a:r>
          </a:p>
        </p:txBody>
      </p:sp>
      <p:sp>
        <p:nvSpPr>
          <p:cNvPr id="2" name="paragraph-0">
            <a:extLst xmlns:a="http://schemas.openxmlformats.org/drawingml/2006/main">
              <a:ext uri="{FF2B5EF4-FFF2-40B4-BE49-F238E27FC236}">
                <a16:creationId xmlns:a16="http://schemas.microsoft.com/office/drawing/2014/main" id="{A9A74CC8-E317-4343-9CC8-DA519F8F11C1}"/>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Before discharge, arrange follow-up and assign responsibility for pending results. Reassessment should include new symptoms, examination findings, blood counts, and renal or liver abnormalities. Choose the interval according to the patient’s condition.</a:t>
            </a:r>
          </a:p>
        </p:txBody>
      </p:sp>
      <p:sp>
        <p:nvSpPr>
          <p:cNvPr id="3" name="paragraph-1">
            <a:extLst xmlns:a="http://schemas.openxmlformats.org/drawingml/2006/main">
              <a:ext uri="{FF2B5EF4-FFF2-40B4-BE49-F238E27FC236}">
                <a16:creationId xmlns:a16="http://schemas.microsoft.com/office/drawing/2014/main" id="{110AA391-D295-431B-8D76-8CF4BB476872}"/>
              </a:ext>
            </a:extLst>
          </p:cNvPr>
          <p:cNvSpPr>
            <a:spLocks xmlns:a="http://schemas.openxmlformats.org/drawingml/2006/main" noGrp="1"/>
          </p:cNvSpPr>
          <p:nvPr/>
        </p:nvSpPr>
        <p:spPr>
          <a:xfrm xmlns:a="http://schemas.openxmlformats.org/drawingml/2006/main">
            <a:off x="647700" y="361950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Urgent reassessment is needed for hypotension, dyspnea, confusion, new neurologic or visual symptoms, severe focal pain, poor intake, bleeding, or other deterioration.</a:t>
            </a:r>
          </a:p>
        </p:txBody>
      </p:sp>
      <p:sp>
        <p:nvSpPr>
          <p:cNvPr id="4" name="footer">
            <a:extLst xmlns:a="http://schemas.openxmlformats.org/drawingml/2006/main">
              <a:ext uri="{FF2B5EF4-FFF2-40B4-BE49-F238E27FC236}">
                <a16:creationId xmlns:a16="http://schemas.microsoft.com/office/drawing/2014/main" id="{DFA5F696-8FAE-4A10-9C02-89687E14628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732DDECD-0AA5-44B7-AA85-AADD787A001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70</a:t>
            </a:r>
          </a:p>
        </p:txBody>
      </p:sp>
    </p:spTree>
    <p:extLst>
      <p:ext uri="{BB962C8B-B14F-4D97-AF65-F5344CB8AC3E}">
        <p14:creationId xmlns:p14="http://schemas.microsoft.com/office/powerpoint/2010/main" val="1956881156"/>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75DD756-BE25-408D-8962-0DA02D4726A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Management and follow-up</a:t>
            </a:r>
          </a:p>
        </p:txBody>
      </p:sp>
      <p:sp>
        <p:nvSpPr>
          <p:cNvPr id="2" name="paragraph-0">
            <a:extLst xmlns:a="http://schemas.openxmlformats.org/drawingml/2006/main">
              <a:ext uri="{FF2B5EF4-FFF2-40B4-BE49-F238E27FC236}">
                <a16:creationId xmlns:a16="http://schemas.microsoft.com/office/drawing/2014/main" id="{824EC8A9-CADD-4177-BF42-4DD432A567EC}"/>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Resident core</a:t>
            </a:r>
          </a:p>
        </p:txBody>
      </p:sp>
      <p:sp>
        <p:nvSpPr>
          <p:cNvPr id="3" name="footer">
            <a:extLst xmlns:a="http://schemas.openxmlformats.org/drawingml/2006/main">
              <a:ext uri="{FF2B5EF4-FFF2-40B4-BE49-F238E27FC236}">
                <a16:creationId xmlns:a16="http://schemas.microsoft.com/office/drawing/2014/main" id="{BD6535E8-D7B9-4784-87F6-9E14FB6F240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705FAF6-538A-4B2C-99D6-B04708D47BF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71</a:t>
            </a:r>
          </a:p>
        </p:txBody>
      </p:sp>
    </p:spTree>
    <p:extLst>
      <p:ext uri="{BB962C8B-B14F-4D97-AF65-F5344CB8AC3E}">
        <p14:creationId xmlns:p14="http://schemas.microsoft.com/office/powerpoint/2010/main" val="1682867616"/>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DC652C3-8A0E-46D4-855A-3542F04600F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Cases</a:t>
            </a:r>
          </a:p>
        </p:txBody>
      </p:sp>
      <p:sp>
        <p:nvSpPr>
          <p:cNvPr id="2" name="paragraph-0">
            <a:extLst xmlns:a="http://schemas.openxmlformats.org/drawingml/2006/main">
              <a:ext uri="{FF2B5EF4-FFF2-40B4-BE49-F238E27FC236}">
                <a16:creationId xmlns:a16="http://schemas.microsoft.com/office/drawing/2014/main" id="{B81F9286-9D4D-4D75-8F4B-748C3D3D9502}"/>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each case, discuss the differential, next test, and whether treatment should begin before results are available.</a:t>
            </a:r>
          </a:p>
        </p:txBody>
      </p:sp>
      <p:sp>
        <p:nvSpPr>
          <p:cNvPr id="3" name="paragraph-1">
            <a:extLst xmlns:a="http://schemas.openxmlformats.org/drawingml/2006/main">
              <a:ext uri="{FF2B5EF4-FFF2-40B4-BE49-F238E27FC236}">
                <a16:creationId xmlns:a16="http://schemas.microsoft.com/office/drawing/2014/main" id="{3B58C9E8-F382-4A3B-A11B-1968CAE7D0B4}"/>
              </a:ext>
            </a:extLst>
          </p:cNvPr>
          <p:cNvSpPr>
            <a:spLocks xmlns:a="http://schemas.openxmlformats.org/drawingml/2006/main" noGrp="1"/>
          </p:cNvSpPr>
          <p:nvPr/>
        </p:nvSpPr>
        <p:spPr>
          <a:xfrm xmlns:a="http://schemas.openxmlformats.org/drawingml/2006/main">
            <a:off x="647700" y="291465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Case 1. A 68-year-old has five weeks of documented fever, elevated CRP, fatigue, and negative cultures. CT chest/abdomen/pelvis is unrevealing. On repeat questioning, there is new jaw fatigue with chewing and transient monocular dimming. What changes now?</a:t>
            </a:r>
          </a:p>
        </p:txBody>
      </p:sp>
      <p:sp>
        <p:nvSpPr>
          <p:cNvPr id="4" name="footer">
            <a:extLst xmlns:a="http://schemas.openxmlformats.org/drawingml/2006/main">
              <a:ext uri="{FF2B5EF4-FFF2-40B4-BE49-F238E27FC236}">
                <a16:creationId xmlns:a16="http://schemas.microsoft.com/office/drawing/2014/main" id="{5248D0B7-2788-41BB-850D-5860D68CE0F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CEA4FF6B-E1B7-4584-83B5-CA486BE7811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72</a:t>
            </a:r>
          </a:p>
        </p:txBody>
      </p:sp>
    </p:spTree>
    <p:extLst>
      <p:ext uri="{BB962C8B-B14F-4D97-AF65-F5344CB8AC3E}">
        <p14:creationId xmlns:p14="http://schemas.microsoft.com/office/powerpoint/2010/main" val="1205670061"/>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83EC637-7669-4955-89A2-50A34AB4599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Discussion</a:t>
            </a:r>
          </a:p>
        </p:txBody>
      </p:sp>
      <p:sp>
        <p:nvSpPr>
          <p:cNvPr id="2" name="paragraph-0">
            <a:extLst xmlns:a="http://schemas.openxmlformats.org/drawingml/2006/main">
              <a:ext uri="{FF2B5EF4-FFF2-40B4-BE49-F238E27FC236}">
                <a16:creationId xmlns:a16="http://schemas.microsoft.com/office/drawing/2014/main" id="{93807B72-C4EF-4AFB-8528-428048E037BF}"/>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Case 2. A stable patient with a prosthetic valve has four weeks of fever and recent amoxicillin exposure. Blood cultures are negative and a limited TTE shows no vegetation. Should empiric treatment be stopped because this is “noninfectious FUO”?</a:t>
            </a:r>
          </a:p>
        </p:txBody>
      </p:sp>
      <p:sp>
        <p:nvSpPr>
          <p:cNvPr id="3" name="footer">
            <a:extLst xmlns:a="http://schemas.openxmlformats.org/drawingml/2006/main">
              <a:ext uri="{FF2B5EF4-FFF2-40B4-BE49-F238E27FC236}">
                <a16:creationId xmlns:a16="http://schemas.microsoft.com/office/drawing/2014/main" id="{B3FFB2BA-2F40-4897-B28B-908D03BECB4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53F7D02-ACF7-47A1-903E-DEB540AC065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73</a:t>
            </a:r>
          </a:p>
        </p:txBody>
      </p:sp>
    </p:spTree>
    <p:extLst>
      <p:ext uri="{BB962C8B-B14F-4D97-AF65-F5344CB8AC3E}">
        <p14:creationId xmlns:p14="http://schemas.microsoft.com/office/powerpoint/2010/main" val="822845732"/>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CCF7F12-D977-4B03-82AF-78C7DBD4DC0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Discussion</a:t>
            </a:r>
          </a:p>
        </p:txBody>
      </p:sp>
      <p:sp>
        <p:nvSpPr>
          <p:cNvPr id="2" name="paragraph-0">
            <a:extLst xmlns:a="http://schemas.openxmlformats.org/drawingml/2006/main">
              <a:ext uri="{FF2B5EF4-FFF2-40B4-BE49-F238E27FC236}">
                <a16:creationId xmlns:a16="http://schemas.microsoft.com/office/drawing/2014/main" id="{027B5051-092C-4101-A4F0-A7A7743C72BC}"/>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Case 3. A 45-year-old has four weeks of confirmed fever. Baseline evaluation and PET/CT are unrevealing. Counts, renal function, and liver tests are stable, there is no focal syndrome, and the patient is eating and ambulatory. Is a two-week broad-spectrum antibiotic course the next step?</a:t>
            </a:r>
          </a:p>
        </p:txBody>
      </p:sp>
      <p:sp>
        <p:nvSpPr>
          <p:cNvPr id="3" name="footer">
            <a:extLst xmlns:a="http://schemas.openxmlformats.org/drawingml/2006/main">
              <a:ext uri="{FF2B5EF4-FFF2-40B4-BE49-F238E27FC236}">
                <a16:creationId xmlns:a16="http://schemas.microsoft.com/office/drawing/2014/main" id="{8C503C38-9F63-4E01-9018-0A6FAE25C70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387BEF9-637C-4A12-AB3B-1026B98078A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74</a:t>
            </a:r>
          </a:p>
        </p:txBody>
      </p:sp>
    </p:spTree>
    <p:extLst>
      <p:ext uri="{BB962C8B-B14F-4D97-AF65-F5344CB8AC3E}">
        <p14:creationId xmlns:p14="http://schemas.microsoft.com/office/powerpoint/2010/main" val="1401257546"/>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0D89CEA-4E78-4323-ACB1-D43E4988D7F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Discussion</a:t>
            </a:r>
          </a:p>
        </p:txBody>
      </p:sp>
      <p:sp>
        <p:nvSpPr>
          <p:cNvPr id="2" name="paragraph-0">
            <a:extLst xmlns:a="http://schemas.openxmlformats.org/drawingml/2006/main">
              <a:ext uri="{FF2B5EF4-FFF2-40B4-BE49-F238E27FC236}">
                <a16:creationId xmlns:a16="http://schemas.microsoft.com/office/drawing/2014/main" id="{9C704E13-5AE1-4F85-B689-9A3A5AA2AB8F}"/>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Resident core</a:t>
            </a:r>
          </a:p>
        </p:txBody>
      </p:sp>
      <p:sp>
        <p:nvSpPr>
          <p:cNvPr id="3" name="footer">
            <a:extLst xmlns:a="http://schemas.openxmlformats.org/drawingml/2006/main">
              <a:ext uri="{FF2B5EF4-FFF2-40B4-BE49-F238E27FC236}">
                <a16:creationId xmlns:a16="http://schemas.microsoft.com/office/drawing/2014/main" id="{73216E0C-37F8-4C8D-8C46-C3A31703E9F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6CAF56D-46BF-4936-B9A7-7609E44D45E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75</a:t>
            </a:r>
          </a:p>
        </p:txBody>
      </p:sp>
    </p:spTree>
    <p:extLst>
      <p:ext uri="{BB962C8B-B14F-4D97-AF65-F5344CB8AC3E}">
        <p14:creationId xmlns:p14="http://schemas.microsoft.com/office/powerpoint/2010/main" val="846135201"/>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933C0118-4D76-4300-9E58-70D7B9D682D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Presenting the assessment</a:t>
            </a:r>
          </a:p>
        </p:txBody>
      </p:sp>
      <p:sp>
        <p:nvSpPr>
          <p:cNvPr id="2" name="paragraph-0">
            <a:extLst xmlns:a="http://schemas.openxmlformats.org/drawingml/2006/main">
              <a:ext uri="{FF2B5EF4-FFF2-40B4-BE49-F238E27FC236}">
                <a16:creationId xmlns:a16="http://schemas.microsoft.com/office/drawing/2014/main" id="{890036F5-B02E-4135-9BEA-3DFE9458AF58}"/>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Present the fever timeline, immune status, relevant exposures, examination findings, and abnormal tests. State the leading diagnoses and the reason for the next test.</a:t>
            </a:r>
          </a:p>
        </p:txBody>
      </p:sp>
      <p:sp>
        <p:nvSpPr>
          <p:cNvPr id="3" name="paragraph-1">
            <a:extLst xmlns:a="http://schemas.openxmlformats.org/drawingml/2006/main">
              <a:ext uri="{FF2B5EF4-FFF2-40B4-BE49-F238E27FC236}">
                <a16:creationId xmlns:a16="http://schemas.microsoft.com/office/drawing/2014/main" id="{27E17509-A777-4A25-870A-9E745C54E905}"/>
              </a:ext>
            </a:extLst>
          </p:cNvPr>
          <p:cNvSpPr>
            <a:spLocks xmlns:a="http://schemas.openxmlformats.org/drawingml/2006/main" noGrp="1"/>
          </p:cNvSpPr>
          <p:nvPr/>
        </p:nvSpPr>
        <p:spPr>
          <a:xfrm xmlns:a="http://schemas.openxmlformats.org/drawingml/2006/main">
            <a:off x="647700" y="32670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Explain how the result would affect treatment or further testing.</a:t>
            </a:r>
          </a:p>
        </p:txBody>
      </p:sp>
      <p:sp>
        <p:nvSpPr>
          <p:cNvPr id="4" name="paragraph-2">
            <a:extLst xmlns:a="http://schemas.openxmlformats.org/drawingml/2006/main">
              <a:ext uri="{FF2B5EF4-FFF2-40B4-BE49-F238E27FC236}">
                <a16:creationId xmlns:a16="http://schemas.microsoft.com/office/drawing/2014/main" id="{7DAA8773-1FF7-4C9F-AA81-789CB81CAA88}"/>
              </a:ext>
            </a:extLst>
          </p:cNvPr>
          <p:cNvSpPr>
            <a:spLocks xmlns:a="http://schemas.openxmlformats.org/drawingml/2006/main" noGrp="1"/>
          </p:cNvSpPr>
          <p:nvPr/>
        </p:nvSpPr>
        <p:spPr>
          <a:xfrm xmlns:a="http://schemas.openxmlformats.org/drawingml/2006/main">
            <a:off x="647700" y="38766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Include the follow-up plan if testing remains negative.</a:t>
            </a:r>
          </a:p>
        </p:txBody>
      </p:sp>
      <p:sp>
        <p:nvSpPr>
          <p:cNvPr id="5" name="footer">
            <a:extLst xmlns:a="http://schemas.openxmlformats.org/drawingml/2006/main">
              <a:ext uri="{FF2B5EF4-FFF2-40B4-BE49-F238E27FC236}">
                <a16:creationId xmlns:a16="http://schemas.microsoft.com/office/drawing/2014/main" id="{57E2E34B-4D01-449B-A62D-152E548EE9D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33F5F54D-80D8-4A6A-AECA-DFD089DB227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76</a:t>
            </a:r>
          </a:p>
        </p:txBody>
      </p:sp>
    </p:spTree>
    <p:extLst>
      <p:ext uri="{BB962C8B-B14F-4D97-AF65-F5344CB8AC3E}">
        <p14:creationId xmlns:p14="http://schemas.microsoft.com/office/powerpoint/2010/main" val="1273139027"/>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4B023CC-E8EF-440D-B85B-3E076B19994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Discussion</a:t>
            </a:r>
          </a:p>
        </p:txBody>
      </p:sp>
      <p:sp>
        <p:nvSpPr>
          <p:cNvPr id="2" name="paragraph-0">
            <a:extLst xmlns:a="http://schemas.openxmlformats.org/drawingml/2006/main">
              <a:ext uri="{FF2B5EF4-FFF2-40B4-BE49-F238E27FC236}">
                <a16:creationId xmlns:a16="http://schemas.microsoft.com/office/drawing/2014/main" id="{52A7BC46-A73D-4CEA-9F5A-E15B8115D8E9}"/>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Suspect giant cell arteritis with threatened vision. Arrange same-day specialist assessment and start glucocorticoids without waiting for PET/CT or biopsy. Obtain temporal and axillary ultrasound where expertise is available, or temporal artery biopsy according to local practice.</a:t>
            </a:r>
          </a:p>
        </p:txBody>
      </p:sp>
      <p:sp>
        <p:nvSpPr>
          <p:cNvPr id="3" name="footer">
            <a:extLst xmlns:a="http://schemas.openxmlformats.org/drawingml/2006/main">
              <a:ext uri="{FF2B5EF4-FFF2-40B4-BE49-F238E27FC236}">
                <a16:creationId xmlns:a16="http://schemas.microsoft.com/office/drawing/2014/main" id="{4E888321-EB26-41FD-B62B-416294E036A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762E02D-0F2A-4C52-BDE5-5203C67E2F0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77</a:t>
            </a:r>
          </a:p>
        </p:txBody>
      </p:sp>
    </p:spTree>
    <p:extLst>
      <p:ext uri="{BB962C8B-B14F-4D97-AF65-F5344CB8AC3E}">
        <p14:creationId xmlns:p14="http://schemas.microsoft.com/office/powerpoint/2010/main" val="1345141330"/>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77DC90E-AA52-4B9C-A325-C59A3437532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Discussion</a:t>
            </a:r>
          </a:p>
        </p:txBody>
      </p:sp>
      <p:sp>
        <p:nvSpPr>
          <p:cNvPr id="2" name="paragraph-0">
            <a:extLst xmlns:a="http://schemas.openxmlformats.org/drawingml/2006/main">
              <a:ext uri="{FF2B5EF4-FFF2-40B4-BE49-F238E27FC236}">
                <a16:creationId xmlns:a16="http://schemas.microsoft.com/office/drawing/2014/main" id="{AC619B41-4A56-43EB-AEE4-1E708000F8C2}"/>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prosthetic valve and prior antibiotics raise concern for culture-negative endocarditis. Review the cultures and antibiotic history, obtain additional cultures when indicated, and arrange TEE and endocarditis consultation. Add Coxiella and Bartonella testing if cultures remain negative; select other tests according to exposures.</a:t>
            </a:r>
          </a:p>
        </p:txBody>
      </p:sp>
      <p:sp>
        <p:nvSpPr>
          <p:cNvPr id="3" name="footer">
            <a:extLst xmlns:a="http://schemas.openxmlformats.org/drawingml/2006/main">
              <a:ext uri="{FF2B5EF4-FFF2-40B4-BE49-F238E27FC236}">
                <a16:creationId xmlns:a16="http://schemas.microsoft.com/office/drawing/2014/main" id="{EE4B901A-0000-4D6A-8E71-65EF3F36C53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AE6E203-A1CF-43EE-9F39-74A685AA3F6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78</a:t>
            </a:r>
          </a:p>
        </p:txBody>
      </p:sp>
    </p:spTree>
    <p:extLst>
      <p:ext uri="{BB962C8B-B14F-4D97-AF65-F5344CB8AC3E}">
        <p14:creationId xmlns:p14="http://schemas.microsoft.com/office/powerpoint/2010/main" val="1315998378"/>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C19440B-7B26-4FEB-A3D0-DEDCFC971D3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Discussion</a:t>
            </a:r>
          </a:p>
        </p:txBody>
      </p:sp>
      <p:sp>
        <p:nvSpPr>
          <p:cNvPr id="2" name="paragraph-0">
            <a:extLst xmlns:a="http://schemas.openxmlformats.org/drawingml/2006/main">
              <a:ext uri="{FF2B5EF4-FFF2-40B4-BE49-F238E27FC236}">
                <a16:creationId xmlns:a16="http://schemas.microsoft.com/office/drawing/2014/main" id="{4E273529-9BF1-4419-9420-55A87DC817F4}"/>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An empiric antibiotic course is not indicated. Review medications and the completed workup, provide symptomatic care, and arrange follow-up. New focal symptoms or worsening laboratory findings warrant further evaluation.</a:t>
            </a:r>
          </a:p>
        </p:txBody>
      </p:sp>
      <p:sp>
        <p:nvSpPr>
          <p:cNvPr id="3" name="footer">
            <a:extLst xmlns:a="http://schemas.openxmlformats.org/drawingml/2006/main">
              <a:ext uri="{FF2B5EF4-FFF2-40B4-BE49-F238E27FC236}">
                <a16:creationId xmlns:a16="http://schemas.microsoft.com/office/drawing/2014/main" id="{68BA15B3-3750-41B0-9D02-0385A3501D5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75D8762-7C87-4121-BDF9-EA9EE8FDF7B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79</a:t>
            </a:r>
          </a:p>
        </p:txBody>
      </p:sp>
    </p:spTree>
    <p:extLst>
      <p:ext uri="{BB962C8B-B14F-4D97-AF65-F5344CB8AC3E}">
        <p14:creationId xmlns:p14="http://schemas.microsoft.com/office/powerpoint/2010/main" val="1869028321"/>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9C4DA0C-2F2E-445D-8B4C-DBE8355707B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Presenting the assessment</a:t>
            </a:r>
          </a:p>
        </p:txBody>
      </p:sp>
      <p:sp>
        <p:nvSpPr>
          <p:cNvPr id="2" name="paragraph-0">
            <a:extLst xmlns:a="http://schemas.openxmlformats.org/drawingml/2006/main">
              <a:ext uri="{FF2B5EF4-FFF2-40B4-BE49-F238E27FC236}">
                <a16:creationId xmlns:a16="http://schemas.microsoft.com/office/drawing/2014/main" id="{4E9738E6-70BB-4FB3-9EB9-4CBB89944F53}"/>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Optional extension</a:t>
            </a:r>
          </a:p>
        </p:txBody>
      </p:sp>
      <p:sp>
        <p:nvSpPr>
          <p:cNvPr id="3" name="footer">
            <a:extLst xmlns:a="http://schemas.openxmlformats.org/drawingml/2006/main">
              <a:ext uri="{FF2B5EF4-FFF2-40B4-BE49-F238E27FC236}">
                <a16:creationId xmlns:a16="http://schemas.microsoft.com/office/drawing/2014/main" id="{D1F9A6DE-0720-48AA-86B9-8E26A9183D4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62C7E4B-A0ED-4D9A-80CF-E86312C8DCA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80</a:t>
            </a:r>
          </a:p>
        </p:txBody>
      </p:sp>
    </p:spTree>
    <p:extLst>
      <p:ext uri="{BB962C8B-B14F-4D97-AF65-F5344CB8AC3E}">
        <p14:creationId xmlns:p14="http://schemas.microsoft.com/office/powerpoint/2010/main" val="1837163160"/>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FE27C2F-E6A2-4ACC-A8A4-A96FF0DBE7E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Advanced fellow section</a:t>
            </a:r>
          </a:p>
        </p:txBody>
      </p:sp>
      <p:sp>
        <p:nvSpPr>
          <p:cNvPr id="2" name="paragraph-0">
            <a:extLst xmlns:a="http://schemas.openxmlformats.org/drawingml/2006/main">
              <a:ext uri="{FF2B5EF4-FFF2-40B4-BE49-F238E27FC236}">
                <a16:creationId xmlns:a16="http://schemas.microsoft.com/office/drawing/2014/main" id="{3406D82E-ED52-478B-B178-CAAB56EB6615}"/>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Additional evaluation when the initial workup is unrevealing.</a:t>
            </a:r>
          </a:p>
        </p:txBody>
      </p:sp>
      <p:sp>
        <p:nvSpPr>
          <p:cNvPr id="3" name="footer">
            <a:extLst xmlns:a="http://schemas.openxmlformats.org/drawingml/2006/main">
              <a:ext uri="{FF2B5EF4-FFF2-40B4-BE49-F238E27FC236}">
                <a16:creationId xmlns:a16="http://schemas.microsoft.com/office/drawing/2014/main" id="{3C891A88-DA1B-4A55-AAE1-CE7712E7A72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9E7B0EC-B235-4284-A810-A7A1642F159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81</a:t>
            </a:r>
          </a:p>
        </p:txBody>
      </p:sp>
    </p:spTree>
    <p:extLst>
      <p:ext uri="{BB962C8B-B14F-4D97-AF65-F5344CB8AC3E}">
        <p14:creationId xmlns:p14="http://schemas.microsoft.com/office/powerpoint/2010/main" val="1778010069"/>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5AC395F-69EC-4D65-ADF9-0567748B369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FUO definitions and study limitations</a:t>
            </a:r>
          </a:p>
        </p:txBody>
      </p:sp>
      <p:sp>
        <p:nvSpPr>
          <p:cNvPr id="2" name="paragraph-0">
            <a:extLst xmlns:a="http://schemas.openxmlformats.org/drawingml/2006/main">
              <a:ext uri="{FF2B5EF4-FFF2-40B4-BE49-F238E27FC236}">
                <a16:creationId xmlns:a16="http://schemas.microsoft.com/office/drawing/2014/main" id="{3B4CF2A3-665C-40D3-AE3E-E39CC7236853}"/>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2024 panel retained 38.3°C as the fever threshold and emphasized a completed baseline evaluation, immune status, and geography. PET/CT is not required for the FUO definition.</a:t>
            </a:r>
          </a:p>
        </p:txBody>
      </p:sp>
      <p:sp>
        <p:nvSpPr>
          <p:cNvPr id="3" name="paragraph-1">
            <a:extLst xmlns:a="http://schemas.openxmlformats.org/drawingml/2006/main">
              <a:ext uri="{FF2B5EF4-FFF2-40B4-BE49-F238E27FC236}">
                <a16:creationId xmlns:a16="http://schemas.microsoft.com/office/drawing/2014/main" id="{3514E5FA-BC45-4B50-BD9A-BB9D54341336}"/>
              </a:ext>
            </a:extLst>
          </p:cNvPr>
          <p:cNvSpPr>
            <a:spLocks xmlns:a="http://schemas.openxmlformats.org/drawingml/2006/main" noGrp="1"/>
          </p:cNvSpPr>
          <p:nvPr/>
        </p:nvSpPr>
        <p:spPr>
          <a:xfrm xmlns:a="http://schemas.openxmlformats.org/drawingml/2006/main">
            <a:off x="647700" y="32670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FUO studies differ in entry criteria, immune exclusions, referral populations, and prior testing. These differences limit comparisons of diagnostic yield.</a:t>
            </a:r>
          </a:p>
        </p:txBody>
      </p:sp>
      <p:sp>
        <p:nvSpPr>
          <p:cNvPr id="4" name="footer">
            <a:extLst xmlns:a="http://schemas.openxmlformats.org/drawingml/2006/main">
              <a:ext uri="{FF2B5EF4-FFF2-40B4-BE49-F238E27FC236}">
                <a16:creationId xmlns:a16="http://schemas.microsoft.com/office/drawing/2014/main" id="{3E3F90C3-6467-4C30-B3FA-424E40523A2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7B65C19A-52BB-449F-A110-35ED0D45314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82</a:t>
            </a:r>
          </a:p>
        </p:txBody>
      </p:sp>
    </p:spTree>
    <p:extLst>
      <p:ext uri="{BB962C8B-B14F-4D97-AF65-F5344CB8AC3E}">
        <p14:creationId xmlns:p14="http://schemas.microsoft.com/office/powerpoint/2010/main" val="150391065"/>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E5EDC6D-8B5A-4091-A54D-2B47827A8A5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Culture-negative endocarditis</a:t>
            </a:r>
          </a:p>
        </p:txBody>
      </p:sp>
      <p:sp>
        <p:nvSpPr>
          <p:cNvPr id="2" name="paragraph-0">
            <a:extLst xmlns:a="http://schemas.openxmlformats.org/drawingml/2006/main">
              <a:ext uri="{FF2B5EF4-FFF2-40B4-BE49-F238E27FC236}">
                <a16:creationId xmlns:a16="http://schemas.microsoft.com/office/drawing/2014/main" id="{A6F955EB-1206-40D2-8174-DB606E1034CA}"/>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Prior antibiotics are a common cause of negative cultures in endocarditis. Review antibiotic timing and the quality of blood cultures. If endocarditis remains suspected, obtain further cultures and cardiac imaging and discuss additional testing with microbiology.</a:t>
            </a:r>
          </a:p>
        </p:txBody>
      </p:sp>
      <p:sp>
        <p:nvSpPr>
          <p:cNvPr id="3" name="footer">
            <a:extLst xmlns:a="http://schemas.openxmlformats.org/drawingml/2006/main">
              <a:ext uri="{FF2B5EF4-FFF2-40B4-BE49-F238E27FC236}">
                <a16:creationId xmlns:a16="http://schemas.microsoft.com/office/drawing/2014/main" id="{755F9F39-AE54-4B3C-B6AC-54DA6B3DFAD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1F65440-1056-42A5-9268-10F00C09B6E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83</a:t>
            </a:r>
          </a:p>
        </p:txBody>
      </p:sp>
    </p:spTree>
    <p:extLst>
      <p:ext uri="{BB962C8B-B14F-4D97-AF65-F5344CB8AC3E}">
        <p14:creationId xmlns:p14="http://schemas.microsoft.com/office/powerpoint/2010/main" val="1735746572"/>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3C84C39-02D3-45E7-A5A8-17726427571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Culture-negative endocarditis</a:t>
            </a:r>
          </a:p>
        </p:txBody>
      </p:sp>
      <p:sp>
        <p:nvSpPr>
          <p:cNvPr id="2" name="paragraph-0">
            <a:extLst xmlns:a="http://schemas.openxmlformats.org/drawingml/2006/main">
              <a:ext uri="{FF2B5EF4-FFF2-40B4-BE49-F238E27FC236}">
                <a16:creationId xmlns:a16="http://schemas.microsoft.com/office/drawing/2014/main" id="{8B927A10-8137-4E5B-AFCE-4998323B72D7}"/>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 suspected culture-negative endocarditis, obtain Coxiella and Bartonella serology and add Brucella testing when epidemiologically indicated. Consider targeted PCR or sequencing after discussion with microbiology. If surgery is planned, arrange valve pathology, cultures, and molecular testing in advance. Malignancy and autoimmune disease can cause sterile vegetations, but negative cultures alone do not establish nonbacterial thrombotic endocarditis.</a:t>
            </a:r>
          </a:p>
        </p:txBody>
      </p:sp>
      <p:sp>
        <p:nvSpPr>
          <p:cNvPr id="3" name="footer">
            <a:extLst xmlns:a="http://schemas.openxmlformats.org/drawingml/2006/main">
              <a:ext uri="{FF2B5EF4-FFF2-40B4-BE49-F238E27FC236}">
                <a16:creationId xmlns:a16="http://schemas.microsoft.com/office/drawing/2014/main" id="{CA8C77AE-211D-4493-992D-795D80A32EE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F646D2F-B402-4110-AFD4-F10DFDF5C5C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84</a:t>
            </a:r>
          </a:p>
        </p:txBody>
      </p:sp>
    </p:spTree>
    <p:extLst>
      <p:ext uri="{BB962C8B-B14F-4D97-AF65-F5344CB8AC3E}">
        <p14:creationId xmlns:p14="http://schemas.microsoft.com/office/powerpoint/2010/main" val="1838321923"/>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102F85A-8BF4-4BD9-9A70-38768CA9F6D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Biopsy selection and specimen collection</a:t>
            </a:r>
          </a:p>
        </p:txBody>
      </p:sp>
      <p:graphicFrame>
        <p:nvGraphicFramePr>
          <p:cNvPr id="2" name="">
            <a:extLst xmlns:a="http://schemas.openxmlformats.org/drawingml/2006/main">
              <a:ext uri="{FF2B5EF4-FFF2-40B4-BE49-F238E27FC236}">
                <a16:creationId xmlns:a16="http://schemas.microsoft.com/office/drawing/2014/main" id="{0868E5C8-EA4B-4118-9197-CCC1425D7CD9}"/>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Enlarging or metabolically active node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Question and specimen planning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Lymphoma, infection, granulomatous disease. Discuss core versus excisional sampling to preserve architecture; coordinate flow cytometry and cultures.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DB38CBA3-7ADA-4EBA-8B67-BB4BA5643DF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DBC2C0D-D7A9-469D-BC33-A2510F0C0DF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85</a:t>
            </a:r>
          </a:p>
        </p:txBody>
      </p:sp>
    </p:spTree>
    <p:extLst>
      <p:ext uri="{BB962C8B-B14F-4D97-AF65-F5344CB8AC3E}">
        <p14:creationId xmlns:p14="http://schemas.microsoft.com/office/powerpoint/2010/main" val="1678789597"/>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0EFC821-E779-478D-A7CB-BDA1938E122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Biopsy selection and specimen collection</a:t>
            </a:r>
          </a:p>
        </p:txBody>
      </p:sp>
      <p:graphicFrame>
        <p:nvGraphicFramePr>
          <p:cNvPr id="2" name="">
            <a:extLst xmlns:a="http://schemas.openxmlformats.org/drawingml/2006/main">
              <a:ext uri="{FF2B5EF4-FFF2-40B4-BE49-F238E27FC236}">
                <a16:creationId xmlns:a16="http://schemas.microsoft.com/office/drawing/2014/main" id="{ED2DE8E1-AAF8-4DB7-B7E0-A14EA90324C9}"/>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Persistent cytopenias or abnormal smear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Question and specimen planning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Marrow disease, lymphoma, or disseminated infection may justify marrow examination. A normal peripheral count and no other clue weaken the case for blind marrow biopsy.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72344F6-47A3-436E-AE89-F54AD200729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E45464D-6FED-4DA5-B3EF-00BFE6C263B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86</a:t>
            </a:r>
          </a:p>
        </p:txBody>
      </p:sp>
    </p:spTree>
    <p:extLst>
      <p:ext uri="{BB962C8B-B14F-4D97-AF65-F5344CB8AC3E}">
        <p14:creationId xmlns:p14="http://schemas.microsoft.com/office/powerpoint/2010/main" val="981256039"/>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C026A81-D994-474E-B768-900534C8086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Biopsy selection and specimen collection</a:t>
            </a:r>
          </a:p>
        </p:txBody>
      </p:sp>
      <p:graphicFrame>
        <p:nvGraphicFramePr>
          <p:cNvPr id="2" name="">
            <a:extLst xmlns:a="http://schemas.openxmlformats.org/drawingml/2006/main">
              <a:ext uri="{FF2B5EF4-FFF2-40B4-BE49-F238E27FC236}">
                <a16:creationId xmlns:a16="http://schemas.microsoft.com/office/drawing/2014/main" id="{17C3AC2B-46AE-4C88-B683-859DC9BD94FB}"/>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Skin lesion or ulcer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Question and specimen planning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Biopsy a representative active lesion; obtain histology and tissue cultures when infection is possible. Superficial swab growth may represent colonization.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569FF51B-401F-407E-BE53-F061DD1F307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E37E7B2-4C95-423C-AB83-4DDBFAEEEC4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87</a:t>
            </a:r>
          </a:p>
        </p:txBody>
      </p:sp>
    </p:spTree>
    <p:extLst>
      <p:ext uri="{BB962C8B-B14F-4D97-AF65-F5344CB8AC3E}">
        <p14:creationId xmlns:p14="http://schemas.microsoft.com/office/powerpoint/2010/main" val="1597446401"/>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3A362AE-CE4B-49CE-9154-E64C8D3182D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Biopsy selection and specimen collection</a:t>
            </a:r>
          </a:p>
        </p:txBody>
      </p:sp>
      <p:graphicFrame>
        <p:nvGraphicFramePr>
          <p:cNvPr id="2" name="">
            <a:extLst xmlns:a="http://schemas.openxmlformats.org/drawingml/2006/main">
              <a:ext uri="{FF2B5EF4-FFF2-40B4-BE49-F238E27FC236}">
                <a16:creationId xmlns:a16="http://schemas.microsoft.com/office/drawing/2014/main" id="{7A7D94EC-4403-4E46-9211-E164DC0A8942}"/>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Granulomatous pathology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Question and specimen planning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Correlate with exposures and immune state; nonnecrotizing granulomas are not specific for sarcoidosis. Negative stains alone do not exclude fungal or mycobacterial infection.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67290FEF-EAD5-4BA8-B5C2-60965E2A377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7D2AABD-BFF4-4B4E-BDF8-750796B593D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88</a:t>
            </a:r>
          </a:p>
        </p:txBody>
      </p:sp>
    </p:spTree>
    <p:extLst>
      <p:ext uri="{BB962C8B-B14F-4D97-AF65-F5344CB8AC3E}">
        <p14:creationId xmlns:p14="http://schemas.microsoft.com/office/powerpoint/2010/main" val="64879053"/>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DC96960-9C9E-460B-82BB-99F7B0C5C8A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Molecular testing</a:t>
            </a:r>
          </a:p>
        </p:txBody>
      </p:sp>
      <p:sp>
        <p:nvSpPr>
          <p:cNvPr id="2" name="paragraph-0">
            <a:extLst xmlns:a="http://schemas.openxmlformats.org/drawingml/2006/main">
              <a:ext uri="{FF2B5EF4-FFF2-40B4-BE49-F238E27FC236}">
                <a16:creationId xmlns:a16="http://schemas.microsoft.com/office/drawing/2014/main" id="{8B42570A-384B-45EB-A70C-94B836385878}"/>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Consider plasma microbial cell-free DNA or broad sequencing when infection remains suspected despite negative conventional tests, particularly if tissue cannot be obtained. Interpret a positive result for possible contamination or incidental detection. A negative result does not exclude localized or low-burden infection.</a:t>
            </a:r>
          </a:p>
        </p:txBody>
      </p:sp>
      <p:sp>
        <p:nvSpPr>
          <p:cNvPr id="3" name="paragraph-1">
            <a:extLst xmlns:a="http://schemas.openxmlformats.org/drawingml/2006/main">
              <a:ext uri="{FF2B5EF4-FFF2-40B4-BE49-F238E27FC236}">
                <a16:creationId xmlns:a16="http://schemas.microsoft.com/office/drawing/2014/main" id="{DA4937AA-DBC1-48B4-B258-ED0137266D8B}"/>
              </a:ext>
            </a:extLst>
          </p:cNvPr>
          <p:cNvSpPr>
            <a:spLocks xmlns:a="http://schemas.openxmlformats.org/drawingml/2006/main" noGrp="1"/>
          </p:cNvSpPr>
          <p:nvPr/>
        </p:nvSpPr>
        <p:spPr>
          <a:xfrm xmlns:a="http://schemas.openxmlformats.org/drawingml/2006/main">
            <a:off x="647700" y="39719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When possible, test material from the involved site and send conventional cultures and pathology along with molecular testing.</a:t>
            </a:r>
          </a:p>
        </p:txBody>
      </p:sp>
      <p:sp>
        <p:nvSpPr>
          <p:cNvPr id="4" name="footer">
            <a:extLst xmlns:a="http://schemas.openxmlformats.org/drawingml/2006/main">
              <a:ext uri="{FF2B5EF4-FFF2-40B4-BE49-F238E27FC236}">
                <a16:creationId xmlns:a16="http://schemas.microsoft.com/office/drawing/2014/main" id="{0D8ABC79-799D-4967-9384-ACAF342A949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4ED5BFEA-793C-4CF0-B815-E180D46EBF8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89</a:t>
            </a:r>
          </a:p>
        </p:txBody>
      </p:sp>
    </p:spTree>
    <p:extLst>
      <p:ext uri="{BB962C8B-B14F-4D97-AF65-F5344CB8AC3E}">
        <p14:creationId xmlns:p14="http://schemas.microsoft.com/office/powerpoint/2010/main" val="290009243"/>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17370D8-C498-419B-A072-2B33AC6365B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Recurrent fever and inflammatory disorders</a:t>
            </a:r>
          </a:p>
        </p:txBody>
      </p:sp>
      <p:graphicFrame>
        <p:nvGraphicFramePr>
          <p:cNvPr id="2" name="">
            <a:extLst xmlns:a="http://schemas.openxmlformats.org/drawingml/2006/main">
              <a:ext uri="{FF2B5EF4-FFF2-40B4-BE49-F238E27FC236}">
                <a16:creationId xmlns:a16="http://schemas.microsoft.com/office/drawing/2014/main" id="{A532922B-30B5-4FFE-AAD0-E76288D8DD2F}"/>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Discrete attacks with well intervals and serositis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Focused consideration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Autoinflammatory disease, including familial Mediterranean fever; characterize onset, family history, and episode duration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Limits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Genetic testing is directed by phenotype and specialist assessment, not ethnicity alone.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560158B-AD8C-4B1D-8336-1731ADEF804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6CBEB02-4308-489C-8BDF-46240755AAB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90</a:t>
            </a:r>
          </a:p>
        </p:txBody>
      </p:sp>
    </p:spTree>
    <p:extLst>
      <p:ext uri="{BB962C8B-B14F-4D97-AF65-F5344CB8AC3E}">
        <p14:creationId xmlns:p14="http://schemas.microsoft.com/office/powerpoint/2010/main" val="28740390"/>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00DC59E-79FE-40D4-A35D-6FD95F15FD4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Recurrent fever and inflammatory disorders</a:t>
            </a:r>
          </a:p>
        </p:txBody>
      </p:sp>
      <p:graphicFrame>
        <p:nvGraphicFramePr>
          <p:cNvPr id="2" name="">
            <a:extLst xmlns:a="http://schemas.openxmlformats.org/drawingml/2006/main">
              <a:ext uri="{FF2B5EF4-FFF2-40B4-BE49-F238E27FC236}">
                <a16:creationId xmlns:a16="http://schemas.microsoft.com/office/drawing/2014/main" id="{83259C8A-DEFE-429F-90F7-E2F552712EA4}"/>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Later-life inflammatory disease, macrocytic anemia, chondritis, skin disease, thrombosis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Focused consideration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Consider VEXAS and discuss somatic UBA1 testing with hematology/rheumatology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Limits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An uncommon diagnosis requiring a compatible phenotype; not routine FUO screening.</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1691E80-B5F6-474B-BD9E-B77BB9D32F4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CF052EF-8136-4D46-A939-50AC2BE1E67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91</a:t>
            </a:r>
          </a:p>
        </p:txBody>
      </p:sp>
    </p:spTree>
    <p:extLst>
      <p:ext uri="{BB962C8B-B14F-4D97-AF65-F5344CB8AC3E}">
        <p14:creationId xmlns:p14="http://schemas.microsoft.com/office/powerpoint/2010/main" val="445482772"/>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17FC300-FBD3-4AB8-B4F2-B37E69C7759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Recurrent fever and inflammatory disorders</a:t>
            </a:r>
          </a:p>
        </p:txBody>
      </p:sp>
      <p:graphicFrame>
        <p:nvGraphicFramePr>
          <p:cNvPr id="2" name="">
            <a:extLst xmlns:a="http://schemas.openxmlformats.org/drawingml/2006/main">
              <a:ext uri="{FF2B5EF4-FFF2-40B4-BE49-F238E27FC236}">
                <a16:creationId xmlns:a16="http://schemas.microsoft.com/office/drawing/2014/main" id="{89E145C8-804A-49D5-AB5B-D7440A54543A}"/>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Spiking fever, inflammatory arthritis, transient rash, neutrophilia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Focused consideration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Still's disease after evaluation for infection and malignancy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Limits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Ferritin is supportive but nonspecific. Current guidance favors early IL-1 or IL-6 inhibition with a short glucocorticoid course once the diagnosis is established.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DA03F7A-AC04-4C67-8749-1656E5B71A7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3789E12-5C6E-4011-9F20-C4C701065BB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92</a:t>
            </a:r>
          </a:p>
        </p:txBody>
      </p:sp>
    </p:spTree>
    <p:extLst>
      <p:ext uri="{BB962C8B-B14F-4D97-AF65-F5344CB8AC3E}">
        <p14:creationId xmlns:p14="http://schemas.microsoft.com/office/powerpoint/2010/main" val="2063238338"/>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2FC58A9-8B9A-4B60-95FB-ED6393F4A34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Recurrent fever and inflammatory disorders</a:t>
            </a:r>
          </a:p>
        </p:txBody>
      </p:sp>
      <p:graphicFrame>
        <p:nvGraphicFramePr>
          <p:cNvPr id="2" name="">
            <a:extLst xmlns:a="http://schemas.openxmlformats.org/drawingml/2006/main">
              <a:ext uri="{FF2B5EF4-FFF2-40B4-BE49-F238E27FC236}">
                <a16:creationId xmlns:a16="http://schemas.microsoft.com/office/drawing/2014/main" id="{A956B05A-516B-4A12-B1EF-4FABDD8A33A7}"/>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Fever, falling counts, hepatitis, coagulopathy, rising ferritin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Focused consideration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HLH/MAS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Limits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Infection may trigger HLH and can remain active during the inflammatory illness.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49F0303E-9420-4EEE-8C99-5787EEF6162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33BBD4D-B769-4412-8BF4-F801C3A76B3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93</a:t>
            </a:r>
          </a:p>
        </p:txBody>
      </p:sp>
    </p:spTree>
    <p:extLst>
      <p:ext uri="{BB962C8B-B14F-4D97-AF65-F5344CB8AC3E}">
        <p14:creationId xmlns:p14="http://schemas.microsoft.com/office/powerpoint/2010/main" val="1128394309"/>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6B457BB-5DAD-40CC-90A9-CBF25DE37AA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PET/CT</a:t>
            </a:r>
          </a:p>
        </p:txBody>
      </p:sp>
      <p:sp>
        <p:nvSpPr>
          <p:cNvPr id="2" name="paragraph-0">
            <a:extLst xmlns:a="http://schemas.openxmlformats.org/drawingml/2006/main">
              <a:ext uri="{FF2B5EF4-FFF2-40B4-BE49-F238E27FC236}">
                <a16:creationId xmlns:a16="http://schemas.microsoft.com/office/drawing/2014/main" id="{384FC835-1C94-447B-8ADD-34C7C9F9C28B}"/>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PET/CT may identify an occult focus or biopsy site after an unrevealing initial evaluation. Use MRI, echocardiography, or direct biopsy when there is a specific indication. FDG uptake occurs with infection, sterile inflammation, malignancy, and normal physiologic activity.</a:t>
            </a:r>
          </a:p>
        </p:txBody>
      </p:sp>
      <p:sp>
        <p:nvSpPr>
          <p:cNvPr id="3" name="paragraph-1">
            <a:extLst xmlns:a="http://schemas.openxmlformats.org/drawingml/2006/main">
              <a:ext uri="{FF2B5EF4-FFF2-40B4-BE49-F238E27FC236}">
                <a16:creationId xmlns:a16="http://schemas.microsoft.com/office/drawing/2014/main" id="{814BE3C4-9FA4-4BDC-B1C4-8AD940A3E812}"/>
              </a:ext>
            </a:extLst>
          </p:cNvPr>
          <p:cNvSpPr>
            <a:spLocks xmlns:a="http://schemas.openxmlformats.org/drawingml/2006/main" noGrp="1"/>
          </p:cNvSpPr>
          <p:nvPr/>
        </p:nvSpPr>
        <p:spPr>
          <a:xfrm xmlns:a="http://schemas.openxmlformats.org/drawingml/2006/main">
            <a:off x="647700" y="3619500"/>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negative PET/CT does not exclude all infection or malignancy. Continue follow-up according to symptoms and laboratory findings. Glucocorticoids can reduce inflammatory uptake, so discuss scan timing with nuclear medicine. Treatment of vision-threatening vasculitis should not wait for imaging.</a:t>
            </a:r>
          </a:p>
        </p:txBody>
      </p:sp>
      <p:sp>
        <p:nvSpPr>
          <p:cNvPr id="4" name="footer">
            <a:extLst xmlns:a="http://schemas.openxmlformats.org/drawingml/2006/main">
              <a:ext uri="{FF2B5EF4-FFF2-40B4-BE49-F238E27FC236}">
                <a16:creationId xmlns:a16="http://schemas.microsoft.com/office/drawing/2014/main" id="{83E86C5C-474C-4D14-B1E8-A023C7EE369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0ECEE9D3-AFC4-4B85-8F68-684A6702C40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94</a:t>
            </a:r>
          </a:p>
        </p:txBody>
      </p:sp>
    </p:spTree>
    <p:extLst>
      <p:ext uri="{BB962C8B-B14F-4D97-AF65-F5344CB8AC3E}">
        <p14:creationId xmlns:p14="http://schemas.microsoft.com/office/powerpoint/2010/main" val="104096127"/>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F9D0FBF-E2C5-4B39-8BF2-19239748D38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Interpreting conflicting results</a:t>
            </a:r>
          </a:p>
        </p:txBody>
      </p:sp>
      <p:graphicFrame>
        <p:nvGraphicFramePr>
          <p:cNvPr id="2" name="">
            <a:extLst xmlns:a="http://schemas.openxmlformats.org/drawingml/2006/main">
              <a:ext uri="{FF2B5EF4-FFF2-40B4-BE49-F238E27FC236}">
                <a16:creationId xmlns:a16="http://schemas.microsoft.com/office/drawing/2014/main" id="{E4CB4DBD-04F9-454D-B4D2-FF99D3FC397B}"/>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Positive low-level zoonotic antibody without a matching syndrome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Interpretation and next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Check assay, prior exposure, cross-reactivity, and timing. A single result may require paired titers or confirmation.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70B59B27-F997-4893-B06E-895AC15957D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F3C5282-C9D4-43BF-915F-7307A2DC404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95</a:t>
            </a:r>
          </a:p>
        </p:txBody>
      </p:sp>
    </p:spTree>
    <p:extLst>
      <p:ext uri="{BB962C8B-B14F-4D97-AF65-F5344CB8AC3E}">
        <p14:creationId xmlns:p14="http://schemas.microsoft.com/office/powerpoint/2010/main" val="390253476"/>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C76404C-E578-4FC8-AF4F-36309B9B576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Interpreting conflicting results</a:t>
            </a:r>
          </a:p>
        </p:txBody>
      </p:sp>
      <p:graphicFrame>
        <p:nvGraphicFramePr>
          <p:cNvPr id="2" name="">
            <a:extLst xmlns:a="http://schemas.openxmlformats.org/drawingml/2006/main">
              <a:ext uri="{FF2B5EF4-FFF2-40B4-BE49-F238E27FC236}">
                <a16:creationId xmlns:a16="http://schemas.microsoft.com/office/drawing/2014/main" id="{379396F8-2A77-4ACC-93B9-8D1FF4D9F556}"/>
              </a:ext>
            </a:extLst>
          </p:cNvPr>
          <p:cNvGraphicFramePr/>
          <p:nvPr/>
        </p:nvGraphicFramePr>
        <p:xfrm>
          <a:off xmlns:a="http://schemas.openxmlformats.org/drawingml/2006/main" x="647700" y="1866900"/>
          <a:ext xmlns:a="http://schemas.openxmlformats.org/drawingml/2006/main" cx="10896600" cy="13858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Positive Histoplasma and Blastomyces antigens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Interpretation and next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Cross-reactivity can produce both. Correlate with geography and tissue/culture; do not assume dual infection.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5E535BDD-A700-47A5-888C-4D3980003A8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F3FB56A-5E33-447A-828C-16951F0E450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96</a:t>
            </a:r>
          </a:p>
        </p:txBody>
      </p:sp>
    </p:spTree>
    <p:extLst>
      <p:ext uri="{BB962C8B-B14F-4D97-AF65-F5344CB8AC3E}">
        <p14:creationId xmlns:p14="http://schemas.microsoft.com/office/powerpoint/2010/main" val="789189500"/>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E0E86FC-243B-47F9-860D-8A7C2987763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Interpreting conflicting results</a:t>
            </a:r>
          </a:p>
        </p:txBody>
      </p:sp>
      <p:graphicFrame>
        <p:nvGraphicFramePr>
          <p:cNvPr id="2" name="">
            <a:extLst xmlns:a="http://schemas.openxmlformats.org/drawingml/2006/main">
              <a:ext uri="{FF2B5EF4-FFF2-40B4-BE49-F238E27FC236}">
                <a16:creationId xmlns:a16="http://schemas.microsoft.com/office/drawing/2014/main" id="{C887BF9F-74C7-43AC-A70A-9613833F9015}"/>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Negative early tickborne or zoonotic serology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Interpretation and next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Antibodies may not yet be detectable. Use organism-specific PCR when suitable, and repeat serology at the appropriate interval.</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2B26D964-AA61-461F-803B-4EE3B55080B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6943D50-17EC-49AE-B6A4-A2F8E600538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97</a:t>
            </a:r>
          </a:p>
        </p:txBody>
      </p:sp>
    </p:spTree>
    <p:extLst>
      <p:ext uri="{BB962C8B-B14F-4D97-AF65-F5344CB8AC3E}">
        <p14:creationId xmlns:p14="http://schemas.microsoft.com/office/powerpoint/2010/main" val="223448170"/>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FC6757E-2906-4BA0-A7D0-564B52F2EDF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Interpreting conflicting results</a:t>
            </a:r>
          </a:p>
        </p:txBody>
      </p:sp>
      <p:graphicFrame>
        <p:nvGraphicFramePr>
          <p:cNvPr id="2" name="">
            <a:extLst xmlns:a="http://schemas.openxmlformats.org/drawingml/2006/main">
              <a:ext uri="{FF2B5EF4-FFF2-40B4-BE49-F238E27FC236}">
                <a16:creationId xmlns:a16="http://schemas.microsoft.com/office/drawing/2014/main" id="{20E3854E-2017-41D4-86BF-E2C03E914E9B}"/>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Ferritin elevation with inflammation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Interpretation and next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Does not distinguish infection, Still’s disease, malignancy, and HLH/MAS by itself. Falling counts and organ injury demand reassessment.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8D98F250-DBC5-4899-A510-DBF509CB7A4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2534854-346B-4688-9D5E-9CC2422D459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98</a:t>
            </a:r>
          </a:p>
        </p:txBody>
      </p:sp>
    </p:spTree>
    <p:extLst>
      <p:ext uri="{BB962C8B-B14F-4D97-AF65-F5344CB8AC3E}">
        <p14:creationId xmlns:p14="http://schemas.microsoft.com/office/powerpoint/2010/main" val="834897958"/>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5BC4875-BC1F-49D5-8076-CFA7E562BE4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Interpreting conflicting results</a:t>
            </a:r>
          </a:p>
        </p:txBody>
      </p:sp>
      <p:graphicFrame>
        <p:nvGraphicFramePr>
          <p:cNvPr id="2" name="">
            <a:extLst xmlns:a="http://schemas.openxmlformats.org/drawingml/2006/main">
              <a:ext uri="{FF2B5EF4-FFF2-40B4-BE49-F238E27FC236}">
                <a16:creationId xmlns:a16="http://schemas.microsoft.com/office/drawing/2014/main" id="{3C81823A-5C29-4C20-8FA8-9C1E647ACADC}"/>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Granulomas with negative organism stains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Interpretation and next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Review sampling, cultures, molecular testing, host, and exposure. Do not equate nonnecrotizing granulomas with sarcoidosis.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169092D-0FED-4912-96BC-681221560F8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C9CFB01-9CFF-4A7A-8AC2-A73F4EB1C80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99</a:t>
            </a:r>
          </a:p>
        </p:txBody>
      </p:sp>
    </p:spTree>
    <p:extLst>
      <p:ext uri="{BB962C8B-B14F-4D97-AF65-F5344CB8AC3E}">
        <p14:creationId xmlns:p14="http://schemas.microsoft.com/office/powerpoint/2010/main" val="1946642320"/>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AAC85FE-9DB6-4577-AB7C-195647BFAFD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Follow-up after a negative workup</a:t>
            </a:r>
          </a:p>
        </p:txBody>
      </p:sp>
      <p:sp>
        <p:nvSpPr>
          <p:cNvPr id="2" name="paragraph-0">
            <a:extLst xmlns:a="http://schemas.openxmlformats.org/drawingml/2006/main">
              <a:ext uri="{FF2B5EF4-FFF2-40B4-BE49-F238E27FC236}">
                <a16:creationId xmlns:a16="http://schemas.microsoft.com/office/drawing/2014/main" id="{2EBE9E3A-9859-4A40-8B8A-F060A220BB54}"/>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Review the workup, medications, pending tests, and changes in symptoms or laboratory results. Arrange reassessment. Progressive cytopenias, organ injury, or new focal symptoms require further evaluation.</a:t>
            </a:r>
          </a:p>
        </p:txBody>
      </p:sp>
      <p:sp>
        <p:nvSpPr>
          <p:cNvPr id="3" name="paragraph-1">
            <a:extLst xmlns:a="http://schemas.openxmlformats.org/drawingml/2006/main">
              <a:ext uri="{FF2B5EF4-FFF2-40B4-BE49-F238E27FC236}">
                <a16:creationId xmlns:a16="http://schemas.microsoft.com/office/drawing/2014/main" id="{5661A1B5-9844-4E20-8E7D-56E7A6BD2F28}"/>
              </a:ext>
            </a:extLst>
          </p:cNvPr>
          <p:cNvSpPr>
            <a:spLocks xmlns:a="http://schemas.openxmlformats.org/drawingml/2006/main" noGrp="1"/>
          </p:cNvSpPr>
          <p:nvPr/>
        </p:nvSpPr>
        <p:spPr>
          <a:xfrm xmlns:a="http://schemas.openxmlformats.org/drawingml/2006/main">
            <a:off x="647700" y="326707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Improvement with an NSAID or glucocorticoid is nonspecific. If treatment is started for a suspected diagnosis, obtain relevant specimens beforehand when safe and document when the diagnosis and treatment will be reassessed.</a:t>
            </a:r>
          </a:p>
        </p:txBody>
      </p:sp>
      <p:sp>
        <p:nvSpPr>
          <p:cNvPr id="4" name="footer">
            <a:extLst xmlns:a="http://schemas.openxmlformats.org/drawingml/2006/main">
              <a:ext uri="{FF2B5EF4-FFF2-40B4-BE49-F238E27FC236}">
                <a16:creationId xmlns:a16="http://schemas.microsoft.com/office/drawing/2014/main" id="{67D7B90D-6F90-4820-95C6-BF4D4BAF877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4A228844-F647-48E2-A5C7-F660F5EBED6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100</a:t>
            </a:r>
          </a:p>
        </p:txBody>
      </p:sp>
    </p:spTree>
    <p:extLst>
      <p:ext uri="{BB962C8B-B14F-4D97-AF65-F5344CB8AC3E}">
        <p14:creationId xmlns:p14="http://schemas.microsoft.com/office/powerpoint/2010/main" val="1959225441"/>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1872AF4-F126-43C9-B2EC-261A6AA754D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Definition and patient population</a:t>
            </a:r>
          </a:p>
        </p:txBody>
      </p:sp>
      <p:sp>
        <p:nvSpPr>
          <p:cNvPr id="2" name="paragraph-0">
            <a:extLst xmlns:a="http://schemas.openxmlformats.org/drawingml/2006/main">
              <a:ext uri="{FF2B5EF4-FFF2-40B4-BE49-F238E27FC236}">
                <a16:creationId xmlns:a16="http://schemas.microsoft.com/office/drawing/2014/main" id="{343EE66E-D065-4FD6-A6AB-C07C1E2A01E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Wright et al. FUO and IUO modified Delphi consensus. OFID 2024. · SCCM/IDSA guideline on new fever in adult ICU patients. 2023.</a:t>
            </a:r>
          </a:p>
        </p:txBody>
      </p:sp>
      <p:sp>
        <p:nvSpPr>
          <p:cNvPr id="3" name="footer">
            <a:extLst xmlns:a="http://schemas.openxmlformats.org/drawingml/2006/main">
              <a:ext uri="{FF2B5EF4-FFF2-40B4-BE49-F238E27FC236}">
                <a16:creationId xmlns:a16="http://schemas.microsoft.com/office/drawing/2014/main" id="{825B4901-9451-4BD1-999B-4D4D31356F8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2314C690-32AF-49D4-A045-01FAA1DB76C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101</a:t>
            </a:r>
          </a:p>
        </p:txBody>
      </p:sp>
    </p:spTree>
    <p:extLst>
      <p:ext uri="{BB962C8B-B14F-4D97-AF65-F5344CB8AC3E}">
        <p14:creationId xmlns:p14="http://schemas.microsoft.com/office/powerpoint/2010/main" val="1536137653"/>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89CD7D0-15E3-4C3A-B43D-98539C98411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treatment cannot wait</a:t>
            </a:r>
          </a:p>
        </p:txBody>
      </p:sp>
      <p:sp>
        <p:nvSpPr>
          <p:cNvPr id="2" name="paragraph-0">
            <a:extLst xmlns:a="http://schemas.openxmlformats.org/drawingml/2006/main">
              <a:ext uri="{FF2B5EF4-FFF2-40B4-BE49-F238E27FC236}">
                <a16:creationId xmlns:a16="http://schemas.microsoft.com/office/drawing/2014/main" id="{2D53C718-44BD-4BD2-8FED-FBB8D7F31005}"/>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Wright et al. FUO and IUO modified Delphi consensus. OFID 2024. · Surviving Sepsis Campaign adult guidelines. 2026. · Dejaco et al. EULAR imaging recommendations for large vessel vasculitis, 2023 update. Published 2024. · Shakoory et al. EULAR/ACR points to consider in suspected HLH/MAS. Published 2023.</a:t>
            </a:r>
          </a:p>
        </p:txBody>
      </p:sp>
      <p:sp>
        <p:nvSpPr>
          <p:cNvPr id="3" name="footer">
            <a:extLst xmlns:a="http://schemas.openxmlformats.org/drawingml/2006/main">
              <a:ext uri="{FF2B5EF4-FFF2-40B4-BE49-F238E27FC236}">
                <a16:creationId xmlns:a16="http://schemas.microsoft.com/office/drawing/2014/main" id="{D29500D5-EE2B-4B4D-B86D-08AAF4A4DFF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0C2C1C0B-A57F-4E0F-8F05-8DCADC6E18C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102</a:t>
            </a:r>
          </a:p>
        </p:txBody>
      </p:sp>
    </p:spTree>
    <p:extLst>
      <p:ext uri="{BB962C8B-B14F-4D97-AF65-F5344CB8AC3E}">
        <p14:creationId xmlns:p14="http://schemas.microsoft.com/office/powerpoint/2010/main" val="1338777536"/>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BDD580A-DAC5-45A8-95D4-949B0BB26E2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Workup by stage</a:t>
            </a:r>
          </a:p>
        </p:txBody>
      </p:sp>
      <p:sp>
        <p:nvSpPr>
          <p:cNvPr id="2" name="paragraph-0">
            <a:extLst xmlns:a="http://schemas.openxmlformats.org/drawingml/2006/main">
              <a:ext uri="{FF2B5EF4-FFF2-40B4-BE49-F238E27FC236}">
                <a16:creationId xmlns:a16="http://schemas.microsoft.com/office/drawing/2014/main" id="{A519F7EE-7EC6-44A7-A26A-F38E6CD2F6A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FUO consensus, OFID 2024 · Contemporary ambulatory FUO approach, CID 2026 · EANM PET/CT consensus, 2024</a:t>
            </a:r>
          </a:p>
        </p:txBody>
      </p:sp>
      <p:sp>
        <p:nvSpPr>
          <p:cNvPr id="3" name="footer">
            <a:extLst xmlns:a="http://schemas.openxmlformats.org/drawingml/2006/main">
              <a:ext uri="{FF2B5EF4-FFF2-40B4-BE49-F238E27FC236}">
                <a16:creationId xmlns:a16="http://schemas.microsoft.com/office/drawing/2014/main" id="{6CECA904-372F-4076-A8E7-A1CC1C1349F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A4BACD5-5144-406F-8CF2-30CA374D744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103</a:t>
            </a:r>
          </a:p>
        </p:txBody>
      </p:sp>
    </p:spTree>
    <p:extLst>
      <p:ext uri="{BB962C8B-B14F-4D97-AF65-F5344CB8AC3E}">
        <p14:creationId xmlns:p14="http://schemas.microsoft.com/office/powerpoint/2010/main" val="826233162"/>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E986F2C-EB5E-42BF-8106-D987AC1AF49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History and examination beyond exposures</a:t>
            </a:r>
          </a:p>
        </p:txBody>
      </p:sp>
      <p:sp>
        <p:nvSpPr>
          <p:cNvPr id="2" name="paragraph-0">
            <a:extLst xmlns:a="http://schemas.openxmlformats.org/drawingml/2006/main">
              <a:ext uri="{FF2B5EF4-FFF2-40B4-BE49-F238E27FC236}">
                <a16:creationId xmlns:a16="http://schemas.microsoft.com/office/drawing/2014/main" id="{1CCB0C33-752D-4874-8D53-74C606A10000}"/>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CDC Q fever testing · CDC brucellosis overview · CDC ehrlichiosis testing · CDC tularemia testing · CDC leptospirosis overview · CDC histoplasmosis testing · CDC Bartonella quintana overview · CDC malaria diagnosis · CDC HIV testing guidance</a:t>
            </a:r>
          </a:p>
        </p:txBody>
      </p:sp>
      <p:sp>
        <p:nvSpPr>
          <p:cNvPr id="3" name="footer">
            <a:extLst xmlns:a="http://schemas.openxmlformats.org/drawingml/2006/main">
              <a:ext uri="{FF2B5EF4-FFF2-40B4-BE49-F238E27FC236}">
                <a16:creationId xmlns:a16="http://schemas.microsoft.com/office/drawing/2014/main" id="{B92B1C74-9AC2-4786-8CB8-04E8FF69FF5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23009E07-0078-4F0F-841A-53FE33062BF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104</a:t>
            </a:r>
          </a:p>
        </p:txBody>
      </p:sp>
    </p:spTree>
    <p:extLst>
      <p:ext uri="{BB962C8B-B14F-4D97-AF65-F5344CB8AC3E}">
        <p14:creationId xmlns:p14="http://schemas.microsoft.com/office/powerpoint/2010/main" val="27164926"/>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D7DC281-9B74-4643-8577-F5B1C67EC96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Differential diagnosis</a:t>
            </a:r>
          </a:p>
        </p:txBody>
      </p:sp>
      <p:sp>
        <p:nvSpPr>
          <p:cNvPr id="2" name="paragraph-0">
            <a:extLst xmlns:a="http://schemas.openxmlformats.org/drawingml/2006/main">
              <a:ext uri="{FF2B5EF4-FFF2-40B4-BE49-F238E27FC236}">
                <a16:creationId xmlns:a16="http://schemas.microsoft.com/office/drawing/2014/main" id="{0124EE41-7E15-4027-A4EF-9BF0C0CFDD7E}"/>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Wright et al. FUO and IUO modified Delphi consensus. OFID 2024. · DeSimone et al. AHA scientific statement on blood culture-negative endocarditis. 2025.</a:t>
            </a:r>
          </a:p>
        </p:txBody>
      </p:sp>
      <p:sp>
        <p:nvSpPr>
          <p:cNvPr id="3" name="footer">
            <a:extLst xmlns:a="http://schemas.openxmlformats.org/drawingml/2006/main">
              <a:ext uri="{FF2B5EF4-FFF2-40B4-BE49-F238E27FC236}">
                <a16:creationId xmlns:a16="http://schemas.microsoft.com/office/drawing/2014/main" id="{BF5A1E3A-FEC9-45F5-876E-3977599218D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4729044D-FD57-479F-81AE-3ED341F8D94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105</a:t>
            </a:r>
          </a:p>
        </p:txBody>
      </p:sp>
    </p:spTree>
    <p:extLst>
      <p:ext uri="{BB962C8B-B14F-4D97-AF65-F5344CB8AC3E}">
        <p14:creationId xmlns:p14="http://schemas.microsoft.com/office/powerpoint/2010/main" val="1593756892"/>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6651C3B-6FEB-453F-BBDB-9A753150D88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Noninfectious causes</a:t>
            </a:r>
          </a:p>
        </p:txBody>
      </p:sp>
      <p:sp>
        <p:nvSpPr>
          <p:cNvPr id="2" name="paragraph-0">
            <a:extLst xmlns:a="http://schemas.openxmlformats.org/drawingml/2006/main">
              <a:ext uri="{FF2B5EF4-FFF2-40B4-BE49-F238E27FC236}">
                <a16:creationId xmlns:a16="http://schemas.microsoft.com/office/drawing/2014/main" id="{AE5B8576-6ACD-4EBA-9207-6BF0568D2FFB}"/>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Contemporary ambulatory FUO approach, CID 2026 · EULAR large vessel vasculitis imaging · EULAR/PReS Still’s disease recommendations</a:t>
            </a:r>
          </a:p>
        </p:txBody>
      </p:sp>
      <p:sp>
        <p:nvSpPr>
          <p:cNvPr id="3" name="footer">
            <a:extLst xmlns:a="http://schemas.openxmlformats.org/drawingml/2006/main">
              <a:ext uri="{FF2B5EF4-FFF2-40B4-BE49-F238E27FC236}">
                <a16:creationId xmlns:a16="http://schemas.microsoft.com/office/drawing/2014/main" id="{DDE090A6-7524-496F-B1C8-EDA4E14BDBB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A51C5802-0078-4C9C-996C-8D2D293E3F2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106</a:t>
            </a:r>
          </a:p>
        </p:txBody>
      </p:sp>
    </p:spTree>
    <p:extLst>
      <p:ext uri="{BB962C8B-B14F-4D97-AF65-F5344CB8AC3E}">
        <p14:creationId xmlns:p14="http://schemas.microsoft.com/office/powerpoint/2010/main" val="1900851035"/>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A7C7BF5-A298-4CF1-9139-A0E18140F2C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Initial workup</a:t>
            </a:r>
          </a:p>
        </p:txBody>
      </p:sp>
      <p:sp>
        <p:nvSpPr>
          <p:cNvPr id="2" name="paragraph-0">
            <a:extLst xmlns:a="http://schemas.openxmlformats.org/drawingml/2006/main">
              <a:ext uri="{FF2B5EF4-FFF2-40B4-BE49-F238E27FC236}">
                <a16:creationId xmlns:a16="http://schemas.microsoft.com/office/drawing/2014/main" id="{380E0B1F-F0AE-4A20-9880-61604AC1944C}"/>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Wright et al. FUO and IUO modified Delphi consensus. OFID 2024. · DeSimone et al. AHA scientific statement on blood culture-negative endocarditis. 2025.</a:t>
            </a:r>
          </a:p>
        </p:txBody>
      </p:sp>
      <p:sp>
        <p:nvSpPr>
          <p:cNvPr id="3" name="footer">
            <a:extLst xmlns:a="http://schemas.openxmlformats.org/drawingml/2006/main">
              <a:ext uri="{FF2B5EF4-FFF2-40B4-BE49-F238E27FC236}">
                <a16:creationId xmlns:a16="http://schemas.microsoft.com/office/drawing/2014/main" id="{1556987F-8BA0-4425-8488-6438711312E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A1EE76D1-C1A5-4B7C-9F93-FD8B5F44256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107</a:t>
            </a:r>
          </a:p>
        </p:txBody>
      </p:sp>
    </p:spTree>
    <p:extLst>
      <p:ext uri="{BB962C8B-B14F-4D97-AF65-F5344CB8AC3E}">
        <p14:creationId xmlns:p14="http://schemas.microsoft.com/office/powerpoint/2010/main" val="968194347"/>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0B214FF-87B1-4761-8FEA-FD72883AFAD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Imaging and biopsy</a:t>
            </a:r>
          </a:p>
        </p:txBody>
      </p:sp>
      <p:sp>
        <p:nvSpPr>
          <p:cNvPr id="2" name="paragraph-0">
            <a:extLst xmlns:a="http://schemas.openxmlformats.org/drawingml/2006/main">
              <a:ext uri="{FF2B5EF4-FFF2-40B4-BE49-F238E27FC236}">
                <a16:creationId xmlns:a16="http://schemas.microsoft.com/office/drawing/2014/main" id="{4D048D5D-A9ED-4D38-92B4-D455BF7061C0}"/>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Hess et al. EANM consensus on FDG PET/CT in FUO and IUO. 2024. · DeSimone et al. AHA scientific statement on blood culture-negative endocarditis. 2025.</a:t>
            </a:r>
          </a:p>
        </p:txBody>
      </p:sp>
      <p:sp>
        <p:nvSpPr>
          <p:cNvPr id="3" name="footer">
            <a:extLst xmlns:a="http://schemas.openxmlformats.org/drawingml/2006/main">
              <a:ext uri="{FF2B5EF4-FFF2-40B4-BE49-F238E27FC236}">
                <a16:creationId xmlns:a16="http://schemas.microsoft.com/office/drawing/2014/main" id="{085771DC-48FA-481D-89CB-556BFFEB8BF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1B328A3D-3315-4834-AF06-F2B9F31979F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108</a:t>
            </a:r>
          </a:p>
        </p:txBody>
      </p:sp>
    </p:spTree>
    <p:extLst>
      <p:ext uri="{BB962C8B-B14F-4D97-AF65-F5344CB8AC3E}">
        <p14:creationId xmlns:p14="http://schemas.microsoft.com/office/powerpoint/2010/main" val="1530543142"/>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B9636B0-2E65-4144-A89E-520784825D5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Management and follow-up</a:t>
            </a:r>
          </a:p>
        </p:txBody>
      </p:sp>
      <p:sp>
        <p:nvSpPr>
          <p:cNvPr id="2" name="paragraph-0">
            <a:extLst xmlns:a="http://schemas.openxmlformats.org/drawingml/2006/main">
              <a:ext uri="{FF2B5EF4-FFF2-40B4-BE49-F238E27FC236}">
                <a16:creationId xmlns:a16="http://schemas.microsoft.com/office/drawing/2014/main" id="{DDB7066D-38CE-4ACA-8435-BFE8DD01E3B8}"/>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Wright et al. FUO and IUO modified Delphi consensus. OFID 2024. · Someko et al. Drug fever. Annals of Clinical Epidemiology 2023.</a:t>
            </a:r>
          </a:p>
        </p:txBody>
      </p:sp>
      <p:sp>
        <p:nvSpPr>
          <p:cNvPr id="3" name="footer">
            <a:extLst xmlns:a="http://schemas.openxmlformats.org/drawingml/2006/main">
              <a:ext uri="{FF2B5EF4-FFF2-40B4-BE49-F238E27FC236}">
                <a16:creationId xmlns:a16="http://schemas.microsoft.com/office/drawing/2014/main" id="{DBE44692-585C-45AC-9AC9-82DB91650FE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2276B6D3-EB02-4AEB-8D67-F327955A7A8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109</a:t>
            </a:r>
          </a:p>
        </p:txBody>
      </p:sp>
    </p:spTree>
    <p:extLst>
      <p:ext uri="{BB962C8B-B14F-4D97-AF65-F5344CB8AC3E}">
        <p14:creationId xmlns:p14="http://schemas.microsoft.com/office/powerpoint/2010/main" val="1951360556"/>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26A530B-954A-4CDC-9D79-8CE953FC403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Discussion</a:t>
            </a:r>
          </a:p>
        </p:txBody>
      </p:sp>
      <p:sp>
        <p:nvSpPr>
          <p:cNvPr id="2" name="paragraph-0">
            <a:extLst xmlns:a="http://schemas.openxmlformats.org/drawingml/2006/main">
              <a:ext uri="{FF2B5EF4-FFF2-40B4-BE49-F238E27FC236}">
                <a16:creationId xmlns:a16="http://schemas.microsoft.com/office/drawing/2014/main" id="{FC3BE7EF-4F30-44F9-AD9D-DC3FC24567BF}"/>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Wright et al. FUO and IUO modified Delphi consensus. OFID 2024. · Dejaco et al. EULAR imaging recommendations for large vessel vasculitis, 2023 update. Published 2024. · DeSimone et al. AHA scientific statement on blood culture-negative endocarditis. 2025. · Hess et al. EANM consensus on FDG PET/CT in FUO and IUO. 2024.</a:t>
            </a:r>
          </a:p>
        </p:txBody>
      </p:sp>
      <p:sp>
        <p:nvSpPr>
          <p:cNvPr id="3" name="footer">
            <a:extLst xmlns:a="http://schemas.openxmlformats.org/drawingml/2006/main">
              <a:ext uri="{FF2B5EF4-FFF2-40B4-BE49-F238E27FC236}">
                <a16:creationId xmlns:a16="http://schemas.microsoft.com/office/drawing/2014/main" id="{3162ADCE-9349-4827-B99F-EF032A363C6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576F0A82-128F-471D-85EB-98A5E42160D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110</a:t>
            </a:r>
          </a:p>
        </p:txBody>
      </p:sp>
    </p:spTree>
    <p:extLst>
      <p:ext uri="{BB962C8B-B14F-4D97-AF65-F5344CB8AC3E}">
        <p14:creationId xmlns:p14="http://schemas.microsoft.com/office/powerpoint/2010/main" val="71194198"/>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20C6C5D-00D3-4ADC-986E-AD817ACE193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FUO definitions and study limitations</a:t>
            </a:r>
          </a:p>
        </p:txBody>
      </p:sp>
      <p:sp>
        <p:nvSpPr>
          <p:cNvPr id="2" name="paragraph-0">
            <a:extLst xmlns:a="http://schemas.openxmlformats.org/drawingml/2006/main">
              <a:ext uri="{FF2B5EF4-FFF2-40B4-BE49-F238E27FC236}">
                <a16:creationId xmlns:a16="http://schemas.microsoft.com/office/drawing/2014/main" id="{3F4196BB-2531-4628-923E-30DBE2734FAB}"/>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Wright et al. FUO and IUO modified Delphi consensus. OFID 2024.</a:t>
            </a:r>
          </a:p>
        </p:txBody>
      </p:sp>
      <p:sp>
        <p:nvSpPr>
          <p:cNvPr id="3" name="footer">
            <a:extLst xmlns:a="http://schemas.openxmlformats.org/drawingml/2006/main">
              <a:ext uri="{FF2B5EF4-FFF2-40B4-BE49-F238E27FC236}">
                <a16:creationId xmlns:a16="http://schemas.microsoft.com/office/drawing/2014/main" id="{F1DB5405-07A8-4931-8BC3-BC79FA3FDCE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C723B07-1A5F-45F4-957B-21E750C7BD3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111</a:t>
            </a:r>
          </a:p>
        </p:txBody>
      </p:sp>
    </p:spTree>
    <p:extLst>
      <p:ext uri="{BB962C8B-B14F-4D97-AF65-F5344CB8AC3E}">
        <p14:creationId xmlns:p14="http://schemas.microsoft.com/office/powerpoint/2010/main" val="567188387"/>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5B1E7F1-DAC6-4EA4-942D-26B4699ECDC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Culture-negative endocarditis</a:t>
            </a:r>
          </a:p>
        </p:txBody>
      </p:sp>
      <p:sp>
        <p:nvSpPr>
          <p:cNvPr id="2" name="paragraph-0">
            <a:extLst xmlns:a="http://schemas.openxmlformats.org/drawingml/2006/main">
              <a:ext uri="{FF2B5EF4-FFF2-40B4-BE49-F238E27FC236}">
                <a16:creationId xmlns:a16="http://schemas.microsoft.com/office/drawing/2014/main" id="{931876F8-224D-4503-B9C5-BE4DC8D1D6F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DeSimone et al. AHA scientific statement on blood culture-negative endocarditis. 2025.</a:t>
            </a:r>
          </a:p>
        </p:txBody>
      </p:sp>
      <p:sp>
        <p:nvSpPr>
          <p:cNvPr id="3" name="footer">
            <a:extLst xmlns:a="http://schemas.openxmlformats.org/drawingml/2006/main">
              <a:ext uri="{FF2B5EF4-FFF2-40B4-BE49-F238E27FC236}">
                <a16:creationId xmlns:a16="http://schemas.microsoft.com/office/drawing/2014/main" id="{1FAB2DE7-1AE5-4BF4-902F-55FEEF5975C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72D559A6-B25B-4776-9CA1-9439AE56C94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112</a:t>
            </a:r>
          </a:p>
        </p:txBody>
      </p:sp>
    </p:spTree>
    <p:extLst>
      <p:ext uri="{BB962C8B-B14F-4D97-AF65-F5344CB8AC3E}">
        <p14:creationId xmlns:p14="http://schemas.microsoft.com/office/powerpoint/2010/main" val="788014357"/>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CF40D78-74CF-491C-B35F-813CFA1266F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Biopsy selection and specimen collection</a:t>
            </a:r>
          </a:p>
        </p:txBody>
      </p:sp>
      <p:sp>
        <p:nvSpPr>
          <p:cNvPr id="2" name="paragraph-0">
            <a:extLst xmlns:a="http://schemas.openxmlformats.org/drawingml/2006/main">
              <a:ext uri="{FF2B5EF4-FFF2-40B4-BE49-F238E27FC236}">
                <a16:creationId xmlns:a16="http://schemas.microsoft.com/office/drawing/2014/main" id="{BD6D52A7-2DB4-4627-8887-4441086FDE01}"/>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Wright et al. FUO and IUO modified Delphi consensus. OFID 2024. · DeSimone et al. AHA scientific statement on blood culture-negative endocarditis. 2025. · ATS guideline on diagnosis and detection of sarcoidosis. 2020.</a:t>
            </a:r>
          </a:p>
        </p:txBody>
      </p:sp>
      <p:sp>
        <p:nvSpPr>
          <p:cNvPr id="3" name="footer">
            <a:extLst xmlns:a="http://schemas.openxmlformats.org/drawingml/2006/main">
              <a:ext uri="{FF2B5EF4-FFF2-40B4-BE49-F238E27FC236}">
                <a16:creationId xmlns:a16="http://schemas.microsoft.com/office/drawing/2014/main" id="{C7F00184-89FD-4EAD-BA6F-1286B1FF09B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1D18423C-BE93-4BA0-97FC-BDA4FE8C5C7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113</a:t>
            </a:r>
          </a:p>
        </p:txBody>
      </p:sp>
    </p:spTree>
    <p:extLst>
      <p:ext uri="{BB962C8B-B14F-4D97-AF65-F5344CB8AC3E}">
        <p14:creationId xmlns:p14="http://schemas.microsoft.com/office/powerpoint/2010/main" val="68926742"/>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F00C1A6-3E6A-4329-AAB7-07BC3E85FEE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Molecular testing</a:t>
            </a:r>
          </a:p>
        </p:txBody>
      </p:sp>
      <p:sp>
        <p:nvSpPr>
          <p:cNvPr id="2" name="paragraph-0">
            <a:extLst xmlns:a="http://schemas.openxmlformats.org/drawingml/2006/main">
              <a:ext uri="{FF2B5EF4-FFF2-40B4-BE49-F238E27FC236}">
                <a16:creationId xmlns:a16="http://schemas.microsoft.com/office/drawing/2014/main" id="{EC26388F-6807-4440-8627-BBDF557E849D}"/>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Wright et al. FUO and IUO modified Delphi consensus. OFID 2024. · DeSimone et al. AHA scientific statement on blood culture-negative endocarditis. 2025.</a:t>
            </a:r>
          </a:p>
        </p:txBody>
      </p:sp>
      <p:sp>
        <p:nvSpPr>
          <p:cNvPr id="3" name="footer">
            <a:extLst xmlns:a="http://schemas.openxmlformats.org/drawingml/2006/main">
              <a:ext uri="{FF2B5EF4-FFF2-40B4-BE49-F238E27FC236}">
                <a16:creationId xmlns:a16="http://schemas.microsoft.com/office/drawing/2014/main" id="{1BC808BA-E695-4151-9A80-63C25FD9F24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0EA080EF-5462-40D5-842F-71D4CCBB043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114</a:t>
            </a:r>
          </a:p>
        </p:txBody>
      </p:sp>
    </p:spTree>
    <p:extLst>
      <p:ext uri="{BB962C8B-B14F-4D97-AF65-F5344CB8AC3E}">
        <p14:creationId xmlns:p14="http://schemas.microsoft.com/office/powerpoint/2010/main" val="1118820560"/>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DAE6BD6-EECD-46BD-8AC5-C6452DE73B8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Recurrent fever and inflammatory disorders</a:t>
            </a:r>
          </a:p>
        </p:txBody>
      </p:sp>
      <p:sp>
        <p:nvSpPr>
          <p:cNvPr id="2" name="paragraph-0">
            <a:extLst xmlns:a="http://schemas.openxmlformats.org/drawingml/2006/main">
              <a:ext uri="{FF2B5EF4-FFF2-40B4-BE49-F238E27FC236}">
                <a16:creationId xmlns:a16="http://schemas.microsoft.com/office/drawing/2014/main" id="{747AF33B-7AAA-4D56-A60A-B9B105B5790E}"/>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Wright et al. FUO and IUO modified Delphi consensus. OFID 2024. · Beck et al. Somatic UBA1 mutations and adult-onset autoinflammatory disease. NEJM 2020. · Fautrel et al. EULAR/PReS recommendations for Still's disease. 2024. · Shakoory et al. EULAR/ACR points to consider in suspected HLH/MAS. Published 2023.</a:t>
            </a:r>
          </a:p>
        </p:txBody>
      </p:sp>
      <p:sp>
        <p:nvSpPr>
          <p:cNvPr id="3" name="footer">
            <a:extLst xmlns:a="http://schemas.openxmlformats.org/drawingml/2006/main">
              <a:ext uri="{FF2B5EF4-FFF2-40B4-BE49-F238E27FC236}">
                <a16:creationId xmlns:a16="http://schemas.microsoft.com/office/drawing/2014/main" id="{613FCA2C-529A-452B-BD02-2C4583A0A93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583D609D-3C6F-4FE0-8B1B-B85E1BC1B0C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115</a:t>
            </a:r>
          </a:p>
        </p:txBody>
      </p:sp>
    </p:spTree>
    <p:extLst>
      <p:ext uri="{BB962C8B-B14F-4D97-AF65-F5344CB8AC3E}">
        <p14:creationId xmlns:p14="http://schemas.microsoft.com/office/powerpoint/2010/main" val="1295519510"/>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0CD7F0C-793D-4B8B-998F-7A689924814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PET/CT</a:t>
            </a:r>
          </a:p>
        </p:txBody>
      </p:sp>
      <p:sp>
        <p:nvSpPr>
          <p:cNvPr id="2" name="paragraph-0">
            <a:extLst xmlns:a="http://schemas.openxmlformats.org/drawingml/2006/main">
              <a:ext uri="{FF2B5EF4-FFF2-40B4-BE49-F238E27FC236}">
                <a16:creationId xmlns:a16="http://schemas.microsoft.com/office/drawing/2014/main" id="{A7DE6FF9-70F0-4B59-B01A-BC596EC02DAF}"/>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EANM PET/CT consensus, 2024</a:t>
            </a:r>
          </a:p>
        </p:txBody>
      </p:sp>
      <p:sp>
        <p:nvSpPr>
          <p:cNvPr id="3" name="footer">
            <a:extLst xmlns:a="http://schemas.openxmlformats.org/drawingml/2006/main">
              <a:ext uri="{FF2B5EF4-FFF2-40B4-BE49-F238E27FC236}">
                <a16:creationId xmlns:a16="http://schemas.microsoft.com/office/drawing/2014/main" id="{AB71ECE0-8DF6-4126-A96A-235F1BA7997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6E2C68E-FFB5-4EDD-8760-98627377044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116</a:t>
            </a:r>
          </a:p>
        </p:txBody>
      </p:sp>
    </p:spTree>
    <p:extLst>
      <p:ext uri="{BB962C8B-B14F-4D97-AF65-F5344CB8AC3E}">
        <p14:creationId xmlns:p14="http://schemas.microsoft.com/office/powerpoint/2010/main" val="135465486"/>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F5128B2-8B19-4D0D-A0F2-F377D7153DD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Interpreting conflicting results</a:t>
            </a:r>
          </a:p>
        </p:txBody>
      </p:sp>
      <p:sp>
        <p:nvSpPr>
          <p:cNvPr id="2" name="paragraph-0">
            <a:extLst xmlns:a="http://schemas.openxmlformats.org/drawingml/2006/main">
              <a:ext uri="{FF2B5EF4-FFF2-40B4-BE49-F238E27FC236}">
                <a16:creationId xmlns:a16="http://schemas.microsoft.com/office/drawing/2014/main" id="{03BEEE86-6745-4664-9BF9-16D641D210FD}"/>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CDC Q fever testing · CDC ehrlichiosis testing · CDC histoplasmosis testing · EULAR/ACR HLH/MAS points to consider</a:t>
            </a:r>
          </a:p>
        </p:txBody>
      </p:sp>
      <p:sp>
        <p:nvSpPr>
          <p:cNvPr id="3" name="footer">
            <a:extLst xmlns:a="http://schemas.openxmlformats.org/drawingml/2006/main">
              <a:ext uri="{FF2B5EF4-FFF2-40B4-BE49-F238E27FC236}">
                <a16:creationId xmlns:a16="http://schemas.microsoft.com/office/drawing/2014/main" id="{04FC22EB-B97B-49DF-BF51-55553E5A393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9CB67A65-EADC-4AB6-9EA2-BFF82886633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117</a:t>
            </a:r>
          </a:p>
        </p:txBody>
      </p:sp>
    </p:spTree>
    <p:extLst>
      <p:ext uri="{BB962C8B-B14F-4D97-AF65-F5344CB8AC3E}">
        <p14:creationId xmlns:p14="http://schemas.microsoft.com/office/powerpoint/2010/main" val="392328868"/>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AA31CB51-FDF9-4CD5-8EE8-3121026D9E6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97D8A28B-D2D9-4576-A1C0-4AADCE042ABA}"/>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Wright et al. FUO and IUO modified Delphi consensus. OFID 2024.</a:t>
            </a:r>
          </a:p>
        </p:txBody>
      </p:sp>
      <p:sp>
        <p:nvSpPr>
          <p:cNvPr id="3" name="paragraph-1">
            <a:extLst xmlns:a="http://schemas.openxmlformats.org/drawingml/2006/main">
              <a:ext uri="{FF2B5EF4-FFF2-40B4-BE49-F238E27FC236}">
                <a16:creationId xmlns:a16="http://schemas.microsoft.com/office/drawing/2014/main" id="{534725CF-FE9B-44FA-A93D-E32E288B8FFD}"/>
              </a:ext>
            </a:extLst>
          </p:cNvPr>
          <p:cNvSpPr>
            <a:spLocks xmlns:a="http://schemas.openxmlformats.org/drawingml/2006/main" noGrp="1"/>
          </p:cNvSpPr>
          <p:nvPr/>
        </p:nvSpPr>
        <p:spPr>
          <a:xfrm xmlns:a="http://schemas.openxmlformats.org/drawingml/2006/main">
            <a:off x="647700" y="25622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Hess et al. EANM consensus on FDG PET/CT in FUO and IUO. 2024.</a:t>
            </a:r>
          </a:p>
        </p:txBody>
      </p:sp>
      <p:sp>
        <p:nvSpPr>
          <p:cNvPr id="4" name="paragraph-2">
            <a:extLst xmlns:a="http://schemas.openxmlformats.org/drawingml/2006/main">
              <a:ext uri="{FF2B5EF4-FFF2-40B4-BE49-F238E27FC236}">
                <a16:creationId xmlns:a16="http://schemas.microsoft.com/office/drawing/2014/main" id="{CCD3BCBB-B764-41AB-A5A8-9CA655B76614}"/>
              </a:ext>
            </a:extLst>
          </p:cNvPr>
          <p:cNvSpPr>
            <a:spLocks xmlns:a="http://schemas.openxmlformats.org/drawingml/2006/main" noGrp="1"/>
          </p:cNvSpPr>
          <p:nvPr/>
        </p:nvSpPr>
        <p:spPr>
          <a:xfrm xmlns:a="http://schemas.openxmlformats.org/drawingml/2006/main">
            <a:off x="647700" y="31718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DeSimone et al. AHA scientific statement on blood culture-negative endocarditis. 2025.</a:t>
            </a:r>
          </a:p>
        </p:txBody>
      </p:sp>
      <p:sp>
        <p:nvSpPr>
          <p:cNvPr id="5" name="paragraph-3">
            <a:extLst xmlns:a="http://schemas.openxmlformats.org/drawingml/2006/main">
              <a:ext uri="{FF2B5EF4-FFF2-40B4-BE49-F238E27FC236}">
                <a16:creationId xmlns:a16="http://schemas.microsoft.com/office/drawing/2014/main" id="{366CB19A-1AD7-46D1-9356-8D4B6D3D414B}"/>
              </a:ext>
            </a:extLst>
          </p:cNvPr>
          <p:cNvSpPr>
            <a:spLocks xmlns:a="http://schemas.openxmlformats.org/drawingml/2006/main" noGrp="1"/>
          </p:cNvSpPr>
          <p:nvPr/>
        </p:nvSpPr>
        <p:spPr>
          <a:xfrm xmlns:a="http://schemas.openxmlformats.org/drawingml/2006/main">
            <a:off x="647700" y="41338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Surviving Sepsis Campaign adult guidelines. 2026.</a:t>
            </a:r>
          </a:p>
        </p:txBody>
      </p:sp>
      <p:sp>
        <p:nvSpPr>
          <p:cNvPr id="6" name="footer">
            <a:extLst xmlns:a="http://schemas.openxmlformats.org/drawingml/2006/main">
              <a:ext uri="{FF2B5EF4-FFF2-40B4-BE49-F238E27FC236}">
                <a16:creationId xmlns:a16="http://schemas.microsoft.com/office/drawing/2014/main" id="{6F371FCA-CF20-4645-B392-4BABE6919BB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7" name="number">
            <a:extLst xmlns:a="http://schemas.openxmlformats.org/drawingml/2006/main">
              <a:ext uri="{FF2B5EF4-FFF2-40B4-BE49-F238E27FC236}">
                <a16:creationId xmlns:a16="http://schemas.microsoft.com/office/drawing/2014/main" id="{851CFE6A-A339-41B7-8C0D-2942F73E2F5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118</a:t>
            </a:r>
          </a:p>
        </p:txBody>
      </p:sp>
    </p:spTree>
    <p:extLst>
      <p:ext uri="{BB962C8B-B14F-4D97-AF65-F5344CB8AC3E}">
        <p14:creationId xmlns:p14="http://schemas.microsoft.com/office/powerpoint/2010/main" val="1016648519"/>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1979ED13-492A-4632-B021-66B644A1EDC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F15B055A-4D32-41DF-B81B-4C3A4783FB1E}"/>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SCCM/IDSA guideline on new fever in adult ICU patients. 2023.</a:t>
            </a:r>
          </a:p>
        </p:txBody>
      </p:sp>
      <p:sp>
        <p:nvSpPr>
          <p:cNvPr id="3" name="paragraph-1">
            <a:extLst xmlns:a="http://schemas.openxmlformats.org/drawingml/2006/main">
              <a:ext uri="{FF2B5EF4-FFF2-40B4-BE49-F238E27FC236}">
                <a16:creationId xmlns:a16="http://schemas.microsoft.com/office/drawing/2014/main" id="{F1C6A3D4-BDC9-4BD0-8BF8-60A29ECA610C}"/>
              </a:ext>
            </a:extLst>
          </p:cNvPr>
          <p:cNvSpPr>
            <a:spLocks xmlns:a="http://schemas.openxmlformats.org/drawingml/2006/main" noGrp="1"/>
          </p:cNvSpPr>
          <p:nvPr/>
        </p:nvSpPr>
        <p:spPr>
          <a:xfrm xmlns:a="http://schemas.openxmlformats.org/drawingml/2006/main">
            <a:off x="647700" y="25622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Dejaco et al. EULAR imaging recommendations for large vessel vasculitis, 2023 update. Published 2024.</a:t>
            </a:r>
          </a:p>
        </p:txBody>
      </p:sp>
      <p:sp>
        <p:nvSpPr>
          <p:cNvPr id="4" name="paragraph-2">
            <a:extLst xmlns:a="http://schemas.openxmlformats.org/drawingml/2006/main">
              <a:ext uri="{FF2B5EF4-FFF2-40B4-BE49-F238E27FC236}">
                <a16:creationId xmlns:a16="http://schemas.microsoft.com/office/drawing/2014/main" id="{25F4CB56-2650-48C0-B20D-550B416310A2}"/>
              </a:ext>
            </a:extLst>
          </p:cNvPr>
          <p:cNvSpPr>
            <a:spLocks xmlns:a="http://schemas.openxmlformats.org/drawingml/2006/main" noGrp="1"/>
          </p:cNvSpPr>
          <p:nvPr/>
        </p:nvSpPr>
        <p:spPr>
          <a:xfrm xmlns:a="http://schemas.openxmlformats.org/drawingml/2006/main">
            <a:off x="647700" y="35242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Shakoory et al. EULAR/ACR points to consider in suspected HLH/MAS. Published 2023.</a:t>
            </a:r>
          </a:p>
        </p:txBody>
      </p:sp>
      <p:sp>
        <p:nvSpPr>
          <p:cNvPr id="5" name="paragraph-3">
            <a:extLst xmlns:a="http://schemas.openxmlformats.org/drawingml/2006/main">
              <a:ext uri="{FF2B5EF4-FFF2-40B4-BE49-F238E27FC236}">
                <a16:creationId xmlns:a16="http://schemas.microsoft.com/office/drawing/2014/main" id="{84BCFCF7-AF71-4065-A68E-385BA38DBD9E}"/>
              </a:ext>
            </a:extLst>
          </p:cNvPr>
          <p:cNvSpPr>
            <a:spLocks xmlns:a="http://schemas.openxmlformats.org/drawingml/2006/main" noGrp="1"/>
          </p:cNvSpPr>
          <p:nvPr/>
        </p:nvSpPr>
        <p:spPr>
          <a:xfrm xmlns:a="http://schemas.openxmlformats.org/drawingml/2006/main">
            <a:off x="647700" y="448627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Someko et al. Drug fever. Annals of Clinical Epidemiology 2023.</a:t>
            </a:r>
          </a:p>
        </p:txBody>
      </p:sp>
      <p:sp>
        <p:nvSpPr>
          <p:cNvPr id="6" name="footer">
            <a:extLst xmlns:a="http://schemas.openxmlformats.org/drawingml/2006/main">
              <a:ext uri="{FF2B5EF4-FFF2-40B4-BE49-F238E27FC236}">
                <a16:creationId xmlns:a16="http://schemas.microsoft.com/office/drawing/2014/main" id="{33B40D02-3881-4EF9-81D3-90FC09C4263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7" name="number">
            <a:extLst xmlns:a="http://schemas.openxmlformats.org/drawingml/2006/main">
              <a:ext uri="{FF2B5EF4-FFF2-40B4-BE49-F238E27FC236}">
                <a16:creationId xmlns:a16="http://schemas.microsoft.com/office/drawing/2014/main" id="{8E65333C-3152-47AB-960E-89858BEC197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119</a:t>
            </a:r>
          </a:p>
        </p:txBody>
      </p:sp>
    </p:spTree>
    <p:extLst>
      <p:ext uri="{BB962C8B-B14F-4D97-AF65-F5344CB8AC3E}">
        <p14:creationId xmlns:p14="http://schemas.microsoft.com/office/powerpoint/2010/main" val="234708811"/>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BABA4120-D6F7-4856-BB65-47E2826D16E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8E96FD6E-A5D1-4535-A6D6-BDCC30557F4C}"/>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Fautrel et al. EULAR/PReS recommendations for Still's disease. 2024.</a:t>
            </a:r>
          </a:p>
        </p:txBody>
      </p:sp>
      <p:sp>
        <p:nvSpPr>
          <p:cNvPr id="3" name="paragraph-1">
            <a:extLst xmlns:a="http://schemas.openxmlformats.org/drawingml/2006/main">
              <a:ext uri="{FF2B5EF4-FFF2-40B4-BE49-F238E27FC236}">
                <a16:creationId xmlns:a16="http://schemas.microsoft.com/office/drawing/2014/main" id="{6C4E539C-07E7-466B-8367-F3C7326ACDD5}"/>
              </a:ext>
            </a:extLst>
          </p:cNvPr>
          <p:cNvSpPr>
            <a:spLocks xmlns:a="http://schemas.openxmlformats.org/drawingml/2006/main" noGrp="1"/>
          </p:cNvSpPr>
          <p:nvPr/>
        </p:nvSpPr>
        <p:spPr>
          <a:xfrm xmlns:a="http://schemas.openxmlformats.org/drawingml/2006/main">
            <a:off x="647700" y="25622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ATS guideline on diagnosis and detection of sarcoidosis. 2020.</a:t>
            </a:r>
          </a:p>
        </p:txBody>
      </p:sp>
      <p:sp>
        <p:nvSpPr>
          <p:cNvPr id="4" name="paragraph-2">
            <a:extLst xmlns:a="http://schemas.openxmlformats.org/drawingml/2006/main">
              <a:ext uri="{FF2B5EF4-FFF2-40B4-BE49-F238E27FC236}">
                <a16:creationId xmlns:a16="http://schemas.microsoft.com/office/drawing/2014/main" id="{68CEB397-4467-4802-B368-D0208DB128BD}"/>
              </a:ext>
            </a:extLst>
          </p:cNvPr>
          <p:cNvSpPr>
            <a:spLocks xmlns:a="http://schemas.openxmlformats.org/drawingml/2006/main" noGrp="1"/>
          </p:cNvSpPr>
          <p:nvPr/>
        </p:nvSpPr>
        <p:spPr>
          <a:xfrm xmlns:a="http://schemas.openxmlformats.org/drawingml/2006/main">
            <a:off x="647700" y="31718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Beck et al. Somatic UBA1 mutations and adult-onset autoinflammatory disease. NEJM 2020.</a:t>
            </a:r>
          </a:p>
        </p:txBody>
      </p:sp>
      <p:sp>
        <p:nvSpPr>
          <p:cNvPr id="5" name="paragraph-3">
            <a:extLst xmlns:a="http://schemas.openxmlformats.org/drawingml/2006/main">
              <a:ext uri="{FF2B5EF4-FFF2-40B4-BE49-F238E27FC236}">
                <a16:creationId xmlns:a16="http://schemas.microsoft.com/office/drawing/2014/main" id="{C481FA10-823A-484A-A53A-E8FD598191EC}"/>
              </a:ext>
            </a:extLst>
          </p:cNvPr>
          <p:cNvSpPr>
            <a:spLocks xmlns:a="http://schemas.openxmlformats.org/drawingml/2006/main" noGrp="1"/>
          </p:cNvSpPr>
          <p:nvPr/>
        </p:nvSpPr>
        <p:spPr>
          <a:xfrm xmlns:a="http://schemas.openxmlformats.org/drawingml/2006/main">
            <a:off x="647700" y="413385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Sources CDC Q fever testing · CDC brucellosis overview · CDC ehrlichiosis testing · CDC tularemia testing · CDC leptospirosis overview · CDC histoplasmosis testing · CDC Bartonella quintana overview · CDC malaria diagnosis · CDC HIV testing guidance</a:t>
            </a:r>
          </a:p>
        </p:txBody>
      </p:sp>
      <p:sp>
        <p:nvSpPr>
          <p:cNvPr id="6" name="footer">
            <a:extLst xmlns:a="http://schemas.openxmlformats.org/drawingml/2006/main">
              <a:ext uri="{FF2B5EF4-FFF2-40B4-BE49-F238E27FC236}">
                <a16:creationId xmlns:a16="http://schemas.microsoft.com/office/drawing/2014/main" id="{9DCA21A4-5D94-4933-A6BF-CF540B221A9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7" name="number">
            <a:extLst xmlns:a="http://schemas.openxmlformats.org/drawingml/2006/main">
              <a:ext uri="{FF2B5EF4-FFF2-40B4-BE49-F238E27FC236}">
                <a16:creationId xmlns:a16="http://schemas.microsoft.com/office/drawing/2014/main" id="{4645EFAD-9D30-4511-8C82-C69C4493AE3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120</a:t>
            </a:r>
          </a:p>
        </p:txBody>
      </p:sp>
    </p:spTree>
    <p:extLst>
      <p:ext uri="{BB962C8B-B14F-4D97-AF65-F5344CB8AC3E}">
        <p14:creationId xmlns:p14="http://schemas.microsoft.com/office/powerpoint/2010/main" val="1404018372"/>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D051060-474B-42FB-AF35-D4E241E8D64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37C28989-3122-44B6-BD8B-19E968F96ECB}"/>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Contemporary Ambulatory Approach to Adult Fever of Unknown Origin. CID 2026.</a:t>
            </a:r>
          </a:p>
        </p:txBody>
      </p:sp>
      <p:sp>
        <p:nvSpPr>
          <p:cNvPr id="3" name="footer">
            <a:extLst xmlns:a="http://schemas.openxmlformats.org/drawingml/2006/main">
              <a:ext uri="{FF2B5EF4-FFF2-40B4-BE49-F238E27FC236}">
                <a16:creationId xmlns:a16="http://schemas.microsoft.com/office/drawing/2014/main" id="{53C251F2-F13B-4D54-AC08-356E0E6C648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15ABDC88-27DE-40A7-BDEA-ADFF815B0AB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121</a:t>
            </a:r>
          </a:p>
        </p:txBody>
      </p:sp>
    </p:spTree>
    <p:extLst>
      <p:ext uri="{BB962C8B-B14F-4D97-AF65-F5344CB8AC3E}">
        <p14:creationId xmlns:p14="http://schemas.microsoft.com/office/powerpoint/2010/main" val="20384453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2026-10-28T18:28:49.0340000Z</dcterms:created>
  <dcterms:modified xsi:type="dcterms:W3CDTF">2026-10-28T18:28:49.0350000Z</dcterms:modified>
</coreProperties>
</file>