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43c9c44670a48d7" /><Relationship Type="http://schemas.openxmlformats.org/officeDocument/2006/relationships/extended-properties" Target="/docProps/app.xml" Id="R4541fdf48ab442f1" /><Relationship Type="http://schemas.openxmlformats.org/officeDocument/2006/relationships/officeDocument" Target="/ppt/presentation.xml" Id="R1068b99183994a0a" /></Relationships>
</file>

<file path=ppt/presentation.xml><?xml version="1.0" encoding="utf-8"?>
<p:presentation xmlns:p="http://schemas.openxmlformats.org/presentationml/2006/main">
  <p:sldMasterIdLst>
    <p:sldMasterId xmlns:r="http://schemas.openxmlformats.org/officeDocument/2006/relationships" id="2147483648" r:id="R04124e55bb564014"/>
  </p:sldMasterIdLst>
  <p:notesMasterIdLst>
    <p:notesMasterId xmlns:r="http://schemas.openxmlformats.org/officeDocument/2006/relationships" r:id="R43746ce922014576"/>
  </p:notesMasterIdLst>
  <p:sldIdLst>
    <p:sldId xmlns:r="http://schemas.openxmlformats.org/officeDocument/2006/relationships" id="256" r:id="R02f32b48053b4832"/>
    <p:sldId xmlns:r="http://schemas.openxmlformats.org/officeDocument/2006/relationships" id="257" r:id="R1a17db8b36fc4c23"/>
    <p:sldId xmlns:r="http://schemas.openxmlformats.org/officeDocument/2006/relationships" id="258" r:id="Ra1911cdfef7d4b67"/>
    <p:sldId xmlns:r="http://schemas.openxmlformats.org/officeDocument/2006/relationships" id="259" r:id="R18e6e2f3a9cf410b"/>
    <p:sldId xmlns:r="http://schemas.openxmlformats.org/officeDocument/2006/relationships" id="260" r:id="R02c6c245f15b4a29"/>
    <p:sldId xmlns:r="http://schemas.openxmlformats.org/officeDocument/2006/relationships" id="261" r:id="R87f651e9a81e4391"/>
    <p:sldId xmlns:r="http://schemas.openxmlformats.org/officeDocument/2006/relationships" id="262" r:id="Re2370379b79e4992"/>
    <p:sldId xmlns:r="http://schemas.openxmlformats.org/officeDocument/2006/relationships" id="263" r:id="R73d5e7bd570d4c32"/>
    <p:sldId xmlns:r="http://schemas.openxmlformats.org/officeDocument/2006/relationships" id="264" r:id="R8bdf8a6f05304d71"/>
    <p:sldId xmlns:r="http://schemas.openxmlformats.org/officeDocument/2006/relationships" id="265" r:id="Rc9b027bd75b34399"/>
    <p:sldId xmlns:r="http://schemas.openxmlformats.org/officeDocument/2006/relationships" id="266" r:id="Rb0e8c14c70e14661"/>
    <p:sldId xmlns:r="http://schemas.openxmlformats.org/officeDocument/2006/relationships" id="267" r:id="R0e0b58cb774c4b73"/>
    <p:sldId xmlns:r="http://schemas.openxmlformats.org/officeDocument/2006/relationships" id="268" r:id="R18da919196be4734"/>
    <p:sldId xmlns:r="http://schemas.openxmlformats.org/officeDocument/2006/relationships" id="269" r:id="R8a7022dae2374866"/>
    <p:sldId xmlns:r="http://schemas.openxmlformats.org/officeDocument/2006/relationships" id="270" r:id="R16726a17addc4256"/>
    <p:sldId xmlns:r="http://schemas.openxmlformats.org/officeDocument/2006/relationships" id="271" r:id="R929074c0dd2f4bda"/>
    <p:sldId xmlns:r="http://schemas.openxmlformats.org/officeDocument/2006/relationships" id="272" r:id="R5f34fcc0731c4d8f"/>
    <p:sldId xmlns:r="http://schemas.openxmlformats.org/officeDocument/2006/relationships" id="273" r:id="Rc3430a5a7a864b4b"/>
    <p:sldId xmlns:r="http://schemas.openxmlformats.org/officeDocument/2006/relationships" id="274" r:id="R509556b86f4342de"/>
    <p:sldId xmlns:r="http://schemas.openxmlformats.org/officeDocument/2006/relationships" id="275" r:id="Rd6afd4f5c2c549c3"/>
    <p:sldId xmlns:r="http://schemas.openxmlformats.org/officeDocument/2006/relationships" id="276" r:id="R8ed753b696b64e4e"/>
    <p:sldId xmlns:r="http://schemas.openxmlformats.org/officeDocument/2006/relationships" id="277" r:id="Ra0244a9532fc480b"/>
    <p:sldId xmlns:r="http://schemas.openxmlformats.org/officeDocument/2006/relationships" id="278" r:id="Re460404ea8694229"/>
    <p:sldId xmlns:r="http://schemas.openxmlformats.org/officeDocument/2006/relationships" id="279" r:id="R95e70c2af8eb4b25"/>
    <p:sldId xmlns:r="http://schemas.openxmlformats.org/officeDocument/2006/relationships" id="280" r:id="R9172f18e3a1a4ba8"/>
    <p:sldId xmlns:r="http://schemas.openxmlformats.org/officeDocument/2006/relationships" id="281" r:id="R6756e15d1788474e"/>
    <p:sldId xmlns:r="http://schemas.openxmlformats.org/officeDocument/2006/relationships" id="282" r:id="R128efe1d5f404afe"/>
    <p:sldId xmlns:r="http://schemas.openxmlformats.org/officeDocument/2006/relationships" id="283" r:id="Re59709258f7b4f23"/>
    <p:sldId xmlns:r="http://schemas.openxmlformats.org/officeDocument/2006/relationships" id="284" r:id="Rdcc4049b8fec438d"/>
    <p:sldId xmlns:r="http://schemas.openxmlformats.org/officeDocument/2006/relationships" id="285" r:id="R73edf1ed74e34d01"/>
    <p:sldId xmlns:r="http://schemas.openxmlformats.org/officeDocument/2006/relationships" id="286" r:id="Rb192657f1fc141b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4831615d8714ff6" /><Relationship Type="http://schemas.openxmlformats.org/officeDocument/2006/relationships/slideMaster" Target="/ppt/slideMasters/slideMaster1.xml" Id="R04124e55bb564014" /><Relationship Type="http://schemas.openxmlformats.org/officeDocument/2006/relationships/notesMaster" Target="/ppt/notesMasters/notesMaster1.xml" Id="R43746ce922014576" /><Relationship Type="http://schemas.openxmlformats.org/officeDocument/2006/relationships/presProps" Target="/ppt/presProps.xml" Id="R2aee9ff7a0e841a5" /><Relationship Type="http://schemas.openxmlformats.org/officeDocument/2006/relationships/tableStyles" Target="/ppt/tableStyles.xml" Id="Rf0cbb293efb44261" /><Relationship Type="http://schemas.openxmlformats.org/officeDocument/2006/relationships/slide" Target="/ppt/slides/slide1.xml" Id="R02f32b48053b4832" /><Relationship Type="http://schemas.openxmlformats.org/officeDocument/2006/relationships/slide" Target="/ppt/slides/slide2.xml" Id="R1a17db8b36fc4c23" /><Relationship Type="http://schemas.openxmlformats.org/officeDocument/2006/relationships/slide" Target="/ppt/slides/slide3.xml" Id="Ra1911cdfef7d4b67" /><Relationship Type="http://schemas.openxmlformats.org/officeDocument/2006/relationships/slide" Target="/ppt/slides/slide4.xml" Id="R18e6e2f3a9cf410b" /><Relationship Type="http://schemas.openxmlformats.org/officeDocument/2006/relationships/slide" Target="/ppt/slides/slide5.xml" Id="R02c6c245f15b4a29" /><Relationship Type="http://schemas.openxmlformats.org/officeDocument/2006/relationships/slide" Target="/ppt/slides/slide6.xml" Id="R87f651e9a81e4391" /><Relationship Type="http://schemas.openxmlformats.org/officeDocument/2006/relationships/slide" Target="/ppt/slides/slide7.xml" Id="Re2370379b79e4992" /><Relationship Type="http://schemas.openxmlformats.org/officeDocument/2006/relationships/slide" Target="/ppt/slides/slide8.xml" Id="R73d5e7bd570d4c32" /><Relationship Type="http://schemas.openxmlformats.org/officeDocument/2006/relationships/slide" Target="/ppt/slides/slide9.xml" Id="R8bdf8a6f05304d71" /><Relationship Type="http://schemas.openxmlformats.org/officeDocument/2006/relationships/slide" Target="/ppt/slides/slide10.xml" Id="Rc9b027bd75b34399" /><Relationship Type="http://schemas.openxmlformats.org/officeDocument/2006/relationships/slide" Target="/ppt/slides/slide11.xml" Id="Rb0e8c14c70e14661" /><Relationship Type="http://schemas.openxmlformats.org/officeDocument/2006/relationships/slide" Target="/ppt/slides/slide12.xml" Id="R0e0b58cb774c4b73" /><Relationship Type="http://schemas.openxmlformats.org/officeDocument/2006/relationships/slide" Target="/ppt/slides/slide13.xml" Id="R18da919196be4734" /><Relationship Type="http://schemas.openxmlformats.org/officeDocument/2006/relationships/slide" Target="/ppt/slides/slide14.xml" Id="R8a7022dae2374866" /><Relationship Type="http://schemas.openxmlformats.org/officeDocument/2006/relationships/slide" Target="/ppt/slides/slide15.xml" Id="R16726a17addc4256" /><Relationship Type="http://schemas.openxmlformats.org/officeDocument/2006/relationships/slide" Target="/ppt/slides/slide16.xml" Id="R929074c0dd2f4bda" /><Relationship Type="http://schemas.openxmlformats.org/officeDocument/2006/relationships/slide" Target="/ppt/slides/slide17.xml" Id="R5f34fcc0731c4d8f" /><Relationship Type="http://schemas.openxmlformats.org/officeDocument/2006/relationships/slide" Target="/ppt/slides/slide18.xml" Id="Rc3430a5a7a864b4b" /><Relationship Type="http://schemas.openxmlformats.org/officeDocument/2006/relationships/slide" Target="/ppt/slides/slide19.xml" Id="R509556b86f4342de" /><Relationship Type="http://schemas.openxmlformats.org/officeDocument/2006/relationships/slide" Target="/ppt/slides/slide20.xml" Id="Rd6afd4f5c2c549c3" /><Relationship Type="http://schemas.openxmlformats.org/officeDocument/2006/relationships/slide" Target="/ppt/slides/slide21.xml" Id="R8ed753b696b64e4e" /><Relationship Type="http://schemas.openxmlformats.org/officeDocument/2006/relationships/slide" Target="/ppt/slides/slide22.xml" Id="Ra0244a9532fc480b" /><Relationship Type="http://schemas.openxmlformats.org/officeDocument/2006/relationships/slide" Target="/ppt/slides/slide23.xml" Id="Re460404ea8694229" /><Relationship Type="http://schemas.openxmlformats.org/officeDocument/2006/relationships/slide" Target="/ppt/slides/slide24.xml" Id="R95e70c2af8eb4b25" /><Relationship Type="http://schemas.openxmlformats.org/officeDocument/2006/relationships/slide" Target="/ppt/slides/slide25.xml" Id="R9172f18e3a1a4ba8" /><Relationship Type="http://schemas.openxmlformats.org/officeDocument/2006/relationships/slide" Target="/ppt/slides/slide26.xml" Id="R6756e15d1788474e" /><Relationship Type="http://schemas.openxmlformats.org/officeDocument/2006/relationships/slide" Target="/ppt/slides/slide27.xml" Id="R128efe1d5f404afe" /><Relationship Type="http://schemas.openxmlformats.org/officeDocument/2006/relationships/slide" Target="/ppt/slides/slide28.xml" Id="Re59709258f7b4f23" /><Relationship Type="http://schemas.openxmlformats.org/officeDocument/2006/relationships/slide" Target="/ppt/slides/slide29.xml" Id="Rdcc4049b8fec438d" /><Relationship Type="http://schemas.openxmlformats.org/officeDocument/2006/relationships/slide" Target="/ppt/slides/slide30.xml" Id="R73edf1ed74e34d01" /><Relationship Type="http://schemas.openxmlformats.org/officeDocument/2006/relationships/slide" Target="/ppt/slides/slide31.xml" Id="Rb192657f1fc141b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e6fcea5f4d8453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09492f5b7534d5f" /><Relationship Type="http://schemas.openxmlformats.org/officeDocument/2006/relationships/notesMaster" Target="/ppt/notesMasters/notesMaster1.xml" Id="Rd9ce6695308241a5" /></Relationships>
</file>

<file path=ppt/notesSlides/_rels/notesSlide2.xml.rels>&#65279;<?xml version="1.0" encoding="utf-8"?><Relationships xmlns="http://schemas.openxmlformats.org/package/2006/relationships"><Relationship Type="http://schemas.openxmlformats.org/officeDocument/2006/relationships/slide" Target="/ppt/slides/slide2.xml" Id="R9a8751c31c89422a" /><Relationship Type="http://schemas.openxmlformats.org/officeDocument/2006/relationships/notesMaster" Target="/ppt/notesMasters/notesMaster1.xml" Id="R73c520f4630946e6" /></Relationships>
</file>

<file path=ppt/notesSlides/_rels/notesSlide3.xml.rels>&#65279;<?xml version="1.0" encoding="utf-8"?><Relationships xmlns="http://schemas.openxmlformats.org/package/2006/relationships"><Relationship Type="http://schemas.openxmlformats.org/officeDocument/2006/relationships/slide" Target="/ppt/slides/slide3.xml" Id="R4c9958c76fc64a52" /><Relationship Type="http://schemas.openxmlformats.org/officeDocument/2006/relationships/notesMaster" Target="/ppt/notesMasters/notesMaster1.xml" Id="R715f45aec61544dc" /></Relationships>
</file>

<file path=ppt/notesSlides/_rels/notesSlide4.xml.rels>&#65279;<?xml version="1.0" encoding="utf-8"?><Relationships xmlns="http://schemas.openxmlformats.org/package/2006/relationships"><Relationship Type="http://schemas.openxmlformats.org/officeDocument/2006/relationships/slide" Target="/ppt/slides/slide4.xml" Id="Ra3d8354030da4ecc" /><Relationship Type="http://schemas.openxmlformats.org/officeDocument/2006/relationships/notesMaster" Target="/ppt/notesMasters/notesMaster1.xml" Id="Rb4ce35c882254602" /></Relationships>
</file>

<file path=ppt/notesSlides/_rels/notesSlide5.xml.rels>&#65279;<?xml version="1.0" encoding="utf-8"?><Relationships xmlns="http://schemas.openxmlformats.org/package/2006/relationships"><Relationship Type="http://schemas.openxmlformats.org/officeDocument/2006/relationships/slide" Target="/ppt/slides/slide5.xml" Id="R10b8779dfba94ba1" /><Relationship Type="http://schemas.openxmlformats.org/officeDocument/2006/relationships/notesMaster" Target="/ppt/notesMasters/notesMaster1.xml" Id="R17938f31c4104a38" /></Relationships>
</file>

<file path=ppt/notesSlides/_rels/notesSlide6.xml.rels>&#65279;<?xml version="1.0" encoding="utf-8"?><Relationships xmlns="http://schemas.openxmlformats.org/package/2006/relationships"><Relationship Type="http://schemas.openxmlformats.org/officeDocument/2006/relationships/slide" Target="/ppt/slides/slide6.xml" Id="Rf8b83a2de77146fd" /><Relationship Type="http://schemas.openxmlformats.org/officeDocument/2006/relationships/notesMaster" Target="/ppt/notesMasters/notesMaster1.xml" Id="Ra93b43d556f544ef" /></Relationships>
</file>

<file path=ppt/notesSlides/_rels/notesSlide7.xml.rels>&#65279;<?xml version="1.0" encoding="utf-8"?><Relationships xmlns="http://schemas.openxmlformats.org/package/2006/relationships"><Relationship Type="http://schemas.openxmlformats.org/officeDocument/2006/relationships/slide" Target="/ppt/slides/slide7.xml" Id="R836151d0aa094324" /><Relationship Type="http://schemas.openxmlformats.org/officeDocument/2006/relationships/notesMaster" Target="/ppt/notesMasters/notesMaster1.xml" Id="R39b3b4519f1e4495" /></Relationships>
</file>

<file path=ppt/notesSlides/_rels/notesSlide8.xml.rels>&#65279;<?xml version="1.0" encoding="utf-8"?><Relationships xmlns="http://schemas.openxmlformats.org/package/2006/relationships"><Relationship Type="http://schemas.openxmlformats.org/officeDocument/2006/relationships/slide" Target="/ppt/slides/slide8.xml" Id="R45e803b901bb4de6" /><Relationship Type="http://schemas.openxmlformats.org/officeDocument/2006/relationships/notesMaster" Target="/ppt/notesMasters/notesMaster1.xml" Id="R215bfb68aa17446a" /></Relationships>
</file>

<file path=ppt/notesSlides/_rels/notesSlide9.xml.rels>&#65279;<?xml version="1.0" encoding="utf-8"?><Relationships xmlns="http://schemas.openxmlformats.org/package/2006/relationships"><Relationship Type="http://schemas.openxmlformats.org/officeDocument/2006/relationships/slide" Target="/ppt/slides/slide9.xml" Id="R8372c558bf534a7e" /><Relationship Type="http://schemas.openxmlformats.org/officeDocument/2006/relationships/notesMaster" Target="/ppt/notesMasters/notesMaster1.xml" Id="R6c2b5a193873409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027b7964e4e4aef" /><Relationship Type="http://schemas.openxmlformats.org/officeDocument/2006/relationships/notesMaster" Target="/ppt/notesMasters/notesMaster1.xml" Id="R56fb81a6a0b6425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817fc8062eb4105" /><Relationship Type="http://schemas.openxmlformats.org/officeDocument/2006/relationships/notesMaster" Target="/ppt/notesMasters/notesMaster1.xml" Id="R99661d9d0ed247b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a40f67d8e7b4bb6" /><Relationship Type="http://schemas.openxmlformats.org/officeDocument/2006/relationships/notesMaster" Target="/ppt/notesMasters/notesMaster1.xml" Id="R69ec2d8c4dd140c8"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f0211d2986fb47cb" /><Relationship Type="http://schemas.openxmlformats.org/officeDocument/2006/relationships/notesMaster" Target="/ppt/notesMasters/notesMaster1.xml" Id="R6b97fea0c19549e7"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a26548d0f69b45af" /><Relationship Type="http://schemas.openxmlformats.org/officeDocument/2006/relationships/notesMaster" Target="/ppt/notesMasters/notesMaster1.xml" Id="R3635f2045f9f4982"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5fcede3b34e9418b" /><Relationship Type="http://schemas.openxmlformats.org/officeDocument/2006/relationships/notesMaster" Target="/ppt/notesMasters/notesMaster1.xml" Id="Ra22dc8d4bb91489f"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1e7289ac28ab457f" /><Relationship Type="http://schemas.openxmlformats.org/officeDocument/2006/relationships/notesMaster" Target="/ppt/notesMasters/notesMaster1.xml" Id="Rb1d71ec088b846b9"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aacc4e9d9e34494a" /><Relationship Type="http://schemas.openxmlformats.org/officeDocument/2006/relationships/notesMaster" Target="/ppt/notesMasters/notesMaster1.xml" Id="Rc01b799f03a94d2f"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018739bdec374d7e" /><Relationship Type="http://schemas.openxmlformats.org/officeDocument/2006/relationships/notesMaster" Target="/ppt/notesMasters/notesMaster1.xml" Id="R801011c45af9479a"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1a453bda029342ca" /><Relationship Type="http://schemas.openxmlformats.org/officeDocument/2006/relationships/notesMaster" Target="/ppt/notesMasters/notesMaster1.xml" Id="R6ab61ad20a5044d3"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b42f2c78f2c54c38" /><Relationship Type="http://schemas.openxmlformats.org/officeDocument/2006/relationships/notesMaster" Target="/ppt/notesMasters/notesMaster1.xml" Id="Rabee7d69c0294c0e"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2c72104633df4fd1" /><Relationship Type="http://schemas.openxmlformats.org/officeDocument/2006/relationships/notesMaster" Target="/ppt/notesMasters/notesMaster1.xml" Id="R6265c3286675415a"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d8a51bc9520643fe" /><Relationship Type="http://schemas.openxmlformats.org/officeDocument/2006/relationships/notesMaster" Target="/ppt/notesMasters/notesMaster1.xml" Id="Rcdf55d41db6146ab"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26c0206071cf45b6" /><Relationship Type="http://schemas.openxmlformats.org/officeDocument/2006/relationships/notesMaster" Target="/ppt/notesMasters/notesMaster1.xml" Id="R462ace43d4604982"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299fc224b74d436c" /><Relationship Type="http://schemas.openxmlformats.org/officeDocument/2006/relationships/notesMaster" Target="/ppt/notesMasters/notesMaster1.xml" Id="Rd86a0c8150ce4e87"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171ce2bce6db4cce" /><Relationship Type="http://schemas.openxmlformats.org/officeDocument/2006/relationships/notesMaster" Target="/ppt/notesMasters/notesMaster1.xml" Id="R9ff523d5dc634c18"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289e7d42602a4a43" /><Relationship Type="http://schemas.openxmlformats.org/officeDocument/2006/relationships/notesMaster" Target="/ppt/notesMasters/notesMaster1.xml" Id="R55431ce1d50d45e2"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d8d8feaa91ba40f3" /><Relationship Type="http://schemas.openxmlformats.org/officeDocument/2006/relationships/notesMaster" Target="/ppt/notesMasters/notesMaster1.xml" Id="R9e16918f331c4036"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1921713c46aa419e" /><Relationship Type="http://schemas.openxmlformats.org/officeDocument/2006/relationships/notesMaster" Target="/ppt/notesMasters/notesMaster1.xml" Id="Rbffde1ade45f4672"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8378915236eb4db3" /><Relationship Type="http://schemas.openxmlformats.org/officeDocument/2006/relationships/notesMaster" Target="/ppt/notesMasters/notesMaster1.xml" Id="R7b84d964784e4376"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d76e7c19a0134c21" /><Relationship Type="http://schemas.openxmlformats.org/officeDocument/2006/relationships/notesMaster" Target="/ppt/notesMasters/notesMaster1.xml" Id="Rdce61543cb6d44aa"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e6e3f1583fa64c92" /><Relationship Type="http://schemas.openxmlformats.org/officeDocument/2006/relationships/notesMaster" Target="/ppt/notesMasters/notesMaster1.xml" Id="R5b7457742e2d47a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https://docarcshot.github.io/id-practice-update/lectures/Fever_in_the_Hospitalized_Patient_Short_Module.html</a:t>
            </a:r>
          </a:p>
          <a:p xmlns:a="http://schemas.openxmlformats.org/drawingml/2006/main">
            <a:r>
              <a:t>https://www.idsociety.org/practice-guideline/new-fever-in-critically-ill-patients/</a:t>
            </a:r>
          </a:p>
          <a:p xmlns:a="http://schemas.openxmlformats.org/drawingml/2006/main">
            <a:r>
              <a:t>https://www.sccm.org/survivingsepsiscampaign/guidelines-and-resources/surviving-sepsis-campaign-adult-guidelines</a:t>
            </a:r>
          </a:p>
          <a:p xmlns:a="http://schemas.openxmlformats.org/drawingml/2006/main">
            <a:r>
              <a:t>https://www.idsociety.org/practice-guideline/neutropenic-patients-with-cancer/</a:t>
            </a:r>
          </a:p>
          <a:p xmlns:a="http://schemas.openxmlformats.org/drawingml/2006/main">
            <a:r>
              <a:t>https://www.idsociety.org/practice-guideline/intra-abdominal-infections/</a:t>
            </a:r>
          </a:p>
          <a:p xmlns:a="http://schemas.openxmlformats.org/drawingml/2006/main">
            <a:r>
              <a:t>https://www.idsociety.org/practice-guideline/clostridium-difficile/</a:t>
            </a:r>
          </a:p>
          <a:p xmlns:a="http://schemas.openxmlformats.org/drawingml/2006/main">
            <a:r>
              <a:t>https://doi.org/10.1016/j.jaci.2022.08.028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Assess the patient before expanding the antibiotic regimen A 67-year-old develops a temperature of 38.6 C on hospital day 6 while receiving antibiotics for an abdominal infection. Blood pressure and oxygen requirements are unchanged. A drain and urinary catheter remain in place. Discuss before reading on. Which findings would require immediate treatment? What would you review before changing antibiotics? Confirm the temperature and measurement method. Assess blood pressure, oxygenation, mental status, perfusion, and urine output. Reconstruct the timeline of symptoms, procedures, devices, medications, and prior cultures. This module addresses new or persistent inpatient fever, not the full evaluation of prolonged FUO. [1]</a:t>
            </a:r>
          </a:p>
          <a:p xmlns:a="http://schemas.openxmlformats.org/drawingml/2006/main">
            <a:r>
              <a:t/>
            </a:r>
          </a:p>
          <a:p xmlns:a="http://schemas.openxmlformats.org/drawingml/2006/main">
            <a:r>
              <a:t>Module section: https://docarcshot.github.io/id-practice-update/lectures/Fever_in_the_Hospitalized_Patient_Short_Module.html#core-1</a:t>
            </a:r>
          </a:p>
          <a:p xmlns:a="http://schemas.openxmlformats.org/drawingml/2006/main">
            <a:r>
              <a:t/>
            </a:r>
          </a:p>
          <a:p xmlns:a="http://schemas.openxmlformats.org/drawingml/2006/main">
            <a:r>
              <a:t>Public sources and related reading:</a:t>
            </a:r>
          </a:p>
          <a:p xmlns:a="http://schemas.openxmlformats.org/drawingml/2006/main">
            <a:r>
              <a:t>https://www.idsociety.org/practice-guideline/new-fever-in-critically-ill-patients/</a:t>
            </a:r>
          </a:p>
          <a:p xmlns:a="http://schemas.openxmlformats.org/drawingml/2006/main">
            <a:r>
              <a:t>https://www.sccm.org/survivingsepsiscampaign/guidelines-and-resources/surviving-sepsis-campaign-adult-guidelines</a:t>
            </a:r>
          </a:p>
          <a:p xmlns:a="http://schemas.openxmlformats.org/drawingml/2006/main">
            <a:r>
              <a:t>https://www.idsociety.org/practice-guideline/neutropenic-patients-with-cancer/</a:t>
            </a:r>
          </a:p>
          <a:p xmlns:a="http://schemas.openxmlformats.org/drawingml/2006/main">
            <a:r>
              <a:t>https://www.idsociety.org/practice-guideline/intra-abdominal-infections/</a:t>
            </a:r>
          </a:p>
          <a:p xmlns:a="http://schemas.openxmlformats.org/drawingml/2006/main">
            <a:r>
              <a:t>https://www.idsociety.org/practice-guideline/clostridium-difficile/</a:t>
            </a:r>
          </a:p>
          <a:p xmlns:a="http://schemas.openxmlformats.org/drawingml/2006/main">
            <a:r>
              <a:t>https://doi.org/10.1016/j.jaci.2022.08.028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Assess the patient before expanding the antibiotic regimen A 67-year-old develops a temperature of 38.6 C on hospital day 6 while receiving antibiotics for an abdominal infection. Blood pressure and oxygen requirements are unchanged. A drain and urinary catheter remain in place. Discuss before reading on. Which findings would require immediate treatment? What would you review before changing antibiotics? Confirm the temperature and measurement method. Assess blood pressure, oxygenation, mental status, perfusion, and urine output. Reconstruct the timeline of symptoms, procedures, devices, medications, and prior cultures. This module addresses new or persistent inpatient fever, not the full evaluation of prolonged FUO. [1]</a:t>
            </a:r>
          </a:p>
          <a:p xmlns:a="http://schemas.openxmlformats.org/drawingml/2006/main">
            <a:r>
              <a:t/>
            </a:r>
          </a:p>
          <a:p xmlns:a="http://schemas.openxmlformats.org/drawingml/2006/main">
            <a:r>
              <a:t>Module section: https://docarcshot.github.io/id-practice-update/lectures/Fever_in_the_Hospitalized_Patient_Short_Module.html#core-1</a:t>
            </a:r>
          </a:p>
          <a:p xmlns:a="http://schemas.openxmlformats.org/drawingml/2006/main">
            <a:r>
              <a:t/>
            </a:r>
          </a:p>
          <a:p xmlns:a="http://schemas.openxmlformats.org/drawingml/2006/main">
            <a:r>
              <a:t>Public sources and related reading:</a:t>
            </a:r>
          </a:p>
          <a:p xmlns:a="http://schemas.openxmlformats.org/drawingml/2006/main">
            <a:r>
              <a:t>https://www.idsociety.org/practice-guideline/new-fever-in-critically-ill-patients/</a:t>
            </a:r>
          </a:p>
          <a:p xmlns:a="http://schemas.openxmlformats.org/drawingml/2006/main">
            <a:r>
              <a:t>https://www.sccm.org/survivingsepsiscampaign/guidelines-and-resources/surviving-sepsis-campaign-adult-guidelines</a:t>
            </a:r>
          </a:p>
          <a:p xmlns:a="http://schemas.openxmlformats.org/drawingml/2006/main">
            <a:r>
              <a:t>https://www.idsociety.org/practice-guideline/neutropenic-patients-with-cancer/</a:t>
            </a:r>
          </a:p>
          <a:p xmlns:a="http://schemas.openxmlformats.org/drawingml/2006/main">
            <a:r>
              <a:t>https://www.idsociety.org/practice-guideline/intra-abdominal-infections/</a:t>
            </a:r>
          </a:p>
          <a:p xmlns:a="http://schemas.openxmlformats.org/drawingml/2006/main">
            <a:r>
              <a:t>https://www.idsociety.org/practice-guideline/clostridium-difficile/</a:t>
            </a:r>
          </a:p>
          <a:p xmlns:a="http://schemas.openxmlformats.org/drawingml/2006/main">
            <a:r>
              <a:t>https://doi.org/10.1016/j.jaci.2022.08.028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The urgency depends on sepsis probability and organ dysfunction Antibiotic timing follows the 2026 Surviving Sepsis Campaign guidance. Clinical assessment Next action Possible septic shock or probable/definite sepsis Begin appropriate antimicrobials immediately, ideally within 1 hour of recognition, while resuscitating and evaluating the source. Possible sepsis without shock Conduct a rapid, time-limited evaluation. If concern for infection persists, administer antimicrobials within 3 hours of first suspecting sepsis. Low likelihood of infection and no shock Close observation with reassessment can be appropriate. A temperature elevation alone does not require broader antibiotics. Collect indicated cultures before antibiotics if this will not materially delay treatment. Do not wait for a procalcitonin result to treat probable sepsis. [2] Neutropenic fever requires its own urgent empiric treatment pathway. Profound immunosuppression, suspected meningitis, and other time-sensitive syndromes need immediate senior assessment; routine ward observation rules do not apply. [3]</a:t>
            </a:r>
          </a:p>
          <a:p xmlns:a="http://schemas.openxmlformats.org/drawingml/2006/main">
            <a:r>
              <a:t/>
            </a:r>
          </a:p>
          <a:p xmlns:a="http://schemas.openxmlformats.org/drawingml/2006/main">
            <a:r>
              <a:t>Module section: https://docarcshot.github.io/id-practice-update/lectures/Fever_in_the_Hospitalized_Patient_Short_Module.html#core-2</a:t>
            </a:r>
          </a:p>
          <a:p xmlns:a="http://schemas.openxmlformats.org/drawingml/2006/main">
            <a:r>
              <a:t/>
            </a:r>
          </a:p>
          <a:p xmlns:a="http://schemas.openxmlformats.org/drawingml/2006/main">
            <a:r>
              <a:t>Public sources and related reading:</a:t>
            </a:r>
          </a:p>
          <a:p xmlns:a="http://schemas.openxmlformats.org/drawingml/2006/main">
            <a:r>
              <a:t>https://www.idsociety.org/practice-guideline/new-fever-in-critically-ill-patients/</a:t>
            </a:r>
          </a:p>
          <a:p xmlns:a="http://schemas.openxmlformats.org/drawingml/2006/main">
            <a:r>
              <a:t>https://www.sccm.org/survivingsepsiscampaign/guidelines-and-resources/surviving-sepsis-campaign-adult-guidelines</a:t>
            </a:r>
          </a:p>
          <a:p xmlns:a="http://schemas.openxmlformats.org/drawingml/2006/main">
            <a:r>
              <a:t>https://www.idsociety.org/practice-guideline/neutropenic-patients-with-cancer/</a:t>
            </a:r>
          </a:p>
          <a:p xmlns:a="http://schemas.openxmlformats.org/drawingml/2006/main">
            <a:r>
              <a:t>https://www.idsociety.org/practice-guideline/intra-abdominal-infections/</a:t>
            </a:r>
          </a:p>
          <a:p xmlns:a="http://schemas.openxmlformats.org/drawingml/2006/main">
            <a:r>
              <a:t>https://www.idsociety.org/practice-guideline/clostridium-difficile/</a:t>
            </a:r>
          </a:p>
          <a:p xmlns:a="http://schemas.openxmlformats.org/drawingml/2006/main">
            <a:r>
              <a:t>https://doi.org/10.1016/j.jaci.2022.08.028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The urgency depends on sepsis probability and organ dysfunction Antibiotic timing follows the 2026 Surviving Sepsis Campaign guidance. Clinical assessment Next action Possible septic shock or probable/definite sepsis Begin appropriate antimicrobials immediately, ideally within 1 hour of recognition, while resuscitating and evaluating the source. Possible sepsis without shock Conduct a rapid, time-limited evaluation. If concern for infection persists, administer antimicrobials within 3 hours of first suspecting sepsis. Low likelihood of infection and no shock Close observation with reassessment can be appropriate. A temperature elevation alone does not require broader antibiotics. Collect indicated cultures before antibiotics if this will not materially delay treatment. Do not wait for a procalcitonin result to treat probable sepsis. [2] Neutropenic fever requires its own urgent empiric treatment pathway. Profound immunosuppression, suspected meningitis, and other time-sensitive syndromes need immediate senior assessment; routine ward observation rules do not apply. [3]</a:t>
            </a:r>
          </a:p>
          <a:p xmlns:a="http://schemas.openxmlformats.org/drawingml/2006/main">
            <a:r>
              <a:t/>
            </a:r>
          </a:p>
          <a:p xmlns:a="http://schemas.openxmlformats.org/drawingml/2006/main">
            <a:r>
              <a:t>Module section: https://docarcshot.github.io/id-practice-update/lectures/Fever_in_the_Hospitalized_Patient_Short_Module.html#core-2</a:t>
            </a:r>
          </a:p>
          <a:p xmlns:a="http://schemas.openxmlformats.org/drawingml/2006/main">
            <a:r>
              <a:t/>
            </a:r>
          </a:p>
          <a:p xmlns:a="http://schemas.openxmlformats.org/drawingml/2006/main">
            <a:r>
              <a:t>Public sources and related reading:</a:t>
            </a:r>
          </a:p>
          <a:p xmlns:a="http://schemas.openxmlformats.org/drawingml/2006/main">
            <a:r>
              <a:t>https://www.idsociety.org/practice-guideline/new-fever-in-critically-ill-patients/</a:t>
            </a:r>
          </a:p>
          <a:p xmlns:a="http://schemas.openxmlformats.org/drawingml/2006/main">
            <a:r>
              <a:t>https://www.sccm.org/survivingsepsiscampaign/guidelines-and-resources/surviving-sepsis-campaign-adult-guidelines</a:t>
            </a:r>
          </a:p>
          <a:p xmlns:a="http://schemas.openxmlformats.org/drawingml/2006/main">
            <a:r>
              <a:t>https://www.idsociety.org/practice-guideline/neutropenic-patients-with-cancer/</a:t>
            </a:r>
          </a:p>
          <a:p xmlns:a="http://schemas.openxmlformats.org/drawingml/2006/main">
            <a:r>
              <a:t>https://www.idsociety.org/practice-guideline/intra-abdominal-infections/</a:t>
            </a:r>
          </a:p>
          <a:p xmlns:a="http://schemas.openxmlformats.org/drawingml/2006/main">
            <a:r>
              <a:t>https://www.idsociety.org/practice-guideline/clostridium-difficile/</a:t>
            </a:r>
          </a:p>
          <a:p xmlns:a="http://schemas.openxmlformats.org/drawingml/2006/main">
            <a:r>
              <a:t>https://doi.org/10.1016/j.jaci.2022.08.028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The urgency depends on sepsis probability and organ dysfunction Antibiotic timing follows the 2026 Surviving Sepsis Campaign guidance. Clinical assessment Next action Possible septic shock or probable/definite sepsis Begin appropriate antimicrobials immediately, ideally within 1 hour of recognition, while resuscitating and evaluating the source. Possible sepsis without shock Conduct a rapid, time-limited evaluation. If concern for infection persists, administer antimicrobials within 3 hours of first suspecting sepsis. Low likelihood of infection and no shock Close observation with reassessment can be appropriate. A temperature elevation alone does not require broader antibiotics. Collect indicated cultures before antibiotics if this will not materially delay treatment. Do not wait for a procalcitonin result to treat probable sepsis. [2] Neutropenic fever requires its own urgent empiric treatment pathway. Profound immunosuppression, suspected meningitis, and other time-sensitive syndromes need immediate senior assessment; routine ward observation rules do not apply. [3]</a:t>
            </a:r>
          </a:p>
          <a:p xmlns:a="http://schemas.openxmlformats.org/drawingml/2006/main">
            <a:r>
              <a:t/>
            </a:r>
          </a:p>
          <a:p xmlns:a="http://schemas.openxmlformats.org/drawingml/2006/main">
            <a:r>
              <a:t>Module section: https://docarcshot.github.io/id-practice-update/lectures/Fever_in_the_Hospitalized_Patient_Short_Module.html#core-2</a:t>
            </a:r>
          </a:p>
          <a:p xmlns:a="http://schemas.openxmlformats.org/drawingml/2006/main">
            <a:r>
              <a:t/>
            </a:r>
          </a:p>
          <a:p xmlns:a="http://schemas.openxmlformats.org/drawingml/2006/main">
            <a:r>
              <a:t>Public sources and related reading:</a:t>
            </a:r>
          </a:p>
          <a:p xmlns:a="http://schemas.openxmlformats.org/drawingml/2006/main">
            <a:r>
              <a:t>https://www.idsociety.org/practice-guideline/new-fever-in-critically-ill-patients/</a:t>
            </a:r>
          </a:p>
          <a:p xmlns:a="http://schemas.openxmlformats.org/drawingml/2006/main">
            <a:r>
              <a:t>https://www.sccm.org/survivingsepsiscampaign/guidelines-and-resources/surviving-sepsis-campaign-adult-guidelines</a:t>
            </a:r>
          </a:p>
          <a:p xmlns:a="http://schemas.openxmlformats.org/drawingml/2006/main">
            <a:r>
              <a:t>https://www.idsociety.org/practice-guideline/neutropenic-patients-with-cancer/</a:t>
            </a:r>
          </a:p>
          <a:p xmlns:a="http://schemas.openxmlformats.org/drawingml/2006/main">
            <a:r>
              <a:t>https://www.idsociety.org/practice-guideline/intra-abdominal-infections/</a:t>
            </a:r>
          </a:p>
          <a:p xmlns:a="http://schemas.openxmlformats.org/drawingml/2006/main">
            <a:r>
              <a:t>https://www.idsociety.org/practice-guideline/clostridium-difficile/</a:t>
            </a:r>
          </a:p>
          <a:p xmlns:a="http://schemas.openxmlformats.org/drawingml/2006/main">
            <a:r>
              <a:t>https://doi.org/10.1016/j.jaci.2022.08.028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The urgency depends on sepsis probability and organ dysfunction Antibiotic timing follows the 2026 Surviving Sepsis Campaign guidance. Clinical assessment Next action Possible septic shock or probable/definite sepsis Begin appropriate antimicrobials immediately, ideally within 1 hour of recognition, while resuscitating and evaluating the source. Possible sepsis without shock Conduct a rapid, time-limited evaluation. If concern for infection persists, administer antimicrobials within 3 hours of first suspecting sepsis. Low likelihood of infection and no shock Close observation with reassessment can be appropriate. A temperature elevation alone does not require broader antibiotics. Collect indicated cultures before antibiotics if this will not materially delay treatment. Do not wait for a procalcitonin result to treat probable sepsis. [2] Neutropenic fever requires its own urgent empiric treatment pathway. Profound immunosuppression, suspected meningitis, and other time-sensitive syndromes need immediate senior assessment; routine ward observation rules do not apply. [3]</a:t>
            </a:r>
          </a:p>
          <a:p xmlns:a="http://schemas.openxmlformats.org/drawingml/2006/main">
            <a:r>
              <a:t/>
            </a:r>
          </a:p>
          <a:p xmlns:a="http://schemas.openxmlformats.org/drawingml/2006/main">
            <a:r>
              <a:t>Module section: https://docarcshot.github.io/id-practice-update/lectures/Fever_in_the_Hospitalized_Patient_Short_Module.html#core-2</a:t>
            </a:r>
          </a:p>
          <a:p xmlns:a="http://schemas.openxmlformats.org/drawingml/2006/main">
            <a:r>
              <a:t/>
            </a:r>
          </a:p>
          <a:p xmlns:a="http://schemas.openxmlformats.org/drawingml/2006/main">
            <a:r>
              <a:t>Public sources and related reading:</a:t>
            </a:r>
          </a:p>
          <a:p xmlns:a="http://schemas.openxmlformats.org/drawingml/2006/main">
            <a:r>
              <a:t>https://www.idsociety.org/practice-guideline/new-fever-in-critically-ill-patients/</a:t>
            </a:r>
          </a:p>
          <a:p xmlns:a="http://schemas.openxmlformats.org/drawingml/2006/main">
            <a:r>
              <a:t>https://www.sccm.org/survivingsepsiscampaign/guidelines-and-resources/surviving-sepsis-campaign-adult-guidelines</a:t>
            </a:r>
          </a:p>
          <a:p xmlns:a="http://schemas.openxmlformats.org/drawingml/2006/main">
            <a:r>
              <a:t>https://www.idsociety.org/practice-guideline/neutropenic-patients-with-cancer/</a:t>
            </a:r>
          </a:p>
          <a:p xmlns:a="http://schemas.openxmlformats.org/drawingml/2006/main">
            <a:r>
              <a:t>https://www.idsociety.org/practice-guideline/intra-abdominal-infections/</a:t>
            </a:r>
          </a:p>
          <a:p xmlns:a="http://schemas.openxmlformats.org/drawingml/2006/main">
            <a:r>
              <a:t>https://www.idsociety.org/practice-guideline/clostridium-difficile/</a:t>
            </a:r>
          </a:p>
          <a:p xmlns:a="http://schemas.openxmlformats.org/drawingml/2006/main">
            <a:r>
              <a:t>https://doi.org/10.1016/j.jaci.2022.08.028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Use the history and examination to choose tests Avoid a standing order to culture every body site with each temperature spike. Finding or concern Focused evaluation Bacteremia or a central-line source is plausible Obtain blood cultures; use paired peripheral and line samples when evaluating a catheter source. Document collection sites. New cough, hypoxemia, or respiratory findings Chest imaging; respiratory testing guided by the syndrome and exposures. ICU guidance recommends a chest radiograph for new fever. Urinary findings or unexplained sepsis Evaluate for UTI in context. A catheter or pyuria alone does not establish a urinary source. New unexplained diarrhea Consider C. difficile testing when there are at least 3 unformed stools in 24 hours and no better explanation, such as laxatives. Abdominal pain, ileus, abnormal drainage, or recent surgery Examine the abdomen and wound, review source control, and discuss targeted imaging with the procedural team. [1] [5] For suspected intra-abdominal abscess in a nonpregnant adult, CT is the preferred initial modality in the 2024 IDSA update. Contrast use depends on the clinical question and patient factors. [4] Testing formed stool or repeating a C. difficile test to document cure is not appropriate. [5]</a:t>
            </a:r>
          </a:p>
          <a:p xmlns:a="http://schemas.openxmlformats.org/drawingml/2006/main">
            <a:r>
              <a:t/>
            </a:r>
          </a:p>
          <a:p xmlns:a="http://schemas.openxmlformats.org/drawingml/2006/main">
            <a:r>
              <a:t>Module section: https://docarcshot.github.io/id-practice-update/lectures/Fever_in_the_Hospitalized_Patient_Short_Module.html#core-3</a:t>
            </a:r>
          </a:p>
          <a:p xmlns:a="http://schemas.openxmlformats.org/drawingml/2006/main">
            <a:r>
              <a:t/>
            </a:r>
          </a:p>
          <a:p xmlns:a="http://schemas.openxmlformats.org/drawingml/2006/main">
            <a:r>
              <a:t>Public sources and related reading:</a:t>
            </a:r>
          </a:p>
          <a:p xmlns:a="http://schemas.openxmlformats.org/drawingml/2006/main">
            <a:r>
              <a:t>https://www.idsociety.org/practice-guideline/new-fever-in-critically-ill-patients/</a:t>
            </a:r>
          </a:p>
          <a:p xmlns:a="http://schemas.openxmlformats.org/drawingml/2006/main">
            <a:r>
              <a:t>https://www.sccm.org/survivingsepsiscampaign/guidelines-and-resources/surviving-sepsis-campaign-adult-guidelines</a:t>
            </a:r>
          </a:p>
          <a:p xmlns:a="http://schemas.openxmlformats.org/drawingml/2006/main">
            <a:r>
              <a:t>https://www.idsociety.org/practice-guideline/neutropenic-patients-with-cancer/</a:t>
            </a:r>
          </a:p>
          <a:p xmlns:a="http://schemas.openxmlformats.org/drawingml/2006/main">
            <a:r>
              <a:t>https://www.idsociety.org/practice-guideline/intra-abdominal-infections/</a:t>
            </a:r>
          </a:p>
          <a:p xmlns:a="http://schemas.openxmlformats.org/drawingml/2006/main">
            <a:r>
              <a:t>https://www.idsociety.org/practice-guideline/clostridium-difficile/</a:t>
            </a:r>
          </a:p>
          <a:p xmlns:a="http://schemas.openxmlformats.org/drawingml/2006/main">
            <a:r>
              <a:t>https://doi.org/10.1016/j.jaci.2022.08.028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Use the history and examination to choose tests Avoid a standing order to culture every body site with each temperature spike. Finding or concern Focused evaluation Bacteremia or a central-line source is plausible Obtain blood cultures; use paired peripheral and line samples when evaluating a catheter source. Document collection sites. New cough, hypoxemia, or respiratory findings Chest imaging; respiratory testing guided by the syndrome and exposures. ICU guidance recommends a chest radiograph for new fever. Urinary findings or unexplained sepsis Evaluate for UTI in context. A catheter or pyuria alone does not establish a urinary source. New unexplained diarrhea Consider C. difficile testing when there are at least 3 unformed stools in 24 hours and no better explanation, such as laxatives. Abdominal pain, ileus, abnormal drainage, or recent surgery Examine the abdomen and wound, review source control, and discuss targeted imaging with the procedural team. [1] [5] For suspected intra-abdominal abscess in a nonpregnant adult, CT is the preferred initial modality in the 2024 IDSA update. Contrast use depends on the clinical question and patient factors. [4] Testing formed stool or repeating a C. difficile test to document cure is not appropriate. [5]</a:t>
            </a:r>
          </a:p>
          <a:p xmlns:a="http://schemas.openxmlformats.org/drawingml/2006/main">
            <a:r>
              <a:t/>
            </a:r>
          </a:p>
          <a:p xmlns:a="http://schemas.openxmlformats.org/drawingml/2006/main">
            <a:r>
              <a:t>Module section: https://docarcshot.github.io/id-practice-update/lectures/Fever_in_the_Hospitalized_Patient_Short_Module.html#core-3</a:t>
            </a:r>
          </a:p>
          <a:p xmlns:a="http://schemas.openxmlformats.org/drawingml/2006/main">
            <a:r>
              <a:t/>
            </a:r>
          </a:p>
          <a:p xmlns:a="http://schemas.openxmlformats.org/drawingml/2006/main">
            <a:r>
              <a:t>Public sources and related reading:</a:t>
            </a:r>
          </a:p>
          <a:p xmlns:a="http://schemas.openxmlformats.org/drawingml/2006/main">
            <a:r>
              <a:t>https://www.idsociety.org/practice-guideline/new-fever-in-critically-ill-patients/</a:t>
            </a:r>
          </a:p>
          <a:p xmlns:a="http://schemas.openxmlformats.org/drawingml/2006/main">
            <a:r>
              <a:t>https://www.sccm.org/survivingsepsiscampaign/guidelines-and-resources/surviving-sepsis-campaign-adult-guidelines</a:t>
            </a:r>
          </a:p>
          <a:p xmlns:a="http://schemas.openxmlformats.org/drawingml/2006/main">
            <a:r>
              <a:t>https://www.idsociety.org/practice-guideline/neutropenic-patients-with-cancer/</a:t>
            </a:r>
          </a:p>
          <a:p xmlns:a="http://schemas.openxmlformats.org/drawingml/2006/main">
            <a:r>
              <a:t>https://www.idsociety.org/practice-guideline/intra-abdominal-infections/</a:t>
            </a:r>
          </a:p>
          <a:p xmlns:a="http://schemas.openxmlformats.org/drawingml/2006/main">
            <a:r>
              <a:t>https://www.idsociety.org/practice-guideline/clostridium-difficile/</a:t>
            </a:r>
          </a:p>
          <a:p xmlns:a="http://schemas.openxmlformats.org/drawingml/2006/main">
            <a:r>
              <a:t>https://doi.org/10.1016/j.jaci.2022.08.028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Use the history and examination to choose tests Avoid a standing order to culture every body site with each temperature spike. Finding or concern Focused evaluation Bacteremia or a central-line source is plausible Obtain blood cultures; use paired peripheral and line samples when evaluating a catheter source. Document collection sites. New cough, hypoxemia, or respiratory findings Chest imaging; respiratory testing guided by the syndrome and exposures. ICU guidance recommends a chest radiograph for new fever. Urinary findings or unexplained sepsis Evaluate for UTI in context. A catheter or pyuria alone does not establish a urinary source. New unexplained diarrhea Consider C. difficile testing when there are at least 3 unformed stools in 24 hours and no better explanation, such as laxatives. Abdominal pain, ileus, abnormal drainage, or recent surgery Examine the abdomen and wound, review source control, and discuss targeted imaging with the procedural team. [1] [5] For suspected intra-abdominal abscess in a nonpregnant adult, CT is the preferred initial modality in the 2024 IDSA update. Contrast use depends on the clinical question and patient factors. [4] Testing formed stool or repeating a C. difficile test to document cure is not appropriate. [5]</a:t>
            </a:r>
          </a:p>
          <a:p xmlns:a="http://schemas.openxmlformats.org/drawingml/2006/main">
            <a:r>
              <a:t/>
            </a:r>
          </a:p>
          <a:p xmlns:a="http://schemas.openxmlformats.org/drawingml/2006/main">
            <a:r>
              <a:t>Module section: https://docarcshot.github.io/id-practice-update/lectures/Fever_in_the_Hospitalized_Patient_Short_Module.html#core-3</a:t>
            </a:r>
          </a:p>
          <a:p xmlns:a="http://schemas.openxmlformats.org/drawingml/2006/main">
            <a:r>
              <a:t/>
            </a:r>
          </a:p>
          <a:p xmlns:a="http://schemas.openxmlformats.org/drawingml/2006/main">
            <a:r>
              <a:t>Public sources and related reading:</a:t>
            </a:r>
          </a:p>
          <a:p xmlns:a="http://schemas.openxmlformats.org/drawingml/2006/main">
            <a:r>
              <a:t>https://www.idsociety.org/practice-guideline/new-fever-in-critically-ill-patients/</a:t>
            </a:r>
          </a:p>
          <a:p xmlns:a="http://schemas.openxmlformats.org/drawingml/2006/main">
            <a:r>
              <a:t>https://www.sccm.org/survivingsepsiscampaign/guidelines-and-resources/surviving-sepsis-campaign-adult-guidelines</a:t>
            </a:r>
          </a:p>
          <a:p xmlns:a="http://schemas.openxmlformats.org/drawingml/2006/main">
            <a:r>
              <a:t>https://www.idsociety.org/practice-guideline/neutropenic-patients-with-cancer/</a:t>
            </a:r>
          </a:p>
          <a:p xmlns:a="http://schemas.openxmlformats.org/drawingml/2006/main">
            <a:r>
              <a:t>https://www.idsociety.org/practice-guideline/intra-abdominal-infections/</a:t>
            </a:r>
          </a:p>
          <a:p xmlns:a="http://schemas.openxmlformats.org/drawingml/2006/main">
            <a:r>
              <a:t>https://www.idsociety.org/practice-guideline/clostridium-difficile/</a:t>
            </a:r>
          </a:p>
          <a:p xmlns:a="http://schemas.openxmlformats.org/drawingml/2006/main">
            <a:r>
              <a:t>https://doi.org/10.1016/j.jaci.2022.08.028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Use the history and examination to choose tests Avoid a standing order to culture every body site with each temperature spike. Finding or concern Focused evaluation Bacteremia or a central-line source is plausible Obtain blood cultures; use paired peripheral and line samples when evaluating a catheter source. Document collection sites. New cough, hypoxemia, or respiratory findings Chest imaging; respiratory testing guided by the syndrome and exposures. ICU guidance recommends a chest radiograph for new fever. Urinary findings or unexplained sepsis Evaluate for UTI in context. A catheter or pyuria alone does not establish a urinary source. New unexplained diarrhea Consider C. difficile testing when there are at least 3 unformed stools in 24 hours and no better explanation, such as laxatives. Abdominal pain, ileus, abnormal drainage, or recent surgery Examine the abdomen and wound, review source control, and discuss targeted imaging with the procedural team. [1] [5] For suspected intra-abdominal abscess in a nonpregnant adult, CT is the preferred initial modality in the 2024 IDSA update. Contrast use depends on the clinical question and patient factors. [4] Testing formed stool or repeating a C. difficile test to document cure is not appropriate. [5]</a:t>
            </a:r>
          </a:p>
          <a:p xmlns:a="http://schemas.openxmlformats.org/drawingml/2006/main">
            <a:r>
              <a:t/>
            </a:r>
          </a:p>
          <a:p xmlns:a="http://schemas.openxmlformats.org/drawingml/2006/main">
            <a:r>
              <a:t>Module section: https://docarcshot.github.io/id-practice-update/lectures/Fever_in_the_Hospitalized_Patient_Short_Module.html#core-3</a:t>
            </a:r>
          </a:p>
          <a:p xmlns:a="http://schemas.openxmlformats.org/drawingml/2006/main">
            <a:r>
              <a:t/>
            </a:r>
          </a:p>
          <a:p xmlns:a="http://schemas.openxmlformats.org/drawingml/2006/main">
            <a:r>
              <a:t>Public sources and related reading:</a:t>
            </a:r>
          </a:p>
          <a:p xmlns:a="http://schemas.openxmlformats.org/drawingml/2006/main">
            <a:r>
              <a:t>https://www.idsociety.org/practice-guideline/new-fever-in-critically-ill-patients/</a:t>
            </a:r>
          </a:p>
          <a:p xmlns:a="http://schemas.openxmlformats.org/drawingml/2006/main">
            <a:r>
              <a:t>https://www.sccm.org/survivingsepsiscampaign/guidelines-and-resources/surviving-sepsis-campaign-adult-guidelines</a:t>
            </a:r>
          </a:p>
          <a:p xmlns:a="http://schemas.openxmlformats.org/drawingml/2006/main">
            <a:r>
              <a:t>https://www.idsociety.org/practice-guideline/neutropenic-patients-with-cancer/</a:t>
            </a:r>
          </a:p>
          <a:p xmlns:a="http://schemas.openxmlformats.org/drawingml/2006/main">
            <a:r>
              <a:t>https://www.idsociety.org/practice-guideline/intra-abdominal-infections/</a:t>
            </a:r>
          </a:p>
          <a:p xmlns:a="http://schemas.openxmlformats.org/drawingml/2006/main">
            <a:r>
              <a:t>https://www.idsociety.org/practice-guideline/clostridium-difficile/</a:t>
            </a:r>
          </a:p>
          <a:p xmlns:a="http://schemas.openxmlformats.org/drawingml/2006/main">
            <a:r>
              <a:t>https://doi.org/10.1016/j.jaci.2022.08.028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Use the history and examination to choose tests Avoid a standing order to culture every body site with each temperature spike. Finding or concern Focused evaluation Bacteremia or a central-line source is plausible Obtain blood cultures; use paired peripheral and line samples when evaluating a catheter source. Document collection sites. New cough, hypoxemia, or respiratory findings Chest imaging; respiratory testing guided by the syndrome and exposures. ICU guidance recommends a chest radiograph for new fever. Urinary findings or unexplained sepsis Evaluate for UTI in context. A catheter or pyuria alone does not establish a urinary source. New unexplained diarrhea Consider C. difficile testing when there are at least 3 unformed stools in 24 hours and no better explanation, such as laxatives. Abdominal pain, ileus, abnormal drainage, or recent surgery Examine the abdomen and wound, review source control, and discuss targeted imaging with the procedural team. [1] [5] For suspected intra-abdominal abscess in a nonpregnant adult, CT is the preferred initial modality in the 2024 IDSA update. Contrast use depends on the clinical question and patient factors. [4] Testing formed stool or repeating a C. difficile test to document cure is not appropriate. [5]</a:t>
            </a:r>
          </a:p>
          <a:p xmlns:a="http://schemas.openxmlformats.org/drawingml/2006/main">
            <a:r>
              <a:t/>
            </a:r>
          </a:p>
          <a:p xmlns:a="http://schemas.openxmlformats.org/drawingml/2006/main">
            <a:r>
              <a:t>Module section: https://docarcshot.github.io/id-practice-update/lectures/Fever_in_the_Hospitalized_Patient_Short_Module.html#core-3</a:t>
            </a:r>
          </a:p>
          <a:p xmlns:a="http://schemas.openxmlformats.org/drawingml/2006/main">
            <a:r>
              <a:t/>
            </a:r>
          </a:p>
          <a:p xmlns:a="http://schemas.openxmlformats.org/drawingml/2006/main">
            <a:r>
              <a:t>Public sources and related reading:</a:t>
            </a:r>
          </a:p>
          <a:p xmlns:a="http://schemas.openxmlformats.org/drawingml/2006/main">
            <a:r>
              <a:t>https://www.idsociety.org/practice-guideline/new-fever-in-critically-ill-patients/</a:t>
            </a:r>
          </a:p>
          <a:p xmlns:a="http://schemas.openxmlformats.org/drawingml/2006/main">
            <a:r>
              <a:t>https://www.sccm.org/survivingsepsiscampaign/guidelines-and-resources/surviving-sepsis-campaign-adult-guidelines</a:t>
            </a:r>
          </a:p>
          <a:p xmlns:a="http://schemas.openxmlformats.org/drawingml/2006/main">
            <a:r>
              <a:t>https://www.idsociety.org/practice-guideline/neutropenic-patients-with-cancer/</a:t>
            </a:r>
          </a:p>
          <a:p xmlns:a="http://schemas.openxmlformats.org/drawingml/2006/main">
            <a:r>
              <a:t>https://www.idsociety.org/practice-guideline/intra-abdominal-infections/</a:t>
            </a:r>
          </a:p>
          <a:p xmlns:a="http://schemas.openxmlformats.org/drawingml/2006/main">
            <a:r>
              <a:t>https://www.idsociety.org/practice-guideline/clostridium-difficile/</a:t>
            </a:r>
          </a:p>
          <a:p xmlns:a="http://schemas.openxmlformats.org/drawingml/2006/main">
            <a:r>
              <a:t>https://doi.org/10.1016/j.jaci.2022.08.028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Use the history and examination to choose tests Avoid a standing order to culture every body site with each temperature spike. Finding or concern Focused evaluation Bacteremia or a central-line source is plausible Obtain blood cultures; use paired peripheral and line samples when evaluating a catheter source. Document collection sites. New cough, hypoxemia, or respiratory findings Chest imaging; respiratory testing guided by the syndrome and exposures. ICU guidance recommends a chest radiograph for new fever. Urinary findings or unexplained sepsis Evaluate for UTI in context. A catheter or pyuria alone does not establish a urinary source. New unexplained diarrhea Consider C. difficile testing when there are at least 3 unformed stools in 24 hours and no better explanation, such as laxatives. Abdominal pain, ileus, abnormal drainage, or recent surgery Examine the abdomen and wound, review source control, and discuss targeted imaging with the procedural team. [1] [5] For suspected intra-abdominal abscess in a nonpregnant adult, CT is the preferred initial modality in the 2024 IDSA update. Contrast use depends on the clinical question and patient factors. [4] Testing formed stool or repeating a C. difficile test to document cure is not appropriate. [5]</a:t>
            </a:r>
          </a:p>
          <a:p xmlns:a="http://schemas.openxmlformats.org/drawingml/2006/main">
            <a:r>
              <a:t/>
            </a:r>
          </a:p>
          <a:p xmlns:a="http://schemas.openxmlformats.org/drawingml/2006/main">
            <a:r>
              <a:t>Module section: https://docarcshot.github.io/id-practice-update/lectures/Fever_in_the_Hospitalized_Patient_Short_Module.html#core-3</a:t>
            </a:r>
          </a:p>
          <a:p xmlns:a="http://schemas.openxmlformats.org/drawingml/2006/main">
            <a:r>
              <a:t/>
            </a:r>
          </a:p>
          <a:p xmlns:a="http://schemas.openxmlformats.org/drawingml/2006/main">
            <a:r>
              <a:t>Public sources and related reading:</a:t>
            </a:r>
          </a:p>
          <a:p xmlns:a="http://schemas.openxmlformats.org/drawingml/2006/main">
            <a:r>
              <a:t>https://www.idsociety.org/practice-guideline/new-fever-in-critically-ill-patients/</a:t>
            </a:r>
          </a:p>
          <a:p xmlns:a="http://schemas.openxmlformats.org/drawingml/2006/main">
            <a:r>
              <a:t>https://www.sccm.org/survivingsepsiscampaign/guidelines-and-resources/surviving-sepsis-campaign-adult-guidelines</a:t>
            </a:r>
          </a:p>
          <a:p xmlns:a="http://schemas.openxmlformats.org/drawingml/2006/main">
            <a:r>
              <a:t>https://www.idsociety.org/practice-guideline/neutropenic-patients-with-cancer/</a:t>
            </a:r>
          </a:p>
          <a:p xmlns:a="http://schemas.openxmlformats.org/drawingml/2006/main">
            <a:r>
              <a:t>https://www.idsociety.org/practice-guideline/intra-abdominal-infections/</a:t>
            </a:r>
          </a:p>
          <a:p xmlns:a="http://schemas.openxmlformats.org/drawingml/2006/main">
            <a:r>
              <a:t>https://www.idsociety.org/practice-guideline/clostridium-difficile/</a:t>
            </a:r>
          </a:p>
          <a:p xmlns:a="http://schemas.openxmlformats.org/drawingml/2006/main">
            <a:r>
              <a:t>https://doi.org/10.1016/j.jaci.2022.08.028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Persistent fever can reflect a new source or a noninfectious process A differential should lead to a specific reassessment, not an indiscriminate panel. Possibility Question to ask at the bedside Uncontrolled or newly acquired infection Is a collection undrained, a device infected, or a new syndrome developing? Medication reaction Did fever begin after a new drug? Is there rash, eosinophilia, or organ injury? Their absence does not exclude drug fever. Thrombosis or pulmonary embolism Are there compatible symptoms or signs that justify directed testing? Postoperative inflammation or tissue injury Does the course fit the procedure, and is the patient improving? Do not use postoperative timing alone to exclude infection. Transfusion reaction or other inflammatory disease Does the timing or a new examination finding point away from infection? [1] [6] Review the entire medication administration record, including new non-antibiotics. Drug fever is an exclusion diagnosis; rash with organ injury needs evaluation for a serious drug reaction. [1] [6]</a:t>
            </a:r>
          </a:p>
          <a:p xmlns:a="http://schemas.openxmlformats.org/drawingml/2006/main">
            <a:r>
              <a:t/>
            </a:r>
          </a:p>
          <a:p xmlns:a="http://schemas.openxmlformats.org/drawingml/2006/main">
            <a:r>
              <a:t>Module section: https://docarcshot.github.io/id-practice-update/lectures/Fever_in_the_Hospitalized_Patient_Short_Module.html#core-4</a:t>
            </a:r>
          </a:p>
          <a:p xmlns:a="http://schemas.openxmlformats.org/drawingml/2006/main">
            <a:r>
              <a:t/>
            </a:r>
          </a:p>
          <a:p xmlns:a="http://schemas.openxmlformats.org/drawingml/2006/main">
            <a:r>
              <a:t>Public sources and related reading:</a:t>
            </a:r>
          </a:p>
          <a:p xmlns:a="http://schemas.openxmlformats.org/drawingml/2006/main">
            <a:r>
              <a:t>https://www.idsociety.org/practice-guideline/new-fever-in-critically-ill-patients/</a:t>
            </a:r>
          </a:p>
          <a:p xmlns:a="http://schemas.openxmlformats.org/drawingml/2006/main">
            <a:r>
              <a:t>https://www.sccm.org/survivingsepsiscampaign/guidelines-and-resources/surviving-sepsis-campaign-adult-guidelines</a:t>
            </a:r>
          </a:p>
          <a:p xmlns:a="http://schemas.openxmlformats.org/drawingml/2006/main">
            <a:r>
              <a:t>https://www.idsociety.org/practice-guideline/neutropenic-patients-with-cancer/</a:t>
            </a:r>
          </a:p>
          <a:p xmlns:a="http://schemas.openxmlformats.org/drawingml/2006/main">
            <a:r>
              <a:t>https://www.idsociety.org/practice-guideline/intra-abdominal-infections/</a:t>
            </a:r>
          </a:p>
          <a:p xmlns:a="http://schemas.openxmlformats.org/drawingml/2006/main">
            <a:r>
              <a:t>https://www.idsociety.org/practice-guideline/clostridium-difficile/</a:t>
            </a:r>
          </a:p>
          <a:p xmlns:a="http://schemas.openxmlformats.org/drawingml/2006/main">
            <a:r>
              <a:t>https://doi.org/10.1016/j.jaci.2022.08.028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Persistent fever can reflect a new source or a noninfectious process A differential should lead to a specific reassessment, not an indiscriminate panel. Possibility Question to ask at the bedside Uncontrolled or newly acquired infection Is a collection undrained, a device infected, or a new syndrome developing? Medication reaction Did fever begin after a new drug? Is there rash, eosinophilia, or organ injury? Their absence does not exclude drug fever. Thrombosis or pulmonary embolism Are there compatible symptoms or signs that justify directed testing? Postoperative inflammation or tissue injury Does the course fit the procedure, and is the patient improving? Do not use postoperative timing alone to exclude infection. Transfusion reaction or other inflammatory disease Does the timing or a new examination finding point away from infection? [1] [6] Review the entire medication administration record, including new non-antibiotics. Drug fever is an exclusion diagnosis; rash with organ injury needs evaluation for a serious drug reaction. [1] [6]</a:t>
            </a:r>
          </a:p>
          <a:p xmlns:a="http://schemas.openxmlformats.org/drawingml/2006/main">
            <a:r>
              <a:t/>
            </a:r>
          </a:p>
          <a:p xmlns:a="http://schemas.openxmlformats.org/drawingml/2006/main">
            <a:r>
              <a:t>Module section: https://docarcshot.github.io/id-practice-update/lectures/Fever_in_the_Hospitalized_Patient_Short_Module.html#core-4</a:t>
            </a:r>
          </a:p>
          <a:p xmlns:a="http://schemas.openxmlformats.org/drawingml/2006/main">
            <a:r>
              <a:t/>
            </a:r>
          </a:p>
          <a:p xmlns:a="http://schemas.openxmlformats.org/drawingml/2006/main">
            <a:r>
              <a:t>Public sources and related reading:</a:t>
            </a:r>
          </a:p>
          <a:p xmlns:a="http://schemas.openxmlformats.org/drawingml/2006/main">
            <a:r>
              <a:t>https://www.idsociety.org/practice-guideline/new-fever-in-critically-ill-patients/</a:t>
            </a:r>
          </a:p>
          <a:p xmlns:a="http://schemas.openxmlformats.org/drawingml/2006/main">
            <a:r>
              <a:t>https://www.sccm.org/survivingsepsiscampaign/guidelines-and-resources/surviving-sepsis-campaign-adult-guidelines</a:t>
            </a:r>
          </a:p>
          <a:p xmlns:a="http://schemas.openxmlformats.org/drawingml/2006/main">
            <a:r>
              <a:t>https://www.idsociety.org/practice-guideline/neutropenic-patients-with-cancer/</a:t>
            </a:r>
          </a:p>
          <a:p xmlns:a="http://schemas.openxmlformats.org/drawingml/2006/main">
            <a:r>
              <a:t>https://www.idsociety.org/practice-guideline/intra-abdominal-infections/</a:t>
            </a:r>
          </a:p>
          <a:p xmlns:a="http://schemas.openxmlformats.org/drawingml/2006/main">
            <a:r>
              <a:t>https://www.idsociety.org/practice-guideline/clostridium-difficile/</a:t>
            </a:r>
          </a:p>
          <a:p xmlns:a="http://schemas.openxmlformats.org/drawingml/2006/main">
            <a:r>
              <a:t>https://doi.org/10.1016/j.jaci.2022.08.028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Persistent fever can reflect a new source or a noninfectious process A differential should lead to a specific reassessment, not an indiscriminate panel. Possibility Question to ask at the bedside Uncontrolled or newly acquired infection Is a collection undrained, a device infected, or a new syndrome developing? Medication reaction Did fever begin after a new drug? Is there rash, eosinophilia, or organ injury? Their absence does not exclude drug fever. Thrombosis or pulmonary embolism Are there compatible symptoms or signs that justify directed testing? Postoperative inflammation or tissue injury Does the course fit the procedure, and is the patient improving? Do not use postoperative timing alone to exclude infection. Transfusion reaction or other inflammatory disease Does the timing or a new examination finding point away from infection? [1] [6] Review the entire medication administration record, including new non-antibiotics. Drug fever is an exclusion diagnosis; rash with organ injury needs evaluation for a serious drug reaction. [1] [6]</a:t>
            </a:r>
          </a:p>
          <a:p xmlns:a="http://schemas.openxmlformats.org/drawingml/2006/main">
            <a:r>
              <a:t/>
            </a:r>
          </a:p>
          <a:p xmlns:a="http://schemas.openxmlformats.org/drawingml/2006/main">
            <a:r>
              <a:t>Module section: https://docarcshot.github.io/id-practice-update/lectures/Fever_in_the_Hospitalized_Patient_Short_Module.html#core-4</a:t>
            </a:r>
          </a:p>
          <a:p xmlns:a="http://schemas.openxmlformats.org/drawingml/2006/main">
            <a:r>
              <a:t/>
            </a:r>
          </a:p>
          <a:p xmlns:a="http://schemas.openxmlformats.org/drawingml/2006/main">
            <a:r>
              <a:t>Public sources and related reading:</a:t>
            </a:r>
          </a:p>
          <a:p xmlns:a="http://schemas.openxmlformats.org/drawingml/2006/main">
            <a:r>
              <a:t>https://www.idsociety.org/practice-guideline/new-fever-in-critically-ill-patients/</a:t>
            </a:r>
          </a:p>
          <a:p xmlns:a="http://schemas.openxmlformats.org/drawingml/2006/main">
            <a:r>
              <a:t>https://www.sccm.org/survivingsepsiscampaign/guidelines-and-resources/surviving-sepsis-campaign-adult-guidelines</a:t>
            </a:r>
          </a:p>
          <a:p xmlns:a="http://schemas.openxmlformats.org/drawingml/2006/main">
            <a:r>
              <a:t>https://www.idsociety.org/practice-guideline/neutropenic-patients-with-cancer/</a:t>
            </a:r>
          </a:p>
          <a:p xmlns:a="http://schemas.openxmlformats.org/drawingml/2006/main">
            <a:r>
              <a:t>https://www.idsociety.org/practice-guideline/intra-abdominal-infections/</a:t>
            </a:r>
          </a:p>
          <a:p xmlns:a="http://schemas.openxmlformats.org/drawingml/2006/main">
            <a:r>
              <a:t>https://www.idsociety.org/practice-guideline/clostridium-difficile/</a:t>
            </a:r>
          </a:p>
          <a:p xmlns:a="http://schemas.openxmlformats.org/drawingml/2006/main">
            <a:r>
              <a:t>https://doi.org/10.1016/j.jaci.2022.08.028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Persistent fever can reflect a new source or a noninfectious process A differential should lead to a specific reassessment, not an indiscriminate panel. Possibility Question to ask at the bedside Uncontrolled or newly acquired infection Is a collection undrained, a device infected, or a new syndrome developing? Medication reaction Did fever begin after a new drug? Is there rash, eosinophilia, or organ injury? Their absence does not exclude drug fever. Thrombosis or pulmonary embolism Are there compatible symptoms or signs that justify directed testing? Postoperative inflammation or tissue injury Does the course fit the procedure, and is the patient improving? Do not use postoperative timing alone to exclude infection. Transfusion reaction or other inflammatory disease Does the timing or a new examination finding point away from infection? [1] [6] Review the entire medication administration record, including new non-antibiotics. Drug fever is an exclusion diagnosis; rash with organ injury needs evaluation for a serious drug reaction. [1] [6]</a:t>
            </a:r>
          </a:p>
          <a:p xmlns:a="http://schemas.openxmlformats.org/drawingml/2006/main">
            <a:r>
              <a:t/>
            </a:r>
          </a:p>
          <a:p xmlns:a="http://schemas.openxmlformats.org/drawingml/2006/main">
            <a:r>
              <a:t>Module section: https://docarcshot.github.io/id-practice-update/lectures/Fever_in_the_Hospitalized_Patient_Short_Module.html#core-4</a:t>
            </a:r>
          </a:p>
          <a:p xmlns:a="http://schemas.openxmlformats.org/drawingml/2006/main">
            <a:r>
              <a:t/>
            </a:r>
          </a:p>
          <a:p xmlns:a="http://schemas.openxmlformats.org/drawingml/2006/main">
            <a:r>
              <a:t>Public sources and related reading:</a:t>
            </a:r>
          </a:p>
          <a:p xmlns:a="http://schemas.openxmlformats.org/drawingml/2006/main">
            <a:r>
              <a:t>https://www.idsociety.org/practice-guideline/new-fever-in-critically-ill-patients/</a:t>
            </a:r>
          </a:p>
          <a:p xmlns:a="http://schemas.openxmlformats.org/drawingml/2006/main">
            <a:r>
              <a:t>https://www.sccm.org/survivingsepsiscampaign/guidelines-and-resources/surviving-sepsis-campaign-adult-guidelines</a:t>
            </a:r>
          </a:p>
          <a:p xmlns:a="http://schemas.openxmlformats.org/drawingml/2006/main">
            <a:r>
              <a:t>https://www.idsociety.org/practice-guideline/neutropenic-patients-with-cancer/</a:t>
            </a:r>
          </a:p>
          <a:p xmlns:a="http://schemas.openxmlformats.org/drawingml/2006/main">
            <a:r>
              <a:t>https://www.idsociety.org/practice-guideline/intra-abdominal-infections/</a:t>
            </a:r>
          </a:p>
          <a:p xmlns:a="http://schemas.openxmlformats.org/drawingml/2006/main">
            <a:r>
              <a:t>https://www.idsociety.org/practice-guideline/clostridium-difficile/</a:t>
            </a:r>
          </a:p>
          <a:p xmlns:a="http://schemas.openxmlformats.org/drawingml/2006/main">
            <a:r>
              <a:t>https://doi.org/10.1016/j.jaci.2022.08.028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Persistent fever can reflect a new source or a noninfectious process A differential should lead to a specific reassessment, not an indiscriminate panel. Possibility Question to ask at the bedside Uncontrolled or newly acquired infection Is a collection undrained, a device infected, or a new syndrome developing? Medication reaction Did fever begin after a new drug? Is there rash, eosinophilia, or organ injury? Their absence does not exclude drug fever. Thrombosis or pulmonary embolism Are there compatible symptoms or signs that justify directed testing? Postoperative inflammation or tissue injury Does the course fit the procedure, and is the patient improving? Do not use postoperative timing alone to exclude infection. Transfusion reaction or other inflammatory disease Does the timing or a new examination finding point away from infection? [1] [6] Review the entire medication administration record, including new non-antibiotics. Drug fever is an exclusion diagnosis; rash with organ injury needs evaluation for a serious drug reaction. [1] [6]</a:t>
            </a:r>
          </a:p>
          <a:p xmlns:a="http://schemas.openxmlformats.org/drawingml/2006/main">
            <a:r>
              <a:t/>
            </a:r>
          </a:p>
          <a:p xmlns:a="http://schemas.openxmlformats.org/drawingml/2006/main">
            <a:r>
              <a:t>Module section: https://docarcshot.github.io/id-practice-update/lectures/Fever_in_the_Hospitalized_Patient_Short_Module.html#core-4</a:t>
            </a:r>
          </a:p>
          <a:p xmlns:a="http://schemas.openxmlformats.org/drawingml/2006/main">
            <a:r>
              <a:t/>
            </a:r>
          </a:p>
          <a:p xmlns:a="http://schemas.openxmlformats.org/drawingml/2006/main">
            <a:r>
              <a:t>Public sources and related reading:</a:t>
            </a:r>
          </a:p>
          <a:p xmlns:a="http://schemas.openxmlformats.org/drawingml/2006/main">
            <a:r>
              <a:t>https://www.idsociety.org/practice-guideline/new-fever-in-critically-ill-patients/</a:t>
            </a:r>
          </a:p>
          <a:p xmlns:a="http://schemas.openxmlformats.org/drawingml/2006/main">
            <a:r>
              <a:t>https://www.sccm.org/survivingsepsiscampaign/guidelines-and-resources/surviving-sepsis-campaign-adult-guidelines</a:t>
            </a:r>
          </a:p>
          <a:p xmlns:a="http://schemas.openxmlformats.org/drawingml/2006/main">
            <a:r>
              <a:t>https://www.idsociety.org/practice-guideline/neutropenic-patients-with-cancer/</a:t>
            </a:r>
          </a:p>
          <a:p xmlns:a="http://schemas.openxmlformats.org/drawingml/2006/main">
            <a:r>
              <a:t>https://www.idsociety.org/practice-guideline/intra-abdominal-infections/</a:t>
            </a:r>
          </a:p>
          <a:p xmlns:a="http://schemas.openxmlformats.org/drawingml/2006/main">
            <a:r>
              <a:t>https://www.idsociety.org/practice-guideline/clostridium-difficile/</a:t>
            </a:r>
          </a:p>
          <a:p xmlns:a="http://schemas.openxmlformats.org/drawingml/2006/main">
            <a:r>
              <a:t>https://doi.org/10.1016/j.jaci.2022.08.028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Persistent fever can reflect a new source or a noninfectious process A differential should lead to a specific reassessment, not an indiscriminate panel. Possibility Question to ask at the bedside Uncontrolled or newly acquired infection Is a collection undrained, a device infected, or a new syndrome developing? Medication reaction Did fever begin after a new drug? Is there rash, eosinophilia, or organ injury? Their absence does not exclude drug fever. Thrombosis or pulmonary embolism Are there compatible symptoms or signs that justify directed testing? Postoperative inflammation or tissue injury Does the course fit the procedure, and is the patient improving? Do not use postoperative timing alone to exclude infection. Transfusion reaction or other inflammatory disease Does the timing or a new examination finding point away from infection? [1] [6] Review the entire medication administration record, including new non-antibiotics. Drug fever is an exclusion diagnosis; rash with organ injury needs evaluation for a serious drug reaction. [1] [6]</a:t>
            </a:r>
          </a:p>
          <a:p xmlns:a="http://schemas.openxmlformats.org/drawingml/2006/main">
            <a:r>
              <a:t/>
            </a:r>
          </a:p>
          <a:p xmlns:a="http://schemas.openxmlformats.org/drawingml/2006/main">
            <a:r>
              <a:t>Module section: https://docarcshot.github.io/id-practice-update/lectures/Fever_in_the_Hospitalized_Patient_Short_Module.html#core-4</a:t>
            </a:r>
          </a:p>
          <a:p xmlns:a="http://schemas.openxmlformats.org/drawingml/2006/main">
            <a:r>
              <a:t/>
            </a:r>
          </a:p>
          <a:p xmlns:a="http://schemas.openxmlformats.org/drawingml/2006/main">
            <a:r>
              <a:t>Public sources and related reading:</a:t>
            </a:r>
          </a:p>
          <a:p xmlns:a="http://schemas.openxmlformats.org/drawingml/2006/main">
            <a:r>
              <a:t>https://www.idsociety.org/practice-guideline/new-fever-in-critically-ill-patients/</a:t>
            </a:r>
          </a:p>
          <a:p xmlns:a="http://schemas.openxmlformats.org/drawingml/2006/main">
            <a:r>
              <a:t>https://www.sccm.org/survivingsepsiscampaign/guidelines-and-resources/surviving-sepsis-campaign-adult-guidelines</a:t>
            </a:r>
          </a:p>
          <a:p xmlns:a="http://schemas.openxmlformats.org/drawingml/2006/main">
            <a:r>
              <a:t>https://www.idsociety.org/practice-guideline/neutropenic-patients-with-cancer/</a:t>
            </a:r>
          </a:p>
          <a:p xmlns:a="http://schemas.openxmlformats.org/drawingml/2006/main">
            <a:r>
              <a:t>https://www.idsociety.org/practice-guideline/intra-abdominal-infections/</a:t>
            </a:r>
          </a:p>
          <a:p xmlns:a="http://schemas.openxmlformats.org/drawingml/2006/main">
            <a:r>
              <a:t>https://www.idsociety.org/practice-guideline/clostridium-difficile/</a:t>
            </a:r>
          </a:p>
          <a:p xmlns:a="http://schemas.openxmlformats.org/drawingml/2006/main">
            <a:r>
              <a:t>https://doi.org/10.1016/j.jaci.2022.08.028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Reassessment should produce a specific plan For the opening case, review the original diagnosis, cultures, antibiotic activity and dosing, drain output, and most recent imaging. If an abdominal source remains plausible, reassess drainage with surgery or interventional radiology. A broader drug does not replace drainage of an infected collection. [2] [4] If the patient deteriorates or a new syndrome emerges, treat accordingly. If improving and no new evidence supports infection, avoid broadening solely for persistent fever; reassess whether current antibiotics remain indicated. [2] Example handoff. "New fever without current hemodynamic or respiratory deterioration. Reviewing the abdominal source and drain with the procedural team. Reassess immediately for hypotension, increased oxygen need, or altered mentation."</a:t>
            </a:r>
          </a:p>
          <a:p xmlns:a="http://schemas.openxmlformats.org/drawingml/2006/main">
            <a:r>
              <a:t/>
            </a:r>
          </a:p>
          <a:p xmlns:a="http://schemas.openxmlformats.org/drawingml/2006/main">
            <a:r>
              <a:t>Module section: https://docarcshot.github.io/id-practice-update/lectures/Fever_in_the_Hospitalized_Patient_Short_Module.html#core-5</a:t>
            </a:r>
          </a:p>
          <a:p xmlns:a="http://schemas.openxmlformats.org/drawingml/2006/main">
            <a:r>
              <a:t/>
            </a:r>
          </a:p>
          <a:p xmlns:a="http://schemas.openxmlformats.org/drawingml/2006/main">
            <a:r>
              <a:t>Public sources and related reading:</a:t>
            </a:r>
          </a:p>
          <a:p xmlns:a="http://schemas.openxmlformats.org/drawingml/2006/main">
            <a:r>
              <a:t>https://www.idsociety.org/practice-guideline/new-fever-in-critically-ill-patients/</a:t>
            </a:r>
          </a:p>
          <a:p xmlns:a="http://schemas.openxmlformats.org/drawingml/2006/main">
            <a:r>
              <a:t>https://www.sccm.org/survivingsepsiscampaign/guidelines-and-resources/surviving-sepsis-campaign-adult-guidelines</a:t>
            </a:r>
          </a:p>
          <a:p xmlns:a="http://schemas.openxmlformats.org/drawingml/2006/main">
            <a:r>
              <a:t>https://www.idsociety.org/practice-guideline/neutropenic-patients-with-cancer/</a:t>
            </a:r>
          </a:p>
          <a:p xmlns:a="http://schemas.openxmlformats.org/drawingml/2006/main">
            <a:r>
              <a:t>https://www.idsociety.org/practice-guideline/intra-abdominal-infections/</a:t>
            </a:r>
          </a:p>
          <a:p xmlns:a="http://schemas.openxmlformats.org/drawingml/2006/main">
            <a:r>
              <a:t>https://www.idsociety.org/practice-guideline/clostridium-difficile/</a:t>
            </a:r>
          </a:p>
          <a:p xmlns:a="http://schemas.openxmlformats.org/drawingml/2006/main">
            <a:r>
              <a:t>https://doi.org/10.1016/j.jaci.2022.08.028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Reassessment should produce a specific plan For the opening case, review the original diagnosis, cultures, antibiotic activity and dosing, drain output, and most recent imaging. If an abdominal source remains plausible, reassess drainage with surgery or interventional radiology. A broader drug does not replace drainage of an infected collection. [2] [4] If the patient deteriorates or a new syndrome emerges, treat accordingly. If improving and no new evidence supports infection, avoid broadening solely for persistent fever; reassess whether current antibiotics remain indicated. [2] Example handoff. "New fever without current hemodynamic or respiratory deterioration. Reviewing the abdominal source and drain with the procedural team. Reassess immediately for hypotension, increased oxygen need, or altered mentation."</a:t>
            </a:r>
          </a:p>
          <a:p xmlns:a="http://schemas.openxmlformats.org/drawingml/2006/main">
            <a:r>
              <a:t/>
            </a:r>
          </a:p>
          <a:p xmlns:a="http://schemas.openxmlformats.org/drawingml/2006/main">
            <a:r>
              <a:t>Module section: https://docarcshot.github.io/id-practice-update/lectures/Fever_in_the_Hospitalized_Patient_Short_Module.html#core-5</a:t>
            </a:r>
          </a:p>
          <a:p xmlns:a="http://schemas.openxmlformats.org/drawingml/2006/main">
            <a:r>
              <a:t/>
            </a:r>
          </a:p>
          <a:p xmlns:a="http://schemas.openxmlformats.org/drawingml/2006/main">
            <a:r>
              <a:t>Public sources and related reading:</a:t>
            </a:r>
          </a:p>
          <a:p xmlns:a="http://schemas.openxmlformats.org/drawingml/2006/main">
            <a:r>
              <a:t>https://www.idsociety.org/practice-guideline/new-fever-in-critically-ill-patients/</a:t>
            </a:r>
          </a:p>
          <a:p xmlns:a="http://schemas.openxmlformats.org/drawingml/2006/main">
            <a:r>
              <a:t>https://www.sccm.org/survivingsepsiscampaign/guidelines-and-resources/surviving-sepsis-campaign-adult-guidelines</a:t>
            </a:r>
          </a:p>
          <a:p xmlns:a="http://schemas.openxmlformats.org/drawingml/2006/main">
            <a:r>
              <a:t>https://www.idsociety.org/practice-guideline/neutropenic-patients-with-cancer/</a:t>
            </a:r>
          </a:p>
          <a:p xmlns:a="http://schemas.openxmlformats.org/drawingml/2006/main">
            <a:r>
              <a:t>https://www.idsociety.org/practice-guideline/intra-abdominal-infections/</a:t>
            </a:r>
          </a:p>
          <a:p xmlns:a="http://schemas.openxmlformats.org/drawingml/2006/main">
            <a:r>
              <a:t>https://www.idsociety.org/practice-guideline/clostridium-difficile/</a:t>
            </a:r>
          </a:p>
          <a:p xmlns:a="http://schemas.openxmlformats.org/drawingml/2006/main">
            <a:r>
              <a:t>https://doi.org/10.1016/j.jaci.2022.08.028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Apply this on the next consult Assess stability and immune status, identify the likely source, and choose tests that can change management. State what you will do now and which clinical changes will trigger escalation.</a:t>
            </a:r>
          </a:p>
          <a:p xmlns:a="http://schemas.openxmlformats.org/drawingml/2006/main">
            <a:r>
              <a:t/>
            </a:r>
          </a:p>
          <a:p xmlns:a="http://schemas.openxmlformats.org/drawingml/2006/main">
            <a:r>
              <a:t>Module section: https://docarcshot.github.io/id-practice-update/lectures/Fever_in_the_Hospitalized_Patient_Short_Module.html#take-home</a:t>
            </a:r>
          </a:p>
          <a:p xmlns:a="http://schemas.openxmlformats.org/drawingml/2006/main">
            <a:r>
              <a:t/>
            </a:r>
          </a:p>
          <a:p xmlns:a="http://schemas.openxmlformats.org/drawingml/2006/main">
            <a:r>
              <a:t>Public sources and related reading:</a:t>
            </a:r>
          </a:p>
          <a:p xmlns:a="http://schemas.openxmlformats.org/drawingml/2006/main">
            <a:r>
              <a:t>https://www.idsociety.org/practice-guideline/new-fever-in-critically-ill-patients/</a:t>
            </a:r>
          </a:p>
          <a:p xmlns:a="http://schemas.openxmlformats.org/drawingml/2006/main">
            <a:r>
              <a:t>https://www.sccm.org/survivingsepsiscampaign/guidelines-and-resources/surviving-sepsis-campaign-adult-guidelines</a:t>
            </a:r>
          </a:p>
          <a:p xmlns:a="http://schemas.openxmlformats.org/drawingml/2006/main">
            <a:r>
              <a:t>https://www.idsociety.org/practice-guideline/neutropenic-patients-with-cancer/</a:t>
            </a:r>
          </a:p>
          <a:p xmlns:a="http://schemas.openxmlformats.org/drawingml/2006/main">
            <a:r>
              <a:t>https://www.idsociety.org/practice-guideline/intra-abdominal-infections/</a:t>
            </a:r>
          </a:p>
          <a:p xmlns:a="http://schemas.openxmlformats.org/drawingml/2006/main">
            <a:r>
              <a:t>https://www.idsociety.org/practice-guideline/clostridium-difficile/</a:t>
            </a:r>
          </a:p>
          <a:p xmlns:a="http://schemas.openxmlformats.org/drawingml/2006/main">
            <a:r>
              <a:t>https://doi.org/10.1016/j.jaci.2022.08.028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Know which recommendations come from ICU evidence The 2023 SCCM/IDSA guideline concerns new fever in adult ICU patients without severe immunocompromise. Many recommendations are conditional or best-practice statements. The ward approach here is a clinical adaptation; routine ICU testing should not become a universal ward order set. [1] When fever remains unexplained, repeat the history and examination before pursuing advanced imaging or broad serologies. The guideline conditionally suggests FDG-PET/CT in selected critically ill patients after unrevealing investigations when transport is acceptable. This is not a first-line test for an isolated ward fever. [1] Discussion variation. The temperature is unchanged, but the patient now has hypotension and confusion. Explain how the urgency changes even before the source is known. [2]</a:t>
            </a:r>
          </a:p>
          <a:p xmlns:a="http://schemas.openxmlformats.org/drawingml/2006/main">
            <a:r>
              <a:t/>
            </a:r>
          </a:p>
          <a:p xmlns:a="http://schemas.openxmlformats.org/drawingml/2006/main">
            <a:r>
              <a:t>Module section: https://docarcshot.github.io/id-practice-update/lectures/Fever_in_the_Hospitalized_Patient_Short_Module.html#fellow</a:t>
            </a:r>
          </a:p>
          <a:p xmlns:a="http://schemas.openxmlformats.org/drawingml/2006/main">
            <a:r>
              <a:t/>
            </a:r>
          </a:p>
          <a:p xmlns:a="http://schemas.openxmlformats.org/drawingml/2006/main">
            <a:r>
              <a:t>Public sources and related reading:</a:t>
            </a:r>
          </a:p>
          <a:p xmlns:a="http://schemas.openxmlformats.org/drawingml/2006/main">
            <a:r>
              <a:t>https://www.idsociety.org/practice-guideline/new-fever-in-critically-ill-patients/</a:t>
            </a:r>
          </a:p>
          <a:p xmlns:a="http://schemas.openxmlformats.org/drawingml/2006/main">
            <a:r>
              <a:t>https://www.sccm.org/survivingsepsiscampaign/guidelines-and-resources/surviving-sepsis-campaign-adult-guidelines</a:t>
            </a:r>
          </a:p>
          <a:p xmlns:a="http://schemas.openxmlformats.org/drawingml/2006/main">
            <a:r>
              <a:t>https://www.idsociety.org/practice-guideline/neutropenic-patients-with-cancer/</a:t>
            </a:r>
          </a:p>
          <a:p xmlns:a="http://schemas.openxmlformats.org/drawingml/2006/main">
            <a:r>
              <a:t>https://www.idsociety.org/practice-guideline/intra-abdominal-infections/</a:t>
            </a:r>
          </a:p>
          <a:p xmlns:a="http://schemas.openxmlformats.org/drawingml/2006/main">
            <a:r>
              <a:t>https://www.idsociety.org/practice-guideline/clostridium-difficile/</a:t>
            </a:r>
          </a:p>
          <a:p xmlns:a="http://schemas.openxmlformats.org/drawingml/2006/main">
            <a:r>
              <a:t>https://doi.org/10.1016/j.jaci.2022.08.028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Know which recommendations come from ICU evidence The 2023 SCCM/IDSA guideline concerns new fever in adult ICU patients without severe immunocompromise. Many recommendations are conditional or best-practice statements. The ward approach here is a clinical adaptation; routine ICU testing should not become a universal ward order set. [1] When fever remains unexplained, repeat the history and examination before pursuing advanced imaging or broad serologies. The guideline conditionally suggests FDG-PET/CT in selected critically ill patients after unrevealing investigations when transport is acceptable. This is not a first-line test for an isolated ward fever. [1] Discussion variation. The temperature is unchanged, but the patient now has hypotension and confusion. Explain how the urgency changes even before the source is known. [2]</a:t>
            </a:r>
          </a:p>
          <a:p xmlns:a="http://schemas.openxmlformats.org/drawingml/2006/main">
            <a:r>
              <a:t/>
            </a:r>
          </a:p>
          <a:p xmlns:a="http://schemas.openxmlformats.org/drawingml/2006/main">
            <a:r>
              <a:t>Module section: https://docarcshot.github.io/id-practice-update/lectures/Fever_in_the_Hospitalized_Patient_Short_Module.html#fellow</a:t>
            </a:r>
          </a:p>
          <a:p xmlns:a="http://schemas.openxmlformats.org/drawingml/2006/main">
            <a:r>
              <a:t/>
            </a:r>
          </a:p>
          <a:p xmlns:a="http://schemas.openxmlformats.org/drawingml/2006/main">
            <a:r>
              <a:t>Public sources and related reading:</a:t>
            </a:r>
          </a:p>
          <a:p xmlns:a="http://schemas.openxmlformats.org/drawingml/2006/main">
            <a:r>
              <a:t>https://www.idsociety.org/practice-guideline/new-fever-in-critically-ill-patients/</a:t>
            </a:r>
          </a:p>
          <a:p xmlns:a="http://schemas.openxmlformats.org/drawingml/2006/main">
            <a:r>
              <a:t>https://www.sccm.org/survivingsepsiscampaign/guidelines-and-resources/surviving-sepsis-campaign-adult-guidelines</a:t>
            </a:r>
          </a:p>
          <a:p xmlns:a="http://schemas.openxmlformats.org/drawingml/2006/main">
            <a:r>
              <a:t>https://www.idsociety.org/practice-guideline/neutropenic-patients-with-cancer/</a:t>
            </a:r>
          </a:p>
          <a:p xmlns:a="http://schemas.openxmlformats.org/drawingml/2006/main">
            <a:r>
              <a:t>https://www.idsociety.org/practice-guideline/intra-abdominal-infections/</a:t>
            </a:r>
          </a:p>
          <a:p xmlns:a="http://schemas.openxmlformats.org/drawingml/2006/main">
            <a:r>
              <a:t>https://www.idsociety.org/practice-guideline/clostridium-difficile/</a:t>
            </a:r>
          </a:p>
          <a:p xmlns:a="http://schemas.openxmlformats.org/drawingml/2006/main">
            <a:r>
              <a:t>https://doi.org/10.1016/j.jaci.2022.08.028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Sources and further reading 1. SCCM/IDSA. Evaluating new fever in adult patients in the ICU. 2023. 2. Surviving Sepsis Campaign. Adult guidelines. 2026. 3. Freifeld AG, et al. IDSA guideline for antimicrobial use in neutropenic patients with cancer. 2010 update. 4. IDSA. Complicated intra-abdominal infections, diagnostic evaluation. 2024. 5. SHEA/IDSA. C. difficile infection guideline, diagnostic recommendations. 2017 update. 6. Khan DA, et al. Drug allergy practice parameter update. 2022. Teaching cases are fictional. Recommendations are paraphrased from the linked sources. Use current patient-specific guidance and local protocols when prescribing.</a:t>
            </a:r>
          </a:p>
          <a:p xmlns:a="http://schemas.openxmlformats.org/drawingml/2006/main">
            <a:r>
              <a:t/>
            </a:r>
          </a:p>
          <a:p xmlns:a="http://schemas.openxmlformats.org/drawingml/2006/main">
            <a:r>
              <a:t>Module section: https://docarcshot.github.io/id-practice-update/lectures/Fever_in_the_Hospitalized_Patient_Short_Module.html#source-1</a:t>
            </a:r>
          </a:p>
          <a:p xmlns:a="http://schemas.openxmlformats.org/drawingml/2006/main">
            <a:r>
              <a:t/>
            </a:r>
          </a:p>
          <a:p xmlns:a="http://schemas.openxmlformats.org/drawingml/2006/main">
            <a:r>
              <a:t>Public sources and related reading:</a:t>
            </a:r>
          </a:p>
          <a:p xmlns:a="http://schemas.openxmlformats.org/drawingml/2006/main">
            <a:r>
              <a:t>https://www.idsociety.org/practice-guideline/new-fever-in-critically-ill-patients/</a:t>
            </a:r>
          </a:p>
          <a:p xmlns:a="http://schemas.openxmlformats.org/drawingml/2006/main">
            <a:r>
              <a:t>https://www.sccm.org/survivingsepsiscampaign/guidelines-and-resources/surviving-sepsis-campaign-adult-guidelines</a:t>
            </a:r>
          </a:p>
          <a:p xmlns:a="http://schemas.openxmlformats.org/drawingml/2006/main">
            <a:r>
              <a:t>https://www.idsociety.org/practice-guideline/neutropenic-patients-with-cancer/</a:t>
            </a:r>
          </a:p>
          <a:p xmlns:a="http://schemas.openxmlformats.org/drawingml/2006/main">
            <a:r>
              <a:t>https://www.idsociety.org/practice-guideline/intra-abdominal-infections/</a:t>
            </a:r>
          </a:p>
          <a:p xmlns:a="http://schemas.openxmlformats.org/drawingml/2006/main">
            <a:r>
              <a:t>https://www.idsociety.org/practice-guideline/clostridium-difficile/</a:t>
            </a:r>
          </a:p>
          <a:p xmlns:a="http://schemas.openxmlformats.org/drawingml/2006/main">
            <a:r>
              <a:t>https://doi.org/10.1016/j.jaci.2022.08.028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Sources and further reading 1. SCCM/IDSA. Evaluating new fever in adult patients in the ICU. 2023. 2. Surviving Sepsis Campaign. Adult guidelines. 2026. 3. Freifeld AG, et al. IDSA guideline for antimicrobial use in neutropenic patients with cancer. 2010 update. 4. IDSA. Complicated intra-abdominal infections, diagnostic evaluation. 2024. 5. SHEA/IDSA. C. difficile infection guideline, diagnostic recommendations. 2017 update. 6. Khan DA, et al. Drug allergy practice parameter update. 2022. Teaching cases are fictional. Recommendations are paraphrased from the linked sources. Use current patient-specific guidance and local protocols when prescribing.</a:t>
            </a:r>
          </a:p>
          <a:p xmlns:a="http://schemas.openxmlformats.org/drawingml/2006/main">
            <a:r>
              <a:t/>
            </a:r>
          </a:p>
          <a:p xmlns:a="http://schemas.openxmlformats.org/drawingml/2006/main">
            <a:r>
              <a:t>Module section: https://docarcshot.github.io/id-practice-update/lectures/Fever_in_the_Hospitalized_Patient_Short_Module.html#source-2</a:t>
            </a:r>
          </a:p>
          <a:p xmlns:a="http://schemas.openxmlformats.org/drawingml/2006/main">
            <a:r>
              <a:t/>
            </a:r>
          </a:p>
          <a:p xmlns:a="http://schemas.openxmlformats.org/drawingml/2006/main">
            <a:r>
              <a:t>Public sources and related reading:</a:t>
            </a:r>
          </a:p>
          <a:p xmlns:a="http://schemas.openxmlformats.org/drawingml/2006/main">
            <a:r>
              <a:t>https://www.idsociety.org/practice-guideline/new-fever-in-critically-ill-patients/</a:t>
            </a:r>
          </a:p>
          <a:p xmlns:a="http://schemas.openxmlformats.org/drawingml/2006/main">
            <a:r>
              <a:t>https://www.sccm.org/survivingsepsiscampaign/guidelines-and-resources/surviving-sepsis-campaign-adult-guidelines</a:t>
            </a:r>
          </a:p>
          <a:p xmlns:a="http://schemas.openxmlformats.org/drawingml/2006/main">
            <a:r>
              <a:t>https://www.idsociety.org/practice-guideline/neutropenic-patients-with-cancer/</a:t>
            </a:r>
          </a:p>
          <a:p xmlns:a="http://schemas.openxmlformats.org/drawingml/2006/main">
            <a:r>
              <a:t>https://www.idsociety.org/practice-guideline/intra-abdominal-infections/</a:t>
            </a:r>
          </a:p>
          <a:p xmlns:a="http://schemas.openxmlformats.org/drawingml/2006/main">
            <a:r>
              <a:t>https://www.idsociety.org/practice-guideline/clostridium-difficile/</a:t>
            </a:r>
          </a:p>
          <a:p xmlns:a="http://schemas.openxmlformats.org/drawingml/2006/main">
            <a:r>
              <a:t>https://doi.org/10.1016/j.jaci.2022.08.028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Sources and further reading 1. SCCM/IDSA. Evaluating new fever in adult patients in the ICU. 2023. 2. Surviving Sepsis Campaign. Adult guidelines. 2026. 3. Freifeld AG, et al. IDSA guideline for antimicrobial use in neutropenic patients with cancer. 2010 update. 4. IDSA. Complicated intra-abdominal infections, diagnostic evaluation. 2024. 5. SHEA/IDSA. C. difficile infection guideline, diagnostic recommendations. 2017 update. 6. Khan DA, et al. Drug allergy practice parameter update. 2022. Teaching cases are fictional. Recommendations are paraphrased from the linked sources. Use current patient-specific guidance and local protocols when prescribing.</a:t>
            </a:r>
          </a:p>
          <a:p xmlns:a="http://schemas.openxmlformats.org/drawingml/2006/main">
            <a:r>
              <a:t/>
            </a:r>
          </a:p>
          <a:p xmlns:a="http://schemas.openxmlformats.org/drawingml/2006/main">
            <a:r>
              <a:t>Module section: https://docarcshot.github.io/id-practice-update/lectures/Fever_in_the_Hospitalized_Patient_Short_Module.html#source-3</a:t>
            </a:r>
          </a:p>
          <a:p xmlns:a="http://schemas.openxmlformats.org/drawingml/2006/main">
            <a:r>
              <a:t/>
            </a:r>
          </a:p>
          <a:p xmlns:a="http://schemas.openxmlformats.org/drawingml/2006/main">
            <a:r>
              <a:t>Public sources and related reading:</a:t>
            </a:r>
          </a:p>
          <a:p xmlns:a="http://schemas.openxmlformats.org/drawingml/2006/main">
            <a:r>
              <a:t>https://www.idsociety.org/practice-guideline/new-fever-in-critically-ill-patients/</a:t>
            </a:r>
          </a:p>
          <a:p xmlns:a="http://schemas.openxmlformats.org/drawingml/2006/main">
            <a:r>
              <a:t>https://www.sccm.org/survivingsepsiscampaign/guidelines-and-resources/surviving-sepsis-campaign-adult-guidelines</a:t>
            </a:r>
          </a:p>
          <a:p xmlns:a="http://schemas.openxmlformats.org/drawingml/2006/main">
            <a:r>
              <a:t>https://www.idsociety.org/practice-guideline/neutropenic-patients-with-cancer/</a:t>
            </a:r>
          </a:p>
          <a:p xmlns:a="http://schemas.openxmlformats.org/drawingml/2006/main">
            <a:r>
              <a:t>https://www.idsociety.org/practice-guideline/intra-abdominal-infections/</a:t>
            </a:r>
          </a:p>
          <a:p xmlns:a="http://schemas.openxmlformats.org/drawingml/2006/main">
            <a:r>
              <a:t>https://www.idsociety.org/practice-guideline/clostridium-difficile/</a:t>
            </a:r>
          </a:p>
          <a:p xmlns:a="http://schemas.openxmlformats.org/drawingml/2006/main">
            <a:r>
              <a:t>https://doi.org/10.1016/j.jaci.2022.08.028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Sources and further reading 1. SCCM/IDSA. Evaluating new fever in adult patients in the ICU. 2023. 2. Surviving Sepsis Campaign. Adult guidelines. 2026. 3. Freifeld AG, et al. IDSA guideline for antimicrobial use in neutropenic patients with cancer. 2010 update. 4. IDSA. Complicated intra-abdominal infections, diagnostic evaluation. 2024. 5. SHEA/IDSA. C. difficile infection guideline, diagnostic recommendations. 2017 update. 6. Khan DA, et al. Drug allergy practice parameter update. 2022. Teaching cases are fictional. Recommendations are paraphrased from the linked sources. Use current patient-specific guidance and local protocols when prescribing.</a:t>
            </a:r>
          </a:p>
          <a:p xmlns:a="http://schemas.openxmlformats.org/drawingml/2006/main">
            <a:r>
              <a:t/>
            </a:r>
          </a:p>
          <a:p xmlns:a="http://schemas.openxmlformats.org/drawingml/2006/main">
            <a:r>
              <a:t>Module section: https://docarcshot.github.io/id-practice-update/lectures/Fever_in_the_Hospitalized_Patient_Short_Module.html#source-4</a:t>
            </a:r>
          </a:p>
          <a:p xmlns:a="http://schemas.openxmlformats.org/drawingml/2006/main">
            <a:r>
              <a:t/>
            </a:r>
          </a:p>
          <a:p xmlns:a="http://schemas.openxmlformats.org/drawingml/2006/main">
            <a:r>
              <a:t>Public sources and related reading:</a:t>
            </a:r>
          </a:p>
          <a:p xmlns:a="http://schemas.openxmlformats.org/drawingml/2006/main">
            <a:r>
              <a:t>https://www.idsociety.org/practice-guideline/new-fever-in-critically-ill-patients/</a:t>
            </a:r>
          </a:p>
          <a:p xmlns:a="http://schemas.openxmlformats.org/drawingml/2006/main">
            <a:r>
              <a:t>https://www.sccm.org/survivingsepsiscampaign/guidelines-and-resources/surviving-sepsis-campaign-adult-guidelines</a:t>
            </a:r>
          </a:p>
          <a:p xmlns:a="http://schemas.openxmlformats.org/drawingml/2006/main">
            <a:r>
              <a:t>https://www.idsociety.org/practice-guideline/neutropenic-patients-with-cancer/</a:t>
            </a:r>
          </a:p>
          <a:p xmlns:a="http://schemas.openxmlformats.org/drawingml/2006/main">
            <a:r>
              <a:t>https://www.idsociety.org/practice-guideline/intra-abdominal-infections/</a:t>
            </a:r>
          </a:p>
          <a:p xmlns:a="http://schemas.openxmlformats.org/drawingml/2006/main">
            <a:r>
              <a:t>https://www.idsociety.org/practice-guideline/clostridium-difficile/</a:t>
            </a:r>
          </a:p>
          <a:p xmlns:a="http://schemas.openxmlformats.org/drawingml/2006/main">
            <a:r>
              <a:t>https://doi.org/10.1016/j.jaci.2022.08.028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Sources and further reading 1. SCCM/IDSA. Evaluating new fever in adult patients in the ICU. 2023. 2. Surviving Sepsis Campaign. Adult guidelines. 2026. 3. Freifeld AG, et al. IDSA guideline for antimicrobial use in neutropenic patients with cancer. 2010 update. 4. IDSA. Complicated intra-abdominal infections, diagnostic evaluation. 2024. 5. SHEA/IDSA. C. difficile infection guideline, diagnostic recommendations. 2017 update. 6. Khan DA, et al. Drug allergy practice parameter update. 2022. Teaching cases are fictional. Recommendations are paraphrased from the linked sources. Use current patient-specific guidance and local protocols when prescribing.</a:t>
            </a:r>
          </a:p>
          <a:p xmlns:a="http://schemas.openxmlformats.org/drawingml/2006/main">
            <a:r>
              <a:t/>
            </a:r>
          </a:p>
          <a:p xmlns:a="http://schemas.openxmlformats.org/drawingml/2006/main">
            <a:r>
              <a:t>Module section: https://docarcshot.github.io/id-practice-update/lectures/Fever_in_the_Hospitalized_Patient_Short_Module.html#source-5</a:t>
            </a:r>
          </a:p>
          <a:p xmlns:a="http://schemas.openxmlformats.org/drawingml/2006/main">
            <a:r>
              <a:t/>
            </a:r>
          </a:p>
          <a:p xmlns:a="http://schemas.openxmlformats.org/drawingml/2006/main">
            <a:r>
              <a:t>Public sources and related reading:</a:t>
            </a:r>
          </a:p>
          <a:p xmlns:a="http://schemas.openxmlformats.org/drawingml/2006/main">
            <a:r>
              <a:t>https://www.idsociety.org/practice-guideline/new-fever-in-critically-ill-patients/</a:t>
            </a:r>
          </a:p>
          <a:p xmlns:a="http://schemas.openxmlformats.org/drawingml/2006/main">
            <a:r>
              <a:t>https://www.sccm.org/survivingsepsiscampaign/guidelines-and-resources/surviving-sepsis-campaign-adult-guidelines</a:t>
            </a:r>
          </a:p>
          <a:p xmlns:a="http://schemas.openxmlformats.org/drawingml/2006/main">
            <a:r>
              <a:t>https://www.idsociety.org/practice-guideline/neutropenic-patients-with-cancer/</a:t>
            </a:r>
          </a:p>
          <a:p xmlns:a="http://schemas.openxmlformats.org/drawingml/2006/main">
            <a:r>
              <a:t>https://www.idsociety.org/practice-guideline/intra-abdominal-infections/</a:t>
            </a:r>
          </a:p>
          <a:p xmlns:a="http://schemas.openxmlformats.org/drawingml/2006/main">
            <a:r>
              <a:t>https://www.idsociety.org/practice-guideline/clostridium-difficile/</a:t>
            </a:r>
          </a:p>
          <a:p xmlns:a="http://schemas.openxmlformats.org/drawingml/2006/main">
            <a:r>
              <a:t>https://doi.org/10.1016/j.jaci.2022.08.028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Sources and further reading 1. SCCM/IDSA. Evaluating new fever in adult patients in the ICU. 2023. 2. Surviving Sepsis Campaign. Adult guidelines. 2026. 3. Freifeld AG, et al. IDSA guideline for antimicrobial use in neutropenic patients with cancer. 2010 update. 4. IDSA. Complicated intra-abdominal infections, diagnostic evaluation. 2024. 5. SHEA/IDSA. C. difficile infection guideline, diagnostic recommendations. 2017 update. 6. Khan DA, et al. Drug allergy practice parameter update. 2022. Teaching cases are fictional. Recommendations are paraphrased from the linked sources. Use current patient-specific guidance and local protocols when prescribing.</a:t>
            </a:r>
          </a:p>
          <a:p xmlns:a="http://schemas.openxmlformats.org/drawingml/2006/main">
            <a:r>
              <a:t/>
            </a:r>
          </a:p>
          <a:p xmlns:a="http://schemas.openxmlformats.org/drawingml/2006/main">
            <a:r>
              <a:t>Module section: https://docarcshot.github.io/id-practice-update/lectures/Fever_in_the_Hospitalized_Patient_Short_Module.html#source-6</a:t>
            </a:r>
          </a:p>
          <a:p xmlns:a="http://schemas.openxmlformats.org/drawingml/2006/main">
            <a:r>
              <a:t/>
            </a:r>
          </a:p>
          <a:p xmlns:a="http://schemas.openxmlformats.org/drawingml/2006/main">
            <a:r>
              <a:t>Public sources and related reading:</a:t>
            </a:r>
          </a:p>
          <a:p xmlns:a="http://schemas.openxmlformats.org/drawingml/2006/main">
            <a:r>
              <a:t>https://www.idsociety.org/practice-guideline/new-fever-in-critically-ill-patients/</a:t>
            </a:r>
          </a:p>
          <a:p xmlns:a="http://schemas.openxmlformats.org/drawingml/2006/main">
            <a:r>
              <a:t>https://www.sccm.org/survivingsepsiscampaign/guidelines-and-resources/surviving-sepsis-campaign-adult-guidelines</a:t>
            </a:r>
          </a:p>
          <a:p xmlns:a="http://schemas.openxmlformats.org/drawingml/2006/main">
            <a:r>
              <a:t>https://www.idsociety.org/practice-guideline/neutropenic-patients-with-cancer/</a:t>
            </a:r>
          </a:p>
          <a:p xmlns:a="http://schemas.openxmlformats.org/drawingml/2006/main">
            <a:r>
              <a:t>https://www.idsociety.org/practice-guideline/intra-abdominal-infections/</a:t>
            </a:r>
          </a:p>
          <a:p xmlns:a="http://schemas.openxmlformats.org/drawingml/2006/main">
            <a:r>
              <a:t>https://www.idsociety.org/practice-guideline/clostridium-difficile/</a:t>
            </a:r>
          </a:p>
          <a:p xmlns:a="http://schemas.openxmlformats.org/drawingml/2006/main">
            <a:r>
              <a:t>https://doi.org/10.1016/j.jaci.2022.08.028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Sources and further reading 1. SCCM/IDSA. Evaluating new fever in adult patients in the ICU. 2023. 2. Surviving Sepsis Campaign. Adult guidelines. 2026. 3. Freifeld AG, et al. IDSA guideline for antimicrobial use in neutropenic patients with cancer. 2010 update. 4. IDSA. Complicated intra-abdominal infections, diagnostic evaluation. 2024. 5. SHEA/IDSA. C. difficile infection guideline, diagnostic recommendations. 2017 update. 6. Khan DA, et al. Drug allergy practice parameter update. 2022. Teaching cases are fictional. Recommendations are paraphrased from the linked sources. Use current patient-specific guidance and local protocols when prescribing.</a:t>
            </a:r>
          </a:p>
          <a:p xmlns:a="http://schemas.openxmlformats.org/drawingml/2006/main">
            <a:r>
              <a:t/>
            </a:r>
          </a:p>
          <a:p xmlns:a="http://schemas.openxmlformats.org/drawingml/2006/main">
            <a:r>
              <a:t>Module section: https://docarcshot.github.io/id-practice-update/lectures/Fever_in_the_Hospitalized_Patient_Short_Module.html#sources</a:t>
            </a:r>
          </a:p>
          <a:p xmlns:a="http://schemas.openxmlformats.org/drawingml/2006/main">
            <a:r>
              <a:t/>
            </a:r>
          </a:p>
          <a:p xmlns:a="http://schemas.openxmlformats.org/drawingml/2006/main">
            <a:r>
              <a:t>Public sources and related reading:</a:t>
            </a:r>
          </a:p>
          <a:p xmlns:a="http://schemas.openxmlformats.org/drawingml/2006/main">
            <a:r>
              <a:t>https://www.idsociety.org/practice-guideline/new-fever-in-critically-ill-patients/</a:t>
            </a:r>
          </a:p>
          <a:p xmlns:a="http://schemas.openxmlformats.org/drawingml/2006/main">
            <a:r>
              <a:t>https://www.sccm.org/survivingsepsiscampaign/guidelines-and-resources/surviving-sepsis-campaign-adult-guidelines</a:t>
            </a:r>
          </a:p>
          <a:p xmlns:a="http://schemas.openxmlformats.org/drawingml/2006/main">
            <a:r>
              <a:t>https://www.idsociety.org/practice-guideline/neutropenic-patients-with-cancer/</a:t>
            </a:r>
          </a:p>
          <a:p xmlns:a="http://schemas.openxmlformats.org/drawingml/2006/main">
            <a:r>
              <a:t>https://www.idsociety.org/practice-guideline/intra-abdominal-infections/</a:t>
            </a:r>
          </a:p>
          <a:p xmlns:a="http://schemas.openxmlformats.org/drawingml/2006/main">
            <a:r>
              <a:t>https://www.idsociety.org/practice-guideline/clostridium-difficile/</a:t>
            </a:r>
          </a:p>
          <a:p xmlns:a="http://schemas.openxmlformats.org/drawingml/2006/main">
            <a:r>
              <a:t>https://doi.org/10.1016/j.jaci.2022.08.028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d0d972635c4471c"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a3861ded29a4e4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65ecf3ee98d4be3"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08084b45b40a4581"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ccd9f818b9e14bd7"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242d7ff787449e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1A5C252-F72B-4D80-92C2-982AAD90CDD4}"/>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EA8748FA-6FCD-4F40-A586-FF8C815AF0E1}"/>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2F1E9A4F-005B-400C-B626-C1CB9E3FFDAA}"/>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2BA0F44-A564-49BA-8B84-8B967DB3448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20EDFB07-579F-4962-82B1-E8222DD2D9BB}"/>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5DE9390F-EF5B-4F71-BA49-EBECEB95AFE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92AD0B2-607D-45CA-B980-EA288CD9488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D6D11F0C-8389-4FED-979B-0BE78DBFA0D2}"/>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B2A1EBD-6882-456D-9813-6755D980CE7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2B9B330-FEC3-46DC-BA1A-69D33FA8811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9bed944b57c4a47" /><Relationship Type="http://schemas.openxmlformats.org/officeDocument/2006/relationships/slideLayout" Target="/ppt/slideLayouts/slideLayout1.xml" Id="Rf450ef17b38e4955" /><Relationship Type="http://schemas.openxmlformats.org/officeDocument/2006/relationships/slideLayout" Target="/ppt/slideLayouts/slideLayout2.xml" Id="R2714fa5c72b248fd" /><Relationship Type="http://schemas.openxmlformats.org/officeDocument/2006/relationships/slideLayout" Target="/ppt/slideLayouts/slideLayout3.xml" Id="R3b7956194f8b4769" /><Relationship Type="http://schemas.openxmlformats.org/officeDocument/2006/relationships/slideLayout" Target="/ppt/slideLayouts/slideLayout4.xml" Id="R2d0d4e3e82f74ebe" /><Relationship Type="http://schemas.openxmlformats.org/officeDocument/2006/relationships/slideLayout" Target="/ppt/slideLayouts/slideLayout5.xml" Id="R8010d6fcce49444a" /><Relationship Type="http://schemas.openxmlformats.org/officeDocument/2006/relationships/slideLayout" Target="/ppt/slideLayouts/slideLayout6.xml" Id="R7e2f23f5516e4c2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450ef17b38e4955"/>
    <p:sldLayoutId xmlns:r="http://schemas.openxmlformats.org/officeDocument/2006/relationships" id="2147483650" r:id="R2714fa5c72b248fd"/>
    <p:sldLayoutId xmlns:r="http://schemas.openxmlformats.org/officeDocument/2006/relationships" id="2147483651" r:id="R3b7956194f8b4769"/>
    <p:sldLayoutId xmlns:r="http://schemas.openxmlformats.org/officeDocument/2006/relationships" id="2147483652" r:id="R2d0d4e3e82f74ebe"/>
    <p:sldLayoutId xmlns:r="http://schemas.openxmlformats.org/officeDocument/2006/relationships" id="2147483653" r:id="R8010d6fcce49444a"/>
    <p:sldLayoutId xmlns:r="http://schemas.openxmlformats.org/officeDocument/2006/relationships" id="2147483654" r:id="R7e2f23f5516e4c2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52ef9af7ec5f4024" /><Relationship Type="http://schemas.openxmlformats.org/officeDocument/2006/relationships/notesSlide" Target="/ppt/notesSlides/notesSlide1.xml" Id="R2de839785e6943df"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6d2547767a8a4c56" /><Relationship Type="http://schemas.openxmlformats.org/officeDocument/2006/relationships/notesSlide" Target="/ppt/notesSlides/notesSlide2.xml" Id="Rb2940a30a0194ee2"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54f3402fb7294226" /><Relationship Type="http://schemas.openxmlformats.org/officeDocument/2006/relationships/notesSlide" Target="/ppt/notesSlides/notesSlide3.xml" Id="R086d3588cb8c471f"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406c12d165204ded" /><Relationship Type="http://schemas.openxmlformats.org/officeDocument/2006/relationships/notesSlide" Target="/ppt/notesSlides/notesSlide4.xml" Id="R2871a2dda009452c"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51efbbc20b6d4184" /><Relationship Type="http://schemas.openxmlformats.org/officeDocument/2006/relationships/notesSlide" Target="/ppt/notesSlides/notesSlide5.xml" Id="R7eab7f8fcb7b4295"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17c6f966279a4a9f" /><Relationship Type="http://schemas.openxmlformats.org/officeDocument/2006/relationships/notesSlide" Target="/ppt/notesSlides/notesSlide6.xml" Id="R6b29e0f0761d4b49"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0db070bb5619401c" /><Relationship Type="http://schemas.openxmlformats.org/officeDocument/2006/relationships/notesSlide" Target="/ppt/notesSlides/notesSlide7.xml" Id="Rfb05da383fad4bd5"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98e802ab16354594" /><Relationship Type="http://schemas.openxmlformats.org/officeDocument/2006/relationships/notesSlide" Target="/ppt/notesSlides/notesSlide8.xml" Id="R0fefab5775e84eea"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0d8199ce2a88472b" /><Relationship Type="http://schemas.openxmlformats.org/officeDocument/2006/relationships/notesSlide" Target="/ppt/notesSlides/notesSlide9.xml" Id="R9d75da31b34d432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15d163940dfa4b6e" /><Relationship Type="http://schemas.openxmlformats.org/officeDocument/2006/relationships/notesSlide" Target="/ppt/notesSlides/notesSlide10.xml" Id="R9147eb43002b46b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e2c343083ad64800" /><Relationship Type="http://schemas.openxmlformats.org/officeDocument/2006/relationships/notesSlide" Target="/ppt/notesSlides/notesSlide11.xml" Id="R651d0b2065624c6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c16e563c80d14258" /><Relationship Type="http://schemas.openxmlformats.org/officeDocument/2006/relationships/notesSlide" Target="/ppt/notesSlides/notesSlide12.xml" Id="R4b15ab225d614f39"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3362aeafce4d4f1d" /><Relationship Type="http://schemas.openxmlformats.org/officeDocument/2006/relationships/notesSlide" Target="/ppt/notesSlides/notesSlide13.xml" Id="R6503b7b00a18451b"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4488f86be1b142cc" /><Relationship Type="http://schemas.openxmlformats.org/officeDocument/2006/relationships/notesSlide" Target="/ppt/notesSlides/notesSlide14.xml" Id="R3302a65828b04699"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b216d140f15d4a37" /><Relationship Type="http://schemas.openxmlformats.org/officeDocument/2006/relationships/notesSlide" Target="/ppt/notesSlides/notesSlide15.xml" Id="R276bf152b5284255"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613c754de44e4aab" /><Relationship Type="http://schemas.openxmlformats.org/officeDocument/2006/relationships/notesSlide" Target="/ppt/notesSlides/notesSlide16.xml" Id="R5d9f206ed3b2469b"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a13d17cbc9a9426a" /><Relationship Type="http://schemas.openxmlformats.org/officeDocument/2006/relationships/notesSlide" Target="/ppt/notesSlides/notesSlide17.xml" Id="Rc6840c221cc84fd9"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64877172e12d4a04" /><Relationship Type="http://schemas.openxmlformats.org/officeDocument/2006/relationships/notesSlide" Target="/ppt/notesSlides/notesSlide18.xml" Id="R048929e3423a4dec"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bd8b4a4748654cb1" /><Relationship Type="http://schemas.openxmlformats.org/officeDocument/2006/relationships/notesSlide" Target="/ppt/notesSlides/notesSlide19.xml" Id="R71a4879fd04f4f82"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1e3af6ea256a41e7" /><Relationship Type="http://schemas.openxmlformats.org/officeDocument/2006/relationships/notesSlide" Target="/ppt/notesSlides/notesSlide20.xml" Id="R9d367c37288445e4"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b5f5b991ec544c61" /><Relationship Type="http://schemas.openxmlformats.org/officeDocument/2006/relationships/notesSlide" Target="/ppt/notesSlides/notesSlide21.xml" Id="Ree7f479e216a4d29"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668b05f7b7734de0" /><Relationship Type="http://schemas.openxmlformats.org/officeDocument/2006/relationships/notesSlide" Target="/ppt/notesSlides/notesSlide22.xml" Id="Raf26bc82eb214cc0"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0f16201fc61d4322" /><Relationship Type="http://schemas.openxmlformats.org/officeDocument/2006/relationships/notesSlide" Target="/ppt/notesSlides/notesSlide23.xml" Id="R167ce1b3e7884dd2"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83b98a23936748a0" /><Relationship Type="http://schemas.openxmlformats.org/officeDocument/2006/relationships/notesSlide" Target="/ppt/notesSlides/notesSlide24.xml" Id="Ree6ef71ce9a14ce9"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db63960e7fd24abb" /><Relationship Type="http://schemas.openxmlformats.org/officeDocument/2006/relationships/notesSlide" Target="/ppt/notesSlides/notesSlide25.xml" Id="R619a656d38be430b"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d597a0af57244866" /><Relationship Type="http://schemas.openxmlformats.org/officeDocument/2006/relationships/notesSlide" Target="/ppt/notesSlides/notesSlide26.xml" Id="Ree7d78bff2a8422d"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c3ae33138a494633" /><Relationship Type="http://schemas.openxmlformats.org/officeDocument/2006/relationships/notesSlide" Target="/ppt/notesSlides/notesSlide27.xml" Id="R4d0f9cd6731b4257"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baa4cbaa35df42ed" /><Relationship Type="http://schemas.openxmlformats.org/officeDocument/2006/relationships/notesSlide" Target="/ppt/notesSlides/notesSlide28.xml" Id="R0a7a505a0caf40da"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c00747fc377a4896" /><Relationship Type="http://schemas.openxmlformats.org/officeDocument/2006/relationships/notesSlide" Target="/ppt/notesSlides/notesSlide29.xml" Id="R76086f376a744001"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00740d7f37a9447d" /><Relationship Type="http://schemas.openxmlformats.org/officeDocument/2006/relationships/notesSlide" Target="/ppt/notesSlides/notesSlide30.xml" Id="R60b1df2118d94060"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8cac53708f1741e9" /><Relationship Type="http://schemas.openxmlformats.org/officeDocument/2006/relationships/notesSlide" Target="/ppt/notesSlides/notesSlide31.xml" Id="R9ae6bf075a9b4995" /></Relationships>
</file>

<file path=ppt/slides/slide1.xml><?xml version="1.0" encoding="utf-8"?>
<p:sld xmlns:p="http://schemas.openxmlformats.org/presentationml/2006/main">
  <p:cSld>
    <p:bg>
      <p:bgPr>
        <a:solidFill xmlns:a="http://schemas.openxmlformats.org/drawingml/2006/main">
          <a:srgbClr val="173E48"/>
        </a:solidFill>
      </p:bgPr>
    </p:bg>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FE1D38B-D841-44EE-AD05-68FB4727B406}"/>
              </a:ext>
            </a:extLst>
          </p:cNvPr>
          <p:cNvSpPr>
            <a:spLocks xmlns:a="http://schemas.openxmlformats.org/drawingml/2006/main" noGrp="1"/>
          </p:cNvSpPr>
          <p:nvPr/>
        </p:nvSpPr>
        <p:spPr>
          <a:xfrm xmlns:a="http://schemas.openxmlformats.org/drawingml/2006/main">
            <a:off x="685800" y="1714500"/>
            <a:ext cx="10820400" cy="2857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4200" b="1">
                <a:solidFill>
                  <a:srgbClr val="FFFFFF"/>
                </a:solidFill>
                <a:latin typeface="DejaVu Sans"/>
                <a:ea typeface="DejaVu Sans"/>
                <a:cs typeface="DejaVu Sans"/>
              </a:defRPr>
            </a:defPPr>
            <a:lvl1pPr>
              <a:defRPr sz="4200" b="1">
                <a:solidFill>
                  <a:srgbClr val="FFFFFF"/>
                </a:solidFill>
                <a:latin typeface="DejaVu Sans"/>
                <a:ea typeface="DejaVu Sans"/>
                <a:cs typeface="DejaVu Sans"/>
              </a:defRPr>
            </a:lvl1pPr>
            <a:lvl2pPr>
              <a:defRPr sz="4200" b="1">
                <a:solidFill>
                  <a:srgbClr val="FFFFFF"/>
                </a:solidFill>
                <a:latin typeface="DejaVu Sans"/>
                <a:ea typeface="DejaVu Sans"/>
                <a:cs typeface="DejaVu Sans"/>
              </a:defRPr>
            </a:lvl2pPr>
            <a:lvl3pPr>
              <a:defRPr sz="4200" b="1">
                <a:solidFill>
                  <a:srgbClr val="FFFFFF"/>
                </a:solidFill>
                <a:latin typeface="DejaVu Sans"/>
                <a:ea typeface="DejaVu Sans"/>
                <a:cs typeface="DejaVu Sans"/>
              </a:defRPr>
            </a:lvl3pPr>
            <a:lvl4pPr>
              <a:defRPr sz="4200" b="1">
                <a:solidFill>
                  <a:srgbClr val="FFFFFF"/>
                </a:solidFill>
                <a:latin typeface="DejaVu Sans"/>
                <a:ea typeface="DejaVu Sans"/>
                <a:cs typeface="DejaVu Sans"/>
              </a:defRPr>
            </a:lvl4pPr>
            <a:lvl5pPr>
              <a:defRPr sz="4200" b="1">
                <a:solidFill>
                  <a:srgbClr val="FFFFFF"/>
                </a:solidFill>
                <a:latin typeface="DejaVu Sans"/>
                <a:ea typeface="DejaVu Sans"/>
                <a:cs typeface="DejaVu Sans"/>
              </a:defRPr>
            </a:lvl5pPr>
            <a:lvl6pPr>
              <a:defRPr sz="4200" b="1">
                <a:solidFill>
                  <a:srgbClr val="FFFFFF"/>
                </a:solidFill>
                <a:latin typeface="DejaVu Sans"/>
                <a:ea typeface="DejaVu Sans"/>
                <a:cs typeface="DejaVu Sans"/>
              </a:defRPr>
            </a:lvl6pPr>
            <a:lvl7pPr>
              <a:defRPr sz="4200" b="1">
                <a:solidFill>
                  <a:srgbClr val="FFFFFF"/>
                </a:solidFill>
                <a:latin typeface="DejaVu Sans"/>
                <a:ea typeface="DejaVu Sans"/>
                <a:cs typeface="DejaVu Sans"/>
              </a:defRPr>
            </a:lvl7pPr>
            <a:lvl8pPr>
              <a:defRPr sz="4200" b="1">
                <a:solidFill>
                  <a:srgbClr val="FFFFFF"/>
                </a:solidFill>
                <a:latin typeface="DejaVu Sans"/>
                <a:ea typeface="DejaVu Sans"/>
                <a:cs typeface="DejaVu Sans"/>
              </a:defRPr>
            </a:lvl8pPr>
            <a:lvl9pPr>
              <a:defRPr sz="4200" b="1">
                <a:solidFill>
                  <a:srgbClr val="FFFFFF"/>
                </a:solidFill>
                <a:latin typeface="DejaVu Sans"/>
                <a:ea typeface="DejaVu Sans"/>
                <a:cs typeface="DejaVu Sans"/>
              </a:defRPr>
            </a:lvl9pPr>
          </a:lstStyle>
          <a:p xmlns:a="http://schemas.openxmlformats.org/drawingml/2006/main">
            <a:pPr>
              <a:defRPr sz="4200" b="1">
                <a:solidFill>
                  <a:srgbClr val="FFFFFF"/>
                </a:solidFill>
                <a:latin typeface="DejaVu Sans"/>
                <a:ea typeface="DejaVu Sans"/>
                <a:cs typeface="DejaVu Sans"/>
              </a:defRPr>
            </a:pPr>
            <a:r>
              <a:rPr sz="4200" b="1">
                <a:solidFill>
                  <a:srgbClr val="FFFFFF"/>
                </a:solidFill>
                <a:latin typeface="DejaVu Sans"/>
                <a:ea typeface="DejaVu Sans"/>
                <a:cs typeface="DejaVu Sans"/>
              </a:rPr>
              <a:t>Fever in the hospitalized patient</a:t>
            </a:r>
          </a:p>
        </p:txBody>
      </p:sp>
      <p:sp>
        <p:nvSpPr>
          <p:cNvPr id="2" name="subtitle">
            <a:extLst xmlns:a="http://schemas.openxmlformats.org/drawingml/2006/main">
              <a:ext uri="{FF2B5EF4-FFF2-40B4-BE49-F238E27FC236}">
                <a16:creationId xmlns:a16="http://schemas.microsoft.com/office/drawing/2014/main" id="{B7C5AFEE-BFF5-419D-B6C2-62020F919F87}"/>
              </a:ext>
            </a:extLst>
          </p:cNvPr>
          <p:cNvSpPr>
            <a:spLocks xmlns:a="http://schemas.openxmlformats.org/drawingml/2006/main" noGrp="1"/>
          </p:cNvSpPr>
          <p:nvPr/>
        </p:nvSpPr>
        <p:spPr>
          <a:xfrm xmlns:a="http://schemas.openxmlformats.org/drawingml/2006/main">
            <a:off x="723900" y="5143500"/>
            <a:ext cx="106680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950" b="0">
                <a:solidFill>
                  <a:srgbClr val="D7E8E8"/>
                </a:solidFill>
                <a:latin typeface="DejaVu Sans"/>
                <a:ea typeface="DejaVu Sans"/>
                <a:cs typeface="DejaVu Sans"/>
              </a:defRPr>
            </a:defPPr>
            <a:lvl1pPr>
              <a:defRPr sz="1950" b="0">
                <a:solidFill>
                  <a:srgbClr val="D7E8E8"/>
                </a:solidFill>
                <a:latin typeface="DejaVu Sans"/>
                <a:ea typeface="DejaVu Sans"/>
                <a:cs typeface="DejaVu Sans"/>
              </a:defRPr>
            </a:lvl1pPr>
            <a:lvl2pPr>
              <a:defRPr sz="1950" b="0">
                <a:solidFill>
                  <a:srgbClr val="D7E8E8"/>
                </a:solidFill>
                <a:latin typeface="DejaVu Sans"/>
                <a:ea typeface="DejaVu Sans"/>
                <a:cs typeface="DejaVu Sans"/>
              </a:defRPr>
            </a:lvl2pPr>
            <a:lvl3pPr>
              <a:defRPr sz="1950" b="0">
                <a:solidFill>
                  <a:srgbClr val="D7E8E8"/>
                </a:solidFill>
                <a:latin typeface="DejaVu Sans"/>
                <a:ea typeface="DejaVu Sans"/>
                <a:cs typeface="DejaVu Sans"/>
              </a:defRPr>
            </a:lvl3pPr>
            <a:lvl4pPr>
              <a:defRPr sz="1950" b="0">
                <a:solidFill>
                  <a:srgbClr val="D7E8E8"/>
                </a:solidFill>
                <a:latin typeface="DejaVu Sans"/>
                <a:ea typeface="DejaVu Sans"/>
                <a:cs typeface="DejaVu Sans"/>
              </a:defRPr>
            </a:lvl4pPr>
            <a:lvl5pPr>
              <a:defRPr sz="1950" b="0">
                <a:solidFill>
                  <a:srgbClr val="D7E8E8"/>
                </a:solidFill>
                <a:latin typeface="DejaVu Sans"/>
                <a:ea typeface="DejaVu Sans"/>
                <a:cs typeface="DejaVu Sans"/>
              </a:defRPr>
            </a:lvl5pPr>
            <a:lvl6pPr>
              <a:defRPr sz="1950" b="0">
                <a:solidFill>
                  <a:srgbClr val="D7E8E8"/>
                </a:solidFill>
                <a:latin typeface="DejaVu Sans"/>
                <a:ea typeface="DejaVu Sans"/>
                <a:cs typeface="DejaVu Sans"/>
              </a:defRPr>
            </a:lvl6pPr>
            <a:lvl7pPr>
              <a:defRPr sz="1950" b="0">
                <a:solidFill>
                  <a:srgbClr val="D7E8E8"/>
                </a:solidFill>
                <a:latin typeface="DejaVu Sans"/>
                <a:ea typeface="DejaVu Sans"/>
                <a:cs typeface="DejaVu Sans"/>
              </a:defRPr>
            </a:lvl7pPr>
            <a:lvl8pPr>
              <a:defRPr sz="1950" b="0">
                <a:solidFill>
                  <a:srgbClr val="D7E8E8"/>
                </a:solidFill>
                <a:latin typeface="DejaVu Sans"/>
                <a:ea typeface="DejaVu Sans"/>
                <a:cs typeface="DejaVu Sans"/>
              </a:defRPr>
            </a:lvl8pPr>
            <a:lvl9pPr>
              <a:defRPr sz="1950" b="0">
                <a:solidFill>
                  <a:srgbClr val="D7E8E8"/>
                </a:solidFill>
                <a:latin typeface="DejaVu Sans"/>
                <a:ea typeface="DejaVu Sans"/>
                <a:cs typeface="DejaVu Sans"/>
              </a:defRPr>
            </a:lvl9pPr>
          </a:lstStyle>
          <a:p xmlns:a="http://schemas.openxmlformats.org/drawingml/2006/main">
            <a:pPr>
              <a:defRPr sz="1950" b="0">
                <a:solidFill>
                  <a:srgbClr val="D7E8E8"/>
                </a:solidFill>
                <a:latin typeface="DejaVu Sans"/>
                <a:ea typeface="DejaVu Sans"/>
                <a:cs typeface="DejaVu Sans"/>
              </a:defRPr>
            </a:pPr>
            <a:r>
              <a:rPr sz="1950" b="0">
                <a:solidFill>
                  <a:srgbClr val="D7E8E8"/>
                </a:solidFill>
                <a:latin typeface="DejaVu Sans"/>
                <a:ea typeface="DejaVu Sans"/>
                <a:cs typeface="DejaVu Sans"/>
              </a:rPr>
              <a:t>ID Practice Update</a:t>
            </a:r>
          </a:p>
          <a:p xmlns:a="http://schemas.openxmlformats.org/drawingml/2006/main">
            <a:pPr>
              <a:defRPr sz="1950" b="0">
                <a:solidFill>
                  <a:srgbClr val="D7E8E8"/>
                </a:solidFill>
                <a:latin typeface="DejaVu Sans"/>
                <a:ea typeface="DejaVu Sans"/>
                <a:cs typeface="DejaVu Sans"/>
              </a:defRPr>
            </a:pPr>
            <a:r>
              <a:rPr sz="1950" b="0">
                <a:solidFill>
                  <a:srgbClr val="D7E8E8"/>
                </a:solidFill>
                <a:latin typeface="DejaVu Sans"/>
                <a:ea typeface="DejaVu Sans"/>
                <a:cs typeface="DejaVu Sans"/>
              </a:rPr>
              <a:t>Resident teaching and advanced reference</a:t>
            </a:r>
          </a:p>
        </p:txBody>
      </p:sp>
    </p:spTree>
    <p:extLst>
      <p:ext uri="{BB962C8B-B14F-4D97-AF65-F5344CB8AC3E}">
        <p14:creationId xmlns:p14="http://schemas.microsoft.com/office/powerpoint/2010/main" val="1137501617"/>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BE1B1E51-32ED-4705-92C4-966899D5F759}"/>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Assess the patient before expanding the antibiotic regimen</a:t>
            </a:r>
          </a:p>
        </p:txBody>
      </p:sp>
      <p:sp>
        <p:nvSpPr>
          <p:cNvPr id="2" name="paragraph-0">
            <a:extLst xmlns:a="http://schemas.openxmlformats.org/drawingml/2006/main">
              <a:ext uri="{FF2B5EF4-FFF2-40B4-BE49-F238E27FC236}">
                <a16:creationId xmlns:a16="http://schemas.microsoft.com/office/drawing/2014/main" id="{A5C3D98C-CB74-470E-A55F-888DE6D7C5F7}"/>
              </a:ext>
            </a:extLst>
          </p:cNvPr>
          <p:cNvSpPr>
            <a:spLocks xmlns:a="http://schemas.openxmlformats.org/drawingml/2006/main" noGrp="1"/>
          </p:cNvSpPr>
          <p:nvPr/>
        </p:nvSpPr>
        <p:spPr>
          <a:xfrm xmlns:a="http://schemas.openxmlformats.org/drawingml/2006/main">
            <a:off x="647700" y="1952625"/>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A 67-year-old develops a temperature of 38.6 C on hospital day 6 while receiving antibiotics for an abdominal infection. Blood pressure and oxygen requirements are unchanged. A drain and urinary catheter remain in place.</a:t>
            </a:r>
          </a:p>
        </p:txBody>
      </p:sp>
      <p:sp>
        <p:nvSpPr>
          <p:cNvPr id="3" name="paragraph-1">
            <a:extLst xmlns:a="http://schemas.openxmlformats.org/drawingml/2006/main">
              <a:ext uri="{FF2B5EF4-FFF2-40B4-BE49-F238E27FC236}">
                <a16:creationId xmlns:a16="http://schemas.microsoft.com/office/drawing/2014/main" id="{08F42711-B8D8-4B19-ABC1-E7C9B897A1B7}"/>
              </a:ext>
            </a:extLst>
          </p:cNvPr>
          <p:cNvSpPr>
            <a:spLocks xmlns:a="http://schemas.openxmlformats.org/drawingml/2006/main" noGrp="1"/>
          </p:cNvSpPr>
          <p:nvPr/>
        </p:nvSpPr>
        <p:spPr>
          <a:xfrm xmlns:a="http://schemas.openxmlformats.org/drawingml/2006/main">
            <a:off x="647700" y="3619500"/>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Discuss before reading on. Which findings would require immediate treatment? What would you review before changing antibiotics?</a:t>
            </a:r>
          </a:p>
        </p:txBody>
      </p:sp>
      <p:sp>
        <p:nvSpPr>
          <p:cNvPr id="4" name="footer">
            <a:extLst xmlns:a="http://schemas.openxmlformats.org/drawingml/2006/main">
              <a:ext uri="{FF2B5EF4-FFF2-40B4-BE49-F238E27FC236}">
                <a16:creationId xmlns:a16="http://schemas.microsoft.com/office/drawing/2014/main" id="{659755D6-85D6-4976-BC9C-94C94612307A}"/>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5" name="number">
            <a:extLst xmlns:a="http://schemas.openxmlformats.org/drawingml/2006/main">
              <a:ext uri="{FF2B5EF4-FFF2-40B4-BE49-F238E27FC236}">
                <a16:creationId xmlns:a16="http://schemas.microsoft.com/office/drawing/2014/main" id="{7855C25A-0030-4F1D-BFA2-26373E0F9F13}"/>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2</a:t>
            </a:r>
          </a:p>
        </p:txBody>
      </p:sp>
    </p:spTree>
    <p:extLst>
      <p:ext uri="{BB962C8B-B14F-4D97-AF65-F5344CB8AC3E}">
        <p14:creationId xmlns:p14="http://schemas.microsoft.com/office/powerpoint/2010/main" val="273764883"/>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AA47EB7E-71B5-4869-8639-8FFA77C7343E}"/>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Assess the patient before expanding the antibiotic regimen</a:t>
            </a:r>
          </a:p>
        </p:txBody>
      </p:sp>
      <p:sp>
        <p:nvSpPr>
          <p:cNvPr id="2" name="paragraph-0">
            <a:extLst xmlns:a="http://schemas.openxmlformats.org/drawingml/2006/main">
              <a:ext uri="{FF2B5EF4-FFF2-40B4-BE49-F238E27FC236}">
                <a16:creationId xmlns:a16="http://schemas.microsoft.com/office/drawing/2014/main" id="{9AB82EE6-A4FC-4746-984E-DC41193FA221}"/>
              </a:ext>
            </a:extLst>
          </p:cNvPr>
          <p:cNvSpPr>
            <a:spLocks xmlns:a="http://schemas.openxmlformats.org/drawingml/2006/main" noGrp="1"/>
          </p:cNvSpPr>
          <p:nvPr/>
        </p:nvSpPr>
        <p:spPr>
          <a:xfrm xmlns:a="http://schemas.openxmlformats.org/drawingml/2006/main">
            <a:off x="647700" y="1952625"/>
            <a:ext cx="10858500" cy="1876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Confirm the temperature and measurement method. Assess blood pressure, oxygenation, mental status, perfusion, and urine output. Reconstruct the timeline of symptoms, procedures, devices, medications, and prior cultures. This module addresses new or persistent inpatient fever, not the full evaluation of prolonged FUO. [1]</a:t>
            </a:r>
          </a:p>
        </p:txBody>
      </p:sp>
      <p:sp>
        <p:nvSpPr>
          <p:cNvPr id="3" name="footer">
            <a:extLst xmlns:a="http://schemas.openxmlformats.org/drawingml/2006/main">
              <a:ext uri="{FF2B5EF4-FFF2-40B4-BE49-F238E27FC236}">
                <a16:creationId xmlns:a16="http://schemas.microsoft.com/office/drawing/2014/main" id="{3F6DB95D-A5AA-41AF-8506-F67939DDA1B4}"/>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ABAD56CE-0255-4146-8921-EC4A6856B35B}"/>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3</a:t>
            </a:r>
          </a:p>
        </p:txBody>
      </p:sp>
    </p:spTree>
    <p:extLst>
      <p:ext uri="{BB962C8B-B14F-4D97-AF65-F5344CB8AC3E}">
        <p14:creationId xmlns:p14="http://schemas.microsoft.com/office/powerpoint/2010/main" val="1438947852"/>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BB472717-E12E-45B4-BD0D-2C7A54AB4896}"/>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The urgency depends on sepsis probability and organ dysfunction</a:t>
            </a:r>
          </a:p>
        </p:txBody>
      </p:sp>
      <p:graphicFrame>
        <p:nvGraphicFramePr>
          <p:cNvPr id="2" name="">
            <a:extLst xmlns:a="http://schemas.openxmlformats.org/drawingml/2006/main">
              <a:ext uri="{FF2B5EF4-FFF2-40B4-BE49-F238E27FC236}">
                <a16:creationId xmlns:a16="http://schemas.microsoft.com/office/drawing/2014/main" id="{9E34960D-7324-43FB-B6B1-2C7C40BB5444}"/>
              </a:ext>
            </a:extLst>
          </p:cNvPr>
          <p:cNvGraphicFramePr/>
          <p:nvPr/>
        </p:nvGraphicFramePr>
        <p:xfrm>
          <a:off xmlns:a="http://schemas.openxmlformats.org/drawingml/2006/main" x="647700" y="1866900"/>
          <a:ext xmlns:a="http://schemas.openxmlformats.org/drawingml/2006/main" cx="10896600" cy="1695450"/>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Possible septic shock or probable/definite sepsis</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157288">
                <a:tc>
                  <a:txBody>
                    <a:bodyPr lIns="114300" tIns="114300" rIns="114300" bIns="114300">
                      <a:noAutofit/>
                    </a:bodyPr>
                    <a:lstStyle/>
                    <a:p>
                      <a:r>
                        <a:rPr sz="1950" b="0">
                          <a:solidFill>
                            <a:srgbClr val="16323B"/>
                          </a:solidFill>
                          <a:latin typeface="DejaVu Sans"/>
                          <a:ea typeface="DejaVu Sans"/>
                          <a:cs typeface="DejaVu Sans"/>
                        </a:rPr>
                        <a:t>Next action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Begin appropriate antimicrobials immediately, ideally within 1 hour of recognition, while resuscitating and evaluating the source.</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E59D6202-CC29-4FAE-B3C9-31B42ADB3348}"/>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F83CECF2-054B-4871-B727-470ACF2E6C16}"/>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4</a:t>
            </a:r>
          </a:p>
        </p:txBody>
      </p:sp>
    </p:spTree>
    <p:extLst>
      <p:ext uri="{BB962C8B-B14F-4D97-AF65-F5344CB8AC3E}">
        <p14:creationId xmlns:p14="http://schemas.microsoft.com/office/powerpoint/2010/main" val="136548996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9020F54A-B686-420D-93CF-ED34C8649EEB}"/>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The urgency depends on sepsis probability and organ dysfunction</a:t>
            </a:r>
          </a:p>
        </p:txBody>
      </p:sp>
      <p:graphicFrame>
        <p:nvGraphicFramePr>
          <p:cNvPr id="2" name="">
            <a:extLst xmlns:a="http://schemas.openxmlformats.org/drawingml/2006/main">
              <a:ext uri="{FF2B5EF4-FFF2-40B4-BE49-F238E27FC236}">
                <a16:creationId xmlns:a16="http://schemas.microsoft.com/office/drawing/2014/main" id="{4DA7EB52-1548-4638-8968-BD2F81CD31DE}"/>
              </a:ext>
            </a:extLst>
          </p:cNvPr>
          <p:cNvGraphicFramePr/>
          <p:nvPr/>
        </p:nvGraphicFramePr>
        <p:xfrm>
          <a:off xmlns:a="http://schemas.openxmlformats.org/drawingml/2006/main" x="647700" y="1866900"/>
          <a:ext xmlns:a="http://schemas.openxmlformats.org/drawingml/2006/main" cx="10896600" cy="1695450"/>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Possible sepsis without shock</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157288">
                <a:tc>
                  <a:txBody>
                    <a:bodyPr lIns="114300" tIns="114300" rIns="114300" bIns="114300">
                      <a:noAutofit/>
                    </a:bodyPr>
                    <a:lstStyle/>
                    <a:p>
                      <a:r>
                        <a:rPr sz="1950" b="0">
                          <a:solidFill>
                            <a:srgbClr val="16323B"/>
                          </a:solidFill>
                          <a:latin typeface="DejaVu Sans"/>
                          <a:ea typeface="DejaVu Sans"/>
                          <a:cs typeface="DejaVu Sans"/>
                        </a:rPr>
                        <a:t>Next action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Conduct a rapid, time-limited evaluation. If concern for infection persists, administer antimicrobials within 3 hours of first suspecting sepsis.</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01F863E4-13AD-4A0B-8256-9C233E33A12C}"/>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760A8DCD-48CD-423E-B8C8-831AF5BAA964}"/>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5</a:t>
            </a:r>
          </a:p>
        </p:txBody>
      </p:sp>
    </p:spTree>
    <p:extLst>
      <p:ext uri="{BB962C8B-B14F-4D97-AF65-F5344CB8AC3E}">
        <p14:creationId xmlns:p14="http://schemas.microsoft.com/office/powerpoint/2010/main" val="856136046"/>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4257E115-5266-4558-AD8E-11EF2132EA07}"/>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The urgency depends on sepsis probability and organ dysfunction</a:t>
            </a:r>
          </a:p>
        </p:txBody>
      </p:sp>
      <p:graphicFrame>
        <p:nvGraphicFramePr>
          <p:cNvPr id="2" name="">
            <a:extLst xmlns:a="http://schemas.openxmlformats.org/drawingml/2006/main">
              <a:ext uri="{FF2B5EF4-FFF2-40B4-BE49-F238E27FC236}">
                <a16:creationId xmlns:a16="http://schemas.microsoft.com/office/drawing/2014/main" id="{BC624310-B971-4C41-BC69-F18A4767CCBB}"/>
              </a:ext>
            </a:extLst>
          </p:cNvPr>
          <p:cNvGraphicFramePr/>
          <p:nvPr/>
        </p:nvGraphicFramePr>
        <p:xfrm>
          <a:off xmlns:a="http://schemas.openxmlformats.org/drawingml/2006/main" x="647700" y="1866900"/>
          <a:ext xmlns:a="http://schemas.openxmlformats.org/drawingml/2006/main" cx="10896600" cy="1695450"/>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Low likelihood of infection and no shock</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157288">
                <a:tc>
                  <a:txBody>
                    <a:bodyPr lIns="114300" tIns="114300" rIns="114300" bIns="114300">
                      <a:noAutofit/>
                    </a:bodyPr>
                    <a:lstStyle/>
                    <a:p>
                      <a:r>
                        <a:rPr sz="1950" b="0">
                          <a:solidFill>
                            <a:srgbClr val="16323B"/>
                          </a:solidFill>
                          <a:latin typeface="DejaVu Sans"/>
                          <a:ea typeface="DejaVu Sans"/>
                          <a:cs typeface="DejaVu Sans"/>
                        </a:rPr>
                        <a:t>Next action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Close observation with reassessment can be appropriate. A temperature elevation alone does not require broader antibiotics.</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47E90112-3EF5-4710-B396-EB3EBD48AE4A}"/>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F382A56A-E11B-427F-A8AE-9186631734BB}"/>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6</a:t>
            </a:r>
          </a:p>
        </p:txBody>
      </p:sp>
    </p:spTree>
    <p:extLst>
      <p:ext uri="{BB962C8B-B14F-4D97-AF65-F5344CB8AC3E}">
        <p14:creationId xmlns:p14="http://schemas.microsoft.com/office/powerpoint/2010/main" val="906401704"/>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37D39C32-0D69-4CEF-9CE3-3A201AF8F044}"/>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The urgency depends on sepsis probability and organ dysfunction</a:t>
            </a:r>
          </a:p>
        </p:txBody>
      </p:sp>
      <p:sp>
        <p:nvSpPr>
          <p:cNvPr id="2" name="paragraph-0">
            <a:extLst xmlns:a="http://schemas.openxmlformats.org/drawingml/2006/main">
              <a:ext uri="{FF2B5EF4-FFF2-40B4-BE49-F238E27FC236}">
                <a16:creationId xmlns:a16="http://schemas.microsoft.com/office/drawing/2014/main" id="{30534004-8ABA-413E-948D-A57020BC346E}"/>
              </a:ext>
            </a:extLst>
          </p:cNvPr>
          <p:cNvSpPr>
            <a:spLocks xmlns:a="http://schemas.openxmlformats.org/drawingml/2006/main" noGrp="1"/>
          </p:cNvSpPr>
          <p:nvPr/>
        </p:nvSpPr>
        <p:spPr>
          <a:xfrm xmlns:a="http://schemas.openxmlformats.org/drawingml/2006/main">
            <a:off x="647700" y="195262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Collect indicated cultures before antibiotics if this will not materially delay treatment. Do not wait for a procalcitonin result to treat probable sepsis. [2]</a:t>
            </a:r>
          </a:p>
        </p:txBody>
      </p:sp>
      <p:sp>
        <p:nvSpPr>
          <p:cNvPr id="3" name="paragraph-1">
            <a:extLst xmlns:a="http://schemas.openxmlformats.org/drawingml/2006/main">
              <a:ext uri="{FF2B5EF4-FFF2-40B4-BE49-F238E27FC236}">
                <a16:creationId xmlns:a16="http://schemas.microsoft.com/office/drawing/2014/main" id="{124DDD19-1007-4105-B51B-C834752AE7F0}"/>
              </a:ext>
            </a:extLst>
          </p:cNvPr>
          <p:cNvSpPr>
            <a:spLocks xmlns:a="http://schemas.openxmlformats.org/drawingml/2006/main" noGrp="1"/>
          </p:cNvSpPr>
          <p:nvPr/>
        </p:nvSpPr>
        <p:spPr>
          <a:xfrm xmlns:a="http://schemas.openxmlformats.org/drawingml/2006/main">
            <a:off x="647700" y="3267075"/>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Neutropenic fever requires its own urgent empiric treatment pathway. Profound immunosuppression, suspected meningitis, and other time-sensitive syndromes need immediate senior assessment; routine ward observation rules do not apply. [3]</a:t>
            </a:r>
          </a:p>
        </p:txBody>
      </p:sp>
      <p:sp>
        <p:nvSpPr>
          <p:cNvPr id="4" name="footer">
            <a:extLst xmlns:a="http://schemas.openxmlformats.org/drawingml/2006/main">
              <a:ext uri="{FF2B5EF4-FFF2-40B4-BE49-F238E27FC236}">
                <a16:creationId xmlns:a16="http://schemas.microsoft.com/office/drawing/2014/main" id="{CBA59BF9-097A-4D5D-98CF-72229BFE2F53}"/>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5" name="number">
            <a:extLst xmlns:a="http://schemas.openxmlformats.org/drawingml/2006/main">
              <a:ext uri="{FF2B5EF4-FFF2-40B4-BE49-F238E27FC236}">
                <a16:creationId xmlns:a16="http://schemas.microsoft.com/office/drawing/2014/main" id="{E5F57E58-0665-48F3-99DA-16780C557366}"/>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7</a:t>
            </a:r>
          </a:p>
        </p:txBody>
      </p:sp>
    </p:spTree>
    <p:extLst>
      <p:ext uri="{BB962C8B-B14F-4D97-AF65-F5344CB8AC3E}">
        <p14:creationId xmlns:p14="http://schemas.microsoft.com/office/powerpoint/2010/main" val="1678250689"/>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976907D7-6AD0-49D3-BCB3-7C49999CA3FA}"/>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Use the history and examination to choose tests</a:t>
            </a:r>
          </a:p>
        </p:txBody>
      </p:sp>
      <p:graphicFrame>
        <p:nvGraphicFramePr>
          <p:cNvPr id="2" name="">
            <a:extLst xmlns:a="http://schemas.openxmlformats.org/drawingml/2006/main">
              <a:ext uri="{FF2B5EF4-FFF2-40B4-BE49-F238E27FC236}">
                <a16:creationId xmlns:a16="http://schemas.microsoft.com/office/drawing/2014/main" id="{FE9E1703-4A95-4A9C-B780-CB0A93FD5DF8}"/>
              </a:ext>
            </a:extLst>
          </p:cNvPr>
          <p:cNvGraphicFramePr/>
          <p:nvPr/>
        </p:nvGraphicFramePr>
        <p:xfrm>
          <a:off xmlns:a="http://schemas.openxmlformats.org/drawingml/2006/main" x="647700" y="1866900"/>
          <a:ext xmlns:a="http://schemas.openxmlformats.org/drawingml/2006/main" cx="10896600" cy="1695450"/>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Bacteremia or a central-line source is plausible</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157288">
                <a:tc>
                  <a:txBody>
                    <a:bodyPr lIns="114300" tIns="114300" rIns="114300" bIns="114300">
                      <a:noAutofit/>
                    </a:bodyPr>
                    <a:lstStyle/>
                    <a:p>
                      <a:r>
                        <a:rPr sz="1950" b="0">
                          <a:solidFill>
                            <a:srgbClr val="16323B"/>
                          </a:solidFill>
                          <a:latin typeface="DejaVu Sans"/>
                          <a:ea typeface="DejaVu Sans"/>
                          <a:cs typeface="DejaVu Sans"/>
                        </a:rPr>
                        <a:t>Focused evaluation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Obtain blood cultures; use paired peripheral and line samples when evaluating a catheter source. Document collection sites.</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AC273B65-5508-4511-B7E8-209D1AA13F8C}"/>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3C838C51-26D6-4188-B4DB-3291EECB5BEA}"/>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8</a:t>
            </a:r>
          </a:p>
        </p:txBody>
      </p:sp>
    </p:spTree>
    <p:extLst>
      <p:ext uri="{BB962C8B-B14F-4D97-AF65-F5344CB8AC3E}">
        <p14:creationId xmlns:p14="http://schemas.microsoft.com/office/powerpoint/2010/main" val="2014833491"/>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0F1F6AC3-755D-4889-AD48-675B9D5B7122}"/>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Use the history and examination to choose tests</a:t>
            </a:r>
          </a:p>
        </p:txBody>
      </p:sp>
      <p:graphicFrame>
        <p:nvGraphicFramePr>
          <p:cNvPr id="2" name="">
            <a:extLst xmlns:a="http://schemas.openxmlformats.org/drawingml/2006/main">
              <a:ext uri="{FF2B5EF4-FFF2-40B4-BE49-F238E27FC236}">
                <a16:creationId xmlns:a16="http://schemas.microsoft.com/office/drawing/2014/main" id="{6B48FDDB-085A-4956-928C-6AC32CD793F0}"/>
              </a:ext>
            </a:extLst>
          </p:cNvPr>
          <p:cNvGraphicFramePr/>
          <p:nvPr/>
        </p:nvGraphicFramePr>
        <p:xfrm>
          <a:off xmlns:a="http://schemas.openxmlformats.org/drawingml/2006/main" x="647700" y="1866900"/>
          <a:ext xmlns:a="http://schemas.openxmlformats.org/drawingml/2006/main" cx="10896600" cy="1695450"/>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New cough, hypoxemia, or respiratory findings</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157288">
                <a:tc>
                  <a:txBody>
                    <a:bodyPr lIns="114300" tIns="114300" rIns="114300" bIns="114300">
                      <a:noAutofit/>
                    </a:bodyPr>
                    <a:lstStyle/>
                    <a:p>
                      <a:r>
                        <a:rPr sz="1950" b="0">
                          <a:solidFill>
                            <a:srgbClr val="16323B"/>
                          </a:solidFill>
                          <a:latin typeface="DejaVu Sans"/>
                          <a:ea typeface="DejaVu Sans"/>
                          <a:cs typeface="DejaVu Sans"/>
                        </a:rPr>
                        <a:t>Focused evaluation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Chest imaging; respiratory testing guided by the syndrome and exposures. ICU guidance recommends a chest radiograph for new fever.</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744203B0-09A6-492C-A4B5-420412DF611E}"/>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365E7D54-908E-44B7-A63D-EA2F05C7958F}"/>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9</a:t>
            </a:r>
          </a:p>
        </p:txBody>
      </p:sp>
    </p:spTree>
    <p:extLst>
      <p:ext uri="{BB962C8B-B14F-4D97-AF65-F5344CB8AC3E}">
        <p14:creationId xmlns:p14="http://schemas.microsoft.com/office/powerpoint/2010/main" val="1165161138"/>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D21BABCF-B72F-4F64-B4A2-5073969BA751}"/>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Use the history and examination to choose tests</a:t>
            </a:r>
          </a:p>
        </p:txBody>
      </p:sp>
      <p:graphicFrame>
        <p:nvGraphicFramePr>
          <p:cNvPr id="2" name="">
            <a:extLst xmlns:a="http://schemas.openxmlformats.org/drawingml/2006/main">
              <a:ext uri="{FF2B5EF4-FFF2-40B4-BE49-F238E27FC236}">
                <a16:creationId xmlns:a16="http://schemas.microsoft.com/office/drawing/2014/main" id="{008796B8-37DA-4397-A531-7CE7F15E8126}"/>
              </a:ext>
            </a:extLst>
          </p:cNvPr>
          <p:cNvGraphicFramePr/>
          <p:nvPr/>
        </p:nvGraphicFramePr>
        <p:xfrm>
          <a:off xmlns:a="http://schemas.openxmlformats.org/drawingml/2006/main" x="647700" y="1866900"/>
          <a:ext xmlns:a="http://schemas.openxmlformats.org/drawingml/2006/main" cx="10896600" cy="1385888"/>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Urinary findings or unexplained sepsis</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847725">
                <a:tc>
                  <a:txBody>
                    <a:bodyPr lIns="114300" tIns="114300" rIns="114300" bIns="114300">
                      <a:noAutofit/>
                    </a:bodyPr>
                    <a:lstStyle/>
                    <a:p>
                      <a:r>
                        <a:rPr sz="1950" b="0">
                          <a:solidFill>
                            <a:srgbClr val="16323B"/>
                          </a:solidFill>
                          <a:latin typeface="DejaVu Sans"/>
                          <a:ea typeface="DejaVu Sans"/>
                          <a:cs typeface="DejaVu Sans"/>
                        </a:rPr>
                        <a:t>Focused evaluation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Evaluate for UTI in context. A catheter or pyuria alone does not establish a urinary source.</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2E094434-3D49-4375-BAB3-AD81A024F469}"/>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AB1F6D59-7D11-4163-B863-F5552D6B0C0B}"/>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10</a:t>
            </a:r>
          </a:p>
        </p:txBody>
      </p:sp>
    </p:spTree>
    <p:extLst>
      <p:ext uri="{BB962C8B-B14F-4D97-AF65-F5344CB8AC3E}">
        <p14:creationId xmlns:p14="http://schemas.microsoft.com/office/powerpoint/2010/main" val="419080779"/>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119B4C22-CB87-4456-ABE6-0E8CC209090C}"/>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Use the history and examination to choose tests</a:t>
            </a:r>
          </a:p>
        </p:txBody>
      </p:sp>
      <p:graphicFrame>
        <p:nvGraphicFramePr>
          <p:cNvPr id="2" name="">
            <a:extLst xmlns:a="http://schemas.openxmlformats.org/drawingml/2006/main">
              <a:ext uri="{FF2B5EF4-FFF2-40B4-BE49-F238E27FC236}">
                <a16:creationId xmlns:a16="http://schemas.microsoft.com/office/drawing/2014/main" id="{8724F5B9-1C37-4242-9B6A-0B63C6ABFB85}"/>
              </a:ext>
            </a:extLst>
          </p:cNvPr>
          <p:cNvGraphicFramePr/>
          <p:nvPr/>
        </p:nvGraphicFramePr>
        <p:xfrm>
          <a:off xmlns:a="http://schemas.openxmlformats.org/drawingml/2006/main" x="647700" y="1866900"/>
          <a:ext xmlns:a="http://schemas.openxmlformats.org/drawingml/2006/main" cx="10896600" cy="1695450"/>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New unexplained diarrhea</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157288">
                <a:tc>
                  <a:txBody>
                    <a:bodyPr lIns="114300" tIns="114300" rIns="114300" bIns="114300">
                      <a:noAutofit/>
                    </a:bodyPr>
                    <a:lstStyle/>
                    <a:p>
                      <a:r>
                        <a:rPr sz="1950" b="0">
                          <a:solidFill>
                            <a:srgbClr val="16323B"/>
                          </a:solidFill>
                          <a:latin typeface="DejaVu Sans"/>
                          <a:ea typeface="DejaVu Sans"/>
                          <a:cs typeface="DejaVu Sans"/>
                        </a:rPr>
                        <a:t>Focused evaluation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Consider C. difficile testing when there are at least 3 unformed stools in 24 hours and no better explanation, such as laxatives.</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F95D2409-0337-461D-8F16-266A113B708F}"/>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21AE7214-2B39-4631-93E5-42B4AB4A7026}"/>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11</a:t>
            </a:r>
          </a:p>
        </p:txBody>
      </p:sp>
    </p:spTree>
    <p:extLst>
      <p:ext uri="{BB962C8B-B14F-4D97-AF65-F5344CB8AC3E}">
        <p14:creationId xmlns:p14="http://schemas.microsoft.com/office/powerpoint/2010/main" val="89204145"/>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895C1DCE-933D-4A48-BFE3-C93D3187311B}"/>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Use the history and examination to choose tests</a:t>
            </a:r>
          </a:p>
        </p:txBody>
      </p:sp>
      <p:graphicFrame>
        <p:nvGraphicFramePr>
          <p:cNvPr id="2" name="">
            <a:extLst xmlns:a="http://schemas.openxmlformats.org/drawingml/2006/main">
              <a:ext uri="{FF2B5EF4-FFF2-40B4-BE49-F238E27FC236}">
                <a16:creationId xmlns:a16="http://schemas.microsoft.com/office/drawing/2014/main" id="{F4D8FE03-CF37-4A69-B3C8-B65A0365CF63}"/>
              </a:ext>
            </a:extLst>
          </p:cNvPr>
          <p:cNvGraphicFramePr/>
          <p:nvPr/>
        </p:nvGraphicFramePr>
        <p:xfrm>
          <a:off xmlns:a="http://schemas.openxmlformats.org/drawingml/2006/main" x="647700" y="1866900"/>
          <a:ext xmlns:a="http://schemas.openxmlformats.org/drawingml/2006/main" cx="10896600" cy="1695450"/>
        </p:xfrm>
        <a:graphic xmlns:a="http://schemas.openxmlformats.org/drawingml/2006/main">
          <a:graphicData uri="http://schemas.openxmlformats.org/drawingml/2006/table">
            <a:tbl>
              <a:tblPr/>
              <a:tblGrid>
                <a:gridCol w="2571750"/>
                <a:gridCol w="8324850"/>
              </a:tblGrid>
              <a:tr h="847725">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Abdominal pain, ileus, abnormal drainage, or recent surgery</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847725">
                <a:tc>
                  <a:txBody>
                    <a:bodyPr lIns="114300" tIns="114300" rIns="114300" bIns="114300">
                      <a:noAutofit/>
                    </a:bodyPr>
                    <a:lstStyle/>
                    <a:p>
                      <a:r>
                        <a:rPr sz="1950" b="0">
                          <a:solidFill>
                            <a:srgbClr val="16323B"/>
                          </a:solidFill>
                          <a:latin typeface="DejaVu Sans"/>
                          <a:ea typeface="DejaVu Sans"/>
                          <a:cs typeface="DejaVu Sans"/>
                        </a:rPr>
                        <a:t>Focused evaluation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Examine the abdomen and wound, review source control, and discuss targeted imaging with the procedural team.</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FFB38A4B-7BEA-4AB4-A029-2355CDCF0CEC}"/>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F651F9B1-F1BA-4727-AB37-644DA7966734}"/>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12</a:t>
            </a:r>
          </a:p>
        </p:txBody>
      </p:sp>
    </p:spTree>
    <p:extLst>
      <p:ext uri="{BB962C8B-B14F-4D97-AF65-F5344CB8AC3E}">
        <p14:creationId xmlns:p14="http://schemas.microsoft.com/office/powerpoint/2010/main" val="1354043545"/>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52232B56-FE2F-44C6-80D3-EA3A69DB4E29}"/>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Use the history and examination to choose tests</a:t>
            </a:r>
          </a:p>
        </p:txBody>
      </p:sp>
      <p:sp>
        <p:nvSpPr>
          <p:cNvPr id="2" name="paragraph-0">
            <a:extLst xmlns:a="http://schemas.openxmlformats.org/drawingml/2006/main">
              <a:ext uri="{FF2B5EF4-FFF2-40B4-BE49-F238E27FC236}">
                <a16:creationId xmlns:a16="http://schemas.microsoft.com/office/drawing/2014/main" id="{1A5B792B-30AD-4A4E-86D4-527763295F2C}"/>
              </a:ext>
            </a:extLst>
          </p:cNvPr>
          <p:cNvSpPr>
            <a:spLocks xmlns:a="http://schemas.openxmlformats.org/drawingml/2006/main" noGrp="1"/>
          </p:cNvSpPr>
          <p:nvPr/>
        </p:nvSpPr>
        <p:spPr>
          <a:xfrm xmlns:a="http://schemas.openxmlformats.org/drawingml/2006/main">
            <a:off x="647700" y="1952625"/>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[1] [5]</a:t>
            </a:r>
          </a:p>
        </p:txBody>
      </p:sp>
      <p:sp>
        <p:nvSpPr>
          <p:cNvPr id="3" name="paragraph-1">
            <a:extLst xmlns:a="http://schemas.openxmlformats.org/drawingml/2006/main">
              <a:ext uri="{FF2B5EF4-FFF2-40B4-BE49-F238E27FC236}">
                <a16:creationId xmlns:a16="http://schemas.microsoft.com/office/drawing/2014/main" id="{7DD00F47-5DAF-462A-BAA6-9F7F3691665D}"/>
              </a:ext>
            </a:extLst>
          </p:cNvPr>
          <p:cNvSpPr>
            <a:spLocks xmlns:a="http://schemas.openxmlformats.org/drawingml/2006/main" noGrp="1"/>
          </p:cNvSpPr>
          <p:nvPr/>
        </p:nvSpPr>
        <p:spPr>
          <a:xfrm xmlns:a="http://schemas.openxmlformats.org/drawingml/2006/main">
            <a:off x="647700" y="256222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For suspected intra-abdominal abscess in a nonpregnant adult, CT is the preferred initial modality in the 2024 IDSA update. Contrast use depends on the clinical question and patient factors. [4]</a:t>
            </a:r>
          </a:p>
        </p:txBody>
      </p:sp>
      <p:sp>
        <p:nvSpPr>
          <p:cNvPr id="4" name="paragraph-2">
            <a:extLst xmlns:a="http://schemas.openxmlformats.org/drawingml/2006/main">
              <a:ext uri="{FF2B5EF4-FFF2-40B4-BE49-F238E27FC236}">
                <a16:creationId xmlns:a16="http://schemas.microsoft.com/office/drawing/2014/main" id="{B9A86E05-83CF-4782-90CA-C0201DC7DAB4}"/>
              </a:ext>
            </a:extLst>
          </p:cNvPr>
          <p:cNvSpPr>
            <a:spLocks xmlns:a="http://schemas.openxmlformats.org/drawingml/2006/main" noGrp="1"/>
          </p:cNvSpPr>
          <p:nvPr/>
        </p:nvSpPr>
        <p:spPr>
          <a:xfrm xmlns:a="http://schemas.openxmlformats.org/drawingml/2006/main">
            <a:off x="647700" y="387667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Testing formed stool or repeating a C. difficile test to document cure is not appropriate. [5]</a:t>
            </a:r>
          </a:p>
        </p:txBody>
      </p:sp>
      <p:sp>
        <p:nvSpPr>
          <p:cNvPr id="5" name="footer">
            <a:extLst xmlns:a="http://schemas.openxmlformats.org/drawingml/2006/main">
              <a:ext uri="{FF2B5EF4-FFF2-40B4-BE49-F238E27FC236}">
                <a16:creationId xmlns:a16="http://schemas.microsoft.com/office/drawing/2014/main" id="{D509D62D-8555-4865-ABB0-73DB2F417142}"/>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6" name="number">
            <a:extLst xmlns:a="http://schemas.openxmlformats.org/drawingml/2006/main">
              <a:ext uri="{FF2B5EF4-FFF2-40B4-BE49-F238E27FC236}">
                <a16:creationId xmlns:a16="http://schemas.microsoft.com/office/drawing/2014/main" id="{843EC283-EB8A-48B5-926C-726BB7C74683}"/>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13</a:t>
            </a:r>
          </a:p>
        </p:txBody>
      </p:sp>
    </p:spTree>
    <p:extLst>
      <p:ext uri="{BB962C8B-B14F-4D97-AF65-F5344CB8AC3E}">
        <p14:creationId xmlns:p14="http://schemas.microsoft.com/office/powerpoint/2010/main" val="269397131"/>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9A979942-0AC7-4A16-8876-88227E659108}"/>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Persistent fever can reflect a new source or a noninfectious process</a:t>
            </a:r>
          </a:p>
        </p:txBody>
      </p:sp>
      <p:graphicFrame>
        <p:nvGraphicFramePr>
          <p:cNvPr id="2" name="">
            <a:extLst xmlns:a="http://schemas.openxmlformats.org/drawingml/2006/main">
              <a:ext uri="{FF2B5EF4-FFF2-40B4-BE49-F238E27FC236}">
                <a16:creationId xmlns:a16="http://schemas.microsoft.com/office/drawing/2014/main" id="{1B987340-6450-4FA9-B615-D040DB0978A0}"/>
              </a:ext>
            </a:extLst>
          </p:cNvPr>
          <p:cNvGraphicFramePr/>
          <p:nvPr/>
        </p:nvGraphicFramePr>
        <p:xfrm>
          <a:off xmlns:a="http://schemas.openxmlformats.org/drawingml/2006/main" x="647700" y="1866900"/>
          <a:ext xmlns:a="http://schemas.openxmlformats.org/drawingml/2006/main" cx="10896600" cy="1385888"/>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Uncontrolled or newly acquired infection</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847725">
                <a:tc>
                  <a:txBody>
                    <a:bodyPr lIns="114300" tIns="114300" rIns="114300" bIns="114300">
                      <a:noAutofit/>
                    </a:bodyPr>
                    <a:lstStyle/>
                    <a:p>
                      <a:r>
                        <a:rPr sz="1950" b="0">
                          <a:solidFill>
                            <a:srgbClr val="16323B"/>
                          </a:solidFill>
                          <a:latin typeface="DejaVu Sans"/>
                          <a:ea typeface="DejaVu Sans"/>
                          <a:cs typeface="DejaVu Sans"/>
                        </a:rPr>
                        <a:t>Question to ask at the bedside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Is a collection undrained, a device infected, or a new syndrome developing?</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AF99C64D-5659-4488-B30D-AECF80B92E1D}"/>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1E8403E5-82CE-44ED-84B2-89C0C196A8AC}"/>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14</a:t>
            </a:r>
          </a:p>
        </p:txBody>
      </p:sp>
    </p:spTree>
    <p:extLst>
      <p:ext uri="{BB962C8B-B14F-4D97-AF65-F5344CB8AC3E}">
        <p14:creationId xmlns:p14="http://schemas.microsoft.com/office/powerpoint/2010/main" val="1367562529"/>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71C75F7E-6DD9-4172-ACE8-C8A083CFE893}"/>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Persistent fever can reflect a new source or a noninfectious process</a:t>
            </a:r>
          </a:p>
        </p:txBody>
      </p:sp>
      <p:graphicFrame>
        <p:nvGraphicFramePr>
          <p:cNvPr id="2" name="">
            <a:extLst xmlns:a="http://schemas.openxmlformats.org/drawingml/2006/main">
              <a:ext uri="{FF2B5EF4-FFF2-40B4-BE49-F238E27FC236}">
                <a16:creationId xmlns:a16="http://schemas.microsoft.com/office/drawing/2014/main" id="{24E9E009-28DE-4249-B9EA-FA85E31BC510}"/>
              </a:ext>
            </a:extLst>
          </p:cNvPr>
          <p:cNvGraphicFramePr/>
          <p:nvPr/>
        </p:nvGraphicFramePr>
        <p:xfrm>
          <a:off xmlns:a="http://schemas.openxmlformats.org/drawingml/2006/main" x="647700" y="1866900"/>
          <a:ext xmlns:a="http://schemas.openxmlformats.org/drawingml/2006/main" cx="10896600" cy="1695450"/>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Medication reaction</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157288">
                <a:tc>
                  <a:txBody>
                    <a:bodyPr lIns="114300" tIns="114300" rIns="114300" bIns="114300">
                      <a:noAutofit/>
                    </a:bodyPr>
                    <a:lstStyle/>
                    <a:p>
                      <a:r>
                        <a:rPr sz="1950" b="0">
                          <a:solidFill>
                            <a:srgbClr val="16323B"/>
                          </a:solidFill>
                          <a:latin typeface="DejaVu Sans"/>
                          <a:ea typeface="DejaVu Sans"/>
                          <a:cs typeface="DejaVu Sans"/>
                        </a:rPr>
                        <a:t>Question to ask at the bedside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Did fever begin after a new drug? Is there rash, eosinophilia, or organ injury? Their absence does not exclude drug fever.</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C11968B6-1110-4AF3-8DB1-34668E3A6B02}"/>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A59ED6DF-59C5-4DE3-A3D7-80AC88BC9F79}"/>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15</a:t>
            </a:r>
          </a:p>
        </p:txBody>
      </p:sp>
    </p:spTree>
    <p:extLst>
      <p:ext uri="{BB962C8B-B14F-4D97-AF65-F5344CB8AC3E}">
        <p14:creationId xmlns:p14="http://schemas.microsoft.com/office/powerpoint/2010/main" val="503019192"/>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2513F8E2-FBFF-422A-8FF5-29966DD98A3A}"/>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Persistent fever can reflect a new source or a noninfectious process</a:t>
            </a:r>
          </a:p>
        </p:txBody>
      </p:sp>
      <p:graphicFrame>
        <p:nvGraphicFramePr>
          <p:cNvPr id="2" name="">
            <a:extLst xmlns:a="http://schemas.openxmlformats.org/drawingml/2006/main">
              <a:ext uri="{FF2B5EF4-FFF2-40B4-BE49-F238E27FC236}">
                <a16:creationId xmlns:a16="http://schemas.microsoft.com/office/drawing/2014/main" id="{9B26BFD6-16ED-4470-B70C-DB472A1C52D2}"/>
              </a:ext>
            </a:extLst>
          </p:cNvPr>
          <p:cNvGraphicFramePr/>
          <p:nvPr/>
        </p:nvGraphicFramePr>
        <p:xfrm>
          <a:off xmlns:a="http://schemas.openxmlformats.org/drawingml/2006/main" x="647700" y="1866900"/>
          <a:ext xmlns:a="http://schemas.openxmlformats.org/drawingml/2006/main" cx="10896600" cy="1385888"/>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Thrombosis or pulmonary embolism</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847725">
                <a:tc>
                  <a:txBody>
                    <a:bodyPr lIns="114300" tIns="114300" rIns="114300" bIns="114300">
                      <a:noAutofit/>
                    </a:bodyPr>
                    <a:lstStyle/>
                    <a:p>
                      <a:r>
                        <a:rPr sz="1950" b="0">
                          <a:solidFill>
                            <a:srgbClr val="16323B"/>
                          </a:solidFill>
                          <a:latin typeface="DejaVu Sans"/>
                          <a:ea typeface="DejaVu Sans"/>
                          <a:cs typeface="DejaVu Sans"/>
                        </a:rPr>
                        <a:t>Question to ask at the bedside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Are there compatible symptoms or signs that justify directed testing?</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83366D69-C3B3-4FBC-8822-ED85B7749EEF}"/>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E0446FA5-5061-434F-87B9-BC7B7E51D369}"/>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16</a:t>
            </a:r>
          </a:p>
        </p:txBody>
      </p:sp>
    </p:spTree>
    <p:extLst>
      <p:ext uri="{BB962C8B-B14F-4D97-AF65-F5344CB8AC3E}">
        <p14:creationId xmlns:p14="http://schemas.microsoft.com/office/powerpoint/2010/main" val="521562534"/>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205E2AB1-12D9-4B36-9462-4C427B13F496}"/>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Persistent fever can reflect a new source or a noninfectious process</a:t>
            </a:r>
          </a:p>
        </p:txBody>
      </p:sp>
      <p:graphicFrame>
        <p:nvGraphicFramePr>
          <p:cNvPr id="2" name="">
            <a:extLst xmlns:a="http://schemas.openxmlformats.org/drawingml/2006/main">
              <a:ext uri="{FF2B5EF4-FFF2-40B4-BE49-F238E27FC236}">
                <a16:creationId xmlns:a16="http://schemas.microsoft.com/office/drawing/2014/main" id="{3391CF7D-8B43-4E3C-A1A1-4669F8CF36CF}"/>
              </a:ext>
            </a:extLst>
          </p:cNvPr>
          <p:cNvGraphicFramePr/>
          <p:nvPr/>
        </p:nvGraphicFramePr>
        <p:xfrm>
          <a:off xmlns:a="http://schemas.openxmlformats.org/drawingml/2006/main" x="647700" y="1866900"/>
          <a:ext xmlns:a="http://schemas.openxmlformats.org/drawingml/2006/main" cx="10896600" cy="1695450"/>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Postoperative inflammation or tissue injury</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157288">
                <a:tc>
                  <a:txBody>
                    <a:bodyPr lIns="114300" tIns="114300" rIns="114300" bIns="114300">
                      <a:noAutofit/>
                    </a:bodyPr>
                    <a:lstStyle/>
                    <a:p>
                      <a:r>
                        <a:rPr sz="1950" b="0">
                          <a:solidFill>
                            <a:srgbClr val="16323B"/>
                          </a:solidFill>
                          <a:latin typeface="DejaVu Sans"/>
                          <a:ea typeface="DejaVu Sans"/>
                          <a:cs typeface="DejaVu Sans"/>
                        </a:rPr>
                        <a:t>Question to ask at the bedside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Does the course fit the procedure, and is the patient improving? Do not use postoperative timing alone to exclude infection.</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A269B9DF-6C3F-4AB3-B658-BEDF7979EFD4}"/>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2FB4DBB2-AB7F-4083-8D4F-99614BC944BD}"/>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17</a:t>
            </a:r>
          </a:p>
        </p:txBody>
      </p:sp>
    </p:spTree>
    <p:extLst>
      <p:ext uri="{BB962C8B-B14F-4D97-AF65-F5344CB8AC3E}">
        <p14:creationId xmlns:p14="http://schemas.microsoft.com/office/powerpoint/2010/main" val="572844865"/>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AA607DBD-C157-451D-8D50-548BECC35DB5}"/>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Persistent fever can reflect a new source or a noninfectious process</a:t>
            </a:r>
          </a:p>
        </p:txBody>
      </p:sp>
      <p:graphicFrame>
        <p:nvGraphicFramePr>
          <p:cNvPr id="2" name="">
            <a:extLst xmlns:a="http://schemas.openxmlformats.org/drawingml/2006/main">
              <a:ext uri="{FF2B5EF4-FFF2-40B4-BE49-F238E27FC236}">
                <a16:creationId xmlns:a16="http://schemas.microsoft.com/office/drawing/2014/main" id="{3FAC6179-5AEA-4D79-90D3-21BE297B99D7}"/>
              </a:ext>
            </a:extLst>
          </p:cNvPr>
          <p:cNvGraphicFramePr/>
          <p:nvPr/>
        </p:nvGraphicFramePr>
        <p:xfrm>
          <a:off xmlns:a="http://schemas.openxmlformats.org/drawingml/2006/main" x="647700" y="1866900"/>
          <a:ext xmlns:a="http://schemas.openxmlformats.org/drawingml/2006/main" cx="10896600" cy="1385888"/>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Transfusion reaction or other inflammatory disease</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847725">
                <a:tc>
                  <a:txBody>
                    <a:bodyPr lIns="114300" tIns="114300" rIns="114300" bIns="114300">
                      <a:noAutofit/>
                    </a:bodyPr>
                    <a:lstStyle/>
                    <a:p>
                      <a:r>
                        <a:rPr sz="1950" b="0">
                          <a:solidFill>
                            <a:srgbClr val="16323B"/>
                          </a:solidFill>
                          <a:latin typeface="DejaVu Sans"/>
                          <a:ea typeface="DejaVu Sans"/>
                          <a:cs typeface="DejaVu Sans"/>
                        </a:rPr>
                        <a:t>Question to ask at the bedside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Does the timing or a new examination finding point away from infection?</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B0667137-8E4F-498A-B4CA-50566DA19344}"/>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473DE217-3A84-4A27-A0C8-1DCEFE8E7630}"/>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18</a:t>
            </a:r>
          </a:p>
        </p:txBody>
      </p:sp>
    </p:spTree>
    <p:extLst>
      <p:ext uri="{BB962C8B-B14F-4D97-AF65-F5344CB8AC3E}">
        <p14:creationId xmlns:p14="http://schemas.microsoft.com/office/powerpoint/2010/main" val="2005117332"/>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D85D13E0-6627-4631-87E0-FD11EF317DF8}"/>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Persistent fever can reflect a new source or a noninfectious process</a:t>
            </a:r>
          </a:p>
        </p:txBody>
      </p:sp>
      <p:sp>
        <p:nvSpPr>
          <p:cNvPr id="2" name="paragraph-0">
            <a:extLst xmlns:a="http://schemas.openxmlformats.org/drawingml/2006/main">
              <a:ext uri="{FF2B5EF4-FFF2-40B4-BE49-F238E27FC236}">
                <a16:creationId xmlns:a16="http://schemas.microsoft.com/office/drawing/2014/main" id="{6E97202D-BACE-4DCE-9DE1-7C49830E1EEF}"/>
              </a:ext>
            </a:extLst>
          </p:cNvPr>
          <p:cNvSpPr>
            <a:spLocks xmlns:a="http://schemas.openxmlformats.org/drawingml/2006/main" noGrp="1"/>
          </p:cNvSpPr>
          <p:nvPr/>
        </p:nvSpPr>
        <p:spPr>
          <a:xfrm xmlns:a="http://schemas.openxmlformats.org/drawingml/2006/main">
            <a:off x="647700" y="1952625"/>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[1] [6]</a:t>
            </a:r>
          </a:p>
        </p:txBody>
      </p:sp>
      <p:sp>
        <p:nvSpPr>
          <p:cNvPr id="3" name="paragraph-1">
            <a:extLst xmlns:a="http://schemas.openxmlformats.org/drawingml/2006/main">
              <a:ext uri="{FF2B5EF4-FFF2-40B4-BE49-F238E27FC236}">
                <a16:creationId xmlns:a16="http://schemas.microsoft.com/office/drawing/2014/main" id="{DBD11CE7-B152-48DC-9BE5-F3D3B6525D83}"/>
              </a:ext>
            </a:extLst>
          </p:cNvPr>
          <p:cNvSpPr>
            <a:spLocks xmlns:a="http://schemas.openxmlformats.org/drawingml/2006/main" noGrp="1"/>
          </p:cNvSpPr>
          <p:nvPr/>
        </p:nvSpPr>
        <p:spPr>
          <a:xfrm xmlns:a="http://schemas.openxmlformats.org/drawingml/2006/main">
            <a:off x="647700" y="256222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Review the entire medication administration record, including new non-antibiotics. Drug fever is an exclusion diagnosis; rash with organ injury needs evaluation for a serious drug reaction. [1] [6]</a:t>
            </a:r>
          </a:p>
        </p:txBody>
      </p:sp>
      <p:sp>
        <p:nvSpPr>
          <p:cNvPr id="4" name="footer">
            <a:extLst xmlns:a="http://schemas.openxmlformats.org/drawingml/2006/main">
              <a:ext uri="{FF2B5EF4-FFF2-40B4-BE49-F238E27FC236}">
                <a16:creationId xmlns:a16="http://schemas.microsoft.com/office/drawing/2014/main" id="{95DEA6B3-2669-42A1-BF54-ACAFF3F514CC}"/>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5" name="number">
            <a:extLst xmlns:a="http://schemas.openxmlformats.org/drawingml/2006/main">
              <a:ext uri="{FF2B5EF4-FFF2-40B4-BE49-F238E27FC236}">
                <a16:creationId xmlns:a16="http://schemas.microsoft.com/office/drawing/2014/main" id="{D5482AF8-4957-47F8-BC5E-1B31B4FD87F6}"/>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19</a:t>
            </a:r>
          </a:p>
        </p:txBody>
      </p:sp>
    </p:spTree>
    <p:extLst>
      <p:ext uri="{BB962C8B-B14F-4D97-AF65-F5344CB8AC3E}">
        <p14:creationId xmlns:p14="http://schemas.microsoft.com/office/powerpoint/2010/main" val="1938717515"/>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6083F3F3-918D-42ED-84B1-081FC2BEF1BE}"/>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Reassessment should produce a specific plan</a:t>
            </a:r>
          </a:p>
        </p:txBody>
      </p:sp>
      <p:sp>
        <p:nvSpPr>
          <p:cNvPr id="2" name="paragraph-0">
            <a:extLst xmlns:a="http://schemas.openxmlformats.org/drawingml/2006/main">
              <a:ext uri="{FF2B5EF4-FFF2-40B4-BE49-F238E27FC236}">
                <a16:creationId xmlns:a16="http://schemas.microsoft.com/office/drawing/2014/main" id="{7A59A331-4DBE-458D-A095-416978472976}"/>
              </a:ext>
            </a:extLst>
          </p:cNvPr>
          <p:cNvSpPr>
            <a:spLocks xmlns:a="http://schemas.openxmlformats.org/drawingml/2006/main" noGrp="1"/>
          </p:cNvSpPr>
          <p:nvPr/>
        </p:nvSpPr>
        <p:spPr>
          <a:xfrm xmlns:a="http://schemas.openxmlformats.org/drawingml/2006/main">
            <a:off x="647700" y="1952625"/>
            <a:ext cx="10858500" cy="1876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For the opening case, review the original diagnosis, cultures, antibiotic activity and dosing, drain output, and most recent imaging. If an abdominal source remains plausible, reassess drainage with surgery or interventional radiology. A broader drug does not replace drainage of an infected collection. [2] [4]</a:t>
            </a:r>
          </a:p>
        </p:txBody>
      </p:sp>
      <p:sp>
        <p:nvSpPr>
          <p:cNvPr id="3" name="paragraph-1">
            <a:extLst xmlns:a="http://schemas.openxmlformats.org/drawingml/2006/main">
              <a:ext uri="{FF2B5EF4-FFF2-40B4-BE49-F238E27FC236}">
                <a16:creationId xmlns:a16="http://schemas.microsoft.com/office/drawing/2014/main" id="{3E5C1D40-5895-4154-8D9B-F1547ED16B2E}"/>
              </a:ext>
            </a:extLst>
          </p:cNvPr>
          <p:cNvSpPr>
            <a:spLocks xmlns:a="http://schemas.openxmlformats.org/drawingml/2006/main" noGrp="1"/>
          </p:cNvSpPr>
          <p:nvPr/>
        </p:nvSpPr>
        <p:spPr>
          <a:xfrm xmlns:a="http://schemas.openxmlformats.org/drawingml/2006/main">
            <a:off x="647700" y="3971925"/>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If the patient deteriorates or a new syndrome emerges, treat accordingly. If improving and no new evidence supports infection, avoid broadening solely for persistent fever; reassess whether current antibiotics remain indicated. [2]</a:t>
            </a:r>
          </a:p>
        </p:txBody>
      </p:sp>
      <p:sp>
        <p:nvSpPr>
          <p:cNvPr id="4" name="footer">
            <a:extLst xmlns:a="http://schemas.openxmlformats.org/drawingml/2006/main">
              <a:ext uri="{FF2B5EF4-FFF2-40B4-BE49-F238E27FC236}">
                <a16:creationId xmlns:a16="http://schemas.microsoft.com/office/drawing/2014/main" id="{1B3FDB2A-C757-497A-8B88-C8F7D0276430}"/>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5" name="number">
            <a:extLst xmlns:a="http://schemas.openxmlformats.org/drawingml/2006/main">
              <a:ext uri="{FF2B5EF4-FFF2-40B4-BE49-F238E27FC236}">
                <a16:creationId xmlns:a16="http://schemas.microsoft.com/office/drawing/2014/main" id="{55743DBA-172E-4E42-872D-5844EDEAACF7}"/>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20</a:t>
            </a:r>
          </a:p>
        </p:txBody>
      </p:sp>
    </p:spTree>
    <p:extLst>
      <p:ext uri="{BB962C8B-B14F-4D97-AF65-F5344CB8AC3E}">
        <p14:creationId xmlns:p14="http://schemas.microsoft.com/office/powerpoint/2010/main" val="1823336912"/>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08484F8B-36ED-48D8-BC06-8244725578A2}"/>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Reassessment should produce a specific plan</a:t>
            </a:r>
          </a:p>
        </p:txBody>
      </p:sp>
      <p:sp>
        <p:nvSpPr>
          <p:cNvPr id="2" name="paragraph-0">
            <a:extLst xmlns:a="http://schemas.openxmlformats.org/drawingml/2006/main">
              <a:ext uri="{FF2B5EF4-FFF2-40B4-BE49-F238E27FC236}">
                <a16:creationId xmlns:a16="http://schemas.microsoft.com/office/drawing/2014/main" id="{D2A9D253-AB2D-497B-A692-D95FAAC9B067}"/>
              </a:ext>
            </a:extLst>
          </p:cNvPr>
          <p:cNvSpPr>
            <a:spLocks xmlns:a="http://schemas.openxmlformats.org/drawingml/2006/main" noGrp="1"/>
          </p:cNvSpPr>
          <p:nvPr/>
        </p:nvSpPr>
        <p:spPr>
          <a:xfrm xmlns:a="http://schemas.openxmlformats.org/drawingml/2006/main">
            <a:off x="647700" y="1952625"/>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Example handoff. "New fever without current hemodynamic or respiratory deterioration. Reviewing the abdominal source and drain with the procedural team. Reassess immediately for hypotension, increased oxygen need, or altered mentation."</a:t>
            </a:r>
          </a:p>
        </p:txBody>
      </p:sp>
      <p:sp>
        <p:nvSpPr>
          <p:cNvPr id="3" name="footer">
            <a:extLst xmlns:a="http://schemas.openxmlformats.org/drawingml/2006/main">
              <a:ext uri="{FF2B5EF4-FFF2-40B4-BE49-F238E27FC236}">
                <a16:creationId xmlns:a16="http://schemas.microsoft.com/office/drawing/2014/main" id="{39FC3203-0A34-4560-AA9C-5282C6F84377}"/>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03C92488-1702-4A63-90CA-2C653E390B57}"/>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21</a:t>
            </a:r>
          </a:p>
        </p:txBody>
      </p:sp>
    </p:spTree>
    <p:extLst>
      <p:ext uri="{BB962C8B-B14F-4D97-AF65-F5344CB8AC3E}">
        <p14:creationId xmlns:p14="http://schemas.microsoft.com/office/powerpoint/2010/main" val="1434365844"/>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35AF883B-A806-4D4E-996E-0481CF6CD288}"/>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Apply this on the next consult</a:t>
            </a:r>
          </a:p>
        </p:txBody>
      </p:sp>
      <p:sp>
        <p:nvSpPr>
          <p:cNvPr id="2" name="paragraph-0">
            <a:extLst xmlns:a="http://schemas.openxmlformats.org/drawingml/2006/main">
              <a:ext uri="{FF2B5EF4-FFF2-40B4-BE49-F238E27FC236}">
                <a16:creationId xmlns:a16="http://schemas.microsoft.com/office/drawing/2014/main" id="{3DA68EEA-3ED2-4E41-9879-D4022F154A4E}"/>
              </a:ext>
            </a:extLst>
          </p:cNvPr>
          <p:cNvSpPr>
            <a:spLocks xmlns:a="http://schemas.openxmlformats.org/drawingml/2006/main" noGrp="1"/>
          </p:cNvSpPr>
          <p:nvPr/>
        </p:nvSpPr>
        <p:spPr>
          <a:xfrm xmlns:a="http://schemas.openxmlformats.org/drawingml/2006/main">
            <a:off x="647700" y="195262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Assess stability and immune status, identify the likely source, and choose tests that can change management. State what you will do now and which clinical changes will trigger escalation.</a:t>
            </a:r>
          </a:p>
        </p:txBody>
      </p:sp>
      <p:sp>
        <p:nvSpPr>
          <p:cNvPr id="3" name="footer">
            <a:extLst xmlns:a="http://schemas.openxmlformats.org/drawingml/2006/main">
              <a:ext uri="{FF2B5EF4-FFF2-40B4-BE49-F238E27FC236}">
                <a16:creationId xmlns:a16="http://schemas.microsoft.com/office/drawing/2014/main" id="{288AD3A6-F35F-48EA-B42F-54BC002A18BA}"/>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F8D16ADB-1BE1-479D-90AF-851C5BFC090D}"/>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22</a:t>
            </a:r>
          </a:p>
        </p:txBody>
      </p:sp>
    </p:spTree>
    <p:extLst>
      <p:ext uri="{BB962C8B-B14F-4D97-AF65-F5344CB8AC3E}">
        <p14:creationId xmlns:p14="http://schemas.microsoft.com/office/powerpoint/2010/main" val="1973127831"/>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4751F41B-A99D-439D-811E-EE1FDA6FA4D1}"/>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Know which recommendations come from ICU evidence</a:t>
            </a:r>
          </a:p>
        </p:txBody>
      </p:sp>
      <p:sp>
        <p:nvSpPr>
          <p:cNvPr id="2" name="paragraph-0">
            <a:extLst xmlns:a="http://schemas.openxmlformats.org/drawingml/2006/main">
              <a:ext uri="{FF2B5EF4-FFF2-40B4-BE49-F238E27FC236}">
                <a16:creationId xmlns:a16="http://schemas.microsoft.com/office/drawing/2014/main" id="{33376D35-8062-411B-9496-5EB2430B6EE3}"/>
              </a:ext>
            </a:extLst>
          </p:cNvPr>
          <p:cNvSpPr>
            <a:spLocks xmlns:a="http://schemas.openxmlformats.org/drawingml/2006/main" noGrp="1"/>
          </p:cNvSpPr>
          <p:nvPr/>
        </p:nvSpPr>
        <p:spPr>
          <a:xfrm xmlns:a="http://schemas.openxmlformats.org/drawingml/2006/main">
            <a:off x="647700" y="1952625"/>
            <a:ext cx="10858500" cy="1876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The 2023 SCCM/IDSA guideline concerns new fever in adult ICU patients without severe immunocompromise. Many recommendations are conditional or best-practice statements. The ward approach here is a clinical adaptation; routine ICU testing should not become a universal ward order set. [1]</a:t>
            </a:r>
          </a:p>
        </p:txBody>
      </p:sp>
      <p:sp>
        <p:nvSpPr>
          <p:cNvPr id="3" name="paragraph-1">
            <a:extLst xmlns:a="http://schemas.openxmlformats.org/drawingml/2006/main">
              <a:ext uri="{FF2B5EF4-FFF2-40B4-BE49-F238E27FC236}">
                <a16:creationId xmlns:a16="http://schemas.microsoft.com/office/drawing/2014/main" id="{1FA33A16-A25B-4CDF-BD95-02B2B1A3ECFA}"/>
              </a:ext>
            </a:extLst>
          </p:cNvPr>
          <p:cNvSpPr>
            <a:spLocks xmlns:a="http://schemas.openxmlformats.org/drawingml/2006/main" noGrp="1"/>
          </p:cNvSpPr>
          <p:nvPr/>
        </p:nvSpPr>
        <p:spPr>
          <a:xfrm xmlns:a="http://schemas.openxmlformats.org/drawingml/2006/main">
            <a:off x="647700" y="3971925"/>
            <a:ext cx="10858500" cy="1876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When fever remains unexplained, repeat the history and examination before pursuing advanced imaging or broad serologies. The guideline conditionally suggests FDG-PET/CT in selected critically ill patients after unrevealing investigations when transport is acceptable. This is not a first-line test for an isolated ward fever. [1]</a:t>
            </a:r>
          </a:p>
        </p:txBody>
      </p:sp>
      <p:sp>
        <p:nvSpPr>
          <p:cNvPr id="4" name="footer">
            <a:extLst xmlns:a="http://schemas.openxmlformats.org/drawingml/2006/main">
              <a:ext uri="{FF2B5EF4-FFF2-40B4-BE49-F238E27FC236}">
                <a16:creationId xmlns:a16="http://schemas.microsoft.com/office/drawing/2014/main" id="{AA819C2C-0E8C-40C7-9D6C-8C2074E2CF0B}"/>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5" name="number">
            <a:extLst xmlns:a="http://schemas.openxmlformats.org/drawingml/2006/main">
              <a:ext uri="{FF2B5EF4-FFF2-40B4-BE49-F238E27FC236}">
                <a16:creationId xmlns:a16="http://schemas.microsoft.com/office/drawing/2014/main" id="{6310BE67-5A06-4C53-B094-0A40C29FFDDB}"/>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23</a:t>
            </a:r>
          </a:p>
        </p:txBody>
      </p:sp>
    </p:spTree>
    <p:extLst>
      <p:ext uri="{BB962C8B-B14F-4D97-AF65-F5344CB8AC3E}">
        <p14:creationId xmlns:p14="http://schemas.microsoft.com/office/powerpoint/2010/main" val="320831079"/>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1E3ECDC9-55E6-4123-9258-F02B04B0C09F}"/>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Know which recommendations come from ICU evidence</a:t>
            </a:r>
          </a:p>
        </p:txBody>
      </p:sp>
      <p:sp>
        <p:nvSpPr>
          <p:cNvPr id="2" name="paragraph-0">
            <a:extLst xmlns:a="http://schemas.openxmlformats.org/drawingml/2006/main">
              <a:ext uri="{FF2B5EF4-FFF2-40B4-BE49-F238E27FC236}">
                <a16:creationId xmlns:a16="http://schemas.microsoft.com/office/drawing/2014/main" id="{AF1E31C4-564A-4FE5-B28E-854CC250E76C}"/>
              </a:ext>
            </a:extLst>
          </p:cNvPr>
          <p:cNvSpPr>
            <a:spLocks xmlns:a="http://schemas.openxmlformats.org/drawingml/2006/main" noGrp="1"/>
          </p:cNvSpPr>
          <p:nvPr/>
        </p:nvSpPr>
        <p:spPr>
          <a:xfrm xmlns:a="http://schemas.openxmlformats.org/drawingml/2006/main">
            <a:off x="647700" y="195262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Discussion variation. The temperature is unchanged, but the patient now has hypotension and confusion. Explain how the urgency changes even before the source is known. [2]</a:t>
            </a:r>
          </a:p>
        </p:txBody>
      </p:sp>
      <p:sp>
        <p:nvSpPr>
          <p:cNvPr id="3" name="footer">
            <a:extLst xmlns:a="http://schemas.openxmlformats.org/drawingml/2006/main">
              <a:ext uri="{FF2B5EF4-FFF2-40B4-BE49-F238E27FC236}">
                <a16:creationId xmlns:a16="http://schemas.microsoft.com/office/drawing/2014/main" id="{0E4634D7-8D57-4F3A-8195-1E14094D94EE}"/>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A5C54DEC-BE49-40FF-B333-F31F0DDDE987}"/>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24</a:t>
            </a:r>
          </a:p>
        </p:txBody>
      </p:sp>
    </p:spTree>
    <p:extLst>
      <p:ext uri="{BB962C8B-B14F-4D97-AF65-F5344CB8AC3E}">
        <p14:creationId xmlns:p14="http://schemas.microsoft.com/office/powerpoint/2010/main" val="1994431775"/>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DD3B6121-3DED-4877-8EB5-3CA0A344945C}"/>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Sources and further reading</a:t>
            </a:r>
          </a:p>
        </p:txBody>
      </p:sp>
      <p:sp>
        <p:nvSpPr>
          <p:cNvPr id="2" name="paragraph-0">
            <a:extLst xmlns:a="http://schemas.openxmlformats.org/drawingml/2006/main">
              <a:ext uri="{FF2B5EF4-FFF2-40B4-BE49-F238E27FC236}">
                <a16:creationId xmlns:a16="http://schemas.microsoft.com/office/drawing/2014/main" id="{29EB3274-36DA-4FFF-AE70-15F14025F663}"/>
              </a:ext>
            </a:extLst>
          </p:cNvPr>
          <p:cNvSpPr>
            <a:spLocks xmlns:a="http://schemas.openxmlformats.org/drawingml/2006/main" noGrp="1"/>
          </p:cNvSpPr>
          <p:nvPr/>
        </p:nvSpPr>
        <p:spPr>
          <a:xfrm xmlns:a="http://schemas.openxmlformats.org/drawingml/2006/main">
            <a:off x="647700" y="1952625"/>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1. SCCM/IDSA. Evaluating new fever in adult patients in the ICU. 2023.</a:t>
            </a:r>
          </a:p>
        </p:txBody>
      </p:sp>
      <p:sp>
        <p:nvSpPr>
          <p:cNvPr id="3" name="footer">
            <a:extLst xmlns:a="http://schemas.openxmlformats.org/drawingml/2006/main">
              <a:ext uri="{FF2B5EF4-FFF2-40B4-BE49-F238E27FC236}">
                <a16:creationId xmlns:a16="http://schemas.microsoft.com/office/drawing/2014/main" id="{3AE7012D-4500-430F-B8EA-E1B18C13CEB7}"/>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DBD2DAF5-E7A4-4969-96CB-3C72F3BA1B9C}"/>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25</a:t>
            </a:r>
          </a:p>
        </p:txBody>
      </p:sp>
    </p:spTree>
    <p:extLst>
      <p:ext uri="{BB962C8B-B14F-4D97-AF65-F5344CB8AC3E}">
        <p14:creationId xmlns:p14="http://schemas.microsoft.com/office/powerpoint/2010/main" val="105560775"/>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7E9A7DDD-6A94-495E-97B6-61E6865CF214}"/>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Sources and further reading</a:t>
            </a:r>
          </a:p>
        </p:txBody>
      </p:sp>
      <p:sp>
        <p:nvSpPr>
          <p:cNvPr id="2" name="paragraph-0">
            <a:extLst xmlns:a="http://schemas.openxmlformats.org/drawingml/2006/main">
              <a:ext uri="{FF2B5EF4-FFF2-40B4-BE49-F238E27FC236}">
                <a16:creationId xmlns:a16="http://schemas.microsoft.com/office/drawing/2014/main" id="{46CE3F9A-8658-427D-BC8E-BB11411E0198}"/>
              </a:ext>
            </a:extLst>
          </p:cNvPr>
          <p:cNvSpPr>
            <a:spLocks xmlns:a="http://schemas.openxmlformats.org/drawingml/2006/main" noGrp="1"/>
          </p:cNvSpPr>
          <p:nvPr/>
        </p:nvSpPr>
        <p:spPr>
          <a:xfrm xmlns:a="http://schemas.openxmlformats.org/drawingml/2006/main">
            <a:off x="647700" y="1952625"/>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2. Surviving Sepsis Campaign. Adult guidelines. 2026.</a:t>
            </a:r>
          </a:p>
        </p:txBody>
      </p:sp>
      <p:sp>
        <p:nvSpPr>
          <p:cNvPr id="3" name="footer">
            <a:extLst xmlns:a="http://schemas.openxmlformats.org/drawingml/2006/main">
              <a:ext uri="{FF2B5EF4-FFF2-40B4-BE49-F238E27FC236}">
                <a16:creationId xmlns:a16="http://schemas.microsoft.com/office/drawing/2014/main" id="{A11B1317-83AE-4447-8A5D-A5E9252660AF}"/>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E65434EB-9396-4EF2-AAFF-8AE5CAC6019E}"/>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26</a:t>
            </a:r>
          </a:p>
        </p:txBody>
      </p:sp>
    </p:spTree>
    <p:extLst>
      <p:ext uri="{BB962C8B-B14F-4D97-AF65-F5344CB8AC3E}">
        <p14:creationId xmlns:p14="http://schemas.microsoft.com/office/powerpoint/2010/main" val="522614238"/>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10855107-4810-4614-9FEB-D828C0229624}"/>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Sources and further reading</a:t>
            </a:r>
          </a:p>
        </p:txBody>
      </p:sp>
      <p:sp>
        <p:nvSpPr>
          <p:cNvPr id="2" name="paragraph-0">
            <a:extLst xmlns:a="http://schemas.openxmlformats.org/drawingml/2006/main">
              <a:ext uri="{FF2B5EF4-FFF2-40B4-BE49-F238E27FC236}">
                <a16:creationId xmlns:a16="http://schemas.microsoft.com/office/drawing/2014/main" id="{0D84DC9B-F344-485B-B1F3-1D10CC3C5A07}"/>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3. Freifeld AG, et al. IDSA guideline for antimicrobial use in neutropenic patients with cancer. 2010 update.</a:t>
            </a:r>
          </a:p>
        </p:txBody>
      </p:sp>
      <p:sp>
        <p:nvSpPr>
          <p:cNvPr id="3" name="footer">
            <a:extLst xmlns:a="http://schemas.openxmlformats.org/drawingml/2006/main">
              <a:ext uri="{FF2B5EF4-FFF2-40B4-BE49-F238E27FC236}">
                <a16:creationId xmlns:a16="http://schemas.microsoft.com/office/drawing/2014/main" id="{EA4DD4B9-DF27-4F7D-93B5-E2C078442316}"/>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983B572C-DE9E-4DB4-A7C7-4B47E5DCC55C}"/>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27</a:t>
            </a:r>
          </a:p>
        </p:txBody>
      </p:sp>
    </p:spTree>
    <p:extLst>
      <p:ext uri="{BB962C8B-B14F-4D97-AF65-F5344CB8AC3E}">
        <p14:creationId xmlns:p14="http://schemas.microsoft.com/office/powerpoint/2010/main" val="740943466"/>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6F4AE808-E9FF-48FC-B857-837464D32DC4}"/>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Sources and further reading</a:t>
            </a:r>
          </a:p>
        </p:txBody>
      </p:sp>
      <p:sp>
        <p:nvSpPr>
          <p:cNvPr id="2" name="paragraph-0">
            <a:extLst xmlns:a="http://schemas.openxmlformats.org/drawingml/2006/main">
              <a:ext uri="{FF2B5EF4-FFF2-40B4-BE49-F238E27FC236}">
                <a16:creationId xmlns:a16="http://schemas.microsoft.com/office/drawing/2014/main" id="{91027BDB-047E-4FAA-ABBB-4DCECB2EDB1B}"/>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4. IDSA. Complicated intra-abdominal infections, diagnostic evaluation. 2024.</a:t>
            </a:r>
          </a:p>
        </p:txBody>
      </p:sp>
      <p:sp>
        <p:nvSpPr>
          <p:cNvPr id="3" name="footer">
            <a:extLst xmlns:a="http://schemas.openxmlformats.org/drawingml/2006/main">
              <a:ext uri="{FF2B5EF4-FFF2-40B4-BE49-F238E27FC236}">
                <a16:creationId xmlns:a16="http://schemas.microsoft.com/office/drawing/2014/main" id="{8F0A41F0-240E-4ECC-8084-EE73285CFF9E}"/>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74412F19-90FA-4418-8F1A-77A2B8727B8C}"/>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28</a:t>
            </a:r>
          </a:p>
        </p:txBody>
      </p:sp>
    </p:spTree>
    <p:extLst>
      <p:ext uri="{BB962C8B-B14F-4D97-AF65-F5344CB8AC3E}">
        <p14:creationId xmlns:p14="http://schemas.microsoft.com/office/powerpoint/2010/main" val="890074891"/>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D2E7E6A5-EABB-4E2C-8DF0-5910F0A78ECC}"/>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Sources and further reading</a:t>
            </a:r>
          </a:p>
        </p:txBody>
      </p:sp>
      <p:sp>
        <p:nvSpPr>
          <p:cNvPr id="2" name="paragraph-0">
            <a:extLst xmlns:a="http://schemas.openxmlformats.org/drawingml/2006/main">
              <a:ext uri="{FF2B5EF4-FFF2-40B4-BE49-F238E27FC236}">
                <a16:creationId xmlns:a16="http://schemas.microsoft.com/office/drawing/2014/main" id="{ADA2F9A3-8B5F-4E66-BA62-8090B83E2F6A}"/>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5. SHEA/IDSA. C. difficile infection guideline, diagnostic recommendations. 2017 update.</a:t>
            </a:r>
          </a:p>
        </p:txBody>
      </p:sp>
      <p:sp>
        <p:nvSpPr>
          <p:cNvPr id="3" name="footer">
            <a:extLst xmlns:a="http://schemas.openxmlformats.org/drawingml/2006/main">
              <a:ext uri="{FF2B5EF4-FFF2-40B4-BE49-F238E27FC236}">
                <a16:creationId xmlns:a16="http://schemas.microsoft.com/office/drawing/2014/main" id="{088FBE76-B6E1-4ACC-A5F7-A69EB2AFD455}"/>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3C103E43-755D-4553-868D-A5ADAC4D3F6F}"/>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29</a:t>
            </a:r>
          </a:p>
        </p:txBody>
      </p:sp>
    </p:spTree>
    <p:extLst>
      <p:ext uri="{BB962C8B-B14F-4D97-AF65-F5344CB8AC3E}">
        <p14:creationId xmlns:p14="http://schemas.microsoft.com/office/powerpoint/2010/main" val="1583601037"/>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EC9B2BD9-F558-4306-9F47-ECB2EB220773}"/>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Sources and further reading</a:t>
            </a:r>
          </a:p>
        </p:txBody>
      </p:sp>
      <p:sp>
        <p:nvSpPr>
          <p:cNvPr id="2" name="paragraph-0">
            <a:extLst xmlns:a="http://schemas.openxmlformats.org/drawingml/2006/main">
              <a:ext uri="{FF2B5EF4-FFF2-40B4-BE49-F238E27FC236}">
                <a16:creationId xmlns:a16="http://schemas.microsoft.com/office/drawing/2014/main" id="{A0F7367A-573A-4E76-8091-C7A681DAAE5C}"/>
              </a:ext>
            </a:extLst>
          </p:cNvPr>
          <p:cNvSpPr>
            <a:spLocks xmlns:a="http://schemas.openxmlformats.org/drawingml/2006/main" noGrp="1"/>
          </p:cNvSpPr>
          <p:nvPr/>
        </p:nvSpPr>
        <p:spPr>
          <a:xfrm xmlns:a="http://schemas.openxmlformats.org/drawingml/2006/main">
            <a:off x="647700" y="1952625"/>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6. Khan DA, et al. Drug allergy practice parameter update. 2022.</a:t>
            </a:r>
          </a:p>
        </p:txBody>
      </p:sp>
      <p:sp>
        <p:nvSpPr>
          <p:cNvPr id="3" name="footer">
            <a:extLst xmlns:a="http://schemas.openxmlformats.org/drawingml/2006/main">
              <a:ext uri="{FF2B5EF4-FFF2-40B4-BE49-F238E27FC236}">
                <a16:creationId xmlns:a16="http://schemas.microsoft.com/office/drawing/2014/main" id="{476E3AFF-58BE-4737-AE3C-E41991297D26}"/>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10F27396-AFC2-4EA8-8433-FA23D3CD24D4}"/>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30</a:t>
            </a:r>
          </a:p>
        </p:txBody>
      </p:sp>
    </p:spTree>
    <p:extLst>
      <p:ext uri="{BB962C8B-B14F-4D97-AF65-F5344CB8AC3E}">
        <p14:creationId xmlns:p14="http://schemas.microsoft.com/office/powerpoint/2010/main" val="1216475207"/>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09FC949B-A38E-4040-9FB7-BA5819B3A729}"/>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Sources and further reading</a:t>
            </a:r>
          </a:p>
        </p:txBody>
      </p:sp>
      <p:sp>
        <p:nvSpPr>
          <p:cNvPr id="2" name="paragraph-0">
            <a:extLst xmlns:a="http://schemas.openxmlformats.org/drawingml/2006/main">
              <a:ext uri="{FF2B5EF4-FFF2-40B4-BE49-F238E27FC236}">
                <a16:creationId xmlns:a16="http://schemas.microsoft.com/office/drawing/2014/main" id="{9D79A464-F333-4185-B8F0-C84C4A6C37EC}"/>
              </a:ext>
            </a:extLst>
          </p:cNvPr>
          <p:cNvSpPr>
            <a:spLocks xmlns:a="http://schemas.openxmlformats.org/drawingml/2006/main" noGrp="1"/>
          </p:cNvSpPr>
          <p:nvPr/>
        </p:nvSpPr>
        <p:spPr>
          <a:xfrm xmlns:a="http://schemas.openxmlformats.org/drawingml/2006/main">
            <a:off x="647700" y="195262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Teaching cases are fictional. Recommendations are paraphrased from the linked sources. Use current patient-specific guidance and local protocols when prescribing.</a:t>
            </a:r>
          </a:p>
        </p:txBody>
      </p:sp>
      <p:sp>
        <p:nvSpPr>
          <p:cNvPr id="3" name="footer">
            <a:extLst xmlns:a="http://schemas.openxmlformats.org/drawingml/2006/main">
              <a:ext uri="{FF2B5EF4-FFF2-40B4-BE49-F238E27FC236}">
                <a16:creationId xmlns:a16="http://schemas.microsoft.com/office/drawing/2014/main" id="{718C5714-1474-4B7D-9704-1301CD4D5C74}"/>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9114589E-1FB6-45F5-9AB3-CB39BC058657}"/>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31</a:t>
            </a:r>
          </a:p>
        </p:txBody>
      </p:sp>
    </p:spTree>
    <p:extLst>
      <p:ext uri="{BB962C8B-B14F-4D97-AF65-F5344CB8AC3E}">
        <p14:creationId xmlns:p14="http://schemas.microsoft.com/office/powerpoint/2010/main" val="3405956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2026-10-28T18:28:41.9530000Z</dcterms:created>
  <dcterms:modified xsi:type="dcterms:W3CDTF">2026-10-28T18:28:41.9530000Z</dcterms:modified>
</coreProperties>
</file>