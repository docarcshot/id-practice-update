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785d54e871b4912" /><Relationship Type="http://schemas.openxmlformats.org/officeDocument/2006/relationships/extended-properties" Target="/docProps/app.xml" Id="R605c5726776847b1" /><Relationship Type="http://schemas.openxmlformats.org/officeDocument/2006/relationships/officeDocument" Target="/ppt/presentation.xml" Id="Ref23ac04c88a4bbf" /></Relationships>
</file>

<file path=ppt/presentation.xml><?xml version="1.0" encoding="utf-8"?>
<p:presentation xmlns:p="http://schemas.openxmlformats.org/presentationml/2006/main">
  <p:sldMasterIdLst>
    <p:sldMasterId xmlns:r="http://schemas.openxmlformats.org/officeDocument/2006/relationships" id="2147483648" r:id="R7b26e7fb3151404b"/>
  </p:sldMasterIdLst>
  <p:notesMasterIdLst>
    <p:notesMasterId xmlns:r="http://schemas.openxmlformats.org/officeDocument/2006/relationships" r:id="R586e14b60b6145ee"/>
  </p:notesMasterIdLst>
  <p:sldIdLst>
    <p:sldId xmlns:r="http://schemas.openxmlformats.org/officeDocument/2006/relationships" id="256" r:id="R6179c9eb401d48da"/>
    <p:sldId xmlns:r="http://schemas.openxmlformats.org/officeDocument/2006/relationships" id="257" r:id="Rd04e2e261f16413b"/>
    <p:sldId xmlns:r="http://schemas.openxmlformats.org/officeDocument/2006/relationships" id="258" r:id="Rbcc225a8a7ff4dfe"/>
    <p:sldId xmlns:r="http://schemas.openxmlformats.org/officeDocument/2006/relationships" id="259" r:id="Rbce6998a857e4677"/>
    <p:sldId xmlns:r="http://schemas.openxmlformats.org/officeDocument/2006/relationships" id="260" r:id="R2ee1aad633844d83"/>
    <p:sldId xmlns:r="http://schemas.openxmlformats.org/officeDocument/2006/relationships" id="261" r:id="R934e63a23cc94d3b"/>
    <p:sldId xmlns:r="http://schemas.openxmlformats.org/officeDocument/2006/relationships" id="262" r:id="R59c3486cdf174f09"/>
    <p:sldId xmlns:r="http://schemas.openxmlformats.org/officeDocument/2006/relationships" id="263" r:id="R0732f743e04b44c6"/>
    <p:sldId xmlns:r="http://schemas.openxmlformats.org/officeDocument/2006/relationships" id="264" r:id="Rb114a7c02c00486d"/>
    <p:sldId xmlns:r="http://schemas.openxmlformats.org/officeDocument/2006/relationships" id="265" r:id="R9ff76e7773c6422c"/>
    <p:sldId xmlns:r="http://schemas.openxmlformats.org/officeDocument/2006/relationships" id="266" r:id="R33790ded127d48d0"/>
    <p:sldId xmlns:r="http://schemas.openxmlformats.org/officeDocument/2006/relationships" id="267" r:id="R9a5922decf344086"/>
    <p:sldId xmlns:r="http://schemas.openxmlformats.org/officeDocument/2006/relationships" id="268" r:id="Rb59fa4ec8b914290"/>
    <p:sldId xmlns:r="http://schemas.openxmlformats.org/officeDocument/2006/relationships" id="269" r:id="Re2345923eed64d6d"/>
    <p:sldId xmlns:r="http://schemas.openxmlformats.org/officeDocument/2006/relationships" id="270" r:id="R32ee97f246e14e08"/>
    <p:sldId xmlns:r="http://schemas.openxmlformats.org/officeDocument/2006/relationships" id="271" r:id="R074f79a8c032405b"/>
    <p:sldId xmlns:r="http://schemas.openxmlformats.org/officeDocument/2006/relationships" id="272" r:id="R7f922ce67a4f41ee"/>
    <p:sldId xmlns:r="http://schemas.openxmlformats.org/officeDocument/2006/relationships" id="273" r:id="Rc249c5ae4d3547f4"/>
    <p:sldId xmlns:r="http://schemas.openxmlformats.org/officeDocument/2006/relationships" id="274" r:id="Re29b9abae4174e40"/>
    <p:sldId xmlns:r="http://schemas.openxmlformats.org/officeDocument/2006/relationships" id="275" r:id="R1cb8691cc6e448a4"/>
    <p:sldId xmlns:r="http://schemas.openxmlformats.org/officeDocument/2006/relationships" id="276" r:id="R1223712bed0243ef"/>
    <p:sldId xmlns:r="http://schemas.openxmlformats.org/officeDocument/2006/relationships" id="277" r:id="R511bebbeae934df7"/>
    <p:sldId xmlns:r="http://schemas.openxmlformats.org/officeDocument/2006/relationships" id="278" r:id="R5b17620d28954d6b"/>
    <p:sldId xmlns:r="http://schemas.openxmlformats.org/officeDocument/2006/relationships" id="279" r:id="R4a47e2058c504e39"/>
    <p:sldId xmlns:r="http://schemas.openxmlformats.org/officeDocument/2006/relationships" id="280" r:id="R24870440c58b492a"/>
    <p:sldId xmlns:r="http://schemas.openxmlformats.org/officeDocument/2006/relationships" id="281" r:id="R4cd23e85e7994aec"/>
    <p:sldId xmlns:r="http://schemas.openxmlformats.org/officeDocument/2006/relationships" id="282" r:id="R29b039670902483c"/>
    <p:sldId xmlns:r="http://schemas.openxmlformats.org/officeDocument/2006/relationships" id="283" r:id="R1d04b9c6cdf74bb6"/>
    <p:sldId xmlns:r="http://schemas.openxmlformats.org/officeDocument/2006/relationships" id="284" r:id="R9ae66e40c6424b58"/>
    <p:sldId xmlns:r="http://schemas.openxmlformats.org/officeDocument/2006/relationships" id="285" r:id="R0ed926708a444e5d"/>
    <p:sldId xmlns:r="http://schemas.openxmlformats.org/officeDocument/2006/relationships" id="286" r:id="R44b5faf664524826"/>
    <p:sldId xmlns:r="http://schemas.openxmlformats.org/officeDocument/2006/relationships" id="287" r:id="R6e1266b4f1c34d88"/>
    <p:sldId xmlns:r="http://schemas.openxmlformats.org/officeDocument/2006/relationships" id="288" r:id="R3b2b89990a2f4f31"/>
    <p:sldId xmlns:r="http://schemas.openxmlformats.org/officeDocument/2006/relationships" id="289" r:id="R4abbb92b1c094aa1"/>
    <p:sldId xmlns:r="http://schemas.openxmlformats.org/officeDocument/2006/relationships" id="290" r:id="R3ceae1349fcc44dd"/>
    <p:sldId xmlns:r="http://schemas.openxmlformats.org/officeDocument/2006/relationships" id="291" r:id="R7b209d86ec0c45a6"/>
    <p:sldId xmlns:r="http://schemas.openxmlformats.org/officeDocument/2006/relationships" id="292" r:id="R0cfb034aa2cf4765"/>
    <p:sldId xmlns:r="http://schemas.openxmlformats.org/officeDocument/2006/relationships" id="293" r:id="R1172ea8dcd6a4077"/>
    <p:sldId xmlns:r="http://schemas.openxmlformats.org/officeDocument/2006/relationships" id="294" r:id="R2a586bf93309429b"/>
    <p:sldId xmlns:r="http://schemas.openxmlformats.org/officeDocument/2006/relationships" id="295" r:id="Rdd1ee91d5e60483c"/>
    <p:sldId xmlns:r="http://schemas.openxmlformats.org/officeDocument/2006/relationships" id="296" r:id="Rea8b273b4476463a"/>
    <p:sldId xmlns:r="http://schemas.openxmlformats.org/officeDocument/2006/relationships" id="297" r:id="R2764cc0ca5274bd4"/>
    <p:sldId xmlns:r="http://schemas.openxmlformats.org/officeDocument/2006/relationships" id="298" r:id="R429acbada5ce499f"/>
    <p:sldId xmlns:r="http://schemas.openxmlformats.org/officeDocument/2006/relationships" id="299" r:id="Ra3cf1644e6ea49cb"/>
    <p:sldId xmlns:r="http://schemas.openxmlformats.org/officeDocument/2006/relationships" id="300" r:id="R044959ee52f24bda"/>
    <p:sldId xmlns:r="http://schemas.openxmlformats.org/officeDocument/2006/relationships" id="301" r:id="R1a73ba80518d445f"/>
    <p:sldId xmlns:r="http://schemas.openxmlformats.org/officeDocument/2006/relationships" id="302" r:id="R9ed0006d8c214771"/>
    <p:sldId xmlns:r="http://schemas.openxmlformats.org/officeDocument/2006/relationships" id="303" r:id="Rfecc7582083547e2"/>
    <p:sldId xmlns:r="http://schemas.openxmlformats.org/officeDocument/2006/relationships" id="304" r:id="R997b853b16ef4c9b"/>
    <p:sldId xmlns:r="http://schemas.openxmlformats.org/officeDocument/2006/relationships" id="305" r:id="R6a9961e5785145e9"/>
    <p:sldId xmlns:r="http://schemas.openxmlformats.org/officeDocument/2006/relationships" id="306" r:id="R1a5099a1526e4a91"/>
    <p:sldId xmlns:r="http://schemas.openxmlformats.org/officeDocument/2006/relationships" id="307" r:id="Ra752f7bc27684272"/>
    <p:sldId xmlns:r="http://schemas.openxmlformats.org/officeDocument/2006/relationships" id="308" r:id="Rfa0228595a7a4c4f"/>
    <p:sldId xmlns:r="http://schemas.openxmlformats.org/officeDocument/2006/relationships" id="309" r:id="Rec393c1e932f4329"/>
    <p:sldId xmlns:r="http://schemas.openxmlformats.org/officeDocument/2006/relationships" id="310" r:id="Rea4fae0d94354578"/>
    <p:sldId xmlns:r="http://schemas.openxmlformats.org/officeDocument/2006/relationships" id="311" r:id="Re277591c8ba64085"/>
    <p:sldId xmlns:r="http://schemas.openxmlformats.org/officeDocument/2006/relationships" id="312" r:id="R5dea13a44b1e467e"/>
    <p:sldId xmlns:r="http://schemas.openxmlformats.org/officeDocument/2006/relationships" id="313" r:id="Ra24f7d6945b8461d"/>
    <p:sldId xmlns:r="http://schemas.openxmlformats.org/officeDocument/2006/relationships" id="314" r:id="R5988607a062d4e99"/>
    <p:sldId xmlns:r="http://schemas.openxmlformats.org/officeDocument/2006/relationships" id="315" r:id="R1fcb3ef72aa84543"/>
    <p:sldId xmlns:r="http://schemas.openxmlformats.org/officeDocument/2006/relationships" id="316" r:id="R452ca28a86f24587"/>
    <p:sldId xmlns:r="http://schemas.openxmlformats.org/officeDocument/2006/relationships" id="317" r:id="R4ba5a3103dd544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de4f7611b44818" /><Relationship Type="http://schemas.openxmlformats.org/officeDocument/2006/relationships/slideMaster" Target="/ppt/slideMasters/slideMaster1.xml" Id="R7b26e7fb3151404b" /><Relationship Type="http://schemas.openxmlformats.org/officeDocument/2006/relationships/notesMaster" Target="/ppt/notesMasters/notesMaster1.xml" Id="R586e14b60b6145ee" /><Relationship Type="http://schemas.openxmlformats.org/officeDocument/2006/relationships/presProps" Target="/ppt/presProps.xml" Id="R2d01cf5d63564ee7" /><Relationship Type="http://schemas.openxmlformats.org/officeDocument/2006/relationships/tableStyles" Target="/ppt/tableStyles.xml" Id="R4e46eaa9bce84635" /><Relationship Type="http://schemas.openxmlformats.org/officeDocument/2006/relationships/slide" Target="/ppt/slides/slide1.xml" Id="R6179c9eb401d48da" /><Relationship Type="http://schemas.openxmlformats.org/officeDocument/2006/relationships/slide" Target="/ppt/slides/slide2.xml" Id="Rd04e2e261f16413b" /><Relationship Type="http://schemas.openxmlformats.org/officeDocument/2006/relationships/slide" Target="/ppt/slides/slide3.xml" Id="Rbcc225a8a7ff4dfe" /><Relationship Type="http://schemas.openxmlformats.org/officeDocument/2006/relationships/slide" Target="/ppt/slides/slide4.xml" Id="Rbce6998a857e4677" /><Relationship Type="http://schemas.openxmlformats.org/officeDocument/2006/relationships/slide" Target="/ppt/slides/slide5.xml" Id="R2ee1aad633844d83" /><Relationship Type="http://schemas.openxmlformats.org/officeDocument/2006/relationships/slide" Target="/ppt/slides/slide6.xml" Id="R934e63a23cc94d3b" /><Relationship Type="http://schemas.openxmlformats.org/officeDocument/2006/relationships/slide" Target="/ppt/slides/slide7.xml" Id="R59c3486cdf174f09" /><Relationship Type="http://schemas.openxmlformats.org/officeDocument/2006/relationships/slide" Target="/ppt/slides/slide8.xml" Id="R0732f743e04b44c6" /><Relationship Type="http://schemas.openxmlformats.org/officeDocument/2006/relationships/slide" Target="/ppt/slides/slide9.xml" Id="Rb114a7c02c00486d" /><Relationship Type="http://schemas.openxmlformats.org/officeDocument/2006/relationships/slide" Target="/ppt/slides/slide10.xml" Id="R9ff76e7773c6422c" /><Relationship Type="http://schemas.openxmlformats.org/officeDocument/2006/relationships/slide" Target="/ppt/slides/slide11.xml" Id="R33790ded127d48d0" /><Relationship Type="http://schemas.openxmlformats.org/officeDocument/2006/relationships/slide" Target="/ppt/slides/slide12.xml" Id="R9a5922decf344086" /><Relationship Type="http://schemas.openxmlformats.org/officeDocument/2006/relationships/slide" Target="/ppt/slides/slide13.xml" Id="Rb59fa4ec8b914290" /><Relationship Type="http://schemas.openxmlformats.org/officeDocument/2006/relationships/slide" Target="/ppt/slides/slide14.xml" Id="Re2345923eed64d6d" /><Relationship Type="http://schemas.openxmlformats.org/officeDocument/2006/relationships/slide" Target="/ppt/slides/slide15.xml" Id="R32ee97f246e14e08" /><Relationship Type="http://schemas.openxmlformats.org/officeDocument/2006/relationships/slide" Target="/ppt/slides/slide16.xml" Id="R074f79a8c032405b" /><Relationship Type="http://schemas.openxmlformats.org/officeDocument/2006/relationships/slide" Target="/ppt/slides/slide17.xml" Id="R7f922ce67a4f41ee" /><Relationship Type="http://schemas.openxmlformats.org/officeDocument/2006/relationships/slide" Target="/ppt/slides/slide18.xml" Id="Rc249c5ae4d3547f4" /><Relationship Type="http://schemas.openxmlformats.org/officeDocument/2006/relationships/slide" Target="/ppt/slides/slide19.xml" Id="Re29b9abae4174e40" /><Relationship Type="http://schemas.openxmlformats.org/officeDocument/2006/relationships/slide" Target="/ppt/slides/slide20.xml" Id="R1cb8691cc6e448a4" /><Relationship Type="http://schemas.openxmlformats.org/officeDocument/2006/relationships/slide" Target="/ppt/slides/slide21.xml" Id="R1223712bed0243ef" /><Relationship Type="http://schemas.openxmlformats.org/officeDocument/2006/relationships/slide" Target="/ppt/slides/slide22.xml" Id="R511bebbeae934df7" /><Relationship Type="http://schemas.openxmlformats.org/officeDocument/2006/relationships/slide" Target="/ppt/slides/slide23.xml" Id="R5b17620d28954d6b" /><Relationship Type="http://schemas.openxmlformats.org/officeDocument/2006/relationships/slide" Target="/ppt/slides/slide24.xml" Id="R4a47e2058c504e39" /><Relationship Type="http://schemas.openxmlformats.org/officeDocument/2006/relationships/slide" Target="/ppt/slides/slide25.xml" Id="R24870440c58b492a" /><Relationship Type="http://schemas.openxmlformats.org/officeDocument/2006/relationships/slide" Target="/ppt/slides/slide26.xml" Id="R4cd23e85e7994aec" /><Relationship Type="http://schemas.openxmlformats.org/officeDocument/2006/relationships/slide" Target="/ppt/slides/slide27.xml" Id="R29b039670902483c" /><Relationship Type="http://schemas.openxmlformats.org/officeDocument/2006/relationships/slide" Target="/ppt/slides/slide28.xml" Id="R1d04b9c6cdf74bb6" /><Relationship Type="http://schemas.openxmlformats.org/officeDocument/2006/relationships/slide" Target="/ppt/slides/slide29.xml" Id="R9ae66e40c6424b58" /><Relationship Type="http://schemas.openxmlformats.org/officeDocument/2006/relationships/slide" Target="/ppt/slides/slide30.xml" Id="R0ed926708a444e5d" /><Relationship Type="http://schemas.openxmlformats.org/officeDocument/2006/relationships/slide" Target="/ppt/slides/slide31.xml" Id="R44b5faf664524826" /><Relationship Type="http://schemas.openxmlformats.org/officeDocument/2006/relationships/slide" Target="/ppt/slides/slide32.xml" Id="R6e1266b4f1c34d88" /><Relationship Type="http://schemas.openxmlformats.org/officeDocument/2006/relationships/slide" Target="/ppt/slides/slide33.xml" Id="R3b2b89990a2f4f31" /><Relationship Type="http://schemas.openxmlformats.org/officeDocument/2006/relationships/slide" Target="/ppt/slides/slide34.xml" Id="R4abbb92b1c094aa1" /><Relationship Type="http://schemas.openxmlformats.org/officeDocument/2006/relationships/slide" Target="/ppt/slides/slide35.xml" Id="R3ceae1349fcc44dd" /><Relationship Type="http://schemas.openxmlformats.org/officeDocument/2006/relationships/slide" Target="/ppt/slides/slide36.xml" Id="R7b209d86ec0c45a6" /><Relationship Type="http://schemas.openxmlformats.org/officeDocument/2006/relationships/slide" Target="/ppt/slides/slide37.xml" Id="R0cfb034aa2cf4765" /><Relationship Type="http://schemas.openxmlformats.org/officeDocument/2006/relationships/slide" Target="/ppt/slides/slide38.xml" Id="R1172ea8dcd6a4077" /><Relationship Type="http://schemas.openxmlformats.org/officeDocument/2006/relationships/slide" Target="/ppt/slides/slide39.xml" Id="R2a586bf93309429b" /><Relationship Type="http://schemas.openxmlformats.org/officeDocument/2006/relationships/slide" Target="/ppt/slides/slide40.xml" Id="Rdd1ee91d5e60483c" /><Relationship Type="http://schemas.openxmlformats.org/officeDocument/2006/relationships/slide" Target="/ppt/slides/slide41.xml" Id="Rea8b273b4476463a" /><Relationship Type="http://schemas.openxmlformats.org/officeDocument/2006/relationships/slide" Target="/ppt/slides/slide42.xml" Id="R2764cc0ca5274bd4" /><Relationship Type="http://schemas.openxmlformats.org/officeDocument/2006/relationships/slide" Target="/ppt/slides/slide43.xml" Id="R429acbada5ce499f" /><Relationship Type="http://schemas.openxmlformats.org/officeDocument/2006/relationships/slide" Target="/ppt/slides/slide44.xml" Id="Ra3cf1644e6ea49cb" /><Relationship Type="http://schemas.openxmlformats.org/officeDocument/2006/relationships/slide" Target="/ppt/slides/slide45.xml" Id="R044959ee52f24bda" /><Relationship Type="http://schemas.openxmlformats.org/officeDocument/2006/relationships/slide" Target="/ppt/slides/slide46.xml" Id="R1a73ba80518d445f" /><Relationship Type="http://schemas.openxmlformats.org/officeDocument/2006/relationships/slide" Target="/ppt/slides/slide47.xml" Id="R9ed0006d8c214771" /><Relationship Type="http://schemas.openxmlformats.org/officeDocument/2006/relationships/slide" Target="/ppt/slides/slide48.xml" Id="Rfecc7582083547e2" /><Relationship Type="http://schemas.openxmlformats.org/officeDocument/2006/relationships/slide" Target="/ppt/slides/slide49.xml" Id="R997b853b16ef4c9b" /><Relationship Type="http://schemas.openxmlformats.org/officeDocument/2006/relationships/slide" Target="/ppt/slides/slide50.xml" Id="R6a9961e5785145e9" /><Relationship Type="http://schemas.openxmlformats.org/officeDocument/2006/relationships/slide" Target="/ppt/slides/slide51.xml" Id="R1a5099a1526e4a91" /><Relationship Type="http://schemas.openxmlformats.org/officeDocument/2006/relationships/slide" Target="/ppt/slides/slide52.xml" Id="Ra752f7bc27684272" /><Relationship Type="http://schemas.openxmlformats.org/officeDocument/2006/relationships/slide" Target="/ppt/slides/slide53.xml" Id="Rfa0228595a7a4c4f" /><Relationship Type="http://schemas.openxmlformats.org/officeDocument/2006/relationships/slide" Target="/ppt/slides/slide54.xml" Id="Rec393c1e932f4329" /><Relationship Type="http://schemas.openxmlformats.org/officeDocument/2006/relationships/slide" Target="/ppt/slides/slide55.xml" Id="Rea4fae0d94354578" /><Relationship Type="http://schemas.openxmlformats.org/officeDocument/2006/relationships/slide" Target="/ppt/slides/slide56.xml" Id="Re277591c8ba64085" /><Relationship Type="http://schemas.openxmlformats.org/officeDocument/2006/relationships/slide" Target="/ppt/slides/slide57.xml" Id="R5dea13a44b1e467e" /><Relationship Type="http://schemas.openxmlformats.org/officeDocument/2006/relationships/slide" Target="/ppt/slides/slide58.xml" Id="Ra24f7d6945b8461d" /><Relationship Type="http://schemas.openxmlformats.org/officeDocument/2006/relationships/slide" Target="/ppt/slides/slide59.xml" Id="R5988607a062d4e99" /><Relationship Type="http://schemas.openxmlformats.org/officeDocument/2006/relationships/slide" Target="/ppt/slides/slide60.xml" Id="R1fcb3ef72aa84543" /><Relationship Type="http://schemas.openxmlformats.org/officeDocument/2006/relationships/slide" Target="/ppt/slides/slide61.xml" Id="R452ca28a86f24587" /><Relationship Type="http://schemas.openxmlformats.org/officeDocument/2006/relationships/slide" Target="/ppt/slides/slide62.xml" Id="R4ba5a3103dd544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6724765515340e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909a3adf2b942af" /><Relationship Type="http://schemas.openxmlformats.org/officeDocument/2006/relationships/notesMaster" Target="/ppt/notesMasters/notesMaster1.xml" Id="R8e8fc5a738484193" /></Relationships>
</file>

<file path=ppt/notesSlides/_rels/notesSlide2.xml.rels>&#65279;<?xml version="1.0" encoding="utf-8"?><Relationships xmlns="http://schemas.openxmlformats.org/package/2006/relationships"><Relationship Type="http://schemas.openxmlformats.org/officeDocument/2006/relationships/slide" Target="/ppt/slides/slide2.xml" Id="Rd44d3228a31d40ee" /><Relationship Type="http://schemas.openxmlformats.org/officeDocument/2006/relationships/notesMaster" Target="/ppt/notesMasters/notesMaster1.xml" Id="R567fe807350a4ce5" /></Relationships>
</file>

<file path=ppt/notesSlides/_rels/notesSlide3.xml.rels>&#65279;<?xml version="1.0" encoding="utf-8"?><Relationships xmlns="http://schemas.openxmlformats.org/package/2006/relationships"><Relationship Type="http://schemas.openxmlformats.org/officeDocument/2006/relationships/slide" Target="/ppt/slides/slide3.xml" Id="R01346084479e4766" /><Relationship Type="http://schemas.openxmlformats.org/officeDocument/2006/relationships/notesMaster" Target="/ppt/notesMasters/notesMaster1.xml" Id="R4545714366b4469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caf32724cc40c8" /><Relationship Type="http://schemas.openxmlformats.org/officeDocument/2006/relationships/notesMaster" Target="/ppt/notesMasters/notesMaster1.xml" Id="Ra086d05a7f8d44cc" /></Relationships>
</file>

<file path=ppt/notesSlides/_rels/notesSlide5.xml.rels>&#65279;<?xml version="1.0" encoding="utf-8"?><Relationships xmlns="http://schemas.openxmlformats.org/package/2006/relationships"><Relationship Type="http://schemas.openxmlformats.org/officeDocument/2006/relationships/slide" Target="/ppt/slides/slide5.xml" Id="Rb083c905bf6445c9" /><Relationship Type="http://schemas.openxmlformats.org/officeDocument/2006/relationships/notesMaster" Target="/ppt/notesMasters/notesMaster1.xml" Id="Rd63ed96ac83d4d6c" /></Relationships>
</file>

<file path=ppt/notesSlides/_rels/notesSlide6.xml.rels>&#65279;<?xml version="1.0" encoding="utf-8"?><Relationships xmlns="http://schemas.openxmlformats.org/package/2006/relationships"><Relationship Type="http://schemas.openxmlformats.org/officeDocument/2006/relationships/slide" Target="/ppt/slides/slide6.xml" Id="Rdf622bca997a427d" /><Relationship Type="http://schemas.openxmlformats.org/officeDocument/2006/relationships/notesMaster" Target="/ppt/notesMasters/notesMaster1.xml" Id="R4eb487bafe724572" /></Relationships>
</file>

<file path=ppt/notesSlides/_rels/notesSlide7.xml.rels>&#65279;<?xml version="1.0" encoding="utf-8"?><Relationships xmlns="http://schemas.openxmlformats.org/package/2006/relationships"><Relationship Type="http://schemas.openxmlformats.org/officeDocument/2006/relationships/slide" Target="/ppt/slides/slide7.xml" Id="R7b97a513184a4a1a" /><Relationship Type="http://schemas.openxmlformats.org/officeDocument/2006/relationships/notesMaster" Target="/ppt/notesMasters/notesMaster1.xml" Id="R01f1fbbb1e9f41d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4174486f5fe44f4" /><Relationship Type="http://schemas.openxmlformats.org/officeDocument/2006/relationships/notesMaster" Target="/ppt/notesMasters/notesMaster1.xml" Id="R7d9a32edb5bc4629" /></Relationships>
</file>

<file path=ppt/notesSlides/_rels/notesSlide9.xml.rels>&#65279;<?xml version="1.0" encoding="utf-8"?><Relationships xmlns="http://schemas.openxmlformats.org/package/2006/relationships"><Relationship Type="http://schemas.openxmlformats.org/officeDocument/2006/relationships/slide" Target="/ppt/slides/slide9.xml" Id="Raa0c009de05c4b8c" /><Relationship Type="http://schemas.openxmlformats.org/officeDocument/2006/relationships/notesMaster" Target="/ppt/notesMasters/notesMaster1.xml" Id="R921d8362318f457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90bdb4d9e1a487b" /><Relationship Type="http://schemas.openxmlformats.org/officeDocument/2006/relationships/notesMaster" Target="/ppt/notesMasters/notesMaster1.xml" Id="Rff05627566b949a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971054a2f534c86" /><Relationship Type="http://schemas.openxmlformats.org/officeDocument/2006/relationships/notesMaster" Target="/ppt/notesMasters/notesMaster1.xml" Id="R381a32745afe416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acd6fc1a7674d03" /><Relationship Type="http://schemas.openxmlformats.org/officeDocument/2006/relationships/notesMaster" Target="/ppt/notesMasters/notesMaster1.xml" Id="Ra879f3c0f58b494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9d72794fbca4bc5" /><Relationship Type="http://schemas.openxmlformats.org/officeDocument/2006/relationships/notesMaster" Target="/ppt/notesMasters/notesMaster1.xml" Id="Rae6f05eb17ab47c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5640e1b8129478b" /><Relationship Type="http://schemas.openxmlformats.org/officeDocument/2006/relationships/notesMaster" Target="/ppt/notesMasters/notesMaster1.xml" Id="Reedb0e067340493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c816151bc32470e" /><Relationship Type="http://schemas.openxmlformats.org/officeDocument/2006/relationships/notesMaster" Target="/ppt/notesMasters/notesMaster1.xml" Id="R7008172d05e64f6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120002f283d4911" /><Relationship Type="http://schemas.openxmlformats.org/officeDocument/2006/relationships/notesMaster" Target="/ppt/notesMasters/notesMaster1.xml" Id="R17e4498ef8f841d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3c6c69cb3374c0e" /><Relationship Type="http://schemas.openxmlformats.org/officeDocument/2006/relationships/notesMaster" Target="/ppt/notesMasters/notesMaster1.xml" Id="Rc38c14e26b294b9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e1f78ebccf145e2" /><Relationship Type="http://schemas.openxmlformats.org/officeDocument/2006/relationships/notesMaster" Target="/ppt/notesMasters/notesMaster1.xml" Id="Rc6cdbb10d9b244b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87dc96d904c4ad9" /><Relationship Type="http://schemas.openxmlformats.org/officeDocument/2006/relationships/notesMaster" Target="/ppt/notesMasters/notesMaster1.xml" Id="Ra614e4da1f6b4af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1ee796a943d4da7" /><Relationship Type="http://schemas.openxmlformats.org/officeDocument/2006/relationships/notesMaster" Target="/ppt/notesMasters/notesMaster1.xml" Id="Ra12fb38813a4422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9239de5a72d47c2" /><Relationship Type="http://schemas.openxmlformats.org/officeDocument/2006/relationships/notesMaster" Target="/ppt/notesMasters/notesMaster1.xml" Id="R3dde6af9787b419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e14c39fc1fd42ec" /><Relationship Type="http://schemas.openxmlformats.org/officeDocument/2006/relationships/notesMaster" Target="/ppt/notesMasters/notesMaster1.xml" Id="R14c91b9ac4c447c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ee78e17acf343f7" /><Relationship Type="http://schemas.openxmlformats.org/officeDocument/2006/relationships/notesMaster" Target="/ppt/notesMasters/notesMaster1.xml" Id="R90ae8841693a43d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ac7cee9e4714369" /><Relationship Type="http://schemas.openxmlformats.org/officeDocument/2006/relationships/notesMaster" Target="/ppt/notesMasters/notesMaster1.xml" Id="R362a695514894c1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8d0d26b7f3b4b2e" /><Relationship Type="http://schemas.openxmlformats.org/officeDocument/2006/relationships/notesMaster" Target="/ppt/notesMasters/notesMaster1.xml" Id="R7f981501eaf244a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a64bca6afd545f5" /><Relationship Type="http://schemas.openxmlformats.org/officeDocument/2006/relationships/notesMaster" Target="/ppt/notesMasters/notesMaster1.xml" Id="Rc888a2c4127a4da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9718ff74fce488c" /><Relationship Type="http://schemas.openxmlformats.org/officeDocument/2006/relationships/notesMaster" Target="/ppt/notesMasters/notesMaster1.xml" Id="R7e1858f480114b8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e3316a647554955" /><Relationship Type="http://schemas.openxmlformats.org/officeDocument/2006/relationships/notesMaster" Target="/ppt/notesMasters/notesMaster1.xml" Id="R89148fefb600445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33c58dfbd3c49ee" /><Relationship Type="http://schemas.openxmlformats.org/officeDocument/2006/relationships/notesMaster" Target="/ppt/notesMasters/notesMaster1.xml" Id="R48f56e291d9c4b7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de69c2f9452454b" /><Relationship Type="http://schemas.openxmlformats.org/officeDocument/2006/relationships/notesMaster" Target="/ppt/notesMasters/notesMaster1.xml" Id="R455c7f748c41462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8fc0fc01b614b61" /><Relationship Type="http://schemas.openxmlformats.org/officeDocument/2006/relationships/notesMaster" Target="/ppt/notesMasters/notesMaster1.xml" Id="R1dcf501c15b84f0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a906e27e472460d" /><Relationship Type="http://schemas.openxmlformats.org/officeDocument/2006/relationships/notesMaster" Target="/ppt/notesMasters/notesMaster1.xml" Id="Ra97ba69cb3e84f8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6d2579e91f24179" /><Relationship Type="http://schemas.openxmlformats.org/officeDocument/2006/relationships/notesMaster" Target="/ppt/notesMasters/notesMaster1.xml" Id="Ra0218020428f467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1ded57024234d81" /><Relationship Type="http://schemas.openxmlformats.org/officeDocument/2006/relationships/notesMaster" Target="/ppt/notesMasters/notesMaster1.xml" Id="R1598896f437b4c7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31a90367f874d36" /><Relationship Type="http://schemas.openxmlformats.org/officeDocument/2006/relationships/notesMaster" Target="/ppt/notesMasters/notesMaster1.xml" Id="R257bf45326ef4a3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2b4c09cfe1a4484" /><Relationship Type="http://schemas.openxmlformats.org/officeDocument/2006/relationships/notesMaster" Target="/ppt/notesMasters/notesMaster1.xml" Id="R692dd04c4cab429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de82215c28d40ae" /><Relationship Type="http://schemas.openxmlformats.org/officeDocument/2006/relationships/notesMaster" Target="/ppt/notesMasters/notesMaster1.xml" Id="R5b78e5353ffa495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838e6bd467547d7" /><Relationship Type="http://schemas.openxmlformats.org/officeDocument/2006/relationships/notesMaster" Target="/ppt/notesMasters/notesMaster1.xml" Id="R0f90f42f21d64b3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8b3ca4e01cb439b" /><Relationship Type="http://schemas.openxmlformats.org/officeDocument/2006/relationships/notesMaster" Target="/ppt/notesMasters/notesMaster1.xml" Id="Ra4a5bbf7601d4896"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e69008027704b18" /><Relationship Type="http://schemas.openxmlformats.org/officeDocument/2006/relationships/notesMaster" Target="/ppt/notesMasters/notesMaster1.xml" Id="Rd99f48e5f0f248cc"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c5c99a628f349c9" /><Relationship Type="http://schemas.openxmlformats.org/officeDocument/2006/relationships/notesMaster" Target="/ppt/notesMasters/notesMaster1.xml" Id="Rba7ff3f5f434488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23847edd7fcb4530" /><Relationship Type="http://schemas.openxmlformats.org/officeDocument/2006/relationships/notesMaster" Target="/ppt/notesMasters/notesMaster1.xml" Id="R7ef5e10ddb91458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4fd4fe75024043a5" /><Relationship Type="http://schemas.openxmlformats.org/officeDocument/2006/relationships/notesMaster" Target="/ppt/notesMasters/notesMaster1.xml" Id="R454c8da40dac4ca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21eea28d54d54e70" /><Relationship Type="http://schemas.openxmlformats.org/officeDocument/2006/relationships/notesMaster" Target="/ppt/notesMasters/notesMaster1.xml" Id="Rba54ba3897e04ca2"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0f7b469c26734861" /><Relationship Type="http://schemas.openxmlformats.org/officeDocument/2006/relationships/notesMaster" Target="/ppt/notesMasters/notesMaster1.xml" Id="R587e970c36834d16"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55f2c18949474228" /><Relationship Type="http://schemas.openxmlformats.org/officeDocument/2006/relationships/notesMaster" Target="/ppt/notesMasters/notesMaster1.xml" Id="R76169835ec3643fa"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95cf82e62fc44bbb" /><Relationship Type="http://schemas.openxmlformats.org/officeDocument/2006/relationships/notesMaster" Target="/ppt/notesMasters/notesMaster1.xml" Id="R8fdbb2126142417c"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17730a6ff6a449b3" /><Relationship Type="http://schemas.openxmlformats.org/officeDocument/2006/relationships/notesMaster" Target="/ppt/notesMasters/notesMaster1.xml" Id="Ra0dbb88e650a4a3f"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91224e7a77d942bd" /><Relationship Type="http://schemas.openxmlformats.org/officeDocument/2006/relationships/notesMaster" Target="/ppt/notesMasters/notesMaster1.xml" Id="R3808de208bf54cc2"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dbb4012979c84642" /><Relationship Type="http://schemas.openxmlformats.org/officeDocument/2006/relationships/notesMaster" Target="/ppt/notesMasters/notesMaster1.xml" Id="Rafaf2565d83446da"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1cb4b2ec69264cf0" /><Relationship Type="http://schemas.openxmlformats.org/officeDocument/2006/relationships/notesMaster" Target="/ppt/notesMasters/notesMaster1.xml" Id="R03088b2dc7ea4d8b"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7bce9950df2b4794" /><Relationship Type="http://schemas.openxmlformats.org/officeDocument/2006/relationships/notesMaster" Target="/ppt/notesMasters/notesMaster1.xml" Id="Rdd748b83aa1c4155"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670d61e343684755" /><Relationship Type="http://schemas.openxmlformats.org/officeDocument/2006/relationships/notesMaster" Target="/ppt/notesMasters/notesMaster1.xml" Id="Re27740c9c07d4abb"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50d6deb9e5d04df3" /><Relationship Type="http://schemas.openxmlformats.org/officeDocument/2006/relationships/notesMaster" Target="/ppt/notesMasters/notesMaster1.xml" Id="R765eb3fa452142cf"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ee82f1a76f264c83" /><Relationship Type="http://schemas.openxmlformats.org/officeDocument/2006/relationships/notesMaster" Target="/ppt/notesMasters/notesMaster1.xml" Id="Re498b7db0e824802"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41c24a0566024737" /><Relationship Type="http://schemas.openxmlformats.org/officeDocument/2006/relationships/notesMaster" Target="/ppt/notesMasters/notesMaster1.xml" Id="Rb02c0f90ac4a4955"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f645a3e8dc4b4457" /><Relationship Type="http://schemas.openxmlformats.org/officeDocument/2006/relationships/notesMaster" Target="/ppt/notesMasters/notesMaster1.xml" Id="Re58499a28f384e44"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72ad360f51fa463b" /><Relationship Type="http://schemas.openxmlformats.org/officeDocument/2006/relationships/notesMaster" Target="/ppt/notesMasters/notesMaster1.xml" Id="Rd5006f4641784bf2"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96ca6cc154c94b8c" /><Relationship Type="http://schemas.openxmlformats.org/officeDocument/2006/relationships/notesMaster" Target="/ppt/notesMasters/notesMaster1.xml" Id="R25616cf641e74842"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998495fd305a4759" /><Relationship Type="http://schemas.openxmlformats.org/officeDocument/2006/relationships/notesMaster" Target="/ppt/notesMasters/notesMaster1.xml" Id="R76e6776285544259"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ad452a7a8df44342" /><Relationship Type="http://schemas.openxmlformats.org/officeDocument/2006/relationships/notesMaster" Target="/ppt/notesMasters/notesMaster1.xml" Id="R79bddf39c79b48ed"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db1ee1f63e70499f" /><Relationship Type="http://schemas.openxmlformats.org/officeDocument/2006/relationships/notesMaster" Target="/ppt/notesMasters/notesMaster1.xml" Id="R07e055b503a3414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https://docarcshot.github.io/id-practice-update/lectures/Penicillin_Allergy_Short_Module.html</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reaction history determines the next step A 52-year-old with a susceptible bacterial infection has an amoxicillin allergy label. At age 8, a rash appeared several days into treatment. There were no mouth sores, blisters, breathing symptoms, or hospitalization. The patient has avoided penicillins since then. What was the drug, when did the reaction start, what actually happened, was treatment required, and which beta-lactams have been tolerated since? Up to 10% of patients report a penicillin allergy, but fewer than 10% of those evaluated with testing have a current immediate IgE-mediated allergy. The discrepancy reflects inaccurate labels, rashes caused by the underlying infection, and loss of sensitization over time. The history still matters. A label of "rash" is not enough information. [1] [2] An inaccurate label often leads to broader or less effective therapy. That is associated with more adverse drug effects, C. difficile infection, resistant organisms, longer hospitalization, and higher cost. The goal is not to make the label disappear. The goal is to give the best antibiotic safely. [2]</a:t>
            </a:r>
          </a:p>
          <a:p xmlns:a="http://schemas.openxmlformats.org/drawingml/2006/main">
            <a:r>
              <a:t/>
            </a:r>
          </a:p>
          <a:p xmlns:a="http://schemas.openxmlformats.org/drawingml/2006/main">
            <a:r>
              <a:t>Module section: https://docarcshot.github.io/id-practice-update/lectures/Penicillin_Allergy_Short_Module.html#core-1</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reaction history determines the next step A 52-year-old with a susceptible bacterial infection has an amoxicillin allergy label. At age 8, a rash appeared several days into treatment. There were no mouth sores, blisters, breathing symptoms, or hospitalization. The patient has avoided penicillins since then. What was the drug, when did the reaction start, what actually happened, was treatment required, and which beta-lactams have been tolerated since? Up to 10% of patients report a penicillin allergy, but fewer than 10% of those evaluated with testing have a current immediate IgE-mediated allergy. The discrepancy reflects inaccurate labels, rashes caused by the underlying infection, and loss of sensitization over time. The history still matters. A label of "rash" is not enough information. [1] [2] An inaccurate label often leads to broader or less effective therapy. That is associated with more adverse drug effects, C. difficile infection, resistant organisms, longer hospitalization, and higher cost. The goal is not to make the label disappear. The goal is to give the best antibiotic safely. [2]</a:t>
            </a:r>
          </a:p>
          <a:p xmlns:a="http://schemas.openxmlformats.org/drawingml/2006/main">
            <a:r>
              <a:t/>
            </a:r>
          </a:p>
          <a:p xmlns:a="http://schemas.openxmlformats.org/drawingml/2006/main">
            <a:r>
              <a:t>Module section: https://docarcshot.github.io/id-practice-update/lectures/Penicillin_Allergy_Short_Module.html#core-1</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reaction history determines the next step A 52-year-old with a susceptible bacterial infection has an amoxicillin allergy label. At age 8, a rash appeared several days into treatment. There were no mouth sores, blisters, breathing symptoms, or hospitalization. The patient has avoided penicillins since then. What was the drug, when did the reaction start, what actually happened, was treatment required, and which beta-lactams have been tolerated since? Up to 10% of patients report a penicillin allergy, but fewer than 10% of those evaluated with testing have a current immediate IgE-mediated allergy. The discrepancy reflects inaccurate labels, rashes caused by the underlying infection, and loss of sensitization over time. The history still matters. A label of "rash" is not enough information. [1] [2] An inaccurate label often leads to broader or less effective therapy. That is associated with more adverse drug effects, C. difficile infection, resistant organisms, longer hospitalization, and higher cost. The goal is not to make the label disappear. The goal is to give the best antibiotic safely. [2]</a:t>
            </a:r>
          </a:p>
          <a:p xmlns:a="http://schemas.openxmlformats.org/drawingml/2006/main">
            <a:r>
              <a:t/>
            </a:r>
          </a:p>
          <a:p xmlns:a="http://schemas.openxmlformats.org/drawingml/2006/main">
            <a:r>
              <a:t>Module section: https://docarcshot.github.io/id-practice-update/lectures/Penicillin_Allergy_Short_Module.html#core-1</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Classify the reaction before choosing another beta-lactam Timing and phenotype matter more than the word allergy. Pattern Typical timing Typical findings Resident implication Immediate, IgE-mediated Usually within minutes to about 1 hour, but may occur within several hours Urticaria, angioedema, bronchospasm, hypotension, anaphylaxis Clarify the culprit and timing. Use the local allergy pathway and review side-chain relationships before selecting therapy. Cytotoxic Days to weeks Immune hemolytic anemia or thrombocytopenia Do not use a routine challenge pathway. Avoid the culprit and obtain specialist guidance. Immune complex Days to weeks Serum sickness-like reaction, drug fever, or interstitial nephritis Skin testing for immediate allergy does not establish safety. Avoid the culprit and obtain guidance. Delayed, T-cell mediated Usually days to weeks Benign morbilliform eruption, or severe disease such as SJS/TEN, DRESS, or AGEP Separate a benign eruption from a severe cutaneous reaction. Never use PEN-FAST or routine challenge to clear a severe delayed reaction. Intolerance or nonallergic history Variable Isolated nausea, diarrhea, headache, family history, or a label without a patient reaction These findings alone do not establish immune-mediated allergy. Document the history accurately. The classic Gell-Coombs categories help organize the phenotype, but real reactions do not always fit neatly into one box. Ask specifically about mucosal injury, skin peeling, facial edema, eosinophilia, kidney or liver injury, cytopenias, treatment required, and subsequent beta-lactam tolerance. [1] [4]</a:t>
            </a:r>
          </a:p>
          <a:p xmlns:a="http://schemas.openxmlformats.org/drawingml/2006/main">
            <a:r>
              <a:t/>
            </a:r>
          </a:p>
          <a:p xmlns:a="http://schemas.openxmlformats.org/drawingml/2006/main">
            <a:r>
              <a:t>Module section: https://docarcshot.github.io/id-practice-update/lectures/Penicillin_Allergy_Short_Module.html#core-2</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Classify the reaction before choosing another beta-lactam Timing and phenotype matter more than the word allergy. Pattern Typical timing Typical findings Resident implication Immediate, IgE-mediated Usually within minutes to about 1 hour, but may occur within several hours Urticaria, angioedema, bronchospasm, hypotension, anaphylaxis Clarify the culprit and timing. Use the local allergy pathway and review side-chain relationships before selecting therapy. Cytotoxic Days to weeks Immune hemolytic anemia or thrombocytopenia Do not use a routine challenge pathway. Avoid the culprit and obtain specialist guidance. Immune complex Days to weeks Serum sickness-like reaction, drug fever, or interstitial nephritis Skin testing for immediate allergy does not establish safety. Avoid the culprit and obtain guidance. Delayed, T-cell mediated Usually days to weeks Benign morbilliform eruption, or severe disease such as SJS/TEN, DRESS, or AGEP Separate a benign eruption from a severe cutaneous reaction. Never use PEN-FAST or routine challenge to clear a severe delayed reaction. Intolerance or nonallergic history Variable Isolated nausea, diarrhea, headache, family history, or a label without a patient reaction These findings alone do not establish immune-mediated allergy. Document the history accurately. The classic Gell-Coombs categories help organize the phenotype, but real reactions do not always fit neatly into one box. Ask specifically about mucosal injury, skin peeling, facial edema, eosinophilia, kidney or liver injury, cytopenias, treatment required, and subsequent beta-lactam tolerance. [1] [4]</a:t>
            </a:r>
          </a:p>
          <a:p xmlns:a="http://schemas.openxmlformats.org/drawingml/2006/main">
            <a:r>
              <a:t/>
            </a:r>
          </a:p>
          <a:p xmlns:a="http://schemas.openxmlformats.org/drawingml/2006/main">
            <a:r>
              <a:t>Module section: https://docarcshot.github.io/id-practice-update/lectures/Penicillin_Allergy_Short_Module.html#core-2</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Classify the reaction before choosing another beta-lactam Timing and phenotype matter more than the word allergy. Pattern Typical timing Typical findings Resident implication Immediate, IgE-mediated Usually within minutes to about 1 hour, but may occur within several hours Urticaria, angioedema, bronchospasm, hypotension, anaphylaxis Clarify the culprit and timing. Use the local allergy pathway and review side-chain relationships before selecting therapy. Cytotoxic Days to weeks Immune hemolytic anemia or thrombocytopenia Do not use a routine challenge pathway. Avoid the culprit and obtain specialist guidance. Immune complex Days to weeks Serum sickness-like reaction, drug fever, or interstitial nephritis Skin testing for immediate allergy does not establish safety. Avoid the culprit and obtain guidance. Delayed, T-cell mediated Usually days to weeks Benign morbilliform eruption, or severe disease such as SJS/TEN, DRESS, or AGEP Separate a benign eruption from a severe cutaneous reaction. Never use PEN-FAST or routine challenge to clear a severe delayed reaction. Intolerance or nonallergic history Variable Isolated nausea, diarrhea, headache, family history, or a label without a patient reaction These findings alone do not establish immune-mediated allergy. Document the history accurately. The classic Gell-Coombs categories help organize the phenotype, but real reactions do not always fit neatly into one box. Ask specifically about mucosal injury, skin peeling, facial edema, eosinophilia, kidney or liver injury, cytopenias, treatment required, and subsequent beta-lactam tolerance. [1] [4]</a:t>
            </a:r>
          </a:p>
          <a:p xmlns:a="http://schemas.openxmlformats.org/drawingml/2006/main">
            <a:r>
              <a:t/>
            </a:r>
          </a:p>
          <a:p xmlns:a="http://schemas.openxmlformats.org/drawingml/2006/main">
            <a:r>
              <a:t>Module section: https://docarcshot.github.io/id-practice-update/lectures/Penicillin_Allergy_Short_Module.html#core-2</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Classify the reaction before choosing another beta-lactam Timing and phenotype matter more than the word allergy. Pattern Typical timing Typical findings Resident implication Immediate, IgE-mediated Usually within minutes to about 1 hour, but may occur within several hours Urticaria, angioedema, bronchospasm, hypotension, anaphylaxis Clarify the culprit and timing. Use the local allergy pathway and review side-chain relationships before selecting therapy. Cytotoxic Days to weeks Immune hemolytic anemia or thrombocytopenia Do not use a routine challenge pathway. Avoid the culprit and obtain specialist guidance. Immune complex Days to weeks Serum sickness-like reaction, drug fever, or interstitial nephritis Skin testing for immediate allergy does not establish safety. Avoid the culprit and obtain guidance. Delayed, T-cell mediated Usually days to weeks Benign morbilliform eruption, or severe disease such as SJS/TEN, DRESS, or AGEP Separate a benign eruption from a severe cutaneous reaction. Never use PEN-FAST or routine challenge to clear a severe delayed reaction. Intolerance or nonallergic history Variable Isolated nausea, diarrhea, headache, family history, or a label without a patient reaction These findings alone do not establish immune-mediated allergy. Document the history accurately. The classic Gell-Coombs categories help organize the phenotype, but real reactions do not always fit neatly into one box. Ask specifically about mucosal injury, skin peeling, facial edema, eosinophilia, kidney or liver injury, cytopenias, treatment required, and subsequent beta-lactam tolerance. [1] [4]</a:t>
            </a:r>
          </a:p>
          <a:p xmlns:a="http://schemas.openxmlformats.org/drawingml/2006/main">
            <a:r>
              <a:t/>
            </a:r>
          </a:p>
          <a:p xmlns:a="http://schemas.openxmlformats.org/drawingml/2006/main">
            <a:r>
              <a:t>Module section: https://docarcshot.github.io/id-practice-update/lectures/Penicillin_Allergy_Short_Module.html#core-2</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Classify the reaction before choosing another beta-lactam Timing and phenotype matter more than the word allergy. Pattern Typical timing Typical findings Resident implication Immediate, IgE-mediated Usually within minutes to about 1 hour, but may occur within several hours Urticaria, angioedema, bronchospasm, hypotension, anaphylaxis Clarify the culprit and timing. Use the local allergy pathway and review side-chain relationships before selecting therapy. Cytotoxic Days to weeks Immune hemolytic anemia or thrombocytopenia Do not use a routine challenge pathway. Avoid the culprit and obtain specialist guidance. Immune complex Days to weeks Serum sickness-like reaction, drug fever, or interstitial nephritis Skin testing for immediate allergy does not establish safety. Avoid the culprit and obtain guidance. Delayed, T-cell mediated Usually days to weeks Benign morbilliform eruption, or severe disease such as SJS/TEN, DRESS, or AGEP Separate a benign eruption from a severe cutaneous reaction. Never use PEN-FAST or routine challenge to clear a severe delayed reaction. Intolerance or nonallergic history Variable Isolated nausea, diarrhea, headache, family history, or a label without a patient reaction These findings alone do not establish immune-mediated allergy. Document the history accurately. The classic Gell-Coombs categories help organize the phenotype, but real reactions do not always fit neatly into one box. Ask specifically about mucosal injury, skin peeling, facial edema, eosinophilia, kidney or liver injury, cytopenias, treatment required, and subsequent beta-lactam tolerance. [1] [4]</a:t>
            </a:r>
          </a:p>
          <a:p xmlns:a="http://schemas.openxmlformats.org/drawingml/2006/main">
            <a:r>
              <a:t/>
            </a:r>
          </a:p>
          <a:p xmlns:a="http://schemas.openxmlformats.org/drawingml/2006/main">
            <a:r>
              <a:t>Module section: https://docarcshot.github.io/id-practice-update/lectures/Penicillin_Allergy_Short_Module.html#core-2</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Classify the reaction before choosing another beta-lactam Timing and phenotype matter more than the word allergy. Pattern Typical timing Typical findings Resident implication Immediate, IgE-mediated Usually within minutes to about 1 hour, but may occur within several hours Urticaria, angioedema, bronchospasm, hypotension, anaphylaxis Clarify the culprit and timing. Use the local allergy pathway and review side-chain relationships before selecting therapy. Cytotoxic Days to weeks Immune hemolytic anemia or thrombocytopenia Do not use a routine challenge pathway. Avoid the culprit and obtain specialist guidance. Immune complex Days to weeks Serum sickness-like reaction, drug fever, or interstitial nephritis Skin testing for immediate allergy does not establish safety. Avoid the culprit and obtain guidance. Delayed, T-cell mediated Usually days to weeks Benign morbilliform eruption, or severe disease such as SJS/TEN, DRESS, or AGEP Separate a benign eruption from a severe cutaneous reaction. Never use PEN-FAST or routine challenge to clear a severe delayed reaction. Intolerance or nonallergic history Variable Isolated nausea, diarrhea, headache, family history, or a label without a patient reaction These findings alone do not establish immune-mediated allergy. Document the history accurately. The classic Gell-Coombs categories help organize the phenotype, but real reactions do not always fit neatly into one box. Ask specifically about mucosal injury, skin peeling, facial edema, eosinophilia, kidney or liver injury, cytopenias, treatment required, and subsequent beta-lactam tolerance. [1] [4]</a:t>
            </a:r>
          </a:p>
          <a:p xmlns:a="http://schemas.openxmlformats.org/drawingml/2006/main">
            <a:r>
              <a:t/>
            </a:r>
          </a:p>
          <a:p xmlns:a="http://schemas.openxmlformats.org/drawingml/2006/main">
            <a:r>
              <a:t>Module section: https://docarcshot.github.io/id-practice-update/lectures/Penicillin_Allergy_Short_Module.html#core-2</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PEN-FAST only after excluding a severe delayed reaction PEN-FAST estimates the probability of a positive penicillin-allergy test in adults. Criterion Points F ive years or less since the reaction, or timing unknown 2 A naphylaxis or angioedema, or S evere cutaneous adverse reaction 2 T reatment required, or treatment unknown 1 Score Estimated risk of positive testing 0 Very low, less than 1% 1-2 Low, about 5% 3 Moderate, about 20% 4-5 High, about 50% A score below 3 identifies a lower-risk group and had a negative predictive value of 96.3% in the derivation and validation study. It does not remove the allergy label or independently authorize a challenge. A remote severe cutaneous reaction may still produce a low score. Open the PEN-FAST calculator. [5]</a:t>
            </a:r>
          </a:p>
          <a:p xmlns:a="http://schemas.openxmlformats.org/drawingml/2006/main">
            <a:r>
              <a:t/>
            </a:r>
          </a:p>
          <a:p xmlns:a="http://schemas.openxmlformats.org/drawingml/2006/main">
            <a:r>
              <a:t>Module section: https://docarcshot.github.io/id-practice-update/lectures/Penicillin_Allergy_Short_Module.html#pen-fast</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PEN-FAST only after excluding a severe delayed reaction PEN-FAST estimates the probability of a positive penicillin-allergy test in adults. Criterion Points F ive years or less since the reaction, or timing unknown 2 A naphylaxis or angioedema, or S evere cutaneous adverse reaction 2 T reatment required, or treatment unknown 1 Score Estimated risk of positive testing 0 Very low, less than 1% 1-2 Low, about 5% 3 Moderate, about 20% 4-5 High, about 50% A score below 3 identifies a lower-risk group and had a negative predictive value of 96.3% in the derivation and validation study. It does not remove the allergy label or independently authorize a challenge. A remote severe cutaneous reaction may still produce a low score. Open the PEN-FAST calculator. [5]</a:t>
            </a:r>
          </a:p>
          <a:p xmlns:a="http://schemas.openxmlformats.org/drawingml/2006/main">
            <a:r>
              <a:t/>
            </a:r>
          </a:p>
          <a:p xmlns:a="http://schemas.openxmlformats.org/drawingml/2006/main">
            <a:r>
              <a:t>Module section: https://docarcshot.github.io/id-practice-update/lectures/Penicillin_Allergy_Short_Module.html#pen-fast</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PEN-FAST only after excluding a severe delayed reaction PEN-FAST estimates the probability of a positive penicillin-allergy test in adults. Criterion Points F ive years or less since the reaction, or timing unknown 2 A naphylaxis or angioedema, or S evere cutaneous adverse reaction 2 T reatment required, or treatment unknown 1 Score Estimated risk of positive testing 0 Very low, less than 1% 1-2 Low, about 5% 3 Moderate, about 20% 4-5 High, about 50% A score below 3 identifies a lower-risk group and had a negative predictive value of 96.3% in the derivation and validation study. It does not remove the allergy label or independently authorize a challenge. A remote severe cutaneous reaction may still produce a low score. Open the PEN-FAST calculator. [5]</a:t>
            </a:r>
          </a:p>
          <a:p xmlns:a="http://schemas.openxmlformats.org/drawingml/2006/main">
            <a:r>
              <a:t/>
            </a:r>
          </a:p>
          <a:p xmlns:a="http://schemas.openxmlformats.org/drawingml/2006/main">
            <a:r>
              <a:t>Module section: https://docarcshot.github.io/id-practice-update/lectures/Penicillin_Allergy_Short_Module.html#pen-fast</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PEN-FAST only after excluding a severe delayed reaction PEN-FAST estimates the probability of a positive penicillin-allergy test in adults. Criterion Points F ive years or less since the reaction, or timing unknown 2 A naphylaxis or angioedema, or S evere cutaneous adverse reaction 2 T reatment required, or treatment unknown 1 Score Estimated risk of positive testing 0 Very low, less than 1% 1-2 Low, about 5% 3 Moderate, about 20% 4-5 High, about 50% A score below 3 identifies a lower-risk group and had a negative predictive value of 96.3% in the derivation and validation study. It does not remove the allergy label or independently authorize a challenge. A remote severe cutaneous reaction may still produce a low score. Open the PEN-FAST calculator. [5]</a:t>
            </a:r>
          </a:p>
          <a:p xmlns:a="http://schemas.openxmlformats.org/drawingml/2006/main">
            <a:r>
              <a:t/>
            </a:r>
          </a:p>
          <a:p xmlns:a="http://schemas.openxmlformats.org/drawingml/2006/main">
            <a:r>
              <a:t>Module section: https://docarcshot.github.io/id-practice-update/lectures/Penicillin_Allergy_Short_Module.html#pen-fast</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Testing, challenge, and desensitization answer different questions Follow the current BJC pathway. These procedures are not interchangeable. Approach Purpose BJC practice Penicillin skin testing Assesses immediate IgE sensitization using major determinant reagent, penicillin G, and controls. A negative test is generally followed by an observed amoxicillin challenge. Performed by Allergy/Immunology. It does not evaluate SJS/TEN, DRESS, AGEP, interstitial nephritis, serum sickness, hemolytic anemia, or other serious non-IgE reactions. Graded or test-dose challenge Tests whether a selected low-risk patient tolerates the drug. It does not induce temporary tolerance. Use the current local protocol and Allergy/Immunology guidance. Do not improvise an inpatient challenge from this lecture. Desensitization Creates temporary tolerance when the preferred drug is necessary and immediate allergy is established or strongly suspected. Requires a supervised protocol and uninterrupted dosing. It does not remove the allergy label and is not a routine approach to severe delayed reactions. Consider Allergy/Immunology when the label is forcing inferior therapy, when an immunocompromised patient is likely to need repeated antibiotics, or when multiple antimicrobial allergy labels substantially limit treatment. [2] [4]</a:t>
            </a:r>
          </a:p>
          <a:p xmlns:a="http://schemas.openxmlformats.org/drawingml/2006/main">
            <a:r>
              <a:t/>
            </a:r>
          </a:p>
          <a:p xmlns:a="http://schemas.openxmlformats.org/drawingml/2006/main">
            <a:r>
              <a:t>Module section: https://docarcshot.github.io/id-practice-update/lectures/Penicillin_Allergy_Short_Module.html#core-3</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Testing, challenge, and desensitization answer different questions Follow the current BJC pathway. These procedures are not interchangeable. Approach Purpose BJC practice Penicillin skin testing Assesses immediate IgE sensitization using major determinant reagent, penicillin G, and controls. A negative test is generally followed by an observed amoxicillin challenge. Performed by Allergy/Immunology. It does not evaluate SJS/TEN, DRESS, AGEP, interstitial nephritis, serum sickness, hemolytic anemia, or other serious non-IgE reactions. Graded or test-dose challenge Tests whether a selected low-risk patient tolerates the drug. It does not induce temporary tolerance. Use the current local protocol and Allergy/Immunology guidance. Do not improvise an inpatient challenge from this lecture. Desensitization Creates temporary tolerance when the preferred drug is necessary and immediate allergy is established or strongly suspected. Requires a supervised protocol and uninterrupted dosing. It does not remove the allergy label and is not a routine approach to severe delayed reactions. Consider Allergy/Immunology when the label is forcing inferior therapy, when an immunocompromised patient is likely to need repeated antibiotics, or when multiple antimicrobial allergy labels substantially limit treatment. [2] [4]</a:t>
            </a:r>
          </a:p>
          <a:p xmlns:a="http://schemas.openxmlformats.org/drawingml/2006/main">
            <a:r>
              <a:t/>
            </a:r>
          </a:p>
          <a:p xmlns:a="http://schemas.openxmlformats.org/drawingml/2006/main">
            <a:r>
              <a:t>Module section: https://docarcshot.github.io/id-practice-update/lectures/Penicillin_Allergy_Short_Module.html#core-3</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Testing, challenge, and desensitization answer different questions Follow the current BJC pathway. These procedures are not interchangeable. Approach Purpose BJC practice Penicillin skin testing Assesses immediate IgE sensitization using major determinant reagent, penicillin G, and controls. A negative test is generally followed by an observed amoxicillin challenge. Performed by Allergy/Immunology. It does not evaluate SJS/TEN, DRESS, AGEP, interstitial nephritis, serum sickness, hemolytic anemia, or other serious non-IgE reactions. Graded or test-dose challenge Tests whether a selected low-risk patient tolerates the drug. It does not induce temporary tolerance. Use the current local protocol and Allergy/Immunology guidance. Do not improvise an inpatient challenge from this lecture. Desensitization Creates temporary tolerance when the preferred drug is necessary and immediate allergy is established or strongly suspected. Requires a supervised protocol and uninterrupted dosing. It does not remove the allergy label and is not a routine approach to severe delayed reactions. Consider Allergy/Immunology when the label is forcing inferior therapy, when an immunocompromised patient is likely to need repeated antibiotics, or when multiple antimicrobial allergy labels substantially limit treatment. [2] [4]</a:t>
            </a:r>
          </a:p>
          <a:p xmlns:a="http://schemas.openxmlformats.org/drawingml/2006/main">
            <a:r>
              <a:t/>
            </a:r>
          </a:p>
          <a:p xmlns:a="http://schemas.openxmlformats.org/drawingml/2006/main">
            <a:r>
              <a:t>Module section: https://docarcshot.github.io/id-practice-update/lectures/Penicillin_Allergy_Short_Module.html#core-3</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Testing, challenge, and desensitization answer different questions Follow the current BJC pathway. These procedures are not interchangeable. Approach Purpose BJC practice Penicillin skin testing Assesses immediate IgE sensitization using major determinant reagent, penicillin G, and controls. A negative test is generally followed by an observed amoxicillin challenge. Performed by Allergy/Immunology. It does not evaluate SJS/TEN, DRESS, AGEP, interstitial nephritis, serum sickness, hemolytic anemia, or other serious non-IgE reactions. Graded or test-dose challenge Tests whether a selected low-risk patient tolerates the drug. It does not induce temporary tolerance. Use the current local protocol and Allergy/Immunology guidance. Do not improvise an inpatient challenge from this lecture. Desensitization Creates temporary tolerance when the preferred drug is necessary and immediate allergy is established or strongly suspected. Requires a supervised protocol and uninterrupted dosing. It does not remove the allergy label and is not a routine approach to severe delayed reactions. Consider Allergy/Immunology when the label is forcing inferior therapy, when an immunocompromised patient is likely to need repeated antibiotics, or when multiple antimicrobial allergy labels substantially limit treatment. [2] [4]</a:t>
            </a:r>
          </a:p>
          <a:p xmlns:a="http://schemas.openxmlformats.org/drawingml/2006/main">
            <a:r>
              <a:t/>
            </a:r>
          </a:p>
          <a:p xmlns:a="http://schemas.openxmlformats.org/drawingml/2006/main">
            <a:r>
              <a:t>Module section: https://docarcshot.github.io/id-practice-update/lectures/Penicillin_Allergy_Short_Module.html#core-3</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 penicillin allergy does not automatically exclude cefazolin Contemporary estimates place penicillin-cephalosporin cross-reactivity at roughly 2%, far below the older 8-10% teaching. Most clinically important cross-reactivity follows R1 side-chain similarity rather than cephalosporin generation. [4] For an unverified, nonanaphylactic penicillin allergy without a severe delayed phenotype, the 2022 practice parameter supports routine cephalosporin administration without preceding testing or added precautions. It also supports a structurally dissimilar cephalosporin such as cefazolin after penicillin anaphylaxis. This does not clear a cefazolin allergy or make cefazolin appropriate after a severe delayed beta-lactam reaction. Carbapenem cross-reactivity is very low; the same parameter supports carbapenem administration after penicillin or cephalosporin allergy, including anaphylaxis, without routine preceding testing or added precautions. [4] For the opening case, a remote benign rash may qualify for supervised direct amoxicillin challenge under the current pathway. If a cephalosporin is the appropriate treatment, the penicillin label alone need not delay its use. Choosing cefazolin and removing a penicillin label are separate decisions.</a:t>
            </a:r>
          </a:p>
          <a:p xmlns:a="http://schemas.openxmlformats.org/drawingml/2006/main">
            <a:r>
              <a:t/>
            </a:r>
          </a:p>
          <a:p xmlns:a="http://schemas.openxmlformats.org/drawingml/2006/main">
            <a:r>
              <a:t>Module section: https://docarcshot.github.io/id-practice-update/lectures/Penicillin_Allergy_Short_Module.html#core-4</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 penicillin allergy does not automatically exclude cefazolin Contemporary estimates place penicillin-cephalosporin cross-reactivity at roughly 2%, far below the older 8-10% teaching. Most clinically important cross-reactivity follows R1 side-chain similarity rather than cephalosporin generation. [4] For an unverified, nonanaphylactic penicillin allergy without a severe delayed phenotype, the 2022 practice parameter supports routine cephalosporin administration without preceding testing or added precautions. It also supports a structurally dissimilar cephalosporin such as cefazolin after penicillin anaphylaxis. This does not clear a cefazolin allergy or make cefazolin appropriate after a severe delayed beta-lactam reaction. Carbapenem cross-reactivity is very low; the same parameter supports carbapenem administration after penicillin or cephalosporin allergy, including anaphylaxis, without routine preceding testing or added precautions. [4] For the opening case, a remote benign rash may qualify for supervised direct amoxicillin challenge under the current pathway. If a cephalosporin is the appropriate treatment, the penicillin label alone need not delay its use. Choosing cefazolin and removing a penicillin label are separate decisions.</a:t>
            </a:r>
          </a:p>
          <a:p xmlns:a="http://schemas.openxmlformats.org/drawingml/2006/main">
            <a:r>
              <a:t/>
            </a:r>
          </a:p>
          <a:p xmlns:a="http://schemas.openxmlformats.org/drawingml/2006/main">
            <a:r>
              <a:t>Module section: https://docarcshot.github.io/id-practice-update/lectures/Penicillin_Allergy_Short_Module.html#core-4</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 penicillin allergy does not automatically exclude cefazolin Contemporary estimates place penicillin-cephalosporin cross-reactivity at roughly 2%, far below the older 8-10% teaching. Most clinically important cross-reactivity follows R1 side-chain similarity rather than cephalosporin generation. [4] For an unverified, nonanaphylactic penicillin allergy without a severe delayed phenotype, the 2022 practice parameter supports routine cephalosporin administration without preceding testing or added precautions. It also supports a structurally dissimilar cephalosporin such as cefazolin after penicillin anaphylaxis. This does not clear a cefazolin allergy or make cefazolin appropriate after a severe delayed beta-lactam reaction. Carbapenem cross-reactivity is very low; the same parameter supports carbapenem administration after penicillin or cephalosporin allergy, including anaphylaxis, without routine preceding testing or added precautions. [4] For the opening case, a remote benign rash may qualify for supervised direct amoxicillin challenge under the current pathway. If a cephalosporin is the appropriate treatment, the penicillin label alone need not delay its use. Choosing cefazolin and removing a penicillin label are separate decisions.</a:t>
            </a:r>
          </a:p>
          <a:p xmlns:a="http://schemas.openxmlformats.org/drawingml/2006/main">
            <a:r>
              <a:t/>
            </a:r>
          </a:p>
          <a:p xmlns:a="http://schemas.openxmlformats.org/drawingml/2006/main">
            <a:r>
              <a:t>Module section: https://docarcshot.github.io/id-practice-update/lectures/Penicillin_Allergy_Short_Module.html#core-4</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Compare the side chains on both axes This selected-drug matrix follows the same bedside logic as the BJC pathway and uses public structural sources. It highlights identical and related R1 side chains that can contribute to allergic cross-reactivity. It supports the reaction history; it does not predict an individual patient's risk or authorize a challenge. R1 relationships are more useful here than cephalosporin generation. [4] [7] I Identical R1 side chain. Potential cross-reactivity. S Similar R1 features. Potential cross-reactivity; the entire side chain is not identical. · No highlighted R1 pairing in this selected chart. This does not mean zero allergy risk. † Carbapenem comparison. Use the clinical note below. = The same antibiotic. This is not an alternative to the culprit. Read across from the suspected culprit to the proposed antibiotic. Both axes show the same 15 drugs. Proposed antibiotic → Suspected culprit ↓ Amoxicillin Ampicillin Cefadroxil Cefprozil Cephalexin Cefaclor Cefazolin Cefuroxime Ceftriaxone Cefotaxime Cefpodoxime Cefepime Ceftazidime Aztreonam Meropenem Amoxicillin = S I I S S · · · · · · · · † Ampicillin S = S S I I · · · · · · · · † Cefadroxil I S = I S S · · · · · · · · † Cefprozil I S I = S S · · · · · · · · † Cephalexin S I S S = I · · · · · · · · † Cefaclor S I S S I = · · · · · · · · † Cefazolin · · · · · · = · · · · · · · † Cefuroxime · · · · · · · = S S S S · · † Ceftriaxone · · · · · · · S = I I I · · † Cefotaxime · · · · · · · S I = I I · · † Cefpodoxime · · · · · · · S I I = I · · † Cefepime · · · · · · · S I I I = · · † Ceftazidime · · · · · · · · · · · · = I † Aztreonam · · · · · · · · · · · · I = † Meropenem † † † † † † † † † † † † † † = Read the important pairings Amoxicillin shares R1 with cefadroxil and cefprozil; ampicillin shares R1 with cephalexin and cefaclor. These two amino side-chain groups are related, which is why amoxicillin–cephalexin is marked S rather than I. Ceftriaxone, cefotaxime, cefpodoxime, and cefepime share R1; cefuroxime has related methoxyimino features. Ceftazidime and aztreonam share R1. [4] [7] Cefazolin and carbapenems Cefazolin has no shared R1 side chain with the other drugs shown. A penicillin allergy alone does not establish cefazolin allergy. For meropenem (†), the 2022 parameter permits a carbapenem in patients with penicillin or cephalosporin allergy, including prior anaphylaxis, without routine preceding testing or additional precautions. That recommendation does not establish tolerance in someone with a carbapenem allergy or a severe delayed reaction. The aztreonam–meropenem cell is outside that specific recommendation. [4] Do not use this chart to select an unsupervised challenge after anaphylaxis, Stevens-Johnson syndrome/toxic epidermal necrolysis, DRESS, or serious immune-mediated organ injury. A history of cephalosporin anaphylaxis requires a separate evaluation even when the proposed cephalosporin has a different R1 side chain. [4] This is a teaching matrix, not a complete allergy clearance tool. It does not map R2 side chains, beta-lactamase inhibitor allergy, or other penicillins such as penicillin G/V, oxacillin, and piperacillin. Within-penicillin cross-reactivity can involve shared penicillin determinants. Published charts differ in how they classify partial structural similarities; an unmarked pair is not proof of tolerance. [4] [8]</a:t>
            </a:r>
          </a:p>
          <a:p xmlns:a="http://schemas.openxmlformats.org/drawingml/2006/main">
            <a:r>
              <a:t/>
            </a:r>
          </a:p>
          <a:p xmlns:a="http://schemas.openxmlformats.org/drawingml/2006/main">
            <a:r>
              <a:t>Module section: https://docarcshot.github.io/id-practice-update/lectures/Penicillin_Allergy_Short_Module.html#side-chain-matrix</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Compare the side chains on both axes This selected-drug matrix follows the same bedside logic as the BJC pathway and uses public structural sources. It highlights identical and related R1 side chains that can contribute to allergic cross-reactivity. It supports the reaction history; it does not predict an individual patient's risk or authorize a challenge. R1 relationships are more useful here than cephalosporin generation. [4] [7] I Identical R1 side chain. Potential cross-reactivity. S Similar R1 features. Potential cross-reactivity; the entire side chain is not identical. · No highlighted R1 pairing in this selected chart. This does not mean zero allergy risk. † Carbapenem comparison. Use the clinical note below. = The same antibiotic. This is not an alternative to the culprit. Read across from the suspected culprit to the proposed antibiotic. Both axes show the same 15 drugs. Proposed antibiotic → Suspected culprit ↓ Amoxicillin Ampicillin Cefadroxil Cefprozil Cephalexin Cefaclor Cefazolin Cefuroxime Ceftriaxone Cefotaxime Cefpodoxime Cefepime Ceftazidime Aztreonam Meropenem Amoxicillin = S I I S S · · · · · · · · † Ampicillin S = S S I I · · · · · · · · † Cefadroxil I S = I S S · · · · · · · · † Cefprozil I S I = S S · · · · · · · · † Cephalexin S I S S = I · · · · · · · · † Cefaclor S I S S I = · · · · · · · · † Cefazolin · · · · · · = · · · · · · · † Cefuroxime · · · · · · · = S S S S · · † Ceftriaxone · · · · · · · S = I I I · · † Cefotaxime · · · · · · · S I = I I · · † Cefpodoxime · · · · · · · S I I = I · · † Cefepime · · · · · · · S I I I = · · † Ceftazidime · · · · · · · · · · · · = I † Aztreonam · · · · · · · · · · · · I = † Meropenem † † † † † † † † † † † † † † = Read the important pairings Amoxicillin shares R1 with cefadroxil and cefprozil; ampicillin shares R1 with cephalexin and cefaclor. These two amino side-chain groups are related, which is why amoxicillin–cephalexin is marked S rather than I. Ceftriaxone, cefotaxime, cefpodoxime, and cefepime share R1; cefuroxime has related methoxyimino features. Ceftazidime and aztreonam share R1. [4] [7] Cefazolin and carbapenems Cefazolin has no shared R1 side chain with the other drugs shown. A penicillin allergy alone does not establish cefazolin allergy. For meropenem (†), the 2022 parameter permits a carbapenem in patients with penicillin or cephalosporin allergy, including prior anaphylaxis, without routine preceding testing or additional precautions. That recommendation does not establish tolerance in someone with a carbapenem allergy or a severe delayed reaction. The aztreonam–meropenem cell is outside that specific recommendation. [4] Do not use this chart to select an unsupervised challenge after anaphylaxis, Stevens-Johnson syndrome/toxic epidermal necrolysis, DRESS, or serious immune-mediated organ injury. A history of cephalosporin anaphylaxis requires a separate evaluation even when the proposed cephalosporin has a different R1 side chain. [4] This is a teaching matrix, not a complete allergy clearance tool. It does not map R2 side chains, beta-lactamase inhibitor allergy, or other penicillins such as penicillin G/V, oxacillin, and piperacillin. Within-penicillin cross-reactivity can involve shared penicillin determinants. Published charts differ in how they classify partial structural similarities; an unmarked pair is not proof of tolerance. [4] [8]</a:t>
            </a:r>
          </a:p>
          <a:p xmlns:a="http://schemas.openxmlformats.org/drawingml/2006/main">
            <a:r>
              <a:t/>
            </a:r>
          </a:p>
          <a:p xmlns:a="http://schemas.openxmlformats.org/drawingml/2006/main">
            <a:r>
              <a:t>Module section: https://docarcshot.github.io/id-practice-update/lectures/Penicillin_Allergy_Short_Module.html#matrix-legend</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Compare the side chains on both axes This selected-drug matrix follows the same bedside logic as the BJC pathway and uses public structural sources. It highlights identical and related R1 side chains that can contribute to allergic cross-reactivity. It supports the reaction history; it does not predict an individual patient's risk or authorize a challenge. R1 relationships are more useful here than cephalosporin generation. [4] [7] I Identical R1 side chain. Potential cross-reactivity. S Similar R1 features. Potential cross-reactivity; the entire side chain is not identical. · No highlighted R1 pairing in this selected chart. This does not mean zero allergy risk. † Carbapenem comparison. Use the clinical note below. = The same antibiotic. This is not an alternative to the culprit. Read across from the suspected culprit to the proposed antibiotic. Both axes show the same 15 drugs. Proposed antibiotic → Suspected culprit ↓ Amoxicillin Ampicillin Cefadroxil Cefprozil Cephalexin Cefaclor Cefazolin Cefuroxime Ceftriaxone Cefotaxime Cefpodoxime Cefepime Ceftazidime Aztreonam Meropenem Amoxicillin = S I I S S · · · · · · · · † Ampicillin S = S S I I · · · · · · · · † Cefadroxil I S = I S S · · · · · · · · † Cefprozil I S I = S S · · · · · · · · † Cephalexin S I S S = I · · · · · · · · † Cefaclor S I S S I = · · · · · · · · † Cefazolin · · · · · · = · · · · · · · † Cefuroxime · · · · · · · = S S S S · · † Ceftriaxone · · · · · · · S = I I I · · † Cefotaxime · · · · · · · S I = I I · · † Cefpodoxime · · · · · · · S I I = I · · † Cefepime · · · · · · · S I I I = · · † Ceftazidime · · · · · · · · · · · · = I † Aztreonam · · · · · · · · · · · · I = † Meropenem † † † † † † † † † † † † † † = Read the important pairings Amoxicillin shares R1 with cefadroxil and cefprozil; ampicillin shares R1 with cephalexin and cefaclor. These two amino side-chain groups are related, which is why amoxicillin–cephalexin is marked S rather than I. Ceftriaxone, cefotaxime, cefpodoxime, and cefepime share R1; cefuroxime has related methoxyimino features. Ceftazidime and aztreonam share R1. [4] [7] Cefazolin and carbapenems Cefazolin has no shared R1 side chain with the other drugs shown. A penicillin allergy alone does not establish cefazolin allergy. For meropenem (†), the 2022 parameter permits a carbapenem in patients with penicillin or cephalosporin allergy, including prior anaphylaxis, without routine preceding testing or additional precautions. That recommendation does not establish tolerance in someone with a carbapenem allergy or a severe delayed reaction. The aztreonam–meropenem cell is outside that specific recommendation. [4] Do not use this chart to select an unsupervised challenge after anaphylaxis, Stevens-Johnson syndrome/toxic epidermal necrolysis, DRESS, or serious immune-mediated organ injury. A history of cephalosporin anaphylaxis requires a separate evaluation even when the proposed cephalosporin has a different R1 side chain. [4] This is a teaching matrix, not a complete allergy clearance tool. It does not map R2 side chains, beta-lactamase inhibitor allergy, or other penicillins such as penicillin G/V, oxacillin, and piperacillin. Within-penicillin cross-reactivity can involve shared penicillin determinants. Published charts differ in how they classify partial structural similarities; an unmarked pair is not proof of tolerance. [4] [8]</a:t>
            </a:r>
          </a:p>
          <a:p xmlns:a="http://schemas.openxmlformats.org/drawingml/2006/main">
            <a:r>
              <a:t/>
            </a:r>
          </a:p>
          <a:p xmlns:a="http://schemas.openxmlformats.org/drawingml/2006/main">
            <a:r>
              <a:t>Module section: https://docarcshot.github.io/id-practice-update/lectures/Penicillin_Allergy_Short_Module.html#matrix-legend</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Compare the side chains on both axes This selected-drug matrix follows the same bedside logic as the BJC pathway and uses public structural sources. It highlights identical and related R1 side chains that can contribute to allergic cross-reactivity. It supports the reaction history; it does not predict an individual patient's risk or authorize a challenge. R1 relationships are more useful here than cephalosporin generation. [4] [7] I Identical R1 side chain. Potential cross-reactivity. S Similar R1 features. Potential cross-reactivity; the entire side chain is not identical. · No highlighted R1 pairing in this selected chart. This does not mean zero allergy risk. † Carbapenem comparison. Use the clinical note below. = The same antibiotic. This is not an alternative to the culprit. Read across from the suspected culprit to the proposed antibiotic. Both axes show the same 15 drugs. Proposed antibiotic → Suspected culprit ↓ Amoxicillin Ampicillin Cefadroxil Cefprozil Cephalexin Cefaclor Cefazolin Cefuroxime Ceftriaxone Cefotaxime Cefpodoxime Cefepime Ceftazidime Aztreonam Meropenem Amoxicillin = S I I S S · · · · · · · · † Ampicillin S = S S I I · · · · · · · · † Cefadroxil I S = I S S · · · · · · · · † Cefprozil I S I = S S · · · · · · · · † Cephalexin S I S S = I · · · · · · · · † Cefaclor S I S S I = · · · · · · · · † Cefazolin · · · · · · = · · · · · · · † Cefuroxime · · · · · · · = S S S S · · † Ceftriaxone · · · · · · · S = I I I · · † Cefotaxime · · · · · · · S I = I I · · † Cefpodoxime · · · · · · · S I I = I · · † Cefepime · · · · · · · S I I I = · · † Ceftazidime · · · · · · · · · · · · = I † Aztreonam · · · · · · · · · · · · I = † Meropenem † † † † † † † † † † † † † † = Read the important pairings Amoxicillin shares R1 with cefadroxil and cefprozil; ampicillin shares R1 with cephalexin and cefaclor. These two amino side-chain groups are related, which is why amoxicillin–cephalexin is marked S rather than I. Ceftriaxone, cefotaxime, cefpodoxime, and cefepime share R1; cefuroxime has related methoxyimino features. Ceftazidime and aztreonam share R1. [4] [7] Cefazolin and carbapenems Cefazolin has no shared R1 side chain with the other drugs shown. A penicillin allergy alone does not establish cefazolin allergy. For meropenem (†), the 2022 parameter permits a carbapenem in patients with penicillin or cephalosporin allergy, including prior anaphylaxis, without routine preceding testing or additional precautions. That recommendation does not establish tolerance in someone with a carbapenem allergy or a severe delayed reaction. The aztreonam–meropenem cell is outside that specific recommendation. [4] Do not use this chart to select an unsupervised challenge after anaphylaxis, Stevens-Johnson syndrome/toxic epidermal necrolysis, DRESS, or serious immune-mediated organ injury. A history of cephalosporin anaphylaxis requires a separate evaluation even when the proposed cephalosporin has a different R1 side chain. [4] This is a teaching matrix, not a complete allergy clearance tool. It does not map R2 side chains, beta-lactamase inhibitor allergy, or other penicillins such as penicillin G/V, oxacillin, and piperacillin. Within-penicillin cross-reactivity can involve shared penicillin determinants. Published charts differ in how they classify partial structural similarities; an unmarked pair is not proof of tolerance. [4] [8]</a:t>
            </a:r>
          </a:p>
          <a:p xmlns:a="http://schemas.openxmlformats.org/drawingml/2006/main">
            <a:r>
              <a:t/>
            </a:r>
          </a:p>
          <a:p xmlns:a="http://schemas.openxmlformats.org/drawingml/2006/main">
            <a:r>
              <a:t>Module section: https://docarcshot.github.io/id-practice-update/lectures/Penicillin_Allergy_Short_Module.html#side-chain-matrix</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Compare the side chains on both axes This selected-drug matrix follows the same bedside logic as the BJC pathway and uses public structural sources. It highlights identical and related R1 side chains that can contribute to allergic cross-reactivity. It supports the reaction history; it does not predict an individual patient's risk or authorize a challenge. R1 relationships are more useful here than cephalosporin generation. [4] [7] I Identical R1 side chain. Potential cross-reactivity. S Similar R1 features. Potential cross-reactivity; the entire side chain is not identical. · No highlighted R1 pairing in this selected chart. This does not mean zero allergy risk. † Carbapenem comparison. Use the clinical note below. = The same antibiotic. This is not an alternative to the culprit. Read across from the suspected culprit to the proposed antibiotic. Both axes show the same 15 drugs. Proposed antibiotic → Suspected culprit ↓ Amoxicillin Ampicillin Cefadroxil Cefprozil Cephalexin Cefaclor Cefazolin Cefuroxime Ceftriaxone Cefotaxime Cefpodoxime Cefepime Ceftazidime Aztreonam Meropenem Amoxicillin = S I I S S · · · · · · · · † Ampicillin S = S S I I · · · · · · · · † Cefadroxil I S = I S S · · · · · · · · † Cefprozil I S I = S S · · · · · · · · † Cephalexin S I S S = I · · · · · · · · † Cefaclor S I S S I = · · · · · · · · † Cefazolin · · · · · · = · · · · · · · † Cefuroxime · · · · · · · = S S S S · · † Ceftriaxone · · · · · · · S = I I I · · † Cefotaxime · · · · · · · S I = I I · · † Cefpodoxime · · · · · · · S I I = I · · † Cefepime · · · · · · · S I I I = · · † Ceftazidime · · · · · · · · · · · · = I † Aztreonam · · · · · · · · · · · · I = † Meropenem † † † † † † † † † † † † † † = Read the important pairings Amoxicillin shares R1 with cefadroxil and cefprozil; ampicillin shares R1 with cephalexin and cefaclor. These two amino side-chain groups are related, which is why amoxicillin–cephalexin is marked S rather than I. Ceftriaxone, cefotaxime, cefpodoxime, and cefepime share R1; cefuroxime has related methoxyimino features. Ceftazidime and aztreonam share R1. [4] [7] Cefazolin and carbapenems Cefazolin has no shared R1 side chain with the other drugs shown. A penicillin allergy alone does not establish cefazolin allergy. For meropenem (†), the 2022 parameter permits a carbapenem in patients with penicillin or cephalosporin allergy, including prior anaphylaxis, without routine preceding testing or additional precautions. That recommendation does not establish tolerance in someone with a carbapenem allergy or a severe delayed reaction. The aztreonam–meropenem cell is outside that specific recommendation. [4] Do not use this chart to select an unsupervised challenge after anaphylaxis, Stevens-Johnson syndrome/toxic epidermal necrolysis, DRESS, or serious immune-mediated organ injury. A history of cephalosporin anaphylaxis requires a separate evaluation even when the proposed cephalosporin has a different R1 side chain. [4] This is a teaching matrix, not a complete allergy clearance tool. It does not map R2 side chains, beta-lactamase inhibitor allergy, or other penicillins such as penicillin G/V, oxacillin, and piperacillin. Within-penicillin cross-reactivity can involve shared penicillin determinants. Published charts differ in how they classify partial structural similarities; an unmarked pair is not proof of tolerance. [4] [8]</a:t>
            </a:r>
          </a:p>
          <a:p xmlns:a="http://schemas.openxmlformats.org/drawingml/2006/main">
            <a:r>
              <a:t/>
            </a:r>
          </a:p>
          <a:p xmlns:a="http://schemas.openxmlformats.org/drawingml/2006/main">
            <a:r>
              <a:t>Module section: https://docarcshot.github.io/id-practice-update/lectures/Penicillin_Allergy_Short_Module.html#side-chain-matrix</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Compare the side chains on both axes This selected-drug matrix follows the same bedside logic as the BJC pathway and uses public structural sources. It highlights identical and related R1 side chains that can contribute to allergic cross-reactivity. It supports the reaction history; it does not predict an individual patient's risk or authorize a challenge. R1 relationships are more useful here than cephalosporin generation. [4] [7] I Identical R1 side chain. Potential cross-reactivity. S Similar R1 features. Potential cross-reactivity; the entire side chain is not identical. · No highlighted R1 pairing in this selected chart. This does not mean zero allergy risk. † Carbapenem comparison. Use the clinical note below. = The same antibiotic. This is not an alternative to the culprit. Read across from the suspected culprit to the proposed antibiotic. Both axes show the same 15 drugs. Proposed antibiotic → Suspected culprit ↓ Amoxicillin Ampicillin Cefadroxil Cefprozil Cephalexin Cefaclor Cefazolin Cefuroxime Ceftriaxone Cefotaxime Cefpodoxime Cefepime Ceftazidime Aztreonam Meropenem Amoxicillin = S I I S S · · · · · · · · † Ampicillin S = S S I I · · · · · · · · † Cefadroxil I S = I S S · · · · · · · · † Cefprozil I S I = S S · · · · · · · · † Cephalexin S I S S = I · · · · · · · · † Cefaclor S I S S I = · · · · · · · · † Cefazolin · · · · · · = · · · · · · · † Cefuroxime · · · · · · · = S S S S · · † Ceftriaxone · · · · · · · S = I I I · · † Cefotaxime · · · · · · · S I = I I · · † Cefpodoxime · · · · · · · S I I = I · · † Cefepime · · · · · · · S I I I = · · † Ceftazidime · · · · · · · · · · · · = I † Aztreonam · · · · · · · · · · · · I = † Meropenem † † † † † † † † † † † † † † = Read the important pairings Amoxicillin shares R1 with cefadroxil and cefprozil; ampicillin shares R1 with cephalexin and cefaclor. These two amino side-chain groups are related, which is why amoxicillin–cephalexin is marked S rather than I. Ceftriaxone, cefotaxime, cefpodoxime, and cefepime share R1; cefuroxime has related methoxyimino features. Ceftazidime and aztreonam share R1. [4] [7] Cefazolin and carbapenems Cefazolin has no shared R1 side chain with the other drugs shown. A penicillin allergy alone does not establish cefazolin allergy. For meropenem (†), the 2022 parameter permits a carbapenem in patients with penicillin or cephalosporin allergy, including prior anaphylaxis, without routine preceding testing or additional precautions. That recommendation does not establish tolerance in someone with a carbapenem allergy or a severe delayed reaction. The aztreonam–meropenem cell is outside that specific recommendation. [4] Do not use this chart to select an unsupervised challenge after anaphylaxis, Stevens-Johnson syndrome/toxic epidermal necrolysis, DRESS, or serious immune-mediated organ injury. A history of cephalosporin anaphylaxis requires a separate evaluation even when the proposed cephalosporin has a different R1 side chain. [4] This is a teaching matrix, not a complete allergy clearance tool. It does not map R2 side chains, beta-lactamase inhibitor allergy, or other penicillins such as penicillin G/V, oxacillin, and piperacillin. Within-penicillin cross-reactivity can involve shared penicillin determinants. Published charts differ in how they classify partial structural similarities; an unmarked pair is not proof of tolerance. [4] [8]</a:t>
            </a:r>
          </a:p>
          <a:p xmlns:a="http://schemas.openxmlformats.org/drawingml/2006/main">
            <a:r>
              <a:t/>
            </a:r>
          </a:p>
          <a:p xmlns:a="http://schemas.openxmlformats.org/drawingml/2006/main">
            <a:r>
              <a:t>Module section: https://docarcshot.github.io/id-practice-update/lectures/Penicillin_Allergy_Short_Module.html#side-chain-matrix</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Compare the side chains on both axes This selected-drug matrix follows the same bedside logic as the BJC pathway and uses public structural sources. It highlights identical and related R1 side chains that can contribute to allergic cross-reactivity. It supports the reaction history; it does not predict an individual patient's risk or authorize a challenge. R1 relationships are more useful here than cephalosporin generation. [4] [7] I Identical R1 side chain. Potential cross-reactivity. S Similar R1 features. Potential cross-reactivity; the entire side chain is not identical. · No highlighted R1 pairing in this selected chart. This does not mean zero allergy risk. † Carbapenem comparison. Use the clinical note below. = The same antibiotic. This is not an alternative to the culprit. Read across from the suspected culprit to the proposed antibiotic. Both axes show the same 15 drugs. Proposed antibiotic → Suspected culprit ↓ Amoxicillin Ampicillin Cefadroxil Cefprozil Cephalexin Cefaclor Cefazolin Cefuroxime Ceftriaxone Cefotaxime Cefpodoxime Cefepime Ceftazidime Aztreonam Meropenem Amoxicillin = S I I S S · · · · · · · · † Ampicillin S = S S I I · · · · · · · · † Cefadroxil I S = I S S · · · · · · · · † Cefprozil I S I = S S · · · · · · · · † Cephalexin S I S S = I · · · · · · · · † Cefaclor S I S S I = · · · · · · · · † Cefazolin · · · · · · = · · · · · · · † Cefuroxime · · · · · · · = S S S S · · † Ceftriaxone · · · · · · · S = I I I · · † Cefotaxime · · · · · · · S I = I I · · † Cefpodoxime · · · · · · · S I I = I · · † Cefepime · · · · · · · S I I I = · · † Ceftazidime · · · · · · · · · · · · = I † Aztreonam · · · · · · · · · · · · I = † Meropenem † † † † † † † † † † † † † † = Read the important pairings Amoxicillin shares R1 with cefadroxil and cefprozil; ampicillin shares R1 with cephalexin and cefaclor. These two amino side-chain groups are related, which is why amoxicillin–cephalexin is marked S rather than I. Ceftriaxone, cefotaxime, cefpodoxime, and cefepime share R1; cefuroxime has related methoxyimino features. Ceftazidime and aztreonam share R1. [4] [7] Cefazolin and carbapenems Cefazolin has no shared R1 side chain with the other drugs shown. A penicillin allergy alone does not establish cefazolin allergy. For meropenem (†), the 2022 parameter permits a carbapenem in patients with penicillin or cephalosporin allergy, including prior anaphylaxis, without routine preceding testing or additional precautions. That recommendation does not establish tolerance in someone with a carbapenem allergy or a severe delayed reaction. The aztreonam–meropenem cell is outside that specific recommendation. [4] Do not use this chart to select an unsupervised challenge after anaphylaxis, Stevens-Johnson syndrome/toxic epidermal necrolysis, DRESS, or serious immune-mediated organ injury. A history of cephalosporin anaphylaxis requires a separate evaluation even when the proposed cephalosporin has a different R1 side chain. [4] This is a teaching matrix, not a complete allergy clearance tool. It does not map R2 side chains, beta-lactamase inhibitor allergy, or other penicillins such as penicillin G/V, oxacillin, and piperacillin. Within-penicillin cross-reactivity can involve shared penicillin determinants. Published charts differ in how they classify partial structural similarities; an unmarked pair is not proof of tolerance. [4] [8]</a:t>
            </a:r>
          </a:p>
          <a:p xmlns:a="http://schemas.openxmlformats.org/drawingml/2006/main">
            <a:r>
              <a:t/>
            </a:r>
          </a:p>
          <a:p xmlns:a="http://schemas.openxmlformats.org/drawingml/2006/main">
            <a:r>
              <a:t>Module section: https://docarcshot.github.io/id-practice-update/lectures/Penicillin_Allergy_Short_Module.html#side-chain-matrix</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Compare the side chains on both axes This selected-drug matrix follows the same bedside logic as the BJC pathway and uses public structural sources. It highlights identical and related R1 side chains that can contribute to allergic cross-reactivity. It supports the reaction history; it does not predict an individual patient's risk or authorize a challenge. R1 relationships are more useful here than cephalosporin generation. [4] [7] I Identical R1 side chain. Potential cross-reactivity. S Similar R1 features. Potential cross-reactivity; the entire side chain is not identical. · No highlighted R1 pairing in this selected chart. This does not mean zero allergy risk. † Carbapenem comparison. Use the clinical note below. = The same antibiotic. This is not an alternative to the culprit. Read across from the suspected culprit to the proposed antibiotic. Both axes show the same 15 drugs. Proposed antibiotic → Suspected culprit ↓ Amoxicillin Ampicillin Cefadroxil Cefprozil Cephalexin Cefaclor Cefazolin Cefuroxime Ceftriaxone Cefotaxime Cefpodoxime Cefepime Ceftazidime Aztreonam Meropenem Amoxicillin = S I I S S · · · · · · · · † Ampicillin S = S S I I · · · · · · · · † Cefadroxil I S = I S S · · · · · · · · † Cefprozil I S I = S S · · · · · · · · † Cephalexin S I S S = I · · · · · · · · † Cefaclor S I S S I = · · · · · · · · † Cefazolin · · · · · · = · · · · · · · † Cefuroxime · · · · · · · = S S S S · · † Ceftriaxone · · · · · · · S = I I I · · † Cefotaxime · · · · · · · S I = I I · · † Cefpodoxime · · · · · · · S I I = I · · † Cefepime · · · · · · · S I I I = · · † Ceftazidime · · · · · · · · · · · · = I † Aztreonam · · · · · · · · · · · · I = † Meropenem † † † † † † † † † † † † † † = Read the important pairings Amoxicillin shares R1 with cefadroxil and cefprozil; ampicillin shares R1 with cephalexin and cefaclor. These two amino side-chain groups are related, which is why amoxicillin–cephalexin is marked S rather than I. Ceftriaxone, cefotaxime, cefpodoxime, and cefepime share R1; cefuroxime has related methoxyimino features. Ceftazidime and aztreonam share R1. [4] [7] Cefazolin and carbapenems Cefazolin has no shared R1 side chain with the other drugs shown. A penicillin allergy alone does not establish cefazolin allergy. For meropenem (†), the 2022 parameter permits a carbapenem in patients with penicillin or cephalosporin allergy, including prior anaphylaxis, without routine preceding testing or additional precautions. That recommendation does not establish tolerance in someone with a carbapenem allergy or a severe delayed reaction. The aztreonam–meropenem cell is outside that specific recommendation. [4] Do not use this chart to select an unsupervised challenge after anaphylaxis, Stevens-Johnson syndrome/toxic epidermal necrolysis, DRESS, or serious immune-mediated organ injury. A history of cephalosporin anaphylaxis requires a separate evaluation even when the proposed cephalosporin has a different R1 side chain. [4] This is a teaching matrix, not a complete allergy clearance tool. It does not map R2 side chains, beta-lactamase inhibitor allergy, or other penicillins such as penicillin G/V, oxacillin, and piperacillin. Within-penicillin cross-reactivity can involve shared penicillin determinants. Published charts differ in how they classify partial structural similarities; an unmarked pair is not proof of tolerance. [4] [8]</a:t>
            </a:r>
          </a:p>
          <a:p xmlns:a="http://schemas.openxmlformats.org/drawingml/2006/main">
            <a:r>
              <a:t/>
            </a:r>
          </a:p>
          <a:p xmlns:a="http://schemas.openxmlformats.org/drawingml/2006/main">
            <a:r>
              <a:t>Module section: https://docarcshot.github.io/id-practice-update/lectures/Penicillin_Allergy_Short_Module.html#side-chain-matrix</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Compare the side chains on both axes This selected-drug matrix follows the same bedside logic as the BJC pathway and uses public structural sources. It highlights identical and related R1 side chains that can contribute to allergic cross-reactivity. It supports the reaction history; it does not predict an individual patient's risk or authorize a challenge. R1 relationships are more useful here than cephalosporin generation. [4] [7] I Identical R1 side chain. Potential cross-reactivity. S Similar R1 features. Potential cross-reactivity; the entire side chain is not identical. · No highlighted R1 pairing in this selected chart. This does not mean zero allergy risk. † Carbapenem comparison. Use the clinical note below. = The same antibiotic. This is not an alternative to the culprit. Read across from the suspected culprit to the proposed antibiotic. Both axes show the same 15 drugs. Proposed antibiotic → Suspected culprit ↓ Amoxicillin Ampicillin Cefadroxil Cefprozil Cephalexin Cefaclor Cefazolin Cefuroxime Ceftriaxone Cefotaxime Cefpodoxime Cefepime Ceftazidime Aztreonam Meropenem Amoxicillin = S I I S S · · · · · · · · † Ampicillin S = S S I I · · · · · · · · † Cefadroxil I S = I S S · · · · · · · · † Cefprozil I S I = S S · · · · · · · · † Cephalexin S I S S = I · · · · · · · · † Cefaclor S I S S I = · · · · · · · · † Cefazolin · · · · · · = · · · · · · · † Cefuroxime · · · · · · · = S S S S · · † Ceftriaxone · · · · · · · S = I I I · · † Cefotaxime · · · · · · · S I = I I · · † Cefpodoxime · · · · · · · S I I = I · · † Cefepime · · · · · · · S I I I = · · † Ceftazidime · · · · · · · · · · · · = I † Aztreonam · · · · · · · · · · · · I = † Meropenem † † † † † † † † † † † † † † = Read the important pairings Amoxicillin shares R1 with cefadroxil and cefprozil; ampicillin shares R1 with cephalexin and cefaclor. These two amino side-chain groups are related, which is why amoxicillin–cephalexin is marked S rather than I. Ceftriaxone, cefotaxime, cefpodoxime, and cefepime share R1; cefuroxime has related methoxyimino features. Ceftazidime and aztreonam share R1. [4] [7] Cefazolin and carbapenems Cefazolin has no shared R1 side chain with the other drugs shown. A penicillin allergy alone does not establish cefazolin allergy. For meropenem (†), the 2022 parameter permits a carbapenem in patients with penicillin or cephalosporin allergy, including prior anaphylaxis, without routine preceding testing or additional precautions. That recommendation does not establish tolerance in someone with a carbapenem allergy or a severe delayed reaction. The aztreonam–meropenem cell is outside that specific recommendation. [4] Do not use this chart to select an unsupervised challenge after anaphylaxis, Stevens-Johnson syndrome/toxic epidermal necrolysis, DRESS, or serious immune-mediated organ injury. A history of cephalosporin anaphylaxis requires a separate evaluation even when the proposed cephalosporin has a different R1 side chain. [4] This is a teaching matrix, not a complete allergy clearance tool. It does not map R2 side chains, beta-lactamase inhibitor allergy, or other penicillins such as penicillin G/V, oxacillin, and piperacillin. Within-penicillin cross-reactivity can involve shared penicillin determinants. Published charts differ in how they classify partial structural similarities; an unmarked pair is not proof of tolerance. [4] [8]</a:t>
            </a:r>
          </a:p>
          <a:p xmlns:a="http://schemas.openxmlformats.org/drawingml/2006/main">
            <a:r>
              <a:t/>
            </a:r>
          </a:p>
          <a:p xmlns:a="http://schemas.openxmlformats.org/drawingml/2006/main">
            <a:r>
              <a:t>Module section: https://docarcshot.github.io/id-practice-update/lectures/Penicillin_Allergy_Short_Module.html#side-chain-matrix</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Compare the side chains on both axes This selected-drug matrix follows the same bedside logic as the BJC pathway and uses public structural sources. It highlights identical and related R1 side chains that can contribute to allergic cross-reactivity. It supports the reaction history; it does not predict an individual patient's risk or authorize a challenge. R1 relationships are more useful here than cephalosporin generation. [4] [7] I Identical R1 side chain. Potential cross-reactivity. S Similar R1 features. Potential cross-reactivity; the entire side chain is not identical. · No highlighted R1 pairing in this selected chart. This does not mean zero allergy risk. † Carbapenem comparison. Use the clinical note below. = The same antibiotic. This is not an alternative to the culprit. Read across from the suspected culprit to the proposed antibiotic. Both axes show the same 15 drugs. Proposed antibiotic → Suspected culprit ↓ Amoxicillin Ampicillin Cefadroxil Cefprozil Cephalexin Cefaclor Cefazolin Cefuroxime Ceftriaxone Cefotaxime Cefpodoxime Cefepime Ceftazidime Aztreonam Meropenem Amoxicillin = S I I S S · · · · · · · · † Ampicillin S = S S I I · · · · · · · · † Cefadroxil I S = I S S · · · · · · · · † Cefprozil I S I = S S · · · · · · · · † Cephalexin S I S S = I · · · · · · · · † Cefaclor S I S S I = · · · · · · · · † Cefazolin · · · · · · = · · · · · · · † Cefuroxime · · · · · · · = S S S S · · † Ceftriaxone · · · · · · · S = I I I · · † Cefotaxime · · · · · · · S I = I I · · † Cefpodoxime · · · · · · · S I I = I · · † Cefepime · · · · · · · S I I I = · · † Ceftazidime · · · · · · · · · · · · = I † Aztreonam · · · · · · · · · · · · I = † Meropenem † † † † † † † † † † † † † † = Read the important pairings Amoxicillin shares R1 with cefadroxil and cefprozil; ampicillin shares R1 with cephalexin and cefaclor. These two amino side-chain groups are related, which is why amoxicillin–cephalexin is marked S rather than I. Ceftriaxone, cefotaxime, cefpodoxime, and cefepime share R1; cefuroxime has related methoxyimino features. Ceftazidime and aztreonam share R1. [4] [7] Cefazolin and carbapenems Cefazolin has no shared R1 side chain with the other drugs shown. A penicillin allergy alone does not establish cefazolin allergy. For meropenem (†), the 2022 parameter permits a carbapenem in patients with penicillin or cephalosporin allergy, including prior anaphylaxis, without routine preceding testing or additional precautions. That recommendation does not establish tolerance in someone with a carbapenem allergy or a severe delayed reaction. The aztreonam–meropenem cell is outside that specific recommendation. [4] Do not use this chart to select an unsupervised challenge after anaphylaxis, Stevens-Johnson syndrome/toxic epidermal necrolysis, DRESS, or serious immune-mediated organ injury. A history of cephalosporin anaphylaxis requires a separate evaluation even when the proposed cephalosporin has a different R1 side chain. [4] This is a teaching matrix, not a complete allergy clearance tool. It does not map R2 side chains, beta-lactamase inhibitor allergy, or other penicillins such as penicillin G/V, oxacillin, and piperacillin. Within-penicillin cross-reactivity can involve shared penicillin determinants. Published charts differ in how they classify partial structural similarities; an unmarked pair is not proof of tolerance. [4] [8]</a:t>
            </a:r>
          </a:p>
          <a:p xmlns:a="http://schemas.openxmlformats.org/drawingml/2006/main">
            <a:r>
              <a:t/>
            </a:r>
          </a:p>
          <a:p xmlns:a="http://schemas.openxmlformats.org/drawingml/2006/main">
            <a:r>
              <a:t>Module section: https://docarcshot.github.io/id-practice-update/lectures/Penicillin_Allergy_Short_Module.html#side-chain-matrix</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Compare the side chains on both axes This selected-drug matrix follows the same bedside logic as the BJC pathway and uses public structural sources. It highlights identical and related R1 side chains that can contribute to allergic cross-reactivity. It supports the reaction history; it does not predict an individual patient's risk or authorize a challenge. R1 relationships are more useful here than cephalosporin generation. [4] [7] I Identical R1 side chain. Potential cross-reactivity. S Similar R1 features. Potential cross-reactivity; the entire side chain is not identical. · No highlighted R1 pairing in this selected chart. This does not mean zero allergy risk. † Carbapenem comparison. Use the clinical note below. = The same antibiotic. This is not an alternative to the culprit. Read across from the suspected culprit to the proposed antibiotic. Both axes show the same 15 drugs. Proposed antibiotic → Suspected culprit ↓ Amoxicillin Ampicillin Cefadroxil Cefprozil Cephalexin Cefaclor Cefazolin Cefuroxime Ceftriaxone Cefotaxime Cefpodoxime Cefepime Ceftazidime Aztreonam Meropenem Amoxicillin = S I I S S · · · · · · · · † Ampicillin S = S S I I · · · · · · · · † Cefadroxil I S = I S S · · · · · · · · † Cefprozil I S I = S S · · · · · · · · † Cephalexin S I S S = I · · · · · · · · † Cefaclor S I S S I = · · · · · · · · † Cefazolin · · · · · · = · · · · · · · † Cefuroxime · · · · · · · = S S S S · · † Ceftriaxone · · · · · · · S = I I I · · † Cefotaxime · · · · · · · S I = I I · · † Cefpodoxime · · · · · · · S I I = I · · † Cefepime · · · · · · · S I I I = · · † Ceftazidime · · · · · · · · · · · · = I † Aztreonam · · · · · · · · · · · · I = † Meropenem † † † † † † † † † † † † † † = Read the important pairings Amoxicillin shares R1 with cefadroxil and cefprozil; ampicillin shares R1 with cephalexin and cefaclor. These two amino side-chain groups are related, which is why amoxicillin–cephalexin is marked S rather than I. Ceftriaxone, cefotaxime, cefpodoxime, and cefepime share R1; cefuroxime has related methoxyimino features. Ceftazidime and aztreonam share R1. [4] [7] Cefazolin and carbapenems Cefazolin has no shared R1 side chain with the other drugs shown. A penicillin allergy alone does not establish cefazolin allergy. For meropenem (†), the 2022 parameter permits a carbapenem in patients with penicillin or cephalosporin allergy, including prior anaphylaxis, without routine preceding testing or additional precautions. That recommendation does not establish tolerance in someone with a carbapenem allergy or a severe delayed reaction. The aztreonam–meropenem cell is outside that specific recommendation. [4] Do not use this chart to select an unsupervised challenge after anaphylaxis, Stevens-Johnson syndrome/toxic epidermal necrolysis, DRESS, or serious immune-mediated organ injury. A history of cephalosporin anaphylaxis requires a separate evaluation even when the proposed cephalosporin has a different R1 side chain. [4] This is a teaching matrix, not a complete allergy clearance tool. It does not map R2 side chains, beta-lactamase inhibitor allergy, or other penicillins such as penicillin G/V, oxacillin, and piperacillin. Within-penicillin cross-reactivity can involve shared penicillin determinants. Published charts differ in how they classify partial structural similarities; an unmarked pair is not proof of tolerance. [4] [8]</a:t>
            </a:r>
          </a:p>
          <a:p xmlns:a="http://schemas.openxmlformats.org/drawingml/2006/main">
            <a:r>
              <a:t/>
            </a:r>
          </a:p>
          <a:p xmlns:a="http://schemas.openxmlformats.org/drawingml/2006/main">
            <a:r>
              <a:t>Module section: https://docarcshot.github.io/id-practice-update/lectures/Penicillin_Allergy_Short_Module.html#side-chain-matrix</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Compare the side chains on both axes This selected-drug matrix follows the same bedside logic as the BJC pathway and uses public structural sources. It highlights identical and related R1 side chains that can contribute to allergic cross-reactivity. It supports the reaction history; it does not predict an individual patient's risk or authorize a challenge. R1 relationships are more useful here than cephalosporin generation. [4] [7] I Identical R1 side chain. Potential cross-reactivity. S Similar R1 features. Potential cross-reactivity; the entire side chain is not identical. · No highlighted R1 pairing in this selected chart. This does not mean zero allergy risk. † Carbapenem comparison. Use the clinical note below. = The same antibiotic. This is not an alternative to the culprit. Read across from the suspected culprit to the proposed antibiotic. Both axes show the same 15 drugs. Proposed antibiotic → Suspected culprit ↓ Amoxicillin Ampicillin Cefadroxil Cefprozil Cephalexin Cefaclor Cefazolin Cefuroxime Ceftriaxone Cefotaxime Cefpodoxime Cefepime Ceftazidime Aztreonam Meropenem Amoxicillin = S I I S S · · · · · · · · † Ampicillin S = S S I I · · · · · · · · † Cefadroxil I S = I S S · · · · · · · · † Cefprozil I S I = S S · · · · · · · · † Cephalexin S I S S = I · · · · · · · · † Cefaclor S I S S I = · · · · · · · · † Cefazolin · · · · · · = · · · · · · · † Cefuroxime · · · · · · · = S S S S · · † Ceftriaxone · · · · · · · S = I I I · · † Cefotaxime · · · · · · · S I = I I · · † Cefpodoxime · · · · · · · S I I = I · · † Cefepime · · · · · · · S I I I = · · † Ceftazidime · · · · · · · · · · · · = I † Aztreonam · · · · · · · · · · · · I = † Meropenem † † † † † † † † † † † † † † = Read the important pairings Amoxicillin shares R1 with cefadroxil and cefprozil; ampicillin shares R1 with cephalexin and cefaclor. These two amino side-chain groups are related, which is why amoxicillin–cephalexin is marked S rather than I. Ceftriaxone, cefotaxime, cefpodoxime, and cefepime share R1; cefuroxime has related methoxyimino features. Ceftazidime and aztreonam share R1. [4] [7] Cefazolin and carbapenems Cefazolin has no shared R1 side chain with the other drugs shown. A penicillin allergy alone does not establish cefazolin allergy. For meropenem (†), the 2022 parameter permits a carbapenem in patients with penicillin or cephalosporin allergy, including prior anaphylaxis, without routine preceding testing or additional precautions. That recommendation does not establish tolerance in someone with a carbapenem allergy or a severe delayed reaction. The aztreonam–meropenem cell is outside that specific recommendation. [4] Do not use this chart to select an unsupervised challenge after anaphylaxis, Stevens-Johnson syndrome/toxic epidermal necrolysis, DRESS, or serious immune-mediated organ injury. A history of cephalosporin anaphylaxis requires a separate evaluation even when the proposed cephalosporin has a different R1 side chain. [4] This is a teaching matrix, not a complete allergy clearance tool. It does not map R2 side chains, beta-lactamase inhibitor allergy, or other penicillins such as penicillin G/V, oxacillin, and piperacillin. Within-penicillin cross-reactivity can involve shared penicillin determinants. Published charts differ in how they classify partial structural similarities; an unmarked pair is not proof of tolerance. [4] [8]</a:t>
            </a:r>
          </a:p>
          <a:p xmlns:a="http://schemas.openxmlformats.org/drawingml/2006/main">
            <a:r>
              <a:t/>
            </a:r>
          </a:p>
          <a:p xmlns:a="http://schemas.openxmlformats.org/drawingml/2006/main">
            <a:r>
              <a:t>Module section: https://docarcshot.github.io/id-practice-update/lectures/Penicillin_Allergy_Short_Module.html#side-chain-matrix</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Compare the side chains on both axes This selected-drug matrix follows the same bedside logic as the BJC pathway and uses public structural sources. It highlights identical and related R1 side chains that can contribute to allergic cross-reactivity. It supports the reaction history; it does not predict an individual patient's risk or authorize a challenge. R1 relationships are more useful here than cephalosporin generation. [4] [7] I Identical R1 side chain. Potential cross-reactivity. S Similar R1 features. Potential cross-reactivity; the entire side chain is not identical. · No highlighted R1 pairing in this selected chart. This does not mean zero allergy risk. † Carbapenem comparison. Use the clinical note below. = The same antibiotic. This is not an alternative to the culprit. Read across from the suspected culprit to the proposed antibiotic. Both axes show the same 15 drugs. Proposed antibiotic → Suspected culprit ↓ Amoxicillin Ampicillin Cefadroxil Cefprozil Cephalexin Cefaclor Cefazolin Cefuroxime Ceftriaxone Cefotaxime Cefpodoxime Cefepime Ceftazidime Aztreonam Meropenem Amoxicillin = S I I S S · · · · · · · · † Ampicillin S = S S I I · · · · · · · · † Cefadroxil I S = I S S · · · · · · · · † Cefprozil I S I = S S · · · · · · · · † Cephalexin S I S S = I · · · · · · · · † Cefaclor S I S S I = · · · · · · · · † Cefazolin · · · · · · = · · · · · · · † Cefuroxime · · · · · · · = S S S S · · † Ceftriaxone · · · · · · · S = I I I · · † Cefotaxime · · · · · · · S I = I I · · † Cefpodoxime · · · · · · · S I I = I · · † Cefepime · · · · · · · S I I I = · · † Ceftazidime · · · · · · · · · · · · = I † Aztreonam · · · · · · · · · · · · I = † Meropenem † † † † † † † † † † † † † † = Read the important pairings Amoxicillin shares R1 with cefadroxil and cefprozil; ampicillin shares R1 with cephalexin and cefaclor. These two amino side-chain groups are related, which is why amoxicillin–cephalexin is marked S rather than I. Ceftriaxone, cefotaxime, cefpodoxime, and cefepime share R1; cefuroxime has related methoxyimino features. Ceftazidime and aztreonam share R1. [4] [7] Cefazolin and carbapenems Cefazolin has no shared R1 side chain with the other drugs shown. A penicillin allergy alone does not establish cefazolin allergy. For meropenem (†), the 2022 parameter permits a carbapenem in patients with penicillin or cephalosporin allergy, including prior anaphylaxis, without routine preceding testing or additional precautions. That recommendation does not establish tolerance in someone with a carbapenem allergy or a severe delayed reaction. The aztreonam–meropenem cell is outside that specific recommendation. [4] Do not use this chart to select an unsupervised challenge after anaphylaxis, Stevens-Johnson syndrome/toxic epidermal necrolysis, DRESS, or serious immune-mediated organ injury. A history of cephalosporin anaphylaxis requires a separate evaluation even when the proposed cephalosporin has a different R1 side chain. [4] This is a teaching matrix, not a complete allergy clearance tool. It does not map R2 side chains, beta-lactamase inhibitor allergy, or other penicillins such as penicillin G/V, oxacillin, and piperacillin. Within-penicillin cross-reactivity can involve shared penicillin determinants. Published charts differ in how they classify partial structural similarities; an unmarked pair is not proof of tolerance. [4] [8]</a:t>
            </a:r>
          </a:p>
          <a:p xmlns:a="http://schemas.openxmlformats.org/drawingml/2006/main">
            <a:r>
              <a:t/>
            </a:r>
          </a:p>
          <a:p xmlns:a="http://schemas.openxmlformats.org/drawingml/2006/main">
            <a:r>
              <a:t>Module section: https://docarcshot.github.io/id-practice-update/lectures/Penicillin_Allergy_Short_Module.html#side-chain-matrix</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Compare the side chains on both axes This selected-drug matrix follows the same bedside logic as the BJC pathway and uses public structural sources. It highlights identical and related R1 side chains that can contribute to allergic cross-reactivity. It supports the reaction history; it does not predict an individual patient's risk or authorize a challenge. R1 relationships are more useful here than cephalosporin generation. [4] [7] I Identical R1 side chain. Potential cross-reactivity. S Similar R1 features. Potential cross-reactivity; the entire side chain is not identical. · No highlighted R1 pairing in this selected chart. This does not mean zero allergy risk. † Carbapenem comparison. Use the clinical note below. = The same antibiotic. This is not an alternative to the culprit. Read across from the suspected culprit to the proposed antibiotic. Both axes show the same 15 drugs. Proposed antibiotic → Suspected culprit ↓ Amoxicillin Ampicillin Cefadroxil Cefprozil Cephalexin Cefaclor Cefazolin Cefuroxime Ceftriaxone Cefotaxime Cefpodoxime Cefepime Ceftazidime Aztreonam Meropenem Amoxicillin = S I I S S · · · · · · · · † Ampicillin S = S S I I · · · · · · · · † Cefadroxil I S = I S S · · · · · · · · † Cefprozil I S I = S S · · · · · · · · † Cephalexin S I S S = I · · · · · · · · † Cefaclor S I S S I = · · · · · · · · † Cefazolin · · · · · · = · · · · · · · † Cefuroxime · · · · · · · = S S S S · · † Ceftriaxone · · · · · · · S = I I I · · † Cefotaxime · · · · · · · S I = I I · · † Cefpodoxime · · · · · · · S I I = I · · † Cefepime · · · · · · · S I I I = · · † Ceftazidime · · · · · · · · · · · · = I † Aztreonam · · · · · · · · · · · · I = † Meropenem † † † † † † † † † † † † † † = Read the important pairings Amoxicillin shares R1 with cefadroxil and cefprozil; ampicillin shares R1 with cephalexin and cefaclor. These two amino side-chain groups are related, which is why amoxicillin–cephalexin is marked S rather than I. Ceftriaxone, cefotaxime, cefpodoxime, and cefepime share R1; cefuroxime has related methoxyimino features. Ceftazidime and aztreonam share R1. [4] [7] Cefazolin and carbapenems Cefazolin has no shared R1 side chain with the other drugs shown. A penicillin allergy alone does not establish cefazolin allergy. For meropenem (†), the 2022 parameter permits a carbapenem in patients with penicillin or cephalosporin allergy, including prior anaphylaxis, without routine preceding testing or additional precautions. That recommendation does not establish tolerance in someone with a carbapenem allergy or a severe delayed reaction. The aztreonam–meropenem cell is outside that specific recommendation. [4] Do not use this chart to select an unsupervised challenge after anaphylaxis, Stevens-Johnson syndrome/toxic epidermal necrolysis, DRESS, or serious immune-mediated organ injury. A history of cephalosporin anaphylaxis requires a separate evaluation even when the proposed cephalosporin has a different R1 side chain. [4] This is a teaching matrix, not a complete allergy clearance tool. It does not map R2 side chains, beta-lactamase inhibitor allergy, or other penicillins such as penicillin G/V, oxacillin, and piperacillin. Within-penicillin cross-reactivity can involve shared penicillin determinants. Published charts differ in how they classify partial structural similarities; an unmarked pair is not proof of tolerance. [4] [8]</a:t>
            </a:r>
          </a:p>
          <a:p xmlns:a="http://schemas.openxmlformats.org/drawingml/2006/main">
            <a:r>
              <a:t/>
            </a:r>
          </a:p>
          <a:p xmlns:a="http://schemas.openxmlformats.org/drawingml/2006/main">
            <a:r>
              <a:t>Module section: https://docarcshot.github.io/id-practice-update/lectures/Penicillin_Allergy_Short_Module.html#side-chain-matrix</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Compare the side chains on both axes This selected-drug matrix follows the same bedside logic as the BJC pathway and uses public structural sources. It highlights identical and related R1 side chains that can contribute to allergic cross-reactivity. It supports the reaction history; it does not predict an individual patient's risk or authorize a challenge. R1 relationships are more useful here than cephalosporin generation. [4] [7] I Identical R1 side chain. Potential cross-reactivity. S Similar R1 features. Potential cross-reactivity; the entire side chain is not identical. · No highlighted R1 pairing in this selected chart. This does not mean zero allergy risk. † Carbapenem comparison. Use the clinical note below. = The same antibiotic. This is not an alternative to the culprit. Read across from the suspected culprit to the proposed antibiotic. Both axes show the same 15 drugs. Proposed antibiotic → Suspected culprit ↓ Amoxicillin Ampicillin Cefadroxil Cefprozil Cephalexin Cefaclor Cefazolin Cefuroxime Ceftriaxone Cefotaxime Cefpodoxime Cefepime Ceftazidime Aztreonam Meropenem Amoxicillin = S I I S S · · · · · · · · † Ampicillin S = S S I I · · · · · · · · † Cefadroxil I S = I S S · · · · · · · · † Cefprozil I S I = S S · · · · · · · · † Cephalexin S I S S = I · · · · · · · · † Cefaclor S I S S I = · · · · · · · · † Cefazolin · · · · · · = · · · · · · · † Cefuroxime · · · · · · · = S S S S · · † Ceftriaxone · · · · · · · S = I I I · · † Cefotaxime · · · · · · · S I = I I · · † Cefpodoxime · · · · · · · S I I = I · · † Cefepime · · · · · · · S I I I = · · † Ceftazidime · · · · · · · · · · · · = I † Aztreonam · · · · · · · · · · · · I = † Meropenem † † † † † † † † † † † † † † = Read the important pairings Amoxicillin shares R1 with cefadroxil and cefprozil; ampicillin shares R1 with cephalexin and cefaclor. These two amino side-chain groups are related, which is why amoxicillin–cephalexin is marked S rather than I. Ceftriaxone, cefotaxime, cefpodoxime, and cefepime share R1; cefuroxime has related methoxyimino features. Ceftazidime and aztreonam share R1. [4] [7] Cefazolin and carbapenems Cefazolin has no shared R1 side chain with the other drugs shown. A penicillin allergy alone does not establish cefazolin allergy. For meropenem (†), the 2022 parameter permits a carbapenem in patients with penicillin or cephalosporin allergy, including prior anaphylaxis, without routine preceding testing or additional precautions. That recommendation does not establish tolerance in someone with a carbapenem allergy or a severe delayed reaction. The aztreonam–meropenem cell is outside that specific recommendation. [4] Do not use this chart to select an unsupervised challenge after anaphylaxis, Stevens-Johnson syndrome/toxic epidermal necrolysis, DRESS, or serious immune-mediated organ injury. A history of cephalosporin anaphylaxis requires a separate evaluation even when the proposed cephalosporin has a different R1 side chain. [4] This is a teaching matrix, not a complete allergy clearance tool. It does not map R2 side chains, beta-lactamase inhibitor allergy, or other penicillins such as penicillin G/V, oxacillin, and piperacillin. Within-penicillin cross-reactivity can involve shared penicillin determinants. Published charts differ in how they classify partial structural similarities; an unmarked pair is not proof of tolerance. [4] [8]</a:t>
            </a:r>
          </a:p>
          <a:p xmlns:a="http://schemas.openxmlformats.org/drawingml/2006/main">
            <a:r>
              <a:t/>
            </a:r>
          </a:p>
          <a:p xmlns:a="http://schemas.openxmlformats.org/drawingml/2006/main">
            <a:r>
              <a:t>Module section: https://docarcshot.github.io/id-practice-update/lectures/Penicillin_Allergy_Short_Module.html#side-chain-matrix</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Compare the side chains on both axes This selected-drug matrix follows the same bedside logic as the BJC pathway and uses public structural sources. It highlights identical and related R1 side chains that can contribute to allergic cross-reactivity. It supports the reaction history; it does not predict an individual patient's risk or authorize a challenge. R1 relationships are more useful here than cephalosporin generation. [4] [7] I Identical R1 side chain. Potential cross-reactivity. S Similar R1 features. Potential cross-reactivity; the entire side chain is not identical. · No highlighted R1 pairing in this selected chart. This does not mean zero allergy risk. † Carbapenem comparison. Use the clinical note below. = The same antibiotic. This is not an alternative to the culprit. Read across from the suspected culprit to the proposed antibiotic. Both axes show the same 15 drugs. Proposed antibiotic → Suspected culprit ↓ Amoxicillin Ampicillin Cefadroxil Cefprozil Cephalexin Cefaclor Cefazolin Cefuroxime Ceftriaxone Cefotaxime Cefpodoxime Cefepime Ceftazidime Aztreonam Meropenem Amoxicillin = S I I S S · · · · · · · · † Ampicillin S = S S I I · · · · · · · · † Cefadroxil I S = I S S · · · · · · · · † Cefprozil I S I = S S · · · · · · · · † Cephalexin S I S S = I · · · · · · · · † Cefaclor S I S S I = · · · · · · · · † Cefazolin · · · · · · = · · · · · · · † Cefuroxime · · · · · · · = S S S S · · † Ceftriaxone · · · · · · · S = I I I · · † Cefotaxime · · · · · · · S I = I I · · † Cefpodoxime · · · · · · · S I I = I · · † Cefepime · · · · · · · S I I I = · · † Ceftazidime · · · · · · · · · · · · = I † Aztreonam · · · · · · · · · · · · I = † Meropenem † † † † † † † † † † † † † † = Read the important pairings Amoxicillin shares R1 with cefadroxil and cefprozil; ampicillin shares R1 with cephalexin and cefaclor. These two amino side-chain groups are related, which is why amoxicillin–cephalexin is marked S rather than I. Ceftriaxone, cefotaxime, cefpodoxime, and cefepime share R1; cefuroxime has related methoxyimino features. Ceftazidime and aztreonam share R1. [4] [7] Cefazolin and carbapenems Cefazolin has no shared R1 side chain with the other drugs shown. A penicillin allergy alone does not establish cefazolin allergy. For meropenem (†), the 2022 parameter permits a carbapenem in patients with penicillin or cephalosporin allergy, including prior anaphylaxis, without routine preceding testing or additional precautions. That recommendation does not establish tolerance in someone with a carbapenem allergy or a severe delayed reaction. The aztreonam–meropenem cell is outside that specific recommendation. [4] Do not use this chart to select an unsupervised challenge after anaphylaxis, Stevens-Johnson syndrome/toxic epidermal necrolysis, DRESS, or serious immune-mediated organ injury. A history of cephalosporin anaphylaxis requires a separate evaluation even when the proposed cephalosporin has a different R1 side chain. [4] This is a teaching matrix, not a complete allergy clearance tool. It does not map R2 side chains, beta-lactamase inhibitor allergy, or other penicillins such as penicillin G/V, oxacillin, and piperacillin. Within-penicillin cross-reactivity can involve shared penicillin determinants. Published charts differ in how they classify partial structural similarities; an unmarked pair is not proof of tolerance. [4] [8]</a:t>
            </a:r>
          </a:p>
          <a:p xmlns:a="http://schemas.openxmlformats.org/drawingml/2006/main">
            <a:r>
              <a:t/>
            </a:r>
          </a:p>
          <a:p xmlns:a="http://schemas.openxmlformats.org/drawingml/2006/main">
            <a:r>
              <a:t>Module section: https://docarcshot.github.io/id-practice-update/lectures/Penicillin_Allergy_Short_Module.html#side-chain-matrix</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Compare the side chains on both axes This selected-drug matrix follows the same bedside logic as the BJC pathway and uses public structural sources. It highlights identical and related R1 side chains that can contribute to allergic cross-reactivity. It supports the reaction history; it does not predict an individual patient's risk or authorize a challenge. R1 relationships are more useful here than cephalosporin generation. [4] [7] I Identical R1 side chain. Potential cross-reactivity. S Similar R1 features. Potential cross-reactivity; the entire side chain is not identical. · No highlighted R1 pairing in this selected chart. This does not mean zero allergy risk. † Carbapenem comparison. Use the clinical note below. = The same antibiotic. This is not an alternative to the culprit. Read across from the suspected culprit to the proposed antibiotic. Both axes show the same 15 drugs. Proposed antibiotic → Suspected culprit ↓ Amoxicillin Ampicillin Cefadroxil Cefprozil Cephalexin Cefaclor Cefazolin Cefuroxime Ceftriaxone Cefotaxime Cefpodoxime Cefepime Ceftazidime Aztreonam Meropenem Amoxicillin = S I I S S · · · · · · · · † Ampicillin S = S S I I · · · · · · · · † Cefadroxil I S = I S S · · · · · · · · † Cefprozil I S I = S S · · · · · · · · † Cephalexin S I S S = I · · · · · · · · † Cefaclor S I S S I = · · · · · · · · † Cefazolin · · · · · · = · · · · · · · † Cefuroxime · · · · · · · = S S S S · · † Ceftriaxone · · · · · · · S = I I I · · † Cefotaxime · · · · · · · S I = I I · · † Cefpodoxime · · · · · · · S I I = I · · † Cefepime · · · · · · · S I I I = · · † Ceftazidime · · · · · · · · · · · · = I † Aztreonam · · · · · · · · · · · · I = † Meropenem † † † † † † † † † † † † † † = Read the important pairings Amoxicillin shares R1 with cefadroxil and cefprozil; ampicillin shares R1 with cephalexin and cefaclor. These two amino side-chain groups are related, which is why amoxicillin–cephalexin is marked S rather than I. Ceftriaxone, cefotaxime, cefpodoxime, and cefepime share R1; cefuroxime has related methoxyimino features. Ceftazidime and aztreonam share R1. [4] [7] Cefazolin and carbapenems Cefazolin has no shared R1 side chain with the other drugs shown. A penicillin allergy alone does not establish cefazolin allergy. For meropenem (†), the 2022 parameter permits a carbapenem in patients with penicillin or cephalosporin allergy, including prior anaphylaxis, without routine preceding testing or additional precautions. That recommendation does not establish tolerance in someone with a carbapenem allergy or a severe delayed reaction. The aztreonam–meropenem cell is outside that specific recommendation. [4] Do not use this chart to select an unsupervised challenge after anaphylaxis, Stevens-Johnson syndrome/toxic epidermal necrolysis, DRESS, or serious immune-mediated organ injury. A history of cephalosporin anaphylaxis requires a separate evaluation even when the proposed cephalosporin has a different R1 side chain. [4] This is a teaching matrix, not a complete allergy clearance tool. It does not map R2 side chains, beta-lactamase inhibitor allergy, or other penicillins such as penicillin G/V, oxacillin, and piperacillin. Within-penicillin cross-reactivity can involve shared penicillin determinants. Published charts differ in how they classify partial structural similarities; an unmarked pair is not proof of tolerance. [4] [8]</a:t>
            </a:r>
          </a:p>
          <a:p xmlns:a="http://schemas.openxmlformats.org/drawingml/2006/main">
            <a:r>
              <a:t/>
            </a:r>
          </a:p>
          <a:p xmlns:a="http://schemas.openxmlformats.org/drawingml/2006/main">
            <a:r>
              <a:t>Module section: https://docarcshot.github.io/id-practice-update/lectures/Penicillin_Allergy_Short_Module.html#side-chain-matrix</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Compare the side chains on both axes This selected-drug matrix follows the same bedside logic as the BJC pathway and uses public structural sources. It highlights identical and related R1 side chains that can contribute to allergic cross-reactivity. It supports the reaction history; it does not predict an individual patient's risk or authorize a challenge. R1 relationships are more useful here than cephalosporin generation. [4] [7] I Identical R1 side chain. Potential cross-reactivity. S Similar R1 features. Potential cross-reactivity; the entire side chain is not identical. · No highlighted R1 pairing in this selected chart. This does not mean zero allergy risk. † Carbapenem comparison. Use the clinical note below. = The same antibiotic. This is not an alternative to the culprit. Read across from the suspected culprit to the proposed antibiotic. Both axes show the same 15 drugs. Proposed antibiotic → Suspected culprit ↓ Amoxicillin Ampicillin Cefadroxil Cefprozil Cephalexin Cefaclor Cefazolin Cefuroxime Ceftriaxone Cefotaxime Cefpodoxime Cefepime Ceftazidime Aztreonam Meropenem Amoxicillin = S I I S S · · · · · · · · † Ampicillin S = S S I I · · · · · · · · † Cefadroxil I S = I S S · · · · · · · · † Cefprozil I S I = S S · · · · · · · · † Cephalexin S I S S = I · · · · · · · · † Cefaclor S I S S I = · · · · · · · · † Cefazolin · · · · · · = · · · · · · · † Cefuroxime · · · · · · · = S S S S · · † Ceftriaxone · · · · · · · S = I I I · · † Cefotaxime · · · · · · · S I = I I · · † Cefpodoxime · · · · · · · S I I = I · · † Cefepime · · · · · · · S I I I = · · † Ceftazidime · · · · · · · · · · · · = I † Aztreonam · · · · · · · · · · · · I = † Meropenem † † † † † † † † † † † † † † = Read the important pairings Amoxicillin shares R1 with cefadroxil and cefprozil; ampicillin shares R1 with cephalexin and cefaclor. These two amino side-chain groups are related, which is why amoxicillin–cephalexin is marked S rather than I. Ceftriaxone, cefotaxime, cefpodoxime, and cefepime share R1; cefuroxime has related methoxyimino features. Ceftazidime and aztreonam share R1. [4] [7] Cefazolin and carbapenems Cefazolin has no shared R1 side chain with the other drugs shown. A penicillin allergy alone does not establish cefazolin allergy. For meropenem (†), the 2022 parameter permits a carbapenem in patients with penicillin or cephalosporin allergy, including prior anaphylaxis, without routine preceding testing or additional precautions. That recommendation does not establish tolerance in someone with a carbapenem allergy or a severe delayed reaction. The aztreonam–meropenem cell is outside that specific recommendation. [4] Do not use this chart to select an unsupervised challenge after anaphylaxis, Stevens-Johnson syndrome/toxic epidermal necrolysis, DRESS, or serious immune-mediated organ injury. A history of cephalosporin anaphylaxis requires a separate evaluation even when the proposed cephalosporin has a different R1 side chain. [4] This is a teaching matrix, not a complete allergy clearance tool. It does not map R2 side chains, beta-lactamase inhibitor allergy, or other penicillins such as penicillin G/V, oxacillin, and piperacillin. Within-penicillin cross-reactivity can involve shared penicillin determinants. Published charts differ in how they classify partial structural similarities; an unmarked pair is not proof of tolerance. [4] [8]</a:t>
            </a:r>
          </a:p>
          <a:p xmlns:a="http://schemas.openxmlformats.org/drawingml/2006/main">
            <a:r>
              <a:t/>
            </a:r>
          </a:p>
          <a:p xmlns:a="http://schemas.openxmlformats.org/drawingml/2006/main">
            <a:r>
              <a:t>Module section: https://docarcshot.github.io/id-practice-update/lectures/Penicillin_Allergy_Short_Module.html#side-chain-matrix</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Compare the side chains on both axes This selected-drug matrix follows the same bedside logic as the BJC pathway and uses public structural sources. It highlights identical and related R1 side chains that can contribute to allergic cross-reactivity. It supports the reaction history; it does not predict an individual patient's risk or authorize a challenge. R1 relationships are more useful here than cephalosporin generation. [4] [7] I Identical R1 side chain. Potential cross-reactivity. S Similar R1 features. Potential cross-reactivity; the entire side chain is not identical. · No highlighted R1 pairing in this selected chart. This does not mean zero allergy risk. † Carbapenem comparison. Use the clinical note below. = The same antibiotic. This is not an alternative to the culprit. Read across from the suspected culprit to the proposed antibiotic. Both axes show the same 15 drugs. Proposed antibiotic → Suspected culprit ↓ Amoxicillin Ampicillin Cefadroxil Cefprozil Cephalexin Cefaclor Cefazolin Cefuroxime Ceftriaxone Cefotaxime Cefpodoxime Cefepime Ceftazidime Aztreonam Meropenem Amoxicillin = S I I S S · · · · · · · · † Ampicillin S = S S I I · · · · · · · · † Cefadroxil I S = I S S · · · · · · · · † Cefprozil I S I = S S · · · · · · · · † Cephalexin S I S S = I · · · · · · · · † Cefaclor S I S S I = · · · · · · · · † Cefazolin · · · · · · = · · · · · · · † Cefuroxime · · · · · · · = S S S S · · † Ceftriaxone · · · · · · · S = I I I · · † Cefotaxime · · · · · · · S I = I I · · † Cefpodoxime · · · · · · · S I I = I · · † Cefepime · · · · · · · S I I I = · · † Ceftazidime · · · · · · · · · · · · = I † Aztreonam · · · · · · · · · · · · I = † Meropenem † † † † † † † † † † † † † † = Read the important pairings Amoxicillin shares R1 with cefadroxil and cefprozil; ampicillin shares R1 with cephalexin and cefaclor. These two amino side-chain groups are related, which is why amoxicillin–cephalexin is marked S rather than I. Ceftriaxone, cefotaxime, cefpodoxime, and cefepime share R1; cefuroxime has related methoxyimino features. Ceftazidime and aztreonam share R1. [4] [7] Cefazolin and carbapenems Cefazolin has no shared R1 side chain with the other drugs shown. A penicillin allergy alone does not establish cefazolin allergy. For meropenem (†), the 2022 parameter permits a carbapenem in patients with penicillin or cephalosporin allergy, including prior anaphylaxis, without routine preceding testing or additional precautions. That recommendation does not establish tolerance in someone with a carbapenem allergy or a severe delayed reaction. The aztreonam–meropenem cell is outside that specific recommendation. [4] Do not use this chart to select an unsupervised challenge after anaphylaxis, Stevens-Johnson syndrome/toxic epidermal necrolysis, DRESS, or serious immune-mediated organ injury. A history of cephalosporin anaphylaxis requires a separate evaluation even when the proposed cephalosporin has a different R1 side chain. [4] This is a teaching matrix, not a complete allergy clearance tool. It does not map R2 side chains, beta-lactamase inhibitor allergy, or other penicillins such as penicillin G/V, oxacillin, and piperacillin. Within-penicillin cross-reactivity can involve shared penicillin determinants. Published charts differ in how they classify partial structural similarities; an unmarked pair is not proof of tolerance. [4] [8]</a:t>
            </a:r>
          </a:p>
          <a:p xmlns:a="http://schemas.openxmlformats.org/drawingml/2006/main">
            <a:r>
              <a:t/>
            </a:r>
          </a:p>
          <a:p xmlns:a="http://schemas.openxmlformats.org/drawingml/2006/main">
            <a:r>
              <a:t>Module section: https://docarcshot.github.io/id-practice-update/lectures/Penicillin_Allergy_Short_Module.html#side-chain-matrix</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Compare the side chains on both axes This selected-drug matrix follows the same bedside logic as the BJC pathway and uses public structural sources. It highlights identical and related R1 side chains that can contribute to allergic cross-reactivity. It supports the reaction history; it does not predict an individual patient's risk or authorize a challenge. R1 relationships are more useful here than cephalosporin generation. [4] [7] I Identical R1 side chain. Potential cross-reactivity. S Similar R1 features. Potential cross-reactivity; the entire side chain is not identical. · No highlighted R1 pairing in this selected chart. This does not mean zero allergy risk. † Carbapenem comparison. Use the clinical note below. = The same antibiotic. This is not an alternative to the culprit. Read across from the suspected culprit to the proposed antibiotic. Both axes show the same 15 drugs. Proposed antibiotic → Suspected culprit ↓ Amoxicillin Ampicillin Cefadroxil Cefprozil Cephalexin Cefaclor Cefazolin Cefuroxime Ceftriaxone Cefotaxime Cefpodoxime Cefepime Ceftazidime Aztreonam Meropenem Amoxicillin = S I I S S · · · · · · · · † Ampicillin S = S S I I · · · · · · · · † Cefadroxil I S = I S S · · · · · · · · † Cefprozil I S I = S S · · · · · · · · † Cephalexin S I S S = I · · · · · · · · † Cefaclor S I S S I = · · · · · · · · † Cefazolin · · · · · · = · · · · · · · † Cefuroxime · · · · · · · = S S S S · · † Ceftriaxone · · · · · · · S = I I I · · † Cefotaxime · · · · · · · S I = I I · · † Cefpodoxime · · · · · · · S I I = I · · † Cefepime · · · · · · · S I I I = · · † Ceftazidime · · · · · · · · · · · · = I † Aztreonam · · · · · · · · · · · · I = † Meropenem † † † † † † † † † † † † † † = Read the important pairings Amoxicillin shares R1 with cefadroxil and cefprozil; ampicillin shares R1 with cephalexin and cefaclor. These two amino side-chain groups are related, which is why amoxicillin–cephalexin is marked S rather than I. Ceftriaxone, cefotaxime, cefpodoxime, and cefepime share R1; cefuroxime has related methoxyimino features. Ceftazidime and aztreonam share R1. [4] [7] Cefazolin and carbapenems Cefazolin has no shared R1 side chain with the other drugs shown. A penicillin allergy alone does not establish cefazolin allergy. For meropenem (†), the 2022 parameter permits a carbapenem in patients with penicillin or cephalosporin allergy, including prior anaphylaxis, without routine preceding testing or additional precautions. That recommendation does not establish tolerance in someone with a carbapenem allergy or a severe delayed reaction. The aztreonam–meropenem cell is outside that specific recommendation. [4] Do not use this chart to select an unsupervised challenge after anaphylaxis, Stevens-Johnson syndrome/toxic epidermal necrolysis, DRESS, or serious immune-mediated organ injury. A history of cephalosporin anaphylaxis requires a separate evaluation even when the proposed cephalosporin has a different R1 side chain. [4] This is a teaching matrix, not a complete allergy clearance tool. It does not map R2 side chains, beta-lactamase inhibitor allergy, or other penicillins such as penicillin G/V, oxacillin, and piperacillin. Within-penicillin cross-reactivity can involve shared penicillin determinants. Published charts differ in how they classify partial structural similarities; an unmarked pair is not proof of tolerance. [4] [8]</a:t>
            </a:r>
          </a:p>
          <a:p xmlns:a="http://schemas.openxmlformats.org/drawingml/2006/main">
            <a:r>
              <a:t/>
            </a:r>
          </a:p>
          <a:p xmlns:a="http://schemas.openxmlformats.org/drawingml/2006/main">
            <a:r>
              <a:t>Module section: https://docarcshot.github.io/id-practice-update/lectures/Penicillin_Allergy_Short_Module.html#side-chain-matrix</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Compare the side chains on both axes This selected-drug matrix follows the same bedside logic as the BJC pathway and uses public structural sources. It highlights identical and related R1 side chains that can contribute to allergic cross-reactivity. It supports the reaction history; it does not predict an individual patient's risk or authorize a challenge. R1 relationships are more useful here than cephalosporin generation. [4] [7] I Identical R1 side chain. Potential cross-reactivity. S Similar R1 features. Potential cross-reactivity; the entire side chain is not identical. · No highlighted R1 pairing in this selected chart. This does not mean zero allergy risk. † Carbapenem comparison. Use the clinical note below. = The same antibiotic. This is not an alternative to the culprit. Read across from the suspected culprit to the proposed antibiotic. Both axes show the same 15 drugs. Proposed antibiotic → Suspected culprit ↓ Amoxicillin Ampicillin Cefadroxil Cefprozil Cephalexin Cefaclor Cefazolin Cefuroxime Ceftriaxone Cefotaxime Cefpodoxime Cefepime Ceftazidime Aztreonam Meropenem Amoxicillin = S I I S S · · · · · · · · † Ampicillin S = S S I I · · · · · · · · † Cefadroxil I S = I S S · · · · · · · · † Cefprozil I S I = S S · · · · · · · · † Cephalexin S I S S = I · · · · · · · · † Cefaclor S I S S I = · · · · · · · · † Cefazolin · · · · · · = · · · · · · · † Cefuroxime · · · · · · · = S S S S · · † Ceftriaxone · · · · · · · S = I I I · · † Cefotaxime · · · · · · · S I = I I · · † Cefpodoxime · · · · · · · S I I = I · · † Cefepime · · · · · · · S I I I = · · † Ceftazidime · · · · · · · · · · · · = I † Aztreonam · · · · · · · · · · · · I = † Meropenem † † † † † † † † † † † † † † = Read the important pairings Amoxicillin shares R1 with cefadroxil and cefprozil; ampicillin shares R1 with cephalexin and cefaclor. These two amino side-chain groups are related, which is why amoxicillin–cephalexin is marked S rather than I. Ceftriaxone, cefotaxime, cefpodoxime, and cefepime share R1; cefuroxime has related methoxyimino features. Ceftazidime and aztreonam share R1. [4] [7] Cefazolin and carbapenems Cefazolin has no shared R1 side chain with the other drugs shown. A penicillin allergy alone does not establish cefazolin allergy. For meropenem (†), the 2022 parameter permits a carbapenem in patients with penicillin or cephalosporin allergy, including prior anaphylaxis, without routine preceding testing or additional precautions. That recommendation does not establish tolerance in someone with a carbapenem allergy or a severe delayed reaction. The aztreonam–meropenem cell is outside that specific recommendation. [4] Do not use this chart to select an unsupervised challenge after anaphylaxis, Stevens-Johnson syndrome/toxic epidermal necrolysis, DRESS, or serious immune-mediated organ injury. A history of cephalosporin anaphylaxis requires a separate evaluation even when the proposed cephalosporin has a different R1 side chain. [4] This is a teaching matrix, not a complete allergy clearance tool. It does not map R2 side chains, beta-lactamase inhibitor allergy, or other penicillins such as penicillin G/V, oxacillin, and piperacillin. Within-penicillin cross-reactivity can involve shared penicillin determinants. Published charts differ in how they classify partial structural similarities; an unmarked pair is not proof of tolerance. [4] [8]</a:t>
            </a:r>
          </a:p>
          <a:p xmlns:a="http://schemas.openxmlformats.org/drawingml/2006/main">
            <a:r>
              <a:t/>
            </a:r>
          </a:p>
          <a:p xmlns:a="http://schemas.openxmlformats.org/drawingml/2006/main">
            <a:r>
              <a:t>Module section: https://docarcshot.github.io/id-practice-update/lectures/Penicillin_Allergy_Short_Module.html#side-chain-matrix</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Compare the side chains on both axes This selected-drug matrix follows the same bedside logic as the BJC pathway and uses public structural sources. It highlights identical and related R1 side chains that can contribute to allergic cross-reactivity. It supports the reaction history; it does not predict an individual patient's risk or authorize a challenge. R1 relationships are more useful here than cephalosporin generation. [4] [7] I Identical R1 side chain. Potential cross-reactivity. S Similar R1 features. Potential cross-reactivity; the entire side chain is not identical. · No highlighted R1 pairing in this selected chart. This does not mean zero allergy risk. † Carbapenem comparison. Use the clinical note below. = The same antibiotic. This is not an alternative to the culprit. Read across from the suspected culprit to the proposed antibiotic. Both axes show the same 15 drugs. Proposed antibiotic → Suspected culprit ↓ Amoxicillin Ampicillin Cefadroxil Cefprozil Cephalexin Cefaclor Cefazolin Cefuroxime Ceftriaxone Cefotaxime Cefpodoxime Cefepime Ceftazidime Aztreonam Meropenem Amoxicillin = S I I S S · · · · · · · · † Ampicillin S = S S I I · · · · · · · · † Cefadroxil I S = I S S · · · · · · · · † Cefprozil I S I = S S · · · · · · · · † Cephalexin S I S S = I · · · · · · · · † Cefaclor S I S S I = · · · · · · · · † Cefazolin · · · · · · = · · · · · · · † Cefuroxime · · · · · · · = S S S S · · † Ceftriaxone · · · · · · · S = I I I · · † Cefotaxime · · · · · · · S I = I I · · † Cefpodoxime · · · · · · · S I I = I · · † Cefepime · · · · · · · S I I I = · · † Ceftazidime · · · · · · · · · · · · = I † Aztreonam · · · · · · · · · · · · I = † Meropenem † † † † † † † † † † † † † † = Read the important pairings Amoxicillin shares R1 with cefadroxil and cefprozil; ampicillin shares R1 with cephalexin and cefaclor. These two amino side-chain groups are related, which is why amoxicillin–cephalexin is marked S rather than I. Ceftriaxone, cefotaxime, cefpodoxime, and cefepime share R1; cefuroxime has related methoxyimino features. Ceftazidime and aztreonam share R1. [4] [7] Cefazolin and carbapenems Cefazolin has no shared R1 side chain with the other drugs shown. A penicillin allergy alone does not establish cefazolin allergy. For meropenem (†), the 2022 parameter permits a carbapenem in patients with penicillin or cephalosporin allergy, including prior anaphylaxis, without routine preceding testing or additional precautions. That recommendation does not establish tolerance in someone with a carbapenem allergy or a severe delayed reaction. The aztreonam–meropenem cell is outside that specific recommendation. [4] Do not use this chart to select an unsupervised challenge after anaphylaxis, Stevens-Johnson syndrome/toxic epidermal necrolysis, DRESS, or serious immune-mediated organ injury. A history of cephalosporin anaphylaxis requires a separate evaluation even when the proposed cephalosporin has a different R1 side chain. [4] This is a teaching matrix, not a complete allergy clearance tool. It does not map R2 side chains, beta-lactamase inhibitor allergy, or other penicillins such as penicillin G/V, oxacillin, and piperacillin. Within-penicillin cross-reactivity can involve shared penicillin determinants. Published charts differ in how they classify partial structural similarities; an unmarked pair is not proof of tolerance. [4] [8]</a:t>
            </a:r>
          </a:p>
          <a:p xmlns:a="http://schemas.openxmlformats.org/drawingml/2006/main">
            <a:r>
              <a:t/>
            </a:r>
          </a:p>
          <a:p xmlns:a="http://schemas.openxmlformats.org/drawingml/2006/main">
            <a:r>
              <a:t>Module section: https://docarcshot.github.io/id-practice-update/lectures/Penicillin_Allergy_Short_Module.html#side-chain-matrix</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Compare the side chains on both axes This selected-drug matrix follows the same bedside logic as the BJC pathway and uses public structural sources. It highlights identical and related R1 side chains that can contribute to allergic cross-reactivity. It supports the reaction history; it does not predict an individual patient's risk or authorize a challenge. R1 relationships are more useful here than cephalosporin generation. [4] [7] I Identical R1 side chain. Potential cross-reactivity. S Similar R1 features. Potential cross-reactivity; the entire side chain is not identical. · No highlighted R1 pairing in this selected chart. This does not mean zero allergy risk. † Carbapenem comparison. Use the clinical note below. = The same antibiotic. This is not an alternative to the culprit. Read across from the suspected culprit to the proposed antibiotic. Both axes show the same 15 drugs. Proposed antibiotic → Suspected culprit ↓ Amoxicillin Ampicillin Cefadroxil Cefprozil Cephalexin Cefaclor Cefazolin Cefuroxime Ceftriaxone Cefotaxime Cefpodoxime Cefepime Ceftazidime Aztreonam Meropenem Amoxicillin = S I I S S · · · · · · · · † Ampicillin S = S S I I · · · · · · · · † Cefadroxil I S = I S S · · · · · · · · † Cefprozil I S I = S S · · · · · · · · † Cephalexin S I S S = I · · · · · · · · † Cefaclor S I S S I = · · · · · · · · † Cefazolin · · · · · · = · · · · · · · † Cefuroxime · · · · · · · = S S S S · · † Ceftriaxone · · · · · · · S = I I I · · † Cefotaxime · · · · · · · S I = I I · · † Cefpodoxime · · · · · · · S I I = I · · † Cefepime · · · · · · · S I I I = · · † Ceftazidime · · · · · · · · · · · · = I † Aztreonam · · · · · · · · · · · · I = † Meropenem † † † † † † † † † † † † † † = Read the important pairings Amoxicillin shares R1 with cefadroxil and cefprozil; ampicillin shares R1 with cephalexin and cefaclor. These two amino side-chain groups are related, which is why amoxicillin–cephalexin is marked S rather than I. Ceftriaxone, cefotaxime, cefpodoxime, and cefepime share R1; cefuroxime has related methoxyimino features. Ceftazidime and aztreonam share R1. [4] [7] Cefazolin and carbapenems Cefazolin has no shared R1 side chain with the other drugs shown. A penicillin allergy alone does not establish cefazolin allergy. For meropenem (†), the 2022 parameter permits a carbapenem in patients with penicillin or cephalosporin allergy, including prior anaphylaxis, without routine preceding testing or additional precautions. That recommendation does not establish tolerance in someone with a carbapenem allergy or a severe delayed reaction. The aztreonam–meropenem cell is outside that specific recommendation. [4] Do not use this chart to select an unsupervised challenge after anaphylaxis, Stevens-Johnson syndrome/toxic epidermal necrolysis, DRESS, or serious immune-mediated organ injury. A history of cephalosporin anaphylaxis requires a separate evaluation even when the proposed cephalosporin has a different R1 side chain. [4] This is a teaching matrix, not a complete allergy clearance tool. It does not map R2 side chains, beta-lactamase inhibitor allergy, or other penicillins such as penicillin G/V, oxacillin, and piperacillin. Within-penicillin cross-reactivity can involve shared penicillin determinants. Published charts differ in how they classify partial structural similarities; an unmarked pair is not proof of tolerance. [4] [8]</a:t>
            </a:r>
          </a:p>
          <a:p xmlns:a="http://schemas.openxmlformats.org/drawingml/2006/main">
            <a:r>
              <a:t/>
            </a:r>
          </a:p>
          <a:p xmlns:a="http://schemas.openxmlformats.org/drawingml/2006/main">
            <a:r>
              <a:t>Module section: https://docarcshot.github.io/id-practice-update/lectures/Penicillin_Allergy_Short_Module.html#side-chain-matrix</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Compare the side chains on both axes This selected-drug matrix follows the same bedside logic as the BJC pathway and uses public structural sources. It highlights identical and related R1 side chains that can contribute to allergic cross-reactivity. It supports the reaction history; it does not predict an individual patient's risk or authorize a challenge. R1 relationships are more useful here than cephalosporin generation. [4] [7] I Identical R1 side chain. Potential cross-reactivity. S Similar R1 features. Potential cross-reactivity; the entire side chain is not identical. · No highlighted R1 pairing in this selected chart. This does not mean zero allergy risk. † Carbapenem comparison. Use the clinical note below. = The same antibiotic. This is not an alternative to the culprit. Read across from the suspected culprit to the proposed antibiotic. Both axes show the same 15 drugs. Proposed antibiotic → Suspected culprit ↓ Amoxicillin Ampicillin Cefadroxil Cefprozil Cephalexin Cefaclor Cefazolin Cefuroxime Ceftriaxone Cefotaxime Cefpodoxime Cefepime Ceftazidime Aztreonam Meropenem Amoxicillin = S I I S S · · · · · · · · † Ampicillin S = S S I I · · · · · · · · † Cefadroxil I S = I S S · · · · · · · · † Cefprozil I S I = S S · · · · · · · · † Cephalexin S I S S = I · · · · · · · · † Cefaclor S I S S I = · · · · · · · · † Cefazolin · · · · · · = · · · · · · · † Cefuroxime · · · · · · · = S S S S · · † Ceftriaxone · · · · · · · S = I I I · · † Cefotaxime · · · · · · · S I = I I · · † Cefpodoxime · · · · · · · S I I = I · · † Cefepime · · · · · · · S I I I = · · † Ceftazidime · · · · · · · · · · · · = I † Aztreonam · · · · · · · · · · · · I = † Meropenem † † † † † † † † † † † † † † = Read the important pairings Amoxicillin shares R1 with cefadroxil and cefprozil; ampicillin shares R1 with cephalexin and cefaclor. These two amino side-chain groups are related, which is why amoxicillin–cephalexin is marked S rather than I. Ceftriaxone, cefotaxime, cefpodoxime, and cefepime share R1; cefuroxime has related methoxyimino features. Ceftazidime and aztreonam share R1. [4] [7] Cefazolin and carbapenems Cefazolin has no shared R1 side chain with the other drugs shown. A penicillin allergy alone does not establish cefazolin allergy. For meropenem (†), the 2022 parameter permits a carbapenem in patients with penicillin or cephalosporin allergy, including prior anaphylaxis, without routine preceding testing or additional precautions. That recommendation does not establish tolerance in someone with a carbapenem allergy or a severe delayed reaction. The aztreonam–meropenem cell is outside that specific recommendation. [4] Do not use this chart to select an unsupervised challenge after anaphylaxis, Stevens-Johnson syndrome/toxic epidermal necrolysis, DRESS, or serious immune-mediated organ injury. A history of cephalosporin anaphylaxis requires a separate evaluation even when the proposed cephalosporin has a different R1 side chain. [4] This is a teaching matrix, not a complete allergy clearance tool. It does not map R2 side chains, beta-lactamase inhibitor allergy, or other penicillins such as penicillin G/V, oxacillin, and piperacillin. Within-penicillin cross-reactivity can involve shared penicillin determinants. Published charts differ in how they classify partial structural similarities; an unmarked pair is not proof of tolerance. [4] [8]</a:t>
            </a:r>
          </a:p>
          <a:p xmlns:a="http://schemas.openxmlformats.org/drawingml/2006/main">
            <a:r>
              <a:t/>
            </a:r>
          </a:p>
          <a:p xmlns:a="http://schemas.openxmlformats.org/drawingml/2006/main">
            <a:r>
              <a:t>Module section: https://docarcshot.github.io/id-practice-update/lectures/Penicillin_Allergy_Short_Module.html#side-chain-matrix</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Compare the side chains on both axes This selected-drug matrix follows the same bedside logic as the BJC pathway and uses public structural sources. It highlights identical and related R1 side chains that can contribute to allergic cross-reactivity. It supports the reaction history; it does not predict an individual patient's risk or authorize a challenge. R1 relationships are more useful here than cephalosporin generation. [4] [7] I Identical R1 side chain. Potential cross-reactivity. S Similar R1 features. Potential cross-reactivity; the entire side chain is not identical. · No highlighted R1 pairing in this selected chart. This does not mean zero allergy risk. † Carbapenem comparison. Use the clinical note below. = The same antibiotic. This is not an alternative to the culprit. Read across from the suspected culprit to the proposed antibiotic. Both axes show the same 15 drugs. Proposed antibiotic → Suspected culprit ↓ Amoxicillin Ampicillin Cefadroxil Cefprozil Cephalexin Cefaclor Cefazolin Cefuroxime Ceftriaxone Cefotaxime Cefpodoxime Cefepime Ceftazidime Aztreonam Meropenem Amoxicillin = S I I S S · · · · · · · · † Ampicillin S = S S I I · · · · · · · · † Cefadroxil I S = I S S · · · · · · · · † Cefprozil I S I = S S · · · · · · · · † Cephalexin S I S S = I · · · · · · · · † Cefaclor S I S S I = · · · · · · · · † Cefazolin · · · · · · = · · · · · · · † Cefuroxime · · · · · · · = S S S S · · † Ceftriaxone · · · · · · · S = I I I · · † Cefotaxime · · · · · · · S I = I I · · † Cefpodoxime · · · · · · · S I I = I · · † Cefepime · · · · · · · S I I I = · · † Ceftazidime · · · · · · · · · · · · = I † Aztreonam · · · · · · · · · · · · I = † Meropenem † † † † † † † † † † † † † † = Read the important pairings Amoxicillin shares R1 with cefadroxil and cefprozil; ampicillin shares R1 with cephalexin and cefaclor. These two amino side-chain groups are related, which is why amoxicillin–cephalexin is marked S rather than I. Ceftriaxone, cefotaxime, cefpodoxime, and cefepime share R1; cefuroxime has related methoxyimino features. Ceftazidime and aztreonam share R1. [4] [7] Cefazolin and carbapenems Cefazolin has no shared R1 side chain with the other drugs shown. A penicillin allergy alone does not establish cefazolin allergy. For meropenem (†), the 2022 parameter permits a carbapenem in patients with penicillin or cephalosporin allergy, including prior anaphylaxis, without routine preceding testing or additional precautions. That recommendation does not establish tolerance in someone with a carbapenem allergy or a severe delayed reaction. The aztreonam–meropenem cell is outside that specific recommendation. [4] Do not use this chart to select an unsupervised challenge after anaphylaxis, Stevens-Johnson syndrome/toxic epidermal necrolysis, DRESS, or serious immune-mediated organ injury. A history of cephalosporin anaphylaxis requires a separate evaluation even when the proposed cephalosporin has a different R1 side chain. [4] This is a teaching matrix, not a complete allergy clearance tool. It does not map R2 side chains, beta-lactamase inhibitor allergy, or other penicillins such as penicillin G/V, oxacillin, and piperacillin. Within-penicillin cross-reactivity can involve shared penicillin determinants. Published charts differ in how they classify partial structural similarities; an unmarked pair is not proof of tolerance. [4] [8]</a:t>
            </a:r>
          </a:p>
          <a:p xmlns:a="http://schemas.openxmlformats.org/drawingml/2006/main">
            <a:r>
              <a:t/>
            </a:r>
          </a:p>
          <a:p xmlns:a="http://schemas.openxmlformats.org/drawingml/2006/main">
            <a:r>
              <a:t>Module section: https://docarcshot.github.io/id-practice-update/lectures/Penicillin_Allergy_Short_Module.html#side-chain-matrix</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Compare the side chains on both axes This selected-drug matrix follows the same bedside logic as the BJC pathway and uses public structural sources. It highlights identical and related R1 side chains that can contribute to allergic cross-reactivity. It supports the reaction history; it does not predict an individual patient's risk or authorize a challenge. R1 relationships are more useful here than cephalosporin generation. [4] [7] I Identical R1 side chain. Potential cross-reactivity. S Similar R1 features. Potential cross-reactivity; the entire side chain is not identical. · No highlighted R1 pairing in this selected chart. This does not mean zero allergy risk. † Carbapenem comparison. Use the clinical note below. = The same antibiotic. This is not an alternative to the culprit. Read across from the suspected culprit to the proposed antibiotic. Both axes show the same 15 drugs. Proposed antibiotic → Suspected culprit ↓ Amoxicillin Ampicillin Cefadroxil Cefprozil Cephalexin Cefaclor Cefazolin Cefuroxime Ceftriaxone Cefotaxime Cefpodoxime Cefepime Ceftazidime Aztreonam Meropenem Amoxicillin = S I I S S · · · · · · · · † Ampicillin S = S S I I · · · · · · · · † Cefadroxil I S = I S S · · · · · · · · † Cefprozil I S I = S S · · · · · · · · † Cephalexin S I S S = I · · · · · · · · † Cefaclor S I S S I = · · · · · · · · † Cefazolin · · · · · · = · · · · · · · † Cefuroxime · · · · · · · = S S S S · · † Ceftriaxone · · · · · · · S = I I I · · † Cefotaxime · · · · · · · S I = I I · · † Cefpodoxime · · · · · · · S I I = I · · † Cefepime · · · · · · · S I I I = · · † Ceftazidime · · · · · · · · · · · · = I † Aztreonam · · · · · · · · · · · · I = † Meropenem † † † † † † † † † † † † † † = Read the important pairings Amoxicillin shares R1 with cefadroxil and cefprozil; ampicillin shares R1 with cephalexin and cefaclor. These two amino side-chain groups are related, which is why amoxicillin–cephalexin is marked S rather than I. Ceftriaxone, cefotaxime, cefpodoxime, and cefepime share R1; cefuroxime has related methoxyimino features. Ceftazidime and aztreonam share R1. [4] [7] Cefazolin and carbapenems Cefazolin has no shared R1 side chain with the other drugs shown. A penicillin allergy alone does not establish cefazolin allergy. For meropenem (†), the 2022 parameter permits a carbapenem in patients with penicillin or cephalosporin allergy, including prior anaphylaxis, without routine preceding testing or additional precautions. That recommendation does not establish tolerance in someone with a carbapenem allergy or a severe delayed reaction. The aztreonam–meropenem cell is outside that specific recommendation. [4] Do not use this chart to select an unsupervised challenge after anaphylaxis, Stevens-Johnson syndrome/toxic epidermal necrolysis, DRESS, or serious immune-mediated organ injury. A history of cephalosporin anaphylaxis requires a separate evaluation even when the proposed cephalosporin has a different R1 side chain. [4] This is a teaching matrix, not a complete allergy clearance tool. It does not map R2 side chains, beta-lactamase inhibitor allergy, or other penicillins such as penicillin G/V, oxacillin, and piperacillin. Within-penicillin cross-reactivity can involve shared penicillin determinants. Published charts differ in how they classify partial structural similarities; an unmarked pair is not proof of tolerance. [4] [8]</a:t>
            </a:r>
          </a:p>
          <a:p xmlns:a="http://schemas.openxmlformats.org/drawingml/2006/main">
            <a:r>
              <a:t/>
            </a:r>
          </a:p>
          <a:p xmlns:a="http://schemas.openxmlformats.org/drawingml/2006/main">
            <a:r>
              <a:t>Module section: https://docarcshot.github.io/id-practice-update/lectures/Penicillin_Allergy_Short_Module.html#matrix-limits</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Compare the side chains on both axes This selected-drug matrix follows the same bedside logic as the BJC pathway and uses public structural sources. It highlights identical and related R1 side chains that can contribute to allergic cross-reactivity. It supports the reaction history; it does not predict an individual patient's risk or authorize a challenge. R1 relationships are more useful here than cephalosporin generation. [4] [7] I Identical R1 side chain. Potential cross-reactivity. S Similar R1 features. Potential cross-reactivity; the entire side chain is not identical. · No highlighted R1 pairing in this selected chart. This does not mean zero allergy risk. † Carbapenem comparison. Use the clinical note below. = The same antibiotic. This is not an alternative to the culprit. Read across from the suspected culprit to the proposed antibiotic. Both axes show the same 15 drugs. Proposed antibiotic → Suspected culprit ↓ Amoxicillin Ampicillin Cefadroxil Cefprozil Cephalexin Cefaclor Cefazolin Cefuroxime Ceftriaxone Cefotaxime Cefpodoxime Cefepime Ceftazidime Aztreonam Meropenem Amoxicillin = S I I S S · · · · · · · · † Ampicillin S = S S I I · · · · · · · · † Cefadroxil I S = I S S · · · · · · · · † Cefprozil I S I = S S · · · · · · · · † Cephalexin S I S S = I · · · · · · · · † Cefaclor S I S S I = · · · · · · · · † Cefazolin · · · · · · = · · · · · · · † Cefuroxime · · · · · · · = S S S S · · † Ceftriaxone · · · · · · · S = I I I · · † Cefotaxime · · · · · · · S I = I I · · † Cefpodoxime · · · · · · · S I I = I · · † Cefepime · · · · · · · S I I I = · · † Ceftazidime · · · · · · · · · · · · = I † Aztreonam · · · · · · · · · · · · I = † Meropenem † † † † † † † † † † † † † † = Read the important pairings Amoxicillin shares R1 with cefadroxil and cefprozil; ampicillin shares R1 with cephalexin and cefaclor. These two amino side-chain groups are related, which is why amoxicillin–cephalexin is marked S rather than I. Ceftriaxone, cefotaxime, cefpodoxime, and cefepime share R1; cefuroxime has related methoxyimino features. Ceftazidime and aztreonam share R1. [4] [7] Cefazolin and carbapenems Cefazolin has no shared R1 side chain with the other drugs shown. A penicillin allergy alone does not establish cefazolin allergy. For meropenem (†), the 2022 parameter permits a carbapenem in patients with penicillin or cephalosporin allergy, including prior anaphylaxis, without routine preceding testing or additional precautions. That recommendation does not establish tolerance in someone with a carbapenem allergy or a severe delayed reaction. The aztreonam–meropenem cell is outside that specific recommendation. [4] Do not use this chart to select an unsupervised challenge after anaphylaxis, Stevens-Johnson syndrome/toxic epidermal necrolysis, DRESS, or serious immune-mediated organ injury. A history of cephalosporin anaphylaxis requires a separate evaluation even when the proposed cephalosporin has a different R1 side chain. [4] This is a teaching matrix, not a complete allergy clearance tool. It does not map R2 side chains, beta-lactamase inhibitor allergy, or other penicillins such as penicillin G/V, oxacillin, and piperacillin. Within-penicillin cross-reactivity can involve shared penicillin determinants. Published charts differ in how they classify partial structural similarities; an unmarked pair is not proof of tolerance. [4] [8]</a:t>
            </a:r>
          </a:p>
          <a:p xmlns:a="http://schemas.openxmlformats.org/drawingml/2006/main">
            <a:r>
              <a:t/>
            </a:r>
          </a:p>
          <a:p xmlns:a="http://schemas.openxmlformats.org/drawingml/2006/main">
            <a:r>
              <a:t>Module section: https://docarcshot.github.io/id-practice-update/lectures/Penicillin_Allergy_Short_Module.html#side-chain-matrix</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Document what was tested and what the result means After a successful evaluation, update the allergy list as well as the note. Record the culprit history, drug and dose administered, date, observation period, and outcome. Document beta-lactams that were tolerated. Explain the result to the patient and communicate it to the next clinician. An uneventful immediate observation does not guarantee that no delayed rash will occur. [2] [4] If the same patient instead recalls blistering and oral ulcers, stop. A remote severe reaction is still a severe reaction. Avoid the culprit and obtain specialist guidance rather than using a low PEN-FAST score or a routine test dose.</a:t>
            </a:r>
          </a:p>
          <a:p xmlns:a="http://schemas.openxmlformats.org/drawingml/2006/main">
            <a:r>
              <a:t/>
            </a:r>
          </a:p>
          <a:p xmlns:a="http://schemas.openxmlformats.org/drawingml/2006/main">
            <a:r>
              <a:t>Module section: https://docarcshot.github.io/id-practice-update/lectures/Penicillin_Allergy_Short_Module.html#core-5</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Apply this on the next consult Before prescribing, describe the reaction. Before challenging, check exclusions and the local protocol. After evaluation, correct the allergy record and explain the result.</a:t>
            </a:r>
          </a:p>
          <a:p xmlns:a="http://schemas.openxmlformats.org/drawingml/2006/main">
            <a:r>
              <a:t/>
            </a:r>
          </a:p>
          <a:p xmlns:a="http://schemas.openxmlformats.org/drawingml/2006/main">
            <a:r>
              <a:t>Module section: https://docarcshot.github.io/id-practice-update/lectures/Penicillin_Allergy_Short_Module.html#take-home</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Know what the validation studies did and did not establish PEN-FAST is a clinical decision rule, not a complete allergy evaluation. A score below 3 had a negative predictive value of 96.3% in the original derivation and validation cohorts. The PALACE randomized trial found that direct oral challenge was noninferior to skin testing followed by challenge in carefully selected adults with PEN-FAST below 3. Neither study supports bypassing phenotype review, challenging patients with severe delayed reactions, or performing an unmonitored dose. [5] [6] Side-chain charts are structural aids, not outcome calculators. Published charts disagree about some partial similarities. The most reliable high-yield pairings are amoxicillin with cefadroxil, ampicillin with cephalexin or cefaclor, and ceftazidime with aztreonam. Cefazolin has a unique R1 side chain. The reaction phenotype remains more important than a green cell on a chart. [4] [8] When the preferred drug is being withheld because of an allergy label, the consultant should state whether the concern is immediate allergy, severe delayed hypersensitivity, side-chain cross-reactivity, or simple uncertainty. That distinction determines whether the next step is routine administration, supervised challenge, skin testing, desensitization, or avoidance.</a:t>
            </a:r>
          </a:p>
          <a:p xmlns:a="http://schemas.openxmlformats.org/drawingml/2006/main">
            <a:r>
              <a:t/>
            </a:r>
          </a:p>
          <a:p xmlns:a="http://schemas.openxmlformats.org/drawingml/2006/main">
            <a:r>
              <a:t>Module section: https://docarcshot.github.io/id-practice-update/lectures/Penicillin_Allergy_Short_Module.html#fellow</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Know what the validation studies did and did not establish PEN-FAST is a clinical decision rule, not a complete allergy evaluation. A score below 3 had a negative predictive value of 96.3% in the original derivation and validation cohorts. The PALACE randomized trial found that direct oral challenge was noninferior to skin testing followed by challenge in carefully selected adults with PEN-FAST below 3. Neither study supports bypassing phenotype review, challenging patients with severe delayed reactions, or performing an unmonitored dose. [5] [6] Side-chain charts are structural aids, not outcome calculators. Published charts disagree about some partial similarities. The most reliable high-yield pairings are amoxicillin with cefadroxil, ampicillin with cephalexin or cefaclor, and ceftazidime with aztreonam. Cefazolin has a unique R1 side chain. The reaction phenotype remains more important than a green cell on a chart. [4] [8] When the preferred drug is being withheld because of an allergy label, the consultant should state whether the concern is immediate allergy, severe delayed hypersensitivity, side-chain cross-reactivity, or simple uncertainty. That distinction determines whether the next step is routine administration, supervised challenge, skin testing, desensitization, or avoidance.</a:t>
            </a:r>
          </a:p>
          <a:p xmlns:a="http://schemas.openxmlformats.org/drawingml/2006/main">
            <a:r>
              <a:t/>
            </a:r>
          </a:p>
          <a:p xmlns:a="http://schemas.openxmlformats.org/drawingml/2006/main">
            <a:r>
              <a:t>Module section: https://docarcshot.github.io/id-practice-update/lectures/Penicillin_Allergy_Short_Module.html#fellow</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Know what the validation studies did and did not establish PEN-FAST is a clinical decision rule, not a complete allergy evaluation. A score below 3 had a negative predictive value of 96.3% in the original derivation and validation cohorts. The PALACE randomized trial found that direct oral challenge was noninferior to skin testing followed by challenge in carefully selected adults with PEN-FAST below 3. Neither study supports bypassing phenotype review, challenging patients with severe delayed reactions, or performing an unmonitored dose. [5] [6] Side-chain charts are structural aids, not outcome calculators. Published charts disagree about some partial similarities. The most reliable high-yield pairings are amoxicillin with cefadroxil, ampicillin with cephalexin or cefaclor, and ceftazidime with aztreonam. Cefazolin has a unique R1 side chain. The reaction phenotype remains more important than a green cell on a chart. [4] [8] When the preferred drug is being withheld because of an allergy label, the consultant should state whether the concern is immediate allergy, severe delayed hypersensitivity, side-chain cross-reactivity, or simple uncertainty. That distinction determines whether the next step is routine administration, supervised challenge, skin testing, desensitization, or avoidance.</a:t>
            </a:r>
          </a:p>
          <a:p xmlns:a="http://schemas.openxmlformats.org/drawingml/2006/main">
            <a:r>
              <a:t/>
            </a:r>
          </a:p>
          <a:p xmlns:a="http://schemas.openxmlformats.org/drawingml/2006/main">
            <a:r>
              <a:t>Module section: https://docarcshot.github.io/id-practice-update/lectures/Penicillin_Allergy_Short_Module.html#fellow</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further reading 1. CDC. Clinical features of penicillin allergy. 2025. 2. AAAAI. Penicillin allergy evaluation should be performed proactively. 2023 position statement. 3. CDC. Managing persons who have a history of penicillin allergy. STI Treatment Guidelines. 4. Khan DA, et al. Drug allergy: A 2022 practice parameter update. J Allergy Clin Immunol. Published December 2022. 5. Trubiano JA, et al. Development and validation of PEN-FAST. JAMA Intern Med. Published March 16, 2020. 6. Copaescu AM, et al. PALACE randomized clinical trial. JAMA Intern Med. Published July 17, 2023. 7. Northwestern Medicine Antimicrobial Stewardship Program. Beta-lactam cross-reactivity side-chain chart. Accessed September 27, 2026. The teaching matrix uses an original layout and legend. 8. Hutten EM, et al. Discrepancies in beta-lactam antibiotic cross-reactivity charts: implications for clinical practice. Allergy. 2025;80:3108-3114. Teaching cases are fictional. Recommendations are paraphrased from public sources and aligned with the current BJC workflow described in this module. Confirm the active local pathway before testing, challenging, or desensitizing a patient.</a:t>
            </a:r>
          </a:p>
          <a:p xmlns:a="http://schemas.openxmlformats.org/drawingml/2006/main">
            <a:r>
              <a:t/>
            </a:r>
          </a:p>
          <a:p xmlns:a="http://schemas.openxmlformats.org/drawingml/2006/main">
            <a:r>
              <a:t>Module section: https://docarcshot.github.io/id-practice-update/lectures/Penicillin_Allergy_Short_Module.html#source-1</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further reading 1. CDC. Clinical features of penicillin allergy. 2025. 2. AAAAI. Penicillin allergy evaluation should be performed proactively. 2023 position statement. 3. CDC. Managing persons who have a history of penicillin allergy. STI Treatment Guidelines. 4. Khan DA, et al. Drug allergy: A 2022 practice parameter update. J Allergy Clin Immunol. Published December 2022. 5. Trubiano JA, et al. Development and validation of PEN-FAST. JAMA Intern Med. Published March 16, 2020. 6. Copaescu AM, et al. PALACE randomized clinical trial. JAMA Intern Med. Published July 17, 2023. 7. Northwestern Medicine Antimicrobial Stewardship Program. Beta-lactam cross-reactivity side-chain chart. Accessed September 27, 2026. The teaching matrix uses an original layout and legend. 8. Hutten EM, et al. Discrepancies in beta-lactam antibiotic cross-reactivity charts: implications for clinical practice. Allergy. 2025;80:3108-3114. Teaching cases are fictional. Recommendations are paraphrased from public sources and aligned with the current BJC workflow described in this module. Confirm the active local pathway before testing, challenging, or desensitizing a patient.</a:t>
            </a:r>
          </a:p>
          <a:p xmlns:a="http://schemas.openxmlformats.org/drawingml/2006/main">
            <a:r>
              <a:t/>
            </a:r>
          </a:p>
          <a:p xmlns:a="http://schemas.openxmlformats.org/drawingml/2006/main">
            <a:r>
              <a:t>Module section: https://docarcshot.github.io/id-practice-update/lectures/Penicillin_Allergy_Short_Module.html#source-2</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further reading 1. CDC. Clinical features of penicillin allergy. 2025. 2. AAAAI. Penicillin allergy evaluation should be performed proactively. 2023 position statement. 3. CDC. Managing persons who have a history of penicillin allergy. STI Treatment Guidelines. 4. Khan DA, et al. Drug allergy: A 2022 practice parameter update. J Allergy Clin Immunol. Published December 2022. 5. Trubiano JA, et al. Development and validation of PEN-FAST. JAMA Intern Med. Published March 16, 2020. 6. Copaescu AM, et al. PALACE randomized clinical trial. JAMA Intern Med. Published July 17, 2023. 7. Northwestern Medicine Antimicrobial Stewardship Program. Beta-lactam cross-reactivity side-chain chart. Accessed September 27, 2026. The teaching matrix uses an original layout and legend. 8. Hutten EM, et al. Discrepancies in beta-lactam antibiotic cross-reactivity charts: implications for clinical practice. Allergy. 2025;80:3108-3114. Teaching cases are fictional. Recommendations are paraphrased from public sources and aligned with the current BJC workflow described in this module. Confirm the active local pathway before testing, challenging, or desensitizing a patient.</a:t>
            </a:r>
          </a:p>
          <a:p xmlns:a="http://schemas.openxmlformats.org/drawingml/2006/main">
            <a:r>
              <a:t/>
            </a:r>
          </a:p>
          <a:p xmlns:a="http://schemas.openxmlformats.org/drawingml/2006/main">
            <a:r>
              <a:t>Module section: https://docarcshot.github.io/id-practice-update/lectures/Penicillin_Allergy_Short_Module.html#source-3</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further reading 1. CDC. Clinical features of penicillin allergy. 2025. 2. AAAAI. Penicillin allergy evaluation should be performed proactively. 2023 position statement. 3. CDC. Managing persons who have a history of penicillin allergy. STI Treatment Guidelines. 4. Khan DA, et al. Drug allergy: A 2022 practice parameter update. J Allergy Clin Immunol. Published December 2022. 5. Trubiano JA, et al. Development and validation of PEN-FAST. JAMA Intern Med. Published March 16, 2020. 6. Copaescu AM, et al. PALACE randomized clinical trial. JAMA Intern Med. Published July 17, 2023. 7. Northwestern Medicine Antimicrobial Stewardship Program. Beta-lactam cross-reactivity side-chain chart. Accessed September 27, 2026. The teaching matrix uses an original layout and legend. 8. Hutten EM, et al. Discrepancies in beta-lactam antibiotic cross-reactivity charts: implications for clinical practice. Allergy. 2025;80:3108-3114. Teaching cases are fictional. Recommendations are paraphrased from public sources and aligned with the current BJC workflow described in this module. Confirm the active local pathway before testing, challenging, or desensitizing a patient.</a:t>
            </a:r>
          </a:p>
          <a:p xmlns:a="http://schemas.openxmlformats.org/drawingml/2006/main">
            <a:r>
              <a:t/>
            </a:r>
          </a:p>
          <a:p xmlns:a="http://schemas.openxmlformats.org/drawingml/2006/main">
            <a:r>
              <a:t>Module section: https://docarcshot.github.io/id-practice-update/lectures/Penicillin_Allergy_Short_Module.html#source-4</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further reading 1. CDC. Clinical features of penicillin allergy. 2025. 2. AAAAI. Penicillin allergy evaluation should be performed proactively. 2023 position statement. 3. CDC. Managing persons who have a history of penicillin allergy. STI Treatment Guidelines. 4. Khan DA, et al. Drug allergy: A 2022 practice parameter update. J Allergy Clin Immunol. Published December 2022. 5. Trubiano JA, et al. Development and validation of PEN-FAST. JAMA Intern Med. Published March 16, 2020. 6. Copaescu AM, et al. PALACE randomized clinical trial. JAMA Intern Med. Published July 17, 2023. 7. Northwestern Medicine Antimicrobial Stewardship Program. Beta-lactam cross-reactivity side-chain chart. Accessed September 27, 2026. The teaching matrix uses an original layout and legend. 8. Hutten EM, et al. Discrepancies in beta-lactam antibiotic cross-reactivity charts: implications for clinical practice. Allergy. 2025;80:3108-3114. Teaching cases are fictional. Recommendations are paraphrased from public sources and aligned with the current BJC workflow described in this module. Confirm the active local pathway before testing, challenging, or desensitizing a patient.</a:t>
            </a:r>
          </a:p>
          <a:p xmlns:a="http://schemas.openxmlformats.org/drawingml/2006/main">
            <a:r>
              <a:t/>
            </a:r>
          </a:p>
          <a:p xmlns:a="http://schemas.openxmlformats.org/drawingml/2006/main">
            <a:r>
              <a:t>Module section: https://docarcshot.github.io/id-practice-update/lectures/Penicillin_Allergy_Short_Module.html#source-5</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further reading 1. CDC. Clinical features of penicillin allergy. 2025. 2. AAAAI. Penicillin allergy evaluation should be performed proactively. 2023 position statement. 3. CDC. Managing persons who have a history of penicillin allergy. STI Treatment Guidelines. 4. Khan DA, et al. Drug allergy: A 2022 practice parameter update. J Allergy Clin Immunol. Published December 2022. 5. Trubiano JA, et al. Development and validation of PEN-FAST. JAMA Intern Med. Published March 16, 2020. 6. Copaescu AM, et al. PALACE randomized clinical trial. JAMA Intern Med. Published July 17, 2023. 7. Northwestern Medicine Antimicrobial Stewardship Program. Beta-lactam cross-reactivity side-chain chart. Accessed September 27, 2026. The teaching matrix uses an original layout and legend. 8. Hutten EM, et al. Discrepancies in beta-lactam antibiotic cross-reactivity charts: implications for clinical practice. Allergy. 2025;80:3108-3114. Teaching cases are fictional. Recommendations are paraphrased from public sources and aligned with the current BJC workflow described in this module. Confirm the active local pathway before testing, challenging, or desensitizing a patient.</a:t>
            </a:r>
          </a:p>
          <a:p xmlns:a="http://schemas.openxmlformats.org/drawingml/2006/main">
            <a:r>
              <a:t/>
            </a:r>
          </a:p>
          <a:p xmlns:a="http://schemas.openxmlformats.org/drawingml/2006/main">
            <a:r>
              <a:t>Module section: https://docarcshot.github.io/id-practice-update/lectures/Penicillin_Allergy_Short_Module.html#source-6</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further reading 1. CDC. Clinical features of penicillin allergy. 2025. 2. AAAAI. Penicillin allergy evaluation should be performed proactively. 2023 position statement. 3. CDC. Managing persons who have a history of penicillin allergy. STI Treatment Guidelines. 4. Khan DA, et al. Drug allergy: A 2022 practice parameter update. J Allergy Clin Immunol. Published December 2022. 5. Trubiano JA, et al. Development and validation of PEN-FAST. JAMA Intern Med. Published March 16, 2020. 6. Copaescu AM, et al. PALACE randomized clinical trial. JAMA Intern Med. Published July 17, 2023. 7. Northwestern Medicine Antimicrobial Stewardship Program. Beta-lactam cross-reactivity side-chain chart. Accessed September 27, 2026. The teaching matrix uses an original layout and legend. 8. Hutten EM, et al. Discrepancies in beta-lactam antibiotic cross-reactivity charts: implications for clinical practice. Allergy. 2025;80:3108-3114. Teaching cases are fictional. Recommendations are paraphrased from public sources and aligned with the current BJC workflow described in this module. Confirm the active local pathway before testing, challenging, or desensitizing a patient.</a:t>
            </a:r>
          </a:p>
          <a:p xmlns:a="http://schemas.openxmlformats.org/drawingml/2006/main">
            <a:r>
              <a:t/>
            </a:r>
          </a:p>
          <a:p xmlns:a="http://schemas.openxmlformats.org/drawingml/2006/main">
            <a:r>
              <a:t>Module section: https://docarcshot.github.io/id-practice-update/lectures/Penicillin_Allergy_Short_Module.html#source-7</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further reading 1. CDC. Clinical features of penicillin allergy. 2025. 2. AAAAI. Penicillin allergy evaluation should be performed proactively. 2023 position statement. 3. CDC. Managing persons who have a history of penicillin allergy. STI Treatment Guidelines. 4. Khan DA, et al. Drug allergy: A 2022 practice parameter update. J Allergy Clin Immunol. Published December 2022. 5. Trubiano JA, et al. Development and validation of PEN-FAST. JAMA Intern Med. Published March 16, 2020. 6. Copaescu AM, et al. PALACE randomized clinical trial. JAMA Intern Med. Published July 17, 2023. 7. Northwestern Medicine Antimicrobial Stewardship Program. Beta-lactam cross-reactivity side-chain chart. Accessed September 27, 2026. The teaching matrix uses an original layout and legend. 8. Hutten EM, et al. Discrepancies in beta-lactam antibiotic cross-reactivity charts: implications for clinical practice. Allergy. 2025;80:3108-3114. Teaching cases are fictional. Recommendations are paraphrased from public sources and aligned with the current BJC workflow described in this module. Confirm the active local pathway before testing, challenging, or desensitizing a patient.</a:t>
            </a:r>
          </a:p>
          <a:p xmlns:a="http://schemas.openxmlformats.org/drawingml/2006/main">
            <a:r>
              <a:t/>
            </a:r>
          </a:p>
          <a:p xmlns:a="http://schemas.openxmlformats.org/drawingml/2006/main">
            <a:r>
              <a:t>Module section: https://docarcshot.github.io/id-practice-update/lectures/Penicillin_Allergy_Short_Module.html#source-8</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further reading 1. CDC. Clinical features of penicillin allergy. 2025. 2. AAAAI. Penicillin allergy evaluation should be performed proactively. 2023 position statement. 3. CDC. Managing persons who have a history of penicillin allergy. STI Treatment Guidelines. 4. Khan DA, et al. Drug allergy: A 2022 practice parameter update. J Allergy Clin Immunol. Published December 2022. 5. Trubiano JA, et al. Development and validation of PEN-FAST. JAMA Intern Med. Published March 16, 2020. 6. Copaescu AM, et al. PALACE randomized clinical trial. JAMA Intern Med. Published July 17, 2023. 7. Northwestern Medicine Antimicrobial Stewardship Program. Beta-lactam cross-reactivity side-chain chart. Accessed September 27, 2026. The teaching matrix uses an original layout and legend. 8. Hutten EM, et al. Discrepancies in beta-lactam antibiotic cross-reactivity charts: implications for clinical practice. Allergy. 2025;80:3108-3114. Teaching cases are fictional. Recommendations are paraphrased from public sources and aligned with the current BJC workflow described in this module. Confirm the active local pathway before testing, challenging, or desensitizing a patient.</a:t>
            </a:r>
          </a:p>
          <a:p xmlns:a="http://schemas.openxmlformats.org/drawingml/2006/main">
            <a:r>
              <a:t/>
            </a:r>
          </a:p>
          <a:p xmlns:a="http://schemas.openxmlformats.org/drawingml/2006/main">
            <a:r>
              <a:t>Module section: https://docarcshot.github.io/id-practice-update/lectures/Penicillin_Allergy_Short_Module.html#sources</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https://www.cdc.gov/antibiotic-use/hcp/clinical-signs/index.html</a:t>
            </a:r>
          </a:p>
          <a:p xmlns:a="http://schemas.openxmlformats.org/drawingml/2006/main">
            <a:r>
              <a:t>https://www.aaaai.org/Aaaai/media/Media-Library-PDFs/Allergist%20Resources/Statements%20and%20Practice%20Parameters/Penicillin-Allergy-Position-Statement_Approved-08-31-2023.pdf</a:t>
            </a:r>
          </a:p>
          <a:p xmlns:a="http://schemas.openxmlformats.org/drawingml/2006/main">
            <a:r>
              <a:t>https://www.cdc.gov/std/treatment-guidelines/penicillin-allergy.htm</a:t>
            </a:r>
          </a:p>
          <a:p xmlns:a="http://schemas.openxmlformats.org/drawingml/2006/main">
            <a:r>
              <a:t>https://doi.org/10.1016/j.jaci.2022.08.028</a:t>
            </a:r>
          </a:p>
          <a:p xmlns:a="http://schemas.openxmlformats.org/drawingml/2006/main">
            <a:r>
              <a:t>https://doi.org/10.1001/jamainternmed.2020.0403</a:t>
            </a:r>
          </a:p>
          <a:p xmlns:a="http://schemas.openxmlformats.org/drawingml/2006/main">
            <a:r>
              <a:t>https://pmc.ncbi.nlm.nih.gov/articles/PMC10352926/</a:t>
            </a:r>
          </a:p>
          <a:p xmlns:a="http://schemas.openxmlformats.org/drawingml/2006/main">
            <a:r>
              <a:t>https://adsp.nm.org/uploads/1/4/3/0/143064172/nm_beta_lactam_cross_reaction_table.pdf</a:t>
            </a:r>
          </a:p>
          <a:p xmlns:a="http://schemas.openxmlformats.org/drawingml/2006/main">
            <a:r>
              <a:t>https://doi.org/10.1111/all.16485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8f59456dd4485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c253afdeeea4a9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681feb442b24c5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36d3ca8f7614f5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6dd45e8dec04a2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f87d8addaf24d8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87CB0BF-51BB-482A-BEBC-B64DC5BE7FA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2C553AC-80B4-419D-B070-89C2EEA9224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D74A8A0-A348-4EAB-B0F9-7878C8E2F27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2EA4A4A-B7BC-4C26-A5B9-8E3A6CCDE6F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D029CFD-88C9-445C-96A7-456E1B1DAFE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2F10D4B-8B5D-4A88-A657-9A176BB46B8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9495D95-0FB9-4A28-A6BF-092C27E4018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D983C33-16C8-4CF5-961F-719A62A86BC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DBCEA13-2AAD-4DCE-9B59-4CEDBAAA23D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F187AC-0246-4861-90AC-1D77F4AD034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5adc2839321439e" /><Relationship Type="http://schemas.openxmlformats.org/officeDocument/2006/relationships/slideLayout" Target="/ppt/slideLayouts/slideLayout1.xml" Id="Rf6adb9b850514f9e" /><Relationship Type="http://schemas.openxmlformats.org/officeDocument/2006/relationships/slideLayout" Target="/ppt/slideLayouts/slideLayout2.xml" Id="R04828bea29404ce5" /><Relationship Type="http://schemas.openxmlformats.org/officeDocument/2006/relationships/slideLayout" Target="/ppt/slideLayouts/slideLayout3.xml" Id="Re88ab4c5f9ef489a" /><Relationship Type="http://schemas.openxmlformats.org/officeDocument/2006/relationships/slideLayout" Target="/ppt/slideLayouts/slideLayout4.xml" Id="Reabdf6d934cf4440" /><Relationship Type="http://schemas.openxmlformats.org/officeDocument/2006/relationships/slideLayout" Target="/ppt/slideLayouts/slideLayout5.xml" Id="R952e3d8fcbe94db2" /><Relationship Type="http://schemas.openxmlformats.org/officeDocument/2006/relationships/slideLayout" Target="/ppt/slideLayouts/slideLayout6.xml" Id="R126d16f63f774bb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6adb9b850514f9e"/>
    <p:sldLayoutId xmlns:r="http://schemas.openxmlformats.org/officeDocument/2006/relationships" id="2147483650" r:id="R04828bea29404ce5"/>
    <p:sldLayoutId xmlns:r="http://schemas.openxmlformats.org/officeDocument/2006/relationships" id="2147483651" r:id="Re88ab4c5f9ef489a"/>
    <p:sldLayoutId xmlns:r="http://schemas.openxmlformats.org/officeDocument/2006/relationships" id="2147483652" r:id="Reabdf6d934cf4440"/>
    <p:sldLayoutId xmlns:r="http://schemas.openxmlformats.org/officeDocument/2006/relationships" id="2147483653" r:id="R952e3d8fcbe94db2"/>
    <p:sldLayoutId xmlns:r="http://schemas.openxmlformats.org/officeDocument/2006/relationships" id="2147483654" r:id="R126d16f63f774bb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60691fa290041af" /><Relationship Type="http://schemas.openxmlformats.org/officeDocument/2006/relationships/notesSlide" Target="/ppt/notesSlides/notesSlide1.xml" Id="Rcda6efc8fdf1498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6a901feb86948b1" /><Relationship Type="http://schemas.openxmlformats.org/officeDocument/2006/relationships/notesSlide" Target="/ppt/notesSlides/notesSlide2.xml" Id="R943997403e664c7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bdf35661ba4437a" /><Relationship Type="http://schemas.openxmlformats.org/officeDocument/2006/relationships/notesSlide" Target="/ppt/notesSlides/notesSlide3.xml" Id="R9b9762e05dbb4d5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5edb94e90c4470e" /><Relationship Type="http://schemas.openxmlformats.org/officeDocument/2006/relationships/notesSlide" Target="/ppt/notesSlides/notesSlide4.xml" Id="Rf959d070d54142e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b68eaf9861d43bd" /><Relationship Type="http://schemas.openxmlformats.org/officeDocument/2006/relationships/notesSlide" Target="/ppt/notesSlides/notesSlide5.xml" Id="Rf8a582412238408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4ca7b942f87417a" /><Relationship Type="http://schemas.openxmlformats.org/officeDocument/2006/relationships/notesSlide" Target="/ppt/notesSlides/notesSlide6.xml" Id="Rcab0861da2a24c5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52b750ea4044b8b" /><Relationship Type="http://schemas.openxmlformats.org/officeDocument/2006/relationships/notesSlide" Target="/ppt/notesSlides/notesSlide7.xml" Id="R8b1dbb4c5db44db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476d4fd9ba44b9a" /><Relationship Type="http://schemas.openxmlformats.org/officeDocument/2006/relationships/notesSlide" Target="/ppt/notesSlides/notesSlide8.xml" Id="R3891c6001bcd4bb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beff87f43884616" /><Relationship Type="http://schemas.openxmlformats.org/officeDocument/2006/relationships/notesSlide" Target="/ppt/notesSlides/notesSlide9.xml" Id="Re9f77a1180d040c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202b94a93f547ca" /><Relationship Type="http://schemas.openxmlformats.org/officeDocument/2006/relationships/notesSlide" Target="/ppt/notesSlides/notesSlide10.xml" Id="R0281cce909de493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af79c8f70a44358" /><Relationship Type="http://schemas.openxmlformats.org/officeDocument/2006/relationships/notesSlide" Target="/ppt/notesSlides/notesSlide11.xml" Id="Rd3a517e63c37410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43d635a571c4b6b" /><Relationship Type="http://schemas.openxmlformats.org/officeDocument/2006/relationships/notesSlide" Target="/ppt/notesSlides/notesSlide12.xml" Id="R32f3a693014e4ff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382b0d248274f16" /><Relationship Type="http://schemas.openxmlformats.org/officeDocument/2006/relationships/notesSlide" Target="/ppt/notesSlides/notesSlide13.xml" Id="R5a9c6309e1634bb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619dd1551ce406f" /><Relationship Type="http://schemas.openxmlformats.org/officeDocument/2006/relationships/notesSlide" Target="/ppt/notesSlides/notesSlide14.xml" Id="R2482e13907b8443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87146e006014449" /><Relationship Type="http://schemas.openxmlformats.org/officeDocument/2006/relationships/notesSlide" Target="/ppt/notesSlides/notesSlide15.xml" Id="Ra0a007ef75254d3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4be05a5907d46a0" /><Relationship Type="http://schemas.openxmlformats.org/officeDocument/2006/relationships/notesSlide" Target="/ppt/notesSlides/notesSlide16.xml" Id="R5a175916bba447f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5e82de781ea4dbf" /><Relationship Type="http://schemas.openxmlformats.org/officeDocument/2006/relationships/notesSlide" Target="/ppt/notesSlides/notesSlide17.xml" Id="R620eb6a6d6a34ad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6a48a5a9de54141" /><Relationship Type="http://schemas.openxmlformats.org/officeDocument/2006/relationships/notesSlide" Target="/ppt/notesSlides/notesSlide18.xml" Id="Re69e05f4a7e845e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81da570d0c744de" /><Relationship Type="http://schemas.openxmlformats.org/officeDocument/2006/relationships/notesSlide" Target="/ppt/notesSlides/notesSlide19.xml" Id="Rbb1cc340a9eb472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2382e87b69f48c9" /><Relationship Type="http://schemas.openxmlformats.org/officeDocument/2006/relationships/notesSlide" Target="/ppt/notesSlides/notesSlide20.xml" Id="R84ddaf231df540e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d9e74b24a874e57" /><Relationship Type="http://schemas.openxmlformats.org/officeDocument/2006/relationships/notesSlide" Target="/ppt/notesSlides/notesSlide21.xml" Id="Rfe6722f4557c432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d03446bf18944d7" /><Relationship Type="http://schemas.openxmlformats.org/officeDocument/2006/relationships/notesSlide" Target="/ppt/notesSlides/notesSlide22.xml" Id="Rf8ea69fc87fa491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3d4b351ad684da5" /><Relationship Type="http://schemas.openxmlformats.org/officeDocument/2006/relationships/notesSlide" Target="/ppt/notesSlides/notesSlide23.xml" Id="Refc00bc091464b8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d768747e42324c4b" /><Relationship Type="http://schemas.openxmlformats.org/officeDocument/2006/relationships/notesSlide" Target="/ppt/notesSlides/notesSlide24.xml" Id="R1087f2588c73493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c666f9309ca04235" /><Relationship Type="http://schemas.openxmlformats.org/officeDocument/2006/relationships/notesSlide" Target="/ppt/notesSlides/notesSlide25.xml" Id="R60f9f2b27a08404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017e9878dfdf40e2" /><Relationship Type="http://schemas.openxmlformats.org/officeDocument/2006/relationships/notesSlide" Target="/ppt/notesSlides/notesSlide26.xml" Id="Rae2600b2df91407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16246fd97e4f4572" /><Relationship Type="http://schemas.openxmlformats.org/officeDocument/2006/relationships/notesSlide" Target="/ppt/notesSlides/notesSlide27.xml" Id="Re84ad6f96b43486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0a7583fc1a394b40" /><Relationship Type="http://schemas.openxmlformats.org/officeDocument/2006/relationships/notesSlide" Target="/ppt/notesSlides/notesSlide28.xml" Id="R8e324c8aa1d8467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05da9285af6a4c91" /><Relationship Type="http://schemas.openxmlformats.org/officeDocument/2006/relationships/notesSlide" Target="/ppt/notesSlides/notesSlide29.xml" Id="Red96d046a37243f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ecb02dc664b9478e" /><Relationship Type="http://schemas.openxmlformats.org/officeDocument/2006/relationships/notesSlide" Target="/ppt/notesSlides/notesSlide30.xml" Id="R9b8297e82fde4a3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454927919dcb4009" /><Relationship Type="http://schemas.openxmlformats.org/officeDocument/2006/relationships/notesSlide" Target="/ppt/notesSlides/notesSlide31.xml" Id="R98593e8876b44ce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ac038a7fdecf4a88" /><Relationship Type="http://schemas.openxmlformats.org/officeDocument/2006/relationships/notesSlide" Target="/ppt/notesSlides/notesSlide32.xml" Id="Rc9cf6485e54b4fb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27cb0aa28d624273" /><Relationship Type="http://schemas.openxmlformats.org/officeDocument/2006/relationships/notesSlide" Target="/ppt/notesSlides/notesSlide33.xml" Id="R1481463cd81c4d9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35181faf4b4644fc" /><Relationship Type="http://schemas.openxmlformats.org/officeDocument/2006/relationships/notesSlide" Target="/ppt/notesSlides/notesSlide34.xml" Id="R2aa2b6c7b5b74a3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42abff3961ac41a0" /><Relationship Type="http://schemas.openxmlformats.org/officeDocument/2006/relationships/notesSlide" Target="/ppt/notesSlides/notesSlide35.xml" Id="Ra0a7e44aeda34c0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ba49f0fd93a948b2" /><Relationship Type="http://schemas.openxmlformats.org/officeDocument/2006/relationships/notesSlide" Target="/ppt/notesSlides/notesSlide36.xml" Id="R5b03d5be327544c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0509e52a877d4352" /><Relationship Type="http://schemas.openxmlformats.org/officeDocument/2006/relationships/notesSlide" Target="/ppt/notesSlides/notesSlide37.xml" Id="R9978ba813adc4e5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d04d02d59bff4e57" /><Relationship Type="http://schemas.openxmlformats.org/officeDocument/2006/relationships/notesSlide" Target="/ppt/notesSlides/notesSlide38.xml" Id="R2953d60a99054aa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d0df904af2e4469d" /><Relationship Type="http://schemas.openxmlformats.org/officeDocument/2006/relationships/notesSlide" Target="/ppt/notesSlides/notesSlide39.xml" Id="R4db2b89c962942d3"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96ab994596ad4505" /><Relationship Type="http://schemas.openxmlformats.org/officeDocument/2006/relationships/notesSlide" Target="/ppt/notesSlides/notesSlide40.xml" Id="Rdb53029f5f634c5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c5ef8848b8664ada" /><Relationship Type="http://schemas.openxmlformats.org/officeDocument/2006/relationships/notesSlide" Target="/ppt/notesSlides/notesSlide41.xml" Id="R012a84bfe26046cd"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f35541844aec402b" /><Relationship Type="http://schemas.openxmlformats.org/officeDocument/2006/relationships/notesSlide" Target="/ppt/notesSlides/notesSlide42.xml" Id="R9f57a42547604f5f"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c7d40900d9364513" /><Relationship Type="http://schemas.openxmlformats.org/officeDocument/2006/relationships/notesSlide" Target="/ppt/notesSlides/notesSlide43.xml" Id="R4163de9b474c4070"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783b65a187f8483f" /><Relationship Type="http://schemas.openxmlformats.org/officeDocument/2006/relationships/notesSlide" Target="/ppt/notesSlides/notesSlide44.xml" Id="R66a0b28a42da4d37"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e6003a3dc5134571" /><Relationship Type="http://schemas.openxmlformats.org/officeDocument/2006/relationships/notesSlide" Target="/ppt/notesSlides/notesSlide45.xml" Id="R6c6235c371aa4502"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f5c573c3eab043f4" /><Relationship Type="http://schemas.openxmlformats.org/officeDocument/2006/relationships/notesSlide" Target="/ppt/notesSlides/notesSlide46.xml" Id="R8f45fa48f7794f3b"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b7313f8eeb724c37" /><Relationship Type="http://schemas.openxmlformats.org/officeDocument/2006/relationships/notesSlide" Target="/ppt/notesSlides/notesSlide47.xml" Id="Rbbe786f11b8746df"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352911ed1ea84770" /><Relationship Type="http://schemas.openxmlformats.org/officeDocument/2006/relationships/notesSlide" Target="/ppt/notesSlides/notesSlide48.xml" Id="R750e4d80d49d4afa"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646d11c9c41c4089" /><Relationship Type="http://schemas.openxmlformats.org/officeDocument/2006/relationships/notesSlide" Target="/ppt/notesSlides/notesSlide49.xml" Id="Ra4384f2f474942f5"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82bab848b26d463e" /><Relationship Type="http://schemas.openxmlformats.org/officeDocument/2006/relationships/notesSlide" Target="/ppt/notesSlides/notesSlide50.xml" Id="R9924807948df45c0"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12cc66b364364a96" /><Relationship Type="http://schemas.openxmlformats.org/officeDocument/2006/relationships/notesSlide" Target="/ppt/notesSlides/notesSlide51.xml" Id="Rf6c1749ebdb447e3"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adb98813411348cb" /><Relationship Type="http://schemas.openxmlformats.org/officeDocument/2006/relationships/notesSlide" Target="/ppt/notesSlides/notesSlide52.xml" Id="R2bebca6ad9fa443c"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0cbad786f30f4adb" /><Relationship Type="http://schemas.openxmlformats.org/officeDocument/2006/relationships/notesSlide" Target="/ppt/notesSlides/notesSlide53.xml" Id="R615e953bcecd4b12"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f0584dbed2ee4de5" /><Relationship Type="http://schemas.openxmlformats.org/officeDocument/2006/relationships/notesSlide" Target="/ppt/notesSlides/notesSlide54.xml" Id="R81a2125cba3648d4"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7dda6fdda1824ee7" /><Relationship Type="http://schemas.openxmlformats.org/officeDocument/2006/relationships/notesSlide" Target="/ppt/notesSlides/notesSlide55.xml" Id="Ra9098bcf73d24049"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3987cf7341a8491c" /><Relationship Type="http://schemas.openxmlformats.org/officeDocument/2006/relationships/notesSlide" Target="/ppt/notesSlides/notesSlide56.xml" Id="R12b909f2fb29461a"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9e4825d454ff43fc" /><Relationship Type="http://schemas.openxmlformats.org/officeDocument/2006/relationships/notesSlide" Target="/ppt/notesSlides/notesSlide57.xml" Id="R0dfd640c4c2d4930"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0b864bad5d2a4e68" /><Relationship Type="http://schemas.openxmlformats.org/officeDocument/2006/relationships/notesSlide" Target="/ppt/notesSlides/notesSlide58.xml" Id="R5e63d9bc76ea4716"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163290a419204d0a" /><Relationship Type="http://schemas.openxmlformats.org/officeDocument/2006/relationships/notesSlide" Target="/ppt/notesSlides/notesSlide59.xml" Id="R6ae4ea997c824cae"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7e556cd47acb4bd3" /><Relationship Type="http://schemas.openxmlformats.org/officeDocument/2006/relationships/notesSlide" Target="/ppt/notesSlides/notesSlide60.xml" Id="R2bda2787694c450e"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24c198a8110e41c7" /><Relationship Type="http://schemas.openxmlformats.org/officeDocument/2006/relationships/notesSlide" Target="/ppt/notesSlides/notesSlide61.xml" Id="Re932c3828314481d"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2255dc8d8393429b" /><Relationship Type="http://schemas.openxmlformats.org/officeDocument/2006/relationships/notesSlide" Target="/ppt/notesSlides/notesSlide62.xml" Id="R2c9e5a02b86b41ee" /></Relationships>
</file>

<file path=ppt/slides/slide1.xml><?xml version="1.0" encoding="utf-8"?>
<p:sld xmlns:p="http://schemas.openxmlformats.org/presentationml/2006/main">
  <p:cSld>
    <p:bg>
      <p:bgPr>
        <a:solidFill xmlns:a="http://schemas.openxmlformats.org/drawingml/2006/main">
          <a:srgbClr val="173E48"/>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07EDED-DD7C-4614-9C9D-449075B6D0DE}"/>
              </a:ext>
            </a:extLst>
          </p:cNvPr>
          <p:cNvSpPr>
            <a:spLocks xmlns:a="http://schemas.openxmlformats.org/drawingml/2006/main" noGrp="1"/>
          </p:cNvSpPr>
          <p:nvPr/>
        </p:nvSpPr>
        <p:spPr>
          <a:xfrm xmlns:a="http://schemas.openxmlformats.org/drawingml/2006/main">
            <a:off x="685800" y="1714500"/>
            <a:ext cx="108204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4200" b="1">
                <a:solidFill>
                  <a:srgbClr val="FFFFFF"/>
                </a:solidFill>
                <a:latin typeface="DejaVu Sans"/>
                <a:ea typeface="DejaVu Sans"/>
                <a:cs typeface="DejaVu Sans"/>
              </a:defRPr>
            </a:defPPr>
            <a:lvl1pPr>
              <a:defRPr sz="4200" b="1">
                <a:solidFill>
                  <a:srgbClr val="FFFFFF"/>
                </a:solidFill>
                <a:latin typeface="DejaVu Sans"/>
                <a:ea typeface="DejaVu Sans"/>
                <a:cs typeface="DejaVu Sans"/>
              </a:defRPr>
            </a:lvl1pPr>
            <a:lvl2pPr>
              <a:defRPr sz="4200" b="1">
                <a:solidFill>
                  <a:srgbClr val="FFFFFF"/>
                </a:solidFill>
                <a:latin typeface="DejaVu Sans"/>
                <a:ea typeface="DejaVu Sans"/>
                <a:cs typeface="DejaVu Sans"/>
              </a:defRPr>
            </a:lvl2pPr>
            <a:lvl3pPr>
              <a:defRPr sz="4200" b="1">
                <a:solidFill>
                  <a:srgbClr val="FFFFFF"/>
                </a:solidFill>
                <a:latin typeface="DejaVu Sans"/>
                <a:ea typeface="DejaVu Sans"/>
                <a:cs typeface="DejaVu Sans"/>
              </a:defRPr>
            </a:lvl3pPr>
            <a:lvl4pPr>
              <a:defRPr sz="4200" b="1">
                <a:solidFill>
                  <a:srgbClr val="FFFFFF"/>
                </a:solidFill>
                <a:latin typeface="DejaVu Sans"/>
                <a:ea typeface="DejaVu Sans"/>
                <a:cs typeface="DejaVu Sans"/>
              </a:defRPr>
            </a:lvl4pPr>
            <a:lvl5pPr>
              <a:defRPr sz="4200" b="1">
                <a:solidFill>
                  <a:srgbClr val="FFFFFF"/>
                </a:solidFill>
                <a:latin typeface="DejaVu Sans"/>
                <a:ea typeface="DejaVu Sans"/>
                <a:cs typeface="DejaVu Sans"/>
              </a:defRPr>
            </a:lvl5pPr>
            <a:lvl6pPr>
              <a:defRPr sz="4200" b="1">
                <a:solidFill>
                  <a:srgbClr val="FFFFFF"/>
                </a:solidFill>
                <a:latin typeface="DejaVu Sans"/>
                <a:ea typeface="DejaVu Sans"/>
                <a:cs typeface="DejaVu Sans"/>
              </a:defRPr>
            </a:lvl6pPr>
            <a:lvl7pPr>
              <a:defRPr sz="4200" b="1">
                <a:solidFill>
                  <a:srgbClr val="FFFFFF"/>
                </a:solidFill>
                <a:latin typeface="DejaVu Sans"/>
                <a:ea typeface="DejaVu Sans"/>
                <a:cs typeface="DejaVu Sans"/>
              </a:defRPr>
            </a:lvl7pPr>
            <a:lvl8pPr>
              <a:defRPr sz="4200" b="1">
                <a:solidFill>
                  <a:srgbClr val="FFFFFF"/>
                </a:solidFill>
                <a:latin typeface="DejaVu Sans"/>
                <a:ea typeface="DejaVu Sans"/>
                <a:cs typeface="DejaVu Sans"/>
              </a:defRPr>
            </a:lvl8pPr>
            <a:lvl9pPr>
              <a:defRPr sz="4200" b="1">
                <a:solidFill>
                  <a:srgbClr val="FFFFFF"/>
                </a:solidFill>
                <a:latin typeface="DejaVu Sans"/>
                <a:ea typeface="DejaVu Sans"/>
                <a:cs typeface="DejaVu Sans"/>
              </a:defRPr>
            </a:lvl9pPr>
          </a:lstStyle>
          <a:p xmlns:a="http://schemas.openxmlformats.org/drawingml/2006/main">
            <a:pPr>
              <a:defRPr sz="4200" b="1">
                <a:solidFill>
                  <a:srgbClr val="FFFFFF"/>
                </a:solidFill>
                <a:latin typeface="DejaVu Sans"/>
                <a:ea typeface="DejaVu Sans"/>
                <a:cs typeface="DejaVu Sans"/>
              </a:defRPr>
            </a:pPr>
            <a:r>
              <a:rPr sz="4200" b="1">
                <a:solidFill>
                  <a:srgbClr val="FFFFFF"/>
                </a:solidFill>
                <a:latin typeface="DejaVu Sans"/>
                <a:ea typeface="DejaVu Sans"/>
                <a:cs typeface="DejaVu Sans"/>
              </a:rPr>
              <a:t>Penicillin allergy</a:t>
            </a:r>
          </a:p>
        </p:txBody>
      </p:sp>
      <p:sp>
        <p:nvSpPr>
          <p:cNvPr id="2" name="subtitle">
            <a:extLst xmlns:a="http://schemas.openxmlformats.org/drawingml/2006/main">
              <a:ext uri="{FF2B5EF4-FFF2-40B4-BE49-F238E27FC236}">
                <a16:creationId xmlns:a16="http://schemas.microsoft.com/office/drawing/2014/main" id="{6277D1EE-E839-400A-A69C-15ED0B3E28C7}"/>
              </a:ext>
            </a:extLst>
          </p:cNvPr>
          <p:cNvSpPr>
            <a:spLocks xmlns:a="http://schemas.openxmlformats.org/drawingml/2006/main" noGrp="1"/>
          </p:cNvSpPr>
          <p:nvPr/>
        </p:nvSpPr>
        <p:spPr>
          <a:xfrm xmlns:a="http://schemas.openxmlformats.org/drawingml/2006/main">
            <a:off x="723900" y="514350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0">
                <a:solidFill>
                  <a:srgbClr val="D7E8E8"/>
                </a:solidFill>
                <a:latin typeface="DejaVu Sans"/>
                <a:ea typeface="DejaVu Sans"/>
                <a:cs typeface="DejaVu Sans"/>
              </a:defRPr>
            </a:defPPr>
            <a:lvl1pPr>
              <a:defRPr sz="1950" b="0">
                <a:solidFill>
                  <a:srgbClr val="D7E8E8"/>
                </a:solidFill>
                <a:latin typeface="DejaVu Sans"/>
                <a:ea typeface="DejaVu Sans"/>
                <a:cs typeface="DejaVu Sans"/>
              </a:defRPr>
            </a:lvl1pPr>
            <a:lvl2pPr>
              <a:defRPr sz="1950" b="0">
                <a:solidFill>
                  <a:srgbClr val="D7E8E8"/>
                </a:solidFill>
                <a:latin typeface="DejaVu Sans"/>
                <a:ea typeface="DejaVu Sans"/>
                <a:cs typeface="DejaVu Sans"/>
              </a:defRPr>
            </a:lvl2pPr>
            <a:lvl3pPr>
              <a:defRPr sz="1950" b="0">
                <a:solidFill>
                  <a:srgbClr val="D7E8E8"/>
                </a:solidFill>
                <a:latin typeface="DejaVu Sans"/>
                <a:ea typeface="DejaVu Sans"/>
                <a:cs typeface="DejaVu Sans"/>
              </a:defRPr>
            </a:lvl3pPr>
            <a:lvl4pPr>
              <a:defRPr sz="1950" b="0">
                <a:solidFill>
                  <a:srgbClr val="D7E8E8"/>
                </a:solidFill>
                <a:latin typeface="DejaVu Sans"/>
                <a:ea typeface="DejaVu Sans"/>
                <a:cs typeface="DejaVu Sans"/>
              </a:defRPr>
            </a:lvl4pPr>
            <a:lvl5pPr>
              <a:defRPr sz="1950" b="0">
                <a:solidFill>
                  <a:srgbClr val="D7E8E8"/>
                </a:solidFill>
                <a:latin typeface="DejaVu Sans"/>
                <a:ea typeface="DejaVu Sans"/>
                <a:cs typeface="DejaVu Sans"/>
              </a:defRPr>
            </a:lvl5pPr>
            <a:lvl6pPr>
              <a:defRPr sz="1950" b="0">
                <a:solidFill>
                  <a:srgbClr val="D7E8E8"/>
                </a:solidFill>
                <a:latin typeface="DejaVu Sans"/>
                <a:ea typeface="DejaVu Sans"/>
                <a:cs typeface="DejaVu Sans"/>
              </a:defRPr>
            </a:lvl6pPr>
            <a:lvl7pPr>
              <a:defRPr sz="1950" b="0">
                <a:solidFill>
                  <a:srgbClr val="D7E8E8"/>
                </a:solidFill>
                <a:latin typeface="DejaVu Sans"/>
                <a:ea typeface="DejaVu Sans"/>
                <a:cs typeface="DejaVu Sans"/>
              </a:defRPr>
            </a:lvl7pPr>
            <a:lvl8pPr>
              <a:defRPr sz="1950" b="0">
                <a:solidFill>
                  <a:srgbClr val="D7E8E8"/>
                </a:solidFill>
                <a:latin typeface="DejaVu Sans"/>
                <a:ea typeface="DejaVu Sans"/>
                <a:cs typeface="DejaVu Sans"/>
              </a:defRPr>
            </a:lvl8pPr>
            <a:lvl9pPr>
              <a:defRPr sz="1950" b="0">
                <a:solidFill>
                  <a:srgbClr val="D7E8E8"/>
                </a:solidFill>
                <a:latin typeface="DejaVu Sans"/>
                <a:ea typeface="DejaVu Sans"/>
                <a:cs typeface="DejaVu Sans"/>
              </a:defRPr>
            </a:lvl9pPr>
          </a:lstStyle>
          <a:p xmlns:a="http://schemas.openxmlformats.org/drawingml/2006/main">
            <a:pPr>
              <a:defRPr sz="1950" b="0">
                <a:solidFill>
                  <a:srgbClr val="D7E8E8"/>
                </a:solidFill>
                <a:latin typeface="DejaVu Sans"/>
                <a:ea typeface="DejaVu Sans"/>
                <a:cs typeface="DejaVu Sans"/>
              </a:defRPr>
            </a:pPr>
            <a:r>
              <a:rPr sz="1950" b="0">
                <a:solidFill>
                  <a:srgbClr val="D7E8E8"/>
                </a:solidFill>
                <a:latin typeface="DejaVu Sans"/>
                <a:ea typeface="DejaVu Sans"/>
                <a:cs typeface="DejaVu Sans"/>
              </a:rPr>
              <a:t>ID Practice Update</a:t>
            </a:r>
          </a:p>
          <a:p xmlns:a="http://schemas.openxmlformats.org/drawingml/2006/main">
            <a:pPr>
              <a:defRPr sz="1950" b="0">
                <a:solidFill>
                  <a:srgbClr val="D7E8E8"/>
                </a:solidFill>
                <a:latin typeface="DejaVu Sans"/>
                <a:ea typeface="DejaVu Sans"/>
                <a:cs typeface="DejaVu Sans"/>
              </a:defRPr>
            </a:pPr>
            <a:r>
              <a:rPr sz="1950" b="0">
                <a:solidFill>
                  <a:srgbClr val="D7E8E8"/>
                </a:solidFill>
                <a:latin typeface="DejaVu Sans"/>
                <a:ea typeface="DejaVu Sans"/>
                <a:cs typeface="DejaVu Sans"/>
              </a:rPr>
              <a:t>Resident teaching and advanced reference</a:t>
            </a:r>
          </a:p>
        </p:txBody>
      </p:sp>
    </p:spTree>
    <p:extLst>
      <p:ext uri="{BB962C8B-B14F-4D97-AF65-F5344CB8AC3E}">
        <p14:creationId xmlns:p14="http://schemas.microsoft.com/office/powerpoint/2010/main" val="29537283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2CC189E-728B-43CC-8108-B288BB3E4AD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 reaction history determines the next step</a:t>
            </a:r>
          </a:p>
        </p:txBody>
      </p:sp>
      <p:sp>
        <p:nvSpPr>
          <p:cNvPr id="2" name="paragraph-0">
            <a:extLst xmlns:a="http://schemas.openxmlformats.org/drawingml/2006/main">
              <a:ext uri="{FF2B5EF4-FFF2-40B4-BE49-F238E27FC236}">
                <a16:creationId xmlns:a16="http://schemas.microsoft.com/office/drawing/2014/main" id="{552553EA-ADCB-4AE0-BF6E-C36539E98BE3}"/>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52-year-old with a susceptible bacterial infection has an amoxicillin allergy label. At age 8, a rash appeared several days into treatment. There were no mouth sores, blisters, breathing symptoms, or hospitalization. The patient has avoided penicillins since then.</a:t>
            </a:r>
          </a:p>
        </p:txBody>
      </p:sp>
      <p:sp>
        <p:nvSpPr>
          <p:cNvPr id="3" name="paragraph-1">
            <a:extLst xmlns:a="http://schemas.openxmlformats.org/drawingml/2006/main">
              <a:ext uri="{FF2B5EF4-FFF2-40B4-BE49-F238E27FC236}">
                <a16:creationId xmlns:a16="http://schemas.microsoft.com/office/drawing/2014/main" id="{4801DC21-49A2-44BA-BB81-F761E2B01FA8}"/>
              </a:ext>
            </a:extLst>
          </p:cNvPr>
          <p:cNvSpPr>
            <a:spLocks xmlns:a="http://schemas.openxmlformats.org/drawingml/2006/main" noGrp="1"/>
          </p:cNvSpPr>
          <p:nvPr/>
        </p:nvSpPr>
        <p:spPr>
          <a:xfrm xmlns:a="http://schemas.openxmlformats.org/drawingml/2006/main">
            <a:off x="647700" y="361950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What was the drug, when did the reaction start, what actually happened, was treatment required, and which beta-lactams have been tolerated since?</a:t>
            </a:r>
          </a:p>
        </p:txBody>
      </p:sp>
      <p:sp>
        <p:nvSpPr>
          <p:cNvPr id="4" name="footer">
            <a:extLst xmlns:a="http://schemas.openxmlformats.org/drawingml/2006/main">
              <a:ext uri="{FF2B5EF4-FFF2-40B4-BE49-F238E27FC236}">
                <a16:creationId xmlns:a16="http://schemas.microsoft.com/office/drawing/2014/main" id="{7329FCAD-98E9-4464-886C-FF1BBFA5EE1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CE3A737C-EC55-47B3-A83A-97A005D9B38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a:t>
            </a:r>
          </a:p>
        </p:txBody>
      </p:sp>
    </p:spTree>
    <p:extLst>
      <p:ext uri="{BB962C8B-B14F-4D97-AF65-F5344CB8AC3E}">
        <p14:creationId xmlns:p14="http://schemas.microsoft.com/office/powerpoint/2010/main" val="597668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8860D3F-20F5-4B29-8E3C-C35228CE5B9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 reaction history determines the next step</a:t>
            </a:r>
          </a:p>
        </p:txBody>
      </p:sp>
      <p:sp>
        <p:nvSpPr>
          <p:cNvPr id="2" name="paragraph-0">
            <a:extLst xmlns:a="http://schemas.openxmlformats.org/drawingml/2006/main">
              <a:ext uri="{FF2B5EF4-FFF2-40B4-BE49-F238E27FC236}">
                <a16:creationId xmlns:a16="http://schemas.microsoft.com/office/drawing/2014/main" id="{A16007F4-FB47-4096-A8D7-6E5BDED7A7B2}"/>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Up to 10% of patients report a penicillin allergy, but fewer than 10% of those evaluated with testing have a current immediate IgE-mediated allergy. The discrepancy reflects inaccurate labels, rashes caused by the underlying infection, and loss of sensitization over time. The history still matters. A label of "rash" is not enough information. [1] [2]</a:t>
            </a:r>
          </a:p>
        </p:txBody>
      </p:sp>
      <p:sp>
        <p:nvSpPr>
          <p:cNvPr id="3" name="footer">
            <a:extLst xmlns:a="http://schemas.openxmlformats.org/drawingml/2006/main">
              <a:ext uri="{FF2B5EF4-FFF2-40B4-BE49-F238E27FC236}">
                <a16:creationId xmlns:a16="http://schemas.microsoft.com/office/drawing/2014/main" id="{B2508ACE-7EBD-4579-82D9-FB36E4023BF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23DF79A-42F8-41D5-91D6-622603F035D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a:t>
            </a:r>
          </a:p>
        </p:txBody>
      </p:sp>
    </p:spTree>
    <p:extLst>
      <p:ext uri="{BB962C8B-B14F-4D97-AF65-F5344CB8AC3E}">
        <p14:creationId xmlns:p14="http://schemas.microsoft.com/office/powerpoint/2010/main" val="83801376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F44FE5B-0D7B-4891-92B1-9E51C6DA859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 reaction history determines the next step</a:t>
            </a:r>
          </a:p>
        </p:txBody>
      </p:sp>
      <p:sp>
        <p:nvSpPr>
          <p:cNvPr id="2" name="paragraph-0">
            <a:extLst xmlns:a="http://schemas.openxmlformats.org/drawingml/2006/main">
              <a:ext uri="{FF2B5EF4-FFF2-40B4-BE49-F238E27FC236}">
                <a16:creationId xmlns:a16="http://schemas.microsoft.com/office/drawing/2014/main" id="{86B3447B-A5DF-4E74-84B6-8C934654C39E}"/>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An inaccurate label often leads to broader or less effective therapy. That is associated with more adverse drug effects, C. difficile infection, resistant organisms, longer hospitalization, and higher cost. The goal is not to make the label disappear. The goal is to give the best antibiotic safely. [2]</a:t>
            </a:r>
          </a:p>
        </p:txBody>
      </p:sp>
      <p:sp>
        <p:nvSpPr>
          <p:cNvPr id="3" name="footer">
            <a:extLst xmlns:a="http://schemas.openxmlformats.org/drawingml/2006/main">
              <a:ext uri="{FF2B5EF4-FFF2-40B4-BE49-F238E27FC236}">
                <a16:creationId xmlns:a16="http://schemas.microsoft.com/office/drawing/2014/main" id="{181E88E6-2583-4D97-B738-5E926042BA7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D8B6B709-184E-4D6F-84C2-06E913AA4F5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a:t>
            </a:r>
          </a:p>
        </p:txBody>
      </p:sp>
    </p:spTree>
    <p:extLst>
      <p:ext uri="{BB962C8B-B14F-4D97-AF65-F5344CB8AC3E}">
        <p14:creationId xmlns:p14="http://schemas.microsoft.com/office/powerpoint/2010/main" val="47036399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B178FB0-055C-47D5-85D9-FC9C4486E9A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Classify the reaction before choosing another beta-lactam</a:t>
            </a:r>
          </a:p>
        </p:txBody>
      </p:sp>
      <p:graphicFrame>
        <p:nvGraphicFramePr>
          <p:cNvPr id="2" name="">
            <a:extLst xmlns:a="http://schemas.openxmlformats.org/drawingml/2006/main">
              <a:ext uri="{FF2B5EF4-FFF2-40B4-BE49-F238E27FC236}">
                <a16:creationId xmlns:a16="http://schemas.microsoft.com/office/drawing/2014/main" id="{6CFD93B4-2175-4142-948F-0647F508E839}"/>
              </a:ext>
            </a:extLst>
          </p:cNvPr>
          <p:cNvGraphicFramePr/>
          <p:nvPr/>
        </p:nvGraphicFramePr>
        <p:xfrm>
          <a:off xmlns:a="http://schemas.openxmlformats.org/drawingml/2006/main" x="647700" y="1866900"/>
          <a:ext xmlns:a="http://schemas.openxmlformats.org/drawingml/2006/main" cx="10896600" cy="33909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Immediate, IgE-mediated</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Typical timing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Usually within minutes to about 1 hour, but may occur within several hours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Typical findings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Urticaria, angioedema, bronchospasm, hypotension, anaphylaxis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1157288">
                <a:tc>
                  <a:txBody>
                    <a:bodyPr lIns="114300" tIns="114300" rIns="114300" bIns="114300">
                      <a:noAutofit/>
                    </a:bodyPr>
                    <a:lstStyle/>
                    <a:p>
                      <a:r>
                        <a:rPr sz="1950" b="0">
                          <a:solidFill>
                            <a:srgbClr val="16323B"/>
                          </a:solidFill>
                          <a:latin typeface="DejaVu Sans"/>
                          <a:ea typeface="DejaVu Sans"/>
                          <a:cs typeface="DejaVu Sans"/>
                        </a:rPr>
                        <a:t>Resident implication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Clarify the culprit and timing. Use the local allergy pathway and review side-chain relationships before selecting therapy.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95412D1E-DA61-4C3E-8433-476187237A3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592FC65-C6C3-45C9-9C48-B169C0F7337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a:t>
            </a:r>
          </a:p>
        </p:txBody>
      </p:sp>
    </p:spTree>
    <p:extLst>
      <p:ext uri="{BB962C8B-B14F-4D97-AF65-F5344CB8AC3E}">
        <p14:creationId xmlns:p14="http://schemas.microsoft.com/office/powerpoint/2010/main" val="76482150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00DE842-9DF8-4822-ADE8-D80DAD68A13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Classify the reaction before choosing another beta-lactam</a:t>
            </a:r>
          </a:p>
        </p:txBody>
      </p:sp>
      <p:graphicFrame>
        <p:nvGraphicFramePr>
          <p:cNvPr id="2" name="">
            <a:extLst xmlns:a="http://schemas.openxmlformats.org/drawingml/2006/main">
              <a:ext uri="{FF2B5EF4-FFF2-40B4-BE49-F238E27FC236}">
                <a16:creationId xmlns:a16="http://schemas.microsoft.com/office/drawing/2014/main" id="{8F57715C-957F-4772-8DDF-6DEFE72819FA}"/>
              </a:ext>
            </a:extLst>
          </p:cNvPr>
          <p:cNvGraphicFramePr/>
          <p:nvPr/>
        </p:nvGraphicFramePr>
        <p:xfrm>
          <a:off xmlns:a="http://schemas.openxmlformats.org/drawingml/2006/main" x="647700" y="1866900"/>
          <a:ext xmlns:a="http://schemas.openxmlformats.org/drawingml/2006/main" cx="10896600" cy="27717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Cytotoxic</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Typical timing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Days to weeks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Typical findings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Immune hemolytic anemia or thrombocytopenia</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Resident implication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Do not use a routine challenge pathway. Avoid the culprit and obtain specialist guidance.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082ABDB8-6079-46A4-9514-16A6FFFFB87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F0CC499-83E1-43B9-A5BE-CDB718C7C7E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a:t>
            </a:r>
          </a:p>
        </p:txBody>
      </p:sp>
    </p:spTree>
    <p:extLst>
      <p:ext uri="{BB962C8B-B14F-4D97-AF65-F5344CB8AC3E}">
        <p14:creationId xmlns:p14="http://schemas.microsoft.com/office/powerpoint/2010/main" val="86687846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4A85213-6853-4E89-8AEF-3C6CDA1EADE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Classify the reaction before choosing another beta-lactam</a:t>
            </a:r>
          </a:p>
        </p:txBody>
      </p:sp>
      <p:graphicFrame>
        <p:nvGraphicFramePr>
          <p:cNvPr id="2" name="">
            <a:extLst xmlns:a="http://schemas.openxmlformats.org/drawingml/2006/main">
              <a:ext uri="{FF2B5EF4-FFF2-40B4-BE49-F238E27FC236}">
                <a16:creationId xmlns:a16="http://schemas.microsoft.com/office/drawing/2014/main" id="{DAB6395F-1E46-4C18-A841-10E942AE6FC4}"/>
              </a:ext>
            </a:extLst>
          </p:cNvPr>
          <p:cNvGraphicFramePr/>
          <p:nvPr/>
        </p:nvGraphicFramePr>
        <p:xfrm>
          <a:off xmlns:a="http://schemas.openxmlformats.org/drawingml/2006/main" x="647700" y="1866900"/>
          <a:ext xmlns:a="http://schemas.openxmlformats.org/drawingml/2006/main" cx="10896600" cy="27717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Immune complex</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Typical timing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Days to weeks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Typical findings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Serum sickness-like reaction, drug fever, or interstitial nephritis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Resident implication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Skin testing for immediate allergy does not establish safety. Avoid the culprit and obtain guidance.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BA939A87-1F42-4E5C-8B91-E49AA92A466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D429C082-3E02-43B1-911B-98D7C94B2F8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a:t>
            </a:r>
          </a:p>
        </p:txBody>
      </p:sp>
    </p:spTree>
    <p:extLst>
      <p:ext uri="{BB962C8B-B14F-4D97-AF65-F5344CB8AC3E}">
        <p14:creationId xmlns:p14="http://schemas.microsoft.com/office/powerpoint/2010/main" val="106614150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D5A09B0-B60A-4CB0-85D2-663FD9CFBA4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Classify the reaction before choosing another beta-lactam</a:t>
            </a:r>
          </a:p>
        </p:txBody>
      </p:sp>
      <p:graphicFrame>
        <p:nvGraphicFramePr>
          <p:cNvPr id="2" name="">
            <a:extLst xmlns:a="http://schemas.openxmlformats.org/drawingml/2006/main">
              <a:ext uri="{FF2B5EF4-FFF2-40B4-BE49-F238E27FC236}">
                <a16:creationId xmlns:a16="http://schemas.microsoft.com/office/drawing/2014/main" id="{569B6B48-05B7-4204-9FBE-350544E280F7}"/>
              </a:ext>
            </a:extLst>
          </p:cNvPr>
          <p:cNvGraphicFramePr/>
          <p:nvPr/>
        </p:nvGraphicFramePr>
        <p:xfrm>
          <a:off xmlns:a="http://schemas.openxmlformats.org/drawingml/2006/main" x="647700" y="1866900"/>
          <a:ext xmlns:a="http://schemas.openxmlformats.org/drawingml/2006/main" cx="10896600" cy="30813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Delayed, T-cell mediated</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Typical timing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Usually days to weeks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Typical findings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Benign morbilliform eruption, or severe disease such as SJS/TEN, DRESS, or AGEP</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1157288">
                <a:tc>
                  <a:txBody>
                    <a:bodyPr lIns="114300" tIns="114300" rIns="114300" bIns="114300">
                      <a:noAutofit/>
                    </a:bodyPr>
                    <a:lstStyle/>
                    <a:p>
                      <a:r>
                        <a:rPr sz="1950" b="0">
                          <a:solidFill>
                            <a:srgbClr val="16323B"/>
                          </a:solidFill>
                          <a:latin typeface="DejaVu Sans"/>
                          <a:ea typeface="DejaVu Sans"/>
                          <a:cs typeface="DejaVu Sans"/>
                        </a:rPr>
                        <a:t>Resident implication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Separate a benign eruption from a severe cutaneous reaction. Never use PEN-FAST or routine challenge to clear a severe delayed reaction.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111A5311-275F-443A-95D6-CA8651DDF6B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B2B21B6-999B-41F0-B607-0D4D14BD0C3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a:t>
            </a:r>
          </a:p>
        </p:txBody>
      </p:sp>
    </p:spTree>
    <p:extLst>
      <p:ext uri="{BB962C8B-B14F-4D97-AF65-F5344CB8AC3E}">
        <p14:creationId xmlns:p14="http://schemas.microsoft.com/office/powerpoint/2010/main" val="146842744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9A4EC59-F23A-4398-831B-7AAADF67328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Classify the reaction before choosing another beta-lactam</a:t>
            </a:r>
          </a:p>
        </p:txBody>
      </p:sp>
      <p:graphicFrame>
        <p:nvGraphicFramePr>
          <p:cNvPr id="2" name="">
            <a:extLst xmlns:a="http://schemas.openxmlformats.org/drawingml/2006/main">
              <a:ext uri="{FF2B5EF4-FFF2-40B4-BE49-F238E27FC236}">
                <a16:creationId xmlns:a16="http://schemas.microsoft.com/office/drawing/2014/main" id="{7DB17DD6-25D3-417D-9A4D-B241BEAE7EF3}"/>
              </a:ext>
            </a:extLst>
          </p:cNvPr>
          <p:cNvGraphicFramePr/>
          <p:nvPr/>
        </p:nvGraphicFramePr>
        <p:xfrm>
          <a:off xmlns:a="http://schemas.openxmlformats.org/drawingml/2006/main" x="647700" y="1866900"/>
          <a:ext xmlns:a="http://schemas.openxmlformats.org/drawingml/2006/main" cx="10896600" cy="27717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Intolerance or nonallergic history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Typical timing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Variable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Typical findings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Isolated nausea, diarrhea, headache, family history, or a label without a patient reaction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Resident implication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These findings alone do not establish immune-mediated allergy. Document the history accurately.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44A26000-0D5C-44D5-89C1-12FAC256F63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2CFD347-F432-4933-B9D1-8B1560A3AC9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a:t>
            </a:r>
          </a:p>
        </p:txBody>
      </p:sp>
    </p:spTree>
    <p:extLst>
      <p:ext uri="{BB962C8B-B14F-4D97-AF65-F5344CB8AC3E}">
        <p14:creationId xmlns:p14="http://schemas.microsoft.com/office/powerpoint/2010/main" val="26999576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3C36480-6219-4922-BB2B-D0E3BE81261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Classify the reaction before choosing another beta-lactam</a:t>
            </a:r>
          </a:p>
        </p:txBody>
      </p:sp>
      <p:sp>
        <p:nvSpPr>
          <p:cNvPr id="2" name="paragraph-0">
            <a:extLst xmlns:a="http://schemas.openxmlformats.org/drawingml/2006/main">
              <a:ext uri="{FF2B5EF4-FFF2-40B4-BE49-F238E27FC236}">
                <a16:creationId xmlns:a16="http://schemas.microsoft.com/office/drawing/2014/main" id="{A205B410-45D4-46AE-A0E0-12F116FBAF0C}"/>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classic Gell-Coombs categories help organize the phenotype, but real reactions do not always fit neatly into one box. Ask specifically about mucosal injury, skin peeling, facial edema, eosinophilia, kidney or liver injury, cytopenias, treatment required, and subsequent beta-lactam tolerance. [1] [4]</a:t>
            </a:r>
          </a:p>
        </p:txBody>
      </p:sp>
      <p:sp>
        <p:nvSpPr>
          <p:cNvPr id="3" name="footer">
            <a:extLst xmlns:a="http://schemas.openxmlformats.org/drawingml/2006/main">
              <a:ext uri="{FF2B5EF4-FFF2-40B4-BE49-F238E27FC236}">
                <a16:creationId xmlns:a16="http://schemas.microsoft.com/office/drawing/2014/main" id="{2B8F147D-8A8D-4809-BC22-F1BF308D65E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A0D9488-0097-4067-951D-12195B5F042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a:t>
            </a:r>
          </a:p>
        </p:txBody>
      </p:sp>
    </p:spTree>
    <p:extLst>
      <p:ext uri="{BB962C8B-B14F-4D97-AF65-F5344CB8AC3E}">
        <p14:creationId xmlns:p14="http://schemas.microsoft.com/office/powerpoint/2010/main" val="172245868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158B424-C3C0-412E-8912-12DFB6F56B7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PEN-FAST only after excluding a severe delayed reaction</a:t>
            </a:r>
          </a:p>
        </p:txBody>
      </p:sp>
      <p:graphicFrame>
        <p:nvGraphicFramePr>
          <p:cNvPr id="2" name="">
            <a:extLst xmlns:a="http://schemas.openxmlformats.org/drawingml/2006/main">
              <a:ext uri="{FF2B5EF4-FFF2-40B4-BE49-F238E27FC236}">
                <a16:creationId xmlns:a16="http://schemas.microsoft.com/office/drawing/2014/main" id="{30CE1613-A870-4390-AD52-4A15300FABDF}"/>
              </a:ext>
            </a:extLst>
          </p:cNvPr>
          <p:cNvGraphicFramePr/>
          <p:nvPr/>
        </p:nvGraphicFramePr>
        <p:xfrm>
          <a:off xmlns:a="http://schemas.openxmlformats.org/drawingml/2006/main" x="647700" y="1866900"/>
          <a:ext xmlns:a="http://schemas.openxmlformats.org/drawingml/2006/main" cx="10896600" cy="3700463"/>
        </p:xfrm>
        <a:graphic xmlns:a="http://schemas.openxmlformats.org/drawingml/2006/main">
          <a:graphicData uri="http://schemas.openxmlformats.org/drawingml/2006/table">
            <a:tbl>
              <a:tblPr/>
              <a:tblGrid>
                <a:gridCol w="4362450"/>
                <a:gridCol w="6534150"/>
              </a:tblGrid>
              <a:tr h="538163">
                <a:tc>
                  <a:txBody>
                    <a:bodyPr lIns="114300" tIns="114300" rIns="114300" bIns="114300">
                      <a:noAutofit/>
                    </a:bodyPr>
                    <a:lstStyle/>
                    <a:p>
                      <a:r>
                        <a:rPr sz="1950" b="1">
                          <a:solidFill>
                            <a:srgbClr val="FFFFFF"/>
                          </a:solidFill>
                          <a:latin typeface="DejaVu Sans"/>
                          <a:ea typeface="DejaVu Sans"/>
                          <a:cs typeface="DejaVu Sans"/>
                        </a:rPr>
                        <a:t>Criterion</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Points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F ive years or less since the reaction, or timing unknown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2</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A naphylaxis or angioedema, or S evere cutaneous adverse reaction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2</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T reatment required, or treatment unknown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1</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7E149B7B-93FC-427F-AA29-0A22232485C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A21BE01-5D01-446B-A0BF-4084917506E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a:t>
            </a:r>
          </a:p>
        </p:txBody>
      </p:sp>
    </p:spTree>
    <p:extLst>
      <p:ext uri="{BB962C8B-B14F-4D97-AF65-F5344CB8AC3E}">
        <p14:creationId xmlns:p14="http://schemas.microsoft.com/office/powerpoint/2010/main" val="186578027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B9A46DC-06CD-425A-8498-058A68EEC0F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PEN-FAST only after excluding a severe delayed reaction</a:t>
            </a:r>
          </a:p>
        </p:txBody>
      </p:sp>
      <p:graphicFrame>
        <p:nvGraphicFramePr>
          <p:cNvPr id="2" name="">
            <a:extLst xmlns:a="http://schemas.openxmlformats.org/drawingml/2006/main">
              <a:ext uri="{FF2B5EF4-FFF2-40B4-BE49-F238E27FC236}">
                <a16:creationId xmlns:a16="http://schemas.microsoft.com/office/drawing/2014/main" id="{8C6E5C5F-ECE7-44A9-AF24-A44DAA55233F}"/>
              </a:ext>
            </a:extLst>
          </p:cNvPr>
          <p:cNvGraphicFramePr/>
          <p:nvPr/>
        </p:nvGraphicFramePr>
        <p:xfrm>
          <a:off xmlns:a="http://schemas.openxmlformats.org/drawingml/2006/main" x="647700" y="1866900"/>
          <a:ext xmlns:a="http://schemas.openxmlformats.org/drawingml/2006/main" cx="10896600" cy="2152650"/>
        </p:xfrm>
        <a:graphic xmlns:a="http://schemas.openxmlformats.org/drawingml/2006/main">
          <a:graphicData uri="http://schemas.openxmlformats.org/drawingml/2006/table">
            <a:tbl>
              <a:tblPr/>
              <a:tblGrid>
                <a:gridCol w="4362450"/>
                <a:gridCol w="6534150"/>
              </a:tblGrid>
              <a:tr h="538163">
                <a:tc>
                  <a:txBody>
                    <a:bodyPr lIns="114300" tIns="114300" rIns="114300" bIns="114300">
                      <a:noAutofit/>
                    </a:bodyPr>
                    <a:lstStyle/>
                    <a:p>
                      <a:r>
                        <a:rPr sz="1950" b="1">
                          <a:solidFill>
                            <a:srgbClr val="FFFFFF"/>
                          </a:solidFill>
                          <a:latin typeface="DejaVu Sans"/>
                          <a:ea typeface="DejaVu Sans"/>
                          <a:cs typeface="DejaVu Sans"/>
                        </a:rPr>
                        <a:t>Score</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Estimated risk of positive testing</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0</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Very low, less than 1%</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1-2</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Low, about 5%</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38163">
                <a:tc>
                  <a:txBody>
                    <a:bodyPr lIns="114300" tIns="114300" rIns="114300" bIns="114300">
                      <a:noAutofit/>
                    </a:bodyPr>
                    <a:lstStyle/>
                    <a:p>
                      <a:r>
                        <a:rPr sz="1950" b="0">
                          <a:solidFill>
                            <a:srgbClr val="16323B"/>
                          </a:solidFill>
                          <a:latin typeface="DejaVu Sans"/>
                          <a:ea typeface="DejaVu Sans"/>
                          <a:cs typeface="DejaVu Sans"/>
                        </a:rPr>
                        <a:t>3</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Moderate, about 20%</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1E8DBA7A-D370-4462-B821-62BEC074623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D1EF8460-994D-4728-BFD7-4726772D2C8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a:t>
            </a:r>
          </a:p>
        </p:txBody>
      </p:sp>
    </p:spTree>
    <p:extLst>
      <p:ext uri="{BB962C8B-B14F-4D97-AF65-F5344CB8AC3E}">
        <p14:creationId xmlns:p14="http://schemas.microsoft.com/office/powerpoint/2010/main" val="93971517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71672A7-EDCC-45A8-A1B4-9161F32F69C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PEN-FAST only after excluding a severe delayed reaction</a:t>
            </a:r>
          </a:p>
        </p:txBody>
      </p:sp>
      <p:graphicFrame>
        <p:nvGraphicFramePr>
          <p:cNvPr id="2" name="">
            <a:extLst xmlns:a="http://schemas.openxmlformats.org/drawingml/2006/main">
              <a:ext uri="{FF2B5EF4-FFF2-40B4-BE49-F238E27FC236}">
                <a16:creationId xmlns:a16="http://schemas.microsoft.com/office/drawing/2014/main" id="{E087863C-3C54-471C-B559-6F5232FA2DEC}"/>
              </a:ext>
            </a:extLst>
          </p:cNvPr>
          <p:cNvGraphicFramePr/>
          <p:nvPr/>
        </p:nvGraphicFramePr>
        <p:xfrm>
          <a:off xmlns:a="http://schemas.openxmlformats.org/drawingml/2006/main" x="647700" y="1866900"/>
          <a:ext xmlns:a="http://schemas.openxmlformats.org/drawingml/2006/main" cx="10896600" cy="1076325"/>
        </p:xfrm>
        <a:graphic xmlns:a="http://schemas.openxmlformats.org/drawingml/2006/main">
          <a:graphicData uri="http://schemas.openxmlformats.org/drawingml/2006/table">
            <a:tbl>
              <a:tblPr/>
              <a:tblGrid>
                <a:gridCol w="4362450"/>
                <a:gridCol w="6534150"/>
              </a:tblGrid>
              <a:tr h="538163">
                <a:tc>
                  <a:txBody>
                    <a:bodyPr lIns="114300" tIns="114300" rIns="114300" bIns="114300">
                      <a:noAutofit/>
                    </a:bodyPr>
                    <a:lstStyle/>
                    <a:p>
                      <a:r>
                        <a:rPr sz="1950" b="1">
                          <a:solidFill>
                            <a:srgbClr val="FFFFFF"/>
                          </a:solidFill>
                          <a:latin typeface="DejaVu Sans"/>
                          <a:ea typeface="DejaVu Sans"/>
                          <a:cs typeface="DejaVu Sans"/>
                        </a:rPr>
                        <a:t>Score</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Estimated risk of positive testing</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4-5</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High, about 50%</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C4A58B81-B541-44D5-B8B7-DC0F315D3D2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C8514B5-6F43-4BF6-AB55-9145B80C018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a:t>
            </a:r>
          </a:p>
        </p:txBody>
      </p:sp>
    </p:spTree>
    <p:extLst>
      <p:ext uri="{BB962C8B-B14F-4D97-AF65-F5344CB8AC3E}">
        <p14:creationId xmlns:p14="http://schemas.microsoft.com/office/powerpoint/2010/main" val="57697764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BB90630-E6BD-4DCE-87B5-2D46238EEA9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PEN-FAST only after excluding a severe delayed reaction</a:t>
            </a:r>
          </a:p>
        </p:txBody>
      </p:sp>
      <p:sp>
        <p:nvSpPr>
          <p:cNvPr id="2" name="paragraph-0">
            <a:extLst xmlns:a="http://schemas.openxmlformats.org/drawingml/2006/main">
              <a:ext uri="{FF2B5EF4-FFF2-40B4-BE49-F238E27FC236}">
                <a16:creationId xmlns:a16="http://schemas.microsoft.com/office/drawing/2014/main" id="{B19408F5-A572-42CC-8F73-D17C33D2BE80}"/>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score below 3 identifies a lower-risk group and had a negative predictive value of 96.3% in the derivation and validation study. It does not remove the allergy label or independently authorize a challenge. A remote severe cutaneous reaction may still produce a low score. Open the PEN-FAST calculator. [5]</a:t>
            </a:r>
          </a:p>
        </p:txBody>
      </p:sp>
      <p:sp>
        <p:nvSpPr>
          <p:cNvPr id="3" name="footer">
            <a:extLst xmlns:a="http://schemas.openxmlformats.org/drawingml/2006/main">
              <a:ext uri="{FF2B5EF4-FFF2-40B4-BE49-F238E27FC236}">
                <a16:creationId xmlns:a16="http://schemas.microsoft.com/office/drawing/2014/main" id="{578E5164-6C0C-4D36-84E5-A4629CEBE60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48762C5B-BD68-4B96-89DF-59234AFECF6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a:t>
            </a:r>
          </a:p>
        </p:txBody>
      </p:sp>
    </p:spTree>
    <p:extLst>
      <p:ext uri="{BB962C8B-B14F-4D97-AF65-F5344CB8AC3E}">
        <p14:creationId xmlns:p14="http://schemas.microsoft.com/office/powerpoint/2010/main" val="67111971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9477A38-EAA8-41F5-A961-6EC8DB6332C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Testing, challenge, and desensitization answer different questions</a:t>
            </a:r>
          </a:p>
        </p:txBody>
      </p:sp>
      <p:graphicFrame>
        <p:nvGraphicFramePr>
          <p:cNvPr id="2" name="">
            <a:extLst xmlns:a="http://schemas.openxmlformats.org/drawingml/2006/main">
              <a:ext uri="{FF2B5EF4-FFF2-40B4-BE49-F238E27FC236}">
                <a16:creationId xmlns:a16="http://schemas.microsoft.com/office/drawing/2014/main" id="{3D0E013B-16B8-45A9-AA4C-A435EFABB566}"/>
              </a:ext>
            </a:extLst>
          </p:cNvPr>
          <p:cNvGraphicFramePr/>
          <p:nvPr/>
        </p:nvGraphicFramePr>
        <p:xfrm>
          <a:off xmlns:a="http://schemas.openxmlformats.org/drawingml/2006/main" x="647700" y="1866900"/>
          <a:ext xmlns:a="http://schemas.openxmlformats.org/drawingml/2006/main" cx="10896600" cy="347186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Penicillin skin testing</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Purpose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Assesses immediate IgE sensitization using major determinant reagent, penicillin G, and controls. A negative test is generally followed by an observed amoxicillin challenge.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BJC practice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Performed by Allergy/Immunology. It does not evaluate SJS/TEN, DRESS, AGEP, interstitial nephritis, serum sickness, hemolytic anemia, or other serious non-IgE reactions.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4AB9878C-6091-4A89-B9AB-27CAE2AD52E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2E1D9A5-606D-4BAF-841E-07D8AC5BA01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a:t>
            </a:r>
          </a:p>
        </p:txBody>
      </p:sp>
    </p:spTree>
    <p:extLst>
      <p:ext uri="{BB962C8B-B14F-4D97-AF65-F5344CB8AC3E}">
        <p14:creationId xmlns:p14="http://schemas.microsoft.com/office/powerpoint/2010/main" val="24891981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4F41662-E52B-4DBF-B58C-D7ACD4DFFC3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Testing, challenge, and desensitization answer different questions</a:t>
            </a:r>
          </a:p>
        </p:txBody>
      </p:sp>
      <p:graphicFrame>
        <p:nvGraphicFramePr>
          <p:cNvPr id="2" name="">
            <a:extLst xmlns:a="http://schemas.openxmlformats.org/drawingml/2006/main">
              <a:ext uri="{FF2B5EF4-FFF2-40B4-BE49-F238E27FC236}">
                <a16:creationId xmlns:a16="http://schemas.microsoft.com/office/drawing/2014/main" id="{B8F1EC41-1318-4CFE-B79F-47CBD5F5FF6E}"/>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Graded or test-dose challenge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Purpose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Tests whether a selected low-risk patient tolerates the drug. It does not induce temporary tolerance.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BJC practice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Use the current local protocol and Allergy/Immunology guidance. Do not improvise an inpatient challenge from this lecture.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5911867E-07D2-4FD4-965F-57AED946539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5286410-2F3D-469B-A4C2-4EE3FB40D22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a:t>
            </a:r>
          </a:p>
        </p:txBody>
      </p:sp>
    </p:spTree>
    <p:extLst>
      <p:ext uri="{BB962C8B-B14F-4D97-AF65-F5344CB8AC3E}">
        <p14:creationId xmlns:p14="http://schemas.microsoft.com/office/powerpoint/2010/main" val="117963564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6CFFA0A-260B-4C00-BEA6-F525CFCBB3C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Testing, challenge, and desensitization answer different questions</a:t>
            </a:r>
          </a:p>
        </p:txBody>
      </p:sp>
      <p:graphicFrame>
        <p:nvGraphicFramePr>
          <p:cNvPr id="2" name="">
            <a:extLst xmlns:a="http://schemas.openxmlformats.org/drawingml/2006/main">
              <a:ext uri="{FF2B5EF4-FFF2-40B4-BE49-F238E27FC236}">
                <a16:creationId xmlns:a16="http://schemas.microsoft.com/office/drawing/2014/main" id="{8AD06810-CF01-46FC-8CD5-BBD1157B6DB3}"/>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Desensitization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Purpose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Creates temporary tolerance when the preferred drug is necessary and immediate allergy is established or strongly suspected.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BJC practice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Requires a supervised protocol and uninterrupted dosing. It does not remove the allergy label and is not a routine approach to severe delayed reactions.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C64ADA74-43B3-4FBD-A6E6-9242FE78CDB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33A1FD6-7638-43A9-B7F5-FA1F9AA7B6A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a:t>
            </a:r>
          </a:p>
        </p:txBody>
      </p:sp>
    </p:spTree>
    <p:extLst>
      <p:ext uri="{BB962C8B-B14F-4D97-AF65-F5344CB8AC3E}">
        <p14:creationId xmlns:p14="http://schemas.microsoft.com/office/powerpoint/2010/main" val="172431036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1F1A102-906D-4E60-BE61-00A6324CC81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Testing, challenge, and desensitization answer different questions</a:t>
            </a:r>
          </a:p>
        </p:txBody>
      </p:sp>
      <p:sp>
        <p:nvSpPr>
          <p:cNvPr id="2" name="paragraph-0">
            <a:extLst xmlns:a="http://schemas.openxmlformats.org/drawingml/2006/main">
              <a:ext uri="{FF2B5EF4-FFF2-40B4-BE49-F238E27FC236}">
                <a16:creationId xmlns:a16="http://schemas.microsoft.com/office/drawing/2014/main" id="{44A81663-777A-4AF2-86AA-413C6FA0CA47}"/>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Consider Allergy/Immunology when the label is forcing inferior therapy, when an immunocompromised patient is likely to need repeated antibiotics, or when multiple antimicrobial allergy labels substantially limit treatment. [2] [4]</a:t>
            </a:r>
          </a:p>
        </p:txBody>
      </p:sp>
      <p:sp>
        <p:nvSpPr>
          <p:cNvPr id="3" name="footer">
            <a:extLst xmlns:a="http://schemas.openxmlformats.org/drawingml/2006/main">
              <a:ext uri="{FF2B5EF4-FFF2-40B4-BE49-F238E27FC236}">
                <a16:creationId xmlns:a16="http://schemas.microsoft.com/office/drawing/2014/main" id="{8A6D3164-5502-4073-8803-B7D0AAB3554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A3E8954-03E7-4A4E-A83B-14DFC69D6C0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a:t>
            </a:r>
          </a:p>
        </p:txBody>
      </p:sp>
    </p:spTree>
    <p:extLst>
      <p:ext uri="{BB962C8B-B14F-4D97-AF65-F5344CB8AC3E}">
        <p14:creationId xmlns:p14="http://schemas.microsoft.com/office/powerpoint/2010/main" val="173741607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B71AA34-44A3-487C-A068-1C4143E000D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 penicillin allergy does not automatically exclude cefazolin</a:t>
            </a:r>
          </a:p>
        </p:txBody>
      </p:sp>
      <p:sp>
        <p:nvSpPr>
          <p:cNvPr id="2" name="paragraph-0">
            <a:extLst xmlns:a="http://schemas.openxmlformats.org/drawingml/2006/main">
              <a:ext uri="{FF2B5EF4-FFF2-40B4-BE49-F238E27FC236}">
                <a16:creationId xmlns:a16="http://schemas.microsoft.com/office/drawing/2014/main" id="{9A59A1BA-9A31-43A2-A3FB-33707E2A637C}"/>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Contemporary estimates place penicillin-cephalosporin cross-reactivity at roughly 2%, far below the older 8-10% teaching. Most clinically important cross-reactivity follows R1 side-chain similarity rather than cephalosporin generation. [4]</a:t>
            </a:r>
          </a:p>
        </p:txBody>
      </p:sp>
      <p:sp>
        <p:nvSpPr>
          <p:cNvPr id="3" name="footer">
            <a:extLst xmlns:a="http://schemas.openxmlformats.org/drawingml/2006/main">
              <a:ext uri="{FF2B5EF4-FFF2-40B4-BE49-F238E27FC236}">
                <a16:creationId xmlns:a16="http://schemas.microsoft.com/office/drawing/2014/main" id="{71CFD073-B71C-4040-A9F2-D8DDBD91FC8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C414A227-F869-4D74-B595-8F36CD8ACB8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a:t>
            </a:r>
          </a:p>
        </p:txBody>
      </p:sp>
    </p:spTree>
    <p:extLst>
      <p:ext uri="{BB962C8B-B14F-4D97-AF65-F5344CB8AC3E}">
        <p14:creationId xmlns:p14="http://schemas.microsoft.com/office/powerpoint/2010/main" val="114416039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971A464-0B83-4D7D-8A49-4FC33EF6213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 penicillin allergy does not automatically exclude cefazolin</a:t>
            </a:r>
          </a:p>
        </p:txBody>
      </p:sp>
      <p:sp>
        <p:nvSpPr>
          <p:cNvPr id="2" name="paragraph-0">
            <a:extLst xmlns:a="http://schemas.openxmlformats.org/drawingml/2006/main">
              <a:ext uri="{FF2B5EF4-FFF2-40B4-BE49-F238E27FC236}">
                <a16:creationId xmlns:a16="http://schemas.microsoft.com/office/drawing/2014/main" id="{4636B9A5-8456-4898-9426-13621A73F450}"/>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an unverified, nonanaphylactic penicillin allergy without a severe delayed phenotype, the 2022 practice parameter supports routine cephalosporin administration without preceding testing or added precautions. It also supports a structurally dissimilar cephalosporin such as cefazolin after penicillin anaphylaxis. This does not clear a cefazolin allergy or make cefazolin appropriate after a severe delayed beta-lactam reaction.</a:t>
            </a:r>
          </a:p>
        </p:txBody>
      </p:sp>
      <p:sp>
        <p:nvSpPr>
          <p:cNvPr id="3" name="footer">
            <a:extLst xmlns:a="http://schemas.openxmlformats.org/drawingml/2006/main">
              <a:ext uri="{FF2B5EF4-FFF2-40B4-BE49-F238E27FC236}">
                <a16:creationId xmlns:a16="http://schemas.microsoft.com/office/drawing/2014/main" id="{ACA0722C-4ADB-461B-B4E4-A35D3BD2628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0406432-B61D-402F-9D88-582532BE04B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a:t>
            </a:r>
          </a:p>
        </p:txBody>
      </p:sp>
    </p:spTree>
    <p:extLst>
      <p:ext uri="{BB962C8B-B14F-4D97-AF65-F5344CB8AC3E}">
        <p14:creationId xmlns:p14="http://schemas.microsoft.com/office/powerpoint/2010/main" val="163570931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09DD219-C81C-42EA-9A71-C934BE3157C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 penicillin allergy does not automatically exclude cefazolin</a:t>
            </a:r>
          </a:p>
        </p:txBody>
      </p:sp>
      <p:sp>
        <p:nvSpPr>
          <p:cNvPr id="2" name="paragraph-0">
            <a:extLst xmlns:a="http://schemas.openxmlformats.org/drawingml/2006/main">
              <a:ext uri="{FF2B5EF4-FFF2-40B4-BE49-F238E27FC236}">
                <a16:creationId xmlns:a16="http://schemas.microsoft.com/office/drawing/2014/main" id="{D51A854E-93E4-459B-905D-3A68CFA1CE77}"/>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Carbapenem cross-reactivity is very low; the same parameter supports carbapenem administration after penicillin or cephalosporin allergy, including anaphylaxis, without routine preceding testing or added precautions. [4]</a:t>
            </a:r>
          </a:p>
        </p:txBody>
      </p:sp>
      <p:sp>
        <p:nvSpPr>
          <p:cNvPr id="3" name="paragraph-1">
            <a:extLst xmlns:a="http://schemas.openxmlformats.org/drawingml/2006/main">
              <a:ext uri="{FF2B5EF4-FFF2-40B4-BE49-F238E27FC236}">
                <a16:creationId xmlns:a16="http://schemas.microsoft.com/office/drawing/2014/main" id="{A96D640B-F16E-417C-968F-688DC7F71EC2}"/>
              </a:ext>
            </a:extLst>
          </p:cNvPr>
          <p:cNvSpPr>
            <a:spLocks xmlns:a="http://schemas.openxmlformats.org/drawingml/2006/main" noGrp="1"/>
          </p:cNvSpPr>
          <p:nvPr/>
        </p:nvSpPr>
        <p:spPr>
          <a:xfrm xmlns:a="http://schemas.openxmlformats.org/drawingml/2006/main">
            <a:off x="647700" y="3619500"/>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the opening case, a remote benign rash may qualify for supervised direct amoxicillin challenge under the current pathway. If a cephalosporin is the appropriate treatment, the penicillin label alone need not delay its use. Choosing cefazolin and removing a penicillin label are separate decisions.</a:t>
            </a:r>
          </a:p>
        </p:txBody>
      </p:sp>
      <p:sp>
        <p:nvSpPr>
          <p:cNvPr id="4" name="footer">
            <a:extLst xmlns:a="http://schemas.openxmlformats.org/drawingml/2006/main">
              <a:ext uri="{FF2B5EF4-FFF2-40B4-BE49-F238E27FC236}">
                <a16:creationId xmlns:a16="http://schemas.microsoft.com/office/drawing/2014/main" id="{6D0C0440-4889-4679-BDB5-823F02D402A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B2A32D8D-114E-4682-92F6-D4AA699754C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a:t>
            </a:r>
          </a:p>
        </p:txBody>
      </p:sp>
    </p:spTree>
    <p:extLst>
      <p:ext uri="{BB962C8B-B14F-4D97-AF65-F5344CB8AC3E}">
        <p14:creationId xmlns:p14="http://schemas.microsoft.com/office/powerpoint/2010/main" val="32937226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FD2C6C2-EFAD-4B50-A794-A163785CBDD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Compare the side chains on both axes</a:t>
            </a:r>
          </a:p>
        </p:txBody>
      </p:sp>
      <p:sp>
        <p:nvSpPr>
          <p:cNvPr id="2" name="paragraph-0">
            <a:extLst xmlns:a="http://schemas.openxmlformats.org/drawingml/2006/main">
              <a:ext uri="{FF2B5EF4-FFF2-40B4-BE49-F238E27FC236}">
                <a16:creationId xmlns:a16="http://schemas.microsoft.com/office/drawing/2014/main" id="{FBB40648-B8CC-4EB1-A7AD-45723E5AA771}"/>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This selected-drug matrix follows the same bedside logic as the BJC pathway and uses public structural sources. It highlights identical and related R1 side chains that can contribute to allergic cross-reactivity. It supports the reaction history; it does not predict an individual patient's risk or authorize a challenge. R1 relationships are more useful here than cephalosporin generation. [4] [7]</a:t>
            </a:r>
          </a:p>
        </p:txBody>
      </p:sp>
      <p:sp>
        <p:nvSpPr>
          <p:cNvPr id="3" name="footer">
            <a:extLst xmlns:a="http://schemas.openxmlformats.org/drawingml/2006/main">
              <a:ext uri="{FF2B5EF4-FFF2-40B4-BE49-F238E27FC236}">
                <a16:creationId xmlns:a16="http://schemas.microsoft.com/office/drawing/2014/main" id="{0C643CF5-7DF4-4E9A-B9C8-5015DF9F944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E886572-D7B3-4110-918C-768D86D61F5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22</a:t>
            </a:r>
          </a:p>
        </p:txBody>
      </p:sp>
    </p:spTree>
    <p:extLst>
      <p:ext uri="{BB962C8B-B14F-4D97-AF65-F5344CB8AC3E}">
        <p14:creationId xmlns:p14="http://schemas.microsoft.com/office/powerpoint/2010/main" val="100156533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9B53124B-A558-471C-8A34-5A69CCD85EF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Compare the side chains on both axes</a:t>
            </a:r>
          </a:p>
        </p:txBody>
      </p:sp>
      <p:sp>
        <p:nvSpPr>
          <p:cNvPr id="2" name="paragraph-0">
            <a:extLst xmlns:a="http://schemas.openxmlformats.org/drawingml/2006/main">
              <a:ext uri="{FF2B5EF4-FFF2-40B4-BE49-F238E27FC236}">
                <a16:creationId xmlns:a16="http://schemas.microsoft.com/office/drawing/2014/main" id="{54E7E606-44AD-4C10-A342-E0956B74587F}"/>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 Identical R1 side chain. Potential cross-reactivity.</a:t>
            </a:r>
          </a:p>
        </p:txBody>
      </p:sp>
      <p:sp>
        <p:nvSpPr>
          <p:cNvPr id="3" name="paragraph-1">
            <a:extLst xmlns:a="http://schemas.openxmlformats.org/drawingml/2006/main">
              <a:ext uri="{FF2B5EF4-FFF2-40B4-BE49-F238E27FC236}">
                <a16:creationId xmlns:a16="http://schemas.microsoft.com/office/drawing/2014/main" id="{1AC1DE5B-9BB4-4D2A-970E-CE7C8A262220}"/>
              </a:ext>
            </a:extLst>
          </p:cNvPr>
          <p:cNvSpPr>
            <a:spLocks xmlns:a="http://schemas.openxmlformats.org/drawingml/2006/main" noGrp="1"/>
          </p:cNvSpPr>
          <p:nvPr/>
        </p:nvSpPr>
        <p:spPr>
          <a:xfrm xmlns:a="http://schemas.openxmlformats.org/drawingml/2006/main">
            <a:off x="647700" y="25622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 Similar R1 features. Potential cross-reactivity; the entire side chain is not identical.</a:t>
            </a:r>
          </a:p>
        </p:txBody>
      </p:sp>
      <p:sp>
        <p:nvSpPr>
          <p:cNvPr id="4" name="paragraph-2">
            <a:extLst xmlns:a="http://schemas.openxmlformats.org/drawingml/2006/main">
              <a:ext uri="{FF2B5EF4-FFF2-40B4-BE49-F238E27FC236}">
                <a16:creationId xmlns:a16="http://schemas.microsoft.com/office/drawing/2014/main" id="{21D0096D-1F67-4F5A-8459-9A8C51C5861F}"/>
              </a:ext>
            </a:extLst>
          </p:cNvPr>
          <p:cNvSpPr>
            <a:spLocks xmlns:a="http://schemas.openxmlformats.org/drawingml/2006/main" noGrp="1"/>
          </p:cNvSpPr>
          <p:nvPr/>
        </p:nvSpPr>
        <p:spPr>
          <a:xfrm xmlns:a="http://schemas.openxmlformats.org/drawingml/2006/main">
            <a:off x="647700" y="352425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 No highlighted R1 pairing in this selected chart. This does not mean zero allergy risk.</a:t>
            </a:r>
          </a:p>
        </p:txBody>
      </p:sp>
      <p:sp>
        <p:nvSpPr>
          <p:cNvPr id="5" name="paragraph-3">
            <a:extLst xmlns:a="http://schemas.openxmlformats.org/drawingml/2006/main">
              <a:ext uri="{FF2B5EF4-FFF2-40B4-BE49-F238E27FC236}">
                <a16:creationId xmlns:a16="http://schemas.microsoft.com/office/drawing/2014/main" id="{8394EAF8-74E1-41A4-8804-D8506011DF73}"/>
              </a:ext>
            </a:extLst>
          </p:cNvPr>
          <p:cNvSpPr>
            <a:spLocks xmlns:a="http://schemas.openxmlformats.org/drawingml/2006/main" noGrp="1"/>
          </p:cNvSpPr>
          <p:nvPr/>
        </p:nvSpPr>
        <p:spPr>
          <a:xfrm xmlns:a="http://schemas.openxmlformats.org/drawingml/2006/main">
            <a:off x="647700" y="448627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 Carbapenem comparison. Use the clinical note below.</a:t>
            </a:r>
          </a:p>
        </p:txBody>
      </p:sp>
      <p:sp>
        <p:nvSpPr>
          <p:cNvPr id="6" name="footer">
            <a:extLst xmlns:a="http://schemas.openxmlformats.org/drawingml/2006/main">
              <a:ext uri="{FF2B5EF4-FFF2-40B4-BE49-F238E27FC236}">
                <a16:creationId xmlns:a16="http://schemas.microsoft.com/office/drawing/2014/main" id="{94430BFC-B984-417F-9599-A573FD4E8AD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7" name="number">
            <a:extLst xmlns:a="http://schemas.openxmlformats.org/drawingml/2006/main">
              <a:ext uri="{FF2B5EF4-FFF2-40B4-BE49-F238E27FC236}">
                <a16:creationId xmlns:a16="http://schemas.microsoft.com/office/drawing/2014/main" id="{18904509-71AF-444E-941B-1A83B18D42C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23</a:t>
            </a:r>
          </a:p>
        </p:txBody>
      </p:sp>
    </p:spTree>
    <p:extLst>
      <p:ext uri="{BB962C8B-B14F-4D97-AF65-F5344CB8AC3E}">
        <p14:creationId xmlns:p14="http://schemas.microsoft.com/office/powerpoint/2010/main" val="189133790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C1A452E-8901-450D-A3D1-6F64D016A82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Compare the side chains on both axes</a:t>
            </a:r>
          </a:p>
        </p:txBody>
      </p:sp>
      <p:sp>
        <p:nvSpPr>
          <p:cNvPr id="2" name="paragraph-0">
            <a:extLst xmlns:a="http://schemas.openxmlformats.org/drawingml/2006/main">
              <a:ext uri="{FF2B5EF4-FFF2-40B4-BE49-F238E27FC236}">
                <a16:creationId xmlns:a16="http://schemas.microsoft.com/office/drawing/2014/main" id="{1BC54191-C2BE-4657-81CD-491746E74CFE}"/>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 The same antibiotic. This is not an alternative to the culprit.</a:t>
            </a:r>
          </a:p>
        </p:txBody>
      </p:sp>
      <p:sp>
        <p:nvSpPr>
          <p:cNvPr id="3" name="footer">
            <a:extLst xmlns:a="http://schemas.openxmlformats.org/drawingml/2006/main">
              <a:ext uri="{FF2B5EF4-FFF2-40B4-BE49-F238E27FC236}">
                <a16:creationId xmlns:a16="http://schemas.microsoft.com/office/drawing/2014/main" id="{0668BEA8-F834-4EF9-BCB9-5E40BF8EC8D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2C4FCDCE-0305-4700-8D14-A8221936E00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24</a:t>
            </a:r>
          </a:p>
        </p:txBody>
      </p:sp>
    </p:spTree>
    <p:extLst>
      <p:ext uri="{BB962C8B-B14F-4D97-AF65-F5344CB8AC3E}">
        <p14:creationId xmlns:p14="http://schemas.microsoft.com/office/powerpoint/2010/main" val="89816575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B192B50-B150-4762-B322-7F1C07AD7CD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Compare the side chains on both axes</a:t>
            </a:r>
          </a:p>
        </p:txBody>
      </p:sp>
      <p:graphicFrame>
        <p:nvGraphicFramePr>
          <p:cNvPr id="2" name="">
            <a:extLst xmlns:a="http://schemas.openxmlformats.org/drawingml/2006/main">
              <a:ext uri="{FF2B5EF4-FFF2-40B4-BE49-F238E27FC236}">
                <a16:creationId xmlns:a16="http://schemas.microsoft.com/office/drawing/2014/main" id="{BF1CCC9C-DFE5-4C23-A925-3DC4AA6578B7}"/>
              </a:ext>
            </a:extLst>
          </p:cNvPr>
          <p:cNvGraphicFramePr/>
          <p:nvPr/>
        </p:nvGraphicFramePr>
        <p:xfrm>
          <a:off xmlns:a="http://schemas.openxmlformats.org/drawingml/2006/main" x="647700" y="1866900"/>
          <a:ext xmlns:a="http://schemas.openxmlformats.org/drawingml/2006/main" cx="10896600" cy="2628900"/>
        </p:xfrm>
        <a:graphic xmlns:a="http://schemas.openxmlformats.org/drawingml/2006/main">
          <a:graphicData uri="http://schemas.openxmlformats.org/drawingml/2006/table">
            <a:tbl>
              <a:tblPr/>
              <a:tblGrid>
                <a:gridCol w="2179320"/>
                <a:gridCol w="2179320"/>
                <a:gridCol w="2179320"/>
                <a:gridCol w="2179320"/>
                <a:gridCol w="2179320"/>
              </a:tblGrid>
              <a:tr h="1085850">
                <a:tc>
                  <a:txBody>
                    <a:bodyPr lIns="114300" tIns="114300" rIns="114300" bIns="114300">
                      <a:noAutofit/>
                    </a:bodyPr>
                    <a:lstStyle/>
                    <a:p>
                      <a:r>
                        <a:rPr sz="1800" b="1">
                          <a:solidFill>
                            <a:srgbClr val="FFFFFF"/>
                          </a:solidFill>
                          <a:latin typeface="DejaVu Sans"/>
                          <a:ea typeface="DejaVu Sans"/>
                          <a:cs typeface="DejaVu Sans"/>
                        </a:rPr>
                        <a:t>Proposed antibiotic → Suspected culprit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Amoxicillin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Ampicillin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Cefadroxil</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Cefprozil</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14350">
                <a:tc>
                  <a:txBody>
                    <a:bodyPr lIns="114300" tIns="114300" rIns="114300" bIns="114300">
                      <a:noAutofit/>
                    </a:bodyPr>
                    <a:lstStyle/>
                    <a:p>
                      <a:r>
                        <a:rPr sz="1800" b="0">
                          <a:solidFill>
                            <a:srgbClr val="16323B"/>
                          </a:solidFill>
                          <a:latin typeface="DejaVu Sans"/>
                          <a:ea typeface="DejaVu Sans"/>
                          <a:cs typeface="DejaVu Sans"/>
                        </a:rPr>
                        <a:t>Amoxicillin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S</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I</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I</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14350">
                <a:tc>
                  <a:txBody>
                    <a:bodyPr lIns="114300" tIns="114300" rIns="114300" bIns="114300">
                      <a:noAutofit/>
                    </a:bodyPr>
                    <a:lstStyle/>
                    <a:p>
                      <a:r>
                        <a:rPr sz="1800" b="0">
                          <a:solidFill>
                            <a:srgbClr val="16323B"/>
                          </a:solidFill>
                          <a:latin typeface="DejaVu Sans"/>
                          <a:ea typeface="DejaVu Sans"/>
                          <a:cs typeface="DejaVu Sans"/>
                        </a:rPr>
                        <a:t>Ampicillin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S</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S</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14350">
                <a:tc>
                  <a:txBody>
                    <a:bodyPr lIns="114300" tIns="114300" rIns="114300" bIns="114300">
                      <a:noAutofit/>
                    </a:bodyPr>
                    <a:lstStyle/>
                    <a:p>
                      <a:r>
                        <a:rPr sz="1800" b="0">
                          <a:solidFill>
                            <a:srgbClr val="16323B"/>
                          </a:solidFill>
                          <a:latin typeface="DejaVu Sans"/>
                          <a:ea typeface="DejaVu Sans"/>
                          <a:cs typeface="DejaVu Sans"/>
                        </a:rPr>
                        <a:t>Cefadroxil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I</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S</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I</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A881A4BD-BA59-417F-B6EA-3E45430728C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2A56BEC-E809-4338-A2D8-285C510AFAA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25</a:t>
            </a:r>
          </a:p>
        </p:txBody>
      </p:sp>
    </p:spTree>
    <p:extLst>
      <p:ext uri="{BB962C8B-B14F-4D97-AF65-F5344CB8AC3E}">
        <p14:creationId xmlns:p14="http://schemas.microsoft.com/office/powerpoint/2010/main" val="6320449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BFE72EF-5A03-446E-B611-A4DEB712CC9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Compare the side chains on both axes</a:t>
            </a:r>
          </a:p>
        </p:txBody>
      </p:sp>
      <p:graphicFrame>
        <p:nvGraphicFramePr>
          <p:cNvPr id="2" name="">
            <a:extLst xmlns:a="http://schemas.openxmlformats.org/drawingml/2006/main">
              <a:ext uri="{FF2B5EF4-FFF2-40B4-BE49-F238E27FC236}">
                <a16:creationId xmlns:a16="http://schemas.microsoft.com/office/drawing/2014/main" id="{3CCFFEC2-AAED-42B6-A804-AAFC041E0911}"/>
              </a:ext>
            </a:extLst>
          </p:cNvPr>
          <p:cNvGraphicFramePr/>
          <p:nvPr/>
        </p:nvGraphicFramePr>
        <p:xfrm>
          <a:off xmlns:a="http://schemas.openxmlformats.org/drawingml/2006/main" x="647700" y="1866900"/>
          <a:ext xmlns:a="http://schemas.openxmlformats.org/drawingml/2006/main" cx="10896600" cy="2628900"/>
        </p:xfrm>
        <a:graphic xmlns:a="http://schemas.openxmlformats.org/drawingml/2006/main">
          <a:graphicData uri="http://schemas.openxmlformats.org/drawingml/2006/table">
            <a:tbl>
              <a:tblPr/>
              <a:tblGrid>
                <a:gridCol w="2179320"/>
                <a:gridCol w="2179320"/>
                <a:gridCol w="2179320"/>
                <a:gridCol w="2179320"/>
                <a:gridCol w="2179320"/>
              </a:tblGrid>
              <a:tr h="1085850">
                <a:tc>
                  <a:txBody>
                    <a:bodyPr lIns="114300" tIns="114300" rIns="114300" bIns="114300">
                      <a:noAutofit/>
                    </a:bodyPr>
                    <a:lstStyle/>
                    <a:p>
                      <a:r>
                        <a:rPr sz="1800" b="1">
                          <a:solidFill>
                            <a:srgbClr val="FFFFFF"/>
                          </a:solidFill>
                          <a:latin typeface="DejaVu Sans"/>
                          <a:ea typeface="DejaVu Sans"/>
                          <a:cs typeface="DejaVu Sans"/>
                        </a:rPr>
                        <a:t>Proposed antibiotic → Suspected culprit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Amoxicillin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Ampicillin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Cefadroxil</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Cefprozil</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14350">
                <a:tc>
                  <a:txBody>
                    <a:bodyPr lIns="114300" tIns="114300" rIns="114300" bIns="114300">
                      <a:noAutofit/>
                    </a:bodyPr>
                    <a:lstStyle/>
                    <a:p>
                      <a:r>
                        <a:rPr sz="1800" b="0">
                          <a:solidFill>
                            <a:srgbClr val="16323B"/>
                          </a:solidFill>
                          <a:latin typeface="DejaVu Sans"/>
                          <a:ea typeface="DejaVu Sans"/>
                          <a:cs typeface="DejaVu Sans"/>
                        </a:rPr>
                        <a:t>Cefprozil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I</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S</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I</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14350">
                <a:tc>
                  <a:txBody>
                    <a:bodyPr lIns="114300" tIns="114300" rIns="114300" bIns="114300">
                      <a:noAutofit/>
                    </a:bodyPr>
                    <a:lstStyle/>
                    <a:p>
                      <a:r>
                        <a:rPr sz="1800" b="0">
                          <a:solidFill>
                            <a:srgbClr val="16323B"/>
                          </a:solidFill>
                          <a:latin typeface="DejaVu Sans"/>
                          <a:ea typeface="DejaVu Sans"/>
                          <a:cs typeface="DejaVu Sans"/>
                        </a:rPr>
                        <a:t>Cephalexin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S</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I</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S</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14350">
                <a:tc>
                  <a:txBody>
                    <a:bodyPr lIns="114300" tIns="114300" rIns="114300" bIns="114300">
                      <a:noAutofit/>
                    </a:bodyPr>
                    <a:lstStyle/>
                    <a:p>
                      <a:r>
                        <a:rPr sz="1800" b="0">
                          <a:solidFill>
                            <a:srgbClr val="16323B"/>
                          </a:solidFill>
                          <a:latin typeface="DejaVu Sans"/>
                          <a:ea typeface="DejaVu Sans"/>
                          <a:cs typeface="DejaVu Sans"/>
                        </a:rPr>
                        <a:t>Cefaclor</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S</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I</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S</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36B47536-3DAB-4994-AD54-993B5FB6239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099E0694-E0D1-465E-8661-949E3C18327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26</a:t>
            </a:r>
          </a:p>
        </p:txBody>
      </p:sp>
    </p:spTree>
    <p:extLst>
      <p:ext uri="{BB962C8B-B14F-4D97-AF65-F5344CB8AC3E}">
        <p14:creationId xmlns:p14="http://schemas.microsoft.com/office/powerpoint/2010/main" val="37329388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64B00F2-AEED-4C4B-A26E-A006EA3FDBA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Compare the side chains on both axes</a:t>
            </a:r>
          </a:p>
        </p:txBody>
      </p:sp>
      <p:graphicFrame>
        <p:nvGraphicFramePr>
          <p:cNvPr id="2" name="">
            <a:extLst xmlns:a="http://schemas.openxmlformats.org/drawingml/2006/main">
              <a:ext uri="{FF2B5EF4-FFF2-40B4-BE49-F238E27FC236}">
                <a16:creationId xmlns:a16="http://schemas.microsoft.com/office/drawing/2014/main" id="{8063C50D-E73F-4568-9B66-80871AFA0A4F}"/>
              </a:ext>
            </a:extLst>
          </p:cNvPr>
          <p:cNvGraphicFramePr/>
          <p:nvPr/>
        </p:nvGraphicFramePr>
        <p:xfrm>
          <a:off xmlns:a="http://schemas.openxmlformats.org/drawingml/2006/main" x="647700" y="1866900"/>
          <a:ext xmlns:a="http://schemas.openxmlformats.org/drawingml/2006/main" cx="10896600" cy="2628900"/>
        </p:xfrm>
        <a:graphic xmlns:a="http://schemas.openxmlformats.org/drawingml/2006/main">
          <a:graphicData uri="http://schemas.openxmlformats.org/drawingml/2006/table">
            <a:tbl>
              <a:tblPr/>
              <a:tblGrid>
                <a:gridCol w="2179320"/>
                <a:gridCol w="2179320"/>
                <a:gridCol w="2179320"/>
                <a:gridCol w="2179320"/>
                <a:gridCol w="2179320"/>
              </a:tblGrid>
              <a:tr h="1085850">
                <a:tc>
                  <a:txBody>
                    <a:bodyPr lIns="114300" tIns="114300" rIns="114300" bIns="114300">
                      <a:noAutofit/>
                    </a:bodyPr>
                    <a:lstStyle/>
                    <a:p>
                      <a:r>
                        <a:rPr sz="1800" b="1">
                          <a:solidFill>
                            <a:srgbClr val="FFFFFF"/>
                          </a:solidFill>
                          <a:latin typeface="DejaVu Sans"/>
                          <a:ea typeface="DejaVu Sans"/>
                          <a:cs typeface="DejaVu Sans"/>
                        </a:rPr>
                        <a:t>Proposed antibiotic → Suspected culprit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Amoxicillin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Ampicillin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Cefadroxil</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Cefprozil</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14350">
                <a:tc>
                  <a:txBody>
                    <a:bodyPr lIns="114300" tIns="114300" rIns="114300" bIns="114300">
                      <a:noAutofit/>
                    </a:bodyPr>
                    <a:lstStyle/>
                    <a:p>
                      <a:r>
                        <a:rPr sz="1800" b="0">
                          <a:solidFill>
                            <a:srgbClr val="16323B"/>
                          </a:solidFill>
                          <a:latin typeface="DejaVu Sans"/>
                          <a:ea typeface="DejaVu Sans"/>
                          <a:cs typeface="DejaVu Sans"/>
                        </a:rPr>
                        <a:t>Cefazolin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14350">
                <a:tc>
                  <a:txBody>
                    <a:bodyPr lIns="114300" tIns="114300" rIns="114300" bIns="114300">
                      <a:noAutofit/>
                    </a:bodyPr>
                    <a:lstStyle/>
                    <a:p>
                      <a:r>
                        <a:rPr sz="1800" b="0">
                          <a:solidFill>
                            <a:srgbClr val="16323B"/>
                          </a:solidFill>
                          <a:latin typeface="DejaVu Sans"/>
                          <a:ea typeface="DejaVu Sans"/>
                          <a:cs typeface="DejaVu Sans"/>
                        </a:rPr>
                        <a:t>Cefuroxime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14350">
                <a:tc>
                  <a:txBody>
                    <a:bodyPr lIns="114300" tIns="114300" rIns="114300" bIns="114300">
                      <a:noAutofit/>
                    </a:bodyPr>
                    <a:lstStyle/>
                    <a:p>
                      <a:r>
                        <a:rPr sz="1800" b="0">
                          <a:solidFill>
                            <a:srgbClr val="16323B"/>
                          </a:solidFill>
                          <a:latin typeface="DejaVu Sans"/>
                          <a:ea typeface="DejaVu Sans"/>
                          <a:cs typeface="DejaVu Sans"/>
                        </a:rPr>
                        <a:t>Ceftriaxone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B762333C-9874-4B4D-AF5E-E1FCA6C99D0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D46CC07-53E8-4055-8E73-57D08AED614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27</a:t>
            </a:r>
          </a:p>
        </p:txBody>
      </p:sp>
    </p:spTree>
    <p:extLst>
      <p:ext uri="{BB962C8B-B14F-4D97-AF65-F5344CB8AC3E}">
        <p14:creationId xmlns:p14="http://schemas.microsoft.com/office/powerpoint/2010/main" val="133442654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E5A1339-24C2-45F9-A785-19A874DEB11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Compare the side chains on both axes</a:t>
            </a:r>
          </a:p>
        </p:txBody>
      </p:sp>
      <p:graphicFrame>
        <p:nvGraphicFramePr>
          <p:cNvPr id="2" name="">
            <a:extLst xmlns:a="http://schemas.openxmlformats.org/drawingml/2006/main">
              <a:ext uri="{FF2B5EF4-FFF2-40B4-BE49-F238E27FC236}">
                <a16:creationId xmlns:a16="http://schemas.microsoft.com/office/drawing/2014/main" id="{19683F1E-605F-408F-AC29-6EC0FAB9173B}"/>
              </a:ext>
            </a:extLst>
          </p:cNvPr>
          <p:cNvGraphicFramePr/>
          <p:nvPr/>
        </p:nvGraphicFramePr>
        <p:xfrm>
          <a:off xmlns:a="http://schemas.openxmlformats.org/drawingml/2006/main" x="647700" y="1866900"/>
          <a:ext xmlns:a="http://schemas.openxmlformats.org/drawingml/2006/main" cx="10896600" cy="2628900"/>
        </p:xfrm>
        <a:graphic xmlns:a="http://schemas.openxmlformats.org/drawingml/2006/main">
          <a:graphicData uri="http://schemas.openxmlformats.org/drawingml/2006/table">
            <a:tbl>
              <a:tblPr/>
              <a:tblGrid>
                <a:gridCol w="2179320"/>
                <a:gridCol w="2179320"/>
                <a:gridCol w="2179320"/>
                <a:gridCol w="2179320"/>
                <a:gridCol w="2179320"/>
              </a:tblGrid>
              <a:tr h="1085850">
                <a:tc>
                  <a:txBody>
                    <a:bodyPr lIns="114300" tIns="114300" rIns="114300" bIns="114300">
                      <a:noAutofit/>
                    </a:bodyPr>
                    <a:lstStyle/>
                    <a:p>
                      <a:r>
                        <a:rPr sz="1800" b="1">
                          <a:solidFill>
                            <a:srgbClr val="FFFFFF"/>
                          </a:solidFill>
                          <a:latin typeface="DejaVu Sans"/>
                          <a:ea typeface="DejaVu Sans"/>
                          <a:cs typeface="DejaVu Sans"/>
                        </a:rPr>
                        <a:t>Proposed antibiotic → Suspected culprit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Amoxicillin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Ampicillin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Cefadroxil</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Cefprozil</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14350">
                <a:tc>
                  <a:txBody>
                    <a:bodyPr lIns="114300" tIns="114300" rIns="114300" bIns="114300">
                      <a:noAutofit/>
                    </a:bodyPr>
                    <a:lstStyle/>
                    <a:p>
                      <a:r>
                        <a:rPr sz="1800" b="0">
                          <a:solidFill>
                            <a:srgbClr val="16323B"/>
                          </a:solidFill>
                          <a:latin typeface="DejaVu Sans"/>
                          <a:ea typeface="DejaVu Sans"/>
                          <a:cs typeface="DejaVu Sans"/>
                        </a:rPr>
                        <a:t>Cefotaxime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14350">
                <a:tc>
                  <a:txBody>
                    <a:bodyPr lIns="114300" tIns="114300" rIns="114300" bIns="114300">
                      <a:noAutofit/>
                    </a:bodyPr>
                    <a:lstStyle/>
                    <a:p>
                      <a:r>
                        <a:rPr sz="1800" b="0">
                          <a:solidFill>
                            <a:srgbClr val="16323B"/>
                          </a:solidFill>
                          <a:latin typeface="DejaVu Sans"/>
                          <a:ea typeface="DejaVu Sans"/>
                          <a:cs typeface="DejaVu Sans"/>
                        </a:rPr>
                        <a:t>Cefpodoxime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14350">
                <a:tc>
                  <a:txBody>
                    <a:bodyPr lIns="114300" tIns="114300" rIns="114300" bIns="114300">
                      <a:noAutofit/>
                    </a:bodyPr>
                    <a:lstStyle/>
                    <a:p>
                      <a:r>
                        <a:rPr sz="1800" b="0">
                          <a:solidFill>
                            <a:srgbClr val="16323B"/>
                          </a:solidFill>
                          <a:latin typeface="DejaVu Sans"/>
                          <a:ea typeface="DejaVu Sans"/>
                          <a:cs typeface="DejaVu Sans"/>
                        </a:rPr>
                        <a:t>Cefepime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B2F0C349-33CD-46FD-8150-1B4748E8A68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68091BB-5235-4304-9AC7-2EAED636A9B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28</a:t>
            </a:r>
          </a:p>
        </p:txBody>
      </p:sp>
    </p:spTree>
    <p:extLst>
      <p:ext uri="{BB962C8B-B14F-4D97-AF65-F5344CB8AC3E}">
        <p14:creationId xmlns:p14="http://schemas.microsoft.com/office/powerpoint/2010/main" val="138006581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009E230-B323-414E-8B7F-6D43F9F42D3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Compare the side chains on both axes</a:t>
            </a:r>
          </a:p>
        </p:txBody>
      </p:sp>
      <p:graphicFrame>
        <p:nvGraphicFramePr>
          <p:cNvPr id="2" name="">
            <a:extLst xmlns:a="http://schemas.openxmlformats.org/drawingml/2006/main">
              <a:ext uri="{FF2B5EF4-FFF2-40B4-BE49-F238E27FC236}">
                <a16:creationId xmlns:a16="http://schemas.microsoft.com/office/drawing/2014/main" id="{09D81C77-F86D-440A-B9BF-3B0D964EDD50}"/>
              </a:ext>
            </a:extLst>
          </p:cNvPr>
          <p:cNvGraphicFramePr/>
          <p:nvPr/>
        </p:nvGraphicFramePr>
        <p:xfrm>
          <a:off xmlns:a="http://schemas.openxmlformats.org/drawingml/2006/main" x="647700" y="1866900"/>
          <a:ext xmlns:a="http://schemas.openxmlformats.org/drawingml/2006/main" cx="10896600" cy="2628900"/>
        </p:xfrm>
        <a:graphic xmlns:a="http://schemas.openxmlformats.org/drawingml/2006/main">
          <a:graphicData uri="http://schemas.openxmlformats.org/drawingml/2006/table">
            <a:tbl>
              <a:tblPr/>
              <a:tblGrid>
                <a:gridCol w="2179320"/>
                <a:gridCol w="2179320"/>
                <a:gridCol w="2179320"/>
                <a:gridCol w="2179320"/>
                <a:gridCol w="2179320"/>
              </a:tblGrid>
              <a:tr h="1085850">
                <a:tc>
                  <a:txBody>
                    <a:bodyPr lIns="114300" tIns="114300" rIns="114300" bIns="114300">
                      <a:noAutofit/>
                    </a:bodyPr>
                    <a:lstStyle/>
                    <a:p>
                      <a:r>
                        <a:rPr sz="1800" b="1">
                          <a:solidFill>
                            <a:srgbClr val="FFFFFF"/>
                          </a:solidFill>
                          <a:latin typeface="DejaVu Sans"/>
                          <a:ea typeface="DejaVu Sans"/>
                          <a:cs typeface="DejaVu Sans"/>
                        </a:rPr>
                        <a:t>Proposed antibiotic → Suspected culprit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Amoxicillin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Ampicillin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Cefadroxil</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Cefprozil</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14350">
                <a:tc>
                  <a:txBody>
                    <a:bodyPr lIns="114300" tIns="114300" rIns="114300" bIns="114300">
                      <a:noAutofit/>
                    </a:bodyPr>
                    <a:lstStyle/>
                    <a:p>
                      <a:r>
                        <a:rPr sz="1800" b="0">
                          <a:solidFill>
                            <a:srgbClr val="16323B"/>
                          </a:solidFill>
                          <a:latin typeface="DejaVu Sans"/>
                          <a:ea typeface="DejaVu Sans"/>
                          <a:cs typeface="DejaVu Sans"/>
                        </a:rPr>
                        <a:t>Ceftazidime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14350">
                <a:tc>
                  <a:txBody>
                    <a:bodyPr lIns="114300" tIns="114300" rIns="114300" bIns="114300">
                      <a:noAutofit/>
                    </a:bodyPr>
                    <a:lstStyle/>
                    <a:p>
                      <a:r>
                        <a:rPr sz="1800" b="0">
                          <a:solidFill>
                            <a:srgbClr val="16323B"/>
                          </a:solidFill>
                          <a:latin typeface="DejaVu Sans"/>
                          <a:ea typeface="DejaVu Sans"/>
                          <a:cs typeface="DejaVu Sans"/>
                        </a:rPr>
                        <a:t>Aztreonam</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14350">
                <a:tc>
                  <a:txBody>
                    <a:bodyPr lIns="114300" tIns="114300" rIns="114300" bIns="114300">
                      <a:noAutofit/>
                    </a:bodyPr>
                    <a:lstStyle/>
                    <a:p>
                      <a:r>
                        <a:rPr sz="1800" b="0">
                          <a:solidFill>
                            <a:srgbClr val="16323B"/>
                          </a:solidFill>
                          <a:latin typeface="DejaVu Sans"/>
                          <a:ea typeface="DejaVu Sans"/>
                          <a:cs typeface="DejaVu Sans"/>
                        </a:rPr>
                        <a:t>Meropenem</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60007885-DAE6-419B-95F6-45C9252EEE0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90A3386-1B6C-4B91-8572-438E17DB7F7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29</a:t>
            </a:r>
          </a:p>
        </p:txBody>
      </p:sp>
    </p:spTree>
    <p:extLst>
      <p:ext uri="{BB962C8B-B14F-4D97-AF65-F5344CB8AC3E}">
        <p14:creationId xmlns:p14="http://schemas.microsoft.com/office/powerpoint/2010/main" val="17346948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5B36A3E-E62C-4C94-8633-FC73A943A12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Compare the side chains on both axes</a:t>
            </a:r>
          </a:p>
        </p:txBody>
      </p:sp>
      <p:graphicFrame>
        <p:nvGraphicFramePr>
          <p:cNvPr id="2" name="">
            <a:extLst xmlns:a="http://schemas.openxmlformats.org/drawingml/2006/main">
              <a:ext uri="{FF2B5EF4-FFF2-40B4-BE49-F238E27FC236}">
                <a16:creationId xmlns:a16="http://schemas.microsoft.com/office/drawing/2014/main" id="{52196C52-01E1-4EA4-9C6F-218506E2D0DA}"/>
              </a:ext>
            </a:extLst>
          </p:cNvPr>
          <p:cNvGraphicFramePr/>
          <p:nvPr/>
        </p:nvGraphicFramePr>
        <p:xfrm>
          <a:off xmlns:a="http://schemas.openxmlformats.org/drawingml/2006/main" x="647700" y="1866900"/>
          <a:ext xmlns:a="http://schemas.openxmlformats.org/drawingml/2006/main" cx="10896600" cy="2628900"/>
        </p:xfrm>
        <a:graphic xmlns:a="http://schemas.openxmlformats.org/drawingml/2006/main">
          <a:graphicData uri="http://schemas.openxmlformats.org/drawingml/2006/table">
            <a:tbl>
              <a:tblPr/>
              <a:tblGrid>
                <a:gridCol w="2179320"/>
                <a:gridCol w="2179320"/>
                <a:gridCol w="2179320"/>
                <a:gridCol w="2179320"/>
                <a:gridCol w="2179320"/>
              </a:tblGrid>
              <a:tr h="1085850">
                <a:tc>
                  <a:txBody>
                    <a:bodyPr lIns="114300" tIns="114300" rIns="114300" bIns="114300">
                      <a:noAutofit/>
                    </a:bodyPr>
                    <a:lstStyle/>
                    <a:p>
                      <a:r>
                        <a:rPr sz="1800" b="1">
                          <a:solidFill>
                            <a:srgbClr val="FFFFFF"/>
                          </a:solidFill>
                          <a:latin typeface="DejaVu Sans"/>
                          <a:ea typeface="DejaVu Sans"/>
                          <a:cs typeface="DejaVu Sans"/>
                        </a:rPr>
                        <a:t>Proposed antibiotic → Suspected culprit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Cephalexin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Cefaclor</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Cefazolin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Cefuroxime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14350">
                <a:tc>
                  <a:txBody>
                    <a:bodyPr lIns="114300" tIns="114300" rIns="114300" bIns="114300">
                      <a:noAutofit/>
                    </a:bodyPr>
                    <a:lstStyle/>
                    <a:p>
                      <a:r>
                        <a:rPr sz="1800" b="0">
                          <a:solidFill>
                            <a:srgbClr val="16323B"/>
                          </a:solidFill>
                          <a:latin typeface="DejaVu Sans"/>
                          <a:ea typeface="DejaVu Sans"/>
                          <a:cs typeface="DejaVu Sans"/>
                        </a:rPr>
                        <a:t>Amoxicillin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S</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S</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14350">
                <a:tc>
                  <a:txBody>
                    <a:bodyPr lIns="114300" tIns="114300" rIns="114300" bIns="114300">
                      <a:noAutofit/>
                    </a:bodyPr>
                    <a:lstStyle/>
                    <a:p>
                      <a:r>
                        <a:rPr sz="1800" b="0">
                          <a:solidFill>
                            <a:srgbClr val="16323B"/>
                          </a:solidFill>
                          <a:latin typeface="DejaVu Sans"/>
                          <a:ea typeface="DejaVu Sans"/>
                          <a:cs typeface="DejaVu Sans"/>
                        </a:rPr>
                        <a:t>Ampicillin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I</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I</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14350">
                <a:tc>
                  <a:txBody>
                    <a:bodyPr lIns="114300" tIns="114300" rIns="114300" bIns="114300">
                      <a:noAutofit/>
                    </a:bodyPr>
                    <a:lstStyle/>
                    <a:p>
                      <a:r>
                        <a:rPr sz="1800" b="0">
                          <a:solidFill>
                            <a:srgbClr val="16323B"/>
                          </a:solidFill>
                          <a:latin typeface="DejaVu Sans"/>
                          <a:ea typeface="DejaVu Sans"/>
                          <a:cs typeface="DejaVu Sans"/>
                        </a:rPr>
                        <a:t>Cefadroxil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S</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S</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8372FBEE-6B19-454B-A523-782C7E58766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5BE00EC-B351-4E6E-AD4F-17A4A74DB0F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30</a:t>
            </a:r>
          </a:p>
        </p:txBody>
      </p:sp>
    </p:spTree>
    <p:extLst>
      <p:ext uri="{BB962C8B-B14F-4D97-AF65-F5344CB8AC3E}">
        <p14:creationId xmlns:p14="http://schemas.microsoft.com/office/powerpoint/2010/main" val="52407463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882EBE6-9978-40B5-932F-CF4995E6232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Compare the side chains on both axes</a:t>
            </a:r>
          </a:p>
        </p:txBody>
      </p:sp>
      <p:graphicFrame>
        <p:nvGraphicFramePr>
          <p:cNvPr id="2" name="">
            <a:extLst xmlns:a="http://schemas.openxmlformats.org/drawingml/2006/main">
              <a:ext uri="{FF2B5EF4-FFF2-40B4-BE49-F238E27FC236}">
                <a16:creationId xmlns:a16="http://schemas.microsoft.com/office/drawing/2014/main" id="{838C0D78-C1EB-4C62-A9D2-CB4A31EAAF12}"/>
              </a:ext>
            </a:extLst>
          </p:cNvPr>
          <p:cNvGraphicFramePr/>
          <p:nvPr/>
        </p:nvGraphicFramePr>
        <p:xfrm>
          <a:off xmlns:a="http://schemas.openxmlformats.org/drawingml/2006/main" x="647700" y="1866900"/>
          <a:ext xmlns:a="http://schemas.openxmlformats.org/drawingml/2006/main" cx="10896600" cy="2628900"/>
        </p:xfrm>
        <a:graphic xmlns:a="http://schemas.openxmlformats.org/drawingml/2006/main">
          <a:graphicData uri="http://schemas.openxmlformats.org/drawingml/2006/table">
            <a:tbl>
              <a:tblPr/>
              <a:tblGrid>
                <a:gridCol w="2179320"/>
                <a:gridCol w="2179320"/>
                <a:gridCol w="2179320"/>
                <a:gridCol w="2179320"/>
                <a:gridCol w="2179320"/>
              </a:tblGrid>
              <a:tr h="1085850">
                <a:tc>
                  <a:txBody>
                    <a:bodyPr lIns="114300" tIns="114300" rIns="114300" bIns="114300">
                      <a:noAutofit/>
                    </a:bodyPr>
                    <a:lstStyle/>
                    <a:p>
                      <a:r>
                        <a:rPr sz="1800" b="1">
                          <a:solidFill>
                            <a:srgbClr val="FFFFFF"/>
                          </a:solidFill>
                          <a:latin typeface="DejaVu Sans"/>
                          <a:ea typeface="DejaVu Sans"/>
                          <a:cs typeface="DejaVu Sans"/>
                        </a:rPr>
                        <a:t>Proposed antibiotic → Suspected culprit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Cephalexin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Cefaclor</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Cefazolin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Cefuroxime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14350">
                <a:tc>
                  <a:txBody>
                    <a:bodyPr lIns="114300" tIns="114300" rIns="114300" bIns="114300">
                      <a:noAutofit/>
                    </a:bodyPr>
                    <a:lstStyle/>
                    <a:p>
                      <a:r>
                        <a:rPr sz="1800" b="0">
                          <a:solidFill>
                            <a:srgbClr val="16323B"/>
                          </a:solidFill>
                          <a:latin typeface="DejaVu Sans"/>
                          <a:ea typeface="DejaVu Sans"/>
                          <a:cs typeface="DejaVu Sans"/>
                        </a:rPr>
                        <a:t>Cefprozil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S</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S</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14350">
                <a:tc>
                  <a:txBody>
                    <a:bodyPr lIns="114300" tIns="114300" rIns="114300" bIns="114300">
                      <a:noAutofit/>
                    </a:bodyPr>
                    <a:lstStyle/>
                    <a:p>
                      <a:r>
                        <a:rPr sz="1800" b="0">
                          <a:solidFill>
                            <a:srgbClr val="16323B"/>
                          </a:solidFill>
                          <a:latin typeface="DejaVu Sans"/>
                          <a:ea typeface="DejaVu Sans"/>
                          <a:cs typeface="DejaVu Sans"/>
                        </a:rPr>
                        <a:t>Cephalexin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I</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14350">
                <a:tc>
                  <a:txBody>
                    <a:bodyPr lIns="114300" tIns="114300" rIns="114300" bIns="114300">
                      <a:noAutofit/>
                    </a:bodyPr>
                    <a:lstStyle/>
                    <a:p>
                      <a:r>
                        <a:rPr sz="1800" b="0">
                          <a:solidFill>
                            <a:srgbClr val="16323B"/>
                          </a:solidFill>
                          <a:latin typeface="DejaVu Sans"/>
                          <a:ea typeface="DejaVu Sans"/>
                          <a:cs typeface="DejaVu Sans"/>
                        </a:rPr>
                        <a:t>Cefaclor</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I</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4B20FF91-0B90-4717-9D73-50B46179930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3CF5B79-84A5-4656-90AA-1F2DB7BF2BE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31</a:t>
            </a:r>
          </a:p>
        </p:txBody>
      </p:sp>
    </p:spTree>
    <p:extLst>
      <p:ext uri="{BB962C8B-B14F-4D97-AF65-F5344CB8AC3E}">
        <p14:creationId xmlns:p14="http://schemas.microsoft.com/office/powerpoint/2010/main" val="1689030626"/>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682CB9A-A080-4EEB-A776-BF9C153F11E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Compare the side chains on both axes</a:t>
            </a:r>
          </a:p>
        </p:txBody>
      </p:sp>
      <p:graphicFrame>
        <p:nvGraphicFramePr>
          <p:cNvPr id="2" name="">
            <a:extLst xmlns:a="http://schemas.openxmlformats.org/drawingml/2006/main">
              <a:ext uri="{FF2B5EF4-FFF2-40B4-BE49-F238E27FC236}">
                <a16:creationId xmlns:a16="http://schemas.microsoft.com/office/drawing/2014/main" id="{F17405BD-AFCC-4C26-9EAF-DCAF5EF97995}"/>
              </a:ext>
            </a:extLst>
          </p:cNvPr>
          <p:cNvGraphicFramePr/>
          <p:nvPr/>
        </p:nvGraphicFramePr>
        <p:xfrm>
          <a:off xmlns:a="http://schemas.openxmlformats.org/drawingml/2006/main" x="647700" y="1866900"/>
          <a:ext xmlns:a="http://schemas.openxmlformats.org/drawingml/2006/main" cx="10896600" cy="2628900"/>
        </p:xfrm>
        <a:graphic xmlns:a="http://schemas.openxmlformats.org/drawingml/2006/main">
          <a:graphicData uri="http://schemas.openxmlformats.org/drawingml/2006/table">
            <a:tbl>
              <a:tblPr/>
              <a:tblGrid>
                <a:gridCol w="2179320"/>
                <a:gridCol w="2179320"/>
                <a:gridCol w="2179320"/>
                <a:gridCol w="2179320"/>
                <a:gridCol w="2179320"/>
              </a:tblGrid>
              <a:tr h="1085850">
                <a:tc>
                  <a:txBody>
                    <a:bodyPr lIns="114300" tIns="114300" rIns="114300" bIns="114300">
                      <a:noAutofit/>
                    </a:bodyPr>
                    <a:lstStyle/>
                    <a:p>
                      <a:r>
                        <a:rPr sz="1800" b="1">
                          <a:solidFill>
                            <a:srgbClr val="FFFFFF"/>
                          </a:solidFill>
                          <a:latin typeface="DejaVu Sans"/>
                          <a:ea typeface="DejaVu Sans"/>
                          <a:cs typeface="DejaVu Sans"/>
                        </a:rPr>
                        <a:t>Proposed antibiotic → Suspected culprit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Cephalexin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Cefaclor</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Cefazolin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Cefuroxime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14350">
                <a:tc>
                  <a:txBody>
                    <a:bodyPr lIns="114300" tIns="114300" rIns="114300" bIns="114300">
                      <a:noAutofit/>
                    </a:bodyPr>
                    <a:lstStyle/>
                    <a:p>
                      <a:r>
                        <a:rPr sz="1800" b="0">
                          <a:solidFill>
                            <a:srgbClr val="16323B"/>
                          </a:solidFill>
                          <a:latin typeface="DejaVu Sans"/>
                          <a:ea typeface="DejaVu Sans"/>
                          <a:cs typeface="DejaVu Sans"/>
                        </a:rPr>
                        <a:t>Cefazolin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14350">
                <a:tc>
                  <a:txBody>
                    <a:bodyPr lIns="114300" tIns="114300" rIns="114300" bIns="114300">
                      <a:noAutofit/>
                    </a:bodyPr>
                    <a:lstStyle/>
                    <a:p>
                      <a:r>
                        <a:rPr sz="1800" b="0">
                          <a:solidFill>
                            <a:srgbClr val="16323B"/>
                          </a:solidFill>
                          <a:latin typeface="DejaVu Sans"/>
                          <a:ea typeface="DejaVu Sans"/>
                          <a:cs typeface="DejaVu Sans"/>
                        </a:rPr>
                        <a:t>Cefuroxime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14350">
                <a:tc>
                  <a:txBody>
                    <a:bodyPr lIns="114300" tIns="114300" rIns="114300" bIns="114300">
                      <a:noAutofit/>
                    </a:bodyPr>
                    <a:lstStyle/>
                    <a:p>
                      <a:r>
                        <a:rPr sz="1800" b="0">
                          <a:solidFill>
                            <a:srgbClr val="16323B"/>
                          </a:solidFill>
                          <a:latin typeface="DejaVu Sans"/>
                          <a:ea typeface="DejaVu Sans"/>
                          <a:cs typeface="DejaVu Sans"/>
                        </a:rPr>
                        <a:t>Ceftriaxone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A386FA9B-19F1-4D43-99B3-D0CA6958F32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04BEE2E2-6164-4DE8-980F-0CDDEA402EE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32</a:t>
            </a:r>
          </a:p>
        </p:txBody>
      </p:sp>
    </p:spTree>
    <p:extLst>
      <p:ext uri="{BB962C8B-B14F-4D97-AF65-F5344CB8AC3E}">
        <p14:creationId xmlns:p14="http://schemas.microsoft.com/office/powerpoint/2010/main" val="1653815601"/>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617DBEA-D9B2-41DB-9ED4-F927AACA6D2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Compare the side chains on both axes</a:t>
            </a:r>
          </a:p>
        </p:txBody>
      </p:sp>
      <p:graphicFrame>
        <p:nvGraphicFramePr>
          <p:cNvPr id="2" name="">
            <a:extLst xmlns:a="http://schemas.openxmlformats.org/drawingml/2006/main">
              <a:ext uri="{FF2B5EF4-FFF2-40B4-BE49-F238E27FC236}">
                <a16:creationId xmlns:a16="http://schemas.microsoft.com/office/drawing/2014/main" id="{A8636B8F-5554-41EE-A8BC-AEE12530963B}"/>
              </a:ext>
            </a:extLst>
          </p:cNvPr>
          <p:cNvGraphicFramePr/>
          <p:nvPr/>
        </p:nvGraphicFramePr>
        <p:xfrm>
          <a:off xmlns:a="http://schemas.openxmlformats.org/drawingml/2006/main" x="647700" y="1866900"/>
          <a:ext xmlns:a="http://schemas.openxmlformats.org/drawingml/2006/main" cx="10896600" cy="2628900"/>
        </p:xfrm>
        <a:graphic xmlns:a="http://schemas.openxmlformats.org/drawingml/2006/main">
          <a:graphicData uri="http://schemas.openxmlformats.org/drawingml/2006/table">
            <a:tbl>
              <a:tblPr/>
              <a:tblGrid>
                <a:gridCol w="2179320"/>
                <a:gridCol w="2179320"/>
                <a:gridCol w="2179320"/>
                <a:gridCol w="2179320"/>
                <a:gridCol w="2179320"/>
              </a:tblGrid>
              <a:tr h="1085850">
                <a:tc>
                  <a:txBody>
                    <a:bodyPr lIns="114300" tIns="114300" rIns="114300" bIns="114300">
                      <a:noAutofit/>
                    </a:bodyPr>
                    <a:lstStyle/>
                    <a:p>
                      <a:r>
                        <a:rPr sz="1800" b="1">
                          <a:solidFill>
                            <a:srgbClr val="FFFFFF"/>
                          </a:solidFill>
                          <a:latin typeface="DejaVu Sans"/>
                          <a:ea typeface="DejaVu Sans"/>
                          <a:cs typeface="DejaVu Sans"/>
                        </a:rPr>
                        <a:t>Proposed antibiotic → Suspected culprit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Cephalexin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Cefaclor</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Cefazolin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Cefuroxime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14350">
                <a:tc>
                  <a:txBody>
                    <a:bodyPr lIns="114300" tIns="114300" rIns="114300" bIns="114300">
                      <a:noAutofit/>
                    </a:bodyPr>
                    <a:lstStyle/>
                    <a:p>
                      <a:r>
                        <a:rPr sz="1800" b="0">
                          <a:solidFill>
                            <a:srgbClr val="16323B"/>
                          </a:solidFill>
                          <a:latin typeface="DejaVu Sans"/>
                          <a:ea typeface="DejaVu Sans"/>
                          <a:cs typeface="DejaVu Sans"/>
                        </a:rPr>
                        <a:t>Cefotaxime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14350">
                <a:tc>
                  <a:txBody>
                    <a:bodyPr lIns="114300" tIns="114300" rIns="114300" bIns="114300">
                      <a:noAutofit/>
                    </a:bodyPr>
                    <a:lstStyle/>
                    <a:p>
                      <a:r>
                        <a:rPr sz="1800" b="0">
                          <a:solidFill>
                            <a:srgbClr val="16323B"/>
                          </a:solidFill>
                          <a:latin typeface="DejaVu Sans"/>
                          <a:ea typeface="DejaVu Sans"/>
                          <a:cs typeface="DejaVu Sans"/>
                        </a:rPr>
                        <a:t>Cefpodoxime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14350">
                <a:tc>
                  <a:txBody>
                    <a:bodyPr lIns="114300" tIns="114300" rIns="114300" bIns="114300">
                      <a:noAutofit/>
                    </a:bodyPr>
                    <a:lstStyle/>
                    <a:p>
                      <a:r>
                        <a:rPr sz="1800" b="0">
                          <a:solidFill>
                            <a:srgbClr val="16323B"/>
                          </a:solidFill>
                          <a:latin typeface="DejaVu Sans"/>
                          <a:ea typeface="DejaVu Sans"/>
                          <a:cs typeface="DejaVu Sans"/>
                        </a:rPr>
                        <a:t>Cefepime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13175085-50C1-46D8-9C3E-B6EB791F4F3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356019B-8EDD-47E2-B0FE-1DDFBD6D02F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33</a:t>
            </a:r>
          </a:p>
        </p:txBody>
      </p:sp>
    </p:spTree>
    <p:extLst>
      <p:ext uri="{BB962C8B-B14F-4D97-AF65-F5344CB8AC3E}">
        <p14:creationId xmlns:p14="http://schemas.microsoft.com/office/powerpoint/2010/main" val="530605619"/>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66C71CE-D492-4ECD-BD23-FBBFEB2D252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Compare the side chains on both axes</a:t>
            </a:r>
          </a:p>
        </p:txBody>
      </p:sp>
      <p:graphicFrame>
        <p:nvGraphicFramePr>
          <p:cNvPr id="2" name="">
            <a:extLst xmlns:a="http://schemas.openxmlformats.org/drawingml/2006/main">
              <a:ext uri="{FF2B5EF4-FFF2-40B4-BE49-F238E27FC236}">
                <a16:creationId xmlns:a16="http://schemas.microsoft.com/office/drawing/2014/main" id="{B99C575C-94E6-4A36-8663-1B353D7E8F36}"/>
              </a:ext>
            </a:extLst>
          </p:cNvPr>
          <p:cNvGraphicFramePr/>
          <p:nvPr/>
        </p:nvGraphicFramePr>
        <p:xfrm>
          <a:off xmlns:a="http://schemas.openxmlformats.org/drawingml/2006/main" x="647700" y="1866900"/>
          <a:ext xmlns:a="http://schemas.openxmlformats.org/drawingml/2006/main" cx="10896600" cy="2628900"/>
        </p:xfrm>
        <a:graphic xmlns:a="http://schemas.openxmlformats.org/drawingml/2006/main">
          <a:graphicData uri="http://schemas.openxmlformats.org/drawingml/2006/table">
            <a:tbl>
              <a:tblPr/>
              <a:tblGrid>
                <a:gridCol w="2179320"/>
                <a:gridCol w="2179320"/>
                <a:gridCol w="2179320"/>
                <a:gridCol w="2179320"/>
                <a:gridCol w="2179320"/>
              </a:tblGrid>
              <a:tr h="1085850">
                <a:tc>
                  <a:txBody>
                    <a:bodyPr lIns="114300" tIns="114300" rIns="114300" bIns="114300">
                      <a:noAutofit/>
                    </a:bodyPr>
                    <a:lstStyle/>
                    <a:p>
                      <a:r>
                        <a:rPr sz="1800" b="1">
                          <a:solidFill>
                            <a:srgbClr val="FFFFFF"/>
                          </a:solidFill>
                          <a:latin typeface="DejaVu Sans"/>
                          <a:ea typeface="DejaVu Sans"/>
                          <a:cs typeface="DejaVu Sans"/>
                        </a:rPr>
                        <a:t>Proposed antibiotic → Suspected culprit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Cephalexin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Cefaclor</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Cefazolin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Cefuroxime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14350">
                <a:tc>
                  <a:txBody>
                    <a:bodyPr lIns="114300" tIns="114300" rIns="114300" bIns="114300">
                      <a:noAutofit/>
                    </a:bodyPr>
                    <a:lstStyle/>
                    <a:p>
                      <a:r>
                        <a:rPr sz="1800" b="0">
                          <a:solidFill>
                            <a:srgbClr val="16323B"/>
                          </a:solidFill>
                          <a:latin typeface="DejaVu Sans"/>
                          <a:ea typeface="DejaVu Sans"/>
                          <a:cs typeface="DejaVu Sans"/>
                        </a:rPr>
                        <a:t>Ceftazidime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14350">
                <a:tc>
                  <a:txBody>
                    <a:bodyPr lIns="114300" tIns="114300" rIns="114300" bIns="114300">
                      <a:noAutofit/>
                    </a:bodyPr>
                    <a:lstStyle/>
                    <a:p>
                      <a:r>
                        <a:rPr sz="1800" b="0">
                          <a:solidFill>
                            <a:srgbClr val="16323B"/>
                          </a:solidFill>
                          <a:latin typeface="DejaVu Sans"/>
                          <a:ea typeface="DejaVu Sans"/>
                          <a:cs typeface="DejaVu Sans"/>
                        </a:rPr>
                        <a:t>Aztreonam</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14350">
                <a:tc>
                  <a:txBody>
                    <a:bodyPr lIns="114300" tIns="114300" rIns="114300" bIns="114300">
                      <a:noAutofit/>
                    </a:bodyPr>
                    <a:lstStyle/>
                    <a:p>
                      <a:r>
                        <a:rPr sz="1800" b="0">
                          <a:solidFill>
                            <a:srgbClr val="16323B"/>
                          </a:solidFill>
                          <a:latin typeface="DejaVu Sans"/>
                          <a:ea typeface="DejaVu Sans"/>
                          <a:cs typeface="DejaVu Sans"/>
                        </a:rPr>
                        <a:t>Meropenem</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ECFD95CA-E6B8-4D9D-8E5A-0885CE8B5C5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C8359CD-7578-4492-BA79-A5A70100FEB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34</a:t>
            </a:r>
          </a:p>
        </p:txBody>
      </p:sp>
    </p:spTree>
    <p:extLst>
      <p:ext uri="{BB962C8B-B14F-4D97-AF65-F5344CB8AC3E}">
        <p14:creationId xmlns:p14="http://schemas.microsoft.com/office/powerpoint/2010/main" val="135097578"/>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455F4A7-A128-4F2C-B3E3-93055303B47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Compare the side chains on both axes</a:t>
            </a:r>
          </a:p>
        </p:txBody>
      </p:sp>
      <p:graphicFrame>
        <p:nvGraphicFramePr>
          <p:cNvPr id="2" name="">
            <a:extLst xmlns:a="http://schemas.openxmlformats.org/drawingml/2006/main">
              <a:ext uri="{FF2B5EF4-FFF2-40B4-BE49-F238E27FC236}">
                <a16:creationId xmlns:a16="http://schemas.microsoft.com/office/drawing/2014/main" id="{E74AF683-089F-44DF-A9BC-C7CD1A7AC770}"/>
              </a:ext>
            </a:extLst>
          </p:cNvPr>
          <p:cNvGraphicFramePr/>
          <p:nvPr/>
        </p:nvGraphicFramePr>
        <p:xfrm>
          <a:off xmlns:a="http://schemas.openxmlformats.org/drawingml/2006/main" x="647700" y="1866900"/>
          <a:ext xmlns:a="http://schemas.openxmlformats.org/drawingml/2006/main" cx="10896600" cy="2628900"/>
        </p:xfrm>
        <a:graphic xmlns:a="http://schemas.openxmlformats.org/drawingml/2006/main">
          <a:graphicData uri="http://schemas.openxmlformats.org/drawingml/2006/table">
            <a:tbl>
              <a:tblPr/>
              <a:tblGrid>
                <a:gridCol w="2179320"/>
                <a:gridCol w="2179320"/>
                <a:gridCol w="2179320"/>
                <a:gridCol w="2179320"/>
                <a:gridCol w="2179320"/>
              </a:tblGrid>
              <a:tr h="1085850">
                <a:tc>
                  <a:txBody>
                    <a:bodyPr lIns="114300" tIns="114300" rIns="114300" bIns="114300">
                      <a:noAutofit/>
                    </a:bodyPr>
                    <a:lstStyle/>
                    <a:p>
                      <a:r>
                        <a:rPr sz="1800" b="1">
                          <a:solidFill>
                            <a:srgbClr val="FFFFFF"/>
                          </a:solidFill>
                          <a:latin typeface="DejaVu Sans"/>
                          <a:ea typeface="DejaVu Sans"/>
                          <a:cs typeface="DejaVu Sans"/>
                        </a:rPr>
                        <a:t>Proposed antibiotic → Suspected culprit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Ceftriaxone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Cefotaxime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Cefpodoxime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Cefepime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14350">
                <a:tc>
                  <a:txBody>
                    <a:bodyPr lIns="114300" tIns="114300" rIns="114300" bIns="114300">
                      <a:noAutofit/>
                    </a:bodyPr>
                    <a:lstStyle/>
                    <a:p>
                      <a:r>
                        <a:rPr sz="1800" b="0">
                          <a:solidFill>
                            <a:srgbClr val="16323B"/>
                          </a:solidFill>
                          <a:latin typeface="DejaVu Sans"/>
                          <a:ea typeface="DejaVu Sans"/>
                          <a:cs typeface="DejaVu Sans"/>
                        </a:rPr>
                        <a:t>Amoxicillin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14350">
                <a:tc>
                  <a:txBody>
                    <a:bodyPr lIns="114300" tIns="114300" rIns="114300" bIns="114300">
                      <a:noAutofit/>
                    </a:bodyPr>
                    <a:lstStyle/>
                    <a:p>
                      <a:r>
                        <a:rPr sz="1800" b="0">
                          <a:solidFill>
                            <a:srgbClr val="16323B"/>
                          </a:solidFill>
                          <a:latin typeface="DejaVu Sans"/>
                          <a:ea typeface="DejaVu Sans"/>
                          <a:cs typeface="DejaVu Sans"/>
                        </a:rPr>
                        <a:t>Ampicillin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14350">
                <a:tc>
                  <a:txBody>
                    <a:bodyPr lIns="114300" tIns="114300" rIns="114300" bIns="114300">
                      <a:noAutofit/>
                    </a:bodyPr>
                    <a:lstStyle/>
                    <a:p>
                      <a:r>
                        <a:rPr sz="1800" b="0">
                          <a:solidFill>
                            <a:srgbClr val="16323B"/>
                          </a:solidFill>
                          <a:latin typeface="DejaVu Sans"/>
                          <a:ea typeface="DejaVu Sans"/>
                          <a:cs typeface="DejaVu Sans"/>
                        </a:rPr>
                        <a:t>Cefadroxil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D55A4490-C089-475C-9371-5ECF4B21505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99087DA-40E6-41C8-939D-DF7673A5B35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35</a:t>
            </a:r>
          </a:p>
        </p:txBody>
      </p:sp>
    </p:spTree>
    <p:extLst>
      <p:ext uri="{BB962C8B-B14F-4D97-AF65-F5344CB8AC3E}">
        <p14:creationId xmlns:p14="http://schemas.microsoft.com/office/powerpoint/2010/main" val="797790575"/>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68797CD-6334-4AD2-A5BD-D8F42B018E9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Compare the side chains on both axes</a:t>
            </a:r>
          </a:p>
        </p:txBody>
      </p:sp>
      <p:graphicFrame>
        <p:nvGraphicFramePr>
          <p:cNvPr id="2" name="">
            <a:extLst xmlns:a="http://schemas.openxmlformats.org/drawingml/2006/main">
              <a:ext uri="{FF2B5EF4-FFF2-40B4-BE49-F238E27FC236}">
                <a16:creationId xmlns:a16="http://schemas.microsoft.com/office/drawing/2014/main" id="{F8249E51-F2AA-45C6-A90B-2FF35976D8DE}"/>
              </a:ext>
            </a:extLst>
          </p:cNvPr>
          <p:cNvGraphicFramePr/>
          <p:nvPr/>
        </p:nvGraphicFramePr>
        <p:xfrm>
          <a:off xmlns:a="http://schemas.openxmlformats.org/drawingml/2006/main" x="647700" y="1866900"/>
          <a:ext xmlns:a="http://schemas.openxmlformats.org/drawingml/2006/main" cx="10896600" cy="2628900"/>
        </p:xfrm>
        <a:graphic xmlns:a="http://schemas.openxmlformats.org/drawingml/2006/main">
          <a:graphicData uri="http://schemas.openxmlformats.org/drawingml/2006/table">
            <a:tbl>
              <a:tblPr/>
              <a:tblGrid>
                <a:gridCol w="2179320"/>
                <a:gridCol w="2179320"/>
                <a:gridCol w="2179320"/>
                <a:gridCol w="2179320"/>
                <a:gridCol w="2179320"/>
              </a:tblGrid>
              <a:tr h="1085850">
                <a:tc>
                  <a:txBody>
                    <a:bodyPr lIns="114300" tIns="114300" rIns="114300" bIns="114300">
                      <a:noAutofit/>
                    </a:bodyPr>
                    <a:lstStyle/>
                    <a:p>
                      <a:r>
                        <a:rPr sz="1800" b="1">
                          <a:solidFill>
                            <a:srgbClr val="FFFFFF"/>
                          </a:solidFill>
                          <a:latin typeface="DejaVu Sans"/>
                          <a:ea typeface="DejaVu Sans"/>
                          <a:cs typeface="DejaVu Sans"/>
                        </a:rPr>
                        <a:t>Proposed antibiotic → Suspected culprit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Ceftriaxone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Cefotaxime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Cefpodoxime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Cefepime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14350">
                <a:tc>
                  <a:txBody>
                    <a:bodyPr lIns="114300" tIns="114300" rIns="114300" bIns="114300">
                      <a:noAutofit/>
                    </a:bodyPr>
                    <a:lstStyle/>
                    <a:p>
                      <a:r>
                        <a:rPr sz="1800" b="0">
                          <a:solidFill>
                            <a:srgbClr val="16323B"/>
                          </a:solidFill>
                          <a:latin typeface="DejaVu Sans"/>
                          <a:ea typeface="DejaVu Sans"/>
                          <a:cs typeface="DejaVu Sans"/>
                        </a:rPr>
                        <a:t>Cefprozil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14350">
                <a:tc>
                  <a:txBody>
                    <a:bodyPr lIns="114300" tIns="114300" rIns="114300" bIns="114300">
                      <a:noAutofit/>
                    </a:bodyPr>
                    <a:lstStyle/>
                    <a:p>
                      <a:r>
                        <a:rPr sz="1800" b="0">
                          <a:solidFill>
                            <a:srgbClr val="16323B"/>
                          </a:solidFill>
                          <a:latin typeface="DejaVu Sans"/>
                          <a:ea typeface="DejaVu Sans"/>
                          <a:cs typeface="DejaVu Sans"/>
                        </a:rPr>
                        <a:t>Cephalexin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14350">
                <a:tc>
                  <a:txBody>
                    <a:bodyPr lIns="114300" tIns="114300" rIns="114300" bIns="114300">
                      <a:noAutofit/>
                    </a:bodyPr>
                    <a:lstStyle/>
                    <a:p>
                      <a:r>
                        <a:rPr sz="1800" b="0">
                          <a:solidFill>
                            <a:srgbClr val="16323B"/>
                          </a:solidFill>
                          <a:latin typeface="DejaVu Sans"/>
                          <a:ea typeface="DejaVu Sans"/>
                          <a:cs typeface="DejaVu Sans"/>
                        </a:rPr>
                        <a:t>Cefaclor</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EADF9660-D22F-4E8A-8CC3-7B79A7BE289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8B31EE6-2E06-4BEE-BF47-687C85F5988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36</a:t>
            </a:r>
          </a:p>
        </p:txBody>
      </p:sp>
    </p:spTree>
    <p:extLst>
      <p:ext uri="{BB962C8B-B14F-4D97-AF65-F5344CB8AC3E}">
        <p14:creationId xmlns:p14="http://schemas.microsoft.com/office/powerpoint/2010/main" val="624323845"/>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FBE3F0E-D661-4D55-8016-DD4CC8923C3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Compare the side chains on both axes</a:t>
            </a:r>
          </a:p>
        </p:txBody>
      </p:sp>
      <p:graphicFrame>
        <p:nvGraphicFramePr>
          <p:cNvPr id="2" name="">
            <a:extLst xmlns:a="http://schemas.openxmlformats.org/drawingml/2006/main">
              <a:ext uri="{FF2B5EF4-FFF2-40B4-BE49-F238E27FC236}">
                <a16:creationId xmlns:a16="http://schemas.microsoft.com/office/drawing/2014/main" id="{BFF0BEFA-9F9E-4930-84AF-AC1B82562B0B}"/>
              </a:ext>
            </a:extLst>
          </p:cNvPr>
          <p:cNvGraphicFramePr/>
          <p:nvPr/>
        </p:nvGraphicFramePr>
        <p:xfrm>
          <a:off xmlns:a="http://schemas.openxmlformats.org/drawingml/2006/main" x="647700" y="1866900"/>
          <a:ext xmlns:a="http://schemas.openxmlformats.org/drawingml/2006/main" cx="10896600" cy="2628900"/>
        </p:xfrm>
        <a:graphic xmlns:a="http://schemas.openxmlformats.org/drawingml/2006/main">
          <a:graphicData uri="http://schemas.openxmlformats.org/drawingml/2006/table">
            <a:tbl>
              <a:tblPr/>
              <a:tblGrid>
                <a:gridCol w="2179320"/>
                <a:gridCol w="2179320"/>
                <a:gridCol w="2179320"/>
                <a:gridCol w="2179320"/>
                <a:gridCol w="2179320"/>
              </a:tblGrid>
              <a:tr h="1085850">
                <a:tc>
                  <a:txBody>
                    <a:bodyPr lIns="114300" tIns="114300" rIns="114300" bIns="114300">
                      <a:noAutofit/>
                    </a:bodyPr>
                    <a:lstStyle/>
                    <a:p>
                      <a:r>
                        <a:rPr sz="1800" b="1">
                          <a:solidFill>
                            <a:srgbClr val="FFFFFF"/>
                          </a:solidFill>
                          <a:latin typeface="DejaVu Sans"/>
                          <a:ea typeface="DejaVu Sans"/>
                          <a:cs typeface="DejaVu Sans"/>
                        </a:rPr>
                        <a:t>Proposed antibiotic → Suspected culprit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Ceftriaxone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Cefotaxime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Cefpodoxime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Cefepime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14350">
                <a:tc>
                  <a:txBody>
                    <a:bodyPr lIns="114300" tIns="114300" rIns="114300" bIns="114300">
                      <a:noAutofit/>
                    </a:bodyPr>
                    <a:lstStyle/>
                    <a:p>
                      <a:r>
                        <a:rPr sz="1800" b="0">
                          <a:solidFill>
                            <a:srgbClr val="16323B"/>
                          </a:solidFill>
                          <a:latin typeface="DejaVu Sans"/>
                          <a:ea typeface="DejaVu Sans"/>
                          <a:cs typeface="DejaVu Sans"/>
                        </a:rPr>
                        <a:t>Cefazolin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14350">
                <a:tc>
                  <a:txBody>
                    <a:bodyPr lIns="114300" tIns="114300" rIns="114300" bIns="114300">
                      <a:noAutofit/>
                    </a:bodyPr>
                    <a:lstStyle/>
                    <a:p>
                      <a:r>
                        <a:rPr sz="1800" b="0">
                          <a:solidFill>
                            <a:srgbClr val="16323B"/>
                          </a:solidFill>
                          <a:latin typeface="DejaVu Sans"/>
                          <a:ea typeface="DejaVu Sans"/>
                          <a:cs typeface="DejaVu Sans"/>
                        </a:rPr>
                        <a:t>Cefuroxime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S</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S</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S</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14350">
                <a:tc>
                  <a:txBody>
                    <a:bodyPr lIns="114300" tIns="114300" rIns="114300" bIns="114300">
                      <a:noAutofit/>
                    </a:bodyPr>
                    <a:lstStyle/>
                    <a:p>
                      <a:r>
                        <a:rPr sz="1800" b="0">
                          <a:solidFill>
                            <a:srgbClr val="16323B"/>
                          </a:solidFill>
                          <a:latin typeface="DejaVu Sans"/>
                          <a:ea typeface="DejaVu Sans"/>
                          <a:cs typeface="DejaVu Sans"/>
                        </a:rPr>
                        <a:t>Ceftriaxone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I</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I</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I</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FB6D29D9-EFE3-4538-B5E5-63D287431DA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22631B2B-C6B0-475E-88DB-D84DB47E00A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37</a:t>
            </a:r>
          </a:p>
        </p:txBody>
      </p:sp>
    </p:spTree>
    <p:extLst>
      <p:ext uri="{BB962C8B-B14F-4D97-AF65-F5344CB8AC3E}">
        <p14:creationId xmlns:p14="http://schemas.microsoft.com/office/powerpoint/2010/main" val="1629786070"/>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8C338DA-30A9-442E-B1BA-401580CA79B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Compare the side chains on both axes</a:t>
            </a:r>
          </a:p>
        </p:txBody>
      </p:sp>
      <p:graphicFrame>
        <p:nvGraphicFramePr>
          <p:cNvPr id="2" name="">
            <a:extLst xmlns:a="http://schemas.openxmlformats.org/drawingml/2006/main">
              <a:ext uri="{FF2B5EF4-FFF2-40B4-BE49-F238E27FC236}">
                <a16:creationId xmlns:a16="http://schemas.microsoft.com/office/drawing/2014/main" id="{47AE0E01-276C-4CA9-8A9E-AD631A39ACBE}"/>
              </a:ext>
            </a:extLst>
          </p:cNvPr>
          <p:cNvGraphicFramePr/>
          <p:nvPr/>
        </p:nvGraphicFramePr>
        <p:xfrm>
          <a:off xmlns:a="http://schemas.openxmlformats.org/drawingml/2006/main" x="647700" y="1866900"/>
          <a:ext xmlns:a="http://schemas.openxmlformats.org/drawingml/2006/main" cx="10896600" cy="2628900"/>
        </p:xfrm>
        <a:graphic xmlns:a="http://schemas.openxmlformats.org/drawingml/2006/main">
          <a:graphicData uri="http://schemas.openxmlformats.org/drawingml/2006/table">
            <a:tbl>
              <a:tblPr/>
              <a:tblGrid>
                <a:gridCol w="2179320"/>
                <a:gridCol w="2179320"/>
                <a:gridCol w="2179320"/>
                <a:gridCol w="2179320"/>
                <a:gridCol w="2179320"/>
              </a:tblGrid>
              <a:tr h="1085850">
                <a:tc>
                  <a:txBody>
                    <a:bodyPr lIns="114300" tIns="114300" rIns="114300" bIns="114300">
                      <a:noAutofit/>
                    </a:bodyPr>
                    <a:lstStyle/>
                    <a:p>
                      <a:r>
                        <a:rPr sz="1800" b="1">
                          <a:solidFill>
                            <a:srgbClr val="FFFFFF"/>
                          </a:solidFill>
                          <a:latin typeface="DejaVu Sans"/>
                          <a:ea typeface="DejaVu Sans"/>
                          <a:cs typeface="DejaVu Sans"/>
                        </a:rPr>
                        <a:t>Proposed antibiotic → Suspected culprit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Ceftriaxone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Cefotaxime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Cefpodoxime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Cefepime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14350">
                <a:tc>
                  <a:txBody>
                    <a:bodyPr lIns="114300" tIns="114300" rIns="114300" bIns="114300">
                      <a:noAutofit/>
                    </a:bodyPr>
                    <a:lstStyle/>
                    <a:p>
                      <a:r>
                        <a:rPr sz="1800" b="0">
                          <a:solidFill>
                            <a:srgbClr val="16323B"/>
                          </a:solidFill>
                          <a:latin typeface="DejaVu Sans"/>
                          <a:ea typeface="DejaVu Sans"/>
                          <a:cs typeface="DejaVu Sans"/>
                        </a:rPr>
                        <a:t>Cefotaxime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I</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I</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I</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14350">
                <a:tc>
                  <a:txBody>
                    <a:bodyPr lIns="114300" tIns="114300" rIns="114300" bIns="114300">
                      <a:noAutofit/>
                    </a:bodyPr>
                    <a:lstStyle/>
                    <a:p>
                      <a:r>
                        <a:rPr sz="1800" b="0">
                          <a:solidFill>
                            <a:srgbClr val="16323B"/>
                          </a:solidFill>
                          <a:latin typeface="DejaVu Sans"/>
                          <a:ea typeface="DejaVu Sans"/>
                          <a:cs typeface="DejaVu Sans"/>
                        </a:rPr>
                        <a:t>Cefpodoxime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I</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I</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I</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14350">
                <a:tc>
                  <a:txBody>
                    <a:bodyPr lIns="114300" tIns="114300" rIns="114300" bIns="114300">
                      <a:noAutofit/>
                    </a:bodyPr>
                    <a:lstStyle/>
                    <a:p>
                      <a:r>
                        <a:rPr sz="1800" b="0">
                          <a:solidFill>
                            <a:srgbClr val="16323B"/>
                          </a:solidFill>
                          <a:latin typeface="DejaVu Sans"/>
                          <a:ea typeface="DejaVu Sans"/>
                          <a:cs typeface="DejaVu Sans"/>
                        </a:rPr>
                        <a:t>Cefepime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I</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I</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I</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A8199AD7-7150-4F12-9A0C-7E19A14432D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2D1613D6-F927-47B3-840E-C7EA97ACEB3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38</a:t>
            </a:r>
          </a:p>
        </p:txBody>
      </p:sp>
    </p:spTree>
    <p:extLst>
      <p:ext uri="{BB962C8B-B14F-4D97-AF65-F5344CB8AC3E}">
        <p14:creationId xmlns:p14="http://schemas.microsoft.com/office/powerpoint/2010/main" val="1723487300"/>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894CF05-F130-415B-A638-E1887B03A9D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Compare the side chains on both axes</a:t>
            </a:r>
          </a:p>
        </p:txBody>
      </p:sp>
      <p:graphicFrame>
        <p:nvGraphicFramePr>
          <p:cNvPr id="2" name="">
            <a:extLst xmlns:a="http://schemas.openxmlformats.org/drawingml/2006/main">
              <a:ext uri="{FF2B5EF4-FFF2-40B4-BE49-F238E27FC236}">
                <a16:creationId xmlns:a16="http://schemas.microsoft.com/office/drawing/2014/main" id="{D9D1C70C-F3C2-4042-A7D0-A3FC1FAF3A34}"/>
              </a:ext>
            </a:extLst>
          </p:cNvPr>
          <p:cNvGraphicFramePr/>
          <p:nvPr/>
        </p:nvGraphicFramePr>
        <p:xfrm>
          <a:off xmlns:a="http://schemas.openxmlformats.org/drawingml/2006/main" x="647700" y="1866900"/>
          <a:ext xmlns:a="http://schemas.openxmlformats.org/drawingml/2006/main" cx="10896600" cy="2628900"/>
        </p:xfrm>
        <a:graphic xmlns:a="http://schemas.openxmlformats.org/drawingml/2006/main">
          <a:graphicData uri="http://schemas.openxmlformats.org/drawingml/2006/table">
            <a:tbl>
              <a:tblPr/>
              <a:tblGrid>
                <a:gridCol w="2179320"/>
                <a:gridCol w="2179320"/>
                <a:gridCol w="2179320"/>
                <a:gridCol w="2179320"/>
                <a:gridCol w="2179320"/>
              </a:tblGrid>
              <a:tr h="1085850">
                <a:tc>
                  <a:txBody>
                    <a:bodyPr lIns="114300" tIns="114300" rIns="114300" bIns="114300">
                      <a:noAutofit/>
                    </a:bodyPr>
                    <a:lstStyle/>
                    <a:p>
                      <a:r>
                        <a:rPr sz="1800" b="1">
                          <a:solidFill>
                            <a:srgbClr val="FFFFFF"/>
                          </a:solidFill>
                          <a:latin typeface="DejaVu Sans"/>
                          <a:ea typeface="DejaVu Sans"/>
                          <a:cs typeface="DejaVu Sans"/>
                        </a:rPr>
                        <a:t>Proposed antibiotic → Suspected culprit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Ceftriaxone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Cefotaxime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Cefpodoxime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Cefepime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14350">
                <a:tc>
                  <a:txBody>
                    <a:bodyPr lIns="114300" tIns="114300" rIns="114300" bIns="114300">
                      <a:noAutofit/>
                    </a:bodyPr>
                    <a:lstStyle/>
                    <a:p>
                      <a:r>
                        <a:rPr sz="1800" b="0">
                          <a:solidFill>
                            <a:srgbClr val="16323B"/>
                          </a:solidFill>
                          <a:latin typeface="DejaVu Sans"/>
                          <a:ea typeface="DejaVu Sans"/>
                          <a:cs typeface="DejaVu Sans"/>
                        </a:rPr>
                        <a:t>Ceftazidime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14350">
                <a:tc>
                  <a:txBody>
                    <a:bodyPr lIns="114300" tIns="114300" rIns="114300" bIns="114300">
                      <a:noAutofit/>
                    </a:bodyPr>
                    <a:lstStyle/>
                    <a:p>
                      <a:r>
                        <a:rPr sz="1800" b="0">
                          <a:solidFill>
                            <a:srgbClr val="16323B"/>
                          </a:solidFill>
                          <a:latin typeface="DejaVu Sans"/>
                          <a:ea typeface="DejaVu Sans"/>
                          <a:cs typeface="DejaVu Sans"/>
                        </a:rPr>
                        <a:t>Aztreonam</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14350">
                <a:tc>
                  <a:txBody>
                    <a:bodyPr lIns="114300" tIns="114300" rIns="114300" bIns="114300">
                      <a:noAutofit/>
                    </a:bodyPr>
                    <a:lstStyle/>
                    <a:p>
                      <a:r>
                        <a:rPr sz="1800" b="0">
                          <a:solidFill>
                            <a:srgbClr val="16323B"/>
                          </a:solidFill>
                          <a:latin typeface="DejaVu Sans"/>
                          <a:ea typeface="DejaVu Sans"/>
                          <a:cs typeface="DejaVu Sans"/>
                        </a:rPr>
                        <a:t>Meropenem</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E2CC0E1F-9F59-495E-8FBF-44EF36DED77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75EC917-4A89-498A-B84E-17B4FFC310D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39</a:t>
            </a:r>
          </a:p>
        </p:txBody>
      </p:sp>
    </p:spTree>
    <p:extLst>
      <p:ext uri="{BB962C8B-B14F-4D97-AF65-F5344CB8AC3E}">
        <p14:creationId xmlns:p14="http://schemas.microsoft.com/office/powerpoint/2010/main" val="1282875799"/>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06B02F1-7029-4ED3-8243-4F3F68FEBB3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Compare the side chains on both axes</a:t>
            </a:r>
          </a:p>
        </p:txBody>
      </p:sp>
      <p:graphicFrame>
        <p:nvGraphicFramePr>
          <p:cNvPr id="2" name="">
            <a:extLst xmlns:a="http://schemas.openxmlformats.org/drawingml/2006/main">
              <a:ext uri="{FF2B5EF4-FFF2-40B4-BE49-F238E27FC236}">
                <a16:creationId xmlns:a16="http://schemas.microsoft.com/office/drawing/2014/main" id="{9AF8ADB0-FE78-48B6-92E1-7674F0481D6B}"/>
              </a:ext>
            </a:extLst>
          </p:cNvPr>
          <p:cNvGraphicFramePr/>
          <p:nvPr/>
        </p:nvGraphicFramePr>
        <p:xfrm>
          <a:off xmlns:a="http://schemas.openxmlformats.org/drawingml/2006/main" x="647700" y="1866900"/>
          <a:ext xmlns:a="http://schemas.openxmlformats.org/drawingml/2006/main" cx="10896600" cy="2628900"/>
        </p:xfrm>
        <a:graphic xmlns:a="http://schemas.openxmlformats.org/drawingml/2006/main">
          <a:graphicData uri="http://schemas.openxmlformats.org/drawingml/2006/table">
            <a:tbl>
              <a:tblPr/>
              <a:tblGrid>
                <a:gridCol w="2724150"/>
                <a:gridCol w="2724150"/>
                <a:gridCol w="2724150"/>
                <a:gridCol w="2724150"/>
              </a:tblGrid>
              <a:tr h="1085850">
                <a:tc>
                  <a:txBody>
                    <a:bodyPr lIns="114300" tIns="114300" rIns="114300" bIns="114300">
                      <a:noAutofit/>
                    </a:bodyPr>
                    <a:lstStyle/>
                    <a:p>
                      <a:r>
                        <a:rPr sz="1800" b="1">
                          <a:solidFill>
                            <a:srgbClr val="FFFFFF"/>
                          </a:solidFill>
                          <a:latin typeface="DejaVu Sans"/>
                          <a:ea typeface="DejaVu Sans"/>
                          <a:cs typeface="DejaVu Sans"/>
                        </a:rPr>
                        <a:t>Proposed antibiotic → Suspected culprit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Ceftazidime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Aztreonam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Meropenem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14350">
                <a:tc>
                  <a:txBody>
                    <a:bodyPr lIns="114300" tIns="114300" rIns="114300" bIns="114300">
                      <a:noAutofit/>
                    </a:bodyPr>
                    <a:lstStyle/>
                    <a:p>
                      <a:r>
                        <a:rPr sz="1800" b="0">
                          <a:solidFill>
                            <a:srgbClr val="16323B"/>
                          </a:solidFill>
                          <a:latin typeface="DejaVu Sans"/>
                          <a:ea typeface="DejaVu Sans"/>
                          <a:cs typeface="DejaVu Sans"/>
                        </a:rPr>
                        <a:t>Amoxicillin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14350">
                <a:tc>
                  <a:txBody>
                    <a:bodyPr lIns="114300" tIns="114300" rIns="114300" bIns="114300">
                      <a:noAutofit/>
                    </a:bodyPr>
                    <a:lstStyle/>
                    <a:p>
                      <a:r>
                        <a:rPr sz="1800" b="0">
                          <a:solidFill>
                            <a:srgbClr val="16323B"/>
                          </a:solidFill>
                          <a:latin typeface="DejaVu Sans"/>
                          <a:ea typeface="DejaVu Sans"/>
                          <a:cs typeface="DejaVu Sans"/>
                        </a:rPr>
                        <a:t>Ampicillin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14350">
                <a:tc>
                  <a:txBody>
                    <a:bodyPr lIns="114300" tIns="114300" rIns="114300" bIns="114300">
                      <a:noAutofit/>
                    </a:bodyPr>
                    <a:lstStyle/>
                    <a:p>
                      <a:r>
                        <a:rPr sz="1800" b="0">
                          <a:solidFill>
                            <a:srgbClr val="16323B"/>
                          </a:solidFill>
                          <a:latin typeface="DejaVu Sans"/>
                          <a:ea typeface="DejaVu Sans"/>
                          <a:cs typeface="DejaVu Sans"/>
                        </a:rPr>
                        <a:t>Cefadroxil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1536A6B5-5E43-4552-849C-17B75E80905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7CF38D3-7174-46FC-B329-F7B859D94A2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40</a:t>
            </a:r>
          </a:p>
        </p:txBody>
      </p:sp>
    </p:spTree>
    <p:extLst>
      <p:ext uri="{BB962C8B-B14F-4D97-AF65-F5344CB8AC3E}">
        <p14:creationId xmlns:p14="http://schemas.microsoft.com/office/powerpoint/2010/main" val="795181066"/>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E052733-FDB0-4264-B624-B6EA1A1BBE5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Compare the side chains on both axes</a:t>
            </a:r>
          </a:p>
        </p:txBody>
      </p:sp>
      <p:graphicFrame>
        <p:nvGraphicFramePr>
          <p:cNvPr id="2" name="">
            <a:extLst xmlns:a="http://schemas.openxmlformats.org/drawingml/2006/main">
              <a:ext uri="{FF2B5EF4-FFF2-40B4-BE49-F238E27FC236}">
                <a16:creationId xmlns:a16="http://schemas.microsoft.com/office/drawing/2014/main" id="{8630F104-354C-4618-8F4B-D304D4CCE13D}"/>
              </a:ext>
            </a:extLst>
          </p:cNvPr>
          <p:cNvGraphicFramePr/>
          <p:nvPr/>
        </p:nvGraphicFramePr>
        <p:xfrm>
          <a:off xmlns:a="http://schemas.openxmlformats.org/drawingml/2006/main" x="647700" y="1866900"/>
          <a:ext xmlns:a="http://schemas.openxmlformats.org/drawingml/2006/main" cx="10896600" cy="2628900"/>
        </p:xfrm>
        <a:graphic xmlns:a="http://schemas.openxmlformats.org/drawingml/2006/main">
          <a:graphicData uri="http://schemas.openxmlformats.org/drawingml/2006/table">
            <a:tbl>
              <a:tblPr/>
              <a:tblGrid>
                <a:gridCol w="2724150"/>
                <a:gridCol w="2724150"/>
                <a:gridCol w="2724150"/>
                <a:gridCol w="2724150"/>
              </a:tblGrid>
              <a:tr h="1085850">
                <a:tc>
                  <a:txBody>
                    <a:bodyPr lIns="114300" tIns="114300" rIns="114300" bIns="114300">
                      <a:noAutofit/>
                    </a:bodyPr>
                    <a:lstStyle/>
                    <a:p>
                      <a:r>
                        <a:rPr sz="1800" b="1">
                          <a:solidFill>
                            <a:srgbClr val="FFFFFF"/>
                          </a:solidFill>
                          <a:latin typeface="DejaVu Sans"/>
                          <a:ea typeface="DejaVu Sans"/>
                          <a:cs typeface="DejaVu Sans"/>
                        </a:rPr>
                        <a:t>Proposed antibiotic → Suspected culprit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Ceftazidime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Aztreonam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Meropenem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14350">
                <a:tc>
                  <a:txBody>
                    <a:bodyPr lIns="114300" tIns="114300" rIns="114300" bIns="114300">
                      <a:noAutofit/>
                    </a:bodyPr>
                    <a:lstStyle/>
                    <a:p>
                      <a:r>
                        <a:rPr sz="1800" b="0">
                          <a:solidFill>
                            <a:srgbClr val="16323B"/>
                          </a:solidFill>
                          <a:latin typeface="DejaVu Sans"/>
                          <a:ea typeface="DejaVu Sans"/>
                          <a:cs typeface="DejaVu Sans"/>
                        </a:rPr>
                        <a:t>Cefprozil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14350">
                <a:tc>
                  <a:txBody>
                    <a:bodyPr lIns="114300" tIns="114300" rIns="114300" bIns="114300">
                      <a:noAutofit/>
                    </a:bodyPr>
                    <a:lstStyle/>
                    <a:p>
                      <a:r>
                        <a:rPr sz="1800" b="0">
                          <a:solidFill>
                            <a:srgbClr val="16323B"/>
                          </a:solidFill>
                          <a:latin typeface="DejaVu Sans"/>
                          <a:ea typeface="DejaVu Sans"/>
                          <a:cs typeface="DejaVu Sans"/>
                        </a:rPr>
                        <a:t>Cephalexin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14350">
                <a:tc>
                  <a:txBody>
                    <a:bodyPr lIns="114300" tIns="114300" rIns="114300" bIns="114300">
                      <a:noAutofit/>
                    </a:bodyPr>
                    <a:lstStyle/>
                    <a:p>
                      <a:r>
                        <a:rPr sz="1800" b="0">
                          <a:solidFill>
                            <a:srgbClr val="16323B"/>
                          </a:solidFill>
                          <a:latin typeface="DejaVu Sans"/>
                          <a:ea typeface="DejaVu Sans"/>
                          <a:cs typeface="DejaVu Sans"/>
                        </a:rPr>
                        <a:t>Cefaclor</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D22F94B6-6163-4EE2-B63F-A0DBF276B4B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3D22C49A-563F-4FAA-A551-F48F1C733D8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41</a:t>
            </a:r>
          </a:p>
        </p:txBody>
      </p:sp>
    </p:spTree>
    <p:extLst>
      <p:ext uri="{BB962C8B-B14F-4D97-AF65-F5344CB8AC3E}">
        <p14:creationId xmlns:p14="http://schemas.microsoft.com/office/powerpoint/2010/main" val="289758948"/>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1B9192E-E6BD-4C00-86C3-F9636D116CB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Compare the side chains on both axes</a:t>
            </a:r>
          </a:p>
        </p:txBody>
      </p:sp>
      <p:graphicFrame>
        <p:nvGraphicFramePr>
          <p:cNvPr id="2" name="">
            <a:extLst xmlns:a="http://schemas.openxmlformats.org/drawingml/2006/main">
              <a:ext uri="{FF2B5EF4-FFF2-40B4-BE49-F238E27FC236}">
                <a16:creationId xmlns:a16="http://schemas.microsoft.com/office/drawing/2014/main" id="{902A9E5E-0204-4CA4-A7DA-186698C33BA4}"/>
              </a:ext>
            </a:extLst>
          </p:cNvPr>
          <p:cNvGraphicFramePr/>
          <p:nvPr/>
        </p:nvGraphicFramePr>
        <p:xfrm>
          <a:off xmlns:a="http://schemas.openxmlformats.org/drawingml/2006/main" x="647700" y="1866900"/>
          <a:ext xmlns:a="http://schemas.openxmlformats.org/drawingml/2006/main" cx="10896600" cy="2628900"/>
        </p:xfrm>
        <a:graphic xmlns:a="http://schemas.openxmlformats.org/drawingml/2006/main">
          <a:graphicData uri="http://schemas.openxmlformats.org/drawingml/2006/table">
            <a:tbl>
              <a:tblPr/>
              <a:tblGrid>
                <a:gridCol w="2724150"/>
                <a:gridCol w="2724150"/>
                <a:gridCol w="2724150"/>
                <a:gridCol w="2724150"/>
              </a:tblGrid>
              <a:tr h="1085850">
                <a:tc>
                  <a:txBody>
                    <a:bodyPr lIns="114300" tIns="114300" rIns="114300" bIns="114300">
                      <a:noAutofit/>
                    </a:bodyPr>
                    <a:lstStyle/>
                    <a:p>
                      <a:r>
                        <a:rPr sz="1800" b="1">
                          <a:solidFill>
                            <a:srgbClr val="FFFFFF"/>
                          </a:solidFill>
                          <a:latin typeface="DejaVu Sans"/>
                          <a:ea typeface="DejaVu Sans"/>
                          <a:cs typeface="DejaVu Sans"/>
                        </a:rPr>
                        <a:t>Proposed antibiotic → Suspected culprit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Ceftazidime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Aztreonam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Meropenem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14350">
                <a:tc>
                  <a:txBody>
                    <a:bodyPr lIns="114300" tIns="114300" rIns="114300" bIns="114300">
                      <a:noAutofit/>
                    </a:bodyPr>
                    <a:lstStyle/>
                    <a:p>
                      <a:r>
                        <a:rPr sz="1800" b="0">
                          <a:solidFill>
                            <a:srgbClr val="16323B"/>
                          </a:solidFill>
                          <a:latin typeface="DejaVu Sans"/>
                          <a:ea typeface="DejaVu Sans"/>
                          <a:cs typeface="DejaVu Sans"/>
                        </a:rPr>
                        <a:t>Cefazolin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14350">
                <a:tc>
                  <a:txBody>
                    <a:bodyPr lIns="114300" tIns="114300" rIns="114300" bIns="114300">
                      <a:noAutofit/>
                    </a:bodyPr>
                    <a:lstStyle/>
                    <a:p>
                      <a:r>
                        <a:rPr sz="1800" b="0">
                          <a:solidFill>
                            <a:srgbClr val="16323B"/>
                          </a:solidFill>
                          <a:latin typeface="DejaVu Sans"/>
                          <a:ea typeface="DejaVu Sans"/>
                          <a:cs typeface="DejaVu Sans"/>
                        </a:rPr>
                        <a:t>Cefuroxime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14350">
                <a:tc>
                  <a:txBody>
                    <a:bodyPr lIns="114300" tIns="114300" rIns="114300" bIns="114300">
                      <a:noAutofit/>
                    </a:bodyPr>
                    <a:lstStyle/>
                    <a:p>
                      <a:r>
                        <a:rPr sz="1800" b="0">
                          <a:solidFill>
                            <a:srgbClr val="16323B"/>
                          </a:solidFill>
                          <a:latin typeface="DejaVu Sans"/>
                          <a:ea typeface="DejaVu Sans"/>
                          <a:cs typeface="DejaVu Sans"/>
                        </a:rPr>
                        <a:t>Ceftriaxone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AE9B99DA-4C92-4ADB-AC19-F1C8105F4D4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7E2946D-8518-4B35-8A2E-BF7B795C8B0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42</a:t>
            </a:r>
          </a:p>
        </p:txBody>
      </p:sp>
    </p:spTree>
    <p:extLst>
      <p:ext uri="{BB962C8B-B14F-4D97-AF65-F5344CB8AC3E}">
        <p14:creationId xmlns:p14="http://schemas.microsoft.com/office/powerpoint/2010/main" val="2131901057"/>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9707E06-F857-4F15-8A91-F45D7F42751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Compare the side chains on both axes</a:t>
            </a:r>
          </a:p>
        </p:txBody>
      </p:sp>
      <p:graphicFrame>
        <p:nvGraphicFramePr>
          <p:cNvPr id="2" name="">
            <a:extLst xmlns:a="http://schemas.openxmlformats.org/drawingml/2006/main">
              <a:ext uri="{FF2B5EF4-FFF2-40B4-BE49-F238E27FC236}">
                <a16:creationId xmlns:a16="http://schemas.microsoft.com/office/drawing/2014/main" id="{20F14B78-8A33-4D3F-B52D-5AE18AD9D114}"/>
              </a:ext>
            </a:extLst>
          </p:cNvPr>
          <p:cNvGraphicFramePr/>
          <p:nvPr/>
        </p:nvGraphicFramePr>
        <p:xfrm>
          <a:off xmlns:a="http://schemas.openxmlformats.org/drawingml/2006/main" x="647700" y="1866900"/>
          <a:ext xmlns:a="http://schemas.openxmlformats.org/drawingml/2006/main" cx="10896600" cy="2628900"/>
        </p:xfrm>
        <a:graphic xmlns:a="http://schemas.openxmlformats.org/drawingml/2006/main">
          <a:graphicData uri="http://schemas.openxmlformats.org/drawingml/2006/table">
            <a:tbl>
              <a:tblPr/>
              <a:tblGrid>
                <a:gridCol w="2724150"/>
                <a:gridCol w="2724150"/>
                <a:gridCol w="2724150"/>
                <a:gridCol w="2724150"/>
              </a:tblGrid>
              <a:tr h="1085850">
                <a:tc>
                  <a:txBody>
                    <a:bodyPr lIns="114300" tIns="114300" rIns="114300" bIns="114300">
                      <a:noAutofit/>
                    </a:bodyPr>
                    <a:lstStyle/>
                    <a:p>
                      <a:r>
                        <a:rPr sz="1800" b="1">
                          <a:solidFill>
                            <a:srgbClr val="FFFFFF"/>
                          </a:solidFill>
                          <a:latin typeface="DejaVu Sans"/>
                          <a:ea typeface="DejaVu Sans"/>
                          <a:cs typeface="DejaVu Sans"/>
                        </a:rPr>
                        <a:t>Proposed antibiotic → Suspected culprit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Ceftazidime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Aztreonam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Meropenem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14350">
                <a:tc>
                  <a:txBody>
                    <a:bodyPr lIns="114300" tIns="114300" rIns="114300" bIns="114300">
                      <a:noAutofit/>
                    </a:bodyPr>
                    <a:lstStyle/>
                    <a:p>
                      <a:r>
                        <a:rPr sz="1800" b="0">
                          <a:solidFill>
                            <a:srgbClr val="16323B"/>
                          </a:solidFill>
                          <a:latin typeface="DejaVu Sans"/>
                          <a:ea typeface="DejaVu Sans"/>
                          <a:cs typeface="DejaVu Sans"/>
                        </a:rPr>
                        <a:t>Cefotaxime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14350">
                <a:tc>
                  <a:txBody>
                    <a:bodyPr lIns="114300" tIns="114300" rIns="114300" bIns="114300">
                      <a:noAutofit/>
                    </a:bodyPr>
                    <a:lstStyle/>
                    <a:p>
                      <a:r>
                        <a:rPr sz="1800" b="0">
                          <a:solidFill>
                            <a:srgbClr val="16323B"/>
                          </a:solidFill>
                          <a:latin typeface="DejaVu Sans"/>
                          <a:ea typeface="DejaVu Sans"/>
                          <a:cs typeface="DejaVu Sans"/>
                        </a:rPr>
                        <a:t>Cefpodoxime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14350">
                <a:tc>
                  <a:txBody>
                    <a:bodyPr lIns="114300" tIns="114300" rIns="114300" bIns="114300">
                      <a:noAutofit/>
                    </a:bodyPr>
                    <a:lstStyle/>
                    <a:p>
                      <a:r>
                        <a:rPr sz="1800" b="0">
                          <a:solidFill>
                            <a:srgbClr val="16323B"/>
                          </a:solidFill>
                          <a:latin typeface="DejaVu Sans"/>
                          <a:ea typeface="DejaVu Sans"/>
                          <a:cs typeface="DejaVu Sans"/>
                        </a:rPr>
                        <a:t>Cefepime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3A69A3B0-BA66-4474-B875-361A3DA6014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FDEC381-4893-4DA9-97D6-DFBCE776F25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43</a:t>
            </a:r>
          </a:p>
        </p:txBody>
      </p:sp>
    </p:spTree>
    <p:extLst>
      <p:ext uri="{BB962C8B-B14F-4D97-AF65-F5344CB8AC3E}">
        <p14:creationId xmlns:p14="http://schemas.microsoft.com/office/powerpoint/2010/main" val="2051036455"/>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F6968AC-D12E-4AFC-B0C0-E7E600D25D3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Compare the side chains on both axes</a:t>
            </a:r>
          </a:p>
        </p:txBody>
      </p:sp>
      <p:graphicFrame>
        <p:nvGraphicFramePr>
          <p:cNvPr id="2" name="">
            <a:extLst xmlns:a="http://schemas.openxmlformats.org/drawingml/2006/main">
              <a:ext uri="{FF2B5EF4-FFF2-40B4-BE49-F238E27FC236}">
                <a16:creationId xmlns:a16="http://schemas.microsoft.com/office/drawing/2014/main" id="{F4EBA449-A6AB-44B2-80BB-675EBEE9D32A}"/>
              </a:ext>
            </a:extLst>
          </p:cNvPr>
          <p:cNvGraphicFramePr/>
          <p:nvPr/>
        </p:nvGraphicFramePr>
        <p:xfrm>
          <a:off xmlns:a="http://schemas.openxmlformats.org/drawingml/2006/main" x="647700" y="1866900"/>
          <a:ext xmlns:a="http://schemas.openxmlformats.org/drawingml/2006/main" cx="10896600" cy="2628900"/>
        </p:xfrm>
        <a:graphic xmlns:a="http://schemas.openxmlformats.org/drawingml/2006/main">
          <a:graphicData uri="http://schemas.openxmlformats.org/drawingml/2006/table">
            <a:tbl>
              <a:tblPr/>
              <a:tblGrid>
                <a:gridCol w="2724150"/>
                <a:gridCol w="2724150"/>
                <a:gridCol w="2724150"/>
                <a:gridCol w="2724150"/>
              </a:tblGrid>
              <a:tr h="1085850">
                <a:tc>
                  <a:txBody>
                    <a:bodyPr lIns="114300" tIns="114300" rIns="114300" bIns="114300">
                      <a:noAutofit/>
                    </a:bodyPr>
                    <a:lstStyle/>
                    <a:p>
                      <a:r>
                        <a:rPr sz="1800" b="1">
                          <a:solidFill>
                            <a:srgbClr val="FFFFFF"/>
                          </a:solidFill>
                          <a:latin typeface="DejaVu Sans"/>
                          <a:ea typeface="DejaVu Sans"/>
                          <a:cs typeface="DejaVu Sans"/>
                        </a:rPr>
                        <a:t>Proposed antibiotic → Suspected culprit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Ceftazidime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Aztreonam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800" b="1">
                          <a:solidFill>
                            <a:srgbClr val="FFFFFF"/>
                          </a:solidFill>
                          <a:latin typeface="DejaVu Sans"/>
                          <a:ea typeface="DejaVu Sans"/>
                          <a:cs typeface="DejaVu Sans"/>
                        </a:rPr>
                        <a:t>Meropenem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14350">
                <a:tc>
                  <a:txBody>
                    <a:bodyPr lIns="114300" tIns="114300" rIns="114300" bIns="114300">
                      <a:noAutofit/>
                    </a:bodyPr>
                    <a:lstStyle/>
                    <a:p>
                      <a:r>
                        <a:rPr sz="1800" b="0">
                          <a:solidFill>
                            <a:srgbClr val="16323B"/>
                          </a:solidFill>
                          <a:latin typeface="DejaVu Sans"/>
                          <a:ea typeface="DejaVu Sans"/>
                          <a:cs typeface="DejaVu Sans"/>
                        </a:rPr>
                        <a:t>Ceftazidime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I</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14350">
                <a:tc>
                  <a:txBody>
                    <a:bodyPr lIns="114300" tIns="114300" rIns="114300" bIns="114300">
                      <a:noAutofit/>
                    </a:bodyPr>
                    <a:lstStyle/>
                    <a:p>
                      <a:r>
                        <a:rPr sz="1800" b="0">
                          <a:solidFill>
                            <a:srgbClr val="16323B"/>
                          </a:solidFill>
                          <a:latin typeface="DejaVu Sans"/>
                          <a:ea typeface="DejaVu Sans"/>
                          <a:cs typeface="DejaVu Sans"/>
                        </a:rPr>
                        <a:t>Aztreonam</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I</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14350">
                <a:tc>
                  <a:txBody>
                    <a:bodyPr lIns="114300" tIns="114300" rIns="114300" bIns="114300">
                      <a:noAutofit/>
                    </a:bodyPr>
                    <a:lstStyle/>
                    <a:p>
                      <a:r>
                        <a:rPr sz="1800" b="0">
                          <a:solidFill>
                            <a:srgbClr val="16323B"/>
                          </a:solidFill>
                          <a:latin typeface="DejaVu Sans"/>
                          <a:ea typeface="DejaVu Sans"/>
                          <a:cs typeface="DejaVu Sans"/>
                        </a:rPr>
                        <a:t>Meropenem</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800" b="0">
                          <a:solidFill>
                            <a:srgbClr val="16323B"/>
                          </a:solidFill>
                          <a:latin typeface="DejaVu Sans"/>
                          <a:ea typeface="DejaVu Sans"/>
                          <a:cs typeface="DejaVu Sans"/>
                        </a:rPr>
                        <a: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40328D71-471A-40AF-A007-B495FF14AB5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08D86F43-F481-4503-99FD-24547D880BA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44</a:t>
            </a:r>
          </a:p>
        </p:txBody>
      </p:sp>
    </p:spTree>
    <p:extLst>
      <p:ext uri="{BB962C8B-B14F-4D97-AF65-F5344CB8AC3E}">
        <p14:creationId xmlns:p14="http://schemas.microsoft.com/office/powerpoint/2010/main" val="1696316863"/>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887B77A-0D62-4F93-B7FC-6A004B01452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Read the important pairings</a:t>
            </a:r>
          </a:p>
        </p:txBody>
      </p:sp>
      <p:sp>
        <p:nvSpPr>
          <p:cNvPr id="2" name="paragraph-0">
            <a:extLst xmlns:a="http://schemas.openxmlformats.org/drawingml/2006/main">
              <a:ext uri="{FF2B5EF4-FFF2-40B4-BE49-F238E27FC236}">
                <a16:creationId xmlns:a16="http://schemas.microsoft.com/office/drawing/2014/main" id="{42FED1CF-EA2C-423B-B020-B65B276BD405}"/>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Amoxicillin shares R1 with cefadroxil and cefprozil; ampicillin shares R1 with cephalexin and cefaclor. These two amino side-chain groups are related, which is why amoxicillin–cephalexin is marked S rather than I. Ceftriaxone, cefotaxime, cefpodoxime, and cefepime share R1; cefuroxime has related methoxyimino features. Ceftazidime and aztreonam share R1. [4] [7]</a:t>
            </a:r>
          </a:p>
        </p:txBody>
      </p:sp>
      <p:sp>
        <p:nvSpPr>
          <p:cNvPr id="3" name="footer">
            <a:extLst xmlns:a="http://schemas.openxmlformats.org/drawingml/2006/main">
              <a:ext uri="{FF2B5EF4-FFF2-40B4-BE49-F238E27FC236}">
                <a16:creationId xmlns:a16="http://schemas.microsoft.com/office/drawing/2014/main" id="{585C85F8-8464-4E51-8AA9-173DDF6BF84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31BDB238-BB85-40FC-BF18-7539C153221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45</a:t>
            </a:r>
          </a:p>
        </p:txBody>
      </p:sp>
    </p:spTree>
    <p:extLst>
      <p:ext uri="{BB962C8B-B14F-4D97-AF65-F5344CB8AC3E}">
        <p14:creationId xmlns:p14="http://schemas.microsoft.com/office/powerpoint/2010/main" val="1068560705"/>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5CBEADE-CDA9-477E-B179-F0A3A56179B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Cefazolin and carbapenems</a:t>
            </a:r>
          </a:p>
        </p:txBody>
      </p:sp>
      <p:sp>
        <p:nvSpPr>
          <p:cNvPr id="2" name="paragraph-0">
            <a:extLst xmlns:a="http://schemas.openxmlformats.org/drawingml/2006/main">
              <a:ext uri="{FF2B5EF4-FFF2-40B4-BE49-F238E27FC236}">
                <a16:creationId xmlns:a16="http://schemas.microsoft.com/office/drawing/2014/main" id="{5DA1EE97-D772-481B-86C1-DB20CB5D80B9}"/>
              </a:ext>
            </a:extLst>
          </p:cNvPr>
          <p:cNvSpPr>
            <a:spLocks xmlns:a="http://schemas.openxmlformats.org/drawingml/2006/main" noGrp="1"/>
          </p:cNvSpPr>
          <p:nvPr/>
        </p:nvSpPr>
        <p:spPr>
          <a:xfrm xmlns:a="http://schemas.openxmlformats.org/drawingml/2006/main">
            <a:off x="647700" y="1952625"/>
            <a:ext cx="108585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Cefazolin has no shared R1 side chain with the other drugs shown. A penicillin allergy alone does not establish cefazolin allergy. For meropenem (†), the 2022 parameter permits a carbapenem in patients with penicillin or cephalosporin allergy, including prior anaphylaxis, without routine preceding testing or additional precautions. That recommendation does not establish tolerance in someone with a carbapenem allergy or a severe delayed reaction. The aztreonam–meropenem cell is outside that specific recommendation. [4]</a:t>
            </a:r>
          </a:p>
        </p:txBody>
      </p:sp>
      <p:sp>
        <p:nvSpPr>
          <p:cNvPr id="3" name="footer">
            <a:extLst xmlns:a="http://schemas.openxmlformats.org/drawingml/2006/main">
              <a:ext uri="{FF2B5EF4-FFF2-40B4-BE49-F238E27FC236}">
                <a16:creationId xmlns:a16="http://schemas.microsoft.com/office/drawing/2014/main" id="{1DB55238-59B8-4E63-8B58-690F78B9654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C678274-1046-45FE-9E0E-DD41906C2CE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46</a:t>
            </a:r>
          </a:p>
        </p:txBody>
      </p:sp>
    </p:spTree>
    <p:extLst>
      <p:ext uri="{BB962C8B-B14F-4D97-AF65-F5344CB8AC3E}">
        <p14:creationId xmlns:p14="http://schemas.microsoft.com/office/powerpoint/2010/main" val="541143029"/>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3E7588F-3A94-4389-9A57-B08E642DF25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Cefazolin and carbapenems</a:t>
            </a:r>
          </a:p>
        </p:txBody>
      </p:sp>
      <p:sp>
        <p:nvSpPr>
          <p:cNvPr id="2" name="paragraph-0">
            <a:extLst xmlns:a="http://schemas.openxmlformats.org/drawingml/2006/main">
              <a:ext uri="{FF2B5EF4-FFF2-40B4-BE49-F238E27FC236}">
                <a16:creationId xmlns:a16="http://schemas.microsoft.com/office/drawing/2014/main" id="{DC76F7A5-1EBC-4A15-806C-BB9626933072}"/>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 not use this chart to select an unsupervised challenge after anaphylaxis, Stevens-Johnson syndrome/toxic epidermal necrolysis, DRESS, or serious immune-mediated organ injury. A history of cephalosporin anaphylaxis requires a separate evaluation even when the proposed cephalosporin has a different R1 side chain. [4]</a:t>
            </a:r>
          </a:p>
        </p:txBody>
      </p:sp>
      <p:sp>
        <p:nvSpPr>
          <p:cNvPr id="3" name="footer">
            <a:extLst xmlns:a="http://schemas.openxmlformats.org/drawingml/2006/main">
              <a:ext uri="{FF2B5EF4-FFF2-40B4-BE49-F238E27FC236}">
                <a16:creationId xmlns:a16="http://schemas.microsoft.com/office/drawing/2014/main" id="{B47F33B1-E433-49DB-BACA-DA32F0CFDCC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0F6CF26C-F6F4-461A-8042-E1E3610994A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47</a:t>
            </a:r>
          </a:p>
        </p:txBody>
      </p:sp>
    </p:spTree>
    <p:extLst>
      <p:ext uri="{BB962C8B-B14F-4D97-AF65-F5344CB8AC3E}">
        <p14:creationId xmlns:p14="http://schemas.microsoft.com/office/powerpoint/2010/main" val="1142103479"/>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ACE11BF-EB00-479D-B934-DE14DB2BF0F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Cefazolin and carbapenems</a:t>
            </a:r>
          </a:p>
        </p:txBody>
      </p:sp>
      <p:sp>
        <p:nvSpPr>
          <p:cNvPr id="2" name="paragraph-0">
            <a:extLst xmlns:a="http://schemas.openxmlformats.org/drawingml/2006/main">
              <a:ext uri="{FF2B5EF4-FFF2-40B4-BE49-F238E27FC236}">
                <a16:creationId xmlns:a16="http://schemas.microsoft.com/office/drawing/2014/main" id="{D6AFB73A-8DDA-40C0-A7CE-8835EF70E1E8}"/>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This is a teaching matrix, not a complete allergy clearance tool. It does not map R2 side chains, beta-lactamase inhibitor allergy, or other penicillins such as penicillin G/V, oxacillin, and piperacillin. Within-penicillin cross-reactivity can involve shared penicillin determinants. Published charts differ in how they classify partial structural similarities; an unmarked pair is not proof of tolerance. [4] [8]</a:t>
            </a:r>
          </a:p>
        </p:txBody>
      </p:sp>
      <p:sp>
        <p:nvSpPr>
          <p:cNvPr id="3" name="footer">
            <a:extLst xmlns:a="http://schemas.openxmlformats.org/drawingml/2006/main">
              <a:ext uri="{FF2B5EF4-FFF2-40B4-BE49-F238E27FC236}">
                <a16:creationId xmlns:a16="http://schemas.microsoft.com/office/drawing/2014/main" id="{316825F9-361A-43CF-ADC4-73532519B68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FA05EE6-521A-4E79-8B63-6E7A66ACE50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48</a:t>
            </a:r>
          </a:p>
        </p:txBody>
      </p:sp>
    </p:spTree>
    <p:extLst>
      <p:ext uri="{BB962C8B-B14F-4D97-AF65-F5344CB8AC3E}">
        <p14:creationId xmlns:p14="http://schemas.microsoft.com/office/powerpoint/2010/main" val="778198932"/>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E1174027-A4EC-4497-B98B-B75BDFC3565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Document what was tested and what the result means</a:t>
            </a:r>
          </a:p>
        </p:txBody>
      </p:sp>
      <p:sp>
        <p:nvSpPr>
          <p:cNvPr id="2" name="paragraph-0">
            <a:extLst xmlns:a="http://schemas.openxmlformats.org/drawingml/2006/main">
              <a:ext uri="{FF2B5EF4-FFF2-40B4-BE49-F238E27FC236}">
                <a16:creationId xmlns:a16="http://schemas.microsoft.com/office/drawing/2014/main" id="{71D50ED9-447C-4700-AEE6-FF202544D597}"/>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After a successful evaluation, update the allergy list as well as the note. Record the culprit history, drug and dose administered, date, observation period, and outcome. Document beta-lactams that were tolerated. Explain the result to the patient and communicate it to the next clinician. An uneventful immediate observation does not guarantee that no delayed rash will occur. [2] [4]</a:t>
            </a:r>
          </a:p>
        </p:txBody>
      </p:sp>
      <p:sp>
        <p:nvSpPr>
          <p:cNvPr id="3" name="paragraph-1">
            <a:extLst xmlns:a="http://schemas.openxmlformats.org/drawingml/2006/main">
              <a:ext uri="{FF2B5EF4-FFF2-40B4-BE49-F238E27FC236}">
                <a16:creationId xmlns:a16="http://schemas.microsoft.com/office/drawing/2014/main" id="{CE50EF68-5004-4FD4-9094-3440B7EC2139}"/>
              </a:ext>
            </a:extLst>
          </p:cNvPr>
          <p:cNvSpPr>
            <a:spLocks xmlns:a="http://schemas.openxmlformats.org/drawingml/2006/main" noGrp="1"/>
          </p:cNvSpPr>
          <p:nvPr/>
        </p:nvSpPr>
        <p:spPr>
          <a:xfrm xmlns:a="http://schemas.openxmlformats.org/drawingml/2006/main">
            <a:off x="647700" y="4324350"/>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If the same patient instead recalls blistering and oral ulcers, stop. A remote severe reaction is still a severe reaction. Avoid the culprit and obtain specialist guidance rather than using a low PEN-FAST score or a routine test dose.</a:t>
            </a:r>
          </a:p>
        </p:txBody>
      </p:sp>
      <p:sp>
        <p:nvSpPr>
          <p:cNvPr id="4" name="footer">
            <a:extLst xmlns:a="http://schemas.openxmlformats.org/drawingml/2006/main">
              <a:ext uri="{FF2B5EF4-FFF2-40B4-BE49-F238E27FC236}">
                <a16:creationId xmlns:a16="http://schemas.microsoft.com/office/drawing/2014/main" id="{53C91308-73F0-4EC2-9D32-54D751EFE4B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5F5AF311-CEBE-40A9-B6AC-6F37720FEC4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49</a:t>
            </a:r>
          </a:p>
        </p:txBody>
      </p:sp>
    </p:spTree>
    <p:extLst>
      <p:ext uri="{BB962C8B-B14F-4D97-AF65-F5344CB8AC3E}">
        <p14:creationId xmlns:p14="http://schemas.microsoft.com/office/powerpoint/2010/main" val="85330910"/>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0842FA2-2977-4620-9EBF-D66888923F7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Apply this on the next consult</a:t>
            </a:r>
          </a:p>
        </p:txBody>
      </p:sp>
      <p:sp>
        <p:nvSpPr>
          <p:cNvPr id="2" name="paragraph-0">
            <a:extLst xmlns:a="http://schemas.openxmlformats.org/drawingml/2006/main">
              <a:ext uri="{FF2B5EF4-FFF2-40B4-BE49-F238E27FC236}">
                <a16:creationId xmlns:a16="http://schemas.microsoft.com/office/drawing/2014/main" id="{C83C010C-9754-4F4B-9E9D-48FABA0673B8}"/>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Before prescribing, describe the reaction. Before challenging, check exclusions and the local protocol. After evaluation, correct the allergy record and explain the result.</a:t>
            </a:r>
          </a:p>
        </p:txBody>
      </p:sp>
      <p:sp>
        <p:nvSpPr>
          <p:cNvPr id="3" name="footer">
            <a:extLst xmlns:a="http://schemas.openxmlformats.org/drawingml/2006/main">
              <a:ext uri="{FF2B5EF4-FFF2-40B4-BE49-F238E27FC236}">
                <a16:creationId xmlns:a16="http://schemas.microsoft.com/office/drawing/2014/main" id="{ACD03169-C028-4E8D-9E81-12B43101387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DB46B5A-0624-436C-BB02-05796812F60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50</a:t>
            </a:r>
          </a:p>
        </p:txBody>
      </p:sp>
    </p:spTree>
    <p:extLst>
      <p:ext uri="{BB962C8B-B14F-4D97-AF65-F5344CB8AC3E}">
        <p14:creationId xmlns:p14="http://schemas.microsoft.com/office/powerpoint/2010/main" val="1191477208"/>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D7A9657-EE7B-464C-BD33-D21E07AAE96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Know what the validation studies did and did not establish</a:t>
            </a:r>
          </a:p>
        </p:txBody>
      </p:sp>
      <p:sp>
        <p:nvSpPr>
          <p:cNvPr id="2" name="paragraph-0">
            <a:extLst xmlns:a="http://schemas.openxmlformats.org/drawingml/2006/main">
              <a:ext uri="{FF2B5EF4-FFF2-40B4-BE49-F238E27FC236}">
                <a16:creationId xmlns:a16="http://schemas.microsoft.com/office/drawing/2014/main" id="{E2863AE3-89E4-4788-AA8E-601DD60EEF93}"/>
              </a:ext>
            </a:extLst>
          </p:cNvPr>
          <p:cNvSpPr>
            <a:spLocks xmlns:a="http://schemas.openxmlformats.org/drawingml/2006/main" noGrp="1"/>
          </p:cNvSpPr>
          <p:nvPr/>
        </p:nvSpPr>
        <p:spPr>
          <a:xfrm xmlns:a="http://schemas.openxmlformats.org/drawingml/2006/main">
            <a:off x="647700" y="1952625"/>
            <a:ext cx="108585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PEN-FAST is a clinical decision rule, not a complete allergy evaluation. A score below 3 had a negative predictive value of 96.3% in the original derivation and validation cohorts. The PALACE randomized trial found that direct oral challenge was noninferior to skin testing followed by challenge in carefully selected adults with PEN-FAST below 3. Neither study supports bypassing phenotype review, challenging patients with severe delayed reactions, or performing an unmonitored dose. [5] [6]</a:t>
            </a:r>
          </a:p>
        </p:txBody>
      </p:sp>
      <p:sp>
        <p:nvSpPr>
          <p:cNvPr id="3" name="footer">
            <a:extLst xmlns:a="http://schemas.openxmlformats.org/drawingml/2006/main">
              <a:ext uri="{FF2B5EF4-FFF2-40B4-BE49-F238E27FC236}">
                <a16:creationId xmlns:a16="http://schemas.microsoft.com/office/drawing/2014/main" id="{DDBFBFF0-96A3-4F17-B206-10CAF531BAB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E83E9EE-B59D-497F-9D48-8DA44371EBB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51</a:t>
            </a:r>
          </a:p>
        </p:txBody>
      </p:sp>
    </p:spTree>
    <p:extLst>
      <p:ext uri="{BB962C8B-B14F-4D97-AF65-F5344CB8AC3E}">
        <p14:creationId xmlns:p14="http://schemas.microsoft.com/office/powerpoint/2010/main" val="468565939"/>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80F3AFB-739B-4E7A-8107-05597D4CA62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Know what the validation studies did and did not establish</a:t>
            </a:r>
          </a:p>
        </p:txBody>
      </p:sp>
      <p:sp>
        <p:nvSpPr>
          <p:cNvPr id="2" name="paragraph-0">
            <a:extLst xmlns:a="http://schemas.openxmlformats.org/drawingml/2006/main">
              <a:ext uri="{FF2B5EF4-FFF2-40B4-BE49-F238E27FC236}">
                <a16:creationId xmlns:a16="http://schemas.microsoft.com/office/drawing/2014/main" id="{BA337B02-D930-4D93-B014-6173BB9FCB58}"/>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Side-chain charts are structural aids, not outcome calculators. Published charts disagree about some partial similarities. The most reliable high-yield pairings are amoxicillin with cefadroxil, ampicillin with cephalexin or cefaclor, and ceftazidime with aztreonam. Cefazolin has a unique R1 side chain. The reaction phenotype remains more important than a green cell on a chart. [4] [8]</a:t>
            </a:r>
          </a:p>
        </p:txBody>
      </p:sp>
      <p:sp>
        <p:nvSpPr>
          <p:cNvPr id="3" name="footer">
            <a:extLst xmlns:a="http://schemas.openxmlformats.org/drawingml/2006/main">
              <a:ext uri="{FF2B5EF4-FFF2-40B4-BE49-F238E27FC236}">
                <a16:creationId xmlns:a16="http://schemas.microsoft.com/office/drawing/2014/main" id="{2B8520E7-2355-416B-ACB6-44849DE28E3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959B538-4E5E-4808-995F-CCF5252F4F4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52</a:t>
            </a:r>
          </a:p>
        </p:txBody>
      </p:sp>
    </p:spTree>
    <p:extLst>
      <p:ext uri="{BB962C8B-B14F-4D97-AF65-F5344CB8AC3E}">
        <p14:creationId xmlns:p14="http://schemas.microsoft.com/office/powerpoint/2010/main" val="1261333294"/>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9924BA5-175F-41E6-BCEC-B5868DC8147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Know what the validation studies did and did not establish</a:t>
            </a:r>
          </a:p>
        </p:txBody>
      </p:sp>
      <p:sp>
        <p:nvSpPr>
          <p:cNvPr id="2" name="paragraph-0">
            <a:extLst xmlns:a="http://schemas.openxmlformats.org/drawingml/2006/main">
              <a:ext uri="{FF2B5EF4-FFF2-40B4-BE49-F238E27FC236}">
                <a16:creationId xmlns:a16="http://schemas.microsoft.com/office/drawing/2014/main" id="{B5FA66C6-C8A0-4A44-A5DC-BC84B619A91D}"/>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When the preferred drug is being withheld because of an allergy label, the consultant should state whether the concern is immediate allergy, severe delayed hypersensitivity, side-chain cross-reactivity, or simple uncertainty. That distinction determines whether the next step is routine administration, supervised challenge, skin testing, desensitization, or avoidance.</a:t>
            </a:r>
          </a:p>
        </p:txBody>
      </p:sp>
      <p:sp>
        <p:nvSpPr>
          <p:cNvPr id="3" name="footer">
            <a:extLst xmlns:a="http://schemas.openxmlformats.org/drawingml/2006/main">
              <a:ext uri="{FF2B5EF4-FFF2-40B4-BE49-F238E27FC236}">
                <a16:creationId xmlns:a16="http://schemas.microsoft.com/office/drawing/2014/main" id="{08CA58EC-01DD-41A9-BCEF-6B0602EFF1F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ABB887A-BD4D-4777-A672-69ABEC67DAF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53</a:t>
            </a:r>
          </a:p>
        </p:txBody>
      </p:sp>
    </p:spTree>
    <p:extLst>
      <p:ext uri="{BB962C8B-B14F-4D97-AF65-F5344CB8AC3E}">
        <p14:creationId xmlns:p14="http://schemas.microsoft.com/office/powerpoint/2010/main" val="820823487"/>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1DF3522-83EF-489D-9475-3451767383A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further reading</a:t>
            </a:r>
          </a:p>
        </p:txBody>
      </p:sp>
      <p:sp>
        <p:nvSpPr>
          <p:cNvPr id="2" name="paragraph-0">
            <a:extLst xmlns:a="http://schemas.openxmlformats.org/drawingml/2006/main">
              <a:ext uri="{FF2B5EF4-FFF2-40B4-BE49-F238E27FC236}">
                <a16:creationId xmlns:a16="http://schemas.microsoft.com/office/drawing/2014/main" id="{375C6114-593D-4D46-AA3C-D069B0413C56}"/>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1. CDC. Clinical features of penicillin allergy. 2025.</a:t>
            </a:r>
          </a:p>
        </p:txBody>
      </p:sp>
      <p:sp>
        <p:nvSpPr>
          <p:cNvPr id="3" name="footer">
            <a:extLst xmlns:a="http://schemas.openxmlformats.org/drawingml/2006/main">
              <a:ext uri="{FF2B5EF4-FFF2-40B4-BE49-F238E27FC236}">
                <a16:creationId xmlns:a16="http://schemas.microsoft.com/office/drawing/2014/main" id="{2CF5DE56-6D48-4086-B457-2665D1768D1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D3862D04-F4B1-41E3-85E7-48A44AB1A4A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54</a:t>
            </a:r>
          </a:p>
        </p:txBody>
      </p:sp>
    </p:spTree>
    <p:extLst>
      <p:ext uri="{BB962C8B-B14F-4D97-AF65-F5344CB8AC3E}">
        <p14:creationId xmlns:p14="http://schemas.microsoft.com/office/powerpoint/2010/main" val="2116835082"/>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9DC8486-3867-4E4B-B7CA-162A2846D69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further reading</a:t>
            </a:r>
          </a:p>
        </p:txBody>
      </p:sp>
      <p:sp>
        <p:nvSpPr>
          <p:cNvPr id="2" name="paragraph-0">
            <a:extLst xmlns:a="http://schemas.openxmlformats.org/drawingml/2006/main">
              <a:ext uri="{FF2B5EF4-FFF2-40B4-BE49-F238E27FC236}">
                <a16:creationId xmlns:a16="http://schemas.microsoft.com/office/drawing/2014/main" id="{5000EE8C-4500-44D9-B721-CC84ABB7E0EE}"/>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2. AAAAI. Penicillin allergy evaluation should be performed proactively. 2023 position statement.</a:t>
            </a:r>
          </a:p>
        </p:txBody>
      </p:sp>
      <p:sp>
        <p:nvSpPr>
          <p:cNvPr id="3" name="footer">
            <a:extLst xmlns:a="http://schemas.openxmlformats.org/drawingml/2006/main">
              <a:ext uri="{FF2B5EF4-FFF2-40B4-BE49-F238E27FC236}">
                <a16:creationId xmlns:a16="http://schemas.microsoft.com/office/drawing/2014/main" id="{4ECC22AD-2764-4AC2-9F50-6C75D73DAE1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FC1BC190-D94E-4871-B066-83095B4FF14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55</a:t>
            </a:r>
          </a:p>
        </p:txBody>
      </p:sp>
    </p:spTree>
    <p:extLst>
      <p:ext uri="{BB962C8B-B14F-4D97-AF65-F5344CB8AC3E}">
        <p14:creationId xmlns:p14="http://schemas.microsoft.com/office/powerpoint/2010/main" val="2099269478"/>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34EA428-14EE-41E6-A7B0-0CB6C0C167D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further reading</a:t>
            </a:r>
          </a:p>
        </p:txBody>
      </p:sp>
      <p:sp>
        <p:nvSpPr>
          <p:cNvPr id="2" name="paragraph-0">
            <a:extLst xmlns:a="http://schemas.openxmlformats.org/drawingml/2006/main">
              <a:ext uri="{FF2B5EF4-FFF2-40B4-BE49-F238E27FC236}">
                <a16:creationId xmlns:a16="http://schemas.microsoft.com/office/drawing/2014/main" id="{C1D0A004-73E6-4E6D-AE50-7AE5AC7B27A3}"/>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3. CDC. Managing persons who have a history of penicillin allergy. STI Treatment Guidelines.</a:t>
            </a:r>
          </a:p>
        </p:txBody>
      </p:sp>
      <p:sp>
        <p:nvSpPr>
          <p:cNvPr id="3" name="footer">
            <a:extLst xmlns:a="http://schemas.openxmlformats.org/drawingml/2006/main">
              <a:ext uri="{FF2B5EF4-FFF2-40B4-BE49-F238E27FC236}">
                <a16:creationId xmlns:a16="http://schemas.microsoft.com/office/drawing/2014/main" id="{7A0A8075-E6E5-44C5-A995-31612E57CA7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30F35359-9AA9-4A66-B165-7B664CA572B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56</a:t>
            </a:r>
          </a:p>
        </p:txBody>
      </p:sp>
    </p:spTree>
    <p:extLst>
      <p:ext uri="{BB962C8B-B14F-4D97-AF65-F5344CB8AC3E}">
        <p14:creationId xmlns:p14="http://schemas.microsoft.com/office/powerpoint/2010/main" val="1236800404"/>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B41CA19-4624-46E0-8E65-94B5DA1840A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further reading</a:t>
            </a:r>
          </a:p>
        </p:txBody>
      </p:sp>
      <p:sp>
        <p:nvSpPr>
          <p:cNvPr id="2" name="paragraph-0">
            <a:extLst xmlns:a="http://schemas.openxmlformats.org/drawingml/2006/main">
              <a:ext uri="{FF2B5EF4-FFF2-40B4-BE49-F238E27FC236}">
                <a16:creationId xmlns:a16="http://schemas.microsoft.com/office/drawing/2014/main" id="{3F83BFE5-0010-4A89-802D-0C6EDCAF1EFA}"/>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4. Khan DA, et al. Drug allergy: A 2022 practice parameter update. J Allergy Clin Immunol. Published December 2022.</a:t>
            </a:r>
          </a:p>
        </p:txBody>
      </p:sp>
      <p:sp>
        <p:nvSpPr>
          <p:cNvPr id="3" name="footer">
            <a:extLst xmlns:a="http://schemas.openxmlformats.org/drawingml/2006/main">
              <a:ext uri="{FF2B5EF4-FFF2-40B4-BE49-F238E27FC236}">
                <a16:creationId xmlns:a16="http://schemas.microsoft.com/office/drawing/2014/main" id="{F79C4553-FAEC-4274-B2A7-77922342F63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ADBADE59-180C-429F-A7CB-82B76F92554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57</a:t>
            </a:r>
          </a:p>
        </p:txBody>
      </p:sp>
    </p:spTree>
    <p:extLst>
      <p:ext uri="{BB962C8B-B14F-4D97-AF65-F5344CB8AC3E}">
        <p14:creationId xmlns:p14="http://schemas.microsoft.com/office/powerpoint/2010/main" val="519790420"/>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AEE7511-61A6-48C1-8A28-C225B98724D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further reading</a:t>
            </a:r>
          </a:p>
        </p:txBody>
      </p:sp>
      <p:sp>
        <p:nvSpPr>
          <p:cNvPr id="2" name="paragraph-0">
            <a:extLst xmlns:a="http://schemas.openxmlformats.org/drawingml/2006/main">
              <a:ext uri="{FF2B5EF4-FFF2-40B4-BE49-F238E27FC236}">
                <a16:creationId xmlns:a16="http://schemas.microsoft.com/office/drawing/2014/main" id="{FEDC950C-98DD-4A47-B7D8-05DC518E1348}"/>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5. Trubiano JA, et al. Development and validation of PEN-FAST. JAMA Intern Med. Published March 16, 2020.</a:t>
            </a:r>
          </a:p>
        </p:txBody>
      </p:sp>
      <p:sp>
        <p:nvSpPr>
          <p:cNvPr id="3" name="footer">
            <a:extLst xmlns:a="http://schemas.openxmlformats.org/drawingml/2006/main">
              <a:ext uri="{FF2B5EF4-FFF2-40B4-BE49-F238E27FC236}">
                <a16:creationId xmlns:a16="http://schemas.microsoft.com/office/drawing/2014/main" id="{61DEE670-FFB9-4934-ACC8-089A93B10A1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12C1593D-2D7C-4800-85D8-ADB90111612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58</a:t>
            </a:r>
          </a:p>
        </p:txBody>
      </p:sp>
    </p:spTree>
    <p:extLst>
      <p:ext uri="{BB962C8B-B14F-4D97-AF65-F5344CB8AC3E}">
        <p14:creationId xmlns:p14="http://schemas.microsoft.com/office/powerpoint/2010/main" val="700434173"/>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496A319-F7AF-4A57-BECF-DDBCE99FA00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further reading</a:t>
            </a:r>
          </a:p>
        </p:txBody>
      </p:sp>
      <p:sp>
        <p:nvSpPr>
          <p:cNvPr id="2" name="paragraph-0">
            <a:extLst xmlns:a="http://schemas.openxmlformats.org/drawingml/2006/main">
              <a:ext uri="{FF2B5EF4-FFF2-40B4-BE49-F238E27FC236}">
                <a16:creationId xmlns:a16="http://schemas.microsoft.com/office/drawing/2014/main" id="{F1D0ECBA-3C9E-4393-BD94-6BE8FE20EB58}"/>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6. Copaescu AM, et al. PALACE randomized clinical trial. JAMA Intern Med. Published July 17, 2023.</a:t>
            </a:r>
          </a:p>
        </p:txBody>
      </p:sp>
      <p:sp>
        <p:nvSpPr>
          <p:cNvPr id="3" name="footer">
            <a:extLst xmlns:a="http://schemas.openxmlformats.org/drawingml/2006/main">
              <a:ext uri="{FF2B5EF4-FFF2-40B4-BE49-F238E27FC236}">
                <a16:creationId xmlns:a16="http://schemas.microsoft.com/office/drawing/2014/main" id="{8EA7DFEA-5D33-4FCF-842D-E0A149F550B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EFA234D3-1AE4-42A9-AB66-F355554241D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59</a:t>
            </a:r>
          </a:p>
        </p:txBody>
      </p:sp>
    </p:spTree>
    <p:extLst>
      <p:ext uri="{BB962C8B-B14F-4D97-AF65-F5344CB8AC3E}">
        <p14:creationId xmlns:p14="http://schemas.microsoft.com/office/powerpoint/2010/main" val="1260364536"/>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06B4E37-7BEE-449B-B35C-532C3D90F1A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further reading</a:t>
            </a:r>
          </a:p>
        </p:txBody>
      </p:sp>
      <p:sp>
        <p:nvSpPr>
          <p:cNvPr id="2" name="paragraph-0">
            <a:extLst xmlns:a="http://schemas.openxmlformats.org/drawingml/2006/main">
              <a:ext uri="{FF2B5EF4-FFF2-40B4-BE49-F238E27FC236}">
                <a16:creationId xmlns:a16="http://schemas.microsoft.com/office/drawing/2014/main" id="{1E16D915-C744-4BE8-99DB-7E13EBED3692}"/>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7. Northwestern Medicine Antimicrobial Stewardship Program. Beta-lactam cross-reactivity side-chain chart. Accessed September 27, 2026. The teaching matrix uses an original layout and legend.</a:t>
            </a:r>
          </a:p>
        </p:txBody>
      </p:sp>
      <p:sp>
        <p:nvSpPr>
          <p:cNvPr id="3" name="footer">
            <a:extLst xmlns:a="http://schemas.openxmlformats.org/drawingml/2006/main">
              <a:ext uri="{FF2B5EF4-FFF2-40B4-BE49-F238E27FC236}">
                <a16:creationId xmlns:a16="http://schemas.microsoft.com/office/drawing/2014/main" id="{8D16187C-B11F-4A18-B4E3-AF973215739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E73A5B07-31C7-4A19-9F69-64815A8239E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60</a:t>
            </a:r>
          </a:p>
        </p:txBody>
      </p:sp>
    </p:spTree>
    <p:extLst>
      <p:ext uri="{BB962C8B-B14F-4D97-AF65-F5344CB8AC3E}">
        <p14:creationId xmlns:p14="http://schemas.microsoft.com/office/powerpoint/2010/main" val="726520211"/>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CFF4325-F668-4250-994D-25B4F0A93D6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further reading</a:t>
            </a:r>
          </a:p>
        </p:txBody>
      </p:sp>
      <p:sp>
        <p:nvSpPr>
          <p:cNvPr id="2" name="paragraph-0">
            <a:extLst xmlns:a="http://schemas.openxmlformats.org/drawingml/2006/main">
              <a:ext uri="{FF2B5EF4-FFF2-40B4-BE49-F238E27FC236}">
                <a16:creationId xmlns:a16="http://schemas.microsoft.com/office/drawing/2014/main" id="{4349E43C-ACB3-4290-9D33-D05C1ED5F40E}"/>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8. Hutten EM, et al. Discrepancies in beta-lactam antibiotic cross-reactivity charts: implications for clinical practice. Allergy. 2025;80:3108-3114.</a:t>
            </a:r>
          </a:p>
        </p:txBody>
      </p:sp>
      <p:sp>
        <p:nvSpPr>
          <p:cNvPr id="3" name="footer">
            <a:extLst xmlns:a="http://schemas.openxmlformats.org/drawingml/2006/main">
              <a:ext uri="{FF2B5EF4-FFF2-40B4-BE49-F238E27FC236}">
                <a16:creationId xmlns:a16="http://schemas.microsoft.com/office/drawing/2014/main" id="{04046DDD-F5E5-4791-971E-60F6766D732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E996742E-5AF3-432A-A597-8682DA07370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61</a:t>
            </a:r>
          </a:p>
        </p:txBody>
      </p:sp>
    </p:spTree>
    <p:extLst>
      <p:ext uri="{BB962C8B-B14F-4D97-AF65-F5344CB8AC3E}">
        <p14:creationId xmlns:p14="http://schemas.microsoft.com/office/powerpoint/2010/main" val="1480355696"/>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176D031-B0E8-4B50-81A5-99B3E73B42F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further reading</a:t>
            </a:r>
          </a:p>
        </p:txBody>
      </p:sp>
      <p:sp>
        <p:nvSpPr>
          <p:cNvPr id="2" name="paragraph-0">
            <a:extLst xmlns:a="http://schemas.openxmlformats.org/drawingml/2006/main">
              <a:ext uri="{FF2B5EF4-FFF2-40B4-BE49-F238E27FC236}">
                <a16:creationId xmlns:a16="http://schemas.microsoft.com/office/drawing/2014/main" id="{2A4D1EEE-22E8-485C-87F0-94C2C86A2194}"/>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Teaching cases are fictional. Recommendations are paraphrased from public sources and aligned with the current BJC workflow described in this module. Confirm the active local pathway before testing, challenging, or desensitizing a patient.</a:t>
            </a:r>
          </a:p>
        </p:txBody>
      </p:sp>
      <p:sp>
        <p:nvSpPr>
          <p:cNvPr id="3" name="footer">
            <a:extLst xmlns:a="http://schemas.openxmlformats.org/drawingml/2006/main">
              <a:ext uri="{FF2B5EF4-FFF2-40B4-BE49-F238E27FC236}">
                <a16:creationId xmlns:a16="http://schemas.microsoft.com/office/drawing/2014/main" id="{14F43806-C227-4F35-A93C-CC2B4CA35D2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D6F869DE-5D76-400E-A4E1-3013F96932B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62</a:t>
            </a:r>
          </a:p>
        </p:txBody>
      </p:sp>
    </p:spTree>
    <p:extLst>
      <p:ext uri="{BB962C8B-B14F-4D97-AF65-F5344CB8AC3E}">
        <p14:creationId xmlns:p14="http://schemas.microsoft.com/office/powerpoint/2010/main" val="18450639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2026-10-28T18:29:32.3460000Z</dcterms:created>
  <dcterms:modified xsi:type="dcterms:W3CDTF">2026-10-28T18:29:32.3460000Z</dcterms:modified>
</coreProperties>
</file>