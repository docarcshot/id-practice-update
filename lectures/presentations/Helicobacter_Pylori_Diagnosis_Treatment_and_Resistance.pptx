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9ffae32149490c" /><Relationship Type="http://schemas.openxmlformats.org/officeDocument/2006/relationships/extended-properties" Target="/docProps/app.xml" Id="R0d28467442214acf" /><Relationship Type="http://schemas.openxmlformats.org/officeDocument/2006/relationships/officeDocument" Target="/ppt/presentation.xml" Id="Rd931fc23a6294b57" /></Relationships>
</file>

<file path=ppt/presentation.xml><?xml version="1.0" encoding="utf-8"?>
<p:presentation xmlns:p="http://schemas.openxmlformats.org/presentationml/2006/main">
  <p:sldMasterIdLst>
    <p:sldMasterId xmlns:r="http://schemas.openxmlformats.org/officeDocument/2006/relationships" id="2147483648" r:id="R088909fb049d43ef"/>
  </p:sldMasterIdLst>
  <p:notesMasterIdLst>
    <p:notesMasterId xmlns:r="http://schemas.openxmlformats.org/officeDocument/2006/relationships" r:id="R5bb3b9f7c8784dce"/>
  </p:notesMasterIdLst>
  <p:sldIdLst>
    <p:sldId xmlns:r="http://schemas.openxmlformats.org/officeDocument/2006/relationships" id="256" r:id="R840f3c938bbd4886"/>
    <p:sldId xmlns:r="http://schemas.openxmlformats.org/officeDocument/2006/relationships" id="257" r:id="R3ca02c6f825541f4"/>
    <p:sldId xmlns:r="http://schemas.openxmlformats.org/officeDocument/2006/relationships" id="258" r:id="R6e5cd61012d44e78"/>
    <p:sldId xmlns:r="http://schemas.openxmlformats.org/officeDocument/2006/relationships" id="259" r:id="Rf7310a2b2d044237"/>
    <p:sldId xmlns:r="http://schemas.openxmlformats.org/officeDocument/2006/relationships" id="260" r:id="Rd91296c3fa4b4d9c"/>
    <p:sldId xmlns:r="http://schemas.openxmlformats.org/officeDocument/2006/relationships" id="261" r:id="Re8344108358c408a"/>
    <p:sldId xmlns:r="http://schemas.openxmlformats.org/officeDocument/2006/relationships" id="262" r:id="R3535c8effd584fbb"/>
    <p:sldId xmlns:r="http://schemas.openxmlformats.org/officeDocument/2006/relationships" id="263" r:id="Rb19d622a9b8c478f"/>
    <p:sldId xmlns:r="http://schemas.openxmlformats.org/officeDocument/2006/relationships" id="264" r:id="R649475ab522a4c46"/>
    <p:sldId xmlns:r="http://schemas.openxmlformats.org/officeDocument/2006/relationships" id="265" r:id="Rf51343a3d8ef4b50"/>
    <p:sldId xmlns:r="http://schemas.openxmlformats.org/officeDocument/2006/relationships" id="266" r:id="R9da0797fa1904bda"/>
    <p:sldId xmlns:r="http://schemas.openxmlformats.org/officeDocument/2006/relationships" id="267" r:id="Ra7db663a8ee042b3"/>
    <p:sldId xmlns:r="http://schemas.openxmlformats.org/officeDocument/2006/relationships" id="268" r:id="R6228f30ce9cf4abf"/>
    <p:sldId xmlns:r="http://schemas.openxmlformats.org/officeDocument/2006/relationships" id="269" r:id="R2a12fb266a93493f"/>
    <p:sldId xmlns:r="http://schemas.openxmlformats.org/officeDocument/2006/relationships" id="270" r:id="R72816db3ea9b400d"/>
    <p:sldId xmlns:r="http://schemas.openxmlformats.org/officeDocument/2006/relationships" id="271" r:id="R4aaa4ce392f94526"/>
    <p:sldId xmlns:r="http://schemas.openxmlformats.org/officeDocument/2006/relationships" id="272" r:id="R617d58a5517146b8"/>
    <p:sldId xmlns:r="http://schemas.openxmlformats.org/officeDocument/2006/relationships" id="273" r:id="R16895a486da44efa"/>
    <p:sldId xmlns:r="http://schemas.openxmlformats.org/officeDocument/2006/relationships" id="274" r:id="R998167e027734edc"/>
    <p:sldId xmlns:r="http://schemas.openxmlformats.org/officeDocument/2006/relationships" id="275" r:id="R0f3f19e5beaf4581"/>
    <p:sldId xmlns:r="http://schemas.openxmlformats.org/officeDocument/2006/relationships" id="276" r:id="R78be2e0898734bf1"/>
    <p:sldId xmlns:r="http://schemas.openxmlformats.org/officeDocument/2006/relationships" id="277" r:id="R10dfbd48f27e4504"/>
    <p:sldId xmlns:r="http://schemas.openxmlformats.org/officeDocument/2006/relationships" id="278" r:id="R05ccaf46905d4004"/>
    <p:sldId xmlns:r="http://schemas.openxmlformats.org/officeDocument/2006/relationships" id="279" r:id="R675aed3fe30a4e43"/>
    <p:sldId xmlns:r="http://schemas.openxmlformats.org/officeDocument/2006/relationships" id="280" r:id="R25b076affc264c94"/>
    <p:sldId xmlns:r="http://schemas.openxmlformats.org/officeDocument/2006/relationships" id="281" r:id="R8ee2bb76acd24f38"/>
    <p:sldId xmlns:r="http://schemas.openxmlformats.org/officeDocument/2006/relationships" id="282" r:id="Rf7fdd10e2f8d45f4"/>
    <p:sldId xmlns:r="http://schemas.openxmlformats.org/officeDocument/2006/relationships" id="283" r:id="R367dcef0901b4c2c"/>
    <p:sldId xmlns:r="http://schemas.openxmlformats.org/officeDocument/2006/relationships" id="284" r:id="R31df4a51017c4eea"/>
    <p:sldId xmlns:r="http://schemas.openxmlformats.org/officeDocument/2006/relationships" id="285" r:id="R9b3dc74fbbaf4038"/>
    <p:sldId xmlns:r="http://schemas.openxmlformats.org/officeDocument/2006/relationships" id="286" r:id="Rc7ba7473b021427f"/>
    <p:sldId xmlns:r="http://schemas.openxmlformats.org/officeDocument/2006/relationships" id="287" r:id="R3c788b6038cd4de5"/>
    <p:sldId xmlns:r="http://schemas.openxmlformats.org/officeDocument/2006/relationships" id="288" r:id="R95dd693503174528"/>
    <p:sldId xmlns:r="http://schemas.openxmlformats.org/officeDocument/2006/relationships" id="289" r:id="R7493c2d415624971"/>
    <p:sldId xmlns:r="http://schemas.openxmlformats.org/officeDocument/2006/relationships" id="290" r:id="R0f2771c259854372"/>
    <p:sldId xmlns:r="http://schemas.openxmlformats.org/officeDocument/2006/relationships" id="291" r:id="R1caf931a05e84623"/>
    <p:sldId xmlns:r="http://schemas.openxmlformats.org/officeDocument/2006/relationships" id="292" r:id="R6c7b3b65bd714919"/>
    <p:sldId xmlns:r="http://schemas.openxmlformats.org/officeDocument/2006/relationships" id="293" r:id="Ra2d0473aea824b0b"/>
    <p:sldId xmlns:r="http://schemas.openxmlformats.org/officeDocument/2006/relationships" id="294" r:id="R1711d8d619644a9b"/>
    <p:sldId xmlns:r="http://schemas.openxmlformats.org/officeDocument/2006/relationships" id="295" r:id="Rdaf19b8ee32f44c9"/>
    <p:sldId xmlns:r="http://schemas.openxmlformats.org/officeDocument/2006/relationships" id="296" r:id="Rc036f61e2fbb46da"/>
    <p:sldId xmlns:r="http://schemas.openxmlformats.org/officeDocument/2006/relationships" id="297" r:id="R6589563808b2408b"/>
    <p:sldId xmlns:r="http://schemas.openxmlformats.org/officeDocument/2006/relationships" id="298" r:id="R2d21832e432d4e0e"/>
    <p:sldId xmlns:r="http://schemas.openxmlformats.org/officeDocument/2006/relationships" id="299" r:id="Rb4c22eff545d4d7e"/>
    <p:sldId xmlns:r="http://schemas.openxmlformats.org/officeDocument/2006/relationships" id="300" r:id="R1052e65f5ef6408c"/>
    <p:sldId xmlns:r="http://schemas.openxmlformats.org/officeDocument/2006/relationships" id="301" r:id="R562606f9dd814cf1"/>
    <p:sldId xmlns:r="http://schemas.openxmlformats.org/officeDocument/2006/relationships" id="302" r:id="R5556f83c1d9b4eb2"/>
    <p:sldId xmlns:r="http://schemas.openxmlformats.org/officeDocument/2006/relationships" id="303" r:id="Rddfcab7fdfb14e94"/>
    <p:sldId xmlns:r="http://schemas.openxmlformats.org/officeDocument/2006/relationships" id="304" r:id="R027954d8ddbd4368"/>
    <p:sldId xmlns:r="http://schemas.openxmlformats.org/officeDocument/2006/relationships" id="305" r:id="Rb63eccb598d74fe6"/>
    <p:sldId xmlns:r="http://schemas.openxmlformats.org/officeDocument/2006/relationships" id="306" r:id="Red7c41bb419744a2"/>
    <p:sldId xmlns:r="http://schemas.openxmlformats.org/officeDocument/2006/relationships" id="307" r:id="R3046a2ea7216434c"/>
    <p:sldId xmlns:r="http://schemas.openxmlformats.org/officeDocument/2006/relationships" id="308" r:id="R188d966f905c4de5"/>
    <p:sldId xmlns:r="http://schemas.openxmlformats.org/officeDocument/2006/relationships" id="309" r:id="Re54d765b5bb34b48"/>
    <p:sldId xmlns:r="http://schemas.openxmlformats.org/officeDocument/2006/relationships" id="310" r:id="R442b687d15c84a8b"/>
    <p:sldId xmlns:r="http://schemas.openxmlformats.org/officeDocument/2006/relationships" id="311" r:id="Ra44ca464c5cf4f52"/>
    <p:sldId xmlns:r="http://schemas.openxmlformats.org/officeDocument/2006/relationships" id="312" r:id="R491599edccec4a5b"/>
    <p:sldId xmlns:r="http://schemas.openxmlformats.org/officeDocument/2006/relationships" id="313" r:id="R4ff220e10b894c9f"/>
    <p:sldId xmlns:r="http://schemas.openxmlformats.org/officeDocument/2006/relationships" id="314" r:id="R016fb31e40ea47d8"/>
    <p:sldId xmlns:r="http://schemas.openxmlformats.org/officeDocument/2006/relationships" id="315" r:id="R79ac31dd949a4c25"/>
    <p:sldId xmlns:r="http://schemas.openxmlformats.org/officeDocument/2006/relationships" id="316" r:id="R18813ae4d52d4e6a"/>
    <p:sldId xmlns:r="http://schemas.openxmlformats.org/officeDocument/2006/relationships" id="317" r:id="R774e235a374946f9"/>
    <p:sldId xmlns:r="http://schemas.openxmlformats.org/officeDocument/2006/relationships" id="318" r:id="Re2433d5d23d4419f"/>
    <p:sldId xmlns:r="http://schemas.openxmlformats.org/officeDocument/2006/relationships" id="319" r:id="Rc800ad4bbf2a43f1"/>
    <p:sldId xmlns:r="http://schemas.openxmlformats.org/officeDocument/2006/relationships" id="320" r:id="R21e14bcab8f34a59"/>
    <p:sldId xmlns:r="http://schemas.openxmlformats.org/officeDocument/2006/relationships" id="321" r:id="Rcf6e3b02c6174653"/>
    <p:sldId xmlns:r="http://schemas.openxmlformats.org/officeDocument/2006/relationships" id="322" r:id="Radb52af9f3d740d4"/>
    <p:sldId xmlns:r="http://schemas.openxmlformats.org/officeDocument/2006/relationships" id="323" r:id="R4fc967a72f814942"/>
    <p:sldId xmlns:r="http://schemas.openxmlformats.org/officeDocument/2006/relationships" id="324" r:id="R461e629ff8c444db"/>
    <p:sldId xmlns:r="http://schemas.openxmlformats.org/officeDocument/2006/relationships" id="325" r:id="R6c5f33116f6b43bf"/>
    <p:sldId xmlns:r="http://schemas.openxmlformats.org/officeDocument/2006/relationships" id="326" r:id="Re1e7bb1e639e4f40"/>
    <p:sldId xmlns:r="http://schemas.openxmlformats.org/officeDocument/2006/relationships" id="327" r:id="R2a680b892e0340b5"/>
    <p:sldId xmlns:r="http://schemas.openxmlformats.org/officeDocument/2006/relationships" id="328" r:id="R1cad3c679dd44e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d06be09beb4b8d" /><Relationship Type="http://schemas.openxmlformats.org/officeDocument/2006/relationships/slideMaster" Target="/ppt/slideMasters/slideMaster1.xml" Id="R088909fb049d43ef" /><Relationship Type="http://schemas.openxmlformats.org/officeDocument/2006/relationships/notesMaster" Target="/ppt/notesMasters/notesMaster1.xml" Id="R5bb3b9f7c8784dce" /><Relationship Type="http://schemas.openxmlformats.org/officeDocument/2006/relationships/presProps" Target="/ppt/presProps.xml" Id="Rab978e050b6b41e4" /><Relationship Type="http://schemas.openxmlformats.org/officeDocument/2006/relationships/tableStyles" Target="/ppt/tableStyles.xml" Id="R95ad1301e5c04ad3" /><Relationship Type="http://schemas.openxmlformats.org/officeDocument/2006/relationships/slide" Target="/ppt/slides/slide1.xml" Id="R840f3c938bbd4886" /><Relationship Type="http://schemas.openxmlformats.org/officeDocument/2006/relationships/slide" Target="/ppt/slides/slide2.xml" Id="R3ca02c6f825541f4" /><Relationship Type="http://schemas.openxmlformats.org/officeDocument/2006/relationships/slide" Target="/ppt/slides/slide3.xml" Id="R6e5cd61012d44e78" /><Relationship Type="http://schemas.openxmlformats.org/officeDocument/2006/relationships/slide" Target="/ppt/slides/slide4.xml" Id="Rf7310a2b2d044237" /><Relationship Type="http://schemas.openxmlformats.org/officeDocument/2006/relationships/slide" Target="/ppt/slides/slide5.xml" Id="Rd91296c3fa4b4d9c" /><Relationship Type="http://schemas.openxmlformats.org/officeDocument/2006/relationships/slide" Target="/ppt/slides/slide6.xml" Id="Re8344108358c408a" /><Relationship Type="http://schemas.openxmlformats.org/officeDocument/2006/relationships/slide" Target="/ppt/slides/slide7.xml" Id="R3535c8effd584fbb" /><Relationship Type="http://schemas.openxmlformats.org/officeDocument/2006/relationships/slide" Target="/ppt/slides/slide8.xml" Id="Rb19d622a9b8c478f" /><Relationship Type="http://schemas.openxmlformats.org/officeDocument/2006/relationships/slide" Target="/ppt/slides/slide9.xml" Id="R649475ab522a4c46" /><Relationship Type="http://schemas.openxmlformats.org/officeDocument/2006/relationships/slide" Target="/ppt/slides/slide10.xml" Id="Rf51343a3d8ef4b50" /><Relationship Type="http://schemas.openxmlformats.org/officeDocument/2006/relationships/slide" Target="/ppt/slides/slide11.xml" Id="R9da0797fa1904bda" /><Relationship Type="http://schemas.openxmlformats.org/officeDocument/2006/relationships/slide" Target="/ppt/slides/slide12.xml" Id="Ra7db663a8ee042b3" /><Relationship Type="http://schemas.openxmlformats.org/officeDocument/2006/relationships/slide" Target="/ppt/slides/slide13.xml" Id="R6228f30ce9cf4abf" /><Relationship Type="http://schemas.openxmlformats.org/officeDocument/2006/relationships/slide" Target="/ppt/slides/slide14.xml" Id="R2a12fb266a93493f" /><Relationship Type="http://schemas.openxmlformats.org/officeDocument/2006/relationships/slide" Target="/ppt/slides/slide15.xml" Id="R72816db3ea9b400d" /><Relationship Type="http://schemas.openxmlformats.org/officeDocument/2006/relationships/slide" Target="/ppt/slides/slide16.xml" Id="R4aaa4ce392f94526" /><Relationship Type="http://schemas.openxmlformats.org/officeDocument/2006/relationships/slide" Target="/ppt/slides/slide17.xml" Id="R617d58a5517146b8" /><Relationship Type="http://schemas.openxmlformats.org/officeDocument/2006/relationships/slide" Target="/ppt/slides/slide18.xml" Id="R16895a486da44efa" /><Relationship Type="http://schemas.openxmlformats.org/officeDocument/2006/relationships/slide" Target="/ppt/slides/slide19.xml" Id="R998167e027734edc" /><Relationship Type="http://schemas.openxmlformats.org/officeDocument/2006/relationships/slide" Target="/ppt/slides/slide20.xml" Id="R0f3f19e5beaf4581" /><Relationship Type="http://schemas.openxmlformats.org/officeDocument/2006/relationships/slide" Target="/ppt/slides/slide21.xml" Id="R78be2e0898734bf1" /><Relationship Type="http://schemas.openxmlformats.org/officeDocument/2006/relationships/slide" Target="/ppt/slides/slide22.xml" Id="R10dfbd48f27e4504" /><Relationship Type="http://schemas.openxmlformats.org/officeDocument/2006/relationships/slide" Target="/ppt/slides/slide23.xml" Id="R05ccaf46905d4004" /><Relationship Type="http://schemas.openxmlformats.org/officeDocument/2006/relationships/slide" Target="/ppt/slides/slide24.xml" Id="R675aed3fe30a4e43" /><Relationship Type="http://schemas.openxmlformats.org/officeDocument/2006/relationships/slide" Target="/ppt/slides/slide25.xml" Id="R25b076affc264c94" /><Relationship Type="http://schemas.openxmlformats.org/officeDocument/2006/relationships/slide" Target="/ppt/slides/slide26.xml" Id="R8ee2bb76acd24f38" /><Relationship Type="http://schemas.openxmlformats.org/officeDocument/2006/relationships/slide" Target="/ppt/slides/slide27.xml" Id="Rf7fdd10e2f8d45f4" /><Relationship Type="http://schemas.openxmlformats.org/officeDocument/2006/relationships/slide" Target="/ppt/slides/slide28.xml" Id="R367dcef0901b4c2c" /><Relationship Type="http://schemas.openxmlformats.org/officeDocument/2006/relationships/slide" Target="/ppt/slides/slide29.xml" Id="R31df4a51017c4eea" /><Relationship Type="http://schemas.openxmlformats.org/officeDocument/2006/relationships/slide" Target="/ppt/slides/slide30.xml" Id="R9b3dc74fbbaf4038" /><Relationship Type="http://schemas.openxmlformats.org/officeDocument/2006/relationships/slide" Target="/ppt/slides/slide31.xml" Id="Rc7ba7473b021427f" /><Relationship Type="http://schemas.openxmlformats.org/officeDocument/2006/relationships/slide" Target="/ppt/slides/slide32.xml" Id="R3c788b6038cd4de5" /><Relationship Type="http://schemas.openxmlformats.org/officeDocument/2006/relationships/slide" Target="/ppt/slides/slide33.xml" Id="R95dd693503174528" /><Relationship Type="http://schemas.openxmlformats.org/officeDocument/2006/relationships/slide" Target="/ppt/slides/slide34.xml" Id="R7493c2d415624971" /><Relationship Type="http://schemas.openxmlformats.org/officeDocument/2006/relationships/slide" Target="/ppt/slides/slide35.xml" Id="R0f2771c259854372" /><Relationship Type="http://schemas.openxmlformats.org/officeDocument/2006/relationships/slide" Target="/ppt/slides/slide36.xml" Id="R1caf931a05e84623" /><Relationship Type="http://schemas.openxmlformats.org/officeDocument/2006/relationships/slide" Target="/ppt/slides/slide37.xml" Id="R6c7b3b65bd714919" /><Relationship Type="http://schemas.openxmlformats.org/officeDocument/2006/relationships/slide" Target="/ppt/slides/slide38.xml" Id="Ra2d0473aea824b0b" /><Relationship Type="http://schemas.openxmlformats.org/officeDocument/2006/relationships/slide" Target="/ppt/slides/slide39.xml" Id="R1711d8d619644a9b" /><Relationship Type="http://schemas.openxmlformats.org/officeDocument/2006/relationships/slide" Target="/ppt/slides/slide40.xml" Id="Rdaf19b8ee32f44c9" /><Relationship Type="http://schemas.openxmlformats.org/officeDocument/2006/relationships/slide" Target="/ppt/slides/slide41.xml" Id="Rc036f61e2fbb46da" /><Relationship Type="http://schemas.openxmlformats.org/officeDocument/2006/relationships/slide" Target="/ppt/slides/slide42.xml" Id="R6589563808b2408b" /><Relationship Type="http://schemas.openxmlformats.org/officeDocument/2006/relationships/slide" Target="/ppt/slides/slide43.xml" Id="R2d21832e432d4e0e" /><Relationship Type="http://schemas.openxmlformats.org/officeDocument/2006/relationships/slide" Target="/ppt/slides/slide44.xml" Id="Rb4c22eff545d4d7e" /><Relationship Type="http://schemas.openxmlformats.org/officeDocument/2006/relationships/slide" Target="/ppt/slides/slide45.xml" Id="R1052e65f5ef6408c" /><Relationship Type="http://schemas.openxmlformats.org/officeDocument/2006/relationships/slide" Target="/ppt/slides/slide46.xml" Id="R562606f9dd814cf1" /><Relationship Type="http://schemas.openxmlformats.org/officeDocument/2006/relationships/slide" Target="/ppt/slides/slide47.xml" Id="R5556f83c1d9b4eb2" /><Relationship Type="http://schemas.openxmlformats.org/officeDocument/2006/relationships/slide" Target="/ppt/slides/slide48.xml" Id="Rddfcab7fdfb14e94" /><Relationship Type="http://schemas.openxmlformats.org/officeDocument/2006/relationships/slide" Target="/ppt/slides/slide49.xml" Id="R027954d8ddbd4368" /><Relationship Type="http://schemas.openxmlformats.org/officeDocument/2006/relationships/slide" Target="/ppt/slides/slide50.xml" Id="Rb63eccb598d74fe6" /><Relationship Type="http://schemas.openxmlformats.org/officeDocument/2006/relationships/slide" Target="/ppt/slides/slide51.xml" Id="Red7c41bb419744a2" /><Relationship Type="http://schemas.openxmlformats.org/officeDocument/2006/relationships/slide" Target="/ppt/slides/slide52.xml" Id="R3046a2ea7216434c" /><Relationship Type="http://schemas.openxmlformats.org/officeDocument/2006/relationships/slide" Target="/ppt/slides/slide53.xml" Id="R188d966f905c4de5" /><Relationship Type="http://schemas.openxmlformats.org/officeDocument/2006/relationships/slide" Target="/ppt/slides/slide54.xml" Id="Re54d765b5bb34b48" /><Relationship Type="http://schemas.openxmlformats.org/officeDocument/2006/relationships/slide" Target="/ppt/slides/slide55.xml" Id="R442b687d15c84a8b" /><Relationship Type="http://schemas.openxmlformats.org/officeDocument/2006/relationships/slide" Target="/ppt/slides/slide56.xml" Id="Ra44ca464c5cf4f52" /><Relationship Type="http://schemas.openxmlformats.org/officeDocument/2006/relationships/slide" Target="/ppt/slides/slide57.xml" Id="R491599edccec4a5b" /><Relationship Type="http://schemas.openxmlformats.org/officeDocument/2006/relationships/slide" Target="/ppt/slides/slide58.xml" Id="R4ff220e10b894c9f" /><Relationship Type="http://schemas.openxmlformats.org/officeDocument/2006/relationships/slide" Target="/ppt/slides/slide59.xml" Id="R016fb31e40ea47d8" /><Relationship Type="http://schemas.openxmlformats.org/officeDocument/2006/relationships/slide" Target="/ppt/slides/slide60.xml" Id="R79ac31dd949a4c25" /><Relationship Type="http://schemas.openxmlformats.org/officeDocument/2006/relationships/slide" Target="/ppt/slides/slide61.xml" Id="R18813ae4d52d4e6a" /><Relationship Type="http://schemas.openxmlformats.org/officeDocument/2006/relationships/slide" Target="/ppt/slides/slide62.xml" Id="R774e235a374946f9" /><Relationship Type="http://schemas.openxmlformats.org/officeDocument/2006/relationships/slide" Target="/ppt/slides/slide63.xml" Id="Re2433d5d23d4419f" /><Relationship Type="http://schemas.openxmlformats.org/officeDocument/2006/relationships/slide" Target="/ppt/slides/slide64.xml" Id="Rc800ad4bbf2a43f1" /><Relationship Type="http://schemas.openxmlformats.org/officeDocument/2006/relationships/slide" Target="/ppt/slides/slide65.xml" Id="R21e14bcab8f34a59" /><Relationship Type="http://schemas.openxmlformats.org/officeDocument/2006/relationships/slide" Target="/ppt/slides/slide66.xml" Id="Rcf6e3b02c6174653" /><Relationship Type="http://schemas.openxmlformats.org/officeDocument/2006/relationships/slide" Target="/ppt/slides/slide67.xml" Id="Radb52af9f3d740d4" /><Relationship Type="http://schemas.openxmlformats.org/officeDocument/2006/relationships/slide" Target="/ppt/slides/slide68.xml" Id="R4fc967a72f814942" /><Relationship Type="http://schemas.openxmlformats.org/officeDocument/2006/relationships/slide" Target="/ppt/slides/slide69.xml" Id="R461e629ff8c444db" /><Relationship Type="http://schemas.openxmlformats.org/officeDocument/2006/relationships/slide" Target="/ppt/slides/slide70.xml" Id="R6c5f33116f6b43bf" /><Relationship Type="http://schemas.openxmlformats.org/officeDocument/2006/relationships/slide" Target="/ppt/slides/slide71.xml" Id="Re1e7bb1e639e4f40" /><Relationship Type="http://schemas.openxmlformats.org/officeDocument/2006/relationships/slide" Target="/ppt/slides/slide72.xml" Id="R2a680b892e0340b5" /><Relationship Type="http://schemas.openxmlformats.org/officeDocument/2006/relationships/slide" Target="/ppt/slides/slide73.xml" Id="R1cad3c679dd44e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34bf9ce00240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35a6030efd43fe" /><Relationship Type="http://schemas.openxmlformats.org/officeDocument/2006/relationships/notesMaster" Target="/ppt/notesMasters/notesMaster1.xml" Id="Ra54bd30ec77347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1ae833cd124e96" /><Relationship Type="http://schemas.openxmlformats.org/officeDocument/2006/relationships/notesMaster" Target="/ppt/notesMasters/notesMaster1.xml" Id="Rea0aa96be6a445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d6018379ef4270" /><Relationship Type="http://schemas.openxmlformats.org/officeDocument/2006/relationships/notesMaster" Target="/ppt/notesMasters/notesMaster1.xml" Id="R9486ee4c1fd34d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88b1b62098464d" /><Relationship Type="http://schemas.openxmlformats.org/officeDocument/2006/relationships/notesMaster" Target="/ppt/notesMasters/notesMaster1.xml" Id="R9e972b06b4de49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aece41d2fe4a36" /><Relationship Type="http://schemas.openxmlformats.org/officeDocument/2006/relationships/notesMaster" Target="/ppt/notesMasters/notesMaster1.xml" Id="R49055cfcf1da44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023a0148454873" /><Relationship Type="http://schemas.openxmlformats.org/officeDocument/2006/relationships/notesMaster" Target="/ppt/notesMasters/notesMaster1.xml" Id="Rbe4ce3c5decf42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42d11c3d034e77" /><Relationship Type="http://schemas.openxmlformats.org/officeDocument/2006/relationships/notesMaster" Target="/ppt/notesMasters/notesMaster1.xml" Id="Rb4fe48311c014d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d8235134874e8a" /><Relationship Type="http://schemas.openxmlformats.org/officeDocument/2006/relationships/notesMaster" Target="/ppt/notesMasters/notesMaster1.xml" Id="R5a5be0023e9949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0fd32b242846f6" /><Relationship Type="http://schemas.openxmlformats.org/officeDocument/2006/relationships/notesMaster" Target="/ppt/notesMasters/notesMaster1.xml" Id="Rf8439b15c1254d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a9e5530cfb4394" /><Relationship Type="http://schemas.openxmlformats.org/officeDocument/2006/relationships/notesMaster" Target="/ppt/notesMasters/notesMaster1.xml" Id="Reb95258f40f044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09fb392b3a43e7" /><Relationship Type="http://schemas.openxmlformats.org/officeDocument/2006/relationships/notesMaster" Target="/ppt/notesMasters/notesMaster1.xml" Id="R0058a84f65b940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d12b7559ca4f74" /><Relationship Type="http://schemas.openxmlformats.org/officeDocument/2006/relationships/notesMaster" Target="/ppt/notesMasters/notesMaster1.xml" Id="R0a5a27b4640449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16f2c6dda644ce" /><Relationship Type="http://schemas.openxmlformats.org/officeDocument/2006/relationships/notesMaster" Target="/ppt/notesMasters/notesMaster1.xml" Id="R8182183939d749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665b9b2dab4b74" /><Relationship Type="http://schemas.openxmlformats.org/officeDocument/2006/relationships/notesMaster" Target="/ppt/notesMasters/notesMaster1.xml" Id="R4e0ef7a13ad945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e51c4f21244022" /><Relationship Type="http://schemas.openxmlformats.org/officeDocument/2006/relationships/notesMaster" Target="/ppt/notesMasters/notesMaster1.xml" Id="R2e7177ee0e9549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387ff6a6654e79" /><Relationship Type="http://schemas.openxmlformats.org/officeDocument/2006/relationships/notesMaster" Target="/ppt/notesMasters/notesMaster1.xml" Id="R37ef6417590446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bed6689e7f45c1" /><Relationship Type="http://schemas.openxmlformats.org/officeDocument/2006/relationships/notesMaster" Target="/ppt/notesMasters/notesMaster1.xml" Id="R14f81133528e45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4b33bb32624221" /><Relationship Type="http://schemas.openxmlformats.org/officeDocument/2006/relationships/notesMaster" Target="/ppt/notesMasters/notesMaster1.xml" Id="R6d4e898f538345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4142c26d124b5d" /><Relationship Type="http://schemas.openxmlformats.org/officeDocument/2006/relationships/notesMaster" Target="/ppt/notesMasters/notesMaster1.xml" Id="R0cded235de6e45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bc480b12f74a66" /><Relationship Type="http://schemas.openxmlformats.org/officeDocument/2006/relationships/notesMaster" Target="/ppt/notesMasters/notesMaster1.xml" Id="R49c4e62a3d384ab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3d1ad9cb7442a9" /><Relationship Type="http://schemas.openxmlformats.org/officeDocument/2006/relationships/notesMaster" Target="/ppt/notesMasters/notesMaster1.xml" Id="Ra5fe189d511146c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67c01cf66a4fb9" /><Relationship Type="http://schemas.openxmlformats.org/officeDocument/2006/relationships/notesMaster" Target="/ppt/notesMasters/notesMaster1.xml" Id="Rf710767e24464d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f404e4d7d564d80" /><Relationship Type="http://schemas.openxmlformats.org/officeDocument/2006/relationships/notesMaster" Target="/ppt/notesMasters/notesMaster1.xml" Id="Ra83e07ef83c44b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d78d706fe2d42dd" /><Relationship Type="http://schemas.openxmlformats.org/officeDocument/2006/relationships/notesMaster" Target="/ppt/notesMasters/notesMaster1.xml" Id="R131c8067517b42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08f044d70734f49" /><Relationship Type="http://schemas.openxmlformats.org/officeDocument/2006/relationships/notesMaster" Target="/ppt/notesMasters/notesMaster1.xml" Id="R09da443530c348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1baa9b550b944b8" /><Relationship Type="http://schemas.openxmlformats.org/officeDocument/2006/relationships/notesMaster" Target="/ppt/notesMasters/notesMaster1.xml" Id="R57fda62bd1a0400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0c76e2bd514c13" /><Relationship Type="http://schemas.openxmlformats.org/officeDocument/2006/relationships/notesMaster" Target="/ppt/notesMasters/notesMaster1.xml" Id="Rd68ecc400df6466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b050d42e4d48e3" /><Relationship Type="http://schemas.openxmlformats.org/officeDocument/2006/relationships/notesMaster" Target="/ppt/notesMasters/notesMaster1.xml" Id="R884853dbddaa40d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3e7449d360d4c40" /><Relationship Type="http://schemas.openxmlformats.org/officeDocument/2006/relationships/notesMaster" Target="/ppt/notesMasters/notesMaster1.xml" Id="R66f13da3a11f470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a8fa2d23c7a4835" /><Relationship Type="http://schemas.openxmlformats.org/officeDocument/2006/relationships/notesMaster" Target="/ppt/notesMasters/notesMaster1.xml" Id="R358034c8471e45c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72f76b78ff14ccd" /><Relationship Type="http://schemas.openxmlformats.org/officeDocument/2006/relationships/notesMaster" Target="/ppt/notesMasters/notesMaster1.xml" Id="Ra08acd6d1c304f8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2726d33028e4578" /><Relationship Type="http://schemas.openxmlformats.org/officeDocument/2006/relationships/notesMaster" Target="/ppt/notesMasters/notesMaster1.xml" Id="Rfb9db84ec04543e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9e814dfb4b943ea" /><Relationship Type="http://schemas.openxmlformats.org/officeDocument/2006/relationships/notesMaster" Target="/ppt/notesMasters/notesMaster1.xml" Id="Rb48f7d2c61374c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18a6796dad14016" /><Relationship Type="http://schemas.openxmlformats.org/officeDocument/2006/relationships/notesMaster" Target="/ppt/notesMasters/notesMaster1.xml" Id="R613bd0a3859149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0379c0bc5ee4c6c" /><Relationship Type="http://schemas.openxmlformats.org/officeDocument/2006/relationships/notesMaster" Target="/ppt/notesMasters/notesMaster1.xml" Id="Rba38db474f72428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78dca6fa0214de8" /><Relationship Type="http://schemas.openxmlformats.org/officeDocument/2006/relationships/notesMaster" Target="/ppt/notesMasters/notesMaster1.xml" Id="Rd0346d9f8ea0448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bdb4cba8112413b" /><Relationship Type="http://schemas.openxmlformats.org/officeDocument/2006/relationships/notesMaster" Target="/ppt/notesMasters/notesMaster1.xml" Id="Rc26ff2e3bbed4e2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44dd08848fc4f44" /><Relationship Type="http://schemas.openxmlformats.org/officeDocument/2006/relationships/notesMaster" Target="/ppt/notesMasters/notesMaster1.xml" Id="Ra67213256da94ca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51c860c2a8d43c8" /><Relationship Type="http://schemas.openxmlformats.org/officeDocument/2006/relationships/notesMaster" Target="/ppt/notesMasters/notesMaster1.xml" Id="R2f18b690b7474f6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f577374e12f41a9" /><Relationship Type="http://schemas.openxmlformats.org/officeDocument/2006/relationships/notesMaster" Target="/ppt/notesMasters/notesMaster1.xml" Id="R25bdd592f3d048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ca8d28cdd9b4f23" /><Relationship Type="http://schemas.openxmlformats.org/officeDocument/2006/relationships/notesMaster" Target="/ppt/notesMasters/notesMaster1.xml" Id="R7283096b7e39418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25062404cf647c5" /><Relationship Type="http://schemas.openxmlformats.org/officeDocument/2006/relationships/notesMaster" Target="/ppt/notesMasters/notesMaster1.xml" Id="R2cca9869db0040c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163f782db324431" /><Relationship Type="http://schemas.openxmlformats.org/officeDocument/2006/relationships/notesMaster" Target="/ppt/notesMasters/notesMaster1.xml" Id="R62bdb40d75e8479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3569d848fe5415f" /><Relationship Type="http://schemas.openxmlformats.org/officeDocument/2006/relationships/notesMaster" Target="/ppt/notesMasters/notesMaster1.xml" Id="R0c65ac23953e4aa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71edf09868b49fd" /><Relationship Type="http://schemas.openxmlformats.org/officeDocument/2006/relationships/notesMaster" Target="/ppt/notesMasters/notesMaster1.xml" Id="R765616aec312431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ddf28c581ba42eb" /><Relationship Type="http://schemas.openxmlformats.org/officeDocument/2006/relationships/notesMaster" Target="/ppt/notesMasters/notesMaster1.xml" Id="R16059dfc120e4d6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9a4485ba02d404c" /><Relationship Type="http://schemas.openxmlformats.org/officeDocument/2006/relationships/notesMaster" Target="/ppt/notesMasters/notesMaster1.xml" Id="Rea792a0fa3764b6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2a72ba34b3f458a" /><Relationship Type="http://schemas.openxmlformats.org/officeDocument/2006/relationships/notesMaster" Target="/ppt/notesMasters/notesMaster1.xml" Id="R7fc2fd8b89b4451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e9ba5dc34ea4ff9" /><Relationship Type="http://schemas.openxmlformats.org/officeDocument/2006/relationships/notesMaster" Target="/ppt/notesMasters/notesMaster1.xml" Id="R3f70b9add001489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ee33429b0a24106" /><Relationship Type="http://schemas.openxmlformats.org/officeDocument/2006/relationships/notesMaster" Target="/ppt/notesMasters/notesMaster1.xml" Id="Re96d08d9429d446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62fe29c15d74a08" /><Relationship Type="http://schemas.openxmlformats.org/officeDocument/2006/relationships/notesMaster" Target="/ppt/notesMasters/notesMaster1.xml" Id="Rbc4e2ce3d1cb4f0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b1cfb0d08bb4cd1" /><Relationship Type="http://schemas.openxmlformats.org/officeDocument/2006/relationships/notesMaster" Target="/ppt/notesMasters/notesMaster1.xml" Id="Ra28bfbb77a2640d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2351d431bf041c6" /><Relationship Type="http://schemas.openxmlformats.org/officeDocument/2006/relationships/notesMaster" Target="/ppt/notesMasters/notesMaster1.xml" Id="Reaafe18d0df144e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76663743b564549" /><Relationship Type="http://schemas.openxmlformats.org/officeDocument/2006/relationships/notesMaster" Target="/ppt/notesMasters/notesMaster1.xml" Id="R0f642f1ba215438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80c044cf6ed4951" /><Relationship Type="http://schemas.openxmlformats.org/officeDocument/2006/relationships/notesMaster" Target="/ppt/notesMasters/notesMaster1.xml" Id="R3a4aa27e6142429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d2308ffd5294bb3" /><Relationship Type="http://schemas.openxmlformats.org/officeDocument/2006/relationships/notesMaster" Target="/ppt/notesMasters/notesMaster1.xml" Id="Rc2ad3a5e0eff4a2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71a60c733cc4e4a" /><Relationship Type="http://schemas.openxmlformats.org/officeDocument/2006/relationships/notesMaster" Target="/ppt/notesMasters/notesMaster1.xml" Id="Rc5ec01a2f73b46d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dfb5e3dbfe24d3a" /><Relationship Type="http://schemas.openxmlformats.org/officeDocument/2006/relationships/notesMaster" Target="/ppt/notesMasters/notesMaster1.xml" Id="Raff675edd2f9418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b36bea5c7b441f8" /><Relationship Type="http://schemas.openxmlformats.org/officeDocument/2006/relationships/notesMaster" Target="/ppt/notesMasters/notesMaster1.xml" Id="Rbb9cddbfa91f4d7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864814711e74ccf" /><Relationship Type="http://schemas.openxmlformats.org/officeDocument/2006/relationships/notesMaster" Target="/ppt/notesMasters/notesMaster1.xml" Id="R852865619c47497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a01dd607b5b472d" /><Relationship Type="http://schemas.openxmlformats.org/officeDocument/2006/relationships/notesMaster" Target="/ppt/notesMasters/notesMaster1.xml" Id="R89a896353d654c5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77fa55d74864463" /><Relationship Type="http://schemas.openxmlformats.org/officeDocument/2006/relationships/notesMaster" Target="/ppt/notesMasters/notesMaster1.xml" Id="R03c3576c1cd9452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0549d14f8b4483c" /><Relationship Type="http://schemas.openxmlformats.org/officeDocument/2006/relationships/notesMaster" Target="/ppt/notesMasters/notesMaster1.xml" Id="Rbbedd5f1f95d4d5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b9128197769494d" /><Relationship Type="http://schemas.openxmlformats.org/officeDocument/2006/relationships/notesMaster" Target="/ppt/notesMasters/notesMaster1.xml" Id="Rc357773cc8774117"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c9bfdbb6b954366" /><Relationship Type="http://schemas.openxmlformats.org/officeDocument/2006/relationships/notesMaster" Target="/ppt/notesMasters/notesMaster1.xml" Id="R9ff87a3ea3c94c8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cdd39e142ee4b71" /><Relationship Type="http://schemas.openxmlformats.org/officeDocument/2006/relationships/notesMaster" Target="/ppt/notesMasters/notesMaster1.xml" Id="R4b56ddd67a734d8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42e270ea6e74017" /><Relationship Type="http://schemas.openxmlformats.org/officeDocument/2006/relationships/notesMaster" Target="/ppt/notesMasters/notesMaster1.xml" Id="Ra2313e61ba094173"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d18f00d56bd457a" /><Relationship Type="http://schemas.openxmlformats.org/officeDocument/2006/relationships/notesMaster" Target="/ppt/notesMasters/notesMaster1.xml" Id="R2b4266491bdb444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a78cc2b7ebd43d0" /><Relationship Type="http://schemas.openxmlformats.org/officeDocument/2006/relationships/notesMaster" Target="/ppt/notesMasters/notesMaster1.xml" Id="R9547d2ed196646ee"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c6ecb281309431d" /><Relationship Type="http://schemas.openxmlformats.org/officeDocument/2006/relationships/notesMaster" Target="/ppt/notesMasters/notesMaster1.xml" Id="R82e939f251d8481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e14887c0e8e04229" /><Relationship Type="http://schemas.openxmlformats.org/officeDocument/2006/relationships/notesMaster" Target="/ppt/notesMasters/notesMaster1.xml" Id="Rf55014e786a3423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7e6836d1f9745a7" /><Relationship Type="http://schemas.openxmlformats.org/officeDocument/2006/relationships/notesMaster" Target="/ppt/notesMasters/notesMaster1.xml" Id="R84fbfee5b7fb43b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5ef2af8ad734d67" /><Relationship Type="http://schemas.openxmlformats.org/officeDocument/2006/relationships/notesMaster" Target="/ppt/notesMasters/notesMaster1.xml" Id="R21b447c5006e4a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https://docarcshot.github.io/id-practice-update/lectures/Helicobacter_Pylori_Diagnosis_Treatment_and_Resistance.html</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Diagnostic testing and limitations Use urea breath testing (UBT) or a validated monoclonal stool antigen test for most patients who do not need endoscopy. Gastric biopsies are appropriate when endoscopy is clinically indicated. Stool PCR may also provide clarithromycin resistance prediction. 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 Test Best use False negatives and other pitfalls 13C UBT Initial diagnosis and test of cure PPIs, PCABs, antibiotics, bismuth, low organism burden; altered gastric anatomy can affect interpretation. Monoclonal stool antigen Initial diagnosis and test of cure Recent suppressive medications; performance depends on assay. Prefer laboratory monoclonal tests over less-validated rapid tests. Gastric histology and rapid urease test When EGD is indicated; simultaneously evaluate mucosal disease Patchy colonization, gastric bleeding, atrophy, intestinal metaplasia, recent medications, inadequate antrum/body sampling. Negative biopsy does not always exclude infection. Serologic IgG Generally avoid in routine U.S. practice Antibodies persist after eradication. A positive result is not evidence of current infection and cannot serve as test of cure. Stool or biopsy PCR Active infection with selected resistance mutation detection Target-specific coverage, mutant heterogeneity, and recently treated infection; a negative resistance marker is not a complete susceptibility panel. Biopsy culture Phenotypic susceptibility in refractory cases Fastidious organism, transport delay, reduced recovery after therapy; negative culture cannot rule out infection. 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a:p xmlns:a="http://schemas.openxmlformats.org/drawingml/2006/main">
            <a:r>
              <a:t/>
            </a:r>
          </a:p>
          <a:p xmlns:a="http://schemas.openxmlformats.org/drawingml/2006/main">
            <a:r>
              <a:t>Module section: https://docarcshot.github.io/id-practice-update/lectures/Helicobacter_Pylori_Diagnosis_Treatment_and_Resistance.html#diagnosis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Initial treatment For treatment-naive adults with unknown susceptibility, the 2024 ACG guideline recommends optimized bismuth quadruple therapy for 14 days. Omeprazole-amoxicillin-rifabutin (Talicia) and vonoprazan-amoxicillin (Voquezna Dual Pak) are alternatives for patients without penicillin allergy. Regimen and brand Adult prescription Use Optimized bismuth quadruple, individual prescriptions (14 days) Packaged alternative: Pylera + separately prescribed PPI; see duration and dose differences below. Helidac is another bismuth-based co-pack. Standard-dose PPI BID; bismuth subcitrate 120–300 mg QID or subsalicylate 300–524 mg QID; tetracycline 500 mg QID; metronidazole 500 mg TID or QID Preferred empiric first-line and preferred salvage if never previously given in optimized form. Do not routinely substitute doxycycline for tetracycline. Omeprazole + amoxicillin + rifabutin (14 days) Packaged brand: Talicia (4 capsules TID). Omeprazole 40 mg TID + amoxicillin 1 g TID + rifabutin 50 mg TID Alternative empiric first-line; important empiric salvage after optimized BQT. Check drug interactions, CBC, rifamycin exposure. Vonoprazan + amoxicillin (14 days) Packaged brand: Voquezna Dual Pak. Vonoprazan 20 mg BID + amoxicillin 1 g TID Alternative first-line when no penicillin allergy; salvage evidence is less certain than its first-line evidence. Abbreviations. BID, twice daily; PPI, proton pump inhibitor; QID, four times daily; TID, three times daily. 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 Clarithromycin combinations, including Voquezna Triple Pak, should only be used when clarithromycin susceptibility is demonstrated. Levofloxacin combinations are susceptibility-directed salvage options. Both appear in the fellow section rather than the empiric initial-treatment table. Assess adherence, drug interactions, renal function, and the feasibility of multiple daily doses before choosing a regimen. Prior macrolide or fluoroquinolone exposure increases concern for resistance even when prescribed for an unrelated indication. Lack of exposure does not establish susceptibility.</a:t>
            </a:r>
          </a:p>
          <a:p xmlns:a="http://schemas.openxmlformats.org/drawingml/2006/main">
            <a:r>
              <a:t/>
            </a:r>
          </a:p>
          <a:p xmlns:a="http://schemas.openxmlformats.org/drawingml/2006/main">
            <a:r>
              <a:t>Module section: https://docarcshot.github.io/id-practice-update/lectures/Helicobacter_Pylori_Diagnosis_Treatment_and_Resistance.html#therapy</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Test of cure Perform UBT or laboratory-based stool antigen testing at least four weeks after the last antibiotic dose; hold PPIs and vonoprazan two weeks, and antibiotics/bismuth four weeks before testing. Biopsy-based testing can be used if EGD is otherwise necessary. Symptom improvement is not proof of eradication, and serology cannot confirm cure. Positive test of cure after an adequately timed, properly performed test generally indicates persistent infection. When the last pre-treatment eradication was never documented, call this persistent infection or recrudescence rather than proven reinfection. With a negative appropriately timed test, persistent symptoms warrant evaluation for alternative causes rather than empiric repeat eradication therapy.</a:t>
            </a:r>
          </a:p>
          <a:p xmlns:a="http://schemas.openxmlformats.org/drawingml/2006/main">
            <a:r>
              <a:t/>
            </a:r>
          </a:p>
          <a:p xmlns:a="http://schemas.openxmlformats.org/drawingml/2006/main">
            <a:r>
              <a:t>Module section: https://docarcshot.github.io/id-practice-update/lectures/Helicobacter_Pylori_Diagnosis_Treatment_and_Resistance.html#toc</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Test of cure Perform UBT or laboratory-based stool antigen testing at least four weeks after the last antibiotic dose; hold PPIs and vonoprazan two weeks, and antibiotics/bismuth four weeks before testing. Biopsy-based testing can be used if EGD is otherwise necessary. Symptom improvement is not proof of eradication, and serology cannot confirm cure. Positive test of cure after an adequately timed, properly performed test generally indicates persistent infection. When the last pre-treatment eradication was never documented, call this persistent infection or recrudescence rather than proven reinfection. With a negative appropriately timed test, persistent symptoms warrant evaluation for alternative causes rather than empiric repeat eradication therapy.</a:t>
            </a:r>
          </a:p>
          <a:p xmlns:a="http://schemas.openxmlformats.org/drawingml/2006/main">
            <a:r>
              <a:t/>
            </a:r>
          </a:p>
          <a:p xmlns:a="http://schemas.openxmlformats.org/drawingml/2006/main">
            <a:r>
              <a:t>Module section: https://docarcshot.github.io/id-practice-update/lectures/Helicobacter_Pylori_Diagnosis_Treatment_and_Resistance.html#toc</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Indications for testing and treatment Test only when a positive result would lead to treatment. Once active H. pylori infection is established, eradication is recommended, even when symptoms are absent. Do not use serology to diagnose active infection or document cure. Test and treat Context Current or previous peptic ulcer disease Including patients using NSAIDs or aspirin. Eradication reduces ulcer recurrence; some patients still require gastroprotection. Gastric MALT lymphoma, gastric atrophy or intestinal metaplasia, early gastric cancer resection Eradication is indicated but does not remove the need for appropriate GI surveillance or oncologic care. Uninvestigated dyspepsia Noninvasive test-and-treat is appropriate in selected adults younger than 60 without features that justify endoscopy; apply individualized cancer risk assessment. Unexplained iron deficiency anemia or ITP Consider testing after appropriate evaluation for other causes. Higher gastric cancer risk or adult household contact of an infected person ACG 2024 expands testing to selected high-risk groups, including first-degree family history of gastric cancer and adult household contacts. Routine universal screening of low-risk asymptomatic adults is not established. Do not postpone an indicated diagnostic endoscopy in favor of an isolated stool or breath test when alarm findings or cancer risk warrants biopsy. 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 Deferring treatment or discontinuing further eradication attempts Confirmed active infection: The ACG 2024 guideline recommends eradication for all patients with confirmed H. pylori infection. Lack of symptoms alone is not an indication for observation. Active infection not established: An isolated positive H. pylori IgG, particularly after previous therapy, does not establish current infection. Confirm with urea breath testing, stool antigen testing, or appropriate biopsy-based testing before prescribing antibiotics. Temporary deferral: Eradication may be postponed when an acute competing illness, pregnancy without an urgent indication, significant drug interactions, or inability to complete treatment makes immediate therapy inappropriate. Reassess after the limiting condition resolves. 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 Consider susceptibility-guided treatment before abandoning further attempts when feasible. References: ACG guideline 2024 ; AGA Clinical Practice Update 2021, Best Practice Advice 9 and 10 . Risks of untreated infection 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a:p xmlns:a="http://schemas.openxmlformats.org/drawingml/2006/main">
            <a:r>
              <a:t/>
            </a:r>
          </a:p>
          <a:p xmlns:a="http://schemas.openxmlformats.org/drawingml/2006/main">
            <a:r>
              <a:t>Module section: https://docarcshot.github.io/id-practice-update/lectures/Helicobacter_Pylori_Diagnosis_Treatment_and_Resistance.html#indications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Management after treatment failure Before prescribing salvage therapy, reconstruct each prior regimen (actual antibiotic, dose, frequency, days completed), dates, missed doses, PPI/PCAB use, previous macrolide or fluoroquinolone exposure, and exact timing of each diagnostic test. Prior regimen Reasonable next step if susceptibility unknown Prior PPI + amoxicillin + clarithromycin, or an incomplete/nonoptimized regimen; no prior optimized bismuth therapy Omeprazole (or another standard-dose PPI) BID + bismuth QID + tetracycline 500 mg QID + metronidazole 500 mg TID/QID for 14 days. Packaged option: Pylera plus separate PPI, recognizing Pylera is labeled for 10 days and has different component doses. Completed optimized bismuth + tetracycline + metronidazole + PPI for 14 days without eradication Omeprazole 40 mg TID + amoxicillin 1 g TID + rifabutin 50 mg TID for 14 days; Talicia contains the same three drugs (4 capsules TID). The packaged product has limited direct salvage-trial evidence. Alternatively use susceptibility-directed therapy. Multiple failures or no usable empiric option Request molecular resistance testing and/or EGD with dedicated culture and susceptibility biopsies. Individualize salvage with GI, microbiology, and pharmacy. Documented clarithromycin or levofloxacin susceptibility 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 Abbreviations. BID, twice daily; BQT, bismuth quadruple therapy; EGD, esophagogastroduodenoscopy; PPI, proton pump inhibitor; QID, four times daily; TID, three times daily. 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Management after treatment failure Before prescribing salvage therapy, reconstruct each prior regimen (actual antibiotic, dose, frequency, days completed), dates, missed doses, PPI/PCAB use, previous macrolide or fluoroquinolone exposure, and exact timing of each diagnostic test. Prior regimen Reasonable next step if susceptibility unknown Prior PPI + amoxicillin + clarithromycin, or an incomplete/nonoptimized regimen; no prior optimized bismuth therapy Omeprazole (or another standard-dose PPI) BID + bismuth QID + tetracycline 500 mg QID + metronidazole 500 mg TID/QID for 14 days. Packaged option: Pylera plus separate PPI, recognizing Pylera is labeled for 10 days and has different component doses. Completed optimized bismuth + tetracycline + metronidazole + PPI for 14 days without eradication Omeprazole 40 mg TID + amoxicillin 1 g TID + rifabutin 50 mg TID for 14 days; Talicia contains the same three drugs (4 capsules TID). The packaged product has limited direct salvage-trial evidence. Alternatively use susceptibility-directed therapy. Multiple failures or no usable empiric option Request molecular resistance testing and/or EGD with dedicated culture and susceptibility biopsies. Individualize salvage with GI, microbiology, and pharmacy. Documented clarithromycin or levofloxacin susceptibility 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 Abbreviations. BID, twice daily; BQT, bismuth quadruple therapy; EGD, esophagogastroduodenoscopy; PPI, proton pump inhibitor; QID, four times daily; TID, three times daily. 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Management after treatment failure Before prescribing salvage therapy, reconstruct each prior regimen (actual antibiotic, dose, frequency, days completed), dates, missed doses, PPI/PCAB use, previous macrolide or fluoroquinolone exposure, and exact timing of each diagnostic test. Prior regimen Reasonable next step if susceptibility unknown Prior PPI + amoxicillin + clarithromycin, or an incomplete/nonoptimized regimen; no prior optimized bismuth therapy Omeprazole (or another standard-dose PPI) BID + bismuth QID + tetracycline 500 mg QID + metronidazole 500 mg TID/QID for 14 days. Packaged option: Pylera plus separate PPI, recognizing Pylera is labeled for 10 days and has different component doses. Completed optimized bismuth + tetracycline + metronidazole + PPI for 14 days without eradication Omeprazole 40 mg TID + amoxicillin 1 g TID + rifabutin 50 mg TID for 14 days; Talicia contains the same three drugs (4 capsules TID). The packaged product has limited direct salvage-trial evidence. Alternatively use susceptibility-directed therapy. Multiple failures or no usable empiric option Request molecular resistance testing and/or EGD with dedicated culture and susceptibility biopsies. Individualize salvage with GI, microbiology, and pharmacy. Documented clarithromycin or levofloxacin susceptibility 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 Abbreviations. BID, twice daily; BQT, bismuth quadruple therapy; EGD, esophagogastroduodenoscopy; PPI, proton pump inhibitor; QID, four times daily; TID, three times daily. 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Management after treatment failure Before prescribing salvage therapy, reconstruct each prior regimen (actual antibiotic, dose, frequency, days completed), dates, missed doses, PPI/PCAB use, previous macrolide or fluoroquinolone exposure, and exact timing of each diagnostic test. Prior regimen Reasonable next step if susceptibility unknown Prior PPI + amoxicillin + clarithromycin, or an incomplete/nonoptimized regimen; no prior optimized bismuth therapy Omeprazole (or another standard-dose PPI) BID + bismuth QID + tetracycline 500 mg QID + metronidazole 500 mg TID/QID for 14 days. Packaged option: Pylera plus separate PPI, recognizing Pylera is labeled for 10 days and has different component doses. Completed optimized bismuth + tetracycline + metronidazole + PPI for 14 days without eradication Omeprazole 40 mg TID + amoxicillin 1 g TID + rifabutin 50 mg TID for 14 days; Talicia contains the same three drugs (4 capsules TID). The packaged product has limited direct salvage-trial evidence. Alternatively use susceptibility-directed therapy. Multiple failures or no usable empiric option Request molecular resistance testing and/or EGD with dedicated culture and susceptibility biopsies. Individualize salvage with GI, microbiology, and pharmacy. Documented clarithromycin or levofloxacin susceptibility 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 Abbreviations. BID, twice daily; BQT, bismuth quadruple therapy; EGD, esophagogastroduodenoscopy; PPI, proton pump inhibitor; QID, four times daily; TID, three times daily. 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Management after treatment failure Before prescribing salvage therapy, reconstruct each prior regimen (actual antibiotic, dose, frequency, days completed), dates, missed doses, PPI/PCAB use, previous macrolide or fluoroquinolone exposure, and exact timing of each diagnostic test. Prior regimen Reasonable next step if susceptibility unknown Prior PPI + amoxicillin + clarithromycin, or an incomplete/nonoptimized regimen; no prior optimized bismuth therapy Omeprazole (or another standard-dose PPI) BID + bismuth QID + tetracycline 500 mg QID + metronidazole 500 mg TID/QID for 14 days. Packaged option: Pylera plus separate PPI, recognizing Pylera is labeled for 10 days and has different component doses. Completed optimized bismuth + tetracycline + metronidazole + PPI for 14 days without eradication Omeprazole 40 mg TID + amoxicillin 1 g TID + rifabutin 50 mg TID for 14 days; Talicia contains the same three drugs (4 capsules TID). The packaged product has limited direct salvage-trial evidence. Alternatively use susceptibility-directed therapy. Multiple failures or no usable empiric option Request molecular resistance testing and/or EGD with dedicated culture and susceptibility biopsies. Individualize salvage with GI, microbiology, and pharmacy. Documented clarithromycin or levofloxacin susceptibility 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 Abbreviations. BID, twice daily; BQT, bismuth quadruple therapy; EGD, esophagogastroduodenoscopy; PPI, proton pump inhibitor; QID, four times daily; TID, three times daily. 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Management after treatment failure Before prescribing salvage therapy, reconstruct each prior regimen (actual antibiotic, dose, frequency, days completed), dates, missed doses, PPI/PCAB use, previous macrolide or fluoroquinolone exposure, and exact timing of each diagnostic test. Prior regimen Reasonable next step if susceptibility unknown Prior PPI + amoxicillin + clarithromycin, or an incomplete/nonoptimized regimen; no prior optimized bismuth therapy Omeprazole (or another standard-dose PPI) BID + bismuth QID + tetracycline 500 mg QID + metronidazole 500 mg TID/QID for 14 days. Packaged option: Pylera plus separate PPI, recognizing Pylera is labeled for 10 days and has different component doses. Completed optimized bismuth + tetracycline + metronidazole + PPI for 14 days without eradication Omeprazole 40 mg TID + amoxicillin 1 g TID + rifabutin 50 mg TID for 14 days; Talicia contains the same three drugs (4 capsules TID). The packaged product has limited direct salvage-trial evidence. Alternatively use susceptibility-directed therapy. Multiple failures or no usable empiric option Request molecular resistance testing and/or EGD with dedicated culture and susceptibility biopsies. Individualize salvage with GI, microbiology, and pharmacy. Documented clarithromycin or levofloxacin susceptibility 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 Abbreviations. BID, twice daily; BQT, bismuth quadruple therapy; EGD, esophagogastroduodenoscopy; PPI, proton pump inhibitor; QID, four times daily; TID, three times daily. 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Molecular resistance testing and culture 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 Molecular assays predict resistance from detected variants; they do not measure minimum inhibitory concentrations or prove susceptibility to agents without a detected resistance marker. AML resistance marker Antibiotic or class 23S rRNA Clarithromycin gyrA Fluoroquinolones, including levofloxacin rdxA Metronidazole pbp1 Amoxicillin 16S rRNA Tetracycline rpoB Rifabutin Abbreviations. AML, American Molecular Laboratories; NGS, next-generation sequencing; PCR, polymerase chain reaction. 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 AML PyloriDx/PyloriAR send-out and requisition 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 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 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 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 Mayo clarithromycin PCR and culture send-outs 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 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 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Treatment considerations in special populations Situation Practical change True immediate penicillin allergy Optimized BQT is usually the principal empiric option. Formal allergy evaluation can restore effective amoxicillin-containing salvage options; do not assume every reported childhood reaction represents a persistent allergy. CKD, especially severe impairment Reassess tetracycline, bismuth product, amoxicillin, and levofloxacin dosing/contraindications. Fixed packs may not allow adjustments. Check product labeling and pharmacy rather than extrapolate standard dosing. Pregnancy or breastfeeding Nonurgent eradication is commonly deferred; tetracycline, bismuth subsalicylate, and some other regimen components raise safety concerns. If ulcer bleeding or other urgent disease requires therapy, obtain specialist review. Prior severe antibiotic-associated colitis or C. difficile Discuss recurrence risk and stewardship tradeoffs. H. pylori therapy should not be withheld reflexively if eradication is indicated. Severe liver disease, cytopenias, interacting medications Check metronidazole dose in severe hepatic impairment, rifabutin interactions/myelotoxicity, and clarithromycin QT/CYP3A interactions. Baseline CBC may be appropriate for rifabutin in high-risk patients. Immunosuppressive therapy Check interactions, particularly rifamycins and clarithromycin with transplant/immunosuppressive drugs; immunosuppression itself does not establish a different eradication regimen.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Treatment considerations in special populations Situation Practical change True immediate penicillin allergy Optimized BQT is usually the principal empiric option. Formal allergy evaluation can restore effective amoxicillin-containing salvage options; do not assume every reported childhood reaction represents a persistent allergy. CKD, especially severe impairment Reassess tetracycline, bismuth product, amoxicillin, and levofloxacin dosing/contraindications. Fixed packs may not allow adjustments. Check product labeling and pharmacy rather than extrapolate standard dosing. Pregnancy or breastfeeding Nonurgent eradication is commonly deferred; tetracycline, bismuth subsalicylate, and some other regimen components raise safety concerns. If ulcer bleeding or other urgent disease requires therapy, obtain specialist review. Prior severe antibiotic-associated colitis or C. difficile Discuss recurrence risk and stewardship tradeoffs. H. pylori therapy should not be withheld reflexively if eradication is indicated. Severe liver disease, cytopenias, interacting medications Check metronidazole dose in severe hepatic impairment, rifabutin interactions/myelotoxicity, and clarithromycin QT/CYP3A interactions. Baseline CBC may be appropriate for rifabutin in high-risk patients. Immunosuppressive therapy Check interactions, particularly rifamycins and clarithromycin with transplant/immunosuppressive drugs; immunosuppression itself does not establish a different eradication regimen.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Treatment considerations in special populations Situation Practical change True immediate penicillin allergy Optimized BQT is usually the principal empiric option. Formal allergy evaluation can restore effective amoxicillin-containing salvage options; do not assume every reported childhood reaction represents a persistent allergy. CKD, especially severe impairment Reassess tetracycline, bismuth product, amoxicillin, and levofloxacin dosing/contraindications. Fixed packs may not allow adjustments. Check product labeling and pharmacy rather than extrapolate standard dosing. Pregnancy or breastfeeding Nonurgent eradication is commonly deferred; tetracycline, bismuth subsalicylate, and some other regimen components raise safety concerns. If ulcer bleeding or other urgent disease requires therapy, obtain specialist review. Prior severe antibiotic-associated colitis or C. difficile Discuss recurrence risk and stewardship tradeoffs. H. pylori therapy should not be withheld reflexively if eradication is indicated. Severe liver disease, cytopenias, interacting medications Check metronidazole dose in severe hepatic impairment, rifabutin interactions/myelotoxicity, and clarithromycin QT/CYP3A interactions. Baseline CBC may be appropriate for rifabutin in high-risk patients. Immunosuppressive therapy Check interactions, particularly rifamycins and clarithromycin with transplant/immunosuppressive drugs; immunosuppression itself does not establish a different eradication regimen.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Treatment considerations in special populations Situation Practical change True immediate penicillin allergy Optimized BQT is usually the principal empiric option. Formal allergy evaluation can restore effective amoxicillin-containing salvage options; do not assume every reported childhood reaction represents a persistent allergy. CKD, especially severe impairment Reassess tetracycline, bismuth product, amoxicillin, and levofloxacin dosing/contraindications. Fixed packs may not allow adjustments. Check product labeling and pharmacy rather than extrapolate standard dosing. Pregnancy or breastfeeding Nonurgent eradication is commonly deferred; tetracycline, bismuth subsalicylate, and some other regimen components raise safety concerns. If ulcer bleeding or other urgent disease requires therapy, obtain specialist review. Prior severe antibiotic-associated colitis or C. difficile Discuss recurrence risk and stewardship tradeoffs. H. pylori therapy should not be withheld reflexively if eradication is indicated. Severe liver disease, cytopenias, interacting medications Check metronidazole dose in severe hepatic impairment, rifabutin interactions/myelotoxicity, and clarithromycin QT/CYP3A interactions. Baseline CBC may be appropriate for rifabutin in high-risk patients. Immunosuppressive therapy Check interactions, particularly rifamycins and clarithromycin with transplant/immunosuppressive drugs; immunosuppression itself does not establish a different eradication regimen.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Treatment considerations in special populations Situation Practical change True immediate penicillin allergy Optimized BQT is usually the principal empiric option. Formal allergy evaluation can restore effective amoxicillin-containing salvage options; do not assume every reported childhood reaction represents a persistent allergy. CKD, especially severe impairment Reassess tetracycline, bismuth product, amoxicillin, and levofloxacin dosing/contraindications. Fixed packs may not allow adjustments. Check product labeling and pharmacy rather than extrapolate standard dosing. Pregnancy or breastfeeding Nonurgent eradication is commonly deferred; tetracycline, bismuth subsalicylate, and some other regimen components raise safety concerns. If ulcer bleeding or other urgent disease requires therapy, obtain specialist review. Prior severe antibiotic-associated colitis or C. difficile Discuss recurrence risk and stewardship tradeoffs. H. pylori therapy should not be withheld reflexively if eradication is indicated. Severe liver disease, cytopenias, interacting medications Check metronidazole dose in severe hepatic impairment, rifabutin interactions/myelotoxicity, and clarithromycin QT/CYP3A interactions. Baseline CBC may be appropriate for rifabutin in high-risk patients. Immunosuppressive therapy Check interactions, particularly rifamycins and clarithromycin with transplant/immunosuppressive drugs; immunosuppression itself does not establish a different eradication regimen.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Treatment considerations in special populations Situation Practical change True immediate penicillin allergy Optimized BQT is usually the principal empiric option. Formal allergy evaluation can restore effective amoxicillin-containing salvage options; do not assume every reported childhood reaction represents a persistent allergy. CKD, especially severe impairment Reassess tetracycline, bismuth product, amoxicillin, and levofloxacin dosing/contraindications. Fixed packs may not allow adjustments. Check product labeling and pharmacy rather than extrapolate standard dosing. Pregnancy or breastfeeding Nonurgent eradication is commonly deferred; tetracycline, bismuth subsalicylate, and some other regimen components raise safety concerns. If ulcer bleeding or other urgent disease requires therapy, obtain specialist review. Prior severe antibiotic-associated colitis or C. difficile Discuss recurrence risk and stewardship tradeoffs. H. pylori therapy should not be withheld reflexively if eradication is indicated. Severe liver disease, cytopenias, interacting medications Check metronidazole dose in severe hepatic impairment, rifabutin interactions/myelotoxicity, and clarithromycin QT/CYP3A interactions. Baseline CBC may be appropriate for rifabutin in high-risk patients. Immunosuppressive therapy Check interactions, particularly rifamycins and clarithromycin with transplant/immunosuppressive drugs; immunosuppression itself does not establish a different eradication regimen.</a:t>
            </a:r>
          </a:p>
          <a:p xmlns:a="http://schemas.openxmlformats.org/drawingml/2006/main">
            <a:r>
              <a:t/>
            </a:r>
          </a:p>
          <a:p xmlns:a="http://schemas.openxmlformats.org/drawingml/2006/main">
            <a:r>
              <a:t>Module section: https://docarcshot.github.io/id-practice-update/lectures/Helicobacter_Pylori_Diagnosis_Treatment_and_Resistance.html#fellow-detail</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reference Approximate test accuracy and interpretation Reported sensitivity and specificity vary by comparator, assay, population, and medication exposure. The following approximate ranges are not interchangeable with local laboratory validation data and mostly reflect appropriately performed tests in untreated adults. Modality Sensitivity Specificity Important caveat 13C UBT ~95–98% ~95–98% Device and validation dependent. Laboratory monoclonal stool antigen ~90–95% ~90–97% Lower with suppression, suboptimal rapid assays. Histopathology ~85–95% ~95–100% Sampling, staining, pathologist and bacterial density. Rapid urease biopsy ~85–95% ~95–100% Can lose sensitivity with bleeding or medications. Serology Highly assay-dependent Highly assay-dependent Even an analytically accurate IgG assay cannot distinguish past from active infection. Culture Variable, often below molecular methods Very high for organism identification Recovery heavily affected by transport and prior treatment. No single universal sensitivity/specificity should be assigned to stool PCR: use the specific assay validation and target. Ranges are educational approximations, not pooled head-to-head estimates. See diagnostic review and laboratory references below. Commercial combination products and pill burden Product Actual administration Caveats Pylera Bismuth subcitrate potassium + metronidazole + tetracycline Three capsules QID (after meals and at bedtime) plus a separately prescribed PPI BID. Each capsule: bismuth subcitrate potassium 140 mg, metronidazole 125 mg, tetracycline hydrochloride 125 mg. U.S. labeling is 10 days with omeprazole; the ACG 14-day optimized BQT recommendation should not be confused with package labeling. The Pylera schedule provides metronidazole 1.5 g/day and tetracycline 1.5 g/day, not the same component doses as individually prescribed optimized BQT. Talicia Omeprazole + amoxicillin + rifabutin Four capsules TID with food for 14 days (12 capsules/day); daily totals omeprazole 120 mg, amoxicillin 3 g, rifabutin 150 mg. Each capsule has omeprazole 10 mg, amoxicillin 250 mg, rifabutin 12.5 mg. Check renal impairment, rifamycin interactions and blood counts as indicated. Voquezna Dual Pak Vonoprazan + amoxicillin Vonoprazan 20 mg BID plus amoxicillin 1 g TID for 14 days. Confirm availability, kidney function and penicillin allergy; 14-day pack is designed for the dual regimen. Voquezna Triple Pak Vonoprazan + amoxicillin + clarithromycin Vonoprazan 20 mg BID, amoxicillin 1 g BID, clarithromycin 500 mg BID for 14 days. Only appropriate when clarithromycin susceptibility is documented under ACG recommendations, despite product marketing/label indications. 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 Do not simply interchange Pylera and an optimized BQT prescription without checking doses and duration. Abbreviations. BID, twice daily; PPI, proton pump inhibitor; QID, four times daily; TID, three times daily. Adverse effects and medication counseling 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 Clarithromycin has QT, CYP3A, and drug-interaction concerns. Levofloxacin carries tendon, neuropathy, CNS, dysglycemia, aortic aneurysm risk and other FDA warnings; renal adjustment is required. Vonoprazan has drug interactions and renal/hepatic labeling considerations. Clinical cases Case 1. A patient took 14 days of BQT. A stool antigen assay is negative 8 days after finishing treatment while the patient is still taking pantoprazole. Answer: uninterpretable for cure; repeat after appropriate antibiotic/bismuth and acid suppression washout. 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 Case 3. Two fully documented regimens failed and stool PCR predicts clarithromycin resistance. Answer: do not use clarithromycin; consider susceptibility-directed management, including dedicated EGD biopsy culture if needed, after reviewing adherence and prior drug exposure.</a:t>
            </a:r>
          </a:p>
          <a:p xmlns:a="http://schemas.openxmlformats.org/drawingml/2006/main">
            <a:r>
              <a:t/>
            </a:r>
          </a:p>
          <a:p xmlns:a="http://schemas.openxmlformats.org/drawingml/2006/main">
            <a:r>
              <a:t>Module section: https://docarcshot.github.io/id-practice-update/lectures/Helicobacter_Pylori_Diagnosis_Treatment_and_Resistance.html#reference</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Chey WD et al. ACG Clinical Guideline: Treatment of Helicobacter pylori Infection. Am J Gastroenterol . 2024;119:1730–1753. ACG summary . Shah SC, Iyer PG, Moss SF. AGA Clinical Practice Update on the Management of Refractory Helicobacter pylori Infection: Expert Review. Gastroenterology . 2021;160:1831–1841. Best Practice Advice 9–10 . Malfertheiner P et al. Management of Helicobacter pylori infection: Maastricht VI/Florence consensus report. Gut . 2022. Consensus . American Molecular Laboratories. PyloriDx/PyloriAR six-drug NGS panel ; specimen requisition and forms . See also Testing for H. pylori in an era of antimicrobial resistance , J Clin Microbiol , 2024. Mayo Clinic Laboratories. H. pylori diagnostic algorithm, December 2025 ; HELIS culture and susceptibility instructions . Product-specific dosing and restrictions should be checked against current US Prescribing Information for Pylera, Talicia and Voquezna packs before prescribing. Local antibiograms and laboratory test menus may differ.</a:t>
            </a:r>
          </a:p>
          <a:p xmlns:a="http://schemas.openxmlformats.org/drawingml/2006/main">
            <a:r>
              <a:t/>
            </a:r>
          </a:p>
          <a:p xmlns:a="http://schemas.openxmlformats.org/drawingml/2006/main">
            <a:r>
              <a:t>Module section: https://docarcshot.github.io/id-practice-update/lectures/Helicobacter_Pylori_Diagnosis_Treatment_and_Resistance.html#sources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Chey WD et al. ACG Clinical Guideline: Treatment of Helicobacter pylori Infection. Am J Gastroenterol . 2024;119:1730–1753. ACG summary . Shah SC, Iyer PG, Moss SF. AGA Clinical Practice Update on the Management of Refractory Helicobacter pylori Infection: Expert Review. Gastroenterology . 2021;160:1831–1841. Best Practice Advice 9–10 . Malfertheiner P et al. Management of Helicobacter pylori infection: Maastricht VI/Florence consensus report. Gut . 2022. Consensus . American Molecular Laboratories. PyloriDx/PyloriAR six-drug NGS panel ; specimen requisition and forms . See also Testing for H. pylori in an era of antimicrobial resistance , J Clin Microbiol , 2024. Mayo Clinic Laboratories. H. pylori diagnostic algorithm, December 2025 ; HELIS culture and susceptibility instructions . Product-specific dosing and restrictions should be checked against current US Prescribing Information for Pylera, Talicia and Voquezna packs before prescribing. Local antibiograms and laboratory test menus may differ.</a:t>
            </a:r>
          </a:p>
          <a:p xmlns:a="http://schemas.openxmlformats.org/drawingml/2006/main">
            <a:r>
              <a:t/>
            </a:r>
          </a:p>
          <a:p xmlns:a="http://schemas.openxmlformats.org/drawingml/2006/main">
            <a:r>
              <a:t>Module section: https://docarcshot.github.io/id-practice-update/lectures/Helicobacter_Pylori_Diagnosis_Treatment_and_Resistance.html#sources</a:t>
            </a:r>
          </a:p>
          <a:p xmlns:a="http://schemas.openxmlformats.org/drawingml/2006/main">
            <a:r>
              <a:t/>
            </a:r>
          </a:p>
          <a:p xmlns:a="http://schemas.openxmlformats.org/drawingml/2006/main">
            <a:r>
              <a:t>Public sources and related reading:</a:t>
            </a:r>
          </a:p>
          <a:p xmlns:a="http://schemas.openxmlformats.org/drawingml/2006/main">
            <a:r>
              <a:t>https://gi.org/wp-content/uploads/2025/01/ACG-Hpylori-Guidelines-Highlights-2024-FINAL.pdf.pdf</a:t>
            </a:r>
          </a:p>
          <a:p xmlns:a="http://schemas.openxmlformats.org/drawingml/2006/main">
            <a:r>
              <a:t>https://gastro.org/clinical-guidance/management-of-refractory-helicobacter-pylori-infection/</a:t>
            </a:r>
          </a:p>
          <a:p xmlns:a="http://schemas.openxmlformats.org/drawingml/2006/main">
            <a:r>
              <a:t>https://www.amlaboratories.com/service/h-pylori-testing-services</a:t>
            </a:r>
          </a:p>
          <a:p xmlns:a="http://schemas.openxmlformats.org/drawingml/2006/main">
            <a:r>
              <a:t>https://amlaboratories.com/forms</a:t>
            </a:r>
          </a:p>
          <a:p xmlns:a="http://schemas.openxmlformats.org/drawingml/2006/main">
            <a:r>
              <a:t>https://www.mayocliniclabs.com/test-catalog/Overview/62769</a:t>
            </a:r>
          </a:p>
          <a:p xmlns:a="http://schemas.openxmlformats.org/drawingml/2006/main">
            <a:r>
              <a:t>https://www.mayocliniclabs.com/-/media/it-mmfiles/Special%20Instructions/1/7/3/Helicobacter_pylori_Diagnostic_Algorithm</a:t>
            </a:r>
          </a:p>
          <a:p xmlns:a="http://schemas.openxmlformats.org/drawingml/2006/main">
            <a:r>
              <a:t>https://gut.bmj.com/content/71/9/1724</a:t>
            </a:r>
          </a:p>
          <a:p xmlns:a="http://schemas.openxmlformats.org/drawingml/2006/main">
            <a:r>
              <a:t>https://pmc.ncbi.nlm.nih.gov/articles/PMC10865822/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5a624fb39d41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1162a18a6f48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08010e8b864e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a8154e1ba643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65af62005c24c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49945dd4294b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13FDE7-FAB9-406C-9BBD-80DCD52122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3B90BA-1CD9-4137-AA8D-30DDB59505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A77F37-D98C-4DED-A1FD-C8F2DBEFC8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79AD02-3361-4CDD-B243-870BBF53A8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174EF0-1AB0-4E2B-BB16-2018CEC486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FA317F-013C-4EB7-B8DF-1987518C58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F424E7-9707-4649-A439-5F80A62BE9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0BD127-40C9-4CC1-AE8F-A1DC8C3D2B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EBA1DD-8D38-4FB3-8E57-27676BC393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32D359-A2E5-457D-801D-75A1D24F2E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7023eb721945ec" /><Relationship Type="http://schemas.openxmlformats.org/officeDocument/2006/relationships/slideLayout" Target="/ppt/slideLayouts/slideLayout1.xml" Id="Rf9fdc5d95e4b4b67" /><Relationship Type="http://schemas.openxmlformats.org/officeDocument/2006/relationships/slideLayout" Target="/ppt/slideLayouts/slideLayout2.xml" Id="R41c75a3758274588" /><Relationship Type="http://schemas.openxmlformats.org/officeDocument/2006/relationships/slideLayout" Target="/ppt/slideLayouts/slideLayout3.xml" Id="R3253daa1cfc442ef" /><Relationship Type="http://schemas.openxmlformats.org/officeDocument/2006/relationships/slideLayout" Target="/ppt/slideLayouts/slideLayout4.xml" Id="Rf99c889f51ac46ad" /><Relationship Type="http://schemas.openxmlformats.org/officeDocument/2006/relationships/slideLayout" Target="/ppt/slideLayouts/slideLayout5.xml" Id="R8c1ea8bd263f4edd" /><Relationship Type="http://schemas.openxmlformats.org/officeDocument/2006/relationships/slideLayout" Target="/ppt/slideLayouts/slideLayout6.xml" Id="R8e9eabf4cf6540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fdc5d95e4b4b67"/>
    <p:sldLayoutId xmlns:r="http://schemas.openxmlformats.org/officeDocument/2006/relationships" id="2147483650" r:id="R41c75a3758274588"/>
    <p:sldLayoutId xmlns:r="http://schemas.openxmlformats.org/officeDocument/2006/relationships" id="2147483651" r:id="R3253daa1cfc442ef"/>
    <p:sldLayoutId xmlns:r="http://schemas.openxmlformats.org/officeDocument/2006/relationships" id="2147483652" r:id="Rf99c889f51ac46ad"/>
    <p:sldLayoutId xmlns:r="http://schemas.openxmlformats.org/officeDocument/2006/relationships" id="2147483653" r:id="R8c1ea8bd263f4edd"/>
    <p:sldLayoutId xmlns:r="http://schemas.openxmlformats.org/officeDocument/2006/relationships" id="2147483654" r:id="R8e9eabf4cf6540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ebdc269631d4e76" /><Relationship Type="http://schemas.openxmlformats.org/officeDocument/2006/relationships/notesSlide" Target="/ppt/notesSlides/notesSlide1.xml" Id="R7b76527af11140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0204ab029143a4" /><Relationship Type="http://schemas.openxmlformats.org/officeDocument/2006/relationships/notesSlide" Target="/ppt/notesSlides/notesSlide2.xml" Id="Rd4a04b5ec7d844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761784c1e47474e" /><Relationship Type="http://schemas.openxmlformats.org/officeDocument/2006/relationships/notesSlide" Target="/ppt/notesSlides/notesSlide3.xml" Id="R4e9be799c76340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e1d5510277f43bd" /><Relationship Type="http://schemas.openxmlformats.org/officeDocument/2006/relationships/notesSlide" Target="/ppt/notesSlides/notesSlide4.xml" Id="R4b9a62a207fd4f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e99e82ac7b413d" /><Relationship Type="http://schemas.openxmlformats.org/officeDocument/2006/relationships/notesSlide" Target="/ppt/notesSlides/notesSlide5.xml" Id="R37ce70c5edf44a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5068f95b7146b4" /><Relationship Type="http://schemas.openxmlformats.org/officeDocument/2006/relationships/notesSlide" Target="/ppt/notesSlides/notesSlide6.xml" Id="Raf64149d810346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336c3cb2d84c4b" /><Relationship Type="http://schemas.openxmlformats.org/officeDocument/2006/relationships/notesSlide" Target="/ppt/notesSlides/notesSlide7.xml" Id="R8c717aa5339141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2da5f75b6f4383" /><Relationship Type="http://schemas.openxmlformats.org/officeDocument/2006/relationships/notesSlide" Target="/ppt/notesSlides/notesSlide8.xml" Id="Ra896ffa27a004f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9edbe19c4f4135" /><Relationship Type="http://schemas.openxmlformats.org/officeDocument/2006/relationships/notesSlide" Target="/ppt/notesSlides/notesSlide9.xml" Id="R37b3fed98e524e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b052f70ea745a5" /><Relationship Type="http://schemas.openxmlformats.org/officeDocument/2006/relationships/notesSlide" Target="/ppt/notesSlides/notesSlide10.xml" Id="Re28c25b8d47848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d910d0abf24a5e" /><Relationship Type="http://schemas.openxmlformats.org/officeDocument/2006/relationships/notesSlide" Target="/ppt/notesSlides/notesSlide11.xml" Id="R214b0a0b70f74b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2532b61d7c2404b" /><Relationship Type="http://schemas.openxmlformats.org/officeDocument/2006/relationships/notesSlide" Target="/ppt/notesSlides/notesSlide12.xml" Id="Ra446c982449648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1c4b0a2ade04b18" /><Relationship Type="http://schemas.openxmlformats.org/officeDocument/2006/relationships/notesSlide" Target="/ppt/notesSlides/notesSlide13.xml" Id="Re1f26055640d4a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3242c97488f4d8c" /><Relationship Type="http://schemas.openxmlformats.org/officeDocument/2006/relationships/notesSlide" Target="/ppt/notesSlides/notesSlide14.xml" Id="R31e5470eb47942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204d791c4b743be" /><Relationship Type="http://schemas.openxmlformats.org/officeDocument/2006/relationships/notesSlide" Target="/ppt/notesSlides/notesSlide15.xml" Id="Raee51c11042546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12da5e5d15248f3" /><Relationship Type="http://schemas.openxmlformats.org/officeDocument/2006/relationships/notesSlide" Target="/ppt/notesSlides/notesSlide16.xml" Id="Rbb15d10555d644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9e0dc032cd84a55" /><Relationship Type="http://schemas.openxmlformats.org/officeDocument/2006/relationships/notesSlide" Target="/ppt/notesSlides/notesSlide17.xml" Id="Rae061ca26e8c49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d118aa9a8842b5" /><Relationship Type="http://schemas.openxmlformats.org/officeDocument/2006/relationships/notesSlide" Target="/ppt/notesSlides/notesSlide18.xml" Id="R2a749ffbaa074c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9cd185a0e444661" /><Relationship Type="http://schemas.openxmlformats.org/officeDocument/2006/relationships/notesSlide" Target="/ppt/notesSlides/notesSlide19.xml" Id="R67fb513717cf4b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38c8a8dea54e19" /><Relationship Type="http://schemas.openxmlformats.org/officeDocument/2006/relationships/notesSlide" Target="/ppt/notesSlides/notesSlide20.xml" Id="R77dc4c0dcc4445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08a48d15a4145d9" /><Relationship Type="http://schemas.openxmlformats.org/officeDocument/2006/relationships/notesSlide" Target="/ppt/notesSlides/notesSlide21.xml" Id="R2bcc93b7998245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326d912ab4c4c3f" /><Relationship Type="http://schemas.openxmlformats.org/officeDocument/2006/relationships/notesSlide" Target="/ppt/notesSlides/notesSlide22.xml" Id="Rf40419e1c77f4d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434678318024f93" /><Relationship Type="http://schemas.openxmlformats.org/officeDocument/2006/relationships/notesSlide" Target="/ppt/notesSlides/notesSlide23.xml" Id="Rdcd418ca5ee547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930090bbe914844" /><Relationship Type="http://schemas.openxmlformats.org/officeDocument/2006/relationships/notesSlide" Target="/ppt/notesSlides/notesSlide24.xml" Id="Rdf1ea9e0e6e8477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dfdc92284bb4586" /><Relationship Type="http://schemas.openxmlformats.org/officeDocument/2006/relationships/notesSlide" Target="/ppt/notesSlides/notesSlide25.xml" Id="R97c51b11a3b04de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43d91acee5a46f7" /><Relationship Type="http://schemas.openxmlformats.org/officeDocument/2006/relationships/notesSlide" Target="/ppt/notesSlides/notesSlide26.xml" Id="Rf84fd5084c28460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a4c68905b9b444d" /><Relationship Type="http://schemas.openxmlformats.org/officeDocument/2006/relationships/notesSlide" Target="/ppt/notesSlides/notesSlide27.xml" Id="R26e0f7468e0044d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29bdd81413b4663" /><Relationship Type="http://schemas.openxmlformats.org/officeDocument/2006/relationships/notesSlide" Target="/ppt/notesSlides/notesSlide28.xml" Id="R256fed6a9cab40f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5146805025345a7" /><Relationship Type="http://schemas.openxmlformats.org/officeDocument/2006/relationships/notesSlide" Target="/ppt/notesSlides/notesSlide29.xml" Id="R62506bf1803c42b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78da1d2d4744ad5" /><Relationship Type="http://schemas.openxmlformats.org/officeDocument/2006/relationships/notesSlide" Target="/ppt/notesSlides/notesSlide30.xml" Id="Rf4c52cfff2354f1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9d0fd9f2e4d4d99" /><Relationship Type="http://schemas.openxmlformats.org/officeDocument/2006/relationships/notesSlide" Target="/ppt/notesSlides/notesSlide31.xml" Id="R00c31d2f1e2f45d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c0124675cd941e4" /><Relationship Type="http://schemas.openxmlformats.org/officeDocument/2006/relationships/notesSlide" Target="/ppt/notesSlides/notesSlide32.xml" Id="Rd361c3cf32c6416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59f788cd1ee404c" /><Relationship Type="http://schemas.openxmlformats.org/officeDocument/2006/relationships/notesSlide" Target="/ppt/notesSlides/notesSlide33.xml" Id="R7131b2b12f1e4de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e8dd57c49034e5c" /><Relationship Type="http://schemas.openxmlformats.org/officeDocument/2006/relationships/notesSlide" Target="/ppt/notesSlides/notesSlide34.xml" Id="Rc24afd34bf66459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87bf7a0c9b84e2a" /><Relationship Type="http://schemas.openxmlformats.org/officeDocument/2006/relationships/notesSlide" Target="/ppt/notesSlides/notesSlide35.xml" Id="R40570b93d46b411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795a5130922492f" /><Relationship Type="http://schemas.openxmlformats.org/officeDocument/2006/relationships/notesSlide" Target="/ppt/notesSlides/notesSlide36.xml" Id="R048e27ef189146a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5fe28d34c204ed3" /><Relationship Type="http://schemas.openxmlformats.org/officeDocument/2006/relationships/notesSlide" Target="/ppt/notesSlides/notesSlide37.xml" Id="R5c13eaeced0b4fb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534b4254b54436e" /><Relationship Type="http://schemas.openxmlformats.org/officeDocument/2006/relationships/notesSlide" Target="/ppt/notesSlides/notesSlide38.xml" Id="R4c9c12e5ed094d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6d8b1bea02b419c" /><Relationship Type="http://schemas.openxmlformats.org/officeDocument/2006/relationships/notesSlide" Target="/ppt/notesSlides/notesSlide39.xml" Id="R672ee5b07dc84c6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00546c923034161" /><Relationship Type="http://schemas.openxmlformats.org/officeDocument/2006/relationships/notesSlide" Target="/ppt/notesSlides/notesSlide40.xml" Id="Rab3a6465e0464fd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9169b0033e44e5d" /><Relationship Type="http://schemas.openxmlformats.org/officeDocument/2006/relationships/notesSlide" Target="/ppt/notesSlides/notesSlide41.xml" Id="R49a1834c80b14e1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9e9e110b6db45a7" /><Relationship Type="http://schemas.openxmlformats.org/officeDocument/2006/relationships/notesSlide" Target="/ppt/notesSlides/notesSlide42.xml" Id="Rb5189b46bca74d8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b9ca9d6151143ec" /><Relationship Type="http://schemas.openxmlformats.org/officeDocument/2006/relationships/notesSlide" Target="/ppt/notesSlides/notesSlide43.xml" Id="R07abff65aca448d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55a2da0a1fd40bb" /><Relationship Type="http://schemas.openxmlformats.org/officeDocument/2006/relationships/notesSlide" Target="/ppt/notesSlides/notesSlide44.xml" Id="R5930b14bc949448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b2419340baa4fd2" /><Relationship Type="http://schemas.openxmlformats.org/officeDocument/2006/relationships/notesSlide" Target="/ppt/notesSlides/notesSlide45.xml" Id="Re63c0d30a3ed48c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443d2458fb54e75" /><Relationship Type="http://schemas.openxmlformats.org/officeDocument/2006/relationships/notesSlide" Target="/ppt/notesSlides/notesSlide46.xml" Id="R74a10b835095437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63cef0815634df5" /><Relationship Type="http://schemas.openxmlformats.org/officeDocument/2006/relationships/notesSlide" Target="/ppt/notesSlides/notesSlide47.xml" Id="R4c57ca7455394a0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a73871d4eec40b3" /><Relationship Type="http://schemas.openxmlformats.org/officeDocument/2006/relationships/notesSlide" Target="/ppt/notesSlides/notesSlide48.xml" Id="Ra8c0ac22e084491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97c546590a0a4d76" /><Relationship Type="http://schemas.openxmlformats.org/officeDocument/2006/relationships/notesSlide" Target="/ppt/notesSlides/notesSlide49.xml" Id="R58ae008fb9f84a1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9855be662a9b4b64" /><Relationship Type="http://schemas.openxmlformats.org/officeDocument/2006/relationships/notesSlide" Target="/ppt/notesSlides/notesSlide50.xml" Id="R128c327d1fe24b7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24b99af194364a39" /><Relationship Type="http://schemas.openxmlformats.org/officeDocument/2006/relationships/notesSlide" Target="/ppt/notesSlides/notesSlide51.xml" Id="Rf1785b847dee490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4b756bf3b7294383" /><Relationship Type="http://schemas.openxmlformats.org/officeDocument/2006/relationships/notesSlide" Target="/ppt/notesSlides/notesSlide52.xml" Id="R51e0157911ac4a2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e9158ccecb04bde" /><Relationship Type="http://schemas.openxmlformats.org/officeDocument/2006/relationships/notesSlide" Target="/ppt/notesSlides/notesSlide53.xml" Id="R673b3e6b90b64f6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5068a74ab4334772" /><Relationship Type="http://schemas.openxmlformats.org/officeDocument/2006/relationships/notesSlide" Target="/ppt/notesSlides/notesSlide54.xml" Id="Rd92b192693de441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934a2d8337b14cf3" /><Relationship Type="http://schemas.openxmlformats.org/officeDocument/2006/relationships/notesSlide" Target="/ppt/notesSlides/notesSlide55.xml" Id="R1c550f9926c743c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40b13123cfc7449a" /><Relationship Type="http://schemas.openxmlformats.org/officeDocument/2006/relationships/notesSlide" Target="/ppt/notesSlides/notesSlide56.xml" Id="R2872bc57284c44e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40233ea0e094428" /><Relationship Type="http://schemas.openxmlformats.org/officeDocument/2006/relationships/notesSlide" Target="/ppt/notesSlides/notesSlide57.xml" Id="Rdd2dfca4a7764cc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b4170b1ddbb84646" /><Relationship Type="http://schemas.openxmlformats.org/officeDocument/2006/relationships/notesSlide" Target="/ppt/notesSlides/notesSlide58.xml" Id="Rd120810f8c01455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2fc69555841451d" /><Relationship Type="http://schemas.openxmlformats.org/officeDocument/2006/relationships/notesSlide" Target="/ppt/notesSlides/notesSlide59.xml" Id="Rb492b7fde775420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971d8bd35acf4a1f" /><Relationship Type="http://schemas.openxmlformats.org/officeDocument/2006/relationships/notesSlide" Target="/ppt/notesSlides/notesSlide60.xml" Id="R69b2b093c8b74d6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ad2b44a828ee46a5" /><Relationship Type="http://schemas.openxmlformats.org/officeDocument/2006/relationships/notesSlide" Target="/ppt/notesSlides/notesSlide61.xml" Id="R04abd4ab32724d05"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e10e79b87d14e84" /><Relationship Type="http://schemas.openxmlformats.org/officeDocument/2006/relationships/notesSlide" Target="/ppt/notesSlides/notesSlide62.xml" Id="R7b54a81278814ad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92d7d4ac3e124d6d" /><Relationship Type="http://schemas.openxmlformats.org/officeDocument/2006/relationships/notesSlide" Target="/ppt/notesSlides/notesSlide63.xml" Id="Rf9e346ef07be4b0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599f51f518a34104" /><Relationship Type="http://schemas.openxmlformats.org/officeDocument/2006/relationships/notesSlide" Target="/ppt/notesSlides/notesSlide64.xml" Id="R63f4ee63db84410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7f1f5541ec614ab0" /><Relationship Type="http://schemas.openxmlformats.org/officeDocument/2006/relationships/notesSlide" Target="/ppt/notesSlides/notesSlide65.xml" Id="R0d6b7aa2ac40412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e8cd58f824ea48ca" /><Relationship Type="http://schemas.openxmlformats.org/officeDocument/2006/relationships/notesSlide" Target="/ppt/notesSlides/notesSlide66.xml" Id="R0d86268e406a49a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c6e91473e4e94609" /><Relationship Type="http://schemas.openxmlformats.org/officeDocument/2006/relationships/notesSlide" Target="/ppt/notesSlides/notesSlide67.xml" Id="R8aa57bfb06c54b8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5ed47da45e21467f" /><Relationship Type="http://schemas.openxmlformats.org/officeDocument/2006/relationships/notesSlide" Target="/ppt/notesSlides/notesSlide68.xml" Id="R1d1890c20786447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cc8c13cdbeaa4c8a" /><Relationship Type="http://schemas.openxmlformats.org/officeDocument/2006/relationships/notesSlide" Target="/ppt/notesSlides/notesSlide69.xml" Id="R2cebe2d1eaa54c0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7a9cf52dfb7844db" /><Relationship Type="http://schemas.openxmlformats.org/officeDocument/2006/relationships/notesSlide" Target="/ppt/notesSlides/notesSlide70.xml" Id="R13ab9386b486456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48bf0fca770e4002" /><Relationship Type="http://schemas.openxmlformats.org/officeDocument/2006/relationships/notesSlide" Target="/ppt/notesSlides/notesSlide71.xml" Id="Rb400404e6f23467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c25b61fe24d64a00" /><Relationship Type="http://schemas.openxmlformats.org/officeDocument/2006/relationships/notesSlide" Target="/ppt/notesSlides/notesSlide72.xml" Id="Ra23fc1dfb9f948dd"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36d0a7d8fe604abc" /><Relationship Type="http://schemas.openxmlformats.org/officeDocument/2006/relationships/notesSlide" Target="/ppt/notesSlides/notesSlide73.xml" Id="R58487498fa18490f"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3D80A7-A75E-40B5-BAB3-3D79385C48F2}"/>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Helicobacter pylori</a:t>
            </a:r>
          </a:p>
        </p:txBody>
      </p:sp>
      <p:sp>
        <p:nvSpPr>
          <p:cNvPr id="2" name="subtitle">
            <a:extLst xmlns:a="http://schemas.openxmlformats.org/drawingml/2006/main">
              <a:ext uri="{FF2B5EF4-FFF2-40B4-BE49-F238E27FC236}">
                <a16:creationId xmlns:a16="http://schemas.microsoft.com/office/drawing/2014/main" id="{B26F8E97-95BA-442D-964E-B7BA2EFAB7AA}"/>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399994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187510-DF00-46C1-BC74-62A42A8F03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sp>
        <p:nvSpPr>
          <p:cNvPr id="2" name="paragraph-0">
            <a:extLst xmlns:a="http://schemas.openxmlformats.org/drawingml/2006/main">
              <a:ext uri="{FF2B5EF4-FFF2-40B4-BE49-F238E27FC236}">
                <a16:creationId xmlns:a16="http://schemas.microsoft.com/office/drawing/2014/main" id="{10FDBA11-A0B9-45F7-A2F4-74F84890C95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Test only when a positive result would lead to treatment. Once active H. pylori infection is established, eradication is recommended, even when symptoms are absent. Do not use serology to diagnose active infection or document cure.</a:t>
            </a:r>
          </a:p>
        </p:txBody>
      </p:sp>
      <p:sp>
        <p:nvSpPr>
          <p:cNvPr id="3" name="footer">
            <a:extLst xmlns:a="http://schemas.openxmlformats.org/drawingml/2006/main">
              <a:ext uri="{FF2B5EF4-FFF2-40B4-BE49-F238E27FC236}">
                <a16:creationId xmlns:a16="http://schemas.microsoft.com/office/drawing/2014/main" id="{F8314256-D266-49F1-AFB9-489E465927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EB50E87-E450-4553-93A7-0FAA91A3A5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3204824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B4CCFB-B4BC-436A-A458-10C68163B2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graphicFrame>
        <p:nvGraphicFramePr>
          <p:cNvPr id="2" name="">
            <a:extLst xmlns:a="http://schemas.openxmlformats.org/drawingml/2006/main">
              <a:ext uri="{FF2B5EF4-FFF2-40B4-BE49-F238E27FC236}">
                <a16:creationId xmlns:a16="http://schemas.microsoft.com/office/drawing/2014/main" id="{CFD9DC3E-C97A-4544-B7C6-735A98D75CC8}"/>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Current or previous peptic ulcer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Context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Including patients using NSAIDs or aspirin. Eradication reduces ulcer recurrence; some patients still require gastroprotection.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5D62B3E-BA6E-4B6E-A786-1169FF41C4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9534919-8B86-4260-A525-479FE951AE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20168479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34B548-F770-421A-8950-3B00A19416C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graphicFrame>
        <p:nvGraphicFramePr>
          <p:cNvPr id="2" name="">
            <a:extLst xmlns:a="http://schemas.openxmlformats.org/drawingml/2006/main">
              <a:ext uri="{FF2B5EF4-FFF2-40B4-BE49-F238E27FC236}">
                <a16:creationId xmlns:a16="http://schemas.microsoft.com/office/drawing/2014/main" id="{1E5A8E64-4973-4644-9580-C0B2695774FF}"/>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Gastric MALT lymphoma, gastric atrophy or intestinal metaplasia, early gastric cancer resection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Context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Eradication is indicated but does not remove the need for appropriate GI surveillance or oncologic care.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03A0D17-7E3D-4A7B-8B17-E69722DBFE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A5D4648-1447-43FE-B1DC-9921983A3B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7200313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E09394-CD4B-4750-98C9-46C8ED18408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graphicFrame>
        <p:nvGraphicFramePr>
          <p:cNvPr id="2" name="">
            <a:extLst xmlns:a="http://schemas.openxmlformats.org/drawingml/2006/main">
              <a:ext uri="{FF2B5EF4-FFF2-40B4-BE49-F238E27FC236}">
                <a16:creationId xmlns:a16="http://schemas.microsoft.com/office/drawing/2014/main" id="{AE8218E0-43BA-4147-9775-9E1956F2B406}"/>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Uninvestigated dyspepsia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Context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Noninvasive test-and-treat is appropriate in selected adults younger than 60 without features that justify endoscopy; apply individualized cancer risk assessment.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CBCF70B-8554-41A5-B57C-B9F92E3A74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F9AD163-828E-4C78-BC28-B64424E1B9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7908556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A4DE1F-1E35-4EB7-9691-0A3917ACE91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graphicFrame>
        <p:nvGraphicFramePr>
          <p:cNvPr id="2" name="">
            <a:extLst xmlns:a="http://schemas.openxmlformats.org/drawingml/2006/main">
              <a:ext uri="{FF2B5EF4-FFF2-40B4-BE49-F238E27FC236}">
                <a16:creationId xmlns:a16="http://schemas.microsoft.com/office/drawing/2014/main" id="{492668DA-300F-4C8A-BDA2-5C0453CB05F6}"/>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Unexplained iron deficiency anemia or ITP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Context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testing after appropriate evaluation for other causes.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45FC4DD-5D12-45B4-B53D-9CBAD0601A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0B2F8AA-EC5E-46B4-96B6-4BCFCBE8C8C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4201487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081276-7056-4C6A-ACD8-F65994C646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graphicFrame>
        <p:nvGraphicFramePr>
          <p:cNvPr id="2" name="">
            <a:extLst xmlns:a="http://schemas.openxmlformats.org/drawingml/2006/main">
              <a:ext uri="{FF2B5EF4-FFF2-40B4-BE49-F238E27FC236}">
                <a16:creationId xmlns:a16="http://schemas.microsoft.com/office/drawing/2014/main" id="{355DD6ED-BCB7-44B1-84C9-BDDDBD6C9678}"/>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Higher gastric cancer risk or adult household contact of an infected person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Context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ACG 2024 expands testing to selected high-risk groups, including first-degree family history of gastric cancer and adult household contacts.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0C42BFB-F58F-47C7-865B-78FB12C5D9C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3F16597-A102-4F11-82D2-8FA835865B0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1233069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47C7F2E-39D2-4AEB-A9E6-214653FC1A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Indications for testing and treatment</a:t>
            </a:r>
          </a:p>
        </p:txBody>
      </p:sp>
      <p:sp>
        <p:nvSpPr>
          <p:cNvPr id="2" name="paragraph-0">
            <a:extLst xmlns:a="http://schemas.openxmlformats.org/drawingml/2006/main">
              <a:ext uri="{FF2B5EF4-FFF2-40B4-BE49-F238E27FC236}">
                <a16:creationId xmlns:a16="http://schemas.microsoft.com/office/drawing/2014/main" id="{C9E29C3B-1C41-47E9-95E2-967524DA3B7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Routine universal screening of low-risk asymptomatic adults is not established. Do not postpone an indicated diagnostic endoscopy in favor of an isolated stool or breath test when alarm findings or cancer risk warrants biopsy.</a:t>
            </a:r>
          </a:p>
        </p:txBody>
      </p:sp>
      <p:sp>
        <p:nvSpPr>
          <p:cNvPr id="3" name="paragraph-1">
            <a:extLst xmlns:a="http://schemas.openxmlformats.org/drawingml/2006/main">
              <a:ext uri="{FF2B5EF4-FFF2-40B4-BE49-F238E27FC236}">
                <a16:creationId xmlns:a16="http://schemas.microsoft.com/office/drawing/2014/main" id="{42E69A38-B213-4601-8BF6-3DFFB44171AC}"/>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Deferral is reasonable during an acute competing illness, pregnancy when treatment can safely wait, or when severe interactions, intolerance, or inability to adhere make immediate eradication impractical. Document why and arrange follow-up. Permanent observation of confirmed infection is generally not recommended.</a:t>
            </a:r>
          </a:p>
        </p:txBody>
      </p:sp>
      <p:sp>
        <p:nvSpPr>
          <p:cNvPr id="4" name="footer">
            <a:extLst xmlns:a="http://schemas.openxmlformats.org/drawingml/2006/main">
              <a:ext uri="{FF2B5EF4-FFF2-40B4-BE49-F238E27FC236}">
                <a16:creationId xmlns:a16="http://schemas.microsoft.com/office/drawing/2014/main" id="{EE97DA42-FD87-46F4-9E47-C8C2C73D8D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2E1B5767-0179-4C8C-9BB7-98800B1BA6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6743190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4856D10-A9DC-40D7-8FAD-9D6BD363112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sp>
        <p:nvSpPr>
          <p:cNvPr id="2" name="paragraph-0">
            <a:extLst xmlns:a="http://schemas.openxmlformats.org/drawingml/2006/main">
              <a:ext uri="{FF2B5EF4-FFF2-40B4-BE49-F238E27FC236}">
                <a16:creationId xmlns:a16="http://schemas.microsoft.com/office/drawing/2014/main" id="{38CF4468-204F-464E-9244-7A79C924B11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urea breath testing (UBT) or a validated monoclonal stool antigen test for most patients who do not need endoscopy. Gastric biopsies are appropriate when endoscopy is clinically indicated. Stool PCR may also provide clarithromycin resistance prediction.</a:t>
            </a:r>
          </a:p>
        </p:txBody>
      </p:sp>
      <p:sp>
        <p:nvSpPr>
          <p:cNvPr id="3" name="paragraph-1">
            <a:extLst xmlns:a="http://schemas.openxmlformats.org/drawingml/2006/main">
              <a:ext uri="{FF2B5EF4-FFF2-40B4-BE49-F238E27FC236}">
                <a16:creationId xmlns:a16="http://schemas.microsoft.com/office/drawing/2014/main" id="{4D4F6FA7-3AA8-4320-BD84-E9E07EC7ADC7}"/>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UBT, stool antigen, or stool PCR: stop PPIs and vonoprazan for 14 days; avoid systemic antibiotics and bismuth for at least four weeks. Check the performing laboratory's additional instructions. H2 blockers or antacids can bridge acid symptoms, although some UBT laboratories request a short H2-blocker hold.</a:t>
            </a:r>
          </a:p>
        </p:txBody>
      </p:sp>
      <p:sp>
        <p:nvSpPr>
          <p:cNvPr id="4" name="footer">
            <a:extLst xmlns:a="http://schemas.openxmlformats.org/drawingml/2006/main">
              <a:ext uri="{FF2B5EF4-FFF2-40B4-BE49-F238E27FC236}">
                <a16:creationId xmlns:a16="http://schemas.microsoft.com/office/drawing/2014/main" id="{30189836-531C-440E-8717-E509B93872F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3801A48-215A-4389-B1FE-5824E43158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3635833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A41A1D-1385-4F10-B5CF-DA8F976951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graphicFrame>
        <p:nvGraphicFramePr>
          <p:cNvPr id="2" name="">
            <a:extLst xmlns:a="http://schemas.openxmlformats.org/drawingml/2006/main">
              <a:ext uri="{FF2B5EF4-FFF2-40B4-BE49-F238E27FC236}">
                <a16:creationId xmlns:a16="http://schemas.microsoft.com/office/drawing/2014/main" id="{A1A38FF7-76E7-4B3C-9E6B-EB1ABFB21568}"/>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13C UBT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Best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Initial diagnosis and test of cure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False negatives and other pitfalls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PPIs, PCABs, antibiotics, bismuth, low organism burden; altered gastric anatomy can affect interpretation.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265D99A-649F-4F45-BF2B-528AE3447C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1B24F9B-03BA-40A1-9B75-197BC9D476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8991357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0F37A3-A9FD-4AF6-8F89-A26901A8F2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graphicFrame>
        <p:nvGraphicFramePr>
          <p:cNvPr id="2" name="">
            <a:extLst xmlns:a="http://schemas.openxmlformats.org/drawingml/2006/main">
              <a:ext uri="{FF2B5EF4-FFF2-40B4-BE49-F238E27FC236}">
                <a16:creationId xmlns:a16="http://schemas.microsoft.com/office/drawing/2014/main" id="{56AFECF3-A598-4B29-94AF-EE50C5340DD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Monoclonal stool antigen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Best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Initial diagnosis and test of cure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False negatives and other pitfalls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Recent suppressive medications; performance depends on assay. Prefer laboratory monoclonal tests over less-validated rapid tests.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4CBF518-8D14-41BC-95A0-6320E69741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DC1214C-33A9-45E1-BF15-10587EE22D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3627062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5CA546-2BC5-48DB-B047-D998FB7625D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graphicFrame>
        <p:nvGraphicFramePr>
          <p:cNvPr id="2" name="">
            <a:extLst xmlns:a="http://schemas.openxmlformats.org/drawingml/2006/main">
              <a:ext uri="{FF2B5EF4-FFF2-40B4-BE49-F238E27FC236}">
                <a16:creationId xmlns:a16="http://schemas.microsoft.com/office/drawing/2014/main" id="{74FF0991-75EB-469E-B8F8-1DF4E19D19BF}"/>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Gastric histology and rapid urease test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When EGD is indicated; simultaneously evaluate mucosal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False negatives and other pitfalls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Patchy colonization, gastric bleeding, atrophy, intestinal metaplasia, recent medications, inadequate antrum/body sampling. Negative biopsy does not always exclude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FF35B1E-7D9E-4947-9817-A242CAD43E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66D5098-9F60-40F2-BA3B-84333BD69F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7987495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719A98-03EA-46BE-88CD-E9BC2FA7B4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graphicFrame>
        <p:nvGraphicFramePr>
          <p:cNvPr id="2" name="">
            <a:extLst xmlns:a="http://schemas.openxmlformats.org/drawingml/2006/main">
              <a:ext uri="{FF2B5EF4-FFF2-40B4-BE49-F238E27FC236}">
                <a16:creationId xmlns:a16="http://schemas.microsoft.com/office/drawing/2014/main" id="{19BB8DFC-3097-49CF-A7B8-14547312AF8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Serologic IgG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Best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Generally avoid in routine U.S. practice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False negatives and other pitfalls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Antibodies persist after eradication. A positive result is not evidence of current infection and cannot serve as test of cure.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D8BCEAD-CB3B-472D-8F39-2F12A54BFE9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0B61D77-CCF4-435D-B205-F5DAEF6302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5544202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F6E7B0A-0FD6-4799-8B67-1D15F5F12C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graphicFrame>
        <p:nvGraphicFramePr>
          <p:cNvPr id="2" name="">
            <a:extLst xmlns:a="http://schemas.openxmlformats.org/drawingml/2006/main">
              <a:ext uri="{FF2B5EF4-FFF2-40B4-BE49-F238E27FC236}">
                <a16:creationId xmlns:a16="http://schemas.microsoft.com/office/drawing/2014/main" id="{C014A3CE-58E6-408E-85E5-B18EFA00A8CE}"/>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Stool or biopsy PCR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Best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Active infection with selected resistance mutation detection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False negatives and other pitfalls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Target-specific coverage, mutant heterogeneity, and recently treated infection; a negative resistance marker is not a complete susceptibility panel.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A9A4E16-4F75-43DE-9C3D-BA0598B6B1C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35776BD-4C8C-4FD3-8901-1EAE913CEB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1819974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D2FB3B1-7F99-4548-A35C-62755FF9AB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graphicFrame>
        <p:nvGraphicFramePr>
          <p:cNvPr id="2" name="">
            <a:extLst xmlns:a="http://schemas.openxmlformats.org/drawingml/2006/main">
              <a:ext uri="{FF2B5EF4-FFF2-40B4-BE49-F238E27FC236}">
                <a16:creationId xmlns:a16="http://schemas.microsoft.com/office/drawing/2014/main" id="{0AA791DF-B596-4883-A843-64E7BA1B081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Biopsy culture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Best 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Phenotypic susceptibility in refractory cases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False negatives and other pitfalls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Fastidious organism, transport delay, reduced recovery after therapy; negative culture cannot rule out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4659AE4-ED71-4EA0-AC40-AF69C25121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E717A5F-F366-4918-85C6-97B18CDD9B8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7478894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6DFDE5E-75E1-4121-8409-2997D45A09A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Diagnostic testing and limitations</a:t>
            </a:r>
          </a:p>
        </p:txBody>
      </p:sp>
      <p:sp>
        <p:nvSpPr>
          <p:cNvPr id="2" name="paragraph-0">
            <a:extLst xmlns:a="http://schemas.openxmlformats.org/drawingml/2006/main">
              <a:ext uri="{FF2B5EF4-FFF2-40B4-BE49-F238E27FC236}">
                <a16:creationId xmlns:a16="http://schemas.microsoft.com/office/drawing/2014/main" id="{E33E07CD-77AF-4BCC-979D-1C65063A9E0E}"/>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positive appropriately performed test for active infection generally establishes the diagnosis. The major medication-related problem is false negatives, not false positives. Rare UBT false positives can reflect urease-producing non-H. pylori flora or assay-specific circumstances. Discordant tests require review of timing, medications, assay, and sampling before labeling reinfection.</a:t>
            </a:r>
          </a:p>
        </p:txBody>
      </p:sp>
      <p:sp>
        <p:nvSpPr>
          <p:cNvPr id="3" name="footer">
            <a:extLst xmlns:a="http://schemas.openxmlformats.org/drawingml/2006/main">
              <a:ext uri="{FF2B5EF4-FFF2-40B4-BE49-F238E27FC236}">
                <a16:creationId xmlns:a16="http://schemas.microsoft.com/office/drawing/2014/main" id="{77D37649-9650-4CC6-85C0-686EC096EA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557CD64-75AA-435E-8B95-7C8C65E242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7911445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0902BD-6485-4FC4-9922-61A8217441B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sp>
        <p:nvSpPr>
          <p:cNvPr id="2" name="paragraph-0">
            <a:extLst xmlns:a="http://schemas.openxmlformats.org/drawingml/2006/main">
              <a:ext uri="{FF2B5EF4-FFF2-40B4-BE49-F238E27FC236}">
                <a16:creationId xmlns:a16="http://schemas.microsoft.com/office/drawing/2014/main" id="{6346CBC2-6903-4D4D-B94F-9375CDA84C4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treatment-naive adults with unknown susceptibility, the 2024 ACG guideline recommends optimized bismuth quadruple therapy for 14 days. Omeprazole-amoxicillin-rifabutin (Talicia) and vonoprazan-amoxicillin (Voquezna Dual Pak) are alternatives for patients without penicillin allergy.</a:t>
            </a:r>
          </a:p>
        </p:txBody>
      </p:sp>
      <p:sp>
        <p:nvSpPr>
          <p:cNvPr id="3" name="footer">
            <a:extLst xmlns:a="http://schemas.openxmlformats.org/drawingml/2006/main">
              <a:ext uri="{FF2B5EF4-FFF2-40B4-BE49-F238E27FC236}">
                <a16:creationId xmlns:a16="http://schemas.microsoft.com/office/drawing/2014/main" id="{3974B637-4D84-48DD-8193-1FDB3B3A78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691E011-72F0-4188-B942-E22C06FBAE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55880301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F43E5F-F9CA-4197-B2EF-05C50FF576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graphicFrame>
        <p:nvGraphicFramePr>
          <p:cNvPr id="2" name="">
            <a:extLst xmlns:a="http://schemas.openxmlformats.org/drawingml/2006/main">
              <a:ext uri="{FF2B5EF4-FFF2-40B4-BE49-F238E27FC236}">
                <a16:creationId xmlns:a16="http://schemas.microsoft.com/office/drawing/2014/main" id="{470A0C65-B7FE-4755-B9CC-978B180BF9D2}"/>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1466850">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Optimized bismuth quadruple, individual prescriptions (14 days) Packaged alternative: Pylera + separately prescribed PPI; see duration and dose differences below. Helidac is another bismuth-based co-pack.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Adult prescription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Standard-dose PPI BID; bismuth subcitrate 120–300 mg QID or subsalicylate 300–524 mg QID; tetracycline 500 mg QID; metronidazole 500 mg TID or QID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Preferred empiric first-line and preferred salvage if never previously given in optimized form. Do not routinely substitute doxycycline for tetracycline.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2AAFE7E-98B8-44D1-936C-6EEBDC3CA9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9B0ECC-2F09-4EFC-B4A4-1E978186FE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2430191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80C402-E10A-4FE8-8CE7-B12A1CF725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graphicFrame>
        <p:nvGraphicFramePr>
          <p:cNvPr id="2" name="">
            <a:extLst xmlns:a="http://schemas.openxmlformats.org/drawingml/2006/main">
              <a:ext uri="{FF2B5EF4-FFF2-40B4-BE49-F238E27FC236}">
                <a16:creationId xmlns:a16="http://schemas.microsoft.com/office/drawing/2014/main" id="{EAF70C48-2034-4D58-9FB2-8B86774747A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Omeprazole + amoxicillin + rifabutin (14 days) Packaged brand: Talicia (4 capsules TID).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Adult prescription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Omeprazole 40 mg TID + amoxicillin 1 g TID + rifabutin 50 mg TID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Alternative empiric first-line; important empiric salvage after optimized BQT. Check drug interactions, CBC, rifamycin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0E1C8ED-CF69-44D8-BA48-E78479DC3F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7C63CC6-35A2-4AFD-8A0D-C7439B13F9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5147169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17279AB-2FB2-493F-A086-28DFCABC75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graphicFrame>
        <p:nvGraphicFramePr>
          <p:cNvPr id="2" name="">
            <a:extLst xmlns:a="http://schemas.openxmlformats.org/drawingml/2006/main">
              <a:ext uri="{FF2B5EF4-FFF2-40B4-BE49-F238E27FC236}">
                <a16:creationId xmlns:a16="http://schemas.microsoft.com/office/drawing/2014/main" id="{F0BC21F1-9017-4215-955F-4BCBF8786585}"/>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Vonoprazan + amoxicillin (14 days) Packaged brand: Voquezna Dual Pak.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Adult prescription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Vonoprazan 20 mg BID + amoxicillin 1 g TID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Use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Alternative first-line when no penicillin allergy; salvage evidence is less certain than its first-line evidence.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AB20249-D635-42E7-8379-0282393BDC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9788ED4-98BB-434C-B1A1-8F70BD35C6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41379231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AFD094C-41B5-4BC0-A6C8-A3DFAC38FA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sp>
        <p:nvSpPr>
          <p:cNvPr id="2" name="paragraph-0">
            <a:extLst xmlns:a="http://schemas.openxmlformats.org/drawingml/2006/main">
              <a:ext uri="{FF2B5EF4-FFF2-40B4-BE49-F238E27FC236}">
                <a16:creationId xmlns:a16="http://schemas.microsoft.com/office/drawing/2014/main" id="{805011A5-7F28-4DD6-82A1-3ECD70901F1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Abbreviations. BID, twice daily; PPI, proton pump inhibitor; QID, four times daily; TID, three times daily.</a:t>
            </a:r>
          </a:p>
        </p:txBody>
      </p:sp>
      <p:sp>
        <p:nvSpPr>
          <p:cNvPr id="3" name="paragraph-1">
            <a:extLst xmlns:a="http://schemas.openxmlformats.org/drawingml/2006/main">
              <a:ext uri="{FF2B5EF4-FFF2-40B4-BE49-F238E27FC236}">
                <a16:creationId xmlns:a16="http://schemas.microsoft.com/office/drawing/2014/main" id="{DA320522-59F2-4CC7-B359-4DB096C98F4B}"/>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Pylera contains bismuth subcitrate potassium, metronidazole, and tetracycline, with a separately prescribed PPI. Its U.S. label describes a 10-day course; that is not identical in dose or duration to guideline-optimized 14-day bismuth quadruple therapy. See the commercial formulations reference for capsule counts.</a:t>
            </a:r>
          </a:p>
        </p:txBody>
      </p:sp>
      <p:sp>
        <p:nvSpPr>
          <p:cNvPr id="4" name="footer">
            <a:extLst xmlns:a="http://schemas.openxmlformats.org/drawingml/2006/main">
              <a:ext uri="{FF2B5EF4-FFF2-40B4-BE49-F238E27FC236}">
                <a16:creationId xmlns:a16="http://schemas.microsoft.com/office/drawing/2014/main" id="{A50C1D20-6284-4C15-A681-006EA7437B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85D8D56-2260-4B56-8D3F-E940D3FC03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9750459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F7D00A7-9302-4D9F-AF65-C99EDC22C6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sp>
        <p:nvSpPr>
          <p:cNvPr id="2" name="paragraph-0">
            <a:extLst xmlns:a="http://schemas.openxmlformats.org/drawingml/2006/main">
              <a:ext uri="{FF2B5EF4-FFF2-40B4-BE49-F238E27FC236}">
                <a16:creationId xmlns:a16="http://schemas.microsoft.com/office/drawing/2014/main" id="{E831A546-A8DC-4451-98B9-1512BD646F8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Clarithromycin combinations, including Voquezna Triple Pak, should only be used when clarithromycin susceptibility is demonstrated. Levofloxacin combinations are susceptibility-directed salvage options. Both appear in the fellow section rather than the empiric initial-treatment table.</a:t>
            </a:r>
          </a:p>
        </p:txBody>
      </p:sp>
      <p:sp>
        <p:nvSpPr>
          <p:cNvPr id="3" name="paragraph-1">
            <a:extLst xmlns:a="http://schemas.openxmlformats.org/drawingml/2006/main">
              <a:ext uri="{FF2B5EF4-FFF2-40B4-BE49-F238E27FC236}">
                <a16:creationId xmlns:a16="http://schemas.microsoft.com/office/drawing/2014/main" id="{1C2A4519-0407-4976-B7D0-FD5C223F4C02}"/>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Assess adherence, drug interactions, renal function, and the feasibility of multiple daily doses before choosing a regimen.</a:t>
            </a:r>
          </a:p>
        </p:txBody>
      </p:sp>
      <p:sp>
        <p:nvSpPr>
          <p:cNvPr id="4" name="footer">
            <a:extLst xmlns:a="http://schemas.openxmlformats.org/drawingml/2006/main">
              <a:ext uri="{FF2B5EF4-FFF2-40B4-BE49-F238E27FC236}">
                <a16:creationId xmlns:a16="http://schemas.microsoft.com/office/drawing/2014/main" id="{4A235432-E960-4201-8C57-53891B36DF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92349B6D-F431-49E5-B08C-2AB90C271A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113293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1F0DAE0-5C14-49B4-8008-5B4145E5A4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treatment</a:t>
            </a:r>
          </a:p>
        </p:txBody>
      </p:sp>
      <p:sp>
        <p:nvSpPr>
          <p:cNvPr id="2" name="paragraph-0">
            <a:extLst xmlns:a="http://schemas.openxmlformats.org/drawingml/2006/main">
              <a:ext uri="{FF2B5EF4-FFF2-40B4-BE49-F238E27FC236}">
                <a16:creationId xmlns:a16="http://schemas.microsoft.com/office/drawing/2014/main" id="{6DA44018-7753-4978-A69C-3A78C866377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Prior macrolide or fluoroquinolone exposure increases concern for resistance even when prescribed for an unrelated indication. Lack of exposure does not establish susceptibility.</a:t>
            </a:r>
          </a:p>
        </p:txBody>
      </p:sp>
      <p:sp>
        <p:nvSpPr>
          <p:cNvPr id="3" name="footer">
            <a:extLst xmlns:a="http://schemas.openxmlformats.org/drawingml/2006/main">
              <a:ext uri="{FF2B5EF4-FFF2-40B4-BE49-F238E27FC236}">
                <a16:creationId xmlns:a16="http://schemas.microsoft.com/office/drawing/2014/main" id="{322286A3-FD9D-42A0-ABE6-0ACA22576B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772800A-CF53-4043-89D8-5927A7C7CD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2349718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6E18900-6A95-4AB6-AC0F-BC095AE751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Test of cure</a:t>
            </a:r>
          </a:p>
        </p:txBody>
      </p:sp>
      <p:sp>
        <p:nvSpPr>
          <p:cNvPr id="2" name="paragraph-0">
            <a:extLst xmlns:a="http://schemas.openxmlformats.org/drawingml/2006/main">
              <a:ext uri="{FF2B5EF4-FFF2-40B4-BE49-F238E27FC236}">
                <a16:creationId xmlns:a16="http://schemas.microsoft.com/office/drawing/2014/main" id="{8C327A50-3DC6-43BC-92A4-1C863FF976E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Perform UBT or laboratory-based stool antigen testing at least four weeks after the last antibiotic dose; hold PPIs and vonoprazan two weeks, and antibiotics/bismuth four weeks before testing. Biopsy-based testing can be used if EGD is otherwise necessary. Symptom improvement is not proof of eradication, and serology cannot confirm cure.</a:t>
            </a:r>
          </a:p>
        </p:txBody>
      </p:sp>
      <p:sp>
        <p:nvSpPr>
          <p:cNvPr id="3" name="paragraph-1">
            <a:extLst xmlns:a="http://schemas.openxmlformats.org/drawingml/2006/main">
              <a:ext uri="{FF2B5EF4-FFF2-40B4-BE49-F238E27FC236}">
                <a16:creationId xmlns:a16="http://schemas.microsoft.com/office/drawing/2014/main" id="{0DB233FE-DB4B-42B1-B298-361AAC30B9BB}"/>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Positive test of cure after an adequately timed, properly performed test generally indicates persistent infection. When the last pre-treatment eradication was never documented, call this persistent infection or recrudescence rather than proven reinfection.</a:t>
            </a:r>
          </a:p>
        </p:txBody>
      </p:sp>
      <p:sp>
        <p:nvSpPr>
          <p:cNvPr id="4" name="footer">
            <a:extLst xmlns:a="http://schemas.openxmlformats.org/drawingml/2006/main">
              <a:ext uri="{FF2B5EF4-FFF2-40B4-BE49-F238E27FC236}">
                <a16:creationId xmlns:a16="http://schemas.microsoft.com/office/drawing/2014/main" id="{18B520A2-3C42-44FB-8B1C-CE70CC33DC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41A06E6-8E0F-44D2-90C3-F4B8D2EC2C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34623455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25B1BA-A41A-4321-B13F-8BD4733AB4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Test of cure</a:t>
            </a:r>
          </a:p>
        </p:txBody>
      </p:sp>
      <p:sp>
        <p:nvSpPr>
          <p:cNvPr id="2" name="paragraph-0">
            <a:extLst xmlns:a="http://schemas.openxmlformats.org/drawingml/2006/main">
              <a:ext uri="{FF2B5EF4-FFF2-40B4-BE49-F238E27FC236}">
                <a16:creationId xmlns:a16="http://schemas.microsoft.com/office/drawing/2014/main" id="{C591395E-7751-46EE-9718-CA748019DF4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With a negative appropriately timed test, persistent symptoms warrant evaluation for alternative causes rather than empiric repeat eradication therapy.</a:t>
            </a:r>
          </a:p>
        </p:txBody>
      </p:sp>
      <p:sp>
        <p:nvSpPr>
          <p:cNvPr id="3" name="footer">
            <a:extLst xmlns:a="http://schemas.openxmlformats.org/drawingml/2006/main">
              <a:ext uri="{FF2B5EF4-FFF2-40B4-BE49-F238E27FC236}">
                <a16:creationId xmlns:a16="http://schemas.microsoft.com/office/drawing/2014/main" id="{BEEDFBA4-F3EA-4871-A464-36CCCC0AD3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D9E16D3-3282-410E-BA3A-1D3E8B2AA4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93011477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746991-F960-4DEA-8628-59AA2EE33D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sp>
        <p:nvSpPr>
          <p:cNvPr id="2" name="paragraph-0">
            <a:extLst xmlns:a="http://schemas.openxmlformats.org/drawingml/2006/main">
              <a:ext uri="{FF2B5EF4-FFF2-40B4-BE49-F238E27FC236}">
                <a16:creationId xmlns:a16="http://schemas.microsoft.com/office/drawing/2014/main" id="{032473C6-3FA6-4127-85AF-B4122373358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Abbreviations. BID, twice daily; PPI, proton pump inhibitor; QID, four times daily; TID, three times daily.</a:t>
            </a:r>
          </a:p>
        </p:txBody>
      </p:sp>
      <p:sp>
        <p:nvSpPr>
          <p:cNvPr id="3" name="footer">
            <a:extLst xmlns:a="http://schemas.openxmlformats.org/drawingml/2006/main">
              <a:ext uri="{FF2B5EF4-FFF2-40B4-BE49-F238E27FC236}">
                <a16:creationId xmlns:a16="http://schemas.microsoft.com/office/drawing/2014/main" id="{69A424B8-6943-4616-824E-AEA92BA34C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4C1A4E9-5C8C-4C6E-A852-C4126DE9B7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3002148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EB81A08-9383-4B70-83C6-3899693050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Deferring treatment or discontinuing further eradication attempts</a:t>
            </a:r>
          </a:p>
        </p:txBody>
      </p:sp>
      <p:sp>
        <p:nvSpPr>
          <p:cNvPr id="2" name="paragraph-0">
            <a:extLst xmlns:a="http://schemas.openxmlformats.org/drawingml/2006/main">
              <a:ext uri="{FF2B5EF4-FFF2-40B4-BE49-F238E27FC236}">
                <a16:creationId xmlns:a16="http://schemas.microsoft.com/office/drawing/2014/main" id="{88AF9FD0-DE3A-4D71-BB8D-C195911C6DD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Confirmed active infection: The ACG 2024 guideline recommends eradication for all patients with confirmed H. pylori infection. Lack of symptoms alone is not an indication for observation.</a:t>
            </a:r>
          </a:p>
        </p:txBody>
      </p:sp>
      <p:sp>
        <p:nvSpPr>
          <p:cNvPr id="3" name="paragraph-1">
            <a:extLst xmlns:a="http://schemas.openxmlformats.org/drawingml/2006/main">
              <a:ext uri="{FF2B5EF4-FFF2-40B4-BE49-F238E27FC236}">
                <a16:creationId xmlns:a16="http://schemas.microsoft.com/office/drawing/2014/main" id="{005E0941-5220-495B-A356-E701D088465A}"/>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Active infection not established: An isolated positive H. pylori IgG, particularly after previous therapy, does not establish current infection. Confirm with urea breath testing, stool antigen testing, or appropriate biopsy-based testing before prescribing antibiotics.</a:t>
            </a:r>
          </a:p>
        </p:txBody>
      </p:sp>
      <p:sp>
        <p:nvSpPr>
          <p:cNvPr id="4" name="footer">
            <a:extLst xmlns:a="http://schemas.openxmlformats.org/drawingml/2006/main">
              <a:ext uri="{FF2B5EF4-FFF2-40B4-BE49-F238E27FC236}">
                <a16:creationId xmlns:a16="http://schemas.microsoft.com/office/drawing/2014/main" id="{494256E0-FF65-4C82-83FC-8086719668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FCC58E0-8BF7-4D4B-8E41-580A61B87F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6027112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D2A652-9146-4983-9741-24B9A8895C0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Deferring treatment or discontinuing further eradication attempts</a:t>
            </a:r>
          </a:p>
        </p:txBody>
      </p:sp>
      <p:sp>
        <p:nvSpPr>
          <p:cNvPr id="2" name="paragraph-0">
            <a:extLst xmlns:a="http://schemas.openxmlformats.org/drawingml/2006/main">
              <a:ext uri="{FF2B5EF4-FFF2-40B4-BE49-F238E27FC236}">
                <a16:creationId xmlns:a16="http://schemas.microsoft.com/office/drawing/2014/main" id="{3D7CDD45-B70E-425A-9B08-9D08E10097F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Temporary deferral: Eradication may be postponed when an acute competing illness, pregnancy without an urgent indication, significant drug interactions, or inability to complete treatment makes immediate therapy inappropriate. Reassess after the limiting condition resolves.</a:t>
            </a:r>
          </a:p>
        </p:txBody>
      </p:sp>
      <p:sp>
        <p:nvSpPr>
          <p:cNvPr id="3" name="footer">
            <a:extLst xmlns:a="http://schemas.openxmlformats.org/drawingml/2006/main">
              <a:ext uri="{FF2B5EF4-FFF2-40B4-BE49-F238E27FC236}">
                <a16:creationId xmlns:a16="http://schemas.microsoft.com/office/drawing/2014/main" id="{E2E25368-374B-4916-9B30-98A31D8DE1E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B29BEC5-DDF2-4D6C-BEAB-BDD6EA4321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293807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D60AA82-9DEE-47DA-A6A8-C8A735ED40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Deferring treatment or discontinuing further eradication attempts</a:t>
            </a:r>
          </a:p>
        </p:txBody>
      </p:sp>
      <p:sp>
        <p:nvSpPr>
          <p:cNvPr id="2" name="paragraph-0">
            <a:extLst xmlns:a="http://schemas.openxmlformats.org/drawingml/2006/main">
              <a:ext uri="{FF2B5EF4-FFF2-40B4-BE49-F238E27FC236}">
                <a16:creationId xmlns:a16="http://schemas.microsoft.com/office/drawing/2014/main" id="{07E97BDD-AE9D-4678-B53D-695AA4ECF180}"/>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Repeated treatment failure: The AGA 2021 Clinical Practice Update (Best Practice Advice 9) recommends individualized discussion of additional eradication attempts, balancing benefits against adverse effects and repeated antibiotic exposure. Frailty, limited life expectancy, major intolerance, and absence of peptic ulcer disease or identifiable gastric cancer risk factors may favor withholding another empiric regimen. This is an expert-practice recommendation for refractory infection, not a routine alternative to initial treatment.</a:t>
            </a:r>
          </a:p>
        </p:txBody>
      </p:sp>
      <p:sp>
        <p:nvSpPr>
          <p:cNvPr id="3" name="paragraph-1">
            <a:extLst xmlns:a="http://schemas.openxmlformats.org/drawingml/2006/main">
              <a:ext uri="{FF2B5EF4-FFF2-40B4-BE49-F238E27FC236}">
                <a16:creationId xmlns:a16="http://schemas.microsoft.com/office/drawing/2014/main" id="{3DEA139A-0E40-4AC0-A3A9-6023E60460BF}"/>
              </a:ext>
            </a:extLst>
          </p:cNvPr>
          <p:cNvSpPr>
            <a:spLocks xmlns:a="http://schemas.openxmlformats.org/drawingml/2006/main" noGrp="1"/>
          </p:cNvSpPr>
          <p:nvPr/>
        </p:nvSpPr>
        <p:spPr>
          <a:xfrm xmlns:a="http://schemas.openxmlformats.org/drawingml/2006/main">
            <a:off x="647700" y="50292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susceptibility-guided treatment before abandoning further attempts when feasible.</a:t>
            </a:r>
          </a:p>
        </p:txBody>
      </p:sp>
      <p:sp>
        <p:nvSpPr>
          <p:cNvPr id="4" name="footer">
            <a:extLst xmlns:a="http://schemas.openxmlformats.org/drawingml/2006/main">
              <a:ext uri="{FF2B5EF4-FFF2-40B4-BE49-F238E27FC236}">
                <a16:creationId xmlns:a16="http://schemas.microsoft.com/office/drawing/2014/main" id="{A2871182-96A0-4070-8FD4-40CB75E69D5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5A7CE17-DAF6-4423-815D-E9AD2A770B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83926242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423D3E5-ADAB-40F2-9816-9C0FBD6D455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Deferring treatment or discontinuing further eradication attempts</a:t>
            </a:r>
          </a:p>
        </p:txBody>
      </p:sp>
      <p:sp>
        <p:nvSpPr>
          <p:cNvPr id="2" name="paragraph-0">
            <a:extLst xmlns:a="http://schemas.openxmlformats.org/drawingml/2006/main">
              <a:ext uri="{FF2B5EF4-FFF2-40B4-BE49-F238E27FC236}">
                <a16:creationId xmlns:a16="http://schemas.microsoft.com/office/drawing/2014/main" id="{668F5AC1-50EB-43A7-8CF1-3358D338701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References: ACG guideline 2024 ; AGA Clinical Practice Update 2021, Best Practice Advice 9 and 10 .</a:t>
            </a:r>
          </a:p>
        </p:txBody>
      </p:sp>
      <p:sp>
        <p:nvSpPr>
          <p:cNvPr id="3" name="footer">
            <a:extLst xmlns:a="http://schemas.openxmlformats.org/drawingml/2006/main">
              <a:ext uri="{FF2B5EF4-FFF2-40B4-BE49-F238E27FC236}">
                <a16:creationId xmlns:a16="http://schemas.microsoft.com/office/drawing/2014/main" id="{B75DAE81-D440-4C20-A76E-F57C4B9833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43B9EB2-09A8-4AD8-93EC-6EF6C12436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95629442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F8B5DB-3EA4-41AB-8C1A-419912217E6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Risks of untreated infection</a:t>
            </a:r>
          </a:p>
        </p:txBody>
      </p:sp>
      <p:sp>
        <p:nvSpPr>
          <p:cNvPr id="2" name="paragraph-0">
            <a:extLst xmlns:a="http://schemas.openxmlformats.org/drawingml/2006/main">
              <a:ext uri="{FF2B5EF4-FFF2-40B4-BE49-F238E27FC236}">
                <a16:creationId xmlns:a16="http://schemas.microsoft.com/office/drawing/2014/main" id="{9596D5E2-041B-437E-99BA-F65125B06388}"/>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Infection commonly persists for decades and causes chronic active gastritis. Lifetime peptic ulcer risk among infected patients is often estimated near 10–20%, varying by population; only a minority develop gastric cancer (often cited around 1–3%, strongly dependent on regional and individual risk). H. pylori is a class I gastric carcinogen and a cause of gastric MALT lymphoma. Eradication reduces, but does not abolish, subsequent gastric cancer risk, especially once premalignant mucosal changes are present. Avoid applying population averages to an individual patient as a precise prediction.</a:t>
            </a:r>
          </a:p>
        </p:txBody>
      </p:sp>
      <p:sp>
        <p:nvSpPr>
          <p:cNvPr id="3" name="footer">
            <a:extLst xmlns:a="http://schemas.openxmlformats.org/drawingml/2006/main">
              <a:ext uri="{FF2B5EF4-FFF2-40B4-BE49-F238E27FC236}">
                <a16:creationId xmlns:a16="http://schemas.microsoft.com/office/drawing/2014/main" id="{7FA9F210-AA19-455C-ADF1-7BF8F893A01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F7EB2B4-953D-49E0-B6F9-97E6DA8C19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34174930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BDC9E0A-2628-4811-B459-8B5762F944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after treatment failure</a:t>
            </a:r>
          </a:p>
        </p:txBody>
      </p:sp>
      <p:sp>
        <p:nvSpPr>
          <p:cNvPr id="2" name="paragraph-0">
            <a:extLst xmlns:a="http://schemas.openxmlformats.org/drawingml/2006/main">
              <a:ext uri="{FF2B5EF4-FFF2-40B4-BE49-F238E27FC236}">
                <a16:creationId xmlns:a16="http://schemas.microsoft.com/office/drawing/2014/main" id="{FD29270B-1B98-4A93-B36B-B9406EC3267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prescribing salvage therapy, reconstruct each prior regimen (actual antibiotic, dose, frequency, days completed), dates, missed doses, PPI/PCAB use, previous macrolide or fluoroquinolone exposure, and exact timing of each diagnostic test.</a:t>
            </a:r>
          </a:p>
        </p:txBody>
      </p:sp>
      <p:sp>
        <p:nvSpPr>
          <p:cNvPr id="3" name="footer">
            <a:extLst xmlns:a="http://schemas.openxmlformats.org/drawingml/2006/main">
              <a:ext uri="{FF2B5EF4-FFF2-40B4-BE49-F238E27FC236}">
                <a16:creationId xmlns:a16="http://schemas.microsoft.com/office/drawing/2014/main" id="{CFC792E8-AB1D-46F5-AC39-80FBFE3589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9E6511-86B7-4D2B-9198-09CF7BF171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105881322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9212C4-2522-4258-B632-AC470F4770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after treatment failure</a:t>
            </a:r>
          </a:p>
        </p:txBody>
      </p:sp>
      <p:graphicFrame>
        <p:nvGraphicFramePr>
          <p:cNvPr id="2" name="">
            <a:extLst xmlns:a="http://schemas.openxmlformats.org/drawingml/2006/main">
              <a:ext uri="{FF2B5EF4-FFF2-40B4-BE49-F238E27FC236}">
                <a16:creationId xmlns:a16="http://schemas.microsoft.com/office/drawing/2014/main" id="{2F3EC49B-7A7D-4257-9BB5-72B3954479A7}"/>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Prior PPI + amoxicillin + clarithromycin, or an incomplete/nonoptimized regimen; no prior optimized bismuth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Reasonable next step if susceptibility unknown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Omeprazole (or another standard-dose PPI) BID + bismuth QID + tetracycline 500 mg QID + metronidazole 500 mg TID/QID for 14 days. Packaged option: Pylera plus separate PPI, recognizing Pylera is labeled for 10 days and has different component doses.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858B422-4513-4F0C-AC7C-D6953B31D89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B9D5AA9-EE3E-417A-99CF-62C2FC9930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5043962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49C2359-60AA-4511-9B66-60FEEB68A8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after treatment failure</a:t>
            </a:r>
          </a:p>
        </p:txBody>
      </p:sp>
      <p:graphicFrame>
        <p:nvGraphicFramePr>
          <p:cNvPr id="2" name="">
            <a:extLst xmlns:a="http://schemas.openxmlformats.org/drawingml/2006/main">
              <a:ext uri="{FF2B5EF4-FFF2-40B4-BE49-F238E27FC236}">
                <a16:creationId xmlns:a16="http://schemas.microsoft.com/office/drawing/2014/main" id="{65D771BE-CD7A-44C1-9076-1D0D35B6825A}"/>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Completed optimized bismuth + tetracycline + metronidazole + PPI for 14 days without eradication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Reasonable next step if susceptibility unknown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Omeprazole 40 mg TID + amoxicillin 1 g TID + rifabutin 50 mg TID for 14 days; Talicia contains the same three drugs (4 capsules TID). The packaged product has limited direct salvage-trial evidence. Alternatively use susceptibility-directed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A569C93-9FF9-4C0F-9DDD-DDC752CF14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13D54AC-F7B4-4B7E-8EAA-E3271B106B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20005220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BD708A-0A47-4A1A-8CD0-AEB8A8F41E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after treatment failure</a:t>
            </a:r>
          </a:p>
        </p:txBody>
      </p:sp>
      <p:graphicFrame>
        <p:nvGraphicFramePr>
          <p:cNvPr id="2" name="">
            <a:extLst xmlns:a="http://schemas.openxmlformats.org/drawingml/2006/main">
              <a:ext uri="{FF2B5EF4-FFF2-40B4-BE49-F238E27FC236}">
                <a16:creationId xmlns:a16="http://schemas.microsoft.com/office/drawing/2014/main" id="{307B3034-A7F4-4DB9-BC52-5EF0C0814A92}"/>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Multiple failures or no usable empiric option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Reasonable next step if susceptibility unknown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Request molecular resistance testing and/or EGD with dedicated culture and susceptibility biopsies. Individualize salvage with GI, microbiology, and pharmacy.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94035D8-691F-42FF-B05D-83B4E7484C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4C6AA4E-A553-42E5-8577-36DB0A8DFB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65070107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5E9B3F-996B-4DB0-9B82-4F59C09106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after treatment failure</a:t>
            </a:r>
          </a:p>
        </p:txBody>
      </p:sp>
      <p:graphicFrame>
        <p:nvGraphicFramePr>
          <p:cNvPr id="2" name="">
            <a:extLst xmlns:a="http://schemas.openxmlformats.org/drawingml/2006/main">
              <a:ext uri="{FF2B5EF4-FFF2-40B4-BE49-F238E27FC236}">
                <a16:creationId xmlns:a16="http://schemas.microsoft.com/office/drawing/2014/main" id="{54AFC4A9-FA4D-499F-9453-426100B46682}"/>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Documented clarithromycin or levofloxacin susceptibility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Reasonable next step if susceptibility unknown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Clarithromycin susceptible: vonoprazan 20 mg BID + amoxicillin 1 g BID + clarithromycin 500 mg BID (Voquezna Triple Pak), or PPI BID + amoxicillin 1 g BID + clarithromycin 500 mg BID, for 14 days. Levofloxacin susceptible: PPI BID + amoxicillin 1 g BID + levofloxacin 500 mg daily for 14 days. Account for prior antibiotics and contraindications.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AECF3E0-CE79-4499-8A20-7596719004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E6AFCFA-0E87-4FB9-9200-A00EC60D04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55598281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0DA057B-24BC-4164-B47D-16C03F017F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after treatment failure</a:t>
            </a:r>
          </a:p>
        </p:txBody>
      </p:sp>
      <p:sp>
        <p:nvSpPr>
          <p:cNvPr id="2" name="paragraph-0">
            <a:extLst xmlns:a="http://schemas.openxmlformats.org/drawingml/2006/main">
              <a:ext uri="{FF2B5EF4-FFF2-40B4-BE49-F238E27FC236}">
                <a16:creationId xmlns:a16="http://schemas.microsoft.com/office/drawing/2014/main" id="{827C3314-AD2E-4972-843D-B332363DB9C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Abbreviations. BID, twice daily; BQT, bismuth quadruple therapy; EGD, esophagogastroduodenoscopy; PPI, proton pump inhibitor; QID, four times daily; TID, three times daily.</a:t>
            </a:r>
          </a:p>
        </p:txBody>
      </p:sp>
      <p:sp>
        <p:nvSpPr>
          <p:cNvPr id="3" name="paragraph-1">
            <a:extLst xmlns:a="http://schemas.openxmlformats.org/drawingml/2006/main">
              <a:ext uri="{FF2B5EF4-FFF2-40B4-BE49-F238E27FC236}">
                <a16:creationId xmlns:a16="http://schemas.microsoft.com/office/drawing/2014/main" id="{D1631E3B-5F88-430C-A197-EFADA1FD0F22}"/>
              </a:ext>
            </a:extLst>
          </p:cNvPr>
          <p:cNvSpPr>
            <a:spLocks xmlns:a="http://schemas.openxmlformats.org/drawingml/2006/main" noGrp="1"/>
          </p:cNvSpPr>
          <p:nvPr/>
        </p:nvSpPr>
        <p:spPr>
          <a:xfrm xmlns:a="http://schemas.openxmlformats.org/drawingml/2006/main">
            <a:off x="647700" y="326707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Clarithromycin resistance commonly follows 23S rRNA mutations and predicts poor results with clarithromycin combinations. Fluoroquinolone resistance commonly follows gyrA alterations. Metronidazole resistance is more complex; higher-dose metronidazole with bismuth and adequate acid suppression can sometimes overcome in vitro resistance. Amoxicillin, tetracycline, and rifabutin resistance are generally less prevalent, but susceptibility patterns vary geographically.</a:t>
            </a:r>
          </a:p>
        </p:txBody>
      </p:sp>
      <p:sp>
        <p:nvSpPr>
          <p:cNvPr id="4" name="footer">
            <a:extLst xmlns:a="http://schemas.openxmlformats.org/drawingml/2006/main">
              <a:ext uri="{FF2B5EF4-FFF2-40B4-BE49-F238E27FC236}">
                <a16:creationId xmlns:a16="http://schemas.microsoft.com/office/drawing/2014/main" id="{67B371AA-A964-4445-BBD9-5436A268EA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980D38F7-3CD1-4F60-8649-CE3AA9DD75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85670461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0056BFB-AB13-4AB6-9B42-7D31066EB6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Molecular resistance testing and culture</a:t>
            </a:r>
          </a:p>
        </p:txBody>
      </p:sp>
      <p:sp>
        <p:nvSpPr>
          <p:cNvPr id="2" name="paragraph-0">
            <a:extLst xmlns:a="http://schemas.openxmlformats.org/drawingml/2006/main">
              <a:ext uri="{FF2B5EF4-FFF2-40B4-BE49-F238E27FC236}">
                <a16:creationId xmlns:a16="http://schemas.microsoft.com/office/drawing/2014/main" id="{44097BD2-AD16-4F4D-AA0C-9CF133F6422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different molecular options are available. Mayo Clinic Laboratories HPFRP (stool) and HPRP (tissue) detect H. pylori and selected 23S rRNA clarithromycin resistance mutations. They do not constitute broad antibiotic susceptibility panels. American Molecular Laboratories (AML) offers a broader next-generation sequencing panel, PyloriDx/PyloriAR (also described as AmHPR), for H. pylori detection and prediction of resistance to six agents.</a:t>
            </a:r>
          </a:p>
        </p:txBody>
      </p:sp>
      <p:sp>
        <p:nvSpPr>
          <p:cNvPr id="3" name="paragraph-1">
            <a:extLst xmlns:a="http://schemas.openxmlformats.org/drawingml/2006/main">
              <a:ext uri="{FF2B5EF4-FFF2-40B4-BE49-F238E27FC236}">
                <a16:creationId xmlns:a16="http://schemas.microsoft.com/office/drawing/2014/main" id="{EB3C4951-63E5-4B4F-9F8A-DFBB42C98844}"/>
              </a:ext>
            </a:extLst>
          </p:cNvPr>
          <p:cNvSpPr>
            <a:spLocks xmlns:a="http://schemas.openxmlformats.org/drawingml/2006/main" noGrp="1"/>
          </p:cNvSpPr>
          <p:nvPr/>
        </p:nvSpPr>
        <p:spPr>
          <a:xfrm xmlns:a="http://schemas.openxmlformats.org/drawingml/2006/main">
            <a:off x="647700" y="46767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Molecular assays predict resistance from detected variants; they do not measure minimum inhibitory concentrations or prove susceptibility to agents without a detected resistance marker.</a:t>
            </a:r>
          </a:p>
        </p:txBody>
      </p:sp>
      <p:sp>
        <p:nvSpPr>
          <p:cNvPr id="4" name="footer">
            <a:extLst xmlns:a="http://schemas.openxmlformats.org/drawingml/2006/main">
              <a:ext uri="{FF2B5EF4-FFF2-40B4-BE49-F238E27FC236}">
                <a16:creationId xmlns:a16="http://schemas.microsoft.com/office/drawing/2014/main" id="{5F934BA9-AC3F-42AB-AA19-3EDC46C047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840162B-526D-4EB5-9EEF-655B7C49F6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92107399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D4C32A0-1661-4B0F-A754-33F8FDC957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Molecular resistance testing and culture</a:t>
            </a:r>
          </a:p>
        </p:txBody>
      </p:sp>
      <p:graphicFrame>
        <p:nvGraphicFramePr>
          <p:cNvPr id="2" name="">
            <a:extLst xmlns:a="http://schemas.openxmlformats.org/drawingml/2006/main">
              <a:ext uri="{FF2B5EF4-FFF2-40B4-BE49-F238E27FC236}">
                <a16:creationId xmlns:a16="http://schemas.microsoft.com/office/drawing/2014/main" id="{F5B5B395-DA6A-49A1-BC86-FF693E4EBA95}"/>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AML resistance marker</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Antibiotic or class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23S rRNA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Clarithromycin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gyrA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Fluoroquinolones, including levofloxacin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rdxA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Metronidazole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386F956-11D5-40B7-9983-9CCE835C3C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7C3DB98-9DF9-46E3-9D21-B81CC2B9BA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210955415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327C2F6-ABD9-4D24-A2D9-E317F25EAD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Molecular resistance testing and culture</a:t>
            </a:r>
          </a:p>
        </p:txBody>
      </p:sp>
      <p:graphicFrame>
        <p:nvGraphicFramePr>
          <p:cNvPr id="2" name="">
            <a:extLst xmlns:a="http://schemas.openxmlformats.org/drawingml/2006/main">
              <a:ext uri="{FF2B5EF4-FFF2-40B4-BE49-F238E27FC236}">
                <a16:creationId xmlns:a16="http://schemas.microsoft.com/office/drawing/2014/main" id="{B8D33381-CDEB-400C-B61B-8C82A3BDC99E}"/>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AML resistance marker</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Antibiotic or class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pbp1</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Amoxicillin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16S rRNA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Tetracycline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rpoB</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Rifabutin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980294E-7A63-4A5C-9E48-014E8ECE19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4F5E7B6-B8CE-4955-BF55-60F6444EF2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34656607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5BE2852-4922-41E2-89D1-DDCE6C8ACB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Molecular resistance testing and culture</a:t>
            </a:r>
          </a:p>
        </p:txBody>
      </p:sp>
      <p:sp>
        <p:nvSpPr>
          <p:cNvPr id="2" name="paragraph-0">
            <a:extLst xmlns:a="http://schemas.openxmlformats.org/drawingml/2006/main">
              <a:ext uri="{FF2B5EF4-FFF2-40B4-BE49-F238E27FC236}">
                <a16:creationId xmlns:a16="http://schemas.microsoft.com/office/drawing/2014/main" id="{A138B8EA-27E2-4C65-991D-A4801C3373C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Abbreviations. AML, American Molecular Laboratories; NGS, next-generation sequencing; PCR, polymerase chain reaction.</a:t>
            </a:r>
          </a:p>
        </p:txBody>
      </p:sp>
      <p:sp>
        <p:nvSpPr>
          <p:cNvPr id="3" name="paragraph-1">
            <a:extLst xmlns:a="http://schemas.openxmlformats.org/drawingml/2006/main">
              <a:ext uri="{FF2B5EF4-FFF2-40B4-BE49-F238E27FC236}">
                <a16:creationId xmlns:a16="http://schemas.microsoft.com/office/drawing/2014/main" id="{A5DC80F7-448D-4875-9ABF-E9543DE1BE17}"/>
              </a:ext>
            </a:extLst>
          </p:cNvPr>
          <p:cNvSpPr>
            <a:spLocks xmlns:a="http://schemas.openxmlformats.org/drawingml/2006/main" noGrp="1"/>
          </p:cNvSpPr>
          <p:nvPr/>
        </p:nvSpPr>
        <p:spPr>
          <a:xfrm xmlns:a="http://schemas.openxmlformats.org/drawingml/2006/main">
            <a:off x="647700" y="291465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Prediction is better characterized for clarithromycin and levofloxacin than for metronidazole, for which genotype-to-phenotype concordance remains problematic. Evidence for prediction of amoxicillin, tetracycline, and rifabutin resistance is limited by the low prevalence of resistant isolates. Interpret each reported marker in the context of prior treatment and local laboratory validation.</a:t>
            </a:r>
          </a:p>
        </p:txBody>
      </p:sp>
      <p:sp>
        <p:nvSpPr>
          <p:cNvPr id="4" name="footer">
            <a:extLst xmlns:a="http://schemas.openxmlformats.org/drawingml/2006/main">
              <a:ext uri="{FF2B5EF4-FFF2-40B4-BE49-F238E27FC236}">
                <a16:creationId xmlns:a16="http://schemas.microsoft.com/office/drawing/2014/main" id="{F421FD89-40CE-4285-B781-B0D23C2FBDD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F34B66E-50D4-4895-971B-942C7866B8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4439189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A44747-365C-405F-9F4A-633737485D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AML PyloriDx/PyloriAR send-out and requisition</a:t>
            </a:r>
          </a:p>
        </p:txBody>
      </p:sp>
      <p:sp>
        <p:nvSpPr>
          <p:cNvPr id="2" name="paragraph-0">
            <a:extLst xmlns:a="http://schemas.openxmlformats.org/drawingml/2006/main">
              <a:ext uri="{FF2B5EF4-FFF2-40B4-BE49-F238E27FC236}">
                <a16:creationId xmlns:a16="http://schemas.microsoft.com/office/drawing/2014/main" id="{5A5EC134-E55E-46AC-9262-93006D611CB5}"/>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AML H. pylori detection and six-drug resistance NGS panel accepts formalin-fixed paraffin-embedded (FFPE) tissue, fresh gastric tissue, or stool according to the laboratory's published service description. This may permit testing archived gastric pathology tissue without repeat endoscopy when an adequate block is available. Stool offers a noninvasive option; check the specific assay's treatment washout and handling instructions with the receiving lab.</a:t>
            </a:r>
          </a:p>
        </p:txBody>
      </p:sp>
      <p:sp>
        <p:nvSpPr>
          <p:cNvPr id="3" name="footer">
            <a:extLst xmlns:a="http://schemas.openxmlformats.org/drawingml/2006/main">
              <a:ext uri="{FF2B5EF4-FFF2-40B4-BE49-F238E27FC236}">
                <a16:creationId xmlns:a16="http://schemas.microsoft.com/office/drawing/2014/main" id="{147CDF55-B186-4D95-862C-11383761DF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AF8AB1D-2799-4C88-8C87-1573BDB3B0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214259272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4DB28AE-8BC3-4AC8-AF53-F10774D871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AML PyloriDx/PyloriAR send-out and requisition</a:t>
            </a:r>
          </a:p>
        </p:txBody>
      </p:sp>
      <p:sp>
        <p:nvSpPr>
          <p:cNvPr id="2" name="paragraph-0">
            <a:extLst xmlns:a="http://schemas.openxmlformats.org/drawingml/2006/main">
              <a:ext uri="{FF2B5EF4-FFF2-40B4-BE49-F238E27FC236}">
                <a16:creationId xmlns:a16="http://schemas.microsoft.com/office/drawing/2014/main" id="{9D8EEA53-B711-4D0B-9431-38ADD7B1E95E}"/>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AML forms and H. pylori test requisition . Request “PyloriDx/PyloriAR H. pylori detection and antibiotic resistance NGS panel” (AmHPR; CPT 0008U as listed in published billing references). Coordinate pathology release of an FFPE block or unstained sections with the institution's send-out laboratory. Verify current specimen quantities, collection containers, shipping, payer coverage, and whether the order requires microbiology/pathology approval.</a:t>
            </a:r>
          </a:p>
        </p:txBody>
      </p:sp>
      <p:sp>
        <p:nvSpPr>
          <p:cNvPr id="3" name="footer">
            <a:extLst xmlns:a="http://schemas.openxmlformats.org/drawingml/2006/main">
              <a:ext uri="{FF2B5EF4-FFF2-40B4-BE49-F238E27FC236}">
                <a16:creationId xmlns:a16="http://schemas.microsoft.com/office/drawing/2014/main" id="{532E0C84-0992-4993-9C29-6C7DC98FEC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725A288-132E-481D-A022-C33CB08077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18889559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7B12DCC-F9F8-42ED-8941-A0521F3088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AML PyloriDx/PyloriAR send-out and requisition</a:t>
            </a:r>
          </a:p>
        </p:txBody>
      </p:sp>
      <p:sp>
        <p:nvSpPr>
          <p:cNvPr id="2" name="paragraph-0">
            <a:extLst xmlns:a="http://schemas.openxmlformats.org/drawingml/2006/main">
              <a:ext uri="{FF2B5EF4-FFF2-40B4-BE49-F238E27FC236}">
                <a16:creationId xmlns:a16="http://schemas.microsoft.com/office/drawing/2014/main" id="{9D571B43-B7A2-4ECA-85D9-AFF13B3012EA}"/>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Suggested request: “Persistent H. pylori after eradication therapy. Please send existing H. pylori-positive gastric biopsy FFPE tissue, if adequate, for AML PyloriDx/PyloriAR molecular resistance panel (23S rRNA, gyrA, rdxA, pbp1, 16S rRNA, rpoB). If tissue is unavailable, coordinate a stool specimen with the reference laboratory.”</a:t>
            </a:r>
          </a:p>
        </p:txBody>
      </p:sp>
      <p:sp>
        <p:nvSpPr>
          <p:cNvPr id="3" name="paragraph-1">
            <a:extLst xmlns:a="http://schemas.openxmlformats.org/drawingml/2006/main">
              <a:ext uri="{FF2B5EF4-FFF2-40B4-BE49-F238E27FC236}">
                <a16:creationId xmlns:a16="http://schemas.microsoft.com/office/drawing/2014/main" id="{C58D471F-0E53-4650-8245-305AD6375940}"/>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broad phenotypic testing, coordinate EGD and a dedicated fresh biopsy in the receiving laboratory's transport conditions. A routine formalin-fixed specimen for histopathology will not produce a bacterial culture. A negative culture following therapy is common enough that an unsuccessful recovery must not be mistaken for susceptibility.</a:t>
            </a:r>
          </a:p>
        </p:txBody>
      </p:sp>
      <p:sp>
        <p:nvSpPr>
          <p:cNvPr id="4" name="footer">
            <a:extLst xmlns:a="http://schemas.openxmlformats.org/drawingml/2006/main">
              <a:ext uri="{FF2B5EF4-FFF2-40B4-BE49-F238E27FC236}">
                <a16:creationId xmlns:a16="http://schemas.microsoft.com/office/drawing/2014/main" id="{2EBEB80C-D163-4274-A418-5F3F9D0F58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B83FF57-FEFF-4381-94C8-04A3AE528A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205768855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95428D-6617-4802-B280-9C55C11DA59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Mayo clarithromycin PCR and culture send-outs</a:t>
            </a:r>
          </a:p>
        </p:txBody>
      </p:sp>
      <p:sp>
        <p:nvSpPr>
          <p:cNvPr id="2" name="paragraph-0">
            <a:extLst xmlns:a="http://schemas.openxmlformats.org/drawingml/2006/main">
              <a:ext uri="{FF2B5EF4-FFF2-40B4-BE49-F238E27FC236}">
                <a16:creationId xmlns:a16="http://schemas.microsoft.com/office/drawing/2014/main" id="{25E024FB-9CA7-46E7-AB38-788CFBDD0F8C}"/>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HELIS, H. pylori culture with antimicrobial susceptibilities : fresh gastric/duodenal biopsy or acceptable gastric sampling in sterile container, tissue moistened with sterile saline; refrigerate, deliver to testing lab within 48 hours; contact the reference laboratory before procedure. Culture panel includes amoxicillin, clarithromycin, levofloxacin, metronidazole, rifampin, tetracycline. Rifampin testing is not identical to a directly measured rifabutin MIC.</a:t>
            </a:r>
          </a:p>
        </p:txBody>
      </p:sp>
      <p:sp>
        <p:nvSpPr>
          <p:cNvPr id="3" name="footer">
            <a:extLst xmlns:a="http://schemas.openxmlformats.org/drawingml/2006/main">
              <a:ext uri="{FF2B5EF4-FFF2-40B4-BE49-F238E27FC236}">
                <a16:creationId xmlns:a16="http://schemas.microsoft.com/office/drawing/2014/main" id="{7A71A050-483C-483D-89C3-C4A78D0101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021C9CE-3D91-47D5-A8B8-D21059BD35D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118731791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7CD550-0264-4144-A500-3086737DDD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Mayo clarithromycin PCR and culture send-outs</a:t>
            </a:r>
          </a:p>
        </p:txBody>
      </p:sp>
      <p:sp>
        <p:nvSpPr>
          <p:cNvPr id="2" name="paragraph-0">
            <a:extLst xmlns:a="http://schemas.openxmlformats.org/drawingml/2006/main">
              <a:ext uri="{FF2B5EF4-FFF2-40B4-BE49-F238E27FC236}">
                <a16:creationId xmlns:a16="http://schemas.microsoft.com/office/drawing/2014/main" id="{13D84338-03CD-425A-84CF-A82619DEABC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HPFRP, stool PCR with clarithromycin resistance prediction, and HPRP, tissue PCR with clarithromycin resistance prediction, are useful if corresponding specimens can be obtained. Verify current catalog specimen, storage, and shipping requirements with the local send-out lab before ordering. See Mayo diagnostic algorithm (December 2025) .</a:t>
            </a:r>
          </a:p>
        </p:txBody>
      </p:sp>
      <p:sp>
        <p:nvSpPr>
          <p:cNvPr id="3" name="footer">
            <a:extLst xmlns:a="http://schemas.openxmlformats.org/drawingml/2006/main">
              <a:ext uri="{FF2B5EF4-FFF2-40B4-BE49-F238E27FC236}">
                <a16:creationId xmlns:a16="http://schemas.microsoft.com/office/drawing/2014/main" id="{A8BEE51A-CD2B-4C3C-B6CF-1C9EBD06FA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0253780-1C86-4012-9B12-C02A967C9A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44077114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6F80C4-C661-45D7-94B5-E19DA7A28A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Mayo clarithromycin PCR and culture send-outs</a:t>
            </a:r>
          </a:p>
        </p:txBody>
      </p:sp>
      <p:sp>
        <p:nvSpPr>
          <p:cNvPr id="2" name="paragraph-0">
            <a:extLst xmlns:a="http://schemas.openxmlformats.org/drawingml/2006/main">
              <a:ext uri="{FF2B5EF4-FFF2-40B4-BE49-F238E27FC236}">
                <a16:creationId xmlns:a16="http://schemas.microsoft.com/office/drawing/2014/main" id="{C56BC0BA-37DB-46C6-9BBE-62C7D2B8C5E4}"/>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Suggested GI order note: “Persistent H. pylori despite prior eradication regimens. Please obtain dedicated fresh gastric biopsy for H. pylori culture with antimicrobial susceptibility testing in addition to routine pathology. Coordinate specimen transport with microbiology/send-out laboratory before EGD; do not place the culture specimen in formalin.”</a:t>
            </a:r>
          </a:p>
        </p:txBody>
      </p:sp>
      <p:sp>
        <p:nvSpPr>
          <p:cNvPr id="3" name="footer">
            <a:extLst xmlns:a="http://schemas.openxmlformats.org/drawingml/2006/main">
              <a:ext uri="{FF2B5EF4-FFF2-40B4-BE49-F238E27FC236}">
                <a16:creationId xmlns:a16="http://schemas.microsoft.com/office/drawing/2014/main" id="{5DFA0066-7C2D-42B7-801D-562579D90A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67409BC-A7C7-483D-94B7-8A7F58AE96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73852350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23C6F0A-F291-4C6D-AE10-B74C5651F4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 in special populations</a:t>
            </a:r>
          </a:p>
        </p:txBody>
      </p:sp>
      <p:graphicFrame>
        <p:nvGraphicFramePr>
          <p:cNvPr id="2" name="">
            <a:extLst xmlns:a="http://schemas.openxmlformats.org/drawingml/2006/main">
              <a:ext uri="{FF2B5EF4-FFF2-40B4-BE49-F238E27FC236}">
                <a16:creationId xmlns:a16="http://schemas.microsoft.com/office/drawing/2014/main" id="{A2CDAA49-11E3-424C-B56F-5648B3F9EA34}"/>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True immediate penicillin allergy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Practical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Optimized BQT is usually the principal empiric option. Formal allergy evaluation can restore effective amoxicillin-containing salvage options; do not assume every reported childhood reaction represents a persistent allergy.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3C07E2D-CCA5-467B-A3BD-F7D8796752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2CE6004-2A96-4FFF-B98C-7B64B5F02C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12516222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B8C2BA-1EAF-4AB2-A3A8-0F166218EF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 in special populations</a:t>
            </a:r>
          </a:p>
        </p:txBody>
      </p:sp>
      <p:graphicFrame>
        <p:nvGraphicFramePr>
          <p:cNvPr id="2" name="">
            <a:extLst xmlns:a="http://schemas.openxmlformats.org/drawingml/2006/main">
              <a:ext uri="{FF2B5EF4-FFF2-40B4-BE49-F238E27FC236}">
                <a16:creationId xmlns:a16="http://schemas.microsoft.com/office/drawing/2014/main" id="{5FA4E964-5A74-4E03-A7FA-57EAD13E9C61}"/>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CKD, especially severe impairment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Reassess tetracycline, bismuth product, amoxicillin, and levofloxacin dosing/contraindications. Fixed packs may not allow adjustments. Check product labeling and pharmacy rather than extrapolate standard dosing.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EE68A1D-E07E-483F-8022-E9BE0A7E30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A7923D4-48A9-4593-984B-7453A4B6A0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78429711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714EF7-879C-4449-9205-3150A746986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 in special populations</a:t>
            </a:r>
          </a:p>
        </p:txBody>
      </p:sp>
      <p:graphicFrame>
        <p:nvGraphicFramePr>
          <p:cNvPr id="2" name="">
            <a:extLst xmlns:a="http://schemas.openxmlformats.org/drawingml/2006/main">
              <a:ext uri="{FF2B5EF4-FFF2-40B4-BE49-F238E27FC236}">
                <a16:creationId xmlns:a16="http://schemas.microsoft.com/office/drawing/2014/main" id="{31EDEDBF-6F8A-4D0C-A12C-313BBB4DF3E5}"/>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Pregnancy or breastfeeding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Practical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Nonurgent eradication is commonly deferred; tetracycline, bismuth subsalicylate, and some other regimen components raise safety concerns. If ulcer bleeding or other urgent disease requires therapy, obtain specialist review.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415E7C1-B45E-4916-A85D-A87B0A21A6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4087301-519F-4332-96C8-F054058B46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177985293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6EEBCB7-D3B4-472F-ADDB-4D0193592A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 in special populations</a:t>
            </a:r>
          </a:p>
        </p:txBody>
      </p:sp>
      <p:graphicFrame>
        <p:nvGraphicFramePr>
          <p:cNvPr id="2" name="">
            <a:extLst xmlns:a="http://schemas.openxmlformats.org/drawingml/2006/main">
              <a:ext uri="{FF2B5EF4-FFF2-40B4-BE49-F238E27FC236}">
                <a16:creationId xmlns:a16="http://schemas.microsoft.com/office/drawing/2014/main" id="{F3959EE5-E9E3-4379-B33A-6B333E6A592B}"/>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Prior severe antibiotic-associated colitis or C. difficile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Discuss recurrence risk and stewardship tradeoffs. H. pylori therapy should not be withheld reflexively if eradication is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D455705-F3C0-4C86-821E-4E347E1535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2942777-3CC8-46B7-A6C3-EF107D945A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33330398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859817-8C51-4531-A3FC-9251AE9CE6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 in special populations</a:t>
            </a:r>
          </a:p>
        </p:txBody>
      </p:sp>
      <p:graphicFrame>
        <p:nvGraphicFramePr>
          <p:cNvPr id="2" name="">
            <a:extLst xmlns:a="http://schemas.openxmlformats.org/drawingml/2006/main">
              <a:ext uri="{FF2B5EF4-FFF2-40B4-BE49-F238E27FC236}">
                <a16:creationId xmlns:a16="http://schemas.microsoft.com/office/drawing/2014/main" id="{AD648CA2-156A-4E62-B4D3-3E2369948383}"/>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Severe liver disease, cytopenias, interacting medications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Check metronidazole dose in severe hepatic impairment, rifabutin interactions/myelotoxicity, and clarithromycin QT/CYP3A interactions. Baseline CBC may be appropriate for rifabutin in high-risk patients.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FA613BE-2AF0-4358-A818-DDB87A2C92D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5547FC9-7F30-4EC9-82B3-A733CA9154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72739538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5A36AA1-2FB6-4544-B141-9833ACB6E3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Treatment considerations in special populations</a:t>
            </a:r>
          </a:p>
        </p:txBody>
      </p:sp>
      <p:graphicFrame>
        <p:nvGraphicFramePr>
          <p:cNvPr id="2" name="">
            <a:extLst xmlns:a="http://schemas.openxmlformats.org/drawingml/2006/main">
              <a:ext uri="{FF2B5EF4-FFF2-40B4-BE49-F238E27FC236}">
                <a16:creationId xmlns:a16="http://schemas.microsoft.com/office/drawing/2014/main" id="{A9E410CC-8237-49F9-8618-F0ED04E70380}"/>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Immunosuppressive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change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Check interactions, particularly rifamycins and clarithromycin with transplant/immunosuppressive drugs; immunosuppression itself does not establish a different eradication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9C2AA4B-519C-4F3D-9FF5-504511C539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C8FCF90-A069-47C3-9826-FD2839F138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97998479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731378-560C-43DB-A471-A7A24B056D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sp>
        <p:nvSpPr>
          <p:cNvPr id="2" name="paragraph-0">
            <a:extLst xmlns:a="http://schemas.openxmlformats.org/drawingml/2006/main">
              <a:ext uri="{FF2B5EF4-FFF2-40B4-BE49-F238E27FC236}">
                <a16:creationId xmlns:a16="http://schemas.microsoft.com/office/drawing/2014/main" id="{7871B4FF-66E9-411A-BC5F-CB03D73A268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Reported sensitivity and specificity vary by comparator, assay, population, and medication exposure. The following approximate ranges are not interchangeable with local laboratory validation data and mostly reflect appropriately performed tests in untreated adults.</a:t>
            </a:r>
          </a:p>
        </p:txBody>
      </p:sp>
      <p:sp>
        <p:nvSpPr>
          <p:cNvPr id="3" name="footer">
            <a:extLst xmlns:a="http://schemas.openxmlformats.org/drawingml/2006/main">
              <a:ext uri="{FF2B5EF4-FFF2-40B4-BE49-F238E27FC236}">
                <a16:creationId xmlns:a16="http://schemas.microsoft.com/office/drawing/2014/main" id="{61432CB3-371A-46CB-8C49-AFD5E2F742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9CC7E5E-17E2-4ED7-AC3E-AE88F784E3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14473949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183F2C-2F2B-4111-BF84-EC34E62637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graphicFrame>
        <p:nvGraphicFramePr>
          <p:cNvPr id="2" name="">
            <a:extLst xmlns:a="http://schemas.openxmlformats.org/drawingml/2006/main">
              <a:ext uri="{FF2B5EF4-FFF2-40B4-BE49-F238E27FC236}">
                <a16:creationId xmlns:a16="http://schemas.microsoft.com/office/drawing/2014/main" id="{37BB1577-968E-4EB6-8A3C-211B14DC1FD3}"/>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13C UBT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Sensitivity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~95–98%</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Specificity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~95–98%</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Device and validation dependent.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BD82C41-A81D-4AEB-AB46-FE09520959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803D2C4-D690-49F6-8E77-36543D63D2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81758438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60C7B9-AC1E-4FDF-B94F-6030D883B1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graphicFrame>
        <p:nvGraphicFramePr>
          <p:cNvPr id="2" name="">
            <a:extLst xmlns:a="http://schemas.openxmlformats.org/drawingml/2006/main">
              <a:ext uri="{FF2B5EF4-FFF2-40B4-BE49-F238E27FC236}">
                <a16:creationId xmlns:a16="http://schemas.microsoft.com/office/drawing/2014/main" id="{025D8E4B-CE77-4668-BAC2-BB622413E512}"/>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Laboratory monoclonal stool antigen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Sensitivity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~90–95%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Specificity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~90–97%</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Lower with suppression, suboptimal rapid assays.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F8D02D2-A52E-4428-A30E-D3F1B399C33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3041499-7B09-4D9B-903D-61DA2E5728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51614713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B491B5-9F6F-4508-9F5C-A76ED181E6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graphicFrame>
        <p:nvGraphicFramePr>
          <p:cNvPr id="2" name="">
            <a:extLst xmlns:a="http://schemas.openxmlformats.org/drawingml/2006/main">
              <a:ext uri="{FF2B5EF4-FFF2-40B4-BE49-F238E27FC236}">
                <a16:creationId xmlns:a16="http://schemas.microsoft.com/office/drawing/2014/main" id="{39B905E1-64F1-4792-8AF1-C34BF56AB856}"/>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Histopathology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Sensitivity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~85–95%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Specificity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~95–100%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Sampling, staining, pathologist and bacterial density.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22F9DBF-023E-4C60-959E-77DD670F99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EA946B1-5F7F-44F6-9BF0-CE099E4B5F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98918083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60E260-5C96-4443-A924-EF7334E7B1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graphicFrame>
        <p:nvGraphicFramePr>
          <p:cNvPr id="2" name="">
            <a:extLst xmlns:a="http://schemas.openxmlformats.org/drawingml/2006/main">
              <a:ext uri="{FF2B5EF4-FFF2-40B4-BE49-F238E27FC236}">
                <a16:creationId xmlns:a16="http://schemas.microsoft.com/office/drawing/2014/main" id="{A496ECFF-A3AA-4F86-BD7C-E49D01AC622C}"/>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Rapid urease biopsy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Sensitivity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~85–95%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Specificity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~95–100%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Can lose sensitivity with bleeding or medications.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1A4AD28-E644-42C0-A536-4A6422A4DD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5085AFE-4D13-4691-BC90-5B76A210C1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525049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8FF752-3B3F-4308-84CD-4D69D1D49AE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graphicFrame>
        <p:nvGraphicFramePr>
          <p:cNvPr id="2" name="">
            <a:extLst xmlns:a="http://schemas.openxmlformats.org/drawingml/2006/main">
              <a:ext uri="{FF2B5EF4-FFF2-40B4-BE49-F238E27FC236}">
                <a16:creationId xmlns:a16="http://schemas.microsoft.com/office/drawing/2014/main" id="{A95F5581-BD46-4DEF-B4B7-B1C831B5FB55}"/>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Serology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Sensitivity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Highly assay-dependent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Specificity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Highly assay-dependent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Even an analytically accurate IgG assay cannot distinguish past from active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59CEEB1-562A-4030-AC5B-2EF40D711A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45C1B4F-601F-4BB1-A305-2BAB7314BAB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63498335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026BED-1E10-46E7-9268-A5D66EE375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graphicFrame>
        <p:nvGraphicFramePr>
          <p:cNvPr id="2" name="">
            <a:extLst xmlns:a="http://schemas.openxmlformats.org/drawingml/2006/main">
              <a:ext uri="{FF2B5EF4-FFF2-40B4-BE49-F238E27FC236}">
                <a16:creationId xmlns:a16="http://schemas.microsoft.com/office/drawing/2014/main" id="{C58FF289-E6B7-491A-B64C-369960C0DF23}"/>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Culture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Sensitivity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Variable, often below molecular methods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Specificity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Very high for organism identification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Recovery heavily affected by transport and prior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DF6C0C9-52A2-4844-9CF5-D7EB5BADCD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264EF5-334E-4433-A8D9-2766C37520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1747886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8B2A51-F788-4F98-B082-5EA8CB4EAB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Approximate test accuracy and interpretation</a:t>
            </a:r>
          </a:p>
        </p:txBody>
      </p:sp>
      <p:sp>
        <p:nvSpPr>
          <p:cNvPr id="2" name="paragraph-0">
            <a:extLst xmlns:a="http://schemas.openxmlformats.org/drawingml/2006/main">
              <a:ext uri="{FF2B5EF4-FFF2-40B4-BE49-F238E27FC236}">
                <a16:creationId xmlns:a16="http://schemas.microsoft.com/office/drawing/2014/main" id="{C33B4F13-759C-4FEA-9026-7CACDFE8F3D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single universal sensitivity/specificity should be assigned to stool PCR: use the specific assay validation and target. Ranges are educational approximations, not pooled head-to-head estimates. See diagnostic review and laboratory references below.</a:t>
            </a:r>
          </a:p>
        </p:txBody>
      </p:sp>
      <p:sp>
        <p:nvSpPr>
          <p:cNvPr id="3" name="footer">
            <a:extLst xmlns:a="http://schemas.openxmlformats.org/drawingml/2006/main">
              <a:ext uri="{FF2B5EF4-FFF2-40B4-BE49-F238E27FC236}">
                <a16:creationId xmlns:a16="http://schemas.microsoft.com/office/drawing/2014/main" id="{A689E10A-FE98-4CE8-A6B2-4137800CC5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FF11848-AB12-454D-935B-7C652ACD59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83945540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3C3B752-D51F-4010-94DD-6AD220FE6F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graphicFrame>
        <p:nvGraphicFramePr>
          <p:cNvPr id="2" name="">
            <a:extLst xmlns:a="http://schemas.openxmlformats.org/drawingml/2006/main">
              <a:ext uri="{FF2B5EF4-FFF2-40B4-BE49-F238E27FC236}">
                <a16:creationId xmlns:a16="http://schemas.microsoft.com/office/drawing/2014/main" id="{4ED62319-316D-465D-9FC3-F3BD20F3C3FB}"/>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Pylera Bismuth subcitrate potassium + metronidazole + tetracycline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Actual administration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Three capsules QID (after meals and at bedtime) plus a separately prescribed PPI BID. Each capsule: bismuth subcitrate potassium 140 mg, metronidazole 125 mg, tetracycline hydrochloride 125 mg.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FF6ECDF-1326-442F-8D31-77C84C226C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ABFC6B-684E-4DBA-9003-2C6322AC10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44046959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962A70-732B-4D5F-A585-479013986F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graphicFrame>
        <p:nvGraphicFramePr>
          <p:cNvPr id="2" name="">
            <a:extLst xmlns:a="http://schemas.openxmlformats.org/drawingml/2006/main">
              <a:ext uri="{FF2B5EF4-FFF2-40B4-BE49-F238E27FC236}">
                <a16:creationId xmlns:a16="http://schemas.microsoft.com/office/drawing/2014/main" id="{16243391-7E05-462A-B25C-D22621742446}"/>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Pylera Bismuth subcitrate potassium + metronidazole + tetracycline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Caveats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 labeling is 10 days with omeprazole; the ACG 14-day optimized BQT recommendation should not be confused with package labeling. The Pylera schedule provides metronidazole 1.5 g/day and tetracycline 1.5 g/day, not the same component doses as individually prescribed optimized BQT.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F7846E7-AF8F-4EB5-9A6B-77F762E5CB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19AEA33-F7A8-4461-BC96-D88A1223A7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96319813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0726A0-803C-4C43-9202-30EDF6C791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graphicFrame>
        <p:nvGraphicFramePr>
          <p:cNvPr id="2" name="">
            <a:extLst xmlns:a="http://schemas.openxmlformats.org/drawingml/2006/main">
              <a:ext uri="{FF2B5EF4-FFF2-40B4-BE49-F238E27FC236}">
                <a16:creationId xmlns:a16="http://schemas.microsoft.com/office/drawing/2014/main" id="{1A44037B-39C3-43FE-883F-C7727072539B}"/>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Talicia Omeprazole + amoxicillin + rifabutin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Actual administration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Four capsules TID with food for 14 days (12 capsules/day); daily totals omeprazole 120 mg, amoxicillin 3 g, rifabutin 150 mg.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Caveats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Each capsule has omeprazole 10 mg, amoxicillin 250 mg, rifabutin 12.5 mg. Check renal impairment, rifamycin interactions and blood counts as indicated.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CB3A972-EE8D-4C1D-9973-D4016CCDF0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E58C41A-A596-46D1-A7CB-E981EB815C2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921108719"/>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23C65C-261E-4215-B07C-0CB9F83506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graphicFrame>
        <p:nvGraphicFramePr>
          <p:cNvPr id="2" name="">
            <a:extLst xmlns:a="http://schemas.openxmlformats.org/drawingml/2006/main">
              <a:ext uri="{FF2B5EF4-FFF2-40B4-BE49-F238E27FC236}">
                <a16:creationId xmlns:a16="http://schemas.microsoft.com/office/drawing/2014/main" id="{0E4E6274-DBAF-4CDC-BCBB-DED3539B6F15}"/>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Voquezna Dual Pak Vonoprazan + 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Actual administration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Vonoprazan 20 mg BID plus amoxicillin 1 g TID for 14 days.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Caveats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availability, kidney function and penicillin allergy; 14-day pack is designed for the dual regimen.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83B8979-0F38-47CD-8AD3-7F6A016E006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B08B769-1F7D-4B6E-9D11-20010792C3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78532168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4850DAF-51C0-4211-81BA-E9CCC84894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graphicFrame>
        <p:nvGraphicFramePr>
          <p:cNvPr id="2" name="">
            <a:extLst xmlns:a="http://schemas.openxmlformats.org/drawingml/2006/main">
              <a:ext uri="{FF2B5EF4-FFF2-40B4-BE49-F238E27FC236}">
                <a16:creationId xmlns:a16="http://schemas.microsoft.com/office/drawing/2014/main" id="{5FFE245F-752E-4394-BADA-EA82F1601FDA}"/>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Voquezna Triple Pak Vonoprazan + amoxicillin + clarithromycin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Actual administration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Vonoprazan 20 mg BID, amoxicillin 1 g BID, clarithromycin 500 mg BID for 14 days.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Caveats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Only appropriate when clarithromycin susceptibility is documented under ACG recommendations, despite product marketing/label indications.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EED4A49-E9E8-46A3-8F4F-209503E80C1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6C0BC22-BAD5-424E-B7B2-72949BDDDF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71562557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DDA26BB-82AA-4470-BE79-4DE0B93F8D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Commercial combination products and pill burden</a:t>
            </a:r>
          </a:p>
        </p:txBody>
      </p:sp>
      <p:sp>
        <p:nvSpPr>
          <p:cNvPr id="2" name="paragraph-0">
            <a:extLst xmlns:a="http://schemas.openxmlformats.org/drawingml/2006/main">
              <a:ext uri="{FF2B5EF4-FFF2-40B4-BE49-F238E27FC236}">
                <a16:creationId xmlns:a16="http://schemas.microsoft.com/office/drawing/2014/main" id="{3072B40B-2CEC-4040-80D5-4DE4C284DF56}"/>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Helidac is a co-pack containing bismuth subsalicylate, metronidazole, and tetracycline, taken with a separately prescribed acid suppressant. Follow current product instructions and verify commercial availability. Pylera is a fixed-combination capsule; its 10-day FDA labeling differs from the guideline's 14-day optimized bismuth regimen. Individual bismuth products have different salt and strength formulations. Confirm actual elemental/product strength and dosing with pharmacy. Metronidazole QID and tetracycline QID are a substantial adherence burden.</a:t>
            </a:r>
          </a:p>
        </p:txBody>
      </p:sp>
      <p:sp>
        <p:nvSpPr>
          <p:cNvPr id="3" name="paragraph-1">
            <a:extLst xmlns:a="http://schemas.openxmlformats.org/drawingml/2006/main">
              <a:ext uri="{FF2B5EF4-FFF2-40B4-BE49-F238E27FC236}">
                <a16:creationId xmlns:a16="http://schemas.microsoft.com/office/drawing/2014/main" id="{73694BCD-6971-4FD4-BE16-2A002274FE0A}"/>
              </a:ext>
            </a:extLst>
          </p:cNvPr>
          <p:cNvSpPr>
            <a:spLocks xmlns:a="http://schemas.openxmlformats.org/drawingml/2006/main" noGrp="1"/>
          </p:cNvSpPr>
          <p:nvPr/>
        </p:nvSpPr>
        <p:spPr>
          <a:xfrm xmlns:a="http://schemas.openxmlformats.org/drawingml/2006/main">
            <a:off x="647700" y="50292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simply interchange Pylera and an optimized BQT prescription without checking doses and duration.</a:t>
            </a:r>
          </a:p>
        </p:txBody>
      </p:sp>
      <p:sp>
        <p:nvSpPr>
          <p:cNvPr id="4" name="footer">
            <a:extLst xmlns:a="http://schemas.openxmlformats.org/drawingml/2006/main">
              <a:ext uri="{FF2B5EF4-FFF2-40B4-BE49-F238E27FC236}">
                <a16:creationId xmlns:a16="http://schemas.microsoft.com/office/drawing/2014/main" id="{FBD133E6-9350-41C7-9475-51FD8891F0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2DCE878-2EED-4CC1-B718-82E275F98C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16315763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82E8416-9608-472D-90E0-08CA272DD6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Adverse effects and medication counseling</a:t>
            </a:r>
          </a:p>
        </p:txBody>
      </p:sp>
      <p:sp>
        <p:nvSpPr>
          <p:cNvPr id="2" name="paragraph-0">
            <a:extLst xmlns:a="http://schemas.openxmlformats.org/drawingml/2006/main">
              <a:ext uri="{FF2B5EF4-FFF2-40B4-BE49-F238E27FC236}">
                <a16:creationId xmlns:a16="http://schemas.microsoft.com/office/drawing/2014/main" id="{BD54BF82-0033-431B-9FF1-91C81BD3FD84}"/>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Bismuth can darken stool or tongue and may be unsuitable with salicylate hypersensitivity (subsalicylate formulation). Tetracycline interacts with polyvalent cations and is avoided in pregnancy; separate from calcium, iron and antacids as directed. Metronidazole causes nausea, metallic taste and neuropathy with prolonged exposure; assess warfarin interaction. Rifabutin can cause cytopenias, uveitis, discoloration of secretions, CYP interactions and resistance concerns when used for other mycobacterial indications. Amoxicillin requires allergy and renal assessment.</a:t>
            </a:r>
          </a:p>
        </p:txBody>
      </p:sp>
      <p:sp>
        <p:nvSpPr>
          <p:cNvPr id="3" name="footer">
            <a:extLst xmlns:a="http://schemas.openxmlformats.org/drawingml/2006/main">
              <a:ext uri="{FF2B5EF4-FFF2-40B4-BE49-F238E27FC236}">
                <a16:creationId xmlns:a16="http://schemas.microsoft.com/office/drawing/2014/main" id="{32CF4999-AF2B-4D07-910E-422F0AEB98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83AF3E1-396C-49F4-954C-1567775452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101069687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E99E828-AE6B-4EFE-A976-F81D6AA4A21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Adverse effects and medication counseling</a:t>
            </a:r>
          </a:p>
        </p:txBody>
      </p:sp>
      <p:sp>
        <p:nvSpPr>
          <p:cNvPr id="2" name="paragraph-0">
            <a:extLst xmlns:a="http://schemas.openxmlformats.org/drawingml/2006/main">
              <a:ext uri="{FF2B5EF4-FFF2-40B4-BE49-F238E27FC236}">
                <a16:creationId xmlns:a16="http://schemas.microsoft.com/office/drawing/2014/main" id="{E9126496-39EB-4302-9EB9-0883BCF4F64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Clarithromycin has QT, CYP3A, and drug-interaction concerns. Levofloxacin carries tendon, neuropathy, CNS, dysglycemia, aortic aneurysm risk and other FDA warnings; renal adjustment is required. Vonoprazan has drug interactions and renal/hepatic labeling considerations.</a:t>
            </a:r>
          </a:p>
        </p:txBody>
      </p:sp>
      <p:sp>
        <p:nvSpPr>
          <p:cNvPr id="3" name="footer">
            <a:extLst xmlns:a="http://schemas.openxmlformats.org/drawingml/2006/main">
              <a:ext uri="{FF2B5EF4-FFF2-40B4-BE49-F238E27FC236}">
                <a16:creationId xmlns:a16="http://schemas.microsoft.com/office/drawing/2014/main" id="{E18A4362-337C-4BBC-A7E5-A55BD86C2F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BA83DEC-CF61-4EFD-816F-250BB4742B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926163100"/>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6B51591-827F-459C-8781-A4001C1875C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cases</a:t>
            </a:r>
          </a:p>
        </p:txBody>
      </p:sp>
      <p:sp>
        <p:nvSpPr>
          <p:cNvPr id="2" name="paragraph-0">
            <a:extLst xmlns:a="http://schemas.openxmlformats.org/drawingml/2006/main">
              <a:ext uri="{FF2B5EF4-FFF2-40B4-BE49-F238E27FC236}">
                <a16:creationId xmlns:a16="http://schemas.microsoft.com/office/drawing/2014/main" id="{E33980E8-EC4B-4A72-AF52-01A1F37453A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Case 1. A patient took 14 days of BQT. A stool antigen assay is negative 8 days after finishing treatment while the patient is still taking pantoprazole. Answer: uninterpretable for cure; repeat after appropriate antibiotic/bismuth and acid suppression washout.</a:t>
            </a:r>
          </a:p>
        </p:txBody>
      </p:sp>
      <p:sp>
        <p:nvSpPr>
          <p:cNvPr id="3" name="paragraph-1">
            <a:extLst xmlns:a="http://schemas.openxmlformats.org/drawingml/2006/main">
              <a:ext uri="{FF2B5EF4-FFF2-40B4-BE49-F238E27FC236}">
                <a16:creationId xmlns:a16="http://schemas.microsoft.com/office/drawing/2014/main" id="{79ED1BC7-0CCB-4FAE-9D00-5D28F07A05A9}"/>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Case 2. A patient failed PPI + amoxicillin + clarithromycin, then reports taking bismuth + tetracycline + metronidazole + PPI (“quadruple therapy”) but only received 7 days and missed many afternoon doses. Answer: first verify whether truly optimized BQT was completed; do not assume multidrug resistance from regimen names alone.</a:t>
            </a:r>
          </a:p>
        </p:txBody>
      </p:sp>
      <p:sp>
        <p:nvSpPr>
          <p:cNvPr id="4" name="footer">
            <a:extLst xmlns:a="http://schemas.openxmlformats.org/drawingml/2006/main">
              <a:ext uri="{FF2B5EF4-FFF2-40B4-BE49-F238E27FC236}">
                <a16:creationId xmlns:a16="http://schemas.microsoft.com/office/drawing/2014/main" id="{19A7A7A3-5623-4E1F-9E6C-E1E912CEE0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AC464BA0-7121-48E9-B3A7-6F88AD6C1E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1905471732"/>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9605A1-5764-4B97-9A44-12DDBE00F34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Clinical cases</a:t>
            </a:r>
          </a:p>
        </p:txBody>
      </p:sp>
      <p:sp>
        <p:nvSpPr>
          <p:cNvPr id="2" name="paragraph-0">
            <a:extLst xmlns:a="http://schemas.openxmlformats.org/drawingml/2006/main">
              <a:ext uri="{FF2B5EF4-FFF2-40B4-BE49-F238E27FC236}">
                <a16:creationId xmlns:a16="http://schemas.microsoft.com/office/drawing/2014/main" id="{D2D23539-6793-42A2-BF78-55992369FE2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Case 3. Two fully documented regimens failed and stool PCR predicts clarithromycin resistance. Answer: do not use clarithromycin; consider susceptibility-directed management, including dedicated EGD biopsy culture if needed, after reviewing adherence and prior drug exposure.</a:t>
            </a:r>
          </a:p>
        </p:txBody>
      </p:sp>
      <p:sp>
        <p:nvSpPr>
          <p:cNvPr id="3" name="footer">
            <a:extLst xmlns:a="http://schemas.openxmlformats.org/drawingml/2006/main">
              <a:ext uri="{FF2B5EF4-FFF2-40B4-BE49-F238E27FC236}">
                <a16:creationId xmlns:a16="http://schemas.microsoft.com/office/drawing/2014/main" id="{9FBC3F87-C7F9-4420-908A-54F69EF52F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14F9DA0-95FF-49AF-9772-F7B45C8A598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91269270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BE7DBBE-9982-47DE-81C3-3FF11E77BFB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49869190-DD93-49DE-8925-F45F8F8B46C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Chey WD et al. ACG Clinical Guideline: Treatment of Helicobacter pylori Infection. Am J Gastroenterol . 2024;119:1730–1753. ACG summary .</a:t>
            </a:r>
          </a:p>
        </p:txBody>
      </p:sp>
      <p:sp>
        <p:nvSpPr>
          <p:cNvPr id="3" name="paragraph-1">
            <a:extLst xmlns:a="http://schemas.openxmlformats.org/drawingml/2006/main">
              <a:ext uri="{FF2B5EF4-FFF2-40B4-BE49-F238E27FC236}">
                <a16:creationId xmlns:a16="http://schemas.microsoft.com/office/drawing/2014/main" id="{E17C8AC6-F568-4652-9B0D-C787333E896F}"/>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Shah SC, Iyer PG, Moss SF. AGA Clinical Practice Update on the Management of Refractory Helicobacter pylori Infection: Expert Review. Gastroenterology . 2021;160:1831–1841. Best Practice Advice 9–10 .</a:t>
            </a:r>
          </a:p>
        </p:txBody>
      </p:sp>
      <p:sp>
        <p:nvSpPr>
          <p:cNvPr id="4" name="paragraph-2">
            <a:extLst xmlns:a="http://schemas.openxmlformats.org/drawingml/2006/main">
              <a:ext uri="{FF2B5EF4-FFF2-40B4-BE49-F238E27FC236}">
                <a16:creationId xmlns:a16="http://schemas.microsoft.com/office/drawing/2014/main" id="{1E29F903-B6FE-4ED6-8BD3-E30AB0704CFA}"/>
              </a:ext>
            </a:extLst>
          </p:cNvPr>
          <p:cNvSpPr>
            <a:spLocks xmlns:a="http://schemas.openxmlformats.org/drawingml/2006/main" noGrp="1"/>
          </p:cNvSpPr>
          <p:nvPr/>
        </p:nvSpPr>
        <p:spPr>
          <a:xfrm xmlns:a="http://schemas.openxmlformats.org/drawingml/2006/main">
            <a:off x="647700" y="42291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Malfertheiner P et al. Management of Helicobacter pylori infection: Maastricht VI/Florence consensus report. Gut . 2022. Consensus .</a:t>
            </a:r>
          </a:p>
        </p:txBody>
      </p:sp>
      <p:sp>
        <p:nvSpPr>
          <p:cNvPr id="5" name="footer">
            <a:extLst xmlns:a="http://schemas.openxmlformats.org/drawingml/2006/main">
              <a:ext uri="{FF2B5EF4-FFF2-40B4-BE49-F238E27FC236}">
                <a16:creationId xmlns:a16="http://schemas.microsoft.com/office/drawing/2014/main" id="{450B6955-9B94-4FD6-B96B-E66B32E805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D80062A2-7421-4697-8826-8FC30DCDCF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442004259"/>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4EE74A8-B802-416E-A401-30BE1288FC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647D426C-9A7D-40F7-AB8F-0EF58D7BF3B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American Molecular Laboratories. PyloriDx/PyloriAR six-drug NGS panel ; specimen requisition and forms . See also Testing for H. pylori in an era of antimicrobial resistance , J Clin Microbiol , 2024.</a:t>
            </a:r>
          </a:p>
        </p:txBody>
      </p:sp>
      <p:sp>
        <p:nvSpPr>
          <p:cNvPr id="3" name="paragraph-1">
            <a:extLst xmlns:a="http://schemas.openxmlformats.org/drawingml/2006/main">
              <a:ext uri="{FF2B5EF4-FFF2-40B4-BE49-F238E27FC236}">
                <a16:creationId xmlns:a16="http://schemas.microsoft.com/office/drawing/2014/main" id="{85EDBE0D-1794-4939-9C4D-18E7B3FE6CD3}"/>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Mayo Clinic Laboratories. H. pylori diagnostic algorithm, December 2025 ; HELIS culture and susceptibility instructions .</a:t>
            </a:r>
          </a:p>
        </p:txBody>
      </p:sp>
      <p:sp>
        <p:nvSpPr>
          <p:cNvPr id="4" name="paragraph-2">
            <a:extLst xmlns:a="http://schemas.openxmlformats.org/drawingml/2006/main">
              <a:ext uri="{FF2B5EF4-FFF2-40B4-BE49-F238E27FC236}">
                <a16:creationId xmlns:a16="http://schemas.microsoft.com/office/drawing/2014/main" id="{E48A649E-1BE9-42CA-9693-B43266A93CC1}"/>
              </a:ext>
            </a:extLst>
          </p:cNvPr>
          <p:cNvSpPr>
            <a:spLocks xmlns:a="http://schemas.openxmlformats.org/drawingml/2006/main" noGrp="1"/>
          </p:cNvSpPr>
          <p:nvPr/>
        </p:nvSpPr>
        <p:spPr>
          <a:xfrm xmlns:a="http://schemas.openxmlformats.org/drawingml/2006/main">
            <a:off x="647700" y="42291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Product-specific dosing and restrictions should be checked against current US Prescribing Information for Pylera, Talicia and Voquezna packs before prescribing. Local antibiograms and laboratory test menus may differ.</a:t>
            </a:r>
          </a:p>
        </p:txBody>
      </p:sp>
      <p:sp>
        <p:nvSpPr>
          <p:cNvPr id="5" name="footer">
            <a:extLst xmlns:a="http://schemas.openxmlformats.org/drawingml/2006/main">
              <a:ext uri="{FF2B5EF4-FFF2-40B4-BE49-F238E27FC236}">
                <a16:creationId xmlns:a16="http://schemas.microsoft.com/office/drawing/2014/main" id="{0A69E7AF-FFE7-4C6B-BD0B-4C585A442E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690278FD-36D6-451A-83A0-D899A08461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20645409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2026-10-28T18:29:04.6820000Z</dcterms:created>
  <dcterms:modified xsi:type="dcterms:W3CDTF">2026-10-28T18:29:04.6820000Z</dcterms:modified>
</coreProperties>
</file>