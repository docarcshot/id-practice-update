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53547867a747d5" /><Relationship Type="http://schemas.openxmlformats.org/officeDocument/2006/relationships/extended-properties" Target="/docProps/app.xml" Id="R93857647d7044a8d" /><Relationship Type="http://schemas.openxmlformats.org/officeDocument/2006/relationships/officeDocument" Target="/ppt/presentation.xml" Id="R67d5342ba520481a" /></Relationships>
</file>

<file path=ppt/presentation.xml><?xml version="1.0" encoding="utf-8"?>
<p:presentation xmlns:p="http://schemas.openxmlformats.org/presentationml/2006/main">
  <p:sldMasterIdLst>
    <p:sldMasterId xmlns:r="http://schemas.openxmlformats.org/officeDocument/2006/relationships" id="2147483648" r:id="R888920d8da3a4a10"/>
  </p:sldMasterIdLst>
  <p:notesMasterIdLst>
    <p:notesMasterId xmlns:r="http://schemas.openxmlformats.org/officeDocument/2006/relationships" r:id="Rb390b4014723468f"/>
  </p:notesMasterIdLst>
  <p:sldIdLst>
    <p:sldId xmlns:r="http://schemas.openxmlformats.org/officeDocument/2006/relationships" id="256" r:id="R8bae4ce0522a4ef1"/>
    <p:sldId xmlns:r="http://schemas.openxmlformats.org/officeDocument/2006/relationships" id="257" r:id="R9bb8619d556945b8"/>
    <p:sldId xmlns:r="http://schemas.openxmlformats.org/officeDocument/2006/relationships" id="258" r:id="Ra56229c366c44307"/>
    <p:sldId xmlns:r="http://schemas.openxmlformats.org/officeDocument/2006/relationships" id="259" r:id="Ra2f43a8ee23545a0"/>
    <p:sldId xmlns:r="http://schemas.openxmlformats.org/officeDocument/2006/relationships" id="260" r:id="Re7e221cd6f6544b1"/>
    <p:sldId xmlns:r="http://schemas.openxmlformats.org/officeDocument/2006/relationships" id="261" r:id="R47bb38740cc84a92"/>
    <p:sldId xmlns:r="http://schemas.openxmlformats.org/officeDocument/2006/relationships" id="262" r:id="Re5af6f6f6a48417b"/>
    <p:sldId xmlns:r="http://schemas.openxmlformats.org/officeDocument/2006/relationships" id="263" r:id="Ra79e23f7541244ae"/>
    <p:sldId xmlns:r="http://schemas.openxmlformats.org/officeDocument/2006/relationships" id="264" r:id="R3b364c1768f948c0"/>
    <p:sldId xmlns:r="http://schemas.openxmlformats.org/officeDocument/2006/relationships" id="265" r:id="R36f580dc19a4418d"/>
    <p:sldId xmlns:r="http://schemas.openxmlformats.org/officeDocument/2006/relationships" id="266" r:id="R98f7eb080b4b4a83"/>
    <p:sldId xmlns:r="http://schemas.openxmlformats.org/officeDocument/2006/relationships" id="267" r:id="R6e6282e4d9c8453d"/>
    <p:sldId xmlns:r="http://schemas.openxmlformats.org/officeDocument/2006/relationships" id="268" r:id="R09d02dc064ec4b6f"/>
    <p:sldId xmlns:r="http://schemas.openxmlformats.org/officeDocument/2006/relationships" id="269" r:id="R312ce451e35c42e9"/>
    <p:sldId xmlns:r="http://schemas.openxmlformats.org/officeDocument/2006/relationships" id="270" r:id="R9ad23700d8904893"/>
    <p:sldId xmlns:r="http://schemas.openxmlformats.org/officeDocument/2006/relationships" id="271" r:id="R1670a15381be4a70"/>
    <p:sldId xmlns:r="http://schemas.openxmlformats.org/officeDocument/2006/relationships" id="272" r:id="R7c0eb76b66d94c79"/>
    <p:sldId xmlns:r="http://schemas.openxmlformats.org/officeDocument/2006/relationships" id="273" r:id="R82fd55d65b0944b4"/>
    <p:sldId xmlns:r="http://schemas.openxmlformats.org/officeDocument/2006/relationships" id="274" r:id="R3a1f5e11b16e4f3e"/>
    <p:sldId xmlns:r="http://schemas.openxmlformats.org/officeDocument/2006/relationships" id="275" r:id="Re13fc035654448de"/>
    <p:sldId xmlns:r="http://schemas.openxmlformats.org/officeDocument/2006/relationships" id="276" r:id="R765eebcba6a4419e"/>
    <p:sldId xmlns:r="http://schemas.openxmlformats.org/officeDocument/2006/relationships" id="277" r:id="R484a2efe9aeb4c1f"/>
    <p:sldId xmlns:r="http://schemas.openxmlformats.org/officeDocument/2006/relationships" id="278" r:id="R0bd4f4c24c314145"/>
    <p:sldId xmlns:r="http://schemas.openxmlformats.org/officeDocument/2006/relationships" id="279" r:id="R803340fc3b3b4eb6"/>
    <p:sldId xmlns:r="http://schemas.openxmlformats.org/officeDocument/2006/relationships" id="280" r:id="Rff5f3a2d181c4afd"/>
    <p:sldId xmlns:r="http://schemas.openxmlformats.org/officeDocument/2006/relationships" id="281" r:id="Raa1f423d8ef04435"/>
    <p:sldId xmlns:r="http://schemas.openxmlformats.org/officeDocument/2006/relationships" id="282" r:id="R53ec1307d0e34ba9"/>
    <p:sldId xmlns:r="http://schemas.openxmlformats.org/officeDocument/2006/relationships" id="283" r:id="R6ee7496fcc91492e"/>
    <p:sldId xmlns:r="http://schemas.openxmlformats.org/officeDocument/2006/relationships" id="284" r:id="Rc06602e4dbe8481d"/>
    <p:sldId xmlns:r="http://schemas.openxmlformats.org/officeDocument/2006/relationships" id="285" r:id="R60147fb391014de5"/>
    <p:sldId xmlns:r="http://schemas.openxmlformats.org/officeDocument/2006/relationships" id="286" r:id="R01650adc50c44570"/>
    <p:sldId xmlns:r="http://schemas.openxmlformats.org/officeDocument/2006/relationships" id="287" r:id="Re23c2dc0d00f482a"/>
    <p:sldId xmlns:r="http://schemas.openxmlformats.org/officeDocument/2006/relationships" id="288" r:id="Rf16e4d98c3844422"/>
    <p:sldId xmlns:r="http://schemas.openxmlformats.org/officeDocument/2006/relationships" id="289" r:id="R58b60c17a4454af5"/>
    <p:sldId xmlns:r="http://schemas.openxmlformats.org/officeDocument/2006/relationships" id="290" r:id="Rd4dab28f45594da2"/>
    <p:sldId xmlns:r="http://schemas.openxmlformats.org/officeDocument/2006/relationships" id="291" r:id="R1d3f3c43232245cf"/>
    <p:sldId xmlns:r="http://schemas.openxmlformats.org/officeDocument/2006/relationships" id="292" r:id="Rea28bd3b08464869"/>
    <p:sldId xmlns:r="http://schemas.openxmlformats.org/officeDocument/2006/relationships" id="293" r:id="Rd2c58529299446c9"/>
    <p:sldId xmlns:r="http://schemas.openxmlformats.org/officeDocument/2006/relationships" id="294" r:id="Ra6f7273ade084bd4"/>
    <p:sldId xmlns:r="http://schemas.openxmlformats.org/officeDocument/2006/relationships" id="295" r:id="R81e72b5936ad4107"/>
    <p:sldId xmlns:r="http://schemas.openxmlformats.org/officeDocument/2006/relationships" id="296" r:id="Rcec270df5160466f"/>
    <p:sldId xmlns:r="http://schemas.openxmlformats.org/officeDocument/2006/relationships" id="297" r:id="R2fa63e3af884470d"/>
    <p:sldId xmlns:r="http://schemas.openxmlformats.org/officeDocument/2006/relationships" id="298" r:id="R7e305d561a884c95"/>
    <p:sldId xmlns:r="http://schemas.openxmlformats.org/officeDocument/2006/relationships" id="299" r:id="Rcad08e14ae924b1c"/>
    <p:sldId xmlns:r="http://schemas.openxmlformats.org/officeDocument/2006/relationships" id="300" r:id="R008e1ab1995c4037"/>
    <p:sldId xmlns:r="http://schemas.openxmlformats.org/officeDocument/2006/relationships" id="301" r:id="R4524435dbac84ad4"/>
    <p:sldId xmlns:r="http://schemas.openxmlformats.org/officeDocument/2006/relationships" id="302" r:id="Rcdcbf130fb63492e"/>
    <p:sldId xmlns:r="http://schemas.openxmlformats.org/officeDocument/2006/relationships" id="303" r:id="R0a94cc1b63584a7c"/>
    <p:sldId xmlns:r="http://schemas.openxmlformats.org/officeDocument/2006/relationships" id="304" r:id="Rb9243d2f8a504938"/>
    <p:sldId xmlns:r="http://schemas.openxmlformats.org/officeDocument/2006/relationships" id="305" r:id="Rd7284c9c13fb41d7"/>
    <p:sldId xmlns:r="http://schemas.openxmlformats.org/officeDocument/2006/relationships" id="306" r:id="R95dc39c1837d4e1a"/>
    <p:sldId xmlns:r="http://schemas.openxmlformats.org/officeDocument/2006/relationships" id="307" r:id="R4419de2acfdf4cc0"/>
    <p:sldId xmlns:r="http://schemas.openxmlformats.org/officeDocument/2006/relationships" id="308" r:id="Recc6747879944169"/>
    <p:sldId xmlns:r="http://schemas.openxmlformats.org/officeDocument/2006/relationships" id="309" r:id="R1de4aed0a3934c68"/>
    <p:sldId xmlns:r="http://schemas.openxmlformats.org/officeDocument/2006/relationships" id="310" r:id="R88d8f71303194bb8"/>
    <p:sldId xmlns:r="http://schemas.openxmlformats.org/officeDocument/2006/relationships" id="311" r:id="R5d2f8a26e6954c6a"/>
    <p:sldId xmlns:r="http://schemas.openxmlformats.org/officeDocument/2006/relationships" id="312" r:id="Rb108529433a04946"/>
    <p:sldId xmlns:r="http://schemas.openxmlformats.org/officeDocument/2006/relationships" id="313" r:id="Ra7527e0b683848bf"/>
    <p:sldId xmlns:r="http://schemas.openxmlformats.org/officeDocument/2006/relationships" id="314" r:id="Rab876670eb174c18"/>
    <p:sldId xmlns:r="http://schemas.openxmlformats.org/officeDocument/2006/relationships" id="315" r:id="Rfc027ef953da4da8"/>
    <p:sldId xmlns:r="http://schemas.openxmlformats.org/officeDocument/2006/relationships" id="316" r:id="Rc16c824a6e544a24"/>
    <p:sldId xmlns:r="http://schemas.openxmlformats.org/officeDocument/2006/relationships" id="317" r:id="R3f4d7772d0f74a4e"/>
    <p:sldId xmlns:r="http://schemas.openxmlformats.org/officeDocument/2006/relationships" id="318" r:id="Rf8492c675e5b4e31"/>
    <p:sldId xmlns:r="http://schemas.openxmlformats.org/officeDocument/2006/relationships" id="319" r:id="R8f37d5c5d6af4e1b"/>
    <p:sldId xmlns:r="http://schemas.openxmlformats.org/officeDocument/2006/relationships" id="320" r:id="Rfc63ba6e5f3644d7"/>
    <p:sldId xmlns:r="http://schemas.openxmlformats.org/officeDocument/2006/relationships" id="321" r:id="R0949c8a7cab54e5f"/>
    <p:sldId xmlns:r="http://schemas.openxmlformats.org/officeDocument/2006/relationships" id="322" r:id="Rd34fedd7ce1642ac"/>
    <p:sldId xmlns:r="http://schemas.openxmlformats.org/officeDocument/2006/relationships" id="323" r:id="R7f276c42b4c44846"/>
    <p:sldId xmlns:r="http://schemas.openxmlformats.org/officeDocument/2006/relationships" id="324" r:id="R2bb84c4a7f774dcc"/>
    <p:sldId xmlns:r="http://schemas.openxmlformats.org/officeDocument/2006/relationships" id="325" r:id="Rc46d53c2ce9d4bce"/>
    <p:sldId xmlns:r="http://schemas.openxmlformats.org/officeDocument/2006/relationships" id="326" r:id="R48bb3be765944a7f"/>
    <p:sldId xmlns:r="http://schemas.openxmlformats.org/officeDocument/2006/relationships" id="327" r:id="R3ff10c16c5f14466"/>
    <p:sldId xmlns:r="http://schemas.openxmlformats.org/officeDocument/2006/relationships" id="328" r:id="Raaa6cc7a6af24a04"/>
    <p:sldId xmlns:r="http://schemas.openxmlformats.org/officeDocument/2006/relationships" id="329" r:id="Rab814ca926e84e9a"/>
    <p:sldId xmlns:r="http://schemas.openxmlformats.org/officeDocument/2006/relationships" id="330" r:id="R855d1854718e4cd5"/>
    <p:sldId xmlns:r="http://schemas.openxmlformats.org/officeDocument/2006/relationships" id="331" r:id="Rdade0b2b0ad74249"/>
    <p:sldId xmlns:r="http://schemas.openxmlformats.org/officeDocument/2006/relationships" id="332" r:id="Red97069f73e641a2"/>
    <p:sldId xmlns:r="http://schemas.openxmlformats.org/officeDocument/2006/relationships" id="333" r:id="R343b2b352dea446a"/>
    <p:sldId xmlns:r="http://schemas.openxmlformats.org/officeDocument/2006/relationships" id="334" r:id="R3e85d1c50f384583"/>
    <p:sldId xmlns:r="http://schemas.openxmlformats.org/officeDocument/2006/relationships" id="335" r:id="Re0ac26567bd54769"/>
    <p:sldId xmlns:r="http://schemas.openxmlformats.org/officeDocument/2006/relationships" id="336" r:id="R041680eee9de44f2"/>
    <p:sldId xmlns:r="http://schemas.openxmlformats.org/officeDocument/2006/relationships" id="337" r:id="R42e0b06c0d504887"/>
    <p:sldId xmlns:r="http://schemas.openxmlformats.org/officeDocument/2006/relationships" id="338" r:id="R73511ed8213e4758"/>
    <p:sldId xmlns:r="http://schemas.openxmlformats.org/officeDocument/2006/relationships" id="339" r:id="Re8816b612e504633"/>
    <p:sldId xmlns:r="http://schemas.openxmlformats.org/officeDocument/2006/relationships" id="340" r:id="Rf1995928c2a84d21"/>
    <p:sldId xmlns:r="http://schemas.openxmlformats.org/officeDocument/2006/relationships" id="341" r:id="R48cc1d92bb9d4292"/>
    <p:sldId xmlns:r="http://schemas.openxmlformats.org/officeDocument/2006/relationships" id="342" r:id="Re4dac55f71a74cb7"/>
    <p:sldId xmlns:r="http://schemas.openxmlformats.org/officeDocument/2006/relationships" id="343" r:id="Rdc5165ef4bc84c8d"/>
    <p:sldId xmlns:r="http://schemas.openxmlformats.org/officeDocument/2006/relationships" id="344" r:id="R09f67391211f4d1c"/>
    <p:sldId xmlns:r="http://schemas.openxmlformats.org/officeDocument/2006/relationships" id="345" r:id="R23f9a0e75b9a41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ed00967b5b49e6" /><Relationship Type="http://schemas.openxmlformats.org/officeDocument/2006/relationships/slideMaster" Target="/ppt/slideMasters/slideMaster1.xml" Id="R888920d8da3a4a10" /><Relationship Type="http://schemas.openxmlformats.org/officeDocument/2006/relationships/notesMaster" Target="/ppt/notesMasters/notesMaster1.xml" Id="Rb390b4014723468f" /><Relationship Type="http://schemas.openxmlformats.org/officeDocument/2006/relationships/presProps" Target="/ppt/presProps.xml" Id="R555f7875de70498f" /><Relationship Type="http://schemas.openxmlformats.org/officeDocument/2006/relationships/tableStyles" Target="/ppt/tableStyles.xml" Id="Rafe99b8f13c04d94" /><Relationship Type="http://schemas.openxmlformats.org/officeDocument/2006/relationships/slide" Target="/ppt/slides/slide1.xml" Id="R8bae4ce0522a4ef1" /><Relationship Type="http://schemas.openxmlformats.org/officeDocument/2006/relationships/slide" Target="/ppt/slides/slide2.xml" Id="R9bb8619d556945b8" /><Relationship Type="http://schemas.openxmlformats.org/officeDocument/2006/relationships/slide" Target="/ppt/slides/slide3.xml" Id="Ra56229c366c44307" /><Relationship Type="http://schemas.openxmlformats.org/officeDocument/2006/relationships/slide" Target="/ppt/slides/slide4.xml" Id="Ra2f43a8ee23545a0" /><Relationship Type="http://schemas.openxmlformats.org/officeDocument/2006/relationships/slide" Target="/ppt/slides/slide5.xml" Id="Re7e221cd6f6544b1" /><Relationship Type="http://schemas.openxmlformats.org/officeDocument/2006/relationships/slide" Target="/ppt/slides/slide6.xml" Id="R47bb38740cc84a92" /><Relationship Type="http://schemas.openxmlformats.org/officeDocument/2006/relationships/slide" Target="/ppt/slides/slide7.xml" Id="Re5af6f6f6a48417b" /><Relationship Type="http://schemas.openxmlformats.org/officeDocument/2006/relationships/slide" Target="/ppt/slides/slide8.xml" Id="Ra79e23f7541244ae" /><Relationship Type="http://schemas.openxmlformats.org/officeDocument/2006/relationships/slide" Target="/ppt/slides/slide9.xml" Id="R3b364c1768f948c0" /><Relationship Type="http://schemas.openxmlformats.org/officeDocument/2006/relationships/slide" Target="/ppt/slides/slide10.xml" Id="R36f580dc19a4418d" /><Relationship Type="http://schemas.openxmlformats.org/officeDocument/2006/relationships/slide" Target="/ppt/slides/slide11.xml" Id="R98f7eb080b4b4a83" /><Relationship Type="http://schemas.openxmlformats.org/officeDocument/2006/relationships/slide" Target="/ppt/slides/slide12.xml" Id="R6e6282e4d9c8453d" /><Relationship Type="http://schemas.openxmlformats.org/officeDocument/2006/relationships/slide" Target="/ppt/slides/slide13.xml" Id="R09d02dc064ec4b6f" /><Relationship Type="http://schemas.openxmlformats.org/officeDocument/2006/relationships/slide" Target="/ppt/slides/slide14.xml" Id="R312ce451e35c42e9" /><Relationship Type="http://schemas.openxmlformats.org/officeDocument/2006/relationships/slide" Target="/ppt/slides/slide15.xml" Id="R9ad23700d8904893" /><Relationship Type="http://schemas.openxmlformats.org/officeDocument/2006/relationships/slide" Target="/ppt/slides/slide16.xml" Id="R1670a15381be4a70" /><Relationship Type="http://schemas.openxmlformats.org/officeDocument/2006/relationships/slide" Target="/ppt/slides/slide17.xml" Id="R7c0eb76b66d94c79" /><Relationship Type="http://schemas.openxmlformats.org/officeDocument/2006/relationships/slide" Target="/ppt/slides/slide18.xml" Id="R82fd55d65b0944b4" /><Relationship Type="http://schemas.openxmlformats.org/officeDocument/2006/relationships/slide" Target="/ppt/slides/slide19.xml" Id="R3a1f5e11b16e4f3e" /><Relationship Type="http://schemas.openxmlformats.org/officeDocument/2006/relationships/slide" Target="/ppt/slides/slide20.xml" Id="Re13fc035654448de" /><Relationship Type="http://schemas.openxmlformats.org/officeDocument/2006/relationships/slide" Target="/ppt/slides/slide21.xml" Id="R765eebcba6a4419e" /><Relationship Type="http://schemas.openxmlformats.org/officeDocument/2006/relationships/slide" Target="/ppt/slides/slide22.xml" Id="R484a2efe9aeb4c1f" /><Relationship Type="http://schemas.openxmlformats.org/officeDocument/2006/relationships/slide" Target="/ppt/slides/slide23.xml" Id="R0bd4f4c24c314145" /><Relationship Type="http://schemas.openxmlformats.org/officeDocument/2006/relationships/slide" Target="/ppt/slides/slide24.xml" Id="R803340fc3b3b4eb6" /><Relationship Type="http://schemas.openxmlformats.org/officeDocument/2006/relationships/slide" Target="/ppt/slides/slide25.xml" Id="Rff5f3a2d181c4afd" /><Relationship Type="http://schemas.openxmlformats.org/officeDocument/2006/relationships/slide" Target="/ppt/slides/slide26.xml" Id="Raa1f423d8ef04435" /><Relationship Type="http://schemas.openxmlformats.org/officeDocument/2006/relationships/slide" Target="/ppt/slides/slide27.xml" Id="R53ec1307d0e34ba9" /><Relationship Type="http://schemas.openxmlformats.org/officeDocument/2006/relationships/slide" Target="/ppt/slides/slide28.xml" Id="R6ee7496fcc91492e" /><Relationship Type="http://schemas.openxmlformats.org/officeDocument/2006/relationships/slide" Target="/ppt/slides/slide29.xml" Id="Rc06602e4dbe8481d" /><Relationship Type="http://schemas.openxmlformats.org/officeDocument/2006/relationships/slide" Target="/ppt/slides/slide30.xml" Id="R60147fb391014de5" /><Relationship Type="http://schemas.openxmlformats.org/officeDocument/2006/relationships/slide" Target="/ppt/slides/slide31.xml" Id="R01650adc50c44570" /><Relationship Type="http://schemas.openxmlformats.org/officeDocument/2006/relationships/slide" Target="/ppt/slides/slide32.xml" Id="Re23c2dc0d00f482a" /><Relationship Type="http://schemas.openxmlformats.org/officeDocument/2006/relationships/slide" Target="/ppt/slides/slide33.xml" Id="Rf16e4d98c3844422" /><Relationship Type="http://schemas.openxmlformats.org/officeDocument/2006/relationships/slide" Target="/ppt/slides/slide34.xml" Id="R58b60c17a4454af5" /><Relationship Type="http://schemas.openxmlformats.org/officeDocument/2006/relationships/slide" Target="/ppt/slides/slide35.xml" Id="Rd4dab28f45594da2" /><Relationship Type="http://schemas.openxmlformats.org/officeDocument/2006/relationships/slide" Target="/ppt/slides/slide36.xml" Id="R1d3f3c43232245cf" /><Relationship Type="http://schemas.openxmlformats.org/officeDocument/2006/relationships/slide" Target="/ppt/slides/slide37.xml" Id="Rea28bd3b08464869" /><Relationship Type="http://schemas.openxmlformats.org/officeDocument/2006/relationships/slide" Target="/ppt/slides/slide38.xml" Id="Rd2c58529299446c9" /><Relationship Type="http://schemas.openxmlformats.org/officeDocument/2006/relationships/slide" Target="/ppt/slides/slide39.xml" Id="Ra6f7273ade084bd4" /><Relationship Type="http://schemas.openxmlformats.org/officeDocument/2006/relationships/slide" Target="/ppt/slides/slide40.xml" Id="R81e72b5936ad4107" /><Relationship Type="http://schemas.openxmlformats.org/officeDocument/2006/relationships/slide" Target="/ppt/slides/slide41.xml" Id="Rcec270df5160466f" /><Relationship Type="http://schemas.openxmlformats.org/officeDocument/2006/relationships/slide" Target="/ppt/slides/slide42.xml" Id="R2fa63e3af884470d" /><Relationship Type="http://schemas.openxmlformats.org/officeDocument/2006/relationships/slide" Target="/ppt/slides/slide43.xml" Id="R7e305d561a884c95" /><Relationship Type="http://schemas.openxmlformats.org/officeDocument/2006/relationships/slide" Target="/ppt/slides/slide44.xml" Id="Rcad08e14ae924b1c" /><Relationship Type="http://schemas.openxmlformats.org/officeDocument/2006/relationships/slide" Target="/ppt/slides/slide45.xml" Id="R008e1ab1995c4037" /><Relationship Type="http://schemas.openxmlformats.org/officeDocument/2006/relationships/slide" Target="/ppt/slides/slide46.xml" Id="R4524435dbac84ad4" /><Relationship Type="http://schemas.openxmlformats.org/officeDocument/2006/relationships/slide" Target="/ppt/slides/slide47.xml" Id="Rcdcbf130fb63492e" /><Relationship Type="http://schemas.openxmlformats.org/officeDocument/2006/relationships/slide" Target="/ppt/slides/slide48.xml" Id="R0a94cc1b63584a7c" /><Relationship Type="http://schemas.openxmlformats.org/officeDocument/2006/relationships/slide" Target="/ppt/slides/slide49.xml" Id="Rb9243d2f8a504938" /><Relationship Type="http://schemas.openxmlformats.org/officeDocument/2006/relationships/slide" Target="/ppt/slides/slide50.xml" Id="Rd7284c9c13fb41d7" /><Relationship Type="http://schemas.openxmlformats.org/officeDocument/2006/relationships/slide" Target="/ppt/slides/slide51.xml" Id="R95dc39c1837d4e1a" /><Relationship Type="http://schemas.openxmlformats.org/officeDocument/2006/relationships/slide" Target="/ppt/slides/slide52.xml" Id="R4419de2acfdf4cc0" /><Relationship Type="http://schemas.openxmlformats.org/officeDocument/2006/relationships/slide" Target="/ppt/slides/slide53.xml" Id="Recc6747879944169" /><Relationship Type="http://schemas.openxmlformats.org/officeDocument/2006/relationships/slide" Target="/ppt/slides/slide54.xml" Id="R1de4aed0a3934c68" /><Relationship Type="http://schemas.openxmlformats.org/officeDocument/2006/relationships/slide" Target="/ppt/slides/slide55.xml" Id="R88d8f71303194bb8" /><Relationship Type="http://schemas.openxmlformats.org/officeDocument/2006/relationships/slide" Target="/ppt/slides/slide56.xml" Id="R5d2f8a26e6954c6a" /><Relationship Type="http://schemas.openxmlformats.org/officeDocument/2006/relationships/slide" Target="/ppt/slides/slide57.xml" Id="Rb108529433a04946" /><Relationship Type="http://schemas.openxmlformats.org/officeDocument/2006/relationships/slide" Target="/ppt/slides/slide58.xml" Id="Ra7527e0b683848bf" /><Relationship Type="http://schemas.openxmlformats.org/officeDocument/2006/relationships/slide" Target="/ppt/slides/slide59.xml" Id="Rab876670eb174c18" /><Relationship Type="http://schemas.openxmlformats.org/officeDocument/2006/relationships/slide" Target="/ppt/slides/slide60.xml" Id="Rfc027ef953da4da8" /><Relationship Type="http://schemas.openxmlformats.org/officeDocument/2006/relationships/slide" Target="/ppt/slides/slide61.xml" Id="Rc16c824a6e544a24" /><Relationship Type="http://schemas.openxmlformats.org/officeDocument/2006/relationships/slide" Target="/ppt/slides/slide62.xml" Id="R3f4d7772d0f74a4e" /><Relationship Type="http://schemas.openxmlformats.org/officeDocument/2006/relationships/slide" Target="/ppt/slides/slide63.xml" Id="Rf8492c675e5b4e31" /><Relationship Type="http://schemas.openxmlformats.org/officeDocument/2006/relationships/slide" Target="/ppt/slides/slide64.xml" Id="R8f37d5c5d6af4e1b" /><Relationship Type="http://schemas.openxmlformats.org/officeDocument/2006/relationships/slide" Target="/ppt/slides/slide65.xml" Id="Rfc63ba6e5f3644d7" /><Relationship Type="http://schemas.openxmlformats.org/officeDocument/2006/relationships/slide" Target="/ppt/slides/slide66.xml" Id="R0949c8a7cab54e5f" /><Relationship Type="http://schemas.openxmlformats.org/officeDocument/2006/relationships/slide" Target="/ppt/slides/slide67.xml" Id="Rd34fedd7ce1642ac" /><Relationship Type="http://schemas.openxmlformats.org/officeDocument/2006/relationships/slide" Target="/ppt/slides/slide68.xml" Id="R7f276c42b4c44846" /><Relationship Type="http://schemas.openxmlformats.org/officeDocument/2006/relationships/slide" Target="/ppt/slides/slide69.xml" Id="R2bb84c4a7f774dcc" /><Relationship Type="http://schemas.openxmlformats.org/officeDocument/2006/relationships/slide" Target="/ppt/slides/slide70.xml" Id="Rc46d53c2ce9d4bce" /><Relationship Type="http://schemas.openxmlformats.org/officeDocument/2006/relationships/slide" Target="/ppt/slides/slide71.xml" Id="R48bb3be765944a7f" /><Relationship Type="http://schemas.openxmlformats.org/officeDocument/2006/relationships/slide" Target="/ppt/slides/slide72.xml" Id="R3ff10c16c5f14466" /><Relationship Type="http://schemas.openxmlformats.org/officeDocument/2006/relationships/slide" Target="/ppt/slides/slide73.xml" Id="Raaa6cc7a6af24a04" /><Relationship Type="http://schemas.openxmlformats.org/officeDocument/2006/relationships/slide" Target="/ppt/slides/slide74.xml" Id="Rab814ca926e84e9a" /><Relationship Type="http://schemas.openxmlformats.org/officeDocument/2006/relationships/slide" Target="/ppt/slides/slide75.xml" Id="R855d1854718e4cd5" /><Relationship Type="http://schemas.openxmlformats.org/officeDocument/2006/relationships/slide" Target="/ppt/slides/slide76.xml" Id="Rdade0b2b0ad74249" /><Relationship Type="http://schemas.openxmlformats.org/officeDocument/2006/relationships/slide" Target="/ppt/slides/slide77.xml" Id="Red97069f73e641a2" /><Relationship Type="http://schemas.openxmlformats.org/officeDocument/2006/relationships/slide" Target="/ppt/slides/slide78.xml" Id="R343b2b352dea446a" /><Relationship Type="http://schemas.openxmlformats.org/officeDocument/2006/relationships/slide" Target="/ppt/slides/slide79.xml" Id="R3e85d1c50f384583" /><Relationship Type="http://schemas.openxmlformats.org/officeDocument/2006/relationships/slide" Target="/ppt/slides/slide80.xml" Id="Re0ac26567bd54769" /><Relationship Type="http://schemas.openxmlformats.org/officeDocument/2006/relationships/slide" Target="/ppt/slides/slide81.xml" Id="R041680eee9de44f2" /><Relationship Type="http://schemas.openxmlformats.org/officeDocument/2006/relationships/slide" Target="/ppt/slides/slide82.xml" Id="R42e0b06c0d504887" /><Relationship Type="http://schemas.openxmlformats.org/officeDocument/2006/relationships/slide" Target="/ppt/slides/slide83.xml" Id="R73511ed8213e4758" /><Relationship Type="http://schemas.openxmlformats.org/officeDocument/2006/relationships/slide" Target="/ppt/slides/slide84.xml" Id="Re8816b612e504633" /><Relationship Type="http://schemas.openxmlformats.org/officeDocument/2006/relationships/slide" Target="/ppt/slides/slide85.xml" Id="Rf1995928c2a84d21" /><Relationship Type="http://schemas.openxmlformats.org/officeDocument/2006/relationships/slide" Target="/ppt/slides/slide86.xml" Id="R48cc1d92bb9d4292" /><Relationship Type="http://schemas.openxmlformats.org/officeDocument/2006/relationships/slide" Target="/ppt/slides/slide87.xml" Id="Re4dac55f71a74cb7" /><Relationship Type="http://schemas.openxmlformats.org/officeDocument/2006/relationships/slide" Target="/ppt/slides/slide88.xml" Id="Rdc5165ef4bc84c8d" /><Relationship Type="http://schemas.openxmlformats.org/officeDocument/2006/relationships/slide" Target="/ppt/slides/slide89.xml" Id="R09f67391211f4d1c" /><Relationship Type="http://schemas.openxmlformats.org/officeDocument/2006/relationships/slide" Target="/ppt/slides/slide90.xml" Id="R23f9a0e75b9a41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22e559858349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0c25b9fccf4fb4" /><Relationship Type="http://schemas.openxmlformats.org/officeDocument/2006/relationships/notesMaster" Target="/ppt/notesMasters/notesMaster1.xml" Id="Rdb1d066fae0044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2ce86074c24546" /><Relationship Type="http://schemas.openxmlformats.org/officeDocument/2006/relationships/notesMaster" Target="/ppt/notesMasters/notesMaster1.xml" Id="R4ee60f5248f84f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10f57616de4c14" /><Relationship Type="http://schemas.openxmlformats.org/officeDocument/2006/relationships/notesMaster" Target="/ppt/notesMasters/notesMaster1.xml" Id="Ra25a46a39f9d40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5d5141c4254f58" /><Relationship Type="http://schemas.openxmlformats.org/officeDocument/2006/relationships/notesMaster" Target="/ppt/notesMasters/notesMaster1.xml" Id="R332cd51ee43d4a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961d139d0f54967" /><Relationship Type="http://schemas.openxmlformats.org/officeDocument/2006/relationships/notesMaster" Target="/ppt/notesMasters/notesMaster1.xml" Id="Rf1d6873c34484b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c6afbb3f15e4247" /><Relationship Type="http://schemas.openxmlformats.org/officeDocument/2006/relationships/notesMaster" Target="/ppt/notesMasters/notesMaster1.xml" Id="R237086d13d2140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ca7873f1898448d" /><Relationship Type="http://schemas.openxmlformats.org/officeDocument/2006/relationships/notesMaster" Target="/ppt/notesMasters/notesMaster1.xml" Id="R84f71c8a640b4dd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78a1e939324508" /><Relationship Type="http://schemas.openxmlformats.org/officeDocument/2006/relationships/notesMaster" Target="/ppt/notesMasters/notesMaster1.xml" Id="R787679dee99649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7345f6eb354302" /><Relationship Type="http://schemas.openxmlformats.org/officeDocument/2006/relationships/notesMaster" Target="/ppt/notesMasters/notesMaster1.xml" Id="R59064576b5f540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57845c4b2f4da4" /><Relationship Type="http://schemas.openxmlformats.org/officeDocument/2006/relationships/notesMaster" Target="/ppt/notesMasters/notesMaster1.xml" Id="R6e25b93c8ccd40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e850894b7346c6" /><Relationship Type="http://schemas.openxmlformats.org/officeDocument/2006/relationships/notesMaster" Target="/ppt/notesMasters/notesMaster1.xml" Id="R17ab05b3eb004c3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4eb48a0ebe649fc" /><Relationship Type="http://schemas.openxmlformats.org/officeDocument/2006/relationships/notesMaster" Target="/ppt/notesMasters/notesMaster1.xml" Id="Rbd8e57a3b9e54c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e02c29f0afe45b6" /><Relationship Type="http://schemas.openxmlformats.org/officeDocument/2006/relationships/notesMaster" Target="/ppt/notesMasters/notesMaster1.xml" Id="R23425c6a5e6b4cc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7e572f716c48b3" /><Relationship Type="http://schemas.openxmlformats.org/officeDocument/2006/relationships/notesMaster" Target="/ppt/notesMasters/notesMaster1.xml" Id="Rc08f244b96c34a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79990df97448c1" /><Relationship Type="http://schemas.openxmlformats.org/officeDocument/2006/relationships/notesMaster" Target="/ppt/notesMasters/notesMaster1.xml" Id="R3c11cd1c5eca4c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be0f0060934fe2" /><Relationship Type="http://schemas.openxmlformats.org/officeDocument/2006/relationships/notesMaster" Target="/ppt/notesMasters/notesMaster1.xml" Id="R9b5b6de26a8e42d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ab39639ab4418f" /><Relationship Type="http://schemas.openxmlformats.org/officeDocument/2006/relationships/notesMaster" Target="/ppt/notesMasters/notesMaster1.xml" Id="R7c2e426dcd774a0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35ed78f26d4d06" /><Relationship Type="http://schemas.openxmlformats.org/officeDocument/2006/relationships/notesMaster" Target="/ppt/notesMasters/notesMaster1.xml" Id="Rbab33c782ca0403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ec1137032354ae6" /><Relationship Type="http://schemas.openxmlformats.org/officeDocument/2006/relationships/notesMaster" Target="/ppt/notesMasters/notesMaster1.xml" Id="Rddb705d1839a4c0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5d172719c04f7f" /><Relationship Type="http://schemas.openxmlformats.org/officeDocument/2006/relationships/notesMaster" Target="/ppt/notesMasters/notesMaster1.xml" Id="R0273c3fd458a42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23948f1acbb4f77" /><Relationship Type="http://schemas.openxmlformats.org/officeDocument/2006/relationships/notesMaster" Target="/ppt/notesMasters/notesMaster1.xml" Id="R71f200b758a649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916f1fd8617488b" /><Relationship Type="http://schemas.openxmlformats.org/officeDocument/2006/relationships/notesMaster" Target="/ppt/notesMasters/notesMaster1.xml" Id="R6adc2f1d9771423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103bed59bf2431f" /><Relationship Type="http://schemas.openxmlformats.org/officeDocument/2006/relationships/notesMaster" Target="/ppt/notesMasters/notesMaster1.xml" Id="R381d2afb09ba405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efc3f2d58db4d0f" /><Relationship Type="http://schemas.openxmlformats.org/officeDocument/2006/relationships/notesMaster" Target="/ppt/notesMasters/notesMaster1.xml" Id="R6d48357f3645450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625f82280b7449a" /><Relationship Type="http://schemas.openxmlformats.org/officeDocument/2006/relationships/notesMaster" Target="/ppt/notesMasters/notesMaster1.xml" Id="R1a43e7e579f142a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25953bf6b544618" /><Relationship Type="http://schemas.openxmlformats.org/officeDocument/2006/relationships/notesMaster" Target="/ppt/notesMasters/notesMaster1.xml" Id="Re1c4959069db420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e63d1b987e4927" /><Relationship Type="http://schemas.openxmlformats.org/officeDocument/2006/relationships/notesMaster" Target="/ppt/notesMasters/notesMaster1.xml" Id="Rb56138ea65634dd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f682a3ebca1462f" /><Relationship Type="http://schemas.openxmlformats.org/officeDocument/2006/relationships/notesMaster" Target="/ppt/notesMasters/notesMaster1.xml" Id="R9ac98316d6574c3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70ca8c8728c478a" /><Relationship Type="http://schemas.openxmlformats.org/officeDocument/2006/relationships/notesMaster" Target="/ppt/notesMasters/notesMaster1.xml" Id="R6ff344ebd3104f2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faafb6580924ffb" /><Relationship Type="http://schemas.openxmlformats.org/officeDocument/2006/relationships/notesMaster" Target="/ppt/notesMasters/notesMaster1.xml" Id="R24574efb2c754f2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983cde23c8840d8" /><Relationship Type="http://schemas.openxmlformats.org/officeDocument/2006/relationships/notesMaster" Target="/ppt/notesMasters/notesMaster1.xml" Id="Rdaa2a2565bc4452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d046a0427b945cd" /><Relationship Type="http://schemas.openxmlformats.org/officeDocument/2006/relationships/notesMaster" Target="/ppt/notesMasters/notesMaster1.xml" Id="R6546e6165f4f48d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b1d51c0e17f448d" /><Relationship Type="http://schemas.openxmlformats.org/officeDocument/2006/relationships/notesMaster" Target="/ppt/notesMasters/notesMaster1.xml" Id="R845cc36dcb0241c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cb1729b240b41b2" /><Relationship Type="http://schemas.openxmlformats.org/officeDocument/2006/relationships/notesMaster" Target="/ppt/notesMasters/notesMaster1.xml" Id="R47f35009446047f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25755ac519a48b5" /><Relationship Type="http://schemas.openxmlformats.org/officeDocument/2006/relationships/notesMaster" Target="/ppt/notesMasters/notesMaster1.xml" Id="R147b4388b54a430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f7e98ab1a144b85" /><Relationship Type="http://schemas.openxmlformats.org/officeDocument/2006/relationships/notesMaster" Target="/ppt/notesMasters/notesMaster1.xml" Id="Rfa3a46e64f28475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fad998f3fde4b92" /><Relationship Type="http://schemas.openxmlformats.org/officeDocument/2006/relationships/notesMaster" Target="/ppt/notesMasters/notesMaster1.xml" Id="R2bae008fbcf9485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048bff1a58e4986" /><Relationship Type="http://schemas.openxmlformats.org/officeDocument/2006/relationships/notesMaster" Target="/ppt/notesMasters/notesMaster1.xml" Id="R6451a67f115f4e4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16aa578237c46bc" /><Relationship Type="http://schemas.openxmlformats.org/officeDocument/2006/relationships/notesMaster" Target="/ppt/notesMasters/notesMaster1.xml" Id="R4fd1e705f2ad4bc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4c3b32177714c56" /><Relationship Type="http://schemas.openxmlformats.org/officeDocument/2006/relationships/notesMaster" Target="/ppt/notesMasters/notesMaster1.xml" Id="R14121761aa164e7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03b6ac47ebe49bd" /><Relationship Type="http://schemas.openxmlformats.org/officeDocument/2006/relationships/notesMaster" Target="/ppt/notesMasters/notesMaster1.xml" Id="Rc7f17df37b794a8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34df2c569a42dc" /><Relationship Type="http://schemas.openxmlformats.org/officeDocument/2006/relationships/notesMaster" Target="/ppt/notesMasters/notesMaster1.xml" Id="Rc52c943617c44e7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143f4d0065c47da" /><Relationship Type="http://schemas.openxmlformats.org/officeDocument/2006/relationships/notesMaster" Target="/ppt/notesMasters/notesMaster1.xml" Id="Rdbdf173f0c604a2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454c8e12b0245d3" /><Relationship Type="http://schemas.openxmlformats.org/officeDocument/2006/relationships/notesMaster" Target="/ppt/notesMasters/notesMaster1.xml" Id="R8a622ca89106469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715971aa4e444414" /><Relationship Type="http://schemas.openxmlformats.org/officeDocument/2006/relationships/notesMaster" Target="/ppt/notesMasters/notesMaster1.xml" Id="R4dd735e7d88a4dd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66d02e74199c4e23" /><Relationship Type="http://schemas.openxmlformats.org/officeDocument/2006/relationships/notesMaster" Target="/ppt/notesMasters/notesMaster1.xml" Id="R4a1ef6db0503453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05a4d93c901747db" /><Relationship Type="http://schemas.openxmlformats.org/officeDocument/2006/relationships/notesMaster" Target="/ppt/notesMasters/notesMaster1.xml" Id="Ra2680d01ae424c8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68fec8a78164a4a" /><Relationship Type="http://schemas.openxmlformats.org/officeDocument/2006/relationships/notesMaster" Target="/ppt/notesMasters/notesMaster1.xml" Id="Rc72c8d5cde284e8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426881820844540" /><Relationship Type="http://schemas.openxmlformats.org/officeDocument/2006/relationships/notesMaster" Target="/ppt/notesMasters/notesMaster1.xml" Id="R070da3fab4264fc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0c8cb14aa354ea1" /><Relationship Type="http://schemas.openxmlformats.org/officeDocument/2006/relationships/notesMaster" Target="/ppt/notesMasters/notesMaster1.xml" Id="R0613294e58444b0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50fa0fd48b04183" /><Relationship Type="http://schemas.openxmlformats.org/officeDocument/2006/relationships/notesMaster" Target="/ppt/notesMasters/notesMaster1.xml" Id="R2b17990757a24ca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fbb9c151c634c26" /><Relationship Type="http://schemas.openxmlformats.org/officeDocument/2006/relationships/notesMaster" Target="/ppt/notesMasters/notesMaster1.xml" Id="Rdf3649a8b83f406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5edd94d2c3714247" /><Relationship Type="http://schemas.openxmlformats.org/officeDocument/2006/relationships/notesMaster" Target="/ppt/notesMasters/notesMaster1.xml" Id="R9dacf2931f234a8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5828dda4d3649c9" /><Relationship Type="http://schemas.openxmlformats.org/officeDocument/2006/relationships/notesMaster" Target="/ppt/notesMasters/notesMaster1.xml" Id="Rf38ffb57d5ae412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a506c28c8b04ea2" /><Relationship Type="http://schemas.openxmlformats.org/officeDocument/2006/relationships/notesMaster" Target="/ppt/notesMasters/notesMaster1.xml" Id="R47f50ac8e38e4b0a"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f873a384150456a" /><Relationship Type="http://schemas.openxmlformats.org/officeDocument/2006/relationships/notesMaster" Target="/ppt/notesMasters/notesMaster1.xml" Id="R092e1eda85cc4ca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01b9897500144f03" /><Relationship Type="http://schemas.openxmlformats.org/officeDocument/2006/relationships/notesMaster" Target="/ppt/notesMasters/notesMaster1.xml" Id="R6642cc28bdc743d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5d0e4efb36d4ad9" /><Relationship Type="http://schemas.openxmlformats.org/officeDocument/2006/relationships/notesMaster" Target="/ppt/notesMasters/notesMaster1.xml" Id="R636c4dd575314f30"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44790714060440f" /><Relationship Type="http://schemas.openxmlformats.org/officeDocument/2006/relationships/notesMaster" Target="/ppt/notesMasters/notesMaster1.xml" Id="Rf6c265d96c05467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1397d3f8fd2740d7" /><Relationship Type="http://schemas.openxmlformats.org/officeDocument/2006/relationships/notesMaster" Target="/ppt/notesMasters/notesMaster1.xml" Id="R2403bd6e13cb428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45e4ce1c24c449e" /><Relationship Type="http://schemas.openxmlformats.org/officeDocument/2006/relationships/notesMaster" Target="/ppt/notesMasters/notesMaster1.xml" Id="R789b94a001f6446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f0cffbe00fa4c55" /><Relationship Type="http://schemas.openxmlformats.org/officeDocument/2006/relationships/notesMaster" Target="/ppt/notesMasters/notesMaster1.xml" Id="Refc567d3e9454e7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668f089770d04406" /><Relationship Type="http://schemas.openxmlformats.org/officeDocument/2006/relationships/notesMaster" Target="/ppt/notesMasters/notesMaster1.xml" Id="Ra09eb0587ee5493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93976f9377b64ad0" /><Relationship Type="http://schemas.openxmlformats.org/officeDocument/2006/relationships/notesMaster" Target="/ppt/notesMasters/notesMaster1.xml" Id="R36d8c48d336547ff"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8915b8bfdf241e3" /><Relationship Type="http://schemas.openxmlformats.org/officeDocument/2006/relationships/notesMaster" Target="/ppt/notesMasters/notesMaster1.xml" Id="R87f79a02b78b4d0f"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9a664cc30c74d2f" /><Relationship Type="http://schemas.openxmlformats.org/officeDocument/2006/relationships/notesMaster" Target="/ppt/notesMasters/notesMaster1.xml" Id="R67f83b398f9f45e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06daa86dccd0441c" /><Relationship Type="http://schemas.openxmlformats.org/officeDocument/2006/relationships/notesMaster" Target="/ppt/notesMasters/notesMaster1.xml" Id="R51ca7db4583e498e"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a098113171d44d3" /><Relationship Type="http://schemas.openxmlformats.org/officeDocument/2006/relationships/notesMaster" Target="/ppt/notesMasters/notesMaster1.xml" Id="Rfe2c60cd09b24e0e"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6317f1549ca4d13" /><Relationship Type="http://schemas.openxmlformats.org/officeDocument/2006/relationships/notesMaster" Target="/ppt/notesMasters/notesMaster1.xml" Id="Re15ad0de8ce04a67"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2faf1eaa15a64db7" /><Relationship Type="http://schemas.openxmlformats.org/officeDocument/2006/relationships/notesMaster" Target="/ppt/notesMasters/notesMaster1.xml" Id="R85482f07a7f0471e"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3f79b52e68ae4514" /><Relationship Type="http://schemas.openxmlformats.org/officeDocument/2006/relationships/notesMaster" Target="/ppt/notesMasters/notesMaster1.xml" Id="Reb30df3cdb3f4349"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03a1ebc0fae14baf" /><Relationship Type="http://schemas.openxmlformats.org/officeDocument/2006/relationships/notesMaster" Target="/ppt/notesMasters/notesMaster1.xml" Id="R9c7bae8040d44ecf"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44d296691fe94a8a" /><Relationship Type="http://schemas.openxmlformats.org/officeDocument/2006/relationships/notesMaster" Target="/ppt/notesMasters/notesMaster1.xml" Id="R2c7da1b895814e2d"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dafed1d34fef4ae4" /><Relationship Type="http://schemas.openxmlformats.org/officeDocument/2006/relationships/notesMaster" Target="/ppt/notesMasters/notesMaster1.xml" Id="R9e4338aa4d9e47e2"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2cb450d926804944" /><Relationship Type="http://schemas.openxmlformats.org/officeDocument/2006/relationships/notesMaster" Target="/ppt/notesMasters/notesMaster1.xml" Id="R8b9683aed28c4ded"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847cdd93a916436d" /><Relationship Type="http://schemas.openxmlformats.org/officeDocument/2006/relationships/notesMaster" Target="/ppt/notesMasters/notesMaster1.xml" Id="Ra7d4f96fd32d4f2f"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d4ba5042172f4fb1" /><Relationship Type="http://schemas.openxmlformats.org/officeDocument/2006/relationships/notesMaster" Target="/ppt/notesMasters/notesMaster1.xml" Id="R79a7c1af643a492b"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caeb98b9ce344d76" /><Relationship Type="http://schemas.openxmlformats.org/officeDocument/2006/relationships/notesMaster" Target="/ppt/notesMasters/notesMaster1.xml" Id="R78d2807b156a4c07"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45fb324e23d94507" /><Relationship Type="http://schemas.openxmlformats.org/officeDocument/2006/relationships/notesMaster" Target="/ppt/notesMasters/notesMaster1.xml" Id="R25402cfb0fea400f"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95c15e4027e4ffc" /><Relationship Type="http://schemas.openxmlformats.org/officeDocument/2006/relationships/notesMaster" Target="/ppt/notesMasters/notesMaster1.xml" Id="Rf922d8e790a34533"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e6279692c0794d26" /><Relationship Type="http://schemas.openxmlformats.org/officeDocument/2006/relationships/notesMaster" Target="/ppt/notesMasters/notesMaster1.xml" Id="Rea0b39a6377b4b9b"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d40c4b6baf8a4d95" /><Relationship Type="http://schemas.openxmlformats.org/officeDocument/2006/relationships/notesMaster" Target="/ppt/notesMasters/notesMaster1.xml" Id="R969ee1bd919c49e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e28b8397cfc349d6" /><Relationship Type="http://schemas.openxmlformats.org/officeDocument/2006/relationships/notesMaster" Target="/ppt/notesMasters/notesMaster1.xml" Id="R2dceb150aee34369"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53bc5045ea764b28" /><Relationship Type="http://schemas.openxmlformats.org/officeDocument/2006/relationships/notesMaster" Target="/ppt/notesMasters/notesMaster1.xml" Id="R073dbbc7949b484d"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7432989c4bf94b7b" /><Relationship Type="http://schemas.openxmlformats.org/officeDocument/2006/relationships/notesMaster" Target="/ppt/notesMasters/notesMaster1.xml" Id="Rbd3be53a2fa84c65"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cd3a0901f3b7495d" /><Relationship Type="http://schemas.openxmlformats.org/officeDocument/2006/relationships/notesMaster" Target="/ppt/notesMasters/notesMaster1.xml" Id="R3d6337c0e9014c27"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a4842aaa06524afb" /><Relationship Type="http://schemas.openxmlformats.org/officeDocument/2006/relationships/notesMaster" Target="/ppt/notesMasters/notesMaster1.xml" Id="Rcb475f0a15094b01"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ac6b2ae740264a67" /><Relationship Type="http://schemas.openxmlformats.org/officeDocument/2006/relationships/notesMaster" Target="/ppt/notesMasters/notesMaster1.xml" Id="R30e13a39ae334b15"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d593697268f94cd4" /><Relationship Type="http://schemas.openxmlformats.org/officeDocument/2006/relationships/notesMaster" Target="/ppt/notesMasters/notesMaster1.xml" Id="R8524d92d0fab48ea"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61aaef9d73414233" /><Relationship Type="http://schemas.openxmlformats.org/officeDocument/2006/relationships/notesMaster" Target="/ppt/notesMasters/notesMaster1.xml" Id="R3efea4337d0443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https://docarcshot.github.io/id-practice-update/lectures/Gram_Negative_Bacteria_Species_Matter.html</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Updated October 27, 2026. Adult clinical ID teaching. Organism identity does not replace isolate-specific susceptibility testing, infection-site assessment, and source control. Drug examples assume susceptible isolates and appropriate exposure; verify contemporary CLSI breakpoints and local formulary.</a:t>
            </a:r>
          </a:p>
          <a:p xmlns:a="http://schemas.openxmlformats.org/drawingml/2006/main">
            <a:r>
              <a:t/>
            </a:r>
          </a:p>
          <a:p xmlns:a="http://schemas.openxmlformats.org/drawingml/2006/main">
            <a:r>
              <a:t>Module section: https://docarcshot.github.io/id-practice-update/lectures/Gram_Negative_Bacteria_Species_Matter.html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Learning objectives Predict important intrinsic resistance from species identification before the antibiogram returns. Distinguish inducible AmpC, ESBL, carbapenemases, and non-beta-lactam resistance mechanisms. Explain why seemingly active antibiotics can be poor choices at particular sites. Recognize unusual species/phenotypes that require a focused search for the source, endovascular involvement, or metastatic infection. Interpret rare nonfermenters cautiously, including when a respiratory isolate may be colonization.</a:t>
            </a:r>
          </a:p>
          <a:p xmlns:a="http://schemas.openxmlformats.org/drawingml/2006/main">
            <a:r>
              <a:t/>
            </a:r>
          </a:p>
          <a:p xmlns:a="http://schemas.openxmlformats.org/drawingml/2006/main">
            <a:r>
              <a:t>Module section: https://docarcshot.github.io/id-practice-update/lectures/Gram_Negative_Bacteria_Species_Matter.html#learning-objectives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Learning objectives Predict important intrinsic resistance from species identification before the antibiogram returns. Distinguish inducible AmpC, ESBL, carbapenemases, and non-beta-lactam resistance mechanisms. Explain why seemingly active antibiotics can be poor choices at particular sites. Recognize unusual species/phenotypes that require a focused search for the source, endovascular involvement, or metastatic infection. Interpret rare nonfermenters cautiously, including when a respiratory isolate may be colonization.</a:t>
            </a:r>
          </a:p>
          <a:p xmlns:a="http://schemas.openxmlformats.org/drawingml/2006/main">
            <a:r>
              <a:t/>
            </a:r>
          </a:p>
          <a:p xmlns:a="http://schemas.openxmlformats.org/drawingml/2006/main">
            <a:r>
              <a:t>Module section: https://docarcshot.github.io/id-practice-update/lectures/Gram_Negative_Bacteria_Species_Matter.html#learning-objectives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Resident section Initial interpretation of gram-negative cultures Is the isolate causing infection, colonization, or specimen contamination? Check sample quality, burden, repeated recovery, syndrome, and host factors. Enterobacterales, nonfermenter, fastidious organism, or enteric pathogen? Species identification often predicts important gaps. Is this a urinary, biliary, GI, pulmonary, vascular, bone/joint, CNS, or device infection? Look for source control and a plausible portal of entry. Is resistance intrinsic, inducible, or acquired? Which susceptibility results are actually validated for that organism? Is antibiotic exposure sufficient at the infected site? An active MIC does not guarantee clinical efficacy. Major organism groups Group Common examples Initial clinical implications Enterobacterales E. coli, Klebsiella, Enterobacter, Citrobacter, Proteus Urinary/GI/biliary sources common; ESBL, AmpC and carbapenemases vary by species Nonfermenters Pseudomonas, Acinetobacter, Stenotrophomonas, Achromobacter Species-specific intrinsic resistance, environmental and device associations; respiratory colonization can complicate interpretation Exposure-associated gram-negatives Aeromonas, Vibrio, Pasteurella, Capnocytophaga Freshwater, salt/brackish water, and animal exposures materially change initial therapy and assessment Enteric invasive pathogens Salmonella, Shigella, Campylobacter, Yersinia Extraintestinal complications and resistance matter; detailed enteritis management belongs in the separate enteric infection lecture AmpC species differences Organism group Practical approach Enterobacter cloacae complex, Klebsiella aerogenes, Citrobacter freundii, Hafnia alvei 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 Serratia marcescens, Morganella morganii, Providencia spp. Lower risk of clinically significant AmpC overexpression. Do not automatically mandate cefepime/carbapenem for all infections. Follow AST, infection severity, inoculum and source control. E. coli, Klebsiella pneumoniae, Proteus mirabilis Acquired plasmid AmpC and ESBL remain possible. Do not assume every third-generation cephalosporin resistance is inducible AmpC. Cefepime susceptibility must be interpreted with the MIC, appropriate dosage, site of infection, and possibility of additional beta-lactamases. Nitrofurantoin and oral fosfomycin do not treat pyelonephritis or bacteremia. Important antimicrobial coverage gaps Drug High-yield gap or caveat Ceftriaxone Not reliable for Pseudomonas; avoid as definitive invasive therapy for moderate-risk inducible AmpC species even if initially susceptible. Ertapenem No reliable Pseudomonas, Acinetobacter or Enterococcus activity. Moxifloxacin Not an antipseudomonal fluoroquinolone. Do not extrapolate from ciprofloxacin/levofloxacin. Poor urinary exposure makes it a poor UTI choice. Nitrofurantoin Not for Proteus, Morganella, Providencia, Pseudomonas or upper-tract/systemic infection. Polymyxins Proteus, Morganella, Providencia and Serratia have intrinsic resistance; substantial toxicity limits use elsewhere. Tigecycline / eravacycline Not dependable for bloodstream or urinary infection because of pharmacokinetics; Proteus/Providencia/Morganella generally have poor tigecycline activity. Daptomycin / vancomycin / linezolid No clinical gram-negative activity due to outer-membrane or target limitations; do not count as gram-negative coverage. Aztreonam Gram-negative aerobic activity including some Pseudomonas, but no gram-positive or anaerobic coverage; susceptible to many ESBL/AmpC enzymes, while MBL enzymes alone do not hydrolyze it. Meropenem-vaborbactam Primarily useful for susceptible KPC-producing Enterobacterales. Vaborbactam does not meaningfully restore meropenem activity against DTR Pseudomonas caused by typical non-KPC mechanisms. Ampicillin-sulbactam Sulbactam has direct activity against Acinetobacter at adequate doses; conventional low-dose regimens are not automatically adequate for CRAB.</a:t>
            </a:r>
          </a:p>
          <a:p xmlns:a="http://schemas.openxmlformats.org/drawingml/2006/main">
            <a:r>
              <a:t/>
            </a:r>
          </a:p>
          <a:p xmlns:a="http://schemas.openxmlformats.org/drawingml/2006/main">
            <a:r>
              <a:t>Module section: https://docarcshot.github.io/id-practice-update/lectures/Gram_Negative_Bacteria_Species_Matter.html#resident-section-a-practical-framework</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Resistance mechanisms and susceptibility results For resistance mechanisms and directed treatment, see Antibiotic Resistance and Resistant Organisms . For dosing and coverage, see Antibiotics Primer . Phenotype Mechanism or distinction Treatment-selection implications ESBL Enzymatic hydrolysis of many penicillins and cephalosporins, commonly CTX-M For invasive ESBL-E infections, carbapenems usually preferred; do not extend piperacillin-tazobactam or cefepime susceptibility to reliable treatment of bloodstream infection. Inducible AmpC Selection of derepressed mutants during therapy Cefepime usually preferred for susceptible moderate-risk species; third-generation cephalosporins can select resistance. CRE without carbapenemase Often ESBL/AmpC combined with porin loss Carbapenemase test helps distinguish options; treatment depends on AST and site. KPC Class A serine carbapenemase Meropenem-vaborbactam, ceftazidime-avibactam or imipenem-relebactam commonly active; check AST. NDM/VIM/IMP Metallo-beta-lactamases Aztreonam-avibactam or cefiderocol for susceptible NDM Enterobacterales; ceftazidime-avibactam plus aztreonam when aztreonam-avibactam unavailable. Regimens differ for MBL Pseudomonas. OXA-48-like Enterobacterales Class D carbapenemase Ceftazidime-avibactam generally preferred; meropenem-vaborbactam and imipenem-relebactam do not reliably inhibit this enzyme. Pseudomonas DTR Multiple pathways: AmpC upregulation, efflux, porin changes, target enzymes Request testing of ceftolozane-tazobactam, ceftazidime-avibactam, imipenem-relebactam and cefiderocol. Choose based on isolate and infection site. CRAB Often OXA carbapenemases and multiple resistance mechanisms Sulbactam-durlobactam combined with imipenem or meropenem is the preferred invasive-infection approach in 2026 guidance when active/available. 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a:p xmlns:a="http://schemas.openxmlformats.org/drawingml/2006/main">
            <a:r>
              <a:t/>
            </a:r>
          </a:p>
          <a:p xmlns:a="http://schemas.openxmlformats.org/drawingml/2006/main">
            <a:r>
              <a:t>Module section: https://docarcshot.github.io/id-practice-update/lectures/Gram_Negative_Bacteria_Species_Matter.html#resistance-phenotypes-what-the-laboratory-result-implies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Organism-specific characteristics Pseudomonas aeruginosa Appropriate antipseudomonal fluoroquinolones are ciprofloxacin and levofloxacin when susceptible, not moxifloxacin. Ertapenem and ceftriaxone do not cover Pseudomonas. Carbapenem resistance does not guarantee ceftolozane-tazobactam resistance; mechanism matters. Likewise, resistance to one newer agent cannot be extrapolated to all. 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 Recurrent same-species infection: evaluate obstruction, hardware, biofilm, abscess or inadequate source control before simply broadening therapy. Stenotrophomonas maltophilia Environmental nonfermenter; recovered frequently from respiratory samples with uncertain significance. A positive BAL is not sufficient by itself to diagnose pneumonia. Intrinsically resistant to carbapenems and many beta-lactams through L1 metallo-beta-lactamase and L2 serine beta-lactamase, with other mechanisms. 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 Older ceftazidime susceptibility results are not a sound reason to use ceftazidime monotherapy. Acinetobacter baumannii complex Distinguish colonization from infection especially in respiratory cultures and chronic wounds. Carbapenem-resistant isolates often have extensive intrinsic/acquired resistance; treat invasive CRAB with a sulbactam-containing regimen, preferably sulbactam-durlobactam plus imipenem/meropenem where appropriate. The sulbactam component is active against the organism, not merely a beta-lactamase inhibitor. Achromobacter xylosoxidans Seen in chronic lung disease and healthcare-associated bloodstream/device infections. Resistance via efflux pumps and beta-lactamases is common, but susceptibility is isolate-dependent. Potential agents include piperacillin-tazobactam, TMP-SMX, ceftazidime, or meropenem when active. Do not presume cefepime, aztreonam, aminoglycosides or fluoroquinolones are reliable. Evidence is limited, laboratory AST methods and interpretive criteria matter, and there is no universal fixed regimen. For bacteremia investigate catheter involvement. Burkholderia cepacia complex Important in cystic fibrosis and chronic granulomatous disease, and can be healthcare associated. Intrinsic resistance to many agents, including polymyxins and often aminoglycosides. TMP-SMX, ceftazidime, meropenem, and minocycline may be candidates based on species and AST. Do not extrapolate Pseudomonas susceptibility patterns. Elizabethkingia species Unusual nonfermenters with frequent resistance to carbapenems and many beta-lactams. Reported susceptibility profiles vary considerably by species and testing platform. Confirm identification and AST with microbiology; avoid blanket drug recommendations from a genus name alone. Klebsiella pneumoniae: hypervirulence versus hypermucoviscosity Hypervirulent lineages can cause community-onset liver abscess, bacteremia, endophthalmitis, and CNS metastatic infection, sometimes without typical host risk factors. Hypermucoviscosity is a phenotype and is not equivalent to hypervirulence. A positive string test alone does not establish a hypervirulent strain; molecular virulence markers are more informative. Liver abscess plus bacteremia or visual symptoms should trigger assessment for metastatic disease and urgent ophthalmologic evaluation for symptoms concerning for endophthalmitis. Proteus, Morganella, Providencia, Serratia Proteus mirabilis makes urease; recurrent infection can signal struvite stones or a retained urinary nidus. Nitrofurantoin is not reliable. Morganella/Providencia/Serratia should not be collapsed into the moderate-risk AmpC category. Polymyxins are generally inactive, and susceptibility to tetracycline derivatives may be problematic. Serratia can cause healthcare-associated infection, device infection and endocarditis; prolonged bacteremia requires source evaluation, not simply automatic carbapenem treatment.</a:t>
            </a:r>
          </a:p>
          <a:p xmlns:a="http://schemas.openxmlformats.org/drawingml/2006/main">
            <a:r>
              <a:t/>
            </a:r>
          </a:p>
          <a:p xmlns:a="http://schemas.openxmlformats.org/drawingml/2006/main">
            <a:r>
              <a:t>Module section: https://docarcshot.github.io/id-practice-update/lectures/Gram_Negative_Bacteria_Species_Matter.html#organism-focused-exceptions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Gram-negative infections at uncommon sites For bacteremia evaluation and source control, see Positive Blood Cultures . For vertebral osteomyelitis, prosthetic joints, or septic arthritis, see Bone and Joint Infections . For recurrent urinary isolates and infected stones, see Recurrent UTI . Finding Specific questions to ask Gram-negative endocarditis Prosthetic valve/device? Catheter or healthcare-associated exposure? Persistent bloodstream infection? Emboli or perivalvular complications? Non-HACEK gram-negative endocarditis usually requires specialist multidisciplinary management; do not assume routine 7-day bacteremia treatment. Gram-negative vertebral osteomyelitis or PJI Urinary or GI source? Recent procedure? Infected hardware? Isolate concordance between deep samples and blood? Need for surgery or retained-device strategy? Recurrent Proteus bacteremia or UTI Urease-associated stone? Obstruction? Renal/perinephric abscess? Chronic catheter, nidus or prostatitis? Klebsiella liver abscess Biliary disease versus cryptogenic infection? Hypervirulent phenotype? Ocular or neurologic symptoms suggesting metastatic focus? Gram-negative CNS infection Neurosurgical device, recent procedure, penetrating injury, bacteremia, contiguous source? Species and CSF penetration materially change choices. Aeromonas after freshwater exposure Necrotizing soft-tissue infection? Rapid surgical assessment if severe. Avoid relying on first-generation cephalosporins. Vibrio vulnificus after salt/brackish water or raw oysters Hemorrhagic bullae, necrotizing infection, sepsis, cirrhosis or iron-overload risk? Urgent surgical evaluation and pathogen-directed antibiotics. Pasteurella or Capnocytophaga after animal exposure Bite, scratch or saliva contact? Asplenia/alcohol use for fulminant Capnocytophaga? Standard cephalexin/clindamycin regimens can be insufficient for animal-bite infections. Campylobacter fetus bacteremia Consider endovascular infection, especially with vascular disease or prosthetic material; distinct from uncomplicated C. jejuni enteritis. Nontyphoidal Salmonella bacteremia Age, immunosuppression, vascular grafts or atherosclerotic disease; evaluate for endovascular infection when clinical features warrant.</a:t>
            </a:r>
          </a:p>
          <a:p xmlns:a="http://schemas.openxmlformats.org/drawingml/2006/main">
            <a:r>
              <a:t/>
            </a:r>
          </a:p>
          <a:p xmlns:a="http://schemas.openxmlformats.org/drawingml/2006/main">
            <a:r>
              <a:t>Module section: https://docarcshot.github.io/id-practice-update/lectures/Gram_Negative_Bacteria_Species_Matter.html#when-a-gram-negative-organism-turns-up-somewhere-unexpected</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Enteric pathogens and invasive complications Salmonella: typhoidal versus nontyphoidal disease; why bacteremia and vascular infection change the evaluation. Shigella: low inoculum, transmission, and emerging extensively resistant strains; request isolate-specific AST when treating. Campylobacter: J. jejuni enteritis versus C. fetus systemic disease; macrolide versus fluoroquinolone resistance patterns. Yersinia enterocolitica: terminal ileitis/mesenteric adenitis mimicking appendicitis; iron-related susceptibility in invasive disease. Vibrio and Aeromonas: exposure history can change acute management, particularly when a rapidly progressive wound infection is present.</a:t>
            </a:r>
          </a:p>
          <a:p xmlns:a="http://schemas.openxmlformats.org/drawingml/2006/main">
            <a:r>
              <a:t/>
            </a:r>
          </a:p>
          <a:p xmlns:a="http://schemas.openxmlformats.org/drawingml/2006/main">
            <a:r>
              <a:t>Module section: https://docarcshot.github.io/id-practice-update/lectures/Gram_Negative_Bacteria_Species_Matter.html#enteric-organisms-brief-bridge-to-a-future-enteric-infections-module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Enteric pathogens and invasive complications Salmonella: typhoidal versus nontyphoidal disease; why bacteremia and vascular infection change the evaluation. Shigella: low inoculum, transmission, and emerging extensively resistant strains; request isolate-specific AST when treating. Campylobacter: J. jejuni enteritis versus C. fetus systemic disease; macrolide versus fluoroquinolone resistance patterns. Yersinia enterocolitica: terminal ileitis/mesenteric adenitis mimicking appendicitis; iron-related susceptibility in invasive disease. Vibrio and Aeromonas: exposure history can change acute management, particularly when a rapidly progressive wound infection is present.</a:t>
            </a:r>
          </a:p>
          <a:p xmlns:a="http://schemas.openxmlformats.org/drawingml/2006/main">
            <a:r>
              <a:t/>
            </a:r>
          </a:p>
          <a:p xmlns:a="http://schemas.openxmlformats.org/drawingml/2006/main">
            <a:r>
              <a:t>Module section: https://docarcshot.github.io/id-practice-update/lectures/Gram_Negative_Bacteria_Species_Matter.html#enteric-organisms-brief-bridge-to-a-future-enteric-infections-module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section: additional resistance and phenotypes Common errors in susceptibility interpretation Ceftriaxone-susceptible Enterobacter cloacae bacteremia. Susceptible now does not exclude derepressed AmpC emergence. Cefepime or another appropriate non-third-generation-cephalosporin agent based on severity, susceptibility and source is generally preferable. Cefepime-susceptible ESBL E. coli bacteremia. Invasive ESBL disease is not adequately addressed by assuming reported cefepime susceptibility predicts clinical success; favor a carbapenem. Carbapenem-resistant Klebsiella with NDM. Mechanism-directed therapy is required. In the 2026 guidance, aztreonam-avibactam or cefiderocol are preferred options for invasive NDM Enterobacterales infection; ceftazidime-avibactam alone is not active against NDM. DTR Pseudomonas susceptible to a novel agent. Determine infection site, dosing, MIC and source control. Do not assume all new beta-lactams are interchangeable or that meropenem-vaborbactam is an antipseudomonal salvage option. Stenotrophomonas from BAL in a patient whose imaging and oxygen requirement are improving without active therapy. Colonization may be more plausible than invasive infection. Treat the patient and syndrome, not the culture in isolation. CRE treatment by resistance mechanism Mechanism Typical invasive-infection options (if active) Common error KPC Meropenem-vaborbactam, ceftazidime-avibactam, imipenem-relebactam Assuming old polymyxin-based salvage is routinely preferable. NDM/other MBL Enterobacterales Aztreonam-avibactam or cefiderocol; ceftazidime-avibactam + aztreonam if necessary Using ceftazidime-avibactam alone or assuming aztreonam alone will resist co-produced ESBL/AmpC enzymes. OXA-48-like Ceftazidime-avibactam; alternatives depend on AST and site Treating meropenem-vaborbactam as equivalent against OXA-48. Non-carbapenemase CRE Evaluate full AST, permeability defect and beta-lactamase profile Assuming all CRE must have a carbapenemase. These are treatment pathways, not empiric guarantees. Verify local availability, FDA indication, renal dosing, infusion strategy and organism-specific susceptibility. MBL Pseudomonas is a separate problem; cefiderocol is favored in 2026 guidance. Susceptibility testing limitations A susceptibility result is meaningful only if the agent-organism combination has a validated interpretive framework; automated panels can be unreliable for unusual nonfermenters. Confirm unusual carbapenemase genotypes and discordant phenotypes with the laboratory. Phenotypic carbapenem resistance does not identify the underlying enzyme. When the isolate remains clinically important but routine panel lacks modern agents, request supplemental AST through the local laboratory/reference lab; do not infer cefiderocol, aztreonam-avibactam or ceftolozane-tazobactam activity from a different drug. Interpret susceptibility alongside required exposure, inoculum, drug distribution and source control. No drug is uniquely required for an entire species in every syndrome.</a:t>
            </a:r>
          </a:p>
          <a:p xmlns:a="http://schemas.openxmlformats.org/drawingml/2006/main">
            <a:r>
              <a:t/>
            </a:r>
          </a:p>
          <a:p xmlns:a="http://schemas.openxmlformats.org/drawingml/2006/main">
            <a:r>
              <a:t>Module section: https://docarcshot.github.io/id-practice-update/lectures/Gram_Negative_Bacteria_Species_Matter.html#fellow-section-nuances-and-uncommon-phenotypes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section: additional resistance and phenotypes Common errors in susceptibility interpretation Ceftriaxone-susceptible Enterobacter cloacae bacteremia. Susceptible now does not exclude derepressed AmpC emergence. Cefepime or another appropriate non-third-generation-cephalosporin agent based on severity, susceptibility and source is generally preferable. Cefepime-susceptible ESBL E. coli bacteremia. Invasive ESBL disease is not adequately addressed by assuming reported cefepime susceptibility predicts clinical success; favor a carbapenem. Carbapenem-resistant Klebsiella with NDM. Mechanism-directed therapy is required. In the 2026 guidance, aztreonam-avibactam or cefiderocol are preferred options for invasive NDM Enterobacterales infection; ceftazidime-avibactam alone is not active against NDM. DTR Pseudomonas susceptible to a novel agent. Determine infection site, dosing, MIC and source control. Do not assume all new beta-lactams are interchangeable or that meropenem-vaborbactam is an antipseudomonal salvage option. Stenotrophomonas from BAL in a patient whose imaging and oxygen requirement are improving without active therapy. Colonization may be more plausible than invasive infection. Treat the patient and syndrome, not the culture in isolation. CRE treatment by resistance mechanism Mechanism Typical invasive-infection options (if active) Common error KPC Meropenem-vaborbactam, ceftazidime-avibactam, imipenem-relebactam Assuming old polymyxin-based salvage is routinely preferable. NDM/other MBL Enterobacterales Aztreonam-avibactam or cefiderocol; ceftazidime-avibactam + aztreonam if necessary Using ceftazidime-avibactam alone or assuming aztreonam alone will resist co-produced ESBL/AmpC enzymes. OXA-48-like Ceftazidime-avibactam; alternatives depend on AST and site Treating meropenem-vaborbactam as equivalent against OXA-48. Non-carbapenemase CRE Evaluate full AST, permeability defect and beta-lactamase profile Assuming all CRE must have a carbapenemase. These are treatment pathways, not empiric guarantees. Verify local availability, FDA indication, renal dosing, infusion strategy and organism-specific susceptibility. MBL Pseudomonas is a separate problem; cefiderocol is favored in 2026 guidance. Susceptibility testing limitations A susceptibility result is meaningful only if the agent-organism combination has a validated interpretive framework; automated panels can be unreliable for unusual nonfermenters. Confirm unusual carbapenemase genotypes and discordant phenotypes with the laboratory. Phenotypic carbapenem resistance does not identify the underlying enzyme. When the isolate remains clinically important but routine panel lacks modern agents, request supplemental AST through the local laboratory/reference lab; do not infer cefiderocol, aztreonam-avibactam or ceftolozane-tazobactam activity from a different drug. Interpret susceptibility alongside required exposure, inoculum, drug distribution and source control. No drug is uniquely required for an entire species in every syndrome.</a:t>
            </a:r>
          </a:p>
          <a:p xmlns:a="http://schemas.openxmlformats.org/drawingml/2006/main">
            <a:r>
              <a:t/>
            </a:r>
          </a:p>
          <a:p xmlns:a="http://schemas.openxmlformats.org/drawingml/2006/main">
            <a:r>
              <a:t>Module section: https://docarcshot.github.io/id-practice-update/lectures/Gram_Negative_Bacteria_Species_Matter.html#fellow-section-nuances-and-uncommon-phenotypes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section: additional resistance and phenotypes Common errors in susceptibility interpretation Ceftriaxone-susceptible Enterobacter cloacae bacteremia. Susceptible now does not exclude derepressed AmpC emergence. Cefepime or another appropriate non-third-generation-cephalosporin agent based on severity, susceptibility and source is generally preferable. Cefepime-susceptible ESBL E. coli bacteremia. Invasive ESBL disease is not adequately addressed by assuming reported cefepime susceptibility predicts clinical success; favor a carbapenem. Carbapenem-resistant Klebsiella with NDM. Mechanism-directed therapy is required. In the 2026 guidance, aztreonam-avibactam or cefiderocol are preferred options for invasive NDM Enterobacterales infection; ceftazidime-avibactam alone is not active against NDM. DTR Pseudomonas susceptible to a novel agent. Determine infection site, dosing, MIC and source control. Do not assume all new beta-lactams are interchangeable or that meropenem-vaborbactam is an antipseudomonal salvage option. Stenotrophomonas from BAL in a patient whose imaging and oxygen requirement are improving without active therapy. Colonization may be more plausible than invasive infection. Treat the patient and syndrome, not the culture in isolation. CRE treatment by resistance mechanism Mechanism Typical invasive-infection options (if active) Common error KPC Meropenem-vaborbactam, ceftazidime-avibactam, imipenem-relebactam Assuming old polymyxin-based salvage is routinely preferable. NDM/other MBL Enterobacterales Aztreonam-avibactam or cefiderocol; ceftazidime-avibactam + aztreonam if necessary Using ceftazidime-avibactam alone or assuming aztreonam alone will resist co-produced ESBL/AmpC enzymes. OXA-48-like Ceftazidime-avibactam; alternatives depend on AST and site Treating meropenem-vaborbactam as equivalent against OXA-48. Non-carbapenemase CRE Evaluate full AST, permeability defect and beta-lactamase profile Assuming all CRE must have a carbapenemase. These are treatment pathways, not empiric guarantees. Verify local availability, FDA indication, renal dosing, infusion strategy and organism-specific susceptibility. MBL Pseudomonas is a separate problem; cefiderocol is favored in 2026 guidance. Susceptibility testing limitations A susceptibility result is meaningful only if the agent-organism combination has a validated interpretive framework; automated panels can be unreliable for unusual nonfermenters. Confirm unusual carbapenemase genotypes and discordant phenotypes with the laboratory. Phenotypic carbapenem resistance does not identify the underlying enzyme. When the isolate remains clinically important but routine panel lacks modern agents, request supplemental AST through the local laboratory/reference lab; do not infer cefiderocol, aztreonam-avibactam or ceftolozane-tazobactam activity from a different drug. Interpret susceptibility alongside required exposure, inoculum, drug distribution and source control. No drug is uniquely required for an entire species in every syndrome.</a:t>
            </a:r>
          </a:p>
          <a:p xmlns:a="http://schemas.openxmlformats.org/drawingml/2006/main">
            <a:r>
              <a:t/>
            </a:r>
          </a:p>
          <a:p xmlns:a="http://schemas.openxmlformats.org/drawingml/2006/main">
            <a:r>
              <a:t>Module section: https://docarcshot.github.io/id-practice-update/lectures/Gram_Negative_Bacteria_Species_Matter.html#fellow-section-nuances-and-uncommon-phenotypes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section: additional resistance and phenotypes Common errors in susceptibility interpretation Ceftriaxone-susceptible Enterobacter cloacae bacteremia. Susceptible now does not exclude derepressed AmpC emergence. Cefepime or another appropriate non-third-generation-cephalosporin agent based on severity, susceptibility and source is generally preferable. Cefepime-susceptible ESBL E. coli bacteremia. Invasive ESBL disease is not adequately addressed by assuming reported cefepime susceptibility predicts clinical success; favor a carbapenem. Carbapenem-resistant Klebsiella with NDM. Mechanism-directed therapy is required. In the 2026 guidance, aztreonam-avibactam or cefiderocol are preferred options for invasive NDM Enterobacterales infection; ceftazidime-avibactam alone is not active against NDM. DTR Pseudomonas susceptible to a novel agent. Determine infection site, dosing, MIC and source control. Do not assume all new beta-lactams are interchangeable or that meropenem-vaborbactam is an antipseudomonal salvage option. Stenotrophomonas from BAL in a patient whose imaging and oxygen requirement are improving without active therapy. Colonization may be more plausible than invasive infection. Treat the patient and syndrome, not the culture in isolation. CRE treatment by resistance mechanism Mechanism Typical invasive-infection options (if active) Common error KPC Meropenem-vaborbactam, ceftazidime-avibactam, imipenem-relebactam Assuming old polymyxin-based salvage is routinely preferable. NDM/other MBL Enterobacterales Aztreonam-avibactam or cefiderocol; ceftazidime-avibactam + aztreonam if necessary Using ceftazidime-avibactam alone or assuming aztreonam alone will resist co-produced ESBL/AmpC enzymes. OXA-48-like Ceftazidime-avibactam; alternatives depend on AST and site Treating meropenem-vaborbactam as equivalent against OXA-48. Non-carbapenemase CRE Evaluate full AST, permeability defect and beta-lactamase profile Assuming all CRE must have a carbapenemase. These are treatment pathways, not empiric guarantees. Verify local availability, FDA indication, renal dosing, infusion strategy and organism-specific susceptibility. MBL Pseudomonas is a separate problem; cefiderocol is favored in 2026 guidance. Susceptibility testing limitations A susceptibility result is meaningful only if the agent-organism combination has a validated interpretive framework; automated panels can be unreliable for unusual nonfermenters. Confirm unusual carbapenemase genotypes and discordant phenotypes with the laboratory. Phenotypic carbapenem resistance does not identify the underlying enzyme. When the isolate remains clinically important but routine panel lacks modern agents, request supplemental AST through the local laboratory/reference lab; do not infer cefiderocol, aztreonam-avibactam or ceftolozane-tazobactam activity from a different drug. Interpret susceptibility alongside required exposure, inoculum, drug distribution and source control. No drug is uniquely required for an entire species in every syndrome.</a:t>
            </a:r>
          </a:p>
          <a:p xmlns:a="http://schemas.openxmlformats.org/drawingml/2006/main">
            <a:r>
              <a:t/>
            </a:r>
          </a:p>
          <a:p xmlns:a="http://schemas.openxmlformats.org/drawingml/2006/main">
            <a:r>
              <a:t>Module section: https://docarcshot.github.io/id-practice-update/lectures/Gram_Negative_Bacteria_Species_Matter.html#fellow-section-nuances-and-uncommon-phenotypes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section: additional resistance and phenotypes Common errors in susceptibility interpretation Ceftriaxone-susceptible Enterobacter cloacae bacteremia. Susceptible now does not exclude derepressed AmpC emergence. Cefepime or another appropriate non-third-generation-cephalosporin agent based on severity, susceptibility and source is generally preferable. Cefepime-susceptible ESBL E. coli bacteremia. Invasive ESBL disease is not adequately addressed by assuming reported cefepime susceptibility predicts clinical success; favor a carbapenem. Carbapenem-resistant Klebsiella with NDM. Mechanism-directed therapy is required. In the 2026 guidance, aztreonam-avibactam or cefiderocol are preferred options for invasive NDM Enterobacterales infection; ceftazidime-avibactam alone is not active against NDM. DTR Pseudomonas susceptible to a novel agent. Determine infection site, dosing, MIC and source control. Do not assume all new beta-lactams are interchangeable or that meropenem-vaborbactam is an antipseudomonal salvage option. Stenotrophomonas from BAL in a patient whose imaging and oxygen requirement are improving without active therapy. Colonization may be more plausible than invasive infection. Treat the patient and syndrome, not the culture in isolation. CRE treatment by resistance mechanism Mechanism Typical invasive-infection options (if active) Common error KPC Meropenem-vaborbactam, ceftazidime-avibactam, imipenem-relebactam Assuming old polymyxin-based salvage is routinely preferable. NDM/other MBL Enterobacterales Aztreonam-avibactam or cefiderocol; ceftazidime-avibactam + aztreonam if necessary Using ceftazidime-avibactam alone or assuming aztreonam alone will resist co-produced ESBL/AmpC enzymes. OXA-48-like Ceftazidime-avibactam; alternatives depend on AST and site Treating meropenem-vaborbactam as equivalent against OXA-48. Non-carbapenemase CRE Evaluate full AST, permeability defect and beta-lactamase profile Assuming all CRE must have a carbapenemase. These are treatment pathways, not empiric guarantees. Verify local availability, FDA indication, renal dosing, infusion strategy and organism-specific susceptibility. MBL Pseudomonas is a separate problem; cefiderocol is favored in 2026 guidance. Susceptibility testing limitations A susceptibility result is meaningful only if the agent-organism combination has a validated interpretive framework; automated panels can be unreliable for unusual nonfermenters. Confirm unusual carbapenemase genotypes and discordant phenotypes with the laboratory. Phenotypic carbapenem resistance does not identify the underlying enzyme. When the isolate remains clinically important but routine panel lacks modern agents, request supplemental AST through the local laboratory/reference lab; do not infer cefiderocol, aztreonam-avibactam or ceftolozane-tazobactam activity from a different drug. Interpret susceptibility alongside required exposure, inoculum, drug distribution and source control. No drug is uniquely required for an entire species in every syndrome.</a:t>
            </a:r>
          </a:p>
          <a:p xmlns:a="http://schemas.openxmlformats.org/drawingml/2006/main">
            <a:r>
              <a:t/>
            </a:r>
          </a:p>
          <a:p xmlns:a="http://schemas.openxmlformats.org/drawingml/2006/main">
            <a:r>
              <a:t>Module section: https://docarcshot.github.io/id-practice-update/lectures/Gram_Negative_Bacteria_Species_Matter.html#fellow-section-nuances-and-uncommon-phenotypes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section: additional resistance and phenotypes Common errors in susceptibility interpretation Ceftriaxone-susceptible Enterobacter cloacae bacteremia. Susceptible now does not exclude derepressed AmpC emergence. Cefepime or another appropriate non-third-generation-cephalosporin agent based on severity, susceptibility and source is generally preferable. Cefepime-susceptible ESBL E. coli bacteremia. Invasive ESBL disease is not adequately addressed by assuming reported cefepime susceptibility predicts clinical success; favor a carbapenem. Carbapenem-resistant Klebsiella with NDM. Mechanism-directed therapy is required. In the 2026 guidance, aztreonam-avibactam or cefiderocol are preferred options for invasive NDM Enterobacterales infection; ceftazidime-avibactam alone is not active against NDM. DTR Pseudomonas susceptible to a novel agent. Determine infection site, dosing, MIC and source control. Do not assume all new beta-lactams are interchangeable or that meropenem-vaborbactam is an antipseudomonal salvage option. Stenotrophomonas from BAL in a patient whose imaging and oxygen requirement are improving without active therapy. Colonization may be more plausible than invasive infection. Treat the patient and syndrome, not the culture in isolation. CRE treatment by resistance mechanism Mechanism Typical invasive-infection options (if active) Common error KPC Meropenem-vaborbactam, ceftazidime-avibactam, imipenem-relebactam Assuming old polymyxin-based salvage is routinely preferable. NDM/other MBL Enterobacterales Aztreonam-avibactam or cefiderocol; ceftazidime-avibactam + aztreonam if necessary Using ceftazidime-avibactam alone or assuming aztreonam alone will resist co-produced ESBL/AmpC enzymes. OXA-48-like Ceftazidime-avibactam; alternatives depend on AST and site Treating meropenem-vaborbactam as equivalent against OXA-48. Non-carbapenemase CRE Evaluate full AST, permeability defect and beta-lactamase profile Assuming all CRE must have a carbapenemase. These are treatment pathways, not empiric guarantees. Verify local availability, FDA indication, renal dosing, infusion strategy and organism-specific susceptibility. MBL Pseudomonas is a separate problem; cefiderocol is favored in 2026 guidance. Susceptibility testing limitations A susceptibility result is meaningful only if the agent-organism combination has a validated interpretive framework; automated panels can be unreliable for unusual nonfermenters. Confirm unusual carbapenemase genotypes and discordant phenotypes with the laboratory. Phenotypic carbapenem resistance does not identify the underlying enzyme. When the isolate remains clinically important but routine panel lacks modern agents, request supplemental AST through the local laboratory/reference lab; do not infer cefiderocol, aztreonam-avibactam or ceftolozane-tazobactam activity from a different drug. Interpret susceptibility alongside required exposure, inoculum, drug distribution and source control. No drug is uniquely required for an entire species in every syndrome.</a:t>
            </a:r>
          </a:p>
          <a:p xmlns:a="http://schemas.openxmlformats.org/drawingml/2006/main">
            <a:r>
              <a:t/>
            </a:r>
          </a:p>
          <a:p xmlns:a="http://schemas.openxmlformats.org/drawingml/2006/main">
            <a:r>
              <a:t>Module section: https://docarcshot.github.io/id-practice-update/lectures/Gram_Negative_Bacteria_Species_Matter.html#fellow-section-nuances-and-uncommon-phenotypes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section: additional resistance and phenotypes Common errors in susceptibility interpretation Ceftriaxone-susceptible Enterobacter cloacae bacteremia. Susceptible now does not exclude derepressed AmpC emergence. Cefepime or another appropriate non-third-generation-cephalosporin agent based on severity, susceptibility and source is generally preferable. Cefepime-susceptible ESBL E. coli bacteremia. Invasive ESBL disease is not adequately addressed by assuming reported cefepime susceptibility predicts clinical success; favor a carbapenem. Carbapenem-resistant Klebsiella with NDM. Mechanism-directed therapy is required. In the 2026 guidance, aztreonam-avibactam or cefiderocol are preferred options for invasive NDM Enterobacterales infection; ceftazidime-avibactam alone is not active against NDM. DTR Pseudomonas susceptible to a novel agent. Determine infection site, dosing, MIC and source control. Do not assume all new beta-lactams are interchangeable or that meropenem-vaborbactam is an antipseudomonal salvage option. Stenotrophomonas from BAL in a patient whose imaging and oxygen requirement are improving without active therapy. Colonization may be more plausible than invasive infection. Treat the patient and syndrome, not the culture in isolation. CRE treatment by resistance mechanism Mechanism Typical invasive-infection options (if active) Common error KPC Meropenem-vaborbactam, ceftazidime-avibactam, imipenem-relebactam Assuming old polymyxin-based salvage is routinely preferable. NDM/other MBL Enterobacterales Aztreonam-avibactam or cefiderocol; ceftazidime-avibactam + aztreonam if necessary Using ceftazidime-avibactam alone or assuming aztreonam alone will resist co-produced ESBL/AmpC enzymes. OXA-48-like Ceftazidime-avibactam; alternatives depend on AST and site Treating meropenem-vaborbactam as equivalent against OXA-48. Non-carbapenemase CRE Evaluate full AST, permeability defect and beta-lactamase profile Assuming all CRE must have a carbapenemase. These are treatment pathways, not empiric guarantees. Verify local availability, FDA indication, renal dosing, infusion strategy and organism-specific susceptibility. MBL Pseudomonas is a separate problem; cefiderocol is favored in 2026 guidance. Susceptibility testing limitations A susceptibility result is meaningful only if the agent-organism combination has a validated interpretive framework; automated panels can be unreliable for unusual nonfermenters. Confirm unusual carbapenemase genotypes and discordant phenotypes with the laboratory. Phenotypic carbapenem resistance does not identify the underlying enzyme. When the isolate remains clinically important but routine panel lacks modern agents, request supplemental AST through the local laboratory/reference lab; do not infer cefiderocol, aztreonam-avibactam or ceftolozane-tazobactam activity from a different drug. Interpret susceptibility alongside required exposure, inoculum, drug distribution and source control. No drug is uniquely required for an entire species in every syndrome.</a:t>
            </a:r>
          </a:p>
          <a:p xmlns:a="http://schemas.openxmlformats.org/drawingml/2006/main">
            <a:r>
              <a:t/>
            </a:r>
          </a:p>
          <a:p xmlns:a="http://schemas.openxmlformats.org/drawingml/2006/main">
            <a:r>
              <a:t>Module section: https://docarcshot.github.io/id-practice-update/lectures/Gram_Negative_Bacteria_Species_Matter.html#fellow-section-nuances-and-uncommon-phenotypes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Fellow section: additional resistance and phenotypes Common errors in susceptibility interpretation Ceftriaxone-susceptible Enterobacter cloacae bacteremia. Susceptible now does not exclude derepressed AmpC emergence. Cefepime or another appropriate non-third-generation-cephalosporin agent based on severity, susceptibility and source is generally preferable. Cefepime-susceptible ESBL E. coli bacteremia. Invasive ESBL disease is not adequately addressed by assuming reported cefepime susceptibility predicts clinical success; favor a carbapenem. Carbapenem-resistant Klebsiella with NDM. Mechanism-directed therapy is required. In the 2026 guidance, aztreonam-avibactam or cefiderocol are preferred options for invasive NDM Enterobacterales infection; ceftazidime-avibactam alone is not active against NDM. DTR Pseudomonas susceptible to a novel agent. Determine infection site, dosing, MIC and source control. Do not assume all new beta-lactams are interchangeable or that meropenem-vaborbactam is an antipseudomonal salvage option. Stenotrophomonas from BAL in a patient whose imaging and oxygen requirement are improving without active therapy. Colonization may be more plausible than invasive infection. Treat the patient and syndrome, not the culture in isolation. CRE treatment by resistance mechanism Mechanism Typical invasive-infection options (if active) Common error KPC Meropenem-vaborbactam, ceftazidime-avibactam, imipenem-relebactam Assuming old polymyxin-based salvage is routinely preferable. NDM/other MBL Enterobacterales Aztreonam-avibactam or cefiderocol; ceftazidime-avibactam + aztreonam if necessary Using ceftazidime-avibactam alone or assuming aztreonam alone will resist co-produced ESBL/AmpC enzymes. OXA-48-like Ceftazidime-avibactam; alternatives depend on AST and site Treating meropenem-vaborbactam as equivalent against OXA-48. Non-carbapenemase CRE Evaluate full AST, permeability defect and beta-lactamase profile Assuming all CRE must have a carbapenemase. These are treatment pathways, not empiric guarantees. Verify local availability, FDA indication, renal dosing, infusion strategy and organism-specific susceptibility. MBL Pseudomonas is a separate problem; cefiderocol is favored in 2026 guidance. Susceptibility testing limitations A susceptibility result is meaningful only if the agent-organism combination has a validated interpretive framework; automated panels can be unreliable for unusual nonfermenters. Confirm unusual carbapenemase genotypes and discordant phenotypes with the laboratory. Phenotypic carbapenem resistance does not identify the underlying enzyme. When the isolate remains clinically important but routine panel lacks modern agents, request supplemental AST through the local laboratory/reference lab; do not infer cefiderocol, aztreonam-avibactam or ceftolozane-tazobactam activity from a different drug. Interpret susceptibility alongside required exposure, inoculum, drug distribution and source control. No drug is uniquely required for an entire species in every syndrome.</a:t>
            </a:r>
          </a:p>
          <a:p xmlns:a="http://schemas.openxmlformats.org/drawingml/2006/main">
            <a:r>
              <a:t/>
            </a:r>
          </a:p>
          <a:p xmlns:a="http://schemas.openxmlformats.org/drawingml/2006/main">
            <a:r>
              <a:t>Module section: https://docarcshot.github.io/id-practice-update/lectures/Gram_Negative_Bacteria_Species_Matter.html#fellow-section-nuances-and-uncommon-phenotypes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2026 IDSA AMR guidance: changes from 2024 For resistance mechanisms and agent selection, see Advanced Antibiotic Resistance module . 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 Area What changed in 2026 What it changes clinically / limitation ESBL-E recognition Ceftriaxone MIC &gt;=4 mcg/mL is the revised threshold used as a proxy for presumed ESBL production in E. coli , K. pneumoniae , and K. oxytoca . Do not equate this proxy with confirmed ESBL genotyping or generalize to every species. Carbapenems remain favored for invasive ESBL-E infections; this was not a reversal of MERINO-related practice. AmpC Hafnia alvei added to the moderate-risk AmpC group. More explicit allowance to continue empiric ceftriaxone in selected improving, nonsevere infections with adequate source control. Further evidence cited against piperacillin-tazobactam for invasive moderate-risk AmpC infections. Do not automatically switch every stable, improving patient solely because AmpC potential is recognized, but do not make ceftriaxone the default initial definitive treatment for invasive E. cloacae complex, K. aerogenes , C. freundii , or H. alvei . NDM/MBL-producing Enterobacterales Incorporates FDA-approved aztreonam-avibactam and data comparing it with other options. Aztreonam-avibactam and cefiderocol are preferred for NDM; ceftazidime-avibactam plus aztreonam remains an alternative when the coformulation is unavailable. The distinction is the protected aztreonam strategy, not that ceftazidime-avibactam alone treats NDM. The guidance notes a slight preference for aztreonam-avibactam over the two-drug combination for NDM. Verify the actual enzyme and AST. DTR Pseudomonas New comparative data support favoring ceftolozane-tazobactam in pneumonia when susceptible. A new carbapenemase-focused question addresses genotype-specific choices. Additional discussion of resistance arising on imipenem-relebactam, and newer cefiderocol bloodstream-infection data. A carbapenemase-positive Pseudomonas cannot be managed by transferring the CRE enzyme-treatment table unchanged. Request AST of relevant novel agents; obtain repeat AST with breakthrough infection. CRAB 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 This is a strengthening of preference, not the first introduction of sulbactam-durlobactam (it was already in the 2024 guidance). Distinguish colonization from invasive infection and assess availability/AST. Stenotrophomonas maltophilia Major change: cefiderocol monotherapy designated preferred for invasive infection. Aztreonam-avibactam, preferably with a second active agent, becomes an alternative. 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 Nebulized antibiotics in DTR Pseudomonas and CRAB Wording against routine adjunctive inhaled therapy is somewhat less categorical after review of studies suggesting possible clinical-cure benefit. Not a blanket endorsement of nebulized therapy; routine use is still not preferred. General framework Updated 2026 CLSI breakpoints/dosing table; definitions of uncomplicated/complicated UTI aligned with the 2025 IDSA cUTI guideline. Check actual MIC and current interpretive standard. The guidance does not mean every beta-lactam on the preferred list is clinically equivalent. Evidence limitations in the 2026 guidance Most important practical changes: protected aztreonam availability for NDM Enterobacterales; cefiderocol monotherapy moving to preferred for invasive S. maltophilia ; firmer prioritization of sulbactam-durlobactam in invasive CRAB; refinement of DTR Pseudomonas pneumonia treatment. Refinements rather than reversals: ESBL ceftriaxone proxy threshold, the Hafnia AmpC classification, allowance to continue ceftriaxone in selected improving nonsevere AmpC infections, and discouraging piperacillin-tazobactam for invasive moderate-risk AmpC. Discuss uncertainty: the Stenotrophomonas preference rests on limited human comparative evidence. Mechanism-directed treatment is crucial, but many uncommon resistant species remain poorly studied. Fellow discussion questions 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 A patient has NDM-producing K. pneumoniae bacteremia. Which agents are preferred, how is aztreonam protected, and why is ceftazidime-avibactam alone inadequate? An ICU BAL grows S. maltophilia . When would treatment be unnecessary? If invasive infection is established, why might cefiderocol monotherapy be favored now, and why should confidence in comparative clinical efficacy remain limited? Source comparison: IDSA 2026 AMR Guidance, "Notable Updates from the 2024 IDSA AMR Guidance Document" ( https://www.idsociety.org/practice-guideline/amr-guidance/ ); IDSA 2024 guidance ( https://doi.org/10.1093/cid/ciae403 ); 2026 publication ( https://doi.org/10.1093/cid/ciag481 ).</a:t>
            </a:r>
          </a:p>
          <a:p xmlns:a="http://schemas.openxmlformats.org/drawingml/2006/main">
            <a:r>
              <a:t/>
            </a:r>
          </a:p>
          <a:p xmlns:a="http://schemas.openxmlformats.org/drawingml/2006/main">
            <a:r>
              <a:t>Module section: https://docarcshot.github.io/id-practice-update/lectures/Gram_Negative_Bacteria_Species_Matter.html#fellow-detail</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initially ceftriaxone-susceptible Enterobacter bacteremia A patient has E. cloacae complex bloodstream infection from an obstructed urinary system. The isolate tests susceptible to ceftriaxone and cefepime. Ask trainees whether the reported ceftriaxone result is adequate for definitive invasive-infection therapy. Discuss moderate-risk AmpC, cefepime exposure, drainage and the difference between cystitis and bloodstream infection. Case 2: Serratia prosthetic-valve endocarditis Two blood culture sets recover Serratia marcescens in a patient with a prosthetic valve. Ask why one should not automatically equate Serratia with E. cloacae-level AmpC risk, while still taking invasive endovascular infection seriously. Discuss repeat cultures, echocardiography and multidisciplinary surgical assessment. Case 3: Klebsiella liver abscess and blurred vision A patient with K. pneumoniae bloodstream infection has a liver abscess and acute blurred vision. Ask about urgent eye examination, abscess drainage and whether a positive string test establishes hypervirulence (it does not). Case 4: BAL growing Stenotrophomonas A mechanically ventilated patient has a BAL isolate of S. maltophilia but stable/improving oxygenation and an alternative explanation for infiltrates. Decide whether infection criteria are met before choosing drugs. If infection is compelling, review updated organism-specific options and susceptibility limitations. Case 5: NDM Klebsiella bloodstream infection A blood isolate is meropenem resistant, NDM positive. Ask why ceftazidime-avibactam monotherapy fails mechanistically and why aztreonam-avibactam, cefiderocol, or a protected-aztreonam combination may be considered depending on availability and AST. Case 6: Pseudomonas and the wrong fluoroquinolone A urine culture grows P. aeruginosa susceptible to ciprofloxacin. A trainee recommends oral moxifloxacin. Explain why same-class labeling is not sufficient, and why moxifloxacin is also a poor urinary agent. Case 7: painful leg after freshwater injury A patient develops rapidly progressive painful cellulitis with bullae after freshwater trauma; cultures grow Aeromonas. Discuss urgent surgical evaluation, exposure-based empiric therapy and inadequate coverage with cefazolin alone.</a:t>
            </a:r>
          </a:p>
          <a:p xmlns:a="http://schemas.openxmlformats.org/drawingml/2006/main">
            <a:r>
              <a:t/>
            </a:r>
          </a:p>
          <a:p xmlns:a="http://schemas.openxmlformats.org/drawingml/2006/main">
            <a:r>
              <a:t>Module section: https://docarcshot.github.io/id-practice-update/lectures/Gram_Negative_Bacteria_Species_Matter.html#interactive-cases-discussion-prompts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initially ceftriaxone-susceptible Enterobacter bacteremia A patient has E. cloacae complex bloodstream infection from an obstructed urinary system. The isolate tests susceptible to ceftriaxone and cefepime. Ask trainees whether the reported ceftriaxone result is adequate for definitive invasive-infection therapy. Discuss moderate-risk AmpC, cefepime exposure, drainage and the difference between cystitis and bloodstream infection. Case 2: Serratia prosthetic-valve endocarditis Two blood culture sets recover Serratia marcescens in a patient with a prosthetic valve. Ask why one should not automatically equate Serratia with E. cloacae-level AmpC risk, while still taking invasive endovascular infection seriously. Discuss repeat cultures, echocardiography and multidisciplinary surgical assessment. Case 3: Klebsiella liver abscess and blurred vision A patient with K. pneumoniae bloodstream infection has a liver abscess and acute blurred vision. Ask about urgent eye examination, abscess drainage and whether a positive string test establishes hypervirulence (it does not). Case 4: BAL growing Stenotrophomonas A mechanically ventilated patient has a BAL isolate of S. maltophilia but stable/improving oxygenation and an alternative explanation for infiltrates. Decide whether infection criteria are met before choosing drugs. If infection is compelling, review updated organism-specific options and susceptibility limitations. Case 5: NDM Klebsiella bloodstream infection A blood isolate is meropenem resistant, NDM positive. Ask why ceftazidime-avibactam monotherapy fails mechanistically and why aztreonam-avibactam, cefiderocol, or a protected-aztreonam combination may be considered depending on availability and AST. Case 6: Pseudomonas and the wrong fluoroquinolone A urine culture grows P. aeruginosa susceptible to ciprofloxacin. A trainee recommends oral moxifloxacin. Explain why same-class labeling is not sufficient, and why moxifloxacin is also a poor urinary agent. Case 7: painful leg after freshwater injury A patient develops rapidly progressive painful cellulitis with bullae after freshwater trauma; cultures grow Aeromonas. Discuss urgent surgical evaluation, exposure-based empiric therapy and inadequate coverage with cefazolin alone.</a:t>
            </a:r>
          </a:p>
          <a:p xmlns:a="http://schemas.openxmlformats.org/drawingml/2006/main">
            <a:r>
              <a:t/>
            </a:r>
          </a:p>
          <a:p xmlns:a="http://schemas.openxmlformats.org/drawingml/2006/main">
            <a:r>
              <a:t>Module section: https://docarcshot.github.io/id-practice-update/lectures/Gram_Negative_Bacteria_Species_Matter.html#interactive-cases-discussion-prompts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initially ceftriaxone-susceptible Enterobacter bacteremia A patient has E. cloacae complex bloodstream infection from an obstructed urinary system. The isolate tests susceptible to ceftriaxone and cefepime. Ask trainees whether the reported ceftriaxone result is adequate for definitive invasive-infection therapy. Discuss moderate-risk AmpC, cefepime exposure, drainage and the difference between cystitis and bloodstream infection. Case 2: Serratia prosthetic-valve endocarditis Two blood culture sets recover Serratia marcescens in a patient with a prosthetic valve. Ask why one should not automatically equate Serratia with E. cloacae-level AmpC risk, while still taking invasive endovascular infection seriously. Discuss repeat cultures, echocardiography and multidisciplinary surgical assessment. Case 3: Klebsiella liver abscess and blurred vision A patient with K. pneumoniae bloodstream infection has a liver abscess and acute blurred vision. Ask about urgent eye examination, abscess drainage and whether a positive string test establishes hypervirulence (it does not). Case 4: BAL growing Stenotrophomonas A mechanically ventilated patient has a BAL isolate of S. maltophilia but stable/improving oxygenation and an alternative explanation for infiltrates. Decide whether infection criteria are met before choosing drugs. If infection is compelling, review updated organism-specific options and susceptibility limitations. Case 5: NDM Klebsiella bloodstream infection A blood isolate is meropenem resistant, NDM positive. Ask why ceftazidime-avibactam monotherapy fails mechanistically and why aztreonam-avibactam, cefiderocol, or a protected-aztreonam combination may be considered depending on availability and AST. Case 6: Pseudomonas and the wrong fluoroquinolone A urine culture grows P. aeruginosa susceptible to ciprofloxacin. A trainee recommends oral moxifloxacin. Explain why same-class labeling is not sufficient, and why moxifloxacin is also a poor urinary agent. Case 7: painful leg after freshwater injury A patient develops rapidly progressive painful cellulitis with bullae after freshwater trauma; cultures grow Aeromonas. Discuss urgent surgical evaluation, exposure-based empiric therapy and inadequate coverage with cefazolin alone.</a:t>
            </a:r>
          </a:p>
          <a:p xmlns:a="http://schemas.openxmlformats.org/drawingml/2006/main">
            <a:r>
              <a:t/>
            </a:r>
          </a:p>
          <a:p xmlns:a="http://schemas.openxmlformats.org/drawingml/2006/main">
            <a:r>
              <a:t>Module section: https://docarcshot.github.io/id-practice-update/lectures/Gram_Negative_Bacteria_Species_Matter.html#interactive-cases-discussion-prompts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initially ceftriaxone-susceptible Enterobacter bacteremia A patient has E. cloacae complex bloodstream infection from an obstructed urinary system. The isolate tests susceptible to ceftriaxone and cefepime. Ask trainees whether the reported ceftriaxone result is adequate for definitive invasive-infection therapy. Discuss moderate-risk AmpC, cefepime exposure, drainage and the difference between cystitis and bloodstream infection. Case 2: Serratia prosthetic-valve endocarditis Two blood culture sets recover Serratia marcescens in a patient with a prosthetic valve. Ask why one should not automatically equate Serratia with E. cloacae-level AmpC risk, while still taking invasive endovascular infection seriously. Discuss repeat cultures, echocardiography and multidisciplinary surgical assessment. Case 3: Klebsiella liver abscess and blurred vision A patient with K. pneumoniae bloodstream infection has a liver abscess and acute blurred vision. Ask about urgent eye examination, abscess drainage and whether a positive string test establishes hypervirulence (it does not). Case 4: BAL growing Stenotrophomonas A mechanically ventilated patient has a BAL isolate of S. maltophilia but stable/improving oxygenation and an alternative explanation for infiltrates. Decide whether infection criteria are met before choosing drugs. If infection is compelling, review updated organism-specific options and susceptibility limitations. Case 5: NDM Klebsiella bloodstream infection A blood isolate is meropenem resistant, NDM positive. Ask why ceftazidime-avibactam monotherapy fails mechanistically and why aztreonam-avibactam, cefiderocol, or a protected-aztreonam combination may be considered depending on availability and AST. Case 6: Pseudomonas and the wrong fluoroquinolone A urine culture grows P. aeruginosa susceptible to ciprofloxacin. A trainee recommends oral moxifloxacin. Explain why same-class labeling is not sufficient, and why moxifloxacin is also a poor urinary agent. Case 7: painful leg after freshwater injury A patient develops rapidly progressive painful cellulitis with bullae after freshwater trauma; cultures grow Aeromonas. Discuss urgent surgical evaluation, exposure-based empiric therapy and inadequate coverage with cefazolin alone.</a:t>
            </a:r>
          </a:p>
          <a:p xmlns:a="http://schemas.openxmlformats.org/drawingml/2006/main">
            <a:r>
              <a:t/>
            </a:r>
          </a:p>
          <a:p xmlns:a="http://schemas.openxmlformats.org/drawingml/2006/main">
            <a:r>
              <a:t>Module section: https://docarcshot.github.io/id-practice-update/lectures/Gram_Negative_Bacteria_Species_Matter.html#interactive-cases-discussion-prompts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initially ceftriaxone-susceptible Enterobacter bacteremia A patient has E. cloacae complex bloodstream infection from an obstructed urinary system. The isolate tests susceptible to ceftriaxone and cefepime. Ask trainees whether the reported ceftriaxone result is adequate for definitive invasive-infection therapy. Discuss moderate-risk AmpC, cefepime exposure, drainage and the difference between cystitis and bloodstream infection. Case 2: Serratia prosthetic-valve endocarditis Two blood culture sets recover Serratia marcescens in a patient with a prosthetic valve. Ask why one should not automatically equate Serratia with E. cloacae-level AmpC risk, while still taking invasive endovascular infection seriously. Discuss repeat cultures, echocardiography and multidisciplinary surgical assessment. Case 3: Klebsiella liver abscess and blurred vision A patient with K. pneumoniae bloodstream infection has a liver abscess and acute blurred vision. Ask about urgent eye examination, abscess drainage and whether a positive string test establishes hypervirulence (it does not). Case 4: BAL growing Stenotrophomonas A mechanically ventilated patient has a BAL isolate of S. maltophilia but stable/improving oxygenation and an alternative explanation for infiltrates. Decide whether infection criteria are met before choosing drugs. If infection is compelling, review updated organism-specific options and susceptibility limitations. Case 5: NDM Klebsiella bloodstream infection A blood isolate is meropenem resistant, NDM positive. Ask why ceftazidime-avibactam monotherapy fails mechanistically and why aztreonam-avibactam, cefiderocol, or a protected-aztreonam combination may be considered depending on availability and AST. Case 6: Pseudomonas and the wrong fluoroquinolone A urine culture grows P. aeruginosa susceptible to ciprofloxacin. A trainee recommends oral moxifloxacin. Explain why same-class labeling is not sufficient, and why moxifloxacin is also a poor urinary agent. Case 7: painful leg after freshwater injury A patient develops rapidly progressive painful cellulitis with bullae after freshwater trauma; cultures grow Aeromonas. Discuss urgent surgical evaluation, exposure-based empiric therapy and inadequate coverage with cefazolin alone.</a:t>
            </a:r>
          </a:p>
          <a:p xmlns:a="http://schemas.openxmlformats.org/drawingml/2006/main">
            <a:r>
              <a:t/>
            </a:r>
          </a:p>
          <a:p xmlns:a="http://schemas.openxmlformats.org/drawingml/2006/main">
            <a:r>
              <a:t>Module section: https://docarcshot.github.io/id-practice-update/lectures/Gram_Negative_Bacteria_Species_Matter.html#interactive-cases-discussion-prompts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initially ceftriaxone-susceptible Enterobacter bacteremia A patient has E. cloacae complex bloodstream infection from an obstructed urinary system. The isolate tests susceptible to ceftriaxone and cefepime. Ask trainees whether the reported ceftriaxone result is adequate for definitive invasive-infection therapy. Discuss moderate-risk AmpC, cefepime exposure, drainage and the difference between cystitis and bloodstream infection. Case 2: Serratia prosthetic-valve endocarditis Two blood culture sets recover Serratia marcescens in a patient with a prosthetic valve. Ask why one should not automatically equate Serratia with E. cloacae-level AmpC risk, while still taking invasive endovascular infection seriously. Discuss repeat cultures, echocardiography and multidisciplinary surgical assessment. Case 3: Klebsiella liver abscess and blurred vision A patient with K. pneumoniae bloodstream infection has a liver abscess and acute blurred vision. Ask about urgent eye examination, abscess drainage and whether a positive string test establishes hypervirulence (it does not). Case 4: BAL growing Stenotrophomonas A mechanically ventilated patient has a BAL isolate of S. maltophilia but stable/improving oxygenation and an alternative explanation for infiltrates. Decide whether infection criteria are met before choosing drugs. If infection is compelling, review updated organism-specific options and susceptibility limitations. Case 5: NDM Klebsiella bloodstream infection A blood isolate is meropenem resistant, NDM positive. Ask why ceftazidime-avibactam monotherapy fails mechanistically and why aztreonam-avibactam, cefiderocol, or a protected-aztreonam combination may be considered depending on availability and AST. Case 6: Pseudomonas and the wrong fluoroquinolone A urine culture grows P. aeruginosa susceptible to ciprofloxacin. A trainee recommends oral moxifloxacin. Explain why same-class labeling is not sufficient, and why moxifloxacin is also a poor urinary agent. Case 7: painful leg after freshwater injury A patient develops rapidly progressive painful cellulitis with bullae after freshwater trauma; cultures grow Aeromonas. Discuss urgent surgical evaluation, exposure-based empiric therapy and inadequate coverage with cefazolin alone.</a:t>
            </a:r>
          </a:p>
          <a:p xmlns:a="http://schemas.openxmlformats.org/drawingml/2006/main">
            <a:r>
              <a:t/>
            </a:r>
          </a:p>
          <a:p xmlns:a="http://schemas.openxmlformats.org/drawingml/2006/main">
            <a:r>
              <a:t>Module section: https://docarcshot.github.io/id-practice-update/lectures/Gram_Negative_Bacteria_Species_Matter.html#interactive-cases-discussion-prompts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Clinical cases Case 1: initially ceftriaxone-susceptible Enterobacter bacteremia A patient has E. cloacae complex bloodstream infection from an obstructed urinary system. The isolate tests susceptible to ceftriaxone and cefepime. Ask trainees whether the reported ceftriaxone result is adequate for definitive invasive-infection therapy. Discuss moderate-risk AmpC, cefepime exposure, drainage and the difference between cystitis and bloodstream infection. Case 2: Serratia prosthetic-valve endocarditis Two blood culture sets recover Serratia marcescens in a patient with a prosthetic valve. Ask why one should not automatically equate Serratia with E. cloacae-level AmpC risk, while still taking invasive endovascular infection seriously. Discuss repeat cultures, echocardiography and multidisciplinary surgical assessment. Case 3: Klebsiella liver abscess and blurred vision A patient with K. pneumoniae bloodstream infection has a liver abscess and acute blurred vision. Ask about urgent eye examination, abscess drainage and whether a positive string test establishes hypervirulence (it does not). Case 4: BAL growing Stenotrophomonas A mechanically ventilated patient has a BAL isolate of S. maltophilia but stable/improving oxygenation and an alternative explanation for infiltrates. Decide whether infection criteria are met before choosing drugs. If infection is compelling, review updated organism-specific options and susceptibility limitations. Case 5: NDM Klebsiella bloodstream infection A blood isolate is meropenem resistant, NDM positive. Ask why ceftazidime-avibactam monotherapy fails mechanistically and why aztreonam-avibactam, cefiderocol, or a protected-aztreonam combination may be considered depending on availability and AST. Case 6: Pseudomonas and the wrong fluoroquinolone A urine culture grows P. aeruginosa susceptible to ciprofloxacin. A trainee recommends oral moxifloxacin. Explain why same-class labeling is not sufficient, and why moxifloxacin is also a poor urinary agent. Case 7: painful leg after freshwater injury A patient develops rapidly progressive painful cellulitis with bullae after freshwater trauma; cultures grow Aeromonas. Discuss urgent surgical evaluation, exposure-based empiric therapy and inadequate coverage with cefazolin alone.</a:t>
            </a:r>
          </a:p>
          <a:p xmlns:a="http://schemas.openxmlformats.org/drawingml/2006/main">
            <a:r>
              <a:t/>
            </a:r>
          </a:p>
          <a:p xmlns:a="http://schemas.openxmlformats.org/drawingml/2006/main">
            <a:r>
              <a:t>Module section: https://docarcshot.github.io/id-practice-update/lectures/Gram_Negative_Bacteria_Species_Matter.html#interactive-cases-discussion-prompts</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Summary Species identification is an early warning system, not a substitute for susceptibility testing. Most errors come from three mistakes: assuming a drug covers an entire taxonomic group, ignoring the location or source of infection, or treating a colonizing environmental organism as a pathogen. For unusual isolates, ask the microbiology laboratory how the species and susceptibility result were established.</a:t>
            </a:r>
          </a:p>
          <a:p xmlns:a="http://schemas.openxmlformats.org/drawingml/2006/main">
            <a:r>
              <a:t/>
            </a:r>
          </a:p>
          <a:p xmlns:a="http://schemas.openxmlformats.org/drawingml/2006/main">
            <a:r>
              <a:t>Module section: https://docarcshot.github.io/id-practice-update/lectures/Gram_Negative_Bacteria_Species_Matter.html#suggested-teaching-close</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IDSA 2026 Guidance on the Treatment of Antimicrobial-Resistant Gram-Negative Infections. https://www.idsociety.org/practice-guideline/amr-guidance/ (primary reference for AmpC, ESBL, CRE, DTR Pseudomonas, CRAB, and Stenotrophomonas; reassess if updated). Clinical and Laboratory Standards Institute. M100 Performance Standards for Antimicrobial Susceptibility Testing, current edition. https://clsi.org/standards/products/microbiology/documents/m100/ (check exact version and organism-agent breakpoints through institutional access). CDC, Clinical Overview of Vibrio vulnificus Infection. https://www.cdc.gov/vibrio/hcp/clinical-overview/index.html CDC, Clinical Overview of Shigellosis. https://www.cdc.gov/shigella/hcp/clinical-overview/index.html Russo TA, Marr CM. Hypervirulent Klebsiella pneumoniae. Clin Microbiol Rev. 2019;32:e00001-19. https://doi.org/10.1128/CMR.00001-19 Teaching caveat: Uncommon species, especially Achromobacter, Burkholderia, and Elizabethkingia, lack strong randomized comparative regimen evidence. This resource deliberately avoids assigning fixed treatment durations or empiric drug mandates to these organisms. Doses are not included in this primer; use organism- and syndrome-specific antibiotic modules and pharmacy dosing references for renal function, infusion optimization and PK/PD.</a:t>
            </a:r>
          </a:p>
          <a:p xmlns:a="http://schemas.openxmlformats.org/drawingml/2006/main">
            <a:r>
              <a:t/>
            </a:r>
          </a:p>
          <a:p xmlns:a="http://schemas.openxmlformats.org/drawingml/2006/main">
            <a:r>
              <a:t>Module section: https://docarcshot.github.io/id-practice-update/lectures/Gram_Negative_Bacteria_Species_Matter.html#references-external-public-only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IDSA 2026 Guidance on the Treatment of Antimicrobial-Resistant Gram-Negative Infections. https://www.idsociety.org/practice-guideline/amr-guidance/ (primary reference for AmpC, ESBL, CRE, DTR Pseudomonas, CRAB, and Stenotrophomonas; reassess if updated). Clinical and Laboratory Standards Institute. M100 Performance Standards for Antimicrobial Susceptibility Testing, current edition. https://clsi.org/standards/products/microbiology/documents/m100/ (check exact version and organism-agent breakpoints through institutional access). CDC, Clinical Overview of Vibrio vulnificus Infection. https://www.cdc.gov/vibrio/hcp/clinical-overview/index.html CDC, Clinical Overview of Shigellosis. https://www.cdc.gov/shigella/hcp/clinical-overview/index.html Russo TA, Marr CM. Hypervirulent Klebsiella pneumoniae. Clin Microbiol Rev. 2019;32:e00001-19. https://doi.org/10.1128/CMR.00001-19 Teaching caveat: Uncommon species, especially Achromobacter, Burkholderia, and Elizabethkingia, lack strong randomized comparative regimen evidence. This resource deliberately avoids assigning fixed treatment durations or empiric drug mandates to these organisms. Doses are not included in this primer; use organism- and syndrome-specific antibiotic modules and pharmacy dosing references for renal function, infusion optimization and PK/PD.</a:t>
            </a:r>
          </a:p>
          <a:p xmlns:a="http://schemas.openxmlformats.org/drawingml/2006/main">
            <a:r>
              <a:t/>
            </a:r>
          </a:p>
          <a:p xmlns:a="http://schemas.openxmlformats.org/drawingml/2006/main">
            <a:r>
              <a:t>Module section: https://docarcshot.github.io/id-practice-update/lectures/Gram_Negative_Bacteria_Species_Matter.html#references-external-public-only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References IDSA 2026 Guidance on the Treatment of Antimicrobial-Resistant Gram-Negative Infections. https://www.idsociety.org/practice-guideline/amr-guidance/ (primary reference for AmpC, ESBL, CRE, DTR Pseudomonas, CRAB, and Stenotrophomonas; reassess if updated). Clinical and Laboratory Standards Institute. M100 Performance Standards for Antimicrobial Susceptibility Testing, current edition. https://clsi.org/standards/products/microbiology/documents/m100/ (check exact version and organism-agent breakpoints through institutional access). CDC, Clinical Overview of Vibrio vulnificus Infection. https://www.cdc.gov/vibrio/hcp/clinical-overview/index.html CDC, Clinical Overview of Shigellosis. https://www.cdc.gov/shigella/hcp/clinical-overview/index.html Russo TA, Marr CM. Hypervirulent Klebsiella pneumoniae. Clin Microbiol Rev. 2019;32:e00001-19. https://doi.org/10.1128/CMR.00001-19 Teaching caveat: Uncommon species, especially Achromobacter, Burkholderia, and Elizabethkingia, lack strong randomized comparative regimen evidence. This resource deliberately avoids assigning fixed treatment durations or empiric drug mandates to these organisms. Doses are not included in this primer; use organism- and syndrome-specific antibiotic modules and pharmacy dosing references for renal function, infusion optimization and PK/PD.</a:t>
            </a:r>
          </a:p>
          <a:p xmlns:a="http://schemas.openxmlformats.org/drawingml/2006/main">
            <a:r>
              <a:t/>
            </a:r>
          </a:p>
          <a:p xmlns:a="http://schemas.openxmlformats.org/drawingml/2006/main">
            <a:r>
              <a:t>Module section: https://docarcshot.github.io/id-practice-update/lectures/Gram_Negative_Bacteria_Species_Matter.html#references-external-public-only</a:t>
            </a:r>
          </a:p>
          <a:p xmlns:a="http://schemas.openxmlformats.org/drawingml/2006/main">
            <a:r>
              <a:t/>
            </a:r>
          </a:p>
          <a:p xmlns:a="http://schemas.openxmlformats.org/drawingml/2006/main">
            <a:r>
              <a:t>Public sources and related reading:</a:t>
            </a:r>
          </a:p>
          <a:p xmlns:a="http://schemas.openxmlformats.org/drawingml/2006/main">
            <a:r>
              <a:t>https://docarcshot.github.io/id-practice-update/lectures/Antibiotic_Resistance_and_Resistant_Organisms.html</a:t>
            </a:r>
          </a:p>
          <a:p xmlns:a="http://schemas.openxmlformats.org/drawingml/2006/main">
            <a:r>
              <a:t>https://docarcshot.github.io/id-practice-update/lectures/Antibiotics_Practical_Primer_Inpatient_Resident.html</a:t>
            </a:r>
          </a:p>
          <a:p xmlns:a="http://schemas.openxmlformats.org/drawingml/2006/main">
            <a:r>
              <a:t>https://docarcshot.github.io/id-practice-update/lectures/Positive_Blood_Cultures_Contaminant_Source_Clearance_Source_Control.html</a:t>
            </a:r>
          </a:p>
          <a:p xmlns:a="http://schemas.openxmlformats.org/drawingml/2006/main">
            <a:r>
              <a:t>https://docarcshot.github.io/id-practice-update/lectures/Bone_and_Joint_Infections_Septic_Arthritis_PJI_Osteomyelitis.html</a:t>
            </a:r>
          </a:p>
          <a:p xmlns:a="http://schemas.openxmlformats.org/drawingml/2006/main">
            <a:r>
              <a:t>https://docarcshot.github.io/id-practice-update/lectures/Recurrent_UTI_Evaluation_and_Prevention.html</a:t>
            </a:r>
          </a:p>
          <a:p xmlns:a="http://schemas.openxmlformats.org/drawingml/2006/main">
            <a:r>
              <a:t>https://docarcshot.github.io/id-practice-update/lectures/Antibiotic_Resistance_and_Resistant_Organisms.html#secondary-teaching</a:t>
            </a:r>
          </a:p>
          <a:p xmlns:a="http://schemas.openxmlformats.org/drawingml/2006/main">
            <a:r>
              <a:t>https://www.idsociety.org/practice-guideline/amr-guidance/</a:t>
            </a:r>
          </a:p>
          <a:p xmlns:a="http://schemas.openxmlformats.org/drawingml/2006/main">
            <a:r>
              <a:t>https://doi.org/10.1093/cid/ciae403</a:t>
            </a:r>
          </a:p>
          <a:p xmlns:a="http://schemas.openxmlformats.org/drawingml/2006/main">
            <a:r>
              <a:t>https://doi.org/10.1093/cid/ciag481</a:t>
            </a:r>
          </a:p>
          <a:p xmlns:a="http://schemas.openxmlformats.org/drawingml/2006/main">
            <a:r>
              <a:t>https://clsi.org/standards/products/microbiology/documents/m100/</a:t>
            </a:r>
          </a:p>
          <a:p xmlns:a="http://schemas.openxmlformats.org/drawingml/2006/main">
            <a:r>
              <a:t>https://www.cdc.gov/vibrio/hcp/clinical-overview/index.html</a:t>
            </a:r>
          </a:p>
          <a:p xmlns:a="http://schemas.openxmlformats.org/drawingml/2006/main">
            <a:r>
              <a:t>https://www.cdc.gov/shigella/hcp/clinical-overview/index.html</a:t>
            </a:r>
          </a:p>
          <a:p xmlns:a="http://schemas.openxmlformats.org/drawingml/2006/main">
            <a:r>
              <a:t>https://doi.org/10.1128/CMR.00001-19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66e15e82d843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0feec819da94e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986974d73394d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3c51668d3fe41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94203400c94f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668664d10f45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44F300-BB11-478D-9406-E05B31073F3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B854FF2-20BF-4365-BBFA-7B79C83B44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0639A6-9A9C-40A3-BF4D-44BCABE99DE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01293B-A682-4090-AE88-B39F809CEE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9D1D974-D7C9-4288-A8A7-F702320F51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B36B6F2-8C18-4E89-965E-06B78A752D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306A63-20C1-49DE-B671-22DABDE38B5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4AC7638-20DB-4336-A9F5-FC33B42AE90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A3E73A-B329-49D5-ABC6-8C7E16566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0F5C334-8499-419A-87D8-236A2D88DF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17528b5af74237" /><Relationship Type="http://schemas.openxmlformats.org/officeDocument/2006/relationships/slideLayout" Target="/ppt/slideLayouts/slideLayout1.xml" Id="Rcbc6ad3a692b46a6" /><Relationship Type="http://schemas.openxmlformats.org/officeDocument/2006/relationships/slideLayout" Target="/ppt/slideLayouts/slideLayout2.xml" Id="Ra080f7858f1c4e96" /><Relationship Type="http://schemas.openxmlformats.org/officeDocument/2006/relationships/slideLayout" Target="/ppt/slideLayouts/slideLayout3.xml" Id="R30897b83bbeb4f58" /><Relationship Type="http://schemas.openxmlformats.org/officeDocument/2006/relationships/slideLayout" Target="/ppt/slideLayouts/slideLayout4.xml" Id="Rec1d892fb9304d10" /><Relationship Type="http://schemas.openxmlformats.org/officeDocument/2006/relationships/slideLayout" Target="/ppt/slideLayouts/slideLayout5.xml" Id="R3ca63f3b5ba0457f" /><Relationship Type="http://schemas.openxmlformats.org/officeDocument/2006/relationships/slideLayout" Target="/ppt/slideLayouts/slideLayout6.xml" Id="R1baa813a7ca0460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c6ad3a692b46a6"/>
    <p:sldLayoutId xmlns:r="http://schemas.openxmlformats.org/officeDocument/2006/relationships" id="2147483650" r:id="Ra080f7858f1c4e96"/>
    <p:sldLayoutId xmlns:r="http://schemas.openxmlformats.org/officeDocument/2006/relationships" id="2147483651" r:id="R30897b83bbeb4f58"/>
    <p:sldLayoutId xmlns:r="http://schemas.openxmlformats.org/officeDocument/2006/relationships" id="2147483652" r:id="Rec1d892fb9304d10"/>
    <p:sldLayoutId xmlns:r="http://schemas.openxmlformats.org/officeDocument/2006/relationships" id="2147483653" r:id="R3ca63f3b5ba0457f"/>
    <p:sldLayoutId xmlns:r="http://schemas.openxmlformats.org/officeDocument/2006/relationships" id="2147483654" r:id="R1baa813a7ca0460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1408e648ab4baa" /><Relationship Type="http://schemas.openxmlformats.org/officeDocument/2006/relationships/notesSlide" Target="/ppt/notesSlides/notesSlide1.xml" Id="R4bb72e79110440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8e8448c79c44231" /><Relationship Type="http://schemas.openxmlformats.org/officeDocument/2006/relationships/notesSlide" Target="/ppt/notesSlides/notesSlide2.xml" Id="R24eddfb0d54242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b269339cb949ec" /><Relationship Type="http://schemas.openxmlformats.org/officeDocument/2006/relationships/notesSlide" Target="/ppt/notesSlides/notesSlide3.xml" Id="R03478546492c4c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e0eacd2430f4957" /><Relationship Type="http://schemas.openxmlformats.org/officeDocument/2006/relationships/notesSlide" Target="/ppt/notesSlides/notesSlide4.xml" Id="Rdd51d905949048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a2b0e78a2ad4161" /><Relationship Type="http://schemas.openxmlformats.org/officeDocument/2006/relationships/notesSlide" Target="/ppt/notesSlides/notesSlide5.xml" Id="R5c691b1afb134f2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832edd057e455e" /><Relationship Type="http://schemas.openxmlformats.org/officeDocument/2006/relationships/notesSlide" Target="/ppt/notesSlides/notesSlide6.xml" Id="R5410eb5178c445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5d0fcfc25d74212" /><Relationship Type="http://schemas.openxmlformats.org/officeDocument/2006/relationships/notesSlide" Target="/ppt/notesSlides/notesSlide7.xml" Id="R6b59d8b03c3540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33c3bde11048d3" /><Relationship Type="http://schemas.openxmlformats.org/officeDocument/2006/relationships/notesSlide" Target="/ppt/notesSlides/notesSlide8.xml" Id="R290a04e60dc14b7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65eb65287ff496b" /><Relationship Type="http://schemas.openxmlformats.org/officeDocument/2006/relationships/notesSlide" Target="/ppt/notesSlides/notesSlide9.xml" Id="R9ca0aa2ae9074c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ac0a1f1323e4d7f" /><Relationship Type="http://schemas.openxmlformats.org/officeDocument/2006/relationships/notesSlide" Target="/ppt/notesSlides/notesSlide10.xml" Id="Rb1ed121adb9745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3e05ab97f804b57" /><Relationship Type="http://schemas.openxmlformats.org/officeDocument/2006/relationships/notesSlide" Target="/ppt/notesSlides/notesSlide11.xml" Id="R67a6d3da99b141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6a4f4c5b31b479c" /><Relationship Type="http://schemas.openxmlformats.org/officeDocument/2006/relationships/notesSlide" Target="/ppt/notesSlides/notesSlide12.xml" Id="R6e0506df7c334cf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d9dfe0f026e4421" /><Relationship Type="http://schemas.openxmlformats.org/officeDocument/2006/relationships/notesSlide" Target="/ppt/notesSlides/notesSlide13.xml" Id="R0e5f5ea664204d7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7a9475a85c6451f" /><Relationship Type="http://schemas.openxmlformats.org/officeDocument/2006/relationships/notesSlide" Target="/ppt/notesSlides/notesSlide14.xml" Id="Rd269db5e671e42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595d4af78bc451f" /><Relationship Type="http://schemas.openxmlformats.org/officeDocument/2006/relationships/notesSlide" Target="/ppt/notesSlides/notesSlide15.xml" Id="R3d406fff23e247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2ca948161d1496d" /><Relationship Type="http://schemas.openxmlformats.org/officeDocument/2006/relationships/notesSlide" Target="/ppt/notesSlides/notesSlide16.xml" Id="Ra983b197382f455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200850c49ed4fa6" /><Relationship Type="http://schemas.openxmlformats.org/officeDocument/2006/relationships/notesSlide" Target="/ppt/notesSlides/notesSlide17.xml" Id="R75de0cc62b604b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60d662098b14c12" /><Relationship Type="http://schemas.openxmlformats.org/officeDocument/2006/relationships/notesSlide" Target="/ppt/notesSlides/notesSlide18.xml" Id="R5cba0238eecb41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b530105d3c402a" /><Relationship Type="http://schemas.openxmlformats.org/officeDocument/2006/relationships/notesSlide" Target="/ppt/notesSlides/notesSlide19.xml" Id="R5cdf5bab063d49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a6a61e361f74051" /><Relationship Type="http://schemas.openxmlformats.org/officeDocument/2006/relationships/notesSlide" Target="/ppt/notesSlides/notesSlide20.xml" Id="Rbbb265f3fec140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65f9451c62b4b25" /><Relationship Type="http://schemas.openxmlformats.org/officeDocument/2006/relationships/notesSlide" Target="/ppt/notesSlides/notesSlide21.xml" Id="R424324b85fc342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698e0dca5c240d6" /><Relationship Type="http://schemas.openxmlformats.org/officeDocument/2006/relationships/notesSlide" Target="/ppt/notesSlides/notesSlide22.xml" Id="R422de0102ff6402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6f7f767013d4a7b" /><Relationship Type="http://schemas.openxmlformats.org/officeDocument/2006/relationships/notesSlide" Target="/ppt/notesSlides/notesSlide23.xml" Id="R3a09eec35eaf4fe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43c2a0522344ec6" /><Relationship Type="http://schemas.openxmlformats.org/officeDocument/2006/relationships/notesSlide" Target="/ppt/notesSlides/notesSlide24.xml" Id="R0edd7f444e55411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3d579afa7d042d0" /><Relationship Type="http://schemas.openxmlformats.org/officeDocument/2006/relationships/notesSlide" Target="/ppt/notesSlides/notesSlide25.xml" Id="R917376cbfa2541b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4f4f3bf9d554f7d" /><Relationship Type="http://schemas.openxmlformats.org/officeDocument/2006/relationships/notesSlide" Target="/ppt/notesSlides/notesSlide26.xml" Id="Rd641032934a64ed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510e692d274c485d" /><Relationship Type="http://schemas.openxmlformats.org/officeDocument/2006/relationships/notesSlide" Target="/ppt/notesSlides/notesSlide27.xml" Id="Rdcc277a584874b1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acc612739524084" /><Relationship Type="http://schemas.openxmlformats.org/officeDocument/2006/relationships/notesSlide" Target="/ppt/notesSlides/notesSlide28.xml" Id="R79b891c351a34d1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75d1a4ce1f24361" /><Relationship Type="http://schemas.openxmlformats.org/officeDocument/2006/relationships/notesSlide" Target="/ppt/notesSlides/notesSlide29.xml" Id="R07c9c6d532f9424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9e09d0892334495" /><Relationship Type="http://schemas.openxmlformats.org/officeDocument/2006/relationships/notesSlide" Target="/ppt/notesSlides/notesSlide30.xml" Id="R4de2bce85e58409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097d7cc44ef468e" /><Relationship Type="http://schemas.openxmlformats.org/officeDocument/2006/relationships/notesSlide" Target="/ppt/notesSlides/notesSlide31.xml" Id="R9cd800dc817541b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668390f612a4e96" /><Relationship Type="http://schemas.openxmlformats.org/officeDocument/2006/relationships/notesSlide" Target="/ppt/notesSlides/notesSlide32.xml" Id="R985bd296fce4408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3efa8ebd85214538" /><Relationship Type="http://schemas.openxmlformats.org/officeDocument/2006/relationships/notesSlide" Target="/ppt/notesSlides/notesSlide33.xml" Id="Rf512aacfa3b0484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4028a1ef3d241d9" /><Relationship Type="http://schemas.openxmlformats.org/officeDocument/2006/relationships/notesSlide" Target="/ppt/notesSlides/notesSlide34.xml" Id="R26779e808ca74e0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91f0f507a0c7477b" /><Relationship Type="http://schemas.openxmlformats.org/officeDocument/2006/relationships/notesSlide" Target="/ppt/notesSlides/notesSlide35.xml" Id="R6f680759ed234769"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37be5c84cba7407c" /><Relationship Type="http://schemas.openxmlformats.org/officeDocument/2006/relationships/notesSlide" Target="/ppt/notesSlides/notesSlide36.xml" Id="R1c544550776c42b5"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6b30dbca90374287" /><Relationship Type="http://schemas.openxmlformats.org/officeDocument/2006/relationships/notesSlide" Target="/ppt/notesSlides/notesSlide37.xml" Id="R9804d81c17d8487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161b75b07d14988" /><Relationship Type="http://schemas.openxmlformats.org/officeDocument/2006/relationships/notesSlide" Target="/ppt/notesSlides/notesSlide38.xml" Id="R9a21bcf66749476e"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36a7df88b6424d2a" /><Relationship Type="http://schemas.openxmlformats.org/officeDocument/2006/relationships/notesSlide" Target="/ppt/notesSlides/notesSlide39.xml" Id="R7f5fcb09572e412f"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60334f3c8a34554" /><Relationship Type="http://schemas.openxmlformats.org/officeDocument/2006/relationships/notesSlide" Target="/ppt/notesSlides/notesSlide40.xml" Id="R5b91d863b75c432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4cc253e5df054d62" /><Relationship Type="http://schemas.openxmlformats.org/officeDocument/2006/relationships/notesSlide" Target="/ppt/notesSlides/notesSlide41.xml" Id="R3dc75b2c5ea74b3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84ab19c5e65b41c6" /><Relationship Type="http://schemas.openxmlformats.org/officeDocument/2006/relationships/notesSlide" Target="/ppt/notesSlides/notesSlide42.xml" Id="Ra38f958b95534ee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811a4ac91ed441c3" /><Relationship Type="http://schemas.openxmlformats.org/officeDocument/2006/relationships/notesSlide" Target="/ppt/notesSlides/notesSlide43.xml" Id="R1090d5e0d42b448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6ddbbcfe793c4ea5" /><Relationship Type="http://schemas.openxmlformats.org/officeDocument/2006/relationships/notesSlide" Target="/ppt/notesSlides/notesSlide44.xml" Id="R44c41758962e4cc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1d49f83868f04375" /><Relationship Type="http://schemas.openxmlformats.org/officeDocument/2006/relationships/notesSlide" Target="/ppt/notesSlides/notesSlide45.xml" Id="R871ab77edab4480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0760710c8414354" /><Relationship Type="http://schemas.openxmlformats.org/officeDocument/2006/relationships/notesSlide" Target="/ppt/notesSlides/notesSlide46.xml" Id="R6fb846af532b4c8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c8a107fefaa4e38" /><Relationship Type="http://schemas.openxmlformats.org/officeDocument/2006/relationships/notesSlide" Target="/ppt/notesSlides/notesSlide47.xml" Id="R6264f27807b24e5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5012802a36e04d04" /><Relationship Type="http://schemas.openxmlformats.org/officeDocument/2006/relationships/notesSlide" Target="/ppt/notesSlides/notesSlide48.xml" Id="Ra2568ef88538499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019b8af175be459a" /><Relationship Type="http://schemas.openxmlformats.org/officeDocument/2006/relationships/notesSlide" Target="/ppt/notesSlides/notesSlide49.xml" Id="R19d199dda6d843e6"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249b2040ce744677" /><Relationship Type="http://schemas.openxmlformats.org/officeDocument/2006/relationships/notesSlide" Target="/ppt/notesSlides/notesSlide50.xml" Id="Rf57aa5c07b634f8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60aaf0daf4714673" /><Relationship Type="http://schemas.openxmlformats.org/officeDocument/2006/relationships/notesSlide" Target="/ppt/notesSlides/notesSlide51.xml" Id="R73e459bcde6b459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70d50c8b39904f3f" /><Relationship Type="http://schemas.openxmlformats.org/officeDocument/2006/relationships/notesSlide" Target="/ppt/notesSlides/notesSlide52.xml" Id="R4e92fea1dbf44f8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3a1ea1b9e074132" /><Relationship Type="http://schemas.openxmlformats.org/officeDocument/2006/relationships/notesSlide" Target="/ppt/notesSlides/notesSlide53.xml" Id="Rd3dc1545743441e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0d5bb77d8c64461b" /><Relationship Type="http://schemas.openxmlformats.org/officeDocument/2006/relationships/notesSlide" Target="/ppt/notesSlides/notesSlide54.xml" Id="Rdbf665accdc04cd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bae90600b4c645ee" /><Relationship Type="http://schemas.openxmlformats.org/officeDocument/2006/relationships/notesSlide" Target="/ppt/notesSlides/notesSlide55.xml" Id="R64b532889a7848a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298dc39e683e4d55" /><Relationship Type="http://schemas.openxmlformats.org/officeDocument/2006/relationships/notesSlide" Target="/ppt/notesSlides/notesSlide56.xml" Id="Rf6695cd643a240a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8bb8d97882f14c89" /><Relationship Type="http://schemas.openxmlformats.org/officeDocument/2006/relationships/notesSlide" Target="/ppt/notesSlides/notesSlide57.xml" Id="R69dc9c1c90d24b76"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be75f02fc71249ed" /><Relationship Type="http://schemas.openxmlformats.org/officeDocument/2006/relationships/notesSlide" Target="/ppt/notesSlides/notesSlide58.xml" Id="R4183fed8c5dd43f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1065eebcc6ec4461" /><Relationship Type="http://schemas.openxmlformats.org/officeDocument/2006/relationships/notesSlide" Target="/ppt/notesSlides/notesSlide59.xml" Id="R251d6116f62e47de"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0518248c1387484d" /><Relationship Type="http://schemas.openxmlformats.org/officeDocument/2006/relationships/notesSlide" Target="/ppt/notesSlides/notesSlide60.xml" Id="Readd0d65ec2848f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9a45f71649b34e46" /><Relationship Type="http://schemas.openxmlformats.org/officeDocument/2006/relationships/notesSlide" Target="/ppt/notesSlides/notesSlide61.xml" Id="R0f83d616f22440a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5e3d09610b5f459f" /><Relationship Type="http://schemas.openxmlformats.org/officeDocument/2006/relationships/notesSlide" Target="/ppt/notesSlides/notesSlide62.xml" Id="R46f7795c227b4e6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a62c2a38d9be4126" /><Relationship Type="http://schemas.openxmlformats.org/officeDocument/2006/relationships/notesSlide" Target="/ppt/notesSlides/notesSlide63.xml" Id="Rac608ac94155442c"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2cba3acfbbc24e87" /><Relationship Type="http://schemas.openxmlformats.org/officeDocument/2006/relationships/notesSlide" Target="/ppt/notesSlides/notesSlide64.xml" Id="R8a29c18034094b1d"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2e11b0e0edb04957" /><Relationship Type="http://schemas.openxmlformats.org/officeDocument/2006/relationships/notesSlide" Target="/ppt/notesSlides/notesSlide65.xml" Id="Re1f7269df3124f92"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3d94077a10ba4f72" /><Relationship Type="http://schemas.openxmlformats.org/officeDocument/2006/relationships/notesSlide" Target="/ppt/notesSlides/notesSlide66.xml" Id="R8cd7d29b250044f7"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5cf4180a4f1343c6" /><Relationship Type="http://schemas.openxmlformats.org/officeDocument/2006/relationships/notesSlide" Target="/ppt/notesSlides/notesSlide67.xml" Id="R843cfec180714586"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5888d6046be1495b" /><Relationship Type="http://schemas.openxmlformats.org/officeDocument/2006/relationships/notesSlide" Target="/ppt/notesSlides/notesSlide68.xml" Id="R65645249ee6c418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ab0ee69c64624547" /><Relationship Type="http://schemas.openxmlformats.org/officeDocument/2006/relationships/notesSlide" Target="/ppt/notesSlides/notesSlide69.xml" Id="R29ae1a6a317048c4"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6510bf4721574b7e" /><Relationship Type="http://schemas.openxmlformats.org/officeDocument/2006/relationships/notesSlide" Target="/ppt/notesSlides/notesSlide70.xml" Id="R576bcb3d44034e2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27fe7a85a0124db1" /><Relationship Type="http://schemas.openxmlformats.org/officeDocument/2006/relationships/notesSlide" Target="/ppt/notesSlides/notesSlide71.xml" Id="R4591baf50fb8457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d74823e46f254143" /><Relationship Type="http://schemas.openxmlformats.org/officeDocument/2006/relationships/notesSlide" Target="/ppt/notesSlides/notesSlide72.xml" Id="R317c5ed1b5eb488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71bad04a07904998" /><Relationship Type="http://schemas.openxmlformats.org/officeDocument/2006/relationships/notesSlide" Target="/ppt/notesSlides/notesSlide73.xml" Id="Rd7693421268d42e9"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f0946991fe8e4082" /><Relationship Type="http://schemas.openxmlformats.org/officeDocument/2006/relationships/notesSlide" Target="/ppt/notesSlides/notesSlide74.xml" Id="R7b26501f985443ed"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fd31ae46db7c4111" /><Relationship Type="http://schemas.openxmlformats.org/officeDocument/2006/relationships/notesSlide" Target="/ppt/notesSlides/notesSlide75.xml" Id="R41e2a2cb4ecd4944"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b6d16328279745ea" /><Relationship Type="http://schemas.openxmlformats.org/officeDocument/2006/relationships/notesSlide" Target="/ppt/notesSlides/notesSlide76.xml" Id="R9a745e0cdfa44f87"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265185d17b984915" /><Relationship Type="http://schemas.openxmlformats.org/officeDocument/2006/relationships/notesSlide" Target="/ppt/notesSlides/notesSlide77.xml" Id="R593d3cefda63415f"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a063d10d404245fa" /><Relationship Type="http://schemas.openxmlformats.org/officeDocument/2006/relationships/notesSlide" Target="/ppt/notesSlides/notesSlide78.xml" Id="Re509cf95cf884cb5"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fc2c2a31a7f841c3" /><Relationship Type="http://schemas.openxmlformats.org/officeDocument/2006/relationships/notesSlide" Target="/ppt/notesSlides/notesSlide79.xml" Id="R082ba2b1b01d473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7559cacfb3f54445" /><Relationship Type="http://schemas.openxmlformats.org/officeDocument/2006/relationships/notesSlide" Target="/ppt/notesSlides/notesSlide80.xml" Id="R780573cc2e5c42ab"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b976a17ff0264993" /><Relationship Type="http://schemas.openxmlformats.org/officeDocument/2006/relationships/notesSlide" Target="/ppt/notesSlides/notesSlide81.xml" Id="R3ea1ec059d424d84"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e17bc33b580643ff" /><Relationship Type="http://schemas.openxmlformats.org/officeDocument/2006/relationships/notesSlide" Target="/ppt/notesSlides/notesSlide82.xml" Id="R810500dc1e224e2c"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250e7f03e8224f9d" /><Relationship Type="http://schemas.openxmlformats.org/officeDocument/2006/relationships/notesSlide" Target="/ppt/notesSlides/notesSlide83.xml" Id="R2c502e33da6c4bc5"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c35f8dc2ba174f1f" /><Relationship Type="http://schemas.openxmlformats.org/officeDocument/2006/relationships/notesSlide" Target="/ppt/notesSlides/notesSlide84.xml" Id="Rc56d543edb74414f"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a2cc4d9b1e7c4b48" /><Relationship Type="http://schemas.openxmlformats.org/officeDocument/2006/relationships/notesSlide" Target="/ppt/notesSlides/notesSlide85.xml" Id="R5245fbfb1eff427f"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e58aca90c1184cba" /><Relationship Type="http://schemas.openxmlformats.org/officeDocument/2006/relationships/notesSlide" Target="/ppt/notesSlides/notesSlide86.xml" Id="R551f1553af9745b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0515c246e3a14f62" /><Relationship Type="http://schemas.openxmlformats.org/officeDocument/2006/relationships/notesSlide" Target="/ppt/notesSlides/notesSlide87.xml" Id="R8641b525225e43cf"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e140c789f03349fc" /><Relationship Type="http://schemas.openxmlformats.org/officeDocument/2006/relationships/notesSlide" Target="/ppt/notesSlides/notesSlide88.xml" Id="R0281e8c5cec34a5e"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6f77ecac5599475b" /><Relationship Type="http://schemas.openxmlformats.org/officeDocument/2006/relationships/notesSlide" Target="/ppt/notesSlides/notesSlide89.xml" Id="Rc47c413388a44238"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bcb0b62dc9184652" /><Relationship Type="http://schemas.openxmlformats.org/officeDocument/2006/relationships/notesSlide" Target="/ppt/notesSlides/notesSlide90.xml" Id="R7798ca41186f4f94"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1AC611-DF22-4DCA-90CD-EDFE624E933B}"/>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Gram-Negative Bacteria: Species, Resistance, and Clinical Associations</a:t>
            </a:r>
          </a:p>
        </p:txBody>
      </p:sp>
      <p:sp>
        <p:nvSpPr>
          <p:cNvPr id="2" name="subtitle">
            <a:extLst xmlns:a="http://schemas.openxmlformats.org/drawingml/2006/main">
              <a:ext uri="{FF2B5EF4-FFF2-40B4-BE49-F238E27FC236}">
                <a16:creationId xmlns:a16="http://schemas.microsoft.com/office/drawing/2014/main" id="{5178BDF2-7C7F-4E1B-8528-FE7A3064B081}"/>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5237092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C61C2B-62B2-420B-B56A-2FCF208DF5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Bacteria: Species, Resistance, and Clinical Associations</a:t>
            </a:r>
          </a:p>
        </p:txBody>
      </p:sp>
      <p:sp>
        <p:nvSpPr>
          <p:cNvPr id="2" name="paragraph-0">
            <a:extLst xmlns:a="http://schemas.openxmlformats.org/drawingml/2006/main">
              <a:ext uri="{FF2B5EF4-FFF2-40B4-BE49-F238E27FC236}">
                <a16:creationId xmlns:a16="http://schemas.microsoft.com/office/drawing/2014/main" id="{FAC53A5D-2AFC-42F2-9B2D-66C38D130E7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Updated October 27, 2026. Adult clinical ID teaching. Organism identity does not replace isolate-specific susceptibility testing, infection-site assessment, and source control. Drug examples assume susceptible isolates and appropriate exposure; verify contemporary CLSI breakpoints and local formulary.</a:t>
            </a:r>
          </a:p>
        </p:txBody>
      </p:sp>
      <p:sp>
        <p:nvSpPr>
          <p:cNvPr id="3" name="footer">
            <a:extLst xmlns:a="http://schemas.openxmlformats.org/drawingml/2006/main">
              <a:ext uri="{FF2B5EF4-FFF2-40B4-BE49-F238E27FC236}">
                <a16:creationId xmlns:a16="http://schemas.microsoft.com/office/drawing/2014/main" id="{482AD525-926E-4D09-9369-60B2AF98664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A08666-2994-42B9-A81A-380B1B89C6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10031747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58A2F8B-40E7-48A2-A951-CC316BD52F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Learning objectives</a:t>
            </a:r>
          </a:p>
        </p:txBody>
      </p:sp>
      <p:sp>
        <p:nvSpPr>
          <p:cNvPr id="2" name="paragraph-0">
            <a:extLst xmlns:a="http://schemas.openxmlformats.org/drawingml/2006/main">
              <a:ext uri="{FF2B5EF4-FFF2-40B4-BE49-F238E27FC236}">
                <a16:creationId xmlns:a16="http://schemas.microsoft.com/office/drawing/2014/main" id="{4ECFF502-049F-4F97-AD0A-EE503FBFCAC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Predict important intrinsic resistance from species identification before the antibiogram returns.</a:t>
            </a:r>
          </a:p>
        </p:txBody>
      </p:sp>
      <p:sp>
        <p:nvSpPr>
          <p:cNvPr id="3" name="paragraph-1">
            <a:extLst xmlns:a="http://schemas.openxmlformats.org/drawingml/2006/main">
              <a:ext uri="{FF2B5EF4-FFF2-40B4-BE49-F238E27FC236}">
                <a16:creationId xmlns:a16="http://schemas.microsoft.com/office/drawing/2014/main" id="{0945801E-7A2F-46A7-84D2-3EB3CD049F39}"/>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Distinguish inducible AmpC, ESBL, carbapenemases, and non-beta-lactam resistance mechanisms.</a:t>
            </a:r>
          </a:p>
        </p:txBody>
      </p:sp>
      <p:sp>
        <p:nvSpPr>
          <p:cNvPr id="4" name="paragraph-2">
            <a:extLst xmlns:a="http://schemas.openxmlformats.org/drawingml/2006/main">
              <a:ext uri="{FF2B5EF4-FFF2-40B4-BE49-F238E27FC236}">
                <a16:creationId xmlns:a16="http://schemas.microsoft.com/office/drawing/2014/main" id="{70B5E9D4-D933-415A-B998-A14042402253}"/>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Explain why seemingly active antibiotics can be poor choices at particular sites.</a:t>
            </a:r>
          </a:p>
        </p:txBody>
      </p:sp>
      <p:sp>
        <p:nvSpPr>
          <p:cNvPr id="5" name="paragraph-3">
            <a:extLst xmlns:a="http://schemas.openxmlformats.org/drawingml/2006/main">
              <a:ext uri="{FF2B5EF4-FFF2-40B4-BE49-F238E27FC236}">
                <a16:creationId xmlns:a16="http://schemas.microsoft.com/office/drawing/2014/main" id="{E8A940F5-FFB8-43E7-8883-766811F72864}"/>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Recognize unusual species/phenotypes that require a focused search for the source, endovascular involvement, or metastatic infection.</a:t>
            </a:r>
          </a:p>
        </p:txBody>
      </p:sp>
      <p:sp>
        <p:nvSpPr>
          <p:cNvPr id="6" name="footer">
            <a:extLst xmlns:a="http://schemas.openxmlformats.org/drawingml/2006/main">
              <a:ext uri="{FF2B5EF4-FFF2-40B4-BE49-F238E27FC236}">
                <a16:creationId xmlns:a16="http://schemas.microsoft.com/office/drawing/2014/main" id="{B2793473-15B9-4005-974E-4DD7336D5B6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A1CB51A0-5B68-427C-9B74-0E4549228BB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201503352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821C4B3-2664-4A22-8643-7C078846565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Learning objectives</a:t>
            </a:r>
          </a:p>
        </p:txBody>
      </p:sp>
      <p:sp>
        <p:nvSpPr>
          <p:cNvPr id="2" name="paragraph-0">
            <a:extLst xmlns:a="http://schemas.openxmlformats.org/drawingml/2006/main">
              <a:ext uri="{FF2B5EF4-FFF2-40B4-BE49-F238E27FC236}">
                <a16:creationId xmlns:a16="http://schemas.microsoft.com/office/drawing/2014/main" id="{23D9EAC9-771A-4151-89F8-C3281068702E}"/>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Interpret rare nonfermenters cautiously, including when a respiratory isolate may be colonization.</a:t>
            </a:r>
          </a:p>
        </p:txBody>
      </p:sp>
      <p:sp>
        <p:nvSpPr>
          <p:cNvPr id="3" name="footer">
            <a:extLst xmlns:a="http://schemas.openxmlformats.org/drawingml/2006/main">
              <a:ext uri="{FF2B5EF4-FFF2-40B4-BE49-F238E27FC236}">
                <a16:creationId xmlns:a16="http://schemas.microsoft.com/office/drawing/2014/main" id="{F56DBEDA-FFD4-4190-BA4F-A02294A306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D1797F5-B8A7-4103-8DCD-F2DEEAD27F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6166201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C841735B-7095-484A-80BC-3A1BA9FF87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interpretation of gram-negative cultures</a:t>
            </a:r>
          </a:p>
        </p:txBody>
      </p:sp>
      <p:sp>
        <p:nvSpPr>
          <p:cNvPr id="2" name="paragraph-0">
            <a:extLst xmlns:a="http://schemas.openxmlformats.org/drawingml/2006/main">
              <a:ext uri="{FF2B5EF4-FFF2-40B4-BE49-F238E27FC236}">
                <a16:creationId xmlns:a16="http://schemas.microsoft.com/office/drawing/2014/main" id="{AA8C12D1-449E-4955-BF4C-24A683519EB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the isolate causing infection, colonization, or specimen contamination? Check sample quality, burden, repeated recovery, syndrome, and host factors.</a:t>
            </a:r>
          </a:p>
        </p:txBody>
      </p:sp>
      <p:sp>
        <p:nvSpPr>
          <p:cNvPr id="3" name="paragraph-1">
            <a:extLst xmlns:a="http://schemas.openxmlformats.org/drawingml/2006/main">
              <a:ext uri="{FF2B5EF4-FFF2-40B4-BE49-F238E27FC236}">
                <a16:creationId xmlns:a16="http://schemas.microsoft.com/office/drawing/2014/main" id="{57DD7B03-8D08-45C0-A166-91B8A1434B92}"/>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Enterobacterales, nonfermenter, fastidious organism, or enteric pathogen? Species identification often predicts important gaps.</a:t>
            </a:r>
          </a:p>
        </p:txBody>
      </p:sp>
      <p:sp>
        <p:nvSpPr>
          <p:cNvPr id="4" name="paragraph-2">
            <a:extLst xmlns:a="http://schemas.openxmlformats.org/drawingml/2006/main">
              <a:ext uri="{FF2B5EF4-FFF2-40B4-BE49-F238E27FC236}">
                <a16:creationId xmlns:a16="http://schemas.microsoft.com/office/drawing/2014/main" id="{9F42F381-5268-49AF-A73D-7C79F7526AD6}"/>
              </a:ext>
            </a:extLst>
          </p:cNvPr>
          <p:cNvSpPr>
            <a:spLocks xmlns:a="http://schemas.openxmlformats.org/drawingml/2006/main" noGrp="1"/>
          </p:cNvSpPr>
          <p:nvPr/>
        </p:nvSpPr>
        <p:spPr>
          <a:xfrm xmlns:a="http://schemas.openxmlformats.org/drawingml/2006/main">
            <a:off x="647700" y="42291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this a urinary, biliary, GI, pulmonary, vascular, bone/joint, CNS, or device infection? Look for source control and a plausible portal of entry.</a:t>
            </a:r>
          </a:p>
        </p:txBody>
      </p:sp>
      <p:sp>
        <p:nvSpPr>
          <p:cNvPr id="5" name="footer">
            <a:extLst xmlns:a="http://schemas.openxmlformats.org/drawingml/2006/main">
              <a:ext uri="{FF2B5EF4-FFF2-40B4-BE49-F238E27FC236}">
                <a16:creationId xmlns:a16="http://schemas.microsoft.com/office/drawing/2014/main" id="{BE8556FD-5F9E-4569-ACA1-A34C7D0D23D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098AD44B-D0BF-4A6C-9058-E2413F7DC4C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13964678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FFB8311-B425-4CC2-8B3D-68889546D8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Initial interpretation of gram-negative cultures</a:t>
            </a:r>
          </a:p>
        </p:txBody>
      </p:sp>
      <p:sp>
        <p:nvSpPr>
          <p:cNvPr id="2" name="paragraph-0">
            <a:extLst xmlns:a="http://schemas.openxmlformats.org/drawingml/2006/main">
              <a:ext uri="{FF2B5EF4-FFF2-40B4-BE49-F238E27FC236}">
                <a16:creationId xmlns:a16="http://schemas.microsoft.com/office/drawing/2014/main" id="{3F7F381B-79A8-42E7-96F0-96580853C20F}"/>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resistance intrinsic, inducible, or acquired? Which susceptibility results are actually validated for that organism?</a:t>
            </a:r>
          </a:p>
        </p:txBody>
      </p:sp>
      <p:sp>
        <p:nvSpPr>
          <p:cNvPr id="3" name="paragraph-1">
            <a:extLst xmlns:a="http://schemas.openxmlformats.org/drawingml/2006/main">
              <a:ext uri="{FF2B5EF4-FFF2-40B4-BE49-F238E27FC236}">
                <a16:creationId xmlns:a16="http://schemas.microsoft.com/office/drawing/2014/main" id="{25ECBB23-D77C-4222-952C-B00A47AE4C3D}"/>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Is antibiotic exposure sufficient at the infected site? An active MIC does not guarantee clinical efficacy.</a:t>
            </a:r>
          </a:p>
        </p:txBody>
      </p:sp>
      <p:sp>
        <p:nvSpPr>
          <p:cNvPr id="4" name="footer">
            <a:extLst xmlns:a="http://schemas.openxmlformats.org/drawingml/2006/main">
              <a:ext uri="{FF2B5EF4-FFF2-40B4-BE49-F238E27FC236}">
                <a16:creationId xmlns:a16="http://schemas.microsoft.com/office/drawing/2014/main" id="{AA2999C1-98F3-4D6A-918B-382FE4C4525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D70084F-09C1-4FAA-B086-DE8EF91211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13058841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717DAA-857D-4FEF-ABCD-1BDCE85E005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Major organism groups</a:t>
            </a:r>
          </a:p>
        </p:txBody>
      </p:sp>
      <p:graphicFrame>
        <p:nvGraphicFramePr>
          <p:cNvPr id="2" name="">
            <a:extLst xmlns:a="http://schemas.openxmlformats.org/drawingml/2006/main">
              <a:ext uri="{FF2B5EF4-FFF2-40B4-BE49-F238E27FC236}">
                <a16:creationId xmlns:a16="http://schemas.microsoft.com/office/drawing/2014/main" id="{85E86CBF-D383-4A64-80D0-03CB101FBB39}"/>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Enterobacterales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Common 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 coli, Klebsiella, Enterobacter, Citrobacter, Proteus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Initial clinical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Urinary/GI/biliary sources common; ESBL, AmpC and carbapenemases vary by species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E1F2D16-3381-4FFB-859E-F1285185B5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3C56E5C-F885-4DFE-82F9-D8B2143695B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3168786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BE438D0-AFA2-418F-8084-F73924B6CD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Major organism groups</a:t>
            </a:r>
          </a:p>
        </p:txBody>
      </p:sp>
      <p:graphicFrame>
        <p:nvGraphicFramePr>
          <p:cNvPr id="2" name="">
            <a:extLst xmlns:a="http://schemas.openxmlformats.org/drawingml/2006/main">
              <a:ext uri="{FF2B5EF4-FFF2-40B4-BE49-F238E27FC236}">
                <a16:creationId xmlns:a16="http://schemas.microsoft.com/office/drawing/2014/main" id="{16DC2B36-A04C-4620-91B6-6F208F9BDF95}"/>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Nonfermenters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Common 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Pseudomonas, Acinetobacter, Stenotrophomonas, Achromobacter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clinical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Species-specific intrinsic resistance, environmental and device associations; respiratory colonization can complicate interpretation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4413A29-34A0-441E-AFD3-C091C86FB3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9B4D4D8-9E14-4A24-8CF9-F356D67B6EB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9109334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E8BD64E-0EEC-4555-9D44-F359035866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Major organism groups</a:t>
            </a:r>
          </a:p>
        </p:txBody>
      </p:sp>
      <p:graphicFrame>
        <p:nvGraphicFramePr>
          <p:cNvPr id="2" name="">
            <a:extLst xmlns:a="http://schemas.openxmlformats.org/drawingml/2006/main">
              <a:ext uri="{FF2B5EF4-FFF2-40B4-BE49-F238E27FC236}">
                <a16:creationId xmlns:a16="http://schemas.microsoft.com/office/drawing/2014/main" id="{AE799D81-75F8-4026-8887-71D30F0F9AA5}"/>
              </a:ext>
            </a:extLst>
          </p:cNvPr>
          <p:cNvGraphicFramePr/>
          <p:nvPr/>
        </p:nvGraphicFramePr>
        <p:xfrm>
          <a:off xmlns:a="http://schemas.openxmlformats.org/drawingml/2006/main" x="647700" y="1866900"/>
          <a:ext xmlns:a="http://schemas.openxmlformats.org/drawingml/2006/main" cx="10896600" cy="19240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Exposure-associated gram-negatives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Common 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Aeromonas, Vibrio, Pasteurella, Capnocytophaga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Initial clinical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Freshwater, salt/brackish water, and animal exposures materially change initial therapy and assessment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4E6E2543-2815-414F-B3F5-2443C68C2BC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55B73CF-9C17-4098-BE1C-59308C90A42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1602043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C9DFB0-B71A-40A7-8C85-69C56CE475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Major organism groups</a:t>
            </a:r>
          </a:p>
        </p:txBody>
      </p:sp>
      <p:graphicFrame>
        <p:nvGraphicFramePr>
          <p:cNvPr id="2" name="">
            <a:extLst xmlns:a="http://schemas.openxmlformats.org/drawingml/2006/main">
              <a:ext uri="{FF2B5EF4-FFF2-40B4-BE49-F238E27FC236}">
                <a16:creationId xmlns:a16="http://schemas.microsoft.com/office/drawing/2014/main" id="{95831F7D-891D-464E-86A1-FCC474214A54}"/>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Enteric invasive pathogens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Common examples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Salmonella, Shigella, Campylobacter, Yersinia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Initial clinical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Extraintestinal complications and resistance matter; detailed enteritis management belongs in the separate enteric infection lecture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1266609-BD1C-4B36-B017-2A88DAEA502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1C3F090-FD50-4070-8258-F837962220F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19826607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305F40-8233-4D15-A186-C34E855C538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AmpC species differences</a:t>
            </a:r>
          </a:p>
        </p:txBody>
      </p:sp>
      <p:graphicFrame>
        <p:nvGraphicFramePr>
          <p:cNvPr id="2" name="">
            <a:extLst xmlns:a="http://schemas.openxmlformats.org/drawingml/2006/main">
              <a:ext uri="{FF2B5EF4-FFF2-40B4-BE49-F238E27FC236}">
                <a16:creationId xmlns:a16="http://schemas.microsoft.com/office/drawing/2014/main" id="{3BA070BE-E76E-48FA-8516-3317A782F774}"/>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Enterobacter cloacae complex, Klebsiella aerogenes, Citrobacter freundii, Hafnia alvei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Practical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Moderate risk of clinically significant derepression of chromosomal inducible AmpC. Ceftriaxone susceptibility at baseline can be misleading in invasive infection. Cefepime is an option when susceptible, appropriately dosed, and no important ESBL co-production concern. Carbapenem in selected severe/resistant scenarios.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E68D3F8-113F-4AA5-84EA-8CB398D43C9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880D28B-0FD3-44F5-8355-E9C36BF57B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95424923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65D7F63-EB8D-476B-8854-5AEE2AE42F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AmpC species differences</a:t>
            </a:r>
          </a:p>
        </p:txBody>
      </p:sp>
      <p:graphicFrame>
        <p:nvGraphicFramePr>
          <p:cNvPr id="2" name="">
            <a:extLst xmlns:a="http://schemas.openxmlformats.org/drawingml/2006/main">
              <a:ext uri="{FF2B5EF4-FFF2-40B4-BE49-F238E27FC236}">
                <a16:creationId xmlns:a16="http://schemas.microsoft.com/office/drawing/2014/main" id="{F14E5C9E-BEF7-492C-AD86-6D42BA777F72}"/>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Serratia marcescens, Morganella morganii, Providencia spp.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Practical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Lower risk of clinically significant AmpC overexpression. Do not automatically mandate cefepime/carbapenem for all infections. Follow AST, infection severity, inoculum and source control.</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4F797B9-F3D8-499E-B741-0CD2F9F7C2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11CE1D7-5997-4930-B857-59884A8272F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118505460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359B9E6-410F-463C-8AF4-3B319AD772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AmpC species differences</a:t>
            </a:r>
          </a:p>
        </p:txBody>
      </p:sp>
      <p:graphicFrame>
        <p:nvGraphicFramePr>
          <p:cNvPr id="2" name="">
            <a:extLst xmlns:a="http://schemas.openxmlformats.org/drawingml/2006/main">
              <a:ext uri="{FF2B5EF4-FFF2-40B4-BE49-F238E27FC236}">
                <a16:creationId xmlns:a16="http://schemas.microsoft.com/office/drawing/2014/main" id="{EE6CB77F-6634-4161-9A57-FF4FAE13C9E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 coli, Klebsiella pneumoniae, Proteus mirabilis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Practical approach</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Acquired plasmid AmpC and ESBL remain possible. Do not assume every third-generation cephalosporin resistance is inducible AmpC.</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D73E7FA-7179-418C-B4A7-A157D6E5AE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6E67713-A7B5-42C7-A9BD-EC5E6A1A6B1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09027657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9347A1E-9C57-448E-8CDF-91AE193940B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AmpC species differences</a:t>
            </a:r>
          </a:p>
        </p:txBody>
      </p:sp>
      <p:sp>
        <p:nvSpPr>
          <p:cNvPr id="2" name="paragraph-0">
            <a:extLst xmlns:a="http://schemas.openxmlformats.org/drawingml/2006/main">
              <a:ext uri="{FF2B5EF4-FFF2-40B4-BE49-F238E27FC236}">
                <a16:creationId xmlns:a16="http://schemas.microsoft.com/office/drawing/2014/main" id="{4E5A0D28-D1C7-46DC-9FFB-EA23CE39FE6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Cefepime susceptibility must be interpreted with the MIC, appropriate dosage, site of infection, and possibility of additional beta-lactamases. Nitrofurantoin and oral fosfomycin do not treat pyelonephritis or bacteremia.</a:t>
            </a:r>
          </a:p>
        </p:txBody>
      </p:sp>
      <p:sp>
        <p:nvSpPr>
          <p:cNvPr id="3" name="footer">
            <a:extLst xmlns:a="http://schemas.openxmlformats.org/drawingml/2006/main">
              <a:ext uri="{FF2B5EF4-FFF2-40B4-BE49-F238E27FC236}">
                <a16:creationId xmlns:a16="http://schemas.microsoft.com/office/drawing/2014/main" id="{DF316452-9AEE-4848-9000-1549F7D11B0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3DCBFD4-3414-4575-A492-B962DA66460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7995129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13C3F8B-94F0-441C-9355-ADE60775148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370E7A77-3F53-40FD-975C-8C893386C09D}"/>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Ceftriaxone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Not reliable for Pseudomonas; avoid as definitive invasive therapy for moderate-risk inducible AmpC species even if initially susceptible.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DF8E522-5616-498C-A841-EA1B1C4D70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53463EE-D366-4036-BF80-D92DE36B073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11694439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E4880CC-C9F9-408F-915C-01216D0CC95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4D9B4126-A5C8-43FB-9323-32DEFC9B3361}"/>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Ertapenem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reliable Pseudomonas, Acinetobacter or Enterococcus activity.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07DD863-9D45-41B1-BDAC-275598BE305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D3D3109-A057-4DB8-935E-1C977212496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42085567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558EF14-3553-4965-A43A-1B341938A2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F5F5414E-D8CB-4F74-890C-604BAA4C0990}"/>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Moxifloxacin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Not an antipseudomonal fluoroquinolone. Do not extrapolate from ciprofloxacin/levofloxacin. Poor urinary exposure makes it a poor UTI choice.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2A7727B-AF5B-4862-B4B6-E649AFE54D9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90FD0DD-60D5-4C61-900E-9FBA9DBFDDD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8149863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BB018E3-0453-4EDA-9D9A-294B2DA107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46B0763C-1A8B-404F-89AE-77ADB555B65D}"/>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Nitrofurantoin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Not for Proteus, Morganella, Providencia, Pseudomonas or upper-tract/systemic infection.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E5718E6-12FD-437F-B067-13910E1A3F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FB10064-3980-4B24-A803-07C140A497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1919405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9795A30-FFDA-44D3-A096-A3ED06BC865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2959AE71-6BC6-4FCF-906B-5E5A213C9638}"/>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Polymyxins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Proteus, Morganella, Providencia and Serratia have intrinsic resistance; substantial toxicity limits use elsewhere.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B50162E-2DE8-477B-93C8-8C450509915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40823C9-7374-40C2-AB8E-9D061F44F99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464858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5B8914F-07EF-4B2E-BB90-D6437A72A3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FFDFB537-D2CC-4FAD-9955-EB1AF6B0EB4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Tigecycline / eravacycline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Not dependable for bloodstream or urinary infection because of pharmacokinetics; Proteus/Providencia/Morganella generally have poor tigecycline activity.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440EAE0-0F63-4BF0-9A6C-681C246A1F8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73636EE-D321-41C3-B2E2-28E6C03372C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6592412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5B62706-2A8D-43B8-A237-63A2DDBE19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9C3139D0-7F48-4270-846B-C6B7F95A3B6B}"/>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Daptomycin / vancomycin / linezolid</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No clinical gram-negative activity due to outer-membrane or target limitations; do not count as gram-negative coverage.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E78AAA0-4380-4D2D-B844-E5D3A124D1B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06DBB6D-5115-4E38-929D-7B0063E9CE7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209127467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73CFE93-A6CD-47BC-9D93-A7623F0B08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81DA3ED4-806D-447F-A423-3DB2692DEE04}"/>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Aztreonam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Gram-negative aerobic activity including some Pseudomonas, but no gram-positive or anaerobic coverage; susceptible to many ESBL/AmpC enzymes, while MBL enzymes alone do not hydrolyze it.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249B6DB-8D2B-41F5-99DD-4E026EA92F6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D684156-F18B-449B-B70F-25E5D5197F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99248761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942EF35-0E24-4049-A2FA-0C3141DE842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679D4E14-D5FE-4F23-BB37-BEFCF8091F65}"/>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Meropenem-vaborbactam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Primarily useful for susceptible KPC-producing Enterobacterales. Vaborbactam does not meaningfully restore meropenem activity against DTR Pseudomonas caused by typical non-KPC mechanisms.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1311E58-3C19-4E83-8C1D-6AC3D895BAC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99C5CBA-88FC-4EC1-9691-9A7FCFA4068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38642268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866941-831A-48FC-B9D2-12D57C14DF9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Important antimicrobial coverage gaps</a:t>
            </a:r>
          </a:p>
        </p:txBody>
      </p:sp>
      <p:graphicFrame>
        <p:nvGraphicFramePr>
          <p:cNvPr id="2" name="">
            <a:extLst xmlns:a="http://schemas.openxmlformats.org/drawingml/2006/main">
              <a:ext uri="{FF2B5EF4-FFF2-40B4-BE49-F238E27FC236}">
                <a16:creationId xmlns:a16="http://schemas.microsoft.com/office/drawing/2014/main" id="{E2098282-7633-4A00-A559-8C4EBAE3C77A}"/>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Ampicillin-sulbactam</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High-yield gap or caveat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Sulbactam has direct activity against Acinetobacter at adequate doses; conventional low-dose regimens are not automatically adequate for CRAB.</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2A017CA-362E-45D0-89A4-25CC228AEC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99D00C6-257B-4CA6-9EA2-59B3C04EE5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54747906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D8B8045-556D-4C2B-B436-515EC793992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sp>
        <p:nvSpPr>
          <p:cNvPr id="2" name="paragraph-0">
            <a:extLst xmlns:a="http://schemas.openxmlformats.org/drawingml/2006/main">
              <a:ext uri="{FF2B5EF4-FFF2-40B4-BE49-F238E27FC236}">
                <a16:creationId xmlns:a16="http://schemas.microsoft.com/office/drawing/2014/main" id="{958073E0-55F1-44C3-8561-602DF697061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resistance mechanisms and directed treatment, see Antibiotic Resistance and Resistant Organisms . For dosing and coverage, see Antibiotics Primer .</a:t>
            </a:r>
          </a:p>
        </p:txBody>
      </p:sp>
      <p:sp>
        <p:nvSpPr>
          <p:cNvPr id="3" name="footer">
            <a:extLst xmlns:a="http://schemas.openxmlformats.org/drawingml/2006/main">
              <a:ext uri="{FF2B5EF4-FFF2-40B4-BE49-F238E27FC236}">
                <a16:creationId xmlns:a16="http://schemas.microsoft.com/office/drawing/2014/main" id="{CE668B2F-6A45-40A8-A807-7E184C24457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69BBDF8-BE0D-4BB5-9B58-957C9315BC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11004337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ED037D3-EDE5-4F05-8EA7-DB02C309F2A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graphicFrame>
        <p:nvGraphicFramePr>
          <p:cNvPr id="2" name="">
            <a:extLst xmlns:a="http://schemas.openxmlformats.org/drawingml/2006/main">
              <a:ext uri="{FF2B5EF4-FFF2-40B4-BE49-F238E27FC236}">
                <a16:creationId xmlns:a16="http://schemas.microsoft.com/office/drawing/2014/main" id="{FDA7C88F-37D6-428D-A2A9-7588C350C7B7}"/>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ESBL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Mechanism or distinction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Enzymatic hydrolysis of many penicillins and cephalosporins, commonly CTX-M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Treatment-selection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For invasive ESBL-E infections, carbapenems usually preferred; do not extend piperacillin-tazobactam or cefepime susceptibility to reliable treatment of bloodstream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85F5CDF-9B8C-4EB7-8326-ECC91C878D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8BB95EB-ECDA-47CF-B523-BD38BD37B66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107097260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66D5829-05E9-4F70-986C-1D72BAF9C8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graphicFrame>
        <p:nvGraphicFramePr>
          <p:cNvPr id="2" name="">
            <a:extLst xmlns:a="http://schemas.openxmlformats.org/drawingml/2006/main">
              <a:ext uri="{FF2B5EF4-FFF2-40B4-BE49-F238E27FC236}">
                <a16:creationId xmlns:a16="http://schemas.microsoft.com/office/drawing/2014/main" id="{469AE4B6-400B-470E-905A-4B83ADD80C52}"/>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Inducible AmpC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Mechanism or distinction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Selection of derepressed mutants during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Treatment-selection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Cefepime usually preferred for susceptible moderate-risk species; third-generation cephalosporins can select resistance.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89C4F26-9BB8-4F04-8448-03A2FC44AC8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E5B4EFA-F302-4EDA-9DCA-5DE10C62FAA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1588197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B87F48A-EDFE-433F-88C8-8CA17654CBC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graphicFrame>
        <p:nvGraphicFramePr>
          <p:cNvPr id="2" name="">
            <a:extLst xmlns:a="http://schemas.openxmlformats.org/drawingml/2006/main">
              <a:ext uri="{FF2B5EF4-FFF2-40B4-BE49-F238E27FC236}">
                <a16:creationId xmlns:a16="http://schemas.microsoft.com/office/drawing/2014/main" id="{ED319C91-0FA4-4EB7-A750-8B2816FAC0B2}"/>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CRE without carbapenemase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Mechanism or distinction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ESBL/AmpC combined with porin loss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Treatment-selection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Carbapenemase test helps distinguish options; treatment depends on AST and site.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17F6D7D-4B43-4675-86D6-71B8095EDAC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B035D33-F66F-4919-8902-A0286B6CA6F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198099316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B6F2F59-2F01-431A-AD03-A22C7A2E95F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graphicFrame>
        <p:nvGraphicFramePr>
          <p:cNvPr id="2" name="">
            <a:extLst xmlns:a="http://schemas.openxmlformats.org/drawingml/2006/main">
              <a:ext uri="{FF2B5EF4-FFF2-40B4-BE49-F238E27FC236}">
                <a16:creationId xmlns:a16="http://schemas.microsoft.com/office/drawing/2014/main" id="{FD7AD95A-588F-407F-A407-11B435F01EF3}"/>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KPC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Mechanism or distinction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Class A serine carbapenemase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Treatment-selection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Meropenem-vaborbactam, ceftazidime-avibactam or imipenem-relebactam commonly active; check AST.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02B0152-9098-41C7-86E0-BD96EDCBFA2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D460581-254B-4253-B734-844778E4486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81876340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FFAB337-C55B-401C-AA68-B5CEDCEA059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graphicFrame>
        <p:nvGraphicFramePr>
          <p:cNvPr id="2" name="">
            <a:extLst xmlns:a="http://schemas.openxmlformats.org/drawingml/2006/main">
              <a:ext uri="{FF2B5EF4-FFF2-40B4-BE49-F238E27FC236}">
                <a16:creationId xmlns:a16="http://schemas.microsoft.com/office/drawing/2014/main" id="{54367169-7155-429C-BCD2-AA8C5626F51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NDM/VIM/IMP</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Mechanism or distinction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Metallo-beta-lactamases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Treatment-selection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Aztreonam-avibactam or cefiderocol for susceptible NDM Enterobacterales; ceftazidime-avibactam plus aztreonam when aztreonam-avibactam unavailable. Regimens differ for MBL Pseudomonas.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C4E8BA0-C67C-4759-8081-6563557AA26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6E54517-B88B-4AA9-A49C-7D657586F22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153318252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976BAB4-A51A-445A-A72F-1554CF2F4A1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graphicFrame>
        <p:nvGraphicFramePr>
          <p:cNvPr id="2" name="">
            <a:extLst xmlns:a="http://schemas.openxmlformats.org/drawingml/2006/main">
              <a:ext uri="{FF2B5EF4-FFF2-40B4-BE49-F238E27FC236}">
                <a16:creationId xmlns:a16="http://schemas.microsoft.com/office/drawing/2014/main" id="{235F23E1-CB0F-467E-AB5C-3C81B0F05C31}"/>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OXA-48-like Enterobacterales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Mechanism or distinction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Class D carbapenemase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Treatment-selection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Ceftazidime-avibactam generally preferred; meropenem-vaborbactam and imipenem-relebactam do not reliably inhibit this enzyme.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58160E9-33F4-469E-A306-62F20D862BB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CFC5E7C-C70E-4F46-85E2-7CA1414135B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143467327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5C2E372-BC61-44FE-BBE3-5BD04EF2B9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graphicFrame>
        <p:nvGraphicFramePr>
          <p:cNvPr id="2" name="">
            <a:extLst xmlns:a="http://schemas.openxmlformats.org/drawingml/2006/main">
              <a:ext uri="{FF2B5EF4-FFF2-40B4-BE49-F238E27FC236}">
                <a16:creationId xmlns:a16="http://schemas.microsoft.com/office/drawing/2014/main" id="{982CCB30-801B-466B-B9B7-052D7460FA9A}"/>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Pseudomonas DTR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Mechanism or distinction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Multiple pathways: AmpC upregulation, efflux, porin changes, target enzymes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Treatment-selection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Request testing of ceftolozane-tazobactam, ceftazidime-avibactam, imipenem-relebactam and cefiderocol. Choose based on isolate and infection site.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8347EC0-8E8D-4202-A256-EFE8BC7E1E3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9737B1B-5A62-4115-9306-51C75B13742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174699975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AAC9105-4B01-43A0-A115-3FD3473988F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graphicFrame>
        <p:nvGraphicFramePr>
          <p:cNvPr id="2" name="">
            <a:extLst xmlns:a="http://schemas.openxmlformats.org/drawingml/2006/main">
              <a:ext uri="{FF2B5EF4-FFF2-40B4-BE49-F238E27FC236}">
                <a16:creationId xmlns:a16="http://schemas.microsoft.com/office/drawing/2014/main" id="{4B2B005B-2FB7-4AEF-9278-2CF21DD4817C}"/>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CRAB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Mechanism or distinction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Often OXA carbapenemases and multiple resistance mechanisms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Treatment-selection implications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Sulbactam-durlobactam combined with imipenem or meropenem is the preferred invasive-infection approach in 2026 guidance when active/available.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C5015B8-36C1-4410-83A2-7478262E2B7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F7A3378-AE51-4887-870E-638F987A498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85318223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C10C094-5FE7-4590-A942-F3B4D9163B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Resistance mechanisms and susceptibility results</a:t>
            </a:r>
          </a:p>
        </p:txBody>
      </p:sp>
      <p:sp>
        <p:nvSpPr>
          <p:cNvPr id="2" name="paragraph-0">
            <a:extLst xmlns:a="http://schemas.openxmlformats.org/drawingml/2006/main">
              <a:ext uri="{FF2B5EF4-FFF2-40B4-BE49-F238E27FC236}">
                <a16:creationId xmlns:a16="http://schemas.microsoft.com/office/drawing/2014/main" id="{DAA1F5A9-165F-4FFF-B1DF-C77CA511710E}"/>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Distinguish MDR, XDR and DTR. DTR Pseudomonas describes resistance to a particular set of conventional antipseudomonal agents, not simply resistance to one carbapenem. New resistance can arise on treatment: repeat cultures and AST for clinical failure, relapse, or breakthrough bacteremia.</a:t>
            </a:r>
          </a:p>
        </p:txBody>
      </p:sp>
      <p:sp>
        <p:nvSpPr>
          <p:cNvPr id="3" name="footer">
            <a:extLst xmlns:a="http://schemas.openxmlformats.org/drawingml/2006/main">
              <a:ext uri="{FF2B5EF4-FFF2-40B4-BE49-F238E27FC236}">
                <a16:creationId xmlns:a16="http://schemas.microsoft.com/office/drawing/2014/main" id="{1EED83FD-8CB4-4F9E-A5B0-DB26E1045F3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93FF724-2013-41BF-827D-930FBE6492B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208682785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6CD350E-3ED8-46C8-A919-CEAA6806A1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Pseudomonas aeruginosa</a:t>
            </a:r>
          </a:p>
        </p:txBody>
      </p:sp>
      <p:sp>
        <p:nvSpPr>
          <p:cNvPr id="2" name="paragraph-0">
            <a:extLst xmlns:a="http://schemas.openxmlformats.org/drawingml/2006/main">
              <a:ext uri="{FF2B5EF4-FFF2-40B4-BE49-F238E27FC236}">
                <a16:creationId xmlns:a16="http://schemas.microsoft.com/office/drawing/2014/main" id="{04ED9146-D40C-466F-827E-5CFF2450D032}"/>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Appropriate antipseudomonal fluoroquinolones are ciprofloxacin and levofloxacin when susceptible, not moxifloxacin.</a:t>
            </a:r>
          </a:p>
        </p:txBody>
      </p:sp>
      <p:sp>
        <p:nvSpPr>
          <p:cNvPr id="3" name="paragraph-1">
            <a:extLst xmlns:a="http://schemas.openxmlformats.org/drawingml/2006/main">
              <a:ext uri="{FF2B5EF4-FFF2-40B4-BE49-F238E27FC236}">
                <a16:creationId xmlns:a16="http://schemas.microsoft.com/office/drawing/2014/main" id="{EF2C960A-553E-4130-AB4C-3FA44CC5851A}"/>
              </a:ext>
            </a:extLst>
          </p:cNvPr>
          <p:cNvSpPr>
            <a:spLocks xmlns:a="http://schemas.openxmlformats.org/drawingml/2006/main" noGrp="1"/>
          </p:cNvSpPr>
          <p:nvPr/>
        </p:nvSpPr>
        <p:spPr>
          <a:xfrm xmlns:a="http://schemas.openxmlformats.org/drawingml/2006/main">
            <a:off x="647700" y="291465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Ertapenem and ceftriaxone do not cover Pseudomonas.</a:t>
            </a:r>
          </a:p>
        </p:txBody>
      </p:sp>
      <p:sp>
        <p:nvSpPr>
          <p:cNvPr id="4" name="paragraph-2">
            <a:extLst xmlns:a="http://schemas.openxmlformats.org/drawingml/2006/main">
              <a:ext uri="{FF2B5EF4-FFF2-40B4-BE49-F238E27FC236}">
                <a16:creationId xmlns:a16="http://schemas.microsoft.com/office/drawing/2014/main" id="{39D8E161-5D0F-4030-A33E-596716B0104B}"/>
              </a:ext>
            </a:extLst>
          </p:cNvPr>
          <p:cNvSpPr>
            <a:spLocks xmlns:a="http://schemas.openxmlformats.org/drawingml/2006/main" noGrp="1"/>
          </p:cNvSpPr>
          <p:nvPr/>
        </p:nvSpPr>
        <p:spPr>
          <a:xfrm xmlns:a="http://schemas.openxmlformats.org/drawingml/2006/main">
            <a:off x="647700" y="35242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Carbapenem resistance does not guarantee ceftolozane-tazobactam resistance; mechanism matters. Likewise, resistance to one newer agent cannot be extrapolated to all.</a:t>
            </a:r>
          </a:p>
        </p:txBody>
      </p:sp>
      <p:sp>
        <p:nvSpPr>
          <p:cNvPr id="5" name="footer">
            <a:extLst xmlns:a="http://schemas.openxmlformats.org/drawingml/2006/main">
              <a:ext uri="{FF2B5EF4-FFF2-40B4-BE49-F238E27FC236}">
                <a16:creationId xmlns:a16="http://schemas.microsoft.com/office/drawing/2014/main" id="{4FC573E9-1EBA-4740-B1A3-3BB2ADE2BF1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8F43035A-B58C-471D-9169-20779DB82DA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163629295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390449B-B92F-4201-8055-F80187ED01D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Pseudomonas aeruginosa</a:t>
            </a:r>
          </a:p>
        </p:txBody>
      </p:sp>
      <p:sp>
        <p:nvSpPr>
          <p:cNvPr id="2" name="paragraph-0">
            <a:extLst xmlns:a="http://schemas.openxmlformats.org/drawingml/2006/main">
              <a:ext uri="{FF2B5EF4-FFF2-40B4-BE49-F238E27FC236}">
                <a16:creationId xmlns:a16="http://schemas.microsoft.com/office/drawing/2014/main" id="{56CD32B9-A414-4A9D-B959-1FC2D860014D}"/>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DTR infections outside the urinary tract, the 2026 IDSA preferred agents include ceftolozane-tazobactam, ceftazidime-avibactam and imipenem-relebactam; cefiderocol is an alternative. For DTR pneumonia, guidance particularly favors ceftolozane-tazobactam. Document AST and adjust for renal function.</a:t>
            </a:r>
          </a:p>
        </p:txBody>
      </p:sp>
      <p:sp>
        <p:nvSpPr>
          <p:cNvPr id="3" name="paragraph-1">
            <a:extLst xmlns:a="http://schemas.openxmlformats.org/drawingml/2006/main">
              <a:ext uri="{FF2B5EF4-FFF2-40B4-BE49-F238E27FC236}">
                <a16:creationId xmlns:a16="http://schemas.microsoft.com/office/drawing/2014/main" id="{5C673EB5-B925-45AB-AD96-679FA0F8BFB0}"/>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Recurrent same-species infection: evaluate obstruction, hardware, biofilm, abscess or inadequate source control before simply broadening therapy.</a:t>
            </a:r>
          </a:p>
        </p:txBody>
      </p:sp>
      <p:sp>
        <p:nvSpPr>
          <p:cNvPr id="4" name="footer">
            <a:extLst xmlns:a="http://schemas.openxmlformats.org/drawingml/2006/main">
              <a:ext uri="{FF2B5EF4-FFF2-40B4-BE49-F238E27FC236}">
                <a16:creationId xmlns:a16="http://schemas.microsoft.com/office/drawing/2014/main" id="{C5AB7E90-06E7-469C-8BBE-E8368B5776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805E5398-0FE5-4C91-ADDF-0EAF6B6E2B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46231937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851D6C1-AAAF-4147-9332-CD6F771C29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Stenotrophomonas maltophilia</a:t>
            </a:r>
          </a:p>
        </p:txBody>
      </p:sp>
      <p:sp>
        <p:nvSpPr>
          <p:cNvPr id="2" name="paragraph-0">
            <a:extLst xmlns:a="http://schemas.openxmlformats.org/drawingml/2006/main">
              <a:ext uri="{FF2B5EF4-FFF2-40B4-BE49-F238E27FC236}">
                <a16:creationId xmlns:a16="http://schemas.microsoft.com/office/drawing/2014/main" id="{725738F3-87B7-4300-89E3-8437494AE4D5}"/>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Environmental nonfermenter; recovered frequently from respiratory samples with uncertain significance. A positive BAL is not sufficient by itself to diagnose pneumonia.</a:t>
            </a:r>
          </a:p>
        </p:txBody>
      </p:sp>
      <p:sp>
        <p:nvSpPr>
          <p:cNvPr id="3" name="paragraph-1">
            <a:extLst xmlns:a="http://schemas.openxmlformats.org/drawingml/2006/main">
              <a:ext uri="{FF2B5EF4-FFF2-40B4-BE49-F238E27FC236}">
                <a16:creationId xmlns:a16="http://schemas.microsoft.com/office/drawing/2014/main" id="{32C3DCFF-5805-4115-8A3B-C13AA54B2E9C}"/>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Intrinsically resistant to carbapenems and many beta-lactams through L1 metallo-beta-lactamase and L2 serine beta-lactamase, with other mechanisms.</a:t>
            </a:r>
          </a:p>
        </p:txBody>
      </p:sp>
      <p:sp>
        <p:nvSpPr>
          <p:cNvPr id="4" name="footer">
            <a:extLst xmlns:a="http://schemas.openxmlformats.org/drawingml/2006/main">
              <a:ext uri="{FF2B5EF4-FFF2-40B4-BE49-F238E27FC236}">
                <a16:creationId xmlns:a16="http://schemas.microsoft.com/office/drawing/2014/main" id="{C8860278-C3DB-477F-96E5-5A47EE8C84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D5C9E001-B3D2-4102-93E1-8745AC09867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185436240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006DD3E-8A93-4CD5-AAB9-8A3F47D8E26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Stenotrophomonas maltophilia</a:t>
            </a:r>
          </a:p>
        </p:txBody>
      </p:sp>
      <p:sp>
        <p:nvSpPr>
          <p:cNvPr id="2" name="paragraph-0">
            <a:extLst xmlns:a="http://schemas.openxmlformats.org/drawingml/2006/main">
              <a:ext uri="{FF2B5EF4-FFF2-40B4-BE49-F238E27FC236}">
                <a16:creationId xmlns:a16="http://schemas.microsoft.com/office/drawing/2014/main" id="{592CCB31-4F73-43A1-89E0-6A5156648B19}"/>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invasive infection, the 2026 IDSA guidance prefers cefiderocol monotherapy, largely on preclinical evidence rather than comparative clinical trials. Aztreonam-avibactam (preferably with another active agent), or combination regimens including TMP-SMX, minocycline, or levofloxacin are alternatives. Clinical outcome evidence remains limited; review AST, severity and tolerability. The historical assertion that TMP-SMX is the single required first-line treatment is outdated.</a:t>
            </a:r>
          </a:p>
        </p:txBody>
      </p:sp>
      <p:sp>
        <p:nvSpPr>
          <p:cNvPr id="3" name="paragraph-1">
            <a:extLst xmlns:a="http://schemas.openxmlformats.org/drawingml/2006/main">
              <a:ext uri="{FF2B5EF4-FFF2-40B4-BE49-F238E27FC236}">
                <a16:creationId xmlns:a16="http://schemas.microsoft.com/office/drawing/2014/main" id="{BAD8D3F2-4F74-41CC-AA30-70588CB0557C}"/>
              </a:ext>
            </a:extLst>
          </p:cNvPr>
          <p:cNvSpPr>
            <a:spLocks xmlns:a="http://schemas.openxmlformats.org/drawingml/2006/main" noGrp="1"/>
          </p:cNvSpPr>
          <p:nvPr/>
        </p:nvSpPr>
        <p:spPr>
          <a:xfrm xmlns:a="http://schemas.openxmlformats.org/drawingml/2006/main">
            <a:off x="647700" y="46767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Older ceftazidime susceptibility results are not a sound reason to use ceftazidime monotherapy.</a:t>
            </a:r>
          </a:p>
        </p:txBody>
      </p:sp>
      <p:sp>
        <p:nvSpPr>
          <p:cNvPr id="4" name="footer">
            <a:extLst xmlns:a="http://schemas.openxmlformats.org/drawingml/2006/main">
              <a:ext uri="{FF2B5EF4-FFF2-40B4-BE49-F238E27FC236}">
                <a16:creationId xmlns:a16="http://schemas.microsoft.com/office/drawing/2014/main" id="{C8C5D29A-32E1-413F-BBCB-2B191B9EFA3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C0F71027-8149-4A41-8EC3-174BA1A49C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2756349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987EDEF1-56AA-4B9F-96CF-4D3BAE6367C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Acinetobacter baumannii complex</a:t>
            </a:r>
          </a:p>
        </p:txBody>
      </p:sp>
      <p:sp>
        <p:nvSpPr>
          <p:cNvPr id="2" name="paragraph-0">
            <a:extLst xmlns:a="http://schemas.openxmlformats.org/drawingml/2006/main">
              <a:ext uri="{FF2B5EF4-FFF2-40B4-BE49-F238E27FC236}">
                <a16:creationId xmlns:a16="http://schemas.microsoft.com/office/drawing/2014/main" id="{90AA084B-2958-4BF0-BDD4-96AE3FBFD6F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Distinguish colonization from infection especially in respiratory cultures and chronic wounds.</a:t>
            </a:r>
          </a:p>
        </p:txBody>
      </p:sp>
      <p:sp>
        <p:nvSpPr>
          <p:cNvPr id="3" name="paragraph-1">
            <a:extLst xmlns:a="http://schemas.openxmlformats.org/drawingml/2006/main">
              <a:ext uri="{FF2B5EF4-FFF2-40B4-BE49-F238E27FC236}">
                <a16:creationId xmlns:a16="http://schemas.microsoft.com/office/drawing/2014/main" id="{941DBEE3-C0F6-4F92-AA73-CADEB6F04A33}"/>
              </a:ext>
            </a:extLst>
          </p:cNvPr>
          <p:cNvSpPr>
            <a:spLocks xmlns:a="http://schemas.openxmlformats.org/drawingml/2006/main" noGrp="1"/>
          </p:cNvSpPr>
          <p:nvPr/>
        </p:nvSpPr>
        <p:spPr>
          <a:xfrm xmlns:a="http://schemas.openxmlformats.org/drawingml/2006/main">
            <a:off x="647700" y="291465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Carbapenem-resistant isolates often have extensive intrinsic/acquired resistance; treat invasive CRAB with a sulbactam-containing regimen, preferably sulbactam-durlobactam plus imipenem/meropenem where appropriate.</a:t>
            </a:r>
          </a:p>
        </p:txBody>
      </p:sp>
      <p:sp>
        <p:nvSpPr>
          <p:cNvPr id="4" name="paragraph-2">
            <a:extLst xmlns:a="http://schemas.openxmlformats.org/drawingml/2006/main">
              <a:ext uri="{FF2B5EF4-FFF2-40B4-BE49-F238E27FC236}">
                <a16:creationId xmlns:a16="http://schemas.microsoft.com/office/drawing/2014/main" id="{546469F5-E9BD-45A0-BDDE-A11AF2EB49BA}"/>
              </a:ext>
            </a:extLst>
          </p:cNvPr>
          <p:cNvSpPr>
            <a:spLocks xmlns:a="http://schemas.openxmlformats.org/drawingml/2006/main" noGrp="1"/>
          </p:cNvSpPr>
          <p:nvPr/>
        </p:nvSpPr>
        <p:spPr>
          <a:xfrm xmlns:a="http://schemas.openxmlformats.org/drawingml/2006/main">
            <a:off x="647700" y="45815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sulbactam component is active against the organism, not merely a beta-lactamase inhibitor.</a:t>
            </a:r>
          </a:p>
        </p:txBody>
      </p:sp>
      <p:sp>
        <p:nvSpPr>
          <p:cNvPr id="5" name="footer">
            <a:extLst xmlns:a="http://schemas.openxmlformats.org/drawingml/2006/main">
              <a:ext uri="{FF2B5EF4-FFF2-40B4-BE49-F238E27FC236}">
                <a16:creationId xmlns:a16="http://schemas.microsoft.com/office/drawing/2014/main" id="{26E2981B-E273-4AE5-B349-14A0FA129E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9E763427-A888-474D-B431-C98E83ADA0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917404850"/>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C70085B-1289-4DF8-BEAF-51595C870BF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Achromobacter xylosoxidans</a:t>
            </a:r>
          </a:p>
        </p:txBody>
      </p:sp>
      <p:sp>
        <p:nvSpPr>
          <p:cNvPr id="2" name="paragraph-0">
            <a:extLst xmlns:a="http://schemas.openxmlformats.org/drawingml/2006/main">
              <a:ext uri="{FF2B5EF4-FFF2-40B4-BE49-F238E27FC236}">
                <a16:creationId xmlns:a16="http://schemas.microsoft.com/office/drawing/2014/main" id="{55920325-5D07-416D-A7B2-9B2498BB60D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Seen in chronic lung disease and healthcare-associated bloodstream/device infections. Resistance via efflux pumps and beta-lactamases is common, but susceptibility is isolate-dependent.</a:t>
            </a:r>
          </a:p>
        </p:txBody>
      </p:sp>
      <p:sp>
        <p:nvSpPr>
          <p:cNvPr id="3" name="paragraph-1">
            <a:extLst xmlns:a="http://schemas.openxmlformats.org/drawingml/2006/main">
              <a:ext uri="{FF2B5EF4-FFF2-40B4-BE49-F238E27FC236}">
                <a16:creationId xmlns:a16="http://schemas.microsoft.com/office/drawing/2014/main" id="{B0646821-CB96-4364-A7D5-8E4EBDC8CF38}"/>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Potential agents include piperacillin-tazobactam, TMP-SMX, ceftazidime, or meropenem when active. Do not presume cefepime, aztreonam, aminoglycosides or fluoroquinolones are reliable.</a:t>
            </a:r>
          </a:p>
        </p:txBody>
      </p:sp>
      <p:sp>
        <p:nvSpPr>
          <p:cNvPr id="4" name="paragraph-2">
            <a:extLst xmlns:a="http://schemas.openxmlformats.org/drawingml/2006/main">
              <a:ext uri="{FF2B5EF4-FFF2-40B4-BE49-F238E27FC236}">
                <a16:creationId xmlns:a16="http://schemas.microsoft.com/office/drawing/2014/main" id="{26432B27-1710-4A1D-B24E-AF085B77EC43}"/>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Evidence is limited, laboratory AST methods and interpretive criteria matter, and there is no universal fixed regimen. For bacteremia investigate catheter involvement.</a:t>
            </a:r>
          </a:p>
        </p:txBody>
      </p:sp>
      <p:sp>
        <p:nvSpPr>
          <p:cNvPr id="5" name="footer">
            <a:extLst xmlns:a="http://schemas.openxmlformats.org/drawingml/2006/main">
              <a:ext uri="{FF2B5EF4-FFF2-40B4-BE49-F238E27FC236}">
                <a16:creationId xmlns:a16="http://schemas.microsoft.com/office/drawing/2014/main" id="{F5FED6E7-C224-47F0-B5CA-78939E182D5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2F64A941-5508-44E1-A14C-12314CB85D1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52983176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085F484-4622-4E57-83A4-88D1251F108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Burkholderia cepacia complex</a:t>
            </a:r>
          </a:p>
        </p:txBody>
      </p:sp>
      <p:sp>
        <p:nvSpPr>
          <p:cNvPr id="2" name="paragraph-0">
            <a:extLst xmlns:a="http://schemas.openxmlformats.org/drawingml/2006/main">
              <a:ext uri="{FF2B5EF4-FFF2-40B4-BE49-F238E27FC236}">
                <a16:creationId xmlns:a16="http://schemas.microsoft.com/office/drawing/2014/main" id="{39A7E675-4703-4BBA-ACE1-0C0794412B6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Important in cystic fibrosis and chronic granulomatous disease, and can be healthcare associated. Intrinsic resistance to many agents, including polymyxins and often aminoglycosides.</a:t>
            </a:r>
          </a:p>
        </p:txBody>
      </p:sp>
      <p:sp>
        <p:nvSpPr>
          <p:cNvPr id="3" name="paragraph-1">
            <a:extLst xmlns:a="http://schemas.openxmlformats.org/drawingml/2006/main">
              <a:ext uri="{FF2B5EF4-FFF2-40B4-BE49-F238E27FC236}">
                <a16:creationId xmlns:a16="http://schemas.microsoft.com/office/drawing/2014/main" id="{4DF74887-D82F-4001-A6BC-D39D3E2BF278}"/>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TMP-SMX, ceftazidime, meropenem, and minocycline may be candidates based on species and AST. Do not extrapolate Pseudomonas susceptibility patterns.</a:t>
            </a:r>
          </a:p>
        </p:txBody>
      </p:sp>
      <p:sp>
        <p:nvSpPr>
          <p:cNvPr id="4" name="footer">
            <a:extLst xmlns:a="http://schemas.openxmlformats.org/drawingml/2006/main">
              <a:ext uri="{FF2B5EF4-FFF2-40B4-BE49-F238E27FC236}">
                <a16:creationId xmlns:a16="http://schemas.microsoft.com/office/drawing/2014/main" id="{998473A0-B393-4234-A159-CB684969199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A18DD68F-2B78-44A9-99CA-28FD9214AF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119850492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AF5A17F7-074B-4AA7-B71E-7FF4B8CE4A4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Elizabethkingia species</a:t>
            </a:r>
          </a:p>
        </p:txBody>
      </p:sp>
      <p:sp>
        <p:nvSpPr>
          <p:cNvPr id="2" name="paragraph-0">
            <a:extLst xmlns:a="http://schemas.openxmlformats.org/drawingml/2006/main">
              <a:ext uri="{FF2B5EF4-FFF2-40B4-BE49-F238E27FC236}">
                <a16:creationId xmlns:a16="http://schemas.microsoft.com/office/drawing/2014/main" id="{A6802F7B-0910-4181-8441-C83345D16729}"/>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Unusual nonfermenters with frequent resistance to carbapenems and many beta-lactams. Reported susceptibility profiles vary considerably by species and testing platform.</a:t>
            </a:r>
          </a:p>
        </p:txBody>
      </p:sp>
      <p:sp>
        <p:nvSpPr>
          <p:cNvPr id="3" name="paragraph-1">
            <a:extLst xmlns:a="http://schemas.openxmlformats.org/drawingml/2006/main">
              <a:ext uri="{FF2B5EF4-FFF2-40B4-BE49-F238E27FC236}">
                <a16:creationId xmlns:a16="http://schemas.microsoft.com/office/drawing/2014/main" id="{29B94AA0-4B81-4D97-B33D-BDC51D8535C1}"/>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identification and AST with microbiology; avoid blanket drug recommendations from a genus name alone.</a:t>
            </a:r>
          </a:p>
        </p:txBody>
      </p:sp>
      <p:sp>
        <p:nvSpPr>
          <p:cNvPr id="4" name="footer">
            <a:extLst xmlns:a="http://schemas.openxmlformats.org/drawingml/2006/main">
              <a:ext uri="{FF2B5EF4-FFF2-40B4-BE49-F238E27FC236}">
                <a16:creationId xmlns:a16="http://schemas.microsoft.com/office/drawing/2014/main" id="{332FEC3D-9D40-4A57-A795-F9E3BCDEFD2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E8BE6E35-F76B-4A33-8AD8-B1E56C5CF0E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1068510926"/>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AD27B869-A572-4645-AACB-7D878ED3485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Klebsiella pneumoniae: hypervirulence versus hypermucoviscosity</a:t>
            </a:r>
          </a:p>
        </p:txBody>
      </p:sp>
      <p:sp>
        <p:nvSpPr>
          <p:cNvPr id="2" name="paragraph-0">
            <a:extLst xmlns:a="http://schemas.openxmlformats.org/drawingml/2006/main">
              <a:ext uri="{FF2B5EF4-FFF2-40B4-BE49-F238E27FC236}">
                <a16:creationId xmlns:a16="http://schemas.microsoft.com/office/drawing/2014/main" id="{7E0191E6-A0AE-49A1-85E5-8137D0F5357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Hypervirulent lineages can cause community-onset liver abscess, bacteremia, endophthalmitis, and CNS metastatic infection, sometimes without typical host risk factors.</a:t>
            </a:r>
          </a:p>
        </p:txBody>
      </p:sp>
      <p:sp>
        <p:nvSpPr>
          <p:cNvPr id="3" name="paragraph-1">
            <a:extLst xmlns:a="http://schemas.openxmlformats.org/drawingml/2006/main">
              <a:ext uri="{FF2B5EF4-FFF2-40B4-BE49-F238E27FC236}">
                <a16:creationId xmlns:a16="http://schemas.microsoft.com/office/drawing/2014/main" id="{52899A70-0F24-40AB-82DD-1EF955B9AA57}"/>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Hypermucoviscosity is a phenotype and is not equivalent to hypervirulence. A positive string test alone does not establish a hypervirulent strain; molecular virulence markers are more informative.</a:t>
            </a:r>
          </a:p>
        </p:txBody>
      </p:sp>
      <p:sp>
        <p:nvSpPr>
          <p:cNvPr id="4" name="paragraph-2">
            <a:extLst xmlns:a="http://schemas.openxmlformats.org/drawingml/2006/main">
              <a:ext uri="{FF2B5EF4-FFF2-40B4-BE49-F238E27FC236}">
                <a16:creationId xmlns:a16="http://schemas.microsoft.com/office/drawing/2014/main" id="{20A6140D-2573-495C-AB3F-5BC9F6B5CB3B}"/>
              </a:ext>
            </a:extLst>
          </p:cNvPr>
          <p:cNvSpPr>
            <a:spLocks xmlns:a="http://schemas.openxmlformats.org/drawingml/2006/main" noGrp="1"/>
          </p:cNvSpPr>
          <p:nvPr/>
        </p:nvSpPr>
        <p:spPr>
          <a:xfrm xmlns:a="http://schemas.openxmlformats.org/drawingml/2006/main">
            <a:off x="647700" y="45815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Liver abscess plus bacteremia or visual symptoms should trigger assessment for metastatic disease and urgent ophthalmologic evaluation for symptoms concerning for endophthalmitis.</a:t>
            </a:r>
          </a:p>
        </p:txBody>
      </p:sp>
      <p:sp>
        <p:nvSpPr>
          <p:cNvPr id="5" name="footer">
            <a:extLst xmlns:a="http://schemas.openxmlformats.org/drawingml/2006/main">
              <a:ext uri="{FF2B5EF4-FFF2-40B4-BE49-F238E27FC236}">
                <a16:creationId xmlns:a16="http://schemas.microsoft.com/office/drawing/2014/main" id="{533AE68F-878B-49C5-96A4-9FB0299FED4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6685C92B-ABFA-4715-AE1D-340CEB2CAE5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67306972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77050D50-0958-4794-AEBF-05C4A2B7AF2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Proteus, Morganella, Providencia, Serratia</a:t>
            </a:r>
          </a:p>
        </p:txBody>
      </p:sp>
      <p:sp>
        <p:nvSpPr>
          <p:cNvPr id="2" name="paragraph-0">
            <a:extLst xmlns:a="http://schemas.openxmlformats.org/drawingml/2006/main">
              <a:ext uri="{FF2B5EF4-FFF2-40B4-BE49-F238E27FC236}">
                <a16:creationId xmlns:a16="http://schemas.microsoft.com/office/drawing/2014/main" id="{ADCA6D15-86F6-4662-8395-7DFC49D273B7}"/>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Proteus mirabilis makes urease; recurrent infection can signal struvite stones or a retained urinary nidus. Nitrofurantoin is not reliable.</a:t>
            </a:r>
          </a:p>
        </p:txBody>
      </p:sp>
      <p:sp>
        <p:nvSpPr>
          <p:cNvPr id="3" name="paragraph-1">
            <a:extLst xmlns:a="http://schemas.openxmlformats.org/drawingml/2006/main">
              <a:ext uri="{FF2B5EF4-FFF2-40B4-BE49-F238E27FC236}">
                <a16:creationId xmlns:a16="http://schemas.microsoft.com/office/drawing/2014/main" id="{B289A6EA-5637-4088-8EC3-378F5ED77B04}"/>
              </a:ext>
            </a:extLst>
          </p:cNvPr>
          <p:cNvSpPr>
            <a:spLocks xmlns:a="http://schemas.openxmlformats.org/drawingml/2006/main" noGrp="1"/>
          </p:cNvSpPr>
          <p:nvPr/>
        </p:nvSpPr>
        <p:spPr>
          <a:xfrm xmlns:a="http://schemas.openxmlformats.org/drawingml/2006/main">
            <a:off x="647700" y="291465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Morganella/Providencia/Serratia should not be collapsed into the moderate-risk AmpC category. Polymyxins are generally inactive, and susceptibility to tetracycline derivatives may be problematic.</a:t>
            </a:r>
          </a:p>
        </p:txBody>
      </p:sp>
      <p:sp>
        <p:nvSpPr>
          <p:cNvPr id="4" name="paragraph-2">
            <a:extLst xmlns:a="http://schemas.openxmlformats.org/drawingml/2006/main">
              <a:ext uri="{FF2B5EF4-FFF2-40B4-BE49-F238E27FC236}">
                <a16:creationId xmlns:a16="http://schemas.microsoft.com/office/drawing/2014/main" id="{8541E3CC-4B0C-4AC6-BE4E-FAB449DBA207}"/>
              </a:ext>
            </a:extLst>
          </p:cNvPr>
          <p:cNvSpPr>
            <a:spLocks xmlns:a="http://schemas.openxmlformats.org/drawingml/2006/main" noGrp="1"/>
          </p:cNvSpPr>
          <p:nvPr/>
        </p:nvSpPr>
        <p:spPr>
          <a:xfrm xmlns:a="http://schemas.openxmlformats.org/drawingml/2006/main">
            <a:off x="647700" y="42291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Serratia can cause healthcare-associated infection, device infection and endocarditis; prolonged bacteremia requires source evaluation, not simply automatic carbapenem treatment.</a:t>
            </a:r>
          </a:p>
        </p:txBody>
      </p:sp>
      <p:sp>
        <p:nvSpPr>
          <p:cNvPr id="5" name="footer">
            <a:extLst xmlns:a="http://schemas.openxmlformats.org/drawingml/2006/main">
              <a:ext uri="{FF2B5EF4-FFF2-40B4-BE49-F238E27FC236}">
                <a16:creationId xmlns:a16="http://schemas.microsoft.com/office/drawing/2014/main" id="{376C4BAC-8065-46EC-9734-2E36CCAA91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6" name="number">
            <a:extLst xmlns:a="http://schemas.openxmlformats.org/drawingml/2006/main">
              <a:ext uri="{FF2B5EF4-FFF2-40B4-BE49-F238E27FC236}">
                <a16:creationId xmlns:a16="http://schemas.microsoft.com/office/drawing/2014/main" id="{CC2F0EF6-2A1E-4151-87CE-11B018941F4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1500727709"/>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D0EC3CF-F40C-4574-817C-A9DD766918F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sp>
        <p:nvSpPr>
          <p:cNvPr id="2" name="paragraph-0">
            <a:extLst xmlns:a="http://schemas.openxmlformats.org/drawingml/2006/main">
              <a:ext uri="{FF2B5EF4-FFF2-40B4-BE49-F238E27FC236}">
                <a16:creationId xmlns:a16="http://schemas.microsoft.com/office/drawing/2014/main" id="{FF07C7FD-0524-4BEA-B4BD-F15A1F33826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bacteremia evaluation and source control, see Positive Blood Cultures . For vertebral osteomyelitis, prosthetic joints, or septic arthritis, see Bone and Joint Infections . For recurrent urinary isolates and infected stones, see Recurrent UTI .</a:t>
            </a:r>
          </a:p>
        </p:txBody>
      </p:sp>
      <p:sp>
        <p:nvSpPr>
          <p:cNvPr id="3" name="footer">
            <a:extLst xmlns:a="http://schemas.openxmlformats.org/drawingml/2006/main">
              <a:ext uri="{FF2B5EF4-FFF2-40B4-BE49-F238E27FC236}">
                <a16:creationId xmlns:a16="http://schemas.microsoft.com/office/drawing/2014/main" id="{F5F3333A-2A23-433B-AAE7-D30F8F4A4EE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C0548E8-B787-4C0B-A3D8-00D798A3951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1087643746"/>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D2BAF8F-8478-4EB0-A326-6F9327A046A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436D87DF-7252-4DDA-86B2-76AC6A2218D3}"/>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Gram-negative endocarditis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Prosthetic valve/device? Catheter or healthcare-associated exposure? Persistent bloodstream infection? Emboli or perivalvular complications? Non-HACEK gram-negative endocarditis usually requires specialist multidisciplinary management; do not assume routine 7-day bacteremia treatment.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3D7616B-ED15-4B61-85F7-862FF6D4FF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C790A85-177D-4D66-98B7-F9B564FA3EF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108638712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42C1DE-A3C5-4FEB-8A9D-DB8D566F2DD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D4F3B516-38E5-4DFC-B06B-5DDCE8797519}"/>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Gram-negative vertebral osteomyelitis or PJI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Urinary or GI source? Recent procedure? Infected hardware? Isolate concordance between deep samples and blood? Need for surgery or retained-device strategy?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24E909A-BB58-44FC-8971-98B6F9E80F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0C5A9BB-B449-4507-BACF-ACF9A132A0C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44190981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CD4489D-EF9A-464F-981C-49DB85FB4C5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6CF89995-6BFB-4E41-8A9D-8E425DFFDC6C}"/>
              </a:ext>
            </a:extLst>
          </p:cNvPr>
          <p:cNvGraphicFramePr/>
          <p:nvPr/>
        </p:nvGraphicFramePr>
        <p:xfrm>
          <a:off xmlns:a="http://schemas.openxmlformats.org/drawingml/2006/main" x="647700" y="1866900"/>
          <a:ext xmlns:a="http://schemas.openxmlformats.org/drawingml/2006/main" cx="10896600" cy="13858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Recurrent Proteus bacteremia or UTI</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Urease-associated stone? Obstruction? Renal/perinephric abscess? Chronic catheter, nidus or prostatitis?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1E53AFE-6C76-451E-9715-C50C21DE6EA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FD56CAB-3968-4372-92A8-976F68DF4B9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111272990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89DF8F6-D240-49EC-834D-304A03D03F1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02A87001-E66F-4B22-BAB1-8BAC57A4D0D2}"/>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Klebsiella liver abscess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Biliary disease versus cryptogenic infection? Hypervirulent phenotype? Ocular or neurologic symptoms suggesting metastatic focus?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09845D3-B3A3-468C-9E5A-AD89C4370C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D822E16-FB1C-48CF-9AC5-2732C52C1AE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75617789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2522A66-5A79-4F00-8C40-989DAEAE2BE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126CE6FE-C2CD-47B6-8472-FCB7F55004D4}"/>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Gram-negative CNS infection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Neurosurgical device, recent procedure, penetrating injury, bacteremia, contiguous source? Species and CSF penetration materially change choices.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A2E39F3-5FD0-476F-B257-3039B9EC34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0370D84-E035-4F98-8B1E-A4C49DECF2A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211668867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A5A7B24-0FD6-4E0F-9D0C-88388EA75CC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84D1553D-C40B-4EF5-ADE9-B9E670774C53}"/>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Aeromonas after freshwater exposure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Necrotizing soft-tissue infection? Rapid surgical assessment if severe. Avoid relying on first-generation cephalosporins.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B7495E3A-1528-49C7-B8AD-949452D5618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E14A9DF-DFE3-459E-9284-A75C4550A9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207422932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9FE2D37-C9CD-4C1B-BD5D-99A561088FD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0905C8E1-2253-4D74-AA97-857E643F25D6}"/>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Vibrio vulnificus after salt/brackish water or raw oysters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Hemorrhagic bullae, necrotizing infection, sepsis, cirrhosis or iron-overload risk? Urgent surgical evaluation and pathogen-directed antibiotics.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91E9F7FC-3307-4478-8C74-A56DB87D0A2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6EC79C3-8366-45F8-BDED-C4F3BF256D6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193019185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61C87C-5ACB-4E63-BB0D-7A3FCE9F973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392E6348-291F-4729-A1F1-E1DFA269978E}"/>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Pasteurella or Capnocytophaga after animal exposure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Bite, scratch or saliva contact? Asplenia/alcohol use for fulminant Capnocytophaga? Standard cephalexin/clindamycin regimens can be insufficient for animal-bite infections.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83FB74A-8783-4B46-872A-C0D68A962BA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CC22CB0-B640-411B-B42A-B61D33BAE17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413073184"/>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C2CA3D4-9665-443F-A90B-ACDB73CD09D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CB5A3295-5B74-4592-A980-D7F3FB9FBC55}"/>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Campylobacter fetus bacteremia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Consider endovascular infection, especially with vascular disease or prosthetic material; distinct from uncomplicated C. jejuni enteritis.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8747212-5983-4EC5-A8B9-E343A03BECD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B3DF2B0-F4A9-47B0-A0E6-F6BF6522BA9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30348619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051A17-5BF4-46E2-B93C-232ED05EFF5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Gram-negative infections at uncommon sites</a:t>
            </a:r>
          </a:p>
        </p:txBody>
      </p:sp>
      <p:graphicFrame>
        <p:nvGraphicFramePr>
          <p:cNvPr id="2" name="">
            <a:extLst xmlns:a="http://schemas.openxmlformats.org/drawingml/2006/main">
              <a:ext uri="{FF2B5EF4-FFF2-40B4-BE49-F238E27FC236}">
                <a16:creationId xmlns:a16="http://schemas.microsoft.com/office/drawing/2014/main" id="{C1D401AF-3D4A-4DB0-9180-EA27957ABDF2}"/>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Nontyphoidal Salmonella bacteremia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Specific questions to ask</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Age, immunosuppression, vascular grafts or atherosclerotic disease; evaluate for endovascular infection when clinical features warrant.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4884F16-88A9-45D2-A897-781B66A3AFC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411F9A4-137D-4484-B87B-9BCA53062C9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161874325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2840587-428D-4E3B-9CDA-D6BDB76BC3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Enteric pathogens and invasive complications</a:t>
            </a:r>
          </a:p>
        </p:txBody>
      </p:sp>
      <p:sp>
        <p:nvSpPr>
          <p:cNvPr id="2" name="paragraph-0">
            <a:extLst xmlns:a="http://schemas.openxmlformats.org/drawingml/2006/main">
              <a:ext uri="{FF2B5EF4-FFF2-40B4-BE49-F238E27FC236}">
                <a16:creationId xmlns:a16="http://schemas.microsoft.com/office/drawing/2014/main" id="{3306F1E6-5C23-487E-8242-9117F207476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Salmonella: typhoidal versus nontyphoidal disease; why bacteremia and vascular infection change the evaluation.</a:t>
            </a:r>
          </a:p>
        </p:txBody>
      </p:sp>
      <p:sp>
        <p:nvSpPr>
          <p:cNvPr id="3" name="paragraph-1">
            <a:extLst xmlns:a="http://schemas.openxmlformats.org/drawingml/2006/main">
              <a:ext uri="{FF2B5EF4-FFF2-40B4-BE49-F238E27FC236}">
                <a16:creationId xmlns:a16="http://schemas.microsoft.com/office/drawing/2014/main" id="{86996F04-70F2-4769-B420-AA190D2318E9}"/>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Shigella: low inoculum, transmission, and emerging extensively resistant strains; request isolate-specific AST when treating.</a:t>
            </a:r>
          </a:p>
        </p:txBody>
      </p:sp>
      <p:sp>
        <p:nvSpPr>
          <p:cNvPr id="4" name="paragraph-2">
            <a:extLst xmlns:a="http://schemas.openxmlformats.org/drawingml/2006/main">
              <a:ext uri="{FF2B5EF4-FFF2-40B4-BE49-F238E27FC236}">
                <a16:creationId xmlns:a16="http://schemas.microsoft.com/office/drawing/2014/main" id="{81B38B09-7CC4-405E-AECE-307DBEE83041}"/>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Campylobacter: J. jejuni enteritis versus C. fetus systemic disease; macrolide versus fluoroquinolone resistance patterns.</a:t>
            </a:r>
          </a:p>
        </p:txBody>
      </p:sp>
      <p:sp>
        <p:nvSpPr>
          <p:cNvPr id="5" name="paragraph-3">
            <a:extLst xmlns:a="http://schemas.openxmlformats.org/drawingml/2006/main">
              <a:ext uri="{FF2B5EF4-FFF2-40B4-BE49-F238E27FC236}">
                <a16:creationId xmlns:a16="http://schemas.microsoft.com/office/drawing/2014/main" id="{8A460815-F8EB-4B3E-87BC-51A85590FDC2}"/>
              </a:ext>
            </a:extLst>
          </p:cNvPr>
          <p:cNvSpPr>
            <a:spLocks xmlns:a="http://schemas.openxmlformats.org/drawingml/2006/main" noGrp="1"/>
          </p:cNvSpPr>
          <p:nvPr/>
        </p:nvSpPr>
        <p:spPr>
          <a:xfrm xmlns:a="http://schemas.openxmlformats.org/drawingml/2006/main">
            <a:off x="647700" y="48387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Yersinia enterocolitica: terminal ileitis/mesenteric adenitis mimicking appendicitis; iron-related susceptibility in invasive disease.</a:t>
            </a:r>
          </a:p>
        </p:txBody>
      </p:sp>
      <p:sp>
        <p:nvSpPr>
          <p:cNvPr id="6" name="footer">
            <a:extLst xmlns:a="http://schemas.openxmlformats.org/drawingml/2006/main">
              <a:ext uri="{FF2B5EF4-FFF2-40B4-BE49-F238E27FC236}">
                <a16:creationId xmlns:a16="http://schemas.microsoft.com/office/drawing/2014/main" id="{83407F91-B8F0-4C25-BE81-ADE47AEBDAD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7" name="number">
            <a:extLst xmlns:a="http://schemas.openxmlformats.org/drawingml/2006/main">
              <a:ext uri="{FF2B5EF4-FFF2-40B4-BE49-F238E27FC236}">
                <a16:creationId xmlns:a16="http://schemas.microsoft.com/office/drawing/2014/main" id="{013176A4-AD17-4F11-915E-8167F816DC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54764278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A255314-ED6A-4124-8265-5F256738CAF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Enteric pathogens and invasive complications</a:t>
            </a:r>
          </a:p>
        </p:txBody>
      </p:sp>
      <p:sp>
        <p:nvSpPr>
          <p:cNvPr id="2" name="paragraph-0">
            <a:extLst xmlns:a="http://schemas.openxmlformats.org/drawingml/2006/main">
              <a:ext uri="{FF2B5EF4-FFF2-40B4-BE49-F238E27FC236}">
                <a16:creationId xmlns:a16="http://schemas.microsoft.com/office/drawing/2014/main" id="{A09EA24A-7105-4DF6-9F94-04ACF682F53A}"/>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Vibrio and Aeromonas: exposure history can change acute management, particularly when a rapidly progressive wound infection is present.</a:t>
            </a:r>
          </a:p>
        </p:txBody>
      </p:sp>
      <p:sp>
        <p:nvSpPr>
          <p:cNvPr id="3" name="footer">
            <a:extLst xmlns:a="http://schemas.openxmlformats.org/drawingml/2006/main">
              <a:ext uri="{FF2B5EF4-FFF2-40B4-BE49-F238E27FC236}">
                <a16:creationId xmlns:a16="http://schemas.microsoft.com/office/drawing/2014/main" id="{D0901080-F7AA-4F64-BBA5-97411902D1D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427D41C-A4A7-4AC4-84CA-C63FD854DF1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1746354768"/>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9D04FC8-12E0-477F-AF61-C31BC1C53F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Common errors in susceptibility interpretation</a:t>
            </a:r>
          </a:p>
        </p:txBody>
      </p:sp>
      <p:sp>
        <p:nvSpPr>
          <p:cNvPr id="2" name="paragraph-0">
            <a:extLst xmlns:a="http://schemas.openxmlformats.org/drawingml/2006/main">
              <a:ext uri="{FF2B5EF4-FFF2-40B4-BE49-F238E27FC236}">
                <a16:creationId xmlns:a16="http://schemas.microsoft.com/office/drawing/2014/main" id="{0364D36A-9EB9-4CEA-B073-488B16670646}"/>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Ceftriaxone-susceptible Enterobacter cloacae bacteremia. Susceptible now does not exclude derepressed AmpC emergence. Cefepime or another appropriate non-third-generation-cephalosporin agent based on severity, susceptibility and source is generally preferable.</a:t>
            </a:r>
          </a:p>
        </p:txBody>
      </p:sp>
      <p:sp>
        <p:nvSpPr>
          <p:cNvPr id="3" name="paragraph-1">
            <a:extLst xmlns:a="http://schemas.openxmlformats.org/drawingml/2006/main">
              <a:ext uri="{FF2B5EF4-FFF2-40B4-BE49-F238E27FC236}">
                <a16:creationId xmlns:a16="http://schemas.microsoft.com/office/drawing/2014/main" id="{BDE0795D-4C1F-4892-B992-DD38CE58B852}"/>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Cefepime-susceptible ESBL E. coli bacteremia. Invasive ESBL disease is not adequately addressed by assuming reported cefepime susceptibility predicts clinical success; favor a carbapenem.</a:t>
            </a:r>
          </a:p>
        </p:txBody>
      </p:sp>
      <p:sp>
        <p:nvSpPr>
          <p:cNvPr id="4" name="footer">
            <a:extLst xmlns:a="http://schemas.openxmlformats.org/drawingml/2006/main">
              <a:ext uri="{FF2B5EF4-FFF2-40B4-BE49-F238E27FC236}">
                <a16:creationId xmlns:a16="http://schemas.microsoft.com/office/drawing/2014/main" id="{A389C760-A0B0-43BF-8C2D-F30EDF4E549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E580B8FB-7F33-43DC-9228-6F87E8B531A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82113790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ACB0CFE-D995-4C0C-9857-FE3EED89DF3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Common errors in susceptibility interpretation</a:t>
            </a:r>
          </a:p>
        </p:txBody>
      </p:sp>
      <p:sp>
        <p:nvSpPr>
          <p:cNvPr id="2" name="paragraph-0">
            <a:extLst xmlns:a="http://schemas.openxmlformats.org/drawingml/2006/main">
              <a:ext uri="{FF2B5EF4-FFF2-40B4-BE49-F238E27FC236}">
                <a16:creationId xmlns:a16="http://schemas.microsoft.com/office/drawing/2014/main" id="{E12668B9-0203-4AF0-9541-FD2DE700A607}"/>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Carbapenem-resistant Klebsiella with NDM. Mechanism-directed therapy is required. In the 2026 guidance, aztreonam-avibactam or cefiderocol are preferred options for invasive NDM Enterobacterales infection; ceftazidime-avibactam alone is not active against NDM.</a:t>
            </a:r>
          </a:p>
        </p:txBody>
      </p:sp>
      <p:sp>
        <p:nvSpPr>
          <p:cNvPr id="3" name="paragraph-1">
            <a:extLst xmlns:a="http://schemas.openxmlformats.org/drawingml/2006/main">
              <a:ext uri="{FF2B5EF4-FFF2-40B4-BE49-F238E27FC236}">
                <a16:creationId xmlns:a16="http://schemas.microsoft.com/office/drawing/2014/main" id="{528DE1AC-9303-4886-89CA-F1C7509D5755}"/>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DTR Pseudomonas susceptible to a novel agent. Determine infection site, dosing, MIC and source control. Do not assume all new beta-lactams are interchangeable or that meropenem-vaborbactam is an antipseudomonal salvage option.</a:t>
            </a:r>
          </a:p>
        </p:txBody>
      </p:sp>
      <p:sp>
        <p:nvSpPr>
          <p:cNvPr id="4" name="footer">
            <a:extLst xmlns:a="http://schemas.openxmlformats.org/drawingml/2006/main">
              <a:ext uri="{FF2B5EF4-FFF2-40B4-BE49-F238E27FC236}">
                <a16:creationId xmlns:a16="http://schemas.microsoft.com/office/drawing/2014/main" id="{496CD51C-02D0-4D30-955B-794A0EF24B0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B3939BF8-7D3B-4D29-BB1C-48854B2CA95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165514456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C4DFCA8-7C17-4263-A02B-BEEDBDE5AFB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Common errors in susceptibility interpretation</a:t>
            </a:r>
          </a:p>
        </p:txBody>
      </p:sp>
      <p:sp>
        <p:nvSpPr>
          <p:cNvPr id="2" name="paragraph-0">
            <a:extLst xmlns:a="http://schemas.openxmlformats.org/drawingml/2006/main">
              <a:ext uri="{FF2B5EF4-FFF2-40B4-BE49-F238E27FC236}">
                <a16:creationId xmlns:a16="http://schemas.microsoft.com/office/drawing/2014/main" id="{A02D9FC4-E4E2-4D21-8BA3-80B0401A3F5B}"/>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Stenotrophomonas from BAL in a patient whose imaging and oxygen requirement are improving without active therapy. Colonization may be more plausible than invasive infection. Treat the patient and syndrome, not the culture in isolation.</a:t>
            </a:r>
          </a:p>
        </p:txBody>
      </p:sp>
      <p:sp>
        <p:nvSpPr>
          <p:cNvPr id="3" name="footer">
            <a:extLst xmlns:a="http://schemas.openxmlformats.org/drawingml/2006/main">
              <a:ext uri="{FF2B5EF4-FFF2-40B4-BE49-F238E27FC236}">
                <a16:creationId xmlns:a16="http://schemas.microsoft.com/office/drawing/2014/main" id="{0AF1B7F0-E60B-40EE-92F9-42C4B8F62A2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BAA09016-9947-440E-97C1-D90FBE83D4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24163551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3AA9C14-D6D7-4E36-A8BC-70619D228A1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CRE treatment by resistance mechanism</a:t>
            </a:r>
          </a:p>
        </p:txBody>
      </p:sp>
      <p:graphicFrame>
        <p:nvGraphicFramePr>
          <p:cNvPr id="2" name="">
            <a:extLst xmlns:a="http://schemas.openxmlformats.org/drawingml/2006/main">
              <a:ext uri="{FF2B5EF4-FFF2-40B4-BE49-F238E27FC236}">
                <a16:creationId xmlns:a16="http://schemas.microsoft.com/office/drawing/2014/main" id="{A4DDF715-322D-491B-8F23-F31FA86DCD04}"/>
              </a:ext>
            </a:extLst>
          </p:cNvPr>
          <p:cNvGraphicFramePr/>
          <p:nvPr/>
        </p:nvGraphicFramePr>
        <p:xfrm>
          <a:off xmlns:a="http://schemas.openxmlformats.org/drawingml/2006/main" x="647700" y="1866900"/>
          <a:ext xmlns:a="http://schemas.openxmlformats.org/drawingml/2006/main" cx="10896600" cy="3781425"/>
        </p:xfrm>
        <a:graphic xmlns:a="http://schemas.openxmlformats.org/drawingml/2006/main">
          <a:graphicData uri="http://schemas.openxmlformats.org/drawingml/2006/table">
            <a:tbl>
              <a:tblPr/>
              <a:tblGrid>
                <a:gridCol w="3632200"/>
                <a:gridCol w="3632200"/>
                <a:gridCol w="3632200"/>
              </a:tblGrid>
              <a:tr h="847725">
                <a:tc>
                  <a:txBody>
                    <a:bodyPr lIns="114300" tIns="114300" rIns="114300" bIns="114300">
                      <a:noAutofit/>
                    </a:bodyPr>
                    <a:lstStyle/>
                    <a:p>
                      <a:r>
                        <a:rPr sz="1950" b="1">
                          <a:solidFill>
                            <a:srgbClr val="FFFFFF"/>
                          </a:solidFill>
                          <a:latin typeface="DejaVu Sans"/>
                          <a:ea typeface="DejaVu Sans"/>
                          <a:cs typeface="DejaVu Sans"/>
                        </a:rPr>
                        <a:t>Mechanism</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Typical invasive-infection options (if active)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Common error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KPC</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Meropenem-vaborbactam, ceftazidime-avibactam, imipenem-relebactam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Assuming old polymyxin-based salvage is routinely preferable.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NDM/other MBL Enterobacterales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Aztreonam-avibactam or cefiderocol; ceftazidime-avibactam + aztreonam if necessary</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Using ceftazidime-avibactam alone or assuming aztreonam alone will resist co-produced ESBL/AmpC enzymes.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2D15413-F616-4081-908D-F75F6F1CC55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72D1255-0958-489D-A8A4-48E31B840D3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11856098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6718608-8CAB-4179-BB51-16E3C0AC551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CRE treatment by resistance mechanism</a:t>
            </a:r>
          </a:p>
        </p:txBody>
      </p:sp>
      <p:graphicFrame>
        <p:nvGraphicFramePr>
          <p:cNvPr id="2" name="">
            <a:extLst xmlns:a="http://schemas.openxmlformats.org/drawingml/2006/main">
              <a:ext uri="{FF2B5EF4-FFF2-40B4-BE49-F238E27FC236}">
                <a16:creationId xmlns:a16="http://schemas.microsoft.com/office/drawing/2014/main" id="{9582C0FE-A623-45AB-B5B0-5240E347E464}"/>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3632200"/>
                <a:gridCol w="3632200"/>
                <a:gridCol w="3632200"/>
              </a:tblGrid>
              <a:tr h="847725">
                <a:tc>
                  <a:txBody>
                    <a:bodyPr lIns="114300" tIns="114300" rIns="114300" bIns="114300">
                      <a:noAutofit/>
                    </a:bodyPr>
                    <a:lstStyle/>
                    <a:p>
                      <a:r>
                        <a:rPr sz="1950" b="1">
                          <a:solidFill>
                            <a:srgbClr val="FFFFFF"/>
                          </a:solidFill>
                          <a:latin typeface="DejaVu Sans"/>
                          <a:ea typeface="DejaVu Sans"/>
                          <a:cs typeface="DejaVu Sans"/>
                        </a:rPr>
                        <a:t>Mechanism</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Typical invasive-infection options (if active)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Common error</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OXA-48-like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Ceftazidime-avibactam; alternatives depend on AST and site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Treating meropenem-vaborbactam as equivalent against OXA-48.</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Non-carbapenemase CRE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Evaluate full AST, permeability defect and beta-lactamase profile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Assuming all CRE must have a carbapenemase.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F087BBD-5947-4497-80D8-9A841E70B0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97FFFD2-5C51-40E5-9B23-EB49F4B634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196720562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6D011D-70C5-458B-B7B8-B55A2264BE1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CRE treatment by resistance mechanism</a:t>
            </a:r>
          </a:p>
        </p:txBody>
      </p:sp>
      <p:sp>
        <p:nvSpPr>
          <p:cNvPr id="2" name="paragraph-0">
            <a:extLst xmlns:a="http://schemas.openxmlformats.org/drawingml/2006/main">
              <a:ext uri="{FF2B5EF4-FFF2-40B4-BE49-F238E27FC236}">
                <a16:creationId xmlns:a16="http://schemas.microsoft.com/office/drawing/2014/main" id="{093C00BE-3BC8-4B92-A9B3-7DE65046176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are treatment pathways, not empiric guarantees. Verify local availability, FDA indication, renal dosing, infusion strategy and organism-specific susceptibility. MBL Pseudomonas is a separate problem; cefiderocol is favored in 2026 guidance.</a:t>
            </a:r>
          </a:p>
        </p:txBody>
      </p:sp>
      <p:sp>
        <p:nvSpPr>
          <p:cNvPr id="3" name="footer">
            <a:extLst xmlns:a="http://schemas.openxmlformats.org/drawingml/2006/main">
              <a:ext uri="{FF2B5EF4-FFF2-40B4-BE49-F238E27FC236}">
                <a16:creationId xmlns:a16="http://schemas.microsoft.com/office/drawing/2014/main" id="{00DF33DD-5020-4312-9798-6686AF447EA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8720C8E-6121-44A2-922C-4C3CC8A3F4D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122619915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560F46A1-CF85-4D78-9433-714884EAF4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Susceptibility testing limitations</a:t>
            </a:r>
          </a:p>
        </p:txBody>
      </p:sp>
      <p:sp>
        <p:nvSpPr>
          <p:cNvPr id="2" name="paragraph-0">
            <a:extLst xmlns:a="http://schemas.openxmlformats.org/drawingml/2006/main">
              <a:ext uri="{FF2B5EF4-FFF2-40B4-BE49-F238E27FC236}">
                <a16:creationId xmlns:a16="http://schemas.microsoft.com/office/drawing/2014/main" id="{1E4E5225-790D-49AA-A864-3EBDAB3B845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susceptibility result is meaningful only if the agent-organism combination has a validated interpretive framework; automated panels can be unreliable for unusual nonfermenters.</a:t>
            </a:r>
          </a:p>
        </p:txBody>
      </p:sp>
      <p:sp>
        <p:nvSpPr>
          <p:cNvPr id="3" name="paragraph-1">
            <a:extLst xmlns:a="http://schemas.openxmlformats.org/drawingml/2006/main">
              <a:ext uri="{FF2B5EF4-FFF2-40B4-BE49-F238E27FC236}">
                <a16:creationId xmlns:a16="http://schemas.microsoft.com/office/drawing/2014/main" id="{F50E2C51-9A6E-43E8-8B7F-2211B8039959}"/>
              </a:ext>
            </a:extLst>
          </p:cNvPr>
          <p:cNvSpPr>
            <a:spLocks xmlns:a="http://schemas.openxmlformats.org/drawingml/2006/main" noGrp="1"/>
          </p:cNvSpPr>
          <p:nvPr/>
        </p:nvSpPr>
        <p:spPr>
          <a:xfrm xmlns:a="http://schemas.openxmlformats.org/drawingml/2006/main">
            <a:off x="647700" y="326707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Confirm unusual carbapenemase genotypes and discordant phenotypes with the laboratory. Phenotypic carbapenem resistance does not identify the underlying enzyme.</a:t>
            </a:r>
          </a:p>
        </p:txBody>
      </p:sp>
      <p:sp>
        <p:nvSpPr>
          <p:cNvPr id="4" name="footer">
            <a:extLst xmlns:a="http://schemas.openxmlformats.org/drawingml/2006/main">
              <a:ext uri="{FF2B5EF4-FFF2-40B4-BE49-F238E27FC236}">
                <a16:creationId xmlns:a16="http://schemas.microsoft.com/office/drawing/2014/main" id="{8A90ADAE-8E1D-4681-8BAD-427E7A224F0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52270EE7-24F2-4D52-A26E-0BC58DD25AA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16447322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C7CEA2E-823C-4E13-8C73-EC9575D453E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Susceptibility testing limitations</a:t>
            </a:r>
          </a:p>
        </p:txBody>
      </p:sp>
      <p:sp>
        <p:nvSpPr>
          <p:cNvPr id="2" name="paragraph-0">
            <a:extLst xmlns:a="http://schemas.openxmlformats.org/drawingml/2006/main">
              <a:ext uri="{FF2B5EF4-FFF2-40B4-BE49-F238E27FC236}">
                <a16:creationId xmlns:a16="http://schemas.microsoft.com/office/drawing/2014/main" id="{CF1BD391-7D15-4D60-B4CC-AD8AC332B65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When the isolate remains clinically important but routine panel lacks modern agents, request supplemental AST through the local laboratory/reference lab; do not infer cefiderocol, aztreonam-avibactam or ceftolozane-tazobactam activity from a different drug.</a:t>
            </a:r>
          </a:p>
        </p:txBody>
      </p:sp>
      <p:sp>
        <p:nvSpPr>
          <p:cNvPr id="3" name="paragraph-1">
            <a:extLst xmlns:a="http://schemas.openxmlformats.org/drawingml/2006/main">
              <a:ext uri="{FF2B5EF4-FFF2-40B4-BE49-F238E27FC236}">
                <a16:creationId xmlns:a16="http://schemas.microsoft.com/office/drawing/2014/main" id="{E0EB4FFF-3667-4984-95B3-654425947092}"/>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Interpret susceptibility alongside required exposure, inoculum, drug distribution and source control. No drug is uniquely required for an entire species in every syndrome.</a:t>
            </a:r>
          </a:p>
        </p:txBody>
      </p:sp>
      <p:sp>
        <p:nvSpPr>
          <p:cNvPr id="4" name="footer">
            <a:extLst xmlns:a="http://schemas.openxmlformats.org/drawingml/2006/main">
              <a:ext uri="{FF2B5EF4-FFF2-40B4-BE49-F238E27FC236}">
                <a16:creationId xmlns:a16="http://schemas.microsoft.com/office/drawing/2014/main" id="{86C78048-ECC8-430D-9CF2-42937E67BCA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003E7C0-21C0-4F40-B212-C3EFA40CE49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174717482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8B16D431-F95E-4E80-BBA7-4BD6CC24FD2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sp>
        <p:nvSpPr>
          <p:cNvPr id="2" name="paragraph-0">
            <a:extLst xmlns:a="http://schemas.openxmlformats.org/drawingml/2006/main">
              <a:ext uri="{FF2B5EF4-FFF2-40B4-BE49-F238E27FC236}">
                <a16:creationId xmlns:a16="http://schemas.microsoft.com/office/drawing/2014/main" id="{1526E29D-5F92-45A7-9BA4-1A2552C9937D}"/>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resistance mechanisms and agent selection, see Advanced Antibiotic Resistance module .</a:t>
            </a:r>
          </a:p>
        </p:txBody>
      </p:sp>
      <p:sp>
        <p:nvSpPr>
          <p:cNvPr id="3" name="paragraph-1">
            <a:extLst xmlns:a="http://schemas.openxmlformats.org/drawingml/2006/main">
              <a:ext uri="{FF2B5EF4-FFF2-40B4-BE49-F238E27FC236}">
                <a16:creationId xmlns:a16="http://schemas.microsoft.com/office/drawing/2014/main" id="{076C7A30-370B-42A4-B5BE-60D02FCE3D04}"/>
              </a:ext>
            </a:extLst>
          </p:cNvPr>
          <p:cNvSpPr>
            <a:spLocks xmlns:a="http://schemas.openxmlformats.org/drawingml/2006/main" noGrp="1"/>
          </p:cNvSpPr>
          <p:nvPr/>
        </p:nvSpPr>
        <p:spPr>
          <a:xfrm xmlns:a="http://schemas.openxmlformats.org/drawingml/2006/main">
            <a:off x="647700" y="2914650"/>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Comparison: August 2024 IDSA AMR guidance versus July 30, 2026 guidance (evidence considered through March 1, 2026). These are changes in guidance, not necessarily new randomized evidence. The guidance is expert consensus, does not use GRADE, and its lists of preferred agents are alphabetical rather than ranked. Review the rationale when choosing between options.</a:t>
            </a:r>
          </a:p>
        </p:txBody>
      </p:sp>
      <p:sp>
        <p:nvSpPr>
          <p:cNvPr id="4" name="footer">
            <a:extLst xmlns:a="http://schemas.openxmlformats.org/drawingml/2006/main">
              <a:ext uri="{FF2B5EF4-FFF2-40B4-BE49-F238E27FC236}">
                <a16:creationId xmlns:a16="http://schemas.microsoft.com/office/drawing/2014/main" id="{D7C2DC65-0286-44B0-BC67-811CA65ADF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72F2E299-FEFD-413E-9890-0B6853DFD93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1807604674"/>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E96B033-5332-4E98-B21B-714D5A0972F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0CFE3611-3364-4354-A087-9314E742DAF9}"/>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ESBL-E recognition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changed in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Ceftriaxone MIC &gt;=4 mcg/mL is the revised threshold used as a proxy for presumed ESBL production in E. coli , K. pneumoniae , and K. oxytoca .</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it changes clinically /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Do not equate this proxy with confirmed ESBL genotyping or generalize to every species. Carbapenems remain favored for invasive ESBL-E infections; this was not a reversal of MERINO-related practice.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6D73AAC-568E-4125-8772-E9BF2E7AB6C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C6C48C0-E6FB-468A-A961-AA961AA977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70723899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D450950-25C2-4641-A312-B866C050B65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0AD72B66-8D78-4EC1-A131-13F7F8F1156B}"/>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AmpC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What changed in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Hafnia alvei added to the moderate-risk AmpC group. More explicit allowance to continue empiric ceftriaxone in selected improving, nonsevere infections with adequate source control. Further evidence cited against piperacillin-tazobactam for invasive moderate-risk AmpC infections.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C488B91-C8EB-4BA1-AE9E-BF355753B9E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0511316-73F1-427E-B8E9-49A3ECF2EB0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1418561065"/>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A68F3F0-645E-415F-988F-924D8E6F5AD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D1F959FC-9944-4B0E-BF84-391A6ADF0A15}"/>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AmpC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it changes clinically /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automatically switch every stable, improving patient solely because AmpC potential is recognized, but do not make ceftriaxone the default initial definitive treatment for invasive E. cloacae complex, K. aerogenes , C. freundii , or H. alvei .</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1B1756F7-86A6-4172-950C-75095555D8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F969C2F-D364-405E-81A2-0BA2F488C37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168458475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B624A86-0F90-4821-A672-19B738AD50E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96F10378-0FAD-4848-BF3D-68AC6B42CF27}"/>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NDM/MBL-producing Enterobacterales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changed in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Incorporates FDA-approved aztreonam-avibactam and data comparing it with other options. Aztreonam-avibactam and cefiderocol are preferred for NDM; ceftazidime-avibactam plus aztreonam remains an alternative when the coformulation is unavailable.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What it changes clinically /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The distinction is the protected aztreonam strategy, not that ceftazidime-avibactam alone treats NDM. The guidance notes a slight preference for aztreonam-avibactam over the two-drug combination for NDM. Verify the actual enzyme and AST.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1C27CB5-CED6-4C8D-B261-F5ECCB2489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2AC2A7B-4983-4AD7-8C74-99ED8D97C3D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626053163"/>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4DC8FE8-4C41-4690-8DF6-6B080A111C2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167F5B13-6816-4998-87B9-32E5DE3BD4D9}"/>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DTR Pseudomonas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What changed in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New comparative data support favoring ceftolozane-tazobactam in pneumonia when susceptible. A new carbapenemase-focused question addresses genotype-specific choices. Additional discussion of resistance arising on imipenem-relebactam, and newer cefiderocol bloodstream-infection data.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it changes clinically /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 carbapenemase-positive Pseudomonas cannot be managed by transferring the CRE enzyme-treatment table unchanged. Request AST of relevant novel agents; obtain repeat AST with breakthrough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2CE155B-93A6-4477-82F7-1B6F0C1C92F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FD66C04-D29F-4B24-A4B6-0953AB29E61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1549097530"/>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91EBA16-B2D1-46F7-9971-F2778AC1B3C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3BA453B7-BA10-4B1C-B798-95AC0CA4757E}"/>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CRAB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What changed in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Stronger emphasis that sulbactam-durlobactam plus a carbapenem is the priority treatment for invasive CRAB infection. Alternatives are characterized as bridge therapy when the preferred drug cannot yet be obtained. New discussion of NDM-producing CRAB and resistance to sulbactam-durlobactam.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it changes clinically /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This is a strengthening of preference, not the first introduction of sulbactam-durlobactam (it was already in the 2024 guidance). Distinguish colonization from invasive infection and assess availability/AST.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5C7128B0-B410-47BF-94F6-FD23ADD6730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DAE207B-0180-4DBF-8470-B05B819700D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1617565746"/>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F209D8D-0A22-487F-B53E-BB67D79454E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0C7FA2D4-5F48-4A96-8EBE-88EA5F80DE30}"/>
              </a:ext>
            </a:extLst>
          </p:cNvPr>
          <p:cNvGraphicFramePr/>
          <p:nvPr/>
        </p:nvGraphicFramePr>
        <p:xfrm>
          <a:off xmlns:a="http://schemas.openxmlformats.org/drawingml/2006/main" x="647700" y="1866900"/>
          <a:ext xmlns:a="http://schemas.openxmlformats.org/drawingml/2006/main" cx="10896600" cy="40909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Stenotrophomonas maltophilia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What changed in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Major change: cefiderocol monotherapy designated preferred for invasive infection. Aztreonam-avibactam, preferably with a second active agent, becomes an alternative.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2085975">
                <a:tc>
                  <a:txBody>
                    <a:bodyPr lIns="114300" tIns="114300" rIns="114300" bIns="114300">
                      <a:noAutofit/>
                    </a:bodyPr>
                    <a:lstStyle/>
                    <a:p>
                      <a:r>
                        <a:rPr sz="1950" b="0">
                          <a:solidFill>
                            <a:srgbClr val="16323B"/>
                          </a:solidFill>
                          <a:latin typeface="DejaVu Sans"/>
                          <a:ea typeface="DejaVu Sans"/>
                          <a:cs typeface="DejaVu Sans"/>
                        </a:rPr>
                        <a:t>What it changes clinically /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This is a meaningful departure from the earlier combination-oriented approach, but clinical evidence for cefiderocol monotherapy remains very limited , relying heavily on susceptibility data and neutropenic animal models. Do not apply this to colonization or presume improved patient outcomes have been proven.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E87DD135-7363-4679-895F-783110475C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557D3034-E4C3-4EE6-BDE0-8561DFA0FA4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1292329441"/>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0B057E6-EEC8-4937-BB37-C53097228A1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0B734DEE-E6BD-45C1-ABE9-3284FCA7093D}"/>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Nebulized antibiotics in DTR Pseudomonas and CRAB</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changed in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Wording against routine adjunctive inhaled therapy is somewhat less categorical after review of studies suggesting possible clinical-cure benefit.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it changes clinically /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Not a blanket endorsement of nebulized therapy; routine use is still not preferred.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B06C834-352B-43BA-9726-3698AD8AA3D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E12C584-F55F-493D-A278-4D890226D00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259968324"/>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2D2C08A-5AE0-4CDB-83C2-63C0E19907D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2026 IDSA AMR guidance: changes from 2024</a:t>
            </a:r>
          </a:p>
        </p:txBody>
      </p:sp>
      <p:graphicFrame>
        <p:nvGraphicFramePr>
          <p:cNvPr id="2" name="">
            <a:extLst xmlns:a="http://schemas.openxmlformats.org/drawingml/2006/main">
              <a:ext uri="{FF2B5EF4-FFF2-40B4-BE49-F238E27FC236}">
                <a16:creationId xmlns:a16="http://schemas.microsoft.com/office/drawing/2014/main" id="{8388D10B-38A1-43DE-ADFD-48AAD2DEADC0}"/>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General framework</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changed in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Updated 2026 CLSI breakpoints/dosing table; definitions of uncomplicated/complicated UTI aligned with the 2025 IDSA cUTI guideline.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What it changes clinically /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Check actual MIC and current interpretive standard. The guidance does not mean every beta-lactam on the preferred list is clinically equivalent.</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140A964-54A5-4360-B13A-987BA43A207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83C17012-3C1B-4306-8419-AD752C0221A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48726367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EE0A58E4-B5B0-4FA3-9BF6-113BDB37D99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Evidence limitations in the 2026 guidance</a:t>
            </a:r>
          </a:p>
        </p:txBody>
      </p:sp>
      <p:sp>
        <p:nvSpPr>
          <p:cNvPr id="2" name="paragraph-0">
            <a:extLst xmlns:a="http://schemas.openxmlformats.org/drawingml/2006/main">
              <a:ext uri="{FF2B5EF4-FFF2-40B4-BE49-F238E27FC236}">
                <a16:creationId xmlns:a16="http://schemas.microsoft.com/office/drawing/2014/main" id="{2608BC7E-D976-4BF0-90F4-7613C88716B5}"/>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Most important practical changes: protected aztreonam availability for NDM Enterobacterales; cefiderocol monotherapy moving to preferred for invasive S. maltophilia ; firmer prioritization of sulbactam-durlobactam in invasive CRAB; refinement of DTR Pseudomonas pneumonia treatment.</a:t>
            </a:r>
          </a:p>
        </p:txBody>
      </p:sp>
      <p:sp>
        <p:nvSpPr>
          <p:cNvPr id="3" name="paragraph-1">
            <a:extLst xmlns:a="http://schemas.openxmlformats.org/drawingml/2006/main">
              <a:ext uri="{FF2B5EF4-FFF2-40B4-BE49-F238E27FC236}">
                <a16:creationId xmlns:a16="http://schemas.microsoft.com/office/drawing/2014/main" id="{DA99FD62-D7C8-45E4-BC63-48F8CBF26115}"/>
              </a:ext>
            </a:extLst>
          </p:cNvPr>
          <p:cNvSpPr>
            <a:spLocks xmlns:a="http://schemas.openxmlformats.org/drawingml/2006/main" noGrp="1"/>
          </p:cNvSpPr>
          <p:nvPr/>
        </p:nvSpPr>
        <p:spPr>
          <a:xfrm xmlns:a="http://schemas.openxmlformats.org/drawingml/2006/main">
            <a:off x="647700" y="39719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Refinements rather than reversals: ESBL ceftriaxone proxy threshold, the Hafnia AmpC classification, allowance to continue ceftriaxone in selected improving nonsevere AmpC infections, and discouraging piperacillin-tazobactam for invasive moderate-risk AmpC.</a:t>
            </a:r>
          </a:p>
        </p:txBody>
      </p:sp>
      <p:sp>
        <p:nvSpPr>
          <p:cNvPr id="4" name="footer">
            <a:extLst xmlns:a="http://schemas.openxmlformats.org/drawingml/2006/main">
              <a:ext uri="{FF2B5EF4-FFF2-40B4-BE49-F238E27FC236}">
                <a16:creationId xmlns:a16="http://schemas.microsoft.com/office/drawing/2014/main" id="{415DFD87-6A38-4F23-A748-E0C02B9CF1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FA07DFC0-331E-410C-8561-DAC6788A246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1305451454"/>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F273891-BD23-4491-A17A-C2FBCCF9DF1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Evidence limitations in the 2026 guidance</a:t>
            </a:r>
          </a:p>
        </p:txBody>
      </p:sp>
      <p:sp>
        <p:nvSpPr>
          <p:cNvPr id="2" name="paragraph-0">
            <a:extLst xmlns:a="http://schemas.openxmlformats.org/drawingml/2006/main">
              <a:ext uri="{FF2B5EF4-FFF2-40B4-BE49-F238E27FC236}">
                <a16:creationId xmlns:a16="http://schemas.microsoft.com/office/drawing/2014/main" id="{46B25D15-4ED5-4A30-AF4D-60FA41452FFC}"/>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Discuss uncertainty: the Stenotrophomonas preference rests on limited human comparative evidence. Mechanism-directed treatment is crucial, but many uncommon resistant species remain poorly studied.</a:t>
            </a:r>
          </a:p>
        </p:txBody>
      </p:sp>
      <p:sp>
        <p:nvSpPr>
          <p:cNvPr id="3" name="footer">
            <a:extLst xmlns:a="http://schemas.openxmlformats.org/drawingml/2006/main">
              <a:ext uri="{FF2B5EF4-FFF2-40B4-BE49-F238E27FC236}">
                <a16:creationId xmlns:a16="http://schemas.microsoft.com/office/drawing/2014/main" id="{62D7259F-5F82-4955-A68B-EDBF837114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E439D8A-5120-43F2-87B8-756F8379704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77</a:t>
            </a:r>
          </a:p>
        </p:txBody>
      </p:sp>
    </p:spTree>
    <p:extLst>
      <p:ext uri="{BB962C8B-B14F-4D97-AF65-F5344CB8AC3E}">
        <p14:creationId xmlns:p14="http://schemas.microsoft.com/office/powerpoint/2010/main" val="179724376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7DF7A4D2-AA57-478A-A541-E3819019A07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discussion questions</a:t>
            </a:r>
          </a:p>
        </p:txBody>
      </p:sp>
      <p:sp>
        <p:nvSpPr>
          <p:cNvPr id="2" name="paragraph-0">
            <a:extLst xmlns:a="http://schemas.openxmlformats.org/drawingml/2006/main">
              <a:ext uri="{FF2B5EF4-FFF2-40B4-BE49-F238E27FC236}">
                <a16:creationId xmlns:a16="http://schemas.microsoft.com/office/drawing/2014/main" id="{E3E83933-983C-47F5-A578-59C35C22BEA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stable patient with source-controlled E. cloacae intra-abdominal infection is improving on ceftriaxone. Does the 2026 exception allow continuation? Discuss the nonsevere/improving/source-controlled conditions and why it does not make ceftriaxone routinely preferred for invasive moderate-risk AmpC.</a:t>
            </a:r>
          </a:p>
        </p:txBody>
      </p:sp>
      <p:sp>
        <p:nvSpPr>
          <p:cNvPr id="3" name="paragraph-1">
            <a:extLst xmlns:a="http://schemas.openxmlformats.org/drawingml/2006/main">
              <a:ext uri="{FF2B5EF4-FFF2-40B4-BE49-F238E27FC236}">
                <a16:creationId xmlns:a16="http://schemas.microsoft.com/office/drawing/2014/main" id="{3248B2B6-30C0-4D5D-880A-C014475610A9}"/>
              </a:ext>
            </a:extLst>
          </p:cNvPr>
          <p:cNvSpPr>
            <a:spLocks xmlns:a="http://schemas.openxmlformats.org/drawingml/2006/main" noGrp="1"/>
          </p:cNvSpPr>
          <p:nvPr/>
        </p:nvSpPr>
        <p:spPr>
          <a:xfrm xmlns:a="http://schemas.openxmlformats.org/drawingml/2006/main">
            <a:off x="647700" y="39719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has NDM-producing K. pneumoniae bacteremia. Which agents are preferred, how is aztreonam protected, and why is ceftazidime-avibactam alone inadequate?</a:t>
            </a:r>
          </a:p>
        </p:txBody>
      </p:sp>
      <p:sp>
        <p:nvSpPr>
          <p:cNvPr id="4" name="footer">
            <a:extLst xmlns:a="http://schemas.openxmlformats.org/drawingml/2006/main">
              <a:ext uri="{FF2B5EF4-FFF2-40B4-BE49-F238E27FC236}">
                <a16:creationId xmlns:a16="http://schemas.microsoft.com/office/drawing/2014/main" id="{0A478E91-D746-42C1-BCD7-260B9CCBAA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27D9C17F-197E-4E24-A2D2-494AC367CC8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78</a:t>
            </a:r>
          </a:p>
        </p:txBody>
      </p:sp>
    </p:spTree>
    <p:extLst>
      <p:ext uri="{BB962C8B-B14F-4D97-AF65-F5344CB8AC3E}">
        <p14:creationId xmlns:p14="http://schemas.microsoft.com/office/powerpoint/2010/main" val="926470691"/>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B1EE21FB-D2E0-438B-8E1D-74CB3F3E097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Fellow discussion questions</a:t>
            </a:r>
          </a:p>
        </p:txBody>
      </p:sp>
      <p:sp>
        <p:nvSpPr>
          <p:cNvPr id="2" name="paragraph-0">
            <a:extLst xmlns:a="http://schemas.openxmlformats.org/drawingml/2006/main">
              <a:ext uri="{FF2B5EF4-FFF2-40B4-BE49-F238E27FC236}">
                <a16:creationId xmlns:a16="http://schemas.microsoft.com/office/drawing/2014/main" id="{4095598B-0D84-408F-875E-E75C45176A9A}"/>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An ICU BAL grows S. maltophilia . When would treatment be unnecessary? If invasive infection is established, why might cefiderocol monotherapy be favored now, and why should confidence in comparative clinical efficacy remain limited?</a:t>
            </a:r>
          </a:p>
        </p:txBody>
      </p:sp>
      <p:sp>
        <p:nvSpPr>
          <p:cNvPr id="3" name="paragraph-1">
            <a:extLst xmlns:a="http://schemas.openxmlformats.org/drawingml/2006/main">
              <a:ext uri="{FF2B5EF4-FFF2-40B4-BE49-F238E27FC236}">
                <a16:creationId xmlns:a16="http://schemas.microsoft.com/office/drawing/2014/main" id="{D99BAD76-6E8E-4CE6-AAB3-108BA9D2A4E8}"/>
              </a:ext>
            </a:extLst>
          </p:cNvPr>
          <p:cNvSpPr>
            <a:spLocks xmlns:a="http://schemas.openxmlformats.org/drawingml/2006/main" noGrp="1"/>
          </p:cNvSpPr>
          <p:nvPr/>
        </p:nvSpPr>
        <p:spPr>
          <a:xfrm xmlns:a="http://schemas.openxmlformats.org/drawingml/2006/main">
            <a:off x="647700" y="3619500"/>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Source comparison: IDSA 2026 AMR Guidance, "Notable Updates from the 2024 IDSA AMR Guidance Document" ( https://www.idsociety.org/practice-guideline/amr-guidance/ ); IDSA 2024 guidance ( https://doi.org/10.1093/cid/ciae403 ); 2026 publication ( https://doi.org/10.1093/cid/ciag481 ).</a:t>
            </a:r>
          </a:p>
        </p:txBody>
      </p:sp>
      <p:sp>
        <p:nvSpPr>
          <p:cNvPr id="4" name="footer">
            <a:extLst xmlns:a="http://schemas.openxmlformats.org/drawingml/2006/main">
              <a:ext uri="{FF2B5EF4-FFF2-40B4-BE49-F238E27FC236}">
                <a16:creationId xmlns:a16="http://schemas.microsoft.com/office/drawing/2014/main" id="{75967622-69FC-4F10-B60A-C51F8A38D24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5" name="number">
            <a:extLst xmlns:a="http://schemas.openxmlformats.org/drawingml/2006/main">
              <a:ext uri="{FF2B5EF4-FFF2-40B4-BE49-F238E27FC236}">
                <a16:creationId xmlns:a16="http://schemas.microsoft.com/office/drawing/2014/main" id="{8AB92056-628F-4099-94CF-97E448FBB6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79</a:t>
            </a:r>
          </a:p>
        </p:txBody>
      </p:sp>
    </p:spTree>
    <p:extLst>
      <p:ext uri="{BB962C8B-B14F-4D97-AF65-F5344CB8AC3E}">
        <p14:creationId xmlns:p14="http://schemas.microsoft.com/office/powerpoint/2010/main" val="1387754268"/>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301E94-100B-4279-86A6-3AB801D115F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1: initially ceftriaxone-susceptible Enterobacter bacteremia</a:t>
            </a:r>
          </a:p>
        </p:txBody>
      </p:sp>
      <p:sp>
        <p:nvSpPr>
          <p:cNvPr id="2" name="paragraph-0">
            <a:extLst xmlns:a="http://schemas.openxmlformats.org/drawingml/2006/main">
              <a:ext uri="{FF2B5EF4-FFF2-40B4-BE49-F238E27FC236}">
                <a16:creationId xmlns:a16="http://schemas.microsoft.com/office/drawing/2014/main" id="{67984966-4533-4AD4-B016-4012E1066C49}"/>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has E. cloacae complex bloodstream infection from an obstructed urinary system. The isolate tests susceptible to ceftriaxone and cefepime. Ask trainees whether the reported ceftriaxone result is adequate for definitive invasive-infection therapy. Discuss moderate-risk AmpC, cefepime exposure, drainage and the difference between cystitis and bloodstream infection.</a:t>
            </a:r>
          </a:p>
        </p:txBody>
      </p:sp>
      <p:sp>
        <p:nvSpPr>
          <p:cNvPr id="3" name="footer">
            <a:extLst xmlns:a="http://schemas.openxmlformats.org/drawingml/2006/main">
              <a:ext uri="{FF2B5EF4-FFF2-40B4-BE49-F238E27FC236}">
                <a16:creationId xmlns:a16="http://schemas.microsoft.com/office/drawing/2014/main" id="{B7B7759C-CDAE-452E-9824-7B77EC735FF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FF3A0EB-0588-4C76-A1F1-FA3AE19D547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80</a:t>
            </a:r>
          </a:p>
        </p:txBody>
      </p:sp>
    </p:spTree>
    <p:extLst>
      <p:ext uri="{BB962C8B-B14F-4D97-AF65-F5344CB8AC3E}">
        <p14:creationId xmlns:p14="http://schemas.microsoft.com/office/powerpoint/2010/main" val="2002039588"/>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C0D6D43-FA33-4F49-A4F2-0BD51D10156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2: Serratia prosthetic-valve endocarditis</a:t>
            </a:r>
          </a:p>
        </p:txBody>
      </p:sp>
      <p:sp>
        <p:nvSpPr>
          <p:cNvPr id="2" name="paragraph-0">
            <a:extLst xmlns:a="http://schemas.openxmlformats.org/drawingml/2006/main">
              <a:ext uri="{FF2B5EF4-FFF2-40B4-BE49-F238E27FC236}">
                <a16:creationId xmlns:a16="http://schemas.microsoft.com/office/drawing/2014/main" id="{F7994B40-D3F4-45B5-9279-68526E45B9C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Two blood culture sets recover Serratia marcescens in a patient with a prosthetic valve. Ask why one should not automatically equate Serratia with E. cloacae-level AmpC risk, while still taking invasive endovascular infection seriously. Discuss repeat cultures, echocardiography and multidisciplinary surgical assessment.</a:t>
            </a:r>
          </a:p>
        </p:txBody>
      </p:sp>
      <p:sp>
        <p:nvSpPr>
          <p:cNvPr id="3" name="footer">
            <a:extLst xmlns:a="http://schemas.openxmlformats.org/drawingml/2006/main">
              <a:ext uri="{FF2B5EF4-FFF2-40B4-BE49-F238E27FC236}">
                <a16:creationId xmlns:a16="http://schemas.microsoft.com/office/drawing/2014/main" id="{223CD015-4B8B-4D4D-9212-E850E4226E0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3097ECB-4943-4C54-8DF5-9C886BDE630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81</a:t>
            </a:r>
          </a:p>
        </p:txBody>
      </p:sp>
    </p:spTree>
    <p:extLst>
      <p:ext uri="{BB962C8B-B14F-4D97-AF65-F5344CB8AC3E}">
        <p14:creationId xmlns:p14="http://schemas.microsoft.com/office/powerpoint/2010/main" val="65671091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42558C3-2963-4F13-BA51-FFCD9E97340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3: Klebsiella liver abscess and blurred vision</a:t>
            </a:r>
          </a:p>
        </p:txBody>
      </p:sp>
      <p:sp>
        <p:nvSpPr>
          <p:cNvPr id="2" name="paragraph-0">
            <a:extLst xmlns:a="http://schemas.openxmlformats.org/drawingml/2006/main">
              <a:ext uri="{FF2B5EF4-FFF2-40B4-BE49-F238E27FC236}">
                <a16:creationId xmlns:a16="http://schemas.microsoft.com/office/drawing/2014/main" id="{92962679-6B70-4FB0-A636-0593ACEDD151}"/>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with K. pneumoniae bloodstream infection has a liver abscess and acute blurred vision. Ask about urgent eye examination, abscess drainage and whether a positive string test establishes hypervirulence (it does not).</a:t>
            </a:r>
          </a:p>
        </p:txBody>
      </p:sp>
      <p:sp>
        <p:nvSpPr>
          <p:cNvPr id="3" name="footer">
            <a:extLst xmlns:a="http://schemas.openxmlformats.org/drawingml/2006/main">
              <a:ext uri="{FF2B5EF4-FFF2-40B4-BE49-F238E27FC236}">
                <a16:creationId xmlns:a16="http://schemas.microsoft.com/office/drawing/2014/main" id="{E31A0254-BF0F-43A1-99F0-4AEF934371B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4EEB3565-D06C-409D-B6F4-C1865DEF17F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82</a:t>
            </a:r>
          </a:p>
        </p:txBody>
      </p:sp>
    </p:spTree>
    <p:extLst>
      <p:ext uri="{BB962C8B-B14F-4D97-AF65-F5344CB8AC3E}">
        <p14:creationId xmlns:p14="http://schemas.microsoft.com/office/powerpoint/2010/main" val="973889236"/>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A0A17F1-CA44-4E17-A4CB-095310B06DE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4: BAL growing Stenotrophomonas</a:t>
            </a:r>
          </a:p>
        </p:txBody>
      </p:sp>
      <p:sp>
        <p:nvSpPr>
          <p:cNvPr id="2" name="paragraph-0">
            <a:extLst xmlns:a="http://schemas.openxmlformats.org/drawingml/2006/main">
              <a:ext uri="{FF2B5EF4-FFF2-40B4-BE49-F238E27FC236}">
                <a16:creationId xmlns:a16="http://schemas.microsoft.com/office/drawing/2014/main" id="{7148B243-4CE0-4318-9E19-710B99AB1097}"/>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mechanically ventilated patient has a BAL isolate of S. maltophilia but stable/improving oxygenation and an alternative explanation for infiltrates. Decide whether infection criteria are met before choosing drugs. If infection is compelling, review updated organism-specific options and susceptibility limitations.</a:t>
            </a:r>
          </a:p>
        </p:txBody>
      </p:sp>
      <p:sp>
        <p:nvSpPr>
          <p:cNvPr id="3" name="footer">
            <a:extLst xmlns:a="http://schemas.openxmlformats.org/drawingml/2006/main">
              <a:ext uri="{FF2B5EF4-FFF2-40B4-BE49-F238E27FC236}">
                <a16:creationId xmlns:a16="http://schemas.microsoft.com/office/drawing/2014/main" id="{209D1A00-E851-4086-85B5-C8256B93F40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5BE7970-BB52-4DDE-8471-F17239EAEA1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83</a:t>
            </a:r>
          </a:p>
        </p:txBody>
      </p:sp>
    </p:spTree>
    <p:extLst>
      <p:ext uri="{BB962C8B-B14F-4D97-AF65-F5344CB8AC3E}">
        <p14:creationId xmlns:p14="http://schemas.microsoft.com/office/powerpoint/2010/main" val="768222049"/>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0C49F9D-A038-403D-8B72-3B8028CA17E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5: NDM Klebsiella bloodstream infection</a:t>
            </a:r>
          </a:p>
        </p:txBody>
      </p:sp>
      <p:sp>
        <p:nvSpPr>
          <p:cNvPr id="2" name="paragraph-0">
            <a:extLst xmlns:a="http://schemas.openxmlformats.org/drawingml/2006/main">
              <a:ext uri="{FF2B5EF4-FFF2-40B4-BE49-F238E27FC236}">
                <a16:creationId xmlns:a16="http://schemas.microsoft.com/office/drawing/2014/main" id="{428B55B3-BB81-45BC-A808-1FCC1519DCAE}"/>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blood isolate is meropenem resistant, NDM positive. Ask why ceftazidime-avibactam monotherapy fails mechanistically and why aztreonam-avibactam, cefiderocol, or a protected-aztreonam combination may be considered depending on availability and AST.</a:t>
            </a:r>
          </a:p>
        </p:txBody>
      </p:sp>
      <p:sp>
        <p:nvSpPr>
          <p:cNvPr id="3" name="footer">
            <a:extLst xmlns:a="http://schemas.openxmlformats.org/drawingml/2006/main">
              <a:ext uri="{FF2B5EF4-FFF2-40B4-BE49-F238E27FC236}">
                <a16:creationId xmlns:a16="http://schemas.microsoft.com/office/drawing/2014/main" id="{405E4037-CBD7-4105-82A1-7ADFA8E0C1A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F07E9C5E-69A9-4D08-96F8-127D1FCAF8F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84</a:t>
            </a:r>
          </a:p>
        </p:txBody>
      </p:sp>
    </p:spTree>
    <p:extLst>
      <p:ext uri="{BB962C8B-B14F-4D97-AF65-F5344CB8AC3E}">
        <p14:creationId xmlns:p14="http://schemas.microsoft.com/office/powerpoint/2010/main" val="1448555394"/>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4F61856-A637-4D70-A179-BB6EE72FE40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6: Pseudomonas and the wrong fluoroquinolone</a:t>
            </a:r>
          </a:p>
        </p:txBody>
      </p:sp>
      <p:sp>
        <p:nvSpPr>
          <p:cNvPr id="2" name="paragraph-0">
            <a:extLst xmlns:a="http://schemas.openxmlformats.org/drawingml/2006/main">
              <a:ext uri="{FF2B5EF4-FFF2-40B4-BE49-F238E27FC236}">
                <a16:creationId xmlns:a16="http://schemas.microsoft.com/office/drawing/2014/main" id="{D66BA216-EC74-45F6-8FD2-B4A3AD53A69F}"/>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urine culture grows P. aeruginosa susceptible to ciprofloxacin. A trainee recommends oral moxifloxacin. Explain why same-class labeling is not sufficient, and why moxifloxacin is also a poor urinary agent.</a:t>
            </a:r>
          </a:p>
        </p:txBody>
      </p:sp>
      <p:sp>
        <p:nvSpPr>
          <p:cNvPr id="3" name="footer">
            <a:extLst xmlns:a="http://schemas.openxmlformats.org/drawingml/2006/main">
              <a:ext uri="{FF2B5EF4-FFF2-40B4-BE49-F238E27FC236}">
                <a16:creationId xmlns:a16="http://schemas.microsoft.com/office/drawing/2014/main" id="{A18D3489-2F5E-4FC8-982F-2BC268FC519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AE7EA54-3A0B-429B-B2B9-8770177EABC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85</a:t>
            </a:r>
          </a:p>
        </p:txBody>
      </p:sp>
    </p:spTree>
    <p:extLst>
      <p:ext uri="{BB962C8B-B14F-4D97-AF65-F5344CB8AC3E}">
        <p14:creationId xmlns:p14="http://schemas.microsoft.com/office/powerpoint/2010/main" val="433974980"/>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6053C22-3240-41CE-8D64-434F4D21CBB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 7: painful leg after freshwater injury</a:t>
            </a:r>
          </a:p>
        </p:txBody>
      </p:sp>
      <p:sp>
        <p:nvSpPr>
          <p:cNvPr id="2" name="paragraph-0">
            <a:extLst xmlns:a="http://schemas.openxmlformats.org/drawingml/2006/main">
              <a:ext uri="{FF2B5EF4-FFF2-40B4-BE49-F238E27FC236}">
                <a16:creationId xmlns:a16="http://schemas.microsoft.com/office/drawing/2014/main" id="{C3B7DE5B-A7B9-41DA-8639-F433BAEA66FC}"/>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patient develops rapidly progressive painful cellulitis with bullae after freshwater trauma; cultures grow Aeromonas. Discuss urgent surgical evaluation, exposure-based empiric therapy and inadequate coverage with cefazolin alone.</a:t>
            </a:r>
          </a:p>
        </p:txBody>
      </p:sp>
      <p:sp>
        <p:nvSpPr>
          <p:cNvPr id="3" name="footer">
            <a:extLst xmlns:a="http://schemas.openxmlformats.org/drawingml/2006/main">
              <a:ext uri="{FF2B5EF4-FFF2-40B4-BE49-F238E27FC236}">
                <a16:creationId xmlns:a16="http://schemas.microsoft.com/office/drawing/2014/main" id="{87D1AD5F-02B1-40EB-B661-E22DEC9E8B9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5361DFB-548A-4CC2-B7FE-6A34447CBD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86</a:t>
            </a:r>
          </a:p>
        </p:txBody>
      </p:sp>
    </p:spTree>
    <p:extLst>
      <p:ext uri="{BB962C8B-B14F-4D97-AF65-F5344CB8AC3E}">
        <p14:creationId xmlns:p14="http://schemas.microsoft.com/office/powerpoint/2010/main" val="1697194068"/>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C646C82-20AE-4DC5-BED0-9E30E136893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Summary</a:t>
            </a:r>
          </a:p>
        </p:txBody>
      </p:sp>
      <p:sp>
        <p:nvSpPr>
          <p:cNvPr id="2" name="paragraph-0">
            <a:extLst xmlns:a="http://schemas.openxmlformats.org/drawingml/2006/main">
              <a:ext uri="{FF2B5EF4-FFF2-40B4-BE49-F238E27FC236}">
                <a16:creationId xmlns:a16="http://schemas.microsoft.com/office/drawing/2014/main" id="{8E2206DC-A21F-4189-ACEA-791D1948E607}"/>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Species identification is an early warning system, not a substitute for susceptibility testing. Most errors come from three mistakes: assuming a drug covers an entire taxonomic group, ignoring the location or source of infection, or treating a colonizing environmental organism as a pathogen. For unusual isolates, ask the microbiology laboratory how the species and susceptibility result were established.</a:t>
            </a:r>
          </a:p>
        </p:txBody>
      </p:sp>
      <p:sp>
        <p:nvSpPr>
          <p:cNvPr id="3" name="footer">
            <a:extLst xmlns:a="http://schemas.openxmlformats.org/drawingml/2006/main">
              <a:ext uri="{FF2B5EF4-FFF2-40B4-BE49-F238E27FC236}">
                <a16:creationId xmlns:a16="http://schemas.microsoft.com/office/drawing/2014/main" id="{C2550D8F-6C28-45F7-91C1-A8F852FB8F3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F85F1E3-0E48-43FA-8640-2F46391E8E7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87</a:t>
            </a:r>
          </a:p>
        </p:txBody>
      </p:sp>
    </p:spTree>
    <p:extLst>
      <p:ext uri="{BB962C8B-B14F-4D97-AF65-F5344CB8AC3E}">
        <p14:creationId xmlns:p14="http://schemas.microsoft.com/office/powerpoint/2010/main" val="1210020201"/>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F58AE61-341E-4CDF-99ED-8E55840DBD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C7250B16-A434-4F99-864D-3F942EC38E83}"/>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IDSA 2026 Guidance on the Treatment of Antimicrobial-Resistant Gram-Negative Infections. https://www.idsociety.org/practice-guideline/amr-guidance/ (primary reference for AmpC, ESBL, CRE, DTR Pseudomonas, CRAB, and Stenotrophomonas; reassess if updated).</a:t>
            </a:r>
          </a:p>
        </p:txBody>
      </p:sp>
      <p:sp>
        <p:nvSpPr>
          <p:cNvPr id="3" name="paragraph-1">
            <a:extLst xmlns:a="http://schemas.openxmlformats.org/drawingml/2006/main">
              <a:ext uri="{FF2B5EF4-FFF2-40B4-BE49-F238E27FC236}">
                <a16:creationId xmlns:a16="http://schemas.microsoft.com/office/drawing/2014/main" id="{16CB5C26-602A-4F04-BFDE-82AF9E7DBCD8}"/>
              </a:ext>
            </a:extLst>
          </p:cNvPr>
          <p:cNvSpPr>
            <a:spLocks xmlns:a="http://schemas.openxmlformats.org/drawingml/2006/main" noGrp="1"/>
          </p:cNvSpPr>
          <p:nvPr/>
        </p:nvSpPr>
        <p:spPr>
          <a:xfrm xmlns:a="http://schemas.openxmlformats.org/drawingml/2006/main">
            <a:off x="647700" y="3619500"/>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Clinical and Laboratory Standards Institute. M100 Performance Standards for Antimicrobial Susceptibility Testing, current edition. https://clsi.org/standards/products/microbiology/documents/m100/ (check exact version and organism-agent breakpoints through institutional access).</a:t>
            </a:r>
          </a:p>
        </p:txBody>
      </p:sp>
      <p:sp>
        <p:nvSpPr>
          <p:cNvPr id="4" name="footer">
            <a:extLst xmlns:a="http://schemas.openxmlformats.org/drawingml/2006/main">
              <a:ext uri="{FF2B5EF4-FFF2-40B4-BE49-F238E27FC236}">
                <a16:creationId xmlns:a16="http://schemas.microsoft.com/office/drawing/2014/main" id="{E946B46D-FCB5-416E-B360-F6296393801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DC67F5E8-1EB7-4F91-A0CD-D78B8E2EA31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88</a:t>
            </a:r>
          </a:p>
        </p:txBody>
      </p:sp>
    </p:spTree>
    <p:extLst>
      <p:ext uri="{BB962C8B-B14F-4D97-AF65-F5344CB8AC3E}">
        <p14:creationId xmlns:p14="http://schemas.microsoft.com/office/powerpoint/2010/main" val="1921105854"/>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5835074-F0AE-4DC1-9D3C-2A4AD31758C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F1CA67C2-0EB1-414A-9778-E5444E6AB9B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Clinical Overview of Vibrio vulnificus Infection. https://www.cdc.gov/vibrio/hcp/clinical-overview/index.html</a:t>
            </a:r>
          </a:p>
        </p:txBody>
      </p:sp>
      <p:sp>
        <p:nvSpPr>
          <p:cNvPr id="3" name="paragraph-1">
            <a:extLst xmlns:a="http://schemas.openxmlformats.org/drawingml/2006/main">
              <a:ext uri="{FF2B5EF4-FFF2-40B4-BE49-F238E27FC236}">
                <a16:creationId xmlns:a16="http://schemas.microsoft.com/office/drawing/2014/main" id="{2F1FE41A-DF69-4D27-81D2-21417E475D99}"/>
              </a:ext>
            </a:extLst>
          </p:cNvPr>
          <p:cNvSpPr>
            <a:spLocks xmlns:a="http://schemas.openxmlformats.org/drawingml/2006/main" noGrp="1"/>
          </p:cNvSpPr>
          <p:nvPr/>
        </p:nvSpPr>
        <p:spPr>
          <a:xfrm xmlns:a="http://schemas.openxmlformats.org/drawingml/2006/main">
            <a:off x="647700" y="291465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CDC, Clinical Overview of Shigellosis. https://www.cdc.gov/shigella/hcp/clinical-overview/index.html</a:t>
            </a:r>
          </a:p>
        </p:txBody>
      </p:sp>
      <p:sp>
        <p:nvSpPr>
          <p:cNvPr id="4" name="paragraph-2">
            <a:extLst xmlns:a="http://schemas.openxmlformats.org/drawingml/2006/main">
              <a:ext uri="{FF2B5EF4-FFF2-40B4-BE49-F238E27FC236}">
                <a16:creationId xmlns:a16="http://schemas.microsoft.com/office/drawing/2014/main" id="{A847ABD9-A373-497C-AF04-906EAC677CEB}"/>
              </a:ext>
            </a:extLst>
          </p:cNvPr>
          <p:cNvSpPr>
            <a:spLocks xmlns:a="http://schemas.openxmlformats.org/drawingml/2006/main" noGrp="1"/>
          </p:cNvSpPr>
          <p:nvPr/>
        </p:nvSpPr>
        <p:spPr>
          <a:xfrm xmlns:a="http://schemas.openxmlformats.org/drawingml/2006/main">
            <a:off x="647700" y="38766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Russo TA, Marr CM. Hypervirulent Klebsiella pneumoniae. Clin Microbiol Rev. 2019;32:e00001-19. https://doi.org/10.1128/CMR.00001-19</a:t>
            </a:r>
          </a:p>
        </p:txBody>
      </p:sp>
      <p:sp>
        <p:nvSpPr>
          <p:cNvPr id="5" name="footer">
            <a:extLst xmlns:a="http://schemas.openxmlformats.org/drawingml/2006/main">
              <a:ext uri="{FF2B5EF4-FFF2-40B4-BE49-F238E27FC236}">
                <a16:creationId xmlns:a16="http://schemas.microsoft.com/office/drawing/2014/main" id="{3BCBC5AE-E489-4C89-B1F4-2CC25CB4DD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6" name="number">
            <a:extLst xmlns:a="http://schemas.openxmlformats.org/drawingml/2006/main">
              <a:ext uri="{FF2B5EF4-FFF2-40B4-BE49-F238E27FC236}">
                <a16:creationId xmlns:a16="http://schemas.microsoft.com/office/drawing/2014/main" id="{83795181-582D-4833-9D2F-B88351FFDE1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89</a:t>
            </a:r>
          </a:p>
        </p:txBody>
      </p:sp>
    </p:spTree>
    <p:extLst>
      <p:ext uri="{BB962C8B-B14F-4D97-AF65-F5344CB8AC3E}">
        <p14:creationId xmlns:p14="http://schemas.microsoft.com/office/powerpoint/2010/main" val="1694989502"/>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50C0AFE-B8C1-4739-A382-F8B00F0F751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References</a:t>
            </a:r>
          </a:p>
        </p:txBody>
      </p:sp>
      <p:sp>
        <p:nvSpPr>
          <p:cNvPr id="2" name="paragraph-0">
            <a:extLst xmlns:a="http://schemas.openxmlformats.org/drawingml/2006/main">
              <a:ext uri="{FF2B5EF4-FFF2-40B4-BE49-F238E27FC236}">
                <a16:creationId xmlns:a16="http://schemas.microsoft.com/office/drawing/2014/main" id="{E0B86B81-00E1-4BCF-A2BF-2B31016AB790}"/>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Teaching caveat: Uncommon species, especially Achromobacter, Burkholderia, and Elizabethkingia, lack strong randomized comparative regimen evidence. This resource deliberately avoids assigning fixed treatment durations or empiric drug mandates to these organisms. Doses are not included in this primer; use organism- and syndrome-specific antibiotic modules and pharmacy dosing references for renal function, infusion optimization and PK/PD.</a:t>
            </a:r>
          </a:p>
        </p:txBody>
      </p:sp>
      <p:sp>
        <p:nvSpPr>
          <p:cNvPr id="3" name="footer">
            <a:extLst xmlns:a="http://schemas.openxmlformats.org/drawingml/2006/main">
              <a:ext uri="{FF2B5EF4-FFF2-40B4-BE49-F238E27FC236}">
                <a16:creationId xmlns:a16="http://schemas.microsoft.com/office/drawing/2014/main" id="{FEB1058E-2050-431F-8FB7-5965D4C575C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4" name="number">
            <a:extLst xmlns:a="http://schemas.openxmlformats.org/drawingml/2006/main">
              <a:ext uri="{FF2B5EF4-FFF2-40B4-BE49-F238E27FC236}">
                <a16:creationId xmlns:a16="http://schemas.microsoft.com/office/drawing/2014/main" id="{F5B11CD4-D73B-426C-8D37-4181C3991C1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90</a:t>
            </a:r>
          </a:p>
        </p:txBody>
      </p:sp>
    </p:spTree>
    <p:extLst>
      <p:ext uri="{BB962C8B-B14F-4D97-AF65-F5344CB8AC3E}">
        <p14:creationId xmlns:p14="http://schemas.microsoft.com/office/powerpoint/2010/main" val="17137845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2026-10-28T18:28:49.7180000Z</dcterms:created>
  <dcterms:modified xsi:type="dcterms:W3CDTF">2026-10-28T18:28:49.7180000Z</dcterms:modified>
</coreProperties>
</file>